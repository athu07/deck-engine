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0"/>
  </p:notesMasterIdLst>
  <p:sldIdLst>
    <p:sldId id="2147483328" r:id="rId2"/>
    <p:sldId id="2147483329" r:id="rId3"/>
    <p:sldId id="2147483330" r:id="rId4"/>
    <p:sldId id="2147483327" r:id="rId5"/>
    <p:sldId id="2147483332" r:id="rId6"/>
    <p:sldId id="2147483331" r:id="rId7"/>
    <p:sldId id="2147483305" r:id="rId8"/>
    <p:sldId id="299" r:id="rId9"/>
    <p:sldId id="2147483426" r:id="rId10"/>
    <p:sldId id="2147483323" r:id="rId11"/>
    <p:sldId id="2147483416" r:id="rId12"/>
    <p:sldId id="2147483418" r:id="rId13"/>
    <p:sldId id="2147483442" r:id="rId14"/>
    <p:sldId id="2147483443" r:id="rId15"/>
    <p:sldId id="2147483320" r:id="rId16"/>
    <p:sldId id="2147483427" r:id="rId17"/>
    <p:sldId id="2147483428" r:id="rId18"/>
    <p:sldId id="2147483429" r:id="rId19"/>
    <p:sldId id="2147483430" r:id="rId20"/>
    <p:sldId id="2147483431" r:id="rId21"/>
    <p:sldId id="2147483432" r:id="rId22"/>
    <p:sldId id="256" r:id="rId23"/>
    <p:sldId id="257" r:id="rId24"/>
    <p:sldId id="258" r:id="rId25"/>
    <p:sldId id="259" r:id="rId26"/>
    <p:sldId id="260" r:id="rId27"/>
    <p:sldId id="261" r:id="rId28"/>
    <p:sldId id="262" r:id="rId29"/>
    <p:sldId id="263" r:id="rId30"/>
    <p:sldId id="264" r:id="rId31"/>
    <p:sldId id="265" r:id="rId32"/>
    <p:sldId id="266" r:id="rId33"/>
    <p:sldId id="267" r:id="rId34"/>
    <p:sldId id="268" r:id="rId35"/>
    <p:sldId id="269" r:id="rId36"/>
    <p:sldId id="270" r:id="rId37"/>
    <p:sldId id="271" r:id="rId38"/>
    <p:sldId id="272" r:id="rId39"/>
    <p:sldId id="273" r:id="rId40"/>
    <p:sldId id="274" r:id="rId41"/>
    <p:sldId id="275" r:id="rId42"/>
    <p:sldId id="276" r:id="rId43"/>
    <p:sldId id="277" r:id="rId44"/>
    <p:sldId id="278" r:id="rId45"/>
    <p:sldId id="279" r:id="rId46"/>
    <p:sldId id="280" r:id="rId47"/>
    <p:sldId id="281" r:id="rId48"/>
    <p:sldId id="282" r:id="rId49"/>
    <p:sldId id="283" r:id="rId50"/>
    <p:sldId id="284" r:id="rId51"/>
    <p:sldId id="285" r:id="rId52"/>
    <p:sldId id="286" r:id="rId53"/>
    <p:sldId id="287" r:id="rId54"/>
    <p:sldId id="288" r:id="rId55"/>
    <p:sldId id="289" r:id="rId56"/>
    <p:sldId id="290" r:id="rId57"/>
    <p:sldId id="291" r:id="rId58"/>
    <p:sldId id="292" r:id="rId59"/>
    <p:sldId id="293" r:id="rId60"/>
    <p:sldId id="294" r:id="rId61"/>
    <p:sldId id="295" r:id="rId62"/>
    <p:sldId id="296" r:id="rId63"/>
    <p:sldId id="298" r:id="rId64"/>
    <p:sldId id="2147483437" r:id="rId65"/>
    <p:sldId id="300" r:id="rId66"/>
    <p:sldId id="301" r:id="rId67"/>
    <p:sldId id="302" r:id="rId68"/>
    <p:sldId id="303" r:id="rId69"/>
    <p:sldId id="304" r:id="rId70"/>
    <p:sldId id="305" r:id="rId71"/>
    <p:sldId id="306" r:id="rId72"/>
    <p:sldId id="307" r:id="rId73"/>
    <p:sldId id="308" r:id="rId74"/>
    <p:sldId id="309" r:id="rId75"/>
    <p:sldId id="310" r:id="rId76"/>
    <p:sldId id="311" r:id="rId77"/>
    <p:sldId id="312" r:id="rId78"/>
    <p:sldId id="313" r:id="rId79"/>
    <p:sldId id="314" r:id="rId80"/>
    <p:sldId id="315" r:id="rId81"/>
    <p:sldId id="316" r:id="rId82"/>
    <p:sldId id="317" r:id="rId83"/>
    <p:sldId id="318" r:id="rId84"/>
    <p:sldId id="319" r:id="rId85"/>
    <p:sldId id="320" r:id="rId86"/>
    <p:sldId id="321" r:id="rId87"/>
    <p:sldId id="322" r:id="rId88"/>
    <p:sldId id="323" r:id="rId89"/>
    <p:sldId id="324" r:id="rId90"/>
    <p:sldId id="325" r:id="rId91"/>
    <p:sldId id="326" r:id="rId92"/>
    <p:sldId id="327" r:id="rId93"/>
    <p:sldId id="328" r:id="rId94"/>
    <p:sldId id="329" r:id="rId95"/>
    <p:sldId id="330" r:id="rId96"/>
    <p:sldId id="331" r:id="rId97"/>
    <p:sldId id="332" r:id="rId98"/>
    <p:sldId id="333" r:id="rId99"/>
    <p:sldId id="334" r:id="rId100"/>
    <p:sldId id="335" r:id="rId101"/>
    <p:sldId id="336" r:id="rId102"/>
    <p:sldId id="337" r:id="rId103"/>
    <p:sldId id="338" r:id="rId104"/>
    <p:sldId id="339" r:id="rId105"/>
    <p:sldId id="340" r:id="rId106"/>
    <p:sldId id="341" r:id="rId107"/>
    <p:sldId id="342" r:id="rId108"/>
    <p:sldId id="343" r:id="rId109"/>
    <p:sldId id="344" r:id="rId110"/>
    <p:sldId id="345" r:id="rId111"/>
    <p:sldId id="346" r:id="rId112"/>
    <p:sldId id="347" r:id="rId113"/>
    <p:sldId id="348" r:id="rId114"/>
    <p:sldId id="349" r:id="rId115"/>
    <p:sldId id="350" r:id="rId116"/>
    <p:sldId id="351" r:id="rId117"/>
    <p:sldId id="352" r:id="rId118"/>
    <p:sldId id="353" r:id="rId119"/>
    <p:sldId id="354" r:id="rId120"/>
    <p:sldId id="355" r:id="rId121"/>
    <p:sldId id="356" r:id="rId122"/>
    <p:sldId id="357" r:id="rId123"/>
    <p:sldId id="358" r:id="rId124"/>
    <p:sldId id="359" r:id="rId125"/>
    <p:sldId id="360" r:id="rId126"/>
    <p:sldId id="361" r:id="rId127"/>
    <p:sldId id="2147483433" r:id="rId128"/>
    <p:sldId id="2147483434" r:id="rId129"/>
    <p:sldId id="2147483415" r:id="rId130"/>
    <p:sldId id="2147483435" r:id="rId131"/>
    <p:sldId id="2147483419" r:id="rId132"/>
    <p:sldId id="2147483420" r:id="rId133"/>
    <p:sldId id="2147483436" r:id="rId134"/>
    <p:sldId id="2147483423" r:id="rId135"/>
    <p:sldId id="2147483438" r:id="rId136"/>
    <p:sldId id="2147483439" r:id="rId137"/>
    <p:sldId id="2147483440" r:id="rId138"/>
    <p:sldId id="2147483441" r:id="rId13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9984CD-E0AE-483E-8716-12DE2F9F24C4}" v="3" dt="2026-06-22T11:16:53.6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notesMaster" Target="notesMasters/notesMaster1.xml"/><Relationship Id="rId145"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18319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J2W_ID: CS01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CS02</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CS03</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CS04</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CS05</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9887589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CS06</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5710115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CS07</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CS08</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695518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39C72-50B3-E3AF-D46A-682D935D8A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30CD18-B2E7-2213-3ADC-CC79A8BDC6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C5F7EF-8EE2-A756-31A6-FE6C1D6C1B5D}"/>
              </a:ext>
            </a:extLst>
          </p:cNvPr>
          <p:cNvSpPr>
            <a:spLocks noGrp="1"/>
          </p:cNvSpPr>
          <p:nvPr>
            <p:ph type="body" idx="1"/>
          </p:nvPr>
        </p:nvSpPr>
        <p:spPr/>
        <p:txBody>
          <a:bodyPr/>
          <a:lstStyle/>
          <a:p>
            <a:r>
              <a:t>J2W_ID: CS09</a:t>
            </a:r>
          </a:p>
        </p:txBody>
      </p:sp>
      <p:sp>
        <p:nvSpPr>
          <p:cNvPr id="4" name="Slide Number Placeholder 3">
            <a:extLst>
              <a:ext uri="{FF2B5EF4-FFF2-40B4-BE49-F238E27FC236}">
                <a16:creationId xmlns:a16="http://schemas.microsoft.com/office/drawing/2014/main" id="{0488B3FC-01B1-6FC7-0489-6B130E9F03D2}"/>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3465072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CS10</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CS11</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CS12</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J2W_TEMPLATE: company_footprint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J2W_TEMPLATE: skills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CS13</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1735871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CS14</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5169020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CS15</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CS16</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82EEA-3085-13E8-584F-9DB1BB1C51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BD695A-8813-98FA-0375-DA314DBB60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137F7E-9DAC-DD80-84EA-6F843A2F33FD}"/>
              </a:ext>
            </a:extLst>
          </p:cNvPr>
          <p:cNvSpPr>
            <a:spLocks noGrp="1"/>
          </p:cNvSpPr>
          <p:nvPr>
            <p:ph type="body" idx="1"/>
          </p:nvPr>
        </p:nvSpPr>
        <p:spPr/>
        <p:txBody>
          <a:bodyPr/>
          <a:lstStyle/>
          <a:p>
            <a:r>
              <a:t>J2W_ID: CS17</a:t>
            </a:r>
          </a:p>
        </p:txBody>
      </p:sp>
      <p:sp>
        <p:nvSpPr>
          <p:cNvPr id="4" name="Slide Number Placeholder 3">
            <a:extLst>
              <a:ext uri="{FF2B5EF4-FFF2-40B4-BE49-F238E27FC236}">
                <a16:creationId xmlns:a16="http://schemas.microsoft.com/office/drawing/2014/main" id="{880812CB-0C05-4306-1A51-5CD003DFFE60}"/>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4354771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CS18</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7733899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CS19</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229009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CS20</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CS21</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CS22</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CS23</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CS24</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CS25</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CS26</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CS27</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CS28</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CS29</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CS30</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CS31</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CS32</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CS33</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CS34</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CS35</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CS36</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CS37</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CS38</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CS39</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CS40</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CS41</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CS42</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CS43</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CS44</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CS45</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CS46</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CS47</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CS48</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CS49</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CS50</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CS51</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CS52</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CS53</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CS54</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CS55</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CS56</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CS57</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CS58</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CS59</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CS60</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CS69</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CS70</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CS71</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CS72</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CS73</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CS74</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CS75</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CS76</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CS77</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CS78</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CS79</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CS80</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CS81</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CS82</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CS83</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CS84</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CS85</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CS86</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CS87</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CS88</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CS89</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CS90</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CS91</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CS92</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CS93</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CS94</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CS95</a:t>
            </a:r>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CS96</a:t>
            </a:r>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CS97</a:t>
            </a:r>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CS98</a:t>
            </a:r>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CS99</a:t>
            </a:r>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CS100</a:t>
            </a:r>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CS101</a:t>
            </a:r>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CS102</a:t>
            </a:r>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CS103</a:t>
            </a:r>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CS104</a:t>
            </a:r>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CS105</a:t>
            </a:r>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CS106</a:t>
            </a:r>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CS107</a:t>
            </a:r>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CS108</a:t>
            </a:r>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CS109</a:t>
            </a:r>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CS110</a:t>
            </a:r>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CS111</a:t>
            </a:r>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CS112</a:t>
            </a:r>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CS113</a:t>
            </a:r>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CS114</a:t>
            </a:r>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CS115</a:t>
            </a:r>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CS116</a:t>
            </a:r>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CS117</a:t>
            </a:r>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CS118</a:t>
            </a:r>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CS119</a:t>
            </a:r>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CS120</a:t>
            </a:r>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CS121</a:t>
            </a:r>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CS122</a:t>
            </a:r>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CS123</a:t>
            </a:r>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CS124</a:t>
            </a:r>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CS125</a:t>
            </a:r>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CS126</a:t>
            </a:r>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CS127</a:t>
            </a:r>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CS128</a:t>
            </a:r>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CS129</a:t>
            </a:r>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CS130</a:t>
            </a:r>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CS131</a:t>
            </a:r>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CS132</a:t>
            </a:r>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CS61</a:t>
            </a:r>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3759F-D684-2B53-71A3-1873919979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B25E1F-F7FC-A264-368E-2EA22A4D6B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B15D19-27F9-D83D-845C-8CB0D0D3F639}"/>
              </a:ext>
            </a:extLst>
          </p:cNvPr>
          <p:cNvSpPr>
            <a:spLocks noGrp="1"/>
          </p:cNvSpPr>
          <p:nvPr>
            <p:ph type="body" idx="1"/>
          </p:nvPr>
        </p:nvSpPr>
        <p:spPr/>
        <p:txBody>
          <a:bodyPr/>
          <a:lstStyle/>
          <a:p>
            <a:r>
              <a:t>J2W_ID: CS62</a:t>
            </a:r>
          </a:p>
        </p:txBody>
      </p:sp>
      <p:sp>
        <p:nvSpPr>
          <p:cNvPr id="4" name="Slide Number Placeholder 3">
            <a:extLst>
              <a:ext uri="{FF2B5EF4-FFF2-40B4-BE49-F238E27FC236}">
                <a16:creationId xmlns:a16="http://schemas.microsoft.com/office/drawing/2014/main" id="{7AC283EC-4EEC-FDF0-9715-A2D0D76EEB5D}"/>
              </a:ext>
            </a:extLst>
          </p:cNvPr>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4139708734"/>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CS63</a:t>
            </a:r>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CS64</a:t>
            </a:r>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CS65</a:t>
            </a:r>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CS66</a:t>
            </a:r>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CS67</a:t>
            </a:r>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3173587185"/>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J2W_ID: CS68</a:t>
            </a:r>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2414000428"/>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J2W_ID: CS133</a:t>
            </a: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J2W_ID: CS134</a:t>
            </a: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J2W_ID: CS135</a:t>
            </a: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J2W_ID: CS136</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jpe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jpe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image" Target="../media/image22.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s>
</file>

<file path=ppt/slides/_rels/slide2.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3.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jpe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jpeg"/><Relationship Id="rId4" Type="http://schemas.openxmlformats.org/officeDocument/2006/relationships/image" Target="../media/image30.png"/><Relationship Id="rId9" Type="http://schemas.openxmlformats.org/officeDocument/2006/relationships/image" Target="../media/image35.png"/></Relationships>
</file>

<file path=ppt/slides/_rels/slide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5.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24.png"/><Relationship Id="rId7" Type="http://schemas.openxmlformats.org/officeDocument/2006/relationships/image" Target="../media/image41.png"/><Relationship Id="rId12" Type="http://schemas.openxmlformats.org/officeDocument/2006/relationships/image" Target="../media/image4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0.png"/><Relationship Id="rId11" Type="http://schemas.openxmlformats.org/officeDocument/2006/relationships/image" Target="../media/image45.png"/><Relationship Id="rId5" Type="http://schemas.openxmlformats.org/officeDocument/2006/relationships/image" Target="../media/image39.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6.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23.png"/><Relationship Id="rId7" Type="http://schemas.openxmlformats.org/officeDocument/2006/relationships/image" Target="../media/image47.png"/><Relationship Id="rId12" Type="http://schemas.openxmlformats.org/officeDocument/2006/relationships/image" Target="../media/image5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6.png"/><Relationship Id="rId11" Type="http://schemas.openxmlformats.org/officeDocument/2006/relationships/image" Target="../media/image51.png"/><Relationship Id="rId5" Type="http://schemas.openxmlformats.org/officeDocument/2006/relationships/image" Target="../media/image25.png"/><Relationship Id="rId10" Type="http://schemas.openxmlformats.org/officeDocument/2006/relationships/image" Target="../media/image50.png"/><Relationship Id="rId4" Type="http://schemas.openxmlformats.org/officeDocument/2006/relationships/image" Target="../media/image24.png"/><Relationship Id="rId9" Type="http://schemas.openxmlformats.org/officeDocument/2006/relationships/image" Target="../media/image49.png"/></Relationships>
</file>

<file path=ppt/slides/_rels/slide7.xml.rels><?xml version="1.0" encoding="UTF-8" standalone="yes"?>
<Relationships xmlns="http://schemas.openxmlformats.org/package/2006/relationships"><Relationship Id="rId8" Type="http://schemas.openxmlformats.org/officeDocument/2006/relationships/image" Target="../media/image56.png"/><Relationship Id="rId13" Type="http://schemas.openxmlformats.org/officeDocument/2006/relationships/image" Target="../media/image61.png"/><Relationship Id="rId3" Type="http://schemas.openxmlformats.org/officeDocument/2006/relationships/image" Target="../media/image25.png"/><Relationship Id="rId7" Type="http://schemas.openxmlformats.org/officeDocument/2006/relationships/image" Target="../media/image55.png"/><Relationship Id="rId12" Type="http://schemas.openxmlformats.org/officeDocument/2006/relationships/image" Target="../media/image6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54.png"/><Relationship Id="rId11" Type="http://schemas.openxmlformats.org/officeDocument/2006/relationships/image" Target="../media/image59.png"/><Relationship Id="rId5" Type="http://schemas.openxmlformats.org/officeDocument/2006/relationships/image" Target="../media/image53.png"/><Relationship Id="rId10" Type="http://schemas.openxmlformats.org/officeDocument/2006/relationships/image" Target="../media/image58.png"/><Relationship Id="rId4" Type="http://schemas.openxmlformats.org/officeDocument/2006/relationships/image" Target="../media/image24.png"/><Relationship Id="rId9" Type="http://schemas.openxmlformats.org/officeDocument/2006/relationships/image" Target="../media/image57.png"/><Relationship Id="rId14" Type="http://schemas.openxmlformats.org/officeDocument/2006/relationships/image" Target="../media/image62.png"/></Relationships>
</file>

<file path=ppt/slides/_rels/slide8.xml.rels><?xml version="1.0" encoding="UTF-8" standalone="yes"?>
<Relationships xmlns="http://schemas.openxmlformats.org/package/2006/relationships"><Relationship Id="rId8" Type="http://schemas.openxmlformats.org/officeDocument/2006/relationships/image" Target="../media/image65.jpeg"/><Relationship Id="rId3" Type="http://schemas.openxmlformats.org/officeDocument/2006/relationships/image" Target="../media/image34.png"/><Relationship Id="rId7" Type="http://schemas.openxmlformats.org/officeDocument/2006/relationships/image" Target="../media/image64.jpe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63.png"/><Relationship Id="rId11" Type="http://schemas.openxmlformats.org/officeDocument/2006/relationships/image" Target="../media/image68.jpeg"/><Relationship Id="rId5" Type="http://schemas.openxmlformats.org/officeDocument/2006/relationships/image" Target="../media/image4.png"/><Relationship Id="rId10" Type="http://schemas.openxmlformats.org/officeDocument/2006/relationships/image" Target="../media/image67.jpeg"/><Relationship Id="rId4" Type="http://schemas.openxmlformats.org/officeDocument/2006/relationships/image" Target="../media/image35.png"/><Relationship Id="rId9" Type="http://schemas.openxmlformats.org/officeDocument/2006/relationships/image" Target="../media/image66.jpeg"/></Relationships>
</file>

<file path=ppt/slides/_rels/slide9.xml.rels><?xml version="1.0" encoding="UTF-8" standalone="yes"?>
<Relationships xmlns="http://schemas.openxmlformats.org/package/2006/relationships"><Relationship Id="rId8" Type="http://schemas.openxmlformats.org/officeDocument/2006/relationships/image" Target="../media/image72.png"/><Relationship Id="rId13" Type="http://schemas.openxmlformats.org/officeDocument/2006/relationships/image" Target="../media/image77.png"/><Relationship Id="rId3" Type="http://schemas.openxmlformats.org/officeDocument/2006/relationships/image" Target="../media/image69.png"/><Relationship Id="rId7" Type="http://schemas.openxmlformats.org/officeDocument/2006/relationships/image" Target="../media/image71.png"/><Relationship Id="rId12" Type="http://schemas.openxmlformats.org/officeDocument/2006/relationships/image" Target="../media/image7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70.png"/><Relationship Id="rId11" Type="http://schemas.openxmlformats.org/officeDocument/2006/relationships/image" Target="../media/image75.png"/><Relationship Id="rId5" Type="http://schemas.openxmlformats.org/officeDocument/2006/relationships/image" Target="../media/image25.png"/><Relationship Id="rId10" Type="http://schemas.openxmlformats.org/officeDocument/2006/relationships/image" Target="../media/image74.png"/><Relationship Id="rId4" Type="http://schemas.openxmlformats.org/officeDocument/2006/relationships/image" Target="../media/image24.png"/><Relationship Id="rId9" Type="http://schemas.openxmlformats.org/officeDocument/2006/relationships/image" Target="../media/image73.png"/><Relationship Id="rId14" Type="http://schemas.openxmlformats.org/officeDocument/2006/relationships/image" Target="../media/image78.png"/></Relationships>
</file>

<file path=ppt/slides/_rels/slide10.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image" Target="../media/image79.png"/><Relationship Id="rId7" Type="http://schemas.openxmlformats.org/officeDocument/2006/relationships/image" Target="../media/image8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82.png"/><Relationship Id="rId5" Type="http://schemas.openxmlformats.org/officeDocument/2006/relationships/image" Target="../media/image81.png"/><Relationship Id="rId10" Type="http://schemas.openxmlformats.org/officeDocument/2006/relationships/image" Target="../media/image86.png"/><Relationship Id="rId4" Type="http://schemas.openxmlformats.org/officeDocument/2006/relationships/image" Target="../media/image80.png"/><Relationship Id="rId9" Type="http://schemas.openxmlformats.org/officeDocument/2006/relationships/image" Target="../media/image85.png"/></Relationships>
</file>

<file path=ppt/slides/_rels/slide11.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87.png"/><Relationship Id="rId7" Type="http://schemas.openxmlformats.org/officeDocument/2006/relationships/image" Target="../media/image89.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88.png"/><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8" Type="http://schemas.openxmlformats.org/officeDocument/2006/relationships/image" Target="../media/image93.png"/><Relationship Id="rId3" Type="http://schemas.openxmlformats.org/officeDocument/2006/relationships/image" Target="../media/image36.png"/><Relationship Id="rId7" Type="http://schemas.openxmlformats.org/officeDocument/2006/relationships/image" Target="../media/image9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91.png"/><Relationship Id="rId11" Type="http://schemas.openxmlformats.org/officeDocument/2006/relationships/image" Target="../media/image96.png"/><Relationship Id="rId5" Type="http://schemas.openxmlformats.org/officeDocument/2006/relationships/image" Target="../media/image69.png"/><Relationship Id="rId10" Type="http://schemas.openxmlformats.org/officeDocument/2006/relationships/image" Target="../media/image95.png"/><Relationship Id="rId4" Type="http://schemas.openxmlformats.org/officeDocument/2006/relationships/image" Target="../media/image37.png"/><Relationship Id="rId9" Type="http://schemas.openxmlformats.org/officeDocument/2006/relationships/image" Target="../media/image94.png"/></Relationships>
</file>

<file path=ppt/slides/_rels/slide13.xml.rels><?xml version="1.0" encoding="UTF-8" standalone="yes"?>
<Relationships xmlns="http://schemas.openxmlformats.org/package/2006/relationships"><Relationship Id="rId3" Type="http://schemas.openxmlformats.org/officeDocument/2006/relationships/image" Target="../media/image97.png"/><Relationship Id="rId7" Type="http://schemas.openxmlformats.org/officeDocument/2006/relationships/image" Target="../media/image10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00.png"/><Relationship Id="rId5" Type="http://schemas.openxmlformats.org/officeDocument/2006/relationships/image" Target="../media/image99.png"/><Relationship Id="rId4" Type="http://schemas.openxmlformats.org/officeDocument/2006/relationships/image" Target="../media/image98.png"/></Relationships>
</file>

<file path=ppt/slides/_rels/slide14.xml.rels><?xml version="1.0" encoding="UTF-8" standalone="yes"?>
<Relationships xmlns="http://schemas.openxmlformats.org/package/2006/relationships"><Relationship Id="rId8" Type="http://schemas.openxmlformats.org/officeDocument/2006/relationships/image" Target="../media/image105.png"/><Relationship Id="rId3" Type="http://schemas.openxmlformats.org/officeDocument/2006/relationships/image" Target="../media/image97.png"/><Relationship Id="rId7" Type="http://schemas.openxmlformats.org/officeDocument/2006/relationships/image" Target="../media/image104.png"/><Relationship Id="rId12" Type="http://schemas.openxmlformats.org/officeDocument/2006/relationships/image" Target="../media/image108.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03.png"/><Relationship Id="rId11" Type="http://schemas.openxmlformats.org/officeDocument/2006/relationships/image" Target="../media/image107.png"/><Relationship Id="rId5" Type="http://schemas.openxmlformats.org/officeDocument/2006/relationships/image" Target="../media/image102.png"/><Relationship Id="rId10" Type="http://schemas.openxmlformats.org/officeDocument/2006/relationships/image" Target="../media/image106.png"/><Relationship Id="rId4" Type="http://schemas.openxmlformats.org/officeDocument/2006/relationships/image" Target="../media/image98.png"/><Relationship Id="rId9" Type="http://schemas.openxmlformats.org/officeDocument/2006/relationships/image" Target="../media/image99.png"/></Relationships>
</file>

<file path=ppt/slides/_rels/slide15.xml.rels><?xml version="1.0" encoding="UTF-8" standalone="yes"?>
<Relationships xmlns="http://schemas.openxmlformats.org/package/2006/relationships"><Relationship Id="rId8" Type="http://schemas.openxmlformats.org/officeDocument/2006/relationships/image" Target="../media/image111.png"/><Relationship Id="rId3" Type="http://schemas.openxmlformats.org/officeDocument/2006/relationships/image" Target="../media/image97.png"/><Relationship Id="rId7" Type="http://schemas.openxmlformats.org/officeDocument/2006/relationships/image" Target="../media/image53.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10.png"/><Relationship Id="rId5" Type="http://schemas.openxmlformats.org/officeDocument/2006/relationships/image" Target="../media/image109.png"/><Relationship Id="rId4" Type="http://schemas.openxmlformats.org/officeDocument/2006/relationships/image" Target="../media/image98.png"/><Relationship Id="rId9" Type="http://schemas.openxmlformats.org/officeDocument/2006/relationships/image" Target="../media/image112.png"/></Relationships>
</file>

<file path=ppt/slides/_rels/slide16.xml.rels><?xml version="1.0" encoding="UTF-8" standalone="yes"?>
<Relationships xmlns="http://schemas.openxmlformats.org/package/2006/relationships"><Relationship Id="rId8" Type="http://schemas.openxmlformats.org/officeDocument/2006/relationships/image" Target="../media/image72.png"/><Relationship Id="rId13" Type="http://schemas.openxmlformats.org/officeDocument/2006/relationships/image" Target="../media/image77.png"/><Relationship Id="rId3" Type="http://schemas.openxmlformats.org/officeDocument/2006/relationships/image" Target="../media/image69.png"/><Relationship Id="rId7" Type="http://schemas.openxmlformats.org/officeDocument/2006/relationships/image" Target="../media/image71.png"/><Relationship Id="rId12" Type="http://schemas.openxmlformats.org/officeDocument/2006/relationships/image" Target="../media/image76.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70.png"/><Relationship Id="rId11" Type="http://schemas.openxmlformats.org/officeDocument/2006/relationships/image" Target="../media/image75.png"/><Relationship Id="rId5" Type="http://schemas.openxmlformats.org/officeDocument/2006/relationships/image" Target="../media/image25.png"/><Relationship Id="rId10" Type="http://schemas.openxmlformats.org/officeDocument/2006/relationships/image" Target="../media/image74.png"/><Relationship Id="rId4" Type="http://schemas.openxmlformats.org/officeDocument/2006/relationships/image" Target="../media/image24.png"/><Relationship Id="rId9" Type="http://schemas.openxmlformats.org/officeDocument/2006/relationships/image" Target="../media/image73.png"/><Relationship Id="rId14" Type="http://schemas.openxmlformats.org/officeDocument/2006/relationships/image" Target="../media/image78.png"/></Relationships>
</file>

<file path=ppt/slides/_rels/slide17.xml.rels><?xml version="1.0" encoding="UTF-8" standalone="yes"?>
<Relationships xmlns="http://schemas.openxmlformats.org/package/2006/relationships"><Relationship Id="rId8" Type="http://schemas.openxmlformats.org/officeDocument/2006/relationships/image" Target="../media/image116.png"/><Relationship Id="rId3" Type="http://schemas.openxmlformats.org/officeDocument/2006/relationships/image" Target="../media/image84.png"/><Relationship Id="rId7" Type="http://schemas.openxmlformats.org/officeDocument/2006/relationships/image" Target="../media/image115.png"/><Relationship Id="rId12" Type="http://schemas.openxmlformats.org/officeDocument/2006/relationships/image" Target="../media/image120.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14.png"/><Relationship Id="rId11" Type="http://schemas.openxmlformats.org/officeDocument/2006/relationships/image" Target="../media/image119.png"/><Relationship Id="rId5" Type="http://schemas.openxmlformats.org/officeDocument/2006/relationships/image" Target="../media/image113.png"/><Relationship Id="rId10" Type="http://schemas.openxmlformats.org/officeDocument/2006/relationships/image" Target="../media/image118.png"/><Relationship Id="rId4" Type="http://schemas.openxmlformats.org/officeDocument/2006/relationships/image" Target="../media/image85.png"/><Relationship Id="rId9" Type="http://schemas.openxmlformats.org/officeDocument/2006/relationships/image" Target="../media/image117.png"/></Relationships>
</file>

<file path=ppt/slides/_rels/slide18.xml.rels><?xml version="1.0" encoding="UTF-8" standalone="yes"?>
<Relationships xmlns="http://schemas.openxmlformats.org/package/2006/relationships"><Relationship Id="rId8" Type="http://schemas.openxmlformats.org/officeDocument/2006/relationships/image" Target="../media/image126.png"/><Relationship Id="rId13" Type="http://schemas.openxmlformats.org/officeDocument/2006/relationships/image" Target="../media/image131.png"/><Relationship Id="rId3" Type="http://schemas.openxmlformats.org/officeDocument/2006/relationships/image" Target="../media/image121.png"/><Relationship Id="rId7" Type="http://schemas.openxmlformats.org/officeDocument/2006/relationships/image" Target="../media/image125.png"/><Relationship Id="rId12" Type="http://schemas.openxmlformats.org/officeDocument/2006/relationships/image" Target="../media/image130.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24.png"/><Relationship Id="rId11" Type="http://schemas.openxmlformats.org/officeDocument/2006/relationships/image" Target="../media/image129.png"/><Relationship Id="rId5" Type="http://schemas.openxmlformats.org/officeDocument/2006/relationships/image" Target="../media/image123.png"/><Relationship Id="rId10" Type="http://schemas.openxmlformats.org/officeDocument/2006/relationships/image" Target="../media/image128.png"/><Relationship Id="rId4" Type="http://schemas.openxmlformats.org/officeDocument/2006/relationships/image" Target="../media/image122.png"/><Relationship Id="rId9" Type="http://schemas.openxmlformats.org/officeDocument/2006/relationships/image" Target="../media/image127.png"/></Relationships>
</file>

<file path=ppt/slides/_rels/slide19.xml.rels><?xml version="1.0" encoding="UTF-8" standalone="yes"?>
<Relationships xmlns="http://schemas.openxmlformats.org/package/2006/relationships"><Relationship Id="rId8" Type="http://schemas.openxmlformats.org/officeDocument/2006/relationships/image" Target="../media/image72.png"/><Relationship Id="rId13" Type="http://schemas.openxmlformats.org/officeDocument/2006/relationships/image" Target="../media/image77.png"/><Relationship Id="rId3" Type="http://schemas.openxmlformats.org/officeDocument/2006/relationships/image" Target="../media/image69.png"/><Relationship Id="rId7" Type="http://schemas.openxmlformats.org/officeDocument/2006/relationships/image" Target="../media/image71.png"/><Relationship Id="rId12" Type="http://schemas.openxmlformats.org/officeDocument/2006/relationships/image" Target="../media/image76.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70.png"/><Relationship Id="rId11" Type="http://schemas.openxmlformats.org/officeDocument/2006/relationships/image" Target="../media/image75.png"/><Relationship Id="rId5" Type="http://schemas.openxmlformats.org/officeDocument/2006/relationships/image" Target="../media/image25.png"/><Relationship Id="rId10" Type="http://schemas.openxmlformats.org/officeDocument/2006/relationships/image" Target="../media/image74.png"/><Relationship Id="rId4" Type="http://schemas.openxmlformats.org/officeDocument/2006/relationships/image" Target="../media/image24.png"/><Relationship Id="rId9" Type="http://schemas.openxmlformats.org/officeDocument/2006/relationships/image" Target="../media/image73.png"/><Relationship Id="rId14" Type="http://schemas.openxmlformats.org/officeDocument/2006/relationships/image" Target="../media/image78.png"/></Relationships>
</file>

<file path=ppt/slides/_rels/slide20.xml.rels><?xml version="1.0" encoding="UTF-8" standalone="yes"?>
<Relationships xmlns="http://schemas.openxmlformats.org/package/2006/relationships"><Relationship Id="rId8" Type="http://schemas.openxmlformats.org/officeDocument/2006/relationships/image" Target="../media/image134.png"/><Relationship Id="rId3" Type="http://schemas.openxmlformats.org/officeDocument/2006/relationships/image" Target="../media/image24.png"/><Relationship Id="rId7" Type="http://schemas.openxmlformats.org/officeDocument/2006/relationships/image" Target="../media/image133.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32.png"/><Relationship Id="rId5" Type="http://schemas.openxmlformats.org/officeDocument/2006/relationships/image" Target="../media/image38.png"/><Relationship Id="rId4" Type="http://schemas.openxmlformats.org/officeDocument/2006/relationships/image" Target="../media/image37.png"/><Relationship Id="rId9" Type="http://schemas.openxmlformats.org/officeDocument/2006/relationships/image" Target="../media/image135.png"/></Relationships>
</file>

<file path=ppt/slides/_rels/slide21.xml.rels><?xml version="1.0" encoding="UTF-8" standalone="yes"?>
<Relationships xmlns="http://schemas.openxmlformats.org/package/2006/relationships"><Relationship Id="rId8" Type="http://schemas.openxmlformats.org/officeDocument/2006/relationships/image" Target="../media/image140.png"/><Relationship Id="rId13" Type="http://schemas.openxmlformats.org/officeDocument/2006/relationships/image" Target="../media/image145.png"/><Relationship Id="rId3" Type="http://schemas.openxmlformats.org/officeDocument/2006/relationships/image" Target="../media/image29.png"/><Relationship Id="rId7" Type="http://schemas.openxmlformats.org/officeDocument/2006/relationships/image" Target="../media/image139.png"/><Relationship Id="rId12" Type="http://schemas.openxmlformats.org/officeDocument/2006/relationships/image" Target="../media/image144.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138.png"/><Relationship Id="rId11" Type="http://schemas.openxmlformats.org/officeDocument/2006/relationships/image" Target="../media/image143.png"/><Relationship Id="rId5" Type="http://schemas.openxmlformats.org/officeDocument/2006/relationships/image" Target="../media/image137.png"/><Relationship Id="rId15" Type="http://schemas.openxmlformats.org/officeDocument/2006/relationships/image" Target="../media/image35.png"/><Relationship Id="rId10" Type="http://schemas.openxmlformats.org/officeDocument/2006/relationships/image" Target="../media/image142.png"/><Relationship Id="rId4" Type="http://schemas.openxmlformats.org/officeDocument/2006/relationships/image" Target="../media/image136.png"/><Relationship Id="rId9" Type="http://schemas.openxmlformats.org/officeDocument/2006/relationships/image" Target="../media/image141.png"/><Relationship Id="rId14" Type="http://schemas.openxmlformats.org/officeDocument/2006/relationships/image" Target="../media/image34.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25.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26.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27.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28.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29.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30.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31.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32.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33.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34.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35.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36.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39.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40.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41.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42.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43.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44.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45.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46.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49.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50.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51.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51.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52.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53.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53.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54.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54.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55.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55.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56.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56.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57.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57.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58.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58.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59.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59.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60.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60.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61.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61.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62.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62.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63.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63.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64.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64.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65.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65.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66.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66.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67.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67.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68.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68.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69.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69.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70.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70.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71.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71.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72.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72.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73.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73.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74.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74.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75.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75.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76.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76.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77.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77.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78.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78.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79.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79.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80.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80.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81.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81.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82.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82.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83.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83.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84.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84.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85.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85.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86.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86.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87.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87.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88.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88.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89.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89.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90.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90.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91.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91.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92.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92.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93.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93.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94.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94.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95.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95.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96.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96.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97.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97.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98.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98.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99.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99.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100.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100.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101.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101.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102.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102.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103.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103.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104.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104.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105.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105.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106.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106.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107.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107.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108.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108.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109.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109.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110.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110.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111.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111.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112.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112.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113.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113.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114.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114.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115.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115.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116.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116.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117.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117.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118.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118.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119.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119.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120.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120.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121.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121.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122.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122.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123.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123.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124.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124.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125.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125.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126.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126.xml"/><Relationship Id="rId1" Type="http://schemas.openxmlformats.org/officeDocument/2006/relationships/slideLayout" Target="../slideLayouts/slideLayout1.xml"/><Relationship Id="rId4" Type="http://schemas.openxmlformats.org/officeDocument/2006/relationships/image" Target="../media/image147.png"/></Relationships>
</file>

<file path=ppt/slides/_rels/slide127.xml.rels><?xml version="1.0" encoding="UTF-8" standalone="yes"?>
<Relationships xmlns="http://schemas.openxmlformats.org/package/2006/relationships"><Relationship Id="rId8" Type="http://schemas.openxmlformats.org/officeDocument/2006/relationships/image" Target="../media/image149.jpeg"/><Relationship Id="rId3" Type="http://schemas.openxmlformats.org/officeDocument/2006/relationships/image" Target="../media/image87.png"/><Relationship Id="rId7" Type="http://schemas.openxmlformats.org/officeDocument/2006/relationships/image" Target="../media/image148.jpeg"/><Relationship Id="rId2" Type="http://schemas.openxmlformats.org/officeDocument/2006/relationships/notesSlide" Target="../notesSlides/notesSlide127.xml"/><Relationship Id="rId1" Type="http://schemas.openxmlformats.org/officeDocument/2006/relationships/slideLayout" Target="../slideLayouts/slideLayout1.xml"/><Relationship Id="rId6" Type="http://schemas.openxmlformats.org/officeDocument/2006/relationships/image" Target="../media/image31.jpeg"/><Relationship Id="rId5" Type="http://schemas.openxmlformats.org/officeDocument/2006/relationships/image" Target="../media/image33.jpeg"/><Relationship Id="rId4" Type="http://schemas.openxmlformats.org/officeDocument/2006/relationships/image" Target="../media/image26.png"/><Relationship Id="rId9" Type="http://schemas.openxmlformats.org/officeDocument/2006/relationships/image" Target="../media/image150.jpeg"/></Relationships>
</file>

<file path=ppt/slides/_rels/slide128.xml.rels><?xml version="1.0" encoding="UTF-8" standalone="yes"?>
<Relationships xmlns="http://schemas.openxmlformats.org/package/2006/relationships"><Relationship Id="rId8" Type="http://schemas.openxmlformats.org/officeDocument/2006/relationships/image" Target="../media/image149.jpeg"/><Relationship Id="rId3" Type="http://schemas.openxmlformats.org/officeDocument/2006/relationships/image" Target="../media/image87.png"/><Relationship Id="rId7" Type="http://schemas.openxmlformats.org/officeDocument/2006/relationships/image" Target="../media/image148.jpeg"/><Relationship Id="rId2" Type="http://schemas.openxmlformats.org/officeDocument/2006/relationships/notesSlide" Target="../notesSlides/notesSlide128.xml"/><Relationship Id="rId1" Type="http://schemas.openxmlformats.org/officeDocument/2006/relationships/slideLayout" Target="../slideLayouts/slideLayout1.xml"/><Relationship Id="rId6" Type="http://schemas.openxmlformats.org/officeDocument/2006/relationships/image" Target="../media/image31.jpeg"/><Relationship Id="rId5" Type="http://schemas.openxmlformats.org/officeDocument/2006/relationships/image" Target="../media/image33.jpeg"/><Relationship Id="rId10" Type="http://schemas.openxmlformats.org/officeDocument/2006/relationships/image" Target="../media/image152.jpeg"/><Relationship Id="rId4" Type="http://schemas.openxmlformats.org/officeDocument/2006/relationships/image" Target="../media/image26.png"/><Relationship Id="rId9" Type="http://schemas.openxmlformats.org/officeDocument/2006/relationships/image" Target="../media/image151.jpeg"/></Relationships>
</file>

<file path=ppt/slides/_rels/slide129.xml.rels><?xml version="1.0" encoding="UTF-8" standalone="yes"?>
<Relationships xmlns="http://schemas.openxmlformats.org/package/2006/relationships"><Relationship Id="rId8" Type="http://schemas.openxmlformats.org/officeDocument/2006/relationships/image" Target="../media/image155.png"/><Relationship Id="rId3" Type="http://schemas.openxmlformats.org/officeDocument/2006/relationships/image" Target="../media/image97.png"/><Relationship Id="rId7" Type="http://schemas.openxmlformats.org/officeDocument/2006/relationships/image" Target="../media/image154.png"/><Relationship Id="rId2" Type="http://schemas.openxmlformats.org/officeDocument/2006/relationships/notesSlide" Target="../notesSlides/notesSlide129.xml"/><Relationship Id="rId1" Type="http://schemas.openxmlformats.org/officeDocument/2006/relationships/slideLayout" Target="../slideLayouts/slideLayout1.xml"/><Relationship Id="rId6" Type="http://schemas.openxmlformats.org/officeDocument/2006/relationships/image" Target="../media/image153.png"/><Relationship Id="rId11" Type="http://schemas.openxmlformats.org/officeDocument/2006/relationships/image" Target="../media/image158.png"/><Relationship Id="rId5" Type="http://schemas.openxmlformats.org/officeDocument/2006/relationships/image" Target="../media/image70.png"/><Relationship Id="rId10" Type="http://schemas.openxmlformats.org/officeDocument/2006/relationships/image" Target="../media/image157.png"/><Relationship Id="rId4" Type="http://schemas.openxmlformats.org/officeDocument/2006/relationships/image" Target="../media/image98.png"/><Relationship Id="rId9" Type="http://schemas.openxmlformats.org/officeDocument/2006/relationships/image" Target="../media/image156.png"/></Relationships>
</file>

<file path=ppt/slides/_rels/slide130.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87.png"/><Relationship Id="rId7" Type="http://schemas.openxmlformats.org/officeDocument/2006/relationships/image" Target="../media/image89.png"/><Relationship Id="rId2" Type="http://schemas.openxmlformats.org/officeDocument/2006/relationships/notesSlide" Target="../notesSlides/notesSlide130.xml"/><Relationship Id="rId1" Type="http://schemas.openxmlformats.org/officeDocument/2006/relationships/slideLayout" Target="../slideLayouts/slideLayout1.xml"/><Relationship Id="rId6" Type="http://schemas.openxmlformats.org/officeDocument/2006/relationships/image" Target="../media/image88.png"/><Relationship Id="rId5" Type="http://schemas.openxmlformats.org/officeDocument/2006/relationships/image" Target="../media/image25.png"/><Relationship Id="rId4" Type="http://schemas.openxmlformats.org/officeDocument/2006/relationships/image" Target="../media/image24.png"/></Relationships>
</file>

<file path=ppt/slides/_rels/slide131.xml.rels><?xml version="1.0" encoding="UTF-8" standalone="yes"?>
<Relationships xmlns="http://schemas.openxmlformats.org/package/2006/relationships"><Relationship Id="rId3" Type="http://schemas.openxmlformats.org/officeDocument/2006/relationships/image" Target="../media/image87.png"/><Relationship Id="rId7" Type="http://schemas.openxmlformats.org/officeDocument/2006/relationships/image" Target="../media/image159.png"/><Relationship Id="rId2" Type="http://schemas.openxmlformats.org/officeDocument/2006/relationships/notesSlide" Target="../notesSlides/notesSlide131.xml"/><Relationship Id="rId1" Type="http://schemas.openxmlformats.org/officeDocument/2006/relationships/slideLayout" Target="../slideLayouts/slideLayout1.xml"/><Relationship Id="rId6" Type="http://schemas.openxmlformats.org/officeDocument/2006/relationships/image" Target="../media/image88.png"/><Relationship Id="rId5" Type="http://schemas.openxmlformats.org/officeDocument/2006/relationships/image" Target="../media/image25.png"/><Relationship Id="rId4" Type="http://schemas.openxmlformats.org/officeDocument/2006/relationships/image" Target="../media/image24.png"/></Relationships>
</file>

<file path=ppt/slides/_rels/slide132.xml.rels><?xml version="1.0" encoding="UTF-8" standalone="yes"?>
<Relationships xmlns="http://schemas.openxmlformats.org/package/2006/relationships"><Relationship Id="rId8" Type="http://schemas.openxmlformats.org/officeDocument/2006/relationships/image" Target="../media/image164.png"/><Relationship Id="rId13" Type="http://schemas.openxmlformats.org/officeDocument/2006/relationships/image" Target="../media/image169.png"/><Relationship Id="rId3" Type="http://schemas.openxmlformats.org/officeDocument/2006/relationships/image" Target="../media/image160.svg"/><Relationship Id="rId7" Type="http://schemas.openxmlformats.org/officeDocument/2006/relationships/image" Target="../media/image163.png"/><Relationship Id="rId12" Type="http://schemas.openxmlformats.org/officeDocument/2006/relationships/image" Target="../media/image168.png"/><Relationship Id="rId2" Type="http://schemas.openxmlformats.org/officeDocument/2006/relationships/notesSlide" Target="../notesSlides/notesSlide132.xml"/><Relationship Id="rId1" Type="http://schemas.openxmlformats.org/officeDocument/2006/relationships/slideLayout" Target="../slideLayouts/slideLayout1.xml"/><Relationship Id="rId6" Type="http://schemas.openxmlformats.org/officeDocument/2006/relationships/image" Target="../media/image132.png"/><Relationship Id="rId11" Type="http://schemas.openxmlformats.org/officeDocument/2006/relationships/image" Target="../media/image167.png"/><Relationship Id="rId5" Type="http://schemas.openxmlformats.org/officeDocument/2006/relationships/image" Target="../media/image162.png"/><Relationship Id="rId10" Type="http://schemas.openxmlformats.org/officeDocument/2006/relationships/image" Target="../media/image166.png"/><Relationship Id="rId4" Type="http://schemas.openxmlformats.org/officeDocument/2006/relationships/image" Target="../media/image161.png"/><Relationship Id="rId9" Type="http://schemas.openxmlformats.org/officeDocument/2006/relationships/image" Target="../media/image165.png"/></Relationships>
</file>

<file path=ppt/slides/_rels/slide133.xml.rels><?xml version="1.0" encoding="UTF-8" standalone="yes"?>
<Relationships xmlns="http://schemas.openxmlformats.org/package/2006/relationships"><Relationship Id="rId8" Type="http://schemas.openxmlformats.org/officeDocument/2006/relationships/image" Target="../media/image111.png"/><Relationship Id="rId3" Type="http://schemas.openxmlformats.org/officeDocument/2006/relationships/image" Target="../media/image97.png"/><Relationship Id="rId7" Type="http://schemas.openxmlformats.org/officeDocument/2006/relationships/image" Target="../media/image53.png"/><Relationship Id="rId2" Type="http://schemas.openxmlformats.org/officeDocument/2006/relationships/notesSlide" Target="../notesSlides/notesSlide133.xml"/><Relationship Id="rId1" Type="http://schemas.openxmlformats.org/officeDocument/2006/relationships/slideLayout" Target="../slideLayouts/slideLayout1.xml"/><Relationship Id="rId6" Type="http://schemas.openxmlformats.org/officeDocument/2006/relationships/image" Target="../media/image110.png"/><Relationship Id="rId5" Type="http://schemas.openxmlformats.org/officeDocument/2006/relationships/image" Target="../media/image109.png"/><Relationship Id="rId4" Type="http://schemas.openxmlformats.org/officeDocument/2006/relationships/image" Target="../media/image98.png"/><Relationship Id="rId9" Type="http://schemas.openxmlformats.org/officeDocument/2006/relationships/image" Target="../media/image112.png"/></Relationships>
</file>

<file path=ppt/slides/_rels/slide13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34.xml"/><Relationship Id="rId1" Type="http://schemas.openxmlformats.org/officeDocument/2006/relationships/slideLayout" Target="../slideLayouts/slideLayout1.xml"/><Relationship Id="rId6" Type="http://schemas.openxmlformats.org/officeDocument/2006/relationships/image" Target="../media/image170.png"/><Relationship Id="rId5" Type="http://schemas.openxmlformats.org/officeDocument/2006/relationships/image" Target="../media/image25.png"/><Relationship Id="rId4" Type="http://schemas.openxmlformats.org/officeDocument/2006/relationships/image" Target="../media/image24.png"/></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0"/>
          </a:solidFill>
          <a:ln w="12700">
            <a:solidFill>
              <a:srgbClr val="FFFFFF">
                <a:alpha val="0"/>
              </a:srgbClr>
            </a:solidFill>
            <a:prstDash val="solid"/>
          </a:ln>
        </p:spPr>
        <p:txBody>
          <a:bodyPr/>
          <a:lstStyle/>
          <a:p>
            <a:endParaRPr lang="en-US"/>
          </a:p>
        </p:txBody>
      </p:sp>
      <p:sp>
        <p:nvSpPr>
          <p:cNvPr id="3" name="Shape 1"/>
          <p:cNvSpPr/>
          <p:nvPr/>
        </p:nvSpPr>
        <p:spPr>
          <a:xfrm>
            <a:off x="305" y="0"/>
            <a:ext cx="12191695" cy="6858000"/>
          </a:xfrm>
          <a:prstGeom prst="rect">
            <a:avLst/>
          </a:prstGeom>
          <a:solidFill>
            <a:srgbClr val="FFFFFF"/>
          </a:solidFill>
          <a:ln w="12700">
            <a:solidFill>
              <a:srgbClr val="FFFFFF">
                <a:alpha val="0"/>
              </a:srgbClr>
            </a:solidFill>
            <a:prstDash val="solid"/>
          </a:ln>
        </p:spPr>
        <p:txBody>
          <a:bodyPr/>
          <a:lstStyle/>
          <a:p>
            <a:pPr algn="ctr"/>
            <a:endParaRPr lang="en-US"/>
          </a:p>
        </p:txBody>
      </p:sp>
      <p:pic>
        <p:nvPicPr>
          <p:cNvPr id="4" name="Image 0" descr="preencoded.png"/>
          <p:cNvPicPr>
            <a:picLocks noChangeAspect="1"/>
          </p:cNvPicPr>
          <p:nvPr/>
        </p:nvPicPr>
        <p:blipFill>
          <a:blip r:embed="rId3"/>
          <a:srcRect/>
          <a:stretch/>
        </p:blipFill>
        <p:spPr>
          <a:xfrm>
            <a:off x="9334195" y="0"/>
            <a:ext cx="2857500" cy="2857500"/>
          </a:xfrm>
          <a:prstGeom prst="rect">
            <a:avLst/>
          </a:prstGeom>
        </p:spPr>
      </p:pic>
      <p:sp>
        <p:nvSpPr>
          <p:cNvPr id="5" name="Shape 2"/>
          <p:cNvSpPr/>
          <p:nvPr/>
        </p:nvSpPr>
        <p:spPr>
          <a:xfrm>
            <a:off x="0" y="5905195"/>
            <a:ext cx="3810305" cy="952805"/>
          </a:xfrm>
          <a:custGeom>
            <a:avLst/>
            <a:gdLst/>
            <a:ahLst/>
            <a:cxnLst/>
            <a:rect l="l" t="t" r="r" b="b"/>
            <a:pathLst>
              <a:path w="3810305" h="952805">
                <a:moveTo>
                  <a:pt x="0" y="952805"/>
                </a:moveTo>
                <a:lnTo>
                  <a:pt x="3810305" y="952805"/>
                </a:lnTo>
                <a:lnTo>
                  <a:pt x="0" y="0"/>
                </a:lnTo>
                <a:close/>
              </a:path>
            </a:pathLst>
          </a:custGeom>
          <a:solidFill>
            <a:srgbClr val="D62839">
              <a:alpha val="3000"/>
            </a:srgbClr>
          </a:solidFill>
          <a:ln/>
        </p:spPr>
        <p:txBody>
          <a:bodyPr/>
          <a:lstStyle/>
          <a:p>
            <a:endParaRPr lang="en-US"/>
          </a:p>
        </p:txBody>
      </p:sp>
      <p:pic>
        <p:nvPicPr>
          <p:cNvPr id="6" name="Image 1" descr="preencoded.png"/>
          <p:cNvPicPr>
            <a:picLocks noChangeAspect="1"/>
          </p:cNvPicPr>
          <p:nvPr/>
        </p:nvPicPr>
        <p:blipFill>
          <a:blip r:embed="rId4"/>
          <a:srcRect l="-202" r="-202"/>
          <a:stretch/>
        </p:blipFill>
        <p:spPr>
          <a:xfrm>
            <a:off x="0" y="0"/>
            <a:ext cx="8128102" cy="75895"/>
          </a:xfrm>
          <a:prstGeom prst="rect">
            <a:avLst/>
          </a:prstGeom>
        </p:spPr>
      </p:pic>
      <p:pic>
        <p:nvPicPr>
          <p:cNvPr id="7" name="Image 2" descr="preencoded.png"/>
          <p:cNvPicPr>
            <a:picLocks noChangeAspect="1"/>
          </p:cNvPicPr>
          <p:nvPr/>
        </p:nvPicPr>
        <p:blipFill>
          <a:blip r:embed="rId5"/>
          <a:srcRect l="-197" r="-197"/>
          <a:stretch/>
        </p:blipFill>
        <p:spPr>
          <a:xfrm>
            <a:off x="8128102" y="0"/>
            <a:ext cx="4063594" cy="75895"/>
          </a:xfrm>
          <a:prstGeom prst="rect">
            <a:avLst/>
          </a:prstGeom>
        </p:spPr>
      </p:pic>
      <p:sp>
        <p:nvSpPr>
          <p:cNvPr id="8" name="Text 3"/>
          <p:cNvSpPr txBox="1"/>
          <p:nvPr/>
        </p:nvSpPr>
        <p:spPr>
          <a:xfrm>
            <a:off x="2774290" y="3881628"/>
            <a:ext cx="6648602" cy="267005"/>
          </a:xfrm>
          <a:prstGeom prst="rect">
            <a:avLst/>
          </a:prstGeom>
          <a:noFill/>
          <a:ln/>
        </p:spPr>
        <p:txBody>
          <a:bodyPr wrap="square" lIns="0" tIns="0" rIns="0" bIns="0" rtlCol="0" anchor="ctr"/>
          <a:lstStyle/>
          <a:p>
            <a:pPr marL="0" indent="0" algn="ctr">
              <a:buNone/>
            </a:pPr>
            <a:r>
              <a:rPr lang="en-US" sz="1500" b="1">
                <a:solidFill>
                  <a:srgbClr val="4B5563"/>
                </a:solidFill>
                <a:latin typeface="Roboto Condensed" pitchFamily="34" charset="0"/>
                <a:ea typeface="Roboto Condensed" pitchFamily="34" charset="-122"/>
                <a:cs typeface="Roboto Condensed" pitchFamily="34" charset="-120"/>
              </a:rPr>
              <a:t>BUSINESS DRIVERS</a:t>
            </a:r>
            <a:r>
              <a:rPr lang="en-US" sz="1200" b="1">
                <a:solidFill>
                  <a:srgbClr val="D62839"/>
                </a:solidFill>
                <a:latin typeface="Raleway" pitchFamily="34" charset="0"/>
                <a:ea typeface="Raleway" pitchFamily="34" charset="-122"/>
                <a:cs typeface="Raleway" pitchFamily="34" charset="-120"/>
              </a:rPr>
              <a:t>|</a:t>
            </a:r>
            <a:r>
              <a:rPr lang="en-US" sz="1500" b="1">
                <a:solidFill>
                  <a:srgbClr val="4B5563"/>
                </a:solidFill>
                <a:latin typeface="Roboto Condensed" pitchFamily="34" charset="0"/>
                <a:ea typeface="Roboto Condensed" pitchFamily="34" charset="-122"/>
                <a:cs typeface="Roboto Condensed" pitchFamily="34" charset="-120"/>
              </a:rPr>
              <a:t> TECHNOLOGY ACCELERATORS </a:t>
            </a:r>
            <a:r>
              <a:rPr lang="en-US" sz="1200" b="1">
                <a:solidFill>
                  <a:srgbClr val="D62839"/>
                </a:solidFill>
                <a:latin typeface="Raleway" pitchFamily="34" charset="0"/>
                <a:ea typeface="Raleway" pitchFamily="34" charset="-122"/>
                <a:cs typeface="Raleway" pitchFamily="34" charset="-120"/>
              </a:rPr>
              <a:t>|</a:t>
            </a:r>
            <a:r>
              <a:rPr lang="en-US" sz="1500" b="1">
                <a:solidFill>
                  <a:srgbClr val="4B5563"/>
                </a:solidFill>
                <a:latin typeface="Roboto Condensed" pitchFamily="34" charset="0"/>
                <a:ea typeface="Roboto Condensed" pitchFamily="34" charset="-122"/>
                <a:cs typeface="Roboto Condensed" pitchFamily="34" charset="-120"/>
              </a:rPr>
              <a:t> GAME CHANGERS </a:t>
            </a:r>
            <a:endParaRPr lang="en-US" sz="1200"/>
          </a:p>
        </p:txBody>
      </p:sp>
      <p:sp>
        <p:nvSpPr>
          <p:cNvPr id="9" name="Text 4"/>
          <p:cNvSpPr txBox="1"/>
          <p:nvPr/>
        </p:nvSpPr>
        <p:spPr>
          <a:xfrm>
            <a:off x="4153205" y="4262933"/>
            <a:ext cx="3893515" cy="305410"/>
          </a:xfrm>
          <a:prstGeom prst="rect">
            <a:avLst/>
          </a:prstGeom>
          <a:noFill/>
          <a:ln/>
        </p:spPr>
        <p:txBody>
          <a:bodyPr wrap="square" lIns="0" tIns="0" rIns="0" bIns="0" rtlCol="0" anchor="ctr"/>
          <a:lstStyle/>
          <a:p>
            <a:pPr marL="0" indent="0" algn="ctr">
              <a:buNone/>
            </a:pPr>
            <a:r>
              <a:rPr lang="en-US" sz="1800" i="1">
                <a:solidFill>
                  <a:srgbClr val="D62839"/>
                </a:solidFill>
                <a:latin typeface="Raleway" pitchFamily="34" charset="0"/>
                <a:ea typeface="Raleway" pitchFamily="34" charset="-122"/>
                <a:cs typeface="Raleway" pitchFamily="34" charset="-120"/>
              </a:rPr>
              <a:t>Energy. Excellence. Innovation.</a:t>
            </a:r>
            <a:endParaRPr lang="en-US" sz="1800"/>
          </a:p>
        </p:txBody>
      </p:sp>
      <p:pic>
        <p:nvPicPr>
          <p:cNvPr id="10" name="Image 3" descr="preencoded.png"/>
          <p:cNvPicPr>
            <a:picLocks noChangeAspect="1"/>
          </p:cNvPicPr>
          <p:nvPr/>
        </p:nvPicPr>
        <p:blipFill>
          <a:blip r:embed="rId6"/>
          <a:srcRect l="141" r="141"/>
          <a:stretch/>
        </p:blipFill>
        <p:spPr>
          <a:xfrm>
            <a:off x="4629607" y="447142"/>
            <a:ext cx="2933395" cy="1419149"/>
          </a:xfrm>
          <a:prstGeom prst="rect">
            <a:avLst/>
          </a:prstGeom>
        </p:spPr>
      </p:pic>
      <p:sp>
        <p:nvSpPr>
          <p:cNvPr id="11" name="Text 5"/>
          <p:cNvSpPr txBox="1"/>
          <p:nvPr/>
        </p:nvSpPr>
        <p:spPr>
          <a:xfrm>
            <a:off x="1287018" y="2262226"/>
            <a:ext cx="9475927" cy="1143000"/>
          </a:xfrm>
          <a:prstGeom prst="rect">
            <a:avLst/>
          </a:prstGeom>
          <a:noFill/>
          <a:ln/>
        </p:spPr>
        <p:txBody>
          <a:bodyPr wrap="square" lIns="0" tIns="0" rIns="0" bIns="0" rtlCol="0" anchor="ctr"/>
          <a:lstStyle/>
          <a:p>
            <a:pPr marL="0" indent="0" algn="ctr">
              <a:buNone/>
            </a:pPr>
            <a:r>
              <a:rPr lang="en-US" sz="3600" b="1" dirty="0">
                <a:solidFill>
                  <a:srgbClr val="1F2937"/>
                </a:solidFill>
                <a:latin typeface="Oswald" pitchFamily="34" charset="0"/>
                <a:ea typeface="Oswald" pitchFamily="34" charset="-122"/>
                <a:cs typeface="Oswald" pitchFamily="34" charset="-120"/>
              </a:rPr>
              <a:t> Building the Enterprise Operating Model​</a:t>
            </a:r>
          </a:p>
          <a:p>
            <a:pPr marL="0" indent="0" algn="ctr">
              <a:buNone/>
            </a:pPr>
            <a:r>
              <a:rPr lang="en-US" sz="3600" b="1" dirty="0">
                <a:solidFill>
                  <a:srgbClr val="1F2937"/>
                </a:solidFill>
                <a:latin typeface="Oswald" pitchFamily="34" charset="0"/>
                <a:ea typeface="Oswald" pitchFamily="34" charset="-122"/>
                <a:cs typeface="Oswald" pitchFamily="34" charset="-120"/>
              </a:rPr>
              <a:t>for the Next Decade​</a:t>
            </a:r>
          </a:p>
        </p:txBody>
      </p:sp>
      <p:pic>
        <p:nvPicPr>
          <p:cNvPr id="12" name="Image 4" descr="preencoded.png"/>
          <p:cNvPicPr>
            <a:picLocks noChangeAspect="1"/>
          </p:cNvPicPr>
          <p:nvPr/>
        </p:nvPicPr>
        <p:blipFill>
          <a:blip r:embed="rId7"/>
          <a:srcRect t="-400" b="-400"/>
          <a:stretch/>
        </p:blipFill>
        <p:spPr>
          <a:xfrm>
            <a:off x="5639105" y="3596335"/>
            <a:ext cx="914400" cy="57607"/>
          </a:xfrm>
          <a:prstGeom prst="rect">
            <a:avLst/>
          </a:prstGeom>
        </p:spPr>
      </p:pic>
      <p:sp>
        <p:nvSpPr>
          <p:cNvPr id="13" name="Shape 6"/>
          <p:cNvSpPr/>
          <p:nvPr/>
        </p:nvSpPr>
        <p:spPr>
          <a:xfrm>
            <a:off x="0" y="5238598"/>
            <a:ext cx="12191695" cy="1619402"/>
          </a:xfrm>
          <a:prstGeom prst="rect">
            <a:avLst/>
          </a:prstGeom>
          <a:solidFill>
            <a:srgbClr val="F9FAFB"/>
          </a:solidFill>
          <a:ln/>
        </p:spPr>
        <p:txBody>
          <a:bodyPr/>
          <a:lstStyle/>
          <a:p>
            <a:endParaRPr lang="en-US"/>
          </a:p>
        </p:txBody>
      </p:sp>
      <p:sp>
        <p:nvSpPr>
          <p:cNvPr id="14" name="Shape 7"/>
          <p:cNvSpPr/>
          <p:nvPr/>
        </p:nvSpPr>
        <p:spPr>
          <a:xfrm>
            <a:off x="0" y="5238598"/>
            <a:ext cx="12191695" cy="9144"/>
          </a:xfrm>
          <a:prstGeom prst="rect">
            <a:avLst/>
          </a:prstGeom>
          <a:solidFill>
            <a:srgbClr val="E5E7EB"/>
          </a:solidFill>
          <a:ln w="12700">
            <a:solidFill>
              <a:srgbClr val="E5E7EB">
                <a:alpha val="0"/>
              </a:srgbClr>
            </a:solidFill>
            <a:prstDash val="solid"/>
          </a:ln>
        </p:spPr>
        <p:txBody>
          <a:bodyPr/>
          <a:lstStyle/>
          <a:p>
            <a:endParaRPr lang="en-US"/>
          </a:p>
        </p:txBody>
      </p:sp>
      <p:sp>
        <p:nvSpPr>
          <p:cNvPr id="15" name="Shape 8"/>
          <p:cNvSpPr/>
          <p:nvPr/>
        </p:nvSpPr>
        <p:spPr>
          <a:xfrm>
            <a:off x="10201961" y="5362956"/>
            <a:ext cx="9144" cy="1380744"/>
          </a:xfrm>
          <a:prstGeom prst="rect">
            <a:avLst/>
          </a:prstGeom>
          <a:solidFill>
            <a:srgbClr val="D1D5DB"/>
          </a:solidFill>
          <a:ln w="12700">
            <a:solidFill>
              <a:srgbClr val="D1D5DB">
                <a:alpha val="0"/>
              </a:srgbClr>
            </a:solidFill>
            <a:prstDash val="solid"/>
          </a:ln>
        </p:spPr>
        <p:txBody>
          <a:bodyPr/>
          <a:lstStyle/>
          <a:p>
            <a:endParaRPr lang="en-US"/>
          </a:p>
        </p:txBody>
      </p:sp>
      <p:sp>
        <p:nvSpPr>
          <p:cNvPr id="16" name="Text 9"/>
          <p:cNvSpPr txBox="1"/>
          <p:nvPr/>
        </p:nvSpPr>
        <p:spPr>
          <a:xfrm>
            <a:off x="457200" y="5362956"/>
            <a:ext cx="9630461" cy="191110"/>
          </a:xfrm>
          <a:prstGeom prst="rect">
            <a:avLst/>
          </a:prstGeom>
          <a:noFill/>
          <a:ln/>
        </p:spPr>
        <p:txBody>
          <a:bodyPr wrap="square" lIns="0" tIns="0" rIns="0" bIns="0" rtlCol="0" anchor="ctr"/>
          <a:lstStyle/>
          <a:p>
            <a:pPr marL="0" indent="0" algn="l">
              <a:buNone/>
            </a:pPr>
            <a:r>
              <a:rPr lang="en-US" sz="1000" b="1" kern="0" spc="52">
                <a:solidFill>
                  <a:srgbClr val="2A9D8F"/>
                </a:solidFill>
                <a:latin typeface="Roboto Condensed" pitchFamily="34" charset="0"/>
                <a:ea typeface="Roboto Condensed" pitchFamily="34" charset="-122"/>
                <a:cs typeface="Roboto Condensed" pitchFamily="34" charset="-120"/>
              </a:rPr>
              <a:t>Trusted by:</a:t>
            </a:r>
            <a:endParaRPr lang="en-US" sz="1000"/>
          </a:p>
        </p:txBody>
      </p:sp>
      <p:sp>
        <p:nvSpPr>
          <p:cNvPr id="17" name="Shape 10"/>
          <p:cNvSpPr/>
          <p:nvPr/>
        </p:nvSpPr>
        <p:spPr>
          <a:xfrm>
            <a:off x="10362895" y="5605272"/>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18" name="Image 5" descr="preencoded.png"/>
          <p:cNvPicPr>
            <a:picLocks noChangeAspect="1"/>
          </p:cNvPicPr>
          <p:nvPr/>
        </p:nvPicPr>
        <p:blipFill>
          <a:blip r:embed="rId8"/>
          <a:srcRect/>
          <a:stretch/>
        </p:blipFill>
        <p:spPr>
          <a:xfrm>
            <a:off x="10577779" y="5672023"/>
            <a:ext cx="114300" cy="114300"/>
          </a:xfrm>
          <a:prstGeom prst="rect">
            <a:avLst/>
          </a:prstGeom>
        </p:spPr>
      </p:pic>
      <p:sp>
        <p:nvSpPr>
          <p:cNvPr id="19" name="Text 11"/>
          <p:cNvSpPr txBox="1"/>
          <p:nvPr/>
        </p:nvSpPr>
        <p:spPr>
          <a:xfrm>
            <a:off x="10767974" y="5605272"/>
            <a:ext cx="810158"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ISO 9001:2015</a:t>
            </a:r>
            <a:endParaRPr lang="en-US" sz="900"/>
          </a:p>
        </p:txBody>
      </p:sp>
      <p:sp>
        <p:nvSpPr>
          <p:cNvPr id="20" name="Shape 12"/>
          <p:cNvSpPr/>
          <p:nvPr/>
        </p:nvSpPr>
        <p:spPr>
          <a:xfrm>
            <a:off x="10362895" y="5928970"/>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21" name="Image 6" descr="preencoded.png"/>
          <p:cNvPicPr>
            <a:picLocks noChangeAspect="1"/>
          </p:cNvPicPr>
          <p:nvPr/>
        </p:nvPicPr>
        <p:blipFill>
          <a:blip r:embed="rId9"/>
          <a:srcRect/>
          <a:stretch/>
        </p:blipFill>
        <p:spPr>
          <a:xfrm>
            <a:off x="10554919" y="5995721"/>
            <a:ext cx="114300" cy="114300"/>
          </a:xfrm>
          <a:prstGeom prst="rect">
            <a:avLst/>
          </a:prstGeom>
        </p:spPr>
      </p:pic>
      <p:sp>
        <p:nvSpPr>
          <p:cNvPr id="22" name="Text 13"/>
          <p:cNvSpPr txBox="1"/>
          <p:nvPr/>
        </p:nvSpPr>
        <p:spPr>
          <a:xfrm>
            <a:off x="10745114" y="5928970"/>
            <a:ext cx="857707"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CMMI Certified</a:t>
            </a:r>
            <a:endParaRPr lang="en-US" sz="900"/>
          </a:p>
        </p:txBody>
      </p:sp>
      <p:sp>
        <p:nvSpPr>
          <p:cNvPr id="23" name="Shape 14"/>
          <p:cNvSpPr/>
          <p:nvPr/>
        </p:nvSpPr>
        <p:spPr>
          <a:xfrm>
            <a:off x="10362895" y="6253582"/>
            <a:ext cx="1371600" cy="247802"/>
          </a:xfrm>
          <a:prstGeom prst="roundRect">
            <a:avLst>
              <a:gd name="adj" fmla="val 369004"/>
            </a:avLst>
          </a:prstGeom>
          <a:solidFill>
            <a:srgbClr val="FFFFFF"/>
          </a:solidFill>
          <a:ln w="12700">
            <a:solidFill>
              <a:srgbClr val="E5E7EB"/>
            </a:solidFill>
            <a:prstDash val="solid"/>
          </a:ln>
        </p:spPr>
        <p:txBody>
          <a:bodyPr/>
          <a:lstStyle/>
          <a:p>
            <a:endParaRPr lang="en-US"/>
          </a:p>
        </p:txBody>
      </p:sp>
      <p:pic>
        <p:nvPicPr>
          <p:cNvPr id="24" name="Image 7" descr="preencoded.png"/>
          <p:cNvPicPr>
            <a:picLocks noChangeAspect="1"/>
          </p:cNvPicPr>
          <p:nvPr/>
        </p:nvPicPr>
        <p:blipFill>
          <a:blip r:embed="rId10"/>
          <a:srcRect l="-133" r="-133"/>
          <a:stretch/>
        </p:blipFill>
        <p:spPr>
          <a:xfrm>
            <a:off x="10537546" y="6319418"/>
            <a:ext cx="85954" cy="114300"/>
          </a:xfrm>
          <a:prstGeom prst="rect">
            <a:avLst/>
          </a:prstGeom>
        </p:spPr>
      </p:pic>
      <p:sp>
        <p:nvSpPr>
          <p:cNvPr id="25" name="Text 15"/>
          <p:cNvSpPr txBox="1"/>
          <p:nvPr/>
        </p:nvSpPr>
        <p:spPr>
          <a:xfrm>
            <a:off x="10699394" y="6253582"/>
            <a:ext cx="924458" cy="247802"/>
          </a:xfrm>
          <a:prstGeom prst="rect">
            <a:avLst/>
          </a:prstGeom>
          <a:noFill/>
          <a:ln/>
        </p:spPr>
        <p:txBody>
          <a:bodyPr wrap="square" lIns="0" tIns="0" rIns="0" bIns="0" rtlCol="0" anchor="ctr"/>
          <a:lstStyle/>
          <a:p>
            <a:pPr marL="0" indent="0" algn="l">
              <a:buNone/>
            </a:pPr>
            <a:r>
              <a:rPr lang="en-US" sz="900" b="1">
                <a:solidFill>
                  <a:srgbClr val="4B5563"/>
                </a:solidFill>
                <a:latin typeface="Raleway" pitchFamily="34" charset="0"/>
                <a:ea typeface="Raleway" pitchFamily="34" charset="-122"/>
                <a:cs typeface="Raleway" pitchFamily="34" charset="-120"/>
              </a:rPr>
              <a:t>Women-Owned</a:t>
            </a:r>
            <a:endParaRPr lang="en-US" sz="900"/>
          </a:p>
        </p:txBody>
      </p:sp>
      <p:pic>
        <p:nvPicPr>
          <p:cNvPr id="26" name="Image 8" descr="preencoded.png"/>
          <p:cNvPicPr>
            <a:picLocks noChangeAspect="1"/>
          </p:cNvPicPr>
          <p:nvPr/>
        </p:nvPicPr>
        <p:blipFill>
          <a:blip r:embed="rId11">
            <a:alphaModFix amt="90000"/>
          </a:blip>
          <a:srcRect/>
          <a:stretch/>
        </p:blipFill>
        <p:spPr>
          <a:xfrm>
            <a:off x="457200" y="5700370"/>
            <a:ext cx="428854" cy="428854"/>
          </a:xfrm>
          <a:prstGeom prst="rect">
            <a:avLst/>
          </a:prstGeom>
        </p:spPr>
      </p:pic>
      <p:pic>
        <p:nvPicPr>
          <p:cNvPr id="27" name="Image 9" descr="preencoded.png"/>
          <p:cNvPicPr>
            <a:picLocks noChangeAspect="1"/>
          </p:cNvPicPr>
          <p:nvPr/>
        </p:nvPicPr>
        <p:blipFill>
          <a:blip r:embed="rId12">
            <a:alphaModFix amt="90000"/>
          </a:blip>
          <a:srcRect l="2016" r="2016"/>
          <a:stretch/>
        </p:blipFill>
        <p:spPr>
          <a:xfrm>
            <a:off x="1578254" y="5805526"/>
            <a:ext cx="1143000" cy="228600"/>
          </a:xfrm>
          <a:prstGeom prst="rect">
            <a:avLst/>
          </a:prstGeom>
        </p:spPr>
      </p:pic>
      <p:pic>
        <p:nvPicPr>
          <p:cNvPr id="28" name="Image 10" descr="preencoded.png"/>
          <p:cNvPicPr>
            <a:picLocks noChangeAspect="1"/>
          </p:cNvPicPr>
          <p:nvPr/>
        </p:nvPicPr>
        <p:blipFill>
          <a:blip r:embed="rId13">
            <a:alphaModFix amt="90000"/>
          </a:blip>
          <a:srcRect t="569" b="569"/>
          <a:stretch/>
        </p:blipFill>
        <p:spPr>
          <a:xfrm>
            <a:off x="3413455" y="5639105"/>
            <a:ext cx="838505" cy="552298"/>
          </a:xfrm>
          <a:prstGeom prst="rect">
            <a:avLst/>
          </a:prstGeom>
        </p:spPr>
      </p:pic>
      <p:pic>
        <p:nvPicPr>
          <p:cNvPr id="29" name="Image 11" descr="preencoded.png"/>
          <p:cNvPicPr>
            <a:picLocks noChangeAspect="1"/>
          </p:cNvPicPr>
          <p:nvPr/>
        </p:nvPicPr>
        <p:blipFill>
          <a:blip r:embed="rId14">
            <a:alphaModFix amt="90000"/>
          </a:blip>
          <a:srcRect t="563" b="563"/>
          <a:stretch/>
        </p:blipFill>
        <p:spPr>
          <a:xfrm>
            <a:off x="4935017" y="5648249"/>
            <a:ext cx="809244" cy="533095"/>
          </a:xfrm>
          <a:prstGeom prst="rect">
            <a:avLst/>
          </a:prstGeom>
        </p:spPr>
      </p:pic>
      <p:pic>
        <p:nvPicPr>
          <p:cNvPr id="30" name="Image 12" descr="preencoded.png"/>
          <p:cNvPicPr>
            <a:picLocks noChangeAspect="1"/>
          </p:cNvPicPr>
          <p:nvPr/>
        </p:nvPicPr>
        <p:blipFill>
          <a:blip r:embed="rId15">
            <a:alphaModFix amt="90000"/>
          </a:blip>
          <a:srcRect t="267" b="267"/>
          <a:stretch/>
        </p:blipFill>
        <p:spPr>
          <a:xfrm>
            <a:off x="6427318" y="5648249"/>
            <a:ext cx="952805" cy="533095"/>
          </a:xfrm>
          <a:prstGeom prst="rect">
            <a:avLst/>
          </a:prstGeom>
        </p:spPr>
      </p:pic>
      <p:pic>
        <p:nvPicPr>
          <p:cNvPr id="31" name="Image 13" descr="preencoded.png"/>
          <p:cNvPicPr>
            <a:picLocks noChangeAspect="1"/>
          </p:cNvPicPr>
          <p:nvPr/>
        </p:nvPicPr>
        <p:blipFill>
          <a:blip r:embed="rId16">
            <a:alphaModFix amt="90000"/>
          </a:blip>
          <a:srcRect/>
          <a:stretch/>
        </p:blipFill>
        <p:spPr>
          <a:xfrm>
            <a:off x="8067751" y="5662879"/>
            <a:ext cx="504749" cy="504749"/>
          </a:xfrm>
          <a:prstGeom prst="rect">
            <a:avLst/>
          </a:prstGeom>
        </p:spPr>
      </p:pic>
      <p:pic>
        <p:nvPicPr>
          <p:cNvPr id="32" name="Image 14" descr="preencoded.png"/>
          <p:cNvPicPr>
            <a:picLocks noChangeAspect="1"/>
          </p:cNvPicPr>
          <p:nvPr/>
        </p:nvPicPr>
        <p:blipFill>
          <a:blip r:embed="rId17">
            <a:alphaModFix amt="90000"/>
          </a:blip>
          <a:srcRect t="525" b="525"/>
          <a:stretch/>
        </p:blipFill>
        <p:spPr>
          <a:xfrm>
            <a:off x="9265615" y="5662879"/>
            <a:ext cx="714146" cy="504749"/>
          </a:xfrm>
          <a:prstGeom prst="rect">
            <a:avLst/>
          </a:prstGeom>
        </p:spPr>
      </p:pic>
      <p:pic>
        <p:nvPicPr>
          <p:cNvPr id="33" name="Image 15" descr="preencoded.png"/>
          <p:cNvPicPr>
            <a:picLocks noChangeAspect="1"/>
          </p:cNvPicPr>
          <p:nvPr/>
        </p:nvPicPr>
        <p:blipFill>
          <a:blip r:embed="rId18">
            <a:alphaModFix amt="90000"/>
          </a:blip>
          <a:srcRect l="688" r="688"/>
          <a:stretch/>
        </p:blipFill>
        <p:spPr>
          <a:xfrm>
            <a:off x="457200" y="6445606"/>
            <a:ext cx="1067105" cy="190195"/>
          </a:xfrm>
          <a:prstGeom prst="rect">
            <a:avLst/>
          </a:prstGeom>
        </p:spPr>
      </p:pic>
      <p:pic>
        <p:nvPicPr>
          <p:cNvPr id="34" name="Image 16" descr="preencoded.png"/>
          <p:cNvPicPr>
            <a:picLocks noChangeAspect="1"/>
          </p:cNvPicPr>
          <p:nvPr/>
        </p:nvPicPr>
        <p:blipFill>
          <a:blip r:embed="rId19">
            <a:alphaModFix amt="90000"/>
          </a:blip>
          <a:srcRect l="960" r="960"/>
          <a:stretch/>
        </p:blipFill>
        <p:spPr>
          <a:xfrm>
            <a:off x="2056486" y="6390742"/>
            <a:ext cx="1466698" cy="304495"/>
          </a:xfrm>
          <a:prstGeom prst="rect">
            <a:avLst/>
          </a:prstGeom>
        </p:spPr>
      </p:pic>
      <p:pic>
        <p:nvPicPr>
          <p:cNvPr id="35" name="Image 17" descr="preencoded.png"/>
          <p:cNvPicPr>
            <a:picLocks noChangeAspect="1"/>
          </p:cNvPicPr>
          <p:nvPr/>
        </p:nvPicPr>
        <p:blipFill>
          <a:blip r:embed="rId20">
            <a:alphaModFix amt="90000"/>
          </a:blip>
          <a:srcRect t="311" b="311"/>
          <a:stretch/>
        </p:blipFill>
        <p:spPr>
          <a:xfrm>
            <a:off x="4055364" y="6325819"/>
            <a:ext cx="828446" cy="428854"/>
          </a:xfrm>
          <a:prstGeom prst="rect">
            <a:avLst/>
          </a:prstGeom>
        </p:spPr>
      </p:pic>
      <p:pic>
        <p:nvPicPr>
          <p:cNvPr id="36" name="Image 18" descr="preencoded.png"/>
          <p:cNvPicPr>
            <a:picLocks noChangeAspect="1"/>
          </p:cNvPicPr>
          <p:nvPr/>
        </p:nvPicPr>
        <p:blipFill>
          <a:blip r:embed="rId21">
            <a:alphaModFix amt="90000"/>
          </a:blip>
          <a:srcRect t="385" b="385"/>
          <a:stretch/>
        </p:blipFill>
        <p:spPr>
          <a:xfrm>
            <a:off x="5410505" y="6325819"/>
            <a:ext cx="771754" cy="428854"/>
          </a:xfrm>
          <a:prstGeom prst="rect">
            <a:avLst/>
          </a:prstGeom>
        </p:spPr>
      </p:pic>
      <p:pic>
        <p:nvPicPr>
          <p:cNvPr id="37" name="Image 19" descr="preencoded.png"/>
          <p:cNvPicPr>
            <a:picLocks noChangeAspect="1"/>
          </p:cNvPicPr>
          <p:nvPr/>
        </p:nvPicPr>
        <p:blipFill>
          <a:blip r:embed="rId22">
            <a:alphaModFix amt="90000"/>
          </a:blip>
          <a:srcRect/>
          <a:stretch/>
        </p:blipFill>
        <p:spPr>
          <a:xfrm>
            <a:off x="6708038" y="6325819"/>
            <a:ext cx="428854" cy="428854"/>
          </a:xfrm>
          <a:prstGeom prst="rect">
            <a:avLst/>
          </a:prstGeom>
        </p:spPr>
      </p:pic>
      <p:pic>
        <p:nvPicPr>
          <p:cNvPr id="38" name="Image 20" descr="preencoded.png"/>
          <p:cNvPicPr>
            <a:picLocks noChangeAspect="1"/>
          </p:cNvPicPr>
          <p:nvPr/>
        </p:nvPicPr>
        <p:blipFill>
          <a:blip r:embed="rId23">
            <a:alphaModFix amt="90000"/>
          </a:blip>
          <a:srcRect t="77" b="77"/>
          <a:stretch/>
        </p:blipFill>
        <p:spPr>
          <a:xfrm>
            <a:off x="7669073" y="6368796"/>
            <a:ext cx="629107" cy="342900"/>
          </a:xfrm>
          <a:prstGeom prst="rect">
            <a:avLst/>
          </a:prstGeom>
        </p:spPr>
      </p:pic>
      <p:pic>
        <p:nvPicPr>
          <p:cNvPr id="39" name="Image 21" descr="preencoded.png"/>
          <p:cNvPicPr>
            <a:picLocks noChangeAspect="1"/>
          </p:cNvPicPr>
          <p:nvPr/>
        </p:nvPicPr>
        <p:blipFill>
          <a:blip r:embed="rId24">
            <a:alphaModFix amt="90000"/>
          </a:blip>
          <a:srcRect l="1712" r="1712"/>
          <a:stretch/>
        </p:blipFill>
        <p:spPr>
          <a:xfrm>
            <a:off x="8829446" y="6420002"/>
            <a:ext cx="1143000" cy="24780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
          <p:cNvSpPr/>
          <p:nvPr/>
        </p:nvSpPr>
        <p:spPr>
          <a:xfrm>
            <a:off x="8953805" y="-571500"/>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gen-dedup-5e765734fa6996e94526269805e72083.png"/>
          <p:cNvPicPr>
            <a:picLocks noChangeAspect="1"/>
          </p:cNvPicPr>
          <p:nvPr/>
        </p:nvPicPr>
        <p:blipFill>
          <a:blip r:embed="rId3">
            <a:alphaModFix amt="8000"/>
          </a:blip>
          <a:srcRect/>
          <a:stretch/>
        </p:blipFill>
        <p:spPr>
          <a:xfrm>
            <a:off x="-381305" y="3715207"/>
            <a:ext cx="2381098" cy="2381098"/>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ef527bea2207a14ec6e8d4c8ae9cdc45.png"/>
          <p:cNvPicPr>
            <a:picLocks noChangeAspect="1"/>
          </p:cNvPicPr>
          <p:nvPr/>
        </p:nvPicPr>
        <p:blipFill>
          <a:blip r:embed="rId6"/>
          <a:srcRect l="-384" r="-384"/>
          <a:stretch/>
        </p:blipFill>
        <p:spPr>
          <a:xfrm>
            <a:off x="609905" y="513893"/>
            <a:ext cx="57607" cy="476402"/>
          </a:xfrm>
          <a:prstGeom prst="rect">
            <a:avLst/>
          </a:prstGeom>
        </p:spPr>
      </p:pic>
      <p:sp>
        <p:nvSpPr>
          <p:cNvPr id="9" name="Shape 3"/>
          <p:cNvSpPr/>
          <p:nvPr/>
        </p:nvSpPr>
        <p:spPr>
          <a:xfrm>
            <a:off x="609905" y="1387090"/>
            <a:ext cx="10972190" cy="1450129"/>
          </a:xfrm>
          <a:prstGeom prst="roundRect">
            <a:avLst>
              <a:gd name="adj" fmla="val 2853"/>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0" name="Shape 4"/>
          <p:cNvSpPr/>
          <p:nvPr/>
        </p:nvSpPr>
        <p:spPr>
          <a:xfrm>
            <a:off x="609905" y="1387090"/>
            <a:ext cx="47549" cy="1450129"/>
          </a:xfrm>
          <a:prstGeom prst="roundRect">
            <a:avLst>
              <a:gd name="adj" fmla="val 132625"/>
            </a:avLst>
          </a:prstGeom>
          <a:solidFill>
            <a:srgbClr val="111827"/>
          </a:solidFill>
          <a:ln w="12700">
            <a:solidFill>
              <a:srgbClr val="111827">
                <a:alpha val="0"/>
              </a:srgbClr>
            </a:solidFill>
            <a:prstDash val="solid"/>
          </a:ln>
        </p:spPr>
        <p:txBody>
          <a:bodyPr/>
          <a:lstStyle/>
          <a:p>
            <a:endParaRPr lang="en-US"/>
          </a:p>
        </p:txBody>
      </p:sp>
      <p:sp>
        <p:nvSpPr>
          <p:cNvPr id="11" name="Shape 5"/>
          <p:cNvSpPr/>
          <p:nvPr/>
        </p:nvSpPr>
        <p:spPr>
          <a:xfrm>
            <a:off x="609905" y="32388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2" name="Shape 6"/>
          <p:cNvSpPr/>
          <p:nvPr/>
        </p:nvSpPr>
        <p:spPr>
          <a:xfrm>
            <a:off x="4343400" y="32388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3" name="Shape 7"/>
          <p:cNvSpPr/>
          <p:nvPr/>
        </p:nvSpPr>
        <p:spPr>
          <a:xfrm>
            <a:off x="8076895" y="3238805"/>
            <a:ext cx="3524098"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4" name="Shape 8"/>
          <p:cNvSpPr/>
          <p:nvPr/>
        </p:nvSpPr>
        <p:spPr>
          <a:xfrm>
            <a:off x="609905" y="49533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5" name="Shape 9"/>
          <p:cNvSpPr/>
          <p:nvPr/>
        </p:nvSpPr>
        <p:spPr>
          <a:xfrm>
            <a:off x="4343400" y="4953305"/>
            <a:ext cx="3448202"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6" name="Shape 10"/>
          <p:cNvSpPr/>
          <p:nvPr/>
        </p:nvSpPr>
        <p:spPr>
          <a:xfrm>
            <a:off x="8076895" y="4953305"/>
            <a:ext cx="3524098" cy="1447495"/>
          </a:xfrm>
          <a:prstGeom prst="roundRect">
            <a:avLst>
              <a:gd name="adj" fmla="val 4987"/>
            </a:avLst>
          </a:prstGeom>
          <a:solidFill>
            <a:srgbClr val="F8FAFC"/>
          </a:solidFill>
          <a:ln w="12700">
            <a:solidFill>
              <a:srgbClr val="E2E8F0"/>
            </a:solidFill>
            <a:prstDash val="solid"/>
          </a:ln>
        </p:spPr>
        <p:txBody>
          <a:bodyPr/>
          <a:lstStyle/>
          <a:p>
            <a:endParaRPr lang="en-US"/>
          </a:p>
        </p:txBody>
      </p:sp>
      <p:sp>
        <p:nvSpPr>
          <p:cNvPr id="17" name="Text 11"/>
          <p:cNvSpPr txBox="1"/>
          <p:nvPr/>
        </p:nvSpPr>
        <p:spPr>
          <a:xfrm>
            <a:off x="819302" y="466344"/>
            <a:ext cx="3810305" cy="342900"/>
          </a:xfrm>
          <a:prstGeom prst="rect">
            <a:avLst/>
          </a:prstGeom>
          <a:noFill/>
          <a:ln/>
        </p:spPr>
        <p:txBody>
          <a:bodyPr wrap="none" lIns="0" tIns="0" rIns="0" bIns="0" rtlCol="0" anchor="ctr"/>
          <a:lstStyle/>
          <a:p>
            <a:pPr marL="0" indent="0" algn="l">
              <a:buNone/>
            </a:pPr>
            <a:r>
              <a:rPr lang="en-US" sz="2400" b="1" dirty="0">
                <a:solidFill>
                  <a:srgbClr val="111827"/>
                </a:solidFill>
                <a:latin typeface="Oswald" pitchFamily="34" charset="0"/>
                <a:ea typeface="Oswald" pitchFamily="34" charset="-122"/>
                <a:cs typeface="Oswald" pitchFamily="34" charset="-120"/>
              </a:rPr>
              <a:t>WHO WE ARE</a:t>
            </a:r>
            <a:endParaRPr lang="en-US" sz="2400" dirty="0"/>
          </a:p>
        </p:txBody>
      </p:sp>
      <p:sp>
        <p:nvSpPr>
          <p:cNvPr id="18" name="Text 12"/>
          <p:cNvSpPr txBox="1"/>
          <p:nvPr/>
        </p:nvSpPr>
        <p:spPr>
          <a:xfrm>
            <a:off x="819302" y="858622"/>
            <a:ext cx="4496105" cy="152705"/>
          </a:xfrm>
          <a:prstGeom prst="rect">
            <a:avLst/>
          </a:prstGeom>
          <a:noFill/>
          <a:ln/>
        </p:spPr>
        <p:txBody>
          <a:bodyPr wrap="none" lIns="0" tIns="0" rIns="0" bIns="0" rtlCol="0" anchor="ctr"/>
          <a:lstStyle/>
          <a:p>
            <a:pPr marL="0" indent="0" algn="l">
              <a:buNone/>
            </a:pPr>
            <a:r>
              <a:rPr lang="en-US" sz="1500" b="1" kern="0" spc="52" dirty="0">
                <a:solidFill>
                  <a:srgbClr val="2A9D8F"/>
                </a:solidFill>
                <a:latin typeface="Roboto Condensed" pitchFamily="34" charset="0"/>
                <a:ea typeface="Roboto Condensed" pitchFamily="34" charset="-122"/>
                <a:cs typeface="Roboto Condensed" pitchFamily="34" charset="-120"/>
              </a:rPr>
              <a:t>The AI-native GCC platform - a decade in the making</a:t>
            </a:r>
            <a:endParaRPr lang="en-US" sz="1500" dirty="0"/>
          </a:p>
        </p:txBody>
      </p:sp>
      <p:sp>
        <p:nvSpPr>
          <p:cNvPr id="19" name="Text 13"/>
          <p:cNvSpPr txBox="1"/>
          <p:nvPr/>
        </p:nvSpPr>
        <p:spPr>
          <a:xfrm>
            <a:off x="990295" y="1465380"/>
            <a:ext cx="6967162" cy="648310"/>
          </a:xfrm>
          <a:prstGeom prst="rect">
            <a:avLst/>
          </a:prstGeom>
          <a:noFill/>
          <a:ln/>
        </p:spPr>
        <p:txBody>
          <a:bodyPr wrap="square" lIns="0" tIns="0" rIns="0" bIns="0" rtlCol="0" anchor="ctr"/>
          <a:lstStyle/>
          <a:p>
            <a:pPr marL="0" indent="0" algn="l">
              <a:buNone/>
            </a:pPr>
            <a:r>
              <a:rPr lang="en-US" sz="1900" b="1" dirty="0">
                <a:solidFill>
                  <a:srgbClr val="111827"/>
                </a:solidFill>
                <a:latin typeface="Oswald" pitchFamily="34" charset="0"/>
                <a:ea typeface="Oswald" pitchFamily="34" charset="-122"/>
                <a:cs typeface="Oswald" pitchFamily="34" charset="-120"/>
              </a:rPr>
              <a:t>J2W is the AI-native GCC platform for the Fortune 1000 and beyond.</a:t>
            </a:r>
            <a:endParaRPr lang="en-US" sz="1900" dirty="0"/>
          </a:p>
        </p:txBody>
      </p:sp>
      <p:sp>
        <p:nvSpPr>
          <p:cNvPr id="20" name="Text 14"/>
          <p:cNvSpPr txBox="1"/>
          <p:nvPr/>
        </p:nvSpPr>
        <p:spPr>
          <a:xfrm>
            <a:off x="990294" y="1977901"/>
            <a:ext cx="9144915" cy="685800"/>
          </a:xfrm>
          <a:prstGeom prst="rect">
            <a:avLst/>
          </a:prstGeom>
          <a:noFill/>
          <a:ln/>
        </p:spPr>
        <p:txBody>
          <a:bodyPr wrap="square" lIns="0" tIns="0" rIns="0" bIns="0" rtlCol="0" anchor="ctr"/>
          <a:lstStyle/>
          <a:p>
            <a:pPr marL="0" indent="0" algn="l">
              <a:buNone/>
            </a:pPr>
            <a:r>
              <a:rPr lang="en-US" sz="1100" dirty="0">
                <a:solidFill>
                  <a:srgbClr val="4B5563"/>
                </a:solidFill>
                <a:latin typeface="Raleway" pitchFamily="34" charset="0"/>
                <a:ea typeface="Raleway" pitchFamily="34" charset="-122"/>
                <a:cs typeface="Raleway" pitchFamily="34" charset="-120"/>
              </a:rPr>
              <a:t>Ten years building nothing but GCCs - so we solve the next problem before it shows up, deliver ROI in weeks where the industry takes quarters, and turn the GCC from a cost line into an innovation engine.</a:t>
            </a:r>
            <a:endParaRPr lang="en-US" sz="1100" dirty="0"/>
          </a:p>
        </p:txBody>
      </p:sp>
      <p:pic>
        <p:nvPicPr>
          <p:cNvPr id="21" name="Image 4" descr="gen-dedup-3d17221e8cd76f10a3e0815681bf2023.png"/>
          <p:cNvPicPr>
            <a:picLocks noChangeAspect="1"/>
          </p:cNvPicPr>
          <p:nvPr/>
        </p:nvPicPr>
        <p:blipFill>
          <a:blip r:embed="rId7"/>
          <a:srcRect l="-400" r="-400"/>
          <a:stretch/>
        </p:blipFill>
        <p:spPr>
          <a:xfrm>
            <a:off x="800100" y="3476549"/>
            <a:ext cx="38405" cy="571500"/>
          </a:xfrm>
          <a:prstGeom prst="rect">
            <a:avLst/>
          </a:prstGeom>
        </p:spPr>
      </p:pic>
      <p:sp>
        <p:nvSpPr>
          <p:cNvPr id="22" name="Text 15"/>
          <p:cNvSpPr txBox="1"/>
          <p:nvPr/>
        </p:nvSpPr>
        <p:spPr>
          <a:xfrm>
            <a:off x="990295" y="3476549"/>
            <a:ext cx="1552651"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10+</a:t>
            </a:r>
            <a:endParaRPr lang="en-US" sz="3100" dirty="0"/>
          </a:p>
        </p:txBody>
      </p:sp>
      <p:sp>
        <p:nvSpPr>
          <p:cNvPr id="23" name="Text 16"/>
          <p:cNvSpPr txBox="1"/>
          <p:nvPr/>
        </p:nvSpPr>
        <p:spPr>
          <a:xfrm>
            <a:off x="990295" y="3993185"/>
            <a:ext cx="1848002"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Years GCC leadership</a:t>
            </a:r>
            <a:endParaRPr lang="en-US" sz="1200" dirty="0"/>
          </a:p>
        </p:txBody>
      </p:sp>
      <p:pic>
        <p:nvPicPr>
          <p:cNvPr id="24" name="Image 5" descr="gen-dedup-32cd67bc95385c5507b78533d3bab6e6.png"/>
          <p:cNvPicPr>
            <a:picLocks noChangeAspect="1"/>
          </p:cNvPicPr>
          <p:nvPr/>
        </p:nvPicPr>
        <p:blipFill>
          <a:blip r:embed="rId8"/>
          <a:srcRect l="-400" r="-400"/>
          <a:stretch/>
        </p:blipFill>
        <p:spPr>
          <a:xfrm>
            <a:off x="4533595" y="3476549"/>
            <a:ext cx="38405" cy="571500"/>
          </a:xfrm>
          <a:prstGeom prst="rect">
            <a:avLst/>
          </a:prstGeom>
        </p:spPr>
      </p:pic>
      <p:sp>
        <p:nvSpPr>
          <p:cNvPr id="25" name="Text 17"/>
          <p:cNvSpPr txBox="1"/>
          <p:nvPr/>
        </p:nvSpPr>
        <p:spPr>
          <a:xfrm>
            <a:off x="4724705" y="3476549"/>
            <a:ext cx="17913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320+</a:t>
            </a:r>
            <a:endParaRPr lang="en-US" sz="3100" dirty="0"/>
          </a:p>
        </p:txBody>
      </p:sp>
      <p:sp>
        <p:nvSpPr>
          <p:cNvPr id="26" name="Text 18"/>
          <p:cNvSpPr txBox="1"/>
          <p:nvPr/>
        </p:nvSpPr>
        <p:spPr>
          <a:xfrm>
            <a:off x="4724705" y="3993185"/>
            <a:ext cx="2131466"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Enterprise clients served</a:t>
            </a:r>
            <a:endParaRPr lang="en-US" sz="1200" dirty="0"/>
          </a:p>
        </p:txBody>
      </p:sp>
      <p:pic>
        <p:nvPicPr>
          <p:cNvPr id="27" name="Image 6" descr="gen-dedup-3d17221e8cd76f10a3e0815681bf2023.png"/>
          <p:cNvPicPr>
            <a:picLocks noChangeAspect="1"/>
          </p:cNvPicPr>
          <p:nvPr/>
        </p:nvPicPr>
        <p:blipFill>
          <a:blip r:embed="rId7"/>
          <a:srcRect l="-400" r="-400"/>
          <a:stretch/>
        </p:blipFill>
        <p:spPr>
          <a:xfrm>
            <a:off x="8268005" y="3476549"/>
            <a:ext cx="38405" cy="571500"/>
          </a:xfrm>
          <a:prstGeom prst="rect">
            <a:avLst/>
          </a:prstGeom>
        </p:spPr>
      </p:pic>
      <p:sp>
        <p:nvSpPr>
          <p:cNvPr id="28" name="Text 19"/>
          <p:cNvSpPr txBox="1"/>
          <p:nvPr/>
        </p:nvSpPr>
        <p:spPr>
          <a:xfrm>
            <a:off x="8458200" y="3476549"/>
            <a:ext cx="2524658"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300+</a:t>
            </a:r>
            <a:endParaRPr lang="en-US" sz="3100" dirty="0"/>
          </a:p>
        </p:txBody>
      </p:sp>
      <p:sp>
        <p:nvSpPr>
          <p:cNvPr id="29" name="Text 20"/>
          <p:cNvSpPr txBox="1"/>
          <p:nvPr/>
        </p:nvSpPr>
        <p:spPr>
          <a:xfrm>
            <a:off x="8458200" y="3993185"/>
            <a:ext cx="3003804"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GCCs built: greenfield &amp; brownfield</a:t>
            </a:r>
            <a:endParaRPr lang="en-US" sz="1200" dirty="0"/>
          </a:p>
        </p:txBody>
      </p:sp>
      <p:pic>
        <p:nvPicPr>
          <p:cNvPr id="30" name="Image 7" descr="gen-dedup-32cd67bc95385c5507b78533d3bab6e6.png"/>
          <p:cNvPicPr>
            <a:picLocks noChangeAspect="1"/>
          </p:cNvPicPr>
          <p:nvPr/>
        </p:nvPicPr>
        <p:blipFill>
          <a:blip r:embed="rId8"/>
          <a:srcRect l="-400" r="-400"/>
          <a:stretch/>
        </p:blipFill>
        <p:spPr>
          <a:xfrm>
            <a:off x="800100" y="5191049"/>
            <a:ext cx="38405" cy="571500"/>
          </a:xfrm>
          <a:prstGeom prst="rect">
            <a:avLst/>
          </a:prstGeom>
        </p:spPr>
      </p:pic>
      <p:sp>
        <p:nvSpPr>
          <p:cNvPr id="31" name="Text 21"/>
          <p:cNvSpPr txBox="1"/>
          <p:nvPr/>
        </p:nvSpPr>
        <p:spPr>
          <a:xfrm>
            <a:off x="990295" y="5191049"/>
            <a:ext cx="16770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5,500+</a:t>
            </a:r>
            <a:endParaRPr lang="en-US" sz="3100" dirty="0"/>
          </a:p>
        </p:txBody>
      </p:sp>
      <p:sp>
        <p:nvSpPr>
          <p:cNvPr id="32" name="Text 22"/>
          <p:cNvSpPr txBox="1"/>
          <p:nvPr/>
        </p:nvSpPr>
        <p:spPr>
          <a:xfrm>
            <a:off x="990295" y="5707685"/>
            <a:ext cx="1995221"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Industry &amp; tech experts</a:t>
            </a:r>
            <a:endParaRPr lang="en-US" sz="1200" dirty="0"/>
          </a:p>
        </p:txBody>
      </p:sp>
      <p:pic>
        <p:nvPicPr>
          <p:cNvPr id="33" name="Image 8" descr="gen-dedup-3d17221e8cd76f10a3e0815681bf2023.png"/>
          <p:cNvPicPr>
            <a:picLocks noChangeAspect="1"/>
          </p:cNvPicPr>
          <p:nvPr/>
        </p:nvPicPr>
        <p:blipFill>
          <a:blip r:embed="rId7"/>
          <a:srcRect l="-400" r="-400"/>
          <a:stretch/>
        </p:blipFill>
        <p:spPr>
          <a:xfrm>
            <a:off x="4533595" y="5191049"/>
            <a:ext cx="38405" cy="571500"/>
          </a:xfrm>
          <a:prstGeom prst="rect">
            <a:avLst/>
          </a:prstGeom>
        </p:spPr>
      </p:pic>
      <p:sp>
        <p:nvSpPr>
          <p:cNvPr id="34" name="Text 23"/>
          <p:cNvSpPr txBox="1"/>
          <p:nvPr/>
        </p:nvSpPr>
        <p:spPr>
          <a:xfrm>
            <a:off x="4724705" y="5191049"/>
            <a:ext cx="1705356" cy="448056"/>
          </a:xfrm>
          <a:prstGeom prst="rect">
            <a:avLst/>
          </a:prstGeom>
          <a:noFill/>
          <a:ln/>
        </p:spPr>
        <p:txBody>
          <a:bodyPr wrap="none" lIns="0" tIns="0" rIns="0" bIns="0" rtlCol="0" anchor="ctr"/>
          <a:lstStyle/>
          <a:p>
            <a:pPr marL="0" indent="0" algn="l">
              <a:buNone/>
            </a:pPr>
            <a:r>
              <a:rPr lang="en-US" sz="3100" b="1" dirty="0">
                <a:solidFill>
                  <a:srgbClr val="2A9D8F"/>
                </a:solidFill>
                <a:latin typeface="Oswald" pitchFamily="34" charset="0"/>
                <a:ea typeface="Oswald" pitchFamily="34" charset="-122"/>
                <a:cs typeface="Oswald" pitchFamily="34" charset="-120"/>
              </a:rPr>
              <a:t>8</a:t>
            </a:r>
            <a:endParaRPr lang="en-US" sz="3100" dirty="0"/>
          </a:p>
        </p:txBody>
      </p:sp>
      <p:sp>
        <p:nvSpPr>
          <p:cNvPr id="35" name="Text 24"/>
          <p:cNvSpPr txBox="1"/>
          <p:nvPr/>
        </p:nvSpPr>
        <p:spPr>
          <a:xfrm>
            <a:off x="4724705" y="5707685"/>
            <a:ext cx="2029054"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Countries with footprint</a:t>
            </a:r>
            <a:endParaRPr lang="en-US" sz="1200" dirty="0"/>
          </a:p>
        </p:txBody>
      </p:sp>
      <p:pic>
        <p:nvPicPr>
          <p:cNvPr id="36" name="Image 9" descr="gen-dedup-32cd67bc95385c5507b78533d3bab6e6.png"/>
          <p:cNvPicPr>
            <a:picLocks noChangeAspect="1"/>
          </p:cNvPicPr>
          <p:nvPr/>
        </p:nvPicPr>
        <p:blipFill>
          <a:blip r:embed="rId8"/>
          <a:srcRect l="-400" r="-400"/>
          <a:stretch/>
        </p:blipFill>
        <p:spPr>
          <a:xfrm>
            <a:off x="8268005" y="5191049"/>
            <a:ext cx="38405" cy="571500"/>
          </a:xfrm>
          <a:prstGeom prst="rect">
            <a:avLst/>
          </a:prstGeom>
        </p:spPr>
      </p:pic>
      <p:sp>
        <p:nvSpPr>
          <p:cNvPr id="37" name="Text 25"/>
          <p:cNvSpPr txBox="1"/>
          <p:nvPr/>
        </p:nvSpPr>
        <p:spPr>
          <a:xfrm>
            <a:off x="8458200" y="5191049"/>
            <a:ext cx="1677010" cy="448056"/>
          </a:xfrm>
          <a:prstGeom prst="rect">
            <a:avLst/>
          </a:prstGeom>
          <a:noFill/>
          <a:ln/>
        </p:spPr>
        <p:txBody>
          <a:bodyPr wrap="none" lIns="0" tIns="0" rIns="0" bIns="0" rtlCol="0" anchor="ctr"/>
          <a:lstStyle/>
          <a:p>
            <a:pPr marL="0" indent="0" algn="l">
              <a:buNone/>
            </a:pPr>
            <a:r>
              <a:rPr lang="en-US" sz="3100" b="1" dirty="0">
                <a:solidFill>
                  <a:srgbClr val="D62839"/>
                </a:solidFill>
                <a:latin typeface="Oswald" pitchFamily="34" charset="0"/>
                <a:ea typeface="Oswald" pitchFamily="34" charset="-122"/>
                <a:cs typeface="Oswald" pitchFamily="34" charset="-120"/>
              </a:rPr>
              <a:t>60+</a:t>
            </a:r>
            <a:endParaRPr lang="en-US" sz="3100" dirty="0"/>
          </a:p>
        </p:txBody>
      </p:sp>
      <p:sp>
        <p:nvSpPr>
          <p:cNvPr id="38" name="Text 26"/>
          <p:cNvSpPr txBox="1"/>
          <p:nvPr/>
        </p:nvSpPr>
        <p:spPr>
          <a:xfrm>
            <a:off x="8458200" y="5707685"/>
            <a:ext cx="1995221" cy="200254"/>
          </a:xfrm>
          <a:prstGeom prst="rect">
            <a:avLst/>
          </a:prstGeom>
          <a:noFill/>
          <a:ln/>
        </p:spPr>
        <p:txBody>
          <a:bodyPr wrap="none" lIns="0" tIns="0" rIns="0" bIns="0" rtlCol="0" anchor="ctr"/>
          <a:lstStyle/>
          <a:p>
            <a:pPr marL="0" indent="0" algn="l">
              <a:buNone/>
            </a:pPr>
            <a:r>
              <a:rPr lang="en-US" sz="1200" b="1" dirty="0">
                <a:solidFill>
                  <a:srgbClr val="1E293B"/>
                </a:solidFill>
                <a:latin typeface="Raleway" pitchFamily="34" charset="0"/>
                <a:ea typeface="Raleway" pitchFamily="34" charset="-122"/>
                <a:cs typeface="Raleway" pitchFamily="34" charset="-120"/>
              </a:rPr>
              <a:t>AI-enabled capabilities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9430207" y="-571500"/>
            <a:ext cx="3333902" cy="3333902"/>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preencoded.png"/>
          <p:cNvPicPr>
            <a:picLocks noChangeAspect="1"/>
          </p:cNvPicPr>
          <p:nvPr/>
        </p:nvPicPr>
        <p:blipFill>
          <a:blip r:embed="rId3"/>
          <a:srcRect l="-360" r="-360"/>
          <a:stretch/>
        </p:blipFill>
        <p:spPr>
          <a:xfrm>
            <a:off x="609905" y="485546"/>
            <a:ext cx="57607" cy="381305"/>
          </a:xfrm>
          <a:prstGeom prst="rect">
            <a:avLst/>
          </a:prstGeom>
        </p:spPr>
      </p:pic>
      <p:sp>
        <p:nvSpPr>
          <p:cNvPr id="6" name="Text 3"/>
          <p:cNvSpPr txBox="1"/>
          <p:nvPr/>
        </p:nvSpPr>
        <p:spPr>
          <a:xfrm>
            <a:off x="819302" y="342900"/>
            <a:ext cx="5912510" cy="381305"/>
          </a:xfrm>
          <a:prstGeom prst="rect">
            <a:avLst/>
          </a:prstGeom>
          <a:noFill/>
          <a:ln/>
        </p:spPr>
        <p:txBody>
          <a:bodyPr wrap="square" lIns="0" tIns="0" rIns="0" bIns="0" rtlCol="0" anchor="ctr"/>
          <a:lstStyle/>
          <a:p>
            <a:pPr marL="0" indent="0" algn="l">
              <a:buNone/>
            </a:pPr>
            <a:r>
              <a:rPr lang="en-US" sz="2700" b="1" kern="0" spc="-67">
                <a:solidFill>
                  <a:srgbClr val="111827"/>
                </a:solidFill>
                <a:latin typeface="Oswald" pitchFamily="34" charset="0"/>
                <a:ea typeface="Oswald" pitchFamily="34" charset="-122"/>
                <a:cs typeface="Oswald" pitchFamily="34" charset="-120"/>
              </a:rPr>
              <a:t>Architects of Transformation</a:t>
            </a:r>
            <a:endParaRPr lang="en-US" sz="2700"/>
          </a:p>
        </p:txBody>
      </p:sp>
      <p:sp>
        <p:nvSpPr>
          <p:cNvPr id="7" name="Text 4"/>
          <p:cNvSpPr txBox="1"/>
          <p:nvPr/>
        </p:nvSpPr>
        <p:spPr>
          <a:xfrm>
            <a:off x="819302" y="743407"/>
            <a:ext cx="5811012" cy="267005"/>
          </a:xfrm>
          <a:prstGeom prst="rect">
            <a:avLst/>
          </a:prstGeom>
          <a:noFill/>
          <a:ln/>
        </p:spPr>
        <p:txBody>
          <a:bodyPr wrap="square" lIns="0" tIns="0" rIns="0" bIns="0" rtlCol="0" anchor="ctr"/>
          <a:lstStyle/>
          <a:p>
            <a:pPr marL="0" indent="0" algn="l">
              <a:buNone/>
            </a:pPr>
            <a:r>
              <a:rPr lang="en-US" sz="1500" b="1" kern="0" spc="75">
                <a:solidFill>
                  <a:srgbClr val="2A9D8F"/>
                </a:solidFill>
                <a:latin typeface="Roboto Condensed" pitchFamily="34" charset="0"/>
                <a:ea typeface="Roboto Condensed" pitchFamily="34" charset="-122"/>
                <a:cs typeface="Roboto Condensed" pitchFamily="34" charset="-120"/>
              </a:rPr>
              <a:t>VISIONARY LEADERSHIP DRIVING ENTERPRISE EXCELLENCE</a:t>
            </a:r>
            <a:endParaRPr lang="en-US" sz="1500"/>
          </a:p>
        </p:txBody>
      </p:sp>
      <p:pic>
        <p:nvPicPr>
          <p:cNvPr id="8" name="Image 1" descr="preencoded.png"/>
          <p:cNvPicPr>
            <a:picLocks noChangeAspect="1"/>
          </p:cNvPicPr>
          <p:nvPr/>
        </p:nvPicPr>
        <p:blipFill>
          <a:blip r:embed="rId4"/>
          <a:srcRect t="-6" b="-6"/>
          <a:stretch/>
        </p:blipFill>
        <p:spPr>
          <a:xfrm>
            <a:off x="609905" y="1123798"/>
            <a:ext cx="5372100" cy="3715207"/>
          </a:xfrm>
          <a:prstGeom prst="rect">
            <a:avLst/>
          </a:prstGeom>
        </p:spPr>
      </p:pic>
      <p:sp>
        <p:nvSpPr>
          <p:cNvPr id="9" name="Shape 5"/>
          <p:cNvSpPr/>
          <p:nvPr/>
        </p:nvSpPr>
        <p:spPr>
          <a:xfrm>
            <a:off x="919886" y="1339596"/>
            <a:ext cx="809244" cy="809244"/>
          </a:xfrm>
          <a:prstGeom prst="ellipse">
            <a:avLst/>
          </a:prstGeom>
          <a:noFill/>
          <a:ln w="38100">
            <a:solidFill>
              <a:srgbClr val="FFFFFF"/>
            </a:solidFill>
            <a:prstDash val="solid"/>
          </a:ln>
          <a:effectLst>
            <a:outerShdw blurRad="101600" dist="38100" dir="16200000" algn="bl" rotWithShape="0">
              <a:srgbClr val="000000">
                <a:alpha val="10000"/>
              </a:srgbClr>
            </a:outerShdw>
          </a:effectLst>
        </p:spPr>
        <p:txBody>
          <a:bodyPr/>
          <a:lstStyle/>
          <a:p>
            <a:endParaRPr lang="en-US"/>
          </a:p>
        </p:txBody>
      </p:sp>
      <p:pic>
        <p:nvPicPr>
          <p:cNvPr id="10" name="Image 2" descr="preencoded.png"/>
          <p:cNvPicPr>
            <a:picLocks noChangeAspect="1"/>
          </p:cNvPicPr>
          <p:nvPr/>
        </p:nvPicPr>
        <p:blipFill>
          <a:blip r:embed="rId5"/>
          <a:srcRect/>
          <a:stretch/>
        </p:blipFill>
        <p:spPr>
          <a:xfrm>
            <a:off x="948233" y="1367942"/>
            <a:ext cx="752551" cy="752551"/>
          </a:xfrm>
          <a:prstGeom prst="rect">
            <a:avLst/>
          </a:prstGeom>
        </p:spPr>
      </p:pic>
      <p:sp>
        <p:nvSpPr>
          <p:cNvPr id="11" name="Text 6"/>
          <p:cNvSpPr txBox="1"/>
          <p:nvPr/>
        </p:nvSpPr>
        <p:spPr>
          <a:xfrm>
            <a:off x="817474" y="2224735"/>
            <a:ext cx="1020470" cy="219456"/>
          </a:xfrm>
          <a:prstGeom prst="rect">
            <a:avLst/>
          </a:prstGeom>
          <a:noFill/>
          <a:ln/>
        </p:spPr>
        <p:txBody>
          <a:bodyPr wrap="square" lIns="0" tIns="0" rIns="0" bIns="0" rtlCol="0" anchor="ctr"/>
          <a:lstStyle/>
          <a:p>
            <a:pPr marL="0" indent="0" algn="ctr">
              <a:buNone/>
            </a:pPr>
            <a:r>
              <a:rPr lang="en-US" sz="1300" b="1">
                <a:solidFill>
                  <a:srgbClr val="1F2937"/>
                </a:solidFill>
                <a:latin typeface="Oswald" pitchFamily="34" charset="0"/>
                <a:ea typeface="Oswald" pitchFamily="34" charset="-122"/>
                <a:cs typeface="Oswald" pitchFamily="34" charset="-120"/>
              </a:rPr>
              <a:t>Priti Sawant</a:t>
            </a:r>
            <a:endParaRPr lang="en-US" sz="1300"/>
          </a:p>
        </p:txBody>
      </p:sp>
      <p:sp>
        <p:nvSpPr>
          <p:cNvPr id="12" name="Text 7"/>
          <p:cNvSpPr txBox="1"/>
          <p:nvPr/>
        </p:nvSpPr>
        <p:spPr>
          <a:xfrm>
            <a:off x="789127" y="2457907"/>
            <a:ext cx="1074420" cy="152705"/>
          </a:xfrm>
          <a:prstGeom prst="rect">
            <a:avLst/>
          </a:prstGeom>
          <a:noFill/>
          <a:ln/>
        </p:spPr>
        <p:txBody>
          <a:bodyPr wrap="square" lIns="0" tIns="0" rIns="0" bIns="0" rtlCol="0" anchor="ctr"/>
          <a:lstStyle/>
          <a:p>
            <a:pPr marL="0" indent="0" algn="ctr">
              <a:buNone/>
            </a:pPr>
            <a:r>
              <a:rPr lang="en-US" sz="900" b="1" kern="0" spc="22" dirty="0">
                <a:solidFill>
                  <a:srgbClr val="2A9D8F"/>
                </a:solidFill>
                <a:latin typeface="Roboto Condensed" pitchFamily="34" charset="0"/>
                <a:ea typeface="Roboto Condensed" pitchFamily="34" charset="-122"/>
                <a:cs typeface="Roboto Condensed" pitchFamily="34" charset="-120"/>
              </a:rPr>
              <a:t>Founder &amp; CEO</a:t>
            </a:r>
            <a:endParaRPr lang="en-US" sz="900" dirty="0"/>
          </a:p>
        </p:txBody>
      </p:sp>
      <p:sp>
        <p:nvSpPr>
          <p:cNvPr id="13" name="Text 8"/>
          <p:cNvSpPr txBox="1"/>
          <p:nvPr/>
        </p:nvSpPr>
        <p:spPr>
          <a:xfrm>
            <a:off x="2025396" y="1557311"/>
            <a:ext cx="3867912" cy="1552651"/>
          </a:xfrm>
          <a:prstGeom prst="rect">
            <a:avLst/>
          </a:prstGeom>
          <a:noFill/>
          <a:ln/>
        </p:spPr>
        <p:txBody>
          <a:bodyPr wrap="square" lIns="0" tIns="0" rIns="0" bIns="0" rtlCol="0" anchor="ctr"/>
          <a:lstStyle/>
          <a:p>
            <a:pPr marL="0" indent="0" algn="just">
              <a:buNone/>
            </a:pPr>
            <a:r>
              <a:rPr lang="en-US" sz="1100" dirty="0">
                <a:solidFill>
                  <a:srgbClr val="4B5563"/>
                </a:solidFill>
                <a:latin typeface="Raleway" pitchFamily="34" charset="0"/>
                <a:ea typeface="Raleway" pitchFamily="34" charset="-122"/>
                <a:cs typeface="Raleway" pitchFamily="34" charset="-120"/>
              </a:rPr>
              <a:t>Priti Sawant is a serial entrepreneur, category creator, and a pioneer of India’s Global Capability Center (GCC) ecosystem. With 20+ years of experience, she has built and scaled businesses at the intersection of technology and enterprise transformation. She began her journey at Accenture and later led Magna Infotech-scaling it from pre-revenue to a market leader, creating India’s first GCC-focused model, and delivering a successful exit and public listing (IPO). She is a 2-time entrepreneur, having built two successful, leading companies solving for GCCs in India.</a:t>
            </a:r>
            <a:endParaRPr lang="en-US" sz="1100" dirty="0"/>
          </a:p>
        </p:txBody>
      </p:sp>
      <p:sp>
        <p:nvSpPr>
          <p:cNvPr id="14" name="Text 9"/>
          <p:cNvSpPr txBox="1"/>
          <p:nvPr/>
        </p:nvSpPr>
        <p:spPr>
          <a:xfrm>
            <a:off x="2025396" y="3527888"/>
            <a:ext cx="3867912" cy="1381658"/>
          </a:xfrm>
          <a:prstGeom prst="rect">
            <a:avLst/>
          </a:prstGeom>
          <a:noFill/>
          <a:ln/>
        </p:spPr>
        <p:txBody>
          <a:bodyPr wrap="square" lIns="0" tIns="0" rIns="0" bIns="0" rtlCol="0" anchor="ctr"/>
          <a:lstStyle/>
          <a:p>
            <a:pPr marL="0" indent="0" algn="just">
              <a:buNone/>
            </a:pPr>
            <a:r>
              <a:rPr lang="en-US" sz="1100">
                <a:solidFill>
                  <a:srgbClr val="4B5563"/>
                </a:solidFill>
                <a:latin typeface="Raleway" pitchFamily="34" charset="0"/>
                <a:ea typeface="Raleway" pitchFamily="34" charset="-122"/>
                <a:cs typeface="Raleway" pitchFamily="34" charset="-120"/>
              </a:rPr>
              <a:t>She founded JoulestoWatts, backed by Manipal Global Education Services. Today, J2W operates across 8 countries, enabling 300+ GCCs, deploying 5,200+ professionals, and building 4 in-house products, with strong Fortune 500 partnerships. Recognised by Forbes Japan, she is also a TiE Charter Member, startup mentor, and a strong advocate of gender diversity, having built organisations with 40%+ women representation and 50% women-led leadership roles.</a:t>
            </a:r>
            <a:endParaRPr lang="en-US" sz="1100"/>
          </a:p>
        </p:txBody>
      </p:sp>
      <p:pic>
        <p:nvPicPr>
          <p:cNvPr id="15" name="Image 3" descr="preencoded.png"/>
          <p:cNvPicPr>
            <a:picLocks noChangeAspect="1"/>
          </p:cNvPicPr>
          <p:nvPr/>
        </p:nvPicPr>
        <p:blipFill>
          <a:blip r:embed="rId6"/>
          <a:srcRect t="-6" b="-6"/>
          <a:stretch/>
        </p:blipFill>
        <p:spPr>
          <a:xfrm>
            <a:off x="6210605" y="1123798"/>
            <a:ext cx="5372100" cy="3715207"/>
          </a:xfrm>
          <a:prstGeom prst="rect">
            <a:avLst/>
          </a:prstGeom>
        </p:spPr>
      </p:pic>
      <p:sp>
        <p:nvSpPr>
          <p:cNvPr id="16" name="Shape 10"/>
          <p:cNvSpPr/>
          <p:nvPr/>
        </p:nvSpPr>
        <p:spPr>
          <a:xfrm>
            <a:off x="6520586" y="1339596"/>
            <a:ext cx="809244" cy="809244"/>
          </a:xfrm>
          <a:prstGeom prst="ellipse">
            <a:avLst/>
          </a:prstGeom>
          <a:noFill/>
          <a:ln w="38100">
            <a:solidFill>
              <a:srgbClr val="FFFFFF"/>
            </a:solidFill>
            <a:prstDash val="solid"/>
          </a:ln>
          <a:effectLst>
            <a:outerShdw blurRad="101600" dist="38100" dir="16200000" algn="bl" rotWithShape="0">
              <a:srgbClr val="000000">
                <a:alpha val="10000"/>
              </a:srgbClr>
            </a:outerShdw>
          </a:effectLst>
        </p:spPr>
        <p:txBody>
          <a:bodyPr/>
          <a:lstStyle/>
          <a:p>
            <a:endParaRPr lang="en-US"/>
          </a:p>
        </p:txBody>
      </p:sp>
      <p:pic>
        <p:nvPicPr>
          <p:cNvPr id="17" name="Image 4" descr="preencoded.png"/>
          <p:cNvPicPr>
            <a:picLocks noChangeAspect="1"/>
          </p:cNvPicPr>
          <p:nvPr/>
        </p:nvPicPr>
        <p:blipFill>
          <a:blip r:embed="rId7"/>
          <a:srcRect b="1042"/>
          <a:stretch/>
        </p:blipFill>
        <p:spPr>
          <a:xfrm>
            <a:off x="6548933" y="1367942"/>
            <a:ext cx="752551" cy="752551"/>
          </a:xfrm>
          <a:prstGeom prst="rect">
            <a:avLst/>
          </a:prstGeom>
        </p:spPr>
      </p:pic>
      <p:sp>
        <p:nvSpPr>
          <p:cNvPr id="18" name="Text 11"/>
          <p:cNvSpPr txBox="1"/>
          <p:nvPr/>
        </p:nvSpPr>
        <p:spPr>
          <a:xfrm>
            <a:off x="6411773" y="2224735"/>
            <a:ext cx="1032358" cy="219456"/>
          </a:xfrm>
          <a:prstGeom prst="rect">
            <a:avLst/>
          </a:prstGeom>
          <a:noFill/>
          <a:ln/>
        </p:spPr>
        <p:txBody>
          <a:bodyPr wrap="square" lIns="0" tIns="0" rIns="0" bIns="0" rtlCol="0" anchor="ctr"/>
          <a:lstStyle/>
          <a:p>
            <a:pPr marL="0" indent="0" algn="ctr">
              <a:buNone/>
            </a:pPr>
            <a:r>
              <a:rPr lang="en-US" sz="1300" b="1">
                <a:solidFill>
                  <a:srgbClr val="1F2937"/>
                </a:solidFill>
                <a:latin typeface="Oswald" pitchFamily="34" charset="0"/>
                <a:ea typeface="Oswald" pitchFamily="34" charset="-122"/>
                <a:cs typeface="Oswald" pitchFamily="34" charset="-120"/>
              </a:rPr>
              <a:t>Priya Mohan</a:t>
            </a:r>
            <a:endParaRPr lang="en-US" sz="1300"/>
          </a:p>
        </p:txBody>
      </p:sp>
      <p:sp>
        <p:nvSpPr>
          <p:cNvPr id="19" name="Text 12"/>
          <p:cNvSpPr txBox="1"/>
          <p:nvPr/>
        </p:nvSpPr>
        <p:spPr>
          <a:xfrm>
            <a:off x="6781190" y="2457907"/>
            <a:ext cx="295351" cy="152705"/>
          </a:xfrm>
          <a:prstGeom prst="rect">
            <a:avLst/>
          </a:prstGeom>
          <a:noFill/>
          <a:ln/>
        </p:spPr>
        <p:txBody>
          <a:bodyPr wrap="square" lIns="0" tIns="0" rIns="0" bIns="0" rtlCol="0" anchor="ctr"/>
          <a:lstStyle/>
          <a:p>
            <a:pPr marL="0" indent="0" algn="ctr">
              <a:buNone/>
            </a:pPr>
            <a:r>
              <a:rPr lang="en-US" sz="1100" b="1" kern="0" spc="22" dirty="0">
                <a:solidFill>
                  <a:srgbClr val="D62839"/>
                </a:solidFill>
                <a:latin typeface="Roboto Condensed" pitchFamily="34" charset="0"/>
                <a:ea typeface="Roboto Condensed" pitchFamily="34" charset="-122"/>
                <a:cs typeface="Roboto Condensed" pitchFamily="34" charset="-120"/>
              </a:rPr>
              <a:t>coo</a:t>
            </a:r>
            <a:endParaRPr lang="en-US" sz="1100" dirty="0"/>
          </a:p>
        </p:txBody>
      </p:sp>
      <p:sp>
        <p:nvSpPr>
          <p:cNvPr id="20" name="Text 13"/>
          <p:cNvSpPr txBox="1"/>
          <p:nvPr/>
        </p:nvSpPr>
        <p:spPr>
          <a:xfrm>
            <a:off x="7626096" y="1557311"/>
            <a:ext cx="3867912" cy="1552651"/>
          </a:xfrm>
          <a:prstGeom prst="rect">
            <a:avLst/>
          </a:prstGeom>
          <a:noFill/>
          <a:ln/>
        </p:spPr>
        <p:txBody>
          <a:bodyPr wrap="square" lIns="0" tIns="0" rIns="0" bIns="0" rtlCol="0" anchor="ctr"/>
          <a:lstStyle/>
          <a:p>
            <a:pPr marL="0" indent="0" algn="just">
              <a:buNone/>
            </a:pPr>
            <a:r>
              <a:rPr lang="en-US" sz="1100">
                <a:solidFill>
                  <a:srgbClr val="4B5563"/>
                </a:solidFill>
                <a:latin typeface="Raleway" pitchFamily="34" charset="0"/>
                <a:ea typeface="Raleway" pitchFamily="34" charset="-122"/>
                <a:cs typeface="Raleway" pitchFamily="34" charset="-120"/>
              </a:rPr>
              <a:t>Priya Mohan is a seasoned operator, investor, and entrepreneur with 20+ years spanning venture capital, high-growth startups, and investment banking. She was most recently a Partner at General Catalyst India, where she led India investments and co-creation opportunities across transformative, economy-shaping companies. Previously, as Managing Partner at Venture Highway, she held board seats across marquee portfolio companies in multiple sectors. Before investing, she co-founded Vidyartha, an EdTech platform which she successfully exited to Byju's.</a:t>
            </a:r>
            <a:endParaRPr lang="en-US" sz="1100"/>
          </a:p>
        </p:txBody>
      </p:sp>
      <p:sp>
        <p:nvSpPr>
          <p:cNvPr id="21" name="Text 14"/>
          <p:cNvSpPr txBox="1"/>
          <p:nvPr/>
        </p:nvSpPr>
        <p:spPr>
          <a:xfrm>
            <a:off x="7626096" y="3527888"/>
            <a:ext cx="3867912" cy="1209751"/>
          </a:xfrm>
          <a:prstGeom prst="rect">
            <a:avLst/>
          </a:prstGeom>
          <a:noFill/>
          <a:ln/>
        </p:spPr>
        <p:txBody>
          <a:bodyPr wrap="square" lIns="0" tIns="0" rIns="0" bIns="0" rtlCol="0" anchor="ctr"/>
          <a:lstStyle/>
          <a:p>
            <a:pPr marL="0" indent="0" algn="just">
              <a:buNone/>
            </a:pPr>
            <a:r>
              <a:rPr lang="en-US" sz="1100" dirty="0">
                <a:solidFill>
                  <a:srgbClr val="4B5563"/>
                </a:solidFill>
                <a:latin typeface="Raleway" pitchFamily="34" charset="0"/>
                <a:ea typeface="Raleway" pitchFamily="34" charset="-122"/>
                <a:cs typeface="Raleway" pitchFamily="34" charset="-120"/>
              </a:rPr>
              <a:t>Her earlier career included 9 years in investment banking and equity research - structuring and executing complex transactions across private equity raises, secondary sales, and buyouts. A Chartered Accountant and Management Graduate from the Indian School of Business (ISB), Priya was a state guest of the United States under the IVLP program and is a member of the Kamalnayan Bajaj Aspen Fellowship (Cohort X).</a:t>
            </a:r>
            <a:endParaRPr lang="en-US" sz="1100" dirty="0"/>
          </a:p>
        </p:txBody>
      </p:sp>
      <p:pic>
        <p:nvPicPr>
          <p:cNvPr id="54" name="Image 15" descr="preencoded.png"/>
          <p:cNvPicPr>
            <a:picLocks noChangeAspect="1"/>
          </p:cNvPicPr>
          <p:nvPr/>
        </p:nvPicPr>
        <p:blipFill>
          <a:blip r:embed="rId8"/>
          <a:srcRect l="-202" r="-202"/>
          <a:stretch/>
        </p:blipFill>
        <p:spPr>
          <a:xfrm>
            <a:off x="0" y="0"/>
            <a:ext cx="8128102" cy="75895"/>
          </a:xfrm>
          <a:prstGeom prst="rect">
            <a:avLst/>
          </a:prstGeom>
        </p:spPr>
      </p:pic>
      <p:pic>
        <p:nvPicPr>
          <p:cNvPr id="55" name="Image 16" descr="preencoded.png"/>
          <p:cNvPicPr>
            <a:picLocks noChangeAspect="1"/>
          </p:cNvPicPr>
          <p:nvPr/>
        </p:nvPicPr>
        <p:blipFill>
          <a:blip r:embed="rId9"/>
          <a:srcRect l="-197" r="-197"/>
          <a:stretch/>
        </p:blipFill>
        <p:spPr>
          <a:xfrm>
            <a:off x="8128102" y="0"/>
            <a:ext cx="4063594" cy="7589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cad3a534ee2971c6a497c9faf59fb5cd.png"/>
          <p:cNvPicPr>
            <a:picLocks noChangeAspect="1"/>
          </p:cNvPicPr>
          <p:nvPr/>
        </p:nvPicPr>
        <p:blipFill>
          <a:blip r:embed="rId3"/>
          <a:srcRect l="-202" r="-202"/>
          <a:stretch/>
        </p:blipFill>
        <p:spPr>
          <a:xfrm>
            <a:off x="0" y="0"/>
            <a:ext cx="8128102" cy="75895"/>
          </a:xfrm>
          <a:prstGeom prst="rect">
            <a:avLst/>
          </a:prstGeom>
        </p:spPr>
      </p:pic>
      <p:pic>
        <p:nvPicPr>
          <p:cNvPr id="5" name="Image 1" descr="gen-dedup-64882feb7a832238af77b962fc7a8538.png"/>
          <p:cNvPicPr>
            <a:picLocks noChangeAspect="1"/>
          </p:cNvPicPr>
          <p:nvPr/>
        </p:nvPicPr>
        <p:blipFill>
          <a:blip r:embed="rId4"/>
          <a:srcRect l="-197" r="-197"/>
          <a:stretch/>
        </p:blipFill>
        <p:spPr>
          <a:xfrm>
            <a:off x="8128102" y="0"/>
            <a:ext cx="4063594" cy="75895"/>
          </a:xfrm>
          <a:prstGeom prst="rect">
            <a:avLst/>
          </a:prstGeom>
        </p:spPr>
      </p:pic>
      <p:sp>
        <p:nvSpPr>
          <p:cNvPr id="6" name="Shape 2"/>
          <p:cNvSpPr/>
          <p:nvPr/>
        </p:nvSpPr>
        <p:spPr>
          <a:xfrm>
            <a:off x="9905695" y="-571500"/>
            <a:ext cx="2857500" cy="2857500"/>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gen-dedup-6da70c599291e253314366a10c094ffa.png"/>
          <p:cNvPicPr>
            <a:picLocks noChangeAspect="1"/>
          </p:cNvPicPr>
          <p:nvPr/>
        </p:nvPicPr>
        <p:blipFill>
          <a:blip r:embed="rId5">
            <a:alphaModFix amt="15000"/>
          </a:blip>
          <a:srcRect/>
          <a:stretch/>
        </p:blipFill>
        <p:spPr>
          <a:xfrm>
            <a:off x="381305" y="1143000"/>
            <a:ext cx="1429207" cy="1429207"/>
          </a:xfrm>
          <a:prstGeom prst="rect">
            <a:avLst/>
          </a:prstGeom>
        </p:spPr>
      </p:pic>
      <p:pic>
        <p:nvPicPr>
          <p:cNvPr id="8" name="Image 3" descr="gen-dedup-b81d2082573e6d8de64df87af639bbf0.png"/>
          <p:cNvPicPr>
            <a:picLocks noChangeAspect="1"/>
          </p:cNvPicPr>
          <p:nvPr/>
        </p:nvPicPr>
        <p:blipFill>
          <a:blip r:embed="rId6"/>
          <a:srcRect l="-360" r="-360"/>
          <a:stretch/>
        </p:blipFill>
        <p:spPr>
          <a:xfrm>
            <a:off x="609905" y="533095"/>
            <a:ext cx="57607" cy="381305"/>
          </a:xfrm>
          <a:prstGeom prst="rect">
            <a:avLst/>
          </a:prstGeom>
        </p:spPr>
      </p:pic>
      <p:sp>
        <p:nvSpPr>
          <p:cNvPr id="9" name="Text 3"/>
          <p:cNvSpPr txBox="1"/>
          <p:nvPr/>
        </p:nvSpPr>
        <p:spPr>
          <a:xfrm>
            <a:off x="819302" y="381305"/>
            <a:ext cx="3871570" cy="381305"/>
          </a:xfrm>
          <a:prstGeom prst="rect">
            <a:avLst/>
          </a:prstGeom>
          <a:noFill/>
          <a:ln/>
        </p:spPr>
        <p:txBody>
          <a:bodyPr wrap="none" lIns="0" tIns="0" rIns="0" bIns="0" rtlCol="0" anchor="ctr"/>
          <a:lstStyle/>
          <a:p>
            <a:pPr marL="0" indent="0" algn="l">
              <a:buNone/>
            </a:pPr>
            <a:r>
              <a:rPr lang="en-US" sz="2700" b="1" kern="0" spc="-67" dirty="0">
                <a:solidFill>
                  <a:srgbClr val="111827"/>
                </a:solidFill>
                <a:latin typeface="Oswald" pitchFamily="34" charset="0"/>
                <a:ea typeface="Oswald" pitchFamily="34" charset="-122"/>
                <a:cs typeface="Oswald" pitchFamily="34" charset="-120"/>
              </a:rPr>
              <a:t>WHAT WE OFFER</a:t>
            </a:r>
            <a:endParaRPr lang="en-US" sz="2700" dirty="0"/>
          </a:p>
        </p:txBody>
      </p:sp>
      <p:sp>
        <p:nvSpPr>
          <p:cNvPr id="10" name="Text 4"/>
          <p:cNvSpPr txBox="1"/>
          <p:nvPr/>
        </p:nvSpPr>
        <p:spPr>
          <a:xfrm>
            <a:off x="819302" y="800100"/>
            <a:ext cx="4189781" cy="267005"/>
          </a:xfrm>
          <a:prstGeom prst="rect">
            <a:avLst/>
          </a:prstGeom>
          <a:noFill/>
          <a:ln/>
        </p:spPr>
        <p:txBody>
          <a:bodyPr wrap="none" lIns="0" tIns="0" rIns="0" bIns="0" rtlCol="0" anchor="ctr"/>
          <a:lstStyle/>
          <a:p>
            <a:pPr marL="0" indent="0" algn="l">
              <a:buNone/>
            </a:pPr>
            <a:r>
              <a:rPr lang="en-US" sz="1500" b="1" kern="0" spc="75" dirty="0">
                <a:solidFill>
                  <a:srgbClr val="2A9D8F"/>
                </a:solidFill>
                <a:latin typeface="Roboto Condensed" pitchFamily="34" charset="0"/>
                <a:ea typeface="Roboto Condensed" pitchFamily="34" charset="-122"/>
                <a:cs typeface="Roboto Condensed" pitchFamily="34" charset="-120"/>
              </a:rPr>
              <a:t>THREE INTERLOCKING REVENUE ENGINES</a:t>
            </a:r>
            <a:endParaRPr lang="en-US" sz="1500" dirty="0"/>
          </a:p>
        </p:txBody>
      </p:sp>
      <p:sp>
        <p:nvSpPr>
          <p:cNvPr id="11" name="Shape 5"/>
          <p:cNvSpPr/>
          <p:nvPr/>
        </p:nvSpPr>
        <p:spPr>
          <a:xfrm>
            <a:off x="609905"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dirty="0"/>
          </a:p>
        </p:txBody>
      </p:sp>
      <p:sp>
        <p:nvSpPr>
          <p:cNvPr id="12" name="Shape 6"/>
          <p:cNvSpPr/>
          <p:nvPr/>
        </p:nvSpPr>
        <p:spPr>
          <a:xfrm>
            <a:off x="619049" y="1533449"/>
            <a:ext cx="3314700" cy="1047902"/>
          </a:xfrm>
          <a:prstGeom prst="rect">
            <a:avLst/>
          </a:prstGeom>
          <a:solidFill>
            <a:srgbClr val="2A9D8F"/>
          </a:solidFill>
          <a:ln w="12700">
            <a:solidFill>
              <a:srgbClr val="FFFFFF">
                <a:alpha val="0"/>
              </a:srgbClr>
            </a:solidFill>
            <a:prstDash val="solid"/>
          </a:ln>
        </p:spPr>
        <p:txBody>
          <a:bodyPr/>
          <a:lstStyle/>
          <a:p>
            <a:endParaRPr lang="en-US"/>
          </a:p>
        </p:txBody>
      </p:sp>
      <p:sp>
        <p:nvSpPr>
          <p:cNvPr id="13" name="Text 7"/>
          <p:cNvSpPr txBox="1"/>
          <p:nvPr/>
        </p:nvSpPr>
        <p:spPr>
          <a:xfrm>
            <a:off x="1411834" y="2033626"/>
            <a:ext cx="1734617"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Workforce Solutions</a:t>
            </a:r>
            <a:endParaRPr lang="en-US" sz="1500" dirty="0"/>
          </a:p>
        </p:txBody>
      </p:sp>
      <p:sp>
        <p:nvSpPr>
          <p:cNvPr id="14" name="Text 8"/>
          <p:cNvSpPr txBox="1"/>
          <p:nvPr/>
        </p:nvSpPr>
        <p:spPr>
          <a:xfrm>
            <a:off x="819302" y="2691079"/>
            <a:ext cx="2934310" cy="300106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Domain-deep engineers - not generic coders</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Verticals: IT and Cloud Computing · BFSI · more </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Deployed in 10 days or less </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Pod governance + sprint accountability</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Contract-to-hire flexibility</a:t>
            </a:r>
            <a:endParaRPr lang="en-US" sz="1400" dirty="0"/>
          </a:p>
        </p:txBody>
      </p:sp>
      <p:sp>
        <p:nvSpPr>
          <p:cNvPr id="21" name="Text 15"/>
          <p:cNvSpPr txBox="1"/>
          <p:nvPr/>
        </p:nvSpPr>
        <p:spPr>
          <a:xfrm>
            <a:off x="2116836" y="1652321"/>
            <a:ext cx="329184"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01</a:t>
            </a:r>
            <a:endParaRPr lang="en-US" sz="2200" dirty="0"/>
          </a:p>
        </p:txBody>
      </p:sp>
      <p:sp>
        <p:nvSpPr>
          <p:cNvPr id="22" name="Text 16"/>
          <p:cNvSpPr txBox="1"/>
          <p:nvPr/>
        </p:nvSpPr>
        <p:spPr>
          <a:xfrm>
            <a:off x="1570025" y="2309774"/>
            <a:ext cx="1420978"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Volume Engine</a:t>
            </a:r>
            <a:endParaRPr lang="en-US" sz="900" dirty="0"/>
          </a:p>
        </p:txBody>
      </p:sp>
      <p:sp>
        <p:nvSpPr>
          <p:cNvPr id="23" name="Shape 17"/>
          <p:cNvSpPr/>
          <p:nvPr/>
        </p:nvSpPr>
        <p:spPr>
          <a:xfrm>
            <a:off x="4419295"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24" name="Shape 18"/>
          <p:cNvSpPr/>
          <p:nvPr/>
        </p:nvSpPr>
        <p:spPr>
          <a:xfrm>
            <a:off x="4429354" y="1533449"/>
            <a:ext cx="3314700" cy="1047902"/>
          </a:xfrm>
          <a:prstGeom prst="rect">
            <a:avLst/>
          </a:prstGeom>
          <a:solidFill>
            <a:srgbClr val="D62839"/>
          </a:solidFill>
          <a:ln w="12700">
            <a:solidFill>
              <a:srgbClr val="FFFFFF">
                <a:alpha val="0"/>
              </a:srgbClr>
            </a:solidFill>
            <a:prstDash val="solid"/>
          </a:ln>
        </p:spPr>
        <p:txBody>
          <a:bodyPr/>
          <a:lstStyle/>
          <a:p>
            <a:endParaRPr lang="en-US"/>
          </a:p>
        </p:txBody>
      </p:sp>
      <p:sp>
        <p:nvSpPr>
          <p:cNvPr id="25" name="Text 19"/>
          <p:cNvSpPr txBox="1"/>
          <p:nvPr/>
        </p:nvSpPr>
        <p:spPr>
          <a:xfrm>
            <a:off x="5386730" y="2033626"/>
            <a:ext cx="1406347"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AI Pods</a:t>
            </a:r>
            <a:endParaRPr lang="en-US" sz="1500" dirty="0"/>
          </a:p>
        </p:txBody>
      </p:sp>
      <p:sp>
        <p:nvSpPr>
          <p:cNvPr id="26" name="Text 20"/>
          <p:cNvSpPr txBox="1"/>
          <p:nvPr/>
        </p:nvSpPr>
        <p:spPr>
          <a:xfrm>
            <a:off x="4619549" y="4204760"/>
            <a:ext cx="2934310" cy="40965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AI-first engineering pods, embedded tech lead</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Every engineer AI-certified before Day 1</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J2W AI Labs - continuous monthly upskilling</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AI-assisted code, test &amp; docs from Day 1</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Compounding productivity, not static seats</a:t>
            </a:r>
            <a:endParaRPr lang="en-US" sz="1400" dirty="0"/>
          </a:p>
        </p:txBody>
      </p:sp>
      <p:sp>
        <p:nvSpPr>
          <p:cNvPr id="33" name="Text 27"/>
          <p:cNvSpPr txBox="1"/>
          <p:nvPr/>
        </p:nvSpPr>
        <p:spPr>
          <a:xfrm>
            <a:off x="5905195" y="1652321"/>
            <a:ext cx="363017"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02</a:t>
            </a:r>
            <a:endParaRPr lang="en-US" sz="2200" dirty="0"/>
          </a:p>
        </p:txBody>
      </p:sp>
      <p:sp>
        <p:nvSpPr>
          <p:cNvPr id="34" name="Text 28"/>
          <p:cNvSpPr txBox="1"/>
          <p:nvPr/>
        </p:nvSpPr>
        <p:spPr>
          <a:xfrm>
            <a:off x="5079492" y="2309774"/>
            <a:ext cx="2018081"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Margin Expansion Engine</a:t>
            </a:r>
            <a:endParaRPr lang="en-US" sz="900" dirty="0"/>
          </a:p>
        </p:txBody>
      </p:sp>
      <p:sp>
        <p:nvSpPr>
          <p:cNvPr id="35" name="Shape 29"/>
          <p:cNvSpPr/>
          <p:nvPr/>
        </p:nvSpPr>
        <p:spPr>
          <a:xfrm>
            <a:off x="8229600" y="1524305"/>
            <a:ext cx="3333902" cy="4952390"/>
          </a:xfrm>
          <a:prstGeom prst="roundRect">
            <a:avLst>
              <a:gd name="adj" fmla="val 125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36" name="Shape 30"/>
          <p:cNvSpPr/>
          <p:nvPr/>
        </p:nvSpPr>
        <p:spPr>
          <a:xfrm>
            <a:off x="8238744" y="1533449"/>
            <a:ext cx="3314700" cy="1047902"/>
          </a:xfrm>
          <a:prstGeom prst="rect">
            <a:avLst/>
          </a:prstGeom>
          <a:solidFill>
            <a:srgbClr val="2A9D8F"/>
          </a:solidFill>
          <a:ln w="12700">
            <a:solidFill>
              <a:srgbClr val="FFFFFF">
                <a:alpha val="0"/>
              </a:srgbClr>
            </a:solidFill>
            <a:prstDash val="solid"/>
          </a:ln>
        </p:spPr>
        <p:txBody>
          <a:bodyPr/>
          <a:lstStyle/>
          <a:p>
            <a:endParaRPr lang="en-US"/>
          </a:p>
        </p:txBody>
      </p:sp>
      <p:sp>
        <p:nvSpPr>
          <p:cNvPr id="37" name="Text 31"/>
          <p:cNvSpPr txBox="1"/>
          <p:nvPr/>
        </p:nvSpPr>
        <p:spPr>
          <a:xfrm>
            <a:off x="8685886" y="2033626"/>
            <a:ext cx="2425903" cy="238658"/>
          </a:xfrm>
          <a:prstGeom prst="rect">
            <a:avLst/>
          </a:prstGeom>
          <a:noFill/>
          <a:ln/>
        </p:spPr>
        <p:txBody>
          <a:bodyPr wrap="none" lIns="0" tIns="0" rIns="0" bIns="0" rtlCol="0" anchor="ctr"/>
          <a:lstStyle/>
          <a:p>
            <a:pPr marL="0" indent="0" algn="ctr">
              <a:buNone/>
            </a:pPr>
            <a:r>
              <a:rPr lang="en-US" sz="1500" b="1" dirty="0">
                <a:solidFill>
                  <a:srgbClr val="FFFFFF"/>
                </a:solidFill>
                <a:latin typeface="Oswald" pitchFamily="34" charset="0"/>
                <a:ea typeface="Oswald" pitchFamily="34" charset="-122"/>
                <a:cs typeface="Oswald" pitchFamily="34" charset="-120"/>
              </a:rPr>
              <a:t>Managed Service Solutions</a:t>
            </a:r>
            <a:endParaRPr lang="en-US" sz="1500" dirty="0"/>
          </a:p>
        </p:txBody>
      </p:sp>
      <p:sp>
        <p:nvSpPr>
          <p:cNvPr id="38" name="Text 32"/>
          <p:cNvSpPr txBox="1"/>
          <p:nvPr/>
        </p:nvSpPr>
        <p:spPr>
          <a:xfrm>
            <a:off x="8429854" y="4158691"/>
            <a:ext cx="2934310" cy="409651"/>
          </a:xfrm>
          <a:prstGeom prst="rect">
            <a:avLst/>
          </a:prstGeom>
          <a:noFill/>
          <a:ln/>
        </p:spPr>
        <p:txBody>
          <a:bodyPr wrap="square" lIns="0" tIns="0" rIns="0" bIns="0" rtlCol="0" anchor="ctr"/>
          <a:lstStyle/>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Dedicated pods owning outcomes, not tasks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Operate to outcome-bound SLOs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60+ pre-built solution accelerators</a:t>
            </a:r>
          </a:p>
          <a:p>
            <a:pPr marL="171450" indent="-171450" algn="l">
              <a:buFont typeface="Arial" panose="020B0604020202020204" pitchFamily="34" charset="0"/>
              <a:buChar char="•"/>
            </a:pPr>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On SAP, ServiceNow &amp; industry stacks</a:t>
            </a:r>
          </a:p>
          <a:p>
            <a:pPr algn="l"/>
            <a:endParaRPr lang="en-US" sz="1400" dirty="0">
              <a:solidFill>
                <a:srgbClr val="4B5563"/>
              </a:solidFill>
              <a:latin typeface="Raleway" pitchFamily="34" charset="0"/>
              <a:ea typeface="Raleway" pitchFamily="34" charset="-122"/>
              <a:cs typeface="Raleway" pitchFamily="34" charset="-120"/>
            </a:endParaRPr>
          </a:p>
          <a:p>
            <a:pPr marL="171450" indent="-171450" algn="l">
              <a:buFont typeface="Arial" panose="020B0604020202020204" pitchFamily="34" charset="0"/>
              <a:buChar char="•"/>
            </a:pPr>
            <a:r>
              <a:rPr lang="en-US" sz="1400" dirty="0">
                <a:solidFill>
                  <a:srgbClr val="4B5563"/>
                </a:solidFill>
                <a:latin typeface="Raleway" pitchFamily="34" charset="0"/>
                <a:ea typeface="Raleway" pitchFamily="34" charset="-122"/>
                <a:cs typeface="Raleway" pitchFamily="34" charset="-120"/>
              </a:rPr>
              <a:t>40% improvement threshold - our standard</a:t>
            </a:r>
            <a:endParaRPr lang="en-US" sz="1400" dirty="0"/>
          </a:p>
        </p:txBody>
      </p:sp>
      <p:sp>
        <p:nvSpPr>
          <p:cNvPr id="45" name="Text 39"/>
          <p:cNvSpPr txBox="1"/>
          <p:nvPr/>
        </p:nvSpPr>
        <p:spPr>
          <a:xfrm>
            <a:off x="9715500" y="1652321"/>
            <a:ext cx="363017" cy="342900"/>
          </a:xfrm>
          <a:prstGeom prst="rect">
            <a:avLst/>
          </a:prstGeom>
          <a:noFill/>
          <a:ln/>
        </p:spPr>
        <p:txBody>
          <a:bodyPr wrap="none" lIns="0" tIns="0" rIns="0" bIns="0" rtlCol="0" anchor="ctr"/>
          <a:lstStyle/>
          <a:p>
            <a:pPr marL="0" indent="0" algn="ctr">
              <a:buNone/>
            </a:pPr>
            <a:r>
              <a:rPr lang="en-US" sz="2200" b="1" dirty="0">
                <a:solidFill>
                  <a:srgbClr val="FFFFFF">
                    <a:alpha val="90000"/>
                  </a:srgbClr>
                </a:solidFill>
                <a:latin typeface="Oswald" pitchFamily="34" charset="0"/>
                <a:ea typeface="Oswald" pitchFamily="34" charset="-122"/>
                <a:cs typeface="Oswald" pitchFamily="34" charset="-120"/>
              </a:rPr>
              <a:t>03</a:t>
            </a:r>
            <a:endParaRPr lang="en-US" sz="2200" dirty="0"/>
          </a:p>
        </p:txBody>
      </p:sp>
      <p:sp>
        <p:nvSpPr>
          <p:cNvPr id="46" name="Text 40"/>
          <p:cNvSpPr txBox="1"/>
          <p:nvPr/>
        </p:nvSpPr>
        <p:spPr>
          <a:xfrm>
            <a:off x="8956548" y="2309774"/>
            <a:ext cx="1881835" cy="152705"/>
          </a:xfrm>
          <a:prstGeom prst="rect">
            <a:avLst/>
          </a:prstGeom>
          <a:noFill/>
          <a:ln/>
        </p:spPr>
        <p:txBody>
          <a:bodyPr wrap="none" lIns="0" tIns="0" rIns="0" bIns="0" rtlCol="0" anchor="ctr"/>
          <a:lstStyle/>
          <a:p>
            <a:pPr marL="0" indent="0" algn="ctr">
              <a:buNone/>
            </a:pPr>
            <a:r>
              <a:rPr lang="en-US" sz="900" kern="0" spc="45" dirty="0">
                <a:solidFill>
                  <a:srgbClr val="FFFFFF">
                    <a:alpha val="90000"/>
                  </a:srgbClr>
                </a:solidFill>
                <a:latin typeface="Roboto Condensed" pitchFamily="34" charset="0"/>
                <a:ea typeface="Roboto Condensed" pitchFamily="34" charset="-122"/>
                <a:cs typeface="Roboto Condensed" pitchFamily="34" charset="-120"/>
              </a:rPr>
              <a:t>The Strategic Value Engine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323228122ff92d2332e711a84ca3b40c.png"/>
          <p:cNvPicPr>
            <a:picLocks noChangeAspect="1"/>
          </p:cNvPicPr>
          <p:nvPr/>
        </p:nvPicPr>
        <p:blipFill>
          <a:blip r:embed="rId3"/>
          <a:srcRect l="-198" r="-198"/>
          <a:stretch/>
        </p:blipFill>
        <p:spPr>
          <a:xfrm>
            <a:off x="0" y="0"/>
            <a:ext cx="8124444" cy="75895"/>
          </a:xfrm>
          <a:prstGeom prst="rect">
            <a:avLst/>
          </a:prstGeom>
        </p:spPr>
      </p:pic>
      <p:pic>
        <p:nvPicPr>
          <p:cNvPr id="5" name="Image 1" descr="gen-dedup-9663ecf744b06e35d4c2cebaab92a2ea.png"/>
          <p:cNvPicPr>
            <a:picLocks noChangeAspect="1"/>
          </p:cNvPicPr>
          <p:nvPr/>
        </p:nvPicPr>
        <p:blipFill>
          <a:blip r:embed="rId4"/>
          <a:srcRect l="-202" r="-202"/>
          <a:stretch/>
        </p:blipFill>
        <p:spPr>
          <a:xfrm>
            <a:off x="8124444" y="0"/>
            <a:ext cx="4067251" cy="75895"/>
          </a:xfrm>
          <a:prstGeom prst="rect">
            <a:avLst/>
          </a:prstGeom>
        </p:spPr>
      </p:pic>
      <p:sp>
        <p:nvSpPr>
          <p:cNvPr id="6" name="Shape 2"/>
          <p:cNvSpPr/>
          <p:nvPr/>
        </p:nvSpPr>
        <p:spPr>
          <a:xfrm>
            <a:off x="9525305" y="4762195"/>
            <a:ext cx="3810305" cy="3810305"/>
          </a:xfrm>
          <a:prstGeom prst="ellipse">
            <a:avLst/>
          </a:prstGeom>
          <a:noFill/>
          <a:ln w="508000">
            <a:solidFill>
              <a:srgbClr val="D62839">
                <a:alpha val="3000"/>
              </a:srgbClr>
            </a:solidFill>
            <a:prstDash val="solid"/>
          </a:ln>
        </p:spPr>
        <p:txBody>
          <a:bodyPr/>
          <a:lstStyle/>
          <a:p>
            <a:endParaRPr lang="en-US"/>
          </a:p>
        </p:txBody>
      </p:sp>
      <p:pic>
        <p:nvPicPr>
          <p:cNvPr id="7" name="Image 2" descr="gen-dedup-b81d2082573e6d8de64df87af639bbf0.png"/>
          <p:cNvPicPr>
            <a:picLocks noChangeAspect="1"/>
          </p:cNvPicPr>
          <p:nvPr/>
        </p:nvPicPr>
        <p:blipFill>
          <a:blip r:embed="rId5"/>
          <a:srcRect l="-360" r="-360"/>
          <a:stretch/>
        </p:blipFill>
        <p:spPr>
          <a:xfrm>
            <a:off x="609905" y="381305"/>
            <a:ext cx="57607" cy="381305"/>
          </a:xfrm>
          <a:prstGeom prst="rect">
            <a:avLst/>
          </a:prstGeom>
        </p:spPr>
      </p:pic>
      <p:sp>
        <p:nvSpPr>
          <p:cNvPr id="8" name="Shape 3"/>
          <p:cNvSpPr/>
          <p:nvPr/>
        </p:nvSpPr>
        <p:spPr>
          <a:xfrm>
            <a:off x="60990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9" name="Shape 4"/>
          <p:cNvSpPr/>
          <p:nvPr/>
        </p:nvSpPr>
        <p:spPr>
          <a:xfrm>
            <a:off x="609905" y="1524305"/>
            <a:ext cx="2609698" cy="57607"/>
          </a:xfrm>
          <a:prstGeom prst="roundRect">
            <a:avLst>
              <a:gd name="adj" fmla="val 139034"/>
            </a:avLst>
          </a:prstGeom>
          <a:solidFill>
            <a:srgbClr val="2A9D8F"/>
          </a:solidFill>
          <a:ln w="12700">
            <a:solidFill>
              <a:srgbClr val="2A9D8F">
                <a:alpha val="0"/>
              </a:srgbClr>
            </a:solidFill>
            <a:prstDash val="solid"/>
          </a:ln>
        </p:spPr>
        <p:txBody>
          <a:bodyPr/>
          <a:lstStyle/>
          <a:p>
            <a:endParaRPr lang="en-US"/>
          </a:p>
        </p:txBody>
      </p:sp>
      <p:sp>
        <p:nvSpPr>
          <p:cNvPr id="10" name="Shape 5"/>
          <p:cNvSpPr/>
          <p:nvPr/>
        </p:nvSpPr>
        <p:spPr>
          <a:xfrm>
            <a:off x="3429000"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1" name="Shape 6"/>
          <p:cNvSpPr/>
          <p:nvPr/>
        </p:nvSpPr>
        <p:spPr>
          <a:xfrm>
            <a:off x="3429000" y="1524305"/>
            <a:ext cx="2609698" cy="57607"/>
          </a:xfrm>
          <a:prstGeom prst="roundRect">
            <a:avLst>
              <a:gd name="adj" fmla="val 139034"/>
            </a:avLst>
          </a:prstGeom>
          <a:solidFill>
            <a:srgbClr val="D62839"/>
          </a:solidFill>
          <a:ln w="12700">
            <a:solidFill>
              <a:srgbClr val="D62839">
                <a:alpha val="0"/>
              </a:srgbClr>
            </a:solidFill>
            <a:prstDash val="solid"/>
          </a:ln>
        </p:spPr>
        <p:txBody>
          <a:bodyPr/>
          <a:lstStyle/>
          <a:p>
            <a:endParaRPr lang="en-US"/>
          </a:p>
        </p:txBody>
      </p:sp>
      <p:sp>
        <p:nvSpPr>
          <p:cNvPr id="12" name="Shape 7"/>
          <p:cNvSpPr/>
          <p:nvPr/>
        </p:nvSpPr>
        <p:spPr>
          <a:xfrm>
            <a:off x="624809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3" name="Shape 8"/>
          <p:cNvSpPr/>
          <p:nvPr/>
        </p:nvSpPr>
        <p:spPr>
          <a:xfrm>
            <a:off x="6248095" y="1524305"/>
            <a:ext cx="2609698" cy="57607"/>
          </a:xfrm>
          <a:prstGeom prst="roundRect">
            <a:avLst>
              <a:gd name="adj" fmla="val 139034"/>
            </a:avLst>
          </a:prstGeom>
          <a:solidFill>
            <a:srgbClr val="2A9D8F"/>
          </a:solidFill>
          <a:ln w="12700">
            <a:solidFill>
              <a:srgbClr val="2A9D8F">
                <a:alpha val="0"/>
              </a:srgbClr>
            </a:solidFill>
            <a:prstDash val="solid"/>
          </a:ln>
        </p:spPr>
        <p:txBody>
          <a:bodyPr/>
          <a:lstStyle/>
          <a:p>
            <a:endParaRPr lang="en-US"/>
          </a:p>
        </p:txBody>
      </p:sp>
      <p:sp>
        <p:nvSpPr>
          <p:cNvPr id="14" name="Shape 9"/>
          <p:cNvSpPr/>
          <p:nvPr/>
        </p:nvSpPr>
        <p:spPr>
          <a:xfrm>
            <a:off x="9068105" y="1524305"/>
            <a:ext cx="2609698" cy="3877056"/>
          </a:xfrm>
          <a:prstGeom prst="roundRect">
            <a:avLst>
              <a:gd name="adj" fmla="val 3069"/>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5" name="Shape 10"/>
          <p:cNvSpPr/>
          <p:nvPr/>
        </p:nvSpPr>
        <p:spPr>
          <a:xfrm>
            <a:off x="9068105" y="1524305"/>
            <a:ext cx="2609698" cy="57607"/>
          </a:xfrm>
          <a:prstGeom prst="roundRect">
            <a:avLst>
              <a:gd name="adj" fmla="val 139034"/>
            </a:avLst>
          </a:prstGeom>
          <a:solidFill>
            <a:srgbClr val="D62839"/>
          </a:solidFill>
          <a:ln w="12700">
            <a:solidFill>
              <a:srgbClr val="D62839">
                <a:alpha val="0"/>
              </a:srgbClr>
            </a:solidFill>
            <a:prstDash val="solid"/>
          </a:ln>
        </p:spPr>
        <p:txBody>
          <a:bodyPr/>
          <a:lstStyle/>
          <a:p>
            <a:endParaRPr lang="en-US"/>
          </a:p>
        </p:txBody>
      </p:sp>
      <p:pic>
        <p:nvPicPr>
          <p:cNvPr id="16" name="Image 3" descr="gen-dedup-c79c8869390c39dd2ec5734755e72ead.png"/>
          <p:cNvPicPr>
            <a:picLocks noChangeAspect="1"/>
          </p:cNvPicPr>
          <p:nvPr/>
        </p:nvPicPr>
        <p:blipFill>
          <a:blip r:embed="rId6"/>
          <a:srcRect l="-2083" r="-2083"/>
          <a:stretch/>
        </p:blipFill>
        <p:spPr>
          <a:xfrm>
            <a:off x="609905" y="5715000"/>
            <a:ext cx="11011205" cy="9144"/>
          </a:xfrm>
          <a:prstGeom prst="rect">
            <a:avLst/>
          </a:prstGeom>
        </p:spPr>
      </p:pic>
      <p:sp>
        <p:nvSpPr>
          <p:cNvPr id="17" name="Shape 11"/>
          <p:cNvSpPr/>
          <p:nvPr/>
        </p:nvSpPr>
        <p:spPr>
          <a:xfrm>
            <a:off x="609905" y="5905195"/>
            <a:ext cx="11058754" cy="685800"/>
          </a:xfrm>
          <a:prstGeom prst="roundRect">
            <a:avLst>
              <a:gd name="adj" fmla="val 29630"/>
            </a:avLst>
          </a:prstGeom>
          <a:solidFill>
            <a:srgbClr val="2A9D8F">
              <a:alpha val="5000"/>
            </a:srgbClr>
          </a:solidFill>
          <a:ln w="12700">
            <a:solidFill>
              <a:srgbClr val="E5E7EB"/>
            </a:solidFill>
            <a:prstDash val="solid"/>
          </a:ln>
        </p:spPr>
        <p:txBody>
          <a:bodyPr/>
          <a:lstStyle/>
          <a:p>
            <a:endParaRPr lang="en-US"/>
          </a:p>
        </p:txBody>
      </p:sp>
      <p:sp>
        <p:nvSpPr>
          <p:cNvPr id="18" name="Shape 12"/>
          <p:cNvSpPr/>
          <p:nvPr/>
        </p:nvSpPr>
        <p:spPr>
          <a:xfrm>
            <a:off x="609905" y="5905195"/>
            <a:ext cx="38405" cy="685800"/>
          </a:xfrm>
          <a:prstGeom prst="roundRect">
            <a:avLst>
              <a:gd name="adj" fmla="val 529098"/>
            </a:avLst>
          </a:prstGeom>
          <a:solidFill>
            <a:srgbClr val="2A9D8F"/>
          </a:solidFill>
          <a:ln w="12700">
            <a:solidFill>
              <a:srgbClr val="2A9D8F">
                <a:alpha val="0"/>
              </a:srgbClr>
            </a:solidFill>
            <a:prstDash val="solid"/>
          </a:ln>
        </p:spPr>
        <p:txBody>
          <a:bodyPr/>
          <a:lstStyle/>
          <a:p>
            <a:endParaRPr lang="en-US"/>
          </a:p>
        </p:txBody>
      </p:sp>
      <p:pic>
        <p:nvPicPr>
          <p:cNvPr id="19" name="Image 4" descr="gen-dedup-1bf8b7c2ed0132a588bc6493359d36f7.png"/>
          <p:cNvPicPr>
            <a:picLocks noChangeAspect="1"/>
          </p:cNvPicPr>
          <p:nvPr/>
        </p:nvPicPr>
        <p:blipFill>
          <a:blip r:embed="rId7"/>
          <a:srcRect/>
          <a:stretch/>
        </p:blipFill>
        <p:spPr>
          <a:xfrm>
            <a:off x="3157460" y="3543605"/>
            <a:ext cx="323698" cy="323698"/>
          </a:xfrm>
          <a:prstGeom prst="rect">
            <a:avLst/>
          </a:prstGeom>
        </p:spPr>
      </p:pic>
      <p:pic>
        <p:nvPicPr>
          <p:cNvPr id="20" name="Image 5" descr="gen-dedup-4f3b576989a6b43ea9ecd09ca0f289b1.png"/>
          <p:cNvPicPr>
            <a:picLocks noChangeAspect="1"/>
          </p:cNvPicPr>
          <p:nvPr/>
        </p:nvPicPr>
        <p:blipFill>
          <a:blip r:embed="rId8"/>
          <a:srcRect t="-5544" b="-5544"/>
          <a:stretch/>
        </p:blipFill>
        <p:spPr>
          <a:xfrm>
            <a:off x="3266274" y="3638702"/>
            <a:ext cx="105156" cy="133502"/>
          </a:xfrm>
          <a:prstGeom prst="rect">
            <a:avLst/>
          </a:prstGeom>
        </p:spPr>
      </p:pic>
      <p:pic>
        <p:nvPicPr>
          <p:cNvPr id="21" name="Image 6" descr="gen-dedup-1bf8b7c2ed0132a588bc6493359d36f7.png"/>
          <p:cNvPicPr>
            <a:picLocks noChangeAspect="1"/>
          </p:cNvPicPr>
          <p:nvPr/>
        </p:nvPicPr>
        <p:blipFill>
          <a:blip r:embed="rId7"/>
          <a:srcRect/>
          <a:stretch/>
        </p:blipFill>
        <p:spPr>
          <a:xfrm>
            <a:off x="5976555" y="3543605"/>
            <a:ext cx="323698" cy="323698"/>
          </a:xfrm>
          <a:prstGeom prst="rect">
            <a:avLst/>
          </a:prstGeom>
        </p:spPr>
      </p:pic>
      <p:pic>
        <p:nvPicPr>
          <p:cNvPr id="22" name="Image 7" descr="gen-dedup-4f3b576989a6b43ea9ecd09ca0f289b1.png"/>
          <p:cNvPicPr>
            <a:picLocks noChangeAspect="1"/>
          </p:cNvPicPr>
          <p:nvPr/>
        </p:nvPicPr>
        <p:blipFill>
          <a:blip r:embed="rId8"/>
          <a:srcRect t="-5544" b="-5544"/>
          <a:stretch/>
        </p:blipFill>
        <p:spPr>
          <a:xfrm>
            <a:off x="6086283" y="3638702"/>
            <a:ext cx="105156" cy="133502"/>
          </a:xfrm>
          <a:prstGeom prst="rect">
            <a:avLst/>
          </a:prstGeom>
        </p:spPr>
      </p:pic>
      <p:pic>
        <p:nvPicPr>
          <p:cNvPr id="23" name="Image 8" descr="gen-dedup-1bf8b7c2ed0132a588bc6493359d36f7.png"/>
          <p:cNvPicPr>
            <a:picLocks noChangeAspect="1"/>
          </p:cNvPicPr>
          <p:nvPr/>
        </p:nvPicPr>
        <p:blipFill>
          <a:blip r:embed="rId7"/>
          <a:srcRect/>
          <a:stretch/>
        </p:blipFill>
        <p:spPr>
          <a:xfrm>
            <a:off x="8795651" y="3543605"/>
            <a:ext cx="323698" cy="323698"/>
          </a:xfrm>
          <a:prstGeom prst="rect">
            <a:avLst/>
          </a:prstGeom>
        </p:spPr>
      </p:pic>
      <p:pic>
        <p:nvPicPr>
          <p:cNvPr id="24" name="Image 9" descr="gen-dedup-4f3b576989a6b43ea9ecd09ca0f289b1.png"/>
          <p:cNvPicPr>
            <a:picLocks noChangeAspect="1"/>
          </p:cNvPicPr>
          <p:nvPr/>
        </p:nvPicPr>
        <p:blipFill>
          <a:blip r:embed="rId8"/>
          <a:srcRect t="-5544" b="-5544"/>
          <a:stretch/>
        </p:blipFill>
        <p:spPr>
          <a:xfrm>
            <a:off x="8905379" y="3638702"/>
            <a:ext cx="105156" cy="133502"/>
          </a:xfrm>
          <a:prstGeom prst="rect">
            <a:avLst/>
          </a:prstGeom>
        </p:spPr>
      </p:pic>
      <p:sp>
        <p:nvSpPr>
          <p:cNvPr id="25" name="Text 13"/>
          <p:cNvSpPr txBox="1"/>
          <p:nvPr/>
        </p:nvSpPr>
        <p:spPr>
          <a:xfrm>
            <a:off x="819302" y="304495"/>
            <a:ext cx="10478110" cy="419710"/>
          </a:xfrm>
          <a:prstGeom prst="rect">
            <a:avLst/>
          </a:prstGeom>
          <a:noFill/>
          <a:ln/>
        </p:spPr>
        <p:txBody>
          <a:bodyPr wrap="none" lIns="0" tIns="0" rIns="0" bIns="0" rtlCol="0" anchor="ctr"/>
          <a:lstStyle/>
          <a:p>
            <a:pPr marL="0" indent="0" algn="l">
              <a:buNone/>
            </a:pPr>
            <a:r>
              <a:rPr lang="en-US" sz="2700" b="1" dirty="0">
                <a:solidFill>
                  <a:srgbClr val="111827"/>
                </a:solidFill>
                <a:latin typeface="Oswald" pitchFamily="34" charset="0"/>
                <a:ea typeface="Oswald" pitchFamily="34" charset="-122"/>
                <a:cs typeface="Oswald" pitchFamily="34" charset="-120"/>
              </a:rPr>
              <a:t>THE J2W OPERATING MODEL</a:t>
            </a:r>
            <a:endParaRPr lang="en-US" sz="2700" dirty="0"/>
          </a:p>
        </p:txBody>
      </p:sp>
      <p:sp>
        <p:nvSpPr>
          <p:cNvPr id="26" name="Text 14"/>
          <p:cNvSpPr txBox="1"/>
          <p:nvPr/>
        </p:nvSpPr>
        <p:spPr>
          <a:xfrm>
            <a:off x="819302" y="792785"/>
            <a:ext cx="10478110" cy="181051"/>
          </a:xfrm>
          <a:prstGeom prst="rect">
            <a:avLst/>
          </a:prstGeom>
          <a:noFill/>
          <a:ln/>
        </p:spPr>
        <p:txBody>
          <a:bodyPr wrap="none" lIns="0" tIns="0" rIns="0" bIns="0" rtlCol="0" anchor="ctr"/>
          <a:lstStyle/>
          <a:p>
            <a:pPr marL="0" indent="0" algn="l">
              <a:buNone/>
            </a:pPr>
            <a:r>
              <a:rPr lang="en-US" sz="1500" dirty="0">
                <a:solidFill>
                  <a:srgbClr val="4B5563"/>
                </a:solidFill>
                <a:latin typeface="Raleway" pitchFamily="34" charset="0"/>
                <a:ea typeface="Raleway" pitchFamily="34" charset="-122"/>
                <a:cs typeface="Raleway" pitchFamily="34" charset="-120"/>
              </a:rPr>
              <a:t>We don't just deploy - we embed, align, and deliver measurable outcomes.</a:t>
            </a:r>
            <a:endParaRPr lang="en-US" sz="1500" dirty="0"/>
          </a:p>
        </p:txBody>
      </p:sp>
      <p:sp>
        <p:nvSpPr>
          <p:cNvPr id="27" name="Shape 15"/>
          <p:cNvSpPr/>
          <p:nvPr/>
        </p:nvSpPr>
        <p:spPr>
          <a:xfrm>
            <a:off x="1638605" y="1819656"/>
            <a:ext cx="533095" cy="533095"/>
          </a:xfrm>
          <a:prstGeom prst="ellipse">
            <a:avLst/>
          </a:prstGeom>
          <a:solidFill>
            <a:srgbClr val="2A9D8F">
              <a:alpha val="10000"/>
            </a:srgbClr>
          </a:solidFill>
          <a:ln w="12700">
            <a:solidFill>
              <a:srgbClr val="FFFFFF">
                <a:alpha val="0"/>
              </a:srgbClr>
            </a:solidFill>
            <a:prstDash val="solid"/>
          </a:ln>
        </p:spPr>
        <p:txBody>
          <a:bodyPr/>
          <a:lstStyle/>
          <a:p>
            <a:endParaRPr lang="en-US"/>
          </a:p>
        </p:txBody>
      </p:sp>
      <p:pic>
        <p:nvPicPr>
          <p:cNvPr id="28" name="Image 10" descr="gen-dedup-ac1977dfe20a87d93b03eab8a85600aa.png"/>
          <p:cNvPicPr>
            <a:picLocks noChangeAspect="1"/>
          </p:cNvPicPr>
          <p:nvPr/>
        </p:nvPicPr>
        <p:blipFill>
          <a:blip r:embed="rId9"/>
          <a:srcRect t="-13131" b="-13131"/>
          <a:stretch/>
        </p:blipFill>
        <p:spPr>
          <a:xfrm>
            <a:off x="1814170" y="1971446"/>
            <a:ext cx="181051" cy="228600"/>
          </a:xfrm>
          <a:prstGeom prst="rect">
            <a:avLst/>
          </a:prstGeom>
        </p:spPr>
      </p:pic>
      <p:sp>
        <p:nvSpPr>
          <p:cNvPr id="29" name="Text 16"/>
          <p:cNvSpPr txBox="1"/>
          <p:nvPr/>
        </p:nvSpPr>
        <p:spPr>
          <a:xfrm>
            <a:off x="705002"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Embed.</a:t>
            </a:r>
            <a:endParaRPr lang="en-US" sz="2000" dirty="0"/>
          </a:p>
        </p:txBody>
      </p:sp>
      <p:sp>
        <p:nvSpPr>
          <p:cNvPr id="30" name="Text 17"/>
          <p:cNvSpPr txBox="1"/>
          <p:nvPr/>
        </p:nvSpPr>
        <p:spPr>
          <a:xfrm>
            <a:off x="705002" y="2968854"/>
            <a:ext cx="2400300" cy="152705"/>
          </a:xfrm>
          <a:prstGeom prst="rect">
            <a:avLst/>
          </a:prstGeom>
          <a:noFill/>
          <a:ln/>
        </p:spPr>
        <p:txBody>
          <a:bodyPr wrap="none" lIns="0" tIns="0" rIns="0" bIns="0" rtlCol="0" anchor="ctr"/>
          <a:lstStyle/>
          <a:p>
            <a:pPr marL="0" indent="0" algn="ctr">
              <a:buNone/>
            </a:pPr>
            <a:r>
              <a:rPr lang="en-US" sz="1300" b="1" dirty="0">
                <a:solidFill>
                  <a:srgbClr val="2A9D8F"/>
                </a:solidFill>
                <a:latin typeface="Roboto Condensed" pitchFamily="34" charset="0"/>
                <a:ea typeface="Roboto Condensed" pitchFamily="34" charset="-122"/>
                <a:cs typeface="Roboto Condensed" pitchFamily="34" charset="-120"/>
              </a:rPr>
              <a:t>Days 1–14</a:t>
            </a:r>
            <a:endParaRPr lang="en-US" sz="1300" dirty="0"/>
          </a:p>
        </p:txBody>
      </p:sp>
      <p:sp>
        <p:nvSpPr>
          <p:cNvPr id="31" name="Text 18"/>
          <p:cNvSpPr txBox="1"/>
          <p:nvPr/>
        </p:nvSpPr>
        <p:spPr>
          <a:xfrm>
            <a:off x="705002" y="3018434"/>
            <a:ext cx="2309775" cy="1743761"/>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We map your stakeholder reality before touching a single workflow — identifying the 80% we move within and the 20% that unlocks transformation.</a:t>
            </a:r>
            <a:endParaRPr lang="en-US" sz="1200" dirty="0"/>
          </a:p>
        </p:txBody>
      </p:sp>
      <p:sp>
        <p:nvSpPr>
          <p:cNvPr id="32" name="Text 19"/>
          <p:cNvSpPr txBox="1"/>
          <p:nvPr/>
        </p:nvSpPr>
        <p:spPr>
          <a:xfrm>
            <a:off x="2409444" y="1687137"/>
            <a:ext cx="601675" cy="457200"/>
          </a:xfrm>
          <a:prstGeom prst="rect">
            <a:avLst/>
          </a:prstGeom>
          <a:noFill/>
          <a:ln/>
        </p:spPr>
        <p:txBody>
          <a:bodyPr wrap="none" lIns="0" tIns="0" rIns="0" bIns="0" rtlCol="0" anchor="ctr"/>
          <a:lstStyle/>
          <a:p>
            <a:pPr marL="0" indent="0" algn="r">
              <a:buNone/>
            </a:pPr>
            <a:r>
              <a:rPr lang="en-US" sz="3600" b="1" dirty="0">
                <a:solidFill>
                  <a:srgbClr val="2A9D8F">
                    <a:alpha val="8000"/>
                  </a:srgbClr>
                </a:solidFill>
                <a:latin typeface="Oswald" pitchFamily="34" charset="0"/>
                <a:ea typeface="Oswald" pitchFamily="34" charset="-122"/>
                <a:cs typeface="Oswald" pitchFamily="34" charset="-120"/>
              </a:rPr>
              <a:t>01</a:t>
            </a:r>
            <a:endParaRPr lang="en-US" sz="3600" dirty="0"/>
          </a:p>
        </p:txBody>
      </p:sp>
      <p:sp>
        <p:nvSpPr>
          <p:cNvPr id="33" name="Shape 20"/>
          <p:cNvSpPr/>
          <p:nvPr/>
        </p:nvSpPr>
        <p:spPr>
          <a:xfrm>
            <a:off x="4457700" y="1819656"/>
            <a:ext cx="533095" cy="533095"/>
          </a:xfrm>
          <a:prstGeom prst="ellipse">
            <a:avLst/>
          </a:prstGeom>
          <a:solidFill>
            <a:srgbClr val="D62839">
              <a:alpha val="10000"/>
            </a:srgbClr>
          </a:solidFill>
          <a:ln w="12700">
            <a:solidFill>
              <a:srgbClr val="FFFFFF">
                <a:alpha val="0"/>
              </a:srgbClr>
            </a:solidFill>
            <a:prstDash val="solid"/>
          </a:ln>
        </p:spPr>
        <p:txBody>
          <a:bodyPr/>
          <a:lstStyle/>
          <a:p>
            <a:endParaRPr lang="en-US"/>
          </a:p>
        </p:txBody>
      </p:sp>
      <p:pic>
        <p:nvPicPr>
          <p:cNvPr id="34" name="Image 11" descr="gen-dedup-bb65f8a83efde23cd45884ce4e632f2a.png"/>
          <p:cNvPicPr>
            <a:picLocks noChangeAspect="1"/>
          </p:cNvPicPr>
          <p:nvPr/>
        </p:nvPicPr>
        <p:blipFill>
          <a:blip r:embed="rId10"/>
          <a:srcRect t="-13131" b="-13131"/>
          <a:stretch/>
        </p:blipFill>
        <p:spPr>
          <a:xfrm>
            <a:off x="4634179" y="1971446"/>
            <a:ext cx="181051" cy="228600"/>
          </a:xfrm>
          <a:prstGeom prst="rect">
            <a:avLst/>
          </a:prstGeom>
        </p:spPr>
      </p:pic>
      <p:sp>
        <p:nvSpPr>
          <p:cNvPr id="35" name="Text 21"/>
          <p:cNvSpPr txBox="1"/>
          <p:nvPr/>
        </p:nvSpPr>
        <p:spPr>
          <a:xfrm>
            <a:off x="3524098"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Build.</a:t>
            </a:r>
            <a:endParaRPr lang="en-US" sz="2000" dirty="0"/>
          </a:p>
        </p:txBody>
      </p:sp>
      <p:sp>
        <p:nvSpPr>
          <p:cNvPr id="36" name="Text 22"/>
          <p:cNvSpPr txBox="1"/>
          <p:nvPr/>
        </p:nvSpPr>
        <p:spPr>
          <a:xfrm>
            <a:off x="3524098" y="2968854"/>
            <a:ext cx="2400300" cy="152705"/>
          </a:xfrm>
          <a:prstGeom prst="rect">
            <a:avLst/>
          </a:prstGeom>
          <a:noFill/>
          <a:ln/>
        </p:spPr>
        <p:txBody>
          <a:bodyPr wrap="none" lIns="0" tIns="0" rIns="0" bIns="0" rtlCol="0" anchor="ctr"/>
          <a:lstStyle/>
          <a:p>
            <a:pPr marL="0" indent="0" algn="ctr">
              <a:buNone/>
            </a:pPr>
            <a:r>
              <a:rPr lang="en-US" sz="1300" b="1" dirty="0">
                <a:solidFill>
                  <a:srgbClr val="D62839"/>
                </a:solidFill>
                <a:latin typeface="Roboto Condensed" pitchFamily="34" charset="0"/>
                <a:ea typeface="Roboto Condensed" pitchFamily="34" charset="-122"/>
                <a:cs typeface="Roboto Condensed" pitchFamily="34" charset="-120"/>
              </a:rPr>
              <a:t>Weeks 2–6</a:t>
            </a:r>
            <a:endParaRPr lang="en-US" sz="1300" dirty="0"/>
          </a:p>
        </p:txBody>
      </p:sp>
      <p:sp>
        <p:nvSpPr>
          <p:cNvPr id="37" name="Text 23"/>
          <p:cNvSpPr txBox="1"/>
          <p:nvPr/>
        </p:nvSpPr>
        <p:spPr>
          <a:xfrm>
            <a:off x="3524098" y="3297935"/>
            <a:ext cx="2309775" cy="1390802"/>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We deploy the closest-fit accelerator and customize where needed. Hundreds of prior engagements mean you inherit a head start, not a blank slate.</a:t>
            </a:r>
            <a:endParaRPr lang="en-US" sz="1200" dirty="0"/>
          </a:p>
        </p:txBody>
      </p:sp>
      <p:sp>
        <p:nvSpPr>
          <p:cNvPr id="38" name="Text 24"/>
          <p:cNvSpPr txBox="1"/>
          <p:nvPr/>
        </p:nvSpPr>
        <p:spPr>
          <a:xfrm>
            <a:off x="5231282" y="1687137"/>
            <a:ext cx="607162" cy="457200"/>
          </a:xfrm>
          <a:prstGeom prst="rect">
            <a:avLst/>
          </a:prstGeom>
          <a:noFill/>
          <a:ln/>
        </p:spPr>
        <p:txBody>
          <a:bodyPr wrap="none" lIns="0" tIns="0" rIns="0" bIns="0" rtlCol="0" anchor="ctr"/>
          <a:lstStyle/>
          <a:p>
            <a:pPr marL="0" indent="0" algn="r">
              <a:buNone/>
            </a:pPr>
            <a:r>
              <a:rPr lang="en-US" sz="3600" b="1" dirty="0">
                <a:solidFill>
                  <a:srgbClr val="D62839">
                    <a:alpha val="8000"/>
                  </a:srgbClr>
                </a:solidFill>
                <a:latin typeface="Oswald" pitchFamily="34" charset="0"/>
                <a:ea typeface="Oswald" pitchFamily="34" charset="-122"/>
                <a:cs typeface="Oswald" pitchFamily="34" charset="-120"/>
              </a:rPr>
              <a:t>02</a:t>
            </a:r>
            <a:endParaRPr lang="en-US" sz="3600" dirty="0"/>
          </a:p>
        </p:txBody>
      </p:sp>
      <p:sp>
        <p:nvSpPr>
          <p:cNvPr id="39" name="Shape 25"/>
          <p:cNvSpPr/>
          <p:nvPr/>
        </p:nvSpPr>
        <p:spPr>
          <a:xfrm>
            <a:off x="7276795" y="1819656"/>
            <a:ext cx="533095" cy="533095"/>
          </a:xfrm>
          <a:prstGeom prst="ellipse">
            <a:avLst/>
          </a:prstGeom>
          <a:solidFill>
            <a:srgbClr val="2A9D8F">
              <a:alpha val="10000"/>
            </a:srgbClr>
          </a:solidFill>
          <a:ln w="12700">
            <a:solidFill>
              <a:srgbClr val="FFFFFF">
                <a:alpha val="0"/>
              </a:srgbClr>
            </a:solidFill>
            <a:prstDash val="solid"/>
          </a:ln>
        </p:spPr>
        <p:txBody>
          <a:bodyPr/>
          <a:lstStyle/>
          <a:p>
            <a:endParaRPr lang="en-US"/>
          </a:p>
        </p:txBody>
      </p:sp>
      <p:pic>
        <p:nvPicPr>
          <p:cNvPr id="40" name="Image 12" descr="gen-dedup-ec7913c77fa2db42f3e898c22d604bf4.png"/>
          <p:cNvPicPr>
            <a:picLocks noChangeAspect="1"/>
          </p:cNvPicPr>
          <p:nvPr/>
        </p:nvPicPr>
        <p:blipFill>
          <a:blip r:embed="rId11"/>
          <a:srcRect t="-28914" b="-28914"/>
          <a:stretch/>
        </p:blipFill>
        <p:spPr>
          <a:xfrm>
            <a:off x="7398844" y="1895244"/>
            <a:ext cx="289681" cy="365760"/>
          </a:xfrm>
          <a:prstGeom prst="rect">
            <a:avLst/>
          </a:prstGeom>
        </p:spPr>
      </p:pic>
      <p:sp>
        <p:nvSpPr>
          <p:cNvPr id="41" name="Text 26"/>
          <p:cNvSpPr txBox="1"/>
          <p:nvPr/>
        </p:nvSpPr>
        <p:spPr>
          <a:xfrm>
            <a:off x="6344107"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Operate.</a:t>
            </a:r>
            <a:endParaRPr lang="en-US" sz="2000" dirty="0"/>
          </a:p>
        </p:txBody>
      </p:sp>
      <p:sp>
        <p:nvSpPr>
          <p:cNvPr id="42" name="Text 27"/>
          <p:cNvSpPr txBox="1"/>
          <p:nvPr/>
        </p:nvSpPr>
        <p:spPr>
          <a:xfrm>
            <a:off x="6344107" y="2968854"/>
            <a:ext cx="2400300" cy="152705"/>
          </a:xfrm>
          <a:prstGeom prst="rect">
            <a:avLst/>
          </a:prstGeom>
          <a:noFill/>
          <a:ln/>
        </p:spPr>
        <p:txBody>
          <a:bodyPr wrap="none" lIns="0" tIns="0" rIns="0" bIns="0" rtlCol="0" anchor="ctr"/>
          <a:lstStyle/>
          <a:p>
            <a:pPr marL="0" indent="0" algn="ctr">
              <a:buNone/>
            </a:pPr>
            <a:r>
              <a:rPr lang="en-US" sz="1300" b="1" dirty="0">
                <a:solidFill>
                  <a:srgbClr val="2A9D8F"/>
                </a:solidFill>
                <a:latin typeface="Roboto Condensed" pitchFamily="34" charset="0"/>
                <a:ea typeface="Roboto Condensed" pitchFamily="34" charset="-122"/>
                <a:cs typeface="Roboto Condensed" pitchFamily="34" charset="-120"/>
              </a:rPr>
              <a:t>Month 2 onward</a:t>
            </a:r>
            <a:endParaRPr lang="en-US" sz="1300" dirty="0"/>
          </a:p>
        </p:txBody>
      </p:sp>
      <p:sp>
        <p:nvSpPr>
          <p:cNvPr id="43" name="Text 28"/>
          <p:cNvSpPr txBox="1"/>
          <p:nvPr/>
        </p:nvSpPr>
        <p:spPr>
          <a:xfrm>
            <a:off x="6344107" y="3195725"/>
            <a:ext cx="2309775" cy="1390802"/>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Forward-deployed engineers run AI inside your enterprise and don't rotate off. The context, accountability, and institutional memory stay with you.</a:t>
            </a:r>
            <a:endParaRPr lang="en-US" sz="1200" dirty="0"/>
          </a:p>
        </p:txBody>
      </p:sp>
      <p:sp>
        <p:nvSpPr>
          <p:cNvPr id="44" name="Text 29"/>
          <p:cNvSpPr txBox="1"/>
          <p:nvPr/>
        </p:nvSpPr>
        <p:spPr>
          <a:xfrm>
            <a:off x="8051292" y="1687137"/>
            <a:ext cx="607162" cy="457200"/>
          </a:xfrm>
          <a:prstGeom prst="rect">
            <a:avLst/>
          </a:prstGeom>
          <a:noFill/>
          <a:ln/>
        </p:spPr>
        <p:txBody>
          <a:bodyPr wrap="none" lIns="0" tIns="0" rIns="0" bIns="0" rtlCol="0" anchor="ctr"/>
          <a:lstStyle/>
          <a:p>
            <a:pPr marL="0" indent="0" algn="r">
              <a:buNone/>
            </a:pPr>
            <a:r>
              <a:rPr lang="en-US" sz="3600" b="1" dirty="0">
                <a:solidFill>
                  <a:srgbClr val="2A9D8F">
                    <a:alpha val="8000"/>
                  </a:srgbClr>
                </a:solidFill>
                <a:latin typeface="Oswald" pitchFamily="34" charset="0"/>
                <a:ea typeface="Oswald" pitchFamily="34" charset="-122"/>
                <a:cs typeface="Oswald" pitchFamily="34" charset="-120"/>
              </a:rPr>
              <a:t>03</a:t>
            </a:r>
            <a:endParaRPr lang="en-US" sz="3600" dirty="0"/>
          </a:p>
        </p:txBody>
      </p:sp>
      <p:sp>
        <p:nvSpPr>
          <p:cNvPr id="45" name="Shape 30"/>
          <p:cNvSpPr/>
          <p:nvPr/>
        </p:nvSpPr>
        <p:spPr>
          <a:xfrm>
            <a:off x="10096805" y="1819656"/>
            <a:ext cx="533095" cy="533095"/>
          </a:xfrm>
          <a:prstGeom prst="ellipse">
            <a:avLst/>
          </a:prstGeom>
          <a:solidFill>
            <a:srgbClr val="D62839">
              <a:alpha val="10000"/>
            </a:srgbClr>
          </a:solidFill>
          <a:ln w="12700">
            <a:solidFill>
              <a:srgbClr val="FFFFFF">
                <a:alpha val="0"/>
              </a:srgbClr>
            </a:solidFill>
            <a:prstDash val="solid"/>
          </a:ln>
        </p:spPr>
        <p:txBody>
          <a:bodyPr/>
          <a:lstStyle/>
          <a:p>
            <a:endParaRPr lang="en-US"/>
          </a:p>
        </p:txBody>
      </p:sp>
      <p:pic>
        <p:nvPicPr>
          <p:cNvPr id="46" name="Image 13" descr="gen-dedup-9fd551ffaf14ed4b68fb6cf808d818cf.png"/>
          <p:cNvPicPr>
            <a:picLocks noChangeAspect="1"/>
          </p:cNvPicPr>
          <p:nvPr/>
        </p:nvPicPr>
        <p:blipFill>
          <a:blip r:embed="rId12"/>
          <a:srcRect t="-13131" b="-13131"/>
          <a:stretch/>
        </p:blipFill>
        <p:spPr>
          <a:xfrm>
            <a:off x="10272370" y="1971446"/>
            <a:ext cx="181051" cy="228600"/>
          </a:xfrm>
          <a:prstGeom prst="rect">
            <a:avLst/>
          </a:prstGeom>
        </p:spPr>
      </p:pic>
      <p:sp>
        <p:nvSpPr>
          <p:cNvPr id="47" name="Text 31"/>
          <p:cNvSpPr txBox="1"/>
          <p:nvPr/>
        </p:nvSpPr>
        <p:spPr>
          <a:xfrm>
            <a:off x="9163202" y="2505456"/>
            <a:ext cx="2400300" cy="286207"/>
          </a:xfrm>
          <a:prstGeom prst="rect">
            <a:avLst/>
          </a:prstGeom>
          <a:noFill/>
          <a:ln/>
        </p:spPr>
        <p:txBody>
          <a:bodyPr wrap="none" lIns="0" tIns="0" rIns="0" bIns="0" rtlCol="0" anchor="ctr"/>
          <a:lstStyle/>
          <a:p>
            <a:pPr marL="0" indent="0" algn="ctr">
              <a:buNone/>
            </a:pPr>
            <a:r>
              <a:rPr lang="en-US" sz="2000" b="1" dirty="0">
                <a:solidFill>
                  <a:srgbClr val="1F2937"/>
                </a:solidFill>
                <a:latin typeface="Oswald" pitchFamily="34" charset="0"/>
                <a:ea typeface="Oswald" pitchFamily="34" charset="-122"/>
                <a:cs typeface="Oswald" pitchFamily="34" charset="-120"/>
              </a:rPr>
              <a:t>Compound.</a:t>
            </a:r>
            <a:endParaRPr lang="en-US" sz="2000" dirty="0"/>
          </a:p>
        </p:txBody>
      </p:sp>
      <p:sp>
        <p:nvSpPr>
          <p:cNvPr id="48" name="Text 32"/>
          <p:cNvSpPr txBox="1"/>
          <p:nvPr/>
        </p:nvSpPr>
        <p:spPr>
          <a:xfrm>
            <a:off x="9163202" y="2968854"/>
            <a:ext cx="2400300" cy="152705"/>
          </a:xfrm>
          <a:prstGeom prst="rect">
            <a:avLst/>
          </a:prstGeom>
          <a:noFill/>
          <a:ln/>
        </p:spPr>
        <p:txBody>
          <a:bodyPr wrap="none" lIns="0" tIns="0" rIns="0" bIns="0" rtlCol="0" anchor="ctr"/>
          <a:lstStyle/>
          <a:p>
            <a:pPr marL="0" indent="0" algn="ctr">
              <a:buNone/>
            </a:pPr>
            <a:r>
              <a:rPr lang="en-US" sz="1300" b="1" dirty="0">
                <a:solidFill>
                  <a:srgbClr val="D62839"/>
                </a:solidFill>
                <a:latin typeface="Roboto Condensed" pitchFamily="34" charset="0"/>
                <a:ea typeface="Roboto Condensed" pitchFamily="34" charset="-122"/>
                <a:cs typeface="Roboto Condensed" pitchFamily="34" charset="-120"/>
              </a:rPr>
              <a:t>Year one &amp; beyond</a:t>
            </a:r>
            <a:endParaRPr lang="en-US" sz="1300" dirty="0"/>
          </a:p>
        </p:txBody>
      </p:sp>
      <p:sp>
        <p:nvSpPr>
          <p:cNvPr id="49" name="Text 33"/>
          <p:cNvSpPr txBox="1"/>
          <p:nvPr/>
        </p:nvSpPr>
        <p:spPr>
          <a:xfrm>
            <a:off x="9163202" y="3285235"/>
            <a:ext cx="2309775" cy="1219810"/>
          </a:xfrm>
          <a:prstGeom prst="rect">
            <a:avLst/>
          </a:prstGeom>
          <a:noFill/>
          <a:ln/>
        </p:spPr>
        <p:txBody>
          <a:bodyPr wrap="square" lIns="0" tIns="0" rIns="0" bIns="0" rtlCol="0" anchor="ctr"/>
          <a:lstStyle/>
          <a:p>
            <a:pPr marL="0" indent="0" algn="ctr">
              <a:buNone/>
            </a:pPr>
            <a:r>
              <a:rPr lang="en-US" sz="1200" dirty="0">
                <a:solidFill>
                  <a:srgbClr val="4B5563"/>
                </a:solidFill>
                <a:latin typeface="Raleway" pitchFamily="34" charset="0"/>
                <a:ea typeface="Raleway" pitchFamily="34" charset="-122"/>
                <a:cs typeface="Raleway" pitchFamily="34" charset="-120"/>
              </a:rPr>
              <a:t>Every problem solved sharpens the platform. The system gets smarter as you scale — outcomes that compound while you sleep.</a:t>
            </a:r>
            <a:endParaRPr lang="en-US" sz="1200" dirty="0"/>
          </a:p>
        </p:txBody>
      </p:sp>
      <p:sp>
        <p:nvSpPr>
          <p:cNvPr id="50" name="Text 34"/>
          <p:cNvSpPr txBox="1"/>
          <p:nvPr/>
        </p:nvSpPr>
        <p:spPr>
          <a:xfrm>
            <a:off x="10865815" y="1687137"/>
            <a:ext cx="607162" cy="457200"/>
          </a:xfrm>
          <a:prstGeom prst="rect">
            <a:avLst/>
          </a:prstGeom>
          <a:noFill/>
          <a:ln/>
        </p:spPr>
        <p:txBody>
          <a:bodyPr wrap="none" lIns="0" tIns="0" rIns="0" bIns="0" rtlCol="0" anchor="ctr"/>
          <a:lstStyle/>
          <a:p>
            <a:pPr marL="0" indent="0" algn="r">
              <a:buNone/>
            </a:pPr>
            <a:r>
              <a:rPr lang="en-US" sz="3600" b="1" dirty="0">
                <a:solidFill>
                  <a:srgbClr val="D62839">
                    <a:alpha val="8000"/>
                  </a:srgbClr>
                </a:solidFill>
                <a:latin typeface="Oswald" pitchFamily="34" charset="0"/>
                <a:ea typeface="Oswald" pitchFamily="34" charset="-122"/>
                <a:cs typeface="Oswald" pitchFamily="34" charset="-120"/>
              </a:rPr>
              <a:t>04</a:t>
            </a:r>
            <a:endParaRPr lang="en-US" sz="3600" dirty="0"/>
          </a:p>
        </p:txBody>
      </p:sp>
      <p:sp>
        <p:nvSpPr>
          <p:cNvPr id="51" name="Text 35"/>
          <p:cNvSpPr txBox="1"/>
          <p:nvPr/>
        </p:nvSpPr>
        <p:spPr>
          <a:xfrm>
            <a:off x="914400" y="6048756"/>
            <a:ext cx="10401300" cy="428854"/>
          </a:xfrm>
          <a:prstGeom prst="rect">
            <a:avLst/>
          </a:prstGeom>
          <a:noFill/>
          <a:ln/>
        </p:spPr>
        <p:txBody>
          <a:bodyPr wrap="square" lIns="0" tIns="0" rIns="0" bIns="0" rtlCol="0" anchor="ctr"/>
          <a:lstStyle/>
          <a:p>
            <a:pPr marL="0" indent="0" algn="ctr">
              <a:buNone/>
            </a:pPr>
            <a:r>
              <a:rPr lang="en-US" sz="1300" b="1" dirty="0">
                <a:solidFill>
                  <a:srgbClr val="2A9D8F"/>
                </a:solidFill>
                <a:latin typeface="Raleway" pitchFamily="34" charset="0"/>
                <a:ea typeface="Raleway" pitchFamily="34" charset="-122"/>
                <a:cs typeface="Raleway" pitchFamily="34" charset="-120"/>
              </a:rPr>
              <a:t>Your business is our GTM.</a:t>
            </a:r>
            <a:r>
              <a:rPr lang="en-US" sz="1300" b="1" dirty="0">
                <a:solidFill>
                  <a:srgbClr val="1F2937"/>
                </a:solidFill>
                <a:latin typeface="Raleway" pitchFamily="34" charset="0"/>
                <a:ea typeface="Raleway" pitchFamily="34" charset="-122"/>
                <a:cs typeface="Raleway" pitchFamily="34" charset="-120"/>
              </a:rPr>
              <a:t> We build with you, so your teams actually adopt, use, and grow everything we create together - not just receive it.</a:t>
            </a:r>
            <a:endParaRPr lang="en-US" sz="1300" dirty="0"/>
          </a:p>
        </p:txBody>
      </p:sp>
    </p:spTree>
    <p:extLst>
      <p:ext uri="{BB962C8B-B14F-4D97-AF65-F5344CB8AC3E}">
        <p14:creationId xmlns:p14="http://schemas.microsoft.com/office/powerpoint/2010/main" val="177576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953805" y="-571500"/>
            <a:ext cx="3810305" cy="3810305"/>
          </a:xfrm>
          <a:prstGeom prst="ellipse">
            <a:avLst/>
          </a:prstGeom>
          <a:solidFill>
            <a:srgbClr val="2A9D8F">
              <a:alpha val="3000"/>
            </a:srgbClr>
          </a:solidFill>
          <a:ln w="12700">
            <a:solidFill>
              <a:srgbClr val="FFFFFF">
                <a:alpha val="0"/>
              </a:srgbClr>
            </a:solidFill>
            <a:prstDash val="solid"/>
          </a:ln>
        </p:spPr>
        <p:txBody>
          <a:bodyPr/>
          <a:lstStyle/>
          <a:p>
            <a:endParaRPr lang="en-US"/>
          </a:p>
        </p:txBody>
      </p:sp>
      <p:pic>
        <p:nvPicPr>
          <p:cNvPr id="5" name="Image 0" descr="gen-dedup-5e765734fa6996e94526269805e72083.png"/>
          <p:cNvPicPr>
            <a:picLocks noChangeAspect="1"/>
          </p:cNvPicPr>
          <p:nvPr/>
        </p:nvPicPr>
        <p:blipFill>
          <a:blip r:embed="rId3">
            <a:alphaModFix amt="5000"/>
          </a:blip>
          <a:srcRect/>
          <a:stretch/>
        </p:blipFill>
        <p:spPr>
          <a:xfrm>
            <a:off x="-381305" y="4095598"/>
            <a:ext cx="2381098" cy="2381098"/>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ef527bea2207a14ec6e8d4c8ae9cdc45.png"/>
          <p:cNvPicPr>
            <a:picLocks noChangeAspect="1"/>
          </p:cNvPicPr>
          <p:nvPr/>
        </p:nvPicPr>
        <p:blipFill>
          <a:blip r:embed="rId6"/>
          <a:srcRect l="-384" r="-384"/>
          <a:stretch/>
        </p:blipFill>
        <p:spPr>
          <a:xfrm>
            <a:off x="609905" y="743407"/>
            <a:ext cx="57607" cy="476402"/>
          </a:xfrm>
          <a:prstGeom prst="rect">
            <a:avLst/>
          </a:prstGeom>
        </p:spPr>
      </p:pic>
      <p:sp>
        <p:nvSpPr>
          <p:cNvPr id="9" name="Shape 3"/>
          <p:cNvSpPr/>
          <p:nvPr/>
        </p:nvSpPr>
        <p:spPr>
          <a:xfrm>
            <a:off x="6099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0" name="Shape 4"/>
          <p:cNvSpPr/>
          <p:nvPr/>
        </p:nvSpPr>
        <p:spPr>
          <a:xfrm>
            <a:off x="609905" y="1714500"/>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1" name="Shape 5"/>
          <p:cNvSpPr/>
          <p:nvPr/>
        </p:nvSpPr>
        <p:spPr>
          <a:xfrm>
            <a:off x="43818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2" name="Shape 6"/>
          <p:cNvSpPr/>
          <p:nvPr/>
        </p:nvSpPr>
        <p:spPr>
          <a:xfrm>
            <a:off x="4381805" y="1714500"/>
            <a:ext cx="3448202" cy="47549"/>
          </a:xfrm>
          <a:prstGeom prst="roundRect">
            <a:avLst>
              <a:gd name="adj" fmla="val 165425"/>
            </a:avLst>
          </a:prstGeom>
          <a:solidFill>
            <a:srgbClr val="D62839"/>
          </a:solidFill>
          <a:ln w="12700">
            <a:solidFill>
              <a:srgbClr val="D62839">
                <a:alpha val="0"/>
              </a:srgbClr>
            </a:solidFill>
            <a:prstDash val="solid"/>
          </a:ln>
        </p:spPr>
        <p:txBody>
          <a:bodyPr/>
          <a:lstStyle/>
          <a:p>
            <a:endParaRPr lang="en-US"/>
          </a:p>
        </p:txBody>
      </p:sp>
      <p:sp>
        <p:nvSpPr>
          <p:cNvPr id="13" name="Shape 7"/>
          <p:cNvSpPr/>
          <p:nvPr/>
        </p:nvSpPr>
        <p:spPr>
          <a:xfrm>
            <a:off x="8153705" y="1714500"/>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4" name="Shape 8"/>
          <p:cNvSpPr/>
          <p:nvPr/>
        </p:nvSpPr>
        <p:spPr>
          <a:xfrm>
            <a:off x="8153705" y="1714500"/>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5" name="Shape 9"/>
          <p:cNvSpPr/>
          <p:nvPr/>
        </p:nvSpPr>
        <p:spPr>
          <a:xfrm>
            <a:off x="2495398" y="3619195"/>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6" name="Shape 10"/>
          <p:cNvSpPr/>
          <p:nvPr/>
        </p:nvSpPr>
        <p:spPr>
          <a:xfrm>
            <a:off x="2495398" y="3619195"/>
            <a:ext cx="3448202" cy="47549"/>
          </a:xfrm>
          <a:prstGeom prst="roundRect">
            <a:avLst>
              <a:gd name="adj" fmla="val 165425"/>
            </a:avLst>
          </a:prstGeom>
          <a:solidFill>
            <a:srgbClr val="D62839"/>
          </a:solidFill>
          <a:ln w="12700">
            <a:solidFill>
              <a:srgbClr val="D62839">
                <a:alpha val="0"/>
              </a:srgbClr>
            </a:solidFill>
            <a:prstDash val="solid"/>
          </a:ln>
        </p:spPr>
        <p:txBody>
          <a:bodyPr/>
          <a:lstStyle/>
          <a:p>
            <a:endParaRPr lang="en-US"/>
          </a:p>
        </p:txBody>
      </p:sp>
      <p:sp>
        <p:nvSpPr>
          <p:cNvPr id="17" name="Shape 11"/>
          <p:cNvSpPr/>
          <p:nvPr/>
        </p:nvSpPr>
        <p:spPr>
          <a:xfrm>
            <a:off x="6267298" y="3619195"/>
            <a:ext cx="3448202" cy="1772107"/>
          </a:xfrm>
          <a:prstGeom prst="roundRect">
            <a:avLst>
              <a:gd name="adj" fmla="val 4439"/>
            </a:avLst>
          </a:prstGeom>
          <a:solidFill>
            <a:srgbClr val="FFFFFF"/>
          </a:solidFill>
          <a:ln w="12700">
            <a:solidFill>
              <a:srgbClr val="E2E8F0"/>
            </a:solidFill>
            <a:prstDash val="solid"/>
          </a:ln>
          <a:effectLst>
            <a:outerShdw blurRad="63500" dist="38100" dir="16200000" algn="bl" rotWithShape="0">
              <a:srgbClr val="000000">
                <a:alpha val="3000"/>
              </a:srgbClr>
            </a:outerShdw>
          </a:effectLst>
        </p:spPr>
        <p:txBody>
          <a:bodyPr/>
          <a:lstStyle/>
          <a:p>
            <a:endParaRPr lang="en-US"/>
          </a:p>
        </p:txBody>
      </p:sp>
      <p:sp>
        <p:nvSpPr>
          <p:cNvPr id="18" name="Shape 12"/>
          <p:cNvSpPr/>
          <p:nvPr/>
        </p:nvSpPr>
        <p:spPr>
          <a:xfrm>
            <a:off x="6267298" y="3619195"/>
            <a:ext cx="3448202" cy="47549"/>
          </a:xfrm>
          <a:prstGeom prst="roundRect">
            <a:avLst>
              <a:gd name="adj" fmla="val 165425"/>
            </a:avLst>
          </a:prstGeom>
          <a:solidFill>
            <a:srgbClr val="2A9D8F"/>
          </a:solidFill>
          <a:ln w="12700">
            <a:solidFill>
              <a:srgbClr val="2A9D8F">
                <a:alpha val="0"/>
              </a:srgbClr>
            </a:solidFill>
            <a:prstDash val="solid"/>
          </a:ln>
        </p:spPr>
        <p:txBody>
          <a:bodyPr/>
          <a:lstStyle/>
          <a:p>
            <a:endParaRPr lang="en-US"/>
          </a:p>
        </p:txBody>
      </p:sp>
      <p:sp>
        <p:nvSpPr>
          <p:cNvPr id="19" name="Shape 13"/>
          <p:cNvSpPr/>
          <p:nvPr/>
        </p:nvSpPr>
        <p:spPr>
          <a:xfrm>
            <a:off x="609905" y="5572354"/>
            <a:ext cx="10972800" cy="571500"/>
          </a:xfrm>
          <a:prstGeom prst="roundRect">
            <a:avLst>
              <a:gd name="adj" fmla="val 42667"/>
            </a:avLst>
          </a:prstGeom>
          <a:solidFill>
            <a:srgbClr val="111827"/>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pic>
        <p:nvPicPr>
          <p:cNvPr id="20" name="Image 4" descr="gen-dedup-fcfcca745fa5c1c832fd66175382f504.png"/>
          <p:cNvPicPr>
            <a:picLocks noChangeAspect="1"/>
          </p:cNvPicPr>
          <p:nvPr/>
        </p:nvPicPr>
        <p:blipFill>
          <a:blip r:embed="rId7"/>
          <a:srcRect l="-2083" r="-2083"/>
          <a:stretch/>
        </p:blipFill>
        <p:spPr>
          <a:xfrm>
            <a:off x="609905" y="6286500"/>
            <a:ext cx="10972800" cy="9144"/>
          </a:xfrm>
          <a:prstGeom prst="rect">
            <a:avLst/>
          </a:prstGeom>
        </p:spPr>
      </p:pic>
      <p:sp>
        <p:nvSpPr>
          <p:cNvPr id="21" name="Text 14"/>
          <p:cNvSpPr txBox="1"/>
          <p:nvPr/>
        </p:nvSpPr>
        <p:spPr>
          <a:xfrm>
            <a:off x="819302" y="666598"/>
            <a:ext cx="5715000" cy="381305"/>
          </a:xfrm>
          <a:prstGeom prst="rect">
            <a:avLst/>
          </a:prstGeom>
          <a:noFill/>
          <a:ln/>
        </p:spPr>
        <p:txBody>
          <a:bodyPr wrap="none" lIns="0" tIns="0" rIns="0" bIns="0" rtlCol="0" anchor="ctr"/>
          <a:lstStyle/>
          <a:p>
            <a:pPr marL="0" indent="0" algn="l">
              <a:buNone/>
            </a:pPr>
            <a:r>
              <a:rPr lang="en-US" sz="2700" b="1" dirty="0">
                <a:solidFill>
                  <a:srgbClr val="111827"/>
                </a:solidFill>
                <a:latin typeface="Oswald" pitchFamily="34" charset="0"/>
                <a:ea typeface="Oswald" pitchFamily="34" charset="-122"/>
                <a:cs typeface="Oswald" pitchFamily="34" charset="-120"/>
              </a:rPr>
              <a:t>WHAT WE OWN</a:t>
            </a:r>
            <a:endParaRPr lang="en-US" sz="2700" dirty="0"/>
          </a:p>
        </p:txBody>
      </p:sp>
      <p:sp>
        <p:nvSpPr>
          <p:cNvPr id="22" name="Text 15"/>
          <p:cNvSpPr txBox="1"/>
          <p:nvPr/>
        </p:nvSpPr>
        <p:spPr>
          <a:xfrm>
            <a:off x="819302" y="1100938"/>
            <a:ext cx="5715000" cy="200254"/>
          </a:xfrm>
          <a:prstGeom prst="rect">
            <a:avLst/>
          </a:prstGeom>
          <a:noFill/>
          <a:ln/>
        </p:spPr>
        <p:txBody>
          <a:bodyPr wrap="none" lIns="0" tIns="0" rIns="0" bIns="0" rtlCol="0" anchor="ctr"/>
          <a:lstStyle/>
          <a:p>
            <a:pPr marL="0" indent="0" algn="l">
              <a:buNone/>
            </a:pPr>
            <a:r>
              <a:rPr lang="en-US" sz="1300" b="1" kern="0" spc="68" dirty="0">
                <a:solidFill>
                  <a:srgbClr val="2A9D8F"/>
                </a:solidFill>
                <a:latin typeface="Roboto Condensed" pitchFamily="34" charset="0"/>
                <a:ea typeface="Roboto Condensed" pitchFamily="34" charset="-122"/>
                <a:cs typeface="Roboto Condensed" pitchFamily="34" charset="-120"/>
              </a:rPr>
              <a:t>The proprietary stack - our moat</a:t>
            </a:r>
            <a:endParaRPr lang="en-US" sz="1300" dirty="0"/>
          </a:p>
        </p:txBody>
      </p:sp>
      <p:sp>
        <p:nvSpPr>
          <p:cNvPr id="23" name="Shape 16"/>
          <p:cNvSpPr/>
          <p:nvPr/>
        </p:nvSpPr>
        <p:spPr>
          <a:xfrm>
            <a:off x="800100" y="195224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24" name="Image 5" descr="gen-dedup-354148c7dfe2ece024d9587c6b984377.png"/>
          <p:cNvPicPr>
            <a:picLocks noChangeAspect="1"/>
          </p:cNvPicPr>
          <p:nvPr/>
        </p:nvPicPr>
        <p:blipFill>
          <a:blip r:embed="rId8"/>
          <a:srcRect t="-16800" b="-16800"/>
          <a:stretch/>
        </p:blipFill>
        <p:spPr>
          <a:xfrm>
            <a:off x="895198" y="2029054"/>
            <a:ext cx="114300" cy="152705"/>
          </a:xfrm>
          <a:prstGeom prst="rect">
            <a:avLst/>
          </a:prstGeom>
        </p:spPr>
      </p:pic>
      <p:sp>
        <p:nvSpPr>
          <p:cNvPr id="25" name="Text 17"/>
          <p:cNvSpPr txBox="1"/>
          <p:nvPr/>
        </p:nvSpPr>
        <p:spPr>
          <a:xfrm>
            <a:off x="1238098" y="195224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Premier Lounge</a:t>
            </a:r>
            <a:endParaRPr lang="en-US" sz="1500" dirty="0"/>
          </a:p>
        </p:txBody>
      </p:sp>
      <p:sp>
        <p:nvSpPr>
          <p:cNvPr id="26" name="Text 18"/>
          <p:cNvSpPr txBox="1"/>
          <p:nvPr/>
        </p:nvSpPr>
        <p:spPr>
          <a:xfrm>
            <a:off x="8001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Curated network of vetted experts - instant access to scarce skills.</a:t>
            </a:r>
            <a:endParaRPr lang="en-US" sz="1200" dirty="0"/>
          </a:p>
        </p:txBody>
      </p:sp>
      <p:sp>
        <p:nvSpPr>
          <p:cNvPr id="27" name="Shape 19"/>
          <p:cNvSpPr/>
          <p:nvPr/>
        </p:nvSpPr>
        <p:spPr>
          <a:xfrm>
            <a:off x="4572000" y="1952244"/>
            <a:ext cx="304495" cy="304495"/>
          </a:xfrm>
          <a:prstGeom prst="roundRect">
            <a:avLst>
              <a:gd name="adj" fmla="val 112613"/>
            </a:avLst>
          </a:prstGeom>
          <a:solidFill>
            <a:srgbClr val="FEF2F2"/>
          </a:solidFill>
          <a:ln w="12700">
            <a:solidFill>
              <a:srgbClr val="FFFFFF">
                <a:alpha val="0"/>
              </a:srgbClr>
            </a:solidFill>
            <a:prstDash val="solid"/>
          </a:ln>
        </p:spPr>
        <p:txBody>
          <a:bodyPr/>
          <a:lstStyle/>
          <a:p>
            <a:endParaRPr lang="en-US"/>
          </a:p>
        </p:txBody>
      </p:sp>
      <p:pic>
        <p:nvPicPr>
          <p:cNvPr id="28" name="Image 6" descr="gen-dedup-8653d22c8fc2d1668da8a16f36629000.png"/>
          <p:cNvPicPr>
            <a:picLocks noChangeAspect="1"/>
          </p:cNvPicPr>
          <p:nvPr/>
        </p:nvPicPr>
        <p:blipFill>
          <a:blip r:embed="rId9"/>
          <a:srcRect t="-25150" b="-25150"/>
          <a:stretch/>
        </p:blipFill>
        <p:spPr>
          <a:xfrm>
            <a:off x="4667098" y="2029054"/>
            <a:ext cx="114300" cy="152705"/>
          </a:xfrm>
          <a:prstGeom prst="rect">
            <a:avLst/>
          </a:prstGeom>
        </p:spPr>
      </p:pic>
      <p:sp>
        <p:nvSpPr>
          <p:cNvPr id="29" name="Text 20"/>
          <p:cNvSpPr txBox="1"/>
          <p:nvPr/>
        </p:nvSpPr>
        <p:spPr>
          <a:xfrm>
            <a:off x="5009998" y="195224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OfferLetter</a:t>
            </a:r>
            <a:endParaRPr lang="en-US" sz="1500" dirty="0"/>
          </a:p>
        </p:txBody>
      </p:sp>
      <p:sp>
        <p:nvSpPr>
          <p:cNvPr id="30" name="Text 21"/>
          <p:cNvSpPr txBox="1"/>
          <p:nvPr/>
        </p:nvSpPr>
        <p:spPr>
          <a:xfrm>
            <a:off x="45720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AI-driven sourcing &amp; resume parsing - onboard one engineer an hour.</a:t>
            </a:r>
            <a:endParaRPr lang="en-US" sz="1200" dirty="0"/>
          </a:p>
        </p:txBody>
      </p:sp>
      <p:sp>
        <p:nvSpPr>
          <p:cNvPr id="31" name="Shape 22"/>
          <p:cNvSpPr/>
          <p:nvPr/>
        </p:nvSpPr>
        <p:spPr>
          <a:xfrm>
            <a:off x="8343900" y="195224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32" name="Image 7" descr="gen-dedup-fe8b3fc2b54c6cb2835c9e1123b7a343.png"/>
          <p:cNvPicPr>
            <a:picLocks noChangeAspect="1"/>
          </p:cNvPicPr>
          <p:nvPr/>
        </p:nvPicPr>
        <p:blipFill>
          <a:blip r:embed="rId10"/>
          <a:srcRect t="-25150" b="-25150"/>
          <a:stretch/>
        </p:blipFill>
        <p:spPr>
          <a:xfrm>
            <a:off x="8438998" y="2029054"/>
            <a:ext cx="114300" cy="152705"/>
          </a:xfrm>
          <a:prstGeom prst="rect">
            <a:avLst/>
          </a:prstGeom>
        </p:spPr>
      </p:pic>
      <p:sp>
        <p:nvSpPr>
          <p:cNvPr id="33" name="Text 23"/>
          <p:cNvSpPr txBox="1"/>
          <p:nvPr/>
        </p:nvSpPr>
        <p:spPr>
          <a:xfrm>
            <a:off x="8781898" y="1952244"/>
            <a:ext cx="2702052"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Data Abstraction Layer</a:t>
            </a:r>
            <a:endParaRPr lang="en-US" sz="1500" dirty="0"/>
          </a:p>
        </p:txBody>
      </p:sp>
      <p:sp>
        <p:nvSpPr>
          <p:cNvPr id="34" name="Text 24"/>
          <p:cNvSpPr txBox="1"/>
          <p:nvPr/>
        </p:nvSpPr>
        <p:spPr>
          <a:xfrm>
            <a:off x="8343900" y="242864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Unified API gateway + real-time ETL - a single pane of glass.</a:t>
            </a:r>
            <a:endParaRPr lang="en-US" sz="1200" dirty="0"/>
          </a:p>
        </p:txBody>
      </p:sp>
      <p:sp>
        <p:nvSpPr>
          <p:cNvPr id="35" name="Shape 25"/>
          <p:cNvSpPr/>
          <p:nvPr/>
        </p:nvSpPr>
        <p:spPr>
          <a:xfrm>
            <a:off x="2686507" y="3857854"/>
            <a:ext cx="304495" cy="304495"/>
          </a:xfrm>
          <a:prstGeom prst="roundRect">
            <a:avLst>
              <a:gd name="adj" fmla="val 112613"/>
            </a:avLst>
          </a:prstGeom>
          <a:solidFill>
            <a:srgbClr val="FEF2F2"/>
          </a:solidFill>
          <a:ln w="12700">
            <a:solidFill>
              <a:srgbClr val="FFFFFF">
                <a:alpha val="0"/>
              </a:srgbClr>
            </a:solidFill>
            <a:prstDash val="solid"/>
          </a:ln>
        </p:spPr>
        <p:txBody>
          <a:bodyPr/>
          <a:lstStyle/>
          <a:p>
            <a:endParaRPr lang="en-US"/>
          </a:p>
        </p:txBody>
      </p:sp>
      <p:pic>
        <p:nvPicPr>
          <p:cNvPr id="36" name="Image 8" descr="gen-dedup-e7d7166718140d8159b1663599725aa5.png"/>
          <p:cNvPicPr>
            <a:picLocks noChangeAspect="1"/>
          </p:cNvPicPr>
          <p:nvPr/>
        </p:nvPicPr>
        <p:blipFill>
          <a:blip r:embed="rId11"/>
          <a:srcRect t="-8450" b="-8450"/>
          <a:stretch/>
        </p:blipFill>
        <p:spPr>
          <a:xfrm>
            <a:off x="2781605" y="3933749"/>
            <a:ext cx="114300" cy="152705"/>
          </a:xfrm>
          <a:prstGeom prst="rect">
            <a:avLst/>
          </a:prstGeom>
        </p:spPr>
      </p:pic>
      <p:sp>
        <p:nvSpPr>
          <p:cNvPr id="37" name="Text 26"/>
          <p:cNvSpPr txBox="1"/>
          <p:nvPr/>
        </p:nvSpPr>
        <p:spPr>
          <a:xfrm>
            <a:off x="3124505" y="385785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J2W AI Labs</a:t>
            </a:r>
            <a:endParaRPr lang="en-US" sz="1500" dirty="0"/>
          </a:p>
        </p:txBody>
      </p:sp>
      <p:sp>
        <p:nvSpPr>
          <p:cNvPr id="38" name="Text 27"/>
          <p:cNvSpPr txBox="1"/>
          <p:nvPr/>
        </p:nvSpPr>
        <p:spPr>
          <a:xfrm>
            <a:off x="2686507" y="433425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Internal AI engine - every engineer AI-certified before Day 1.</a:t>
            </a:r>
            <a:endParaRPr lang="en-US" sz="1200" dirty="0"/>
          </a:p>
        </p:txBody>
      </p:sp>
      <p:sp>
        <p:nvSpPr>
          <p:cNvPr id="39" name="Shape 28"/>
          <p:cNvSpPr/>
          <p:nvPr/>
        </p:nvSpPr>
        <p:spPr>
          <a:xfrm>
            <a:off x="6458407" y="3857854"/>
            <a:ext cx="304495" cy="304495"/>
          </a:xfrm>
          <a:prstGeom prst="roundRect">
            <a:avLst>
              <a:gd name="adj" fmla="val 112613"/>
            </a:avLst>
          </a:prstGeom>
          <a:solidFill>
            <a:srgbClr val="F0FDFA"/>
          </a:solidFill>
          <a:ln w="12700">
            <a:solidFill>
              <a:srgbClr val="FFFFFF">
                <a:alpha val="0"/>
              </a:srgbClr>
            </a:solidFill>
            <a:prstDash val="solid"/>
          </a:ln>
        </p:spPr>
        <p:txBody>
          <a:bodyPr/>
          <a:lstStyle/>
          <a:p>
            <a:endParaRPr lang="en-US"/>
          </a:p>
        </p:txBody>
      </p:sp>
      <p:pic>
        <p:nvPicPr>
          <p:cNvPr id="40" name="Image 9" descr="gen-dedup-a3d9bb31ae14fa9101e3246a3a64819e.png"/>
          <p:cNvPicPr>
            <a:picLocks noChangeAspect="1"/>
          </p:cNvPicPr>
          <p:nvPr/>
        </p:nvPicPr>
        <p:blipFill>
          <a:blip r:embed="rId12"/>
          <a:srcRect t="-8450" b="-8450"/>
          <a:stretch/>
        </p:blipFill>
        <p:spPr>
          <a:xfrm>
            <a:off x="6553505" y="3933749"/>
            <a:ext cx="114300" cy="152705"/>
          </a:xfrm>
          <a:prstGeom prst="rect">
            <a:avLst/>
          </a:prstGeom>
        </p:spPr>
      </p:pic>
      <p:sp>
        <p:nvSpPr>
          <p:cNvPr id="41" name="Text 29"/>
          <p:cNvSpPr txBox="1"/>
          <p:nvPr/>
        </p:nvSpPr>
        <p:spPr>
          <a:xfrm>
            <a:off x="6896405" y="3857854"/>
            <a:ext cx="2572207" cy="305410"/>
          </a:xfrm>
          <a:prstGeom prst="rect">
            <a:avLst/>
          </a:prstGeom>
          <a:noFill/>
          <a:ln/>
        </p:spPr>
        <p:txBody>
          <a:bodyPr wrap="none" lIns="0" tIns="0" rIns="0" bIns="0" rtlCol="0" anchor="ctr"/>
          <a:lstStyle/>
          <a:p>
            <a:pPr marL="0" indent="0" algn="l">
              <a:buNone/>
            </a:pPr>
            <a:r>
              <a:rPr lang="en-US" sz="1500" b="1" dirty="0">
                <a:solidFill>
                  <a:srgbClr val="111827"/>
                </a:solidFill>
                <a:latin typeface="Oswald" pitchFamily="34" charset="0"/>
                <a:ea typeface="Oswald" pitchFamily="34" charset="-122"/>
                <a:cs typeface="Oswald" pitchFamily="34" charset="-120"/>
              </a:rPr>
              <a:t>60+ Accelerators</a:t>
            </a:r>
            <a:endParaRPr lang="en-US" sz="1500" dirty="0"/>
          </a:p>
        </p:txBody>
      </p:sp>
      <p:sp>
        <p:nvSpPr>
          <p:cNvPr id="42" name="Text 30"/>
          <p:cNvSpPr txBox="1"/>
          <p:nvPr/>
        </p:nvSpPr>
        <p:spPr>
          <a:xfrm>
            <a:off x="6458407" y="4334256"/>
            <a:ext cx="3048610" cy="457200"/>
          </a:xfrm>
          <a:prstGeom prst="rect">
            <a:avLst/>
          </a:prstGeom>
          <a:noFill/>
          <a:ln/>
        </p:spPr>
        <p:txBody>
          <a:bodyPr wrap="square" lIns="0" tIns="0" rIns="0" bIns="0" rtlCol="0" anchor="ctr"/>
          <a:lstStyle/>
          <a:p>
            <a:pPr marL="0" indent="0" algn="l">
              <a:buNone/>
            </a:pPr>
            <a:r>
              <a:rPr lang="en-US" sz="1200" dirty="0">
                <a:solidFill>
                  <a:srgbClr val="4B5563"/>
                </a:solidFill>
                <a:latin typeface="Raleway" pitchFamily="34" charset="0"/>
                <a:ea typeface="Raleway" pitchFamily="34" charset="-122"/>
                <a:cs typeface="Raleway" pitchFamily="34" charset="-120"/>
              </a:rPr>
              <a:t>Pre-built solutions on SAP, ServiceNow &amp; industry stacks.</a:t>
            </a:r>
            <a:endParaRPr lang="en-US" sz="1200" dirty="0"/>
          </a:p>
        </p:txBody>
      </p:sp>
      <p:sp>
        <p:nvSpPr>
          <p:cNvPr id="43" name="Text 31"/>
          <p:cNvSpPr txBox="1"/>
          <p:nvPr/>
        </p:nvSpPr>
        <p:spPr>
          <a:xfrm>
            <a:off x="800100" y="5715000"/>
            <a:ext cx="10592410" cy="286207"/>
          </a:xfrm>
          <a:prstGeom prst="rect">
            <a:avLst/>
          </a:prstGeom>
          <a:noFill/>
          <a:ln/>
        </p:spPr>
        <p:txBody>
          <a:bodyPr wrap="none" lIns="0" tIns="0" rIns="0" bIns="0" rtlCol="0" anchor="ctr"/>
          <a:lstStyle/>
          <a:p>
            <a:pPr marL="0" indent="0" algn="ctr">
              <a:buNone/>
            </a:pPr>
            <a:r>
              <a:rPr lang="en-US" sz="1500" b="1" kern="0" spc="75" dirty="0">
                <a:solidFill>
                  <a:srgbClr val="9CA3AF"/>
                </a:solidFill>
                <a:latin typeface="Oswald" pitchFamily="34" charset="0"/>
                <a:ea typeface="Oswald" pitchFamily="34" charset="-122"/>
                <a:cs typeface="Oswald" pitchFamily="34" charset="-120"/>
              </a:rPr>
              <a:t>THE ARC FRAMEWORK</a:t>
            </a:r>
            <a:r>
              <a:rPr lang="en-US" sz="1500" b="1" kern="0" spc="75" dirty="0">
                <a:solidFill>
                  <a:srgbClr val="2A9D8F"/>
                </a:solidFill>
                <a:latin typeface="Oswald" pitchFamily="34" charset="0"/>
                <a:ea typeface="Oswald" pitchFamily="34" charset="-122"/>
                <a:cs typeface="Oswald" pitchFamily="34" charset="-120"/>
              </a:rPr>
              <a:t>Adaptive</a:t>
            </a:r>
            <a:r>
              <a:rPr lang="en-US" sz="1200" b="1" kern="0" spc="75" dirty="0">
                <a:solidFill>
                  <a:srgbClr val="CBD5E1"/>
                </a:solidFill>
                <a:latin typeface="Raleway" pitchFamily="34" charset="0"/>
                <a:ea typeface="Raleway" pitchFamily="34" charset="-122"/>
                <a:cs typeface="Raleway" pitchFamily="34" charset="-120"/>
              </a:rPr>
              <a:t>(Grow)</a:t>
            </a:r>
            <a:r>
              <a:rPr lang="en-US" sz="1500" b="1" kern="0" spc="75" dirty="0">
                <a:solidFill>
                  <a:srgbClr val="6B7280"/>
                </a:solidFill>
                <a:latin typeface="Oswald" pitchFamily="34" charset="0"/>
                <a:ea typeface="Oswald" pitchFamily="34" charset="-122"/>
                <a:cs typeface="Oswald" pitchFamily="34" charset="-120"/>
              </a:rPr>
              <a:t>→</a:t>
            </a:r>
            <a:r>
              <a:rPr lang="en-US" sz="1500" b="1" kern="0" spc="75" dirty="0">
                <a:solidFill>
                  <a:srgbClr val="D62839"/>
                </a:solidFill>
                <a:latin typeface="Oswald" pitchFamily="34" charset="0"/>
                <a:ea typeface="Oswald" pitchFamily="34" charset="-122"/>
                <a:cs typeface="Oswald" pitchFamily="34" charset="-120"/>
              </a:rPr>
              <a:t>Resilient</a:t>
            </a:r>
            <a:r>
              <a:rPr lang="en-US" sz="1200" b="1" kern="0" spc="75" dirty="0">
                <a:solidFill>
                  <a:srgbClr val="CBD5E1"/>
                </a:solidFill>
                <a:latin typeface="Raleway" pitchFamily="34" charset="0"/>
                <a:ea typeface="Raleway" pitchFamily="34" charset="-122"/>
                <a:cs typeface="Raleway" pitchFamily="34" charset="-120"/>
              </a:rPr>
              <a:t>(Mature)</a:t>
            </a:r>
            <a:r>
              <a:rPr lang="en-US" sz="1500" b="1" kern="0" spc="75" dirty="0">
                <a:solidFill>
                  <a:srgbClr val="6B7280"/>
                </a:solidFill>
                <a:latin typeface="Oswald" pitchFamily="34" charset="0"/>
                <a:ea typeface="Oswald" pitchFamily="34" charset="-122"/>
                <a:cs typeface="Oswald" pitchFamily="34" charset="-120"/>
              </a:rPr>
              <a:t>→</a:t>
            </a:r>
            <a:r>
              <a:rPr lang="en-US" sz="1500" b="1" kern="0" spc="75" dirty="0">
                <a:solidFill>
                  <a:srgbClr val="2A9D8F"/>
                </a:solidFill>
                <a:latin typeface="Oswald" pitchFamily="34" charset="0"/>
                <a:ea typeface="Oswald" pitchFamily="34" charset="-122"/>
                <a:cs typeface="Oswald" pitchFamily="34" charset="-120"/>
              </a:rPr>
              <a:t>Cognitive</a:t>
            </a:r>
            <a:r>
              <a:rPr lang="en-US" sz="1200" b="1" kern="0" spc="75" dirty="0">
                <a:solidFill>
                  <a:srgbClr val="CBD5E1"/>
                </a:solidFill>
                <a:latin typeface="Raleway" pitchFamily="34" charset="0"/>
                <a:ea typeface="Raleway" pitchFamily="34" charset="-122"/>
                <a:cs typeface="Raleway" pitchFamily="34" charset="-120"/>
              </a:rPr>
              <a:t>(Transform)</a:t>
            </a:r>
            <a:endParaRPr lang="en-US" sz="1500" dirty="0"/>
          </a:p>
        </p:txBody>
      </p:sp>
      <p:sp>
        <p:nvSpPr>
          <p:cNvPr id="44" name="Text 32"/>
          <p:cNvSpPr txBox="1"/>
          <p:nvPr/>
        </p:nvSpPr>
        <p:spPr>
          <a:xfrm>
            <a:off x="609905" y="6429146"/>
            <a:ext cx="10972800" cy="181051"/>
          </a:xfrm>
          <a:prstGeom prst="rect">
            <a:avLst/>
          </a:prstGeom>
          <a:noFill/>
          <a:ln/>
        </p:spPr>
        <p:txBody>
          <a:bodyPr wrap="none" lIns="0" tIns="0" rIns="0" bIns="0" rtlCol="0" anchor="ctr"/>
          <a:lstStyle/>
          <a:p>
            <a:pPr marL="0" indent="0" algn="ctr">
              <a:buNone/>
            </a:pPr>
            <a:r>
              <a:rPr lang="en-US" sz="1200" b="1" dirty="0">
                <a:solidFill>
                  <a:srgbClr val="374151"/>
                </a:solidFill>
                <a:latin typeface="Raleway" pitchFamily="34" charset="0"/>
                <a:ea typeface="Raleway" pitchFamily="34" charset="-122"/>
                <a:cs typeface="Raleway" pitchFamily="34" charset="-120"/>
              </a:rPr>
              <a:t>Transparent, scalable, and owned by us - </a:t>
            </a:r>
            <a:r>
              <a:rPr lang="en-US" sz="1200" b="1" dirty="0">
                <a:solidFill>
                  <a:srgbClr val="2A9D8F"/>
                </a:solidFill>
                <a:latin typeface="Raleway" pitchFamily="34" charset="0"/>
                <a:ea typeface="Raleway" pitchFamily="34" charset="-122"/>
                <a:cs typeface="Raleway" pitchFamily="34" charset="-120"/>
              </a:rPr>
              <a:t>your competitive moat, not a black box.</a:t>
            </a:r>
            <a:endParaRPr lang="en-US" sz="1200" dirty="0"/>
          </a:p>
        </p:txBody>
      </p:sp>
      <p:sp>
        <p:nvSpPr>
          <p:cNvPr id="45" name="TextBox 44">
            <a:extLst>
              <a:ext uri="{FF2B5EF4-FFF2-40B4-BE49-F238E27FC236}">
                <a16:creationId xmlns:a16="http://schemas.microsoft.com/office/drawing/2014/main" id="{25DD6EC7-8F41-58C5-8FE6-D76C9E660C2A}"/>
              </a:ext>
            </a:extLst>
          </p:cNvPr>
          <p:cNvSpPr txBox="1"/>
          <p:nvPr/>
        </p:nvSpPr>
        <p:spPr>
          <a:xfrm>
            <a:off x="3048000" y="3429000"/>
            <a:ext cx="6096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Tree>
    <p:extLst>
      <p:ext uri="{BB962C8B-B14F-4D97-AF65-F5344CB8AC3E}">
        <p14:creationId xmlns:p14="http://schemas.microsoft.com/office/powerpoint/2010/main" val="3821239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9663ecf744b06e35d4c2cebaab92a2ea.png"/>
          <p:cNvPicPr>
            <a:picLocks noChangeAspect="1"/>
          </p:cNvPicPr>
          <p:nvPr/>
        </p:nvPicPr>
        <p:blipFill>
          <a:blip r:embed="rId3"/>
          <a:srcRect l="-202" r="-202"/>
          <a:stretch/>
        </p:blipFill>
        <p:spPr>
          <a:xfrm>
            <a:off x="0" y="0"/>
            <a:ext cx="4067251" cy="75895"/>
          </a:xfrm>
          <a:prstGeom prst="rect">
            <a:avLst/>
          </a:prstGeom>
        </p:spPr>
      </p:pic>
      <p:pic>
        <p:nvPicPr>
          <p:cNvPr id="5" name="Image 1" descr="gen-dedup-323228122ff92d2332e711a84ca3b40c.png"/>
          <p:cNvPicPr>
            <a:picLocks noChangeAspect="1"/>
          </p:cNvPicPr>
          <p:nvPr/>
        </p:nvPicPr>
        <p:blipFill>
          <a:blip r:embed="rId4"/>
          <a:srcRect l="-198" r="-198"/>
          <a:stretch/>
        </p:blipFill>
        <p:spPr>
          <a:xfrm>
            <a:off x="4067251" y="0"/>
            <a:ext cx="8124444" cy="75895"/>
          </a:xfrm>
          <a:prstGeom prst="rect">
            <a:avLst/>
          </a:prstGeom>
        </p:spPr>
      </p:pic>
      <p:sp>
        <p:nvSpPr>
          <p:cNvPr id="6" name="Shape 2"/>
          <p:cNvSpPr/>
          <p:nvPr/>
        </p:nvSpPr>
        <p:spPr>
          <a:xfrm>
            <a:off x="9334195" y="-476402"/>
            <a:ext cx="3810305" cy="3810305"/>
          </a:xfrm>
          <a:prstGeom prst="ellipse">
            <a:avLst/>
          </a:prstGeom>
          <a:solidFill>
            <a:srgbClr val="2A9D8F">
              <a:alpha val="2000"/>
            </a:srgbClr>
          </a:solidFill>
          <a:ln w="12700">
            <a:solidFill>
              <a:srgbClr val="FFFFFF">
                <a:alpha val="0"/>
              </a:srgbClr>
            </a:solidFill>
            <a:prstDash val="solid"/>
          </a:ln>
        </p:spPr>
        <p:txBody>
          <a:bodyPr/>
          <a:lstStyle/>
          <a:p>
            <a:endParaRPr lang="en-US"/>
          </a:p>
        </p:txBody>
      </p:sp>
      <p:sp>
        <p:nvSpPr>
          <p:cNvPr id="7" name="Shape 3"/>
          <p:cNvSpPr/>
          <p:nvPr/>
        </p:nvSpPr>
        <p:spPr>
          <a:xfrm>
            <a:off x="-1429207" y="3047695"/>
            <a:ext cx="3333902" cy="3333902"/>
          </a:xfrm>
          <a:prstGeom prst="ellipse">
            <a:avLst/>
          </a:prstGeom>
          <a:solidFill>
            <a:srgbClr val="D62839">
              <a:alpha val="2000"/>
            </a:srgbClr>
          </a:solidFill>
          <a:ln w="12700">
            <a:solidFill>
              <a:srgbClr val="FFFFFF">
                <a:alpha val="0"/>
              </a:srgbClr>
            </a:solidFill>
            <a:prstDash val="solid"/>
          </a:ln>
        </p:spPr>
        <p:txBody>
          <a:bodyPr/>
          <a:lstStyle/>
          <a:p>
            <a:endParaRPr lang="en-US"/>
          </a:p>
        </p:txBody>
      </p:sp>
      <p:sp>
        <p:nvSpPr>
          <p:cNvPr id="8" name="Shape 4"/>
          <p:cNvSpPr/>
          <p:nvPr/>
        </p:nvSpPr>
        <p:spPr>
          <a:xfrm>
            <a:off x="647395" y="4619549"/>
            <a:ext cx="10916107" cy="1781251"/>
          </a:xfrm>
          <a:prstGeom prst="roundRect">
            <a:avLst>
              <a:gd name="adj" fmla="val 4392"/>
            </a:avLst>
          </a:prstGeom>
          <a:solidFill>
            <a:srgbClr val="F8FAFC"/>
          </a:solidFill>
          <a:ln w="12700">
            <a:solidFill>
              <a:srgbClr val="E2E8F0"/>
            </a:solidFill>
            <a:prstDash val="solid"/>
          </a:ln>
        </p:spPr>
        <p:txBody>
          <a:bodyPr/>
          <a:lstStyle/>
          <a:p>
            <a:endParaRPr lang="en-US"/>
          </a:p>
        </p:txBody>
      </p:sp>
      <p:sp>
        <p:nvSpPr>
          <p:cNvPr id="9" name="Shape 5"/>
          <p:cNvSpPr/>
          <p:nvPr/>
        </p:nvSpPr>
        <p:spPr>
          <a:xfrm>
            <a:off x="647395"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0" name="Shape 6"/>
          <p:cNvSpPr/>
          <p:nvPr/>
        </p:nvSpPr>
        <p:spPr>
          <a:xfrm>
            <a:off x="647395" y="1571854"/>
            <a:ext cx="3524098" cy="38405"/>
          </a:xfrm>
          <a:prstGeom prst="roundRect">
            <a:avLst>
              <a:gd name="adj" fmla="val 96852"/>
            </a:avLst>
          </a:prstGeom>
          <a:solidFill>
            <a:srgbClr val="2A9D8F"/>
          </a:solidFill>
          <a:ln w="12700">
            <a:solidFill>
              <a:srgbClr val="2A9D8F">
                <a:alpha val="0"/>
              </a:srgbClr>
            </a:solidFill>
            <a:prstDash val="solid"/>
          </a:ln>
        </p:spPr>
        <p:txBody>
          <a:bodyPr/>
          <a:lstStyle/>
          <a:p>
            <a:endParaRPr lang="en-US"/>
          </a:p>
        </p:txBody>
      </p:sp>
      <p:sp>
        <p:nvSpPr>
          <p:cNvPr id="11" name="Shape 7"/>
          <p:cNvSpPr/>
          <p:nvPr/>
        </p:nvSpPr>
        <p:spPr>
          <a:xfrm>
            <a:off x="4343400"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2" name="Shape 8"/>
          <p:cNvSpPr/>
          <p:nvPr/>
        </p:nvSpPr>
        <p:spPr>
          <a:xfrm>
            <a:off x="4343400" y="1571854"/>
            <a:ext cx="3524098" cy="38405"/>
          </a:xfrm>
          <a:prstGeom prst="roundRect">
            <a:avLst>
              <a:gd name="adj" fmla="val 96852"/>
            </a:avLst>
          </a:prstGeom>
          <a:solidFill>
            <a:srgbClr val="D62839"/>
          </a:solidFill>
          <a:ln w="12700">
            <a:solidFill>
              <a:srgbClr val="D62839">
                <a:alpha val="0"/>
              </a:srgbClr>
            </a:solidFill>
            <a:prstDash val="solid"/>
          </a:ln>
        </p:spPr>
        <p:txBody>
          <a:bodyPr/>
          <a:lstStyle/>
          <a:p>
            <a:endParaRPr lang="en-US"/>
          </a:p>
        </p:txBody>
      </p:sp>
      <p:sp>
        <p:nvSpPr>
          <p:cNvPr id="13" name="Shape 9"/>
          <p:cNvSpPr/>
          <p:nvPr/>
        </p:nvSpPr>
        <p:spPr>
          <a:xfrm>
            <a:off x="8039405" y="1571854"/>
            <a:ext cx="3524098" cy="2809951"/>
          </a:xfrm>
          <a:prstGeom prst="roundRect">
            <a:avLst>
              <a:gd name="adj" fmla="val 1324"/>
            </a:avLst>
          </a:prstGeom>
          <a:solidFill>
            <a:srgbClr val="FFFFFF"/>
          </a:solidFill>
          <a:ln w="12700">
            <a:solidFill>
              <a:srgbClr val="E2E8F0"/>
            </a:solidFill>
            <a:prstDash val="solid"/>
          </a:ln>
          <a:effectLst>
            <a:outerShdw blurRad="139700" dist="38100" dir="16200000" algn="bl" rotWithShape="0">
              <a:srgbClr val="000000">
                <a:alpha val="3000"/>
              </a:srgbClr>
            </a:outerShdw>
          </a:effectLst>
        </p:spPr>
        <p:txBody>
          <a:bodyPr/>
          <a:lstStyle/>
          <a:p>
            <a:endParaRPr lang="en-US"/>
          </a:p>
        </p:txBody>
      </p:sp>
      <p:sp>
        <p:nvSpPr>
          <p:cNvPr id="14" name="Shape 10"/>
          <p:cNvSpPr/>
          <p:nvPr/>
        </p:nvSpPr>
        <p:spPr>
          <a:xfrm>
            <a:off x="8039405" y="1571854"/>
            <a:ext cx="3524098" cy="38405"/>
          </a:xfrm>
          <a:prstGeom prst="roundRect">
            <a:avLst>
              <a:gd name="adj" fmla="val 96852"/>
            </a:avLst>
          </a:prstGeom>
          <a:solidFill>
            <a:srgbClr val="111827"/>
          </a:solidFill>
          <a:ln w="12700">
            <a:solidFill>
              <a:srgbClr val="111827">
                <a:alpha val="0"/>
              </a:srgbClr>
            </a:solidFill>
            <a:prstDash val="solid"/>
          </a:ln>
        </p:spPr>
        <p:txBody>
          <a:bodyPr/>
          <a:lstStyle/>
          <a:p>
            <a:endParaRPr lang="en-US"/>
          </a:p>
        </p:txBody>
      </p:sp>
      <p:sp>
        <p:nvSpPr>
          <p:cNvPr id="15" name="Shape 11"/>
          <p:cNvSpPr/>
          <p:nvPr/>
        </p:nvSpPr>
        <p:spPr>
          <a:xfrm>
            <a:off x="905256"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6" name="Shape 12"/>
          <p:cNvSpPr/>
          <p:nvPr/>
        </p:nvSpPr>
        <p:spPr>
          <a:xfrm>
            <a:off x="3666744"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7" name="Shape 13"/>
          <p:cNvSpPr/>
          <p:nvPr/>
        </p:nvSpPr>
        <p:spPr>
          <a:xfrm>
            <a:off x="6429146" y="5143500"/>
            <a:ext cx="2467051"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sp>
        <p:nvSpPr>
          <p:cNvPr id="18" name="Shape 14"/>
          <p:cNvSpPr/>
          <p:nvPr/>
        </p:nvSpPr>
        <p:spPr>
          <a:xfrm>
            <a:off x="9191549" y="5143500"/>
            <a:ext cx="2180844" cy="1114654"/>
          </a:xfrm>
          <a:prstGeom prst="roundRect">
            <a:avLst>
              <a:gd name="adj" fmla="val 5609"/>
            </a:avLst>
          </a:prstGeom>
          <a:solidFill>
            <a:srgbClr val="FFFFFF"/>
          </a:solidFill>
          <a:ln w="12700">
            <a:solidFill>
              <a:srgbClr val="E2E8F0"/>
            </a:solidFill>
            <a:prstDash val="solid"/>
          </a:ln>
          <a:effectLst>
            <a:outerShdw blurRad="76200" dist="25400" dir="16200000" algn="bl" rotWithShape="0">
              <a:srgbClr val="000000">
                <a:alpha val="2000"/>
              </a:srgbClr>
            </a:outerShdw>
          </a:effectLst>
        </p:spPr>
        <p:txBody>
          <a:bodyPr/>
          <a:lstStyle/>
          <a:p>
            <a:endParaRPr lang="en-US"/>
          </a:p>
        </p:txBody>
      </p:sp>
      <p:pic>
        <p:nvPicPr>
          <p:cNvPr id="19" name="Image 2" descr="gen-dedup-06e3d16aa0e9246458a784af17ea21a8.png"/>
          <p:cNvPicPr>
            <a:picLocks noChangeAspect="1"/>
          </p:cNvPicPr>
          <p:nvPr/>
        </p:nvPicPr>
        <p:blipFill>
          <a:blip r:embed="rId5"/>
          <a:srcRect l="-437" r="-437"/>
          <a:stretch/>
        </p:blipFill>
        <p:spPr>
          <a:xfrm>
            <a:off x="647395" y="743407"/>
            <a:ext cx="57607" cy="418795"/>
          </a:xfrm>
          <a:prstGeom prst="rect">
            <a:avLst/>
          </a:prstGeom>
        </p:spPr>
      </p:pic>
      <p:sp>
        <p:nvSpPr>
          <p:cNvPr id="20" name="Text 15"/>
          <p:cNvSpPr txBox="1"/>
          <p:nvPr/>
        </p:nvSpPr>
        <p:spPr>
          <a:xfrm>
            <a:off x="857707" y="685800"/>
            <a:ext cx="10478110" cy="419710"/>
          </a:xfrm>
          <a:prstGeom prst="rect">
            <a:avLst/>
          </a:prstGeom>
          <a:noFill/>
          <a:ln/>
        </p:spPr>
        <p:txBody>
          <a:bodyPr wrap="square" lIns="0" tIns="0" rIns="0" bIns="0" rtlCol="0" anchor="ctr"/>
          <a:lstStyle/>
          <a:p>
            <a:pPr marL="0" indent="0" algn="l">
              <a:buNone/>
            </a:pPr>
            <a:r>
              <a:rPr lang="en-US" sz="3000" b="1" dirty="0">
                <a:solidFill>
                  <a:srgbClr val="111827"/>
                </a:solidFill>
                <a:latin typeface="Oswald" pitchFamily="34" charset="0"/>
                <a:ea typeface="Oswald" pitchFamily="34" charset="-122"/>
                <a:cs typeface="Oswald" pitchFamily="34" charset="-120"/>
              </a:rPr>
              <a:t>NEXT STEPS</a:t>
            </a:r>
            <a:endParaRPr lang="en-US" sz="3000" dirty="0"/>
          </a:p>
        </p:txBody>
      </p:sp>
      <p:sp>
        <p:nvSpPr>
          <p:cNvPr id="21" name="Text 16"/>
          <p:cNvSpPr txBox="1"/>
          <p:nvPr/>
        </p:nvSpPr>
        <p:spPr>
          <a:xfrm>
            <a:off x="857707" y="1143000"/>
            <a:ext cx="10478110" cy="181051"/>
          </a:xfrm>
          <a:prstGeom prst="rect">
            <a:avLst/>
          </a:prstGeom>
          <a:noFill/>
          <a:ln/>
        </p:spPr>
        <p:txBody>
          <a:bodyPr wrap="square" lIns="0" tIns="0" rIns="0" bIns="0" rtlCol="0" anchor="ctr"/>
          <a:lstStyle/>
          <a:p>
            <a:pPr marL="0" indent="0" algn="l">
              <a:buNone/>
            </a:pPr>
            <a:r>
              <a:rPr lang="en-US" sz="1200" b="1" kern="0" spc="60" dirty="0">
                <a:solidFill>
                  <a:srgbClr val="2A9D8F"/>
                </a:solidFill>
                <a:latin typeface="Roboto Condensed" pitchFamily="34" charset="0"/>
                <a:ea typeface="Roboto Condensed" pitchFamily="34" charset="-122"/>
                <a:cs typeface="Roboto Condensed" pitchFamily="34" charset="-120"/>
              </a:rPr>
              <a:t>FLEXIBLE ENGAGEMENT MODELS TAILORED TO YOUR THREE-YEAR ROADMAP</a:t>
            </a:r>
            <a:endParaRPr lang="en-US" sz="1200" dirty="0"/>
          </a:p>
        </p:txBody>
      </p:sp>
      <p:sp>
        <p:nvSpPr>
          <p:cNvPr id="22" name="Shape 17"/>
          <p:cNvSpPr/>
          <p:nvPr/>
        </p:nvSpPr>
        <p:spPr>
          <a:xfrm>
            <a:off x="838505" y="1762049"/>
            <a:ext cx="457200" cy="457200"/>
          </a:xfrm>
          <a:prstGeom prst="roundRect">
            <a:avLst>
              <a:gd name="adj" fmla="val 66667"/>
            </a:avLst>
          </a:prstGeom>
          <a:solidFill>
            <a:srgbClr val="E6F3F1"/>
          </a:solidFill>
          <a:ln w="12700">
            <a:solidFill>
              <a:srgbClr val="FFFFFF">
                <a:alpha val="0"/>
              </a:srgbClr>
            </a:solidFill>
            <a:prstDash val="solid"/>
          </a:ln>
        </p:spPr>
        <p:txBody>
          <a:bodyPr/>
          <a:lstStyle/>
          <a:p>
            <a:endParaRPr lang="en-US"/>
          </a:p>
        </p:txBody>
      </p:sp>
      <p:pic>
        <p:nvPicPr>
          <p:cNvPr id="23" name="Image 3" descr="gen-dedup-fa5d0b435e79f3035aaec6593bf7cfb3.png"/>
          <p:cNvPicPr>
            <a:picLocks noChangeAspect="1"/>
          </p:cNvPicPr>
          <p:nvPr/>
        </p:nvPicPr>
        <p:blipFill>
          <a:blip r:embed="rId6"/>
          <a:srcRect l="-3526" r="-3526"/>
          <a:stretch/>
        </p:blipFill>
        <p:spPr>
          <a:xfrm>
            <a:off x="990295" y="1895551"/>
            <a:ext cx="152705" cy="190195"/>
          </a:xfrm>
          <a:prstGeom prst="rect">
            <a:avLst/>
          </a:prstGeom>
        </p:spPr>
      </p:pic>
      <p:sp>
        <p:nvSpPr>
          <p:cNvPr id="24" name="Text 18"/>
          <p:cNvSpPr txBox="1"/>
          <p:nvPr/>
        </p:nvSpPr>
        <p:spPr>
          <a:xfrm>
            <a:off x="1447495" y="1794967"/>
            <a:ext cx="1995221"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Discovery Workshop</a:t>
            </a:r>
            <a:endParaRPr lang="en-US" sz="1600"/>
          </a:p>
        </p:txBody>
      </p:sp>
      <p:sp>
        <p:nvSpPr>
          <p:cNvPr id="25" name="Text 19"/>
          <p:cNvSpPr txBox="1"/>
          <p:nvPr/>
        </p:nvSpPr>
        <p:spPr>
          <a:xfrm>
            <a:off x="1447495" y="2043684"/>
            <a:ext cx="1677010"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~90 Minutes</a:t>
            </a:r>
            <a:endParaRPr lang="en-US" sz="900"/>
          </a:p>
        </p:txBody>
      </p:sp>
      <p:sp>
        <p:nvSpPr>
          <p:cNvPr id="26" name="Shape 20"/>
          <p:cNvSpPr/>
          <p:nvPr/>
        </p:nvSpPr>
        <p:spPr>
          <a:xfrm>
            <a:off x="3259836" y="1762049"/>
            <a:ext cx="705002" cy="256946"/>
          </a:xfrm>
          <a:prstGeom prst="roundRect">
            <a:avLst>
              <a:gd name="adj" fmla="val 316331"/>
            </a:avLst>
          </a:prstGeom>
          <a:solidFill>
            <a:srgbClr val="E6F3F1"/>
          </a:solidFill>
          <a:ln w="12700">
            <a:solidFill>
              <a:srgbClr val="FFFFFF">
                <a:alpha val="0"/>
              </a:srgbClr>
            </a:solidFill>
            <a:prstDash val="solid"/>
          </a:ln>
        </p:spPr>
        <p:txBody>
          <a:bodyPr/>
          <a:lstStyle/>
          <a:p>
            <a:endParaRPr lang="en-US"/>
          </a:p>
        </p:txBody>
      </p:sp>
      <p:sp>
        <p:nvSpPr>
          <p:cNvPr id="27" name="Text 21"/>
          <p:cNvSpPr txBox="1"/>
          <p:nvPr/>
        </p:nvSpPr>
        <p:spPr>
          <a:xfrm>
            <a:off x="838505"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KEY DELIVERABLES</a:t>
            </a:r>
            <a:endParaRPr lang="en-US" sz="900"/>
          </a:p>
        </p:txBody>
      </p:sp>
      <p:pic>
        <p:nvPicPr>
          <p:cNvPr id="28" name="Image 4" descr="gen-dedup-2910efa1624004b251a6644ba5a6ae47.png"/>
          <p:cNvPicPr>
            <a:picLocks noChangeAspect="1"/>
          </p:cNvPicPr>
          <p:nvPr/>
        </p:nvPicPr>
        <p:blipFill>
          <a:blip r:embed="rId7"/>
          <a:srcRect t="-27726" b="-27726"/>
          <a:stretch/>
        </p:blipFill>
        <p:spPr>
          <a:xfrm>
            <a:off x="838505" y="2734056"/>
            <a:ext cx="85954" cy="152705"/>
          </a:xfrm>
          <a:prstGeom prst="rect">
            <a:avLst/>
          </a:prstGeom>
        </p:spPr>
      </p:pic>
      <p:sp>
        <p:nvSpPr>
          <p:cNvPr id="29" name="Text 22"/>
          <p:cNvSpPr txBox="1"/>
          <p:nvPr/>
        </p:nvSpPr>
        <p:spPr>
          <a:xfrm>
            <a:off x="1019556" y="2695651"/>
            <a:ext cx="2732227"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Use case identification &amp; prioritization</a:t>
            </a:r>
            <a:endParaRPr lang="en-US" sz="1000"/>
          </a:p>
        </p:txBody>
      </p:sp>
      <p:pic>
        <p:nvPicPr>
          <p:cNvPr id="30" name="Image 5" descr="gen-dedup-2910efa1624004b251a6644ba5a6ae47.png"/>
          <p:cNvPicPr>
            <a:picLocks noChangeAspect="1"/>
          </p:cNvPicPr>
          <p:nvPr/>
        </p:nvPicPr>
        <p:blipFill>
          <a:blip r:embed="rId7"/>
          <a:srcRect t="-27726" b="-27726"/>
          <a:stretch/>
        </p:blipFill>
        <p:spPr>
          <a:xfrm>
            <a:off x="838505" y="3019349"/>
            <a:ext cx="85954" cy="152705"/>
          </a:xfrm>
          <a:prstGeom prst="rect">
            <a:avLst/>
          </a:prstGeom>
        </p:spPr>
      </p:pic>
      <p:sp>
        <p:nvSpPr>
          <p:cNvPr id="31" name="Text 23"/>
          <p:cNvSpPr txBox="1"/>
          <p:nvPr/>
        </p:nvSpPr>
        <p:spPr>
          <a:xfrm>
            <a:off x="1019556" y="2980944"/>
            <a:ext cx="1972361"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Value hypothesis definition</a:t>
            </a:r>
            <a:endParaRPr lang="en-US" sz="1000"/>
          </a:p>
        </p:txBody>
      </p:sp>
      <p:pic>
        <p:nvPicPr>
          <p:cNvPr id="32" name="Image 6" descr="gen-dedup-2910efa1624004b251a6644ba5a6ae47.png"/>
          <p:cNvPicPr>
            <a:picLocks noChangeAspect="1"/>
          </p:cNvPicPr>
          <p:nvPr/>
        </p:nvPicPr>
        <p:blipFill>
          <a:blip r:embed="rId7"/>
          <a:srcRect t="-27726" b="-27726"/>
          <a:stretch/>
        </p:blipFill>
        <p:spPr>
          <a:xfrm>
            <a:off x="838505" y="3305556"/>
            <a:ext cx="85954" cy="152705"/>
          </a:xfrm>
          <a:prstGeom prst="rect">
            <a:avLst/>
          </a:prstGeom>
        </p:spPr>
      </p:pic>
      <p:sp>
        <p:nvSpPr>
          <p:cNvPr id="33" name="Text 24"/>
          <p:cNvSpPr txBox="1"/>
          <p:nvPr/>
        </p:nvSpPr>
        <p:spPr>
          <a:xfrm>
            <a:off x="1019556" y="3267151"/>
            <a:ext cx="3377794" cy="191110"/>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High-level roadmap aligned to 70/30 strategy</a:t>
            </a:r>
            <a:endParaRPr lang="en-US" sz="1000"/>
          </a:p>
        </p:txBody>
      </p:sp>
      <p:sp>
        <p:nvSpPr>
          <p:cNvPr id="34" name="Text 25"/>
          <p:cNvSpPr txBox="1"/>
          <p:nvPr/>
        </p:nvSpPr>
        <p:spPr>
          <a:xfrm>
            <a:off x="3354934" y="1848002"/>
            <a:ext cx="662026" cy="124358"/>
          </a:xfrm>
          <a:prstGeom prst="rect">
            <a:avLst/>
          </a:prstGeom>
          <a:noFill/>
          <a:ln/>
        </p:spPr>
        <p:txBody>
          <a:bodyPr wrap="square" lIns="0" tIns="0" rIns="0" bIns="0" rtlCol="0" anchor="ctr"/>
          <a:lstStyle/>
          <a:p>
            <a:pPr marL="0" indent="0" algn="l">
              <a:buNone/>
            </a:pPr>
            <a:r>
              <a:rPr lang="en-US" sz="800" b="1">
                <a:solidFill>
                  <a:srgbClr val="2A9D8F"/>
                </a:solidFill>
                <a:latin typeface="Roboto Condensed" pitchFamily="34" charset="0"/>
                <a:ea typeface="Roboto Condensed" pitchFamily="34" charset="-122"/>
                <a:cs typeface="Roboto Condensed" pitchFamily="34" charset="-120"/>
              </a:rPr>
              <a:t>LOW TOUCH</a:t>
            </a:r>
            <a:endParaRPr lang="en-US" sz="800"/>
          </a:p>
        </p:txBody>
      </p:sp>
      <p:sp>
        <p:nvSpPr>
          <p:cNvPr id="35" name="Shape 26"/>
          <p:cNvSpPr/>
          <p:nvPr/>
        </p:nvSpPr>
        <p:spPr>
          <a:xfrm>
            <a:off x="4533595" y="1762049"/>
            <a:ext cx="457200" cy="457200"/>
          </a:xfrm>
          <a:prstGeom prst="roundRect">
            <a:avLst>
              <a:gd name="adj" fmla="val 66667"/>
            </a:avLst>
          </a:prstGeom>
          <a:solidFill>
            <a:srgbClr val="FBE6E8"/>
          </a:solidFill>
          <a:ln w="12700">
            <a:solidFill>
              <a:srgbClr val="FFFFFF">
                <a:alpha val="0"/>
              </a:srgbClr>
            </a:solidFill>
            <a:prstDash val="solid"/>
          </a:ln>
        </p:spPr>
        <p:txBody>
          <a:bodyPr/>
          <a:lstStyle/>
          <a:p>
            <a:endParaRPr lang="en-US"/>
          </a:p>
        </p:txBody>
      </p:sp>
      <p:pic>
        <p:nvPicPr>
          <p:cNvPr id="36" name="Image 7" descr="gen-dedup-302cf04975ca72dffec5134ed5b99fbe.png"/>
          <p:cNvPicPr>
            <a:picLocks noChangeAspect="1"/>
          </p:cNvPicPr>
          <p:nvPr/>
        </p:nvPicPr>
        <p:blipFill>
          <a:blip r:embed="rId8"/>
          <a:srcRect t="-4491" b="-4491"/>
          <a:stretch/>
        </p:blipFill>
        <p:spPr>
          <a:xfrm>
            <a:off x="4686300" y="1895551"/>
            <a:ext cx="152705" cy="190195"/>
          </a:xfrm>
          <a:prstGeom prst="rect">
            <a:avLst/>
          </a:prstGeom>
        </p:spPr>
      </p:pic>
      <p:sp>
        <p:nvSpPr>
          <p:cNvPr id="37" name="Text 27"/>
          <p:cNvSpPr txBox="1"/>
          <p:nvPr/>
        </p:nvSpPr>
        <p:spPr>
          <a:xfrm>
            <a:off x="5143500" y="1794967"/>
            <a:ext cx="1825142"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Assessment &amp; PoC</a:t>
            </a:r>
            <a:endParaRPr lang="en-US" sz="1600"/>
          </a:p>
        </p:txBody>
      </p:sp>
      <p:sp>
        <p:nvSpPr>
          <p:cNvPr id="38" name="Text 28"/>
          <p:cNvSpPr txBox="1"/>
          <p:nvPr/>
        </p:nvSpPr>
        <p:spPr>
          <a:xfrm>
            <a:off x="5143500" y="2043684"/>
            <a:ext cx="1534363"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4 Weeks</a:t>
            </a:r>
            <a:endParaRPr lang="en-US" sz="900"/>
          </a:p>
        </p:txBody>
      </p:sp>
      <p:sp>
        <p:nvSpPr>
          <p:cNvPr id="39" name="Shape 29"/>
          <p:cNvSpPr/>
          <p:nvPr/>
        </p:nvSpPr>
        <p:spPr>
          <a:xfrm>
            <a:off x="6982358" y="1762049"/>
            <a:ext cx="676656" cy="256946"/>
          </a:xfrm>
          <a:prstGeom prst="roundRect">
            <a:avLst>
              <a:gd name="adj" fmla="val 316331"/>
            </a:avLst>
          </a:prstGeom>
          <a:solidFill>
            <a:srgbClr val="FBE6E8"/>
          </a:solidFill>
          <a:ln w="12700">
            <a:solidFill>
              <a:srgbClr val="FFFFFF">
                <a:alpha val="0"/>
              </a:srgbClr>
            </a:solidFill>
            <a:prstDash val="solid"/>
          </a:ln>
        </p:spPr>
        <p:txBody>
          <a:bodyPr/>
          <a:lstStyle/>
          <a:p>
            <a:endParaRPr lang="en-US"/>
          </a:p>
        </p:txBody>
      </p:sp>
      <p:sp>
        <p:nvSpPr>
          <p:cNvPr id="40" name="Text 30"/>
          <p:cNvSpPr txBox="1"/>
          <p:nvPr/>
        </p:nvSpPr>
        <p:spPr>
          <a:xfrm>
            <a:off x="4533595"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KEY DELIVERABLES</a:t>
            </a:r>
            <a:endParaRPr lang="en-US" sz="900"/>
          </a:p>
        </p:txBody>
      </p:sp>
      <p:pic>
        <p:nvPicPr>
          <p:cNvPr id="41" name="Image 8" descr="gen-dedup-3f480c66afa147b2245dea2610bb3896.png"/>
          <p:cNvPicPr>
            <a:picLocks noChangeAspect="1"/>
          </p:cNvPicPr>
          <p:nvPr/>
        </p:nvPicPr>
        <p:blipFill>
          <a:blip r:embed="rId9"/>
          <a:srcRect t="-12832" b="-12832"/>
          <a:stretch/>
        </p:blipFill>
        <p:spPr>
          <a:xfrm>
            <a:off x="4533595" y="2734056"/>
            <a:ext cx="85954" cy="123444"/>
          </a:xfrm>
          <a:prstGeom prst="rect">
            <a:avLst/>
          </a:prstGeom>
        </p:spPr>
      </p:pic>
      <p:sp>
        <p:nvSpPr>
          <p:cNvPr id="42" name="Text 31"/>
          <p:cNvSpPr txBox="1"/>
          <p:nvPr/>
        </p:nvSpPr>
        <p:spPr>
          <a:xfrm>
            <a:off x="4714646" y="2695651"/>
            <a:ext cx="215432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Target state architecture design</a:t>
            </a:r>
            <a:endParaRPr lang="en-US" sz="900"/>
          </a:p>
        </p:txBody>
      </p:sp>
      <p:pic>
        <p:nvPicPr>
          <p:cNvPr id="43" name="Image 9" descr="gen-dedup-3f480c66afa147b2245dea2610bb3896.png"/>
          <p:cNvPicPr>
            <a:picLocks noChangeAspect="1"/>
          </p:cNvPicPr>
          <p:nvPr/>
        </p:nvPicPr>
        <p:blipFill>
          <a:blip r:embed="rId9"/>
          <a:srcRect t="-12832" b="-12832"/>
          <a:stretch/>
        </p:blipFill>
        <p:spPr>
          <a:xfrm>
            <a:off x="4533595" y="2971800"/>
            <a:ext cx="85954" cy="123444"/>
          </a:xfrm>
          <a:prstGeom prst="rect">
            <a:avLst/>
          </a:prstGeom>
        </p:spPr>
      </p:pic>
      <p:sp>
        <p:nvSpPr>
          <p:cNvPr id="44" name="Text 32"/>
          <p:cNvSpPr txBox="1"/>
          <p:nvPr/>
        </p:nvSpPr>
        <p:spPr>
          <a:xfrm>
            <a:off x="4714646" y="2933395"/>
            <a:ext cx="250545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Working pilot / MVP implementation</a:t>
            </a:r>
            <a:endParaRPr lang="en-US" sz="900"/>
          </a:p>
        </p:txBody>
      </p:sp>
      <p:pic>
        <p:nvPicPr>
          <p:cNvPr id="45" name="Image 10" descr="gen-dedup-3f480c66afa147b2245dea2610bb3896.png"/>
          <p:cNvPicPr>
            <a:picLocks noChangeAspect="1"/>
          </p:cNvPicPr>
          <p:nvPr/>
        </p:nvPicPr>
        <p:blipFill>
          <a:blip r:embed="rId9"/>
          <a:srcRect t="-12832" b="-12832"/>
          <a:stretch/>
        </p:blipFill>
        <p:spPr>
          <a:xfrm>
            <a:off x="4533595" y="3209544"/>
            <a:ext cx="85954" cy="123444"/>
          </a:xfrm>
          <a:prstGeom prst="rect">
            <a:avLst/>
          </a:prstGeom>
        </p:spPr>
      </p:pic>
      <p:sp>
        <p:nvSpPr>
          <p:cNvPr id="46" name="Text 33"/>
          <p:cNvSpPr txBox="1"/>
          <p:nvPr/>
        </p:nvSpPr>
        <p:spPr>
          <a:xfrm>
            <a:off x="4714646" y="3172054"/>
            <a:ext cx="2278685"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Detailed ROI model &amp; rollout plan</a:t>
            </a:r>
            <a:endParaRPr lang="en-US" sz="900"/>
          </a:p>
        </p:txBody>
      </p:sp>
      <p:pic>
        <p:nvPicPr>
          <p:cNvPr id="47" name="Image 11" descr="gen-dedup-3f480c66afa147b2245dea2610bb3896.png"/>
          <p:cNvPicPr>
            <a:picLocks noChangeAspect="1"/>
          </p:cNvPicPr>
          <p:nvPr/>
        </p:nvPicPr>
        <p:blipFill>
          <a:blip r:embed="rId9"/>
          <a:srcRect t="-12832" b="-12832"/>
          <a:stretch/>
        </p:blipFill>
        <p:spPr>
          <a:xfrm>
            <a:off x="4533595" y="3448202"/>
            <a:ext cx="85954" cy="123444"/>
          </a:xfrm>
          <a:prstGeom prst="rect">
            <a:avLst/>
          </a:prstGeom>
        </p:spPr>
      </p:pic>
      <p:sp>
        <p:nvSpPr>
          <p:cNvPr id="48" name="Text 34"/>
          <p:cNvSpPr txBox="1"/>
          <p:nvPr/>
        </p:nvSpPr>
        <p:spPr>
          <a:xfrm>
            <a:off x="4714646" y="3409798"/>
            <a:ext cx="2108606" cy="162763"/>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Vendor integration assessment</a:t>
            </a:r>
            <a:endParaRPr lang="en-US" sz="900"/>
          </a:p>
        </p:txBody>
      </p:sp>
      <p:sp>
        <p:nvSpPr>
          <p:cNvPr id="49" name="Text 35"/>
          <p:cNvSpPr txBox="1"/>
          <p:nvPr/>
        </p:nvSpPr>
        <p:spPr>
          <a:xfrm>
            <a:off x="7077456" y="1848002"/>
            <a:ext cx="658368" cy="124358"/>
          </a:xfrm>
          <a:prstGeom prst="rect">
            <a:avLst/>
          </a:prstGeom>
          <a:noFill/>
          <a:ln/>
        </p:spPr>
        <p:txBody>
          <a:bodyPr wrap="square" lIns="0" tIns="0" rIns="0" bIns="0" rtlCol="0" anchor="ctr"/>
          <a:lstStyle/>
          <a:p>
            <a:pPr marL="0" indent="0" algn="l">
              <a:buNone/>
            </a:pPr>
            <a:r>
              <a:rPr lang="en-US" sz="800" b="1">
                <a:solidFill>
                  <a:srgbClr val="D62839"/>
                </a:solidFill>
                <a:latin typeface="Roboto Condensed" pitchFamily="34" charset="0"/>
                <a:ea typeface="Roboto Condensed" pitchFamily="34" charset="-122"/>
                <a:cs typeface="Roboto Condensed" pitchFamily="34" charset="-120"/>
              </a:rPr>
              <a:t>STRATEGIC</a:t>
            </a:r>
            <a:endParaRPr lang="en-US" sz="800"/>
          </a:p>
        </p:txBody>
      </p:sp>
      <p:sp>
        <p:nvSpPr>
          <p:cNvPr id="50" name="Shape 36"/>
          <p:cNvSpPr/>
          <p:nvPr/>
        </p:nvSpPr>
        <p:spPr>
          <a:xfrm>
            <a:off x="8229600" y="1762049"/>
            <a:ext cx="457200" cy="457200"/>
          </a:xfrm>
          <a:prstGeom prst="roundRect">
            <a:avLst>
              <a:gd name="adj" fmla="val 66667"/>
            </a:avLst>
          </a:prstGeom>
          <a:solidFill>
            <a:srgbClr val="F1F5F9"/>
          </a:solidFill>
          <a:ln w="12700">
            <a:solidFill>
              <a:srgbClr val="FFFFFF">
                <a:alpha val="0"/>
              </a:srgbClr>
            </a:solidFill>
            <a:prstDash val="solid"/>
          </a:ln>
        </p:spPr>
        <p:txBody>
          <a:bodyPr/>
          <a:lstStyle/>
          <a:p>
            <a:endParaRPr lang="en-US"/>
          </a:p>
        </p:txBody>
      </p:sp>
      <p:pic>
        <p:nvPicPr>
          <p:cNvPr id="51" name="Image 12" descr="gen-dedup-e104b6e838315a11dc2d3bf260faf00b.png"/>
          <p:cNvPicPr>
            <a:picLocks noChangeAspect="1"/>
          </p:cNvPicPr>
          <p:nvPr/>
        </p:nvPicPr>
        <p:blipFill>
          <a:blip r:embed="rId10"/>
          <a:srcRect t="-27844" b="-27844"/>
          <a:stretch/>
        </p:blipFill>
        <p:spPr>
          <a:xfrm>
            <a:off x="8382305" y="1895551"/>
            <a:ext cx="152705" cy="190195"/>
          </a:xfrm>
          <a:prstGeom prst="rect">
            <a:avLst/>
          </a:prstGeom>
        </p:spPr>
      </p:pic>
      <p:sp>
        <p:nvSpPr>
          <p:cNvPr id="52" name="Text 37"/>
          <p:cNvSpPr txBox="1"/>
          <p:nvPr/>
        </p:nvSpPr>
        <p:spPr>
          <a:xfrm>
            <a:off x="8839505" y="1794967"/>
            <a:ext cx="1938528" cy="238658"/>
          </a:xfrm>
          <a:prstGeom prst="rect">
            <a:avLst/>
          </a:prstGeom>
          <a:noFill/>
          <a:ln/>
        </p:spPr>
        <p:txBody>
          <a:bodyPr wrap="squar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Build &amp; Run Models</a:t>
            </a:r>
            <a:endParaRPr lang="en-US" sz="1600"/>
          </a:p>
        </p:txBody>
      </p:sp>
      <p:sp>
        <p:nvSpPr>
          <p:cNvPr id="53" name="Text 38"/>
          <p:cNvSpPr txBox="1"/>
          <p:nvPr/>
        </p:nvSpPr>
        <p:spPr>
          <a:xfrm>
            <a:off x="8839505" y="2043684"/>
            <a:ext cx="1629461" cy="143561"/>
          </a:xfrm>
          <a:prstGeom prst="rect">
            <a:avLst/>
          </a:prstGeom>
          <a:noFill/>
          <a:ln/>
        </p:spPr>
        <p:txBody>
          <a:bodyPr wrap="square" lIns="0" tIns="0" rIns="0" bIns="0" rtlCol="0" anchor="ctr"/>
          <a:lstStyle/>
          <a:p>
            <a:pPr marL="0" indent="0" algn="l">
              <a:buNone/>
            </a:pPr>
            <a:r>
              <a:rPr lang="en-US" sz="900">
                <a:solidFill>
                  <a:srgbClr val="64748B"/>
                </a:solidFill>
                <a:latin typeface="Raleway" pitchFamily="34" charset="0"/>
                <a:ea typeface="Raleway" pitchFamily="34" charset="-122"/>
                <a:cs typeface="Raleway" pitchFamily="34" charset="-120"/>
              </a:rPr>
              <a:t>Duration: Multi-Year</a:t>
            </a:r>
            <a:endParaRPr lang="en-US" sz="900"/>
          </a:p>
        </p:txBody>
      </p:sp>
      <p:sp>
        <p:nvSpPr>
          <p:cNvPr id="54" name="Shape 39"/>
          <p:cNvSpPr/>
          <p:nvPr/>
        </p:nvSpPr>
        <p:spPr>
          <a:xfrm>
            <a:off x="10555834" y="1762049"/>
            <a:ext cx="800100" cy="256946"/>
          </a:xfrm>
          <a:prstGeom prst="roundRect">
            <a:avLst>
              <a:gd name="adj" fmla="val 316331"/>
            </a:avLst>
          </a:prstGeom>
          <a:solidFill>
            <a:srgbClr val="F1F5F9"/>
          </a:solidFill>
          <a:ln w="12700">
            <a:solidFill>
              <a:srgbClr val="FFFFFF">
                <a:alpha val="0"/>
              </a:srgbClr>
            </a:solidFill>
            <a:prstDash val="solid"/>
          </a:ln>
        </p:spPr>
        <p:txBody>
          <a:bodyPr/>
          <a:lstStyle/>
          <a:p>
            <a:endParaRPr lang="en-US"/>
          </a:p>
        </p:txBody>
      </p:sp>
      <p:sp>
        <p:nvSpPr>
          <p:cNvPr id="55" name="Text 40"/>
          <p:cNvSpPr txBox="1"/>
          <p:nvPr/>
        </p:nvSpPr>
        <p:spPr>
          <a:xfrm>
            <a:off x="8229600" y="2447849"/>
            <a:ext cx="3124505" cy="133502"/>
          </a:xfrm>
          <a:prstGeom prst="rect">
            <a:avLst/>
          </a:prstGeom>
          <a:noFill/>
          <a:ln/>
        </p:spPr>
        <p:txBody>
          <a:bodyPr wrap="square" lIns="0" tIns="0" rIns="0" bIns="0" rtlCol="0" anchor="ctr"/>
          <a:lstStyle/>
          <a:p>
            <a:pPr marL="0" indent="0" algn="l">
              <a:buNone/>
            </a:pPr>
            <a:r>
              <a:rPr lang="en-US" sz="900" b="1" kern="0" spc="45">
                <a:solidFill>
                  <a:srgbClr val="94A3B8"/>
                </a:solidFill>
                <a:latin typeface="Roboto Condensed" pitchFamily="34" charset="0"/>
                <a:ea typeface="Roboto Condensed" pitchFamily="34" charset="-122"/>
                <a:cs typeface="Roboto Condensed" pitchFamily="34" charset="-120"/>
              </a:rPr>
              <a:t>COMMERCIAL MODELS</a:t>
            </a:r>
            <a:endParaRPr lang="en-US" sz="900"/>
          </a:p>
        </p:txBody>
      </p:sp>
      <p:pic>
        <p:nvPicPr>
          <p:cNvPr id="56" name="Image 13" descr="gen-dedup-06c19e2f143b52e69c4653630769d291.png"/>
          <p:cNvPicPr>
            <a:picLocks noChangeAspect="1"/>
          </p:cNvPicPr>
          <p:nvPr/>
        </p:nvPicPr>
        <p:blipFill>
          <a:blip r:embed="rId11"/>
          <a:srcRect t="-27726" b="-27726"/>
          <a:stretch/>
        </p:blipFill>
        <p:spPr>
          <a:xfrm>
            <a:off x="8229600" y="2734056"/>
            <a:ext cx="85954" cy="152705"/>
          </a:xfrm>
          <a:prstGeom prst="rect">
            <a:avLst/>
          </a:prstGeom>
        </p:spPr>
      </p:pic>
      <p:sp>
        <p:nvSpPr>
          <p:cNvPr id="57" name="Text 41"/>
          <p:cNvSpPr txBox="1"/>
          <p:nvPr/>
        </p:nvSpPr>
        <p:spPr>
          <a:xfrm>
            <a:off x="8410651" y="2695651"/>
            <a:ext cx="2879446" cy="191110"/>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Fixed Scope:</a:t>
            </a:r>
            <a:r>
              <a:rPr lang="en-US" sz="1000">
                <a:solidFill>
                  <a:srgbClr val="475569"/>
                </a:solidFill>
                <a:latin typeface="Raleway" pitchFamily="34" charset="0"/>
                <a:ea typeface="Raleway" pitchFamily="34" charset="-122"/>
                <a:cs typeface="Raleway" pitchFamily="34" charset="-120"/>
              </a:rPr>
              <a:t> For defined project builds</a:t>
            </a:r>
            <a:endParaRPr lang="en-US" sz="1000"/>
          </a:p>
        </p:txBody>
      </p:sp>
      <p:pic>
        <p:nvPicPr>
          <p:cNvPr id="58" name="Image 14" descr="gen-dedup-06c19e2f143b52e69c4653630769d291.png"/>
          <p:cNvPicPr>
            <a:picLocks noChangeAspect="1"/>
          </p:cNvPicPr>
          <p:nvPr/>
        </p:nvPicPr>
        <p:blipFill>
          <a:blip r:embed="rId11"/>
          <a:srcRect t="-27726" b="-27726"/>
          <a:stretch/>
        </p:blipFill>
        <p:spPr>
          <a:xfrm>
            <a:off x="8229600" y="3038551"/>
            <a:ext cx="85954" cy="152705"/>
          </a:xfrm>
          <a:prstGeom prst="rect">
            <a:avLst/>
          </a:prstGeom>
        </p:spPr>
      </p:pic>
      <p:sp>
        <p:nvSpPr>
          <p:cNvPr id="59" name="Text 42"/>
          <p:cNvSpPr txBox="1"/>
          <p:nvPr/>
        </p:nvSpPr>
        <p:spPr>
          <a:xfrm>
            <a:off x="8410651" y="3000146"/>
            <a:ext cx="3038551" cy="191110"/>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Managed Service:</a:t>
            </a:r>
            <a:r>
              <a:rPr lang="en-US" sz="1000">
                <a:solidFill>
                  <a:srgbClr val="475569"/>
                </a:solidFill>
                <a:latin typeface="Raleway" pitchFamily="34" charset="0"/>
                <a:ea typeface="Raleway" pitchFamily="34" charset="-122"/>
                <a:cs typeface="Raleway" pitchFamily="34" charset="-120"/>
              </a:rPr>
              <a:t> SLA-driven operations</a:t>
            </a:r>
            <a:endParaRPr lang="en-US" sz="1000"/>
          </a:p>
        </p:txBody>
      </p:sp>
      <p:pic>
        <p:nvPicPr>
          <p:cNvPr id="60" name="Image 15" descr="gen-dedup-3678629b4a5ad6139a7cc5dcf1ee97ee.png"/>
          <p:cNvPicPr>
            <a:picLocks noChangeAspect="1"/>
          </p:cNvPicPr>
          <p:nvPr/>
        </p:nvPicPr>
        <p:blipFill>
          <a:blip r:embed="rId12"/>
          <a:srcRect t="-119879" b="-119879"/>
          <a:stretch/>
        </p:blipFill>
        <p:spPr>
          <a:xfrm>
            <a:off x="8229600" y="3343046"/>
            <a:ext cx="85954" cy="333756"/>
          </a:xfrm>
          <a:prstGeom prst="rect">
            <a:avLst/>
          </a:prstGeom>
        </p:spPr>
      </p:pic>
      <p:sp>
        <p:nvSpPr>
          <p:cNvPr id="61" name="Text 43"/>
          <p:cNvSpPr txBox="1"/>
          <p:nvPr/>
        </p:nvSpPr>
        <p:spPr>
          <a:xfrm>
            <a:off x="8410651" y="3305556"/>
            <a:ext cx="2943454" cy="381305"/>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Outcome-Based:</a:t>
            </a:r>
            <a:r>
              <a:rPr lang="en-US" sz="1000">
                <a:solidFill>
                  <a:srgbClr val="475569"/>
                </a:solidFill>
                <a:latin typeface="Raleway" pitchFamily="34" charset="0"/>
                <a:ea typeface="Raleway" pitchFamily="34" charset="-122"/>
                <a:cs typeface="Raleway" pitchFamily="34" charset="-120"/>
              </a:rPr>
              <a:t> Gain-share pricing tied to value</a:t>
            </a:r>
            <a:endParaRPr lang="en-US" sz="1000"/>
          </a:p>
        </p:txBody>
      </p:sp>
      <p:sp>
        <p:nvSpPr>
          <p:cNvPr id="62" name="Text 44"/>
          <p:cNvSpPr txBox="1"/>
          <p:nvPr/>
        </p:nvSpPr>
        <p:spPr>
          <a:xfrm>
            <a:off x="10650931" y="1848002"/>
            <a:ext cx="806501" cy="124358"/>
          </a:xfrm>
          <a:prstGeom prst="rect">
            <a:avLst/>
          </a:prstGeom>
          <a:noFill/>
          <a:ln/>
        </p:spPr>
        <p:txBody>
          <a:bodyPr wrap="square" lIns="0" tIns="0" rIns="0" bIns="0" rtlCol="0" anchor="ctr"/>
          <a:lstStyle/>
          <a:p>
            <a:pPr marL="0" indent="0" algn="l">
              <a:buNone/>
            </a:pPr>
            <a:r>
              <a:rPr lang="en-US" sz="800" b="1">
                <a:solidFill>
                  <a:srgbClr val="334155"/>
                </a:solidFill>
                <a:latin typeface="Roboto Condensed" pitchFamily="34" charset="0"/>
                <a:ea typeface="Roboto Condensed" pitchFamily="34" charset="-122"/>
                <a:cs typeface="Roboto Condensed" pitchFamily="34" charset="-120"/>
              </a:rPr>
              <a:t>PARTNERSHIP</a:t>
            </a:r>
            <a:endParaRPr lang="en-US" sz="800"/>
          </a:p>
        </p:txBody>
      </p:sp>
      <p:pic>
        <p:nvPicPr>
          <p:cNvPr id="63" name="Image 16" descr="gen-dedup-a2699a036d9634824b4953ceddf6835e.png"/>
          <p:cNvPicPr>
            <a:picLocks noChangeAspect="1"/>
          </p:cNvPicPr>
          <p:nvPr/>
        </p:nvPicPr>
        <p:blipFill>
          <a:blip r:embed="rId13"/>
          <a:srcRect t="-16800" b="-16800"/>
          <a:stretch/>
        </p:blipFill>
        <p:spPr>
          <a:xfrm>
            <a:off x="905256" y="4809744"/>
            <a:ext cx="114300" cy="152705"/>
          </a:xfrm>
          <a:prstGeom prst="rect">
            <a:avLst/>
          </a:prstGeom>
        </p:spPr>
      </p:pic>
      <p:sp>
        <p:nvSpPr>
          <p:cNvPr id="64" name="Text 45"/>
          <p:cNvSpPr txBox="1"/>
          <p:nvPr/>
        </p:nvSpPr>
        <p:spPr>
          <a:xfrm>
            <a:off x="1114654" y="4762195"/>
            <a:ext cx="3151937" cy="247802"/>
          </a:xfrm>
          <a:prstGeom prst="rect">
            <a:avLst/>
          </a:prstGeom>
          <a:noFill/>
          <a:ln/>
        </p:spPr>
        <p:txBody>
          <a:bodyPr wrap="square" lIns="0" tIns="0" rIns="0" bIns="0" rtlCol="0" anchor="ctr"/>
          <a:lstStyle/>
          <a:p>
            <a:pPr marL="0" indent="0" algn="l">
              <a:buNone/>
            </a:pPr>
            <a:r>
              <a:rPr lang="en-US" sz="1300" b="1" kern="0" spc="27">
                <a:solidFill>
                  <a:srgbClr val="1E293B"/>
                </a:solidFill>
                <a:latin typeface="Oswald" pitchFamily="34" charset="0"/>
                <a:ea typeface="Oswald" pitchFamily="34" charset="-122"/>
                <a:cs typeface="Oswald" pitchFamily="34" charset="-120"/>
              </a:rPr>
              <a:t>SAMPLE IMPLEMENTATION ROADMAP</a:t>
            </a:r>
            <a:endParaRPr lang="en-US" sz="1300"/>
          </a:p>
        </p:txBody>
      </p:sp>
      <p:sp>
        <p:nvSpPr>
          <p:cNvPr id="65" name="Text 46"/>
          <p:cNvSpPr txBox="1"/>
          <p:nvPr/>
        </p:nvSpPr>
        <p:spPr>
          <a:xfrm>
            <a:off x="1047902" y="5315407"/>
            <a:ext cx="719633" cy="133502"/>
          </a:xfrm>
          <a:prstGeom prst="rect">
            <a:avLst/>
          </a:prstGeom>
          <a:noFill/>
          <a:ln/>
        </p:spPr>
        <p:txBody>
          <a:bodyPr wrap="square" lIns="0" tIns="0" rIns="0" bIns="0" rtlCol="0" anchor="ctr"/>
          <a:lstStyle/>
          <a:p>
            <a:pPr marL="0" indent="0" algn="l">
              <a:buNone/>
            </a:pPr>
            <a:r>
              <a:rPr lang="en-US" sz="900" b="1">
                <a:solidFill>
                  <a:srgbClr val="2A9D8F"/>
                </a:solidFill>
                <a:latin typeface="Roboto Condensed" pitchFamily="34" charset="0"/>
                <a:ea typeface="Roboto Condensed" pitchFamily="34" charset="-122"/>
                <a:cs typeface="Roboto Condensed" pitchFamily="34" charset="-120"/>
              </a:rPr>
              <a:t>DISCOVERY</a:t>
            </a:r>
            <a:endParaRPr lang="en-US" sz="900"/>
          </a:p>
        </p:txBody>
      </p:sp>
      <p:sp>
        <p:nvSpPr>
          <p:cNvPr id="66" name="Text 47"/>
          <p:cNvSpPr txBox="1"/>
          <p:nvPr/>
        </p:nvSpPr>
        <p:spPr>
          <a:xfrm>
            <a:off x="3063240" y="5238598"/>
            <a:ext cx="18196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Q1</a:t>
            </a:r>
            <a:endParaRPr lang="en-US" sz="1200"/>
          </a:p>
        </p:txBody>
      </p:sp>
      <p:sp>
        <p:nvSpPr>
          <p:cNvPr id="67" name="Text 48"/>
          <p:cNvSpPr txBox="1"/>
          <p:nvPr/>
        </p:nvSpPr>
        <p:spPr>
          <a:xfrm>
            <a:off x="1047902"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Assess readiness, define scope, select initial use cases</a:t>
            </a:r>
            <a:endParaRPr lang="en-US" sz="900"/>
          </a:p>
        </p:txBody>
      </p:sp>
      <p:sp>
        <p:nvSpPr>
          <p:cNvPr id="68" name="Shape 49"/>
          <p:cNvSpPr/>
          <p:nvPr/>
        </p:nvSpPr>
        <p:spPr>
          <a:xfrm>
            <a:off x="1047902" y="6117336"/>
            <a:ext cx="562356" cy="9144"/>
          </a:xfrm>
          <a:prstGeom prst="rect">
            <a:avLst/>
          </a:prstGeom>
          <a:solidFill>
            <a:srgbClr val="E6F3F1"/>
          </a:solidFill>
          <a:ln w="12700">
            <a:solidFill>
              <a:srgbClr val="E6F3F1">
                <a:alpha val="0"/>
              </a:srgbClr>
            </a:solidFill>
            <a:prstDash val="solid"/>
          </a:ln>
        </p:spPr>
        <p:txBody>
          <a:bodyPr/>
          <a:lstStyle/>
          <a:p>
            <a:endParaRPr lang="en-US"/>
          </a:p>
        </p:txBody>
      </p:sp>
      <p:sp>
        <p:nvSpPr>
          <p:cNvPr id="69" name="Text 50"/>
          <p:cNvSpPr txBox="1"/>
          <p:nvPr/>
        </p:nvSpPr>
        <p:spPr>
          <a:xfrm>
            <a:off x="1104595" y="5964631"/>
            <a:ext cx="716890" cy="124358"/>
          </a:xfrm>
          <a:prstGeom prst="rect">
            <a:avLst/>
          </a:prstGeom>
          <a:noFill/>
          <a:ln/>
        </p:spPr>
        <p:txBody>
          <a:bodyPr wrap="square" lIns="0" tIns="0" rIns="0" bIns="0" rtlCol="0" anchor="ctr"/>
          <a:lstStyle/>
          <a:p>
            <a:pPr marL="0" indent="0" algn="l">
              <a:buNone/>
            </a:pPr>
            <a:r>
              <a:rPr lang="en-US" sz="800" b="1">
                <a:solidFill>
                  <a:srgbClr val="2A9D8F"/>
                </a:solidFill>
                <a:latin typeface="Raleway" pitchFamily="34" charset="0"/>
                <a:ea typeface="Raleway" pitchFamily="34" charset="-122"/>
                <a:cs typeface="Raleway" pitchFamily="34" charset="-120"/>
              </a:rPr>
              <a:t>Initiation</a:t>
            </a:r>
            <a:endParaRPr lang="en-US" sz="800"/>
          </a:p>
        </p:txBody>
      </p:sp>
      <p:pic>
        <p:nvPicPr>
          <p:cNvPr id="70" name="Image 17" descr="gen-dedup-6bab9f986820d248c4d42c53288c0e5d.png"/>
          <p:cNvPicPr>
            <a:picLocks noChangeAspect="1"/>
          </p:cNvPicPr>
          <p:nvPr/>
        </p:nvPicPr>
        <p:blipFill>
          <a:blip r:embed="rId14"/>
          <a:srcRect t="-5544" b="-5544"/>
          <a:stretch/>
        </p:blipFill>
        <p:spPr>
          <a:xfrm>
            <a:off x="3452774" y="5627218"/>
            <a:ext cx="105156" cy="133502"/>
          </a:xfrm>
          <a:prstGeom prst="rect">
            <a:avLst/>
          </a:prstGeom>
        </p:spPr>
      </p:pic>
      <p:sp>
        <p:nvSpPr>
          <p:cNvPr id="71" name="Text 51"/>
          <p:cNvSpPr txBox="1"/>
          <p:nvPr/>
        </p:nvSpPr>
        <p:spPr>
          <a:xfrm>
            <a:off x="3810305" y="5315407"/>
            <a:ext cx="864108" cy="133502"/>
          </a:xfrm>
          <a:prstGeom prst="rect">
            <a:avLst/>
          </a:prstGeom>
          <a:noFill/>
          <a:ln/>
        </p:spPr>
        <p:txBody>
          <a:bodyPr wrap="square" lIns="0" tIns="0" rIns="0" bIns="0" rtlCol="0" anchor="ctr"/>
          <a:lstStyle/>
          <a:p>
            <a:pPr marL="0" indent="0" algn="l">
              <a:buNone/>
            </a:pPr>
            <a:r>
              <a:rPr lang="en-US" sz="900" b="1">
                <a:solidFill>
                  <a:srgbClr val="D62839"/>
                </a:solidFill>
                <a:latin typeface="Roboto Condensed" pitchFamily="34" charset="0"/>
                <a:ea typeface="Roboto Condensed" pitchFamily="34" charset="-122"/>
                <a:cs typeface="Roboto Condensed" pitchFamily="34" charset="-120"/>
              </a:rPr>
              <a:t>PILOT / POC</a:t>
            </a:r>
            <a:endParaRPr lang="en-US" sz="900"/>
          </a:p>
        </p:txBody>
      </p:sp>
      <p:sp>
        <p:nvSpPr>
          <p:cNvPr id="72" name="Text 52"/>
          <p:cNvSpPr txBox="1"/>
          <p:nvPr/>
        </p:nvSpPr>
        <p:spPr>
          <a:xfrm>
            <a:off x="5807354"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Q2</a:t>
            </a:r>
            <a:endParaRPr lang="en-US" sz="1200"/>
          </a:p>
        </p:txBody>
      </p:sp>
      <p:sp>
        <p:nvSpPr>
          <p:cNvPr id="73" name="Text 53"/>
          <p:cNvSpPr txBox="1"/>
          <p:nvPr/>
        </p:nvSpPr>
        <p:spPr>
          <a:xfrm>
            <a:off x="3810305"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MVP build, user testing, architecture validation</a:t>
            </a:r>
            <a:endParaRPr lang="en-US" sz="900"/>
          </a:p>
        </p:txBody>
      </p:sp>
      <p:sp>
        <p:nvSpPr>
          <p:cNvPr id="74" name="Shape 54"/>
          <p:cNvSpPr/>
          <p:nvPr/>
        </p:nvSpPr>
        <p:spPr>
          <a:xfrm>
            <a:off x="3810305" y="5897880"/>
            <a:ext cx="629107" cy="219456"/>
          </a:xfrm>
          <a:prstGeom prst="roundRect">
            <a:avLst>
              <a:gd name="adj" fmla="val 144928"/>
            </a:avLst>
          </a:prstGeom>
          <a:solidFill>
            <a:srgbClr val="FEF2F2"/>
          </a:solidFill>
          <a:ln w="12700">
            <a:solidFill>
              <a:srgbClr val="FFFFFF">
                <a:alpha val="0"/>
              </a:srgbClr>
            </a:solidFill>
            <a:prstDash val="solid"/>
          </a:ln>
        </p:spPr>
        <p:txBody>
          <a:bodyPr/>
          <a:lstStyle/>
          <a:p>
            <a:endParaRPr lang="en-US"/>
          </a:p>
        </p:txBody>
      </p:sp>
      <p:sp>
        <p:nvSpPr>
          <p:cNvPr id="75" name="Text 55"/>
          <p:cNvSpPr txBox="1"/>
          <p:nvPr/>
        </p:nvSpPr>
        <p:spPr>
          <a:xfrm>
            <a:off x="3866998" y="5964631"/>
            <a:ext cx="726948" cy="124358"/>
          </a:xfrm>
          <a:prstGeom prst="rect">
            <a:avLst/>
          </a:prstGeom>
          <a:noFill/>
          <a:ln/>
        </p:spPr>
        <p:txBody>
          <a:bodyPr wrap="square" lIns="0" tIns="0" rIns="0" bIns="0" rtlCol="0" anchor="ctr"/>
          <a:lstStyle/>
          <a:p>
            <a:pPr marL="0" indent="0" algn="l">
              <a:buNone/>
            </a:pPr>
            <a:r>
              <a:rPr lang="en-US" sz="800" b="1">
                <a:solidFill>
                  <a:srgbClr val="D62839"/>
                </a:solidFill>
                <a:latin typeface="Raleway" pitchFamily="34" charset="0"/>
                <a:ea typeface="Raleway" pitchFamily="34" charset="-122"/>
                <a:cs typeface="Raleway" pitchFamily="34" charset="-120"/>
              </a:rPr>
              <a:t>Validation</a:t>
            </a:r>
            <a:endParaRPr lang="en-US" sz="800"/>
          </a:p>
        </p:txBody>
      </p:sp>
      <p:pic>
        <p:nvPicPr>
          <p:cNvPr id="76" name="Image 18" descr="gen-dedup-6bab9f986820d248c4d42c53288c0e5d.png"/>
          <p:cNvPicPr>
            <a:picLocks noChangeAspect="1"/>
          </p:cNvPicPr>
          <p:nvPr/>
        </p:nvPicPr>
        <p:blipFill>
          <a:blip r:embed="rId14"/>
          <a:srcRect t="-5544" b="-5544"/>
          <a:stretch/>
        </p:blipFill>
        <p:spPr>
          <a:xfrm>
            <a:off x="6215177" y="5627218"/>
            <a:ext cx="105156" cy="133502"/>
          </a:xfrm>
          <a:prstGeom prst="rect">
            <a:avLst/>
          </a:prstGeom>
        </p:spPr>
      </p:pic>
      <p:sp>
        <p:nvSpPr>
          <p:cNvPr id="77" name="Text 56"/>
          <p:cNvSpPr txBox="1"/>
          <p:nvPr/>
        </p:nvSpPr>
        <p:spPr>
          <a:xfrm>
            <a:off x="6572707" y="5315407"/>
            <a:ext cx="402336" cy="133502"/>
          </a:xfrm>
          <a:prstGeom prst="rect">
            <a:avLst/>
          </a:prstGeom>
          <a:noFill/>
          <a:ln/>
        </p:spPr>
        <p:txBody>
          <a:bodyPr wrap="square" lIns="0" tIns="0" rIns="0" bIns="0" rtlCol="0" anchor="ctr"/>
          <a:lstStyle/>
          <a:p>
            <a:pPr marL="0" indent="0" algn="l">
              <a:buNone/>
            </a:pPr>
            <a:r>
              <a:rPr lang="en-US" sz="900" b="1">
                <a:solidFill>
                  <a:srgbClr val="1E293B"/>
                </a:solidFill>
                <a:latin typeface="Roboto Condensed" pitchFamily="34" charset="0"/>
                <a:ea typeface="Roboto Condensed" pitchFamily="34" charset="-122"/>
                <a:cs typeface="Roboto Condensed" pitchFamily="34" charset="-120"/>
              </a:rPr>
              <a:t>SCALE</a:t>
            </a:r>
            <a:endParaRPr lang="en-US" sz="900"/>
          </a:p>
        </p:txBody>
      </p:sp>
      <p:sp>
        <p:nvSpPr>
          <p:cNvPr id="78" name="Text 57"/>
          <p:cNvSpPr txBox="1"/>
          <p:nvPr/>
        </p:nvSpPr>
        <p:spPr>
          <a:xfrm>
            <a:off x="8569757"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Q3</a:t>
            </a:r>
            <a:endParaRPr lang="en-US" sz="1200"/>
          </a:p>
        </p:txBody>
      </p:sp>
      <p:sp>
        <p:nvSpPr>
          <p:cNvPr id="79" name="Text 58"/>
          <p:cNvSpPr txBox="1"/>
          <p:nvPr/>
        </p:nvSpPr>
        <p:spPr>
          <a:xfrm>
            <a:off x="6572707" y="5505602"/>
            <a:ext cx="2162556"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Production deployment, integration, vendor onboarding</a:t>
            </a:r>
            <a:endParaRPr lang="en-US" sz="900"/>
          </a:p>
        </p:txBody>
      </p:sp>
      <p:sp>
        <p:nvSpPr>
          <p:cNvPr id="80" name="Shape 59"/>
          <p:cNvSpPr/>
          <p:nvPr/>
        </p:nvSpPr>
        <p:spPr>
          <a:xfrm>
            <a:off x="6572707" y="5897880"/>
            <a:ext cx="619049" cy="219456"/>
          </a:xfrm>
          <a:prstGeom prst="roundRect">
            <a:avLst>
              <a:gd name="adj" fmla="val 144928"/>
            </a:avLst>
          </a:prstGeom>
          <a:solidFill>
            <a:srgbClr val="F1F5F9"/>
          </a:solidFill>
          <a:ln w="12700">
            <a:solidFill>
              <a:srgbClr val="FFFFFF">
                <a:alpha val="0"/>
              </a:srgbClr>
            </a:solidFill>
            <a:prstDash val="solid"/>
          </a:ln>
        </p:spPr>
        <p:txBody>
          <a:bodyPr/>
          <a:lstStyle/>
          <a:p>
            <a:endParaRPr lang="en-US"/>
          </a:p>
        </p:txBody>
      </p:sp>
      <p:sp>
        <p:nvSpPr>
          <p:cNvPr id="81" name="Text 60"/>
          <p:cNvSpPr txBox="1"/>
          <p:nvPr/>
        </p:nvSpPr>
        <p:spPr>
          <a:xfrm>
            <a:off x="6629400" y="5964631"/>
            <a:ext cx="661111" cy="124358"/>
          </a:xfrm>
          <a:prstGeom prst="rect">
            <a:avLst/>
          </a:prstGeom>
          <a:noFill/>
          <a:ln/>
        </p:spPr>
        <p:txBody>
          <a:bodyPr wrap="square" lIns="0" tIns="0" rIns="0" bIns="0" rtlCol="0" anchor="ctr"/>
          <a:lstStyle/>
          <a:p>
            <a:pPr marL="0" indent="0" algn="l">
              <a:buNone/>
            </a:pPr>
            <a:r>
              <a:rPr lang="en-US" sz="800" b="1">
                <a:solidFill>
                  <a:srgbClr val="475569"/>
                </a:solidFill>
                <a:latin typeface="Raleway" pitchFamily="34" charset="0"/>
                <a:ea typeface="Raleway" pitchFamily="34" charset="-122"/>
                <a:cs typeface="Raleway" pitchFamily="34" charset="-120"/>
              </a:rPr>
              <a:t>Execution</a:t>
            </a:r>
            <a:endParaRPr lang="en-US" sz="800"/>
          </a:p>
        </p:txBody>
      </p:sp>
      <p:pic>
        <p:nvPicPr>
          <p:cNvPr id="82" name="Image 19" descr="gen-dedup-6bab9f986820d248c4d42c53288c0e5d.png"/>
          <p:cNvPicPr>
            <a:picLocks noChangeAspect="1"/>
          </p:cNvPicPr>
          <p:nvPr/>
        </p:nvPicPr>
        <p:blipFill>
          <a:blip r:embed="rId14"/>
          <a:srcRect t="-5544" b="-5544"/>
          <a:stretch/>
        </p:blipFill>
        <p:spPr>
          <a:xfrm>
            <a:off x="8977579" y="5627218"/>
            <a:ext cx="105156" cy="133502"/>
          </a:xfrm>
          <a:prstGeom prst="rect">
            <a:avLst/>
          </a:prstGeom>
        </p:spPr>
      </p:pic>
      <p:sp>
        <p:nvSpPr>
          <p:cNvPr id="83" name="Text 61"/>
          <p:cNvSpPr txBox="1"/>
          <p:nvPr/>
        </p:nvSpPr>
        <p:spPr>
          <a:xfrm>
            <a:off x="9334195" y="5315407"/>
            <a:ext cx="637337" cy="133502"/>
          </a:xfrm>
          <a:prstGeom prst="rect">
            <a:avLst/>
          </a:prstGeom>
          <a:noFill/>
          <a:ln/>
        </p:spPr>
        <p:txBody>
          <a:bodyPr wrap="square" lIns="0" tIns="0" rIns="0" bIns="0" rtlCol="0" anchor="ctr"/>
          <a:lstStyle/>
          <a:p>
            <a:pPr marL="0" indent="0" algn="l">
              <a:buNone/>
            </a:pPr>
            <a:r>
              <a:rPr lang="en-US" sz="900" b="1">
                <a:solidFill>
                  <a:srgbClr val="1E293B"/>
                </a:solidFill>
                <a:latin typeface="Roboto Condensed" pitchFamily="34" charset="0"/>
                <a:ea typeface="Roboto Condensed" pitchFamily="34" charset="-122"/>
                <a:cs typeface="Roboto Condensed" pitchFamily="34" charset="-120"/>
              </a:rPr>
              <a:t>OPTIMIZE</a:t>
            </a:r>
            <a:endParaRPr lang="en-US" sz="900"/>
          </a:p>
        </p:txBody>
      </p:sp>
      <p:sp>
        <p:nvSpPr>
          <p:cNvPr id="84" name="Text 62"/>
          <p:cNvSpPr txBox="1"/>
          <p:nvPr/>
        </p:nvSpPr>
        <p:spPr>
          <a:xfrm>
            <a:off x="11044123" y="5238598"/>
            <a:ext cx="196596" cy="228600"/>
          </a:xfrm>
          <a:prstGeom prst="rect">
            <a:avLst/>
          </a:prstGeom>
          <a:noFill/>
          <a:ln/>
        </p:spPr>
        <p:txBody>
          <a:bodyPr wrap="square" lIns="0" tIns="0" rIns="0" bIns="0" rtlCol="0" anchor="ctr"/>
          <a:lstStyle/>
          <a:p>
            <a:pPr marL="0" indent="0" algn="l">
              <a:buNone/>
            </a:pPr>
            <a:r>
              <a:rPr lang="en-US" sz="1200" b="1">
                <a:solidFill>
                  <a:srgbClr val="CBD5E1"/>
                </a:solidFill>
                <a:latin typeface="Oswald" pitchFamily="34" charset="0"/>
                <a:ea typeface="Oswald" pitchFamily="34" charset="-122"/>
                <a:cs typeface="Oswald" pitchFamily="34" charset="-120"/>
              </a:rPr>
              <a:t>Q4</a:t>
            </a:r>
            <a:endParaRPr lang="en-US" sz="1200"/>
          </a:p>
        </p:txBody>
      </p:sp>
      <p:sp>
        <p:nvSpPr>
          <p:cNvPr id="85" name="Text 63"/>
          <p:cNvSpPr txBox="1"/>
          <p:nvPr/>
        </p:nvSpPr>
        <p:spPr>
          <a:xfrm>
            <a:off x="9334195" y="5505602"/>
            <a:ext cx="1877263" cy="305410"/>
          </a:xfrm>
          <a:prstGeom prst="rect">
            <a:avLst/>
          </a:prstGeom>
          <a:noFill/>
          <a:ln/>
        </p:spPr>
        <p:txBody>
          <a:bodyPr wrap="square" lIns="0" tIns="0" rIns="0" bIns="0" rtlCol="0" anchor="ctr"/>
          <a:lstStyle/>
          <a:p>
            <a:pPr marL="0" indent="0" algn="l">
              <a:buNone/>
            </a:pPr>
            <a:r>
              <a:rPr lang="en-US" sz="900">
                <a:solidFill>
                  <a:srgbClr val="475569"/>
                </a:solidFill>
                <a:latin typeface="Raleway" pitchFamily="34" charset="0"/>
                <a:ea typeface="Raleway" pitchFamily="34" charset="-122"/>
                <a:cs typeface="Raleway" pitchFamily="34" charset="-120"/>
              </a:rPr>
              <a:t>Run ops, process tuning, continuous improvement</a:t>
            </a:r>
            <a:endParaRPr lang="en-US" sz="900"/>
          </a:p>
        </p:txBody>
      </p:sp>
      <p:sp>
        <p:nvSpPr>
          <p:cNvPr id="86" name="Text 64"/>
          <p:cNvSpPr txBox="1"/>
          <p:nvPr/>
        </p:nvSpPr>
        <p:spPr>
          <a:xfrm>
            <a:off x="9391802" y="5964631"/>
            <a:ext cx="737006" cy="124358"/>
          </a:xfrm>
          <a:prstGeom prst="rect">
            <a:avLst/>
          </a:prstGeom>
          <a:noFill/>
          <a:ln/>
        </p:spPr>
        <p:txBody>
          <a:bodyPr wrap="square" lIns="0" tIns="0" rIns="0" bIns="0" rtlCol="0" anchor="ctr"/>
          <a:lstStyle/>
          <a:p>
            <a:pPr marL="0" indent="0" algn="l">
              <a:buNone/>
            </a:pPr>
            <a:r>
              <a:rPr lang="en-US" sz="800" b="1">
                <a:solidFill>
                  <a:srgbClr val="64748B"/>
                </a:solidFill>
                <a:latin typeface="Raleway" pitchFamily="34" charset="0"/>
                <a:ea typeface="Raleway" pitchFamily="34" charset="-122"/>
                <a:cs typeface="Raleway" pitchFamily="34" charset="-120"/>
              </a:rPr>
              <a:t>Refinement</a:t>
            </a:r>
            <a:endParaRPr lang="en-US" sz="800"/>
          </a:p>
        </p:txBody>
      </p:sp>
    </p:spTree>
    <p:extLst>
      <p:ext uri="{BB962C8B-B14F-4D97-AF65-F5344CB8AC3E}">
        <p14:creationId xmlns:p14="http://schemas.microsoft.com/office/powerpoint/2010/main" val="1153050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8382305" y="-1429207"/>
            <a:ext cx="4762195" cy="4762195"/>
          </a:xfrm>
          <a:prstGeom prst="ellipse">
            <a:avLst/>
          </a:prstGeom>
          <a:solidFill>
            <a:srgbClr val="2A9D8F">
              <a:alpha val="3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952805" y="4476902"/>
            <a:ext cx="3810305" cy="3810305"/>
          </a:xfrm>
          <a:prstGeom prst="ellipse">
            <a:avLst/>
          </a:prstGeom>
          <a:solidFill>
            <a:srgbClr val="D62839">
              <a:alpha val="2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Image 0" descr="preencoded.png"/>
          <p:cNvPicPr>
            <a:picLocks noChangeAspect="1"/>
          </p:cNvPicPr>
          <p:nvPr/>
        </p:nvPicPr>
        <p:blipFill>
          <a:blip r:embed="rId3"/>
          <a:srcRect l="-202" r="-202"/>
          <a:stretch/>
        </p:blipFill>
        <p:spPr>
          <a:xfrm>
            <a:off x="0" y="6782105"/>
            <a:ext cx="8128102" cy="75895"/>
          </a:xfrm>
          <a:prstGeom prst="rect">
            <a:avLst/>
          </a:prstGeom>
        </p:spPr>
      </p:pic>
      <p:pic>
        <p:nvPicPr>
          <p:cNvPr id="7" name="Image 1" descr="preencoded.png"/>
          <p:cNvPicPr>
            <a:picLocks noChangeAspect="1"/>
          </p:cNvPicPr>
          <p:nvPr/>
        </p:nvPicPr>
        <p:blipFill>
          <a:blip r:embed="rId4"/>
          <a:srcRect l="-197" r="-197"/>
          <a:stretch/>
        </p:blipFill>
        <p:spPr>
          <a:xfrm>
            <a:off x="8128102" y="6782105"/>
            <a:ext cx="4063594" cy="75895"/>
          </a:xfrm>
          <a:prstGeom prst="rect">
            <a:avLst/>
          </a:prstGeom>
        </p:spPr>
      </p:pic>
      <p:pic>
        <p:nvPicPr>
          <p:cNvPr id="8" name="Image 2" descr="preencoded.png"/>
          <p:cNvPicPr>
            <a:picLocks noChangeAspect="1"/>
          </p:cNvPicPr>
          <p:nvPr/>
        </p:nvPicPr>
        <p:blipFill>
          <a:blip r:embed="rId5"/>
          <a:srcRect t="60" b="60"/>
          <a:stretch/>
        </p:blipFill>
        <p:spPr>
          <a:xfrm>
            <a:off x="4121201" y="914400"/>
            <a:ext cx="3952951" cy="1904695"/>
          </a:xfrm>
          <a:prstGeom prst="rect">
            <a:avLst/>
          </a:prstGeom>
        </p:spPr>
      </p:pic>
      <p:pic>
        <p:nvPicPr>
          <p:cNvPr id="9" name="Image 3" descr="preencoded.png"/>
          <p:cNvPicPr>
            <a:picLocks noChangeAspect="1"/>
          </p:cNvPicPr>
          <p:nvPr/>
        </p:nvPicPr>
        <p:blipFill>
          <a:blip r:embed="rId6"/>
          <a:srcRect t="-420" b="-420"/>
          <a:stretch/>
        </p:blipFill>
        <p:spPr>
          <a:xfrm>
            <a:off x="5715000" y="3276295"/>
            <a:ext cx="761695" cy="38405"/>
          </a:xfrm>
          <a:prstGeom prst="rect">
            <a:avLst/>
          </a:prstGeom>
        </p:spPr>
      </p:pic>
      <p:sp>
        <p:nvSpPr>
          <p:cNvPr id="10" name="Text 4"/>
          <p:cNvSpPr txBox="1"/>
          <p:nvPr/>
        </p:nvSpPr>
        <p:spPr>
          <a:xfrm>
            <a:off x="3536899" y="3619195"/>
            <a:ext cx="5125212" cy="5715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0" i="1" u="none" strike="noStrike" kern="0" cap="none" spc="150" normalizeH="0" baseline="0" noProof="0">
                <a:ln>
                  <a:noFill/>
                </a:ln>
                <a:solidFill>
                  <a:srgbClr val="4B5563"/>
                </a:solidFill>
                <a:effectLst/>
                <a:uLnTx/>
                <a:uFillTx/>
                <a:latin typeface="Raleway" pitchFamily="34" charset="0"/>
                <a:ea typeface="Raleway" pitchFamily="34" charset="-122"/>
                <a:cs typeface="Raleway" pitchFamily="34" charset="-120"/>
              </a:rPr>
              <a:t>"Let's win together"</a:t>
            </a:r>
            <a:endParaRPr kumimoji="0" lang="en-US" sz="30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 name="Image 4" descr="preencoded.png"/>
          <p:cNvPicPr>
            <a:picLocks noChangeAspect="1"/>
          </p:cNvPicPr>
          <p:nvPr/>
        </p:nvPicPr>
        <p:blipFill>
          <a:blip r:embed="rId7"/>
          <a:srcRect/>
          <a:stretch/>
        </p:blipFill>
        <p:spPr>
          <a:xfrm>
            <a:off x="761695" y="5410505"/>
            <a:ext cx="761695" cy="761695"/>
          </a:xfrm>
          <a:prstGeom prst="rect">
            <a:avLst/>
          </a:prstGeom>
        </p:spPr>
      </p:pic>
      <p:pic>
        <p:nvPicPr>
          <p:cNvPr id="12" name="Image 5" descr="preencoded.png"/>
          <p:cNvPicPr>
            <a:picLocks noChangeAspect="1"/>
          </p:cNvPicPr>
          <p:nvPr/>
        </p:nvPicPr>
        <p:blipFill>
          <a:blip r:embed="rId8"/>
          <a:srcRect l="81" r="81"/>
          <a:stretch/>
        </p:blipFill>
        <p:spPr>
          <a:xfrm>
            <a:off x="3189427" y="5658307"/>
            <a:ext cx="809244" cy="267005"/>
          </a:xfrm>
          <a:prstGeom prst="rect">
            <a:avLst/>
          </a:prstGeom>
        </p:spPr>
      </p:pic>
      <p:pic>
        <p:nvPicPr>
          <p:cNvPr id="13" name="Image 6" descr="preencoded.png"/>
          <p:cNvPicPr>
            <a:picLocks noChangeAspect="1"/>
          </p:cNvPicPr>
          <p:nvPr/>
        </p:nvPicPr>
        <p:blipFill>
          <a:blip r:embed="rId9"/>
          <a:srcRect l="7" r="7"/>
          <a:stretch/>
        </p:blipFill>
        <p:spPr>
          <a:xfrm>
            <a:off x="5665622" y="5453482"/>
            <a:ext cx="724205" cy="676656"/>
          </a:xfrm>
          <a:prstGeom prst="rect">
            <a:avLst/>
          </a:prstGeom>
        </p:spPr>
      </p:pic>
      <p:pic>
        <p:nvPicPr>
          <p:cNvPr id="14" name="Image 7" descr="preencoded.png"/>
          <p:cNvPicPr>
            <a:picLocks noChangeAspect="1"/>
          </p:cNvPicPr>
          <p:nvPr/>
        </p:nvPicPr>
        <p:blipFill>
          <a:blip r:embed="rId10"/>
          <a:srcRect t="236" b="236"/>
          <a:stretch/>
        </p:blipFill>
        <p:spPr>
          <a:xfrm>
            <a:off x="8054950" y="5410505"/>
            <a:ext cx="1257300" cy="761695"/>
          </a:xfrm>
          <a:prstGeom prst="rect">
            <a:avLst/>
          </a:prstGeom>
        </p:spPr>
      </p:pic>
      <p:pic>
        <p:nvPicPr>
          <p:cNvPr id="15" name="Image 8" descr="preencoded.png"/>
          <p:cNvPicPr>
            <a:picLocks noChangeAspect="1"/>
          </p:cNvPicPr>
          <p:nvPr/>
        </p:nvPicPr>
        <p:blipFill>
          <a:blip r:embed="rId11"/>
          <a:srcRect t="23" b="24"/>
          <a:stretch/>
        </p:blipFill>
        <p:spPr>
          <a:xfrm>
            <a:off x="10972800" y="5548579"/>
            <a:ext cx="457200" cy="485546"/>
          </a:xfrm>
          <a:prstGeom prst="rect">
            <a:avLst/>
          </a:prstGeom>
        </p:spPr>
      </p:pic>
      <p:pic>
        <p:nvPicPr>
          <p:cNvPr id="16" name="Image 9" descr="preencoded.png"/>
          <p:cNvPicPr>
            <a:picLocks noChangeAspect="1"/>
          </p:cNvPicPr>
          <p:nvPr/>
        </p:nvPicPr>
        <p:blipFill>
          <a:blip r:embed="rId4"/>
          <a:srcRect l="-197" r="-197"/>
          <a:stretch/>
        </p:blipFill>
        <p:spPr>
          <a:xfrm>
            <a:off x="0" y="0"/>
            <a:ext cx="4063594" cy="75895"/>
          </a:xfrm>
          <a:prstGeom prst="rect">
            <a:avLst/>
          </a:prstGeom>
        </p:spPr>
      </p:pic>
      <p:pic>
        <p:nvPicPr>
          <p:cNvPr id="17" name="Image 10" descr="preencoded.png"/>
          <p:cNvPicPr>
            <a:picLocks noChangeAspect="1"/>
          </p:cNvPicPr>
          <p:nvPr/>
        </p:nvPicPr>
        <p:blipFill>
          <a:blip r:embed="rId3"/>
          <a:srcRect l="-202" r="-202"/>
          <a:stretch/>
        </p:blipFill>
        <p:spPr>
          <a:xfrm>
            <a:off x="4063594" y="0"/>
            <a:ext cx="8128102" cy="75895"/>
          </a:xfrm>
          <a:prstGeom prst="rect">
            <a:avLst/>
          </a:prstGeom>
        </p:spPr>
      </p:pic>
    </p:spTree>
    <p:extLst>
      <p:ext uri="{BB962C8B-B14F-4D97-AF65-F5344CB8AC3E}">
        <p14:creationId xmlns:p14="http://schemas.microsoft.com/office/powerpoint/2010/main" val="24674747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856D4-134A-581B-EC5E-520C5A537530}"/>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8A530831-F204-5E89-7B5A-76B52BF25A35}"/>
              </a:ext>
            </a:extLst>
          </p:cNvPr>
          <p:cNvSpPr/>
          <p:nvPr/>
        </p:nvSpPr>
        <p:spPr>
          <a:xfrm>
            <a:off x="9334195" y="-952805"/>
            <a:ext cx="3810305" cy="3810305"/>
          </a:xfrm>
          <a:prstGeom prst="ellipse">
            <a:avLst/>
          </a:prstGeom>
          <a:solidFill>
            <a:srgbClr val="2A9D8F">
              <a:alpha val="3000"/>
            </a:srgbClr>
          </a:solidFill>
          <a:ln w="12700">
            <a:solidFill>
              <a:srgbClr val="FFFFFF">
                <a:alpha val="0"/>
              </a:srgbClr>
            </a:solidFill>
            <a:prstDash val="solid"/>
          </a:ln>
        </p:spPr>
        <p:txBody>
          <a:bodyPr/>
          <a:lstStyle/>
          <a:p>
            <a:endParaRPr lang="en-US"/>
          </a:p>
        </p:txBody>
      </p:sp>
      <p:pic>
        <p:nvPicPr>
          <p:cNvPr id="5" name="Image 0" descr="gen-dedup-4ab2116e971fbb9400d0e99205bd0390.png">
            <a:extLst>
              <a:ext uri="{FF2B5EF4-FFF2-40B4-BE49-F238E27FC236}">
                <a16:creationId xmlns:a16="http://schemas.microsoft.com/office/drawing/2014/main" id="{9C2AF6D8-5D7F-C534-E8E4-DA00D9002C87}"/>
              </a:ext>
            </a:extLst>
          </p:cNvPr>
          <p:cNvPicPr>
            <a:picLocks noChangeAspect="1"/>
          </p:cNvPicPr>
          <p:nvPr/>
        </p:nvPicPr>
        <p:blipFill>
          <a:blip r:embed="rId3">
            <a:alphaModFix amt="5000"/>
          </a:blip>
          <a:srcRect/>
          <a:stretch/>
        </p:blipFill>
        <p:spPr>
          <a:xfrm>
            <a:off x="10001707" y="5238598"/>
            <a:ext cx="1904695" cy="1904695"/>
          </a:xfrm>
          <a:prstGeom prst="rect">
            <a:avLst/>
          </a:prstGeom>
        </p:spPr>
      </p:pic>
      <p:pic>
        <p:nvPicPr>
          <p:cNvPr id="6" name="Image 1" descr="gen-dedup-323228122ff92d2332e711a84ca3b40c.png">
            <a:extLst>
              <a:ext uri="{FF2B5EF4-FFF2-40B4-BE49-F238E27FC236}">
                <a16:creationId xmlns:a16="http://schemas.microsoft.com/office/drawing/2014/main" id="{BCEA5056-2FC8-FBB4-C394-8A4C143CC070}"/>
              </a:ext>
            </a:extLst>
          </p:cNvPr>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a:extLst>
              <a:ext uri="{FF2B5EF4-FFF2-40B4-BE49-F238E27FC236}">
                <a16:creationId xmlns:a16="http://schemas.microsoft.com/office/drawing/2014/main" id="{5A98248E-EE1B-23EF-94BB-766E2BC3FDC3}"/>
              </a:ext>
            </a:extLst>
          </p:cNvPr>
          <p:cNvPicPr>
            <a:picLocks noChangeAspect="1"/>
          </p:cNvPicPr>
          <p:nvPr/>
        </p:nvPicPr>
        <p:blipFill>
          <a:blip r:embed="rId5"/>
          <a:srcRect l="-202" r="-202"/>
          <a:stretch/>
        </p:blipFill>
        <p:spPr>
          <a:xfrm>
            <a:off x="8124444" y="0"/>
            <a:ext cx="4067251" cy="75895"/>
          </a:xfrm>
          <a:prstGeom prst="rect">
            <a:avLst/>
          </a:prstGeom>
        </p:spPr>
      </p:pic>
      <p:sp>
        <p:nvSpPr>
          <p:cNvPr id="8" name="Text 3">
            <a:extLst>
              <a:ext uri="{FF2B5EF4-FFF2-40B4-BE49-F238E27FC236}">
                <a16:creationId xmlns:a16="http://schemas.microsoft.com/office/drawing/2014/main" id="{3618C317-4414-EB34-2C38-0AC5944E1004}"/>
              </a:ext>
            </a:extLst>
          </p:cNvPr>
          <p:cNvSpPr txBox="1"/>
          <p:nvPr/>
        </p:nvSpPr>
        <p:spPr>
          <a:xfrm>
            <a:off x="381305" y="1143000"/>
            <a:ext cx="2382012" cy="1524305"/>
          </a:xfrm>
          <a:prstGeom prst="rect">
            <a:avLst/>
          </a:prstGeom>
          <a:noFill/>
          <a:ln/>
        </p:spPr>
        <p:txBody>
          <a:bodyPr wrap="none" lIns="0" tIns="0" rIns="0" bIns="0" rtlCol="0" anchor="ctr"/>
          <a:lstStyle/>
          <a:p>
            <a:pPr marL="0" indent="0" algn="l">
              <a:buNone/>
            </a:pPr>
            <a:r>
              <a:rPr lang="en-US" sz="12000" b="1">
                <a:solidFill>
                  <a:srgbClr val="F3F4F6"/>
                </a:solidFill>
                <a:latin typeface="Oswald" pitchFamily="34" charset="0"/>
                <a:ea typeface="Oswald" pitchFamily="34" charset="-122"/>
                <a:cs typeface="Oswald" pitchFamily="34" charset="-120"/>
              </a:rPr>
              <a:t>01</a:t>
            </a:r>
            <a:endParaRPr lang="en-US" sz="12000"/>
          </a:p>
        </p:txBody>
      </p:sp>
      <p:pic>
        <p:nvPicPr>
          <p:cNvPr id="11" name="Image 3" descr="gen-dedup-90395934058aa4b7c1bff00d7e70c0a4.png">
            <a:extLst>
              <a:ext uri="{FF2B5EF4-FFF2-40B4-BE49-F238E27FC236}">
                <a16:creationId xmlns:a16="http://schemas.microsoft.com/office/drawing/2014/main" id="{F31C911D-F040-F235-7735-291225B14DAB}"/>
              </a:ext>
            </a:extLst>
          </p:cNvPr>
          <p:cNvPicPr>
            <a:picLocks noChangeAspect="1"/>
          </p:cNvPicPr>
          <p:nvPr/>
        </p:nvPicPr>
        <p:blipFill>
          <a:blip r:embed="rId6"/>
          <a:srcRect l="-416" r="-416"/>
          <a:stretch/>
        </p:blipFill>
        <p:spPr>
          <a:xfrm>
            <a:off x="1143000" y="2428646"/>
            <a:ext cx="57607" cy="714146"/>
          </a:xfrm>
          <a:prstGeom prst="rect">
            <a:avLst/>
          </a:prstGeom>
        </p:spPr>
      </p:pic>
      <p:sp>
        <p:nvSpPr>
          <p:cNvPr id="12" name="Text 6">
            <a:extLst>
              <a:ext uri="{FF2B5EF4-FFF2-40B4-BE49-F238E27FC236}">
                <a16:creationId xmlns:a16="http://schemas.microsoft.com/office/drawing/2014/main" id="{832DFE89-9B52-C7A9-8829-A59C6834021E}"/>
              </a:ext>
            </a:extLst>
          </p:cNvPr>
          <p:cNvSpPr txBox="1"/>
          <p:nvPr/>
        </p:nvSpPr>
        <p:spPr>
          <a:xfrm>
            <a:off x="1429207" y="2333549"/>
            <a:ext cx="9525305" cy="762610"/>
          </a:xfrm>
          <a:prstGeom prst="rect">
            <a:avLst/>
          </a:prstGeom>
          <a:noFill/>
          <a:ln/>
        </p:spPr>
        <p:txBody>
          <a:bodyPr wrap="none" lIns="0" tIns="0" rIns="0" bIns="0" rtlCol="0" anchor="ctr"/>
          <a:lstStyle/>
          <a:p>
            <a:pPr marL="0" indent="0" algn="l">
              <a:buNone/>
            </a:pPr>
            <a:r>
              <a:rPr lang="en-US" sz="5400" b="1" kern="0" spc="108">
                <a:solidFill>
                  <a:srgbClr val="111827"/>
                </a:solidFill>
                <a:latin typeface="Oswald" pitchFamily="34" charset="0"/>
                <a:ea typeface="Oswald" pitchFamily="34" charset="-122"/>
                <a:cs typeface="Oswald" pitchFamily="34" charset="-120"/>
              </a:rPr>
              <a:t>WORKFORCE SOLUTIONS</a:t>
            </a:r>
          </a:p>
        </p:txBody>
      </p:sp>
      <p:sp>
        <p:nvSpPr>
          <p:cNvPr id="13" name="Text 7">
            <a:extLst>
              <a:ext uri="{FF2B5EF4-FFF2-40B4-BE49-F238E27FC236}">
                <a16:creationId xmlns:a16="http://schemas.microsoft.com/office/drawing/2014/main" id="{A9806661-5DF1-05EF-1477-AF6345A7FD0F}"/>
              </a:ext>
            </a:extLst>
          </p:cNvPr>
          <p:cNvSpPr txBox="1"/>
          <p:nvPr/>
        </p:nvSpPr>
        <p:spPr>
          <a:xfrm>
            <a:off x="1429207" y="3333902"/>
            <a:ext cx="10687507" cy="352958"/>
          </a:xfrm>
          <a:prstGeom prst="rect">
            <a:avLst/>
          </a:prstGeom>
          <a:noFill/>
          <a:ln/>
        </p:spPr>
        <p:txBody>
          <a:bodyPr wrap="none" lIns="0" tIns="0" rIns="0" bIns="0" rtlCol="0" anchor="ctr"/>
          <a:lstStyle/>
          <a:p>
            <a:pPr marL="0" indent="0" algn="l">
              <a:buNone/>
            </a:pPr>
            <a:r>
              <a:rPr lang="en-US" sz="2100">
                <a:solidFill>
                  <a:srgbClr val="2A9D8F"/>
                </a:solidFill>
                <a:latin typeface="Raleway" pitchFamily="34" charset="0"/>
                <a:ea typeface="Raleway" pitchFamily="34" charset="-122"/>
                <a:cs typeface="Raleway" pitchFamily="34" charset="-120"/>
              </a:rPr>
              <a:t>Domain-deep engineering talent - deployed, governed, and continuously upskilled</a:t>
            </a:r>
          </a:p>
        </p:txBody>
      </p:sp>
      <p:sp>
        <p:nvSpPr>
          <p:cNvPr id="14" name="Text 8">
            <a:extLst>
              <a:ext uri="{FF2B5EF4-FFF2-40B4-BE49-F238E27FC236}">
                <a16:creationId xmlns:a16="http://schemas.microsoft.com/office/drawing/2014/main" id="{3AA6F4EC-9880-9FAB-4776-CB7EC6C7DD60}"/>
              </a:ext>
            </a:extLst>
          </p:cNvPr>
          <p:cNvSpPr txBox="1"/>
          <p:nvPr/>
        </p:nvSpPr>
        <p:spPr>
          <a:xfrm>
            <a:off x="1429207" y="4143146"/>
            <a:ext cx="9335110" cy="5532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We don't place people. We deploy domain-certified engineers into governed pods - with sprint accountability, AI-powered sourcing, and a contract-to-hire model that keeps your risk low and your velocity high</a:t>
            </a:r>
            <a:endParaRPr lang="en-US" sz="1300"/>
          </a:p>
        </p:txBody>
      </p:sp>
      <p:pic>
        <p:nvPicPr>
          <p:cNvPr id="15" name="Image 4" descr="gen-dedup-818c62191cf4a66fb5704c7f87e3fedf.png">
            <a:extLst>
              <a:ext uri="{FF2B5EF4-FFF2-40B4-BE49-F238E27FC236}">
                <a16:creationId xmlns:a16="http://schemas.microsoft.com/office/drawing/2014/main" id="{3BE14DA7-645C-95C9-5C91-F96EFC962D61}"/>
              </a:ext>
            </a:extLst>
          </p:cNvPr>
          <p:cNvPicPr>
            <a:picLocks noChangeAspect="1"/>
          </p:cNvPicPr>
          <p:nvPr/>
        </p:nvPicPr>
        <p:blipFill>
          <a:blip r:embed="rId7"/>
          <a:srcRect l="-166" r="-166"/>
          <a:stretch/>
        </p:blipFill>
        <p:spPr>
          <a:xfrm>
            <a:off x="1429207" y="5143500"/>
            <a:ext cx="1933956" cy="418795"/>
          </a:xfrm>
          <a:prstGeom prst="rect">
            <a:avLst/>
          </a:prstGeom>
        </p:spPr>
      </p:pic>
      <p:sp>
        <p:nvSpPr>
          <p:cNvPr id="16" name="Shape 9">
            <a:extLst>
              <a:ext uri="{FF2B5EF4-FFF2-40B4-BE49-F238E27FC236}">
                <a16:creationId xmlns:a16="http://schemas.microsoft.com/office/drawing/2014/main" id="{9F4FE693-DA3B-61CF-1215-7B57E8924352}"/>
              </a:ext>
            </a:extLst>
          </p:cNvPr>
          <p:cNvSpPr/>
          <p:nvPr/>
        </p:nvSpPr>
        <p:spPr>
          <a:xfrm>
            <a:off x="1429207" y="5143500"/>
            <a:ext cx="1933956" cy="418795"/>
          </a:xfrm>
          <a:prstGeom prst="roundRect">
            <a:avLst>
              <a:gd name="adj" fmla="val 13755"/>
            </a:avLst>
          </a:prstGeom>
          <a:noFill/>
          <a:ln w="12700">
            <a:solidFill>
              <a:srgbClr val="E5E7EB"/>
            </a:solidFill>
            <a:prstDash val="solid"/>
          </a:ln>
        </p:spPr>
        <p:txBody>
          <a:bodyPr/>
          <a:lstStyle/>
          <a:p>
            <a:endParaRPr lang="en-US"/>
          </a:p>
        </p:txBody>
      </p:sp>
      <p:sp>
        <p:nvSpPr>
          <p:cNvPr id="17" name="Text 10">
            <a:extLst>
              <a:ext uri="{FF2B5EF4-FFF2-40B4-BE49-F238E27FC236}">
                <a16:creationId xmlns:a16="http://schemas.microsoft.com/office/drawing/2014/main" id="{442C24B0-8636-74A4-4FC8-8DBDB08299C1}"/>
              </a:ext>
            </a:extLst>
          </p:cNvPr>
          <p:cNvSpPr txBox="1"/>
          <p:nvPr/>
        </p:nvSpPr>
        <p:spPr>
          <a:xfrm>
            <a:off x="1653845" y="5143500"/>
            <a:ext cx="1495958"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10 days or less to </a:t>
            </a:r>
          </a:p>
          <a:p>
            <a:pPr marL="0" indent="0" algn="l">
              <a:buNone/>
            </a:pPr>
            <a:r>
              <a:rPr lang="en-US" sz="1100" b="1">
                <a:solidFill>
                  <a:srgbClr val="374151"/>
                </a:solidFill>
                <a:latin typeface="Raleway" pitchFamily="34" charset="0"/>
                <a:ea typeface="Raleway" pitchFamily="34" charset="-122"/>
                <a:cs typeface="Raleway" pitchFamily="34" charset="-120"/>
              </a:rPr>
              <a:t>deploy</a:t>
            </a:r>
            <a:endParaRPr lang="en-US" sz="1100"/>
          </a:p>
        </p:txBody>
      </p:sp>
      <p:pic>
        <p:nvPicPr>
          <p:cNvPr id="18" name="Image 5" descr="gen-dedup-a287ae7abd092c83dc5f899415c51d00.png">
            <a:extLst>
              <a:ext uri="{FF2B5EF4-FFF2-40B4-BE49-F238E27FC236}">
                <a16:creationId xmlns:a16="http://schemas.microsoft.com/office/drawing/2014/main" id="{717DBA06-294F-AFD6-F4A3-E3BB6A843F09}"/>
              </a:ext>
            </a:extLst>
          </p:cNvPr>
          <p:cNvPicPr>
            <a:picLocks noChangeAspect="1"/>
          </p:cNvPicPr>
          <p:nvPr/>
        </p:nvPicPr>
        <p:blipFill>
          <a:blip r:embed="rId8"/>
          <a:srcRect t="-16800" b="-16800"/>
          <a:stretch/>
        </p:blipFill>
        <p:spPr>
          <a:xfrm>
            <a:off x="1657807" y="5277002"/>
            <a:ext cx="114300" cy="152705"/>
          </a:xfrm>
          <a:prstGeom prst="rect">
            <a:avLst/>
          </a:prstGeom>
        </p:spPr>
      </p:pic>
      <p:pic>
        <p:nvPicPr>
          <p:cNvPr id="19" name="Image 6" descr="gen-dedup-0363cb9fbb55bfd8aa96459f99cffd70.png">
            <a:extLst>
              <a:ext uri="{FF2B5EF4-FFF2-40B4-BE49-F238E27FC236}">
                <a16:creationId xmlns:a16="http://schemas.microsoft.com/office/drawing/2014/main" id="{19292444-1F09-6360-0F68-8AD41048A7D3}"/>
              </a:ext>
            </a:extLst>
          </p:cNvPr>
          <p:cNvPicPr>
            <a:picLocks noChangeAspect="1"/>
          </p:cNvPicPr>
          <p:nvPr/>
        </p:nvPicPr>
        <p:blipFill>
          <a:blip r:embed="rId9"/>
          <a:srcRect l="-260" r="-260"/>
          <a:stretch/>
        </p:blipFill>
        <p:spPr>
          <a:xfrm>
            <a:off x="3510382" y="5143500"/>
            <a:ext cx="2300935" cy="418795"/>
          </a:xfrm>
          <a:prstGeom prst="rect">
            <a:avLst/>
          </a:prstGeom>
        </p:spPr>
      </p:pic>
      <p:sp>
        <p:nvSpPr>
          <p:cNvPr id="20" name="Shape 11">
            <a:extLst>
              <a:ext uri="{FF2B5EF4-FFF2-40B4-BE49-F238E27FC236}">
                <a16:creationId xmlns:a16="http://schemas.microsoft.com/office/drawing/2014/main" id="{0A4FE0DB-0E00-A4E0-D0F5-5DA20E53E7F3}"/>
              </a:ext>
            </a:extLst>
          </p:cNvPr>
          <p:cNvSpPr/>
          <p:nvPr/>
        </p:nvSpPr>
        <p:spPr>
          <a:xfrm>
            <a:off x="3510382" y="5143500"/>
            <a:ext cx="2300935" cy="418795"/>
          </a:xfrm>
          <a:prstGeom prst="roundRect">
            <a:avLst>
              <a:gd name="adj" fmla="val 13755"/>
            </a:avLst>
          </a:prstGeom>
          <a:noFill/>
          <a:ln w="12700">
            <a:solidFill>
              <a:srgbClr val="E5E7EB"/>
            </a:solidFill>
            <a:prstDash val="solid"/>
          </a:ln>
        </p:spPr>
        <p:txBody>
          <a:bodyPr/>
          <a:lstStyle/>
          <a:p>
            <a:endParaRPr lang="en-US"/>
          </a:p>
        </p:txBody>
      </p:sp>
      <p:sp>
        <p:nvSpPr>
          <p:cNvPr id="21" name="Text 12">
            <a:extLst>
              <a:ext uri="{FF2B5EF4-FFF2-40B4-BE49-F238E27FC236}">
                <a16:creationId xmlns:a16="http://schemas.microsoft.com/office/drawing/2014/main" id="{F5640A7D-F0E3-6BED-EEA7-16F614B5632E}"/>
              </a:ext>
            </a:extLst>
          </p:cNvPr>
          <p:cNvSpPr txBox="1"/>
          <p:nvPr/>
        </p:nvSpPr>
        <p:spPr>
          <a:xfrm>
            <a:off x="3735018" y="5143500"/>
            <a:ext cx="1648005"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300+ in-house recruiters, </a:t>
            </a:r>
          </a:p>
          <a:p>
            <a:pPr marL="0" indent="0" algn="l">
              <a:buNone/>
            </a:pPr>
            <a:r>
              <a:rPr lang="en-US" sz="1100" b="1">
                <a:solidFill>
                  <a:srgbClr val="374151"/>
                </a:solidFill>
                <a:latin typeface="Raleway" pitchFamily="34" charset="0"/>
                <a:ea typeface="Raleway" pitchFamily="34" charset="-122"/>
                <a:cs typeface="Raleway" pitchFamily="34" charset="-120"/>
              </a:rPr>
              <a:t>zero subcontracting</a:t>
            </a:r>
            <a:endParaRPr lang="en-US" sz="1100"/>
          </a:p>
        </p:txBody>
      </p:sp>
      <p:pic>
        <p:nvPicPr>
          <p:cNvPr id="22" name="Image 7" descr="gen-dedup-c395ac9c840728d6470a4a8b33662e6e.png">
            <a:extLst>
              <a:ext uri="{FF2B5EF4-FFF2-40B4-BE49-F238E27FC236}">
                <a16:creationId xmlns:a16="http://schemas.microsoft.com/office/drawing/2014/main" id="{93207DB2-729B-AE24-7E77-6519958DE5C8}"/>
              </a:ext>
            </a:extLst>
          </p:cNvPr>
          <p:cNvPicPr>
            <a:picLocks noChangeAspect="1"/>
          </p:cNvPicPr>
          <p:nvPr/>
        </p:nvPicPr>
        <p:blipFill>
          <a:blip r:embed="rId10"/>
          <a:srcRect t="-16800" b="-16800"/>
          <a:stretch/>
        </p:blipFill>
        <p:spPr>
          <a:xfrm>
            <a:off x="3738981" y="5277002"/>
            <a:ext cx="170389" cy="152705"/>
          </a:xfrm>
          <a:prstGeom prst="rect">
            <a:avLst/>
          </a:prstGeom>
        </p:spPr>
      </p:pic>
      <p:pic>
        <p:nvPicPr>
          <p:cNvPr id="23" name="Image 8" descr="gen-dedup-fe10f786880821f62e6e2a70ff719369.png">
            <a:extLst>
              <a:ext uri="{FF2B5EF4-FFF2-40B4-BE49-F238E27FC236}">
                <a16:creationId xmlns:a16="http://schemas.microsoft.com/office/drawing/2014/main" id="{E0CA82C4-F034-80D0-F825-1B18CD990C55}"/>
              </a:ext>
            </a:extLst>
          </p:cNvPr>
          <p:cNvPicPr>
            <a:picLocks noChangeAspect="1"/>
          </p:cNvPicPr>
          <p:nvPr/>
        </p:nvPicPr>
        <p:blipFill>
          <a:blip r:embed="rId11"/>
          <a:srcRect l="-58" r="-58"/>
          <a:stretch/>
        </p:blipFill>
        <p:spPr>
          <a:xfrm>
            <a:off x="6080150" y="5143500"/>
            <a:ext cx="2619756" cy="418795"/>
          </a:xfrm>
          <a:prstGeom prst="rect">
            <a:avLst/>
          </a:prstGeom>
        </p:spPr>
      </p:pic>
      <p:sp>
        <p:nvSpPr>
          <p:cNvPr id="24" name="Shape 13">
            <a:extLst>
              <a:ext uri="{FF2B5EF4-FFF2-40B4-BE49-F238E27FC236}">
                <a16:creationId xmlns:a16="http://schemas.microsoft.com/office/drawing/2014/main" id="{2266D092-185E-2198-BDD3-B88FC8175BF2}"/>
              </a:ext>
            </a:extLst>
          </p:cNvPr>
          <p:cNvSpPr/>
          <p:nvPr/>
        </p:nvSpPr>
        <p:spPr>
          <a:xfrm>
            <a:off x="6080150" y="5143500"/>
            <a:ext cx="2619756" cy="418795"/>
          </a:xfrm>
          <a:prstGeom prst="roundRect">
            <a:avLst>
              <a:gd name="adj" fmla="val 13755"/>
            </a:avLst>
          </a:prstGeom>
          <a:noFill/>
          <a:ln w="12700">
            <a:solidFill>
              <a:srgbClr val="E5E7EB"/>
            </a:solidFill>
            <a:prstDash val="solid"/>
          </a:ln>
        </p:spPr>
        <p:txBody>
          <a:bodyPr/>
          <a:lstStyle/>
          <a:p>
            <a:endParaRPr lang="en-US"/>
          </a:p>
        </p:txBody>
      </p:sp>
      <p:sp>
        <p:nvSpPr>
          <p:cNvPr id="25" name="Text 14">
            <a:extLst>
              <a:ext uri="{FF2B5EF4-FFF2-40B4-BE49-F238E27FC236}">
                <a16:creationId xmlns:a16="http://schemas.microsoft.com/office/drawing/2014/main" id="{ED31349B-331C-666B-1026-10D8E100F4F3}"/>
              </a:ext>
            </a:extLst>
          </p:cNvPr>
          <p:cNvSpPr txBox="1"/>
          <p:nvPr/>
        </p:nvSpPr>
        <p:spPr>
          <a:xfrm>
            <a:off x="6304788" y="5143500"/>
            <a:ext cx="2181758"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Contract-to-hire flexibility </a:t>
            </a:r>
          </a:p>
          <a:p>
            <a:pPr marL="0" indent="0" algn="l">
              <a:buNone/>
            </a:pPr>
            <a:r>
              <a:rPr lang="en-US" sz="1100" b="1">
                <a:solidFill>
                  <a:srgbClr val="374151"/>
                </a:solidFill>
                <a:latin typeface="Raleway" pitchFamily="34" charset="0"/>
                <a:ea typeface="Raleway" pitchFamily="34" charset="-122"/>
                <a:cs typeface="Raleway" pitchFamily="34" charset="-120"/>
              </a:rPr>
              <a:t>built in</a:t>
            </a:r>
            <a:endParaRPr lang="en-US" sz="1100"/>
          </a:p>
        </p:txBody>
      </p:sp>
      <p:pic>
        <p:nvPicPr>
          <p:cNvPr id="26" name="Image 9" descr="gen-dedup-7637b076e607f7218cdb4973c81f38e6.png">
            <a:extLst>
              <a:ext uri="{FF2B5EF4-FFF2-40B4-BE49-F238E27FC236}">
                <a16:creationId xmlns:a16="http://schemas.microsoft.com/office/drawing/2014/main" id="{205FF807-74F6-4E07-EE11-D8132CD5F0CD}"/>
              </a:ext>
            </a:extLst>
          </p:cNvPr>
          <p:cNvPicPr>
            <a:picLocks noChangeAspect="1"/>
          </p:cNvPicPr>
          <p:nvPr/>
        </p:nvPicPr>
        <p:blipFill>
          <a:blip r:embed="rId12"/>
          <a:srcRect t="-8450" b="-8450"/>
          <a:stretch/>
        </p:blipFill>
        <p:spPr>
          <a:xfrm>
            <a:off x="6308750" y="5277002"/>
            <a:ext cx="114300" cy="152705"/>
          </a:xfrm>
          <a:prstGeom prst="rect">
            <a:avLst/>
          </a:prstGeom>
        </p:spPr>
      </p:pic>
      <p:pic>
        <p:nvPicPr>
          <p:cNvPr id="27" name="Image 10" descr="gen-dedup-4b04481605890cd5e2948f325621428b.png">
            <a:extLst>
              <a:ext uri="{FF2B5EF4-FFF2-40B4-BE49-F238E27FC236}">
                <a16:creationId xmlns:a16="http://schemas.microsoft.com/office/drawing/2014/main" id="{FB78842A-22DE-1C9A-4EE2-D07FD5A3BBDC}"/>
              </a:ext>
            </a:extLst>
          </p:cNvPr>
          <p:cNvPicPr>
            <a:picLocks noChangeAspect="1"/>
          </p:cNvPicPr>
          <p:nvPr/>
        </p:nvPicPr>
        <p:blipFill>
          <a:blip r:embed="rId13"/>
          <a:srcRect l="-216" r="-216"/>
          <a:stretch/>
        </p:blipFill>
        <p:spPr>
          <a:xfrm>
            <a:off x="8850782" y="5143500"/>
            <a:ext cx="2562149" cy="418795"/>
          </a:xfrm>
          <a:prstGeom prst="rect">
            <a:avLst/>
          </a:prstGeom>
        </p:spPr>
      </p:pic>
      <p:sp>
        <p:nvSpPr>
          <p:cNvPr id="28" name="Shape 15">
            <a:extLst>
              <a:ext uri="{FF2B5EF4-FFF2-40B4-BE49-F238E27FC236}">
                <a16:creationId xmlns:a16="http://schemas.microsoft.com/office/drawing/2014/main" id="{34AB57F4-B2CA-C3A2-0103-9F6A8E9AFA38}"/>
              </a:ext>
            </a:extLst>
          </p:cNvPr>
          <p:cNvSpPr/>
          <p:nvPr/>
        </p:nvSpPr>
        <p:spPr>
          <a:xfrm>
            <a:off x="8850782" y="5143500"/>
            <a:ext cx="2562149" cy="418795"/>
          </a:xfrm>
          <a:prstGeom prst="roundRect">
            <a:avLst>
              <a:gd name="adj" fmla="val 13755"/>
            </a:avLst>
          </a:prstGeom>
          <a:noFill/>
          <a:ln w="12700">
            <a:solidFill>
              <a:srgbClr val="E5E7EB"/>
            </a:solidFill>
            <a:prstDash val="solid"/>
          </a:ln>
        </p:spPr>
        <p:txBody>
          <a:bodyPr/>
          <a:lstStyle/>
          <a:p>
            <a:endParaRPr lang="en-US"/>
          </a:p>
        </p:txBody>
      </p:sp>
      <p:sp>
        <p:nvSpPr>
          <p:cNvPr id="29" name="Text 16">
            <a:extLst>
              <a:ext uri="{FF2B5EF4-FFF2-40B4-BE49-F238E27FC236}">
                <a16:creationId xmlns:a16="http://schemas.microsoft.com/office/drawing/2014/main" id="{5B673A20-4A15-839A-EE62-676A6C5F3333}"/>
              </a:ext>
            </a:extLst>
          </p:cNvPr>
          <p:cNvSpPr txBox="1"/>
          <p:nvPr/>
        </p:nvSpPr>
        <p:spPr>
          <a:xfrm>
            <a:off x="9075420" y="5143500"/>
            <a:ext cx="2125066"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Pod governance + sprint </a:t>
            </a:r>
          </a:p>
          <a:p>
            <a:pPr marL="0" indent="0" algn="l">
              <a:buNone/>
            </a:pPr>
            <a:r>
              <a:rPr lang="en-US" sz="1100" b="1">
                <a:solidFill>
                  <a:srgbClr val="374151"/>
                </a:solidFill>
                <a:latin typeface="Raleway" pitchFamily="34" charset="0"/>
                <a:ea typeface="Raleway" pitchFamily="34" charset="-122"/>
                <a:cs typeface="Raleway" pitchFamily="34" charset="-120"/>
              </a:rPr>
              <a:t>accountability from Day 1</a:t>
            </a:r>
            <a:endParaRPr lang="en-US" sz="1100"/>
          </a:p>
        </p:txBody>
      </p:sp>
      <p:pic>
        <p:nvPicPr>
          <p:cNvPr id="30" name="Image 11" descr="gen-dedup-de4cb59b8211160ed90cebf7a454cebf.png">
            <a:extLst>
              <a:ext uri="{FF2B5EF4-FFF2-40B4-BE49-F238E27FC236}">
                <a16:creationId xmlns:a16="http://schemas.microsoft.com/office/drawing/2014/main" id="{93529912-BB1C-C574-75A1-3D8ECD602D40}"/>
              </a:ext>
            </a:extLst>
          </p:cNvPr>
          <p:cNvPicPr>
            <a:picLocks noChangeAspect="1"/>
          </p:cNvPicPr>
          <p:nvPr/>
        </p:nvPicPr>
        <p:blipFill>
          <a:blip r:embed="rId14"/>
          <a:srcRect t="-16800" b="-16800"/>
          <a:stretch/>
        </p:blipFill>
        <p:spPr>
          <a:xfrm>
            <a:off x="9079382" y="5277002"/>
            <a:ext cx="114300" cy="152705"/>
          </a:xfrm>
          <a:prstGeom prst="rect">
            <a:avLst/>
          </a:prstGeom>
        </p:spPr>
      </p:pic>
      <p:sp>
        <p:nvSpPr>
          <p:cNvPr id="31" name="Shape 17">
            <a:extLst>
              <a:ext uri="{FF2B5EF4-FFF2-40B4-BE49-F238E27FC236}">
                <a16:creationId xmlns:a16="http://schemas.microsoft.com/office/drawing/2014/main" id="{99FB5298-5A36-5FFC-CC7E-17E7D43B7AAD}"/>
              </a:ext>
            </a:extLst>
          </p:cNvPr>
          <p:cNvSpPr/>
          <p:nvPr/>
        </p:nvSpPr>
        <p:spPr>
          <a:xfrm>
            <a:off x="1143000" y="6096305"/>
            <a:ext cx="9905695" cy="9144"/>
          </a:xfrm>
          <a:prstGeom prst="rect">
            <a:avLst/>
          </a:prstGeom>
          <a:solidFill>
            <a:srgbClr val="E5E7EB"/>
          </a:solidFill>
          <a:ln w="12700">
            <a:solidFill>
              <a:srgbClr val="E5E7EB">
                <a:alpha val="0"/>
              </a:srgbClr>
            </a:solidFill>
            <a:prstDash val="solid"/>
          </a:ln>
        </p:spPr>
        <p:txBody>
          <a:bodyPr/>
          <a:lstStyle/>
          <a:p>
            <a:endParaRPr lang="en-US"/>
          </a:p>
        </p:txBody>
      </p:sp>
      <p:sp>
        <p:nvSpPr>
          <p:cNvPr id="32" name="Text 18">
            <a:extLst>
              <a:ext uri="{FF2B5EF4-FFF2-40B4-BE49-F238E27FC236}">
                <a16:creationId xmlns:a16="http://schemas.microsoft.com/office/drawing/2014/main" id="{ED705767-82C0-1D2C-EADE-B791EDD5E9F6}"/>
              </a:ext>
            </a:extLst>
          </p:cNvPr>
          <p:cNvSpPr txBox="1"/>
          <p:nvPr/>
        </p:nvSpPr>
        <p:spPr>
          <a:xfrm>
            <a:off x="1143000" y="6258154"/>
            <a:ext cx="9906610" cy="181051"/>
          </a:xfrm>
          <a:prstGeom prst="rect">
            <a:avLst/>
          </a:prstGeom>
          <a:noFill/>
          <a:ln/>
        </p:spPr>
        <p:txBody>
          <a:bodyPr wrap="none" lIns="0" tIns="0" rIns="0" bIns="0" rtlCol="0" anchor="ctr"/>
          <a:lstStyle/>
          <a:p>
            <a:pPr marL="0" indent="0" algn="l">
              <a:buNone/>
            </a:pPr>
            <a:r>
              <a:rPr lang="en-US" sz="1200" b="1" kern="0" spc="24">
                <a:solidFill>
                  <a:srgbClr val="6B7280"/>
                </a:solidFill>
                <a:latin typeface="Raleway" pitchFamily="34" charset="0"/>
                <a:ea typeface="Raleway" pitchFamily="34" charset="-122"/>
                <a:cs typeface="Raleway" pitchFamily="34" charset="-120"/>
              </a:rPr>
              <a:t>Scale your engineering capacity with domain depth and delivery accountability.</a:t>
            </a:r>
            <a:endParaRPr lang="en-US" sz="1200"/>
          </a:p>
        </p:txBody>
      </p:sp>
    </p:spTree>
    <p:extLst>
      <p:ext uri="{BB962C8B-B14F-4D97-AF65-F5344CB8AC3E}">
        <p14:creationId xmlns:p14="http://schemas.microsoft.com/office/powerpoint/2010/main" val="41706797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4"/>
          <p:cNvSpPr/>
          <p:nvPr/>
        </p:nvSpPr>
        <p:spPr>
          <a:xfrm>
            <a:off x="219456" y="1182624"/>
            <a:ext cx="2779776" cy="60960"/>
          </a:xfrm>
          <a:prstGeom prst="rect">
            <a:avLst/>
          </a:prstGeom>
          <a:solidFill>
            <a:srgbClr val="0D9488"/>
          </a:solidFill>
          <a:ln w="12700">
            <a:solidFill>
              <a:srgbClr val="0D9488"/>
            </a:solidFill>
            <a:prstDash val="solid"/>
          </a:ln>
        </p:spPr>
        <p:txBody>
          <a:bodyPr/>
          <a:lstStyle/>
          <a:p>
            <a:endParaRPr lang="en-US" sz="2400"/>
          </a:p>
        </p:txBody>
      </p:sp>
      <p:sp>
        <p:nvSpPr>
          <p:cNvPr id="7" name="Shape 5"/>
          <p:cNvSpPr/>
          <p:nvPr/>
        </p:nvSpPr>
        <p:spPr>
          <a:xfrm>
            <a:off x="219456" y="1243584"/>
            <a:ext cx="2779776" cy="1889760"/>
          </a:xfrm>
          <a:prstGeom prst="rect">
            <a:avLst/>
          </a:prstGeom>
          <a:solidFill>
            <a:srgbClr val="F9FFFE"/>
          </a:solidFill>
          <a:ln w="6350">
            <a:solidFill>
              <a:srgbClr val="D0ECEA"/>
            </a:solidFill>
            <a:prstDash val="solid"/>
          </a:ln>
          <a:effectLst>
            <a:outerShdw blurRad="63500" dist="25400" dir="8100000" algn="bl" rotWithShape="0">
              <a:srgbClr val="000000">
                <a:alpha val="8000"/>
              </a:srgbClr>
            </a:outerShdw>
          </a:effectLst>
        </p:spPr>
        <p:txBody>
          <a:bodyPr/>
          <a:lstStyle/>
          <a:p>
            <a:endParaRPr lang="en-US" sz="2400"/>
          </a:p>
        </p:txBody>
      </p:sp>
      <p:pic>
        <p:nvPicPr>
          <p:cNvPr id="8" name="Image 0" descr="preencoded.png"/>
          <p:cNvPicPr>
            <a:picLocks noChangeAspect="1"/>
          </p:cNvPicPr>
          <p:nvPr/>
        </p:nvPicPr>
        <p:blipFill>
          <a:blip r:embed="rId3"/>
          <a:stretch>
            <a:fillRect/>
          </a:stretch>
        </p:blipFill>
        <p:spPr>
          <a:xfrm>
            <a:off x="390144" y="1341120"/>
            <a:ext cx="414528" cy="414528"/>
          </a:xfrm>
          <a:prstGeom prst="rect">
            <a:avLst/>
          </a:prstGeom>
        </p:spPr>
      </p:pic>
      <p:sp>
        <p:nvSpPr>
          <p:cNvPr id="9" name="Text 6"/>
          <p:cNvSpPr/>
          <p:nvPr/>
        </p:nvSpPr>
        <p:spPr>
          <a:xfrm>
            <a:off x="341376" y="1840992"/>
            <a:ext cx="2535936" cy="329184"/>
          </a:xfrm>
          <a:prstGeom prst="rect">
            <a:avLst/>
          </a:prstGeom>
          <a:noFill/>
          <a:ln/>
        </p:spPr>
        <p:txBody>
          <a:bodyPr wrap="square" lIns="0" tIns="0" rIns="0" bIns="0" rtlCol="0" anchor="ctr"/>
          <a:lstStyle/>
          <a:p>
            <a:r>
              <a:rPr lang="en-US" sz="1467" b="1">
                <a:solidFill>
                  <a:srgbClr val="1A1A2E"/>
                </a:solidFill>
                <a:latin typeface="Oswald" panose="00000500000000000000" pitchFamily="2" charset="0"/>
                <a:ea typeface="Calibri" pitchFamily="34" charset="-122"/>
                <a:cs typeface="Calibri" pitchFamily="34" charset="-120"/>
              </a:rPr>
              <a:t>Sourcing Engine</a:t>
            </a:r>
            <a:endParaRPr lang="en-US" sz="1467">
              <a:latin typeface="Oswald" panose="00000500000000000000" pitchFamily="2" charset="0"/>
            </a:endParaRPr>
          </a:p>
        </p:txBody>
      </p:sp>
      <p:sp>
        <p:nvSpPr>
          <p:cNvPr id="10" name="Text 7"/>
          <p:cNvSpPr/>
          <p:nvPr/>
        </p:nvSpPr>
        <p:spPr>
          <a:xfrm>
            <a:off x="341376" y="2182368"/>
            <a:ext cx="2535936" cy="853440"/>
          </a:xfrm>
          <a:prstGeom prst="rect">
            <a:avLst/>
          </a:prstGeom>
          <a:noFill/>
          <a:ln/>
        </p:spPr>
        <p:txBody>
          <a:bodyPr wrap="square" lIns="0" tIns="0" rIns="0" bIns="0" rtlCol="0" anchor="ctr"/>
          <a:lstStyle/>
          <a:p>
            <a:pPr>
              <a:lnSpc>
                <a:spcPct val="125000"/>
              </a:lnSpc>
            </a:pPr>
            <a:r>
              <a:rPr lang="en-US" sz="1133">
                <a:solidFill>
                  <a:srgbClr val="555555"/>
                </a:solidFill>
                <a:latin typeface="Raleway" pitchFamily="2" charset="0"/>
                <a:ea typeface="Calibri" pitchFamily="34" charset="-122"/>
                <a:cs typeface="Calibri" pitchFamily="34" charset="-120"/>
              </a:rPr>
              <a:t>AI-driven talent matching across 8,500+ active consultants and 1,250+ skills - niche to mainstream.</a:t>
            </a:r>
            <a:endParaRPr lang="en-US" sz="1133">
              <a:latin typeface="Raleway" pitchFamily="2" charset="0"/>
            </a:endParaRPr>
          </a:p>
        </p:txBody>
      </p:sp>
      <p:sp>
        <p:nvSpPr>
          <p:cNvPr id="11" name="Shape 8"/>
          <p:cNvSpPr/>
          <p:nvPr/>
        </p:nvSpPr>
        <p:spPr>
          <a:xfrm>
            <a:off x="3108960" y="1182624"/>
            <a:ext cx="2779776" cy="60960"/>
          </a:xfrm>
          <a:prstGeom prst="rect">
            <a:avLst/>
          </a:prstGeom>
          <a:solidFill>
            <a:srgbClr val="C0392B"/>
          </a:solidFill>
          <a:ln w="12700">
            <a:solidFill>
              <a:srgbClr val="C0392B"/>
            </a:solidFill>
            <a:prstDash val="solid"/>
          </a:ln>
        </p:spPr>
        <p:txBody>
          <a:bodyPr/>
          <a:lstStyle/>
          <a:p>
            <a:endParaRPr lang="en-US" sz="2400"/>
          </a:p>
        </p:txBody>
      </p:sp>
      <p:sp>
        <p:nvSpPr>
          <p:cNvPr id="12" name="Shape 9"/>
          <p:cNvSpPr/>
          <p:nvPr/>
        </p:nvSpPr>
        <p:spPr>
          <a:xfrm>
            <a:off x="3108960" y="1243584"/>
            <a:ext cx="2779776" cy="1889760"/>
          </a:xfrm>
          <a:prstGeom prst="rect">
            <a:avLst/>
          </a:prstGeom>
          <a:solidFill>
            <a:srgbClr val="F9FFFE"/>
          </a:solidFill>
          <a:ln w="6350">
            <a:solidFill>
              <a:srgbClr val="D0ECEA"/>
            </a:solidFill>
            <a:prstDash val="solid"/>
          </a:ln>
          <a:effectLst>
            <a:outerShdw blurRad="63500" dist="25400" dir="8100000" algn="bl" rotWithShape="0">
              <a:srgbClr val="000000">
                <a:alpha val="8000"/>
              </a:srgbClr>
            </a:outerShdw>
          </a:effectLst>
        </p:spPr>
        <p:txBody>
          <a:bodyPr/>
          <a:lstStyle/>
          <a:p>
            <a:endParaRPr lang="en-US" sz="2400"/>
          </a:p>
        </p:txBody>
      </p:sp>
      <p:pic>
        <p:nvPicPr>
          <p:cNvPr id="13" name="Image 1" descr="preencoded.png"/>
          <p:cNvPicPr>
            <a:picLocks noChangeAspect="1"/>
          </p:cNvPicPr>
          <p:nvPr/>
        </p:nvPicPr>
        <p:blipFill>
          <a:blip r:embed="rId4"/>
          <a:stretch>
            <a:fillRect/>
          </a:stretch>
        </p:blipFill>
        <p:spPr>
          <a:xfrm>
            <a:off x="3279648" y="1341120"/>
            <a:ext cx="414528" cy="414528"/>
          </a:xfrm>
          <a:prstGeom prst="rect">
            <a:avLst/>
          </a:prstGeom>
        </p:spPr>
      </p:pic>
      <p:sp>
        <p:nvSpPr>
          <p:cNvPr id="14" name="Text 10"/>
          <p:cNvSpPr/>
          <p:nvPr/>
        </p:nvSpPr>
        <p:spPr>
          <a:xfrm>
            <a:off x="3230880" y="1840992"/>
            <a:ext cx="2535936" cy="329184"/>
          </a:xfrm>
          <a:prstGeom prst="rect">
            <a:avLst/>
          </a:prstGeom>
          <a:noFill/>
          <a:ln/>
        </p:spPr>
        <p:txBody>
          <a:bodyPr wrap="square" lIns="0" tIns="0" rIns="0" bIns="0" rtlCol="0" anchor="ctr"/>
          <a:lstStyle/>
          <a:p>
            <a:r>
              <a:rPr lang="en-US" sz="1467" b="1">
                <a:solidFill>
                  <a:srgbClr val="1A1A2E"/>
                </a:solidFill>
                <a:latin typeface="Oswald" panose="00000500000000000000" pitchFamily="2" charset="0"/>
                <a:ea typeface="Calibri" pitchFamily="34" charset="-122"/>
                <a:cs typeface="Calibri" pitchFamily="34" charset="-120"/>
              </a:rPr>
              <a:t>Human + AI Teams</a:t>
            </a:r>
            <a:endParaRPr lang="en-US" sz="1467">
              <a:latin typeface="Oswald" panose="00000500000000000000" pitchFamily="2" charset="0"/>
            </a:endParaRPr>
          </a:p>
        </p:txBody>
      </p:sp>
      <p:sp>
        <p:nvSpPr>
          <p:cNvPr id="15" name="Text 11"/>
          <p:cNvSpPr/>
          <p:nvPr/>
        </p:nvSpPr>
        <p:spPr>
          <a:xfrm>
            <a:off x="3230880" y="2182368"/>
            <a:ext cx="2535936" cy="853440"/>
          </a:xfrm>
          <a:prstGeom prst="rect">
            <a:avLst/>
          </a:prstGeom>
          <a:noFill/>
          <a:ln/>
        </p:spPr>
        <p:txBody>
          <a:bodyPr wrap="square" lIns="0" tIns="0" rIns="0" bIns="0" rtlCol="0" anchor="ctr"/>
          <a:lstStyle/>
          <a:p>
            <a:pPr>
              <a:lnSpc>
                <a:spcPct val="125000"/>
              </a:lnSpc>
            </a:pPr>
            <a:r>
              <a:rPr lang="en-US" sz="1133">
                <a:solidFill>
                  <a:srgbClr val="555555"/>
                </a:solidFill>
                <a:latin typeface="Raleway" pitchFamily="2" charset="0"/>
                <a:ea typeface="Calibri" pitchFamily="34" charset="-122"/>
                <a:cs typeface="Calibri" pitchFamily="34" charset="-120"/>
              </a:rPr>
              <a:t>Blended delivery with AI productivity tools embedded from Day 1. Capability stacks over role pyramids.</a:t>
            </a:r>
            <a:endParaRPr lang="en-US" sz="1133">
              <a:latin typeface="Raleway" pitchFamily="2" charset="0"/>
            </a:endParaRPr>
          </a:p>
        </p:txBody>
      </p:sp>
      <p:sp>
        <p:nvSpPr>
          <p:cNvPr id="16" name="Shape 12"/>
          <p:cNvSpPr/>
          <p:nvPr/>
        </p:nvSpPr>
        <p:spPr>
          <a:xfrm>
            <a:off x="5998464" y="1182624"/>
            <a:ext cx="2779776" cy="60960"/>
          </a:xfrm>
          <a:prstGeom prst="rect">
            <a:avLst/>
          </a:prstGeom>
          <a:solidFill>
            <a:srgbClr val="0D9488"/>
          </a:solidFill>
          <a:ln w="12700">
            <a:solidFill>
              <a:srgbClr val="0D9488"/>
            </a:solidFill>
            <a:prstDash val="solid"/>
          </a:ln>
        </p:spPr>
        <p:txBody>
          <a:bodyPr/>
          <a:lstStyle/>
          <a:p>
            <a:endParaRPr lang="en-US" sz="2400"/>
          </a:p>
        </p:txBody>
      </p:sp>
      <p:sp>
        <p:nvSpPr>
          <p:cNvPr id="17" name="Shape 13"/>
          <p:cNvSpPr/>
          <p:nvPr/>
        </p:nvSpPr>
        <p:spPr>
          <a:xfrm>
            <a:off x="5998464" y="1243584"/>
            <a:ext cx="2779776" cy="1889760"/>
          </a:xfrm>
          <a:prstGeom prst="rect">
            <a:avLst/>
          </a:prstGeom>
          <a:solidFill>
            <a:srgbClr val="F9FFFE"/>
          </a:solidFill>
          <a:ln w="6350">
            <a:solidFill>
              <a:srgbClr val="D0ECEA"/>
            </a:solidFill>
            <a:prstDash val="solid"/>
          </a:ln>
          <a:effectLst>
            <a:outerShdw blurRad="63500" dist="25400" dir="8100000" algn="bl" rotWithShape="0">
              <a:srgbClr val="000000">
                <a:alpha val="8000"/>
              </a:srgbClr>
            </a:outerShdw>
          </a:effectLst>
        </p:spPr>
        <p:txBody>
          <a:bodyPr/>
          <a:lstStyle/>
          <a:p>
            <a:endParaRPr lang="en-US" sz="2400"/>
          </a:p>
        </p:txBody>
      </p:sp>
      <p:pic>
        <p:nvPicPr>
          <p:cNvPr id="18" name="Image 2" descr="preencoded.png"/>
          <p:cNvPicPr>
            <a:picLocks noChangeAspect="1"/>
          </p:cNvPicPr>
          <p:nvPr/>
        </p:nvPicPr>
        <p:blipFill>
          <a:blip r:embed="rId5"/>
          <a:stretch>
            <a:fillRect/>
          </a:stretch>
        </p:blipFill>
        <p:spPr>
          <a:xfrm>
            <a:off x="6169152" y="1341120"/>
            <a:ext cx="414528" cy="414528"/>
          </a:xfrm>
          <a:prstGeom prst="rect">
            <a:avLst/>
          </a:prstGeom>
        </p:spPr>
      </p:pic>
      <p:sp>
        <p:nvSpPr>
          <p:cNvPr id="19" name="Text 14"/>
          <p:cNvSpPr/>
          <p:nvPr/>
        </p:nvSpPr>
        <p:spPr>
          <a:xfrm>
            <a:off x="6120384" y="1840992"/>
            <a:ext cx="2535936" cy="329184"/>
          </a:xfrm>
          <a:prstGeom prst="rect">
            <a:avLst/>
          </a:prstGeom>
          <a:noFill/>
          <a:ln/>
        </p:spPr>
        <p:txBody>
          <a:bodyPr wrap="square" lIns="0" tIns="0" rIns="0" bIns="0" rtlCol="0" anchor="ctr"/>
          <a:lstStyle/>
          <a:p>
            <a:r>
              <a:rPr lang="en-US" sz="1467" b="1">
                <a:solidFill>
                  <a:srgbClr val="1A1A2E"/>
                </a:solidFill>
                <a:latin typeface="Oswald" panose="00000500000000000000" pitchFamily="2" charset="0"/>
                <a:ea typeface="Calibri" pitchFamily="34" charset="-122"/>
                <a:cs typeface="Calibri" pitchFamily="34" charset="-120"/>
              </a:rPr>
              <a:t>Fully Managed</a:t>
            </a:r>
            <a:endParaRPr lang="en-US" sz="1467">
              <a:latin typeface="Oswald" panose="00000500000000000000" pitchFamily="2" charset="0"/>
            </a:endParaRPr>
          </a:p>
        </p:txBody>
      </p:sp>
      <p:sp>
        <p:nvSpPr>
          <p:cNvPr id="20" name="Text 15"/>
          <p:cNvSpPr/>
          <p:nvPr/>
        </p:nvSpPr>
        <p:spPr>
          <a:xfrm>
            <a:off x="6120384" y="2182368"/>
            <a:ext cx="2535936" cy="853440"/>
          </a:xfrm>
          <a:prstGeom prst="rect">
            <a:avLst/>
          </a:prstGeom>
          <a:noFill/>
          <a:ln/>
        </p:spPr>
        <p:txBody>
          <a:bodyPr wrap="square" lIns="0" tIns="0" rIns="0" bIns="0" rtlCol="0" anchor="ctr"/>
          <a:lstStyle/>
          <a:p>
            <a:pPr>
              <a:lnSpc>
                <a:spcPct val="125000"/>
              </a:lnSpc>
            </a:pPr>
            <a:r>
              <a:rPr lang="en-US" sz="1133">
                <a:solidFill>
                  <a:srgbClr val="555555"/>
                </a:solidFill>
                <a:latin typeface="Raleway" pitchFamily="2" charset="0"/>
                <a:ea typeface="Calibri" pitchFamily="34" charset="-122"/>
                <a:cs typeface="Calibri" pitchFamily="34" charset="-120"/>
              </a:rPr>
              <a:t>J2W owns payroll, compliance, onboarding and HR. Zero admin burden on the client side.</a:t>
            </a:r>
            <a:endParaRPr lang="en-US" sz="1133">
              <a:latin typeface="Raleway" pitchFamily="2" charset="0"/>
            </a:endParaRPr>
          </a:p>
        </p:txBody>
      </p:sp>
      <p:sp>
        <p:nvSpPr>
          <p:cNvPr id="21" name="Shape 16"/>
          <p:cNvSpPr/>
          <p:nvPr/>
        </p:nvSpPr>
        <p:spPr>
          <a:xfrm>
            <a:off x="8887968" y="1182624"/>
            <a:ext cx="2779776" cy="60960"/>
          </a:xfrm>
          <a:prstGeom prst="rect">
            <a:avLst/>
          </a:prstGeom>
          <a:solidFill>
            <a:srgbClr val="C0392B"/>
          </a:solidFill>
          <a:ln w="12700">
            <a:solidFill>
              <a:srgbClr val="C0392B"/>
            </a:solidFill>
            <a:prstDash val="solid"/>
          </a:ln>
        </p:spPr>
        <p:txBody>
          <a:bodyPr/>
          <a:lstStyle/>
          <a:p>
            <a:endParaRPr lang="en-US" sz="2400"/>
          </a:p>
        </p:txBody>
      </p:sp>
      <p:sp>
        <p:nvSpPr>
          <p:cNvPr id="22" name="Shape 17"/>
          <p:cNvSpPr/>
          <p:nvPr/>
        </p:nvSpPr>
        <p:spPr>
          <a:xfrm>
            <a:off x="8887968" y="1243584"/>
            <a:ext cx="2779776" cy="1889760"/>
          </a:xfrm>
          <a:prstGeom prst="rect">
            <a:avLst/>
          </a:prstGeom>
          <a:solidFill>
            <a:srgbClr val="F9FFFE"/>
          </a:solidFill>
          <a:ln w="6350">
            <a:solidFill>
              <a:srgbClr val="D0ECEA"/>
            </a:solidFill>
            <a:prstDash val="solid"/>
          </a:ln>
          <a:effectLst>
            <a:outerShdw blurRad="63500" dist="25400" dir="8100000" algn="bl" rotWithShape="0">
              <a:srgbClr val="000000">
                <a:alpha val="8000"/>
              </a:srgbClr>
            </a:outerShdw>
          </a:effectLst>
        </p:spPr>
        <p:txBody>
          <a:bodyPr/>
          <a:lstStyle/>
          <a:p>
            <a:endParaRPr lang="en-US" sz="2400"/>
          </a:p>
        </p:txBody>
      </p:sp>
      <p:pic>
        <p:nvPicPr>
          <p:cNvPr id="23" name="Image 3" descr="preencoded.png"/>
          <p:cNvPicPr>
            <a:picLocks noChangeAspect="1"/>
          </p:cNvPicPr>
          <p:nvPr/>
        </p:nvPicPr>
        <p:blipFill>
          <a:blip r:embed="rId6"/>
          <a:stretch>
            <a:fillRect/>
          </a:stretch>
        </p:blipFill>
        <p:spPr>
          <a:xfrm>
            <a:off x="9058656" y="1341120"/>
            <a:ext cx="414528" cy="414528"/>
          </a:xfrm>
          <a:prstGeom prst="rect">
            <a:avLst/>
          </a:prstGeom>
        </p:spPr>
      </p:pic>
      <p:sp>
        <p:nvSpPr>
          <p:cNvPr id="24" name="Text 18"/>
          <p:cNvSpPr/>
          <p:nvPr/>
        </p:nvSpPr>
        <p:spPr>
          <a:xfrm>
            <a:off x="9009888" y="1840992"/>
            <a:ext cx="2535936" cy="329184"/>
          </a:xfrm>
          <a:prstGeom prst="rect">
            <a:avLst/>
          </a:prstGeom>
          <a:noFill/>
          <a:ln/>
        </p:spPr>
        <p:txBody>
          <a:bodyPr wrap="square" lIns="0" tIns="0" rIns="0" bIns="0" rtlCol="0" anchor="ctr"/>
          <a:lstStyle/>
          <a:p>
            <a:r>
              <a:rPr lang="en-US" sz="1467" b="1">
                <a:solidFill>
                  <a:srgbClr val="1A1A2E"/>
                </a:solidFill>
                <a:latin typeface="Oswald" panose="00000500000000000000" pitchFamily="2" charset="0"/>
                <a:ea typeface="Calibri" pitchFamily="34" charset="-122"/>
                <a:cs typeface="Calibri" pitchFamily="34" charset="-120"/>
              </a:rPr>
              <a:t>AI-First L&amp;D</a:t>
            </a:r>
            <a:endParaRPr lang="en-US" sz="1467">
              <a:latin typeface="Oswald" panose="00000500000000000000" pitchFamily="2" charset="0"/>
            </a:endParaRPr>
          </a:p>
        </p:txBody>
      </p:sp>
      <p:sp>
        <p:nvSpPr>
          <p:cNvPr id="25" name="Text 19"/>
          <p:cNvSpPr/>
          <p:nvPr/>
        </p:nvSpPr>
        <p:spPr>
          <a:xfrm>
            <a:off x="9009888" y="2182368"/>
            <a:ext cx="2535936" cy="853440"/>
          </a:xfrm>
          <a:prstGeom prst="rect">
            <a:avLst/>
          </a:prstGeom>
          <a:noFill/>
          <a:ln/>
        </p:spPr>
        <p:txBody>
          <a:bodyPr wrap="square" lIns="0" tIns="0" rIns="0" bIns="0" rtlCol="0" anchor="ctr"/>
          <a:lstStyle/>
          <a:p>
            <a:pPr>
              <a:lnSpc>
                <a:spcPct val="125000"/>
              </a:lnSpc>
            </a:pPr>
            <a:r>
              <a:rPr lang="en-US" sz="1133">
                <a:solidFill>
                  <a:srgbClr val="555555"/>
                </a:solidFill>
                <a:latin typeface="Raleway" pitchFamily="2" charset="0"/>
                <a:ea typeface="Calibri" pitchFamily="34" charset="-122"/>
                <a:cs typeface="Calibri" pitchFamily="34" charset="-120"/>
              </a:rPr>
              <a:t>Continuous upskilling via J2W </a:t>
            </a:r>
            <a:r>
              <a:rPr lang="en-US" sz="1133" err="1">
                <a:solidFill>
                  <a:srgbClr val="555555"/>
                </a:solidFill>
                <a:latin typeface="Raleway" pitchFamily="2" charset="0"/>
                <a:ea typeface="Calibri" pitchFamily="34" charset="-122"/>
                <a:cs typeface="Calibri" pitchFamily="34" charset="-120"/>
              </a:rPr>
              <a:t>CoE</a:t>
            </a:r>
            <a:r>
              <a:rPr lang="en-US" sz="1133">
                <a:solidFill>
                  <a:srgbClr val="555555"/>
                </a:solidFill>
                <a:latin typeface="Raleway" pitchFamily="2" charset="0"/>
                <a:ea typeface="Calibri" pitchFamily="34" charset="-122"/>
                <a:cs typeface="Calibri" pitchFamily="34" charset="-120"/>
              </a:rPr>
              <a:t> - contextual, hands-on AI training powered by Research Wing.</a:t>
            </a:r>
            <a:endParaRPr lang="en-US" sz="1133">
              <a:latin typeface="Raleway" pitchFamily="2" charset="0"/>
            </a:endParaRPr>
          </a:p>
        </p:txBody>
      </p:sp>
      <p:sp>
        <p:nvSpPr>
          <p:cNvPr id="26" name="Text 20"/>
          <p:cNvSpPr/>
          <p:nvPr/>
        </p:nvSpPr>
        <p:spPr>
          <a:xfrm>
            <a:off x="341376" y="3291840"/>
            <a:ext cx="2560320" cy="390144"/>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Dimension</a:t>
            </a:r>
            <a:endParaRPr lang="en-US" sz="1267">
              <a:latin typeface="Raleway" pitchFamily="2" charset="0"/>
            </a:endParaRPr>
          </a:p>
        </p:txBody>
      </p:sp>
      <p:sp>
        <p:nvSpPr>
          <p:cNvPr id="27" name="Text 21"/>
          <p:cNvSpPr/>
          <p:nvPr/>
        </p:nvSpPr>
        <p:spPr>
          <a:xfrm>
            <a:off x="2901696" y="3291840"/>
            <a:ext cx="4023360" cy="390144"/>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Traditional Staffing</a:t>
            </a:r>
            <a:endParaRPr lang="en-US" sz="1267">
              <a:latin typeface="Raleway" pitchFamily="2" charset="0"/>
            </a:endParaRPr>
          </a:p>
        </p:txBody>
      </p:sp>
      <p:sp>
        <p:nvSpPr>
          <p:cNvPr id="28" name="Text 22"/>
          <p:cNvSpPr/>
          <p:nvPr/>
        </p:nvSpPr>
        <p:spPr>
          <a:xfrm>
            <a:off x="6925056" y="3291840"/>
            <a:ext cx="4949952" cy="390144"/>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J2W Workforce</a:t>
            </a:r>
            <a:endParaRPr lang="en-US" sz="1267">
              <a:latin typeface="Raleway" pitchFamily="2" charset="0"/>
            </a:endParaRPr>
          </a:p>
        </p:txBody>
      </p:sp>
      <p:sp>
        <p:nvSpPr>
          <p:cNvPr id="29" name="Shape 23"/>
          <p:cNvSpPr/>
          <p:nvPr/>
        </p:nvSpPr>
        <p:spPr>
          <a:xfrm>
            <a:off x="219456" y="3681984"/>
            <a:ext cx="11533632" cy="0"/>
          </a:xfrm>
          <a:prstGeom prst="line">
            <a:avLst/>
          </a:prstGeom>
          <a:noFill/>
          <a:ln w="9525">
            <a:solidFill>
              <a:srgbClr val="0D9488"/>
            </a:solidFill>
            <a:prstDash val="solid"/>
          </a:ln>
        </p:spPr>
        <p:txBody>
          <a:bodyPr/>
          <a:lstStyle/>
          <a:p>
            <a:endParaRPr lang="en-US" sz="2400"/>
          </a:p>
        </p:txBody>
      </p:sp>
      <p:sp>
        <p:nvSpPr>
          <p:cNvPr id="30" name="Shape 24"/>
          <p:cNvSpPr/>
          <p:nvPr/>
        </p:nvSpPr>
        <p:spPr>
          <a:xfrm>
            <a:off x="219456" y="3681984"/>
            <a:ext cx="11533632" cy="432816"/>
          </a:xfrm>
          <a:prstGeom prst="rect">
            <a:avLst/>
          </a:prstGeom>
          <a:solidFill>
            <a:srgbClr val="FFFFFF"/>
          </a:solidFill>
          <a:ln w="6350">
            <a:solidFill>
              <a:srgbClr val="E2F0EF"/>
            </a:solidFill>
            <a:prstDash val="solid"/>
          </a:ln>
        </p:spPr>
        <p:txBody>
          <a:bodyPr/>
          <a:lstStyle/>
          <a:p>
            <a:endParaRPr lang="en-US" sz="2400"/>
          </a:p>
        </p:txBody>
      </p:sp>
      <p:sp>
        <p:nvSpPr>
          <p:cNvPr id="31" name="Text 25"/>
          <p:cNvSpPr/>
          <p:nvPr/>
        </p:nvSpPr>
        <p:spPr>
          <a:xfrm>
            <a:off x="341376" y="3730752"/>
            <a:ext cx="2377440" cy="335280"/>
          </a:xfrm>
          <a:prstGeom prst="rect">
            <a:avLst/>
          </a:prstGeom>
          <a:noFill/>
          <a:ln/>
        </p:spPr>
        <p:txBody>
          <a:bodyPr wrap="square" lIns="0" tIns="0" rIns="0" bIns="0" rtlCol="0" anchor="ctr"/>
          <a:lstStyle/>
          <a:p>
            <a:r>
              <a:rPr lang="en-US" sz="1267" b="1">
                <a:solidFill>
                  <a:srgbClr val="1A1A2E"/>
                </a:solidFill>
                <a:latin typeface="Raleway" pitchFamily="2" charset="0"/>
                <a:ea typeface="Calibri" pitchFamily="34" charset="-122"/>
                <a:cs typeface="Calibri" pitchFamily="34" charset="-120"/>
              </a:rPr>
              <a:t>Speed to Deploy</a:t>
            </a:r>
            <a:endParaRPr lang="en-US" sz="1267">
              <a:latin typeface="Raleway" pitchFamily="2" charset="0"/>
            </a:endParaRPr>
          </a:p>
        </p:txBody>
      </p:sp>
      <p:sp>
        <p:nvSpPr>
          <p:cNvPr id="32" name="Text 26"/>
          <p:cNvSpPr/>
          <p:nvPr/>
        </p:nvSpPr>
        <p:spPr>
          <a:xfrm>
            <a:off x="2901696" y="3730752"/>
            <a:ext cx="3840480" cy="335280"/>
          </a:xfrm>
          <a:prstGeom prst="rect">
            <a:avLst/>
          </a:prstGeom>
          <a:noFill/>
          <a:ln/>
        </p:spPr>
        <p:txBody>
          <a:bodyPr wrap="square" lIns="0" tIns="0" rIns="0" bIns="0" rtlCol="0" anchor="ctr"/>
          <a:lstStyle/>
          <a:p>
            <a:r>
              <a:rPr lang="en-US" sz="1267">
                <a:solidFill>
                  <a:srgbClr val="888888"/>
                </a:solidFill>
                <a:latin typeface="Raleway" pitchFamily="2" charset="0"/>
                <a:ea typeface="Calibri" pitchFamily="34" charset="-122"/>
                <a:cs typeface="Calibri" pitchFamily="34" charset="-120"/>
              </a:rPr>
              <a:t>Weeks to months</a:t>
            </a:r>
            <a:endParaRPr lang="en-US" sz="1267">
              <a:latin typeface="Raleway" pitchFamily="2" charset="0"/>
            </a:endParaRPr>
          </a:p>
        </p:txBody>
      </p:sp>
      <p:pic>
        <p:nvPicPr>
          <p:cNvPr id="33" name="Image 4" descr="preencoded.png"/>
          <p:cNvPicPr>
            <a:picLocks noChangeAspect="1"/>
          </p:cNvPicPr>
          <p:nvPr/>
        </p:nvPicPr>
        <p:blipFill>
          <a:blip r:embed="rId7"/>
          <a:stretch>
            <a:fillRect/>
          </a:stretch>
        </p:blipFill>
        <p:spPr>
          <a:xfrm>
            <a:off x="6900672" y="3791712"/>
            <a:ext cx="219456" cy="219456"/>
          </a:xfrm>
          <a:prstGeom prst="rect">
            <a:avLst/>
          </a:prstGeom>
        </p:spPr>
      </p:pic>
      <p:sp>
        <p:nvSpPr>
          <p:cNvPr id="34" name="Text 27"/>
          <p:cNvSpPr/>
          <p:nvPr/>
        </p:nvSpPr>
        <p:spPr>
          <a:xfrm>
            <a:off x="7193280" y="3730752"/>
            <a:ext cx="4437888" cy="335280"/>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1 engineer onboarded per hour</a:t>
            </a:r>
            <a:endParaRPr lang="en-US" sz="1267">
              <a:latin typeface="Raleway" pitchFamily="2" charset="0"/>
            </a:endParaRPr>
          </a:p>
        </p:txBody>
      </p:sp>
      <p:sp>
        <p:nvSpPr>
          <p:cNvPr id="35" name="Shape 28"/>
          <p:cNvSpPr/>
          <p:nvPr/>
        </p:nvSpPr>
        <p:spPr>
          <a:xfrm>
            <a:off x="219456" y="4114800"/>
            <a:ext cx="11533632" cy="432816"/>
          </a:xfrm>
          <a:prstGeom prst="rect">
            <a:avLst/>
          </a:prstGeom>
          <a:solidFill>
            <a:srgbClr val="F0FAFA"/>
          </a:solidFill>
          <a:ln w="6350">
            <a:solidFill>
              <a:srgbClr val="E2F0EF"/>
            </a:solidFill>
            <a:prstDash val="solid"/>
          </a:ln>
        </p:spPr>
        <p:txBody>
          <a:bodyPr/>
          <a:lstStyle/>
          <a:p>
            <a:endParaRPr lang="en-US" sz="2400"/>
          </a:p>
        </p:txBody>
      </p:sp>
      <p:sp>
        <p:nvSpPr>
          <p:cNvPr id="36" name="Text 29"/>
          <p:cNvSpPr/>
          <p:nvPr/>
        </p:nvSpPr>
        <p:spPr>
          <a:xfrm>
            <a:off x="341376" y="4163568"/>
            <a:ext cx="2377440" cy="335280"/>
          </a:xfrm>
          <a:prstGeom prst="rect">
            <a:avLst/>
          </a:prstGeom>
          <a:noFill/>
          <a:ln/>
        </p:spPr>
        <p:txBody>
          <a:bodyPr wrap="square" lIns="0" tIns="0" rIns="0" bIns="0" rtlCol="0" anchor="ctr"/>
          <a:lstStyle/>
          <a:p>
            <a:r>
              <a:rPr lang="en-US" sz="1267" b="1">
                <a:solidFill>
                  <a:srgbClr val="1A1A2E"/>
                </a:solidFill>
                <a:latin typeface="Raleway" pitchFamily="2" charset="0"/>
                <a:ea typeface="Calibri" pitchFamily="34" charset="-122"/>
                <a:cs typeface="Calibri" pitchFamily="34" charset="-120"/>
              </a:rPr>
              <a:t>Team Composition</a:t>
            </a:r>
            <a:endParaRPr lang="en-US" sz="1267">
              <a:latin typeface="Raleway" pitchFamily="2" charset="0"/>
            </a:endParaRPr>
          </a:p>
        </p:txBody>
      </p:sp>
      <p:sp>
        <p:nvSpPr>
          <p:cNvPr id="37" name="Text 30"/>
          <p:cNvSpPr/>
          <p:nvPr/>
        </p:nvSpPr>
        <p:spPr>
          <a:xfrm>
            <a:off x="2901696" y="4163568"/>
            <a:ext cx="3840480" cy="335280"/>
          </a:xfrm>
          <a:prstGeom prst="rect">
            <a:avLst/>
          </a:prstGeom>
          <a:noFill/>
          <a:ln/>
        </p:spPr>
        <p:txBody>
          <a:bodyPr wrap="square" lIns="0" tIns="0" rIns="0" bIns="0" rtlCol="0" anchor="ctr"/>
          <a:lstStyle/>
          <a:p>
            <a:r>
              <a:rPr lang="en-US" sz="1267">
                <a:solidFill>
                  <a:srgbClr val="888888"/>
                </a:solidFill>
                <a:latin typeface="Raleway" pitchFamily="2" charset="0"/>
                <a:ea typeface="Calibri" pitchFamily="34" charset="-122"/>
                <a:cs typeface="Calibri" pitchFamily="34" charset="-120"/>
              </a:rPr>
              <a:t>Single-role profile deployments</a:t>
            </a:r>
            <a:endParaRPr lang="en-US" sz="1267">
              <a:latin typeface="Raleway" pitchFamily="2" charset="0"/>
            </a:endParaRPr>
          </a:p>
        </p:txBody>
      </p:sp>
      <p:pic>
        <p:nvPicPr>
          <p:cNvPr id="38" name="Image 5" descr="preencoded.png"/>
          <p:cNvPicPr>
            <a:picLocks noChangeAspect="1"/>
          </p:cNvPicPr>
          <p:nvPr/>
        </p:nvPicPr>
        <p:blipFill>
          <a:blip r:embed="rId7"/>
          <a:stretch>
            <a:fillRect/>
          </a:stretch>
        </p:blipFill>
        <p:spPr>
          <a:xfrm>
            <a:off x="6900672" y="4224528"/>
            <a:ext cx="219456" cy="219456"/>
          </a:xfrm>
          <a:prstGeom prst="rect">
            <a:avLst/>
          </a:prstGeom>
        </p:spPr>
      </p:pic>
      <p:sp>
        <p:nvSpPr>
          <p:cNvPr id="39" name="Text 31"/>
          <p:cNvSpPr/>
          <p:nvPr/>
        </p:nvSpPr>
        <p:spPr>
          <a:xfrm>
            <a:off x="7193280" y="4163568"/>
            <a:ext cx="4437888" cy="335280"/>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Human + AI blended capability stacks</a:t>
            </a:r>
            <a:endParaRPr lang="en-US" sz="1267">
              <a:latin typeface="Raleway" pitchFamily="2" charset="0"/>
            </a:endParaRPr>
          </a:p>
        </p:txBody>
      </p:sp>
      <p:sp>
        <p:nvSpPr>
          <p:cNvPr id="40" name="Shape 32"/>
          <p:cNvSpPr/>
          <p:nvPr/>
        </p:nvSpPr>
        <p:spPr>
          <a:xfrm>
            <a:off x="219456" y="4547616"/>
            <a:ext cx="11533632" cy="432816"/>
          </a:xfrm>
          <a:prstGeom prst="rect">
            <a:avLst/>
          </a:prstGeom>
          <a:solidFill>
            <a:srgbClr val="FFFFFF"/>
          </a:solidFill>
          <a:ln w="6350">
            <a:solidFill>
              <a:srgbClr val="E2F0EF"/>
            </a:solidFill>
            <a:prstDash val="solid"/>
          </a:ln>
        </p:spPr>
        <p:txBody>
          <a:bodyPr/>
          <a:lstStyle/>
          <a:p>
            <a:endParaRPr lang="en-US" sz="2400"/>
          </a:p>
        </p:txBody>
      </p:sp>
      <p:sp>
        <p:nvSpPr>
          <p:cNvPr id="41" name="Text 33"/>
          <p:cNvSpPr/>
          <p:nvPr/>
        </p:nvSpPr>
        <p:spPr>
          <a:xfrm>
            <a:off x="341376" y="4596384"/>
            <a:ext cx="2377440" cy="335280"/>
          </a:xfrm>
          <a:prstGeom prst="rect">
            <a:avLst/>
          </a:prstGeom>
          <a:noFill/>
          <a:ln/>
        </p:spPr>
        <p:txBody>
          <a:bodyPr wrap="square" lIns="0" tIns="0" rIns="0" bIns="0" rtlCol="0" anchor="ctr"/>
          <a:lstStyle/>
          <a:p>
            <a:r>
              <a:rPr lang="en-US" sz="1267" b="1">
                <a:solidFill>
                  <a:srgbClr val="1A1A2E"/>
                </a:solidFill>
                <a:latin typeface="Raleway" pitchFamily="2" charset="0"/>
                <a:ea typeface="Calibri" pitchFamily="34" charset="-122"/>
                <a:cs typeface="Calibri" pitchFamily="34" charset="-120"/>
              </a:rPr>
              <a:t>Governance</a:t>
            </a:r>
            <a:endParaRPr lang="en-US" sz="1267">
              <a:latin typeface="Raleway" pitchFamily="2" charset="0"/>
            </a:endParaRPr>
          </a:p>
        </p:txBody>
      </p:sp>
      <p:sp>
        <p:nvSpPr>
          <p:cNvPr id="42" name="Text 34"/>
          <p:cNvSpPr/>
          <p:nvPr/>
        </p:nvSpPr>
        <p:spPr>
          <a:xfrm>
            <a:off x="2901696" y="4596384"/>
            <a:ext cx="3840480" cy="335280"/>
          </a:xfrm>
          <a:prstGeom prst="rect">
            <a:avLst/>
          </a:prstGeom>
          <a:noFill/>
          <a:ln/>
        </p:spPr>
        <p:txBody>
          <a:bodyPr wrap="square" lIns="0" tIns="0" rIns="0" bIns="0" rtlCol="0" anchor="ctr"/>
          <a:lstStyle/>
          <a:p>
            <a:r>
              <a:rPr lang="en-US" sz="1267">
                <a:solidFill>
                  <a:srgbClr val="888888"/>
                </a:solidFill>
                <a:latin typeface="Raleway" pitchFamily="2" charset="0"/>
                <a:ea typeface="Calibri" pitchFamily="34" charset="-122"/>
                <a:cs typeface="Calibri" pitchFamily="34" charset="-120"/>
              </a:rPr>
              <a:t>Client's burden</a:t>
            </a:r>
            <a:endParaRPr lang="en-US" sz="1267">
              <a:latin typeface="Raleway" pitchFamily="2" charset="0"/>
            </a:endParaRPr>
          </a:p>
        </p:txBody>
      </p:sp>
      <p:pic>
        <p:nvPicPr>
          <p:cNvPr id="43" name="Image 6" descr="preencoded.png"/>
          <p:cNvPicPr>
            <a:picLocks noChangeAspect="1"/>
          </p:cNvPicPr>
          <p:nvPr/>
        </p:nvPicPr>
        <p:blipFill>
          <a:blip r:embed="rId7"/>
          <a:stretch>
            <a:fillRect/>
          </a:stretch>
        </p:blipFill>
        <p:spPr>
          <a:xfrm>
            <a:off x="6900672" y="4657344"/>
            <a:ext cx="219456" cy="219456"/>
          </a:xfrm>
          <a:prstGeom prst="rect">
            <a:avLst/>
          </a:prstGeom>
        </p:spPr>
      </p:pic>
      <p:sp>
        <p:nvSpPr>
          <p:cNvPr id="44" name="Text 35"/>
          <p:cNvSpPr/>
          <p:nvPr/>
        </p:nvSpPr>
        <p:spPr>
          <a:xfrm>
            <a:off x="7193280" y="4596384"/>
            <a:ext cx="4437888" cy="335280"/>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J2W-owned - HRBP implant at every site</a:t>
            </a:r>
            <a:endParaRPr lang="en-US" sz="1267">
              <a:latin typeface="Raleway" pitchFamily="2" charset="0"/>
            </a:endParaRPr>
          </a:p>
        </p:txBody>
      </p:sp>
      <p:sp>
        <p:nvSpPr>
          <p:cNvPr id="45" name="Shape 36"/>
          <p:cNvSpPr/>
          <p:nvPr/>
        </p:nvSpPr>
        <p:spPr>
          <a:xfrm>
            <a:off x="219456" y="4980432"/>
            <a:ext cx="11533632" cy="432816"/>
          </a:xfrm>
          <a:prstGeom prst="rect">
            <a:avLst/>
          </a:prstGeom>
          <a:solidFill>
            <a:srgbClr val="F0FAFA"/>
          </a:solidFill>
          <a:ln w="6350">
            <a:solidFill>
              <a:srgbClr val="E2F0EF"/>
            </a:solidFill>
            <a:prstDash val="solid"/>
          </a:ln>
        </p:spPr>
        <p:txBody>
          <a:bodyPr/>
          <a:lstStyle/>
          <a:p>
            <a:endParaRPr lang="en-US" sz="2400"/>
          </a:p>
        </p:txBody>
      </p:sp>
      <p:sp>
        <p:nvSpPr>
          <p:cNvPr id="46" name="Text 37"/>
          <p:cNvSpPr/>
          <p:nvPr/>
        </p:nvSpPr>
        <p:spPr>
          <a:xfrm>
            <a:off x="341376" y="5029200"/>
            <a:ext cx="2377440" cy="335280"/>
          </a:xfrm>
          <a:prstGeom prst="rect">
            <a:avLst/>
          </a:prstGeom>
          <a:noFill/>
          <a:ln/>
        </p:spPr>
        <p:txBody>
          <a:bodyPr wrap="square" lIns="0" tIns="0" rIns="0" bIns="0" rtlCol="0" anchor="ctr"/>
          <a:lstStyle/>
          <a:p>
            <a:r>
              <a:rPr lang="en-US" sz="1267" b="1">
                <a:solidFill>
                  <a:srgbClr val="1A1A2E"/>
                </a:solidFill>
                <a:latin typeface="Raleway" pitchFamily="2" charset="0"/>
                <a:ea typeface="Calibri" pitchFamily="34" charset="-122"/>
                <a:cs typeface="Calibri" pitchFamily="34" charset="-120"/>
              </a:rPr>
              <a:t>Performance Issues</a:t>
            </a:r>
            <a:endParaRPr lang="en-US" sz="1267">
              <a:latin typeface="Raleway" pitchFamily="2" charset="0"/>
            </a:endParaRPr>
          </a:p>
        </p:txBody>
      </p:sp>
      <p:sp>
        <p:nvSpPr>
          <p:cNvPr id="47" name="Text 38"/>
          <p:cNvSpPr/>
          <p:nvPr/>
        </p:nvSpPr>
        <p:spPr>
          <a:xfrm>
            <a:off x="2901696" y="5029200"/>
            <a:ext cx="3840480" cy="335280"/>
          </a:xfrm>
          <a:prstGeom prst="rect">
            <a:avLst/>
          </a:prstGeom>
          <a:noFill/>
          <a:ln/>
        </p:spPr>
        <p:txBody>
          <a:bodyPr wrap="square" lIns="0" tIns="0" rIns="0" bIns="0" rtlCol="0" anchor="ctr"/>
          <a:lstStyle/>
          <a:p>
            <a:r>
              <a:rPr lang="en-US" sz="1267">
                <a:solidFill>
                  <a:srgbClr val="888888"/>
                </a:solidFill>
                <a:latin typeface="Raleway" pitchFamily="2" charset="0"/>
                <a:ea typeface="Calibri" pitchFamily="34" charset="-122"/>
                <a:cs typeface="Calibri" pitchFamily="34" charset="-120"/>
              </a:rPr>
              <a:t>Escalation after the fact</a:t>
            </a:r>
            <a:endParaRPr lang="en-US" sz="1267">
              <a:latin typeface="Raleway" pitchFamily="2" charset="0"/>
            </a:endParaRPr>
          </a:p>
        </p:txBody>
      </p:sp>
      <p:pic>
        <p:nvPicPr>
          <p:cNvPr id="48" name="Image 7" descr="preencoded.png"/>
          <p:cNvPicPr>
            <a:picLocks noChangeAspect="1"/>
          </p:cNvPicPr>
          <p:nvPr/>
        </p:nvPicPr>
        <p:blipFill>
          <a:blip r:embed="rId7"/>
          <a:stretch>
            <a:fillRect/>
          </a:stretch>
        </p:blipFill>
        <p:spPr>
          <a:xfrm>
            <a:off x="6900672" y="5090160"/>
            <a:ext cx="219456" cy="219456"/>
          </a:xfrm>
          <a:prstGeom prst="rect">
            <a:avLst/>
          </a:prstGeom>
        </p:spPr>
      </p:pic>
      <p:sp>
        <p:nvSpPr>
          <p:cNvPr id="49" name="Text 39"/>
          <p:cNvSpPr/>
          <p:nvPr/>
        </p:nvSpPr>
        <p:spPr>
          <a:xfrm>
            <a:off x="7193280" y="5029200"/>
            <a:ext cx="4437888" cy="335280"/>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Proactive monitoring &amp; intervention</a:t>
            </a:r>
            <a:endParaRPr lang="en-US" sz="1267">
              <a:latin typeface="Raleway" pitchFamily="2" charset="0"/>
            </a:endParaRPr>
          </a:p>
        </p:txBody>
      </p:sp>
      <p:sp>
        <p:nvSpPr>
          <p:cNvPr id="50" name="Shape 40"/>
          <p:cNvSpPr/>
          <p:nvPr/>
        </p:nvSpPr>
        <p:spPr>
          <a:xfrm>
            <a:off x="219456" y="5413248"/>
            <a:ext cx="11533632" cy="432816"/>
          </a:xfrm>
          <a:prstGeom prst="rect">
            <a:avLst/>
          </a:prstGeom>
          <a:solidFill>
            <a:srgbClr val="FFFFFF"/>
          </a:solidFill>
          <a:ln w="6350">
            <a:solidFill>
              <a:srgbClr val="E2F0EF"/>
            </a:solidFill>
            <a:prstDash val="solid"/>
          </a:ln>
        </p:spPr>
        <p:txBody>
          <a:bodyPr/>
          <a:lstStyle/>
          <a:p>
            <a:endParaRPr lang="en-US" sz="2400"/>
          </a:p>
        </p:txBody>
      </p:sp>
      <p:sp>
        <p:nvSpPr>
          <p:cNvPr id="51" name="Text 41"/>
          <p:cNvSpPr/>
          <p:nvPr/>
        </p:nvSpPr>
        <p:spPr>
          <a:xfrm>
            <a:off x="341376" y="5462016"/>
            <a:ext cx="2377440" cy="335280"/>
          </a:xfrm>
          <a:prstGeom prst="rect">
            <a:avLst/>
          </a:prstGeom>
          <a:noFill/>
          <a:ln/>
        </p:spPr>
        <p:txBody>
          <a:bodyPr wrap="square" lIns="0" tIns="0" rIns="0" bIns="0" rtlCol="0" anchor="ctr"/>
          <a:lstStyle/>
          <a:p>
            <a:r>
              <a:rPr lang="en-US" sz="1267" b="1">
                <a:solidFill>
                  <a:srgbClr val="1A1A2E"/>
                </a:solidFill>
                <a:latin typeface="Raleway" pitchFamily="2" charset="0"/>
                <a:ea typeface="Calibri" pitchFamily="34" charset="-122"/>
                <a:cs typeface="Calibri" pitchFamily="34" charset="-120"/>
              </a:rPr>
              <a:t>Knowledge Retention</a:t>
            </a:r>
            <a:endParaRPr lang="en-US" sz="1267">
              <a:latin typeface="Raleway" pitchFamily="2" charset="0"/>
            </a:endParaRPr>
          </a:p>
        </p:txBody>
      </p:sp>
      <p:sp>
        <p:nvSpPr>
          <p:cNvPr id="52" name="Text 42"/>
          <p:cNvSpPr/>
          <p:nvPr/>
        </p:nvSpPr>
        <p:spPr>
          <a:xfrm>
            <a:off x="2901696" y="5462016"/>
            <a:ext cx="3840480" cy="335280"/>
          </a:xfrm>
          <a:prstGeom prst="rect">
            <a:avLst/>
          </a:prstGeom>
          <a:noFill/>
          <a:ln/>
        </p:spPr>
        <p:txBody>
          <a:bodyPr wrap="square" lIns="0" tIns="0" rIns="0" bIns="0" rtlCol="0" anchor="ctr"/>
          <a:lstStyle/>
          <a:p>
            <a:r>
              <a:rPr lang="en-US" sz="1267">
                <a:solidFill>
                  <a:srgbClr val="888888"/>
                </a:solidFill>
                <a:latin typeface="Raleway" pitchFamily="2" charset="0"/>
                <a:ea typeface="Calibri" pitchFamily="34" charset="-122"/>
                <a:cs typeface="Calibri" pitchFamily="34" charset="-120"/>
              </a:rPr>
              <a:t>Lost with attrition</a:t>
            </a:r>
            <a:endParaRPr lang="en-US" sz="1267">
              <a:latin typeface="Raleway" pitchFamily="2" charset="0"/>
            </a:endParaRPr>
          </a:p>
        </p:txBody>
      </p:sp>
      <p:pic>
        <p:nvPicPr>
          <p:cNvPr id="53" name="Image 8" descr="preencoded.png"/>
          <p:cNvPicPr>
            <a:picLocks noChangeAspect="1"/>
          </p:cNvPicPr>
          <p:nvPr/>
        </p:nvPicPr>
        <p:blipFill>
          <a:blip r:embed="rId7"/>
          <a:stretch>
            <a:fillRect/>
          </a:stretch>
        </p:blipFill>
        <p:spPr>
          <a:xfrm>
            <a:off x="6900672" y="5522976"/>
            <a:ext cx="219456" cy="219456"/>
          </a:xfrm>
          <a:prstGeom prst="rect">
            <a:avLst/>
          </a:prstGeom>
        </p:spPr>
      </p:pic>
      <p:sp>
        <p:nvSpPr>
          <p:cNvPr id="54" name="Text 43"/>
          <p:cNvSpPr/>
          <p:nvPr/>
        </p:nvSpPr>
        <p:spPr>
          <a:xfrm>
            <a:off x="7193280" y="5462016"/>
            <a:ext cx="4437888" cy="335280"/>
          </a:xfrm>
          <a:prstGeom prst="rect">
            <a:avLst/>
          </a:prstGeom>
          <a:noFill/>
          <a:ln/>
        </p:spPr>
        <p:txBody>
          <a:bodyPr wrap="square" lIns="0" tIns="0" rIns="0" bIns="0" rtlCol="0" anchor="ctr"/>
          <a:lstStyle/>
          <a:p>
            <a:r>
              <a:rPr lang="en-US" sz="1267" b="1">
                <a:solidFill>
                  <a:srgbClr val="0D9488"/>
                </a:solidFill>
                <a:latin typeface="Raleway" pitchFamily="2" charset="0"/>
                <a:ea typeface="Calibri" pitchFamily="34" charset="-122"/>
                <a:cs typeface="Calibri" pitchFamily="34" charset="-120"/>
              </a:rPr>
              <a:t>Captured in J2W Knowledge Repository</a:t>
            </a:r>
            <a:endParaRPr lang="en-US" sz="1267">
              <a:latin typeface="Raleway" pitchFamily="2" charset="0"/>
            </a:endParaRPr>
          </a:p>
        </p:txBody>
      </p:sp>
      <p:sp>
        <p:nvSpPr>
          <p:cNvPr id="55" name="Shape 44"/>
          <p:cNvSpPr/>
          <p:nvPr/>
        </p:nvSpPr>
        <p:spPr>
          <a:xfrm>
            <a:off x="219456" y="5846064"/>
            <a:ext cx="11533632" cy="432816"/>
          </a:xfrm>
          <a:prstGeom prst="rect">
            <a:avLst/>
          </a:prstGeom>
          <a:solidFill>
            <a:srgbClr val="F0FAFA"/>
          </a:solidFill>
          <a:ln w="6350">
            <a:solidFill>
              <a:srgbClr val="E2F0EF"/>
            </a:solidFill>
            <a:prstDash val="solid"/>
          </a:ln>
        </p:spPr>
        <p:txBody>
          <a:bodyPr/>
          <a:lstStyle/>
          <a:p>
            <a:endParaRPr lang="en-US" sz="2400"/>
          </a:p>
        </p:txBody>
      </p:sp>
      <p:sp>
        <p:nvSpPr>
          <p:cNvPr id="56" name="Text 45"/>
          <p:cNvSpPr/>
          <p:nvPr/>
        </p:nvSpPr>
        <p:spPr>
          <a:xfrm>
            <a:off x="341376" y="5894832"/>
            <a:ext cx="2377440" cy="335280"/>
          </a:xfrm>
          <a:prstGeom prst="rect">
            <a:avLst/>
          </a:prstGeom>
          <a:noFill/>
          <a:ln/>
        </p:spPr>
        <p:txBody>
          <a:bodyPr wrap="square" lIns="0" tIns="0" rIns="0" bIns="0" rtlCol="0" anchor="ctr"/>
          <a:lstStyle/>
          <a:p>
            <a:r>
              <a:rPr lang="en-US" sz="1267" b="1">
                <a:solidFill>
                  <a:srgbClr val="1A1A2E"/>
                </a:solidFill>
                <a:latin typeface="Calibri" pitchFamily="34" charset="0"/>
                <a:ea typeface="Calibri" pitchFamily="34" charset="-122"/>
                <a:cs typeface="Calibri" pitchFamily="34" charset="-120"/>
              </a:rPr>
              <a:t>AI Readiness</a:t>
            </a:r>
            <a:endParaRPr lang="en-US" sz="1267"/>
          </a:p>
        </p:txBody>
      </p:sp>
      <p:sp>
        <p:nvSpPr>
          <p:cNvPr id="57" name="Text 46"/>
          <p:cNvSpPr/>
          <p:nvPr/>
        </p:nvSpPr>
        <p:spPr>
          <a:xfrm>
            <a:off x="2901696" y="5894832"/>
            <a:ext cx="3840480" cy="335280"/>
          </a:xfrm>
          <a:prstGeom prst="rect">
            <a:avLst/>
          </a:prstGeom>
          <a:noFill/>
          <a:ln/>
        </p:spPr>
        <p:txBody>
          <a:bodyPr wrap="square" lIns="0" tIns="0" rIns="0" bIns="0" rtlCol="0" anchor="ctr"/>
          <a:lstStyle/>
          <a:p>
            <a:r>
              <a:rPr lang="en-US" sz="1267">
                <a:solidFill>
                  <a:srgbClr val="888888"/>
                </a:solidFill>
                <a:latin typeface="Calibri" pitchFamily="34" charset="0"/>
                <a:ea typeface="Calibri" pitchFamily="34" charset="-122"/>
                <a:cs typeface="Calibri" pitchFamily="34" charset="-120"/>
              </a:rPr>
              <a:t>Ad hoc</a:t>
            </a:r>
            <a:endParaRPr lang="en-US" sz="1267"/>
          </a:p>
        </p:txBody>
      </p:sp>
      <p:pic>
        <p:nvPicPr>
          <p:cNvPr id="58" name="Image 9" descr="preencoded.png"/>
          <p:cNvPicPr>
            <a:picLocks noChangeAspect="1"/>
          </p:cNvPicPr>
          <p:nvPr/>
        </p:nvPicPr>
        <p:blipFill>
          <a:blip r:embed="rId7"/>
          <a:stretch>
            <a:fillRect/>
          </a:stretch>
        </p:blipFill>
        <p:spPr>
          <a:xfrm>
            <a:off x="6900672" y="5955792"/>
            <a:ext cx="219456" cy="219456"/>
          </a:xfrm>
          <a:prstGeom prst="rect">
            <a:avLst/>
          </a:prstGeom>
        </p:spPr>
      </p:pic>
      <p:sp>
        <p:nvSpPr>
          <p:cNvPr id="59" name="Text 47"/>
          <p:cNvSpPr/>
          <p:nvPr/>
        </p:nvSpPr>
        <p:spPr>
          <a:xfrm>
            <a:off x="7193280" y="5894832"/>
            <a:ext cx="4437888" cy="335280"/>
          </a:xfrm>
          <a:prstGeom prst="rect">
            <a:avLst/>
          </a:prstGeom>
          <a:noFill/>
          <a:ln/>
        </p:spPr>
        <p:txBody>
          <a:bodyPr wrap="square" lIns="0" tIns="0" rIns="0" bIns="0" rtlCol="0" anchor="ctr"/>
          <a:lstStyle/>
          <a:p>
            <a:r>
              <a:rPr lang="en-US" sz="1267" b="1">
                <a:solidFill>
                  <a:srgbClr val="C0392B"/>
                </a:solidFill>
                <a:latin typeface="Raleway" pitchFamily="2" charset="0"/>
                <a:ea typeface="Calibri" pitchFamily="34" charset="-122"/>
                <a:cs typeface="Calibri" pitchFamily="34" charset="-120"/>
              </a:rPr>
              <a:t>Embedded from Day 1</a:t>
            </a:r>
            <a:endParaRPr lang="en-US" sz="1267">
              <a:latin typeface="Raleway" pitchFamily="2" charset="0"/>
            </a:endParaRPr>
          </a:p>
        </p:txBody>
      </p:sp>
      <p:sp>
        <p:nvSpPr>
          <p:cNvPr id="60" name="Shape 48"/>
          <p:cNvSpPr/>
          <p:nvPr/>
        </p:nvSpPr>
        <p:spPr>
          <a:xfrm>
            <a:off x="0" y="6352032"/>
            <a:ext cx="12192000" cy="505968"/>
          </a:xfrm>
          <a:prstGeom prst="rect">
            <a:avLst/>
          </a:prstGeom>
          <a:solidFill>
            <a:srgbClr val="0D9488"/>
          </a:solidFill>
          <a:ln w="12700">
            <a:solidFill>
              <a:srgbClr val="0D9488"/>
            </a:solidFill>
            <a:prstDash val="solid"/>
          </a:ln>
        </p:spPr>
        <p:txBody>
          <a:bodyPr/>
          <a:lstStyle/>
          <a:p>
            <a:endParaRPr lang="en-US" sz="2400"/>
          </a:p>
        </p:txBody>
      </p:sp>
      <p:sp>
        <p:nvSpPr>
          <p:cNvPr id="61" name="Text 49"/>
          <p:cNvSpPr/>
          <p:nvPr/>
        </p:nvSpPr>
        <p:spPr>
          <a:xfrm>
            <a:off x="60960" y="6364224"/>
            <a:ext cx="2316480" cy="268224"/>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5,500+</a:t>
            </a:r>
            <a:endParaRPr lang="en-US" sz="1600"/>
          </a:p>
        </p:txBody>
      </p:sp>
      <p:sp>
        <p:nvSpPr>
          <p:cNvPr id="62" name="Text 50"/>
          <p:cNvSpPr/>
          <p:nvPr/>
        </p:nvSpPr>
        <p:spPr>
          <a:xfrm>
            <a:off x="60960" y="6620256"/>
            <a:ext cx="2316480" cy="207264"/>
          </a:xfrm>
          <a:prstGeom prst="rect">
            <a:avLst/>
          </a:prstGeom>
          <a:noFill/>
          <a:ln/>
        </p:spPr>
        <p:txBody>
          <a:bodyPr wrap="square" lIns="0" tIns="0" rIns="0" bIns="0" rtlCol="0" anchor="ctr"/>
          <a:lstStyle/>
          <a:p>
            <a:pPr algn="ctr"/>
            <a:r>
              <a:rPr lang="en-US" sz="1000">
                <a:solidFill>
                  <a:srgbClr val="D0F5F0"/>
                </a:solidFill>
                <a:latin typeface="Calibri" pitchFamily="34" charset="0"/>
                <a:ea typeface="Calibri" pitchFamily="34" charset="-122"/>
                <a:cs typeface="Calibri" pitchFamily="34" charset="-120"/>
              </a:rPr>
              <a:t>Active Consultants</a:t>
            </a:r>
            <a:endParaRPr lang="en-US" sz="1000"/>
          </a:p>
        </p:txBody>
      </p:sp>
      <p:sp>
        <p:nvSpPr>
          <p:cNvPr id="63" name="Shape 51"/>
          <p:cNvSpPr/>
          <p:nvPr/>
        </p:nvSpPr>
        <p:spPr>
          <a:xfrm>
            <a:off x="2438400" y="6400800"/>
            <a:ext cx="0" cy="402336"/>
          </a:xfrm>
          <a:prstGeom prst="line">
            <a:avLst/>
          </a:prstGeom>
          <a:noFill/>
          <a:ln w="6350">
            <a:solidFill>
              <a:srgbClr val="FFFFFF">
                <a:alpha val="45000"/>
              </a:srgbClr>
            </a:solidFill>
            <a:prstDash val="solid"/>
          </a:ln>
        </p:spPr>
        <p:txBody>
          <a:bodyPr/>
          <a:lstStyle/>
          <a:p>
            <a:endParaRPr lang="en-US" sz="2400"/>
          </a:p>
        </p:txBody>
      </p:sp>
      <p:sp>
        <p:nvSpPr>
          <p:cNvPr id="64" name="Text 52"/>
          <p:cNvSpPr/>
          <p:nvPr/>
        </p:nvSpPr>
        <p:spPr>
          <a:xfrm>
            <a:off x="2499360" y="6364224"/>
            <a:ext cx="2316480" cy="268224"/>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1,250+</a:t>
            </a:r>
            <a:endParaRPr lang="en-US" sz="1600"/>
          </a:p>
        </p:txBody>
      </p:sp>
      <p:sp>
        <p:nvSpPr>
          <p:cNvPr id="65" name="Text 53"/>
          <p:cNvSpPr/>
          <p:nvPr/>
        </p:nvSpPr>
        <p:spPr>
          <a:xfrm>
            <a:off x="2499360" y="6620256"/>
            <a:ext cx="2316480" cy="207264"/>
          </a:xfrm>
          <a:prstGeom prst="rect">
            <a:avLst/>
          </a:prstGeom>
          <a:noFill/>
          <a:ln/>
        </p:spPr>
        <p:txBody>
          <a:bodyPr wrap="square" lIns="0" tIns="0" rIns="0" bIns="0" rtlCol="0" anchor="ctr"/>
          <a:lstStyle/>
          <a:p>
            <a:pPr algn="ctr"/>
            <a:r>
              <a:rPr lang="en-US" sz="1000">
                <a:solidFill>
                  <a:srgbClr val="D0F5F0"/>
                </a:solidFill>
                <a:latin typeface="Calibri" pitchFamily="34" charset="0"/>
                <a:ea typeface="Calibri" pitchFamily="34" charset="-122"/>
                <a:cs typeface="Calibri" pitchFamily="34" charset="-120"/>
              </a:rPr>
              <a:t>Skills Covered</a:t>
            </a:r>
            <a:endParaRPr lang="en-US" sz="1000"/>
          </a:p>
        </p:txBody>
      </p:sp>
      <p:sp>
        <p:nvSpPr>
          <p:cNvPr id="66" name="Shape 54"/>
          <p:cNvSpPr/>
          <p:nvPr/>
        </p:nvSpPr>
        <p:spPr>
          <a:xfrm>
            <a:off x="4876800" y="6400800"/>
            <a:ext cx="0" cy="402336"/>
          </a:xfrm>
          <a:prstGeom prst="line">
            <a:avLst/>
          </a:prstGeom>
          <a:noFill/>
          <a:ln w="6350">
            <a:solidFill>
              <a:srgbClr val="FFFFFF">
                <a:alpha val="45000"/>
              </a:srgbClr>
            </a:solidFill>
            <a:prstDash val="solid"/>
          </a:ln>
        </p:spPr>
        <p:txBody>
          <a:bodyPr/>
          <a:lstStyle/>
          <a:p>
            <a:endParaRPr lang="en-US" sz="2400"/>
          </a:p>
        </p:txBody>
      </p:sp>
      <p:sp>
        <p:nvSpPr>
          <p:cNvPr id="67" name="Text 55"/>
          <p:cNvSpPr/>
          <p:nvPr/>
        </p:nvSpPr>
        <p:spPr>
          <a:xfrm>
            <a:off x="4937760" y="6364224"/>
            <a:ext cx="2316480" cy="268224"/>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320+</a:t>
            </a:r>
            <a:endParaRPr lang="en-US" sz="1600"/>
          </a:p>
        </p:txBody>
      </p:sp>
      <p:sp>
        <p:nvSpPr>
          <p:cNvPr id="68" name="Text 56"/>
          <p:cNvSpPr/>
          <p:nvPr/>
        </p:nvSpPr>
        <p:spPr>
          <a:xfrm>
            <a:off x="4937760" y="6620256"/>
            <a:ext cx="2316480" cy="207264"/>
          </a:xfrm>
          <a:prstGeom prst="rect">
            <a:avLst/>
          </a:prstGeom>
          <a:noFill/>
          <a:ln/>
        </p:spPr>
        <p:txBody>
          <a:bodyPr wrap="square" lIns="0" tIns="0" rIns="0" bIns="0" rtlCol="0" anchor="ctr"/>
          <a:lstStyle/>
          <a:p>
            <a:pPr algn="ctr"/>
            <a:r>
              <a:rPr lang="en-US" sz="1000">
                <a:solidFill>
                  <a:srgbClr val="D0F5F0"/>
                </a:solidFill>
                <a:latin typeface="Calibri" pitchFamily="34" charset="0"/>
                <a:ea typeface="Calibri" pitchFamily="34" charset="-122"/>
                <a:cs typeface="Calibri" pitchFamily="34" charset="-120"/>
              </a:rPr>
              <a:t>Enterprise Clients</a:t>
            </a:r>
            <a:endParaRPr lang="en-US" sz="1000"/>
          </a:p>
        </p:txBody>
      </p:sp>
      <p:sp>
        <p:nvSpPr>
          <p:cNvPr id="69" name="Shape 57"/>
          <p:cNvSpPr/>
          <p:nvPr/>
        </p:nvSpPr>
        <p:spPr>
          <a:xfrm>
            <a:off x="7315200" y="6400800"/>
            <a:ext cx="0" cy="402336"/>
          </a:xfrm>
          <a:prstGeom prst="line">
            <a:avLst/>
          </a:prstGeom>
          <a:noFill/>
          <a:ln w="6350">
            <a:solidFill>
              <a:srgbClr val="FFFFFF">
                <a:alpha val="45000"/>
              </a:srgbClr>
            </a:solidFill>
            <a:prstDash val="solid"/>
          </a:ln>
        </p:spPr>
        <p:txBody>
          <a:bodyPr/>
          <a:lstStyle/>
          <a:p>
            <a:endParaRPr lang="en-US" sz="2400"/>
          </a:p>
        </p:txBody>
      </p:sp>
      <p:sp>
        <p:nvSpPr>
          <p:cNvPr id="70" name="Text 58"/>
          <p:cNvSpPr/>
          <p:nvPr/>
        </p:nvSpPr>
        <p:spPr>
          <a:xfrm>
            <a:off x="7376160" y="6364224"/>
            <a:ext cx="2316480" cy="268224"/>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0%</a:t>
            </a:r>
            <a:endParaRPr lang="en-US" sz="1600"/>
          </a:p>
        </p:txBody>
      </p:sp>
      <p:sp>
        <p:nvSpPr>
          <p:cNvPr id="71" name="Text 59"/>
          <p:cNvSpPr/>
          <p:nvPr/>
        </p:nvSpPr>
        <p:spPr>
          <a:xfrm>
            <a:off x="7376160" y="6620256"/>
            <a:ext cx="2316480" cy="207264"/>
          </a:xfrm>
          <a:prstGeom prst="rect">
            <a:avLst/>
          </a:prstGeom>
          <a:noFill/>
          <a:ln/>
        </p:spPr>
        <p:txBody>
          <a:bodyPr wrap="square" lIns="0" tIns="0" rIns="0" bIns="0" rtlCol="0" anchor="ctr"/>
          <a:lstStyle/>
          <a:p>
            <a:pPr algn="ctr"/>
            <a:r>
              <a:rPr lang="en-US" sz="1000">
                <a:solidFill>
                  <a:srgbClr val="D0F5F0"/>
                </a:solidFill>
                <a:latin typeface="Calibri" pitchFamily="34" charset="0"/>
                <a:ea typeface="Calibri" pitchFamily="34" charset="-122"/>
                <a:cs typeface="Calibri" pitchFamily="34" charset="-120"/>
              </a:rPr>
              <a:t>Attrition (6-Mo Pilot)</a:t>
            </a:r>
            <a:endParaRPr lang="en-US" sz="1000"/>
          </a:p>
        </p:txBody>
      </p:sp>
      <p:sp>
        <p:nvSpPr>
          <p:cNvPr id="72" name="Shape 60"/>
          <p:cNvSpPr/>
          <p:nvPr/>
        </p:nvSpPr>
        <p:spPr>
          <a:xfrm>
            <a:off x="9753600" y="6400800"/>
            <a:ext cx="0" cy="402336"/>
          </a:xfrm>
          <a:prstGeom prst="line">
            <a:avLst/>
          </a:prstGeom>
          <a:noFill/>
          <a:ln w="6350">
            <a:solidFill>
              <a:srgbClr val="FFFFFF">
                <a:alpha val="45000"/>
              </a:srgbClr>
            </a:solidFill>
            <a:prstDash val="solid"/>
          </a:ln>
        </p:spPr>
        <p:txBody>
          <a:bodyPr/>
          <a:lstStyle/>
          <a:p>
            <a:endParaRPr lang="en-US" sz="2400"/>
          </a:p>
        </p:txBody>
      </p:sp>
      <p:sp>
        <p:nvSpPr>
          <p:cNvPr id="73" name="Text 61"/>
          <p:cNvSpPr/>
          <p:nvPr/>
        </p:nvSpPr>
        <p:spPr>
          <a:xfrm>
            <a:off x="9814560" y="6364224"/>
            <a:ext cx="2316480" cy="268224"/>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1/hr</a:t>
            </a:r>
            <a:endParaRPr lang="en-US" sz="1600"/>
          </a:p>
        </p:txBody>
      </p:sp>
      <p:sp>
        <p:nvSpPr>
          <p:cNvPr id="74" name="Text 62"/>
          <p:cNvSpPr/>
          <p:nvPr/>
        </p:nvSpPr>
        <p:spPr>
          <a:xfrm>
            <a:off x="9814560" y="6620256"/>
            <a:ext cx="2316480" cy="207264"/>
          </a:xfrm>
          <a:prstGeom prst="rect">
            <a:avLst/>
          </a:prstGeom>
          <a:noFill/>
          <a:ln/>
        </p:spPr>
        <p:txBody>
          <a:bodyPr wrap="square" lIns="0" tIns="0" rIns="0" bIns="0" rtlCol="0" anchor="ctr"/>
          <a:lstStyle/>
          <a:p>
            <a:pPr algn="ctr"/>
            <a:r>
              <a:rPr lang="en-US" sz="1000">
                <a:solidFill>
                  <a:srgbClr val="D0F5F0"/>
                </a:solidFill>
                <a:latin typeface="Calibri" pitchFamily="34" charset="0"/>
                <a:ea typeface="Calibri" pitchFamily="34" charset="-122"/>
                <a:cs typeface="Calibri" pitchFamily="34" charset="-120"/>
              </a:rPr>
              <a:t>Engineers Onboarded</a:t>
            </a:r>
            <a:endParaRPr lang="en-US" sz="1000"/>
          </a:p>
        </p:txBody>
      </p:sp>
      <p:pic>
        <p:nvPicPr>
          <p:cNvPr id="75" name="Image 0" descr="preencoded.png">
            <a:extLst>
              <a:ext uri="{FF2B5EF4-FFF2-40B4-BE49-F238E27FC236}">
                <a16:creationId xmlns:a16="http://schemas.microsoft.com/office/drawing/2014/main" id="{FAFFF64B-DC76-00D4-DDA1-C18459247824}"/>
              </a:ext>
            </a:extLst>
          </p:cNvPr>
          <p:cNvPicPr>
            <a:picLocks noChangeAspect="1"/>
          </p:cNvPicPr>
          <p:nvPr/>
        </p:nvPicPr>
        <p:blipFill>
          <a:blip r:embed="rId8"/>
          <a:srcRect l="-207" r="-207"/>
          <a:stretch/>
        </p:blipFill>
        <p:spPr>
          <a:xfrm>
            <a:off x="0" y="0"/>
            <a:ext cx="4058107" cy="75895"/>
          </a:xfrm>
          <a:prstGeom prst="rect">
            <a:avLst/>
          </a:prstGeom>
        </p:spPr>
      </p:pic>
      <p:pic>
        <p:nvPicPr>
          <p:cNvPr id="76" name="Image 1" descr="preencoded.png">
            <a:extLst>
              <a:ext uri="{FF2B5EF4-FFF2-40B4-BE49-F238E27FC236}">
                <a16:creationId xmlns:a16="http://schemas.microsoft.com/office/drawing/2014/main" id="{F02F145E-4174-DB5B-12FC-B946B2BEFC21}"/>
              </a:ext>
            </a:extLst>
          </p:cNvPr>
          <p:cNvPicPr>
            <a:picLocks noChangeAspect="1"/>
          </p:cNvPicPr>
          <p:nvPr/>
        </p:nvPicPr>
        <p:blipFill>
          <a:blip r:embed="rId9"/>
          <a:srcRect l="-202" r="-202"/>
          <a:stretch/>
        </p:blipFill>
        <p:spPr>
          <a:xfrm>
            <a:off x="4058107" y="0"/>
            <a:ext cx="8134502" cy="75895"/>
          </a:xfrm>
          <a:prstGeom prst="rect">
            <a:avLst/>
          </a:prstGeom>
        </p:spPr>
      </p:pic>
      <p:sp>
        <p:nvSpPr>
          <p:cNvPr id="77" name="Shape 2">
            <a:extLst>
              <a:ext uri="{FF2B5EF4-FFF2-40B4-BE49-F238E27FC236}">
                <a16:creationId xmlns:a16="http://schemas.microsoft.com/office/drawing/2014/main" id="{C1C503D5-DE04-F879-CDE8-91C26E3173B8}"/>
              </a:ext>
            </a:extLst>
          </p:cNvPr>
          <p:cNvSpPr/>
          <p:nvPr/>
        </p:nvSpPr>
        <p:spPr>
          <a:xfrm>
            <a:off x="-1380897" y="-1256081"/>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8" name="Image 4" descr="preencoded.png">
            <a:extLst>
              <a:ext uri="{FF2B5EF4-FFF2-40B4-BE49-F238E27FC236}">
                <a16:creationId xmlns:a16="http://schemas.microsoft.com/office/drawing/2014/main" id="{3FB3B60C-A4FF-CE53-9131-90677B3706CF}"/>
              </a:ext>
            </a:extLst>
          </p:cNvPr>
          <p:cNvPicPr>
            <a:picLocks noChangeAspect="1"/>
          </p:cNvPicPr>
          <p:nvPr/>
        </p:nvPicPr>
        <p:blipFill>
          <a:blip r:embed="rId10"/>
          <a:srcRect l="-400" r="-400"/>
          <a:stretch/>
        </p:blipFill>
        <p:spPr>
          <a:xfrm>
            <a:off x="609905" y="457200"/>
            <a:ext cx="57607" cy="457200"/>
          </a:xfrm>
          <a:prstGeom prst="rect">
            <a:avLst/>
          </a:prstGeom>
        </p:spPr>
      </p:pic>
      <p:sp>
        <p:nvSpPr>
          <p:cNvPr id="79" name="Text 11">
            <a:extLst>
              <a:ext uri="{FF2B5EF4-FFF2-40B4-BE49-F238E27FC236}">
                <a16:creationId xmlns:a16="http://schemas.microsoft.com/office/drawing/2014/main" id="{65F3FFE0-7460-C049-BC83-7BC32616A4C0}"/>
              </a:ext>
            </a:extLst>
          </p:cNvPr>
          <p:cNvSpPr txBox="1"/>
          <p:nvPr/>
        </p:nvSpPr>
        <p:spPr>
          <a:xfrm>
            <a:off x="819302" y="228600"/>
            <a:ext cx="9715500" cy="428854"/>
          </a:xfrm>
          <a:prstGeom prst="rect">
            <a:avLst/>
          </a:prstGeom>
          <a:noFill/>
          <a:ln/>
        </p:spPr>
        <p:txBody>
          <a:bodyPr wrap="square" lIns="0" tIns="0" rIns="0" bIns="0" rtlCol="0" anchor="ctr"/>
          <a:lstStyle/>
          <a:p>
            <a:r>
              <a:rPr lang="en-US" sz="3200" b="1">
                <a:solidFill>
                  <a:srgbClr val="1A1A2E"/>
                </a:solidFill>
                <a:latin typeface="Oswald" panose="00000500000000000000" pitchFamily="2" charset="0"/>
                <a:ea typeface="Calibri" pitchFamily="34" charset="-122"/>
                <a:cs typeface="Calibri" pitchFamily="34" charset="-120"/>
              </a:rPr>
              <a:t>Workforce &amp; Talent Solutions</a:t>
            </a:r>
            <a:endParaRPr lang="en-US" sz="3200">
              <a:latin typeface="Oswald" panose="00000500000000000000" pitchFamily="2" charset="0"/>
            </a:endParaRPr>
          </a:p>
        </p:txBody>
      </p:sp>
      <p:sp>
        <p:nvSpPr>
          <p:cNvPr id="80" name="Text 12">
            <a:extLst>
              <a:ext uri="{FF2B5EF4-FFF2-40B4-BE49-F238E27FC236}">
                <a16:creationId xmlns:a16="http://schemas.microsoft.com/office/drawing/2014/main" id="{830CE162-47E2-FB62-8B99-806E90C454F1}"/>
              </a:ext>
            </a:extLst>
          </p:cNvPr>
          <p:cNvSpPr txBox="1"/>
          <p:nvPr/>
        </p:nvSpPr>
        <p:spPr>
          <a:xfrm>
            <a:off x="819302" y="758952"/>
            <a:ext cx="9639605" cy="200254"/>
          </a:xfrm>
          <a:prstGeom prst="rect">
            <a:avLst/>
          </a:prstGeom>
          <a:noFill/>
          <a:ln/>
        </p:spPr>
        <p:txBody>
          <a:bodyPr wrap="square" lIns="0" tIns="0" rIns="0" bIns="0" rtlCol="0" anchor="ctr"/>
          <a:lstStyle/>
          <a:p>
            <a:pPr marL="0" indent="0" algn="l">
              <a:buNone/>
            </a:pPr>
            <a:r>
              <a:rPr lang="en-US" sz="1300" b="1" kern="0" spc="68">
                <a:solidFill>
                  <a:srgbClr val="2A9D8F"/>
                </a:solidFill>
                <a:latin typeface="Roboto Condensed" pitchFamily="34" charset="0"/>
                <a:ea typeface="Roboto Condensed" pitchFamily="34" charset="-122"/>
                <a:cs typeface="Roboto Condensed" pitchFamily="34" charset="-120"/>
              </a:rPr>
              <a:t>A MANAGED, AI-DRIVEN WORKFORCE UNIT - NOT JUST STAFFING WITH A WRAPPER.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858707" y="-952805"/>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gen-dedup-debd4e3596836e8640379be3057665ef.png"/>
          <p:cNvPicPr>
            <a:picLocks noChangeAspect="1"/>
          </p:cNvPicPr>
          <p:nvPr/>
        </p:nvPicPr>
        <p:blipFill>
          <a:blip r:embed="rId3">
            <a:alphaModFix amt="6000"/>
          </a:blip>
          <a:srcRect/>
          <a:stretch/>
        </p:blipFill>
        <p:spPr>
          <a:xfrm>
            <a:off x="-761695" y="4762195"/>
            <a:ext cx="2857500" cy="2857500"/>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b359e3fa59182a7dfb1cf9bffd3421a2.png"/>
          <p:cNvPicPr>
            <a:picLocks noChangeAspect="1"/>
          </p:cNvPicPr>
          <p:nvPr/>
        </p:nvPicPr>
        <p:blipFill>
          <a:blip r:embed="rId6"/>
          <a:srcRect l="-375" r="-375"/>
          <a:stretch/>
        </p:blipFill>
        <p:spPr>
          <a:xfrm>
            <a:off x="609905" y="457200"/>
            <a:ext cx="57607" cy="609905"/>
          </a:xfrm>
          <a:prstGeom prst="rect">
            <a:avLst/>
          </a:prstGeom>
        </p:spPr>
      </p:pic>
      <p:sp>
        <p:nvSpPr>
          <p:cNvPr id="9" name="Shape 3"/>
          <p:cNvSpPr/>
          <p:nvPr/>
        </p:nvSpPr>
        <p:spPr>
          <a:xfrm>
            <a:off x="609905" y="1714500"/>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0" name="Shape 4"/>
          <p:cNvSpPr/>
          <p:nvPr/>
        </p:nvSpPr>
        <p:spPr>
          <a:xfrm>
            <a:off x="609905" y="1714500"/>
            <a:ext cx="3258007"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1" name="Shape 5"/>
          <p:cNvSpPr/>
          <p:nvPr/>
        </p:nvSpPr>
        <p:spPr>
          <a:xfrm>
            <a:off x="4476902" y="1714500"/>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2" name="Shape 6"/>
          <p:cNvSpPr/>
          <p:nvPr/>
        </p:nvSpPr>
        <p:spPr>
          <a:xfrm>
            <a:off x="4476902" y="1714500"/>
            <a:ext cx="3258007"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13" name="Shape 7"/>
          <p:cNvSpPr/>
          <p:nvPr/>
        </p:nvSpPr>
        <p:spPr>
          <a:xfrm>
            <a:off x="8343900" y="1714500"/>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4" name="Shape 8"/>
          <p:cNvSpPr/>
          <p:nvPr/>
        </p:nvSpPr>
        <p:spPr>
          <a:xfrm>
            <a:off x="8343900" y="1714500"/>
            <a:ext cx="3258007"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5" name="Shape 9"/>
          <p:cNvSpPr/>
          <p:nvPr/>
        </p:nvSpPr>
        <p:spPr>
          <a:xfrm>
            <a:off x="609905" y="4190695"/>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6" name="Shape 10"/>
          <p:cNvSpPr/>
          <p:nvPr/>
        </p:nvSpPr>
        <p:spPr>
          <a:xfrm>
            <a:off x="609905" y="4190695"/>
            <a:ext cx="3258007"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17" name="Shape 11"/>
          <p:cNvSpPr/>
          <p:nvPr/>
        </p:nvSpPr>
        <p:spPr>
          <a:xfrm>
            <a:off x="4476902" y="4190695"/>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8" name="Shape 12"/>
          <p:cNvSpPr/>
          <p:nvPr/>
        </p:nvSpPr>
        <p:spPr>
          <a:xfrm>
            <a:off x="4476902" y="4190695"/>
            <a:ext cx="3258007"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9" name="Shape 13"/>
          <p:cNvSpPr/>
          <p:nvPr/>
        </p:nvSpPr>
        <p:spPr>
          <a:xfrm>
            <a:off x="8343900" y="4190695"/>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20" name="Shape 14"/>
          <p:cNvSpPr/>
          <p:nvPr/>
        </p:nvSpPr>
        <p:spPr>
          <a:xfrm>
            <a:off x="8343900" y="4190695"/>
            <a:ext cx="3258007"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23" name="Text 17"/>
          <p:cNvSpPr txBox="1"/>
          <p:nvPr/>
        </p:nvSpPr>
        <p:spPr>
          <a:xfrm>
            <a:off x="760780" y="577088"/>
            <a:ext cx="8438998" cy="409651"/>
          </a:xfrm>
          <a:prstGeom prst="rect">
            <a:avLst/>
          </a:prstGeom>
          <a:noFill/>
          <a:ln/>
        </p:spPr>
        <p:txBody>
          <a:bodyPr wrap="none" lIns="0" tIns="0" rIns="0" bIns="0" rtlCol="0" anchor="ctr"/>
          <a:lstStyle/>
          <a:p>
            <a:pPr marL="0" indent="0" algn="l">
              <a:buNone/>
            </a:pPr>
            <a:r>
              <a:rPr lang="en-US" sz="2500" b="1">
                <a:solidFill>
                  <a:srgbClr val="111827"/>
                </a:solidFill>
                <a:latin typeface="Oswald" pitchFamily="34" charset="0"/>
                <a:ea typeface="Oswald" pitchFamily="34" charset="-122"/>
                <a:cs typeface="Oswald" pitchFamily="34" charset="-120"/>
              </a:rPr>
              <a:t>WORKFORCE SOLUTIONS - HOW WE DELIVER</a:t>
            </a:r>
          </a:p>
          <a:p>
            <a:pPr marL="0" indent="0" algn="l">
              <a:buNone/>
            </a:pPr>
            <a:endParaRPr lang="en-US" sz="2500"/>
          </a:p>
        </p:txBody>
      </p:sp>
      <p:sp>
        <p:nvSpPr>
          <p:cNvPr id="24" name="Text 18"/>
          <p:cNvSpPr txBox="1"/>
          <p:nvPr/>
        </p:nvSpPr>
        <p:spPr>
          <a:xfrm>
            <a:off x="819302" y="822960"/>
            <a:ext cx="8097012" cy="181051"/>
          </a:xfrm>
          <a:prstGeom prst="rect">
            <a:avLst/>
          </a:prstGeom>
          <a:noFill/>
          <a:ln/>
        </p:spPr>
        <p:txBody>
          <a:bodyPr wrap="none" lIns="0" tIns="0" rIns="0" bIns="0" rtlCol="0" anchor="ctr"/>
          <a:lstStyle/>
          <a:p>
            <a:pPr marL="0" indent="0" algn="l">
              <a:buNone/>
            </a:pPr>
            <a:r>
              <a:rPr lang="en-US" sz="1200" b="1" kern="0" spc="60">
                <a:solidFill>
                  <a:srgbClr val="2A9D8F"/>
                </a:solidFill>
                <a:latin typeface="Roboto Condensed" pitchFamily="34" charset="0"/>
                <a:ea typeface="Roboto Condensed" pitchFamily="34" charset="-122"/>
                <a:cs typeface="Roboto Condensed" pitchFamily="34" charset="-120"/>
              </a:rPr>
              <a:t>From sourcing to sprint governance - a structured operating model, not a staffing drop.</a:t>
            </a:r>
          </a:p>
        </p:txBody>
      </p:sp>
      <p:sp>
        <p:nvSpPr>
          <p:cNvPr id="25" name="Text 19"/>
          <p:cNvSpPr txBox="1"/>
          <p:nvPr/>
        </p:nvSpPr>
        <p:spPr>
          <a:xfrm>
            <a:off x="819302" y="1079906"/>
            <a:ext cx="8097012" cy="152705"/>
          </a:xfrm>
          <a:prstGeom prst="rect">
            <a:avLst/>
          </a:prstGeom>
          <a:noFill/>
          <a:ln/>
        </p:spPr>
        <p:txBody>
          <a:bodyPr wrap="none" lIns="0" tIns="0" rIns="0" bIns="0" rtlCol="0" anchor="ctr"/>
          <a:lstStyle/>
          <a:p>
            <a:pPr marL="0" indent="0" algn="l">
              <a:buNone/>
            </a:pPr>
            <a:endParaRPr lang="en-US" sz="1000"/>
          </a:p>
        </p:txBody>
      </p:sp>
      <p:sp>
        <p:nvSpPr>
          <p:cNvPr id="26" name="Text 20"/>
          <p:cNvSpPr txBox="1"/>
          <p:nvPr/>
        </p:nvSpPr>
        <p:spPr>
          <a:xfrm>
            <a:off x="838505" y="1981505"/>
            <a:ext cx="340157" cy="305410"/>
          </a:xfrm>
          <a:prstGeom prst="rect">
            <a:avLst/>
          </a:prstGeom>
          <a:noFill/>
          <a:ln/>
        </p:spPr>
        <p:txBody>
          <a:bodyPr wrap="none" lIns="0" tIns="0" rIns="0" bIns="0" rtlCol="0" anchor="ctr"/>
          <a:lstStyle/>
          <a:p>
            <a:pPr marL="0" indent="0" algn="l">
              <a:buNone/>
            </a:pPr>
            <a:r>
              <a:rPr lang="en-US" sz="2400" b="1">
                <a:solidFill>
                  <a:srgbClr val="2A9D8F"/>
                </a:solidFill>
                <a:latin typeface="Oswald" pitchFamily="34" charset="0"/>
                <a:ea typeface="Oswald" pitchFamily="34" charset="-122"/>
                <a:cs typeface="Oswald" pitchFamily="34" charset="-120"/>
              </a:rPr>
              <a:t>01</a:t>
            </a:r>
            <a:endParaRPr lang="en-US" sz="2400"/>
          </a:p>
        </p:txBody>
      </p:sp>
      <p:sp>
        <p:nvSpPr>
          <p:cNvPr id="27" name="Text 21"/>
          <p:cNvSpPr txBox="1"/>
          <p:nvPr/>
        </p:nvSpPr>
        <p:spPr>
          <a:xfrm>
            <a:off x="1237183" y="1995424"/>
            <a:ext cx="1417320"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Scope &amp; Source</a:t>
            </a:r>
            <a:endParaRPr lang="en-US" sz="1600"/>
          </a:p>
        </p:txBody>
      </p:sp>
      <p:sp>
        <p:nvSpPr>
          <p:cNvPr id="28" name="Text 22"/>
          <p:cNvSpPr txBox="1"/>
          <p:nvPr/>
        </p:nvSpPr>
        <p:spPr>
          <a:xfrm>
            <a:off x="838505" y="242864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Role definition + domain-specific talent pool activation. TalentAI matching + voice-agent pre-screen. Shortlist in 72 hrs.</a:t>
            </a:r>
            <a:endParaRPr lang="en-US" sz="1000"/>
          </a:p>
        </p:txBody>
      </p:sp>
      <p:pic>
        <p:nvPicPr>
          <p:cNvPr id="29" name="Image 4" descr="gen-dedup-68afaceb726e7c14c8688760b973252d.png"/>
          <p:cNvPicPr>
            <a:picLocks noChangeAspect="1"/>
          </p:cNvPicPr>
          <p:nvPr/>
        </p:nvPicPr>
        <p:blipFill>
          <a:blip r:embed="rId7"/>
          <a:srcRect l="-13360" r="-13360"/>
          <a:stretch/>
        </p:blipFill>
        <p:spPr>
          <a:xfrm>
            <a:off x="4062679" y="2648102"/>
            <a:ext cx="181051" cy="228600"/>
          </a:xfrm>
          <a:prstGeom prst="rect">
            <a:avLst/>
          </a:prstGeom>
        </p:spPr>
      </p:pic>
      <p:sp>
        <p:nvSpPr>
          <p:cNvPr id="30" name="Text 23"/>
          <p:cNvSpPr txBox="1"/>
          <p:nvPr/>
        </p:nvSpPr>
        <p:spPr>
          <a:xfrm>
            <a:off x="4705502" y="1981505"/>
            <a:ext cx="391363" cy="305410"/>
          </a:xfrm>
          <a:prstGeom prst="rect">
            <a:avLst/>
          </a:prstGeom>
          <a:noFill/>
          <a:ln/>
        </p:spPr>
        <p:txBody>
          <a:bodyPr wrap="none" lIns="0" tIns="0" rIns="0" bIns="0" rtlCol="0" anchor="ctr"/>
          <a:lstStyle/>
          <a:p>
            <a:pPr marL="0" indent="0" algn="l">
              <a:buNone/>
            </a:pPr>
            <a:r>
              <a:rPr lang="en-US" sz="2400" b="1">
                <a:solidFill>
                  <a:srgbClr val="D62839"/>
                </a:solidFill>
                <a:latin typeface="Oswald" pitchFamily="34" charset="0"/>
                <a:ea typeface="Oswald" pitchFamily="34" charset="-122"/>
                <a:cs typeface="Oswald" pitchFamily="34" charset="-120"/>
              </a:rPr>
              <a:t>02</a:t>
            </a:r>
            <a:endParaRPr lang="en-US" sz="2400"/>
          </a:p>
        </p:txBody>
      </p:sp>
      <p:sp>
        <p:nvSpPr>
          <p:cNvPr id="31" name="Text 24"/>
          <p:cNvSpPr txBox="1"/>
          <p:nvPr/>
        </p:nvSpPr>
        <p:spPr>
          <a:xfrm>
            <a:off x="5144414" y="1995424"/>
            <a:ext cx="839419"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AI-Assess</a:t>
            </a:r>
            <a:endParaRPr lang="en-US" sz="1600"/>
          </a:p>
        </p:txBody>
      </p:sp>
      <p:sp>
        <p:nvSpPr>
          <p:cNvPr id="32" name="Text 25"/>
          <p:cNvSpPr txBox="1"/>
          <p:nvPr/>
        </p:nvSpPr>
        <p:spPr>
          <a:xfrm>
            <a:off x="4705502" y="242864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Live coding + domain scenario assessment via TalentSphere. Technical bar validated by J2W before client interview.</a:t>
            </a:r>
            <a:endParaRPr lang="en-US" sz="1000"/>
          </a:p>
        </p:txBody>
      </p:sp>
      <p:pic>
        <p:nvPicPr>
          <p:cNvPr id="33" name="Image 5" descr="gen-dedup-68afaceb726e7c14c8688760b973252d.png"/>
          <p:cNvPicPr>
            <a:picLocks noChangeAspect="1"/>
          </p:cNvPicPr>
          <p:nvPr/>
        </p:nvPicPr>
        <p:blipFill>
          <a:blip r:embed="rId7"/>
          <a:srcRect l="-13360" r="-13360"/>
          <a:stretch/>
        </p:blipFill>
        <p:spPr>
          <a:xfrm>
            <a:off x="7929677" y="2648102"/>
            <a:ext cx="181051" cy="228600"/>
          </a:xfrm>
          <a:prstGeom prst="rect">
            <a:avLst/>
          </a:prstGeom>
        </p:spPr>
      </p:pic>
      <p:sp>
        <p:nvSpPr>
          <p:cNvPr id="34" name="Text 26"/>
          <p:cNvSpPr txBox="1"/>
          <p:nvPr/>
        </p:nvSpPr>
        <p:spPr>
          <a:xfrm>
            <a:off x="8572500" y="1981505"/>
            <a:ext cx="391363" cy="305410"/>
          </a:xfrm>
          <a:prstGeom prst="rect">
            <a:avLst/>
          </a:prstGeom>
          <a:noFill/>
          <a:ln/>
        </p:spPr>
        <p:txBody>
          <a:bodyPr wrap="none" lIns="0" tIns="0" rIns="0" bIns="0" rtlCol="0" anchor="ctr"/>
          <a:lstStyle/>
          <a:p>
            <a:pPr marL="0" indent="0" algn="l">
              <a:buNone/>
            </a:pPr>
            <a:r>
              <a:rPr lang="en-US" sz="2400" b="1">
                <a:solidFill>
                  <a:srgbClr val="2A9D8F"/>
                </a:solidFill>
                <a:latin typeface="Oswald" pitchFamily="34" charset="0"/>
                <a:ea typeface="Oswald" pitchFamily="34" charset="-122"/>
                <a:cs typeface="Oswald" pitchFamily="34" charset="-120"/>
              </a:rPr>
              <a:t>03</a:t>
            </a:r>
            <a:endParaRPr lang="en-US" sz="2400"/>
          </a:p>
        </p:txBody>
      </p:sp>
      <p:sp>
        <p:nvSpPr>
          <p:cNvPr id="35" name="Text 27"/>
          <p:cNvSpPr txBox="1"/>
          <p:nvPr/>
        </p:nvSpPr>
        <p:spPr>
          <a:xfrm>
            <a:off x="9011412" y="1995424"/>
            <a:ext cx="1553566"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Deploy in 10 Days</a:t>
            </a:r>
            <a:endParaRPr lang="en-US" sz="1600"/>
          </a:p>
        </p:txBody>
      </p:sp>
      <p:sp>
        <p:nvSpPr>
          <p:cNvPr id="36" name="Text 28"/>
          <p:cNvSpPr txBox="1"/>
          <p:nvPr/>
        </p:nvSpPr>
        <p:spPr>
          <a:xfrm>
            <a:off x="8572500" y="242864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Offer → onboarding → Day-1 productivity. J2W payroll, compliance, IT provisioning - fully managed.</a:t>
            </a:r>
            <a:endParaRPr lang="en-US" sz="1000"/>
          </a:p>
        </p:txBody>
      </p:sp>
      <p:pic>
        <p:nvPicPr>
          <p:cNvPr id="37" name="Image 6" descr="gen-dedup-ff9a716cc6b1850cd75acb20aeb0dc17.png"/>
          <p:cNvPicPr>
            <a:picLocks noChangeAspect="1"/>
          </p:cNvPicPr>
          <p:nvPr/>
        </p:nvPicPr>
        <p:blipFill>
          <a:blip r:embed="rId8"/>
          <a:srcRect t="-13131" b="-13131"/>
          <a:stretch/>
        </p:blipFill>
        <p:spPr>
          <a:xfrm>
            <a:off x="9872777" y="3895344"/>
            <a:ext cx="181051" cy="228600"/>
          </a:xfrm>
          <a:prstGeom prst="rect">
            <a:avLst/>
          </a:prstGeom>
        </p:spPr>
      </p:pic>
      <p:sp>
        <p:nvSpPr>
          <p:cNvPr id="38" name="Text 29"/>
          <p:cNvSpPr txBox="1"/>
          <p:nvPr/>
        </p:nvSpPr>
        <p:spPr>
          <a:xfrm>
            <a:off x="838505" y="4457700"/>
            <a:ext cx="391363" cy="305410"/>
          </a:xfrm>
          <a:prstGeom prst="rect">
            <a:avLst/>
          </a:prstGeom>
          <a:noFill/>
          <a:ln/>
        </p:spPr>
        <p:txBody>
          <a:bodyPr wrap="none" lIns="0" tIns="0" rIns="0" bIns="0" rtlCol="0" anchor="ctr"/>
          <a:lstStyle/>
          <a:p>
            <a:pPr marL="0" indent="0" algn="l">
              <a:buNone/>
            </a:pPr>
            <a:r>
              <a:rPr lang="en-US" sz="2400" b="1">
                <a:solidFill>
                  <a:srgbClr val="D62839"/>
                </a:solidFill>
                <a:latin typeface="Oswald" pitchFamily="34" charset="0"/>
                <a:ea typeface="Oswald" pitchFamily="34" charset="-122"/>
                <a:cs typeface="Oswald" pitchFamily="34" charset="-120"/>
              </a:rPr>
              <a:t>04</a:t>
            </a:r>
            <a:endParaRPr lang="en-US" sz="2400"/>
          </a:p>
        </p:txBody>
      </p:sp>
      <p:sp>
        <p:nvSpPr>
          <p:cNvPr id="39" name="Text 30"/>
          <p:cNvSpPr txBox="1"/>
          <p:nvPr/>
        </p:nvSpPr>
        <p:spPr>
          <a:xfrm>
            <a:off x="1280160" y="4472534"/>
            <a:ext cx="1564538"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Govern &amp; Upskill</a:t>
            </a:r>
            <a:endParaRPr lang="en-US" sz="1600"/>
          </a:p>
        </p:txBody>
      </p:sp>
      <p:sp>
        <p:nvSpPr>
          <p:cNvPr id="40" name="Text 31"/>
          <p:cNvSpPr txBox="1"/>
          <p:nvPr/>
        </p:nvSpPr>
        <p:spPr>
          <a:xfrm>
            <a:off x="838505" y="490575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Sprint accountability via Pod Manager. Monthly AI upskilling in J2W Labs. Weekly performance telemetry.</a:t>
            </a:r>
            <a:endParaRPr lang="en-US" sz="1000"/>
          </a:p>
        </p:txBody>
      </p:sp>
      <p:pic>
        <p:nvPicPr>
          <p:cNvPr id="41" name="Image 7" descr="gen-dedup-68afaceb726e7c14c8688760b973252d.png"/>
          <p:cNvPicPr>
            <a:picLocks noChangeAspect="1"/>
          </p:cNvPicPr>
          <p:nvPr/>
        </p:nvPicPr>
        <p:blipFill>
          <a:blip r:embed="rId7"/>
          <a:srcRect l="-13360" r="-13360"/>
          <a:stretch/>
        </p:blipFill>
        <p:spPr>
          <a:xfrm>
            <a:off x="4062679" y="5124298"/>
            <a:ext cx="181051" cy="228600"/>
          </a:xfrm>
          <a:prstGeom prst="rect">
            <a:avLst/>
          </a:prstGeom>
        </p:spPr>
      </p:pic>
      <p:sp>
        <p:nvSpPr>
          <p:cNvPr id="42" name="Text 32"/>
          <p:cNvSpPr txBox="1"/>
          <p:nvPr/>
        </p:nvSpPr>
        <p:spPr>
          <a:xfrm>
            <a:off x="4705502" y="4457700"/>
            <a:ext cx="385877" cy="305410"/>
          </a:xfrm>
          <a:prstGeom prst="rect">
            <a:avLst/>
          </a:prstGeom>
          <a:noFill/>
          <a:ln/>
        </p:spPr>
        <p:txBody>
          <a:bodyPr wrap="none" lIns="0" tIns="0" rIns="0" bIns="0" rtlCol="0" anchor="ctr"/>
          <a:lstStyle/>
          <a:p>
            <a:pPr marL="0" indent="0" algn="l">
              <a:buNone/>
            </a:pPr>
            <a:r>
              <a:rPr lang="en-US" sz="2400" b="1">
                <a:solidFill>
                  <a:srgbClr val="2A9D8F"/>
                </a:solidFill>
                <a:latin typeface="Oswald" pitchFamily="34" charset="0"/>
                <a:ea typeface="Oswald" pitchFamily="34" charset="-122"/>
                <a:cs typeface="Oswald" pitchFamily="34" charset="-120"/>
              </a:rPr>
              <a:t>05</a:t>
            </a:r>
            <a:endParaRPr lang="en-US" sz="2400"/>
          </a:p>
        </p:txBody>
      </p:sp>
      <p:sp>
        <p:nvSpPr>
          <p:cNvPr id="43" name="Text 33"/>
          <p:cNvSpPr txBox="1"/>
          <p:nvPr/>
        </p:nvSpPr>
        <p:spPr>
          <a:xfrm>
            <a:off x="5142586" y="4472534"/>
            <a:ext cx="2018081"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POFU - 90-Day Funnel</a:t>
            </a:r>
            <a:endParaRPr lang="en-US" sz="1600"/>
          </a:p>
        </p:txBody>
      </p:sp>
      <p:sp>
        <p:nvSpPr>
          <p:cNvPr id="44" name="Text 34"/>
          <p:cNvSpPr txBox="1"/>
          <p:nvPr/>
        </p:nvSpPr>
        <p:spPr>
          <a:xfrm>
            <a:off x="4705502" y="4905756"/>
            <a:ext cx="2781605" cy="800100"/>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Post-Offer Follow-Up: milestone touchpoints, counter-offer inoculation, manager connects. Dropout rate → single digits.</a:t>
            </a:r>
            <a:endParaRPr lang="en-US" sz="1000"/>
          </a:p>
        </p:txBody>
      </p:sp>
      <p:pic>
        <p:nvPicPr>
          <p:cNvPr id="45" name="Image 8" descr="gen-dedup-68afaceb726e7c14c8688760b973252d.png"/>
          <p:cNvPicPr>
            <a:picLocks noChangeAspect="1"/>
          </p:cNvPicPr>
          <p:nvPr/>
        </p:nvPicPr>
        <p:blipFill>
          <a:blip r:embed="rId7"/>
          <a:srcRect l="-13360" r="-13360"/>
          <a:stretch/>
        </p:blipFill>
        <p:spPr>
          <a:xfrm>
            <a:off x="7929677" y="5124298"/>
            <a:ext cx="181051" cy="228600"/>
          </a:xfrm>
          <a:prstGeom prst="rect">
            <a:avLst/>
          </a:prstGeom>
        </p:spPr>
      </p:pic>
      <p:sp>
        <p:nvSpPr>
          <p:cNvPr id="46" name="Text 35"/>
          <p:cNvSpPr txBox="1"/>
          <p:nvPr/>
        </p:nvSpPr>
        <p:spPr>
          <a:xfrm>
            <a:off x="8572500" y="4457700"/>
            <a:ext cx="391363" cy="305410"/>
          </a:xfrm>
          <a:prstGeom prst="rect">
            <a:avLst/>
          </a:prstGeom>
          <a:noFill/>
          <a:ln/>
        </p:spPr>
        <p:txBody>
          <a:bodyPr wrap="none" lIns="0" tIns="0" rIns="0" bIns="0" rtlCol="0" anchor="ctr"/>
          <a:lstStyle/>
          <a:p>
            <a:pPr marL="0" indent="0" algn="l">
              <a:buNone/>
            </a:pPr>
            <a:r>
              <a:rPr lang="en-US" sz="2400" b="1">
                <a:solidFill>
                  <a:srgbClr val="D62839"/>
                </a:solidFill>
                <a:latin typeface="Oswald" pitchFamily="34" charset="0"/>
                <a:ea typeface="Oswald" pitchFamily="34" charset="-122"/>
                <a:cs typeface="Oswald" pitchFamily="34" charset="-120"/>
              </a:rPr>
              <a:t>06</a:t>
            </a:r>
            <a:endParaRPr lang="en-US" sz="2400"/>
          </a:p>
        </p:txBody>
      </p:sp>
      <p:sp>
        <p:nvSpPr>
          <p:cNvPr id="47" name="Text 36"/>
          <p:cNvSpPr txBox="1"/>
          <p:nvPr/>
        </p:nvSpPr>
        <p:spPr>
          <a:xfrm>
            <a:off x="9018727" y="4472534"/>
            <a:ext cx="1598371"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Scale or Convert</a:t>
            </a:r>
            <a:endParaRPr lang="en-US" sz="1600"/>
          </a:p>
        </p:txBody>
      </p:sp>
      <p:sp>
        <p:nvSpPr>
          <p:cNvPr id="48" name="Text 37"/>
          <p:cNvSpPr txBox="1"/>
          <p:nvPr/>
        </p:nvSpPr>
        <p:spPr>
          <a:xfrm>
            <a:off x="8572500" y="490575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C2H → permanent conversion on Day 91. Scale the pod up or down. Quarterly Business Review with ROI data.</a:t>
            </a:r>
            <a:endParaRPr lang="en-US" sz="1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cad3a534ee2971c6a497c9faf59fb5cd.png"/>
          <p:cNvPicPr>
            <a:picLocks noChangeAspect="1"/>
          </p:cNvPicPr>
          <p:nvPr/>
        </p:nvPicPr>
        <p:blipFill>
          <a:blip r:embed="rId3"/>
          <a:srcRect l="-202" r="-202"/>
          <a:stretch/>
        </p:blipFill>
        <p:spPr>
          <a:xfrm>
            <a:off x="0" y="0"/>
            <a:ext cx="8128102" cy="75895"/>
          </a:xfrm>
          <a:prstGeom prst="rect">
            <a:avLst/>
          </a:prstGeom>
        </p:spPr>
      </p:pic>
      <p:pic>
        <p:nvPicPr>
          <p:cNvPr id="5" name="Image 1" descr="gen-dedup-64882feb7a832238af77b962fc7a8538.png"/>
          <p:cNvPicPr>
            <a:picLocks noChangeAspect="1"/>
          </p:cNvPicPr>
          <p:nvPr/>
        </p:nvPicPr>
        <p:blipFill>
          <a:blip r:embed="rId4"/>
          <a:srcRect l="-197" r="-197"/>
          <a:stretch/>
        </p:blipFill>
        <p:spPr>
          <a:xfrm>
            <a:off x="8128102" y="0"/>
            <a:ext cx="4063594" cy="75895"/>
          </a:xfrm>
          <a:prstGeom prst="rect">
            <a:avLst/>
          </a:prstGeom>
        </p:spPr>
      </p:pic>
      <p:sp>
        <p:nvSpPr>
          <p:cNvPr id="6" name="Shape 2"/>
          <p:cNvSpPr/>
          <p:nvPr/>
        </p:nvSpPr>
        <p:spPr>
          <a:xfrm>
            <a:off x="9905695" y="-571500"/>
            <a:ext cx="2857500" cy="2857500"/>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gen-dedup-4ab2116e971fbb9400d0e99205bd0390.png"/>
          <p:cNvPicPr>
            <a:picLocks noChangeAspect="1"/>
          </p:cNvPicPr>
          <p:nvPr/>
        </p:nvPicPr>
        <p:blipFill>
          <a:blip r:embed="rId5">
            <a:alphaModFix amt="8000"/>
          </a:blip>
          <a:srcRect/>
          <a:stretch/>
        </p:blipFill>
        <p:spPr>
          <a:xfrm>
            <a:off x="-381305" y="4190695"/>
            <a:ext cx="1904695" cy="1904695"/>
          </a:xfrm>
          <a:prstGeom prst="rect">
            <a:avLst/>
          </a:prstGeom>
        </p:spPr>
      </p:pic>
      <p:sp>
        <p:nvSpPr>
          <p:cNvPr id="8" name="Shape 3"/>
          <p:cNvSpPr/>
          <p:nvPr/>
        </p:nvSpPr>
        <p:spPr>
          <a:xfrm>
            <a:off x="609905" y="2000707"/>
            <a:ext cx="11030407" cy="857707"/>
          </a:xfrm>
          <a:prstGeom prst="roundRect">
            <a:avLst>
              <a:gd name="adj" fmla="val 4478"/>
            </a:avLst>
          </a:prstGeom>
          <a:solidFill>
            <a:srgbClr val="FFFFFF"/>
          </a:solidFill>
          <a:ln/>
          <a:effectLst>
            <a:outerShdw blurRad="76200" dist="25400" dir="16200000" algn="bl" rotWithShape="0">
              <a:srgbClr val="000000">
                <a:alpha val="6000"/>
              </a:srgbClr>
            </a:outerShdw>
          </a:effectLst>
        </p:spPr>
        <p:txBody>
          <a:bodyPr/>
          <a:lstStyle/>
          <a:p>
            <a:endParaRPr lang="en-US"/>
          </a:p>
        </p:txBody>
      </p:sp>
      <p:sp>
        <p:nvSpPr>
          <p:cNvPr id="9" name="Shape 4"/>
          <p:cNvSpPr/>
          <p:nvPr/>
        </p:nvSpPr>
        <p:spPr>
          <a:xfrm>
            <a:off x="609905" y="2000707"/>
            <a:ext cx="57607" cy="857707"/>
          </a:xfrm>
          <a:prstGeom prst="roundRect">
            <a:avLst>
              <a:gd name="adj" fmla="val 66667"/>
            </a:avLst>
          </a:prstGeom>
          <a:solidFill>
            <a:srgbClr val="2A9D8F"/>
          </a:solidFill>
          <a:ln w="12700">
            <a:solidFill>
              <a:srgbClr val="2A9D8F">
                <a:alpha val="0"/>
              </a:srgbClr>
            </a:solidFill>
            <a:prstDash val="solid"/>
          </a:ln>
        </p:spPr>
        <p:txBody>
          <a:bodyPr/>
          <a:lstStyle/>
          <a:p>
            <a:endParaRPr lang="en-US"/>
          </a:p>
        </p:txBody>
      </p:sp>
      <p:sp>
        <p:nvSpPr>
          <p:cNvPr id="10" name="Shape 5"/>
          <p:cNvSpPr/>
          <p:nvPr/>
        </p:nvSpPr>
        <p:spPr>
          <a:xfrm>
            <a:off x="609905" y="2952598"/>
            <a:ext cx="11030407" cy="857707"/>
          </a:xfrm>
          <a:prstGeom prst="roundRect">
            <a:avLst>
              <a:gd name="adj" fmla="val 4478"/>
            </a:avLst>
          </a:prstGeom>
          <a:solidFill>
            <a:srgbClr val="FFFFFF"/>
          </a:solidFill>
          <a:ln/>
          <a:effectLst>
            <a:outerShdw blurRad="76200" dist="25400" dir="16200000" algn="bl" rotWithShape="0">
              <a:srgbClr val="000000">
                <a:alpha val="6000"/>
              </a:srgbClr>
            </a:outerShdw>
          </a:effectLst>
        </p:spPr>
        <p:txBody>
          <a:bodyPr/>
          <a:lstStyle/>
          <a:p>
            <a:endParaRPr lang="en-US"/>
          </a:p>
        </p:txBody>
      </p:sp>
      <p:sp>
        <p:nvSpPr>
          <p:cNvPr id="11" name="Shape 6"/>
          <p:cNvSpPr/>
          <p:nvPr/>
        </p:nvSpPr>
        <p:spPr>
          <a:xfrm>
            <a:off x="609905" y="2952598"/>
            <a:ext cx="57607" cy="857707"/>
          </a:xfrm>
          <a:prstGeom prst="roundRect">
            <a:avLst>
              <a:gd name="adj" fmla="val 66667"/>
            </a:avLst>
          </a:prstGeom>
          <a:solidFill>
            <a:srgbClr val="D62839"/>
          </a:solidFill>
          <a:ln w="12700">
            <a:solidFill>
              <a:srgbClr val="D62839">
                <a:alpha val="0"/>
              </a:srgbClr>
            </a:solidFill>
            <a:prstDash val="solid"/>
          </a:ln>
        </p:spPr>
        <p:txBody>
          <a:bodyPr/>
          <a:lstStyle/>
          <a:p>
            <a:endParaRPr lang="en-US"/>
          </a:p>
        </p:txBody>
      </p:sp>
      <p:sp>
        <p:nvSpPr>
          <p:cNvPr id="12" name="Shape 7"/>
          <p:cNvSpPr/>
          <p:nvPr/>
        </p:nvSpPr>
        <p:spPr>
          <a:xfrm>
            <a:off x="609905" y="3905402"/>
            <a:ext cx="11030407" cy="857707"/>
          </a:xfrm>
          <a:prstGeom prst="roundRect">
            <a:avLst>
              <a:gd name="adj" fmla="val 4478"/>
            </a:avLst>
          </a:prstGeom>
          <a:solidFill>
            <a:srgbClr val="FFFFFF"/>
          </a:solidFill>
          <a:ln/>
          <a:effectLst>
            <a:outerShdw blurRad="76200" dist="25400" dir="16200000" algn="bl" rotWithShape="0">
              <a:srgbClr val="000000">
                <a:alpha val="6000"/>
              </a:srgbClr>
            </a:outerShdw>
          </a:effectLst>
        </p:spPr>
        <p:txBody>
          <a:bodyPr/>
          <a:lstStyle/>
          <a:p>
            <a:endParaRPr lang="en-US"/>
          </a:p>
        </p:txBody>
      </p:sp>
      <p:sp>
        <p:nvSpPr>
          <p:cNvPr id="13" name="Shape 8"/>
          <p:cNvSpPr/>
          <p:nvPr/>
        </p:nvSpPr>
        <p:spPr>
          <a:xfrm>
            <a:off x="609905" y="3905402"/>
            <a:ext cx="57607" cy="857707"/>
          </a:xfrm>
          <a:prstGeom prst="roundRect">
            <a:avLst>
              <a:gd name="adj" fmla="val 66667"/>
            </a:avLst>
          </a:prstGeom>
          <a:solidFill>
            <a:srgbClr val="2A9D8F"/>
          </a:solidFill>
          <a:ln w="12700">
            <a:solidFill>
              <a:srgbClr val="2A9D8F">
                <a:alpha val="0"/>
              </a:srgbClr>
            </a:solidFill>
            <a:prstDash val="solid"/>
          </a:ln>
        </p:spPr>
        <p:txBody>
          <a:bodyPr/>
          <a:lstStyle/>
          <a:p>
            <a:endParaRPr lang="en-US"/>
          </a:p>
        </p:txBody>
      </p:sp>
      <p:sp>
        <p:nvSpPr>
          <p:cNvPr id="14" name="Shape 9"/>
          <p:cNvSpPr/>
          <p:nvPr/>
        </p:nvSpPr>
        <p:spPr>
          <a:xfrm>
            <a:off x="609905" y="4858207"/>
            <a:ext cx="11030407" cy="857707"/>
          </a:xfrm>
          <a:prstGeom prst="roundRect">
            <a:avLst>
              <a:gd name="adj" fmla="val 4478"/>
            </a:avLst>
          </a:prstGeom>
          <a:solidFill>
            <a:srgbClr val="FFFFFF"/>
          </a:solidFill>
          <a:ln/>
          <a:effectLst>
            <a:outerShdw blurRad="76200" dist="25400" dir="16200000" algn="bl" rotWithShape="0">
              <a:srgbClr val="000000">
                <a:alpha val="6000"/>
              </a:srgbClr>
            </a:outerShdw>
          </a:effectLst>
        </p:spPr>
        <p:txBody>
          <a:bodyPr/>
          <a:lstStyle/>
          <a:p>
            <a:endParaRPr lang="en-US"/>
          </a:p>
        </p:txBody>
      </p:sp>
      <p:sp>
        <p:nvSpPr>
          <p:cNvPr id="15" name="Shape 10"/>
          <p:cNvSpPr/>
          <p:nvPr/>
        </p:nvSpPr>
        <p:spPr>
          <a:xfrm>
            <a:off x="609905" y="4858207"/>
            <a:ext cx="57607" cy="857707"/>
          </a:xfrm>
          <a:prstGeom prst="roundRect">
            <a:avLst>
              <a:gd name="adj" fmla="val 66667"/>
            </a:avLst>
          </a:prstGeom>
          <a:solidFill>
            <a:srgbClr val="D62839"/>
          </a:solidFill>
          <a:ln w="12700">
            <a:solidFill>
              <a:srgbClr val="D62839">
                <a:alpha val="0"/>
              </a:srgbClr>
            </a:solidFill>
            <a:prstDash val="solid"/>
          </a:ln>
        </p:spPr>
        <p:txBody>
          <a:bodyPr/>
          <a:lstStyle/>
          <a:p>
            <a:endParaRPr lang="en-US"/>
          </a:p>
        </p:txBody>
      </p:sp>
      <p:sp>
        <p:nvSpPr>
          <p:cNvPr id="16" name="Shape 11"/>
          <p:cNvSpPr/>
          <p:nvPr/>
        </p:nvSpPr>
        <p:spPr>
          <a:xfrm>
            <a:off x="609905" y="5810098"/>
            <a:ext cx="11030407" cy="857707"/>
          </a:xfrm>
          <a:prstGeom prst="roundRect">
            <a:avLst>
              <a:gd name="adj" fmla="val 4478"/>
            </a:avLst>
          </a:prstGeom>
          <a:solidFill>
            <a:srgbClr val="FFFFFF"/>
          </a:solidFill>
          <a:ln/>
          <a:effectLst>
            <a:outerShdw blurRad="76200" dist="25400" dir="16200000" algn="bl" rotWithShape="0">
              <a:srgbClr val="000000">
                <a:alpha val="6000"/>
              </a:srgbClr>
            </a:outerShdw>
          </a:effectLst>
        </p:spPr>
        <p:txBody>
          <a:bodyPr/>
          <a:lstStyle/>
          <a:p>
            <a:endParaRPr lang="en-US"/>
          </a:p>
        </p:txBody>
      </p:sp>
      <p:sp>
        <p:nvSpPr>
          <p:cNvPr id="17" name="Shape 12"/>
          <p:cNvSpPr/>
          <p:nvPr/>
        </p:nvSpPr>
        <p:spPr>
          <a:xfrm>
            <a:off x="609905" y="5810098"/>
            <a:ext cx="57607" cy="857707"/>
          </a:xfrm>
          <a:prstGeom prst="roundRect">
            <a:avLst>
              <a:gd name="adj" fmla="val 66667"/>
            </a:avLst>
          </a:prstGeom>
          <a:solidFill>
            <a:srgbClr val="2A9D8F"/>
          </a:solidFill>
          <a:ln w="12700">
            <a:solidFill>
              <a:srgbClr val="2A9D8F">
                <a:alpha val="0"/>
              </a:srgbClr>
            </a:solidFill>
            <a:prstDash val="solid"/>
          </a:ln>
        </p:spPr>
        <p:txBody>
          <a:bodyPr/>
          <a:lstStyle/>
          <a:p>
            <a:endParaRPr lang="en-US"/>
          </a:p>
        </p:txBody>
      </p:sp>
      <p:pic>
        <p:nvPicPr>
          <p:cNvPr id="20" name="Image 3" descr="gen-dedup-f40e183725d285eac3acdddf8d8f823b.png"/>
          <p:cNvPicPr>
            <a:picLocks noChangeAspect="1"/>
          </p:cNvPicPr>
          <p:nvPr/>
        </p:nvPicPr>
        <p:blipFill>
          <a:blip r:embed="rId6"/>
          <a:srcRect l="-369" r="-369"/>
          <a:stretch/>
        </p:blipFill>
        <p:spPr>
          <a:xfrm>
            <a:off x="609905" y="448970"/>
            <a:ext cx="57607" cy="495605"/>
          </a:xfrm>
          <a:prstGeom prst="rect">
            <a:avLst/>
          </a:prstGeom>
        </p:spPr>
      </p:pic>
      <p:sp>
        <p:nvSpPr>
          <p:cNvPr id="21" name="Text 15"/>
          <p:cNvSpPr txBox="1"/>
          <p:nvPr/>
        </p:nvSpPr>
        <p:spPr>
          <a:xfrm>
            <a:off x="819302" y="381305"/>
            <a:ext cx="4499762" cy="409651"/>
          </a:xfrm>
          <a:prstGeom prst="rect">
            <a:avLst/>
          </a:prstGeom>
          <a:noFill/>
          <a:ln/>
        </p:spPr>
        <p:txBody>
          <a:bodyPr wrap="none" lIns="0" tIns="0" rIns="0" bIns="0" rtlCol="0" anchor="ctr"/>
          <a:lstStyle/>
          <a:p>
            <a:pPr marL="0" indent="0" algn="l">
              <a:buNone/>
            </a:pPr>
            <a:r>
              <a:rPr lang="en-US" sz="2800" b="1">
                <a:solidFill>
                  <a:srgbClr val="111827"/>
                </a:solidFill>
                <a:latin typeface="Oswald" pitchFamily="34" charset="0"/>
                <a:ea typeface="Oswald" pitchFamily="34" charset="-122"/>
                <a:cs typeface="Oswald" pitchFamily="34" charset="-120"/>
              </a:rPr>
              <a:t>STRUCTURAL DIFFERENTIATION</a:t>
            </a:r>
            <a:endParaRPr lang="en-US" sz="2800"/>
          </a:p>
        </p:txBody>
      </p:sp>
      <p:sp>
        <p:nvSpPr>
          <p:cNvPr id="22" name="Text 16"/>
          <p:cNvSpPr txBox="1"/>
          <p:nvPr/>
        </p:nvSpPr>
        <p:spPr>
          <a:xfrm>
            <a:off x="819302" y="821131"/>
            <a:ext cx="3610051" cy="191110"/>
          </a:xfrm>
          <a:prstGeom prst="rect">
            <a:avLst/>
          </a:prstGeom>
          <a:noFill/>
          <a:ln/>
        </p:spPr>
        <p:txBody>
          <a:bodyPr wrap="none" lIns="0" tIns="0" rIns="0" bIns="0" rtlCol="0" anchor="ctr"/>
          <a:lstStyle/>
          <a:p>
            <a:pPr marL="0" indent="0" algn="l">
              <a:buNone/>
            </a:pPr>
            <a:r>
              <a:rPr lang="en-US" sz="1300" b="1" kern="0" spc="66">
                <a:solidFill>
                  <a:srgbClr val="2A9D8F"/>
                </a:solidFill>
                <a:latin typeface="Roboto Condensed" pitchFamily="34" charset="0"/>
                <a:ea typeface="Roboto Condensed" pitchFamily="34" charset="-122"/>
                <a:cs typeface="Roboto Condensed" pitchFamily="34" charset="-120"/>
              </a:rPr>
              <a:t>WORKFORCE SOLUTIONS</a:t>
            </a:r>
          </a:p>
        </p:txBody>
      </p:sp>
      <p:sp>
        <p:nvSpPr>
          <p:cNvPr id="23" name="Text 17"/>
          <p:cNvSpPr txBox="1"/>
          <p:nvPr/>
        </p:nvSpPr>
        <p:spPr>
          <a:xfrm>
            <a:off x="609905" y="1380744"/>
            <a:ext cx="10972800" cy="267005"/>
          </a:xfrm>
          <a:prstGeom prst="rect">
            <a:avLst/>
          </a:prstGeom>
          <a:noFill/>
          <a:ln/>
        </p:spPr>
        <p:txBody>
          <a:bodyPr wrap="none" lIns="0" tIns="0" rIns="0" bIns="0" rtlCol="0" anchor="ctr"/>
          <a:lstStyle/>
          <a:p>
            <a:pPr marL="0" indent="0" algn="l">
              <a:buNone/>
            </a:pPr>
            <a:r>
              <a:rPr lang="en-US" sz="1500" b="1">
                <a:solidFill>
                  <a:srgbClr val="D62839"/>
                </a:solidFill>
                <a:latin typeface="Raleway" pitchFamily="34" charset="0"/>
                <a:ea typeface="Raleway" pitchFamily="34" charset="-122"/>
                <a:cs typeface="Raleway" pitchFamily="34" charset="-120"/>
              </a:rPr>
              <a:t>Five structural differences that change the engagement from transactional to transformational.</a:t>
            </a:r>
            <a:endParaRPr lang="en-US" sz="1500"/>
          </a:p>
        </p:txBody>
      </p:sp>
      <p:sp>
        <p:nvSpPr>
          <p:cNvPr id="24" name="Text 18"/>
          <p:cNvSpPr txBox="1"/>
          <p:nvPr/>
        </p:nvSpPr>
        <p:spPr>
          <a:xfrm>
            <a:off x="1037844" y="2148840"/>
            <a:ext cx="1904695" cy="305410"/>
          </a:xfrm>
          <a:prstGeom prst="rect">
            <a:avLst/>
          </a:prstGeom>
          <a:noFill/>
          <a:ln/>
        </p:spPr>
        <p:txBody>
          <a:bodyPr wrap="none" lIns="0" tIns="0" rIns="0" bIns="0" rtlCol="0" anchor="ctr"/>
          <a:lstStyle/>
          <a:p>
            <a:pPr marL="0" indent="0" algn="l">
              <a:buNone/>
            </a:pPr>
            <a:r>
              <a:rPr lang="en-US" sz="1400" b="1">
                <a:solidFill>
                  <a:srgbClr val="2A9D8F"/>
                </a:solidFill>
                <a:latin typeface="Oswald" pitchFamily="34" charset="0"/>
                <a:ea typeface="Oswald" pitchFamily="34" charset="-122"/>
                <a:cs typeface="Oswald" pitchFamily="34" charset="-120"/>
              </a:rPr>
              <a:t>No Subcontracting</a:t>
            </a:r>
            <a:endParaRPr lang="en-US" sz="1400"/>
          </a:p>
        </p:txBody>
      </p:sp>
      <p:sp>
        <p:nvSpPr>
          <p:cNvPr id="25" name="Text 19"/>
          <p:cNvSpPr txBox="1"/>
          <p:nvPr/>
        </p:nvSpPr>
        <p:spPr>
          <a:xfrm>
            <a:off x="800100" y="2491740"/>
            <a:ext cx="11278210" cy="219456"/>
          </a:xfrm>
          <a:prstGeom prst="rect">
            <a:avLst/>
          </a:prstGeom>
          <a:noFill/>
          <a:ln/>
        </p:spPr>
        <p:txBody>
          <a:bodyPr wrap="non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300+ in-house recruiters. 7,200+ professionals on J2W payroll. Zero subcontracting layer diluting quality, speed, or accountability.</a:t>
            </a:r>
            <a:endParaRPr lang="en-US" sz="1300"/>
          </a:p>
        </p:txBody>
      </p:sp>
      <p:pic>
        <p:nvPicPr>
          <p:cNvPr id="26" name="Image 4" descr="gen-dedup-928b248bf773cd1fca0141b5a5721735.png"/>
          <p:cNvPicPr>
            <a:picLocks noChangeAspect="1"/>
          </p:cNvPicPr>
          <p:nvPr/>
        </p:nvPicPr>
        <p:blipFill>
          <a:blip r:embed="rId7"/>
          <a:srcRect t="-6603" b="-6603"/>
          <a:stretch/>
        </p:blipFill>
        <p:spPr>
          <a:xfrm>
            <a:off x="800100" y="2211934"/>
            <a:ext cx="161849" cy="209398"/>
          </a:xfrm>
          <a:prstGeom prst="rect">
            <a:avLst/>
          </a:prstGeom>
        </p:spPr>
      </p:pic>
      <p:sp>
        <p:nvSpPr>
          <p:cNvPr id="27" name="Text 20"/>
          <p:cNvSpPr txBox="1"/>
          <p:nvPr/>
        </p:nvSpPr>
        <p:spPr>
          <a:xfrm>
            <a:off x="1037844" y="2991917"/>
            <a:ext cx="2414930" cy="305410"/>
          </a:xfrm>
          <a:prstGeom prst="rect">
            <a:avLst/>
          </a:prstGeom>
          <a:noFill/>
          <a:ln/>
        </p:spPr>
        <p:txBody>
          <a:bodyPr wrap="none" lIns="0" tIns="0" rIns="0" bIns="0" rtlCol="0" anchor="ctr"/>
          <a:lstStyle/>
          <a:p>
            <a:pPr marL="0" indent="0" algn="l">
              <a:buNone/>
            </a:pPr>
            <a:r>
              <a:rPr lang="en-US" sz="1400" b="1">
                <a:solidFill>
                  <a:srgbClr val="D62839"/>
                </a:solidFill>
                <a:latin typeface="Oswald" pitchFamily="34" charset="0"/>
                <a:ea typeface="Oswald" pitchFamily="34" charset="-122"/>
                <a:cs typeface="Oswald" pitchFamily="34" charset="-120"/>
              </a:rPr>
              <a:t>GCC-Native Intelligence</a:t>
            </a:r>
            <a:endParaRPr lang="en-US" sz="1400"/>
          </a:p>
        </p:txBody>
      </p:sp>
      <p:sp>
        <p:nvSpPr>
          <p:cNvPr id="28" name="Text 21"/>
          <p:cNvSpPr txBox="1"/>
          <p:nvPr/>
        </p:nvSpPr>
        <p:spPr>
          <a:xfrm>
            <a:off x="800100" y="3334817"/>
            <a:ext cx="10592410" cy="4389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Forged through 300+ active GCC deployments. We see the next problem before it shows up because we have already solved it somewhere else.</a:t>
            </a:r>
            <a:endParaRPr lang="en-US" sz="1300"/>
          </a:p>
        </p:txBody>
      </p:sp>
      <p:pic>
        <p:nvPicPr>
          <p:cNvPr id="29" name="Image 5" descr="gen-dedup-0c58ce2f3d3941653435c84e3cc91c65.png"/>
          <p:cNvPicPr>
            <a:picLocks noChangeAspect="1"/>
          </p:cNvPicPr>
          <p:nvPr/>
        </p:nvPicPr>
        <p:blipFill>
          <a:blip r:embed="rId8"/>
          <a:srcRect t="-14689" b="-14689"/>
          <a:stretch/>
        </p:blipFill>
        <p:spPr>
          <a:xfrm>
            <a:off x="800100" y="3055925"/>
            <a:ext cx="161849" cy="209398"/>
          </a:xfrm>
          <a:prstGeom prst="rect">
            <a:avLst/>
          </a:prstGeom>
        </p:spPr>
      </p:pic>
      <p:sp>
        <p:nvSpPr>
          <p:cNvPr id="30" name="Text 22"/>
          <p:cNvSpPr txBox="1"/>
          <p:nvPr/>
        </p:nvSpPr>
        <p:spPr>
          <a:xfrm>
            <a:off x="1037844" y="3944722"/>
            <a:ext cx="1633118" cy="305410"/>
          </a:xfrm>
          <a:prstGeom prst="rect">
            <a:avLst/>
          </a:prstGeom>
          <a:noFill/>
          <a:ln/>
        </p:spPr>
        <p:txBody>
          <a:bodyPr wrap="none" lIns="0" tIns="0" rIns="0" bIns="0" rtlCol="0" anchor="ctr"/>
          <a:lstStyle/>
          <a:p>
            <a:pPr marL="0" indent="0" algn="l">
              <a:buNone/>
            </a:pPr>
            <a:r>
              <a:rPr lang="en-US" sz="1400" b="1">
                <a:solidFill>
                  <a:srgbClr val="2A9D8F"/>
                </a:solidFill>
                <a:latin typeface="Oswald" pitchFamily="34" charset="0"/>
                <a:ea typeface="Oswald" pitchFamily="34" charset="-122"/>
                <a:cs typeface="Oswald" pitchFamily="34" charset="-120"/>
              </a:rPr>
              <a:t>AI at Every Step</a:t>
            </a:r>
            <a:endParaRPr lang="en-US" sz="1400"/>
          </a:p>
        </p:txBody>
      </p:sp>
      <p:sp>
        <p:nvSpPr>
          <p:cNvPr id="31" name="Text 23"/>
          <p:cNvSpPr txBox="1"/>
          <p:nvPr/>
        </p:nvSpPr>
        <p:spPr>
          <a:xfrm>
            <a:off x="800100" y="4287622"/>
            <a:ext cx="10592410" cy="4389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TalentAI + TalentSphere: AI-ranked pools, voice-agent screening, skill graphs, predictive placement. Every tool passed our 40% improvement gate internally.</a:t>
            </a:r>
            <a:endParaRPr lang="en-US" sz="1300"/>
          </a:p>
        </p:txBody>
      </p:sp>
      <p:pic>
        <p:nvPicPr>
          <p:cNvPr id="32" name="Image 6" descr="gen-dedup-da669e206ac26c7983b1f8612c832ea6.png"/>
          <p:cNvPicPr>
            <a:picLocks noChangeAspect="1"/>
          </p:cNvPicPr>
          <p:nvPr/>
        </p:nvPicPr>
        <p:blipFill>
          <a:blip r:embed="rId9"/>
          <a:srcRect t="-30861" b="-30861"/>
          <a:stretch/>
        </p:blipFill>
        <p:spPr>
          <a:xfrm>
            <a:off x="800100" y="4008730"/>
            <a:ext cx="161849" cy="209398"/>
          </a:xfrm>
          <a:prstGeom prst="rect">
            <a:avLst/>
          </a:prstGeom>
        </p:spPr>
      </p:pic>
      <p:sp>
        <p:nvSpPr>
          <p:cNvPr id="33" name="Text 24"/>
          <p:cNvSpPr txBox="1"/>
          <p:nvPr/>
        </p:nvSpPr>
        <p:spPr>
          <a:xfrm>
            <a:off x="1037844" y="4897526"/>
            <a:ext cx="2460650" cy="305410"/>
          </a:xfrm>
          <a:prstGeom prst="rect">
            <a:avLst/>
          </a:prstGeom>
          <a:noFill/>
          <a:ln/>
        </p:spPr>
        <p:txBody>
          <a:bodyPr wrap="none" lIns="0" tIns="0" rIns="0" bIns="0" rtlCol="0" anchor="ctr"/>
          <a:lstStyle/>
          <a:p>
            <a:pPr marL="0" indent="0" algn="l">
              <a:buNone/>
            </a:pPr>
            <a:r>
              <a:rPr lang="en-US" sz="1400" b="1">
                <a:solidFill>
                  <a:srgbClr val="D62839"/>
                </a:solidFill>
                <a:latin typeface="Oswald" pitchFamily="34" charset="0"/>
                <a:ea typeface="Oswald" pitchFamily="34" charset="-122"/>
                <a:cs typeface="Oswald" pitchFamily="34" charset="-120"/>
              </a:rPr>
              <a:t>Pod Governance Built In</a:t>
            </a:r>
            <a:endParaRPr lang="en-US" sz="1400"/>
          </a:p>
        </p:txBody>
      </p:sp>
      <p:sp>
        <p:nvSpPr>
          <p:cNvPr id="34" name="Text 25"/>
          <p:cNvSpPr txBox="1"/>
          <p:nvPr/>
        </p:nvSpPr>
        <p:spPr>
          <a:xfrm>
            <a:off x="800100" y="5240426"/>
            <a:ext cx="10592410" cy="4389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A dedicated Pod Manager - not billed to client - owns sprint governance, performance tracking, and L&amp;D coordination. This is a pod, not a staffing drop.</a:t>
            </a:r>
            <a:endParaRPr lang="en-US" sz="1300"/>
          </a:p>
        </p:txBody>
      </p:sp>
      <p:pic>
        <p:nvPicPr>
          <p:cNvPr id="35" name="Image 7" descr="gen-dedup-5d8964838ee5ef7b6e1692b5297312cd.png"/>
          <p:cNvPicPr>
            <a:picLocks noChangeAspect="1"/>
          </p:cNvPicPr>
          <p:nvPr/>
        </p:nvPicPr>
        <p:blipFill>
          <a:blip r:embed="rId10"/>
          <a:srcRect t="-30861" b="-30861"/>
          <a:stretch/>
        </p:blipFill>
        <p:spPr>
          <a:xfrm>
            <a:off x="800100" y="4960620"/>
            <a:ext cx="161849" cy="209398"/>
          </a:xfrm>
          <a:prstGeom prst="rect">
            <a:avLst/>
          </a:prstGeom>
        </p:spPr>
      </p:pic>
      <p:sp>
        <p:nvSpPr>
          <p:cNvPr id="36" name="Text 26"/>
          <p:cNvSpPr txBox="1"/>
          <p:nvPr/>
        </p:nvSpPr>
        <p:spPr>
          <a:xfrm>
            <a:off x="1037844" y="5849417"/>
            <a:ext cx="2051914" cy="305410"/>
          </a:xfrm>
          <a:prstGeom prst="rect">
            <a:avLst/>
          </a:prstGeom>
          <a:noFill/>
          <a:ln/>
        </p:spPr>
        <p:txBody>
          <a:bodyPr wrap="none" lIns="0" tIns="0" rIns="0" bIns="0" rtlCol="0" anchor="ctr"/>
          <a:lstStyle/>
          <a:p>
            <a:pPr marL="0" indent="0" algn="l">
              <a:buNone/>
            </a:pPr>
            <a:r>
              <a:rPr lang="en-US" sz="1400" b="1">
                <a:solidFill>
                  <a:srgbClr val="2A9D8F"/>
                </a:solidFill>
                <a:latin typeface="Oswald" pitchFamily="34" charset="0"/>
                <a:ea typeface="Oswald" pitchFamily="34" charset="-122"/>
                <a:cs typeface="Oswald" pitchFamily="34" charset="-120"/>
              </a:rPr>
              <a:t>Validated Playbooks</a:t>
            </a:r>
            <a:endParaRPr lang="en-US" sz="1400"/>
          </a:p>
        </p:txBody>
      </p:sp>
      <p:sp>
        <p:nvSpPr>
          <p:cNvPr id="37" name="Text 27"/>
          <p:cNvSpPr txBox="1"/>
          <p:nvPr/>
        </p:nvSpPr>
        <p:spPr>
          <a:xfrm>
            <a:off x="800100" y="6192317"/>
            <a:ext cx="10592410" cy="4389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Every tool, process, and accelerator has passed our internal 40% improvement gate. Clients benefit from completed learning - not our experimentation.</a:t>
            </a:r>
            <a:endParaRPr lang="en-US" sz="1300"/>
          </a:p>
        </p:txBody>
      </p:sp>
      <p:pic>
        <p:nvPicPr>
          <p:cNvPr id="38" name="Image 8" descr="gen-dedup-001fb79ce367df5df5f79805d3e188cd.png"/>
          <p:cNvPicPr>
            <a:picLocks noChangeAspect="1"/>
          </p:cNvPicPr>
          <p:nvPr/>
        </p:nvPicPr>
        <p:blipFill>
          <a:blip r:embed="rId11"/>
          <a:srcRect t="-22775" b="-22775"/>
          <a:stretch/>
        </p:blipFill>
        <p:spPr>
          <a:xfrm>
            <a:off x="800100" y="5913425"/>
            <a:ext cx="161849" cy="20939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txBody>
          <a:bodyPr/>
          <a:lstStyle/>
          <a:p>
            <a:endParaRPr/>
          </a:p>
        </p:txBody>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txBody>
          <a:bodyPr/>
          <a:lstStyle/>
          <a:p>
            <a:endParaRPr/>
          </a:p>
        </p:txBody>
      </p:sp>
      <p:pic>
        <p:nvPicPr>
          <p:cNvPr id="4" name="Image 0" descr="gen-dedup-37abb9d8cc081a24feb608c288538026.png"/>
          <p:cNvPicPr>
            <a:picLocks noChangeAspect="1"/>
          </p:cNvPicPr>
          <p:nvPr/>
        </p:nvPicPr>
        <p:blipFill>
          <a:blip r:embed="rId3"/>
          <a:srcRect l="-198" r="-198"/>
          <a:stretch/>
        </p:blipFill>
        <p:spPr>
          <a:xfrm>
            <a:off x="0" y="0"/>
            <a:ext cx="8124444" cy="75895"/>
          </a:xfrm>
          <a:prstGeom prst="rect">
            <a:avLst/>
          </a:prstGeom>
        </p:spPr>
      </p:pic>
      <p:pic>
        <p:nvPicPr>
          <p:cNvPr id="5" name="Image 1" descr="gen-dedup-c2c9136402f20c216bf7cbcc052ad1a0.png"/>
          <p:cNvPicPr>
            <a:picLocks noChangeAspect="1"/>
          </p:cNvPicPr>
          <p:nvPr/>
        </p:nvPicPr>
        <p:blipFill>
          <a:blip r:embed="rId4"/>
          <a:srcRect l="-202" r="-202"/>
          <a:stretch/>
        </p:blipFill>
        <p:spPr>
          <a:xfrm>
            <a:off x="8124444" y="0"/>
            <a:ext cx="4067251" cy="75895"/>
          </a:xfrm>
          <a:prstGeom prst="rect">
            <a:avLst/>
          </a:prstGeom>
        </p:spPr>
      </p:pic>
      <p:sp>
        <p:nvSpPr>
          <p:cNvPr id="6" name="Shape 2"/>
          <p:cNvSpPr/>
          <p:nvPr/>
        </p:nvSpPr>
        <p:spPr>
          <a:xfrm>
            <a:off x="609905" y="1333195"/>
            <a:ext cx="2590495" cy="1619402"/>
          </a:xfrm>
          <a:prstGeom prst="roundRect">
            <a:avLst>
              <a:gd name="adj" fmla="val 4687"/>
            </a:avLst>
          </a:prstGeom>
          <a:solidFill>
            <a:srgbClr val="FFFFFF"/>
          </a:solidFill>
          <a:ln w="12700">
            <a:solidFill>
              <a:srgbClr val="E2E8F0"/>
            </a:solidFill>
            <a:prstDash val="solid"/>
          </a:ln>
          <a:effectLst>
            <a:outerShdw blurRad="63500" dist="38100" dir="16200000" algn="bl" rotWithShape="0">
              <a:srgbClr val="000000">
                <a:alpha val="2000"/>
              </a:srgbClr>
            </a:outerShdw>
          </a:effectLst>
        </p:spPr>
        <p:txBody>
          <a:bodyPr/>
          <a:lstStyle/>
          <a:p>
            <a:endParaRPr/>
          </a:p>
        </p:txBody>
      </p:sp>
      <p:sp>
        <p:nvSpPr>
          <p:cNvPr id="7" name="Shape 3"/>
          <p:cNvSpPr/>
          <p:nvPr/>
        </p:nvSpPr>
        <p:spPr>
          <a:xfrm>
            <a:off x="609905" y="1333195"/>
            <a:ext cx="2590495" cy="38405"/>
          </a:xfrm>
          <a:prstGeom prst="roundRect">
            <a:avLst>
              <a:gd name="adj" fmla="val 197618"/>
            </a:avLst>
          </a:prstGeom>
          <a:solidFill>
            <a:srgbClr val="D62839"/>
          </a:solidFill>
          <a:ln w="12700">
            <a:solidFill>
              <a:srgbClr val="D62839">
                <a:alpha val="0"/>
              </a:srgbClr>
            </a:solidFill>
            <a:prstDash val="solid"/>
          </a:ln>
        </p:spPr>
        <p:txBody>
          <a:bodyPr/>
          <a:lstStyle/>
          <a:p>
            <a:endParaRPr/>
          </a:p>
        </p:txBody>
      </p:sp>
      <p:sp>
        <p:nvSpPr>
          <p:cNvPr id="8" name="Shape 4"/>
          <p:cNvSpPr/>
          <p:nvPr/>
        </p:nvSpPr>
        <p:spPr>
          <a:xfrm>
            <a:off x="3372307" y="1333195"/>
            <a:ext cx="2590495" cy="1619402"/>
          </a:xfrm>
          <a:prstGeom prst="roundRect">
            <a:avLst>
              <a:gd name="adj" fmla="val 4687"/>
            </a:avLst>
          </a:prstGeom>
          <a:solidFill>
            <a:srgbClr val="FFFFFF"/>
          </a:solidFill>
          <a:ln w="12700">
            <a:solidFill>
              <a:srgbClr val="E2E8F0"/>
            </a:solidFill>
            <a:prstDash val="solid"/>
          </a:ln>
          <a:effectLst>
            <a:outerShdw blurRad="63500" dist="38100" dir="16200000" algn="bl" rotWithShape="0">
              <a:srgbClr val="000000">
                <a:alpha val="2000"/>
              </a:srgbClr>
            </a:outerShdw>
          </a:effectLst>
        </p:spPr>
        <p:txBody>
          <a:bodyPr/>
          <a:lstStyle/>
          <a:p>
            <a:endParaRPr/>
          </a:p>
        </p:txBody>
      </p:sp>
      <p:sp>
        <p:nvSpPr>
          <p:cNvPr id="9" name="Shape 5"/>
          <p:cNvSpPr/>
          <p:nvPr/>
        </p:nvSpPr>
        <p:spPr>
          <a:xfrm>
            <a:off x="3372307" y="1333195"/>
            <a:ext cx="2590495" cy="38405"/>
          </a:xfrm>
          <a:prstGeom prst="roundRect">
            <a:avLst>
              <a:gd name="adj" fmla="val 197618"/>
            </a:avLst>
          </a:prstGeom>
          <a:solidFill>
            <a:srgbClr val="2A9D8F"/>
          </a:solidFill>
          <a:ln w="12700">
            <a:solidFill>
              <a:srgbClr val="2A9D8F">
                <a:alpha val="0"/>
              </a:srgbClr>
            </a:solidFill>
            <a:prstDash val="solid"/>
          </a:ln>
        </p:spPr>
        <p:txBody>
          <a:bodyPr/>
          <a:lstStyle/>
          <a:p>
            <a:endParaRPr/>
          </a:p>
        </p:txBody>
      </p:sp>
      <p:sp>
        <p:nvSpPr>
          <p:cNvPr id="10" name="Shape 6"/>
          <p:cNvSpPr/>
          <p:nvPr/>
        </p:nvSpPr>
        <p:spPr>
          <a:xfrm>
            <a:off x="609905" y="3095244"/>
            <a:ext cx="2590495" cy="1619402"/>
          </a:xfrm>
          <a:prstGeom prst="roundRect">
            <a:avLst>
              <a:gd name="adj" fmla="val 4687"/>
            </a:avLst>
          </a:prstGeom>
          <a:solidFill>
            <a:srgbClr val="FFFFFF"/>
          </a:solidFill>
          <a:ln w="12700">
            <a:solidFill>
              <a:srgbClr val="E2E8F0"/>
            </a:solidFill>
            <a:prstDash val="solid"/>
          </a:ln>
          <a:effectLst>
            <a:outerShdw blurRad="63500" dist="38100" dir="16200000" algn="bl" rotWithShape="0">
              <a:srgbClr val="000000">
                <a:alpha val="2000"/>
              </a:srgbClr>
            </a:outerShdw>
          </a:effectLst>
        </p:spPr>
        <p:txBody>
          <a:bodyPr/>
          <a:lstStyle/>
          <a:p>
            <a:endParaRPr/>
          </a:p>
        </p:txBody>
      </p:sp>
      <p:sp>
        <p:nvSpPr>
          <p:cNvPr id="11" name="Shape 7"/>
          <p:cNvSpPr/>
          <p:nvPr/>
        </p:nvSpPr>
        <p:spPr>
          <a:xfrm>
            <a:off x="609905" y="3095244"/>
            <a:ext cx="2590495" cy="38405"/>
          </a:xfrm>
          <a:prstGeom prst="roundRect">
            <a:avLst>
              <a:gd name="adj" fmla="val 197618"/>
            </a:avLst>
          </a:prstGeom>
          <a:solidFill>
            <a:srgbClr val="0F172A"/>
          </a:solidFill>
          <a:ln w="12700">
            <a:solidFill>
              <a:srgbClr val="0F172A">
                <a:alpha val="0"/>
              </a:srgbClr>
            </a:solidFill>
            <a:prstDash val="solid"/>
          </a:ln>
        </p:spPr>
        <p:txBody>
          <a:bodyPr/>
          <a:lstStyle/>
          <a:p>
            <a:endParaRPr/>
          </a:p>
        </p:txBody>
      </p:sp>
      <p:sp>
        <p:nvSpPr>
          <p:cNvPr id="12" name="Shape 8"/>
          <p:cNvSpPr/>
          <p:nvPr/>
        </p:nvSpPr>
        <p:spPr>
          <a:xfrm>
            <a:off x="3372307" y="3095244"/>
            <a:ext cx="2590495" cy="1619402"/>
          </a:xfrm>
          <a:prstGeom prst="roundRect">
            <a:avLst>
              <a:gd name="adj" fmla="val 4687"/>
            </a:avLst>
          </a:prstGeom>
          <a:solidFill>
            <a:srgbClr val="FFFFFF"/>
          </a:solidFill>
          <a:ln w="12700">
            <a:solidFill>
              <a:srgbClr val="E2E8F0"/>
            </a:solidFill>
            <a:prstDash val="solid"/>
          </a:ln>
          <a:effectLst>
            <a:outerShdw blurRad="63500" dist="38100" dir="16200000" algn="bl" rotWithShape="0">
              <a:srgbClr val="000000">
                <a:alpha val="2000"/>
              </a:srgbClr>
            </a:outerShdw>
          </a:effectLst>
        </p:spPr>
        <p:txBody>
          <a:bodyPr/>
          <a:lstStyle/>
          <a:p>
            <a:endParaRPr/>
          </a:p>
        </p:txBody>
      </p:sp>
      <p:sp>
        <p:nvSpPr>
          <p:cNvPr id="13" name="Shape 9"/>
          <p:cNvSpPr/>
          <p:nvPr/>
        </p:nvSpPr>
        <p:spPr>
          <a:xfrm>
            <a:off x="3372307" y="3095244"/>
            <a:ext cx="2590495" cy="38405"/>
          </a:xfrm>
          <a:prstGeom prst="roundRect">
            <a:avLst>
              <a:gd name="adj" fmla="val 197618"/>
            </a:avLst>
          </a:prstGeom>
          <a:solidFill>
            <a:srgbClr val="475569"/>
          </a:solidFill>
          <a:ln w="12700">
            <a:solidFill>
              <a:srgbClr val="475569">
                <a:alpha val="0"/>
              </a:srgbClr>
            </a:solidFill>
            <a:prstDash val="solid"/>
          </a:ln>
        </p:spPr>
        <p:txBody>
          <a:bodyPr/>
          <a:lstStyle/>
          <a:p>
            <a:endParaRPr/>
          </a:p>
        </p:txBody>
      </p:sp>
      <p:sp>
        <p:nvSpPr>
          <p:cNvPr id="14" name="Shape 10"/>
          <p:cNvSpPr/>
          <p:nvPr/>
        </p:nvSpPr>
        <p:spPr>
          <a:xfrm>
            <a:off x="6286500" y="1333195"/>
            <a:ext cx="5315407" cy="3353105"/>
          </a:xfrm>
          <a:prstGeom prst="roundRect">
            <a:avLst>
              <a:gd name="adj" fmla="val 2263"/>
            </a:avLst>
          </a:prstGeom>
          <a:solidFill>
            <a:srgbClr val="FFFFFF"/>
          </a:solidFill>
          <a:ln w="12700">
            <a:solidFill>
              <a:srgbClr val="E2E8F0"/>
            </a:solidFill>
            <a:prstDash val="solid"/>
          </a:ln>
          <a:effectLst>
            <a:outerShdw blurRad="63500" dist="38100" dir="16200000" algn="bl" rotWithShape="0">
              <a:srgbClr val="000000">
                <a:alpha val="2000"/>
              </a:srgbClr>
            </a:outerShdw>
          </a:effectLst>
        </p:spPr>
        <p:txBody>
          <a:bodyPr/>
          <a:lstStyle/>
          <a:p>
            <a:endParaRPr/>
          </a:p>
        </p:txBody>
      </p:sp>
      <p:sp>
        <p:nvSpPr>
          <p:cNvPr id="15" name="Shape 11"/>
          <p:cNvSpPr/>
          <p:nvPr/>
        </p:nvSpPr>
        <p:spPr>
          <a:xfrm>
            <a:off x="609905" y="4953305"/>
            <a:ext cx="11011205" cy="1143000"/>
          </a:xfrm>
          <a:prstGeom prst="roundRect">
            <a:avLst>
              <a:gd name="adj" fmla="val 6640"/>
            </a:avLst>
          </a:prstGeom>
          <a:solidFill>
            <a:srgbClr val="0F172A"/>
          </a:solidFill>
          <a:ln/>
          <a:effectLst>
            <a:outerShdw blurRad="63500" dist="38100" dir="16200000" algn="bl" rotWithShape="0">
              <a:srgbClr val="000000">
                <a:alpha val="5000"/>
              </a:srgbClr>
            </a:outerShdw>
          </a:effectLst>
        </p:spPr>
        <p:txBody>
          <a:bodyPr/>
          <a:lstStyle/>
          <a:p>
            <a:endParaRPr/>
          </a:p>
        </p:txBody>
      </p:sp>
      <p:sp>
        <p:nvSpPr>
          <p:cNvPr id="16" name="Shape 12"/>
          <p:cNvSpPr/>
          <p:nvPr/>
        </p:nvSpPr>
        <p:spPr>
          <a:xfrm>
            <a:off x="609905" y="4953305"/>
            <a:ext cx="38405" cy="1143000"/>
          </a:xfrm>
          <a:prstGeom prst="roundRect">
            <a:avLst>
              <a:gd name="adj" fmla="val 197618"/>
            </a:avLst>
          </a:prstGeom>
          <a:solidFill>
            <a:srgbClr val="4FD1C5"/>
          </a:solidFill>
          <a:ln w="12700">
            <a:solidFill>
              <a:srgbClr val="4FD1C5">
                <a:alpha val="0"/>
              </a:srgbClr>
            </a:solidFill>
            <a:prstDash val="solid"/>
          </a:ln>
        </p:spPr>
        <p:txBody>
          <a:bodyPr/>
          <a:lstStyle/>
          <a:p>
            <a:endParaRPr/>
          </a:p>
        </p:txBody>
      </p:sp>
      <p:sp>
        <p:nvSpPr>
          <p:cNvPr id="17" name="Shape 13"/>
          <p:cNvSpPr/>
          <p:nvPr/>
        </p:nvSpPr>
        <p:spPr>
          <a:xfrm>
            <a:off x="0" y="6476695"/>
            <a:ext cx="12191695" cy="390449"/>
          </a:xfrm>
          <a:prstGeom prst="rect">
            <a:avLst/>
          </a:prstGeom>
          <a:solidFill>
            <a:srgbClr val="F1F5F9"/>
          </a:solidFill>
          <a:ln/>
        </p:spPr>
        <p:txBody>
          <a:bodyPr/>
          <a:lstStyle/>
          <a:p>
            <a:endParaRPr/>
          </a:p>
        </p:txBody>
      </p:sp>
      <p:sp>
        <p:nvSpPr>
          <p:cNvPr id="18" name="Shape 14"/>
          <p:cNvSpPr/>
          <p:nvPr/>
        </p:nvSpPr>
        <p:spPr>
          <a:xfrm>
            <a:off x="0" y="6476695"/>
            <a:ext cx="12191695" cy="9144"/>
          </a:xfrm>
          <a:prstGeom prst="rect">
            <a:avLst/>
          </a:prstGeom>
          <a:solidFill>
            <a:srgbClr val="E2E8F0"/>
          </a:solidFill>
          <a:ln w="12700">
            <a:solidFill>
              <a:srgbClr val="E2E8F0">
                <a:alpha val="0"/>
              </a:srgbClr>
            </a:solidFill>
            <a:prstDash val="solid"/>
          </a:ln>
        </p:spPr>
        <p:txBody>
          <a:bodyPr/>
          <a:lstStyle/>
          <a:p>
            <a:endParaRPr/>
          </a:p>
        </p:txBody>
      </p:sp>
      <p:pic>
        <p:nvPicPr>
          <p:cNvPr id="19" name="Image 2" descr="gen-dedup-c86e8c174ca8fa1030f905d340dc1437.png"/>
          <p:cNvPicPr>
            <a:picLocks noChangeAspect="1"/>
          </p:cNvPicPr>
          <p:nvPr/>
        </p:nvPicPr>
        <p:blipFill>
          <a:blip r:embed="rId5"/>
          <a:srcRect l="-400" r="-400"/>
          <a:stretch/>
        </p:blipFill>
        <p:spPr>
          <a:xfrm>
            <a:off x="609905" y="390449"/>
            <a:ext cx="57607" cy="571500"/>
          </a:xfrm>
          <a:prstGeom prst="rect">
            <a:avLst/>
          </a:prstGeom>
        </p:spPr>
      </p:pic>
      <p:sp>
        <p:nvSpPr>
          <p:cNvPr id="20" name="Text 15"/>
          <p:cNvSpPr txBox="1"/>
          <p:nvPr/>
        </p:nvSpPr>
        <p:spPr>
          <a:xfrm>
            <a:off x="819302" y="390449"/>
            <a:ext cx="10478110" cy="400507"/>
          </a:xfrm>
          <a:prstGeom prst="rect">
            <a:avLst/>
          </a:prstGeom>
          <a:noFill/>
          <a:ln/>
        </p:spPr>
        <p:txBody>
          <a:bodyPr wrap="none" lIns="0" tIns="0" rIns="0" bIns="0" rtlCol="0" anchor="ctr"/>
          <a:lstStyle/>
          <a:p>
            <a:pPr marL="0" indent="0" algn="l">
              <a:buNone/>
            </a:pPr>
            <a:r>
              <a:rPr lang="en-US" sz="2800" b="1" dirty="0">
                <a:solidFill>
                  <a:srgbClr val="111827"/>
                </a:solidFill>
                <a:latin typeface="Oswald" pitchFamily="34" charset="0"/>
                <a:ea typeface="Oswald" pitchFamily="34" charset="-122"/>
                <a:cs typeface="Oswald" pitchFamily="34" charset="-120"/>
              </a:rPr>
              <a:t>OUR FOOTPRINT WITH {{CLIENT_NAME}}</a:t>
            </a:r>
            <a:endParaRPr lang="en-US" sz="2800" dirty="0"/>
          </a:p>
        </p:txBody>
      </p:sp>
      <p:sp>
        <p:nvSpPr>
          <p:cNvPr id="21" name="Text 16"/>
          <p:cNvSpPr txBox="1"/>
          <p:nvPr/>
        </p:nvSpPr>
        <p:spPr>
          <a:xfrm>
            <a:off x="819302" y="845820"/>
            <a:ext cx="10478110" cy="200254"/>
          </a:xfrm>
          <a:prstGeom prst="rect">
            <a:avLst/>
          </a:prstGeom>
          <a:noFill/>
          <a:ln/>
        </p:spPr>
        <p:txBody>
          <a:bodyPr wrap="none" lIns="0" tIns="0" rIns="0" bIns="0" rtlCol="0" anchor="ctr"/>
          <a:lstStyle/>
          <a:p>
            <a:pPr marL="0" indent="0" algn="l">
              <a:buNone/>
            </a:pPr>
            <a:r>
              <a:rPr lang="en-US" sz="1300" b="1" dirty="0">
                <a:solidFill>
                  <a:srgbClr val="475569"/>
                </a:solidFill>
                <a:latin typeface="Raleway" pitchFamily="34" charset="0"/>
                <a:ea typeface="Raleway" pitchFamily="34" charset="-122"/>
                <a:cs typeface="Raleway" pitchFamily="34" charset="-120"/>
              </a:rPr>
              <a:t>A snapshot of what we're delivering together today</a:t>
            </a:r>
            <a:endParaRPr lang="en-US" sz="1300" dirty="0"/>
          </a:p>
        </p:txBody>
      </p:sp>
      <p:sp>
        <p:nvSpPr>
          <p:cNvPr id="22" name="Text 17"/>
          <p:cNvSpPr txBox="1"/>
          <p:nvPr/>
        </p:nvSpPr>
        <p:spPr>
          <a:xfrm>
            <a:off x="14630" y="1524305"/>
            <a:ext cx="3762756" cy="342900"/>
          </a:xfrm>
          <a:prstGeom prst="rect">
            <a:avLst/>
          </a:prstGeom>
          <a:noFill/>
          <a:ln/>
        </p:spPr>
        <p:txBody>
          <a:bodyPr wrap="none" lIns="0" tIns="0" rIns="0" bIns="0" rtlCol="0" anchor="ctr"/>
          <a:lstStyle/>
          <a:p>
            <a:pPr marL="0" indent="0" algn="ctr">
              <a:buNone/>
            </a:pPr>
            <a:r>
              <a:rPr lang="en-US" sz="2700" b="1" dirty="0">
                <a:solidFill>
                  <a:srgbClr val="D62839"/>
                </a:solidFill>
                <a:latin typeface="Oswald" pitchFamily="34" charset="0"/>
                <a:ea typeface="Oswald" pitchFamily="34" charset="-122"/>
                <a:cs typeface="Oswald" pitchFamily="34" charset="-120"/>
              </a:rPr>
              <a:t>{{TOTAL_DEPLOYED}}</a:t>
            </a:r>
            <a:endParaRPr lang="en-US" sz="2700" dirty="0"/>
          </a:p>
        </p:txBody>
      </p:sp>
      <p:sp>
        <p:nvSpPr>
          <p:cNvPr id="23" name="Text 18"/>
          <p:cNvSpPr txBox="1"/>
          <p:nvPr/>
        </p:nvSpPr>
        <p:spPr>
          <a:xfrm>
            <a:off x="705002" y="1981505"/>
            <a:ext cx="2382012" cy="247802"/>
          </a:xfrm>
          <a:prstGeom prst="rect">
            <a:avLst/>
          </a:prstGeom>
          <a:noFill/>
          <a:ln/>
        </p:spPr>
        <p:txBody>
          <a:bodyPr wrap="none" lIns="0" tIns="0" rIns="0" bIns="0" rtlCol="0" anchor="ctr"/>
          <a:lstStyle/>
          <a:p>
            <a:pPr marL="0" indent="0" algn="ctr">
              <a:buNone/>
            </a:pPr>
            <a:r>
              <a:rPr lang="en-US" sz="1300" kern="0" spc="68" dirty="0">
                <a:solidFill>
                  <a:srgbClr val="1E293B"/>
                </a:solidFill>
                <a:latin typeface="Oswald" pitchFamily="34" charset="0"/>
                <a:ea typeface="Oswald" pitchFamily="34" charset="-122"/>
                <a:cs typeface="Oswald" pitchFamily="34" charset="-120"/>
              </a:rPr>
              <a:t>Specialists Deployed</a:t>
            </a:r>
            <a:endParaRPr lang="en-US" sz="1300" dirty="0"/>
          </a:p>
        </p:txBody>
      </p:sp>
      <p:sp>
        <p:nvSpPr>
          <p:cNvPr id="24" name="Text 19"/>
          <p:cNvSpPr txBox="1"/>
          <p:nvPr/>
        </p:nvSpPr>
        <p:spPr>
          <a:xfrm>
            <a:off x="705002" y="2266798"/>
            <a:ext cx="2382012" cy="152705"/>
          </a:xfrm>
          <a:prstGeom prst="rect">
            <a:avLst/>
          </a:prstGeom>
          <a:noFill/>
          <a:ln/>
        </p:spPr>
        <p:txBody>
          <a:bodyPr wrap="none" lIns="0" tIns="0" rIns="0" bIns="0" rtlCol="0" anchor="ctr"/>
          <a:lstStyle/>
          <a:p>
            <a:pPr marL="0" indent="0" algn="ctr">
              <a:buNone/>
            </a:pPr>
            <a:r>
              <a:rPr lang="en-US" sz="1000" dirty="0">
                <a:solidFill>
                  <a:srgbClr val="64748B"/>
                </a:solidFill>
                <a:latin typeface="Raleway" pitchFamily="34" charset="0"/>
                <a:ea typeface="Raleway" pitchFamily="34" charset="-122"/>
                <a:cs typeface="Raleway" pitchFamily="34" charset="-120"/>
              </a:rPr>
              <a:t>with you</a:t>
            </a:r>
            <a:endParaRPr lang="en-US" sz="1000" dirty="0"/>
          </a:p>
        </p:txBody>
      </p:sp>
      <p:sp>
        <p:nvSpPr>
          <p:cNvPr id="25" name="Text 20"/>
          <p:cNvSpPr txBox="1"/>
          <p:nvPr/>
        </p:nvSpPr>
        <p:spPr>
          <a:xfrm>
            <a:off x="2776118" y="1524305"/>
            <a:ext cx="3762756" cy="342900"/>
          </a:xfrm>
          <a:prstGeom prst="rect">
            <a:avLst/>
          </a:prstGeom>
          <a:noFill/>
          <a:ln/>
        </p:spPr>
        <p:txBody>
          <a:bodyPr wrap="none" lIns="0" tIns="0" rIns="0" bIns="0" rtlCol="0" anchor="ctr"/>
          <a:lstStyle/>
          <a:p>
            <a:pPr marL="0" indent="0" algn="ctr">
              <a:buNone/>
            </a:pPr>
            <a:r>
              <a:rPr lang="en-US" sz="2700" b="1" dirty="0">
                <a:solidFill>
                  <a:srgbClr val="2A9D8F"/>
                </a:solidFill>
                <a:latin typeface="Oswald" pitchFamily="34" charset="0"/>
                <a:ea typeface="Oswald" pitchFamily="34" charset="-122"/>
                <a:cs typeface="Oswald" pitchFamily="34" charset="-120"/>
              </a:rPr>
              <a:t>{{ACTIVE_ENGAGEMENTS}}</a:t>
            </a:r>
            <a:endParaRPr lang="en-US" sz="2700" dirty="0"/>
          </a:p>
        </p:txBody>
      </p:sp>
      <p:sp>
        <p:nvSpPr>
          <p:cNvPr id="26" name="Text 21"/>
          <p:cNvSpPr txBox="1"/>
          <p:nvPr/>
        </p:nvSpPr>
        <p:spPr>
          <a:xfrm>
            <a:off x="3467405" y="1981505"/>
            <a:ext cx="2382012" cy="247802"/>
          </a:xfrm>
          <a:prstGeom prst="rect">
            <a:avLst/>
          </a:prstGeom>
          <a:noFill/>
          <a:ln/>
        </p:spPr>
        <p:txBody>
          <a:bodyPr wrap="none" lIns="0" tIns="0" rIns="0" bIns="0" rtlCol="0" anchor="ctr"/>
          <a:lstStyle/>
          <a:p>
            <a:pPr marL="0" indent="0" algn="ctr">
              <a:buNone/>
            </a:pPr>
            <a:r>
              <a:rPr lang="en-US" sz="1300" kern="0" spc="68" dirty="0">
                <a:solidFill>
                  <a:srgbClr val="1E293B"/>
                </a:solidFill>
                <a:latin typeface="Oswald" pitchFamily="34" charset="0"/>
                <a:ea typeface="Oswald" pitchFamily="34" charset="-122"/>
                <a:cs typeface="Oswald" pitchFamily="34" charset="-120"/>
              </a:rPr>
              <a:t>Active Engagements</a:t>
            </a:r>
            <a:endParaRPr lang="en-US" sz="1300" dirty="0"/>
          </a:p>
        </p:txBody>
      </p:sp>
      <p:sp>
        <p:nvSpPr>
          <p:cNvPr id="27" name="Text 22"/>
          <p:cNvSpPr txBox="1"/>
          <p:nvPr/>
        </p:nvSpPr>
        <p:spPr>
          <a:xfrm>
            <a:off x="3467405" y="2266798"/>
            <a:ext cx="2382012" cy="152705"/>
          </a:xfrm>
          <a:prstGeom prst="rect">
            <a:avLst/>
          </a:prstGeom>
          <a:noFill/>
          <a:ln/>
        </p:spPr>
        <p:txBody>
          <a:bodyPr wrap="none" lIns="0" tIns="0" rIns="0" bIns="0" rtlCol="0" anchor="ctr"/>
          <a:lstStyle/>
          <a:p>
            <a:pPr marL="0" indent="0" algn="ctr">
              <a:buNone/>
            </a:pPr>
            <a:r>
              <a:rPr lang="en-US" sz="1000" dirty="0">
                <a:solidFill>
                  <a:srgbClr val="64748B"/>
                </a:solidFill>
                <a:latin typeface="Raleway" pitchFamily="34" charset="0"/>
                <a:ea typeface="Raleway" pitchFamily="34" charset="-122"/>
                <a:cs typeface="Raleway" pitchFamily="34" charset="-120"/>
              </a:rPr>
              <a:t>/ divisions</a:t>
            </a:r>
            <a:endParaRPr lang="en-US" sz="1000" dirty="0"/>
          </a:p>
        </p:txBody>
      </p:sp>
      <p:sp>
        <p:nvSpPr>
          <p:cNvPr id="28" name="Text 23"/>
          <p:cNvSpPr txBox="1"/>
          <p:nvPr/>
        </p:nvSpPr>
        <p:spPr>
          <a:xfrm>
            <a:off x="14630" y="3286354"/>
            <a:ext cx="3762756" cy="342900"/>
          </a:xfrm>
          <a:prstGeom prst="rect">
            <a:avLst/>
          </a:prstGeom>
          <a:noFill/>
          <a:ln/>
        </p:spPr>
        <p:txBody>
          <a:bodyPr wrap="none" lIns="0" tIns="0" rIns="0" bIns="0" rtlCol="0" anchor="ctr"/>
          <a:lstStyle/>
          <a:p>
            <a:pPr marL="0" indent="0" algn="ctr">
              <a:buNone/>
            </a:pPr>
            <a:r>
              <a:rPr lang="en-US" sz="2700" b="1" dirty="0">
                <a:solidFill>
                  <a:srgbClr val="0F172A"/>
                </a:solidFill>
                <a:latin typeface="Oswald" pitchFamily="34" charset="0"/>
                <a:ea typeface="Oswald" pitchFamily="34" charset="-122"/>
                <a:cs typeface="Oswald" pitchFamily="34" charset="-120"/>
              </a:rPr>
              <a:t>{{SKILL_AREAS_COUNT}}</a:t>
            </a:r>
            <a:endParaRPr lang="en-US" sz="2700" dirty="0"/>
          </a:p>
        </p:txBody>
      </p:sp>
      <p:sp>
        <p:nvSpPr>
          <p:cNvPr id="29" name="Text 24"/>
          <p:cNvSpPr txBox="1"/>
          <p:nvPr/>
        </p:nvSpPr>
        <p:spPr>
          <a:xfrm>
            <a:off x="705002" y="3743554"/>
            <a:ext cx="2382012" cy="247802"/>
          </a:xfrm>
          <a:prstGeom prst="rect">
            <a:avLst/>
          </a:prstGeom>
          <a:noFill/>
          <a:ln/>
        </p:spPr>
        <p:txBody>
          <a:bodyPr wrap="none" lIns="0" tIns="0" rIns="0" bIns="0" rtlCol="0" anchor="ctr"/>
          <a:lstStyle/>
          <a:p>
            <a:pPr marL="0" indent="0" algn="ctr">
              <a:buNone/>
            </a:pPr>
            <a:r>
              <a:rPr lang="en-US" sz="1300" kern="0" spc="68" dirty="0">
                <a:solidFill>
                  <a:srgbClr val="1E293B"/>
                </a:solidFill>
                <a:latin typeface="Oswald" pitchFamily="34" charset="0"/>
                <a:ea typeface="Oswald" pitchFamily="34" charset="-122"/>
                <a:cs typeface="Oswald" pitchFamily="34" charset="-120"/>
              </a:rPr>
              <a:t>Skill Areas</a:t>
            </a:r>
            <a:endParaRPr lang="en-US" sz="1300" dirty="0"/>
          </a:p>
        </p:txBody>
      </p:sp>
      <p:sp>
        <p:nvSpPr>
          <p:cNvPr id="30" name="Text 25"/>
          <p:cNvSpPr txBox="1"/>
          <p:nvPr/>
        </p:nvSpPr>
        <p:spPr>
          <a:xfrm>
            <a:off x="705002" y="4028846"/>
            <a:ext cx="2382012" cy="152705"/>
          </a:xfrm>
          <a:prstGeom prst="rect">
            <a:avLst/>
          </a:prstGeom>
          <a:noFill/>
          <a:ln/>
        </p:spPr>
        <p:txBody>
          <a:bodyPr wrap="none" lIns="0" tIns="0" rIns="0" bIns="0" rtlCol="0" anchor="ctr"/>
          <a:lstStyle/>
          <a:p>
            <a:pPr marL="0" indent="0" algn="ctr">
              <a:buNone/>
            </a:pPr>
            <a:r>
              <a:rPr lang="en-US" sz="1000" dirty="0">
                <a:solidFill>
                  <a:srgbClr val="64748B"/>
                </a:solidFill>
                <a:latin typeface="Raleway" pitchFamily="34" charset="0"/>
                <a:ea typeface="Raleway" pitchFamily="34" charset="-122"/>
                <a:cs typeface="Raleway" pitchFamily="34" charset="-120"/>
              </a:rPr>
              <a:t>in play</a:t>
            </a:r>
            <a:endParaRPr lang="en-US" sz="1000" dirty="0"/>
          </a:p>
        </p:txBody>
      </p:sp>
      <p:sp>
        <p:nvSpPr>
          <p:cNvPr id="31" name="Text 26"/>
          <p:cNvSpPr txBox="1"/>
          <p:nvPr/>
        </p:nvSpPr>
        <p:spPr>
          <a:xfrm>
            <a:off x="2776118" y="3286354"/>
            <a:ext cx="3762756" cy="342900"/>
          </a:xfrm>
          <a:prstGeom prst="rect">
            <a:avLst/>
          </a:prstGeom>
          <a:noFill/>
          <a:ln/>
        </p:spPr>
        <p:txBody>
          <a:bodyPr wrap="none" lIns="0" tIns="0" rIns="0" bIns="0" rtlCol="0" anchor="ctr"/>
          <a:lstStyle/>
          <a:p>
            <a:pPr marL="0" indent="0" algn="ctr">
              <a:buNone/>
            </a:pPr>
            <a:r>
              <a:rPr lang="en-US" sz="2700" b="1" dirty="0">
                <a:solidFill>
                  <a:srgbClr val="475569"/>
                </a:solidFill>
                <a:latin typeface="Oswald" pitchFamily="34" charset="0"/>
                <a:ea typeface="Oswald" pitchFamily="34" charset="-122"/>
                <a:cs typeface="Oswald" pitchFamily="34" charset="-120"/>
              </a:rPr>
              <a:t>{{RELATIONSHIP_DURATION}}</a:t>
            </a:r>
            <a:endParaRPr lang="en-US" sz="2700" dirty="0"/>
          </a:p>
        </p:txBody>
      </p:sp>
      <p:sp>
        <p:nvSpPr>
          <p:cNvPr id="32" name="Text 27"/>
          <p:cNvSpPr txBox="1"/>
          <p:nvPr/>
        </p:nvSpPr>
        <p:spPr>
          <a:xfrm>
            <a:off x="3467405" y="3743554"/>
            <a:ext cx="2382012" cy="247802"/>
          </a:xfrm>
          <a:prstGeom prst="rect">
            <a:avLst/>
          </a:prstGeom>
          <a:noFill/>
          <a:ln/>
        </p:spPr>
        <p:txBody>
          <a:bodyPr wrap="none" lIns="0" tIns="0" rIns="0" bIns="0" rtlCol="0" anchor="ctr"/>
          <a:lstStyle/>
          <a:p>
            <a:pPr marL="0" indent="0" algn="ctr">
              <a:buNone/>
            </a:pPr>
            <a:r>
              <a:rPr lang="en-US" sz="1300" kern="0" spc="68" dirty="0">
                <a:solidFill>
                  <a:srgbClr val="1E293B"/>
                </a:solidFill>
                <a:latin typeface="Oswald" pitchFamily="34" charset="0"/>
                <a:ea typeface="Oswald" pitchFamily="34" charset="-122"/>
                <a:cs typeface="Oswald" pitchFamily="34" charset="-120"/>
              </a:rPr>
              <a:t>Partnering</a:t>
            </a:r>
            <a:endParaRPr lang="en-US" sz="1300" dirty="0"/>
          </a:p>
        </p:txBody>
      </p:sp>
      <p:sp>
        <p:nvSpPr>
          <p:cNvPr id="33" name="Text 28"/>
          <p:cNvSpPr txBox="1"/>
          <p:nvPr/>
        </p:nvSpPr>
        <p:spPr>
          <a:xfrm>
            <a:off x="3467405" y="4028846"/>
            <a:ext cx="2382012" cy="152705"/>
          </a:xfrm>
          <a:prstGeom prst="rect">
            <a:avLst/>
          </a:prstGeom>
          <a:noFill/>
          <a:ln/>
        </p:spPr>
        <p:txBody>
          <a:bodyPr wrap="none" lIns="0" tIns="0" rIns="0" bIns="0" rtlCol="0" anchor="ctr"/>
          <a:lstStyle/>
          <a:p>
            <a:pPr marL="0" indent="0" algn="ctr">
              <a:buNone/>
            </a:pPr>
            <a:r>
              <a:rPr lang="en-US" sz="1000" dirty="0">
                <a:solidFill>
                  <a:srgbClr val="64748B"/>
                </a:solidFill>
                <a:latin typeface="Raleway" pitchFamily="34" charset="0"/>
                <a:ea typeface="Raleway" pitchFamily="34" charset="-122"/>
                <a:cs typeface="Raleway" pitchFamily="34" charset="-120"/>
              </a:rPr>
              <a:t>with you</a:t>
            </a:r>
            <a:endParaRPr lang="en-US" sz="1000" dirty="0"/>
          </a:p>
        </p:txBody>
      </p:sp>
      <p:sp>
        <p:nvSpPr>
          <p:cNvPr id="34" name="Text 29"/>
          <p:cNvSpPr txBox="1"/>
          <p:nvPr/>
        </p:nvSpPr>
        <p:spPr>
          <a:xfrm>
            <a:off x="6829654" y="1524305"/>
            <a:ext cx="4506163" cy="286207"/>
          </a:xfrm>
          <a:prstGeom prst="rect">
            <a:avLst/>
          </a:prstGeom>
          <a:noFill/>
          <a:ln/>
        </p:spPr>
        <p:txBody>
          <a:bodyPr wrap="none" lIns="0" tIns="0" rIns="0" bIns="0" rtlCol="0" anchor="ctr"/>
          <a:lstStyle/>
          <a:p>
            <a:pPr marL="0" indent="0" algn="l">
              <a:buNone/>
            </a:pPr>
            <a:r>
              <a:rPr lang="en-US" sz="1500" b="1" kern="0" spc="75" dirty="0">
                <a:solidFill>
                  <a:srgbClr val="111827"/>
                </a:solidFill>
                <a:latin typeface="Oswald" pitchFamily="34" charset="0"/>
                <a:ea typeface="Oswald" pitchFamily="34" charset="-122"/>
                <a:cs typeface="Oswald" pitchFamily="34" charset="-120"/>
              </a:rPr>
              <a:t>The Breakdown</a:t>
            </a:r>
            <a:endParaRPr lang="en-US" sz="1500" dirty="0"/>
          </a:p>
        </p:txBody>
      </p:sp>
      <p:pic>
        <p:nvPicPr>
          <p:cNvPr id="35" name="Image 3" descr="gen-dedup-cc03a38677d8cd903f28141331a618ab.png"/>
          <p:cNvPicPr>
            <a:picLocks noChangeAspect="1"/>
          </p:cNvPicPr>
          <p:nvPr/>
        </p:nvPicPr>
        <p:blipFill>
          <a:blip r:embed="rId6"/>
          <a:srcRect t="-16102" b="-16102"/>
          <a:stretch/>
        </p:blipFill>
        <p:spPr>
          <a:xfrm>
            <a:off x="6572707" y="1585570"/>
            <a:ext cx="161849" cy="190195"/>
          </a:xfrm>
          <a:prstGeom prst="rect">
            <a:avLst/>
          </a:prstGeom>
        </p:spPr>
      </p:pic>
      <p:sp>
        <p:nvSpPr>
          <p:cNvPr id="36" name="Text 30"/>
          <p:cNvSpPr txBox="1"/>
          <p:nvPr/>
        </p:nvSpPr>
        <p:spPr>
          <a:xfrm>
            <a:off x="6572707" y="2000707"/>
            <a:ext cx="4763110" cy="228600"/>
          </a:xfrm>
          <a:prstGeom prst="rect">
            <a:avLst/>
          </a:prstGeom>
          <a:noFill/>
          <a:ln/>
        </p:spPr>
        <p:txBody>
          <a:bodyPr wrap="none" lIns="0" tIns="0" rIns="0" bIns="0" rtlCol="0" anchor="ctr"/>
          <a:lstStyle/>
          <a:p>
            <a:pPr marL="0" indent="0" algn="l">
              <a:buNone/>
            </a:pPr>
            <a:r>
              <a:rPr lang="en-US" sz="1200" b="1" kern="0" spc="60" dirty="0">
                <a:solidFill>
                  <a:srgbClr val="2A9D8F"/>
                </a:solidFill>
                <a:latin typeface="Oswald" pitchFamily="34" charset="0"/>
                <a:ea typeface="Oswald" pitchFamily="34" charset="-122"/>
                <a:cs typeface="Oswald" pitchFamily="34" charset="-120"/>
              </a:rPr>
              <a:t>Skills deployed with {{CLIENT_NAME}}</a:t>
            </a:r>
            <a:endParaRPr lang="en-US" sz="1200" dirty="0"/>
          </a:p>
        </p:txBody>
      </p:sp>
      <p:sp>
        <p:nvSpPr>
          <p:cNvPr id="37" name="Text 31"/>
          <p:cNvSpPr txBox="1"/>
          <p:nvPr/>
        </p:nvSpPr>
        <p:spPr>
          <a:xfrm>
            <a:off x="6572707" y="2305202"/>
            <a:ext cx="4763110" cy="219456"/>
          </a:xfrm>
          <a:prstGeom prst="rect">
            <a:avLst/>
          </a:prstGeom>
          <a:noFill/>
          <a:ln/>
        </p:spPr>
        <p:txBody>
          <a:bodyPr wrap="none" lIns="0" tIns="0" rIns="0" bIns="0" rtlCol="0" anchor="ctr"/>
          <a:lstStyle/>
          <a:p>
            <a:pPr marL="0" indent="0" algn="l">
              <a:buNone/>
            </a:pPr>
            <a:r>
              <a:rPr lang="en-US" sz="1100" dirty="0">
                <a:solidFill>
                  <a:srgbClr val="475569"/>
                </a:solidFill>
                <a:latin typeface="Raleway" pitchFamily="34" charset="0"/>
                <a:ea typeface="Raleway" pitchFamily="34" charset="-122"/>
                <a:cs typeface="Raleway" pitchFamily="34" charset="-120"/>
              </a:rPr>
              <a:t>{{SKILLS_DEPLOYED}}</a:t>
            </a:r>
            <a:endParaRPr lang="en-US" sz="1100" dirty="0"/>
          </a:p>
        </p:txBody>
      </p:sp>
      <p:sp>
        <p:nvSpPr>
          <p:cNvPr id="38" name="Text 32"/>
          <p:cNvSpPr txBox="1"/>
          <p:nvPr/>
        </p:nvSpPr>
        <p:spPr>
          <a:xfrm>
            <a:off x="6572707" y="3286354"/>
            <a:ext cx="4763110" cy="228600"/>
          </a:xfrm>
          <a:prstGeom prst="rect">
            <a:avLst/>
          </a:prstGeom>
          <a:noFill/>
          <a:ln/>
        </p:spPr>
        <p:txBody>
          <a:bodyPr wrap="none" lIns="0" tIns="0" rIns="0" bIns="0" rtlCol="0" anchor="ctr"/>
          <a:lstStyle/>
          <a:p>
            <a:pPr marL="0" indent="0" algn="l">
              <a:buNone/>
            </a:pPr>
            <a:r>
              <a:rPr lang="en-US" sz="1200" b="1" kern="0" spc="60" dirty="0">
                <a:solidFill>
                  <a:srgbClr val="D62839"/>
                </a:solidFill>
                <a:latin typeface="Oswald" pitchFamily="34" charset="0"/>
                <a:ea typeface="Oswald" pitchFamily="34" charset="-122"/>
                <a:cs typeface="Oswald" pitchFamily="34" charset="-120"/>
              </a:rPr>
              <a:t>Divisions / teams we support</a:t>
            </a:r>
            <a:endParaRPr lang="en-US" sz="1200" dirty="0"/>
          </a:p>
        </p:txBody>
      </p:sp>
      <p:sp>
        <p:nvSpPr>
          <p:cNvPr id="39" name="Text 33"/>
          <p:cNvSpPr txBox="1"/>
          <p:nvPr/>
        </p:nvSpPr>
        <p:spPr>
          <a:xfrm>
            <a:off x="6572707" y="3590849"/>
            <a:ext cx="4763110" cy="219456"/>
          </a:xfrm>
          <a:prstGeom prst="rect">
            <a:avLst/>
          </a:prstGeom>
          <a:noFill/>
          <a:ln/>
        </p:spPr>
        <p:txBody>
          <a:bodyPr wrap="none" lIns="0" tIns="0" rIns="0" bIns="0" rtlCol="0" anchor="ctr"/>
          <a:lstStyle/>
          <a:p>
            <a:pPr marL="0" indent="0" algn="l">
              <a:buNone/>
            </a:pPr>
            <a:r>
              <a:rPr lang="en-US" sz="1100" dirty="0">
                <a:solidFill>
                  <a:srgbClr val="475569"/>
                </a:solidFill>
                <a:latin typeface="Raleway" pitchFamily="34" charset="0"/>
                <a:ea typeface="Raleway" pitchFamily="34" charset="-122"/>
                <a:cs typeface="Raleway" pitchFamily="34" charset="-120"/>
              </a:rPr>
              <a:t>{{DIVISIONS_SERVED}}</a:t>
            </a:r>
            <a:endParaRPr lang="en-US" sz="1100" dirty="0"/>
          </a:p>
        </p:txBody>
      </p:sp>
      <p:pic>
        <p:nvPicPr>
          <p:cNvPr id="40" name="Image 4" descr="gen-dedup-dbcac619fe3ddd58da49b71122d5e4ec.png"/>
          <p:cNvPicPr>
            <a:picLocks noChangeAspect="1"/>
          </p:cNvPicPr>
          <p:nvPr/>
        </p:nvPicPr>
        <p:blipFill>
          <a:blip r:embed="rId7"/>
          <a:srcRect t="-13131" b="-13131"/>
          <a:stretch/>
        </p:blipFill>
        <p:spPr>
          <a:xfrm>
            <a:off x="995782" y="5410505"/>
            <a:ext cx="181051" cy="228600"/>
          </a:xfrm>
          <a:prstGeom prst="rect">
            <a:avLst/>
          </a:prstGeom>
        </p:spPr>
      </p:pic>
      <p:sp>
        <p:nvSpPr>
          <p:cNvPr id="41" name="Text 34"/>
          <p:cNvSpPr txBox="1"/>
          <p:nvPr/>
        </p:nvSpPr>
        <p:spPr>
          <a:xfrm>
            <a:off x="1429207" y="5191049"/>
            <a:ext cx="9906610" cy="228600"/>
          </a:xfrm>
          <a:prstGeom prst="rect">
            <a:avLst/>
          </a:prstGeom>
          <a:noFill/>
          <a:ln/>
        </p:spPr>
        <p:txBody>
          <a:bodyPr wrap="none" lIns="0" tIns="0" rIns="0" bIns="0" rtlCol="0" anchor="ctr"/>
          <a:lstStyle/>
          <a:p>
            <a:pPr marL="0" indent="0" algn="l">
              <a:buNone/>
            </a:pPr>
            <a:r>
              <a:rPr lang="en-US" sz="1200" b="1" kern="0" spc="60" dirty="0">
                <a:solidFill>
                  <a:srgbClr val="94A3B8"/>
                </a:solidFill>
                <a:latin typeface="Oswald" pitchFamily="34" charset="0"/>
                <a:ea typeface="Oswald" pitchFamily="34" charset="-122"/>
                <a:cs typeface="Oswald" pitchFamily="34" charset="-120"/>
              </a:rPr>
              <a:t>Where we're expanding</a:t>
            </a:r>
            <a:endParaRPr lang="en-US" sz="1200" dirty="0"/>
          </a:p>
        </p:txBody>
      </p:sp>
      <p:sp>
        <p:nvSpPr>
          <p:cNvPr id="42" name="Text 35"/>
          <p:cNvSpPr txBox="1"/>
          <p:nvPr/>
        </p:nvSpPr>
        <p:spPr>
          <a:xfrm>
            <a:off x="1429207" y="5477256"/>
            <a:ext cx="9906610" cy="219456"/>
          </a:xfrm>
          <a:prstGeom prst="rect">
            <a:avLst/>
          </a:prstGeom>
          <a:noFill/>
          <a:ln/>
        </p:spPr>
        <p:txBody>
          <a:bodyPr wrap="none" lIns="0" tIns="0" rIns="0" bIns="0" rtlCol="0" anchor="ctr"/>
          <a:lstStyle/>
          <a:p>
            <a:pPr marL="0" indent="0" algn="l">
              <a:buNone/>
            </a:pPr>
            <a:r>
              <a:rPr lang="en-US" sz="1200" dirty="0">
                <a:solidFill>
                  <a:srgbClr val="FFFFFF"/>
                </a:solidFill>
                <a:latin typeface="Raleway" pitchFamily="34" charset="0"/>
                <a:ea typeface="Raleway" pitchFamily="34" charset="-122"/>
                <a:cs typeface="Raleway" pitchFamily="34" charset="-120"/>
              </a:rPr>
              <a:t>{{EXPANSION_AREAS}}</a:t>
            </a:r>
            <a:endParaRPr lang="en-US" sz="1200" dirty="0"/>
          </a:p>
        </p:txBody>
      </p:sp>
      <p:sp>
        <p:nvSpPr>
          <p:cNvPr id="43" name="Text 36"/>
          <p:cNvSpPr txBox="1"/>
          <p:nvPr/>
        </p:nvSpPr>
        <p:spPr>
          <a:xfrm>
            <a:off x="609905" y="6590995"/>
            <a:ext cx="10972800" cy="133502"/>
          </a:xfrm>
          <a:prstGeom prst="rect">
            <a:avLst/>
          </a:prstGeom>
          <a:noFill/>
          <a:ln/>
        </p:spPr>
        <p:txBody>
          <a:bodyPr wrap="none" lIns="0" tIns="0" rIns="0" bIns="0" rtlCol="0" anchor="ctr"/>
          <a:lstStyle/>
          <a:p>
            <a:pPr marL="0" indent="0" algn="ctr">
              <a:buNone/>
            </a:pPr>
            <a:r>
              <a:rPr lang="en-US" sz="900" kern="0" spc="45" dirty="0">
                <a:solidFill>
                  <a:srgbClr val="64748B"/>
                </a:solidFill>
                <a:latin typeface="Roboto Condensed" pitchFamily="34" charset="0"/>
                <a:ea typeface="Roboto Condensed" pitchFamily="34" charset="-122"/>
                <a:cs typeface="Roboto Condensed" pitchFamily="34" charset="-120"/>
              </a:rPr>
              <a:t>Account snapshot as of {{SNAPSHOT_DATE}}. Figures reflect current deployment.</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txBody>
          <a:bodyPr/>
          <a:lstStyle/>
          <a:p>
            <a:endParaRPr/>
          </a:p>
        </p:txBody>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txBody>
          <a:bodyPr/>
          <a:lstStyle/>
          <a:p>
            <a:endParaRPr/>
          </a:p>
        </p:txBody>
      </p:sp>
      <p:pic>
        <p:nvPicPr>
          <p:cNvPr id="4" name="Image 0" descr="gen-dedup-37abb9d8cc081a24feb608c288538026.png"/>
          <p:cNvPicPr>
            <a:picLocks noChangeAspect="1"/>
          </p:cNvPicPr>
          <p:nvPr/>
        </p:nvPicPr>
        <p:blipFill>
          <a:blip r:embed="rId3"/>
          <a:srcRect l="-198" r="-198"/>
          <a:stretch/>
        </p:blipFill>
        <p:spPr>
          <a:xfrm>
            <a:off x="0" y="0"/>
            <a:ext cx="8124444" cy="75895"/>
          </a:xfrm>
          <a:prstGeom prst="rect">
            <a:avLst/>
          </a:prstGeom>
        </p:spPr>
      </p:pic>
      <p:pic>
        <p:nvPicPr>
          <p:cNvPr id="5" name="Image 1" descr="gen-dedup-c2c9136402f20c216bf7cbcc052ad1a0.png"/>
          <p:cNvPicPr>
            <a:picLocks noChangeAspect="1"/>
          </p:cNvPicPr>
          <p:nvPr/>
        </p:nvPicPr>
        <p:blipFill>
          <a:blip r:embed="rId4"/>
          <a:srcRect l="-202" r="-202"/>
          <a:stretch/>
        </p:blipFill>
        <p:spPr>
          <a:xfrm>
            <a:off x="8124444" y="0"/>
            <a:ext cx="4067251" cy="75895"/>
          </a:xfrm>
          <a:prstGeom prst="rect">
            <a:avLst/>
          </a:prstGeom>
        </p:spPr>
      </p:pic>
      <p:sp>
        <p:nvSpPr>
          <p:cNvPr id="6" name="Shape 2"/>
          <p:cNvSpPr/>
          <p:nvPr/>
        </p:nvSpPr>
        <p:spPr>
          <a:xfrm>
            <a:off x="609905" y="1429207"/>
            <a:ext cx="5352898" cy="1714500"/>
          </a:xfrm>
          <a:prstGeom prst="roundRect">
            <a:avLst>
              <a:gd name="adj" fmla="val 4427"/>
            </a:avLst>
          </a:prstGeom>
          <a:solidFill>
            <a:srgbClr val="FFFFFF"/>
          </a:solidFill>
          <a:ln w="12700">
            <a:solidFill>
              <a:srgbClr val="E2E8F0"/>
            </a:solidFill>
            <a:prstDash val="solid"/>
          </a:ln>
          <a:effectLst>
            <a:outerShdw blurRad="63500" dist="38100" dir="16200000" algn="bl" rotWithShape="0">
              <a:srgbClr val="000000">
                <a:alpha val="2000"/>
              </a:srgbClr>
            </a:outerShdw>
          </a:effectLst>
        </p:spPr>
        <p:txBody>
          <a:bodyPr/>
          <a:lstStyle/>
          <a:p>
            <a:endParaRPr/>
          </a:p>
        </p:txBody>
      </p:sp>
      <p:sp>
        <p:nvSpPr>
          <p:cNvPr id="7" name="Shape 3"/>
          <p:cNvSpPr/>
          <p:nvPr/>
        </p:nvSpPr>
        <p:spPr>
          <a:xfrm>
            <a:off x="609905" y="1429207"/>
            <a:ext cx="5352898" cy="38405"/>
          </a:xfrm>
          <a:prstGeom prst="roundRect">
            <a:avLst>
              <a:gd name="adj" fmla="val 197618"/>
            </a:avLst>
          </a:prstGeom>
          <a:solidFill>
            <a:srgbClr val="D62839"/>
          </a:solidFill>
          <a:ln w="12700">
            <a:solidFill>
              <a:srgbClr val="D62839">
                <a:alpha val="0"/>
              </a:srgbClr>
            </a:solidFill>
            <a:prstDash val="solid"/>
          </a:ln>
        </p:spPr>
        <p:txBody>
          <a:bodyPr/>
          <a:lstStyle/>
          <a:p>
            <a:endParaRPr/>
          </a:p>
        </p:txBody>
      </p:sp>
      <p:sp>
        <p:nvSpPr>
          <p:cNvPr id="8" name="Shape 4"/>
          <p:cNvSpPr/>
          <p:nvPr/>
        </p:nvSpPr>
        <p:spPr>
          <a:xfrm>
            <a:off x="6248095" y="1429207"/>
            <a:ext cx="5352898" cy="1714500"/>
          </a:xfrm>
          <a:prstGeom prst="roundRect">
            <a:avLst>
              <a:gd name="adj" fmla="val 4427"/>
            </a:avLst>
          </a:prstGeom>
          <a:solidFill>
            <a:srgbClr val="FFFFFF"/>
          </a:solidFill>
          <a:ln w="12700">
            <a:solidFill>
              <a:srgbClr val="E2E8F0"/>
            </a:solidFill>
            <a:prstDash val="solid"/>
          </a:ln>
          <a:effectLst>
            <a:outerShdw blurRad="63500" dist="38100" dir="16200000" algn="bl" rotWithShape="0">
              <a:srgbClr val="000000">
                <a:alpha val="2000"/>
              </a:srgbClr>
            </a:outerShdw>
          </a:effectLst>
        </p:spPr>
        <p:txBody>
          <a:bodyPr/>
          <a:lstStyle/>
          <a:p>
            <a:endParaRPr/>
          </a:p>
        </p:txBody>
      </p:sp>
      <p:sp>
        <p:nvSpPr>
          <p:cNvPr id="9" name="Shape 5"/>
          <p:cNvSpPr/>
          <p:nvPr/>
        </p:nvSpPr>
        <p:spPr>
          <a:xfrm>
            <a:off x="6248095" y="1429207"/>
            <a:ext cx="5352898" cy="38405"/>
          </a:xfrm>
          <a:prstGeom prst="roundRect">
            <a:avLst>
              <a:gd name="adj" fmla="val 197618"/>
            </a:avLst>
          </a:prstGeom>
          <a:solidFill>
            <a:srgbClr val="2A9D8F"/>
          </a:solidFill>
          <a:ln w="12700">
            <a:solidFill>
              <a:srgbClr val="2A9D8F">
                <a:alpha val="0"/>
              </a:srgbClr>
            </a:solidFill>
            <a:prstDash val="solid"/>
          </a:ln>
        </p:spPr>
        <p:txBody>
          <a:bodyPr/>
          <a:lstStyle/>
          <a:p>
            <a:endParaRPr/>
          </a:p>
        </p:txBody>
      </p:sp>
      <p:sp>
        <p:nvSpPr>
          <p:cNvPr id="10" name="Shape 6"/>
          <p:cNvSpPr/>
          <p:nvPr/>
        </p:nvSpPr>
        <p:spPr>
          <a:xfrm>
            <a:off x="609905" y="3286354"/>
            <a:ext cx="5352898" cy="1714500"/>
          </a:xfrm>
          <a:prstGeom prst="roundRect">
            <a:avLst>
              <a:gd name="adj" fmla="val 4427"/>
            </a:avLst>
          </a:prstGeom>
          <a:solidFill>
            <a:srgbClr val="FFFFFF"/>
          </a:solidFill>
          <a:ln w="12700">
            <a:solidFill>
              <a:srgbClr val="E2E8F0"/>
            </a:solidFill>
            <a:prstDash val="solid"/>
          </a:ln>
          <a:effectLst>
            <a:outerShdw blurRad="63500" dist="38100" dir="16200000" algn="bl" rotWithShape="0">
              <a:srgbClr val="000000">
                <a:alpha val="2000"/>
              </a:srgbClr>
            </a:outerShdw>
          </a:effectLst>
        </p:spPr>
        <p:txBody>
          <a:bodyPr/>
          <a:lstStyle/>
          <a:p>
            <a:endParaRPr/>
          </a:p>
        </p:txBody>
      </p:sp>
      <p:sp>
        <p:nvSpPr>
          <p:cNvPr id="11" name="Shape 7"/>
          <p:cNvSpPr/>
          <p:nvPr/>
        </p:nvSpPr>
        <p:spPr>
          <a:xfrm>
            <a:off x="609905" y="3286354"/>
            <a:ext cx="5352898" cy="38405"/>
          </a:xfrm>
          <a:prstGeom prst="roundRect">
            <a:avLst>
              <a:gd name="adj" fmla="val 197618"/>
            </a:avLst>
          </a:prstGeom>
          <a:solidFill>
            <a:srgbClr val="0F172A"/>
          </a:solidFill>
          <a:ln w="12700">
            <a:solidFill>
              <a:srgbClr val="0F172A">
                <a:alpha val="0"/>
              </a:srgbClr>
            </a:solidFill>
            <a:prstDash val="solid"/>
          </a:ln>
        </p:spPr>
        <p:txBody>
          <a:bodyPr/>
          <a:lstStyle/>
          <a:p>
            <a:endParaRPr/>
          </a:p>
        </p:txBody>
      </p:sp>
      <p:sp>
        <p:nvSpPr>
          <p:cNvPr id="12" name="Shape 8"/>
          <p:cNvSpPr/>
          <p:nvPr/>
        </p:nvSpPr>
        <p:spPr>
          <a:xfrm>
            <a:off x="6248095" y="3286354"/>
            <a:ext cx="5352898" cy="1714500"/>
          </a:xfrm>
          <a:prstGeom prst="roundRect">
            <a:avLst>
              <a:gd name="adj" fmla="val 4427"/>
            </a:avLst>
          </a:prstGeom>
          <a:solidFill>
            <a:srgbClr val="FFFFFF"/>
          </a:solidFill>
          <a:ln w="12700">
            <a:solidFill>
              <a:srgbClr val="E2E8F0"/>
            </a:solidFill>
            <a:prstDash val="solid"/>
          </a:ln>
          <a:effectLst>
            <a:outerShdw blurRad="63500" dist="38100" dir="16200000" algn="bl" rotWithShape="0">
              <a:srgbClr val="000000">
                <a:alpha val="2000"/>
              </a:srgbClr>
            </a:outerShdw>
          </a:effectLst>
        </p:spPr>
        <p:txBody>
          <a:bodyPr/>
          <a:lstStyle/>
          <a:p>
            <a:endParaRPr/>
          </a:p>
        </p:txBody>
      </p:sp>
      <p:sp>
        <p:nvSpPr>
          <p:cNvPr id="13" name="Shape 9"/>
          <p:cNvSpPr/>
          <p:nvPr/>
        </p:nvSpPr>
        <p:spPr>
          <a:xfrm>
            <a:off x="6248095" y="3286354"/>
            <a:ext cx="5352898" cy="38405"/>
          </a:xfrm>
          <a:prstGeom prst="roundRect">
            <a:avLst>
              <a:gd name="adj" fmla="val 197618"/>
            </a:avLst>
          </a:prstGeom>
          <a:solidFill>
            <a:srgbClr val="D62839"/>
          </a:solidFill>
          <a:ln w="12700">
            <a:solidFill>
              <a:srgbClr val="D62839">
                <a:alpha val="0"/>
              </a:srgbClr>
            </a:solidFill>
            <a:prstDash val="solid"/>
          </a:ln>
        </p:spPr>
        <p:txBody>
          <a:bodyPr/>
          <a:lstStyle/>
          <a:p>
            <a:endParaRPr/>
          </a:p>
        </p:txBody>
      </p:sp>
      <p:sp>
        <p:nvSpPr>
          <p:cNvPr id="14" name="Shape 10"/>
          <p:cNvSpPr/>
          <p:nvPr/>
        </p:nvSpPr>
        <p:spPr>
          <a:xfrm>
            <a:off x="609905" y="5143500"/>
            <a:ext cx="10992002" cy="1209751"/>
          </a:xfrm>
          <a:prstGeom prst="roundRect">
            <a:avLst>
              <a:gd name="adj" fmla="val 6274"/>
            </a:avLst>
          </a:prstGeom>
          <a:solidFill>
            <a:srgbClr val="FFFFFF"/>
          </a:solidFill>
          <a:ln w="12700">
            <a:solidFill>
              <a:srgbClr val="E2E8F0"/>
            </a:solidFill>
            <a:prstDash val="solid"/>
          </a:ln>
        </p:spPr>
        <p:txBody>
          <a:bodyPr/>
          <a:lstStyle/>
          <a:p>
            <a:endParaRPr/>
          </a:p>
        </p:txBody>
      </p:sp>
      <p:sp>
        <p:nvSpPr>
          <p:cNvPr id="15" name="Shape 11"/>
          <p:cNvSpPr/>
          <p:nvPr/>
        </p:nvSpPr>
        <p:spPr>
          <a:xfrm>
            <a:off x="0" y="6524244"/>
            <a:ext cx="12191695" cy="333756"/>
          </a:xfrm>
          <a:prstGeom prst="rect">
            <a:avLst/>
          </a:prstGeom>
          <a:solidFill>
            <a:srgbClr val="0F172A"/>
          </a:solidFill>
          <a:ln w="12700">
            <a:solidFill>
              <a:srgbClr val="FFFFFF">
                <a:alpha val="0"/>
              </a:srgbClr>
            </a:solidFill>
            <a:prstDash val="solid"/>
          </a:ln>
        </p:spPr>
        <p:txBody>
          <a:bodyPr/>
          <a:lstStyle/>
          <a:p>
            <a:endParaRPr/>
          </a:p>
        </p:txBody>
      </p:sp>
      <p:pic>
        <p:nvPicPr>
          <p:cNvPr id="16" name="Image 2" descr="gen-dedup-9e1ed4da20056223109aa9f3d45d8bb8.png"/>
          <p:cNvPicPr>
            <a:picLocks noChangeAspect="1"/>
          </p:cNvPicPr>
          <p:nvPr/>
        </p:nvPicPr>
        <p:blipFill>
          <a:blip r:embed="rId5">
            <a:alphaModFix amt="5000"/>
          </a:blip>
          <a:srcRect t="-30592" b="-30592"/>
          <a:stretch/>
        </p:blipFill>
        <p:spPr>
          <a:xfrm>
            <a:off x="5038344" y="1619402"/>
            <a:ext cx="590702" cy="761695"/>
          </a:xfrm>
          <a:prstGeom prst="rect">
            <a:avLst/>
          </a:prstGeom>
        </p:spPr>
      </p:pic>
      <p:pic>
        <p:nvPicPr>
          <p:cNvPr id="17" name="Image 3" descr="gen-dedup-17bc0787c1b36187c8ab14173199299f.png"/>
          <p:cNvPicPr>
            <a:picLocks noChangeAspect="1"/>
          </p:cNvPicPr>
          <p:nvPr/>
        </p:nvPicPr>
        <p:blipFill>
          <a:blip r:embed="rId6">
            <a:alphaModFix amt="5000"/>
          </a:blip>
          <a:srcRect t="-6414" b="-6414"/>
          <a:stretch/>
        </p:blipFill>
        <p:spPr>
          <a:xfrm>
            <a:off x="10677449" y="1619402"/>
            <a:ext cx="590702" cy="761695"/>
          </a:xfrm>
          <a:prstGeom prst="rect">
            <a:avLst/>
          </a:prstGeom>
        </p:spPr>
      </p:pic>
      <p:pic>
        <p:nvPicPr>
          <p:cNvPr id="18" name="Image 4" descr="gen-dedup-b6bb36cbad264febc86a95b28c85fed2.png"/>
          <p:cNvPicPr>
            <a:picLocks noChangeAspect="1"/>
          </p:cNvPicPr>
          <p:nvPr/>
        </p:nvPicPr>
        <p:blipFill>
          <a:blip r:embed="rId7">
            <a:alphaModFix amt="5000"/>
          </a:blip>
          <a:srcRect t="-14474" b="-14474"/>
          <a:stretch/>
        </p:blipFill>
        <p:spPr>
          <a:xfrm>
            <a:off x="5038344" y="3476549"/>
            <a:ext cx="590702" cy="761695"/>
          </a:xfrm>
          <a:prstGeom prst="rect">
            <a:avLst/>
          </a:prstGeom>
        </p:spPr>
      </p:pic>
      <p:pic>
        <p:nvPicPr>
          <p:cNvPr id="19" name="Image 5" descr="gen-dedup-4f6cdd70b910d388d0cde1ca143fc326.png"/>
          <p:cNvPicPr>
            <a:picLocks noChangeAspect="1"/>
          </p:cNvPicPr>
          <p:nvPr/>
        </p:nvPicPr>
        <p:blipFill>
          <a:blip r:embed="rId8">
            <a:alphaModFix amt="5000"/>
          </a:blip>
          <a:srcRect t="-14474" b="-14474"/>
          <a:stretch/>
        </p:blipFill>
        <p:spPr>
          <a:xfrm>
            <a:off x="10677449" y="3476549"/>
            <a:ext cx="590702" cy="761695"/>
          </a:xfrm>
          <a:prstGeom prst="rect">
            <a:avLst/>
          </a:prstGeom>
        </p:spPr>
      </p:pic>
      <p:pic>
        <p:nvPicPr>
          <p:cNvPr id="20" name="Image 6" descr="gen-dedup-c86e8c174ca8fa1030f905d340dc1437.png"/>
          <p:cNvPicPr>
            <a:picLocks noChangeAspect="1"/>
          </p:cNvPicPr>
          <p:nvPr/>
        </p:nvPicPr>
        <p:blipFill>
          <a:blip r:embed="rId9"/>
          <a:srcRect l="-400" r="-400"/>
          <a:stretch/>
        </p:blipFill>
        <p:spPr>
          <a:xfrm>
            <a:off x="609905" y="390449"/>
            <a:ext cx="57607" cy="571500"/>
          </a:xfrm>
          <a:prstGeom prst="rect">
            <a:avLst/>
          </a:prstGeom>
        </p:spPr>
      </p:pic>
      <p:sp>
        <p:nvSpPr>
          <p:cNvPr id="21" name="Text 12"/>
          <p:cNvSpPr txBox="1"/>
          <p:nvPr/>
        </p:nvSpPr>
        <p:spPr>
          <a:xfrm>
            <a:off x="819302" y="295351"/>
            <a:ext cx="10478110" cy="419710"/>
          </a:xfrm>
          <a:prstGeom prst="rect">
            <a:avLst/>
          </a:prstGeom>
          <a:noFill/>
          <a:ln/>
        </p:spPr>
        <p:txBody>
          <a:bodyPr wrap="none" lIns="0" tIns="0" rIns="0" bIns="0" rtlCol="0" anchor="ctr"/>
          <a:lstStyle/>
          <a:p>
            <a:pPr marL="0" indent="0" algn="l">
              <a:buNone/>
            </a:pPr>
            <a:r>
              <a:rPr lang="en-US" sz="2700" b="1" dirty="0">
                <a:solidFill>
                  <a:srgbClr val="111827"/>
                </a:solidFill>
                <a:latin typeface="Oswald" pitchFamily="34" charset="0"/>
                <a:ea typeface="Oswald" pitchFamily="34" charset="-122"/>
                <a:cs typeface="Oswald" pitchFamily="34" charset="-120"/>
              </a:rPr>
              <a:t>OUR STRENGTH IN {{SKILL_AREA}}</a:t>
            </a:r>
            <a:endParaRPr lang="en-US" sz="2700" dirty="0"/>
          </a:p>
        </p:txBody>
      </p:sp>
      <p:sp>
        <p:nvSpPr>
          <p:cNvPr id="22" name="Text 13"/>
          <p:cNvSpPr txBox="1"/>
          <p:nvPr/>
        </p:nvSpPr>
        <p:spPr>
          <a:xfrm>
            <a:off x="819302" y="744322"/>
            <a:ext cx="10478110" cy="247802"/>
          </a:xfrm>
          <a:prstGeom prst="rect">
            <a:avLst/>
          </a:prstGeom>
          <a:noFill/>
          <a:ln/>
        </p:spPr>
        <p:txBody>
          <a:bodyPr wrap="none" lIns="0" tIns="0" rIns="0" bIns="0" rtlCol="0" anchor="ctr"/>
          <a:lstStyle/>
          <a:p>
            <a:pPr marL="0" indent="0" algn="l">
              <a:buNone/>
            </a:pPr>
            <a:r>
              <a:rPr lang="en-US" sz="1300" b="1" dirty="0">
                <a:solidFill>
                  <a:srgbClr val="475569"/>
                </a:solidFill>
                <a:latin typeface="Raleway" pitchFamily="34" charset="0"/>
                <a:ea typeface="Raleway" pitchFamily="34" charset="-122"/>
                <a:cs typeface="Raleway" pitchFamily="34" charset="-120"/>
              </a:rPr>
              <a:t>Proven {{SKILL_AREA}} capability, ready to deploy</a:t>
            </a:r>
            <a:endParaRPr lang="en-US" sz="1300" dirty="0"/>
          </a:p>
        </p:txBody>
      </p:sp>
      <p:sp>
        <p:nvSpPr>
          <p:cNvPr id="23" name="Text 14"/>
          <p:cNvSpPr txBox="1"/>
          <p:nvPr/>
        </p:nvSpPr>
        <p:spPr>
          <a:xfrm>
            <a:off x="895198" y="1571854"/>
            <a:ext cx="6540703" cy="553212"/>
          </a:xfrm>
          <a:prstGeom prst="rect">
            <a:avLst/>
          </a:prstGeom>
          <a:noFill/>
          <a:ln/>
        </p:spPr>
        <p:txBody>
          <a:bodyPr wrap="none" lIns="0" tIns="0" rIns="0" bIns="0" rtlCol="0" anchor="ctr"/>
          <a:lstStyle/>
          <a:p>
            <a:pPr marL="0" indent="0" algn="l">
              <a:buNone/>
            </a:pPr>
            <a:r>
              <a:rPr lang="en-US" sz="3900" b="1" kern="0" spc="-39" dirty="0">
                <a:solidFill>
                  <a:srgbClr val="D62839"/>
                </a:solidFill>
                <a:latin typeface="Oswald" pitchFamily="34" charset="0"/>
                <a:ea typeface="Oswald" pitchFamily="34" charset="-122"/>
                <a:cs typeface="Oswald" pitchFamily="34" charset="-120"/>
              </a:rPr>
              <a:t>{{TOTAL_CONSULTANTS}}</a:t>
            </a:r>
            <a:endParaRPr lang="en-US" sz="3900" dirty="0"/>
          </a:p>
        </p:txBody>
      </p:sp>
      <p:sp>
        <p:nvSpPr>
          <p:cNvPr id="24" name="Text 15"/>
          <p:cNvSpPr txBox="1"/>
          <p:nvPr/>
        </p:nvSpPr>
        <p:spPr>
          <a:xfrm>
            <a:off x="895198" y="2192731"/>
            <a:ext cx="4763110" cy="267005"/>
          </a:xfrm>
          <a:prstGeom prst="rect">
            <a:avLst/>
          </a:prstGeom>
          <a:noFill/>
          <a:ln/>
        </p:spPr>
        <p:txBody>
          <a:bodyPr wrap="none" lIns="0" tIns="0" rIns="0" bIns="0" rtlCol="0" anchor="ctr"/>
          <a:lstStyle/>
          <a:p>
            <a:pPr marL="0" indent="0" algn="l">
              <a:buNone/>
            </a:pPr>
            <a:r>
              <a:rPr lang="en-US" sz="1400" b="1" kern="0" spc="71" dirty="0">
                <a:solidFill>
                  <a:srgbClr val="1E293B"/>
                </a:solidFill>
                <a:latin typeface="Oswald" pitchFamily="34" charset="0"/>
                <a:ea typeface="Oswald" pitchFamily="34" charset="-122"/>
                <a:cs typeface="Oswald" pitchFamily="34" charset="-120"/>
              </a:rPr>
              <a:t>Specialists Across J2W</a:t>
            </a:r>
            <a:endParaRPr lang="en-US" sz="1400" dirty="0"/>
          </a:p>
        </p:txBody>
      </p:sp>
      <p:sp>
        <p:nvSpPr>
          <p:cNvPr id="25" name="Text 16"/>
          <p:cNvSpPr txBox="1"/>
          <p:nvPr/>
        </p:nvSpPr>
        <p:spPr>
          <a:xfrm>
            <a:off x="6534302" y="1571854"/>
            <a:ext cx="5030114" cy="553212"/>
          </a:xfrm>
          <a:prstGeom prst="rect">
            <a:avLst/>
          </a:prstGeom>
          <a:noFill/>
          <a:ln/>
        </p:spPr>
        <p:txBody>
          <a:bodyPr wrap="none" lIns="0" tIns="0" rIns="0" bIns="0" rtlCol="0" anchor="ctr"/>
          <a:lstStyle/>
          <a:p>
            <a:pPr marL="0" indent="0" algn="l">
              <a:buNone/>
            </a:pPr>
            <a:r>
              <a:rPr lang="en-US" sz="3900" b="1" kern="0" spc="-39" dirty="0">
                <a:solidFill>
                  <a:srgbClr val="2A9D8F"/>
                </a:solidFill>
                <a:latin typeface="Oswald" pitchFamily="34" charset="0"/>
                <a:ea typeface="Oswald" pitchFamily="34" charset="-122"/>
                <a:cs typeface="Oswald" pitchFamily="34" charset="-120"/>
              </a:rPr>
              <a:t>{{EXPERT_COUNT}}</a:t>
            </a:r>
            <a:endParaRPr lang="en-US" sz="3900" dirty="0"/>
          </a:p>
        </p:txBody>
      </p:sp>
      <p:sp>
        <p:nvSpPr>
          <p:cNvPr id="26" name="Text 17"/>
          <p:cNvSpPr txBox="1"/>
          <p:nvPr/>
        </p:nvSpPr>
        <p:spPr>
          <a:xfrm>
            <a:off x="6534302" y="2192731"/>
            <a:ext cx="4763110" cy="267005"/>
          </a:xfrm>
          <a:prstGeom prst="rect">
            <a:avLst/>
          </a:prstGeom>
          <a:noFill/>
          <a:ln/>
        </p:spPr>
        <p:txBody>
          <a:bodyPr wrap="none" lIns="0" tIns="0" rIns="0" bIns="0" rtlCol="0" anchor="ctr"/>
          <a:lstStyle/>
          <a:p>
            <a:pPr marL="0" indent="0" algn="l">
              <a:buNone/>
            </a:pPr>
            <a:r>
              <a:rPr lang="en-US" sz="1400" b="1" kern="0" spc="71" dirty="0">
                <a:solidFill>
                  <a:srgbClr val="1E293B"/>
                </a:solidFill>
                <a:latin typeface="Oswald" pitchFamily="34" charset="0"/>
                <a:ea typeface="Oswald" pitchFamily="34" charset="-122"/>
                <a:cs typeface="Oswald" pitchFamily="34" charset="-120"/>
              </a:rPr>
              <a:t>Senior / Expert-Level</a:t>
            </a:r>
            <a:endParaRPr lang="en-US" sz="1400" dirty="0"/>
          </a:p>
        </p:txBody>
      </p:sp>
      <p:sp>
        <p:nvSpPr>
          <p:cNvPr id="27" name="Text 18"/>
          <p:cNvSpPr txBox="1"/>
          <p:nvPr/>
        </p:nvSpPr>
        <p:spPr>
          <a:xfrm>
            <a:off x="895198" y="3429000"/>
            <a:ext cx="6540703" cy="553212"/>
          </a:xfrm>
          <a:prstGeom prst="rect">
            <a:avLst/>
          </a:prstGeom>
          <a:noFill/>
          <a:ln/>
        </p:spPr>
        <p:txBody>
          <a:bodyPr wrap="none" lIns="0" tIns="0" rIns="0" bIns="0" rtlCol="0" anchor="ctr"/>
          <a:lstStyle/>
          <a:p>
            <a:pPr marL="0" indent="0" algn="l">
              <a:buNone/>
            </a:pPr>
            <a:r>
              <a:rPr lang="en-US" sz="3900" b="1" kern="0" spc="-39" dirty="0">
                <a:solidFill>
                  <a:srgbClr val="0F172A"/>
                </a:solidFill>
                <a:latin typeface="Oswald" pitchFamily="34" charset="0"/>
                <a:ea typeface="Oswald" pitchFamily="34" charset="-122"/>
                <a:cs typeface="Oswald" pitchFamily="34" charset="-120"/>
              </a:rPr>
              <a:t>{{AVG_RAMP_UP}} </a:t>
            </a:r>
            <a:r>
              <a:rPr lang="en-US" sz="2100" b="1" kern="0" spc="-39" dirty="0">
                <a:solidFill>
                  <a:srgbClr val="64748B"/>
                </a:solidFill>
                <a:latin typeface="Oswald" pitchFamily="34" charset="0"/>
                <a:ea typeface="Oswald" pitchFamily="34" charset="-122"/>
                <a:cs typeface="Oswald" pitchFamily="34" charset="-120"/>
              </a:rPr>
              <a:t>WEEKS</a:t>
            </a:r>
            <a:endParaRPr lang="en-US" sz="3900" dirty="0"/>
          </a:p>
        </p:txBody>
      </p:sp>
      <p:sp>
        <p:nvSpPr>
          <p:cNvPr id="28" name="Text 19"/>
          <p:cNvSpPr txBox="1"/>
          <p:nvPr/>
        </p:nvSpPr>
        <p:spPr>
          <a:xfrm>
            <a:off x="895198" y="4049878"/>
            <a:ext cx="4763110" cy="267005"/>
          </a:xfrm>
          <a:prstGeom prst="rect">
            <a:avLst/>
          </a:prstGeom>
          <a:noFill/>
          <a:ln/>
        </p:spPr>
        <p:txBody>
          <a:bodyPr wrap="none" lIns="0" tIns="0" rIns="0" bIns="0" rtlCol="0" anchor="ctr"/>
          <a:lstStyle/>
          <a:p>
            <a:pPr marL="0" indent="0" algn="l">
              <a:buNone/>
            </a:pPr>
            <a:r>
              <a:rPr lang="en-US" sz="1400" b="1" kern="0" spc="71" dirty="0">
                <a:solidFill>
                  <a:srgbClr val="1E293B"/>
                </a:solidFill>
                <a:latin typeface="Oswald" pitchFamily="34" charset="0"/>
                <a:ea typeface="Oswald" pitchFamily="34" charset="-122"/>
                <a:cs typeface="Oswald" pitchFamily="34" charset="-120"/>
              </a:rPr>
              <a:t>Average Ramp-Up Time</a:t>
            </a:r>
            <a:endParaRPr lang="en-US" sz="1400" dirty="0"/>
          </a:p>
        </p:txBody>
      </p:sp>
      <p:sp>
        <p:nvSpPr>
          <p:cNvPr id="29" name="Text 20"/>
          <p:cNvSpPr txBox="1"/>
          <p:nvPr/>
        </p:nvSpPr>
        <p:spPr>
          <a:xfrm>
            <a:off x="6534302" y="3429000"/>
            <a:ext cx="5331866" cy="553212"/>
          </a:xfrm>
          <a:prstGeom prst="rect">
            <a:avLst/>
          </a:prstGeom>
          <a:noFill/>
          <a:ln/>
        </p:spPr>
        <p:txBody>
          <a:bodyPr wrap="none" lIns="0" tIns="0" rIns="0" bIns="0" rtlCol="0" anchor="ctr"/>
          <a:lstStyle/>
          <a:p>
            <a:pPr marL="0" indent="0" algn="l">
              <a:buNone/>
            </a:pPr>
            <a:r>
              <a:rPr lang="en-US" sz="3900" b="1" kern="0" spc="-39" dirty="0">
                <a:solidFill>
                  <a:srgbClr val="D62839"/>
                </a:solidFill>
                <a:latin typeface="Oswald" pitchFamily="34" charset="0"/>
                <a:ea typeface="Oswald" pitchFamily="34" charset="-122"/>
                <a:cs typeface="Oswald" pitchFamily="34" charset="-120"/>
              </a:rPr>
              <a:t>{{AVAILABLE_NOW}}</a:t>
            </a:r>
            <a:endParaRPr lang="en-US" sz="3900" dirty="0"/>
          </a:p>
        </p:txBody>
      </p:sp>
      <p:sp>
        <p:nvSpPr>
          <p:cNvPr id="30" name="Text 21"/>
          <p:cNvSpPr txBox="1"/>
          <p:nvPr/>
        </p:nvSpPr>
        <p:spPr>
          <a:xfrm>
            <a:off x="6534302" y="4049878"/>
            <a:ext cx="4763110" cy="267005"/>
          </a:xfrm>
          <a:prstGeom prst="rect">
            <a:avLst/>
          </a:prstGeom>
          <a:noFill/>
          <a:ln/>
        </p:spPr>
        <p:txBody>
          <a:bodyPr wrap="none" lIns="0" tIns="0" rIns="0" bIns="0" rtlCol="0" anchor="ctr"/>
          <a:lstStyle/>
          <a:p>
            <a:pPr marL="0" indent="0" algn="l">
              <a:buNone/>
            </a:pPr>
            <a:r>
              <a:rPr lang="en-US" sz="1400" b="1" kern="0" spc="71" dirty="0">
                <a:solidFill>
                  <a:srgbClr val="1E293B"/>
                </a:solidFill>
                <a:latin typeface="Oswald" pitchFamily="34" charset="0"/>
                <a:ea typeface="Oswald" pitchFamily="34" charset="-122"/>
                <a:cs typeface="Oswald" pitchFamily="34" charset="-120"/>
              </a:rPr>
              <a:t>Available to Deploy Now</a:t>
            </a:r>
            <a:endParaRPr lang="en-US" sz="1400" dirty="0"/>
          </a:p>
        </p:txBody>
      </p:sp>
      <p:pic>
        <p:nvPicPr>
          <p:cNvPr id="31" name="Image 7" descr="gen-dedup-0c1b64000e3ba7dbfbd8212e6ef01b63.png"/>
          <p:cNvPicPr>
            <a:picLocks noChangeAspect="1"/>
          </p:cNvPicPr>
          <p:nvPr/>
        </p:nvPicPr>
        <p:blipFill>
          <a:blip r:embed="rId10"/>
          <a:srcRect l="-33034" r="-33034"/>
          <a:stretch/>
        </p:blipFill>
        <p:spPr>
          <a:xfrm>
            <a:off x="895198" y="5357470"/>
            <a:ext cx="190195" cy="152705"/>
          </a:xfrm>
          <a:prstGeom prst="rect">
            <a:avLst/>
          </a:prstGeom>
        </p:spPr>
      </p:pic>
      <p:sp>
        <p:nvSpPr>
          <p:cNvPr id="32" name="Text 22"/>
          <p:cNvSpPr txBox="1"/>
          <p:nvPr/>
        </p:nvSpPr>
        <p:spPr>
          <a:xfrm>
            <a:off x="1200607" y="5315407"/>
            <a:ext cx="1780337" cy="238658"/>
          </a:xfrm>
          <a:prstGeom prst="rect">
            <a:avLst/>
          </a:prstGeom>
          <a:noFill/>
          <a:ln/>
        </p:spPr>
        <p:txBody>
          <a:bodyPr wrap="none" lIns="0" tIns="0" rIns="0" bIns="0" rtlCol="0" anchor="ctr"/>
          <a:lstStyle/>
          <a:p>
            <a:pPr marL="0" indent="0" algn="l">
              <a:buNone/>
            </a:pPr>
            <a:r>
              <a:rPr lang="en-US" sz="1200" b="1" kern="0" spc="64" dirty="0">
                <a:solidFill>
                  <a:srgbClr val="1E293B"/>
                </a:solidFill>
                <a:latin typeface="Oswald" pitchFamily="34" charset="0"/>
                <a:ea typeface="Oswald" pitchFamily="34" charset="-122"/>
                <a:cs typeface="Oswald" pitchFamily="34" charset="-120"/>
              </a:rPr>
              <a:t>INDUSTRIES SERVED:</a:t>
            </a:r>
            <a:endParaRPr lang="en-US" sz="1200" dirty="0"/>
          </a:p>
        </p:txBody>
      </p:sp>
      <p:sp>
        <p:nvSpPr>
          <p:cNvPr id="33" name="Text 23"/>
          <p:cNvSpPr txBox="1"/>
          <p:nvPr/>
        </p:nvSpPr>
        <p:spPr>
          <a:xfrm>
            <a:off x="4206240" y="5315407"/>
            <a:ext cx="7498079" cy="200254"/>
          </a:xfrm>
          <a:prstGeom prst="rect">
            <a:avLst/>
          </a:prstGeom>
          <a:noFill/>
          <a:ln/>
        </p:spPr>
        <p:txBody>
          <a:bodyPr wrap="none" lIns="0" tIns="0" rIns="0" bIns="0" rtlCol="0" anchor="ctr"/>
          <a:lstStyle/>
          <a:p>
            <a:pPr marL="0" indent="0" algn="l">
              <a:buNone/>
            </a:pPr>
            <a:r>
              <a:rPr lang="en-US" sz="1200" dirty="0">
                <a:solidFill>
                  <a:srgbClr val="475569"/>
                </a:solidFill>
                <a:latin typeface="Raleway" pitchFamily="34" charset="0"/>
                <a:ea typeface="Raleway" pitchFamily="34" charset="-122"/>
                <a:cs typeface="Raleway" pitchFamily="34" charset="-120"/>
              </a:rPr>
              <a:t>{{INDUSTRIES_SERVED}}</a:t>
            </a:r>
            <a:endParaRPr lang="en-US" sz="1200" dirty="0"/>
          </a:p>
        </p:txBody>
      </p:sp>
      <p:pic>
        <p:nvPicPr>
          <p:cNvPr id="34" name="Image 8" descr="gen-dedup-ea8207ac1fcc765f9df137df8bcd4dac.png"/>
          <p:cNvPicPr>
            <a:picLocks noChangeAspect="1"/>
          </p:cNvPicPr>
          <p:nvPr/>
        </p:nvPicPr>
        <p:blipFill>
          <a:blip r:embed="rId11"/>
          <a:srcRect l="-2083" r="-2083"/>
          <a:stretch/>
        </p:blipFill>
        <p:spPr>
          <a:xfrm>
            <a:off x="895198" y="5686654"/>
            <a:ext cx="10401300" cy="9144"/>
          </a:xfrm>
          <a:prstGeom prst="rect">
            <a:avLst/>
          </a:prstGeom>
        </p:spPr>
      </p:pic>
      <p:pic>
        <p:nvPicPr>
          <p:cNvPr id="35" name="Image 9" descr="gen-dedup-c8ffaf2d20b156642003486648837c0d.png"/>
          <p:cNvPicPr>
            <a:picLocks noChangeAspect="1"/>
          </p:cNvPicPr>
          <p:nvPr/>
        </p:nvPicPr>
        <p:blipFill>
          <a:blip r:embed="rId12"/>
          <a:srcRect t="-2715" b="-2715"/>
          <a:stretch/>
        </p:blipFill>
        <p:spPr>
          <a:xfrm>
            <a:off x="895198" y="5872277"/>
            <a:ext cx="181051" cy="152705"/>
          </a:xfrm>
          <a:prstGeom prst="rect">
            <a:avLst/>
          </a:prstGeom>
        </p:spPr>
      </p:pic>
      <p:sp>
        <p:nvSpPr>
          <p:cNvPr id="36" name="Text 24"/>
          <p:cNvSpPr txBox="1"/>
          <p:nvPr/>
        </p:nvSpPr>
        <p:spPr>
          <a:xfrm>
            <a:off x="1190549" y="5829300"/>
            <a:ext cx="2097634" cy="238658"/>
          </a:xfrm>
          <a:prstGeom prst="rect">
            <a:avLst/>
          </a:prstGeom>
          <a:noFill/>
          <a:ln/>
        </p:spPr>
        <p:txBody>
          <a:bodyPr wrap="none" lIns="0" tIns="0" rIns="0" bIns="0" rtlCol="0" anchor="ctr"/>
          <a:lstStyle/>
          <a:p>
            <a:pPr marL="0" indent="0" algn="l">
              <a:buNone/>
            </a:pPr>
            <a:r>
              <a:rPr lang="en-US" sz="1200" b="1" kern="0" spc="64" dirty="0">
                <a:solidFill>
                  <a:srgbClr val="1E293B"/>
                </a:solidFill>
                <a:latin typeface="Oswald" pitchFamily="34" charset="0"/>
                <a:ea typeface="Oswald" pitchFamily="34" charset="-122"/>
                <a:cs typeface="Oswald" pitchFamily="34" charset="-120"/>
              </a:rPr>
              <a:t>EXAMPLE ENGAGEMENTS:</a:t>
            </a:r>
            <a:endParaRPr lang="en-US" sz="1200" dirty="0"/>
          </a:p>
        </p:txBody>
      </p:sp>
      <p:sp>
        <p:nvSpPr>
          <p:cNvPr id="37" name="Text 25"/>
          <p:cNvSpPr txBox="1"/>
          <p:nvPr/>
        </p:nvSpPr>
        <p:spPr>
          <a:xfrm>
            <a:off x="4206240" y="5829300"/>
            <a:ext cx="7498079" cy="200254"/>
          </a:xfrm>
          <a:prstGeom prst="rect">
            <a:avLst/>
          </a:prstGeom>
          <a:noFill/>
          <a:ln/>
        </p:spPr>
        <p:txBody>
          <a:bodyPr wrap="none" lIns="0" tIns="0" rIns="0" bIns="0" rtlCol="0" anchor="ctr"/>
          <a:lstStyle/>
          <a:p>
            <a:pPr marL="0" indent="0" algn="l">
              <a:buNone/>
            </a:pPr>
            <a:r>
              <a:rPr lang="en-US" sz="1200" dirty="0">
                <a:solidFill>
                  <a:srgbClr val="475569"/>
                </a:solidFill>
                <a:latin typeface="Raleway" pitchFamily="34" charset="0"/>
                <a:ea typeface="Raleway" pitchFamily="34" charset="-122"/>
                <a:cs typeface="Raleway" pitchFamily="34" charset="-120"/>
              </a:rPr>
              <a:t>{{EXAMPLE_CLIENTS}}</a:t>
            </a:r>
            <a:endParaRPr lang="en-US" sz="1200" dirty="0"/>
          </a:p>
        </p:txBody>
      </p:sp>
      <p:sp>
        <p:nvSpPr>
          <p:cNvPr id="38" name="Text 26"/>
          <p:cNvSpPr txBox="1"/>
          <p:nvPr/>
        </p:nvSpPr>
        <p:spPr>
          <a:xfrm>
            <a:off x="609905" y="6610198"/>
            <a:ext cx="10972800" cy="133502"/>
          </a:xfrm>
          <a:prstGeom prst="rect">
            <a:avLst/>
          </a:prstGeom>
          <a:noFill/>
          <a:ln/>
        </p:spPr>
        <p:txBody>
          <a:bodyPr wrap="none" lIns="0" tIns="0" rIns="0" bIns="0" rtlCol="0" anchor="ctr"/>
          <a:lstStyle/>
          <a:p>
            <a:pPr marL="0" indent="0" algn="l">
              <a:buNone/>
            </a:pPr>
            <a:r>
              <a:rPr lang="en-US" sz="900" kern="0" spc="45" dirty="0">
                <a:solidFill>
                  <a:srgbClr val="94A3B8"/>
                </a:solidFill>
                <a:latin typeface="Roboto Condensed" pitchFamily="34" charset="0"/>
                <a:ea typeface="Roboto Condensed" pitchFamily="34" charset="-122"/>
                <a:cs typeface="Roboto Condensed" pitchFamily="34" charset="-120"/>
              </a:rPr>
              <a:t>Capability snapshot </a:t>
            </a:r>
            <a:r>
              <a:rPr lang="en-US" sz="900" kern="0" spc="45" dirty="0">
                <a:solidFill>
                  <a:srgbClr val="4FD1C5"/>
                </a:solidFill>
                <a:latin typeface="Roboto Condensed" pitchFamily="34" charset="0"/>
                <a:ea typeface="Roboto Condensed" pitchFamily="34" charset="-122"/>
                <a:cs typeface="Roboto Condensed" pitchFamily="34" charset="-120"/>
              </a:rPr>
              <a:t>—</a:t>
            </a:r>
            <a:r>
              <a:rPr lang="en-US" sz="900" kern="0" spc="45" dirty="0">
                <a:solidFill>
                  <a:srgbClr val="94A3B8"/>
                </a:solidFill>
                <a:latin typeface="Roboto Condensed" pitchFamily="34" charset="0"/>
                <a:ea typeface="Roboto Condensed" pitchFamily="34" charset="-122"/>
                <a:cs typeface="Roboto Condensed" pitchFamily="34" charset="-120"/>
              </a:rPr>
              <a:t> figures reflect current J2W capacity.</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382305" y="0"/>
            <a:ext cx="3810305" cy="3810305"/>
          </a:xfrm>
          <a:prstGeom prst="ellipse">
            <a:avLst/>
          </a:prstGeom>
          <a:solidFill>
            <a:srgbClr val="2A9D8F">
              <a:alpha val="3000"/>
            </a:srgbClr>
          </a:solidFill>
          <a:ln w="12700">
            <a:solidFill>
              <a:srgbClr val="FFFFFF">
                <a:alpha val="0"/>
              </a:srgbClr>
            </a:solidFill>
            <a:prstDash val="solid"/>
          </a:ln>
        </p:spPr>
        <p:txBody>
          <a:bodyPr/>
          <a:lstStyle/>
          <a:p>
            <a:endParaRPr lang="en-US"/>
          </a:p>
        </p:txBody>
      </p:sp>
      <p:sp>
        <p:nvSpPr>
          <p:cNvPr id="5" name="Shape 3"/>
          <p:cNvSpPr/>
          <p:nvPr/>
        </p:nvSpPr>
        <p:spPr>
          <a:xfrm>
            <a:off x="-476402" y="3524098"/>
            <a:ext cx="2381098" cy="2381098"/>
          </a:xfrm>
          <a:prstGeom prst="ellipse">
            <a:avLst/>
          </a:prstGeom>
          <a:solidFill>
            <a:srgbClr val="D62839">
              <a:alpha val="2000"/>
            </a:srgbClr>
          </a:solidFill>
          <a:ln w="12700">
            <a:solidFill>
              <a:srgbClr val="FFFFFF">
                <a:alpha val="0"/>
              </a:srgbClr>
            </a:solidFill>
            <a:prstDash val="solid"/>
          </a:ln>
        </p:spPr>
        <p:txBody>
          <a:bodyPr/>
          <a:lstStyle/>
          <a:p>
            <a:endParaRPr lang="en-US"/>
          </a:p>
        </p:txBody>
      </p:sp>
      <p:pic>
        <p:nvPicPr>
          <p:cNvPr id="6" name="Image 0" descr="gen-dedup-37abb9d8cc081a24feb608c288538026.png"/>
          <p:cNvPicPr>
            <a:picLocks noChangeAspect="1"/>
          </p:cNvPicPr>
          <p:nvPr/>
        </p:nvPicPr>
        <p:blipFill>
          <a:blip r:embed="rId3"/>
          <a:srcRect l="-198" r="-198"/>
          <a:stretch/>
        </p:blipFill>
        <p:spPr>
          <a:xfrm>
            <a:off x="0" y="0"/>
            <a:ext cx="8124444" cy="75895"/>
          </a:xfrm>
          <a:prstGeom prst="rect">
            <a:avLst/>
          </a:prstGeom>
        </p:spPr>
      </p:pic>
      <p:pic>
        <p:nvPicPr>
          <p:cNvPr id="7" name="Image 1" descr="gen-dedup-c2c9136402f20c216bf7cbcc052ad1a0.png"/>
          <p:cNvPicPr>
            <a:picLocks noChangeAspect="1"/>
          </p:cNvPicPr>
          <p:nvPr/>
        </p:nvPicPr>
        <p:blipFill>
          <a:blip r:embed="rId4"/>
          <a:srcRect l="-202" r="-202"/>
          <a:stretch/>
        </p:blipFill>
        <p:spPr>
          <a:xfrm>
            <a:off x="8124444" y="0"/>
            <a:ext cx="4067251" cy="75895"/>
          </a:xfrm>
          <a:prstGeom prst="rect">
            <a:avLst/>
          </a:prstGeom>
        </p:spPr>
      </p:pic>
      <p:pic>
        <p:nvPicPr>
          <p:cNvPr id="8" name="Image 2" descr="gen-dedup-50f81f9bdcb5400074144f35c0ecb91c.png"/>
          <p:cNvPicPr>
            <a:picLocks noChangeAspect="1"/>
          </p:cNvPicPr>
          <p:nvPr/>
        </p:nvPicPr>
        <p:blipFill>
          <a:blip r:embed="rId5"/>
          <a:srcRect l="-7" r="-7"/>
          <a:stretch/>
        </p:blipFill>
        <p:spPr>
          <a:xfrm>
            <a:off x="2704795" y="1238098"/>
            <a:ext cx="3143707" cy="4457700"/>
          </a:xfrm>
          <a:prstGeom prst="rect">
            <a:avLst/>
          </a:prstGeom>
        </p:spPr>
      </p:pic>
      <p:sp>
        <p:nvSpPr>
          <p:cNvPr id="9" name="Shape 4"/>
          <p:cNvSpPr/>
          <p:nvPr/>
        </p:nvSpPr>
        <p:spPr>
          <a:xfrm>
            <a:off x="609905" y="5762549"/>
            <a:ext cx="10992002" cy="847649"/>
          </a:xfrm>
          <a:prstGeom prst="roundRect">
            <a:avLst>
              <a:gd name="adj" fmla="val 19393"/>
            </a:avLst>
          </a:prstGeom>
          <a:solidFill>
            <a:srgbClr val="F8FAFC"/>
          </a:solidFill>
          <a:ln w="12700">
            <a:solidFill>
              <a:srgbClr val="E2E8F0"/>
            </a:solidFill>
            <a:prstDash val="solid"/>
          </a:ln>
          <a:effectLst>
            <a:outerShdw blurRad="63500" dist="38100" dir="16200000" algn="bl" rotWithShape="0">
              <a:srgbClr val="000000">
                <a:alpha val="2000"/>
              </a:srgbClr>
            </a:outerShdw>
          </a:effectLst>
        </p:spPr>
        <p:txBody>
          <a:bodyPr/>
          <a:lstStyle/>
          <a:p>
            <a:endParaRPr lang="en-US"/>
          </a:p>
        </p:txBody>
      </p:sp>
      <p:pic>
        <p:nvPicPr>
          <p:cNvPr id="10" name="Image 3" descr="gen-dedup-1004aa64a550a79a04cd74d7f57c96c1.png"/>
          <p:cNvPicPr>
            <a:picLocks noChangeAspect="1"/>
          </p:cNvPicPr>
          <p:nvPr/>
        </p:nvPicPr>
        <p:blipFill>
          <a:blip r:embed="rId6"/>
          <a:srcRect l="-2083" r="-2083"/>
          <a:stretch/>
        </p:blipFill>
        <p:spPr>
          <a:xfrm>
            <a:off x="609905" y="2467051"/>
            <a:ext cx="10972800" cy="9144"/>
          </a:xfrm>
          <a:prstGeom prst="rect">
            <a:avLst/>
          </a:prstGeom>
        </p:spPr>
      </p:pic>
      <p:pic>
        <p:nvPicPr>
          <p:cNvPr id="11" name="Image 4" descr="gen-dedup-1004aa64a550a79a04cd74d7f57c96c1.png"/>
          <p:cNvPicPr>
            <a:picLocks noChangeAspect="1"/>
          </p:cNvPicPr>
          <p:nvPr/>
        </p:nvPicPr>
        <p:blipFill>
          <a:blip r:embed="rId6"/>
          <a:srcRect l="-2083" r="-2083"/>
          <a:stretch/>
        </p:blipFill>
        <p:spPr>
          <a:xfrm>
            <a:off x="609905" y="3267151"/>
            <a:ext cx="10972800" cy="9144"/>
          </a:xfrm>
          <a:prstGeom prst="rect">
            <a:avLst/>
          </a:prstGeom>
        </p:spPr>
      </p:pic>
      <p:pic>
        <p:nvPicPr>
          <p:cNvPr id="12" name="Image 5" descr="gen-dedup-1004aa64a550a79a04cd74d7f57c96c1.png"/>
          <p:cNvPicPr>
            <a:picLocks noChangeAspect="1"/>
          </p:cNvPicPr>
          <p:nvPr/>
        </p:nvPicPr>
        <p:blipFill>
          <a:blip r:embed="rId6"/>
          <a:srcRect l="-2083" r="-2083"/>
          <a:stretch/>
        </p:blipFill>
        <p:spPr>
          <a:xfrm>
            <a:off x="609905" y="4067251"/>
            <a:ext cx="10972800" cy="9144"/>
          </a:xfrm>
          <a:prstGeom prst="rect">
            <a:avLst/>
          </a:prstGeom>
        </p:spPr>
      </p:pic>
      <p:pic>
        <p:nvPicPr>
          <p:cNvPr id="13" name="Image 6" descr="gen-dedup-1004aa64a550a79a04cd74d7f57c96c1.png"/>
          <p:cNvPicPr>
            <a:picLocks noChangeAspect="1"/>
          </p:cNvPicPr>
          <p:nvPr/>
        </p:nvPicPr>
        <p:blipFill>
          <a:blip r:embed="rId6"/>
          <a:srcRect l="-2083" r="-2083"/>
          <a:stretch/>
        </p:blipFill>
        <p:spPr>
          <a:xfrm>
            <a:off x="609905" y="4867351"/>
            <a:ext cx="10972800" cy="9144"/>
          </a:xfrm>
          <a:prstGeom prst="rect">
            <a:avLst/>
          </a:prstGeom>
        </p:spPr>
      </p:pic>
      <p:pic>
        <p:nvPicPr>
          <p:cNvPr id="14" name="Image 7" descr="gen-dedup-06e3d16aa0e9246458a784af17ea21a8.png"/>
          <p:cNvPicPr>
            <a:picLocks noChangeAspect="1"/>
          </p:cNvPicPr>
          <p:nvPr/>
        </p:nvPicPr>
        <p:blipFill>
          <a:blip r:embed="rId7"/>
          <a:srcRect l="-437" r="-437"/>
          <a:stretch/>
        </p:blipFill>
        <p:spPr>
          <a:xfrm>
            <a:off x="609905" y="390449"/>
            <a:ext cx="57607" cy="418795"/>
          </a:xfrm>
          <a:prstGeom prst="rect">
            <a:avLst/>
          </a:prstGeom>
        </p:spPr>
      </p:pic>
      <p:sp>
        <p:nvSpPr>
          <p:cNvPr id="15" name="Text 5"/>
          <p:cNvSpPr txBox="1"/>
          <p:nvPr/>
        </p:nvSpPr>
        <p:spPr>
          <a:xfrm>
            <a:off x="819302" y="390449"/>
            <a:ext cx="10478110" cy="381305"/>
          </a:xfrm>
          <a:prstGeom prst="rect">
            <a:avLst/>
          </a:prstGeom>
          <a:noFill/>
          <a:ln/>
        </p:spPr>
        <p:txBody>
          <a:bodyPr wrap="square" lIns="0" tIns="0" rIns="0" bIns="0" rtlCol="0" anchor="ctr"/>
          <a:lstStyle/>
          <a:p>
            <a:pPr marL="0" indent="0" algn="l">
              <a:buNone/>
            </a:pPr>
            <a:r>
              <a:rPr lang="en-US" sz="2700" b="1">
                <a:solidFill>
                  <a:srgbClr val="111827"/>
                </a:solidFill>
                <a:latin typeface="Oswald" pitchFamily="34" charset="0"/>
                <a:ea typeface="Oswald" pitchFamily="34" charset="-122"/>
                <a:cs typeface="Oswald" pitchFamily="34" charset="-120"/>
              </a:rPr>
              <a:t>WHY J2W - NOT THE BIG 4 OR LARGE SIs</a:t>
            </a:r>
            <a:endParaRPr lang="en-US" sz="2700"/>
          </a:p>
        </p:txBody>
      </p:sp>
      <p:sp>
        <p:nvSpPr>
          <p:cNvPr id="16" name="Text 6"/>
          <p:cNvSpPr txBox="1"/>
          <p:nvPr/>
        </p:nvSpPr>
        <p:spPr>
          <a:xfrm>
            <a:off x="819302" y="824789"/>
            <a:ext cx="10478110" cy="181051"/>
          </a:xfrm>
          <a:prstGeom prst="rect">
            <a:avLst/>
          </a:prstGeom>
          <a:noFill/>
          <a:ln/>
        </p:spPr>
        <p:txBody>
          <a:bodyPr wrap="square" lIns="0" tIns="0" rIns="0" bIns="0" rtlCol="0" anchor="ctr"/>
          <a:lstStyle/>
          <a:p>
            <a:pPr marL="0" indent="0" algn="l">
              <a:buNone/>
            </a:pPr>
            <a:r>
              <a:rPr lang="en-US" sz="1200" b="1" kern="0" spc="60">
                <a:solidFill>
                  <a:srgbClr val="2A9D8F"/>
                </a:solidFill>
                <a:latin typeface="Roboto Condensed" pitchFamily="34" charset="0"/>
                <a:ea typeface="Roboto Condensed" pitchFamily="34" charset="-122"/>
                <a:cs typeface="Roboto Condensed" pitchFamily="34" charset="-120"/>
              </a:rPr>
              <a:t>THE SMARTER CHOICE FOR AI &amp; DIGITAL TRANSFORMATION AT SCALE</a:t>
            </a:r>
            <a:endParaRPr lang="en-US" sz="1200"/>
          </a:p>
        </p:txBody>
      </p:sp>
      <p:sp>
        <p:nvSpPr>
          <p:cNvPr id="17" name="Text 7"/>
          <p:cNvSpPr txBox="1"/>
          <p:nvPr/>
        </p:nvSpPr>
        <p:spPr>
          <a:xfrm>
            <a:off x="2704795" y="1333195"/>
            <a:ext cx="3143707" cy="286207"/>
          </a:xfrm>
          <a:prstGeom prst="rect">
            <a:avLst/>
          </a:prstGeom>
          <a:noFill/>
          <a:ln/>
        </p:spPr>
        <p:txBody>
          <a:bodyPr wrap="square" lIns="0" tIns="0" rIns="0" bIns="0" rtlCol="0" anchor="ctr"/>
          <a:lstStyle/>
          <a:p>
            <a:pPr marL="0" indent="0" algn="ctr">
              <a:buNone/>
            </a:pPr>
            <a:r>
              <a:rPr lang="en-US" sz="1500" b="1">
                <a:solidFill>
                  <a:srgbClr val="111827"/>
                </a:solidFill>
                <a:latin typeface="Oswald" pitchFamily="34" charset="0"/>
                <a:ea typeface="Oswald" pitchFamily="34" charset="-122"/>
                <a:cs typeface="Oswald" pitchFamily="34" charset="-120"/>
              </a:rPr>
              <a:t>JoulesToWatts + J2W</a:t>
            </a:r>
            <a:endParaRPr lang="en-US" sz="1500"/>
          </a:p>
        </p:txBody>
      </p:sp>
      <p:sp>
        <p:nvSpPr>
          <p:cNvPr id="18" name="Text 8"/>
          <p:cNvSpPr txBox="1"/>
          <p:nvPr/>
        </p:nvSpPr>
        <p:spPr>
          <a:xfrm>
            <a:off x="5848502" y="1333195"/>
            <a:ext cx="2857500" cy="286207"/>
          </a:xfrm>
          <a:prstGeom prst="rect">
            <a:avLst/>
          </a:prstGeom>
          <a:noFill/>
          <a:ln/>
        </p:spPr>
        <p:txBody>
          <a:bodyPr wrap="square" lIns="0" tIns="0" rIns="0" bIns="0" rtlCol="0" anchor="ctr"/>
          <a:lstStyle/>
          <a:p>
            <a:pPr marL="0" indent="0" algn="ctr">
              <a:buNone/>
            </a:pPr>
            <a:r>
              <a:rPr lang="en-US" sz="1500" b="1">
                <a:solidFill>
                  <a:srgbClr val="64748B"/>
                </a:solidFill>
                <a:latin typeface="Oswald" pitchFamily="34" charset="0"/>
                <a:ea typeface="Oswald" pitchFamily="34" charset="-122"/>
                <a:cs typeface="Oswald" pitchFamily="34" charset="-120"/>
              </a:rPr>
              <a:t>Big 4 / Top IT SIs</a:t>
            </a:r>
            <a:endParaRPr lang="en-US" sz="1500"/>
          </a:p>
        </p:txBody>
      </p:sp>
      <p:sp>
        <p:nvSpPr>
          <p:cNvPr id="19" name="Text 9"/>
          <p:cNvSpPr txBox="1"/>
          <p:nvPr/>
        </p:nvSpPr>
        <p:spPr>
          <a:xfrm>
            <a:off x="8706002" y="1333195"/>
            <a:ext cx="2876702" cy="286207"/>
          </a:xfrm>
          <a:prstGeom prst="rect">
            <a:avLst/>
          </a:prstGeom>
          <a:noFill/>
          <a:ln/>
        </p:spPr>
        <p:txBody>
          <a:bodyPr wrap="square" lIns="0" tIns="0" rIns="0" bIns="0" rtlCol="0" anchor="ctr"/>
          <a:lstStyle/>
          <a:p>
            <a:pPr marL="0" indent="0" algn="ctr">
              <a:buNone/>
            </a:pPr>
            <a:r>
              <a:rPr lang="en-US" sz="1500" b="1">
                <a:solidFill>
                  <a:srgbClr val="64748B"/>
                </a:solidFill>
                <a:latin typeface="Oswald" pitchFamily="34" charset="0"/>
                <a:ea typeface="Oswald" pitchFamily="34" charset="-122"/>
                <a:cs typeface="Oswald" pitchFamily="34" charset="-120"/>
              </a:rPr>
              <a:t>Staffing Agencies</a:t>
            </a:r>
            <a:endParaRPr lang="en-US" sz="1500"/>
          </a:p>
        </p:txBody>
      </p:sp>
      <p:sp>
        <p:nvSpPr>
          <p:cNvPr id="20" name="Text 10"/>
          <p:cNvSpPr txBox="1"/>
          <p:nvPr/>
        </p:nvSpPr>
        <p:spPr>
          <a:xfrm>
            <a:off x="609905" y="1990649"/>
            <a:ext cx="1905610"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ROI &amp; Outcome Model</a:t>
            </a:r>
            <a:endParaRPr lang="en-US" sz="1000"/>
          </a:p>
        </p:txBody>
      </p:sp>
      <p:sp>
        <p:nvSpPr>
          <p:cNvPr id="21" name="Text 11"/>
          <p:cNvSpPr txBox="1"/>
          <p:nvPr/>
        </p:nvSpPr>
        <p:spPr>
          <a:xfrm>
            <a:off x="2895905" y="1806854"/>
            <a:ext cx="2762402" cy="523951"/>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Outcome-driven from Day 1 - aligned to your milestones, CXO ROI expectations &amp; project KPIs</a:t>
            </a:r>
            <a:endParaRPr lang="en-US" sz="1000"/>
          </a:p>
        </p:txBody>
      </p:sp>
      <p:sp>
        <p:nvSpPr>
          <p:cNvPr id="22" name="Text 12"/>
          <p:cNvSpPr txBox="1"/>
          <p:nvPr/>
        </p:nvSpPr>
        <p:spPr>
          <a:xfrm>
            <a:off x="6038698" y="1806854"/>
            <a:ext cx="2477110" cy="523951"/>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Heavy retainers + longer payback cycles. High technical debt risk on failed transformations</a:t>
            </a:r>
            <a:endParaRPr lang="en-US" sz="1000"/>
          </a:p>
        </p:txBody>
      </p:sp>
      <p:sp>
        <p:nvSpPr>
          <p:cNvPr id="23" name="Text 13"/>
          <p:cNvSpPr txBox="1"/>
          <p:nvPr/>
        </p:nvSpPr>
        <p:spPr>
          <a:xfrm>
            <a:off x="8896198" y="1893722"/>
            <a:ext cx="2496312" cy="352958"/>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Headcount model only. Zero delivery ownership or outcome accountability</a:t>
            </a:r>
            <a:endParaRPr lang="en-US" sz="1000"/>
          </a:p>
        </p:txBody>
      </p:sp>
      <p:sp>
        <p:nvSpPr>
          <p:cNvPr id="24" name="Text 14"/>
          <p:cNvSpPr txBox="1"/>
          <p:nvPr/>
        </p:nvSpPr>
        <p:spPr>
          <a:xfrm>
            <a:off x="609905" y="2790749"/>
            <a:ext cx="1905610"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Time-To-Value</a:t>
            </a:r>
            <a:endParaRPr lang="en-US" sz="1000"/>
          </a:p>
        </p:txBody>
      </p:sp>
      <p:sp>
        <p:nvSpPr>
          <p:cNvPr id="25" name="Text 15"/>
          <p:cNvSpPr txBox="1"/>
          <p:nvPr/>
        </p:nvSpPr>
        <p:spPr>
          <a:xfrm>
            <a:off x="2895905" y="2606954"/>
            <a:ext cx="2762402" cy="523951"/>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Production-ready Gen &amp; Agentic AI PoCs in weeks via 50+ accelerators across SAP, Oracle, ServiceNow &amp; more</a:t>
            </a:r>
            <a:endParaRPr lang="en-US" sz="1000"/>
          </a:p>
        </p:txBody>
      </p:sp>
      <p:sp>
        <p:nvSpPr>
          <p:cNvPr id="26" name="Text 16"/>
          <p:cNvSpPr txBox="1"/>
          <p:nvPr/>
        </p:nvSpPr>
        <p:spPr>
          <a:xfrm>
            <a:off x="6038698" y="2606954"/>
            <a:ext cx="2477110" cy="523951"/>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Lengthy consulting cycles with SI-driven models - higher costs &amp; slower results</a:t>
            </a:r>
            <a:endParaRPr lang="en-US" sz="1000"/>
          </a:p>
        </p:txBody>
      </p:sp>
      <p:sp>
        <p:nvSpPr>
          <p:cNvPr id="27" name="Text 17"/>
          <p:cNvSpPr txBox="1"/>
          <p:nvPr/>
        </p:nvSpPr>
        <p:spPr>
          <a:xfrm>
            <a:off x="8896198" y="2780690"/>
            <a:ext cx="2496312" cy="181051"/>
          </a:xfrm>
          <a:prstGeom prst="rect">
            <a:avLst/>
          </a:prstGeom>
          <a:noFill/>
          <a:ln/>
        </p:spPr>
        <p:txBody>
          <a:bodyPr wrap="square" lIns="0" tIns="0" rIns="0" bIns="0" rtlCol="0" anchor="ctr"/>
          <a:lstStyle/>
          <a:p>
            <a:pPr marL="0" indent="0" algn="l">
              <a:buNone/>
            </a:pPr>
            <a:r>
              <a:rPr lang="en-US" sz="1000" i="1">
                <a:solidFill>
                  <a:srgbClr val="94A3B8"/>
                </a:solidFill>
                <a:latin typeface="Raleway" pitchFamily="34" charset="0"/>
                <a:ea typeface="Raleway" pitchFamily="34" charset="-122"/>
                <a:cs typeface="Raleway" pitchFamily="34" charset="-120"/>
              </a:rPr>
              <a:t>Not offered</a:t>
            </a:r>
            <a:endParaRPr lang="en-US" sz="1000"/>
          </a:p>
        </p:txBody>
      </p:sp>
      <p:sp>
        <p:nvSpPr>
          <p:cNvPr id="28" name="Text 18"/>
          <p:cNvSpPr txBox="1"/>
          <p:nvPr/>
        </p:nvSpPr>
        <p:spPr>
          <a:xfrm>
            <a:off x="609905" y="3590849"/>
            <a:ext cx="1905610"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AI / Data Governance</a:t>
            </a:r>
            <a:endParaRPr lang="en-US" sz="1000"/>
          </a:p>
        </p:txBody>
      </p:sp>
      <p:sp>
        <p:nvSpPr>
          <p:cNvPr id="29" name="Text 19"/>
          <p:cNvSpPr txBox="1"/>
          <p:nvPr/>
        </p:nvSpPr>
        <p:spPr>
          <a:xfrm>
            <a:off x="2895905" y="3321101"/>
            <a:ext cx="2762402" cy="6958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Pre-built guardrails. Mission-critical delivery in regulated industries (Fortune 500 MedTech). Data stays in your environment</a:t>
            </a:r>
            <a:endParaRPr lang="en-US" sz="1000"/>
          </a:p>
        </p:txBody>
      </p:sp>
      <p:sp>
        <p:nvSpPr>
          <p:cNvPr id="30" name="Text 20"/>
          <p:cNvSpPr txBox="1"/>
          <p:nvPr/>
        </p:nvSpPr>
        <p:spPr>
          <a:xfrm>
            <a:off x="6038698" y="3407054"/>
            <a:ext cx="2477110" cy="523951"/>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Claims excellence, but multiple public incidents (e.g. Deloitte AU govt penalties) undermine credibility</a:t>
            </a:r>
            <a:endParaRPr lang="en-US" sz="1000"/>
          </a:p>
        </p:txBody>
      </p:sp>
      <p:sp>
        <p:nvSpPr>
          <p:cNvPr id="31" name="Text 21"/>
          <p:cNvSpPr txBox="1"/>
          <p:nvPr/>
        </p:nvSpPr>
        <p:spPr>
          <a:xfrm>
            <a:off x="8896198" y="3580790"/>
            <a:ext cx="2496312" cy="181051"/>
          </a:xfrm>
          <a:prstGeom prst="rect">
            <a:avLst/>
          </a:prstGeom>
          <a:noFill/>
          <a:ln/>
        </p:spPr>
        <p:txBody>
          <a:bodyPr wrap="square" lIns="0" tIns="0" rIns="0" bIns="0" rtlCol="0" anchor="ctr"/>
          <a:lstStyle/>
          <a:p>
            <a:pPr marL="0" indent="0" algn="l">
              <a:buNone/>
            </a:pPr>
            <a:r>
              <a:rPr lang="en-US" sz="1000" i="1">
                <a:solidFill>
                  <a:srgbClr val="94A3B8"/>
                </a:solidFill>
                <a:latin typeface="Raleway" pitchFamily="34" charset="0"/>
                <a:ea typeface="Raleway" pitchFamily="34" charset="-122"/>
                <a:cs typeface="Raleway" pitchFamily="34" charset="-120"/>
              </a:rPr>
              <a:t>Not offered</a:t>
            </a:r>
            <a:endParaRPr lang="en-US" sz="1000"/>
          </a:p>
        </p:txBody>
      </p:sp>
      <p:sp>
        <p:nvSpPr>
          <p:cNvPr id="32" name="Text 22"/>
          <p:cNvSpPr txBox="1"/>
          <p:nvPr/>
        </p:nvSpPr>
        <p:spPr>
          <a:xfrm>
            <a:off x="609905" y="4390949"/>
            <a:ext cx="1905610"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AI OPEX Optimisation</a:t>
            </a:r>
            <a:endParaRPr lang="en-US" sz="1000"/>
          </a:p>
        </p:txBody>
      </p:sp>
      <p:sp>
        <p:nvSpPr>
          <p:cNvPr id="33" name="Text 23"/>
          <p:cNvSpPr txBox="1"/>
          <p:nvPr/>
        </p:nvSpPr>
        <p:spPr>
          <a:xfrm>
            <a:off x="2895905" y="4207154"/>
            <a:ext cx="2762402" cy="523951"/>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30-40% reduction in AI OPEX via Query Routing, Semantic Caching, Precision RAG &amp; in-house SLMs</a:t>
            </a:r>
            <a:endParaRPr lang="en-US" sz="1000"/>
          </a:p>
        </p:txBody>
      </p:sp>
      <p:sp>
        <p:nvSpPr>
          <p:cNvPr id="34" name="Text 24"/>
          <p:cNvSpPr txBox="1"/>
          <p:nvPr/>
        </p:nvSpPr>
        <p:spPr>
          <a:xfrm>
            <a:off x="6038698" y="4294022"/>
            <a:ext cx="2477110" cy="352958"/>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SI </a:t>
            </a:r>
            <a:r>
              <a:rPr lang="en-US" sz="1000" err="1">
                <a:solidFill>
                  <a:srgbClr val="475569"/>
                </a:solidFill>
                <a:latin typeface="Raleway" pitchFamily="34" charset="0"/>
                <a:ea typeface="Raleway" pitchFamily="34" charset="-122"/>
                <a:cs typeface="Raleway" pitchFamily="34" charset="-120"/>
              </a:rPr>
              <a:t>incentivised</a:t>
            </a:r>
            <a:r>
              <a:rPr lang="en-US" sz="1000">
                <a:solidFill>
                  <a:srgbClr val="475569"/>
                </a:solidFill>
                <a:latin typeface="Raleway" pitchFamily="34" charset="0"/>
                <a:ea typeface="Raleway" pitchFamily="34" charset="-122"/>
                <a:cs typeface="Raleway" pitchFamily="34" charset="-120"/>
              </a:rPr>
              <a:t> to </a:t>
            </a:r>
            <a:r>
              <a:rPr lang="en-US" sz="1000" err="1">
                <a:solidFill>
                  <a:srgbClr val="475569"/>
                </a:solidFill>
                <a:latin typeface="Raleway" pitchFamily="34" charset="0"/>
                <a:ea typeface="Raleway" pitchFamily="34" charset="-122"/>
                <a:cs typeface="Raleway" pitchFamily="34" charset="-120"/>
              </a:rPr>
              <a:t>maximise</a:t>
            </a:r>
            <a:r>
              <a:rPr lang="en-US" sz="1000">
                <a:solidFill>
                  <a:srgbClr val="475569"/>
                </a:solidFill>
                <a:latin typeface="Raleway" pitchFamily="34" charset="0"/>
                <a:ea typeface="Raleway" pitchFamily="34" charset="-122"/>
                <a:cs typeface="Raleway" pitchFamily="34" charset="-120"/>
              </a:rPr>
              <a:t> </a:t>
            </a:r>
            <a:r>
              <a:rPr lang="en-US" sz="1000" err="1">
                <a:solidFill>
                  <a:srgbClr val="475569"/>
                </a:solidFill>
                <a:latin typeface="Raleway" pitchFamily="34" charset="0"/>
                <a:ea typeface="Raleway" pitchFamily="34" charset="-122"/>
                <a:cs typeface="Raleway" pitchFamily="34" charset="-120"/>
              </a:rPr>
              <a:t>licences</a:t>
            </a:r>
            <a:r>
              <a:rPr lang="en-US" sz="1000">
                <a:solidFill>
                  <a:srgbClr val="475569"/>
                </a:solidFill>
                <a:latin typeface="Raleway" pitchFamily="34" charset="0"/>
                <a:ea typeface="Raleway" pitchFamily="34" charset="-122"/>
                <a:cs typeface="Raleway" pitchFamily="34" charset="-120"/>
              </a:rPr>
              <a:t> &amp; tokens - not to </a:t>
            </a:r>
            <a:r>
              <a:rPr lang="en-US" sz="1000" err="1">
                <a:solidFill>
                  <a:srgbClr val="475569"/>
                </a:solidFill>
                <a:latin typeface="Raleway" pitchFamily="34" charset="0"/>
                <a:ea typeface="Raleway" pitchFamily="34" charset="-122"/>
                <a:cs typeface="Raleway" pitchFamily="34" charset="-120"/>
              </a:rPr>
              <a:t>optimise</a:t>
            </a:r>
            <a:r>
              <a:rPr lang="en-US" sz="1000">
                <a:solidFill>
                  <a:srgbClr val="475569"/>
                </a:solidFill>
                <a:latin typeface="Raleway" pitchFamily="34" charset="0"/>
                <a:ea typeface="Raleway" pitchFamily="34" charset="-122"/>
                <a:cs typeface="Raleway" pitchFamily="34" charset="-120"/>
              </a:rPr>
              <a:t> your cost</a:t>
            </a:r>
            <a:endParaRPr lang="en-US" sz="1000"/>
          </a:p>
        </p:txBody>
      </p:sp>
      <p:sp>
        <p:nvSpPr>
          <p:cNvPr id="35" name="Text 25"/>
          <p:cNvSpPr txBox="1"/>
          <p:nvPr/>
        </p:nvSpPr>
        <p:spPr>
          <a:xfrm>
            <a:off x="8896198" y="4380890"/>
            <a:ext cx="2496312" cy="181051"/>
          </a:xfrm>
          <a:prstGeom prst="rect">
            <a:avLst/>
          </a:prstGeom>
          <a:noFill/>
          <a:ln/>
        </p:spPr>
        <p:txBody>
          <a:bodyPr wrap="square" lIns="0" tIns="0" rIns="0" bIns="0" rtlCol="0" anchor="ctr"/>
          <a:lstStyle/>
          <a:p>
            <a:pPr marL="0" indent="0" algn="l">
              <a:buNone/>
            </a:pPr>
            <a:r>
              <a:rPr lang="en-US" sz="1000" i="1">
                <a:solidFill>
                  <a:srgbClr val="94A3B8"/>
                </a:solidFill>
                <a:latin typeface="Raleway" pitchFamily="34" charset="0"/>
                <a:ea typeface="Raleway" pitchFamily="34" charset="-122"/>
                <a:cs typeface="Raleway" pitchFamily="34" charset="-120"/>
              </a:rPr>
              <a:t>Not offered</a:t>
            </a:r>
            <a:endParaRPr lang="en-US" sz="1000"/>
          </a:p>
        </p:txBody>
      </p:sp>
      <p:sp>
        <p:nvSpPr>
          <p:cNvPr id="36" name="Text 26"/>
          <p:cNvSpPr txBox="1"/>
          <p:nvPr/>
        </p:nvSpPr>
        <p:spPr>
          <a:xfrm>
            <a:off x="609905" y="5191049"/>
            <a:ext cx="2143354"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Talent &amp; Managed Services</a:t>
            </a:r>
            <a:endParaRPr lang="en-US" sz="1000"/>
          </a:p>
        </p:txBody>
      </p:sp>
      <p:sp>
        <p:nvSpPr>
          <p:cNvPr id="37" name="Text 27"/>
          <p:cNvSpPr txBox="1"/>
          <p:nvPr/>
        </p:nvSpPr>
        <p:spPr>
          <a:xfrm>
            <a:off x="2895905" y="5007254"/>
            <a:ext cx="2762402" cy="523951"/>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7,200+ in-house consultants · 300+ recruiters · 2 proprietary hiring platforms · No subcontracting</a:t>
            </a:r>
            <a:endParaRPr lang="en-US" sz="1000"/>
          </a:p>
        </p:txBody>
      </p:sp>
      <p:sp>
        <p:nvSpPr>
          <p:cNvPr id="38" name="Text 28"/>
          <p:cNvSpPr txBox="1"/>
          <p:nvPr/>
        </p:nvSpPr>
        <p:spPr>
          <a:xfrm>
            <a:off x="6038698" y="5094122"/>
            <a:ext cx="2477110" cy="352958"/>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Frequently subcontract. No proprietary hiring platforms</a:t>
            </a:r>
            <a:endParaRPr lang="en-US" sz="1000"/>
          </a:p>
        </p:txBody>
      </p:sp>
      <p:sp>
        <p:nvSpPr>
          <p:cNvPr id="39" name="Text 29"/>
          <p:cNvSpPr txBox="1"/>
          <p:nvPr/>
        </p:nvSpPr>
        <p:spPr>
          <a:xfrm>
            <a:off x="8896198" y="5094122"/>
            <a:ext cx="2496312" cy="352958"/>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Lacks SME depth &amp; governance. Outcome ownership absent</a:t>
            </a:r>
            <a:endParaRPr lang="en-US" sz="1000"/>
          </a:p>
        </p:txBody>
      </p:sp>
      <p:sp>
        <p:nvSpPr>
          <p:cNvPr id="40" name="Shape 30"/>
          <p:cNvSpPr/>
          <p:nvPr/>
        </p:nvSpPr>
        <p:spPr>
          <a:xfrm>
            <a:off x="2315261" y="5762549"/>
            <a:ext cx="9144" cy="828446"/>
          </a:xfrm>
          <a:prstGeom prst="rect">
            <a:avLst/>
          </a:prstGeom>
          <a:solidFill>
            <a:srgbClr val="E2E8F0"/>
          </a:solidFill>
          <a:ln w="12700">
            <a:solidFill>
              <a:srgbClr val="E2E8F0">
                <a:alpha val="0"/>
              </a:srgbClr>
            </a:solidFill>
            <a:prstDash val="solid"/>
          </a:ln>
        </p:spPr>
        <p:txBody>
          <a:bodyPr/>
          <a:lstStyle/>
          <a:p>
            <a:endParaRPr lang="en-US"/>
          </a:p>
        </p:txBody>
      </p:sp>
      <p:sp>
        <p:nvSpPr>
          <p:cNvPr id="41" name="Text 31"/>
          <p:cNvSpPr txBox="1"/>
          <p:nvPr/>
        </p:nvSpPr>
        <p:spPr>
          <a:xfrm>
            <a:off x="1185062" y="6072530"/>
            <a:ext cx="1043330" cy="210312"/>
          </a:xfrm>
          <a:prstGeom prst="rect">
            <a:avLst/>
          </a:prstGeom>
          <a:noFill/>
          <a:ln/>
        </p:spPr>
        <p:txBody>
          <a:bodyPr wrap="square" lIns="0" tIns="0" rIns="0" bIns="0" rtlCol="0" anchor="ctr"/>
          <a:lstStyle/>
          <a:p>
            <a:pPr marL="0" indent="0" algn="l">
              <a:buNone/>
            </a:pPr>
            <a:r>
              <a:rPr lang="en-US" sz="1100" b="1" kern="0" spc="56">
                <a:solidFill>
                  <a:srgbClr val="64748B"/>
                </a:solidFill>
                <a:latin typeface="Oswald" pitchFamily="34" charset="0"/>
                <a:ea typeface="Oswald" pitchFamily="34" charset="-122"/>
                <a:cs typeface="Oswald" pitchFamily="34" charset="-120"/>
              </a:rPr>
              <a:t> KEY METRICS</a:t>
            </a:r>
            <a:endParaRPr lang="en-US" sz="1100"/>
          </a:p>
        </p:txBody>
      </p:sp>
      <p:pic>
        <p:nvPicPr>
          <p:cNvPr id="42" name="Image 8" descr="gen-dedup-0bed6a635fcb1d23b7a23c5aaedf5133.png"/>
          <p:cNvPicPr>
            <a:picLocks noChangeAspect="1"/>
          </p:cNvPicPr>
          <p:nvPr/>
        </p:nvPicPr>
        <p:blipFill>
          <a:blip r:embed="rId8"/>
          <a:srcRect l="-3526" r="-3526"/>
          <a:stretch/>
        </p:blipFill>
        <p:spPr>
          <a:xfrm>
            <a:off x="913486" y="6118250"/>
            <a:ext cx="152705" cy="142646"/>
          </a:xfrm>
          <a:prstGeom prst="rect">
            <a:avLst/>
          </a:prstGeom>
        </p:spPr>
      </p:pic>
      <p:sp>
        <p:nvSpPr>
          <p:cNvPr id="43" name="Text 32"/>
          <p:cNvSpPr txBox="1"/>
          <p:nvPr/>
        </p:nvSpPr>
        <p:spPr>
          <a:xfrm>
            <a:off x="2506370" y="5981090"/>
            <a:ext cx="1638605" cy="228600"/>
          </a:xfrm>
          <a:prstGeom prst="rect">
            <a:avLst/>
          </a:prstGeom>
          <a:noFill/>
          <a:ln/>
        </p:spPr>
        <p:txBody>
          <a:bodyPr wrap="square" lIns="0" tIns="0" rIns="0" bIns="0" rtlCol="0" anchor="ctr"/>
          <a:lstStyle/>
          <a:p>
            <a:pPr marL="0" indent="0" algn="ctr">
              <a:buNone/>
            </a:pPr>
            <a:r>
              <a:rPr lang="en-US" sz="1800" b="1">
                <a:solidFill>
                  <a:srgbClr val="D62839"/>
                </a:solidFill>
                <a:latin typeface="Oswald" pitchFamily="34" charset="0"/>
                <a:ea typeface="Oswald" pitchFamily="34" charset="-122"/>
                <a:cs typeface="Oswald" pitchFamily="34" charset="-120"/>
              </a:rPr>
              <a:t>5,500</a:t>
            </a:r>
            <a:endParaRPr lang="en-US" sz="1800"/>
          </a:p>
        </p:txBody>
      </p:sp>
      <p:sp>
        <p:nvSpPr>
          <p:cNvPr id="44" name="Text 33"/>
          <p:cNvSpPr txBox="1"/>
          <p:nvPr/>
        </p:nvSpPr>
        <p:spPr>
          <a:xfrm>
            <a:off x="2506370"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In-house Consultants</a:t>
            </a:r>
            <a:endParaRPr lang="en-US" sz="800"/>
          </a:p>
        </p:txBody>
      </p:sp>
      <p:pic>
        <p:nvPicPr>
          <p:cNvPr id="45" name="Image 9" descr="gen-dedup-bc499f386c10f37c45470adccc65c0cd.png"/>
          <p:cNvPicPr>
            <a:picLocks noChangeAspect="1"/>
          </p:cNvPicPr>
          <p:nvPr/>
        </p:nvPicPr>
        <p:blipFill>
          <a:blip r:embed="rId9"/>
          <a:srcRect t="-2165" b="-2165"/>
          <a:stretch/>
        </p:blipFill>
        <p:spPr>
          <a:xfrm>
            <a:off x="4225442" y="6034126"/>
            <a:ext cx="9144" cy="286207"/>
          </a:xfrm>
          <a:prstGeom prst="rect">
            <a:avLst/>
          </a:prstGeom>
        </p:spPr>
      </p:pic>
      <p:sp>
        <p:nvSpPr>
          <p:cNvPr id="46" name="Text 34"/>
          <p:cNvSpPr txBox="1"/>
          <p:nvPr/>
        </p:nvSpPr>
        <p:spPr>
          <a:xfrm>
            <a:off x="4321454" y="5981090"/>
            <a:ext cx="1638605" cy="228600"/>
          </a:xfrm>
          <a:prstGeom prst="rect">
            <a:avLst/>
          </a:prstGeom>
          <a:noFill/>
          <a:ln/>
        </p:spPr>
        <p:txBody>
          <a:bodyPr wrap="square" lIns="0" tIns="0" rIns="0" bIns="0" rtlCol="0" anchor="ctr"/>
          <a:lstStyle/>
          <a:p>
            <a:pPr marL="0" indent="0" algn="ctr">
              <a:buNone/>
            </a:pPr>
            <a:r>
              <a:rPr lang="en-US" b="1">
                <a:solidFill>
                  <a:srgbClr val="2A9D8F"/>
                </a:solidFill>
                <a:latin typeface="Oswald" pitchFamily="34" charset="0"/>
                <a:ea typeface="Oswald" pitchFamily="34" charset="-122"/>
                <a:cs typeface="Oswald" pitchFamily="34" charset="-120"/>
              </a:rPr>
              <a:t>6</a:t>
            </a:r>
            <a:r>
              <a:rPr lang="en-US" sz="1800" b="1">
                <a:solidFill>
                  <a:srgbClr val="2A9D8F"/>
                </a:solidFill>
                <a:latin typeface="Oswald" pitchFamily="34" charset="0"/>
                <a:ea typeface="Oswald" pitchFamily="34" charset="-122"/>
                <a:cs typeface="Oswald" pitchFamily="34" charset="-120"/>
              </a:rPr>
              <a:t>0+</a:t>
            </a:r>
            <a:endParaRPr lang="en-US" sz="1800"/>
          </a:p>
        </p:txBody>
      </p:sp>
      <p:sp>
        <p:nvSpPr>
          <p:cNvPr id="47" name="Text 35"/>
          <p:cNvSpPr txBox="1"/>
          <p:nvPr/>
        </p:nvSpPr>
        <p:spPr>
          <a:xfrm>
            <a:off x="4321454"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AI Accelerators</a:t>
            </a:r>
            <a:endParaRPr lang="en-US" sz="800"/>
          </a:p>
        </p:txBody>
      </p:sp>
      <p:pic>
        <p:nvPicPr>
          <p:cNvPr id="48" name="Image 10" descr="gen-dedup-bc499f386c10f37c45470adccc65c0cd.png"/>
          <p:cNvPicPr>
            <a:picLocks noChangeAspect="1"/>
          </p:cNvPicPr>
          <p:nvPr/>
        </p:nvPicPr>
        <p:blipFill>
          <a:blip r:embed="rId9"/>
          <a:srcRect t="-2165" b="-2165"/>
          <a:stretch/>
        </p:blipFill>
        <p:spPr>
          <a:xfrm>
            <a:off x="6040526" y="6034126"/>
            <a:ext cx="9144" cy="286207"/>
          </a:xfrm>
          <a:prstGeom prst="rect">
            <a:avLst/>
          </a:prstGeom>
        </p:spPr>
      </p:pic>
      <p:sp>
        <p:nvSpPr>
          <p:cNvPr id="49" name="Text 36"/>
          <p:cNvSpPr txBox="1"/>
          <p:nvPr/>
        </p:nvSpPr>
        <p:spPr>
          <a:xfrm>
            <a:off x="6137453" y="5981090"/>
            <a:ext cx="1638605" cy="228600"/>
          </a:xfrm>
          <a:prstGeom prst="rect">
            <a:avLst/>
          </a:prstGeom>
          <a:noFill/>
          <a:ln/>
        </p:spPr>
        <p:txBody>
          <a:bodyPr wrap="square" lIns="0" tIns="0" rIns="0" bIns="0" rtlCol="0" anchor="ctr"/>
          <a:lstStyle/>
          <a:p>
            <a:pPr marL="0" indent="0" algn="ctr">
              <a:buNone/>
            </a:pPr>
            <a:r>
              <a:rPr lang="en-US" sz="1800" b="1">
                <a:solidFill>
                  <a:srgbClr val="D62839"/>
                </a:solidFill>
                <a:latin typeface="Oswald" pitchFamily="34" charset="0"/>
                <a:ea typeface="Oswald" pitchFamily="34" charset="-122"/>
                <a:cs typeface="Oswald" pitchFamily="34" charset="-120"/>
              </a:rPr>
              <a:t>30-40%</a:t>
            </a:r>
            <a:endParaRPr lang="en-US" sz="1800"/>
          </a:p>
        </p:txBody>
      </p:sp>
      <p:sp>
        <p:nvSpPr>
          <p:cNvPr id="50" name="Text 37"/>
          <p:cNvSpPr txBox="1"/>
          <p:nvPr/>
        </p:nvSpPr>
        <p:spPr>
          <a:xfrm>
            <a:off x="6137453"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AI OPEX Reduction</a:t>
            </a:r>
            <a:endParaRPr lang="en-US" sz="800"/>
          </a:p>
        </p:txBody>
      </p:sp>
      <p:pic>
        <p:nvPicPr>
          <p:cNvPr id="51" name="Image 11" descr="gen-dedup-bc499f386c10f37c45470adccc65c0cd.png"/>
          <p:cNvPicPr>
            <a:picLocks noChangeAspect="1"/>
          </p:cNvPicPr>
          <p:nvPr/>
        </p:nvPicPr>
        <p:blipFill>
          <a:blip r:embed="rId9"/>
          <a:srcRect t="-2165" b="-2165"/>
          <a:stretch/>
        </p:blipFill>
        <p:spPr>
          <a:xfrm>
            <a:off x="7856525" y="6034126"/>
            <a:ext cx="9144" cy="286207"/>
          </a:xfrm>
          <a:prstGeom prst="rect">
            <a:avLst/>
          </a:prstGeom>
        </p:spPr>
      </p:pic>
      <p:sp>
        <p:nvSpPr>
          <p:cNvPr id="52" name="Text 38"/>
          <p:cNvSpPr txBox="1"/>
          <p:nvPr/>
        </p:nvSpPr>
        <p:spPr>
          <a:xfrm>
            <a:off x="7952537" y="5981090"/>
            <a:ext cx="1638605" cy="228600"/>
          </a:xfrm>
          <a:prstGeom prst="rect">
            <a:avLst/>
          </a:prstGeom>
          <a:noFill/>
          <a:ln/>
        </p:spPr>
        <p:txBody>
          <a:bodyPr wrap="square" lIns="0" tIns="0" rIns="0" bIns="0" rtlCol="0" anchor="ctr"/>
          <a:lstStyle/>
          <a:p>
            <a:pPr marL="0" indent="0" algn="ctr">
              <a:buNone/>
            </a:pPr>
            <a:r>
              <a:rPr lang="en-US" sz="1800" b="1">
                <a:solidFill>
                  <a:srgbClr val="2A9D8F"/>
                </a:solidFill>
                <a:latin typeface="Oswald" pitchFamily="34" charset="0"/>
                <a:ea typeface="Oswald" pitchFamily="34" charset="-122"/>
                <a:cs typeface="Oswald" pitchFamily="34" charset="-120"/>
              </a:rPr>
              <a:t>Weeks</a:t>
            </a:r>
            <a:endParaRPr lang="en-US" sz="1800"/>
          </a:p>
        </p:txBody>
      </p:sp>
      <p:sp>
        <p:nvSpPr>
          <p:cNvPr id="53" name="Text 39"/>
          <p:cNvSpPr txBox="1"/>
          <p:nvPr/>
        </p:nvSpPr>
        <p:spPr>
          <a:xfrm>
            <a:off x="7952537"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PoC to Production</a:t>
            </a:r>
            <a:endParaRPr lang="en-US" sz="800"/>
          </a:p>
        </p:txBody>
      </p:sp>
      <p:pic>
        <p:nvPicPr>
          <p:cNvPr id="54" name="Image 12" descr="gen-dedup-bc499f386c10f37c45470adccc65c0cd.png"/>
          <p:cNvPicPr>
            <a:picLocks noChangeAspect="1"/>
          </p:cNvPicPr>
          <p:nvPr/>
        </p:nvPicPr>
        <p:blipFill>
          <a:blip r:embed="rId9"/>
          <a:srcRect t="-2165" b="-2165"/>
          <a:stretch/>
        </p:blipFill>
        <p:spPr>
          <a:xfrm>
            <a:off x="9671609" y="6034126"/>
            <a:ext cx="9144" cy="286207"/>
          </a:xfrm>
          <a:prstGeom prst="rect">
            <a:avLst/>
          </a:prstGeom>
        </p:spPr>
      </p:pic>
      <p:sp>
        <p:nvSpPr>
          <p:cNvPr id="55" name="Text 40"/>
          <p:cNvSpPr txBox="1"/>
          <p:nvPr/>
        </p:nvSpPr>
        <p:spPr>
          <a:xfrm>
            <a:off x="9767621" y="5981090"/>
            <a:ext cx="1638605" cy="228600"/>
          </a:xfrm>
          <a:prstGeom prst="rect">
            <a:avLst/>
          </a:prstGeom>
          <a:noFill/>
          <a:ln/>
        </p:spPr>
        <p:txBody>
          <a:bodyPr wrap="square" lIns="0" tIns="0" rIns="0" bIns="0" rtlCol="0" anchor="ctr"/>
          <a:lstStyle/>
          <a:p>
            <a:pPr marL="0" indent="0" algn="ctr">
              <a:buNone/>
            </a:pPr>
            <a:r>
              <a:rPr lang="en-US" sz="1800" b="1">
                <a:solidFill>
                  <a:srgbClr val="D62839"/>
                </a:solidFill>
                <a:latin typeface="Oswald" pitchFamily="34" charset="0"/>
                <a:ea typeface="Oswald" pitchFamily="34" charset="-122"/>
                <a:cs typeface="Oswald" pitchFamily="34" charset="-120"/>
              </a:rPr>
              <a:t>0</a:t>
            </a:r>
            <a:endParaRPr lang="en-US" sz="1800"/>
          </a:p>
        </p:txBody>
      </p:sp>
      <p:sp>
        <p:nvSpPr>
          <p:cNvPr id="56" name="Text 41"/>
          <p:cNvSpPr txBox="1"/>
          <p:nvPr/>
        </p:nvSpPr>
        <p:spPr>
          <a:xfrm>
            <a:off x="9767621"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Subcontracting</a:t>
            </a:r>
            <a:endParaRPr lang="en-US" sz="800"/>
          </a:p>
        </p:txBody>
      </p:sp>
    </p:spTree>
    <p:extLst>
      <p:ext uri="{BB962C8B-B14F-4D97-AF65-F5344CB8AC3E}">
        <p14:creationId xmlns:p14="http://schemas.microsoft.com/office/powerpoint/2010/main" val="30727688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9334195" y="-952805"/>
            <a:ext cx="3810305" cy="3810305"/>
          </a:xfrm>
          <a:prstGeom prst="ellipse">
            <a:avLst/>
          </a:prstGeom>
          <a:solidFill>
            <a:srgbClr val="2A9D8F">
              <a:alpha val="3000"/>
            </a:srgbClr>
          </a:solidFill>
          <a:ln w="12700">
            <a:solidFill>
              <a:srgbClr val="FFFFFF">
                <a:alpha val="0"/>
              </a:srgbClr>
            </a:solidFill>
            <a:prstDash val="solid"/>
          </a:ln>
        </p:spPr>
        <p:txBody>
          <a:bodyPr/>
          <a:lstStyle/>
          <a:p>
            <a:endParaRPr lang="en-US"/>
          </a:p>
        </p:txBody>
      </p:sp>
      <p:pic>
        <p:nvPicPr>
          <p:cNvPr id="5" name="Image 0" descr="gen-dedup-4ab2116e971fbb9400d0e99205bd0390.png"/>
          <p:cNvPicPr>
            <a:picLocks noChangeAspect="1"/>
          </p:cNvPicPr>
          <p:nvPr/>
        </p:nvPicPr>
        <p:blipFill>
          <a:blip r:embed="rId3">
            <a:alphaModFix amt="5000"/>
          </a:blip>
          <a:srcRect/>
          <a:stretch/>
        </p:blipFill>
        <p:spPr>
          <a:xfrm>
            <a:off x="10001707" y="5238598"/>
            <a:ext cx="1904695" cy="1904695"/>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sp>
        <p:nvSpPr>
          <p:cNvPr id="8" name="Text 3"/>
          <p:cNvSpPr txBox="1"/>
          <p:nvPr/>
        </p:nvSpPr>
        <p:spPr>
          <a:xfrm>
            <a:off x="381305" y="1143000"/>
            <a:ext cx="2382012" cy="1524305"/>
          </a:xfrm>
          <a:prstGeom prst="rect">
            <a:avLst/>
          </a:prstGeom>
          <a:noFill/>
          <a:ln/>
        </p:spPr>
        <p:txBody>
          <a:bodyPr wrap="none" lIns="0" tIns="0" rIns="0" bIns="0" rtlCol="0" anchor="ctr"/>
          <a:lstStyle/>
          <a:p>
            <a:pPr marL="0" indent="0" algn="l">
              <a:buNone/>
            </a:pPr>
            <a:r>
              <a:rPr lang="en-US" sz="12000" b="1">
                <a:solidFill>
                  <a:srgbClr val="F3F4F6"/>
                </a:solidFill>
                <a:latin typeface="Oswald" pitchFamily="34" charset="0"/>
                <a:ea typeface="Oswald" pitchFamily="34" charset="-122"/>
                <a:cs typeface="Oswald" pitchFamily="34" charset="-120"/>
              </a:rPr>
              <a:t>02</a:t>
            </a:r>
            <a:endParaRPr lang="en-US" sz="12000"/>
          </a:p>
        </p:txBody>
      </p:sp>
      <p:pic>
        <p:nvPicPr>
          <p:cNvPr id="11" name="Image 3" descr="gen-dedup-90395934058aa4b7c1bff00d7e70c0a4.png"/>
          <p:cNvPicPr>
            <a:picLocks noChangeAspect="1"/>
          </p:cNvPicPr>
          <p:nvPr/>
        </p:nvPicPr>
        <p:blipFill>
          <a:blip r:embed="rId6"/>
          <a:srcRect l="-416" r="-416"/>
          <a:stretch/>
        </p:blipFill>
        <p:spPr>
          <a:xfrm>
            <a:off x="1143000" y="2428646"/>
            <a:ext cx="57607" cy="714146"/>
          </a:xfrm>
          <a:prstGeom prst="rect">
            <a:avLst/>
          </a:prstGeom>
        </p:spPr>
      </p:pic>
      <p:sp>
        <p:nvSpPr>
          <p:cNvPr id="12" name="Text 6"/>
          <p:cNvSpPr txBox="1"/>
          <p:nvPr/>
        </p:nvSpPr>
        <p:spPr>
          <a:xfrm>
            <a:off x="1429207" y="2333549"/>
            <a:ext cx="9525305" cy="762610"/>
          </a:xfrm>
          <a:prstGeom prst="rect">
            <a:avLst/>
          </a:prstGeom>
          <a:noFill/>
          <a:ln/>
        </p:spPr>
        <p:txBody>
          <a:bodyPr wrap="none" lIns="0" tIns="0" rIns="0" bIns="0" rtlCol="0" anchor="ctr"/>
          <a:lstStyle/>
          <a:p>
            <a:pPr marL="0" indent="0" algn="l">
              <a:buNone/>
            </a:pPr>
            <a:r>
              <a:rPr lang="en-US" sz="5400" b="1" kern="0" spc="108">
                <a:solidFill>
                  <a:srgbClr val="111827"/>
                </a:solidFill>
                <a:latin typeface="Oswald" pitchFamily="34" charset="0"/>
                <a:ea typeface="Oswald" pitchFamily="34" charset="-122"/>
                <a:cs typeface="Oswald" pitchFamily="34" charset="-120"/>
              </a:rPr>
              <a:t>AI PODS</a:t>
            </a:r>
            <a:endParaRPr lang="en-US" sz="5400"/>
          </a:p>
        </p:txBody>
      </p:sp>
      <p:sp>
        <p:nvSpPr>
          <p:cNvPr id="13" name="Text 7"/>
          <p:cNvSpPr txBox="1"/>
          <p:nvPr/>
        </p:nvSpPr>
        <p:spPr>
          <a:xfrm>
            <a:off x="1429207" y="3333902"/>
            <a:ext cx="10687507" cy="352958"/>
          </a:xfrm>
          <a:prstGeom prst="rect">
            <a:avLst/>
          </a:prstGeom>
          <a:noFill/>
          <a:ln/>
        </p:spPr>
        <p:txBody>
          <a:bodyPr wrap="none" lIns="0" tIns="0" rIns="0" bIns="0" rtlCol="0" anchor="ctr"/>
          <a:lstStyle/>
          <a:p>
            <a:pPr marL="0" indent="0" algn="l">
              <a:buNone/>
            </a:pPr>
            <a:r>
              <a:rPr lang="en-US" sz="2100">
                <a:solidFill>
                  <a:srgbClr val="2A9D8F"/>
                </a:solidFill>
                <a:latin typeface="Raleway" pitchFamily="34" charset="0"/>
                <a:ea typeface="Raleway" pitchFamily="34" charset="-122"/>
                <a:cs typeface="Raleway" pitchFamily="34" charset="-120"/>
              </a:rPr>
              <a:t>AI-first engineering pods - governed, certified, and compounding from Day 1</a:t>
            </a:r>
            <a:endParaRPr lang="en-US" sz="2100"/>
          </a:p>
        </p:txBody>
      </p:sp>
      <p:sp>
        <p:nvSpPr>
          <p:cNvPr id="14" name="Text 8"/>
          <p:cNvSpPr txBox="1"/>
          <p:nvPr/>
        </p:nvSpPr>
        <p:spPr>
          <a:xfrm>
            <a:off x="1429207" y="4143146"/>
            <a:ext cx="9335110" cy="5532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This is a fully governed, outcome-bound delivery model-not traditional staff augmentation. We embed complete engineering units that integrate directly into your sprint cycles, governed by strict SLAs and continuous AI upskilling.</a:t>
            </a:r>
            <a:endParaRPr lang="en-US" sz="1300"/>
          </a:p>
        </p:txBody>
      </p:sp>
      <p:pic>
        <p:nvPicPr>
          <p:cNvPr id="15" name="Image 4" descr="gen-dedup-818c62191cf4a66fb5704c7f87e3fedf.png"/>
          <p:cNvPicPr>
            <a:picLocks noChangeAspect="1"/>
          </p:cNvPicPr>
          <p:nvPr/>
        </p:nvPicPr>
        <p:blipFill>
          <a:blip r:embed="rId7"/>
          <a:srcRect l="-166" r="-166"/>
          <a:stretch/>
        </p:blipFill>
        <p:spPr>
          <a:xfrm>
            <a:off x="1429207" y="5143500"/>
            <a:ext cx="1933956" cy="418795"/>
          </a:xfrm>
          <a:prstGeom prst="rect">
            <a:avLst/>
          </a:prstGeom>
        </p:spPr>
      </p:pic>
      <p:sp>
        <p:nvSpPr>
          <p:cNvPr id="16" name="Shape 9"/>
          <p:cNvSpPr/>
          <p:nvPr/>
        </p:nvSpPr>
        <p:spPr>
          <a:xfrm>
            <a:off x="1429207" y="5143500"/>
            <a:ext cx="1933956" cy="418795"/>
          </a:xfrm>
          <a:prstGeom prst="roundRect">
            <a:avLst>
              <a:gd name="adj" fmla="val 13755"/>
            </a:avLst>
          </a:prstGeom>
          <a:noFill/>
          <a:ln w="12700">
            <a:solidFill>
              <a:srgbClr val="E5E7EB"/>
            </a:solidFill>
            <a:prstDash val="solid"/>
          </a:ln>
        </p:spPr>
        <p:txBody>
          <a:bodyPr/>
          <a:lstStyle/>
          <a:p>
            <a:endParaRPr lang="en-US"/>
          </a:p>
        </p:txBody>
      </p:sp>
      <p:sp>
        <p:nvSpPr>
          <p:cNvPr id="17" name="Text 10"/>
          <p:cNvSpPr txBox="1"/>
          <p:nvPr/>
        </p:nvSpPr>
        <p:spPr>
          <a:xfrm>
            <a:off x="1653845" y="5143500"/>
            <a:ext cx="1495958"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 10-day onboarding </a:t>
            </a:r>
            <a:endParaRPr lang="en-US" sz="1100"/>
          </a:p>
        </p:txBody>
      </p:sp>
      <p:pic>
        <p:nvPicPr>
          <p:cNvPr id="18" name="Image 5" descr="gen-dedup-a287ae7abd092c83dc5f899415c51d00.png"/>
          <p:cNvPicPr>
            <a:picLocks noChangeAspect="1"/>
          </p:cNvPicPr>
          <p:nvPr/>
        </p:nvPicPr>
        <p:blipFill>
          <a:blip r:embed="rId8"/>
          <a:srcRect t="-16800" b="-16800"/>
          <a:stretch/>
        </p:blipFill>
        <p:spPr>
          <a:xfrm>
            <a:off x="1657807" y="5277002"/>
            <a:ext cx="114300" cy="152705"/>
          </a:xfrm>
          <a:prstGeom prst="rect">
            <a:avLst/>
          </a:prstGeom>
        </p:spPr>
      </p:pic>
      <p:pic>
        <p:nvPicPr>
          <p:cNvPr id="19" name="Image 6" descr="gen-dedup-0363cb9fbb55bfd8aa96459f99cffd70.png"/>
          <p:cNvPicPr>
            <a:picLocks noChangeAspect="1"/>
          </p:cNvPicPr>
          <p:nvPr/>
        </p:nvPicPr>
        <p:blipFill>
          <a:blip r:embed="rId9"/>
          <a:srcRect l="-260" r="-260"/>
          <a:stretch/>
        </p:blipFill>
        <p:spPr>
          <a:xfrm>
            <a:off x="3510382" y="5143500"/>
            <a:ext cx="1543507" cy="418795"/>
          </a:xfrm>
          <a:prstGeom prst="rect">
            <a:avLst/>
          </a:prstGeom>
        </p:spPr>
      </p:pic>
      <p:sp>
        <p:nvSpPr>
          <p:cNvPr id="20" name="Shape 11"/>
          <p:cNvSpPr/>
          <p:nvPr/>
        </p:nvSpPr>
        <p:spPr>
          <a:xfrm>
            <a:off x="3510382" y="5143500"/>
            <a:ext cx="1543507" cy="418795"/>
          </a:xfrm>
          <a:prstGeom prst="roundRect">
            <a:avLst>
              <a:gd name="adj" fmla="val 13755"/>
            </a:avLst>
          </a:prstGeom>
          <a:noFill/>
          <a:ln w="12700">
            <a:solidFill>
              <a:srgbClr val="E5E7EB"/>
            </a:solidFill>
            <a:prstDash val="solid"/>
          </a:ln>
        </p:spPr>
        <p:txBody>
          <a:bodyPr/>
          <a:lstStyle/>
          <a:p>
            <a:endParaRPr lang="en-US"/>
          </a:p>
        </p:txBody>
      </p:sp>
      <p:sp>
        <p:nvSpPr>
          <p:cNvPr id="21" name="Text 12"/>
          <p:cNvSpPr txBox="1"/>
          <p:nvPr/>
        </p:nvSpPr>
        <p:spPr>
          <a:xfrm>
            <a:off x="3735019" y="5143500"/>
            <a:ext cx="1105510"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 90-day POFU </a:t>
            </a:r>
            <a:endParaRPr lang="en-US" sz="1100"/>
          </a:p>
        </p:txBody>
      </p:sp>
      <p:pic>
        <p:nvPicPr>
          <p:cNvPr id="22" name="Image 7" descr="gen-dedup-c395ac9c840728d6470a4a8b33662e6e.png"/>
          <p:cNvPicPr>
            <a:picLocks noChangeAspect="1"/>
          </p:cNvPicPr>
          <p:nvPr/>
        </p:nvPicPr>
        <p:blipFill>
          <a:blip r:embed="rId10"/>
          <a:srcRect t="-16800" b="-16800"/>
          <a:stretch/>
        </p:blipFill>
        <p:spPr>
          <a:xfrm>
            <a:off x="3738982" y="5277002"/>
            <a:ext cx="114300" cy="152705"/>
          </a:xfrm>
          <a:prstGeom prst="rect">
            <a:avLst/>
          </a:prstGeom>
        </p:spPr>
      </p:pic>
      <p:pic>
        <p:nvPicPr>
          <p:cNvPr id="23" name="Image 8" descr="gen-dedup-fe10f786880821f62e6e2a70ff719369.png"/>
          <p:cNvPicPr>
            <a:picLocks noChangeAspect="1"/>
          </p:cNvPicPr>
          <p:nvPr/>
        </p:nvPicPr>
        <p:blipFill>
          <a:blip r:embed="rId11"/>
          <a:srcRect l="-58" r="-58"/>
          <a:stretch/>
        </p:blipFill>
        <p:spPr>
          <a:xfrm>
            <a:off x="5199278" y="5143500"/>
            <a:ext cx="2619756" cy="418795"/>
          </a:xfrm>
          <a:prstGeom prst="rect">
            <a:avLst/>
          </a:prstGeom>
        </p:spPr>
      </p:pic>
      <p:sp>
        <p:nvSpPr>
          <p:cNvPr id="24" name="Shape 13"/>
          <p:cNvSpPr/>
          <p:nvPr/>
        </p:nvSpPr>
        <p:spPr>
          <a:xfrm>
            <a:off x="5199278" y="5143500"/>
            <a:ext cx="2619756" cy="418795"/>
          </a:xfrm>
          <a:prstGeom prst="roundRect">
            <a:avLst>
              <a:gd name="adj" fmla="val 13755"/>
            </a:avLst>
          </a:prstGeom>
          <a:noFill/>
          <a:ln w="12700">
            <a:solidFill>
              <a:srgbClr val="E5E7EB"/>
            </a:solidFill>
            <a:prstDash val="solid"/>
          </a:ln>
        </p:spPr>
        <p:txBody>
          <a:bodyPr/>
          <a:lstStyle/>
          <a:p>
            <a:endParaRPr lang="en-US"/>
          </a:p>
        </p:txBody>
      </p:sp>
      <p:sp>
        <p:nvSpPr>
          <p:cNvPr id="25" name="Text 14"/>
          <p:cNvSpPr txBox="1"/>
          <p:nvPr/>
        </p:nvSpPr>
        <p:spPr>
          <a:xfrm>
            <a:off x="5423916" y="5143500"/>
            <a:ext cx="2181758"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 85% sprint completion target </a:t>
            </a:r>
            <a:endParaRPr lang="en-US" sz="1100"/>
          </a:p>
        </p:txBody>
      </p:sp>
      <p:pic>
        <p:nvPicPr>
          <p:cNvPr id="26" name="Image 9" descr="gen-dedup-7637b076e607f7218cdb4973c81f38e6.png"/>
          <p:cNvPicPr>
            <a:picLocks noChangeAspect="1"/>
          </p:cNvPicPr>
          <p:nvPr/>
        </p:nvPicPr>
        <p:blipFill>
          <a:blip r:embed="rId12"/>
          <a:srcRect t="-8450" b="-8450"/>
          <a:stretch/>
        </p:blipFill>
        <p:spPr>
          <a:xfrm>
            <a:off x="5427878" y="5277002"/>
            <a:ext cx="114300" cy="152705"/>
          </a:xfrm>
          <a:prstGeom prst="rect">
            <a:avLst/>
          </a:prstGeom>
        </p:spPr>
      </p:pic>
      <p:pic>
        <p:nvPicPr>
          <p:cNvPr id="27" name="Image 10" descr="gen-dedup-4b04481605890cd5e2948f325621428b.png"/>
          <p:cNvPicPr>
            <a:picLocks noChangeAspect="1"/>
          </p:cNvPicPr>
          <p:nvPr/>
        </p:nvPicPr>
        <p:blipFill>
          <a:blip r:embed="rId13"/>
          <a:srcRect l="-216" r="-216"/>
          <a:stretch/>
        </p:blipFill>
        <p:spPr>
          <a:xfrm>
            <a:off x="7969910" y="5143500"/>
            <a:ext cx="2562149" cy="418795"/>
          </a:xfrm>
          <a:prstGeom prst="rect">
            <a:avLst/>
          </a:prstGeom>
        </p:spPr>
      </p:pic>
      <p:sp>
        <p:nvSpPr>
          <p:cNvPr id="28" name="Shape 15"/>
          <p:cNvSpPr/>
          <p:nvPr/>
        </p:nvSpPr>
        <p:spPr>
          <a:xfrm>
            <a:off x="7969910" y="5143500"/>
            <a:ext cx="2562149" cy="418795"/>
          </a:xfrm>
          <a:prstGeom prst="roundRect">
            <a:avLst>
              <a:gd name="adj" fmla="val 13755"/>
            </a:avLst>
          </a:prstGeom>
          <a:noFill/>
          <a:ln w="12700">
            <a:solidFill>
              <a:srgbClr val="E5E7EB"/>
            </a:solidFill>
            <a:prstDash val="solid"/>
          </a:ln>
        </p:spPr>
        <p:txBody>
          <a:bodyPr/>
          <a:lstStyle/>
          <a:p>
            <a:endParaRPr lang="en-US"/>
          </a:p>
        </p:txBody>
      </p:sp>
      <p:sp>
        <p:nvSpPr>
          <p:cNvPr id="29" name="Text 16"/>
          <p:cNvSpPr txBox="1"/>
          <p:nvPr/>
        </p:nvSpPr>
        <p:spPr>
          <a:xfrm>
            <a:off x="8194548" y="5143500"/>
            <a:ext cx="2125066"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 0.5 defect density threshold </a:t>
            </a:r>
            <a:endParaRPr lang="en-US" sz="1100"/>
          </a:p>
        </p:txBody>
      </p:sp>
      <p:pic>
        <p:nvPicPr>
          <p:cNvPr id="30" name="Image 11" descr="gen-dedup-de4cb59b8211160ed90cebf7a454cebf.png"/>
          <p:cNvPicPr>
            <a:picLocks noChangeAspect="1"/>
          </p:cNvPicPr>
          <p:nvPr/>
        </p:nvPicPr>
        <p:blipFill>
          <a:blip r:embed="rId14"/>
          <a:srcRect t="-16800" b="-16800"/>
          <a:stretch/>
        </p:blipFill>
        <p:spPr>
          <a:xfrm>
            <a:off x="8198510" y="5277002"/>
            <a:ext cx="114300" cy="152705"/>
          </a:xfrm>
          <a:prstGeom prst="rect">
            <a:avLst/>
          </a:prstGeom>
        </p:spPr>
      </p:pic>
      <p:sp>
        <p:nvSpPr>
          <p:cNvPr id="31" name="Shape 17"/>
          <p:cNvSpPr/>
          <p:nvPr/>
        </p:nvSpPr>
        <p:spPr>
          <a:xfrm>
            <a:off x="1143000" y="6096305"/>
            <a:ext cx="9905695" cy="9144"/>
          </a:xfrm>
          <a:prstGeom prst="rect">
            <a:avLst/>
          </a:prstGeom>
          <a:solidFill>
            <a:srgbClr val="E5E7EB"/>
          </a:solidFill>
          <a:ln w="12700">
            <a:solidFill>
              <a:srgbClr val="E5E7EB">
                <a:alpha val="0"/>
              </a:srgbClr>
            </a:solidFill>
            <a:prstDash val="solid"/>
          </a:ln>
        </p:spPr>
        <p:txBody>
          <a:bodyPr/>
          <a:lstStyle/>
          <a:p>
            <a:endParaRPr lang="en-US"/>
          </a:p>
        </p:txBody>
      </p:sp>
      <p:sp>
        <p:nvSpPr>
          <p:cNvPr id="32" name="Text 18"/>
          <p:cNvSpPr txBox="1"/>
          <p:nvPr/>
        </p:nvSpPr>
        <p:spPr>
          <a:xfrm>
            <a:off x="1143000" y="6258154"/>
            <a:ext cx="9906610" cy="181051"/>
          </a:xfrm>
          <a:prstGeom prst="rect">
            <a:avLst/>
          </a:prstGeom>
          <a:noFill/>
          <a:ln/>
        </p:spPr>
        <p:txBody>
          <a:bodyPr wrap="none" lIns="0" tIns="0" rIns="0" bIns="0" rtlCol="0" anchor="ctr"/>
          <a:lstStyle/>
          <a:p>
            <a:pPr marL="0" indent="0" algn="l">
              <a:buNone/>
            </a:pPr>
            <a:r>
              <a:rPr lang="en-US" sz="1200" b="1" kern="0" spc="24">
                <a:solidFill>
                  <a:srgbClr val="6B7280"/>
                </a:solidFill>
                <a:latin typeface="Raleway" pitchFamily="34" charset="0"/>
                <a:ea typeface="Raleway" pitchFamily="34" charset="-122"/>
                <a:cs typeface="Raleway" pitchFamily="34" charset="-120"/>
              </a:rPr>
              <a:t>Scale your engineering footprint with absolute control and measurable outcomes.</a:t>
            </a:r>
            <a:endParaRPr lang="en-US" sz="1200"/>
          </a:p>
        </p:txBody>
      </p:sp>
    </p:spTree>
    <p:extLst>
      <p:ext uri="{BB962C8B-B14F-4D97-AF65-F5344CB8AC3E}">
        <p14:creationId xmlns:p14="http://schemas.microsoft.com/office/powerpoint/2010/main" val="24447062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preencoded.png"/>
          <p:cNvPicPr>
            <a:picLocks noChangeAspect="1"/>
          </p:cNvPicPr>
          <p:nvPr/>
        </p:nvPicPr>
        <p:blipFill>
          <a:blip r:embed="rId3"/>
          <a:srcRect l="-207" r="-207"/>
          <a:stretch/>
        </p:blipFill>
        <p:spPr>
          <a:xfrm>
            <a:off x="0" y="0"/>
            <a:ext cx="4058107" cy="75895"/>
          </a:xfrm>
          <a:prstGeom prst="rect">
            <a:avLst/>
          </a:prstGeom>
        </p:spPr>
      </p:pic>
      <p:pic>
        <p:nvPicPr>
          <p:cNvPr id="5" name="Image 1" descr="preencoded.png"/>
          <p:cNvPicPr>
            <a:picLocks noChangeAspect="1"/>
          </p:cNvPicPr>
          <p:nvPr/>
        </p:nvPicPr>
        <p:blipFill>
          <a:blip r:embed="rId4"/>
          <a:srcRect l="-202" r="-202"/>
          <a:stretch/>
        </p:blipFill>
        <p:spPr>
          <a:xfrm>
            <a:off x="4058107" y="0"/>
            <a:ext cx="8134502" cy="75895"/>
          </a:xfrm>
          <a:prstGeom prst="rect">
            <a:avLst/>
          </a:prstGeom>
        </p:spPr>
      </p:pic>
      <p:sp>
        <p:nvSpPr>
          <p:cNvPr id="6" name="Shape 2"/>
          <p:cNvSpPr/>
          <p:nvPr/>
        </p:nvSpPr>
        <p:spPr>
          <a:xfrm>
            <a:off x="-952805" y="-952805"/>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sp>
        <p:nvSpPr>
          <p:cNvPr id="7" name="Shape 3"/>
          <p:cNvSpPr/>
          <p:nvPr/>
        </p:nvSpPr>
        <p:spPr>
          <a:xfrm>
            <a:off x="9525305" y="4762195"/>
            <a:ext cx="2857500" cy="2857500"/>
          </a:xfrm>
          <a:prstGeom prst="ellipse">
            <a:avLst/>
          </a:prstGeom>
          <a:solidFill>
            <a:srgbClr val="D62839">
              <a:alpha val="3000"/>
            </a:srgbClr>
          </a:solidFill>
          <a:ln w="12700">
            <a:solidFill>
              <a:srgbClr val="FFFFFF">
                <a:alpha val="0"/>
              </a:srgbClr>
            </a:solidFill>
            <a:prstDash val="solid"/>
          </a:ln>
        </p:spPr>
        <p:txBody>
          <a:bodyPr/>
          <a:lstStyle/>
          <a:p>
            <a:endParaRPr lang="en-US"/>
          </a:p>
        </p:txBody>
      </p:sp>
      <p:pic>
        <p:nvPicPr>
          <p:cNvPr id="8" name="Image 2" descr="preencoded.png"/>
          <p:cNvPicPr>
            <a:picLocks noChangeAspect="1"/>
          </p:cNvPicPr>
          <p:nvPr/>
        </p:nvPicPr>
        <p:blipFill>
          <a:blip r:embed="rId5"/>
          <a:srcRect l="-400" r="-400"/>
          <a:stretch/>
        </p:blipFill>
        <p:spPr>
          <a:xfrm>
            <a:off x="609905" y="571500"/>
            <a:ext cx="57607" cy="571500"/>
          </a:xfrm>
          <a:prstGeom prst="rect">
            <a:avLst/>
          </a:prstGeom>
        </p:spPr>
      </p:pic>
      <p:sp>
        <p:nvSpPr>
          <p:cNvPr id="9" name="Shape 4"/>
          <p:cNvSpPr/>
          <p:nvPr/>
        </p:nvSpPr>
        <p:spPr>
          <a:xfrm>
            <a:off x="609905" y="1524305"/>
            <a:ext cx="2628900" cy="1962302"/>
          </a:xfrm>
          <a:prstGeom prst="roundRect">
            <a:avLst>
              <a:gd name="adj" fmla="val 36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10" name="Shape 5"/>
          <p:cNvSpPr/>
          <p:nvPr/>
        </p:nvSpPr>
        <p:spPr>
          <a:xfrm>
            <a:off x="609905" y="1524305"/>
            <a:ext cx="2628900" cy="47549"/>
          </a:xfrm>
          <a:prstGeom prst="roundRect">
            <a:avLst>
              <a:gd name="adj" fmla="val 149365"/>
            </a:avLst>
          </a:prstGeom>
          <a:solidFill>
            <a:srgbClr val="2A9D8F"/>
          </a:solidFill>
          <a:ln w="12700">
            <a:solidFill>
              <a:srgbClr val="2A9D8F">
                <a:alpha val="0"/>
              </a:srgbClr>
            </a:solidFill>
            <a:prstDash val="solid"/>
          </a:ln>
        </p:spPr>
        <p:txBody>
          <a:bodyPr/>
          <a:lstStyle/>
          <a:p>
            <a:endParaRPr lang="en-US"/>
          </a:p>
        </p:txBody>
      </p:sp>
      <p:sp>
        <p:nvSpPr>
          <p:cNvPr id="11" name="Shape 6"/>
          <p:cNvSpPr/>
          <p:nvPr/>
        </p:nvSpPr>
        <p:spPr>
          <a:xfrm>
            <a:off x="3372307" y="1524305"/>
            <a:ext cx="2628900" cy="1962302"/>
          </a:xfrm>
          <a:prstGeom prst="roundRect">
            <a:avLst>
              <a:gd name="adj" fmla="val 36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12" name="Shape 7"/>
          <p:cNvSpPr/>
          <p:nvPr/>
        </p:nvSpPr>
        <p:spPr>
          <a:xfrm>
            <a:off x="3372307" y="1524305"/>
            <a:ext cx="2628900" cy="47549"/>
          </a:xfrm>
          <a:prstGeom prst="roundRect">
            <a:avLst>
              <a:gd name="adj" fmla="val 149365"/>
            </a:avLst>
          </a:prstGeom>
          <a:solidFill>
            <a:srgbClr val="D62839"/>
          </a:solidFill>
          <a:ln w="12700">
            <a:solidFill>
              <a:srgbClr val="D62839">
                <a:alpha val="0"/>
              </a:srgbClr>
            </a:solidFill>
            <a:prstDash val="solid"/>
          </a:ln>
        </p:spPr>
        <p:txBody>
          <a:bodyPr/>
          <a:lstStyle/>
          <a:p>
            <a:endParaRPr lang="en-US"/>
          </a:p>
        </p:txBody>
      </p:sp>
      <p:sp>
        <p:nvSpPr>
          <p:cNvPr id="13" name="Shape 8"/>
          <p:cNvSpPr/>
          <p:nvPr/>
        </p:nvSpPr>
        <p:spPr>
          <a:xfrm>
            <a:off x="6133795" y="1524305"/>
            <a:ext cx="2628900" cy="1962302"/>
          </a:xfrm>
          <a:prstGeom prst="roundRect">
            <a:avLst>
              <a:gd name="adj" fmla="val 36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14" name="Shape 9"/>
          <p:cNvSpPr/>
          <p:nvPr/>
        </p:nvSpPr>
        <p:spPr>
          <a:xfrm>
            <a:off x="6133795" y="1524305"/>
            <a:ext cx="2628900" cy="47549"/>
          </a:xfrm>
          <a:prstGeom prst="roundRect">
            <a:avLst>
              <a:gd name="adj" fmla="val 149365"/>
            </a:avLst>
          </a:prstGeom>
          <a:solidFill>
            <a:srgbClr val="2A9D8F"/>
          </a:solidFill>
          <a:ln w="12700">
            <a:solidFill>
              <a:srgbClr val="2A9D8F">
                <a:alpha val="0"/>
              </a:srgbClr>
            </a:solidFill>
            <a:prstDash val="solid"/>
          </a:ln>
        </p:spPr>
        <p:txBody>
          <a:bodyPr/>
          <a:lstStyle/>
          <a:p>
            <a:endParaRPr lang="en-US"/>
          </a:p>
        </p:txBody>
      </p:sp>
      <p:sp>
        <p:nvSpPr>
          <p:cNvPr id="15" name="Shape 10"/>
          <p:cNvSpPr/>
          <p:nvPr/>
        </p:nvSpPr>
        <p:spPr>
          <a:xfrm>
            <a:off x="8896198" y="1524305"/>
            <a:ext cx="2628900" cy="1962302"/>
          </a:xfrm>
          <a:prstGeom prst="roundRect">
            <a:avLst>
              <a:gd name="adj" fmla="val 36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sp>
        <p:nvSpPr>
          <p:cNvPr id="16" name="Shape 11"/>
          <p:cNvSpPr/>
          <p:nvPr/>
        </p:nvSpPr>
        <p:spPr>
          <a:xfrm>
            <a:off x="8896198" y="1524305"/>
            <a:ext cx="2628900" cy="47549"/>
          </a:xfrm>
          <a:prstGeom prst="roundRect">
            <a:avLst>
              <a:gd name="adj" fmla="val 149365"/>
            </a:avLst>
          </a:prstGeom>
          <a:solidFill>
            <a:srgbClr val="D62839"/>
          </a:solidFill>
          <a:ln w="12700">
            <a:solidFill>
              <a:srgbClr val="D62839">
                <a:alpha val="0"/>
              </a:srgbClr>
            </a:solidFill>
            <a:prstDash val="solid"/>
          </a:ln>
        </p:spPr>
        <p:txBody>
          <a:bodyPr/>
          <a:lstStyle/>
          <a:p>
            <a:endParaRPr lang="en-US"/>
          </a:p>
        </p:txBody>
      </p:sp>
      <p:sp>
        <p:nvSpPr>
          <p:cNvPr id="17" name="Shape 12"/>
          <p:cNvSpPr/>
          <p:nvPr/>
        </p:nvSpPr>
        <p:spPr>
          <a:xfrm>
            <a:off x="609905" y="3619195"/>
            <a:ext cx="10916107" cy="2876702"/>
          </a:xfrm>
          <a:prstGeom prst="roundRect">
            <a:avLst>
              <a:gd name="adj" fmla="val 1684"/>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en-US"/>
          </a:p>
        </p:txBody>
      </p:sp>
      <p:pic>
        <p:nvPicPr>
          <p:cNvPr id="18" name="Image 3" descr="preencoded.png"/>
          <p:cNvPicPr>
            <a:picLocks noChangeAspect="1"/>
          </p:cNvPicPr>
          <p:nvPr/>
        </p:nvPicPr>
        <p:blipFill>
          <a:blip r:embed="rId6"/>
          <a:srcRect t="-29" b="-29"/>
          <a:stretch/>
        </p:blipFill>
        <p:spPr>
          <a:xfrm>
            <a:off x="609905" y="3619195"/>
            <a:ext cx="10896905" cy="495605"/>
          </a:xfrm>
          <a:prstGeom prst="rect">
            <a:avLst/>
          </a:prstGeom>
        </p:spPr>
      </p:pic>
      <p:sp>
        <p:nvSpPr>
          <p:cNvPr id="19" name="Shape 13"/>
          <p:cNvSpPr/>
          <p:nvPr/>
        </p:nvSpPr>
        <p:spPr>
          <a:xfrm>
            <a:off x="609905" y="4572000"/>
            <a:ext cx="10896905" cy="9144"/>
          </a:xfrm>
          <a:prstGeom prst="rect">
            <a:avLst/>
          </a:prstGeom>
          <a:solidFill>
            <a:srgbClr val="F3F4F6"/>
          </a:solidFill>
          <a:ln w="12700">
            <a:solidFill>
              <a:srgbClr val="F3F4F6">
                <a:alpha val="0"/>
              </a:srgbClr>
            </a:solidFill>
            <a:prstDash val="solid"/>
          </a:ln>
        </p:spPr>
        <p:txBody>
          <a:bodyPr/>
          <a:lstStyle/>
          <a:p>
            <a:endParaRPr lang="en-US"/>
          </a:p>
        </p:txBody>
      </p:sp>
      <p:sp>
        <p:nvSpPr>
          <p:cNvPr id="20" name="Shape 14"/>
          <p:cNvSpPr/>
          <p:nvPr/>
        </p:nvSpPr>
        <p:spPr>
          <a:xfrm>
            <a:off x="609905" y="4572000"/>
            <a:ext cx="10896905" cy="485546"/>
          </a:xfrm>
          <a:prstGeom prst="rect">
            <a:avLst/>
          </a:prstGeom>
          <a:solidFill>
            <a:srgbClr val="2A9D8F">
              <a:alpha val="2000"/>
            </a:srgbClr>
          </a:solidFill>
          <a:ln/>
        </p:spPr>
        <p:txBody>
          <a:bodyPr/>
          <a:lstStyle/>
          <a:p>
            <a:endParaRPr lang="en-US"/>
          </a:p>
        </p:txBody>
      </p:sp>
      <p:sp>
        <p:nvSpPr>
          <p:cNvPr id="21" name="Shape 15"/>
          <p:cNvSpPr/>
          <p:nvPr/>
        </p:nvSpPr>
        <p:spPr>
          <a:xfrm>
            <a:off x="609905" y="5048402"/>
            <a:ext cx="10896905" cy="9144"/>
          </a:xfrm>
          <a:prstGeom prst="rect">
            <a:avLst/>
          </a:prstGeom>
          <a:solidFill>
            <a:srgbClr val="F3F4F6"/>
          </a:solidFill>
          <a:ln w="12700">
            <a:solidFill>
              <a:srgbClr val="F3F4F6">
                <a:alpha val="0"/>
              </a:srgbClr>
            </a:solidFill>
            <a:prstDash val="solid"/>
          </a:ln>
        </p:spPr>
        <p:txBody>
          <a:bodyPr/>
          <a:lstStyle/>
          <a:p>
            <a:endParaRPr lang="en-US"/>
          </a:p>
        </p:txBody>
      </p:sp>
      <p:sp>
        <p:nvSpPr>
          <p:cNvPr id="22" name="Shape 16"/>
          <p:cNvSpPr/>
          <p:nvPr/>
        </p:nvSpPr>
        <p:spPr>
          <a:xfrm>
            <a:off x="609905" y="5524805"/>
            <a:ext cx="10896905" cy="9144"/>
          </a:xfrm>
          <a:prstGeom prst="rect">
            <a:avLst/>
          </a:prstGeom>
          <a:solidFill>
            <a:srgbClr val="F3F4F6"/>
          </a:solidFill>
          <a:ln w="12700">
            <a:solidFill>
              <a:srgbClr val="F3F4F6">
                <a:alpha val="0"/>
              </a:srgbClr>
            </a:solidFill>
            <a:prstDash val="solid"/>
          </a:ln>
        </p:spPr>
        <p:txBody>
          <a:bodyPr/>
          <a:lstStyle/>
          <a:p>
            <a:endParaRPr lang="en-US"/>
          </a:p>
        </p:txBody>
      </p:sp>
      <p:sp>
        <p:nvSpPr>
          <p:cNvPr id="23" name="Shape 17"/>
          <p:cNvSpPr/>
          <p:nvPr/>
        </p:nvSpPr>
        <p:spPr>
          <a:xfrm>
            <a:off x="609905" y="5524805"/>
            <a:ext cx="10896905" cy="485546"/>
          </a:xfrm>
          <a:prstGeom prst="rect">
            <a:avLst/>
          </a:prstGeom>
          <a:solidFill>
            <a:srgbClr val="2A9D8F">
              <a:alpha val="2000"/>
            </a:srgbClr>
          </a:solidFill>
          <a:ln/>
        </p:spPr>
        <p:txBody>
          <a:bodyPr/>
          <a:lstStyle/>
          <a:p>
            <a:endParaRPr lang="en-US"/>
          </a:p>
        </p:txBody>
      </p:sp>
      <p:sp>
        <p:nvSpPr>
          <p:cNvPr id="24" name="Shape 18"/>
          <p:cNvSpPr/>
          <p:nvPr/>
        </p:nvSpPr>
        <p:spPr>
          <a:xfrm>
            <a:off x="609905" y="6001207"/>
            <a:ext cx="10896905" cy="9144"/>
          </a:xfrm>
          <a:prstGeom prst="rect">
            <a:avLst/>
          </a:prstGeom>
          <a:solidFill>
            <a:srgbClr val="F3F4F6"/>
          </a:solidFill>
          <a:ln w="12700">
            <a:solidFill>
              <a:srgbClr val="F3F4F6">
                <a:alpha val="0"/>
              </a:srgbClr>
            </a:solidFill>
            <a:prstDash val="solid"/>
          </a:ln>
        </p:spPr>
        <p:txBody>
          <a:bodyPr/>
          <a:lstStyle/>
          <a:p>
            <a:endParaRPr lang="en-US"/>
          </a:p>
        </p:txBody>
      </p:sp>
      <p:sp>
        <p:nvSpPr>
          <p:cNvPr id="25" name="Text 19"/>
          <p:cNvSpPr txBox="1"/>
          <p:nvPr/>
        </p:nvSpPr>
        <p:spPr>
          <a:xfrm>
            <a:off x="857707" y="466344"/>
            <a:ext cx="10668305" cy="362102"/>
          </a:xfrm>
          <a:prstGeom prst="rect">
            <a:avLst/>
          </a:prstGeom>
          <a:noFill/>
          <a:ln/>
        </p:spPr>
        <p:txBody>
          <a:bodyPr wrap="square" lIns="0" tIns="0" rIns="0" bIns="0" rtlCol="0" anchor="ctr"/>
          <a:lstStyle/>
          <a:p>
            <a:pPr marL="0" indent="0" algn="l">
              <a:buNone/>
            </a:pPr>
            <a:r>
              <a:rPr lang="en-US" sz="2700" b="1" kern="0" spc="38">
                <a:solidFill>
                  <a:srgbClr val="111827"/>
                </a:solidFill>
                <a:latin typeface="Oswald" pitchFamily="34" charset="0"/>
                <a:ea typeface="Oswald" pitchFamily="34" charset="-122"/>
                <a:cs typeface="Oswald" pitchFamily="34" charset="-120"/>
              </a:rPr>
              <a:t>Introducing the AI-First Pod Model</a:t>
            </a:r>
            <a:endParaRPr lang="en-US" sz="2700"/>
          </a:p>
        </p:txBody>
      </p:sp>
      <p:sp>
        <p:nvSpPr>
          <p:cNvPr id="26" name="Text 20"/>
          <p:cNvSpPr txBox="1"/>
          <p:nvPr/>
        </p:nvSpPr>
        <p:spPr>
          <a:xfrm>
            <a:off x="857707" y="1009498"/>
            <a:ext cx="10592410" cy="210312"/>
          </a:xfrm>
          <a:prstGeom prst="rect">
            <a:avLst/>
          </a:prstGeom>
          <a:noFill/>
          <a:ln/>
        </p:spPr>
        <p:txBody>
          <a:bodyPr wrap="square" lIns="0" tIns="0" rIns="0" bIns="0" rtlCol="0" anchor="ctr"/>
          <a:lstStyle/>
          <a:p>
            <a:pPr marL="0" indent="0" algn="l">
              <a:buNone/>
            </a:pPr>
            <a:r>
              <a:rPr lang="en-US" sz="1300" b="1" kern="0" spc="75">
                <a:solidFill>
                  <a:srgbClr val="D62839"/>
                </a:solidFill>
                <a:latin typeface="Roboto Condensed" pitchFamily="34" charset="0"/>
                <a:ea typeface="Roboto Condensed" pitchFamily="34" charset="-122"/>
                <a:cs typeface="Roboto Condensed" pitchFamily="34" charset="-120"/>
              </a:rPr>
              <a:t>A MANAGED, GOVERNED ENGINEERING UNIT - NOT JUST STAFFING WITH A WRAPPER.</a:t>
            </a:r>
            <a:endParaRPr lang="en-US" sz="1300"/>
          </a:p>
        </p:txBody>
      </p:sp>
      <p:pic>
        <p:nvPicPr>
          <p:cNvPr id="27" name="Image 4" descr="preencoded.png"/>
          <p:cNvPicPr>
            <a:picLocks noChangeAspect="1"/>
          </p:cNvPicPr>
          <p:nvPr/>
        </p:nvPicPr>
        <p:blipFill>
          <a:blip r:embed="rId7"/>
          <a:srcRect/>
          <a:stretch/>
        </p:blipFill>
        <p:spPr>
          <a:xfrm>
            <a:off x="823874" y="1772107"/>
            <a:ext cx="333756" cy="267005"/>
          </a:xfrm>
          <a:prstGeom prst="rect">
            <a:avLst/>
          </a:prstGeom>
        </p:spPr>
      </p:pic>
      <p:sp>
        <p:nvSpPr>
          <p:cNvPr id="28" name="Text 21"/>
          <p:cNvSpPr txBox="1"/>
          <p:nvPr/>
        </p:nvSpPr>
        <p:spPr>
          <a:xfrm>
            <a:off x="800100" y="2190902"/>
            <a:ext cx="2318004" cy="219456"/>
          </a:xfrm>
          <a:prstGeom prst="rect">
            <a:avLst/>
          </a:prstGeom>
          <a:noFill/>
          <a:ln/>
        </p:spPr>
        <p:txBody>
          <a:bodyPr wrap="square" lIns="0" tIns="0" rIns="0" bIns="0" rtlCol="0" anchor="ctr"/>
          <a:lstStyle/>
          <a:p>
            <a:pPr marL="0" indent="0" algn="l">
              <a:buNone/>
            </a:pPr>
            <a:r>
              <a:rPr lang="en-US" sz="1500" b="1">
                <a:solidFill>
                  <a:srgbClr val="1F2937"/>
                </a:solidFill>
                <a:latin typeface="Oswald" pitchFamily="34" charset="0"/>
                <a:ea typeface="Oswald" pitchFamily="34" charset="-122"/>
                <a:cs typeface="Oswald" pitchFamily="34" charset="-120"/>
              </a:rPr>
              <a:t>Engineering Team</a:t>
            </a:r>
            <a:endParaRPr lang="en-US" sz="1500"/>
          </a:p>
        </p:txBody>
      </p:sp>
      <p:sp>
        <p:nvSpPr>
          <p:cNvPr id="29" name="Text 22"/>
          <p:cNvSpPr txBox="1"/>
          <p:nvPr/>
        </p:nvSpPr>
        <p:spPr>
          <a:xfrm>
            <a:off x="800100" y="2514600"/>
            <a:ext cx="2305202" cy="562356"/>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Dedicated engineers (Java, Python, DevOps) - hired, vetted, and onboarded by J2W.</a:t>
            </a:r>
            <a:endParaRPr lang="en-US" sz="1000"/>
          </a:p>
        </p:txBody>
      </p:sp>
      <p:pic>
        <p:nvPicPr>
          <p:cNvPr id="30" name="Image 5" descr="preencoded.png"/>
          <p:cNvPicPr>
            <a:picLocks noChangeAspect="1"/>
          </p:cNvPicPr>
          <p:nvPr/>
        </p:nvPicPr>
        <p:blipFill>
          <a:blip r:embed="rId8"/>
          <a:srcRect l="-881" r="-881"/>
          <a:stretch/>
        </p:blipFill>
        <p:spPr>
          <a:xfrm>
            <a:off x="3633826" y="1772107"/>
            <a:ext cx="237744" cy="267005"/>
          </a:xfrm>
          <a:prstGeom prst="rect">
            <a:avLst/>
          </a:prstGeom>
        </p:spPr>
      </p:pic>
      <p:sp>
        <p:nvSpPr>
          <p:cNvPr id="31" name="Text 23"/>
          <p:cNvSpPr txBox="1"/>
          <p:nvPr/>
        </p:nvSpPr>
        <p:spPr>
          <a:xfrm>
            <a:off x="3562502" y="2190902"/>
            <a:ext cx="2318004" cy="219456"/>
          </a:xfrm>
          <a:prstGeom prst="rect">
            <a:avLst/>
          </a:prstGeom>
          <a:noFill/>
          <a:ln/>
        </p:spPr>
        <p:txBody>
          <a:bodyPr wrap="square" lIns="0" tIns="0" rIns="0" bIns="0" rtlCol="0" anchor="ctr"/>
          <a:lstStyle/>
          <a:p>
            <a:pPr marL="0" indent="0" algn="l">
              <a:buNone/>
            </a:pPr>
            <a:r>
              <a:rPr lang="en-US" sz="1500" b="1">
                <a:solidFill>
                  <a:srgbClr val="1F2937"/>
                </a:solidFill>
                <a:latin typeface="Oswald" pitchFamily="34" charset="0"/>
                <a:ea typeface="Oswald" pitchFamily="34" charset="-122"/>
                <a:cs typeface="Oswald" pitchFamily="34" charset="-120"/>
              </a:rPr>
              <a:t>Pod Lead</a:t>
            </a:r>
            <a:endParaRPr lang="en-US" sz="1500"/>
          </a:p>
        </p:txBody>
      </p:sp>
      <p:sp>
        <p:nvSpPr>
          <p:cNvPr id="32" name="Text 24"/>
          <p:cNvSpPr txBox="1"/>
          <p:nvPr/>
        </p:nvSpPr>
        <p:spPr>
          <a:xfrm>
            <a:off x="3562502" y="2514600"/>
            <a:ext cx="2305202" cy="562356"/>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A J2W program manager who owns delivery, sprint governance, and client alignment.</a:t>
            </a:r>
            <a:endParaRPr lang="en-US" sz="1000"/>
          </a:p>
        </p:txBody>
      </p:sp>
      <p:pic>
        <p:nvPicPr>
          <p:cNvPr id="33" name="Image 6" descr="preencoded.png"/>
          <p:cNvPicPr>
            <a:picLocks noChangeAspect="1"/>
          </p:cNvPicPr>
          <p:nvPr/>
        </p:nvPicPr>
        <p:blipFill>
          <a:blip r:embed="rId9"/>
          <a:srcRect/>
          <a:stretch/>
        </p:blipFill>
        <p:spPr>
          <a:xfrm>
            <a:off x="6381598" y="1772107"/>
            <a:ext cx="267005" cy="267005"/>
          </a:xfrm>
          <a:prstGeom prst="rect">
            <a:avLst/>
          </a:prstGeom>
        </p:spPr>
      </p:pic>
      <p:sp>
        <p:nvSpPr>
          <p:cNvPr id="34" name="Text 25"/>
          <p:cNvSpPr txBox="1"/>
          <p:nvPr/>
        </p:nvSpPr>
        <p:spPr>
          <a:xfrm>
            <a:off x="6324905" y="2190902"/>
            <a:ext cx="2652674" cy="219456"/>
          </a:xfrm>
          <a:prstGeom prst="rect">
            <a:avLst/>
          </a:prstGeom>
          <a:noFill/>
          <a:ln/>
        </p:spPr>
        <p:txBody>
          <a:bodyPr wrap="square" lIns="0" tIns="0" rIns="0" bIns="0" rtlCol="0" anchor="ctr"/>
          <a:lstStyle/>
          <a:p>
            <a:pPr marL="0" indent="0" algn="l">
              <a:buNone/>
            </a:pPr>
            <a:r>
              <a:rPr lang="en-US" sz="1500" b="1">
                <a:solidFill>
                  <a:srgbClr val="1F2937"/>
                </a:solidFill>
                <a:latin typeface="Oswald" pitchFamily="34" charset="0"/>
                <a:ea typeface="Oswald" pitchFamily="34" charset="-122"/>
                <a:cs typeface="Oswald" pitchFamily="34" charset="-120"/>
              </a:rPr>
              <a:t>Performance Governance</a:t>
            </a:r>
            <a:endParaRPr lang="en-US" sz="1500"/>
          </a:p>
        </p:txBody>
      </p:sp>
      <p:sp>
        <p:nvSpPr>
          <p:cNvPr id="35" name="Text 26"/>
          <p:cNvSpPr txBox="1"/>
          <p:nvPr/>
        </p:nvSpPr>
        <p:spPr>
          <a:xfrm>
            <a:off x="6324905" y="2514600"/>
            <a:ext cx="2305202" cy="543154"/>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Weekly performance tracking, SLA metrics, velocity monitoring, proactive resolution.</a:t>
            </a:r>
            <a:endParaRPr lang="en-US" sz="1000"/>
          </a:p>
        </p:txBody>
      </p:sp>
      <p:pic>
        <p:nvPicPr>
          <p:cNvPr id="36" name="Image 7" descr="preencoded.png"/>
          <p:cNvPicPr>
            <a:picLocks noChangeAspect="1"/>
          </p:cNvPicPr>
          <p:nvPr/>
        </p:nvPicPr>
        <p:blipFill>
          <a:blip r:embed="rId10"/>
          <a:srcRect/>
          <a:stretch/>
        </p:blipFill>
        <p:spPr>
          <a:xfrm>
            <a:off x="9144000" y="1772107"/>
            <a:ext cx="267005" cy="267005"/>
          </a:xfrm>
          <a:prstGeom prst="rect">
            <a:avLst/>
          </a:prstGeom>
        </p:spPr>
      </p:pic>
      <p:sp>
        <p:nvSpPr>
          <p:cNvPr id="37" name="Text 27"/>
          <p:cNvSpPr txBox="1"/>
          <p:nvPr/>
        </p:nvSpPr>
        <p:spPr>
          <a:xfrm>
            <a:off x="9087307" y="2190902"/>
            <a:ext cx="2451506" cy="219456"/>
          </a:xfrm>
          <a:prstGeom prst="rect">
            <a:avLst/>
          </a:prstGeom>
          <a:noFill/>
          <a:ln/>
        </p:spPr>
        <p:txBody>
          <a:bodyPr wrap="square" lIns="0" tIns="0" rIns="0" bIns="0" rtlCol="0" anchor="ctr"/>
          <a:lstStyle/>
          <a:p>
            <a:pPr marL="0" indent="0" algn="l">
              <a:buNone/>
            </a:pPr>
            <a:r>
              <a:rPr lang="en-US" sz="1500" b="1">
                <a:solidFill>
                  <a:srgbClr val="1F2937"/>
                </a:solidFill>
                <a:latin typeface="Oswald" pitchFamily="34" charset="0"/>
                <a:ea typeface="Oswald" pitchFamily="34" charset="-122"/>
                <a:cs typeface="Oswald" pitchFamily="34" charset="-120"/>
              </a:rPr>
              <a:t>AI-First L&amp;D Program</a:t>
            </a:r>
            <a:endParaRPr lang="en-US" sz="1500"/>
          </a:p>
        </p:txBody>
      </p:sp>
      <p:sp>
        <p:nvSpPr>
          <p:cNvPr id="38" name="Text 28"/>
          <p:cNvSpPr txBox="1"/>
          <p:nvPr/>
        </p:nvSpPr>
        <p:spPr>
          <a:xfrm>
            <a:off x="9087307" y="2514600"/>
            <a:ext cx="2305202" cy="562356"/>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Continuous AI training - hands-on, contextual upskilling powered by Research Wing.</a:t>
            </a:r>
            <a:endParaRPr lang="en-US" sz="1000"/>
          </a:p>
        </p:txBody>
      </p:sp>
      <p:sp>
        <p:nvSpPr>
          <p:cNvPr id="39" name="Text 29"/>
          <p:cNvSpPr txBox="1"/>
          <p:nvPr/>
        </p:nvSpPr>
        <p:spPr>
          <a:xfrm>
            <a:off x="800100" y="3762756"/>
            <a:ext cx="2774290" cy="228600"/>
          </a:xfrm>
          <a:prstGeom prst="rect">
            <a:avLst/>
          </a:prstGeom>
          <a:noFill/>
          <a:ln/>
        </p:spPr>
        <p:txBody>
          <a:bodyPr wrap="square" lIns="0" tIns="0" rIns="0" bIns="0" rtlCol="0" anchor="ctr"/>
          <a:lstStyle/>
          <a:p>
            <a:pPr marL="0" indent="0" algn="l">
              <a:buNone/>
            </a:pPr>
            <a:r>
              <a:rPr lang="en-US" sz="1200" b="1" kern="0" spc="75">
                <a:solidFill>
                  <a:srgbClr val="4B5563"/>
                </a:solidFill>
                <a:latin typeface="Oswald" pitchFamily="34" charset="0"/>
                <a:ea typeface="Oswald" pitchFamily="34" charset="-122"/>
                <a:cs typeface="Oswald" pitchFamily="34" charset="-120"/>
              </a:rPr>
              <a:t>Dimension</a:t>
            </a:r>
            <a:endParaRPr lang="en-US" sz="1200"/>
          </a:p>
        </p:txBody>
      </p:sp>
      <p:sp>
        <p:nvSpPr>
          <p:cNvPr id="40" name="Text 30"/>
          <p:cNvSpPr txBox="1"/>
          <p:nvPr/>
        </p:nvSpPr>
        <p:spPr>
          <a:xfrm>
            <a:off x="3657600" y="3762756"/>
            <a:ext cx="3543300" cy="228600"/>
          </a:xfrm>
          <a:prstGeom prst="rect">
            <a:avLst/>
          </a:prstGeom>
          <a:noFill/>
          <a:ln/>
        </p:spPr>
        <p:txBody>
          <a:bodyPr wrap="square" lIns="0" tIns="0" rIns="0" bIns="0" rtlCol="0" anchor="ctr"/>
          <a:lstStyle/>
          <a:p>
            <a:pPr marL="0" indent="0" algn="l">
              <a:buNone/>
            </a:pPr>
            <a:r>
              <a:rPr lang="en-US" sz="1200" b="1" kern="0" spc="75">
                <a:solidFill>
                  <a:srgbClr val="4B5563"/>
                </a:solidFill>
                <a:latin typeface="Oswald" pitchFamily="34" charset="0"/>
                <a:ea typeface="Oswald" pitchFamily="34" charset="-122"/>
                <a:cs typeface="Oswald" pitchFamily="34" charset="-120"/>
              </a:rPr>
              <a:t>Traditional Staffing</a:t>
            </a:r>
            <a:endParaRPr lang="en-US" sz="1200"/>
          </a:p>
        </p:txBody>
      </p:sp>
      <p:sp>
        <p:nvSpPr>
          <p:cNvPr id="41" name="Text 31"/>
          <p:cNvSpPr txBox="1"/>
          <p:nvPr/>
        </p:nvSpPr>
        <p:spPr>
          <a:xfrm>
            <a:off x="7276795" y="3762756"/>
            <a:ext cx="4114800" cy="228600"/>
          </a:xfrm>
          <a:prstGeom prst="rect">
            <a:avLst/>
          </a:prstGeom>
          <a:noFill/>
          <a:ln/>
        </p:spPr>
        <p:txBody>
          <a:bodyPr wrap="square" lIns="0" tIns="0" rIns="0" bIns="0" rtlCol="0" anchor="ctr"/>
          <a:lstStyle/>
          <a:p>
            <a:pPr marL="0" indent="0" algn="l">
              <a:buNone/>
            </a:pPr>
            <a:r>
              <a:rPr lang="en-US" sz="1200" b="1" kern="0" spc="75">
                <a:solidFill>
                  <a:srgbClr val="2A9D8F"/>
                </a:solidFill>
                <a:latin typeface="Oswald" pitchFamily="34" charset="0"/>
                <a:ea typeface="Oswald" pitchFamily="34" charset="-122"/>
                <a:cs typeface="Oswald" pitchFamily="34" charset="-120"/>
              </a:rPr>
              <a:t>AI-First Pod</a:t>
            </a:r>
            <a:endParaRPr lang="en-US" sz="1200"/>
          </a:p>
        </p:txBody>
      </p:sp>
      <p:sp>
        <p:nvSpPr>
          <p:cNvPr id="42" name="Text 32"/>
          <p:cNvSpPr txBox="1"/>
          <p:nvPr/>
        </p:nvSpPr>
        <p:spPr>
          <a:xfrm>
            <a:off x="800100" y="4238244"/>
            <a:ext cx="2774290" cy="228600"/>
          </a:xfrm>
          <a:prstGeom prst="rect">
            <a:avLst/>
          </a:prstGeom>
          <a:noFill/>
          <a:ln/>
        </p:spPr>
        <p:txBody>
          <a:bodyPr wrap="square" lIns="0" tIns="0" rIns="0" bIns="0" rtlCol="0" anchor="ctr"/>
          <a:lstStyle/>
          <a:p>
            <a:pPr marL="0" indent="0" algn="l">
              <a:buNone/>
            </a:pPr>
            <a:r>
              <a:rPr lang="en-US" sz="1200" b="1">
                <a:solidFill>
                  <a:srgbClr val="1F2937"/>
                </a:solidFill>
                <a:latin typeface="Oswald" pitchFamily="34" charset="0"/>
                <a:ea typeface="Oswald" pitchFamily="34" charset="-122"/>
                <a:cs typeface="Oswald" pitchFamily="34" charset="-120"/>
              </a:rPr>
              <a:t>Governance</a:t>
            </a:r>
            <a:endParaRPr lang="en-US" sz="1200"/>
          </a:p>
        </p:txBody>
      </p:sp>
      <p:sp>
        <p:nvSpPr>
          <p:cNvPr id="43" name="Text 33"/>
          <p:cNvSpPr txBox="1"/>
          <p:nvPr/>
        </p:nvSpPr>
        <p:spPr>
          <a:xfrm>
            <a:off x="3657600" y="4238244"/>
            <a:ext cx="3543300" cy="171907"/>
          </a:xfrm>
          <a:prstGeom prst="rect">
            <a:avLst/>
          </a:prstGeom>
          <a:noFill/>
          <a:ln/>
        </p:spPr>
        <p:txBody>
          <a:bodyPr wrap="square" lIns="0" tIns="0" rIns="0" bIns="0" rtlCol="0" anchor="ctr"/>
          <a:lstStyle/>
          <a:p>
            <a:pPr marL="0" indent="0" algn="l">
              <a:buNone/>
            </a:pPr>
            <a:r>
              <a:rPr lang="en-US" sz="1100">
                <a:solidFill>
                  <a:srgbClr val="6B7280"/>
                </a:solidFill>
                <a:latin typeface="Raleway" pitchFamily="34" charset="0"/>
                <a:ea typeface="Raleway" pitchFamily="34" charset="-122"/>
                <a:cs typeface="Raleway" pitchFamily="34" charset="-120"/>
              </a:rPr>
              <a:t>Client's burden</a:t>
            </a:r>
            <a:endParaRPr lang="en-US" sz="1100"/>
          </a:p>
        </p:txBody>
      </p:sp>
      <p:pic>
        <p:nvPicPr>
          <p:cNvPr id="44" name="Image 8" descr="preencoded.png"/>
          <p:cNvPicPr>
            <a:picLocks noChangeAspect="1"/>
          </p:cNvPicPr>
          <p:nvPr/>
        </p:nvPicPr>
        <p:blipFill>
          <a:blip r:embed="rId11"/>
          <a:srcRect t="-1100" b="-1100"/>
          <a:stretch/>
        </p:blipFill>
        <p:spPr>
          <a:xfrm>
            <a:off x="7276795" y="4257446"/>
            <a:ext cx="114300" cy="133502"/>
          </a:xfrm>
          <a:prstGeom prst="rect">
            <a:avLst/>
          </a:prstGeom>
        </p:spPr>
      </p:pic>
      <p:sp>
        <p:nvSpPr>
          <p:cNvPr id="45" name="Text 34"/>
          <p:cNvSpPr txBox="1"/>
          <p:nvPr/>
        </p:nvSpPr>
        <p:spPr>
          <a:xfrm>
            <a:off x="7524598" y="4238244"/>
            <a:ext cx="3829507" cy="171907"/>
          </a:xfrm>
          <a:prstGeom prst="rect">
            <a:avLst/>
          </a:prstGeom>
          <a:noFill/>
          <a:ln/>
        </p:spPr>
        <p:txBody>
          <a:bodyPr wrap="square" lIns="0" tIns="0" rIns="0" bIns="0" rtlCol="0" anchor="ctr"/>
          <a:lstStyle/>
          <a:p>
            <a:pPr marL="0" indent="0" algn="l">
              <a:buNone/>
            </a:pPr>
            <a:r>
              <a:rPr lang="en-US" sz="1100" b="1">
                <a:solidFill>
                  <a:srgbClr val="1F2937"/>
                </a:solidFill>
                <a:latin typeface="Raleway" pitchFamily="34" charset="0"/>
                <a:ea typeface="Raleway" pitchFamily="34" charset="-122"/>
                <a:cs typeface="Raleway" pitchFamily="34" charset="-120"/>
              </a:rPr>
              <a:t>J2W-owned</a:t>
            </a:r>
            <a:endParaRPr lang="en-US" sz="1100"/>
          </a:p>
        </p:txBody>
      </p:sp>
      <p:sp>
        <p:nvSpPr>
          <p:cNvPr id="46" name="Text 35"/>
          <p:cNvSpPr txBox="1"/>
          <p:nvPr/>
        </p:nvSpPr>
        <p:spPr>
          <a:xfrm>
            <a:off x="800100" y="4714646"/>
            <a:ext cx="2774290" cy="228600"/>
          </a:xfrm>
          <a:prstGeom prst="rect">
            <a:avLst/>
          </a:prstGeom>
          <a:noFill/>
          <a:ln/>
        </p:spPr>
        <p:txBody>
          <a:bodyPr wrap="square" lIns="0" tIns="0" rIns="0" bIns="0" rtlCol="0" anchor="ctr"/>
          <a:lstStyle/>
          <a:p>
            <a:pPr marL="0" indent="0" algn="l">
              <a:buNone/>
            </a:pPr>
            <a:r>
              <a:rPr lang="en-US" sz="1200" b="1">
                <a:solidFill>
                  <a:srgbClr val="1F2937"/>
                </a:solidFill>
                <a:latin typeface="Oswald" pitchFamily="34" charset="0"/>
                <a:ea typeface="Oswald" pitchFamily="34" charset="-122"/>
                <a:cs typeface="Oswald" pitchFamily="34" charset="-120"/>
              </a:rPr>
              <a:t>Upskilling</a:t>
            </a:r>
            <a:endParaRPr lang="en-US" sz="1200"/>
          </a:p>
        </p:txBody>
      </p:sp>
      <p:sp>
        <p:nvSpPr>
          <p:cNvPr id="47" name="Text 36"/>
          <p:cNvSpPr txBox="1"/>
          <p:nvPr/>
        </p:nvSpPr>
        <p:spPr>
          <a:xfrm>
            <a:off x="3657600" y="4714646"/>
            <a:ext cx="3543300" cy="171907"/>
          </a:xfrm>
          <a:prstGeom prst="rect">
            <a:avLst/>
          </a:prstGeom>
          <a:noFill/>
          <a:ln/>
        </p:spPr>
        <p:txBody>
          <a:bodyPr wrap="square" lIns="0" tIns="0" rIns="0" bIns="0" rtlCol="0" anchor="ctr"/>
          <a:lstStyle/>
          <a:p>
            <a:pPr marL="0" indent="0" algn="l">
              <a:buNone/>
            </a:pPr>
            <a:r>
              <a:rPr lang="en-US" sz="1100">
                <a:solidFill>
                  <a:srgbClr val="6B7280"/>
                </a:solidFill>
                <a:latin typeface="Raleway" pitchFamily="34" charset="0"/>
                <a:ea typeface="Raleway" pitchFamily="34" charset="-122"/>
                <a:cs typeface="Raleway" pitchFamily="34" charset="-120"/>
              </a:rPr>
              <a:t>Engineer's personal initiative</a:t>
            </a:r>
            <a:endParaRPr lang="en-US" sz="1100"/>
          </a:p>
        </p:txBody>
      </p:sp>
      <p:pic>
        <p:nvPicPr>
          <p:cNvPr id="48" name="Image 9" descr="preencoded.png"/>
          <p:cNvPicPr>
            <a:picLocks noChangeAspect="1"/>
          </p:cNvPicPr>
          <p:nvPr/>
        </p:nvPicPr>
        <p:blipFill>
          <a:blip r:embed="rId11"/>
          <a:srcRect t="-1100" b="-1100"/>
          <a:stretch/>
        </p:blipFill>
        <p:spPr>
          <a:xfrm>
            <a:off x="7276795" y="4733849"/>
            <a:ext cx="114300" cy="133502"/>
          </a:xfrm>
          <a:prstGeom prst="rect">
            <a:avLst/>
          </a:prstGeom>
        </p:spPr>
      </p:pic>
      <p:sp>
        <p:nvSpPr>
          <p:cNvPr id="49" name="Text 37"/>
          <p:cNvSpPr txBox="1"/>
          <p:nvPr/>
        </p:nvSpPr>
        <p:spPr>
          <a:xfrm>
            <a:off x="7524598" y="4714646"/>
            <a:ext cx="3829507" cy="171907"/>
          </a:xfrm>
          <a:prstGeom prst="rect">
            <a:avLst/>
          </a:prstGeom>
          <a:noFill/>
          <a:ln/>
        </p:spPr>
        <p:txBody>
          <a:bodyPr wrap="square" lIns="0" tIns="0" rIns="0" bIns="0" rtlCol="0" anchor="ctr"/>
          <a:lstStyle/>
          <a:p>
            <a:pPr marL="0" indent="0" algn="l">
              <a:buNone/>
            </a:pPr>
            <a:r>
              <a:rPr lang="en-US" sz="1100" b="1">
                <a:solidFill>
                  <a:srgbClr val="1F2937"/>
                </a:solidFill>
                <a:latin typeface="Raleway" pitchFamily="34" charset="0"/>
                <a:ea typeface="Raleway" pitchFamily="34" charset="-122"/>
                <a:cs typeface="Raleway" pitchFamily="34" charset="-120"/>
              </a:rPr>
              <a:t>Structured, continuous, AI-focused</a:t>
            </a:r>
            <a:endParaRPr lang="en-US" sz="1100"/>
          </a:p>
        </p:txBody>
      </p:sp>
      <p:sp>
        <p:nvSpPr>
          <p:cNvPr id="50" name="Text 38"/>
          <p:cNvSpPr txBox="1"/>
          <p:nvPr/>
        </p:nvSpPr>
        <p:spPr>
          <a:xfrm>
            <a:off x="800100" y="5191049"/>
            <a:ext cx="2774290" cy="228600"/>
          </a:xfrm>
          <a:prstGeom prst="rect">
            <a:avLst/>
          </a:prstGeom>
          <a:noFill/>
          <a:ln/>
        </p:spPr>
        <p:txBody>
          <a:bodyPr wrap="square" lIns="0" tIns="0" rIns="0" bIns="0" rtlCol="0" anchor="ctr"/>
          <a:lstStyle/>
          <a:p>
            <a:pPr marL="0" indent="0" algn="l">
              <a:buNone/>
            </a:pPr>
            <a:r>
              <a:rPr lang="en-US" sz="1200" b="1">
                <a:solidFill>
                  <a:srgbClr val="1F2937"/>
                </a:solidFill>
                <a:latin typeface="Oswald" pitchFamily="34" charset="0"/>
                <a:ea typeface="Oswald" pitchFamily="34" charset="-122"/>
                <a:cs typeface="Oswald" pitchFamily="34" charset="-120"/>
              </a:rPr>
              <a:t>Performance Issues</a:t>
            </a:r>
            <a:endParaRPr lang="en-US" sz="1200"/>
          </a:p>
        </p:txBody>
      </p:sp>
      <p:sp>
        <p:nvSpPr>
          <p:cNvPr id="51" name="Text 39"/>
          <p:cNvSpPr txBox="1"/>
          <p:nvPr/>
        </p:nvSpPr>
        <p:spPr>
          <a:xfrm>
            <a:off x="3657600" y="5191049"/>
            <a:ext cx="3543300" cy="171907"/>
          </a:xfrm>
          <a:prstGeom prst="rect">
            <a:avLst/>
          </a:prstGeom>
          <a:noFill/>
          <a:ln/>
        </p:spPr>
        <p:txBody>
          <a:bodyPr wrap="square" lIns="0" tIns="0" rIns="0" bIns="0" rtlCol="0" anchor="ctr"/>
          <a:lstStyle/>
          <a:p>
            <a:pPr marL="0" indent="0" algn="l">
              <a:buNone/>
            </a:pPr>
            <a:r>
              <a:rPr lang="en-US" sz="1100">
                <a:solidFill>
                  <a:srgbClr val="6B7280"/>
                </a:solidFill>
                <a:latin typeface="Raleway" pitchFamily="34" charset="0"/>
                <a:ea typeface="Raleway" pitchFamily="34" charset="-122"/>
                <a:cs typeface="Raleway" pitchFamily="34" charset="-120"/>
              </a:rPr>
              <a:t>Escalation after the fact</a:t>
            </a:r>
            <a:endParaRPr lang="en-US" sz="1100"/>
          </a:p>
        </p:txBody>
      </p:sp>
      <p:pic>
        <p:nvPicPr>
          <p:cNvPr id="52" name="Image 10" descr="preencoded.png"/>
          <p:cNvPicPr>
            <a:picLocks noChangeAspect="1"/>
          </p:cNvPicPr>
          <p:nvPr/>
        </p:nvPicPr>
        <p:blipFill>
          <a:blip r:embed="rId11"/>
          <a:srcRect t="-1100" b="-1100"/>
          <a:stretch/>
        </p:blipFill>
        <p:spPr>
          <a:xfrm>
            <a:off x="7276795" y="5210251"/>
            <a:ext cx="114300" cy="133502"/>
          </a:xfrm>
          <a:prstGeom prst="rect">
            <a:avLst/>
          </a:prstGeom>
        </p:spPr>
      </p:pic>
      <p:sp>
        <p:nvSpPr>
          <p:cNvPr id="53" name="Text 40"/>
          <p:cNvSpPr txBox="1"/>
          <p:nvPr/>
        </p:nvSpPr>
        <p:spPr>
          <a:xfrm>
            <a:off x="7524598" y="5191049"/>
            <a:ext cx="3829507" cy="171907"/>
          </a:xfrm>
          <a:prstGeom prst="rect">
            <a:avLst/>
          </a:prstGeom>
          <a:noFill/>
          <a:ln/>
        </p:spPr>
        <p:txBody>
          <a:bodyPr wrap="square" lIns="0" tIns="0" rIns="0" bIns="0" rtlCol="0" anchor="ctr"/>
          <a:lstStyle/>
          <a:p>
            <a:pPr marL="0" indent="0" algn="l">
              <a:buNone/>
            </a:pPr>
            <a:r>
              <a:rPr lang="en-US" sz="1100" b="1">
                <a:solidFill>
                  <a:srgbClr val="1F2937"/>
                </a:solidFill>
                <a:latin typeface="Raleway" pitchFamily="34" charset="0"/>
                <a:ea typeface="Raleway" pitchFamily="34" charset="-122"/>
                <a:cs typeface="Raleway" pitchFamily="34" charset="-120"/>
              </a:rPr>
              <a:t>Proactive monitoring &amp; intervention</a:t>
            </a:r>
            <a:endParaRPr lang="en-US" sz="1100"/>
          </a:p>
        </p:txBody>
      </p:sp>
      <p:sp>
        <p:nvSpPr>
          <p:cNvPr id="54" name="Text 41"/>
          <p:cNvSpPr txBox="1"/>
          <p:nvPr/>
        </p:nvSpPr>
        <p:spPr>
          <a:xfrm>
            <a:off x="800100" y="5667451"/>
            <a:ext cx="2774290" cy="228600"/>
          </a:xfrm>
          <a:prstGeom prst="rect">
            <a:avLst/>
          </a:prstGeom>
          <a:noFill/>
          <a:ln/>
        </p:spPr>
        <p:txBody>
          <a:bodyPr wrap="square" lIns="0" tIns="0" rIns="0" bIns="0" rtlCol="0" anchor="ctr"/>
          <a:lstStyle/>
          <a:p>
            <a:pPr marL="0" indent="0" algn="l">
              <a:buNone/>
            </a:pPr>
            <a:r>
              <a:rPr lang="en-US" sz="1200" b="1">
                <a:solidFill>
                  <a:srgbClr val="1F2937"/>
                </a:solidFill>
                <a:latin typeface="Oswald" pitchFamily="34" charset="0"/>
                <a:ea typeface="Oswald" pitchFamily="34" charset="-122"/>
                <a:cs typeface="Oswald" pitchFamily="34" charset="-120"/>
              </a:rPr>
              <a:t>Knowledge Retention</a:t>
            </a:r>
            <a:endParaRPr lang="en-US" sz="1200"/>
          </a:p>
        </p:txBody>
      </p:sp>
      <p:sp>
        <p:nvSpPr>
          <p:cNvPr id="55" name="Text 42"/>
          <p:cNvSpPr txBox="1"/>
          <p:nvPr/>
        </p:nvSpPr>
        <p:spPr>
          <a:xfrm>
            <a:off x="3657600" y="5667451"/>
            <a:ext cx="3543300" cy="171907"/>
          </a:xfrm>
          <a:prstGeom prst="rect">
            <a:avLst/>
          </a:prstGeom>
          <a:noFill/>
          <a:ln/>
        </p:spPr>
        <p:txBody>
          <a:bodyPr wrap="square" lIns="0" tIns="0" rIns="0" bIns="0" rtlCol="0" anchor="ctr"/>
          <a:lstStyle/>
          <a:p>
            <a:pPr marL="0" indent="0" algn="l">
              <a:buNone/>
            </a:pPr>
            <a:r>
              <a:rPr lang="en-US" sz="1100">
                <a:solidFill>
                  <a:srgbClr val="6B7280"/>
                </a:solidFill>
                <a:latin typeface="Raleway" pitchFamily="34" charset="0"/>
                <a:ea typeface="Raleway" pitchFamily="34" charset="-122"/>
                <a:cs typeface="Raleway" pitchFamily="34" charset="-120"/>
              </a:rPr>
              <a:t>Lost with attrition</a:t>
            </a:r>
            <a:endParaRPr lang="en-US" sz="1100"/>
          </a:p>
        </p:txBody>
      </p:sp>
      <p:pic>
        <p:nvPicPr>
          <p:cNvPr id="56" name="Image 11" descr="preencoded.png"/>
          <p:cNvPicPr>
            <a:picLocks noChangeAspect="1"/>
          </p:cNvPicPr>
          <p:nvPr/>
        </p:nvPicPr>
        <p:blipFill>
          <a:blip r:embed="rId11"/>
          <a:srcRect t="-1100" b="-1100"/>
          <a:stretch/>
        </p:blipFill>
        <p:spPr>
          <a:xfrm>
            <a:off x="7276795" y="5686654"/>
            <a:ext cx="114300" cy="133502"/>
          </a:xfrm>
          <a:prstGeom prst="rect">
            <a:avLst/>
          </a:prstGeom>
        </p:spPr>
      </p:pic>
      <p:sp>
        <p:nvSpPr>
          <p:cNvPr id="57" name="Text 43"/>
          <p:cNvSpPr txBox="1"/>
          <p:nvPr/>
        </p:nvSpPr>
        <p:spPr>
          <a:xfrm>
            <a:off x="7524598" y="5667451"/>
            <a:ext cx="3829507" cy="171907"/>
          </a:xfrm>
          <a:prstGeom prst="rect">
            <a:avLst/>
          </a:prstGeom>
          <a:noFill/>
          <a:ln/>
        </p:spPr>
        <p:txBody>
          <a:bodyPr wrap="square" lIns="0" tIns="0" rIns="0" bIns="0" rtlCol="0" anchor="ctr"/>
          <a:lstStyle/>
          <a:p>
            <a:pPr marL="0" indent="0" algn="l">
              <a:buNone/>
            </a:pPr>
            <a:r>
              <a:rPr lang="en-US" sz="1100" b="1">
                <a:solidFill>
                  <a:srgbClr val="1F2937"/>
                </a:solidFill>
                <a:latin typeface="Raleway" pitchFamily="34" charset="0"/>
                <a:ea typeface="Raleway" pitchFamily="34" charset="-122"/>
                <a:cs typeface="Raleway" pitchFamily="34" charset="-120"/>
              </a:rPr>
              <a:t>Captured in Knowledge Repository</a:t>
            </a:r>
            <a:endParaRPr lang="en-US" sz="1100"/>
          </a:p>
        </p:txBody>
      </p:sp>
      <p:sp>
        <p:nvSpPr>
          <p:cNvPr id="58" name="Text 44"/>
          <p:cNvSpPr txBox="1"/>
          <p:nvPr/>
        </p:nvSpPr>
        <p:spPr>
          <a:xfrm>
            <a:off x="800100" y="6143854"/>
            <a:ext cx="2774290" cy="228600"/>
          </a:xfrm>
          <a:prstGeom prst="rect">
            <a:avLst/>
          </a:prstGeom>
          <a:noFill/>
          <a:ln/>
        </p:spPr>
        <p:txBody>
          <a:bodyPr wrap="square" lIns="0" tIns="0" rIns="0" bIns="0" rtlCol="0" anchor="ctr"/>
          <a:lstStyle/>
          <a:p>
            <a:pPr marL="0" indent="0" algn="l">
              <a:buNone/>
            </a:pPr>
            <a:r>
              <a:rPr lang="en-US" sz="1200" b="1">
                <a:solidFill>
                  <a:srgbClr val="1F2937"/>
                </a:solidFill>
                <a:latin typeface="Oswald" pitchFamily="34" charset="0"/>
                <a:ea typeface="Oswald" pitchFamily="34" charset="-122"/>
                <a:cs typeface="Oswald" pitchFamily="34" charset="-120"/>
              </a:rPr>
              <a:t>AI Readiness</a:t>
            </a:r>
            <a:endParaRPr lang="en-US" sz="1200"/>
          </a:p>
        </p:txBody>
      </p:sp>
      <p:sp>
        <p:nvSpPr>
          <p:cNvPr id="59" name="Text 45"/>
          <p:cNvSpPr txBox="1"/>
          <p:nvPr/>
        </p:nvSpPr>
        <p:spPr>
          <a:xfrm>
            <a:off x="3657600" y="6143854"/>
            <a:ext cx="3543300" cy="171907"/>
          </a:xfrm>
          <a:prstGeom prst="rect">
            <a:avLst/>
          </a:prstGeom>
          <a:noFill/>
          <a:ln/>
        </p:spPr>
        <p:txBody>
          <a:bodyPr wrap="square" lIns="0" tIns="0" rIns="0" bIns="0" rtlCol="0" anchor="ctr"/>
          <a:lstStyle/>
          <a:p>
            <a:pPr marL="0" indent="0" algn="l">
              <a:buNone/>
            </a:pPr>
            <a:r>
              <a:rPr lang="en-US" sz="1100">
                <a:solidFill>
                  <a:srgbClr val="6B7280"/>
                </a:solidFill>
                <a:latin typeface="Raleway" pitchFamily="34" charset="0"/>
                <a:ea typeface="Raleway" pitchFamily="34" charset="-122"/>
                <a:cs typeface="Raleway" pitchFamily="34" charset="-120"/>
              </a:rPr>
              <a:t>Ad hoc</a:t>
            </a:r>
            <a:endParaRPr lang="en-US" sz="1100"/>
          </a:p>
        </p:txBody>
      </p:sp>
      <p:pic>
        <p:nvPicPr>
          <p:cNvPr id="60" name="Image 12" descr="preencoded.png"/>
          <p:cNvPicPr>
            <a:picLocks noChangeAspect="1"/>
          </p:cNvPicPr>
          <p:nvPr/>
        </p:nvPicPr>
        <p:blipFill>
          <a:blip r:embed="rId12"/>
          <a:srcRect t="-1100" b="-1100"/>
          <a:stretch/>
        </p:blipFill>
        <p:spPr>
          <a:xfrm>
            <a:off x="7276795" y="6163056"/>
            <a:ext cx="114300" cy="133502"/>
          </a:xfrm>
          <a:prstGeom prst="rect">
            <a:avLst/>
          </a:prstGeom>
        </p:spPr>
      </p:pic>
      <p:sp>
        <p:nvSpPr>
          <p:cNvPr id="61" name="Text 46"/>
          <p:cNvSpPr txBox="1"/>
          <p:nvPr/>
        </p:nvSpPr>
        <p:spPr>
          <a:xfrm>
            <a:off x="7524598" y="6143854"/>
            <a:ext cx="3829507" cy="171907"/>
          </a:xfrm>
          <a:prstGeom prst="rect">
            <a:avLst/>
          </a:prstGeom>
          <a:noFill/>
          <a:ln/>
        </p:spPr>
        <p:txBody>
          <a:bodyPr wrap="square" lIns="0" tIns="0" rIns="0" bIns="0" rtlCol="0" anchor="ctr"/>
          <a:lstStyle/>
          <a:p>
            <a:pPr marL="0" indent="0" algn="l">
              <a:buNone/>
            </a:pPr>
            <a:r>
              <a:rPr lang="en-US" sz="1100" b="1">
                <a:solidFill>
                  <a:srgbClr val="D62839"/>
                </a:solidFill>
                <a:latin typeface="Raleway" pitchFamily="34" charset="0"/>
                <a:ea typeface="Raleway" pitchFamily="34" charset="-122"/>
                <a:cs typeface="Raleway" pitchFamily="34" charset="-120"/>
              </a:rPr>
              <a:t>Embedded from Day 1</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preencoded.png"/>
          <p:cNvPicPr>
            <a:picLocks noChangeAspect="1"/>
          </p:cNvPicPr>
          <p:nvPr/>
        </p:nvPicPr>
        <p:blipFill>
          <a:blip r:embed="rId3"/>
          <a:srcRect l="-207" r="-207"/>
          <a:stretch/>
        </p:blipFill>
        <p:spPr>
          <a:xfrm>
            <a:off x="0" y="0"/>
            <a:ext cx="4058107" cy="75895"/>
          </a:xfrm>
          <a:prstGeom prst="rect">
            <a:avLst/>
          </a:prstGeom>
        </p:spPr>
      </p:pic>
      <p:pic>
        <p:nvPicPr>
          <p:cNvPr id="5" name="Image 1" descr="preencoded.png"/>
          <p:cNvPicPr>
            <a:picLocks noChangeAspect="1"/>
          </p:cNvPicPr>
          <p:nvPr/>
        </p:nvPicPr>
        <p:blipFill>
          <a:blip r:embed="rId4"/>
          <a:srcRect l="-202" r="-202"/>
          <a:stretch/>
        </p:blipFill>
        <p:spPr>
          <a:xfrm>
            <a:off x="4058107" y="0"/>
            <a:ext cx="8134502" cy="75895"/>
          </a:xfrm>
          <a:prstGeom prst="rect">
            <a:avLst/>
          </a:prstGeom>
        </p:spPr>
      </p:pic>
      <p:sp>
        <p:nvSpPr>
          <p:cNvPr id="6" name="Shape 2"/>
          <p:cNvSpPr/>
          <p:nvPr/>
        </p:nvSpPr>
        <p:spPr>
          <a:xfrm>
            <a:off x="9334195" y="-1429207"/>
            <a:ext cx="4762195" cy="476219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preencoded.png"/>
          <p:cNvPicPr>
            <a:picLocks noChangeAspect="1"/>
          </p:cNvPicPr>
          <p:nvPr/>
        </p:nvPicPr>
        <p:blipFill>
          <a:blip r:embed="rId5">
            <a:alphaModFix amt="15000"/>
          </a:blip>
          <a:srcRect/>
          <a:stretch/>
        </p:blipFill>
        <p:spPr>
          <a:xfrm>
            <a:off x="571500" y="1143000"/>
            <a:ext cx="1429207" cy="1429207"/>
          </a:xfrm>
          <a:prstGeom prst="rect">
            <a:avLst/>
          </a:prstGeom>
        </p:spPr>
      </p:pic>
      <p:pic>
        <p:nvPicPr>
          <p:cNvPr id="8" name="Image 3" descr="preencoded.png"/>
          <p:cNvPicPr>
            <a:picLocks noChangeAspect="1"/>
          </p:cNvPicPr>
          <p:nvPr/>
        </p:nvPicPr>
        <p:blipFill>
          <a:blip r:embed="rId6"/>
          <a:srcRect l="-400" r="-400"/>
          <a:stretch/>
        </p:blipFill>
        <p:spPr>
          <a:xfrm>
            <a:off x="609905" y="571500"/>
            <a:ext cx="57607" cy="571500"/>
          </a:xfrm>
          <a:prstGeom prst="rect">
            <a:avLst/>
          </a:prstGeom>
        </p:spPr>
      </p:pic>
      <p:sp>
        <p:nvSpPr>
          <p:cNvPr id="9" name="Shape 3"/>
          <p:cNvSpPr/>
          <p:nvPr/>
        </p:nvSpPr>
        <p:spPr>
          <a:xfrm>
            <a:off x="609905" y="1524305"/>
            <a:ext cx="11039551" cy="1752905"/>
          </a:xfrm>
          <a:prstGeom prst="roundRect">
            <a:avLst>
              <a:gd name="adj" fmla="val 4536"/>
            </a:avLst>
          </a:prstGeom>
          <a:solidFill>
            <a:srgbClr val="F8FAFC"/>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0" name="Shape 4"/>
          <p:cNvSpPr/>
          <p:nvPr/>
        </p:nvSpPr>
        <p:spPr>
          <a:xfrm>
            <a:off x="609905" y="1524305"/>
            <a:ext cx="57607" cy="1752905"/>
          </a:xfrm>
          <a:prstGeom prst="roundRect">
            <a:avLst>
              <a:gd name="adj" fmla="val 138027"/>
            </a:avLst>
          </a:prstGeom>
          <a:solidFill>
            <a:srgbClr val="2A9D8F"/>
          </a:solidFill>
          <a:ln w="12700">
            <a:solidFill>
              <a:srgbClr val="2A9D8F">
                <a:alpha val="0"/>
              </a:srgbClr>
            </a:solidFill>
            <a:prstDash val="solid"/>
          </a:ln>
        </p:spPr>
        <p:txBody>
          <a:bodyPr/>
          <a:lstStyle/>
          <a:p>
            <a:endParaRPr lang="en-US"/>
          </a:p>
        </p:txBody>
      </p:sp>
      <p:sp>
        <p:nvSpPr>
          <p:cNvPr id="11" name="Shape 5"/>
          <p:cNvSpPr/>
          <p:nvPr/>
        </p:nvSpPr>
        <p:spPr>
          <a:xfrm>
            <a:off x="609905" y="3429000"/>
            <a:ext cx="11039551" cy="2305202"/>
          </a:xfrm>
          <a:prstGeom prst="roundRect">
            <a:avLst>
              <a:gd name="adj" fmla="val 2623"/>
            </a:avLst>
          </a:prstGeom>
          <a:solidFill>
            <a:srgbClr val="FFFFFF"/>
          </a:solidFill>
          <a:ln w="12700">
            <a:solidFill>
              <a:srgbClr val="F3F4F6"/>
            </a:solidFill>
            <a:prstDash val="solid"/>
          </a:ln>
          <a:effectLst>
            <a:outerShdw blurRad="63500" dist="38100" dir="16200000" algn="bl" rotWithShape="0">
              <a:srgbClr val="000000">
                <a:alpha val="5000"/>
              </a:srgbClr>
            </a:outerShdw>
          </a:effectLst>
        </p:spPr>
        <p:txBody>
          <a:bodyPr/>
          <a:lstStyle/>
          <a:p>
            <a:endParaRPr lang="en-US"/>
          </a:p>
        </p:txBody>
      </p:sp>
      <p:sp>
        <p:nvSpPr>
          <p:cNvPr id="12" name="Shape 6"/>
          <p:cNvSpPr/>
          <p:nvPr/>
        </p:nvSpPr>
        <p:spPr>
          <a:xfrm>
            <a:off x="609905" y="3429000"/>
            <a:ext cx="57607" cy="2305202"/>
          </a:xfrm>
          <a:prstGeom prst="roundRect">
            <a:avLst>
              <a:gd name="adj" fmla="val 104946"/>
            </a:avLst>
          </a:prstGeom>
          <a:solidFill>
            <a:srgbClr val="D62839"/>
          </a:solidFill>
          <a:ln w="12700">
            <a:solidFill>
              <a:srgbClr val="D62839">
                <a:alpha val="0"/>
              </a:srgbClr>
            </a:solidFill>
            <a:prstDash val="solid"/>
          </a:ln>
        </p:spPr>
        <p:txBody>
          <a:bodyPr/>
          <a:lstStyle/>
          <a:p>
            <a:endParaRPr lang="en-US"/>
          </a:p>
        </p:txBody>
      </p:sp>
      <p:sp>
        <p:nvSpPr>
          <p:cNvPr id="13" name="Shape 7"/>
          <p:cNvSpPr/>
          <p:nvPr/>
        </p:nvSpPr>
        <p:spPr>
          <a:xfrm>
            <a:off x="609905" y="5905195"/>
            <a:ext cx="10972800" cy="609905"/>
          </a:xfrm>
          <a:prstGeom prst="roundRect">
            <a:avLst>
              <a:gd name="adj" fmla="val 37481"/>
            </a:avLst>
          </a:prstGeom>
          <a:solidFill>
            <a:srgbClr val="2A9D8F"/>
          </a:solidFill>
          <a:ln w="12700">
            <a:solidFill>
              <a:srgbClr val="FFFFFF">
                <a:alpha val="0"/>
              </a:srgbClr>
            </a:solidFill>
            <a:prstDash val="solid"/>
          </a:ln>
          <a:effectLst>
            <a:outerShdw blurRad="101600" dist="38100" dir="16200000" algn="bl" rotWithShape="0">
              <a:srgbClr val="2A9D8F">
                <a:alpha val="20000"/>
              </a:srgbClr>
            </a:outerShdw>
          </a:effectLst>
        </p:spPr>
        <p:txBody>
          <a:bodyPr/>
          <a:lstStyle/>
          <a:p>
            <a:endParaRPr lang="en-US"/>
          </a:p>
        </p:txBody>
      </p:sp>
      <p:sp>
        <p:nvSpPr>
          <p:cNvPr id="14" name="Text 8"/>
          <p:cNvSpPr txBox="1"/>
          <p:nvPr/>
        </p:nvSpPr>
        <p:spPr>
          <a:xfrm>
            <a:off x="857707" y="428854"/>
            <a:ext cx="10668305" cy="362102"/>
          </a:xfrm>
          <a:prstGeom prst="rect">
            <a:avLst/>
          </a:prstGeom>
          <a:noFill/>
          <a:ln/>
        </p:spPr>
        <p:txBody>
          <a:bodyPr wrap="square" lIns="0" tIns="0" rIns="0" bIns="0" rtlCol="0" anchor="ctr"/>
          <a:lstStyle/>
          <a:p>
            <a:pPr marL="0" indent="0" algn="l">
              <a:buNone/>
            </a:pPr>
            <a:r>
              <a:rPr lang="en-US" sz="2700" b="1" kern="0" spc="38">
                <a:solidFill>
                  <a:srgbClr val="111827"/>
                </a:solidFill>
                <a:latin typeface="Oswald" pitchFamily="34" charset="0"/>
                <a:ea typeface="Oswald" pitchFamily="34" charset="-122"/>
                <a:cs typeface="Oswald" pitchFamily="34" charset="-120"/>
              </a:rPr>
              <a:t>The J2W AI Research Wing</a:t>
            </a:r>
            <a:endParaRPr lang="en-US" sz="2700"/>
          </a:p>
        </p:txBody>
      </p:sp>
      <p:sp>
        <p:nvSpPr>
          <p:cNvPr id="15" name="Text 9"/>
          <p:cNvSpPr txBox="1"/>
          <p:nvPr/>
        </p:nvSpPr>
        <p:spPr>
          <a:xfrm>
            <a:off x="857707" y="1009498"/>
            <a:ext cx="10592410" cy="210312"/>
          </a:xfrm>
          <a:prstGeom prst="rect">
            <a:avLst/>
          </a:prstGeom>
          <a:noFill/>
          <a:ln/>
        </p:spPr>
        <p:txBody>
          <a:bodyPr wrap="square" lIns="0" tIns="0" rIns="0" bIns="0" rtlCol="0" anchor="ctr"/>
          <a:lstStyle/>
          <a:p>
            <a:pPr marL="0" indent="0" algn="l">
              <a:buNone/>
            </a:pPr>
            <a:r>
              <a:rPr lang="en-US" sz="1300" b="1" kern="0" spc="75">
                <a:solidFill>
                  <a:srgbClr val="2A9D8F"/>
                </a:solidFill>
                <a:latin typeface="Roboto Condensed" pitchFamily="34" charset="0"/>
                <a:ea typeface="Roboto Condensed" pitchFamily="34" charset="-122"/>
                <a:cs typeface="Roboto Condensed" pitchFamily="34" charset="-120"/>
              </a:rPr>
              <a:t>YOUR POD'S SECRET WEAPON</a:t>
            </a:r>
            <a:endParaRPr lang="en-US" sz="1300"/>
          </a:p>
        </p:txBody>
      </p:sp>
      <p:sp>
        <p:nvSpPr>
          <p:cNvPr id="16" name="Shape 10"/>
          <p:cNvSpPr/>
          <p:nvPr/>
        </p:nvSpPr>
        <p:spPr>
          <a:xfrm>
            <a:off x="990295" y="2085746"/>
            <a:ext cx="4476902" cy="19202"/>
          </a:xfrm>
          <a:prstGeom prst="rect">
            <a:avLst/>
          </a:prstGeom>
          <a:solidFill>
            <a:srgbClr val="2A9D8F">
              <a:alpha val="20000"/>
            </a:srgbClr>
          </a:solidFill>
          <a:ln w="12700">
            <a:solidFill>
              <a:srgbClr val="2A9D8F">
                <a:alpha val="0"/>
              </a:srgbClr>
            </a:solidFill>
            <a:prstDash val="solid"/>
          </a:ln>
        </p:spPr>
        <p:txBody>
          <a:bodyPr/>
          <a:lstStyle/>
          <a:p>
            <a:endParaRPr lang="en-US"/>
          </a:p>
        </p:txBody>
      </p:sp>
      <p:sp>
        <p:nvSpPr>
          <p:cNvPr id="17" name="Text 11"/>
          <p:cNvSpPr txBox="1"/>
          <p:nvPr/>
        </p:nvSpPr>
        <p:spPr>
          <a:xfrm>
            <a:off x="990295" y="1666951"/>
            <a:ext cx="4562856" cy="343814"/>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l">
              <a:buNone/>
            </a:pPr>
            <a:r>
              <a:rPr lang="en-US" sz="1800" b="1">
                <a:solidFill>
                  <a:srgbClr val="1F2937"/>
                </a:solidFill>
                <a:latin typeface="Oswald" pitchFamily="34" charset="0"/>
                <a:ea typeface="Oswald" pitchFamily="34" charset="-122"/>
                <a:cs typeface="Oswald" pitchFamily="34" charset="-120"/>
              </a:rPr>
              <a:t>What Is the AI Research Wing?</a:t>
            </a:r>
            <a:endParaRPr lang="en-US" sz="1800"/>
          </a:p>
        </p:txBody>
      </p:sp>
      <p:pic>
        <p:nvPicPr>
          <p:cNvPr id="18" name="Image 4" descr="preencoded.png"/>
          <p:cNvPicPr>
            <a:picLocks noChangeAspect="1"/>
          </p:cNvPicPr>
          <p:nvPr/>
        </p:nvPicPr>
        <p:blipFill>
          <a:blip r:embed="rId7"/>
          <a:srcRect/>
          <a:stretch/>
        </p:blipFill>
        <p:spPr>
          <a:xfrm>
            <a:off x="1019556" y="2221992"/>
            <a:ext cx="171907" cy="171907"/>
          </a:xfrm>
          <a:prstGeom prst="rect">
            <a:avLst/>
          </a:prstGeom>
        </p:spPr>
      </p:pic>
      <p:sp>
        <p:nvSpPr>
          <p:cNvPr id="19" name="Text 12"/>
          <p:cNvSpPr txBox="1"/>
          <p:nvPr/>
        </p:nvSpPr>
        <p:spPr>
          <a:xfrm>
            <a:off x="1314907" y="2190902"/>
            <a:ext cx="9982505" cy="391363"/>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A dedicated team of AI researchers and engineers working on cutting-edge enterprise AI - agentic AI systems, LLM orchestration, model governance, and applied ML</a:t>
            </a:r>
            <a:endParaRPr lang="en-US" sz="1100"/>
          </a:p>
        </p:txBody>
      </p:sp>
      <p:pic>
        <p:nvPicPr>
          <p:cNvPr id="20" name="Image 5" descr="preencoded.png"/>
          <p:cNvPicPr>
            <a:picLocks noChangeAspect="1"/>
          </p:cNvPicPr>
          <p:nvPr/>
        </p:nvPicPr>
        <p:blipFill>
          <a:blip r:embed="rId8"/>
          <a:srcRect/>
          <a:stretch/>
        </p:blipFill>
        <p:spPr>
          <a:xfrm>
            <a:off x="1019556" y="2602382"/>
            <a:ext cx="171907" cy="171907"/>
          </a:xfrm>
          <a:prstGeom prst="rect">
            <a:avLst/>
          </a:prstGeom>
        </p:spPr>
      </p:pic>
      <p:sp>
        <p:nvSpPr>
          <p:cNvPr id="21" name="Text 13"/>
          <p:cNvSpPr txBox="1"/>
          <p:nvPr/>
        </p:nvSpPr>
        <p:spPr>
          <a:xfrm>
            <a:off x="1314907" y="2572207"/>
            <a:ext cx="10592410" cy="200254"/>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Currently building and publishing research on agentic AI architectures, prompt engineering frameworks, and enterprise AI adoption strategies</a:t>
            </a:r>
            <a:endParaRPr lang="en-US" sz="1100"/>
          </a:p>
        </p:txBody>
      </p:sp>
      <p:pic>
        <p:nvPicPr>
          <p:cNvPr id="22" name="Image 6" descr="preencoded.png"/>
          <p:cNvPicPr>
            <a:picLocks noChangeAspect="1"/>
          </p:cNvPicPr>
          <p:nvPr/>
        </p:nvPicPr>
        <p:blipFill>
          <a:blip r:embed="rId9"/>
          <a:srcRect/>
          <a:stretch/>
        </p:blipFill>
        <p:spPr>
          <a:xfrm>
            <a:off x="1019556" y="2983687"/>
            <a:ext cx="171907" cy="171907"/>
          </a:xfrm>
          <a:prstGeom prst="rect">
            <a:avLst/>
          </a:prstGeom>
        </p:spPr>
      </p:pic>
      <p:sp>
        <p:nvSpPr>
          <p:cNvPr id="23" name="Text 14"/>
          <p:cNvSpPr txBox="1"/>
          <p:nvPr/>
        </p:nvSpPr>
        <p:spPr>
          <a:xfrm>
            <a:off x="1314907" y="2952598"/>
            <a:ext cx="10592410" cy="200254"/>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Powers J2W's proprietary platforms: the J2W Agentic Platform, Qualizen (GenAI-assisted quality engineering), and Talk2Data (conversational BI)</a:t>
            </a:r>
            <a:endParaRPr lang="en-US" sz="1100"/>
          </a:p>
        </p:txBody>
      </p:sp>
      <p:sp>
        <p:nvSpPr>
          <p:cNvPr id="24" name="Shape 15"/>
          <p:cNvSpPr/>
          <p:nvPr/>
        </p:nvSpPr>
        <p:spPr>
          <a:xfrm>
            <a:off x="990295" y="3990442"/>
            <a:ext cx="4476902" cy="19202"/>
          </a:xfrm>
          <a:prstGeom prst="rect">
            <a:avLst/>
          </a:prstGeom>
          <a:solidFill>
            <a:srgbClr val="D62839">
              <a:alpha val="20000"/>
            </a:srgbClr>
          </a:solidFill>
          <a:ln w="12700">
            <a:solidFill>
              <a:srgbClr val="D62839">
                <a:alpha val="0"/>
              </a:srgbClr>
            </a:solidFill>
            <a:prstDash val="solid"/>
          </a:ln>
        </p:spPr>
        <p:txBody>
          <a:bodyPr/>
          <a:lstStyle/>
          <a:p>
            <a:endParaRPr lang="en-US"/>
          </a:p>
        </p:txBody>
      </p:sp>
      <p:sp>
        <p:nvSpPr>
          <p:cNvPr id="25" name="Text 16"/>
          <p:cNvSpPr txBox="1"/>
          <p:nvPr/>
        </p:nvSpPr>
        <p:spPr>
          <a:xfrm>
            <a:off x="990295" y="3571646"/>
            <a:ext cx="4562856" cy="343814"/>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l">
              <a:buNone/>
            </a:pPr>
            <a:r>
              <a:rPr lang="en-US" sz="1800" b="1">
                <a:solidFill>
                  <a:srgbClr val="1F2937"/>
                </a:solidFill>
                <a:latin typeface="Oswald" pitchFamily="34" charset="0"/>
                <a:ea typeface="Oswald" pitchFamily="34" charset="-122"/>
                <a:cs typeface="Oswald" pitchFamily="34" charset="-120"/>
              </a:rPr>
              <a:t>How Pod Members Benefit</a:t>
            </a:r>
            <a:endParaRPr lang="en-US" sz="1800"/>
          </a:p>
        </p:txBody>
      </p:sp>
      <p:pic>
        <p:nvPicPr>
          <p:cNvPr id="26" name="Image 7" descr="preencoded.png"/>
          <p:cNvPicPr>
            <a:picLocks noChangeAspect="1"/>
          </p:cNvPicPr>
          <p:nvPr/>
        </p:nvPicPr>
        <p:blipFill>
          <a:blip r:embed="rId10"/>
          <a:srcRect l="-1064" r="-1064"/>
          <a:stretch/>
        </p:blipFill>
        <p:spPr>
          <a:xfrm>
            <a:off x="995782" y="4126687"/>
            <a:ext cx="219456" cy="171907"/>
          </a:xfrm>
          <a:prstGeom prst="rect">
            <a:avLst/>
          </a:prstGeom>
        </p:spPr>
      </p:pic>
      <p:sp>
        <p:nvSpPr>
          <p:cNvPr id="27" name="Text 17"/>
          <p:cNvSpPr txBox="1"/>
          <p:nvPr/>
        </p:nvSpPr>
        <p:spPr>
          <a:xfrm>
            <a:off x="1314907" y="4095598"/>
            <a:ext cx="10020910" cy="200254"/>
          </a:xfrm>
          <a:prstGeom prst="rect">
            <a:avLst/>
          </a:prstGeom>
          <a:noFill/>
          <a:ln/>
        </p:spPr>
        <p:txBody>
          <a:bodyPr wrap="square" lIns="0" tIns="0" rIns="0" bIns="0" rtlCol="0" anchor="ctr"/>
          <a:lstStyle/>
          <a:p>
            <a:pPr marL="0" indent="0" algn="l">
              <a:buNone/>
            </a:pPr>
            <a:r>
              <a:rPr lang="en-US" sz="1100" b="1">
                <a:solidFill>
                  <a:srgbClr val="111827"/>
                </a:solidFill>
                <a:latin typeface="Raleway" pitchFamily="34" charset="0"/>
                <a:ea typeface="Raleway" pitchFamily="34" charset="-122"/>
                <a:cs typeface="Raleway" pitchFamily="34" charset="-120"/>
              </a:rPr>
              <a:t>Weekly AI workshops</a:t>
            </a:r>
            <a:r>
              <a:rPr lang="en-US" sz="1100">
                <a:solidFill>
                  <a:srgbClr val="4B5563"/>
                </a:solidFill>
                <a:latin typeface="Raleway" pitchFamily="34" charset="0"/>
                <a:ea typeface="Raleway" pitchFamily="34" charset="-122"/>
                <a:cs typeface="Raleway" pitchFamily="34" charset="-120"/>
              </a:rPr>
              <a:t> led by our research team - covering practical, project-applicable AI skills </a:t>
            </a:r>
            <a:endParaRPr lang="en-US" sz="1100"/>
          </a:p>
        </p:txBody>
      </p:sp>
      <p:pic>
        <p:nvPicPr>
          <p:cNvPr id="28" name="Image 8" descr="preencoded.png"/>
          <p:cNvPicPr>
            <a:picLocks noChangeAspect="1"/>
          </p:cNvPicPr>
          <p:nvPr/>
        </p:nvPicPr>
        <p:blipFill>
          <a:blip r:embed="rId11"/>
          <a:srcRect l="-1773" r="-1773"/>
          <a:stretch/>
        </p:blipFill>
        <p:spPr>
          <a:xfrm>
            <a:off x="1037844" y="4507992"/>
            <a:ext cx="133502" cy="171907"/>
          </a:xfrm>
          <a:prstGeom prst="rect">
            <a:avLst/>
          </a:prstGeom>
        </p:spPr>
      </p:pic>
      <p:sp>
        <p:nvSpPr>
          <p:cNvPr id="29" name="Text 18"/>
          <p:cNvSpPr txBox="1"/>
          <p:nvPr/>
        </p:nvSpPr>
        <p:spPr>
          <a:xfrm>
            <a:off x="1314907" y="4476902"/>
            <a:ext cx="10020910" cy="200254"/>
          </a:xfrm>
          <a:prstGeom prst="rect">
            <a:avLst/>
          </a:prstGeom>
          <a:noFill/>
          <a:ln/>
        </p:spPr>
        <p:txBody>
          <a:bodyPr wrap="square" lIns="0" tIns="0" rIns="0" bIns="0" rtlCol="0" anchor="ctr"/>
          <a:lstStyle/>
          <a:p>
            <a:pPr marL="0" indent="0" algn="l">
              <a:buNone/>
            </a:pPr>
            <a:r>
              <a:rPr lang="en-US" sz="1100" b="1">
                <a:solidFill>
                  <a:srgbClr val="111827"/>
                </a:solidFill>
                <a:latin typeface="Raleway" pitchFamily="34" charset="0"/>
                <a:ea typeface="Raleway" pitchFamily="34" charset="-122"/>
                <a:cs typeface="Raleway" pitchFamily="34" charset="-120"/>
              </a:rPr>
              <a:t>Access to the J2W </a:t>
            </a:r>
            <a:r>
              <a:rPr lang="en-US" sz="1100" b="1" err="1">
                <a:solidFill>
                  <a:srgbClr val="111827"/>
                </a:solidFill>
                <a:latin typeface="Raleway" pitchFamily="34" charset="0"/>
                <a:ea typeface="Raleway" pitchFamily="34" charset="-122"/>
                <a:cs typeface="Raleway" pitchFamily="34" charset="-120"/>
              </a:rPr>
              <a:t>iLAB</a:t>
            </a:r>
            <a:r>
              <a:rPr lang="en-US" sz="1100">
                <a:solidFill>
                  <a:srgbClr val="4B5563"/>
                </a:solidFill>
                <a:latin typeface="Raleway" pitchFamily="34" charset="0"/>
                <a:ea typeface="Raleway" pitchFamily="34" charset="-122"/>
                <a:cs typeface="Raleway" pitchFamily="34" charset="-120"/>
              </a:rPr>
              <a:t> - Innovation Points program for building PoCs, hackathons, and rapid prototyping </a:t>
            </a:r>
            <a:endParaRPr lang="en-US" sz="1100"/>
          </a:p>
        </p:txBody>
      </p:sp>
      <p:pic>
        <p:nvPicPr>
          <p:cNvPr id="30" name="Image 9" descr="preencoded.png"/>
          <p:cNvPicPr>
            <a:picLocks noChangeAspect="1"/>
          </p:cNvPicPr>
          <p:nvPr/>
        </p:nvPicPr>
        <p:blipFill>
          <a:blip r:embed="rId12"/>
          <a:srcRect l="-1064" r="-1064"/>
          <a:stretch/>
        </p:blipFill>
        <p:spPr>
          <a:xfrm>
            <a:off x="995782" y="4888382"/>
            <a:ext cx="219456" cy="171907"/>
          </a:xfrm>
          <a:prstGeom prst="rect">
            <a:avLst/>
          </a:prstGeom>
        </p:spPr>
      </p:pic>
      <p:sp>
        <p:nvSpPr>
          <p:cNvPr id="31" name="Text 19"/>
          <p:cNvSpPr txBox="1"/>
          <p:nvPr/>
        </p:nvSpPr>
        <p:spPr>
          <a:xfrm>
            <a:off x="1314907" y="4858207"/>
            <a:ext cx="10020910" cy="200254"/>
          </a:xfrm>
          <a:prstGeom prst="rect">
            <a:avLst/>
          </a:prstGeom>
          <a:noFill/>
          <a:ln/>
        </p:spPr>
        <p:txBody>
          <a:bodyPr wrap="square" lIns="0" tIns="0" rIns="0" bIns="0" rtlCol="0" anchor="ctr"/>
          <a:lstStyle/>
          <a:p>
            <a:pPr marL="0" indent="0" algn="l">
              <a:buNone/>
            </a:pPr>
            <a:r>
              <a:rPr lang="en-US" sz="1100" b="1">
                <a:solidFill>
                  <a:srgbClr val="111827"/>
                </a:solidFill>
                <a:latin typeface="Raleway" pitchFamily="34" charset="0"/>
                <a:ea typeface="Raleway" pitchFamily="34" charset="-122"/>
                <a:cs typeface="Raleway" pitchFamily="34" charset="-120"/>
              </a:rPr>
              <a:t>Contextual AI training</a:t>
            </a:r>
            <a:r>
              <a:rPr lang="en-US" sz="1100">
                <a:solidFill>
                  <a:srgbClr val="4B5563"/>
                </a:solidFill>
                <a:latin typeface="Raleway" pitchFamily="34" charset="0"/>
                <a:ea typeface="Raleway" pitchFamily="34" charset="-122"/>
                <a:cs typeface="Raleway" pitchFamily="34" charset="-120"/>
              </a:rPr>
              <a:t> - hands-on training tailored to the specific technology stack and domain </a:t>
            </a:r>
            <a:endParaRPr lang="en-US" sz="1100"/>
          </a:p>
        </p:txBody>
      </p:sp>
      <p:pic>
        <p:nvPicPr>
          <p:cNvPr id="32" name="Image 10" descr="preencoded.png"/>
          <p:cNvPicPr>
            <a:picLocks noChangeAspect="1"/>
          </p:cNvPicPr>
          <p:nvPr/>
        </p:nvPicPr>
        <p:blipFill>
          <a:blip r:embed="rId13"/>
          <a:srcRect/>
          <a:stretch/>
        </p:blipFill>
        <p:spPr>
          <a:xfrm>
            <a:off x="1019556" y="5269687"/>
            <a:ext cx="171907" cy="171907"/>
          </a:xfrm>
          <a:prstGeom prst="rect">
            <a:avLst/>
          </a:prstGeom>
        </p:spPr>
      </p:pic>
      <p:sp>
        <p:nvSpPr>
          <p:cNvPr id="33" name="Text 20"/>
          <p:cNvSpPr txBox="1"/>
          <p:nvPr/>
        </p:nvSpPr>
        <p:spPr>
          <a:xfrm>
            <a:off x="1314907" y="5238598"/>
            <a:ext cx="10020910" cy="200254"/>
          </a:xfrm>
          <a:prstGeom prst="rect">
            <a:avLst/>
          </a:prstGeom>
          <a:noFill/>
          <a:ln/>
        </p:spPr>
        <p:txBody>
          <a:bodyPr wrap="square" lIns="0" tIns="0" rIns="0" bIns="0" rtlCol="0" anchor="ctr"/>
          <a:lstStyle/>
          <a:p>
            <a:pPr marL="0" indent="0" algn="l">
              <a:buNone/>
            </a:pPr>
            <a:r>
              <a:rPr lang="en-US" sz="1100" b="1">
                <a:solidFill>
                  <a:srgbClr val="111827"/>
                </a:solidFill>
                <a:latin typeface="Raleway" pitchFamily="34" charset="0"/>
                <a:ea typeface="Raleway" pitchFamily="34" charset="-122"/>
                <a:cs typeface="Raleway" pitchFamily="34" charset="-120"/>
              </a:rPr>
              <a:t>Benchmarking against global best practices</a:t>
            </a:r>
            <a:r>
              <a:rPr lang="en-US" sz="1100">
                <a:solidFill>
                  <a:srgbClr val="4B5563"/>
                </a:solidFill>
                <a:latin typeface="Raleway" pitchFamily="34" charset="0"/>
                <a:ea typeface="Raleway" pitchFamily="34" charset="-122"/>
                <a:cs typeface="Raleway" pitchFamily="34" charset="-120"/>
              </a:rPr>
              <a:t> - continuous measurement against industry-leading standards </a:t>
            </a:r>
            <a:endParaRPr lang="en-US" sz="1100"/>
          </a:p>
        </p:txBody>
      </p:sp>
      <p:sp>
        <p:nvSpPr>
          <p:cNvPr id="34" name="Text 21"/>
          <p:cNvSpPr txBox="1"/>
          <p:nvPr/>
        </p:nvSpPr>
        <p:spPr>
          <a:xfrm>
            <a:off x="952805" y="6010351"/>
            <a:ext cx="10287000" cy="400507"/>
          </a:xfrm>
          <a:prstGeom prst="rect">
            <a:avLst/>
          </a:prstGeom>
          <a:noFill/>
          <a:ln/>
        </p:spPr>
        <p:txBody>
          <a:bodyPr wrap="square" lIns="0" tIns="0" rIns="0" bIns="0" rtlCol="0" anchor="ctr"/>
          <a:lstStyle/>
          <a:p>
            <a:pPr marL="0" indent="0" algn="ctr">
              <a:buNone/>
            </a:pPr>
            <a:r>
              <a:rPr lang="en-US" sz="1400" b="1">
                <a:solidFill>
                  <a:srgbClr val="FFFFFF"/>
                </a:solidFill>
                <a:latin typeface="Raleway" pitchFamily="34" charset="0"/>
                <a:ea typeface="Raleway" pitchFamily="34" charset="-122"/>
                <a:cs typeface="Raleway" pitchFamily="34" charset="-120"/>
              </a:rPr>
              <a:t>The result: Your engineers don't just work - they get better every week. And that compounding improvement is something no staffing model can deliver.</a:t>
            </a:r>
            <a:endParaRPr lang="en-US" sz="14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36FEC-3F04-EFFB-9494-939530E6ACE6}"/>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7C26CA67-5AC5-033E-F7C6-8741632D395F}"/>
              </a:ext>
            </a:extLst>
          </p:cNvPr>
          <p:cNvSpPr/>
          <p:nvPr/>
        </p:nvSpPr>
        <p:spPr>
          <a:xfrm>
            <a:off x="9334195" y="-952805"/>
            <a:ext cx="3810305" cy="3810305"/>
          </a:xfrm>
          <a:prstGeom prst="ellipse">
            <a:avLst/>
          </a:prstGeom>
          <a:solidFill>
            <a:srgbClr val="2A9D8F">
              <a:alpha val="3000"/>
            </a:srgbClr>
          </a:solidFill>
          <a:ln w="12700">
            <a:solidFill>
              <a:srgbClr val="FFFFFF">
                <a:alpha val="0"/>
              </a:srgbClr>
            </a:solidFill>
            <a:prstDash val="solid"/>
          </a:ln>
        </p:spPr>
        <p:txBody>
          <a:bodyPr/>
          <a:lstStyle/>
          <a:p>
            <a:endParaRPr lang="en-US"/>
          </a:p>
        </p:txBody>
      </p:sp>
      <p:pic>
        <p:nvPicPr>
          <p:cNvPr id="5" name="Image 0" descr="gen-dedup-4ab2116e971fbb9400d0e99205bd0390.png">
            <a:extLst>
              <a:ext uri="{FF2B5EF4-FFF2-40B4-BE49-F238E27FC236}">
                <a16:creationId xmlns:a16="http://schemas.microsoft.com/office/drawing/2014/main" id="{08E93300-66C1-83DC-0D75-3663638B5410}"/>
              </a:ext>
            </a:extLst>
          </p:cNvPr>
          <p:cNvPicPr>
            <a:picLocks noChangeAspect="1"/>
          </p:cNvPicPr>
          <p:nvPr/>
        </p:nvPicPr>
        <p:blipFill>
          <a:blip r:embed="rId3">
            <a:alphaModFix amt="5000"/>
          </a:blip>
          <a:srcRect/>
          <a:stretch/>
        </p:blipFill>
        <p:spPr>
          <a:xfrm>
            <a:off x="10001707" y="5238598"/>
            <a:ext cx="1904695" cy="1904695"/>
          </a:xfrm>
          <a:prstGeom prst="rect">
            <a:avLst/>
          </a:prstGeom>
        </p:spPr>
      </p:pic>
      <p:pic>
        <p:nvPicPr>
          <p:cNvPr id="6" name="Image 1" descr="gen-dedup-323228122ff92d2332e711a84ca3b40c.png">
            <a:extLst>
              <a:ext uri="{FF2B5EF4-FFF2-40B4-BE49-F238E27FC236}">
                <a16:creationId xmlns:a16="http://schemas.microsoft.com/office/drawing/2014/main" id="{F1659A7B-21C5-E18B-E3B3-532B1CAA7859}"/>
              </a:ext>
            </a:extLst>
          </p:cNvPr>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a:extLst>
              <a:ext uri="{FF2B5EF4-FFF2-40B4-BE49-F238E27FC236}">
                <a16:creationId xmlns:a16="http://schemas.microsoft.com/office/drawing/2014/main" id="{787AB771-F031-FC72-9428-7C4E26C42059}"/>
              </a:ext>
            </a:extLst>
          </p:cNvPr>
          <p:cNvPicPr>
            <a:picLocks noChangeAspect="1"/>
          </p:cNvPicPr>
          <p:nvPr/>
        </p:nvPicPr>
        <p:blipFill>
          <a:blip r:embed="rId5"/>
          <a:srcRect l="-202" r="-202"/>
          <a:stretch/>
        </p:blipFill>
        <p:spPr>
          <a:xfrm>
            <a:off x="8124444" y="0"/>
            <a:ext cx="4067251" cy="75895"/>
          </a:xfrm>
          <a:prstGeom prst="rect">
            <a:avLst/>
          </a:prstGeom>
        </p:spPr>
      </p:pic>
      <p:sp>
        <p:nvSpPr>
          <p:cNvPr id="8" name="Text 3">
            <a:extLst>
              <a:ext uri="{FF2B5EF4-FFF2-40B4-BE49-F238E27FC236}">
                <a16:creationId xmlns:a16="http://schemas.microsoft.com/office/drawing/2014/main" id="{8B088AAD-A287-6BD5-6078-F68C935297D8}"/>
              </a:ext>
            </a:extLst>
          </p:cNvPr>
          <p:cNvSpPr txBox="1"/>
          <p:nvPr/>
        </p:nvSpPr>
        <p:spPr>
          <a:xfrm>
            <a:off x="381305" y="1143000"/>
            <a:ext cx="2382012" cy="1524305"/>
          </a:xfrm>
          <a:prstGeom prst="rect">
            <a:avLst/>
          </a:prstGeom>
          <a:noFill/>
          <a:ln/>
        </p:spPr>
        <p:txBody>
          <a:bodyPr wrap="none" lIns="0" tIns="0" rIns="0" bIns="0" rtlCol="0" anchor="ctr"/>
          <a:lstStyle/>
          <a:p>
            <a:pPr marL="0" indent="0" algn="l">
              <a:buNone/>
            </a:pPr>
            <a:r>
              <a:rPr lang="en-US" sz="12000" b="1">
                <a:solidFill>
                  <a:srgbClr val="F3F4F6"/>
                </a:solidFill>
                <a:latin typeface="Oswald" pitchFamily="34" charset="0"/>
                <a:ea typeface="Oswald" pitchFamily="34" charset="-122"/>
                <a:cs typeface="Oswald" pitchFamily="34" charset="-120"/>
              </a:rPr>
              <a:t>03</a:t>
            </a:r>
            <a:endParaRPr lang="en-US" sz="12000"/>
          </a:p>
        </p:txBody>
      </p:sp>
      <p:pic>
        <p:nvPicPr>
          <p:cNvPr id="11" name="Image 3" descr="gen-dedup-90395934058aa4b7c1bff00d7e70c0a4.png">
            <a:extLst>
              <a:ext uri="{FF2B5EF4-FFF2-40B4-BE49-F238E27FC236}">
                <a16:creationId xmlns:a16="http://schemas.microsoft.com/office/drawing/2014/main" id="{796B9E8C-F151-F8F0-BEDC-37F1FA0B5F06}"/>
              </a:ext>
            </a:extLst>
          </p:cNvPr>
          <p:cNvPicPr>
            <a:picLocks noChangeAspect="1"/>
          </p:cNvPicPr>
          <p:nvPr/>
        </p:nvPicPr>
        <p:blipFill>
          <a:blip r:embed="rId6"/>
          <a:srcRect l="-416" r="-416"/>
          <a:stretch/>
        </p:blipFill>
        <p:spPr>
          <a:xfrm>
            <a:off x="1143000" y="2428646"/>
            <a:ext cx="57607" cy="714146"/>
          </a:xfrm>
          <a:prstGeom prst="rect">
            <a:avLst/>
          </a:prstGeom>
        </p:spPr>
      </p:pic>
      <p:sp>
        <p:nvSpPr>
          <p:cNvPr id="12" name="Text 6">
            <a:extLst>
              <a:ext uri="{FF2B5EF4-FFF2-40B4-BE49-F238E27FC236}">
                <a16:creationId xmlns:a16="http://schemas.microsoft.com/office/drawing/2014/main" id="{493B0B9E-4EAF-B775-BD2D-124ECC0CC2B7}"/>
              </a:ext>
            </a:extLst>
          </p:cNvPr>
          <p:cNvSpPr txBox="1"/>
          <p:nvPr/>
        </p:nvSpPr>
        <p:spPr>
          <a:xfrm>
            <a:off x="1429207" y="2333549"/>
            <a:ext cx="9525305" cy="762610"/>
          </a:xfrm>
          <a:prstGeom prst="rect">
            <a:avLst/>
          </a:prstGeom>
          <a:noFill/>
          <a:ln/>
        </p:spPr>
        <p:txBody>
          <a:bodyPr wrap="none" lIns="0" tIns="0" rIns="0" bIns="0" rtlCol="0" anchor="ctr"/>
          <a:lstStyle/>
          <a:p>
            <a:pPr marL="0" indent="0" algn="l">
              <a:buNone/>
            </a:pPr>
            <a:r>
              <a:rPr lang="en-US" sz="5400" b="1" kern="0" spc="108">
                <a:solidFill>
                  <a:srgbClr val="111827"/>
                </a:solidFill>
                <a:latin typeface="Oswald" pitchFamily="34" charset="0"/>
                <a:ea typeface="Oswald" pitchFamily="34" charset="-122"/>
                <a:cs typeface="Oswald" pitchFamily="34" charset="-120"/>
              </a:rPr>
              <a:t>MANAGED SERVICE SOLUTIONS</a:t>
            </a:r>
          </a:p>
        </p:txBody>
      </p:sp>
      <p:sp>
        <p:nvSpPr>
          <p:cNvPr id="13" name="Text 7">
            <a:extLst>
              <a:ext uri="{FF2B5EF4-FFF2-40B4-BE49-F238E27FC236}">
                <a16:creationId xmlns:a16="http://schemas.microsoft.com/office/drawing/2014/main" id="{D1E95E23-50BF-2585-6188-7EA29589DA1C}"/>
              </a:ext>
            </a:extLst>
          </p:cNvPr>
          <p:cNvSpPr txBox="1"/>
          <p:nvPr/>
        </p:nvSpPr>
        <p:spPr>
          <a:xfrm>
            <a:off x="1429207" y="3333902"/>
            <a:ext cx="9127033" cy="170993"/>
          </a:xfrm>
          <a:prstGeom prst="rect">
            <a:avLst/>
          </a:prstGeom>
          <a:noFill/>
          <a:ln/>
        </p:spPr>
        <p:txBody>
          <a:bodyPr wrap="none" lIns="0" tIns="0" rIns="0" bIns="0" rtlCol="0" anchor="ctr"/>
          <a:lstStyle/>
          <a:p>
            <a:pPr marL="0" indent="0" algn="l">
              <a:buNone/>
            </a:pPr>
            <a:r>
              <a:rPr lang="en-US" sz="2100">
                <a:solidFill>
                  <a:srgbClr val="2A9D8F"/>
                </a:solidFill>
                <a:latin typeface="Raleway" pitchFamily="34" charset="0"/>
                <a:ea typeface="Raleway" pitchFamily="34" charset="-122"/>
                <a:cs typeface="Raleway" pitchFamily="34" charset="-120"/>
              </a:rPr>
              <a:t>Outcome-owned delivery across your most critical enterprise stacks - </a:t>
            </a:r>
          </a:p>
          <a:p>
            <a:pPr marL="0" indent="0" algn="l">
              <a:buNone/>
            </a:pPr>
            <a:r>
              <a:rPr lang="en-US" sz="2100">
                <a:solidFill>
                  <a:srgbClr val="2A9D8F"/>
                </a:solidFill>
                <a:latin typeface="Raleway" pitchFamily="34" charset="0"/>
                <a:ea typeface="Raleway" pitchFamily="34" charset="-122"/>
                <a:cs typeface="Raleway" pitchFamily="34" charset="-120"/>
              </a:rPr>
              <a:t>we own the SLOs, not just the seats.</a:t>
            </a:r>
          </a:p>
        </p:txBody>
      </p:sp>
      <p:sp>
        <p:nvSpPr>
          <p:cNvPr id="14" name="Text 8">
            <a:extLst>
              <a:ext uri="{FF2B5EF4-FFF2-40B4-BE49-F238E27FC236}">
                <a16:creationId xmlns:a16="http://schemas.microsoft.com/office/drawing/2014/main" id="{1852004E-001E-9611-F364-77841D88018F}"/>
              </a:ext>
            </a:extLst>
          </p:cNvPr>
          <p:cNvSpPr txBox="1"/>
          <p:nvPr/>
        </p:nvSpPr>
        <p:spPr>
          <a:xfrm>
            <a:off x="1429207" y="4143146"/>
            <a:ext cx="9335110" cy="553212"/>
          </a:xfrm>
          <a:prstGeom prst="rect">
            <a:avLst/>
          </a:prstGeom>
          <a:noFill/>
          <a:ln/>
        </p:spPr>
        <p:txBody>
          <a:bodyPr wrap="squar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This is not a staffing engagement with a governance wrapper. We bring pre-built accelerators, embedded domain expertise, and a hard 40% improvement threshold - so every engagement moves a metric, not just a milestone.</a:t>
            </a:r>
            <a:endParaRPr lang="en-US" sz="1300"/>
          </a:p>
        </p:txBody>
      </p:sp>
      <p:pic>
        <p:nvPicPr>
          <p:cNvPr id="15" name="Image 4" descr="gen-dedup-818c62191cf4a66fb5704c7f87e3fedf.png">
            <a:extLst>
              <a:ext uri="{FF2B5EF4-FFF2-40B4-BE49-F238E27FC236}">
                <a16:creationId xmlns:a16="http://schemas.microsoft.com/office/drawing/2014/main" id="{E8F83646-DE63-E358-1F6F-53BDCE9C510A}"/>
              </a:ext>
            </a:extLst>
          </p:cNvPr>
          <p:cNvPicPr>
            <a:picLocks noChangeAspect="1"/>
          </p:cNvPicPr>
          <p:nvPr/>
        </p:nvPicPr>
        <p:blipFill>
          <a:blip r:embed="rId7"/>
          <a:srcRect l="-166" r="-166"/>
          <a:stretch/>
        </p:blipFill>
        <p:spPr>
          <a:xfrm>
            <a:off x="1429207" y="5143500"/>
            <a:ext cx="1933956" cy="418795"/>
          </a:xfrm>
          <a:prstGeom prst="rect">
            <a:avLst/>
          </a:prstGeom>
        </p:spPr>
      </p:pic>
      <p:sp>
        <p:nvSpPr>
          <p:cNvPr id="16" name="Shape 9">
            <a:extLst>
              <a:ext uri="{FF2B5EF4-FFF2-40B4-BE49-F238E27FC236}">
                <a16:creationId xmlns:a16="http://schemas.microsoft.com/office/drawing/2014/main" id="{F371CEAE-1742-792F-2C3C-3EE3A14928CC}"/>
              </a:ext>
            </a:extLst>
          </p:cNvPr>
          <p:cNvSpPr/>
          <p:nvPr/>
        </p:nvSpPr>
        <p:spPr>
          <a:xfrm>
            <a:off x="1429207" y="5143500"/>
            <a:ext cx="1933956" cy="418795"/>
          </a:xfrm>
          <a:prstGeom prst="roundRect">
            <a:avLst>
              <a:gd name="adj" fmla="val 13755"/>
            </a:avLst>
          </a:prstGeom>
          <a:noFill/>
          <a:ln w="12700">
            <a:solidFill>
              <a:srgbClr val="E5E7EB"/>
            </a:solidFill>
            <a:prstDash val="solid"/>
          </a:ln>
        </p:spPr>
        <p:txBody>
          <a:bodyPr/>
          <a:lstStyle/>
          <a:p>
            <a:endParaRPr lang="en-US"/>
          </a:p>
        </p:txBody>
      </p:sp>
      <p:sp>
        <p:nvSpPr>
          <p:cNvPr id="17" name="Text 10">
            <a:extLst>
              <a:ext uri="{FF2B5EF4-FFF2-40B4-BE49-F238E27FC236}">
                <a16:creationId xmlns:a16="http://schemas.microsoft.com/office/drawing/2014/main" id="{A4DB6210-1039-8E9B-BA17-6D3D6EDB4D79}"/>
              </a:ext>
            </a:extLst>
          </p:cNvPr>
          <p:cNvSpPr txBox="1"/>
          <p:nvPr/>
        </p:nvSpPr>
        <p:spPr>
          <a:xfrm>
            <a:off x="1653845" y="5143500"/>
            <a:ext cx="1495958"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60+ pre-built solution </a:t>
            </a:r>
          </a:p>
          <a:p>
            <a:pPr marL="0" indent="0" algn="l">
              <a:buNone/>
            </a:pPr>
            <a:r>
              <a:rPr lang="en-US" sz="1100" b="1">
                <a:solidFill>
                  <a:srgbClr val="374151"/>
                </a:solidFill>
                <a:latin typeface="Raleway" pitchFamily="34" charset="0"/>
                <a:ea typeface="Raleway" pitchFamily="34" charset="-122"/>
                <a:cs typeface="Raleway" pitchFamily="34" charset="-120"/>
              </a:rPr>
              <a:t>accelerators</a:t>
            </a:r>
            <a:endParaRPr lang="en-US" sz="1100"/>
          </a:p>
        </p:txBody>
      </p:sp>
      <p:pic>
        <p:nvPicPr>
          <p:cNvPr id="18" name="Image 5" descr="gen-dedup-a287ae7abd092c83dc5f899415c51d00.png">
            <a:extLst>
              <a:ext uri="{FF2B5EF4-FFF2-40B4-BE49-F238E27FC236}">
                <a16:creationId xmlns:a16="http://schemas.microsoft.com/office/drawing/2014/main" id="{B8EBDEE0-CA2B-2977-B786-BF2F31C196AE}"/>
              </a:ext>
            </a:extLst>
          </p:cNvPr>
          <p:cNvPicPr>
            <a:picLocks noChangeAspect="1"/>
          </p:cNvPicPr>
          <p:nvPr/>
        </p:nvPicPr>
        <p:blipFill>
          <a:blip r:embed="rId8"/>
          <a:srcRect t="-16800" b="-16800"/>
          <a:stretch/>
        </p:blipFill>
        <p:spPr>
          <a:xfrm>
            <a:off x="1657807" y="5277002"/>
            <a:ext cx="114300" cy="152705"/>
          </a:xfrm>
          <a:prstGeom prst="rect">
            <a:avLst/>
          </a:prstGeom>
        </p:spPr>
      </p:pic>
      <p:pic>
        <p:nvPicPr>
          <p:cNvPr id="19" name="Image 6" descr="gen-dedup-0363cb9fbb55bfd8aa96459f99cffd70.png">
            <a:extLst>
              <a:ext uri="{FF2B5EF4-FFF2-40B4-BE49-F238E27FC236}">
                <a16:creationId xmlns:a16="http://schemas.microsoft.com/office/drawing/2014/main" id="{70961C1D-5594-5681-CAB0-8FC218329E9A}"/>
              </a:ext>
            </a:extLst>
          </p:cNvPr>
          <p:cNvPicPr>
            <a:picLocks noChangeAspect="1"/>
          </p:cNvPicPr>
          <p:nvPr/>
        </p:nvPicPr>
        <p:blipFill>
          <a:blip r:embed="rId9"/>
          <a:srcRect l="-260" r="-260"/>
          <a:stretch/>
        </p:blipFill>
        <p:spPr>
          <a:xfrm>
            <a:off x="3510382" y="5143500"/>
            <a:ext cx="2430170" cy="418795"/>
          </a:xfrm>
          <a:prstGeom prst="rect">
            <a:avLst/>
          </a:prstGeom>
        </p:spPr>
      </p:pic>
      <p:sp>
        <p:nvSpPr>
          <p:cNvPr id="20" name="Shape 11">
            <a:extLst>
              <a:ext uri="{FF2B5EF4-FFF2-40B4-BE49-F238E27FC236}">
                <a16:creationId xmlns:a16="http://schemas.microsoft.com/office/drawing/2014/main" id="{457818EF-B619-D54A-AD34-A2E5256A6011}"/>
              </a:ext>
            </a:extLst>
          </p:cNvPr>
          <p:cNvSpPr/>
          <p:nvPr/>
        </p:nvSpPr>
        <p:spPr>
          <a:xfrm>
            <a:off x="3510382" y="5143500"/>
            <a:ext cx="2430170" cy="418795"/>
          </a:xfrm>
          <a:prstGeom prst="roundRect">
            <a:avLst>
              <a:gd name="adj" fmla="val 13755"/>
            </a:avLst>
          </a:prstGeom>
          <a:noFill/>
          <a:ln w="12700">
            <a:solidFill>
              <a:srgbClr val="E5E7EB"/>
            </a:solidFill>
            <a:prstDash val="solid"/>
          </a:ln>
        </p:spPr>
        <p:txBody>
          <a:bodyPr/>
          <a:lstStyle/>
          <a:p>
            <a:endParaRPr lang="en-US"/>
          </a:p>
        </p:txBody>
      </p:sp>
      <p:sp>
        <p:nvSpPr>
          <p:cNvPr id="21" name="Text 12">
            <a:extLst>
              <a:ext uri="{FF2B5EF4-FFF2-40B4-BE49-F238E27FC236}">
                <a16:creationId xmlns:a16="http://schemas.microsoft.com/office/drawing/2014/main" id="{F4429C0E-1902-5910-9BDD-8ABBCB86B1EB}"/>
              </a:ext>
            </a:extLst>
          </p:cNvPr>
          <p:cNvSpPr txBox="1"/>
          <p:nvPr/>
        </p:nvSpPr>
        <p:spPr>
          <a:xfrm>
            <a:off x="3735018" y="5143500"/>
            <a:ext cx="1740567"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AI &amp; Data, QE, SAP, </a:t>
            </a:r>
          </a:p>
          <a:p>
            <a:pPr marL="0" indent="0" algn="l">
              <a:buNone/>
            </a:pPr>
            <a:r>
              <a:rPr lang="en-US" sz="1100" b="1">
                <a:solidFill>
                  <a:srgbClr val="374151"/>
                </a:solidFill>
                <a:latin typeface="Raleway" pitchFamily="34" charset="0"/>
                <a:ea typeface="Raleway" pitchFamily="34" charset="-122"/>
                <a:cs typeface="Raleway" pitchFamily="34" charset="-120"/>
              </a:rPr>
              <a:t>ServiceNow &amp; industry stacks</a:t>
            </a:r>
            <a:endParaRPr lang="en-US" sz="1100"/>
          </a:p>
        </p:txBody>
      </p:sp>
      <p:pic>
        <p:nvPicPr>
          <p:cNvPr id="22" name="Image 7" descr="gen-dedup-c395ac9c840728d6470a4a8b33662e6e.png">
            <a:extLst>
              <a:ext uri="{FF2B5EF4-FFF2-40B4-BE49-F238E27FC236}">
                <a16:creationId xmlns:a16="http://schemas.microsoft.com/office/drawing/2014/main" id="{04CB1D1A-103F-1623-0D66-FF28427C6C4F}"/>
              </a:ext>
            </a:extLst>
          </p:cNvPr>
          <p:cNvPicPr>
            <a:picLocks noChangeAspect="1"/>
          </p:cNvPicPr>
          <p:nvPr/>
        </p:nvPicPr>
        <p:blipFill>
          <a:blip r:embed="rId10"/>
          <a:srcRect t="-16800" b="-16800"/>
          <a:stretch/>
        </p:blipFill>
        <p:spPr>
          <a:xfrm>
            <a:off x="3738981" y="5277002"/>
            <a:ext cx="179959" cy="152705"/>
          </a:xfrm>
          <a:prstGeom prst="rect">
            <a:avLst/>
          </a:prstGeom>
        </p:spPr>
      </p:pic>
      <p:pic>
        <p:nvPicPr>
          <p:cNvPr id="23" name="Image 8" descr="gen-dedup-fe10f786880821f62e6e2a70ff719369.png">
            <a:extLst>
              <a:ext uri="{FF2B5EF4-FFF2-40B4-BE49-F238E27FC236}">
                <a16:creationId xmlns:a16="http://schemas.microsoft.com/office/drawing/2014/main" id="{5B947CD5-F90B-9E4C-3474-D5534455F9E9}"/>
              </a:ext>
            </a:extLst>
          </p:cNvPr>
          <p:cNvPicPr>
            <a:picLocks noChangeAspect="1"/>
          </p:cNvPicPr>
          <p:nvPr/>
        </p:nvPicPr>
        <p:blipFill>
          <a:blip r:embed="rId11"/>
          <a:srcRect l="-58" r="-58"/>
          <a:stretch/>
        </p:blipFill>
        <p:spPr>
          <a:xfrm>
            <a:off x="6080150" y="5143500"/>
            <a:ext cx="2619756" cy="418795"/>
          </a:xfrm>
          <a:prstGeom prst="rect">
            <a:avLst/>
          </a:prstGeom>
        </p:spPr>
      </p:pic>
      <p:sp>
        <p:nvSpPr>
          <p:cNvPr id="24" name="Shape 13">
            <a:extLst>
              <a:ext uri="{FF2B5EF4-FFF2-40B4-BE49-F238E27FC236}">
                <a16:creationId xmlns:a16="http://schemas.microsoft.com/office/drawing/2014/main" id="{1F6B1423-0E90-CE64-5BD3-9705DDC9D739}"/>
              </a:ext>
            </a:extLst>
          </p:cNvPr>
          <p:cNvSpPr/>
          <p:nvPr/>
        </p:nvSpPr>
        <p:spPr>
          <a:xfrm>
            <a:off x="6080150" y="5143500"/>
            <a:ext cx="2619756" cy="418795"/>
          </a:xfrm>
          <a:prstGeom prst="roundRect">
            <a:avLst>
              <a:gd name="adj" fmla="val 13755"/>
            </a:avLst>
          </a:prstGeom>
          <a:noFill/>
          <a:ln w="12700">
            <a:solidFill>
              <a:srgbClr val="E5E7EB"/>
            </a:solidFill>
            <a:prstDash val="solid"/>
          </a:ln>
        </p:spPr>
        <p:txBody>
          <a:bodyPr/>
          <a:lstStyle/>
          <a:p>
            <a:endParaRPr lang="en-US"/>
          </a:p>
        </p:txBody>
      </p:sp>
      <p:sp>
        <p:nvSpPr>
          <p:cNvPr id="25" name="Text 14">
            <a:extLst>
              <a:ext uri="{FF2B5EF4-FFF2-40B4-BE49-F238E27FC236}">
                <a16:creationId xmlns:a16="http://schemas.microsoft.com/office/drawing/2014/main" id="{DF7B60D6-7803-AB8C-3D29-B56F3A615CAE}"/>
              </a:ext>
            </a:extLst>
          </p:cNvPr>
          <p:cNvSpPr txBox="1"/>
          <p:nvPr/>
        </p:nvSpPr>
        <p:spPr>
          <a:xfrm>
            <a:off x="6304788" y="5143500"/>
            <a:ext cx="2181758"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Outcome-bound SLOs - </a:t>
            </a:r>
          </a:p>
          <a:p>
            <a:pPr marL="0" indent="0" algn="l">
              <a:buNone/>
            </a:pPr>
            <a:r>
              <a:rPr lang="en-US" sz="1100" b="1">
                <a:solidFill>
                  <a:srgbClr val="374151"/>
                </a:solidFill>
                <a:latin typeface="Raleway" pitchFamily="34" charset="0"/>
                <a:ea typeface="Raleway" pitchFamily="34" charset="-122"/>
                <a:cs typeface="Raleway" pitchFamily="34" charset="-120"/>
              </a:rPr>
              <a:t>not rigid headcount</a:t>
            </a:r>
            <a:endParaRPr lang="en-US" sz="1100"/>
          </a:p>
        </p:txBody>
      </p:sp>
      <p:pic>
        <p:nvPicPr>
          <p:cNvPr id="26" name="Image 9" descr="gen-dedup-7637b076e607f7218cdb4973c81f38e6.png">
            <a:extLst>
              <a:ext uri="{FF2B5EF4-FFF2-40B4-BE49-F238E27FC236}">
                <a16:creationId xmlns:a16="http://schemas.microsoft.com/office/drawing/2014/main" id="{9A3BB248-7EFA-E322-7669-BBCFE8258323}"/>
              </a:ext>
            </a:extLst>
          </p:cNvPr>
          <p:cNvPicPr>
            <a:picLocks noChangeAspect="1"/>
          </p:cNvPicPr>
          <p:nvPr/>
        </p:nvPicPr>
        <p:blipFill>
          <a:blip r:embed="rId12"/>
          <a:srcRect t="-8450" b="-8450"/>
          <a:stretch/>
        </p:blipFill>
        <p:spPr>
          <a:xfrm>
            <a:off x="6308750" y="5277002"/>
            <a:ext cx="114300" cy="152705"/>
          </a:xfrm>
          <a:prstGeom prst="rect">
            <a:avLst/>
          </a:prstGeom>
        </p:spPr>
      </p:pic>
      <p:pic>
        <p:nvPicPr>
          <p:cNvPr id="27" name="Image 10" descr="gen-dedup-4b04481605890cd5e2948f325621428b.png">
            <a:extLst>
              <a:ext uri="{FF2B5EF4-FFF2-40B4-BE49-F238E27FC236}">
                <a16:creationId xmlns:a16="http://schemas.microsoft.com/office/drawing/2014/main" id="{53B8E985-0D54-46C0-B850-F55F0F43B24D}"/>
              </a:ext>
            </a:extLst>
          </p:cNvPr>
          <p:cNvPicPr>
            <a:picLocks noChangeAspect="1"/>
          </p:cNvPicPr>
          <p:nvPr/>
        </p:nvPicPr>
        <p:blipFill>
          <a:blip r:embed="rId13"/>
          <a:srcRect l="-216" r="-216"/>
          <a:stretch/>
        </p:blipFill>
        <p:spPr>
          <a:xfrm>
            <a:off x="8850782" y="5143500"/>
            <a:ext cx="2562149" cy="418795"/>
          </a:xfrm>
          <a:prstGeom prst="rect">
            <a:avLst/>
          </a:prstGeom>
        </p:spPr>
      </p:pic>
      <p:sp>
        <p:nvSpPr>
          <p:cNvPr id="28" name="Shape 15">
            <a:extLst>
              <a:ext uri="{FF2B5EF4-FFF2-40B4-BE49-F238E27FC236}">
                <a16:creationId xmlns:a16="http://schemas.microsoft.com/office/drawing/2014/main" id="{E9A59155-F9A1-AD80-A65B-F9ECD10439EE}"/>
              </a:ext>
            </a:extLst>
          </p:cNvPr>
          <p:cNvSpPr/>
          <p:nvPr/>
        </p:nvSpPr>
        <p:spPr>
          <a:xfrm>
            <a:off x="8850782" y="5143500"/>
            <a:ext cx="2562149" cy="418795"/>
          </a:xfrm>
          <a:prstGeom prst="roundRect">
            <a:avLst>
              <a:gd name="adj" fmla="val 13755"/>
            </a:avLst>
          </a:prstGeom>
          <a:noFill/>
          <a:ln w="12700">
            <a:solidFill>
              <a:srgbClr val="E5E7EB"/>
            </a:solidFill>
            <a:prstDash val="solid"/>
          </a:ln>
        </p:spPr>
        <p:txBody>
          <a:bodyPr/>
          <a:lstStyle/>
          <a:p>
            <a:endParaRPr lang="en-US"/>
          </a:p>
        </p:txBody>
      </p:sp>
      <p:sp>
        <p:nvSpPr>
          <p:cNvPr id="29" name="Text 16">
            <a:extLst>
              <a:ext uri="{FF2B5EF4-FFF2-40B4-BE49-F238E27FC236}">
                <a16:creationId xmlns:a16="http://schemas.microsoft.com/office/drawing/2014/main" id="{BE549BED-29A0-2ADD-A972-CA7D06BA8631}"/>
              </a:ext>
            </a:extLst>
          </p:cNvPr>
          <p:cNvSpPr txBox="1"/>
          <p:nvPr/>
        </p:nvSpPr>
        <p:spPr>
          <a:xfrm>
            <a:off x="9075420" y="5143500"/>
            <a:ext cx="2125066" cy="419710"/>
          </a:xfrm>
          <a:prstGeom prst="rect">
            <a:avLst/>
          </a:prstGeom>
          <a:solidFill>
            <a:srgbClr val="FFFFFF">
              <a:alpha val="0"/>
            </a:srgbClr>
          </a:solidFill>
          <a:ln>
            <a:solidFill>
              <a:srgbClr val="FFFFFF">
                <a:alpha val="0"/>
              </a:srgbClr>
            </a:solidFill>
          </a:ln>
        </p:spPr>
        <p:txBody>
          <a:bodyPr wrap="none" lIns="190500" tIns="114300" rIns="190500" bIns="114300" rtlCol="0" anchor="ctr"/>
          <a:lstStyle/>
          <a:p>
            <a:pPr marL="0" indent="0" algn="l">
              <a:buNone/>
            </a:pPr>
            <a:r>
              <a:rPr lang="en-US" sz="1100" b="1">
                <a:solidFill>
                  <a:srgbClr val="374151"/>
                </a:solidFill>
                <a:latin typeface="Raleway" pitchFamily="34" charset="0"/>
                <a:ea typeface="Raleway" pitchFamily="34" charset="-122"/>
                <a:cs typeface="Raleway" pitchFamily="34" charset="-120"/>
              </a:rPr>
              <a:t>40% improvement threshold - </a:t>
            </a:r>
          </a:p>
          <a:p>
            <a:pPr marL="0" indent="0" algn="l">
              <a:buNone/>
            </a:pPr>
            <a:r>
              <a:rPr lang="en-US" sz="1100" b="1">
                <a:solidFill>
                  <a:srgbClr val="374151"/>
                </a:solidFill>
                <a:latin typeface="Raleway" pitchFamily="34" charset="0"/>
                <a:ea typeface="Raleway" pitchFamily="34" charset="-122"/>
                <a:cs typeface="Raleway" pitchFamily="34" charset="-120"/>
              </a:rPr>
              <a:t>our standard</a:t>
            </a:r>
            <a:endParaRPr lang="en-US" sz="1100"/>
          </a:p>
        </p:txBody>
      </p:sp>
      <p:pic>
        <p:nvPicPr>
          <p:cNvPr id="30" name="Image 11" descr="gen-dedup-de4cb59b8211160ed90cebf7a454cebf.png">
            <a:extLst>
              <a:ext uri="{FF2B5EF4-FFF2-40B4-BE49-F238E27FC236}">
                <a16:creationId xmlns:a16="http://schemas.microsoft.com/office/drawing/2014/main" id="{3B400595-3ACA-18C0-3A49-7171B2960ECC}"/>
              </a:ext>
            </a:extLst>
          </p:cNvPr>
          <p:cNvPicPr>
            <a:picLocks noChangeAspect="1"/>
          </p:cNvPicPr>
          <p:nvPr/>
        </p:nvPicPr>
        <p:blipFill>
          <a:blip r:embed="rId14"/>
          <a:srcRect t="-16800" b="-16800"/>
          <a:stretch/>
        </p:blipFill>
        <p:spPr>
          <a:xfrm>
            <a:off x="9079382" y="5277002"/>
            <a:ext cx="114300" cy="152705"/>
          </a:xfrm>
          <a:prstGeom prst="rect">
            <a:avLst/>
          </a:prstGeom>
        </p:spPr>
      </p:pic>
      <p:sp>
        <p:nvSpPr>
          <p:cNvPr id="31" name="Shape 17">
            <a:extLst>
              <a:ext uri="{FF2B5EF4-FFF2-40B4-BE49-F238E27FC236}">
                <a16:creationId xmlns:a16="http://schemas.microsoft.com/office/drawing/2014/main" id="{3EAF0254-0893-8027-5616-80FDE995E4DA}"/>
              </a:ext>
            </a:extLst>
          </p:cNvPr>
          <p:cNvSpPr/>
          <p:nvPr/>
        </p:nvSpPr>
        <p:spPr>
          <a:xfrm>
            <a:off x="1143000" y="6096305"/>
            <a:ext cx="9905695" cy="9144"/>
          </a:xfrm>
          <a:prstGeom prst="rect">
            <a:avLst/>
          </a:prstGeom>
          <a:solidFill>
            <a:srgbClr val="E5E7EB"/>
          </a:solidFill>
          <a:ln w="12700">
            <a:solidFill>
              <a:srgbClr val="E5E7EB">
                <a:alpha val="0"/>
              </a:srgbClr>
            </a:solidFill>
            <a:prstDash val="solid"/>
          </a:ln>
        </p:spPr>
        <p:txBody>
          <a:bodyPr/>
          <a:lstStyle/>
          <a:p>
            <a:endParaRPr lang="en-US"/>
          </a:p>
        </p:txBody>
      </p:sp>
      <p:sp>
        <p:nvSpPr>
          <p:cNvPr id="32" name="Text 18">
            <a:extLst>
              <a:ext uri="{FF2B5EF4-FFF2-40B4-BE49-F238E27FC236}">
                <a16:creationId xmlns:a16="http://schemas.microsoft.com/office/drawing/2014/main" id="{3166FB85-E816-D8A3-12F5-2636818EBBCD}"/>
              </a:ext>
            </a:extLst>
          </p:cNvPr>
          <p:cNvSpPr txBox="1"/>
          <p:nvPr/>
        </p:nvSpPr>
        <p:spPr>
          <a:xfrm>
            <a:off x="1143000" y="6258154"/>
            <a:ext cx="9906610" cy="181051"/>
          </a:xfrm>
          <a:prstGeom prst="rect">
            <a:avLst/>
          </a:prstGeom>
          <a:noFill/>
          <a:ln/>
        </p:spPr>
        <p:txBody>
          <a:bodyPr wrap="none" lIns="0" tIns="0" rIns="0" bIns="0" rtlCol="0" anchor="ctr"/>
          <a:lstStyle/>
          <a:p>
            <a:pPr marL="0" indent="0" algn="l">
              <a:buNone/>
            </a:pPr>
            <a:r>
              <a:rPr lang="en-US" sz="1200" b="1" kern="0" spc="24">
                <a:solidFill>
                  <a:srgbClr val="6B7280"/>
                </a:solidFill>
                <a:latin typeface="Raleway" pitchFamily="34" charset="0"/>
                <a:ea typeface="Raleway" pitchFamily="34" charset="-122"/>
                <a:cs typeface="Raleway" pitchFamily="34" charset="-120"/>
              </a:rPr>
              <a:t>Turn your most complex enterprise operations into a competitive advantage - with outcomes we sign off on.</a:t>
            </a:r>
            <a:endParaRPr lang="en-US" sz="1200"/>
          </a:p>
        </p:txBody>
      </p:sp>
    </p:spTree>
    <p:extLst>
      <p:ext uri="{BB962C8B-B14F-4D97-AF65-F5344CB8AC3E}">
        <p14:creationId xmlns:p14="http://schemas.microsoft.com/office/powerpoint/2010/main" val="26258959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323228122ff92d2332e711a84ca3b40c.png"/>
          <p:cNvPicPr>
            <a:picLocks noChangeAspect="1"/>
          </p:cNvPicPr>
          <p:nvPr/>
        </p:nvPicPr>
        <p:blipFill>
          <a:blip r:embed="rId3"/>
          <a:srcRect l="-202" r="-202"/>
          <a:stretch/>
        </p:blipFill>
        <p:spPr>
          <a:xfrm>
            <a:off x="0" y="0"/>
            <a:ext cx="8127187" cy="75895"/>
          </a:xfrm>
          <a:prstGeom prst="rect">
            <a:avLst/>
          </a:prstGeom>
        </p:spPr>
      </p:pic>
      <p:pic>
        <p:nvPicPr>
          <p:cNvPr id="5" name="Image 1" descr="gen-dedup-64882feb7a832238af77b962fc7a8538.png"/>
          <p:cNvPicPr>
            <a:picLocks noChangeAspect="1"/>
          </p:cNvPicPr>
          <p:nvPr/>
        </p:nvPicPr>
        <p:blipFill>
          <a:blip r:embed="rId4"/>
          <a:srcRect l="-203" r="-203"/>
          <a:stretch/>
        </p:blipFill>
        <p:spPr>
          <a:xfrm>
            <a:off x="8127187" y="0"/>
            <a:ext cx="4063594" cy="75895"/>
          </a:xfrm>
          <a:prstGeom prst="rect">
            <a:avLst/>
          </a:prstGeom>
        </p:spPr>
      </p:pic>
      <p:sp>
        <p:nvSpPr>
          <p:cNvPr id="6" name="Shape 2"/>
          <p:cNvSpPr/>
          <p:nvPr/>
        </p:nvSpPr>
        <p:spPr>
          <a:xfrm>
            <a:off x="9905695" y="-571500"/>
            <a:ext cx="2857500" cy="2857500"/>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7" name="Image 2" descr="gen-dedup-6da70c599291e253314366a10c094ffa.png"/>
          <p:cNvPicPr>
            <a:picLocks noChangeAspect="1"/>
          </p:cNvPicPr>
          <p:nvPr/>
        </p:nvPicPr>
        <p:blipFill>
          <a:blip r:embed="rId5">
            <a:alphaModFix amt="15000"/>
          </a:blip>
          <a:srcRect/>
          <a:stretch/>
        </p:blipFill>
        <p:spPr>
          <a:xfrm>
            <a:off x="381305" y="1143000"/>
            <a:ext cx="1429207" cy="1429207"/>
          </a:xfrm>
          <a:prstGeom prst="rect">
            <a:avLst/>
          </a:prstGeom>
        </p:spPr>
      </p:pic>
      <p:pic>
        <p:nvPicPr>
          <p:cNvPr id="8" name="Image 3" descr="gen-dedup-c72c85b07e3f177762516dd89615ea68.png"/>
          <p:cNvPicPr>
            <a:picLocks noChangeAspect="1"/>
          </p:cNvPicPr>
          <p:nvPr/>
        </p:nvPicPr>
        <p:blipFill>
          <a:blip r:embed="rId6"/>
          <a:srcRect t="-217" b="-217"/>
          <a:stretch/>
        </p:blipFill>
        <p:spPr>
          <a:xfrm>
            <a:off x="609905" y="544982"/>
            <a:ext cx="75895" cy="476402"/>
          </a:xfrm>
          <a:prstGeom prst="rect">
            <a:avLst/>
          </a:prstGeom>
        </p:spPr>
      </p:pic>
      <p:sp>
        <p:nvSpPr>
          <p:cNvPr id="9" name="Text 3"/>
          <p:cNvSpPr txBox="1"/>
          <p:nvPr/>
        </p:nvSpPr>
        <p:spPr>
          <a:xfrm>
            <a:off x="875995" y="381305"/>
            <a:ext cx="7105802" cy="467258"/>
          </a:xfrm>
          <a:prstGeom prst="rect">
            <a:avLst/>
          </a:prstGeom>
          <a:noFill/>
          <a:ln/>
        </p:spPr>
        <p:txBody>
          <a:bodyPr wrap="none" lIns="0" tIns="0" rIns="0" bIns="0" rtlCol="0" anchor="ctr"/>
          <a:lstStyle/>
          <a:p>
            <a:pPr marL="0" indent="0" algn="l">
              <a:buNone/>
            </a:pPr>
            <a:r>
              <a:rPr lang="en-US" sz="3300" b="1" kern="0" spc="-82">
                <a:solidFill>
                  <a:srgbClr val="111827"/>
                </a:solidFill>
                <a:latin typeface="Oswald" pitchFamily="34" charset="0"/>
                <a:ea typeface="Oswald" pitchFamily="34" charset="-122"/>
                <a:cs typeface="Oswald" pitchFamily="34" charset="-120"/>
              </a:rPr>
              <a:t>Managed Service Solutions</a:t>
            </a:r>
            <a:endParaRPr lang="en-US" sz="3300"/>
          </a:p>
        </p:txBody>
      </p:sp>
      <p:sp>
        <p:nvSpPr>
          <p:cNvPr id="10" name="Text 4"/>
          <p:cNvSpPr txBox="1"/>
          <p:nvPr/>
        </p:nvSpPr>
        <p:spPr>
          <a:xfrm>
            <a:off x="875995" y="898855"/>
            <a:ext cx="7791602" cy="286207"/>
          </a:xfrm>
          <a:prstGeom prst="rect">
            <a:avLst/>
          </a:prstGeom>
          <a:noFill/>
          <a:ln/>
        </p:spPr>
        <p:txBody>
          <a:bodyPr wrap="none" lIns="0" tIns="0" rIns="0" bIns="0" rtlCol="0" anchor="ctr"/>
          <a:lstStyle/>
          <a:p>
            <a:pPr marL="0" indent="0" algn="l">
              <a:buNone/>
            </a:pPr>
            <a:r>
              <a:rPr lang="en-US" sz="1500" b="1" kern="0" spc="75">
                <a:solidFill>
                  <a:srgbClr val="2A9D8F"/>
                </a:solidFill>
                <a:latin typeface="Roboto Condensed" pitchFamily="34" charset="0"/>
                <a:ea typeface="Roboto Condensed" pitchFamily="34" charset="-122"/>
                <a:cs typeface="Roboto Condensed" pitchFamily="34" charset="-120"/>
              </a:rPr>
              <a:t>OUTCOME-BOUND DELIVERY - NOT JUST A VENDOR WITH A STATEMENT OF WORK.</a:t>
            </a:r>
            <a:endParaRPr lang="en-US" sz="1500"/>
          </a:p>
        </p:txBody>
      </p:sp>
      <p:sp>
        <p:nvSpPr>
          <p:cNvPr id="11" name="Shape 5"/>
          <p:cNvSpPr/>
          <p:nvPr/>
        </p:nvSpPr>
        <p:spPr>
          <a:xfrm>
            <a:off x="609905" y="1524305"/>
            <a:ext cx="5524805" cy="1028700"/>
          </a:xfrm>
          <a:prstGeom prst="roundRect">
            <a:avLst>
              <a:gd name="adj" fmla="val 13169"/>
            </a:avLst>
          </a:prstGeom>
          <a:solidFill>
            <a:srgbClr val="FFFFFF"/>
          </a:solidFill>
          <a:ln w="12700">
            <a:solidFill>
              <a:srgbClr val="E5E7EB"/>
            </a:solidFill>
            <a:prstDash val="solid"/>
          </a:ln>
        </p:spPr>
        <p:txBody>
          <a:bodyPr/>
          <a:lstStyle/>
          <a:p>
            <a:endParaRPr lang="en-US"/>
          </a:p>
        </p:txBody>
      </p:sp>
      <p:sp>
        <p:nvSpPr>
          <p:cNvPr id="12" name="Shape 6"/>
          <p:cNvSpPr/>
          <p:nvPr/>
        </p:nvSpPr>
        <p:spPr>
          <a:xfrm>
            <a:off x="609905" y="1524305"/>
            <a:ext cx="38405" cy="1028700"/>
          </a:xfrm>
          <a:prstGeom prst="roundRect">
            <a:avLst>
              <a:gd name="adj" fmla="val 352732"/>
            </a:avLst>
          </a:prstGeom>
          <a:solidFill>
            <a:srgbClr val="2A9D8F"/>
          </a:solidFill>
          <a:ln w="12700">
            <a:solidFill>
              <a:srgbClr val="2A9D8F">
                <a:alpha val="0"/>
              </a:srgbClr>
            </a:solidFill>
            <a:prstDash val="solid"/>
          </a:ln>
        </p:spPr>
        <p:txBody>
          <a:bodyPr/>
          <a:lstStyle/>
          <a:p>
            <a:endParaRPr lang="en-US"/>
          </a:p>
        </p:txBody>
      </p:sp>
      <p:sp>
        <p:nvSpPr>
          <p:cNvPr id="15" name="Shape 9"/>
          <p:cNvSpPr/>
          <p:nvPr/>
        </p:nvSpPr>
        <p:spPr>
          <a:xfrm>
            <a:off x="609905" y="2699308"/>
            <a:ext cx="5524805" cy="1028700"/>
          </a:xfrm>
          <a:prstGeom prst="roundRect">
            <a:avLst>
              <a:gd name="adj" fmla="val 13169"/>
            </a:avLst>
          </a:prstGeom>
          <a:solidFill>
            <a:srgbClr val="FFFFFF"/>
          </a:solidFill>
          <a:ln w="12700">
            <a:solidFill>
              <a:srgbClr val="E5E7EB"/>
            </a:solidFill>
            <a:prstDash val="solid"/>
          </a:ln>
        </p:spPr>
        <p:txBody>
          <a:bodyPr/>
          <a:lstStyle/>
          <a:p>
            <a:endParaRPr lang="en-US"/>
          </a:p>
        </p:txBody>
      </p:sp>
      <p:sp>
        <p:nvSpPr>
          <p:cNvPr id="16" name="Shape 10"/>
          <p:cNvSpPr/>
          <p:nvPr/>
        </p:nvSpPr>
        <p:spPr>
          <a:xfrm>
            <a:off x="609905" y="2699308"/>
            <a:ext cx="38405" cy="1028700"/>
          </a:xfrm>
          <a:prstGeom prst="roundRect">
            <a:avLst>
              <a:gd name="adj" fmla="val 352732"/>
            </a:avLst>
          </a:prstGeom>
          <a:solidFill>
            <a:srgbClr val="2A9D8F"/>
          </a:solidFill>
          <a:ln w="12700">
            <a:solidFill>
              <a:srgbClr val="2A9D8F">
                <a:alpha val="0"/>
              </a:srgbClr>
            </a:solidFill>
            <a:prstDash val="solid"/>
          </a:ln>
        </p:spPr>
        <p:txBody>
          <a:bodyPr/>
          <a:lstStyle/>
          <a:p>
            <a:endParaRPr lang="en-US"/>
          </a:p>
        </p:txBody>
      </p:sp>
      <p:sp>
        <p:nvSpPr>
          <p:cNvPr id="17" name="Shape 11"/>
          <p:cNvSpPr/>
          <p:nvPr/>
        </p:nvSpPr>
        <p:spPr>
          <a:xfrm>
            <a:off x="609905" y="3823105"/>
            <a:ext cx="5524805" cy="1162202"/>
          </a:xfrm>
          <a:prstGeom prst="roundRect">
            <a:avLst>
              <a:gd name="adj" fmla="val 10318"/>
            </a:avLst>
          </a:prstGeom>
          <a:solidFill>
            <a:srgbClr val="FFFFFF"/>
          </a:solidFill>
          <a:ln w="12700">
            <a:solidFill>
              <a:srgbClr val="E5E7EB"/>
            </a:solidFill>
            <a:prstDash val="solid"/>
          </a:ln>
        </p:spPr>
        <p:txBody>
          <a:bodyPr/>
          <a:lstStyle/>
          <a:p>
            <a:endParaRPr lang="en-US"/>
          </a:p>
        </p:txBody>
      </p:sp>
      <p:sp>
        <p:nvSpPr>
          <p:cNvPr id="18" name="Shape 12"/>
          <p:cNvSpPr/>
          <p:nvPr/>
        </p:nvSpPr>
        <p:spPr>
          <a:xfrm>
            <a:off x="609905" y="3823105"/>
            <a:ext cx="38405" cy="1162202"/>
          </a:xfrm>
          <a:prstGeom prst="roundRect">
            <a:avLst>
              <a:gd name="adj" fmla="val 312254"/>
            </a:avLst>
          </a:prstGeom>
          <a:solidFill>
            <a:srgbClr val="D62839"/>
          </a:solidFill>
          <a:ln w="12700">
            <a:solidFill>
              <a:srgbClr val="D62839">
                <a:alpha val="0"/>
              </a:srgbClr>
            </a:solidFill>
            <a:prstDash val="solid"/>
          </a:ln>
        </p:spPr>
        <p:txBody>
          <a:bodyPr/>
          <a:lstStyle/>
          <a:p>
            <a:endParaRPr lang="en-US"/>
          </a:p>
        </p:txBody>
      </p:sp>
      <p:sp>
        <p:nvSpPr>
          <p:cNvPr id="19" name="Shape 13"/>
          <p:cNvSpPr/>
          <p:nvPr/>
        </p:nvSpPr>
        <p:spPr>
          <a:xfrm>
            <a:off x="6381598" y="1524305"/>
            <a:ext cx="5201107" cy="4572000"/>
          </a:xfrm>
          <a:prstGeom prst="roundRect">
            <a:avLst>
              <a:gd name="adj" fmla="val 667"/>
            </a:avLst>
          </a:prstGeom>
          <a:solidFill>
            <a:srgbClr val="F8FAFC"/>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20" name="Shape 14"/>
          <p:cNvSpPr/>
          <p:nvPr/>
        </p:nvSpPr>
        <p:spPr>
          <a:xfrm>
            <a:off x="6391656" y="1533449"/>
            <a:ext cx="5181905" cy="552298"/>
          </a:xfrm>
          <a:prstGeom prst="roundRect">
            <a:avLst>
              <a:gd name="adj" fmla="val 45672"/>
            </a:avLst>
          </a:prstGeom>
          <a:solidFill>
            <a:srgbClr val="1F2937"/>
          </a:solidFill>
          <a:ln w="12700">
            <a:solidFill>
              <a:srgbClr val="FFFFFF">
                <a:alpha val="0"/>
              </a:srgbClr>
            </a:solidFill>
            <a:prstDash val="solid"/>
          </a:ln>
        </p:spPr>
        <p:txBody>
          <a:bodyPr/>
          <a:lstStyle/>
          <a:p>
            <a:endParaRPr lang="en-US"/>
          </a:p>
        </p:txBody>
      </p:sp>
      <p:sp>
        <p:nvSpPr>
          <p:cNvPr id="21" name="Text 15"/>
          <p:cNvSpPr txBox="1"/>
          <p:nvPr/>
        </p:nvSpPr>
        <p:spPr>
          <a:xfrm>
            <a:off x="6543446" y="1593692"/>
            <a:ext cx="4877410" cy="324612"/>
          </a:xfrm>
          <a:prstGeom prst="rect">
            <a:avLst/>
          </a:prstGeom>
          <a:noFill/>
          <a:ln/>
        </p:spPr>
        <p:txBody>
          <a:bodyPr wrap="none" lIns="0" tIns="0" rIns="0" bIns="0" rtlCol="0" anchor="ctr"/>
          <a:lstStyle/>
          <a:p>
            <a:pPr marL="0" indent="0" algn="ctr">
              <a:buNone/>
            </a:pPr>
            <a:r>
              <a:rPr lang="en-US" sz="1100">
                <a:solidFill>
                  <a:srgbClr val="FFFFFF"/>
                </a:solidFill>
                <a:latin typeface="Oswald" pitchFamily="34" charset="0"/>
                <a:ea typeface="Oswald" pitchFamily="34" charset="-122"/>
                <a:cs typeface="Oswald" pitchFamily="34" charset="-120"/>
              </a:rPr>
              <a:t>Service Model Comparison</a:t>
            </a:r>
            <a:endParaRPr lang="en-US" sz="1100"/>
          </a:p>
        </p:txBody>
      </p:sp>
      <p:sp>
        <p:nvSpPr>
          <p:cNvPr id="22" name="Shape 16"/>
          <p:cNvSpPr/>
          <p:nvPr/>
        </p:nvSpPr>
        <p:spPr>
          <a:xfrm>
            <a:off x="609905" y="6229807"/>
            <a:ext cx="10972800" cy="437998"/>
          </a:xfrm>
          <a:prstGeom prst="roundRect">
            <a:avLst>
              <a:gd name="adj" fmla="val 36307"/>
            </a:avLst>
          </a:prstGeom>
          <a:solidFill>
            <a:srgbClr val="F8FAFC"/>
          </a:solidFill>
          <a:ln/>
        </p:spPr>
        <p:txBody>
          <a:bodyPr/>
          <a:lstStyle/>
          <a:p>
            <a:endParaRPr lang="en-US"/>
          </a:p>
        </p:txBody>
      </p:sp>
      <p:sp>
        <p:nvSpPr>
          <p:cNvPr id="23" name="Shape 17"/>
          <p:cNvSpPr/>
          <p:nvPr/>
        </p:nvSpPr>
        <p:spPr>
          <a:xfrm>
            <a:off x="609905" y="6229807"/>
            <a:ext cx="38405" cy="437998"/>
          </a:xfrm>
          <a:prstGeom prst="roundRect">
            <a:avLst>
              <a:gd name="adj" fmla="val 414077"/>
            </a:avLst>
          </a:prstGeom>
          <a:solidFill>
            <a:srgbClr val="111827"/>
          </a:solidFill>
          <a:ln w="12700">
            <a:solidFill>
              <a:srgbClr val="111827">
                <a:alpha val="0"/>
              </a:srgbClr>
            </a:solidFill>
            <a:prstDash val="solid"/>
          </a:ln>
        </p:spPr>
        <p:txBody>
          <a:bodyPr/>
          <a:lstStyle/>
          <a:p>
            <a:endParaRPr lang="en-US"/>
          </a:p>
        </p:txBody>
      </p:sp>
      <p:sp>
        <p:nvSpPr>
          <p:cNvPr id="24" name="Text 18"/>
          <p:cNvSpPr txBox="1"/>
          <p:nvPr/>
        </p:nvSpPr>
        <p:spPr>
          <a:xfrm>
            <a:off x="981151" y="1638605"/>
            <a:ext cx="5000854" cy="277063"/>
          </a:xfrm>
          <a:prstGeom prst="rect">
            <a:avLst/>
          </a:prstGeom>
          <a:noFill/>
          <a:ln/>
        </p:spPr>
        <p:txBody>
          <a:bodyPr wrap="none" lIns="0" tIns="0" rIns="0" bIns="0" rtlCol="0" anchor="ctr"/>
          <a:lstStyle/>
          <a:p>
            <a:pPr marL="0" indent="0" algn="l">
              <a:buNone/>
            </a:pPr>
            <a:r>
              <a:rPr lang="en-US" sz="1400" b="1">
                <a:solidFill>
                  <a:srgbClr val="1F2937"/>
                </a:solidFill>
                <a:latin typeface="Oswald" pitchFamily="34" charset="0"/>
                <a:ea typeface="Oswald" pitchFamily="34" charset="-122"/>
                <a:cs typeface="Oswald" pitchFamily="34" charset="-120"/>
              </a:rPr>
              <a:t>Solution Accelerators</a:t>
            </a:r>
            <a:endParaRPr lang="en-US" sz="1400"/>
          </a:p>
        </p:txBody>
      </p:sp>
      <p:sp>
        <p:nvSpPr>
          <p:cNvPr id="25" name="Text 19"/>
          <p:cNvSpPr txBox="1"/>
          <p:nvPr/>
        </p:nvSpPr>
        <p:spPr>
          <a:xfrm>
            <a:off x="761695" y="1950415"/>
            <a:ext cx="5220310" cy="391363"/>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60+ pre-built accelerators across SAP, ServiceNow, Salesforce, and industry stacks - deployed fast, customized to fit, never forced.</a:t>
            </a:r>
            <a:endParaRPr lang="en-US" sz="1100"/>
          </a:p>
        </p:txBody>
      </p:sp>
      <p:pic>
        <p:nvPicPr>
          <p:cNvPr id="26" name="Image 4" descr="gen-dedup-aaaf743a9627457c5a8ecc39eba03c50.png"/>
          <p:cNvPicPr>
            <a:picLocks noChangeAspect="1"/>
          </p:cNvPicPr>
          <p:nvPr/>
        </p:nvPicPr>
        <p:blipFill>
          <a:blip r:embed="rId7"/>
          <a:srcRect t="-13462" b="-13462"/>
          <a:stretch/>
        </p:blipFill>
        <p:spPr>
          <a:xfrm>
            <a:off x="761695" y="1689811"/>
            <a:ext cx="142646" cy="181051"/>
          </a:xfrm>
          <a:prstGeom prst="rect">
            <a:avLst/>
          </a:prstGeom>
        </p:spPr>
      </p:pic>
      <p:sp>
        <p:nvSpPr>
          <p:cNvPr id="30" name="Text 22"/>
          <p:cNvSpPr txBox="1"/>
          <p:nvPr/>
        </p:nvSpPr>
        <p:spPr>
          <a:xfrm>
            <a:off x="981151" y="2813608"/>
            <a:ext cx="5000854" cy="277063"/>
          </a:xfrm>
          <a:prstGeom prst="rect">
            <a:avLst/>
          </a:prstGeom>
          <a:noFill/>
          <a:ln/>
        </p:spPr>
        <p:txBody>
          <a:bodyPr wrap="none" lIns="0" tIns="0" rIns="0" bIns="0" rtlCol="0" anchor="ctr"/>
          <a:lstStyle/>
          <a:p>
            <a:pPr marL="0" indent="0" algn="l">
              <a:buNone/>
            </a:pPr>
            <a:r>
              <a:rPr lang="en-US" sz="1400" b="1">
                <a:solidFill>
                  <a:srgbClr val="1F2937"/>
                </a:solidFill>
                <a:latin typeface="Oswald" pitchFamily="34" charset="0"/>
                <a:ea typeface="Oswald" pitchFamily="34" charset="-122"/>
                <a:cs typeface="Oswald" pitchFamily="34" charset="-120"/>
              </a:rPr>
              <a:t>Cross-Function Coverage</a:t>
            </a:r>
            <a:endParaRPr lang="en-US" sz="1400"/>
          </a:p>
        </p:txBody>
      </p:sp>
      <p:sp>
        <p:nvSpPr>
          <p:cNvPr id="31" name="Text 23"/>
          <p:cNvSpPr txBox="1"/>
          <p:nvPr/>
        </p:nvSpPr>
        <p:spPr>
          <a:xfrm>
            <a:off x="761695" y="3125418"/>
            <a:ext cx="5220310" cy="391363"/>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From AI CoE and Data CoE to Digital Engineering, Quality, and Cybersecurity - we operate across the full enterprise function map, not just the easy wins.</a:t>
            </a:r>
            <a:endParaRPr lang="en-US" sz="1100"/>
          </a:p>
        </p:txBody>
      </p:sp>
      <p:pic>
        <p:nvPicPr>
          <p:cNvPr id="32" name="Image 6" descr="gen-dedup-f27d894a2aa16499d7ef79199ddd11dd.png"/>
          <p:cNvPicPr>
            <a:picLocks noChangeAspect="1"/>
          </p:cNvPicPr>
          <p:nvPr/>
        </p:nvPicPr>
        <p:blipFill>
          <a:blip r:embed="rId8"/>
          <a:srcRect t="-21395" b="-21395"/>
          <a:stretch/>
        </p:blipFill>
        <p:spPr>
          <a:xfrm>
            <a:off x="761695" y="2864814"/>
            <a:ext cx="142646" cy="181051"/>
          </a:xfrm>
          <a:prstGeom prst="rect">
            <a:avLst/>
          </a:prstGeom>
        </p:spPr>
      </p:pic>
      <p:sp>
        <p:nvSpPr>
          <p:cNvPr id="33" name="Text 24"/>
          <p:cNvSpPr txBox="1"/>
          <p:nvPr/>
        </p:nvSpPr>
        <p:spPr>
          <a:xfrm>
            <a:off x="981151" y="3937405"/>
            <a:ext cx="5000854" cy="277063"/>
          </a:xfrm>
          <a:prstGeom prst="rect">
            <a:avLst/>
          </a:prstGeom>
          <a:noFill/>
          <a:ln/>
        </p:spPr>
        <p:txBody>
          <a:bodyPr wrap="none" lIns="0" tIns="0" rIns="0" bIns="0" rtlCol="0" anchor="ctr"/>
          <a:lstStyle/>
          <a:p>
            <a:pPr marL="0" indent="0" algn="l">
              <a:buNone/>
            </a:pPr>
            <a:r>
              <a:rPr lang="en-US" sz="1400" b="1">
                <a:solidFill>
                  <a:srgbClr val="1F2937"/>
                </a:solidFill>
                <a:latin typeface="Oswald" pitchFamily="34" charset="0"/>
                <a:ea typeface="Oswald" pitchFamily="34" charset="-122"/>
                <a:cs typeface="Oswald" pitchFamily="34" charset="-120"/>
              </a:rPr>
              <a:t>Proven ROI, Not Projections</a:t>
            </a:r>
            <a:endParaRPr lang="en-US" sz="1400"/>
          </a:p>
        </p:txBody>
      </p:sp>
      <p:sp>
        <p:nvSpPr>
          <p:cNvPr id="34" name="Text 25"/>
          <p:cNvSpPr txBox="1"/>
          <p:nvPr/>
        </p:nvSpPr>
        <p:spPr>
          <a:xfrm>
            <a:off x="761695" y="4249216"/>
            <a:ext cx="5220310" cy="581558"/>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Every accelerator comes with a benchmark from prior deployments. 80% reduction in reporting effort. 55% faster month-end close. 65% faster testing cycles. Numbers you inherit, not numbers we promise.</a:t>
            </a:r>
            <a:endParaRPr lang="en-US" sz="1100"/>
          </a:p>
        </p:txBody>
      </p:sp>
      <p:pic>
        <p:nvPicPr>
          <p:cNvPr id="35" name="Image 7" descr="gen-dedup-0d12da8ebc0b959d48949b1e6044d332.png"/>
          <p:cNvPicPr>
            <a:picLocks noChangeAspect="1"/>
          </p:cNvPicPr>
          <p:nvPr/>
        </p:nvPicPr>
        <p:blipFill>
          <a:blip r:embed="rId9"/>
          <a:srcRect t="-13462" b="-13462"/>
          <a:stretch/>
        </p:blipFill>
        <p:spPr>
          <a:xfrm>
            <a:off x="761695" y="3988612"/>
            <a:ext cx="142646" cy="181051"/>
          </a:xfrm>
          <a:prstGeom prst="rect">
            <a:avLst/>
          </a:prstGeom>
        </p:spPr>
      </p:pic>
      <p:sp>
        <p:nvSpPr>
          <p:cNvPr id="36" name="Shape 26"/>
          <p:cNvSpPr/>
          <p:nvPr/>
        </p:nvSpPr>
        <p:spPr>
          <a:xfrm>
            <a:off x="6381598" y="1952244"/>
            <a:ext cx="5201107" cy="599846"/>
          </a:xfrm>
          <a:prstGeom prst="rect">
            <a:avLst/>
          </a:prstGeom>
          <a:solidFill>
            <a:srgbClr val="F1F5F9"/>
          </a:solidFill>
          <a:ln/>
        </p:spPr>
        <p:txBody>
          <a:bodyPr/>
          <a:lstStyle/>
          <a:p>
            <a:endParaRPr lang="en-US"/>
          </a:p>
        </p:txBody>
      </p:sp>
      <p:sp>
        <p:nvSpPr>
          <p:cNvPr id="37" name="Shape 27"/>
          <p:cNvSpPr/>
          <p:nvPr/>
        </p:nvSpPr>
        <p:spPr>
          <a:xfrm>
            <a:off x="6381598" y="2532888"/>
            <a:ext cx="5201107" cy="19202"/>
          </a:xfrm>
          <a:prstGeom prst="rect">
            <a:avLst/>
          </a:prstGeom>
          <a:solidFill>
            <a:srgbClr val="E5E7EB"/>
          </a:solidFill>
          <a:ln w="12700">
            <a:solidFill>
              <a:srgbClr val="E5E7EB">
                <a:alpha val="0"/>
              </a:srgbClr>
            </a:solidFill>
            <a:prstDash val="solid"/>
          </a:ln>
        </p:spPr>
        <p:txBody>
          <a:bodyPr/>
          <a:lstStyle/>
          <a:p>
            <a:endParaRPr lang="en-US"/>
          </a:p>
        </p:txBody>
      </p:sp>
      <p:sp>
        <p:nvSpPr>
          <p:cNvPr id="38" name="Text 28"/>
          <p:cNvSpPr txBox="1"/>
          <p:nvPr/>
        </p:nvSpPr>
        <p:spPr>
          <a:xfrm>
            <a:off x="6534302" y="2048256"/>
            <a:ext cx="1228954" cy="391363"/>
          </a:xfrm>
          <a:prstGeom prst="rect">
            <a:avLst/>
          </a:prstGeom>
          <a:noFill/>
          <a:ln/>
        </p:spPr>
        <p:txBody>
          <a:bodyPr wrap="square" lIns="0" tIns="0" rIns="0" bIns="0" rtlCol="0" anchor="ctr"/>
          <a:lstStyle/>
          <a:p>
            <a:pPr marL="0" indent="0" algn="l">
              <a:buNone/>
            </a:pPr>
            <a:r>
              <a:rPr lang="en-US" sz="1000" b="1">
                <a:solidFill>
                  <a:srgbClr val="4B5563"/>
                </a:solidFill>
                <a:latin typeface="Roboto Condensed" pitchFamily="34" charset="0"/>
                <a:ea typeface="Roboto Condensed" pitchFamily="34" charset="-122"/>
                <a:cs typeface="Roboto Condensed" pitchFamily="34" charset="-120"/>
              </a:rPr>
              <a:t>Dimension</a:t>
            </a:r>
            <a:endParaRPr lang="en-US" sz="1000"/>
          </a:p>
        </p:txBody>
      </p:sp>
      <p:sp>
        <p:nvSpPr>
          <p:cNvPr id="39" name="Text 29"/>
          <p:cNvSpPr txBox="1"/>
          <p:nvPr/>
        </p:nvSpPr>
        <p:spPr>
          <a:xfrm>
            <a:off x="7757770" y="2048256"/>
            <a:ext cx="1714500" cy="391363"/>
          </a:xfrm>
          <a:prstGeom prst="rect">
            <a:avLst/>
          </a:prstGeom>
          <a:noFill/>
          <a:ln/>
        </p:spPr>
        <p:txBody>
          <a:bodyPr wrap="square" lIns="0" tIns="0" rIns="0" bIns="0" rtlCol="0" anchor="ctr"/>
          <a:lstStyle/>
          <a:p>
            <a:pPr marL="0" indent="0" algn="l">
              <a:buNone/>
            </a:pPr>
            <a:r>
              <a:rPr lang="en-US" sz="1000" b="1">
                <a:solidFill>
                  <a:srgbClr val="D62839"/>
                </a:solidFill>
                <a:latin typeface="Roboto Condensed" pitchFamily="34" charset="0"/>
                <a:ea typeface="Roboto Condensed" pitchFamily="34" charset="-122"/>
                <a:cs typeface="Roboto Condensed" pitchFamily="34" charset="-120"/>
              </a:rPr>
              <a:t>Traditional Managed Services</a:t>
            </a:r>
            <a:endParaRPr lang="en-US" sz="1000"/>
          </a:p>
        </p:txBody>
      </p:sp>
      <p:sp>
        <p:nvSpPr>
          <p:cNvPr id="40" name="Text 30"/>
          <p:cNvSpPr txBox="1"/>
          <p:nvPr/>
        </p:nvSpPr>
        <p:spPr>
          <a:xfrm>
            <a:off x="9471355" y="2048256"/>
            <a:ext cx="1962302" cy="391363"/>
          </a:xfrm>
          <a:prstGeom prst="rect">
            <a:avLst/>
          </a:prstGeom>
          <a:noFill/>
          <a:ln/>
        </p:spPr>
        <p:txBody>
          <a:bodyPr wrap="square" lIns="0" tIns="0" rIns="0" bIns="0" rtlCol="0" anchor="ctr"/>
          <a:lstStyle/>
          <a:p>
            <a:pPr marL="0" indent="0" algn="l">
              <a:buNone/>
            </a:pPr>
            <a:r>
              <a:rPr lang="en-US" sz="1000" b="1">
                <a:solidFill>
                  <a:srgbClr val="2A9D8F"/>
                </a:solidFill>
                <a:latin typeface="Roboto Condensed" pitchFamily="34" charset="0"/>
                <a:ea typeface="Roboto Condensed" pitchFamily="34" charset="-122"/>
                <a:cs typeface="Roboto Condensed" pitchFamily="34" charset="-120"/>
              </a:rPr>
              <a:t>J2W Managed Solutions</a:t>
            </a:r>
            <a:endParaRPr lang="en-US" sz="1000"/>
          </a:p>
        </p:txBody>
      </p:sp>
      <p:sp>
        <p:nvSpPr>
          <p:cNvPr id="41" name="Shape 31"/>
          <p:cNvSpPr/>
          <p:nvPr/>
        </p:nvSpPr>
        <p:spPr>
          <a:xfrm>
            <a:off x="6381598" y="3134563"/>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42" name="Text 32"/>
          <p:cNvSpPr txBox="1"/>
          <p:nvPr/>
        </p:nvSpPr>
        <p:spPr>
          <a:xfrm>
            <a:off x="6534302" y="2667305"/>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Engagement </a:t>
            </a:r>
          </a:p>
          <a:p>
            <a:pPr marL="0" indent="0" algn="l">
              <a:buNone/>
            </a:pPr>
            <a:r>
              <a:rPr lang="en-US" sz="1000" b="1">
                <a:solidFill>
                  <a:srgbClr val="374151"/>
                </a:solidFill>
                <a:latin typeface="Raleway" pitchFamily="34" charset="0"/>
                <a:ea typeface="Raleway" pitchFamily="34" charset="-122"/>
                <a:cs typeface="Raleway" pitchFamily="34" charset="-120"/>
              </a:rPr>
              <a:t>Model</a:t>
            </a:r>
            <a:endParaRPr lang="en-US" sz="1000"/>
          </a:p>
        </p:txBody>
      </p:sp>
      <p:sp>
        <p:nvSpPr>
          <p:cNvPr id="43" name="Text 33"/>
          <p:cNvSpPr txBox="1"/>
          <p:nvPr/>
        </p:nvSpPr>
        <p:spPr>
          <a:xfrm>
            <a:off x="7757770" y="2667305"/>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SOW-based, scope-</a:t>
            </a:r>
          </a:p>
          <a:p>
            <a:pPr marL="0" indent="0" algn="l">
              <a:buNone/>
            </a:pPr>
            <a:r>
              <a:rPr lang="en-US" sz="1000">
                <a:solidFill>
                  <a:srgbClr val="6B7280"/>
                </a:solidFill>
                <a:latin typeface="Raleway" pitchFamily="34" charset="0"/>
                <a:ea typeface="Raleway" pitchFamily="34" charset="-122"/>
                <a:cs typeface="Raleway" pitchFamily="34" charset="-120"/>
              </a:rPr>
              <a:t>locked</a:t>
            </a:r>
            <a:endParaRPr lang="en-US" sz="1000"/>
          </a:p>
        </p:txBody>
      </p:sp>
      <p:sp>
        <p:nvSpPr>
          <p:cNvPr id="44" name="Text 34"/>
          <p:cNvSpPr txBox="1"/>
          <p:nvPr/>
        </p:nvSpPr>
        <p:spPr>
          <a:xfrm>
            <a:off x="9471355" y="2667305"/>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Outcome-bound, SLO-governed</a:t>
            </a:r>
            <a:endParaRPr lang="en-US" sz="1000"/>
          </a:p>
        </p:txBody>
      </p:sp>
      <p:sp>
        <p:nvSpPr>
          <p:cNvPr id="45" name="Shape 35"/>
          <p:cNvSpPr/>
          <p:nvPr/>
        </p:nvSpPr>
        <p:spPr>
          <a:xfrm>
            <a:off x="6381598" y="3143707"/>
            <a:ext cx="5201107" cy="590702"/>
          </a:xfrm>
          <a:prstGeom prst="rect">
            <a:avLst/>
          </a:prstGeom>
          <a:solidFill>
            <a:srgbClr val="2A9D8F">
              <a:alpha val="3000"/>
            </a:srgbClr>
          </a:solidFill>
          <a:ln/>
        </p:spPr>
        <p:txBody>
          <a:bodyPr/>
          <a:lstStyle/>
          <a:p>
            <a:endParaRPr lang="en-US"/>
          </a:p>
        </p:txBody>
      </p:sp>
      <p:sp>
        <p:nvSpPr>
          <p:cNvPr id="46" name="Shape 36"/>
          <p:cNvSpPr/>
          <p:nvPr/>
        </p:nvSpPr>
        <p:spPr>
          <a:xfrm>
            <a:off x="6381598" y="3725266"/>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47" name="Text 37"/>
          <p:cNvSpPr txBox="1"/>
          <p:nvPr/>
        </p:nvSpPr>
        <p:spPr>
          <a:xfrm>
            <a:off x="6534302" y="3258007"/>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Starting Point</a:t>
            </a:r>
            <a:endParaRPr lang="en-US" sz="1000"/>
          </a:p>
        </p:txBody>
      </p:sp>
      <p:sp>
        <p:nvSpPr>
          <p:cNvPr id="48" name="Text 38"/>
          <p:cNvSpPr txBox="1"/>
          <p:nvPr/>
        </p:nvSpPr>
        <p:spPr>
          <a:xfrm>
            <a:off x="7757770" y="3258007"/>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Build from scratch</a:t>
            </a:r>
            <a:endParaRPr lang="en-US" sz="1000"/>
          </a:p>
        </p:txBody>
      </p:sp>
      <p:sp>
        <p:nvSpPr>
          <p:cNvPr id="49" name="Text 39"/>
          <p:cNvSpPr txBox="1"/>
          <p:nvPr/>
        </p:nvSpPr>
        <p:spPr>
          <a:xfrm>
            <a:off x="9471355" y="3258007"/>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60+ accelerators, deploy in weeks</a:t>
            </a:r>
            <a:endParaRPr lang="en-US" sz="1000"/>
          </a:p>
        </p:txBody>
      </p:sp>
      <p:sp>
        <p:nvSpPr>
          <p:cNvPr id="50" name="Shape 40"/>
          <p:cNvSpPr/>
          <p:nvPr/>
        </p:nvSpPr>
        <p:spPr>
          <a:xfrm>
            <a:off x="6381598" y="4315054"/>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51" name="Text 41"/>
          <p:cNvSpPr txBox="1"/>
          <p:nvPr/>
        </p:nvSpPr>
        <p:spPr>
          <a:xfrm>
            <a:off x="6534302" y="3847795"/>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Performance Standard</a:t>
            </a:r>
            <a:endParaRPr lang="en-US" sz="1000"/>
          </a:p>
        </p:txBody>
      </p:sp>
      <p:sp>
        <p:nvSpPr>
          <p:cNvPr id="52" name="Text 42"/>
          <p:cNvSpPr txBox="1"/>
          <p:nvPr/>
        </p:nvSpPr>
        <p:spPr>
          <a:xfrm>
            <a:off x="7757770" y="3847795"/>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Contractual minimums</a:t>
            </a:r>
            <a:endParaRPr lang="en-US" sz="1000"/>
          </a:p>
        </p:txBody>
      </p:sp>
      <p:sp>
        <p:nvSpPr>
          <p:cNvPr id="53" name="Text 43"/>
          <p:cNvSpPr txBox="1"/>
          <p:nvPr/>
        </p:nvSpPr>
        <p:spPr>
          <a:xfrm>
            <a:off x="9471355" y="3847795"/>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40% improvement threshold</a:t>
            </a:r>
            <a:endParaRPr lang="en-US" sz="1000"/>
          </a:p>
        </p:txBody>
      </p:sp>
      <p:sp>
        <p:nvSpPr>
          <p:cNvPr id="54" name="Shape 44"/>
          <p:cNvSpPr/>
          <p:nvPr/>
        </p:nvSpPr>
        <p:spPr>
          <a:xfrm>
            <a:off x="6381598" y="4324198"/>
            <a:ext cx="5201107" cy="590702"/>
          </a:xfrm>
          <a:prstGeom prst="rect">
            <a:avLst/>
          </a:prstGeom>
          <a:solidFill>
            <a:srgbClr val="2A9D8F">
              <a:alpha val="3000"/>
            </a:srgbClr>
          </a:solidFill>
          <a:ln/>
        </p:spPr>
        <p:txBody>
          <a:bodyPr/>
          <a:lstStyle/>
          <a:p>
            <a:endParaRPr lang="en-US"/>
          </a:p>
        </p:txBody>
      </p:sp>
      <p:sp>
        <p:nvSpPr>
          <p:cNvPr id="55" name="Shape 45"/>
          <p:cNvSpPr/>
          <p:nvPr/>
        </p:nvSpPr>
        <p:spPr>
          <a:xfrm>
            <a:off x="6381598" y="4905756"/>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56" name="Text 46"/>
          <p:cNvSpPr txBox="1"/>
          <p:nvPr/>
        </p:nvSpPr>
        <p:spPr>
          <a:xfrm>
            <a:off x="6534302" y="4438498"/>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Coverage</a:t>
            </a:r>
            <a:endParaRPr lang="en-US" sz="1000"/>
          </a:p>
        </p:txBody>
      </p:sp>
      <p:sp>
        <p:nvSpPr>
          <p:cNvPr id="57" name="Text 47"/>
          <p:cNvSpPr txBox="1"/>
          <p:nvPr/>
        </p:nvSpPr>
        <p:spPr>
          <a:xfrm>
            <a:off x="7757770" y="4438498"/>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Single-function specialization</a:t>
            </a:r>
            <a:endParaRPr lang="en-US" sz="1000"/>
          </a:p>
        </p:txBody>
      </p:sp>
      <p:sp>
        <p:nvSpPr>
          <p:cNvPr id="58" name="Text 48"/>
          <p:cNvSpPr txBox="1"/>
          <p:nvPr/>
        </p:nvSpPr>
        <p:spPr>
          <a:xfrm>
            <a:off x="9471355" y="4438498"/>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Cross-stack: SAP, ServiceNow, Salesforce + more</a:t>
            </a:r>
            <a:endParaRPr lang="en-US" sz="1000"/>
          </a:p>
        </p:txBody>
      </p:sp>
      <p:sp>
        <p:nvSpPr>
          <p:cNvPr id="59" name="Shape 49"/>
          <p:cNvSpPr/>
          <p:nvPr/>
        </p:nvSpPr>
        <p:spPr>
          <a:xfrm>
            <a:off x="6381598" y="5496458"/>
            <a:ext cx="5201107" cy="9144"/>
          </a:xfrm>
          <a:prstGeom prst="rect">
            <a:avLst/>
          </a:prstGeom>
          <a:solidFill>
            <a:srgbClr val="E5E7EB"/>
          </a:solidFill>
          <a:ln w="12700">
            <a:solidFill>
              <a:srgbClr val="E5E7EB">
                <a:alpha val="0"/>
              </a:srgbClr>
            </a:solidFill>
            <a:prstDash val="solid"/>
          </a:ln>
        </p:spPr>
        <p:txBody>
          <a:bodyPr/>
          <a:lstStyle/>
          <a:p>
            <a:endParaRPr lang="en-US"/>
          </a:p>
        </p:txBody>
      </p:sp>
      <p:sp>
        <p:nvSpPr>
          <p:cNvPr id="60" name="Text 50"/>
          <p:cNvSpPr txBox="1"/>
          <p:nvPr/>
        </p:nvSpPr>
        <p:spPr>
          <a:xfrm>
            <a:off x="6534302" y="5029200"/>
            <a:ext cx="1228954" cy="352958"/>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Knowledge Retention</a:t>
            </a:r>
            <a:endParaRPr lang="en-US" sz="1000"/>
          </a:p>
        </p:txBody>
      </p:sp>
      <p:sp>
        <p:nvSpPr>
          <p:cNvPr id="61" name="Text 51"/>
          <p:cNvSpPr txBox="1"/>
          <p:nvPr/>
        </p:nvSpPr>
        <p:spPr>
          <a:xfrm>
            <a:off x="7757770" y="5029200"/>
            <a:ext cx="1714500" cy="352958"/>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Exits with the team</a:t>
            </a:r>
            <a:endParaRPr lang="en-US" sz="1000"/>
          </a:p>
        </p:txBody>
      </p:sp>
      <p:sp>
        <p:nvSpPr>
          <p:cNvPr id="62" name="Text 52"/>
          <p:cNvSpPr txBox="1"/>
          <p:nvPr/>
        </p:nvSpPr>
        <p:spPr>
          <a:xfrm>
            <a:off x="9471355" y="5029200"/>
            <a:ext cx="1962302" cy="3529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Captured, compounding, stays with you</a:t>
            </a:r>
            <a:endParaRPr lang="en-US" sz="1000"/>
          </a:p>
        </p:txBody>
      </p:sp>
      <p:sp>
        <p:nvSpPr>
          <p:cNvPr id="63" name="Shape 53"/>
          <p:cNvSpPr/>
          <p:nvPr/>
        </p:nvSpPr>
        <p:spPr>
          <a:xfrm>
            <a:off x="6381598" y="5505602"/>
            <a:ext cx="5201107" cy="590702"/>
          </a:xfrm>
          <a:prstGeom prst="rect">
            <a:avLst/>
          </a:prstGeom>
          <a:solidFill>
            <a:srgbClr val="2A9D8F">
              <a:alpha val="3000"/>
            </a:srgbClr>
          </a:solidFill>
          <a:ln w="12700">
            <a:solidFill>
              <a:srgbClr val="FFFFFF">
                <a:alpha val="0"/>
              </a:srgbClr>
            </a:solidFill>
            <a:prstDash val="solid"/>
          </a:ln>
        </p:spPr>
        <p:txBody>
          <a:bodyPr/>
          <a:lstStyle/>
          <a:p>
            <a:endParaRPr lang="en-US"/>
          </a:p>
        </p:txBody>
      </p:sp>
      <p:sp>
        <p:nvSpPr>
          <p:cNvPr id="64" name="Text 54"/>
          <p:cNvSpPr txBox="1"/>
          <p:nvPr/>
        </p:nvSpPr>
        <p:spPr>
          <a:xfrm>
            <a:off x="6534302" y="5619902"/>
            <a:ext cx="1228954" cy="362102"/>
          </a:xfrm>
          <a:prstGeom prst="rect">
            <a:avLst/>
          </a:prstGeom>
          <a:noFill/>
          <a:ln/>
        </p:spPr>
        <p:txBody>
          <a:bodyPr wrap="squar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AI Readiness</a:t>
            </a:r>
            <a:endParaRPr lang="en-US" sz="1000"/>
          </a:p>
        </p:txBody>
      </p:sp>
      <p:sp>
        <p:nvSpPr>
          <p:cNvPr id="65" name="Text 55"/>
          <p:cNvSpPr txBox="1"/>
          <p:nvPr/>
        </p:nvSpPr>
        <p:spPr>
          <a:xfrm>
            <a:off x="7757770" y="5619902"/>
            <a:ext cx="1714500" cy="362102"/>
          </a:xfrm>
          <a:prstGeom prst="rect">
            <a:avLst/>
          </a:prstGeom>
          <a:noFill/>
          <a:ln/>
        </p:spPr>
        <p:txBody>
          <a:bodyPr wrap="square" lIns="0" tIns="0" rIns="0" bIns="0" rtlCol="0" anchor="ctr"/>
          <a:lstStyle/>
          <a:p>
            <a:pPr marL="0" indent="0" algn="l">
              <a:buNone/>
            </a:pPr>
            <a:r>
              <a:rPr lang="en-US" sz="1000">
                <a:solidFill>
                  <a:srgbClr val="6B7280"/>
                </a:solidFill>
                <a:latin typeface="Raleway" pitchFamily="34" charset="0"/>
                <a:ea typeface="Raleway" pitchFamily="34" charset="-122"/>
                <a:cs typeface="Raleway" pitchFamily="34" charset="-120"/>
              </a:rPr>
              <a:t>Optional add-on</a:t>
            </a:r>
            <a:endParaRPr lang="en-US" sz="1000"/>
          </a:p>
        </p:txBody>
      </p:sp>
      <p:sp>
        <p:nvSpPr>
          <p:cNvPr id="66" name="Text 56"/>
          <p:cNvSpPr txBox="1"/>
          <p:nvPr/>
        </p:nvSpPr>
        <p:spPr>
          <a:xfrm>
            <a:off x="9471355" y="5619902"/>
            <a:ext cx="1962302" cy="362102"/>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Embedded from Day 1</a:t>
            </a:r>
            <a:endParaRPr lang="en-US" sz="1000"/>
          </a:p>
        </p:txBody>
      </p:sp>
      <p:sp>
        <p:nvSpPr>
          <p:cNvPr id="67" name="Text 57"/>
          <p:cNvSpPr txBox="1"/>
          <p:nvPr/>
        </p:nvSpPr>
        <p:spPr>
          <a:xfrm>
            <a:off x="800100" y="6245352"/>
            <a:ext cx="10592410" cy="409651"/>
          </a:xfrm>
          <a:prstGeom prst="rect">
            <a:avLst/>
          </a:prstGeom>
          <a:noFill/>
          <a:ln/>
        </p:spPr>
        <p:txBody>
          <a:bodyPr wrap="square" lIns="0" tIns="0" rIns="0" bIns="0" rtlCol="0" anchor="ctr"/>
          <a:lstStyle/>
          <a:p>
            <a:pPr marL="0" indent="0" algn="ctr">
              <a:buNone/>
            </a:pPr>
            <a:r>
              <a:rPr lang="en-US" sz="800" b="1">
                <a:solidFill>
                  <a:srgbClr val="111827"/>
                </a:solidFill>
                <a:latin typeface="Raleway" pitchFamily="34" charset="0"/>
                <a:ea typeface="Raleway" pitchFamily="34" charset="-122"/>
                <a:cs typeface="Raleway" pitchFamily="34" charset="-120"/>
              </a:rPr>
              <a:t>From scattered pilots to governed programs. From manual reporting to real-time intelligence. From legacy stacks to modernized platforms. </a:t>
            </a:r>
            <a:r>
              <a:rPr lang="en-US" sz="1100" b="1">
                <a:solidFill>
                  <a:srgbClr val="2A9D8F"/>
                </a:solidFill>
                <a:latin typeface="Raleway" pitchFamily="34" charset="0"/>
                <a:ea typeface="Raleway" pitchFamily="34" charset="-122"/>
                <a:cs typeface="Raleway" pitchFamily="34" charset="-120"/>
              </a:rPr>
              <a:t>J2W Managed Solutions operate until the outcome is real - then keep compounding.</a:t>
            </a:r>
            <a:endParaRPr lang="en-US" sz="1100"/>
          </a:p>
        </p:txBody>
      </p:sp>
    </p:spTree>
    <p:extLst>
      <p:ext uri="{BB962C8B-B14F-4D97-AF65-F5344CB8AC3E}">
        <p14:creationId xmlns:p14="http://schemas.microsoft.com/office/powerpoint/2010/main" val="37436834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8382305" y="-1429207"/>
            <a:ext cx="4762195" cy="4762195"/>
          </a:xfrm>
          <a:prstGeom prst="ellipse">
            <a:avLst/>
          </a:prstGeom>
          <a:noFill/>
          <a:ln w="508000">
            <a:solidFill>
              <a:srgbClr val="D62839">
                <a:alpha val="3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 name="Image 0" descr="preencoded.png"/>
          <p:cNvPicPr>
            <a:picLocks noChangeAspect="1"/>
          </p:cNvPicPr>
          <p:nvPr/>
        </p:nvPicPr>
        <p:blipFill>
          <a:blip r:embed="rId3"/>
          <a:srcRect l="-360" r="-360"/>
          <a:stretch/>
        </p:blipFill>
        <p:spPr>
          <a:xfrm>
            <a:off x="609905" y="514807"/>
            <a:ext cx="57607" cy="381305"/>
          </a:xfrm>
          <a:prstGeom prst="rect">
            <a:avLst/>
          </a:prstGeom>
        </p:spPr>
      </p:pic>
      <p:sp>
        <p:nvSpPr>
          <p:cNvPr id="6" name="Text 3"/>
          <p:cNvSpPr txBox="1"/>
          <p:nvPr/>
        </p:nvSpPr>
        <p:spPr>
          <a:xfrm>
            <a:off x="819302" y="381305"/>
            <a:ext cx="6010351" cy="3429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0" cap="none" spc="-56" normalizeH="0" baseline="0" noProof="0">
                <a:ln>
                  <a:noFill/>
                </a:ln>
                <a:solidFill>
                  <a:srgbClr val="111827"/>
                </a:solidFill>
                <a:effectLst/>
                <a:uLnTx/>
                <a:uFillTx/>
                <a:latin typeface="Oswald" pitchFamily="34" charset="0"/>
                <a:ea typeface="Oswald" pitchFamily="34" charset="-122"/>
                <a:cs typeface="Oswald" pitchFamily="34" charset="-120"/>
              </a:rPr>
              <a:t>Strategic Managed Services Offerings</a:t>
            </a:r>
            <a:endParaRPr kumimoji="0" lang="en-US" sz="2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4"/>
          <p:cNvSpPr txBox="1"/>
          <p:nvPr/>
        </p:nvSpPr>
        <p:spPr>
          <a:xfrm>
            <a:off x="819302" y="761695"/>
            <a:ext cx="6010351" cy="267005"/>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68" normalizeH="0" baseline="0" noProof="0">
                <a:ln>
                  <a:noFill/>
                </a:ln>
                <a:solidFill>
                  <a:srgbClr val="2A9D8F"/>
                </a:solidFill>
                <a:effectLst/>
                <a:uLnTx/>
                <a:uFillTx/>
                <a:latin typeface="Roboto Condensed" pitchFamily="34" charset="0"/>
                <a:ea typeface="Roboto Condensed" pitchFamily="34" charset="-122"/>
                <a:cs typeface="Roboto Condensed" pitchFamily="34" charset="-120"/>
              </a:rPr>
              <a:t>COMPREHENSIVE CAPABILITIES DRIVING DIGITAL TRANSFORMATION</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5"/>
          <p:cNvSpPr/>
          <p:nvPr/>
        </p:nvSpPr>
        <p:spPr>
          <a:xfrm>
            <a:off x="609905" y="12573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6"/>
          <p:cNvSpPr/>
          <p:nvPr/>
        </p:nvSpPr>
        <p:spPr>
          <a:xfrm>
            <a:off x="609905" y="1257300"/>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7"/>
          <p:cNvSpPr/>
          <p:nvPr/>
        </p:nvSpPr>
        <p:spPr>
          <a:xfrm>
            <a:off x="790956" y="1380744"/>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1" name="Image 1" descr="preencoded.png"/>
          <p:cNvPicPr>
            <a:picLocks noChangeAspect="1"/>
          </p:cNvPicPr>
          <p:nvPr/>
        </p:nvPicPr>
        <p:blipFill>
          <a:blip r:embed="rId4"/>
          <a:srcRect/>
          <a:stretch/>
        </p:blipFill>
        <p:spPr>
          <a:xfrm>
            <a:off x="905256" y="1495044"/>
            <a:ext cx="171907" cy="171907"/>
          </a:xfrm>
          <a:prstGeom prst="rect">
            <a:avLst/>
          </a:prstGeom>
        </p:spPr>
      </p:pic>
      <p:sp>
        <p:nvSpPr>
          <p:cNvPr id="12" name="Text 8"/>
          <p:cNvSpPr txBox="1"/>
          <p:nvPr/>
        </p:nvSpPr>
        <p:spPr>
          <a:xfrm>
            <a:off x="926287" y="1819656"/>
            <a:ext cx="210312"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01</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9"/>
          <p:cNvSpPr txBox="1"/>
          <p:nvPr/>
        </p:nvSpPr>
        <p:spPr>
          <a:xfrm>
            <a:off x="1371600" y="13807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AI Solutions (AI CoE)</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0"/>
          <p:cNvSpPr txBox="1"/>
          <p:nvPr/>
        </p:nvSpPr>
        <p:spPr>
          <a:xfrm>
            <a:off x="1371600" y="16020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GenAI strategies, agents, LLM workflows, predictive models, knowledge bots, and enterprise-grade AI governance &amp; value realization frameworks.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1"/>
          <p:cNvSpPr/>
          <p:nvPr/>
        </p:nvSpPr>
        <p:spPr>
          <a:xfrm>
            <a:off x="6210605" y="12573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2"/>
          <p:cNvSpPr/>
          <p:nvPr/>
        </p:nvSpPr>
        <p:spPr>
          <a:xfrm>
            <a:off x="6210605" y="1257300"/>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3"/>
          <p:cNvSpPr/>
          <p:nvPr/>
        </p:nvSpPr>
        <p:spPr>
          <a:xfrm>
            <a:off x="6391656" y="1380744"/>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8" name="Image 2" descr="preencoded.png"/>
          <p:cNvPicPr>
            <a:picLocks noChangeAspect="1"/>
          </p:cNvPicPr>
          <p:nvPr/>
        </p:nvPicPr>
        <p:blipFill>
          <a:blip r:embed="rId5"/>
          <a:srcRect/>
          <a:stretch/>
        </p:blipFill>
        <p:spPr>
          <a:xfrm>
            <a:off x="6505956" y="1495044"/>
            <a:ext cx="171907" cy="171907"/>
          </a:xfrm>
          <a:prstGeom prst="rect">
            <a:avLst/>
          </a:prstGeom>
        </p:spPr>
      </p:pic>
      <p:sp>
        <p:nvSpPr>
          <p:cNvPr id="19" name="Text 14"/>
          <p:cNvSpPr txBox="1"/>
          <p:nvPr/>
        </p:nvSpPr>
        <p:spPr>
          <a:xfrm>
            <a:off x="6516929" y="181965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06</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5"/>
          <p:cNvSpPr txBox="1"/>
          <p:nvPr/>
        </p:nvSpPr>
        <p:spPr>
          <a:xfrm>
            <a:off x="6972300" y="13807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Quality Engineering</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6"/>
          <p:cNvSpPr txBox="1"/>
          <p:nvPr/>
        </p:nvSpPr>
        <p:spPr>
          <a:xfrm>
            <a:off x="6972300" y="16020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Intelligent QA and Test Automation at scale - covering functional, performance, security, CI/CD pipelines, and TaaS delivery pods.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17"/>
          <p:cNvSpPr/>
          <p:nvPr/>
        </p:nvSpPr>
        <p:spPr>
          <a:xfrm>
            <a:off x="609905" y="23244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18"/>
          <p:cNvSpPr/>
          <p:nvPr/>
        </p:nvSpPr>
        <p:spPr>
          <a:xfrm>
            <a:off x="609905" y="2324405"/>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19"/>
          <p:cNvSpPr/>
          <p:nvPr/>
        </p:nvSpPr>
        <p:spPr>
          <a:xfrm>
            <a:off x="790956" y="2447849"/>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5" name="Image 3" descr="preencoded.png"/>
          <p:cNvPicPr>
            <a:picLocks noChangeAspect="1"/>
          </p:cNvPicPr>
          <p:nvPr/>
        </p:nvPicPr>
        <p:blipFill>
          <a:blip r:embed="rId6"/>
          <a:srcRect t="-2725" b="-2725"/>
          <a:stretch/>
        </p:blipFill>
        <p:spPr>
          <a:xfrm>
            <a:off x="918972" y="2562149"/>
            <a:ext cx="142646" cy="171907"/>
          </a:xfrm>
          <a:prstGeom prst="rect">
            <a:avLst/>
          </a:prstGeom>
        </p:spPr>
      </p:pic>
      <p:sp>
        <p:nvSpPr>
          <p:cNvPr id="26" name="Text 20"/>
          <p:cNvSpPr txBox="1"/>
          <p:nvPr/>
        </p:nvSpPr>
        <p:spPr>
          <a:xfrm>
            <a:off x="918058" y="288584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02</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1"/>
          <p:cNvSpPr txBox="1"/>
          <p:nvPr/>
        </p:nvSpPr>
        <p:spPr>
          <a:xfrm>
            <a:off x="1371600" y="24478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Data Migration &amp; Infra Support</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2"/>
          <p:cNvSpPr txBox="1"/>
          <p:nvPr/>
        </p:nvSpPr>
        <p:spPr>
          <a:xfrm>
            <a:off x="1371600" y="26691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Seamless migration across on-prem &amp; cloud, with data quality, cleansing, secure pipelines, infra ops, and cloud governance across AWS/Azure/GCP.</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3"/>
          <p:cNvSpPr/>
          <p:nvPr/>
        </p:nvSpPr>
        <p:spPr>
          <a:xfrm>
            <a:off x="6210605" y="23244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4"/>
          <p:cNvSpPr/>
          <p:nvPr/>
        </p:nvSpPr>
        <p:spPr>
          <a:xfrm>
            <a:off x="6210605" y="2324405"/>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5"/>
          <p:cNvSpPr/>
          <p:nvPr/>
        </p:nvSpPr>
        <p:spPr>
          <a:xfrm>
            <a:off x="6391656" y="2447849"/>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2" name="Image 4" descr="preencoded.png"/>
          <p:cNvPicPr>
            <a:picLocks noChangeAspect="1"/>
          </p:cNvPicPr>
          <p:nvPr/>
        </p:nvPicPr>
        <p:blipFill>
          <a:blip r:embed="rId7"/>
          <a:srcRect/>
          <a:stretch/>
        </p:blipFill>
        <p:spPr>
          <a:xfrm>
            <a:off x="6505956" y="2562149"/>
            <a:ext cx="171907" cy="171907"/>
          </a:xfrm>
          <a:prstGeom prst="rect">
            <a:avLst/>
          </a:prstGeom>
        </p:spPr>
      </p:pic>
      <p:sp>
        <p:nvSpPr>
          <p:cNvPr id="33" name="Text 26"/>
          <p:cNvSpPr txBox="1"/>
          <p:nvPr/>
        </p:nvSpPr>
        <p:spPr>
          <a:xfrm>
            <a:off x="6523330" y="2885846"/>
            <a:ext cx="219456"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07</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ext 27"/>
          <p:cNvSpPr txBox="1"/>
          <p:nvPr/>
        </p:nvSpPr>
        <p:spPr>
          <a:xfrm>
            <a:off x="6972300" y="24478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Call Centre Optimization</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28"/>
          <p:cNvSpPr txBox="1"/>
          <p:nvPr/>
        </p:nvSpPr>
        <p:spPr>
          <a:xfrm>
            <a:off x="6972300" y="26691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Transforming contact centers through operational assessment, workforce analytics, real-time dashboards, agent assist AI, and IVA-based automation.</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29"/>
          <p:cNvSpPr/>
          <p:nvPr/>
        </p:nvSpPr>
        <p:spPr>
          <a:xfrm>
            <a:off x="609905" y="339059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30"/>
          <p:cNvSpPr/>
          <p:nvPr/>
        </p:nvSpPr>
        <p:spPr>
          <a:xfrm>
            <a:off x="609905" y="3390595"/>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31"/>
          <p:cNvSpPr/>
          <p:nvPr/>
        </p:nvSpPr>
        <p:spPr>
          <a:xfrm>
            <a:off x="790956" y="3514954"/>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9" name="Image 5" descr="preencoded.png"/>
          <p:cNvPicPr>
            <a:picLocks noChangeAspect="1"/>
          </p:cNvPicPr>
          <p:nvPr/>
        </p:nvPicPr>
        <p:blipFill>
          <a:blip r:embed="rId8"/>
          <a:srcRect/>
          <a:stretch/>
        </p:blipFill>
        <p:spPr>
          <a:xfrm>
            <a:off x="905256" y="3629254"/>
            <a:ext cx="171907" cy="171907"/>
          </a:xfrm>
          <a:prstGeom prst="rect">
            <a:avLst/>
          </a:prstGeom>
        </p:spPr>
      </p:pic>
      <p:sp>
        <p:nvSpPr>
          <p:cNvPr id="40" name="Text 32"/>
          <p:cNvSpPr txBox="1"/>
          <p:nvPr/>
        </p:nvSpPr>
        <p:spPr>
          <a:xfrm>
            <a:off x="918058" y="3952951"/>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03</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Text 33"/>
          <p:cNvSpPr txBox="1"/>
          <p:nvPr/>
        </p:nvSpPr>
        <p:spPr>
          <a:xfrm>
            <a:off x="1371600" y="351495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Cybersecurity</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Text 34"/>
          <p:cNvSpPr txBox="1"/>
          <p:nvPr/>
        </p:nvSpPr>
        <p:spPr>
          <a:xfrm>
            <a:off x="1371600" y="373532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Full-spectrum security including assessment, red-team, cloud security, managed SOC/MDR, compliance (ISO, PCI, RBI), incident response &amp; digital forensics.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Shape 35"/>
          <p:cNvSpPr/>
          <p:nvPr/>
        </p:nvSpPr>
        <p:spPr>
          <a:xfrm>
            <a:off x="6210605" y="339059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Shape 36"/>
          <p:cNvSpPr/>
          <p:nvPr/>
        </p:nvSpPr>
        <p:spPr>
          <a:xfrm>
            <a:off x="6210605" y="3390595"/>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Shape 37"/>
          <p:cNvSpPr/>
          <p:nvPr/>
        </p:nvSpPr>
        <p:spPr>
          <a:xfrm>
            <a:off x="6391656" y="3514954"/>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6" name="Image 6" descr="preencoded.png"/>
          <p:cNvPicPr>
            <a:picLocks noChangeAspect="1"/>
          </p:cNvPicPr>
          <p:nvPr/>
        </p:nvPicPr>
        <p:blipFill>
          <a:blip r:embed="rId9"/>
          <a:srcRect t="-2725" b="-2725"/>
          <a:stretch/>
        </p:blipFill>
        <p:spPr>
          <a:xfrm>
            <a:off x="6519672" y="3629254"/>
            <a:ext cx="142646" cy="171907"/>
          </a:xfrm>
          <a:prstGeom prst="rect">
            <a:avLst/>
          </a:prstGeom>
        </p:spPr>
      </p:pic>
      <p:sp>
        <p:nvSpPr>
          <p:cNvPr id="47" name="Text 38"/>
          <p:cNvSpPr txBox="1"/>
          <p:nvPr/>
        </p:nvSpPr>
        <p:spPr>
          <a:xfrm>
            <a:off x="6517843" y="3952951"/>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08</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Text 39"/>
          <p:cNvSpPr txBox="1"/>
          <p:nvPr/>
        </p:nvSpPr>
        <p:spPr>
          <a:xfrm>
            <a:off x="6972300" y="351495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SAP Services</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Text 40"/>
          <p:cNvSpPr txBox="1"/>
          <p:nvPr/>
        </p:nvSpPr>
        <p:spPr>
          <a:xfrm>
            <a:off x="6972300" y="373532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End-to-end SAP modernization - from S/4HANA migrations to BTP, Fiori, SuccessFactors, and enterprise-wide rollout with managed SAP support.</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Shape 41"/>
          <p:cNvSpPr/>
          <p:nvPr/>
        </p:nvSpPr>
        <p:spPr>
          <a:xfrm>
            <a:off x="609905" y="44577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Shape 42"/>
          <p:cNvSpPr/>
          <p:nvPr/>
        </p:nvSpPr>
        <p:spPr>
          <a:xfrm>
            <a:off x="609905" y="4457700"/>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Shape 43"/>
          <p:cNvSpPr/>
          <p:nvPr/>
        </p:nvSpPr>
        <p:spPr>
          <a:xfrm>
            <a:off x="790956" y="4581144"/>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3" name="Image 7" descr="preencoded.png"/>
          <p:cNvPicPr>
            <a:picLocks noChangeAspect="1"/>
          </p:cNvPicPr>
          <p:nvPr/>
        </p:nvPicPr>
        <p:blipFill>
          <a:blip r:embed="rId10"/>
          <a:srcRect t="-1310" b="-1310"/>
          <a:stretch/>
        </p:blipFill>
        <p:spPr>
          <a:xfrm>
            <a:off x="886054" y="4695444"/>
            <a:ext cx="209398" cy="171907"/>
          </a:xfrm>
          <a:prstGeom prst="rect">
            <a:avLst/>
          </a:prstGeom>
        </p:spPr>
      </p:pic>
      <p:sp>
        <p:nvSpPr>
          <p:cNvPr id="54" name="Text 44"/>
          <p:cNvSpPr txBox="1"/>
          <p:nvPr/>
        </p:nvSpPr>
        <p:spPr>
          <a:xfrm>
            <a:off x="917143" y="502005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04</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Text 45"/>
          <p:cNvSpPr txBox="1"/>
          <p:nvPr/>
        </p:nvSpPr>
        <p:spPr>
          <a:xfrm>
            <a:off x="1371600" y="45811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Digital Engineering &amp; Automation</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Text 46"/>
          <p:cNvSpPr txBox="1"/>
          <p:nvPr/>
        </p:nvSpPr>
        <p:spPr>
          <a:xfrm>
            <a:off x="1371600" y="48024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Spanning full-stack &amp; UI/UX development, intelligent automation, AI-augmented RPA, and end-to-end process orchestration.</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Shape 47"/>
          <p:cNvSpPr/>
          <p:nvPr/>
        </p:nvSpPr>
        <p:spPr>
          <a:xfrm>
            <a:off x="6210605" y="4457700"/>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Shape 48"/>
          <p:cNvSpPr/>
          <p:nvPr/>
        </p:nvSpPr>
        <p:spPr>
          <a:xfrm>
            <a:off x="6210605" y="4457700"/>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Shape 49"/>
          <p:cNvSpPr/>
          <p:nvPr/>
        </p:nvSpPr>
        <p:spPr>
          <a:xfrm>
            <a:off x="6391656" y="4581144"/>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0" name="Image 8" descr="preencoded.png"/>
          <p:cNvPicPr>
            <a:picLocks noChangeAspect="1"/>
          </p:cNvPicPr>
          <p:nvPr/>
        </p:nvPicPr>
        <p:blipFill>
          <a:blip r:embed="rId11"/>
          <a:srcRect t="-1310" b="-1310"/>
          <a:stretch/>
        </p:blipFill>
        <p:spPr>
          <a:xfrm>
            <a:off x="6486754" y="4695444"/>
            <a:ext cx="209398" cy="171907"/>
          </a:xfrm>
          <a:prstGeom prst="rect">
            <a:avLst/>
          </a:prstGeom>
        </p:spPr>
      </p:pic>
      <p:sp>
        <p:nvSpPr>
          <p:cNvPr id="61" name="Text 50"/>
          <p:cNvSpPr txBox="1"/>
          <p:nvPr/>
        </p:nvSpPr>
        <p:spPr>
          <a:xfrm>
            <a:off x="6516929" y="502005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09</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Text 51"/>
          <p:cNvSpPr txBox="1"/>
          <p:nvPr/>
        </p:nvSpPr>
        <p:spPr>
          <a:xfrm>
            <a:off x="6972300" y="4581144"/>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Salesforce Services</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Text 52"/>
          <p:cNvSpPr txBox="1"/>
          <p:nvPr/>
        </p:nvSpPr>
        <p:spPr>
          <a:xfrm>
            <a:off x="6972300" y="4802429"/>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Complete Salesforce transformation across Sales, Service, Marketing, Financial Services Cloud, and MuleSoft - backed by org audits and managed support.</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Shape 53"/>
          <p:cNvSpPr/>
          <p:nvPr/>
        </p:nvSpPr>
        <p:spPr>
          <a:xfrm>
            <a:off x="609905" y="55248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Shape 54"/>
          <p:cNvSpPr/>
          <p:nvPr/>
        </p:nvSpPr>
        <p:spPr>
          <a:xfrm>
            <a:off x="609905" y="5524805"/>
            <a:ext cx="38405" cy="952805"/>
          </a:xfrm>
          <a:prstGeom prst="roundRect">
            <a:avLst>
              <a:gd name="adj" fmla="val 380950"/>
            </a:avLst>
          </a:prstGeom>
          <a:solidFill>
            <a:srgbClr val="2A9D8F"/>
          </a:solidFill>
          <a:ln w="12700">
            <a:solidFill>
              <a:srgbClr val="2A9D8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Shape 55"/>
          <p:cNvSpPr/>
          <p:nvPr/>
        </p:nvSpPr>
        <p:spPr>
          <a:xfrm>
            <a:off x="790956" y="5648249"/>
            <a:ext cx="400507" cy="400507"/>
          </a:xfrm>
          <a:prstGeom prst="ellipse">
            <a:avLst/>
          </a:prstGeom>
          <a:solidFill>
            <a:srgbClr val="2A9D8F">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7" name="Image 9" descr="preencoded.png"/>
          <p:cNvPicPr>
            <a:picLocks noChangeAspect="1"/>
          </p:cNvPicPr>
          <p:nvPr/>
        </p:nvPicPr>
        <p:blipFill>
          <a:blip r:embed="rId12"/>
          <a:srcRect/>
          <a:stretch/>
        </p:blipFill>
        <p:spPr>
          <a:xfrm>
            <a:off x="905256" y="5762549"/>
            <a:ext cx="171907" cy="171907"/>
          </a:xfrm>
          <a:prstGeom prst="rect">
            <a:avLst/>
          </a:prstGeom>
        </p:spPr>
      </p:pic>
      <p:sp>
        <p:nvSpPr>
          <p:cNvPr id="68" name="Text 56"/>
          <p:cNvSpPr txBox="1"/>
          <p:nvPr/>
        </p:nvSpPr>
        <p:spPr>
          <a:xfrm>
            <a:off x="918058" y="6086246"/>
            <a:ext cx="228600"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A9D8F">
                    <a:alpha val="60000"/>
                  </a:srgbClr>
                </a:solidFill>
                <a:effectLst/>
                <a:uLnTx/>
                <a:uFillTx/>
                <a:latin typeface="Oswald" pitchFamily="34" charset="0"/>
                <a:ea typeface="Oswald" pitchFamily="34" charset="-122"/>
                <a:cs typeface="Oswald" pitchFamily="34" charset="-120"/>
              </a:rPr>
              <a:t>05</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Text 57"/>
          <p:cNvSpPr txBox="1"/>
          <p:nvPr/>
        </p:nvSpPr>
        <p:spPr>
          <a:xfrm>
            <a:off x="1371600" y="56482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Data Analytics &amp; Dashboarding</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Text 58"/>
          <p:cNvSpPr txBox="1"/>
          <p:nvPr/>
        </p:nvSpPr>
        <p:spPr>
          <a:xfrm>
            <a:off x="1371600" y="58695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Interactive dashboards across Power BI, Tableau, and Qlik - enabling real-time operational, financial, and leadership insights.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Shape 59"/>
          <p:cNvSpPr/>
          <p:nvPr/>
        </p:nvSpPr>
        <p:spPr>
          <a:xfrm>
            <a:off x="6210605" y="5524805"/>
            <a:ext cx="5372100" cy="952805"/>
          </a:xfrm>
          <a:prstGeom prst="roundRect">
            <a:avLst>
              <a:gd name="adj" fmla="val 15355"/>
            </a:avLst>
          </a:prstGeom>
          <a:solidFill>
            <a:srgbClr val="FFFFFF"/>
          </a:solidFill>
          <a:ln w="12700">
            <a:solidFill>
              <a:srgbClr val="F3F4F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Shape 60"/>
          <p:cNvSpPr/>
          <p:nvPr/>
        </p:nvSpPr>
        <p:spPr>
          <a:xfrm>
            <a:off x="6210605" y="5524805"/>
            <a:ext cx="38405" cy="952805"/>
          </a:xfrm>
          <a:prstGeom prst="roundRect">
            <a:avLst>
              <a:gd name="adj" fmla="val 380950"/>
            </a:avLst>
          </a:prstGeom>
          <a:solidFill>
            <a:srgbClr val="D62839"/>
          </a:solidFill>
          <a:ln w="12700">
            <a:solidFill>
              <a:srgbClr val="D628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Shape 61"/>
          <p:cNvSpPr/>
          <p:nvPr/>
        </p:nvSpPr>
        <p:spPr>
          <a:xfrm>
            <a:off x="6391656" y="5648249"/>
            <a:ext cx="400507" cy="400507"/>
          </a:xfrm>
          <a:prstGeom prst="ellipse">
            <a:avLst/>
          </a:prstGeom>
          <a:solidFill>
            <a:srgbClr val="D62839">
              <a:alpha val="8000"/>
            </a:srgbClr>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4" name="Image 10" descr="preencoded.png"/>
          <p:cNvPicPr>
            <a:picLocks noChangeAspect="1"/>
          </p:cNvPicPr>
          <p:nvPr/>
        </p:nvPicPr>
        <p:blipFill>
          <a:blip r:embed="rId13"/>
          <a:srcRect/>
          <a:stretch/>
        </p:blipFill>
        <p:spPr>
          <a:xfrm>
            <a:off x="6505956" y="5762549"/>
            <a:ext cx="171907" cy="171907"/>
          </a:xfrm>
          <a:prstGeom prst="rect">
            <a:avLst/>
          </a:prstGeom>
        </p:spPr>
      </p:pic>
      <p:sp>
        <p:nvSpPr>
          <p:cNvPr id="75" name="Text 62"/>
          <p:cNvSpPr txBox="1"/>
          <p:nvPr/>
        </p:nvSpPr>
        <p:spPr>
          <a:xfrm>
            <a:off x="6526987" y="6086246"/>
            <a:ext cx="210312" cy="2103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D62839">
                    <a:alpha val="60000"/>
                  </a:srgbClr>
                </a:solidFill>
                <a:effectLst/>
                <a:uLnTx/>
                <a:uFillTx/>
                <a:latin typeface="Oswald" pitchFamily="34" charset="0"/>
                <a:ea typeface="Oswald" pitchFamily="34" charset="-122"/>
                <a:cs typeface="Oswald" pitchFamily="34" charset="-120"/>
              </a:rPr>
              <a:t>10</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Text 63"/>
          <p:cNvSpPr txBox="1"/>
          <p:nvPr/>
        </p:nvSpPr>
        <p:spPr>
          <a:xfrm>
            <a:off x="6972300" y="5648249"/>
            <a:ext cx="4601261" cy="19111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4" normalizeH="0" baseline="0" noProof="0">
                <a:ln>
                  <a:noFill/>
                </a:ln>
                <a:solidFill>
                  <a:srgbClr val="1F2937"/>
                </a:solidFill>
                <a:effectLst/>
                <a:uLnTx/>
                <a:uFillTx/>
                <a:latin typeface="Oswald" pitchFamily="34" charset="0"/>
                <a:ea typeface="Oswald" pitchFamily="34" charset="-122"/>
                <a:cs typeface="Oswald" pitchFamily="34" charset="-120"/>
              </a:rPr>
              <a:t>ServiceNow</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Text 64"/>
          <p:cNvSpPr txBox="1"/>
          <p:nvPr/>
        </p:nvSpPr>
        <p:spPr>
          <a:xfrm>
            <a:off x="6972300" y="5869534"/>
            <a:ext cx="4562856" cy="314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55555"/>
                </a:solidFill>
                <a:effectLst/>
                <a:uLnTx/>
                <a:uFillTx/>
                <a:latin typeface="Raleway" pitchFamily="34" charset="0"/>
                <a:ea typeface="Raleway" pitchFamily="34" charset="-122"/>
                <a:cs typeface="Raleway" pitchFamily="34" charset="-120"/>
              </a:rPr>
              <a:t>End-to-end ServiceNow enablement across ITSM, ITOM, CSM, CMDB, automation workflows, and CoE setup for scalable, multi-instance operations.</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8" name="Image 11" descr="preencoded.png"/>
          <p:cNvPicPr>
            <a:picLocks noChangeAspect="1"/>
          </p:cNvPicPr>
          <p:nvPr/>
        </p:nvPicPr>
        <p:blipFill>
          <a:blip r:embed="rId14"/>
          <a:srcRect l="-202" r="-202"/>
          <a:stretch/>
        </p:blipFill>
        <p:spPr>
          <a:xfrm>
            <a:off x="0" y="0"/>
            <a:ext cx="8128102" cy="75895"/>
          </a:xfrm>
          <a:prstGeom prst="rect">
            <a:avLst/>
          </a:prstGeom>
        </p:spPr>
      </p:pic>
      <p:pic>
        <p:nvPicPr>
          <p:cNvPr id="79" name="Image 12" descr="preencoded.png"/>
          <p:cNvPicPr>
            <a:picLocks noChangeAspect="1"/>
          </p:cNvPicPr>
          <p:nvPr/>
        </p:nvPicPr>
        <p:blipFill>
          <a:blip r:embed="rId15"/>
          <a:srcRect l="-197" r="-197"/>
          <a:stretch/>
        </p:blipFill>
        <p:spPr>
          <a:xfrm>
            <a:off x="8128102" y="0"/>
            <a:ext cx="4063594" cy="75895"/>
          </a:xfrm>
          <a:prstGeom prst="rect">
            <a:avLst/>
          </a:prstGeom>
        </p:spPr>
      </p:pic>
    </p:spTree>
    <p:extLst>
      <p:ext uri="{BB962C8B-B14F-4D97-AF65-F5344CB8AC3E}">
        <p14:creationId xmlns:p14="http://schemas.microsoft.com/office/powerpoint/2010/main" val="5047675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
    <p:bg>
      <p:bgPr>
        <a:solidFill>
          <a:srgbClr val="003D3D"/>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0A896"/>
          </a:solidFill>
          <a:ln w="12700">
            <a:solidFill>
              <a:srgbClr val="00A896"/>
            </a:solidFill>
            <a:prstDash val="solid"/>
          </a:ln>
        </p:spPr>
        <p:txBody>
          <a:bodyPr/>
          <a:lstStyle/>
          <a:p>
            <a:endParaRPr lang="en-US"/>
          </a:p>
        </p:txBody>
      </p:sp>
      <p:sp>
        <p:nvSpPr>
          <p:cNvPr id="3" name="Shape 1"/>
          <p:cNvSpPr/>
          <p:nvPr/>
        </p:nvSpPr>
        <p:spPr>
          <a:xfrm>
            <a:off x="0" y="109728"/>
            <a:ext cx="457200" cy="6748272"/>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731520" y="731520"/>
            <a:ext cx="3657600" cy="822960"/>
          </a:xfrm>
          <a:prstGeom prst="rect">
            <a:avLst/>
          </a:prstGeom>
          <a:noFill/>
          <a:ln/>
        </p:spPr>
        <p:txBody>
          <a:bodyPr wrap="square" lIns="0" tIns="0" rIns="0" bIns="0"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J2W</a:t>
            </a:r>
            <a:endParaRPr lang="en-US" sz="4800" dirty="0"/>
          </a:p>
        </p:txBody>
      </p:sp>
      <p:sp>
        <p:nvSpPr>
          <p:cNvPr id="5" name="Text 3"/>
          <p:cNvSpPr/>
          <p:nvPr/>
        </p:nvSpPr>
        <p:spPr>
          <a:xfrm>
            <a:off x="731520" y="1463040"/>
            <a:ext cx="3657600" cy="411480"/>
          </a:xfrm>
          <a:prstGeom prst="rect">
            <a:avLst/>
          </a:prstGeom>
          <a:noFill/>
          <a:ln/>
        </p:spPr>
        <p:txBody>
          <a:bodyPr wrap="square" lIns="0" tIns="0" rIns="0" bIns="0" rtlCol="0" anchor="ctr"/>
          <a:lstStyle/>
          <a:p>
            <a:pPr marL="0" indent="0">
              <a:buNone/>
            </a:pPr>
            <a:r>
              <a:rPr lang="en-US" sz="1800" dirty="0">
                <a:solidFill>
                  <a:srgbClr val="00A896"/>
                </a:solidFill>
                <a:latin typeface="Calibri" pitchFamily="34" charset="0"/>
                <a:ea typeface="Calibri" pitchFamily="34" charset="-122"/>
                <a:cs typeface="Calibri" pitchFamily="34" charset="-120"/>
              </a:rPr>
              <a:t>Jobs2Web</a:t>
            </a:r>
            <a:endParaRPr lang="en-US" sz="1800" dirty="0"/>
          </a:p>
        </p:txBody>
      </p:sp>
      <p:sp>
        <p:nvSpPr>
          <p:cNvPr id="6" name="Text 4"/>
          <p:cNvSpPr/>
          <p:nvPr/>
        </p:nvSpPr>
        <p:spPr>
          <a:xfrm>
            <a:off x="731520" y="2194560"/>
            <a:ext cx="7315200" cy="1645920"/>
          </a:xfrm>
          <a:prstGeom prst="rect">
            <a:avLst/>
          </a:prstGeom>
          <a:noFill/>
          <a:ln/>
        </p:spPr>
        <p:txBody>
          <a:bodyPr wrap="square" lIns="0" tIns="0" rIns="0" bIns="0" rtlCol="0" anchor="ctr"/>
          <a:lstStyle/>
          <a:p>
            <a:pPr marL="0" indent="0">
              <a:buNone/>
            </a:pPr>
            <a:r>
              <a:rPr lang="en-US" sz="5200" b="1" dirty="0">
                <a:solidFill>
                  <a:srgbClr val="FFFFFF"/>
                </a:solidFill>
                <a:latin typeface="Calibri" pitchFamily="34" charset="0"/>
                <a:ea typeface="Calibri" pitchFamily="34" charset="-122"/>
                <a:cs typeface="Calibri" pitchFamily="34" charset="-120"/>
              </a:rPr>
              <a:t>CASE STUDY</a:t>
            </a:r>
            <a:endParaRPr lang="en-US" sz="5200" dirty="0"/>
          </a:p>
          <a:p>
            <a:pPr marL="0" indent="0">
              <a:buNone/>
            </a:pPr>
            <a:r>
              <a:rPr lang="en-US" sz="5200" b="1" dirty="0">
                <a:solidFill>
                  <a:srgbClr val="FFFFFF"/>
                </a:solidFill>
                <a:latin typeface="Calibri" pitchFamily="34" charset="0"/>
                <a:ea typeface="Calibri" pitchFamily="34" charset="-122"/>
                <a:cs typeface="Calibri" pitchFamily="34" charset="-120"/>
              </a:rPr>
              <a:t>PORTFOLIO</a:t>
            </a:r>
            <a:endParaRPr lang="en-US" sz="5200" dirty="0"/>
          </a:p>
        </p:txBody>
      </p:sp>
      <p:sp>
        <p:nvSpPr>
          <p:cNvPr id="7" name="Text 5"/>
          <p:cNvSpPr/>
          <p:nvPr/>
        </p:nvSpPr>
        <p:spPr>
          <a:xfrm>
            <a:off x="731520" y="4023360"/>
            <a:ext cx="9144000" cy="457200"/>
          </a:xfrm>
          <a:prstGeom prst="rect">
            <a:avLst/>
          </a:prstGeom>
          <a:noFill/>
          <a:ln/>
        </p:spPr>
        <p:txBody>
          <a:bodyPr wrap="square" lIns="0" tIns="0" rIns="0" bIns="0" rtlCol="0" anchor="ctr"/>
          <a:lstStyle/>
          <a:p>
            <a:pPr marL="0" indent="0">
              <a:buNone/>
            </a:pPr>
            <a:r>
              <a:rPr lang="en-US" sz="1600" dirty="0">
                <a:solidFill>
                  <a:srgbClr val="00A896"/>
                </a:solidFill>
                <a:latin typeface="Calibri" pitchFamily="34" charset="0"/>
                <a:ea typeface="Calibri" pitchFamily="34" charset="-122"/>
                <a:cs typeface="Calibri" pitchFamily="34" charset="-120"/>
              </a:rPr>
              <a:t>AI Pods  ·  Workforce Solutions  ·  AI &amp; Digital Transformation</a:t>
            </a:r>
            <a:endParaRPr lang="en-US" sz="1600" dirty="0"/>
          </a:p>
        </p:txBody>
      </p:sp>
      <p:sp>
        <p:nvSpPr>
          <p:cNvPr id="8" name="Shape 6"/>
          <p:cNvSpPr/>
          <p:nvPr/>
        </p:nvSpPr>
        <p:spPr>
          <a:xfrm>
            <a:off x="731520" y="4526280"/>
            <a:ext cx="8229600" cy="36576"/>
          </a:xfrm>
          <a:prstGeom prst="rect">
            <a:avLst/>
          </a:prstGeom>
          <a:solidFill>
            <a:srgbClr val="00A896"/>
          </a:solidFill>
          <a:ln w="12700">
            <a:solidFill>
              <a:srgbClr val="00A896"/>
            </a:solidFill>
            <a:prstDash val="solid"/>
          </a:ln>
        </p:spPr>
        <p:txBody>
          <a:bodyPr/>
          <a:lstStyle/>
          <a:p>
            <a:endParaRPr lang="en-US"/>
          </a:p>
        </p:txBody>
      </p:sp>
      <p:sp>
        <p:nvSpPr>
          <p:cNvPr id="9" name="Text 7"/>
          <p:cNvSpPr/>
          <p:nvPr/>
        </p:nvSpPr>
        <p:spPr>
          <a:xfrm>
            <a:off x="731520" y="4754880"/>
            <a:ext cx="9144000" cy="411480"/>
          </a:xfrm>
          <a:prstGeom prst="rect">
            <a:avLst/>
          </a:prstGeom>
          <a:noFill/>
          <a:ln/>
        </p:spPr>
        <p:txBody>
          <a:bodyPr wrap="square" lIns="0" tIns="0" rIns="0" bIns="0" rtlCol="0" anchor="ctr"/>
          <a:lstStyle/>
          <a:p>
            <a:pPr marL="0" indent="0">
              <a:buNone/>
            </a:pPr>
            <a:r>
              <a:rPr lang="en-US" sz="1400" dirty="0">
                <a:solidFill>
                  <a:srgbClr val="AAAAAA"/>
                </a:solidFill>
                <a:latin typeface="Calibri" pitchFamily="34" charset="0"/>
                <a:ea typeface="Calibri" pitchFamily="34" charset="-122"/>
                <a:cs typeface="Calibri" pitchFamily="34" charset="-120"/>
              </a:rPr>
              <a:t>80+ Case Studies  ·  20+ Industries  ·  Global Delivery</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
    <p:bg>
      <p:bgPr>
        <a:solidFill>
          <a:srgbClr val="003D3D"/>
        </a:solidFill>
        <a:effectLst/>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457200" y="0"/>
            <a:ext cx="11731752" cy="109728"/>
          </a:xfrm>
          <a:prstGeom prst="rect">
            <a:avLst/>
          </a:prstGeom>
          <a:solidFill>
            <a:srgbClr val="00A896"/>
          </a:solidFill>
          <a:ln w="12700">
            <a:solidFill>
              <a:srgbClr val="00A896"/>
            </a:solidFill>
            <a:prstDash val="solid"/>
          </a:ln>
        </p:spPr>
        <p:txBody>
          <a:bodyPr/>
          <a:lstStyle/>
          <a:p>
            <a:endParaRPr lang="en-US"/>
          </a:p>
        </p:txBody>
      </p:sp>
      <p:sp>
        <p:nvSpPr>
          <p:cNvPr id="4" name="Shape 2"/>
          <p:cNvSpPr/>
          <p:nvPr/>
        </p:nvSpPr>
        <p:spPr>
          <a:xfrm>
            <a:off x="731520" y="548640"/>
            <a:ext cx="2560320" cy="384048"/>
          </a:xfrm>
          <a:prstGeom prst="roundRect">
            <a:avLst>
              <a:gd name="adj" fmla="val 19048"/>
            </a:avLst>
          </a:prstGeom>
          <a:solidFill>
            <a:srgbClr val="00A896"/>
          </a:solidFill>
          <a:ln w="12700">
            <a:solidFill>
              <a:srgbClr val="00A896"/>
            </a:solidFill>
            <a:prstDash val="solid"/>
          </a:ln>
        </p:spPr>
        <p:txBody>
          <a:bodyPr/>
          <a:lstStyle/>
          <a:p>
            <a:endParaRPr lang="en-US"/>
          </a:p>
        </p:txBody>
      </p:sp>
      <p:sp>
        <p:nvSpPr>
          <p:cNvPr id="5" name="Text 3"/>
          <p:cNvSpPr/>
          <p:nvPr/>
        </p:nvSpPr>
        <p:spPr>
          <a:xfrm>
            <a:off x="731520" y="548640"/>
            <a:ext cx="256032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AI PODS • J2W DELIVERY</a:t>
            </a:r>
            <a:endParaRPr lang="en-US" sz="1100" dirty="0"/>
          </a:p>
        </p:txBody>
      </p:sp>
      <p:sp>
        <p:nvSpPr>
          <p:cNvPr id="6" name="Text 4"/>
          <p:cNvSpPr/>
          <p:nvPr/>
        </p:nvSpPr>
        <p:spPr>
          <a:xfrm>
            <a:off x="731520" y="1188720"/>
            <a:ext cx="10058400" cy="1463040"/>
          </a:xfrm>
          <a:prstGeom prst="rect">
            <a:avLst/>
          </a:prstGeom>
          <a:noFill/>
          <a:ln/>
        </p:spPr>
        <p:txBody>
          <a:bodyPr wrap="square" lIns="0" tIns="0" rIns="0" bIns="0" rtlCol="0" anchor="ctr"/>
          <a:lstStyle/>
          <a:p>
            <a:pPr marL="0" indent="0">
              <a:buNone/>
            </a:pPr>
            <a:r>
              <a:rPr lang="en-US" sz="4600" b="1" dirty="0">
                <a:solidFill>
                  <a:srgbClr val="FFFFFF"/>
                </a:solidFill>
                <a:latin typeface="Calibri" pitchFamily="34" charset="0"/>
                <a:ea typeface="Calibri" pitchFamily="34" charset="-122"/>
                <a:cs typeface="Calibri" pitchFamily="34" charset="-120"/>
              </a:rPr>
              <a:t>AI PODS CASE STUDIES</a:t>
            </a:r>
            <a:endParaRPr lang="en-US" sz="4600" dirty="0"/>
          </a:p>
        </p:txBody>
      </p:sp>
      <p:sp>
        <p:nvSpPr>
          <p:cNvPr id="7" name="Shape 5"/>
          <p:cNvSpPr/>
          <p:nvPr/>
        </p:nvSpPr>
        <p:spPr>
          <a:xfrm>
            <a:off x="731520" y="2834640"/>
            <a:ext cx="7315200" cy="45720"/>
          </a:xfrm>
          <a:prstGeom prst="rect">
            <a:avLst/>
          </a:prstGeom>
          <a:solidFill>
            <a:srgbClr val="00A896"/>
          </a:solidFill>
          <a:ln w="12700">
            <a:solidFill>
              <a:srgbClr val="00A896"/>
            </a:solidFill>
            <a:prstDash val="solid"/>
          </a:ln>
        </p:spPr>
        <p:txBody>
          <a:bodyPr/>
          <a:lstStyle/>
          <a:p>
            <a:endParaRPr lang="en-US"/>
          </a:p>
        </p:txBody>
      </p:sp>
      <p:sp>
        <p:nvSpPr>
          <p:cNvPr id="8" name="Text 6"/>
          <p:cNvSpPr/>
          <p:nvPr/>
        </p:nvSpPr>
        <p:spPr>
          <a:xfrm>
            <a:off x="731520" y="3017520"/>
            <a:ext cx="9144000" cy="548640"/>
          </a:xfrm>
          <a:prstGeom prst="rect">
            <a:avLst/>
          </a:prstGeom>
          <a:noFill/>
          <a:ln/>
        </p:spPr>
        <p:txBody>
          <a:bodyPr wrap="square" lIns="0" tIns="0" rIns="0" bIns="0" rtlCol="0" anchor="ctr"/>
          <a:lstStyle/>
          <a:p>
            <a:pPr marL="0" indent="0">
              <a:buNone/>
            </a:pPr>
            <a:r>
              <a:rPr lang="en-US" sz="1800" dirty="0">
                <a:solidFill>
                  <a:srgbClr val="00A896"/>
                </a:solidFill>
                <a:latin typeface="Calibri" pitchFamily="34" charset="0"/>
                <a:ea typeface="Calibri" pitchFamily="34" charset="-122"/>
                <a:cs typeface="Calibri" pitchFamily="34" charset="-120"/>
              </a:rPr>
              <a:t>AI-first engineering pod delivery, quality engineering, and DevSecOps across industries.</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AI-FIRST POD DELIVERY — GE HEALTHCARE ENGINEERING</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AI Pod Governance  ·  CD Automation  ·  Qualizen  ·  SPCR AI  ·  DevSecOps  ·  Healthcare</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GE HealthCare   |   Domain: Healthcare Technology   |   Function: AI Pod Delivery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GE HealthCare operated across 20+ vendors and 6 engineering teams with no unified governance. Fragmented vendor model resulted in uneven quality, inconsistent benchmarks, slower release cycles, and zero AI capability embedded in any delivery team.</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J2W became anchor vendor, embedding 121 engineers across Imaging, Patient Care, DevOps/Cloud, AI &amp; Data, and Quality. AI-first pod governance, hackathon-led innovation, vendor consolidation, CD automation (Axone), SPCR AI coding (LLaMA2 with LoRA), and Qualizen AI Test Platform were deployed.</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CD Automation via Axone</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Release cycle compressed from 6 weeks to &lt;4 weeks; testing efficiency +30%; tag detection time reduced by 98%.</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SPCR AI Coding System</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LLaMA2 with LoRA deployed to auto-classify field incident reports, eliminating manual SPCR coding entirely.</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Parallel Test Execution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&lt;33-hour E2E test cycle with 316 scenarios automated across Kubernetes infrastructure.</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Qualizen AI Test Platform</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65% faster testing cycles; 50% fewer defects — built by J2W; awarded GE internal hackathon prize.</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AVS Cloud DevOps</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Jenkins to GitOps migration; Docker Swarm to EKS roadmap reducing deployment overhead.</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AI-First Pod Governance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Unified sprint reviews and scorecards maintaining 10-day onboarding, &gt;85% sprint completion, &lt;0.5 defect density.</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33%</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Release Cycle Improvement</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Testing Efficiency Uplift</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 / 3</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GE AI Hackathon Prizes Won</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CAAS GLOBAL MEDTECH ENGINEERING</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DevSecOps  ·  Qualizen  ·  SPCR AI  ·  Regulatory Automation  ·  Axone  ·  MedTech</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MedTech via Tata Elxsi   |   Domain: Healthcare Technology   |   Function: AI Pod Delivery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MedTech engineering program required capabilities-as-a-service across AI-enabled quality, regulatory automation, test acceleration, and secure release execution in regulated product environments — demanding embedded DevSecOps, quality engineering, and compliance-aligned automation.</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Capabilities delivered through governed AI pods with embedded DevSecOps, quality engineering, and regulatory-aware automation. SPCR AI coding, SOUP/SBOM regulatory automation, parallel test execution via Qualizen, CD automation via Axone, and DevSecOps/cybersecurity were deployed across the program.</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SPCR AI Coding</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Automated classification of software problem change reports eliminating manual coding effort.</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SOUP &amp; SBOM Regulatory Automation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Software of Unknown Provenance and Software Bill of Materials automation ensuring regulatory traceability.</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Parallel Test Execution via Qualizen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Simultaneous test execution across environments compressing regression cycles significantly.</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CD Automation via Axone</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Continuous delivery automation reducing release cycle time to under 4 weeks.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DevSecOps &amp; Cybersecurity</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Security integrated into every stage of the development and release pipeline.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 Pod Governance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Structured sprint reviews, defect density tracking, and onboarding standards maintained across the program.</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65%</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Testing Cycles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&lt;4 Weeks</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Release Cycle Time</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 Min</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Tag Detection Time</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GCC ENABLEMENT — HANDHELD ULTRASOUND (MEDTECH)</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GCC Setup  ·  Bengaluru  ·  Hyderabad  ·  Agile  ·  Healthcare Engineering  ·  India Capability</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MedTech Leader (Handheld Ultrasound Division)   |   Domain: Healthcare Technology   |   Function: AI Pod Delivery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 global MedTech company's Ultrasound team needed portable handheld devices to replace bulky machines. US/Finland team faced slow time-to-market, rising costs, insufficient talent, and limited India market penetration ability.</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GCCs established in Bengaluru and Hyderabad. Agile methodologies with cross-functional iterative teams implemented. Top-tier engineers in ultrasound, software, and hardware recruited. Governance frameworks for risk, QA, and digital collaboration deployed.</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GCC Establishment (Bengaluru &amp; Hyderabad)</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Dual engineering hubs set up as centers of innovation and product development for the handheld ultrasound program.</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Agile Iterative Methodology</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Cross-functional teams in iterative cycles enabling rapid adaptation to product feedback and design changes.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Strategic Ultrasound Engineering Talent</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Specialists recruited in ultrasound technology, embedded software, and hardware design.</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Continuous Learning Programs</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Specialized skills development in medical imaging technology maintaining team capability currency.</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Governance &amp; Risk Framework</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Risk mitigation protocols, quality audits, and performance metrics maintaining delivery standards.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India Market Penetration Support</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Teams equipped to understand and address India's healthcare landscape and market requirements.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13</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Engineers Added in Initial Phase</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Significant</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Cost Reduction vs Milwaukee/Helsinki</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2023</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Most Preferred Partner Award</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MAMMOGRAPHY EXCELLENCE — AI-ENHANCED DIAGNOSTICS</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AI Diagnostics  ·  Agile  ·  ML  ·  Clinical Workflow  ·  EU Market  ·  MedTech</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Medical Technology &amp; Digital Solutions Leader   |   Domain: Healthcare Technology   |   Function: AI Pod Delivery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leader's flagship mammography system for the EU market faced operational inefficiency in patient issue identification. Diagnostic delays caused prolonged patient anxiety, risked inadequate care, and strained clinical workflows.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Multidisciplinary team (imaging, software, clinical, PM) deployed within 15 days. Agile iteration streamlined UI for fast data access, developed advanced ML-based diagnostic algorithms, simplified clinical workflows, and implemented onboarding materials.</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Rapid Multidisciplinary Team Deployment</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Full team covering imaging, software, clinical, and PM deployed within 15 days.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Agile Iterative Development</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Rapid iteration cycles responsive to clinical stakeholder feedback before final rollout.</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UI Streamlining for Clinical Access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Redesigned interface enabling faster data access and reduced time-to-diagnosis.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ML-Based Diagnostic Algorithm Development</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Machine learning capabilities enhancing diagnostic accuracy and reducing false findings.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Simplified Clinical Workflow Design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Intuitive navigation reducing cognitive load and time for patient assessments.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Continuous Stakeholder Collaboration</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Clinical user feedback incorporated throughout development ensuring acceptance before launch.</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15 Days</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Multidisciplinary Team Deployment</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Faster</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More Accurate Diagnoses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Improved</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Clinical Workflow Efficiencies</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PATIENT CARE SOLUTIONS — MOBILE APP &amp; DEVSECOPS</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Mobile App  ·  CI/CD  ·  0% Downtime  ·  DevOps  ·  Healthcare  ·  PoC Delivery</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Leader in Medical Technology &amp; Patient Diagnostics   |   Domain: Healthcare Technology   |   Function: AI Pod Delivery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medtech leader needed to innovate its mobile application ecosystem and build a robust DevOps pipeline for 0% downtime. Key challenges: rapid PoC within short timeframe, optimizing mobile app portfolio, assembling team quickly, and differentiating from competitors.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PoC built within 15 days. 13-person team (QA, scrum masters, architects, PM) assembled within 1 week. Agile methodologies applied. CI/CD pipeline enabling 0% application downtime delivered on schedule.</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Rapid PoC Delivery</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Full Proof of Concept validated and delivered within 15 days demonstrating capability and approach.</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Fast Team Ramp-Up</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13-member specialized team assembled within 1 week covering all required disciplines.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Domain Healthcare Knowledge Acquisition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Rapid learning and application of healthcare-specific regulations and product requirements.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Agile Project Management</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Adaptive sprint planning enabling continuous improvement and milestone alignment.</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CI/CD DevOps Pipeline</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Highly effective pipeline enabling 0% application downtime across the mobile ecosystem.</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On-Time Milestone Delivery</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All critical project milestones completed on schedule without quality compromise.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Application Downtime Achieved</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15 Days</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PoC Delivered</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13</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Specialists Onboarded in 1 Week</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CAAS GLOBAL AUTOMOTIVE OEM ENGINEERING</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ADAS  ·  Automotive  ·  Cloud Migration  ·  Warranty AI  ·  S/4HANA  ·  NLP</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Automotive OEM via Tata Elxsi   |   Domain: Automotive Engineering   |   Function: AI Pod Delivery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Automotive OEM engagement via Tata Elxsi required capabilities-as-a-service across cloud modernization, analytics, enterprise migration, and AI-enabled domain workflows. Domain-certified teams needed with flexible billing and multi-workstream engagement continuity.</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Domain-certified engineering teams delivered through governed AI pod structures. ADAS video streaming analytics, Truck BOM Connect cloud migration, Warranty Fault AI NLP engine, S/4HANA migration, and AI pod governance deployed across the engagement.</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ADAS Video Streaming Analytics</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AI-enabled video analytics for advanced driver assistance system processing and real-time data streaming.</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Truck BOM Connect Cloud Migration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Cloud migration of truck bill-of-materials connectivity systems to scalable cloud infrastructure.</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Warranty Fault AI NLP Engine</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NLP engine automatically classifying and routing warranty fault reports without manual coding.</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S/4HANA Migration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Enterprise SAP S/4HANA migration delivered within governed pod structures with domain-certified engineers.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Domain-Certified Engineering Teams</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Engineers vetted on automotive-specific standards, systems, and software engineering requirements.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 Pod Governance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Unified sprint reviews, scorecards, and cadences maintaining delivery accountability across all workstreams.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Memory Optimization Achieved</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9</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Billing Models Deployed</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 Years</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Active Partnership Sustained</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CYBERSECURITY — PENTESTING TO COMPLIANCE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Pentesting  ·  HIPAA  ·  GDPR  ·  PCI-DSS  ·  Cloud Security  ·  SOC</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Multiple Fintech &amp; HealthTech Organizations   |   Domain: Banking &amp; Financial Services   |   Function: AI Pod Delivery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Fintech and HealthTech organizations faced critical security threats across web, mobile, cloud, CI/CD, and IoT while struggling to meet HIPAA, GDPR, PCI-DSS, and FedRAMP obligations with limited in-house security capability.</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Specialized security pods deployed across pentesting, cloud assessments, data tokenization, supply chain audits, and SOC-led incident response — combining manual testing, advanced tooling, and forensic investigation with zero production downtime.</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Web Application Pentesting</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Business logic flaw detection, privilege escalation testing, and transaction validation across web surfaces.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Mobile Security Testing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APK reverse engineering, PHI disclosure testing, and hardcoded API token detection across iOS and Android.</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Cloud Security Assessment</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AWS misconfiguration testing, IAM policy chaining analysis, and CIS compliance validation.</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Data Tokenization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PII and PHI scanning across structured and unstructured repositories with Skyflow vault implementation.</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Supply Chain Security</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CI/CD pipeline audits, vulnerable dependency remediation, and Software Bill of Materials generation.</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SOC Incident Response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Log correlation, insider threat forensics, and ransomware containment under HIPAA compliance requirements.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$50M+</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Active Transactions Protected</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40,000+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Patient Records Secured</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90 Min</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Ransomware Containment Time</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APP STORE RATING RECOVERY FOR DIGITAL BANK</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Mobile QA  ·  App Store  ·  Android  ·  iOS  ·  UX Testing  ·  Fintech</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Digital Bank   |   Domain: Banking &amp; Financial Services   |   Function: AI Pod Delivery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Digital bank saw significant App Store/Play Store rating drop due to poor performance causing customer churn. Performance inconsistencies across iOS/Android across multiple regions made diagnosis and fix through internal teams difficult.</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Cross-device analysis and bug tracking approach deployed using JIRA to integrate user feedback into fix cycle. App benchmarked against competitor apps. Functional retests conducted on every new app version before release.</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Cross-Device Analysis</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User experience evaluation across Android and iOS in multiple regions identifying device/region-specific issues.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App Store Feedback Integration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User reviews from App Store and Play Store integrated into JIRA for faster identification and resolution.</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Competitor Benchmarking</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App performance compared against leading competitors to identify improvement targets.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Functional Retest on Every Version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Thorough retests on each new version validating previously identified issues before release.</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Region-Specific Diagnostics</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Performance issues isolated by region and device type enabling targeted remediation.</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Fix Cycle Acceleration</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Direct feedback loop from user reviews to development team compressing issue-to-release time.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3.0→4.0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App Store Rating (3 months)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3.5→4.8</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Play Store Rating (3 months)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Improved</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User Retention &amp; Organic Growth</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DEVSECOPS PIPELINE FOR OPEN BANKING</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DevSecOps  ·  AWS  ·  GitHub Actions  ·  HashiCorp Vault  ·  ARGO CD  ·  Open Banking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Banking Leader   |   Domain: Banking &amp; Financial Services   |   Function: AI Pod Delivery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bank's Open Banking initiative required fully automated, security-compliant DevSecOps pipeline across multiple microservices and source control repositories — adhering to strict global banking regulations and managing complex multi-service release cycles.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Comprehensive AWS-powered DevSecOps pipeline implemented integrating GitHub Actions, HashiCorp Vault, Veracode SAST/SCA, JFrog, ARGO CD, and Lacework across Dev, Staging, and Production environments with formal approval gates.</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Stakeholder-Balanced Pipeline Design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Architecture balancing technical requirements and business stakeholder needs across all environments.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Multi-Repository Microservice Integration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Seamless integration across multiple source control repositories and microservice boundaries.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Near 100% Test Automation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Automated QE and security testing across every release candidate without manual regression.</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Streamlined Release Train Model</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Multi-service coordinated release model cutting deployment times significantly.</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Security-First Pipeline Architecture</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SAST, SCA, dependency validation, and Lacework monitoring embedded throughout the pipeline.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Banking Regulatory Compliance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Architecture ensuring adherence to global banking regulatory standards at every release gate.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Test Automation Across Microservices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Reduced</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Deployment Cycle Time</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Full</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QE &amp; Security Automation</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MANAGED TESTING FOR OTT PLATFORM LAUNCH — US TELECOM</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OTT  ·  Test Automation  ·  UTAF  ·  Non-Functional  ·  Telecom  ·  QA</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US-Based Telecom Company   |   Domain: Telecom &amp; Digital Services   |   Function: AI Pod Delivery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Major US telecom launching OTT platform needed end-to-end managed quality engineering to reduce go-to-market time — covering test automation, functional/non-functional testing, device compatibility, and API testing while cutting manual effort.</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Multi-layer testing strategy using OTT UTAF for E2E automation, cross-browser/device testing across Android/iOS, content/subscription validation, and comprehensive non-functional testing including load, performance, QoE, ad-validation, analytics, and security.</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E2E User Journey Automation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Automated user flows using OTT Unified Test Automation Framework accelerating deployment cycles.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Content &amp; Subscription Validation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Rigorous testing across playback, subscription management, and content management systems.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Cross-Device &amp; Cross-Browser Testing</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Multi-browser and smartphone testing including seamless OTT application integration validation.</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Non-Functional Testing Suite</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In-depth load, performance, QoE, ad-validation, analytics, and security testing.</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Continuous Automation Framework</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Systematically reducing manual testing effort while ensuring consistent quality and stability.</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Managed Test House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Comprehensive, integrated QA oversight across the entire OTT platform ecosystem.</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Release Timeframe</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11.4M</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User Base Grown Post-Launch</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Manual Testing Effort</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SAP PERFORMANCE TESTING FOR HIGH-LOAD HEALTH INSURANCE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SAP  ·  LoadRunner  ·  Performance Testing  ·  5000 Users  ·  Insurance  ·  Benchmarking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Health Insurance Company   |   Domain: Insurance   |   Function: AI Pod Delivery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Health insurance company needed to validate SAP system under 5,000 concurrent users with strict benchmarks: dialog response &lt;1 second, CPU/memory &lt;65%, 99% DB cache hit ratio — across complex batch processes and varied network latency scenarios.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Detailed performance testing using HP LoadRunner VUGEN with production-data-based user scenarios. Gradual load increase tests, batch process impact evaluation, and targeted database optimization recommendations including secondary index creation delivered.</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Production-Based Load Simulation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Test scenarios built from real user interaction and transaction data to accurately simulate usage.</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HP LoadRunner VUGEN Scripts</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Performance scripts for frequently used SAP T-Codes comprehensively covering critical functions.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Gradual Load Testing Protocol</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Progressive load increase with/without network latency to identify stress points.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Batch Process Performance Isolation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Analysis with/without concurrent batch processes to quantify batch impact on response times.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Database Optimization Recommendations</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Targeted secondary index recommendations improving peak-load data retrieval.</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Latency Impact Analysis</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Identification of response time jumps at specific latency levels guiding infrastructure remediation.</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5,000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Concurrent Users Validated</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Strict Performance Benchmarks Met</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Full</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Optimization Roadmap Delivered</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E-LEARNING AUTOMATION FOR LEADING EDTECH PROVIDER</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EdTech  ·  OTT UTAF  ·  Cross-Device  ·  iOS  ·  Android  ·  Test Automation</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E-Learning Provider, India   |   Domain: Education Technology   |   Function: AI Pod Delivery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Seasoned e-learning leader needed to comprehensively validate app for classes 6–10 across multiple platforms, devices, and browsers while supporting a rapidly growing student user base at scale.</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Key user journeys identified and E2E flows automated using OTT Unified Automation Framework. Cross-browser/device testing across Android and iOS. OTT app integration testing confirmed seamless functionality across content, eBooks, assessments, and parent notifications.</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User Journey Identification &amp; Mapping</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Critical student flows mapped for high-quality, educationally aligned test coverage.</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E2E Automation via OTT Framework</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Unified automation framework enhancing testing speed, accuracy, and consistency.</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Cross-Browser &amp; Cross-Device Testing</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Consistent performance validated across iOS, Android, and major web browsers.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OTT App Integration Testing</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Seamless functionality confirmed across all OTT platform integrations.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Content &amp; Feature Validation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Playback, eBooks, assessments, and parent notifications validated across all platforms.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Scale-Ready Test Architecture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Automation framework designed to support growing student base without manual effort increase.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Manual Testing Efforts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11.4M</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Students Supported</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On-Time</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Production Releases Maintained</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NEXT-GENERATION GAMING CONSOLE ENGINEERING</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Gaming  ·  Agile  ·  18-Member Squad  ·  AWS  ·  DevOps  ·  Media &amp; Entertainment</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Media, Entertainment &amp; Electronics Leader   |   Domain: Media &amp; Entertainment   |   Function: AI Pod Delivery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media/electronics leader developing next-gen gaming console needed to accelerate product development and meet ambitious roadmap milestones — requiring agile processes for distributed teams, E2E engineering coverage, and rapid capacity scaling.</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18-member India-based engineering squad (front-end, back-end, DevOps, cloud) augmented core engineering team. Agile development processes for globally distributed collaboration established. Strategic workforce planning and skill development frameworks provided.</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Co-Engineering Agility</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Agile development processes for effective globally distributed collaboration across time zones.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Holistic Engineering Coverage</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18-member team covering front-end, back-end, DevOps, middleware, AWS, and SCRUM.</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Smooth Workload Transitions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Minimal downtime module transitions with clear knowledge transfer and milestone handover.</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Strategic Workforce Planning Advisory</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Workforce planning for efficient scaling aligned to console roadmap milestones.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Skill Development Framework</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Training and support ensuring team members applied latest tools to the product.</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Operational Excellence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India team reached full operational readiness within months and maintained tight schedule adherence.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18</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Engineering Team Members Deployed</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Full Stack</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Technology Coverage</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On-Time</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Delivery Without Quality Compromise</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16">
    <p:bg>
      <p:bgPr>
        <a:solidFill>
          <a:srgbClr val="003D3D"/>
        </a:solidFill>
        <a:effectLst/>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457200" y="0"/>
            <a:ext cx="11731752" cy="109728"/>
          </a:xfrm>
          <a:prstGeom prst="rect">
            <a:avLst/>
          </a:prstGeom>
          <a:solidFill>
            <a:srgbClr val="00A896"/>
          </a:solidFill>
          <a:ln w="12700">
            <a:solidFill>
              <a:srgbClr val="00A896"/>
            </a:solidFill>
            <a:prstDash val="solid"/>
          </a:ln>
        </p:spPr>
        <p:txBody>
          <a:bodyPr/>
          <a:lstStyle/>
          <a:p>
            <a:endParaRPr lang="en-US"/>
          </a:p>
        </p:txBody>
      </p:sp>
      <p:sp>
        <p:nvSpPr>
          <p:cNvPr id="4" name="Shape 2"/>
          <p:cNvSpPr/>
          <p:nvPr/>
        </p:nvSpPr>
        <p:spPr>
          <a:xfrm>
            <a:off x="731520" y="548640"/>
            <a:ext cx="2560320" cy="384048"/>
          </a:xfrm>
          <a:prstGeom prst="roundRect">
            <a:avLst>
              <a:gd name="adj" fmla="val 19048"/>
            </a:avLst>
          </a:prstGeom>
          <a:solidFill>
            <a:srgbClr val="00A896"/>
          </a:solidFill>
          <a:ln w="12700">
            <a:solidFill>
              <a:srgbClr val="00A896"/>
            </a:solidFill>
            <a:prstDash val="solid"/>
          </a:ln>
        </p:spPr>
        <p:txBody>
          <a:bodyPr/>
          <a:lstStyle/>
          <a:p>
            <a:endParaRPr lang="en-US"/>
          </a:p>
        </p:txBody>
      </p:sp>
      <p:sp>
        <p:nvSpPr>
          <p:cNvPr id="5" name="Text 3"/>
          <p:cNvSpPr/>
          <p:nvPr/>
        </p:nvSpPr>
        <p:spPr>
          <a:xfrm>
            <a:off x="731520" y="548640"/>
            <a:ext cx="256032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WORKFORCE SOLUTIONS • J2W DELIVERY</a:t>
            </a:r>
            <a:endParaRPr lang="en-US" sz="1100" dirty="0"/>
          </a:p>
        </p:txBody>
      </p:sp>
      <p:sp>
        <p:nvSpPr>
          <p:cNvPr id="6" name="Text 4"/>
          <p:cNvSpPr/>
          <p:nvPr/>
        </p:nvSpPr>
        <p:spPr>
          <a:xfrm>
            <a:off x="731520" y="1188720"/>
            <a:ext cx="10058400" cy="1463040"/>
          </a:xfrm>
          <a:prstGeom prst="rect">
            <a:avLst/>
          </a:prstGeom>
          <a:noFill/>
          <a:ln/>
        </p:spPr>
        <p:txBody>
          <a:bodyPr wrap="square" lIns="0" tIns="0" rIns="0" bIns="0" rtlCol="0" anchor="ctr"/>
          <a:lstStyle/>
          <a:p>
            <a:pPr marL="0" indent="0">
              <a:buNone/>
            </a:pPr>
            <a:r>
              <a:rPr lang="en-US" sz="4600" b="1" dirty="0">
                <a:solidFill>
                  <a:srgbClr val="FFFFFF"/>
                </a:solidFill>
                <a:latin typeface="Calibri" pitchFamily="34" charset="0"/>
                <a:ea typeface="Calibri" pitchFamily="34" charset="-122"/>
                <a:cs typeface="Calibri" pitchFamily="34" charset="-120"/>
              </a:rPr>
              <a:t>WORKFORCE SOLUTIONS CASE STUDIES</a:t>
            </a:r>
            <a:endParaRPr lang="en-US" sz="4600" dirty="0"/>
          </a:p>
        </p:txBody>
      </p:sp>
      <p:sp>
        <p:nvSpPr>
          <p:cNvPr id="7" name="Shape 5"/>
          <p:cNvSpPr/>
          <p:nvPr/>
        </p:nvSpPr>
        <p:spPr>
          <a:xfrm>
            <a:off x="731520" y="2834640"/>
            <a:ext cx="7315200" cy="45720"/>
          </a:xfrm>
          <a:prstGeom prst="rect">
            <a:avLst/>
          </a:prstGeom>
          <a:solidFill>
            <a:srgbClr val="00A896"/>
          </a:solidFill>
          <a:ln w="12700">
            <a:solidFill>
              <a:srgbClr val="00A896"/>
            </a:solidFill>
            <a:prstDash val="solid"/>
          </a:ln>
        </p:spPr>
        <p:txBody>
          <a:bodyPr/>
          <a:lstStyle/>
          <a:p>
            <a:endParaRPr lang="en-US"/>
          </a:p>
        </p:txBody>
      </p:sp>
      <p:sp>
        <p:nvSpPr>
          <p:cNvPr id="8" name="Text 6"/>
          <p:cNvSpPr/>
          <p:nvPr/>
        </p:nvSpPr>
        <p:spPr>
          <a:xfrm>
            <a:off x="731520" y="3017520"/>
            <a:ext cx="9144000" cy="548640"/>
          </a:xfrm>
          <a:prstGeom prst="rect">
            <a:avLst/>
          </a:prstGeom>
          <a:noFill/>
          <a:ln/>
        </p:spPr>
        <p:txBody>
          <a:bodyPr wrap="square" lIns="0" tIns="0" rIns="0" bIns="0" rtlCol="0" anchor="ctr"/>
          <a:lstStyle/>
          <a:p>
            <a:pPr marL="0" indent="0">
              <a:buNone/>
            </a:pPr>
            <a:r>
              <a:rPr lang="en-US" sz="1800" dirty="0">
                <a:solidFill>
                  <a:srgbClr val="00A896"/>
                </a:solidFill>
                <a:latin typeface="Calibri" pitchFamily="34" charset="0"/>
                <a:ea typeface="Calibri" pitchFamily="34" charset="-122"/>
                <a:cs typeface="Calibri" pitchFamily="34" charset="-120"/>
              </a:rPr>
              <a:t>Talent acquisition, managed services, GCC setup, and workforce transformation across industries.</a:t>
            </a:r>
            <a:endParaRPr lang="en-US" sz="1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RAPID SECURE ODC DEPLOYMENT</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ODC  ·  ISO 27001  ·  Biometric Access  ·  24/7 Monitoring  ·  GCC  ·  Infrastructure</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Technology Company   |   Domain: Technology &amp; IT Services   |   Function: GCC &amp; ODC Setup</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tech company needed fully operational, secure offshore development center stood up in 2 weeks with mandatory ISO 27001:2022 compliance — zero tolerance for downtime, stringent data security, and physical access controls.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High-availability network with firewalls, load balancing, and failover deployed. 24/7 monitoring via SureMDM. Strict biometric/zone-based access controls. End-to-end physical security with controlled entry, lockers, CCTV. Reusable deployment model established.</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High-Availability Network Infrastructure</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Firewalls, load balancing, and failover built to eliminate single points of failure from day one.</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24/7 Monitoring &amp; MDM</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Continuous monitoring, antivirus, patching, and device management via SureMDM across the full ODC environment.</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Biometric &amp; Zone-Based Access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Multi-layer physical access controls ensuring only authorized personnel enter secured zones.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End-to-End Physical Security</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Controlled entry, lockers, and CCTV coverage maintaining physical integrity across the facility.</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ISO 27001:2022 Compliance Framework</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Full certification compliance enforced across all systems, processes, and personnel from go-live.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Reusable ODC Deployment Model</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Documented playbook enabling future ODC standup at reduced time and risk.</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 Weeks</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ODC Go-Live from Engagement Start</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ISO 27001:2022 Compliance at Launch</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Zero</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Downtime Since Go-Live</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GREENFIELD AI-READY GCC BUILD — MAJOR US AIRLINE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GCC  ·  Greenfield  ·  Hyderabad  ·  AI Certification  ·  Aviation  ·  Talent</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Global Airline   |   Domain: Aviation &amp; Transportation   |   Function: GCC &amp; ODC Setup</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US airline needed greenfield GCC in Hyderabad targeting up to 1,000 technology professionals for AI leadership and global parity. Required competing for scarce senior tech talent, building employer brand in aviation domain from scratch, with AI-first mandate.</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Greenfield GCC Playbook deployed covering sourcing, employer branding, and AI certification. Intelligence-led sourcing via TalentAI/TalentSphere. 5-stage technical screen. Every engineer AI-certified before Day 1. Dedicated tech lead embedded at no additional cost.</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Greenfield GCC Playbook</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Operating model, governance, KPI architecture, and regulatory compliance delivered 60-70% faster than industry timelines.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Intelligence-Led Sourcing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Deep signal sourcing using open-source contributions and TalentAI semantic search with skill-graph scoring.</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5-Stage Technical Screen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LinkedIn triage, DSA assessment, architecture review, client panel, and structured onboarding in sequence.</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J2W AI Labs Certification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Every engineer AI-certified before Day 1 with AI-assisted code review, LLM documentation, and automated test generation.</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AI-First Engineering Pod</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Embedded tech lead at no client cost with sprint velocity and code quality KPIs; engineers shipping from week 3.</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Employer Brand Architecture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Positioned as same role as US HQ with in-person AI mentorship, differentiating from standard GCC narrative.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Days</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Time-to-Shortlist (vs Weeks)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1/hr</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Engineers Onboarded at Peak</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Attrition at 6 Months</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GREENFIELD TO APAC INNOVATION HUB — 15-YEAR BFSI EVOLUTION</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GCC  ·  APAC  ·  Banking  ·  AI Credit Risk  ·  KYC/AML  ·  Multi-City</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Banking Leader, APAC   |   Domain: Banking &amp; Financial Services   |   Function: GCC &amp; ODC Setup</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bank needed to build, evolve, and scale a multi-city APAC hub across 15+ years — from lean greenfield foundation to fully automated excellence hub supporting €1.3 trillion in assets across 15 countries, with increasing compliance and AI integration requirements.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Phase 1: 120 professionals, core BFSI CoE. Phase 2: 450+ specialists, AI-driven risk automation, 98% fraud detection. Phase 3: 700+ professionals across APAC with automated KYC/AML, real-time reporting, $1.2B annual value generation.</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Phase 1 Banking GCC Foundation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120 professionals establishing core BFSI CoE operations with compliance engine and risk framework.</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Phase 2 Digital Transformation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450+ specialists driving AI-powered risk accuracy improvement of 30% and retail banking automation of 45%.</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Phase 3 APAC Excellence Hub</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700+ professionals across multi-city hub with automated KYC/AML and real-time reporting across 15 countries.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AI-Powered Credit Risk Modelling</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92% accuracy in AI-driven credit risk modelling supporting enterprise-scale financial decision-making.</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Regulatory Compliance at Scale</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100% regulatory compliance maintained across all APAC jurisdictions throughout every phase.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Continuous Innovation Engine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Sustainable innovation frameworks ensuring the hub remains at the forefront of BFSI operations.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700+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Professionals Across APAC</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92%</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AI Credit-Risk Modeling Accuracy</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$1.2B</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Annual Value Generation</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FINANCE &amp; TECHNOLOGY COE BUILD — GLOBAL INDUSTRIAL LEADER (SULZER)</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BOT Model  ·  150 Hires  ·  RPA  ·  Finance  ·  ServiceNow  ·  GCC</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Industrial Engineering Leader (Sulzer)   |   Domain: Industrial Engineering   |   Function: GCC &amp; ODC Setup</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industrial leader needed 150-member India CoE across Finance and Technology within 6 months — niche roles including ServiceNow engineers, SAP architects, finance transformation specialists, and data engineering leads requiring rapid scaling and operational maturity.</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Build-Operate-Transfer model across 3 phases: infrastructure + 100% recruitment (months 1-2), knowledge transfer + RPA rollout (months 2-4), operational maturity with controlled transfer (months 4-6). Client Vantage dashboard integrated for real-time visibility.</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BOT Operating Model</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Build-Operate-Transfer structure with Sulzer assuming control at month 6 and advisory continuing post-transfer.</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Finance Tower Excellence</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O2C, P2P, R2R, and FP&amp;A each built with embedded control frameworks, compliance, and efficiency benchmarks.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C2H for Critical Roles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Contract-to-Hire at 45-50% of year-1 compensation with 85% mis-hire risk reduction and day-91 permanent conversion.</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RPA &amp; AI Workflow Automation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SAP P2P, O2C, R2R automation targeting 25-30% manual effort reduction across all Finance towers.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Client Vantage Dashboard</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Real-time performance visibility and predictive pipeline analytics from day 1 for leadership oversight.</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ServiceNow &amp; Cloud Enablement</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Full deployment and CRM optimization for the 50-person technology track.</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150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Hires Completed in 6 Months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25-30%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Manual Effort Reduction</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15-20%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Improvement in Operational Leverage</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ZERO-DISRUPTION WORKFORCE SCALING FOR HEALTHCARE IT</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C2H  ·  Talent Acquisition  ·  Healthcare  ·  Zero Attrition  ·  Engagement  ·  SOW</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Healthcare &amp; Health Insurance Company   |   Domain: Healthcare &amp; Health Insurance   |   Function: Talent Acquisition &amp; Deployment</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Healthcare/health insurance company required large-scale project hiring with fixed start/end dates across complex SOW governance structures. Attrition and disengagement risk was high. Absolute requirement: zero disruption to business operations.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Contract-to-Hire model with flexible scaling (headcount +10% buffer). Dedicated single-point program manager governance. Engagement/retention framework (learning, rewards, pulse checks). Structured three-phase: onboarding, stabilization, continuity.</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Contract-to-Hire with Buffer Scaling</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C2H model with 10% headcount buffer built in, absorbing attrition without disrupting delivery timelines.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Single-Point Program Manager Governance</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Dedicated PM providing unified accountability across SOW complexity and multi-team coordination.</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Engagement &amp; Retention Framework</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Learning, rewards, and pulse check program maintaining workforce commitment throughout the engagement.</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Structured Three-Phase Lifecycle</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Onboarding, stabilization, and continuity phases ensuring operational readiness at each stage.</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Early Warning System</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Proactive attrition signals identified and addressed during regular employee connects before they impact delivery.</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Replicable Workforce Model</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Documented engagement model designed for reuse across future large-scale project hires.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98%</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Attendance Rate Maintained</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Zero</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Attrition Throughout Engagement</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Zero</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Business Disruption</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CA &amp; FINANCE TALENT PIPELINE — GLOBAL ALTERNATIVE ASSET MANAGER</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CA Hiring  ·  RPO  ·  TalentAI  ·  POFU  ·  GCC  ·  Finance Talent</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Global Alternative Asset Manager   |   Domain: Banking &amp; Financial Services   |   Function: Talent Acquisition &amp; Deployment</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India GCC faced 17-18% offer dropout rate from long notice periods, mandatory WFO, competition from Big 4, and fragmented hiring demand. Traditional partners couldn't address structural causes of dropout at required scale.</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4-pillar talent engine: pre-mapped CA warm bench, structured 90-day POFU rhythm, WFO employer brand strategy, and Managed RPO consolidating recruitment across all business units. TalentAI and TalentSphere for AI-ranked sourcing.</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Pre-Vetted Immediate Joiners Pipeline</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Warm bench of CAs mapped and ready before demand hits, drawn from campus, Big 4, and competitor pools.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90-Day POFU Rhythm</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Structured post-offer follow-up with milestone touchpoints, manager connects, and counter-offer inoculation.</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WFO Employer Brand Strategy</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Repositioned 5-day office as career accelerator with same-role-as-HQ messaging.</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Managed RPO Partnership</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Consolidated recruitment across all business units with dedicated team eliminating vendor fragmentation.</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TalentAI &amp; TalentSphere</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AI-ranked candidate pools with skill-graph matching and voice-agent pre-screening for faster, higher-quality shortlisting.</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Zero Subcontracting Policy</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300+ in-house recruiters handling all sourcing with no subcontracting layer diluting quality.</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&lt;5%</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Offer Dropout (Down from 17-18%)</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24 Hrs</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Time to First Shortlist</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Candidates Double-Screened</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CORE BANKING TRANSFORMATION &amp; SUPPORT OPTIMIZATION</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ServiceNow  ·  ITIL  ·  L1-L3  ·  600+ Branches  ·  SLA  ·  Banking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Private Bank, India   |   Domain: Banking &amp; Financial Services   |   Function: Managed IT Services</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Private bank across 600+ branches suffered frequent SLA violations and escalating incident volumes from fragmented vendor management, non-uniform SOPs, and lack of support standardization. No centralized support layer existed.</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60-member L1-L3 support team deployed across India. ServiceNow integrated with centralized SLA monitoring. Domain-aligned ITIL training. SOPs standardized across all branches. Single governance layer replaced fragmented multi-vendor model.</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60-Member Multi-Tier Support Team</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L1 to L3 coverage deployed nationally across India, providing unified support across all branch locations.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ServiceNow Integration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End-to-end ITSM integration with centralized SLA monitoring replacing fragmented ticket management.</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Domain-Aligned ITIL Training</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All support tiers trained to banking-domain ITIL standards ensuring consistent incident resolution quality.</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Standardized SOPs Across 600+ Branches</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Uniform operating procedures deployed across the full branch network eliminating process inconsistency.</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Centralized SLA Monitoring</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Real-time visibility into SLA status across all tiers enabling proactive breach prevention.</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Vendor Consolidation Model</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Single delivery partner replacing fragmented vendor management and associated governance overhead.</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42%</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Avg Ticket Turnaround</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99.8%</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SLA Compliance Sustained</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25%</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Cost Savings from Consolidation</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CLOUD MIGRATION &amp; 24x7 INFRASTRUCTURE SUPPORT</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Cloud Migration  ·  IaC  ·  DevOps  ·  24/7 Managed Services  ·  Healthcare SaaS  ·  140 Workloads</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Healthcare SaaS Provider   |   Domain: Healthcare Technology   |   Function: Managed IT Services</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healthcare SaaS provider faced performance issues during migration of 140+ workloads to hybrid cloud. Fragmented visibility and downtime events impacted critical applications relied upon by healthcare customers.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Certified DevOps/infrastructure team deployed for phased migration using Infrastructure-as-Code best practices. 24/7 managed services team with proactive monitoring and structured incident response established simultaneously.</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Certified DevOps &amp; Infrastructure Team</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Domain-certified engineers deployed specifically for hybrid cloud migration and managed services.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Phased Migration via IaC</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Infrastructure-as-Code best practices applied across all workload migrations ensuring repeatability.</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24/7 Managed Services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Continuous proactive monitoring and incident response maintaining operations across all post-migration environments.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Structured Incident Response Framework</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Defined escalation and resolution procedures for P1, P2, and P3 incidents with SLA accountability.</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Migration Governance</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End-to-end program tracking across all 140+ workloads with milestone-based delivery visibility.</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Hybrid Cloud Architecture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Multi-environment setup supporting cloud and on-premise workloads within a single managed operations layer.</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On-Time Migration of 140+ Workloads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99.95%</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Uptime Post-Migration</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95%</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P1 Incidents Resolved Within 4 Hours</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GLOBAL PHARMACEUTICAL PROCESS EXCELLENCE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BPMN 2.0  ·  FDA  ·  EMA  ·  Pharma  ·  AI Compliance  ·  Process Unification</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Pharmaceutical Leader   |   Domain: Pharmaceuticals &amp; Life Sciences   |   Function: Process Excellence &amp; Compliance</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pharmaceutical leader operated with 11,000+ fragmented process maps with no standardization. High compliance risk from non-uniform documentation. Complex manual processes slowing employee onboarding and audit readiness across multiple markets.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15,000+ processes unified into a BPMN 2.0 system. AI-driven compliance monitoring implemented. Intelligent visual workflows designed to accelerate employee onboarding. Documentation aligned to FDA, EMA, and ICH standards.</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BPMN 2.0 Process Unification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15,000+ processes standardized into a single process modeling system across global operations.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AI-Driven Compliance Monitoring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Automated compliance tracking and audit readiness across all process areas in real time.</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Intelligent Visual Workflows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Process-guided onboarding workflows reducing the time new employees take to reach productivity.</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FDA/EMA/ICH Documentation Alignment</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All process documentation aligned to major global regulatory standards eliminating compliance gaps.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Audit Readiness Framework</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Structured audit preparation process supported by standardized documentation and compliance tracking.</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Global Rollout Governance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Structured deployment model for process standardization across geographically distributed operations.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Full</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Global Regulatory Compliance Achieved</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Audit Preparation</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Employee Onboarding</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26">
    <p:bg>
      <p:bgPr>
        <a:solidFill>
          <a:srgbClr val="003D3D"/>
        </a:solidFill>
        <a:effectLst/>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457200" y="0"/>
            <a:ext cx="11731752" cy="109728"/>
          </a:xfrm>
          <a:prstGeom prst="rect">
            <a:avLst/>
          </a:prstGeom>
          <a:solidFill>
            <a:srgbClr val="00A896"/>
          </a:solidFill>
          <a:ln w="12700">
            <a:solidFill>
              <a:srgbClr val="00A896"/>
            </a:solidFill>
            <a:prstDash val="solid"/>
          </a:ln>
        </p:spPr>
        <p:txBody>
          <a:bodyPr/>
          <a:lstStyle/>
          <a:p>
            <a:endParaRPr lang="en-US"/>
          </a:p>
        </p:txBody>
      </p:sp>
      <p:sp>
        <p:nvSpPr>
          <p:cNvPr id="4" name="Shape 2"/>
          <p:cNvSpPr/>
          <p:nvPr/>
        </p:nvSpPr>
        <p:spPr>
          <a:xfrm>
            <a:off x="731520" y="548640"/>
            <a:ext cx="2560320" cy="384048"/>
          </a:xfrm>
          <a:prstGeom prst="roundRect">
            <a:avLst>
              <a:gd name="adj" fmla="val 19048"/>
            </a:avLst>
          </a:prstGeom>
          <a:solidFill>
            <a:srgbClr val="00A896"/>
          </a:solidFill>
          <a:ln w="12700">
            <a:solidFill>
              <a:srgbClr val="00A896"/>
            </a:solidFill>
            <a:prstDash val="solid"/>
          </a:ln>
        </p:spPr>
        <p:txBody>
          <a:bodyPr/>
          <a:lstStyle/>
          <a:p>
            <a:endParaRPr lang="en-US"/>
          </a:p>
        </p:txBody>
      </p:sp>
      <p:sp>
        <p:nvSpPr>
          <p:cNvPr id="5" name="Text 3"/>
          <p:cNvSpPr/>
          <p:nvPr/>
        </p:nvSpPr>
        <p:spPr>
          <a:xfrm>
            <a:off x="731520" y="548640"/>
            <a:ext cx="256032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AI CASE STUDY PORTFOLIO • J2W DELIVERY</a:t>
            </a:r>
            <a:endParaRPr lang="en-US" sz="1100" dirty="0"/>
          </a:p>
        </p:txBody>
      </p:sp>
      <p:sp>
        <p:nvSpPr>
          <p:cNvPr id="6" name="Text 4"/>
          <p:cNvSpPr/>
          <p:nvPr/>
        </p:nvSpPr>
        <p:spPr>
          <a:xfrm>
            <a:off x="731520" y="1188720"/>
            <a:ext cx="10058400" cy="1463040"/>
          </a:xfrm>
          <a:prstGeom prst="rect">
            <a:avLst/>
          </a:prstGeom>
          <a:noFill/>
          <a:ln/>
        </p:spPr>
        <p:txBody>
          <a:bodyPr wrap="square" lIns="0" tIns="0" rIns="0" bIns="0" rtlCol="0" anchor="ctr"/>
          <a:lstStyle/>
          <a:p>
            <a:pPr marL="0" indent="0">
              <a:buNone/>
            </a:pPr>
            <a:r>
              <a:rPr lang="en-US" sz="4600" b="1" dirty="0">
                <a:solidFill>
                  <a:srgbClr val="FFFFFF"/>
                </a:solidFill>
                <a:latin typeface="Calibri" pitchFamily="34" charset="0"/>
                <a:ea typeface="Calibri" pitchFamily="34" charset="-122"/>
                <a:cs typeface="Calibri" pitchFamily="34" charset="-120"/>
              </a:rPr>
              <a:t>AI &amp; DIGITAL TRANSFORMATION CASE STUDIES</a:t>
            </a:r>
            <a:endParaRPr lang="en-US" sz="4600" dirty="0"/>
          </a:p>
        </p:txBody>
      </p:sp>
      <p:sp>
        <p:nvSpPr>
          <p:cNvPr id="7" name="Shape 5"/>
          <p:cNvSpPr/>
          <p:nvPr/>
        </p:nvSpPr>
        <p:spPr>
          <a:xfrm>
            <a:off x="731520" y="2834640"/>
            <a:ext cx="7315200" cy="45720"/>
          </a:xfrm>
          <a:prstGeom prst="rect">
            <a:avLst/>
          </a:prstGeom>
          <a:solidFill>
            <a:srgbClr val="00A896"/>
          </a:solidFill>
          <a:ln w="12700">
            <a:solidFill>
              <a:srgbClr val="00A896"/>
            </a:solidFill>
            <a:prstDash val="solid"/>
          </a:ln>
        </p:spPr>
        <p:txBody>
          <a:bodyPr/>
          <a:lstStyle/>
          <a:p>
            <a:endParaRPr lang="en-US"/>
          </a:p>
        </p:txBody>
      </p:sp>
      <p:sp>
        <p:nvSpPr>
          <p:cNvPr id="8" name="Text 6"/>
          <p:cNvSpPr/>
          <p:nvPr/>
        </p:nvSpPr>
        <p:spPr>
          <a:xfrm>
            <a:off x="731520" y="3017520"/>
            <a:ext cx="9144000" cy="548640"/>
          </a:xfrm>
          <a:prstGeom prst="rect">
            <a:avLst/>
          </a:prstGeom>
          <a:noFill/>
          <a:ln/>
        </p:spPr>
        <p:txBody>
          <a:bodyPr wrap="square" lIns="0" tIns="0" rIns="0" bIns="0" rtlCol="0" anchor="ctr"/>
          <a:lstStyle/>
          <a:p>
            <a:pPr marL="0" indent="0">
              <a:buNone/>
            </a:pPr>
            <a:r>
              <a:rPr lang="en-US" sz="1800" dirty="0">
                <a:solidFill>
                  <a:srgbClr val="00A896"/>
                </a:solidFill>
                <a:latin typeface="Calibri" pitchFamily="34" charset="0"/>
                <a:ea typeface="Calibri" pitchFamily="34" charset="-122"/>
                <a:cs typeface="Calibri" pitchFamily="34" charset="-120"/>
              </a:rPr>
              <a:t>Enterprise AI transformation across manufacturing, energy, banking, automotive, and more.</a:t>
            </a:r>
            <a:endParaRPr lang="en-US" sz="1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PROCUREMENT CYCLE COMPRESSION</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Procure-to-Pay  ·  WhatsApp RFQ  ·  Approval Automation  ·  Spend Analytics  ·  Manufacturing  ·  AI</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Manufacturing Institution   |   Domain: Manufacturing   |   Function: Procurement</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Manufacturing company in active scale-up ran entire procurement on calls, emails, and spreadsheets. Vendor quotes arrived in different formats, approval chains had no single owner, and PO status existed only in people's heads. Fragmentation caused production line stoppages.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Fully digitized procure-to-pay system replacing the manual chain from indent to payment. Vendors receive structured RFQs through WhatsApp. Approval routing executes automatically against client hierarchy. Every PO moves through a tracked lifecycle with real-time visibility.</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End-to-End Procurement Execution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Covers the full cycle from requisition to final payment on one platform, eliminating handoff gaps.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Vendor Quote Collection via WhatsApp</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Sends structured RFQs to suppliers and captures responses in standard format, removing manual collation.</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Automated Approval Routing</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Configurable chains trigger and escalate automatically by value, category, and department.</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Purchase Order Lifecycle Tracking</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Real-time visibility from PO creation to goods receipt, so delays surface before they hit the line.</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Vendor Performance Scoring</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Tracks delivery reliability, quality, and pricing trends per supplier to inform future sourcing decisions.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Spend &amp; Savings Analytics</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Aggregates procurement data into spend analysis and vendor comparisons, making cost patterns visible.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70%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Procurement Cycle Time</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Zero</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Manual Approval Chasing</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Single</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Platform for Indent-to-Payment Visibility</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DEMAND-DRIVEN MATERIAL PLANNING</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ML Forecasting  ·  MRP  ·  Demand Planning  ·  SKU  ·  Inventory  ·  Manufacturing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Manufacturing Institution   |   Domain: Manufacturing   |   Function: Supply Chain Planning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Manufacturer running hundreds of SKUs across multiple grades had outgrown human demand planning. Spreadsheet-based forecasts were wrong in ways that compounded fast. Excess inventory locked up capital; stockouts halted lines while procurement scrambled.</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ML-based demand forecasting engine deployed alongside automated MRP system. Forecasting layer ingests historical sales, seasonal patterns, and external market signals. Forecasts feed directly into MRP engine that translates production schedules into precise material needs.</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ML-Based Demand Forecasting</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Analyzes sales history, seasonal variation, and market signals to produce SKU-level predictions at scale.</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Anomaly Detection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Identifies demand anomalies in real time and flags them before they distort procurement or production plans.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Dynamic Reorder &amp; Safety Stock Calculation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Computes optimal reorder points and safety stock levels per SKU continuously, replacing static rules.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Automated MRP Generation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Converts production schedules directly into material requirements, eliminating the lag between plan and procurement trigger.</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Procurement Guidance</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Recommends what to buy, in what quantity, and by when, based on live forecasts and current inventory.</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End-to-End Planning Visibility</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Single dashboard spanning demand signal, inventory position, and purchase order status across the full chain.</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Zero</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Stockouts Through Predictive Planning</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Optimized</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Storage Costs with JIT Arrival</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E2E</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Visibility from Demand to Procurement</a:t>
            </a:r>
            <a:endParaRPr lang="en-US" sz="8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NX CAD TOOLKIT &amp; MACRO CONSOLIDATION</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NX Open  ·  CATVBA  ·  Macro Automation  ·  Unified Engineering Dashboard  ·  Change-Driven Efficiency</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Industrial Equipment Manufacturer   |   Domain: Manufacturing   |   Function: Product Engineering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Engineering teams managed macros scattered across NX environments, requiring manual search, setup, and execution. Overlay comparison, BOM export, and drawing checks lacked a unified interface. No logging, error handling, or consistent deployment across global teams.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 unified NX Open-based engineering toolkit with a single, categorised GUI dashboard consolidating all macros. Engineers execute scripts via one-click buttons with input forms, logging, and error handling — deployed on a shared network.</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Unified Macro Dashboard</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All macros consolidated into a single categorised GUI — engineers find and run any process in one click with no script-hunting.</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NX Open Automation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Full scripting coverage across NX Open Python API — parameters passed via input forms, not hardcoded.</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Overlay &amp; Comparison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Automated geometric overlay comparison between part revisions and PDF report generated without manual steps.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Version-Aware Execution Logging</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Every macro run logged with user, timestamp, parameters, and success/fail status — full audit trail across all engineering teams.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Drawing Standards &amp; Attribute Checks</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Automated validation of naming conventions, GD&amp;T standards, mandatory attributes, and BOM export — enforced at run-time.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Extensible Macro Registry</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New macros added via drag-and-drop + 5-field metadata form — no bespoke code required. Scales to any number of scripts.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Macros Consolidated into One Toolkit</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Execution (&lt;30 sec vs 5-10 min)</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Users with Simultaneous Consistent Rollout</a:t>
            </a:r>
            <a:endParaRPr lang="en-US" sz="8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AGENTIC QUALITY ROOT CAUSE INTELLIGENCE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Multi-Agent AI  ·  Steel  ·  Quality Engineering  ·  Root Cause  ·  Autonomous  ·  Manufacturing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Steel &amp; Metals Manufacturer   |   Domain: Manufacturing   |   Function: Quality Engineering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Steel manufacturer's quality failure investigation required 3-6 engineers tracing through disconnected process, equipment, and chemistry systems — taking 3-6 hours per case. 80% of engineering effort went into investigation rather than quality improvement.</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4 specialist AI agents deployed to trace failures across process data, equipment logs, chemistry records, and grade specifications simultaneously. Delivers ranked root cause with confidence scoring and corrective actions in under 30 seconds. Resolves routine failures end-to-end autonomously.</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Multi-Source Failure Tracing</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Simultaneously interrogates process data, equipment logs, and chemistry records across departments.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Ranked Root Cause Scoring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Delivers prioritized root cause candidates with confidence scores for immediate direction.</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Corrective Action Recommendation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Pairs each root cause with suggested corrective actions for rapid resolution.</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Cross-Department Data Correlation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Bridges siloed systems, eliminating manual handoffs and data reconciliation.</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Autonomous Incident Resolution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Handles routine, pattern-matched failures end-to-end without engineer involvement.</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Investigation Audit Trail</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Logs every agent decision, data source, and confidence score for compliance.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&lt;30 sec</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Investigation Time (Down from 3-6 Hours)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2.4%→0.9%</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Defect Rate Reduction</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Incidents Resolved Fully Autonomously</a:t>
            </a:r>
            <a:endParaRPr lang="en-US" sz="8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SHEET METAL FORMING INTELLIGENCE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Geometric Deep Learning  ·  CAE  ·  Forming Simulation  ·  Stamping  ·  Automotive OEM  ·  AI</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Automotive OEM   |   Domain: Manufacturing   |   Function: Product Engineering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Next-gen programme targets required substantial reductions in development time. Conventional CAE for die face shape design took up to 3 hours per run, with full-suite feedback arriving 1-2 weeks later. Previous AI tools rejected — couldn't interpret complex 3D stamped sheet metal geometries.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Geometric deep learning engine deployed to read local surface curvature, feature radii, and neighboring geometry directly from 3D stamped part geometry. Predicts forming outcomes at die face design stage, surfacing thinning, tearing risk, and springback in minutes with CAE-level accuracy.</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Geometric Deep Learning Engine</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Reads local surface curvature, feature radii, and neighboring geometry directly from 3D stamped part geometry.</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Die Face Shape Prediction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Predicts forming outcomes at die face design stage for rapid variant evaluation.</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Thickness Reduction Rate Analysis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Surfaces thinning, tearing risk, and springback in minutes with CAE-level accuracy.</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Press Forming Simulation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Supports rapid design convergence across chassis, body, and powertrain change cycles.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CAE-Comparable Accuracy Validation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Benchmarks predictions against traditional CAE solver outputs to maintain engineering-grade confidence.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Rapid Variant Iteration</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Engineers test multiple die face configurations within a single design session instead of queuing separate CAE runs.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90x</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(3 Hours to 2 Minutes)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CAE-Level</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Accuracy Across Forming Outcomes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Weeks→Min</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Full Forming Feedback Cycles</a:t>
            </a:r>
            <a:endParaRPr lang="en-US" sz="8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AERODYNAMIC SIMULATION INTELLIGENCE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CFD Surrogate  ·  Geometric Deep Learning  ·  NVIDIA Omniverse  ·  Automotive  ·  Aero  ·  AI</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Automotive OEM   |   Domain: Manufacturing   |   Function: Product Engineering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Automotive OEM's aerodynamic development relied on discrete CFD checkpoints — engineers waiting hours for full cluster runs, hard ceiling of ~30 evaluations/day. Electrification complexity and efficiency pressures pushed team to iterate faster than CFD cycle time allowed.</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Geometric deep learning surrogate model trained on 3,000+ CFD simulations maps 3D surface geometry directly to drag and lift responses in seconds. Integrates with NVIDIA Omniverse for real-time visual collaboration. Validated against wind tunnel data for production-grade confidence.</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Geometric Deep Learning Surrogate Model</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Maps 3D surface geometry directly to aerodynamic response, trained on over 3,000 CFD simulation cases.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Rapid Aero Prediction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Delivers drag, lift, pressure field, and wake predictions in seconds instead of hours.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Cross-Team Digital Twin Integration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Connects predictions to NVIDIA Omniverse for shared visual review across engineering teams.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Wind Tunnel Validation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Benchmarks surrogate predictions against physical wind tunnel data to maintain production-grade accuracy.</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High-Volume Variant Evaluation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Supports up to 900 design evaluations per day, up from ~30 under CFD-only workflow.</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Real-Time Design Trade-Off Review</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Engineers compare variants live in design reviews instead of waiting on the next CFD batch.</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10x</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More Evaluations Per Day (up to 900)</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Seconds</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Per Prediction (vs Hours)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Wind Tunnel</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Validated Production-Grade Accuracy</a:t>
            </a:r>
            <a:endParaRPr lang="en-US" sz="8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PREDICTIVE O&amp;M INTELLIGENCE FOR RENEWABLE ASSETS</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Renewable Energy  ·  Drone Thermography  ·  Predictive Maintenance  ·  CMMS  ·  Solar  ·  Edge AI</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Renewable Energy Operator   |   Domain: Energy   |   Function: Asset Management</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Renewable energy operator managing distributed fleet relied on periodic inspections and reactive fault response, missing early degradation signals in inverter telemetry, thermal imaging, and generation data. No closed loop between field findings, maintenance records, and corrective action.</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Integrated predictive O&amp;M platform deployed to continuously ingest SCADA, generation, drone, and sensor data across every asset. Combines AI-driven performance analytics, automated maintenance workflows, and edge intelligence. Automated drone thermography and ML-based defect detection deployed.</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Digital Asset Management &amp; CMMS</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Centralizes maintenance scheduling, auto-generates corrective tickets, and manages spare parts through mobile field workflows.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NOC Digital Monitoring &amp; Analytics</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Real-time KPI monitoring and multi-plant condition-based alerting across the fleet.</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Inverter Performance &amp; Anomaly Detection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AI-driven deviation analysis on daily generation data to detect underperformance across the inverter fleet.</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Aerial Thermography via Drone</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Captures thermal and RGB imaging identifying over 10 defect types per site with automated report generation.</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EL Image Analysis</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Detects defects across 9+ PV module defect classes in under 5 minutes using ML-based image analysis.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Edge AI for Safety &amp; Site Intelligence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Perimeter security, PPE compliance, bushfire monitoring, and wildlife alerts at the edge across distributed infrastructure.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70-80%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Manual Field Inspection Effort</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30-45%</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Improvement in Energy Yield Recovery</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50-60%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Defect Reporting Time</a:t>
            </a:r>
            <a:endParaRPr lang="en-US" sz="8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AI ASSISTANT FOR SELL-SIDE EQUITY RESEARCH</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RAG  ·  Equity Research  ·  Investment Bank  ·  Semantic Search  ·  NLP  ·  Financial AI</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Investment Bank   |   Domain: Banking &amp; Financial Services   |   Function: Equity Research</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Investment bank's equity research content sat in unstructured PDFs and call transcripts. Analysts relied on manual search through archive — slowing turnaround on new research. Sales teams couldn't pull fast, sourced answers during live client conversations.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Enterprise RAG-based AI assistant deployed to ingest PDFs, transcripts, and market data. OCR and chunking with semantic search and metadata filtering by sector, analyst, and time. AI agent layer handles content retrieval with guardrails. Every answer cites back to source.</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Multi-Source Document Ingestion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Ingests PDFs, transcripts, and market data with OCR and metadata extraction.</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Semantic Vector Search</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Indexes content for natural language query with metadata filtering by sector, analyst, and time.</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Source-Linked Citations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Links every answer back to the specific source PDF page for verification.</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Role-Based Entitlements</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Controls data access by role to maintain compliance with information barriers.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Context-Aware Thematic Search</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Surfaces relevant historical research for new thematic pieces automatically.</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Natural Language Q&amp;A Interface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Lets analysts and sales query the full research archive in plain language.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Content Authoring Time</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Sales Broadcasts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12 Weeks</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To Enterprise Pilot</a:t>
            </a:r>
            <a:endParaRPr lang="en-US" sz="8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MAINFRAME COST OPTIMIZATION — BANKING</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Splunk  ·  AIOps  ·  Mainframe  ·  MSU Optimization  ·  BFSI  ·  Cost Reduction</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Top-Tier Banking Institution   |   Domain: Banking &amp; Financial Services   |   Function: Mainframe Infrastructure</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Retail banking core processed tens of millions of daily transactions on mainframe. Idle CPU cycles, unscheduled batch jobs running during peak hours, and reactive incident management were inflating MSU consumption and IBM licensing costs.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Splunk-powered AIOps observability layer deployed to visualize real-time CPU utilization. Non-critical batch jobs identified and rescheduled to off-peak windows using AI-driven scheduling. Proactive incident detection layer replaced reactive firefighting.</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Splunk Observability</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Real-time visibility into CPU utilization across critical mainframe workloads.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Batch Job Rescheduling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Moves non-critical jobs to off-peak windows using AI scheduling intelligence.</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MSU Consumption Analytics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Tracks consumption granularly to optimize IBM licensing costs.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Incident Detection Engine</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Proactively identifies load events, replacing reactive firefighting.</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Cost Governance Dashboard</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Unified view for monitoring ongoing run-the-business cost efficiency.</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24/7 SLA Compliance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Executes optimization with zero disruption to core banking services.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$2.3M</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Annual Savings in Mainframe OPEX</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60 Days</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To Full Operationalization</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34%</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MSU Reduction in Peak-Hour Consumption</a:t>
            </a:r>
            <a:endParaRPr lang="en-US" sz="8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DEAL SOURCING INTELLIGENCE — VENTURE CAPITAL</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VC  ·  Deal Sourcing  ·  AI Triage  ·  Mandate Scoring  ·  NLP  ·  Private Equity</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Venture Capital Firm   |   Domain: Private Equity &amp; Venture Capital   |   Function: Deal Sourcing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VC firm seeing 80%+ of available market deal flow but hundreds of inbound emails per week overwhelmed team's capacity to triage. Deal quality signals in product metrics and technical architecture were routinely missed. Slower response to high-quality deals costing positioning.</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AI-powered deal intake and triage platform deployed to automatically ingest inbound deal flow, categorize/score against investment criteria, and surface highest-quality deals to right team members instantly. Priority scoring ranks by sector, stage, geography, and founder signal.</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Intelligent Deal Intake &amp; Triage</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AI ingests inbound deal flow from email and portals, automatically extracting sector, size, and geography.</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Mandate-Based Scoring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Scores every incoming opportunity against the firm's investment mandate automatically on intake.</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Priority Scoring &amp; Routing</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ML-driven scoring ranks opportunities based on sector, stage, geography, and founder signal.</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Market Coverage Dashboard</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Real-time visibility into deal flow volume, source quality, and coverage percentage.</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Source Attribution Tracking</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Identifies underperforming channels and attributes deal quality back to originating source.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Full-Funnel Visibility</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Tracks inbound, proprietary, and network-sourced deals in a single view across the funnel.</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3x</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More Opportunities Evaluated</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Hours</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Response Time to Top-Tier Deals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Full</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Funnel Visibility Across All Channels</a:t>
            </a:r>
            <a:endParaRPr lang="en-US" sz="8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AGENTIC INVOICE &amp; CASH MANAGEMENT</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AP/AR  ·  Invoice Automation  ·  3-Way Match  ·  Cash Application  ·  Touchless  ·  Finance</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Top-Tier Enterprise Finance Organization   |   Domain: Finance Operations   |   Function: Accounts Payable &amp; Receivable</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Finance organization processed invoices across multiple channels through manual extraction, coding, and matching — small data issues routinely created exceptions and delays. Payments frequently lacked clear references. Month-end close ran reactively with poor AR aging visibility.</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Agentic platform deployed spanning AP and AR. Invoices ingested via OCR, 3-way matching executed, only genuine exceptions routed to analysts. AI applies payments automatically, prioritizes collections by risk, and drafts dunning communications for review.</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Multi-Channel Invoice Ingestion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Ingests invoices from email, vendor portal, FTP, and manual upload with OCR and confidence scoring.</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Autonomous 3-Way Matching &amp; GL Coding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Matches invoices to POs and GRNs, assigns GL codes, and posts to ledger without analyst involvement on most cases.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Exception Triage &amp; Root Cause</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Triages exceptions with root cause attached — duplicate detection, PO mismatches, price variance, GRN gaps.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Intelligent Cash Application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Matches payments across SWIFT, ACH, and SEPA, resolving short pays and unmatched items through AI suggestion.</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AR Collections &amp; Dispute Management</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AI-prioritized collections worklist with risk scoring, automated dunning drafts, and real-time dispute tracking.</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 Copilot &amp; Audit Trail</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Supports natural language queries across AP and AR with complete SOX-ready decision log of every action.</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81%</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Invoices Processed Touchlessly</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4.2 Min</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Average Time from Ingestion to Posted</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87%</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Payments Auto-Applied</a:t>
            </a:r>
            <a:endParaRPr lang="en-US" sz="8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LOAD BALANCING &amp; DEMAND RESPONSE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Energy  ·  Grid  ·  Load Balancing  ·  Demand Response  ·  Agentic AI  ·  Utilities</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Energy &amp; Utilities Operator   |   Domain: Energy   |   Function: Grid Operations</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Energy operator managing distributed sites relied on rule-based controls and manual intervention for load balancing and demand response. No real-time intelligence for dynamic grid conditions. Idle capacity undetected, grid penalty charges accumulated, response times lagged market windows.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Agentic optimization engine deployed to continuously monitor consumption, recommend and execute load balancing actions autonomously, and trigger demand response in real time. Anticipates peak windows using historical profiles and weather signals enabling pre-emptive load shedding.</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Real-Time Consumption Monitoring</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Continuously tracks energy usage across all distributed sites, detecting deviations, spikes, and anomalies.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Predictive Peak Demand Forecasting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Anticipates peak windows using historical profiles and weather signals for pre-emptive load shedding.</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Autonomous Load Balancing Engine</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Recommends and executes load redistribution autonomously, eliminating manual scheduling bottlenecks.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Demand Response Trigger</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Automatically executes actions aligned to utility signals and market windows without operator input.</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Grid Condition Anomaly Detection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Flags voltage fluctuations and abnormal draw patterns in real time to prevent grid instability.</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Energy Intelligence Dashboard</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Unified visibility tracking utilization, response history, cost avoidance, and grid alignment scores.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15-25%</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Peak Load Consumption</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30-40%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Grid Response Time</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20-30%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Fewer Energy Penalty Charges</a:t>
            </a:r>
            <a:endParaRPr lang="en-US" sz="8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AIOPS CONTROL TOWER</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AIOps  ·  Observability  ·  Alert Noise  ·  Auto-Remediation  ·  IT Operations  ·  AI</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Enterprise IT Operator   |   Domain: Software &amp; Technology   |   Function: IT Operations</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enterprise IT ran on metrics, logs, events, and traces scattered across siloed observability tools with no unified view. Alert noise at 70-80% false positives overwhelming operations teams and masking incidents that actually mattered. Manual correlation slowed root cause identification.</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AI-powered AIOps platform deployed to ingest metrics, logs, events, and traces into a single intelligence layer. Correlation and noise filtering reduce false positives before reaching operators. Anomaly detection and predictive insights feed an AI agent layer for auto-remediation and RCA.</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Unified Observability</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End-to-end visibility across hybrid infrastructure from a single platform.</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Alert Noise Reduction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AI filtering suppresses false positives before they reach operations teams.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Automated RCA</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Correlation-driven root cause identification across infrastructure and application layers.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Anomaly Detection &amp; Predictive Insights</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Identifies abnormal patterns and predicts incidents before they escalate.</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 Agent Auto-Remediation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Executes automated remediation and recommendations based on detected root cause.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Real-Time Decision Support</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Ops teams receive real-time monitoring and recommendations to act on immediately.</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73%</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Alert Noise</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 Min</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Average Incident Detection Speed</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91%</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Auto-Resolved via Self-Healing Workflows</a:t>
            </a:r>
            <a:endParaRPr lang="en-US" sz="8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BATTERY ON CLOUD — EV FLEET INTELLIGENCE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Battery  ·  EV  ·  Cloud BMS  ·  Predictive Maintenance  ·  Fleet  ·  OTA</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Electric Vehicle Manufacturer   |   Domain: Manufacturing   |   Function: Connected Vehicle Data</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EV manufacturer's battery systems degraded silently in the field. Without continuous visibility into cell-level behavior, temperature patterns, and charge cycle history, degradation went undetected until it appeared as reduced range, unexpected failure, or costly replacement.</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Cloud-integrated battery management layer deployed to connect on-vehicle sensors to cloud analytics, enabling continuous monitoring, predictive intelligence, and remote optimization across every battery in the fleet. Pushes optimization decisions back to vehicle BMS without physical intervention.</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Real-Time Performance Monitoring</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Tracks charge/discharge cycles, cell voltages, and thermal behavior to flag anomalies early.</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Predictive Maintenance</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ML models predict failure weeks in advance, enabling proactive scheduling.</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Charge/Discharge Optimization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Determines optimal charging windows based on grid data, temperature, and state of health.</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Reduced Breakdown Risk</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Continuous monitoring with automated alerts minimizes sudden failures.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Fleet SOH Benchmarking</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Benchmarks battery health across fleets to guide replacement decisions.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OTA Firmware &amp; Calibration</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Updates BMS parameters remotely with safety patches and performance improvements.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25%</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Increase in Battery Lifespan</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Unplanned Downtime</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 Weeks</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Average Lead Time for Failure Prediction</a:t>
            </a:r>
            <a:endParaRPr lang="en-US" sz="8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CARBON TRACKING &amp; EMISSION INTELLIGENCE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Carbon  ·  ESG  ·  Sustainability  ·  Construction  ·  AI Forecasting  ·  Scope 1/2/3</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Infrastructure &amp; Civil Engineering Contractor   |   Domain: Construction   |   Function: Sustainability &amp; ESG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Major UK infrastructure contractor faced growing requirement for verified carbon reporting as condition of contract award, with no reliable way to produce it. Emissions captured manually at month-end with unaudited emission factors. Carbon overrun on a road project surfaced 6 weeks after closeout — data unrecoverable.</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AI-embedded sustainability intelligence layer deployed across the project lifecycle. Predictive carbon forecasting models total project emissions at planning stage. Daily logging engine captures energy, fuel, transport, accommodation, and materials data continuously, auto-calculates tCO2e by scope, and flags deviations in real time.</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Predictive Carbon Budget Forecasting</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Models total project emissions at planning stage, grounding budgets in data before mobilization.</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Scope 1/2/3 Auto-Classification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Categorizes emissions across direct plant use, indirect energy, and supply chain into audit-ready breakdowns.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 Daily Emission Logging</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Captures fuel, transport, accommodation, and materials data continuously, flagging deviations as they occur.</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Reduction Levers &amp; Quick-Win Recommendations</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Surfaces ranked interventions with estimated impact — fuel switching, green accommodation, low-carbon materials.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Anomaly Detection &amp; Greenlight Scoring</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Flags emission spikes and enables go/no-go decisions at gate reviews before overruns compound.</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Traceability &amp; Integration Dashboard</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Links emission records to project and subcontractor data with confidence scoring and hotspot identification.</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15-25%</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Project Carbon Overruns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30-40%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Improvement in Sustainability Decision Speed</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25-35%</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End-of-Project Reporting Effort</a:t>
            </a:r>
            <a:endParaRPr lang="en-US" sz="8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PRE &amp; POST CONTRACT INTELLIGENCE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EPC  ·  Contract Management  ·  Multi-Agent AI  ·  Proposal Generation  ·  Risk Governance  ·  Construction</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EPC and Infrastructure Contractor   |   Domain: Construction   |   Function: Contract Management</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Large EPC contractor managing multi-year infrastructure contracts had no integrated system connecting bid preparation to post-award execution. Proposals were drafted manually across separate teams with no benchmark against past performance. Contractor selection relied on relationships rather than delivery data. Scope deviations went undetected until cost overruns were visible.</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AI-embedded contract intelligence layer deployed across the full contract lifecycle, from pre-bid proposal generation through post-award execution governance. Multi-agent frameworks handle scope, milestones, commercials, and compliance in parallel, referencing historical contracts and pricing benchmarks. System extracts project structure from contract documents and continuously monitors execution, auto-regenerating delivery plans when scope shifts occur.</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Multi-Agent Proposal Generation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Dedicated agents assemble scope, milestones, commercials, and compliance documentation in parallel with risk-weighted inputs.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Historical Intelligence &amp; Benchmarking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References past contracts, clause libraries, and pricing benchmarks to calibrate proposal accuracy.</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Capability-Based Contractor Selection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Evaluates contractors on historical performance and deviation trends rather than relationship-based judgment.</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Contract Intelligence Reader</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Extracts project structure including buildings, materials, resources, and timelines from released contracts into execution-ready data.</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Agent-Based Recalibration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Auto-generates SOWs and delivery plans when scope shifts occur, keeping milestones aligned to real-time constraints.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Anomaly Detection &amp; Risk Governance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Flags deviations and compliance gaps across active contracts before they compound into overruns.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15-25%</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Bid Preparation Time</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15-25%</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Commercial Leakage</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30-40%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Contract-to-Execution Conversion</a:t>
            </a:r>
            <a:endParaRPr lang="en-US" sz="8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8D, FMEA AND DOCUMENT INTELLIGENCE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8D Reports  ·  FMEA  ·  PLM  ·  NLP  ·  Automotive  ·  Quality Engineering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Automotive Components Manufacturer   |   Domain: Manufacturing   |   Function: Quality Engineering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Automotive components manufacturer's engineering team had no automated way to retrieve or reuse engineering knowledge across quality events. Engineers manually searched PLM systems for drawings, simulation reports, and specifications, then built 8D reports, FMEA updates, and fishbone diagrams by hand. Document retrieval alone consumed significant hours per cycle.</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AI layer deployed to auto-tag engineering documents, extract specifications from drawings and PDFs, and enable natural language retrieval of artifacts across PLM systems. System automatically generates 8D reports, updates FMEAs, and builds fishbone diagrams directly from linked quality data, connecting events to artifacts without manual cross-referencing.</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Natural Language Document Retrieval</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Engineers query PLM systems in plain language to instantly surface drawings, reports, and specifications.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Auto-Tagging and Artifact Linking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Automatically links engineering documents to quality events, change records, and failure history.</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8D Report Auto-Generation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Generates structured 8D reports from linked quality data, failure patterns, and corrective actions.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FMEA Intelligent Update</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Detects relevant quality events and updates risk assessments without manual cross-referencing.</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Fishbone Diagram Automation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Builds cause-and-effect diagrams directly from failure data and engineering artifacts.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Spec Extraction from Drawings &amp; PDFs</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Extracts structured specifications, tolerances, and parameters from unstructured engineering documents.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70-80%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Documentation Effort</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25-35%</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Investigation Cycle Times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40-50%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Improvement in Engineering Knowledge Reuse</a:t>
            </a:r>
            <a:endParaRPr lang="en-US" sz="8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WELD VISION AND JOINT INTEGRITY ANALYTICS</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Computer Vision  ·  Weld Inspection  ·  AI Quality  ·  100% Coverage  ·  OEM  ·  Manufacturing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Top-Tier Heavy Equipment OEM   |   Domain: Manufacturing   |   Function: Quality Engineering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Heavy equipment OEM verified weld joint integrity through sampled inspection, leaving subsurface defects, porosity, and incomplete fusion undetected until they surfaced as rework, structural failures, or audit escapes. At production line speeds, manual 100% inspection was not feasible.</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AI vision layer deployed at the weld station to capture and analyze every joint in real time, classifying geometry, detecting surface anomalies, and correlating findings with process parameters to isolate root cause at the joint level. Inspection moved from a sample to 100% coverage at no cost to throughput.</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100% Inline Weld Vision Inspection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AI cameras capture every joint at line speed, classifying weld geometry and surface condition without sampling or line interruption.</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Porosity and Fusion Defect Detection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Detects porosity, incomplete fusion, undercut, and spattering, flagging defects before parts advance to downstream assembly.</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Process Parameter Correlation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Correlates visual defects with welding parameters to isolate root cause across wire feed, voltage, and travel speed.</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Joint Traceability and Run Logging</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Links every weld to operator, shift, and material batch, generating audit-ready traceability records.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Defect Trend and Heatmap Analytics</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Maps defect frequency across stations and shifts, surfacing systemic quality patterns before batch escapes occur.</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Closed-Loop Quality Feedback</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Routes verified defect data back to process engineering, turning every detected issue into a parameter adjustment.</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40-60%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Weld Defect Escapes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30-45%</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Improvement in Root Cause Identification Speed</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Audit-Ready Joint-Level Traceability</a:t>
            </a:r>
            <a:endParaRPr lang="en-US" sz="8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AI-FIRST QUALITY GATES AT INBOUND</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Computer Vision  ·  Inbound QA  ·  Supplier Risk  ·  Warranty Feedback  ·  Automotive  ·  Manufacturing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Automotive Components Supplier   |   Domain: Manufacturing   |   Function: Quality Engineering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components supplier's inbound parts inspection relied on legacy sampling, so defective parts routinely passed through and were only discovered at assembly or in the field — where correction cost ran 10-100x higher. No system was using existing supplier history and inspection data to direct inspection effort to where the risk actually was.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Computer vision-powered inbound quality intelligence system deployed to scan parts against golden references, dynamically adapt sampling rates based on supplier risk, and close the loop between inbound anomalies and downstream warranty claims. Inspection coverage now scales with supplier risk rather than a fixed sampling rate.</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3D Reference Comparison Engine</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Compares live physical parts against a golden sample model across tolerances, surface finish, and features.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Risk-Adaptive Sampling Intelligence</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Dynamically adjusts inspection rates based on supplier risk score, historical defect rates, and audit performance.</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Defect Classification Model</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Automatically classifies anomalies into a structured taxonomy for consistent reporting back to the supplier.</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Warranty Feedback Loop</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Links inbound inspection anomalies with field warranty claims to continuously improve detection accuracy.</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Supplier Quality Scorecard</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Aggregates inspection outcomes into a real-time dashboard feeding supplier performance evaluation.</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System-Wide Integration</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Connects inspection hardware, supplier quality systems, ERP, and warranty platforms into a single traceable workflow.</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Risk-Weighted Inspection Coverage</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20-35%</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Defective Parts Reaching Assembly</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Faster</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Structured Supplier Feedback &amp; Chargeback</a:t>
            </a:r>
            <a:endParaRPr lang="en-US" sz="8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PREDICTIVE MAINTENANCE INTELLIGENCE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Predictive Maintenance  ·  SCADA  ·  MES  ·  MTBF  ·  CMMS  ·  Heavy Equipment</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Heavy Equipment Manufacturer   |   Domain: Manufacturing   |   Function: Asset Management</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Heavy equipment manufacturer was discovering equipment failures at the line, not in the control room. Maintenance teams worked off fixed schedules and manual inspections, missing early degradation signals in vibration, temperature, and runtime data. Unplanned stoppages idled shifts and steadily eroded MTBF benchmarks.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AI-embedded predictive maintenance layer deployed to continuously ingest sensor, SCADA, and MES data and detect early failure signatures across critical assets. Anomaly detection, RUL forecasting, and automated work order generation shifted maintenance from calendar-based routines to condition-driven intervention aligned with actual equipment health.</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Anomaly Detection Engine</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Continuously monitors vibration, temperature, pressure, and runtime signals, flagging deviation patterns 7-14 days before failure.</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RUL Forecasting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ML models predict remaining useful life per asset, providing a quantified intervention window.</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Automated Work Orders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Triggers prioritized maintenance work orders directly into CMMS/ERP when thresholds are crossed.</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SCADA and MES Integration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Connects to existing PLC and MES systems without rip-and-replace to ingest real-time telemetry.</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MTBF Intelligence Dashboard</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Tracks mean time between failures, highlights degradation trends, and benchmarks performance.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Failure Mode and RCA Auto-Link</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Links detected failure modes to historical root cause records to accelerate diagnosis and prevent recurrence.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30-45%</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Unplanned Downtime</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20-35%</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Improvement in MTBF</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15-25%</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Maintenance Cost</a:t>
            </a:r>
            <a:endParaRPr lang="en-US" sz="8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INDUSTRY 4.0 INTELLIGENCE — SPECIALTY CHEMICALS</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Industry 4.0  ·  OPC UA  ·  Modular AI  ·  DCS  ·  Predictive Maintenance  ·  Process Manufacturing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Top-Tier Specialty Chemicals Manufacturer   |   Domain: Process Manufacturing   |   Function: Plant Operations</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Specialty chemicals manufacturer spent 2 years evaluating industrial AI without a single deployment reaching the floor. Every vendor required displacing the existing DCS and historian. A catalyst reactor ran outside optimal temperature bands for 6 hours, causing a £340,000 batch loss. The capability to catch it existed — but no deployment path existed inside the plant's security constraints.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Suite of modular industrial AI capabilities deployed directly against the plant's existing DCS, historian, and MES, connected via OPC UA and MQTT — no new platform license, no data leaving the environment. Each module runs as a containerized microservice validated on real plant data within 2-4 weeks.</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Plant Energy Intelligence</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GenAI-driven recommendations targeting peak demand costs, deployed against existing metering with no new hardware.</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Predictive Maintenance</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ML models on existing telemetry predict failure windows before they become unplanned downtime.</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 Vision Quality Gates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Inline inspection compares live output to golden references with no line speed impact.</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Production Digital Twin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Real-time simulation of temperature, pressure, and feed-rate scenarios without touching live production.</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Operator GenAI Copilot</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Conversational assistant drawing on live tags, manuals, and SOPs — runs on edge, on the floor.</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Modular Deployment Architecture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Each module deploys independently so the plant starts where risk is highest and expands without a platform migration.</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2-4 Weeks</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POC Per Module on Real Plant Data</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Zero</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New Platform Licenses Required</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Faster</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Industry 4.0 Maturity Roadmap</a:t>
            </a:r>
            <a:endParaRPr lang="en-US" sz="8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OPERATIONAL DIGITAL TWIN — OFFSHORE OIL &amp; GAS</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Digital Twin  ·  SCADA  ·  Predictive Maintenance  ·  North Sea  ·  Asset Management  ·  Energy</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Top-Tier Offshore Oil &amp; Gas Operator   |   Domain: Energy   |   Function: Asset Management</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Offshore operator running aging North Sea platforms managed asset health through scheduled inspections and calendar-based maintenance. A compressor showed irregular vibration for 11 days before a bearing failure — a £2.1 million shutdown requiring 14 days off-production. The data that would have predicted it was being collected; nobody was watching it.</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AI-embedded operational digital twin deployed across the platform fleet, ingesting live sensor, PLC, and SCADA streams into a continuously maintained digital replica of every critical asset. Engineers now work from a unified dashboard across all platforms, seeing asset condition, trend, and warranted intervention without leaving the control room.</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Live Asset Mirroring</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Real-time sensor, PLC, and SCADA streams maintain a continuously updated digital replica across platforms and asset classes.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Operational Health Scoring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Flags degradation trajectories and failure probability before output is affected, across interdependent systems.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Predictive Maintenance</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Anticipates failures and optimal intervention windows from telemetry and load history, replacing calendar-based scheduling.</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Anomaly Detection &amp; Root Cause Isolation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Triggers corrective workflows before cascading failures develop.</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Scenario Simulation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Tests load changes and equipment swaps against the live twin without touching real systems.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Unified Operations Dashboard</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Consolidates asset health, performance, and risk scores with drill-down visibility across platforms.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30-40%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Unplanned Downtime</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20-30%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Improvement in Asset Utilisation</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25-35%</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Fault Detection and Resolution</a:t>
            </a:r>
            <a:endParaRPr lang="en-US" sz="8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ORDER-TO-DELIVERY ENGINE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Order Fulfillment  ·  Real-Time Sync  ·  Shopify  ·  Logistics  ·  Consumer Goods  ·  Manufacturing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Consumer Goods Manufacturer   |   Domain: Manufacturing   |   Function: Order Fulfillment</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Consumer goods manufacturer ran order, production, and logistics on separate systems with no shared data layer. Sales operated without stock availability data, production worked without visibility into delivery commitments, and dispatch tracked readiness independently. Deliveries were missed, returns processed manually, and order status required cross-checking 3 separate systems.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Unified engine deployed connecting sales, production, and fulfillment on a single platform. Orders sync in real time with production schedules and warehouse stock. Logistics tracking provides full dispatch-to-delivery visibility. Automated workflows handle returns and exceptions without manual processing.</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End-to-End Order Automation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Complete flow from booking to invoicing on a single platform.</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Real-Time Fulfillment Sync</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Orders linked directly to live production schedules and stock levels.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Logistics and Dispatch Tracking</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Shipment visibility from warehouse dispatch to final delivery.</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Automated Returns and Refunds</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Streamlined exception handling without manual intervention.</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Catalog and Product Master</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Single source of truth for product data across all channels.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E-Commerce Integration</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Seamless sync with Shopify and digital storefronts.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22%</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Operational Costs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Increase in Daily Order Throughput</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Real-Time</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Order-to-Delivery Visibility</a:t>
            </a:r>
            <a:endParaRPr lang="en-US" sz="8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TOUCHLESS INVOICE PROCESSING</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AP Automation  ·  3-Way Match  ·  Non-PO  ·  Agentic AI  ·  Supply Chain  ·  Manufacturing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Industrial Supply Chain Operator   |   Domain: Manufacturing   |   Function: Accounts Payable</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Large industrial supply chain operator's AP team processed thousands of supplier invoices weekly across dozens of vendor formats. Non-PO invoices coded manually. Exception queues grew faster than the team could clear them. Average invoice cycle time had reached 17.4 days, with payment delays straining supplier relationships.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Template-agnostic intelligent document processing engine with agentic exception handling deployed to ingest invoices in any format. Extracts header and line-item data, validates against contracted rates and POs, runs three-way match, auto-codes non-PO spend, and surfaces only genuine exceptions with context and recommended resolution.</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Template-Agnostic Document Ingestion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Processes invoices and supporting documents in any format without per-vendor configuration.</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Contracted Rate Validation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Compares extracted line items against agreed rate cards and PO terms automatically before approval.</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Three-Way Match Automation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Matches PO, goods receipt, and invoice data across procurement and ERP systems.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Non-PO Invoice Auto-Coding</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Applies GL codes and cost center allocations using historical spend patterns.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Agentic Exception Handling</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Enriches flagged exceptions with root-cause context and resolution suggestions before routing to staff.</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Procurement-ERP Integration Layer</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Ensures seamless data flow between procurement and finance platforms without manual re-entry.</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78%</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Invoice Processing Cost</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70%+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Touchless Invoice Processing Rate</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3.1 Days</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Average Invoice Cycle (Down from 17.4)</a:t>
            </a:r>
            <a:endParaRPr lang="en-US" sz="8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IT-OT CONVERGENCE SECURITY</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OT Security  ·  SCADA  ·  IDS/IPS  ·  Network Segmentation  ·  IT-OT  ·  Manufacturing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Manufacturing &amp; Distribution Network   |   Domain: Manufacturing   |   Function: Cybersecurity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Large manufacturer connected PLCs, HMIs, SCADA systems, and shop-floor equipment into the corporate IT environment. OT assets remained largely undiscovered and unmonitored after the connection. No segmentation between IT and OT networks, no unified threat detection across plants, and security governance varied by site with no central standard.</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Unified IT-OT security framework deployed, beginning with structured OT asset discovery across plants to catalogue PLCs, HMIs, sensors, and network devices. Network segmentation isolated critical production environments from corporate IT. Central IT-OT security operations centre provides real-time monitoring, anomaly detection, and incident response across both domains.</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OT Asset Discovery</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Full cataloguing of PLCs, HMIs, sensors, and OT devices across sites to establish a comprehensive security baseline.</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Network Segmentation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IT and OT environments actively isolated to contain potential lateral movement and protect critical production systems.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IT-OT Security Operations Centre</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Centralized 24/7 monitoring, anomaly detection, and unified incident response across both domains.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Threat Exposure Management</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Continuous vulnerability identification and risk prioritization across cyber-physical systems and operational technology.</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Secure Remote Access</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Managed connectivity with strict authentication replacing uncontrolled, high-risk entry points into production lines.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IDS/IPS and OT Micro-Segmentation</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Real-time detection, blocking, and zone-based isolation to limit breach propagation across production.</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24/7</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Central Visibility Across Plants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Mapped</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OT Attack Surface Segmented</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Standardized</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Security Governance Across Sites</a:t>
            </a:r>
            <a:endParaRPr lang="en-US" sz="8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INTELLIGENT QUALITY ENGINEERING — PLM</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CI/CD  ·  Selenium  ·  Playwright  ·  Docker  ·  Quality Gates  ·  PLM Software</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PLM Software Provider   |   Domain: Software &amp; Technology   |   Function: Release Engineering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PLM software provider's release cycles were bottlenecked by manual testing. Customization layers accumulated untested regressions, UI and API changes broke silently, and quality sign-off depended on available human bandwidth. Monthly release cadences slipped, production defects surfaced after deployment, and release confidence eroded with every iteration.</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Purpose-built CI/CD pipeline with automated regression intelligence layer deployed for the PLM environment. End-to-end UI and API regression testing runs in containerized parallel execution, with quality gates enforced before every release promotion. Every release advancement is now a governed, evidence-based decision.</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Automated UI Regression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Selenium and Playwright-based regression testing covers all PLM screens, executed in parallel using containerized Docker environments.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API-Level Regression Testing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Validates PLM REST endpoints automatically with every release candidate, catching silent API breaks before deployment.</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Automated Quality Gates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Enforces pass/fail promotion gates before every release advancement.</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Static Code Analysis Integration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Runs code quality checks automatically as part of the pipeline, ahead of test execution.</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Test Coverage Thresholds</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Enforces minimum coverage requirements before any release is promoted.</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Go/No-Go Automation</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Generates automated release decisions based on gate results, removing dependency on manual sign-off bandwidth.</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65%</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Testing Cycles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Production Defects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Predictable Monthly Release Cadence</a:t>
            </a:r>
            <a:endParaRPr lang="en-US" sz="8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AGENTIC SDLC TRANSFORMATION</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Agentic AI  ·  SDLC  ·  Self-Healing  ·  Test Generation  ·  CI/CD  ·  Energy Tech</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Energy &amp; Utilities Technology Provider   |   Domain: Software &amp; Technology   |   Function: Release Engineering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3,000-engineer organization operated with no AI-assisted continuity between planning, development, testing, and deployment. Requirements were translated into test cases manually. Full regression suites ran for every code change. Automation scripts broke with every system update. No feedback loop connected delivery outcomes back into the pipeline.</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End-to-end agentic SDLC framework deployed, embedding AI across every stage of the software lifecycle. AI agents autonomously generate test cases from requirements, perform impact-aware test selection on every commit, and self-heal broken automation scripts without manual intervention.</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 Test Generation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Automatically generates test cases from requirements with 95% coverage accuracy.</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Self-Healing Automation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Repairs broken test scripts automatically, reducing maintenance overhead.</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Intelligent Test Selection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Impact-aware selection targets only affected modules per commit instead of running full regression.</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Defect Prediction Engine</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Predicts defects before they occur using ML pattern recognition.</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Agentic CI/CD Orchestration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AI-driven pipeline orchestration for optimized deployment flow.</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Release Risk Analytics</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Provides real-time risk assessment to support release go/no-go decisions.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40-60%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Automation Maintenance</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50-80%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Regression Cycles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~35%</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Earlier Defect Detection</a:t>
            </a:r>
            <a:endParaRPr lang="en-US" sz="8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AUTONOMOUS INCIDENT REMEDIATION</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LangGraph  ·  ServiceNow  ·  Multi-Agent  ·  Autonomous RCA  ·  IT Operations  ·  ITSM</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Enterprise IT Operator   |   Domain: Software &amp; Technology   |   Function: IT Operations</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enterprise IT operations team was overwhelmed by routine infrastructure incidents like Docker crashes and network drops. Manual diagnosis led to high MTTR, inconsistent resolution quality, and operational fatigue from handling the same incident types repeatedly. Lack of real-time visibility delayed critical service restoration.</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Autonomous remediation layer deployed using multi-agent LangGraph orchestration, integrating directly with ServiceNow to automate root cause analysis and fix execution. Specialized agents diagnose root causes across infrastructure domains. Human-in-the-loop gate holds sensitive security escalations for explicit approval.</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Real-Time Incident Monitoring</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Detects issues in Docker containers, MID servers, and system services with sub-second latency and auto-triggering pipelines.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Autonomous RCA Engine</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Specialized agents diagnose root causes across infrastructure domains using domain-specific diagnostic tools.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Multi-Agent Orchestration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LangGraph-powered workflows ensure seamless transitions between diagnosis, planning, and execution steps.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ServiceNow Bi-Sync</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Synchronizes incident states, work notes, and resolution metrics with enterprise ITSM platforms in real time.</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Transparent Audit Trails</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Maintains full traceability of AI reasoning, tool calls, and execution logs for enterprise compliance.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Human-in-the-Loop Approvals</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Secure approval gates for sensitive operations, ensuring human oversight on high-risk changes.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50-65%</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MTTR for Routine Incidents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75%+</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Incidents Remediated Autonomously</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Sub-Second</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Incident Detection Latency</a:t>
            </a:r>
            <a:endParaRPr lang="en-US" sz="8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APPLICATION PERFORMANCE MANAGEMENT</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APM  ·  Telemetry  ·  License Optimization  ·  Shadow IT  ·  IT Operations  ·  Enterprise</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Enterprise IT Organization   |   Domain: Software &amp; Technology   |   Function: IT Operations</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enterprise IT team managed a sprawling application portfolio with no unified visibility into how applications were actually being used, performing, or failing. Usage data was fragmented, performance issues identified only after users complained, capacity planning relied on static reports, shadow IT went undetected, and underutilized licenses drained budgets quietly.</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Centralized APM platform deployed to aggregate live telemetry, usage signals, and performance metrics across the entire enterprise application portfolio into a single intelligent operations layer. Continuously collects from user sessions, API calls, infrastructure health, response times, error rates, and transaction volumes.</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Live Application Usage Monitor</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Real-time visibility into active users, session volumes, feature-level engagement, and usage frequency across every enterprise application.</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Performance and Health Telemetry</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Continuously tracks response times, error rates, throughput, latency, and uptime SLAs across all monitored applications.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Anomaly Detection and Alerting</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Automatically detects performance degradation, unusual traffic spikes, error surges, and availability drops.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Dependency and Integration Map</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Live topology maps showing how applications interconnect, enabling rapid root-cause identification when failures propagate.</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Unified Enterprise Dashboard</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Consolidates portfolio view with per-application health scores, usage rankings, and license utilization rates.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License Utilization Tracking</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Identifies underutilized and shadow IT licenses across the application estate to reduce wasted spend.</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70-80%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Mean Time to Detect</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30-45%</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Wasted License &amp; Infra Spend</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Single</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Pane of Glass Across Entire App Estate</a:t>
            </a:r>
            <a:endParaRPr lang="en-US" sz="8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COMMAND CENTER &amp; NETWORK OPERATIONS SECURITY</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SIEM  ·  Network Security  ·  Threat Correlation  ·  SOC  ·  Cybersecurity  ·  IT</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Enterprise IT &amp; Security Organization   |   Domain: Software &amp; Technology   |   Function: Cybersecurity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enterprise's network and security teams operated across disconnected monitoring tools, siloed threat feeds, and fragmented operations consoles. Incidents were detected reactively, security alerts buried in noise, and threat correlation required manual analyst effort that critically slowed response. Teams lacked simultaneous visibility into network topology, active threats, device health, and policy compliance.</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Integrated command center and network operations security system deployed to consolidate real-time network telemetry, security event streams, threat intelligence, and infrastructure health into a single unified operations layer. Live signals correlated through an intelligent detection engine, surfacing prioritized alerts from one command interface.</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Real-Time Network Topology Monitor</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Live visibility into device health, traffic flows, bandwidth utilization, and connectivity status across all nodes.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Threat Detection and Correlation Engine</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Correlates security events, access anomalies, and threat intelligence feeds to surface prioritized, high-fidelity alerts.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Unified Security Event Management</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Centralizes ingestion of firewall logs, endpoint signals, intrusion detection events, and access control violations.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Incident Response Orchestration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Automates containment triggers and escalation routing to compress response time from detection to resolution.</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Command Center Operations Dashboard</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Single-pane visibility across network health, active threats, open incidents, and compliance posture.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SLA Performance Tracking</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Monitors response and resolution times against SLA commitments across all open incidents.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60-75%</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Mean Time to Respond</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85-90%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Alert Noise &amp; False Positives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Full-Spectrum</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Visibility Across Network &amp; Security</a:t>
            </a:r>
            <a:endParaRPr lang="en-US" sz="8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MULTI-CLOUD GOVERNANCE &amp; INTEGRATION FRAMEWORK</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AWS  ·  Azure  ·  GCP  ·  Multi-Cloud  ·  Data Residency  ·  Cloud Governance</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Enterprise IT Organization   |   Domain: Software &amp; Technology   |   Function: Cloud Governance</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enterprise ran workloads across AWS, Azure, and GCP with no unified governance layer. Security baselines, access policies, and cost practices differed by environment. Data moved between clouds with no clear ownership or residency controls. Enterprise had no documented position on where customer data resided or how cross-cloud flows were authorized.</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Unified governance framework established across all 3 clouds, defining security baselines, resource standards, identity policies, and cost accountability in one model. Integration patterns formalized, data residency model defined ahead of enforcement, and unified monitoring layer created consistent visibility for operations, compliance, and cost teams.</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Multi-Cloud Governance Framework</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Unifies policies covering security, identity, cost, and resource standards across AWS, Azure, and GCP.</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Data Residency and Classification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Categorizes data by sensitivity with documented storage, access, and transfer rules per environment.</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Cross-Cloud Integration Standards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Formalizes API and data exchange patterns, replacing ungoverned point-to-point connections.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Identity and Access Baseline</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Enforces consistent role definitions and access controls uniformly across AWS, Azure, and GCP.</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Cost Management and Accountability</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Provides spend visibility, allocation, and optimization across multi-cloud workloads from a single view.</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Compliance and Unified Observability</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Runs continuous checks with audit-ready reporting through a single monitoring layer across all 3 clouds.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 Clouds</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Under One Control Model</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Single Layer</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Observability Across All Workloads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Consistent</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Security Baseline Reducing Blind Spots</a:t>
            </a:r>
            <a:endParaRPr lang="en-US" sz="8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INTELLIGENT ENTERPRISE ORCHESTRATION</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Agentic AI  ·  ServiceNow  ·  Workday  ·  Concur  ·  Enterprise Automation  ·  RBAC</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Enterprise IT Organization   |   Domain: Software &amp; Technology   |   Function: Enterprise Automation</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enterprise's AI deployments were fragmented across monolithic systems. A typical enterprise AI rollout took 6-9 months and cost over $300,000, with no unified intelligence or shared context between systems like ServiceNow, Workday, and Concur. Each new automation effort effectively started from zero.</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Modular agent-as-a-tool orchestration layer deployed, connecting enterprise systems through a central orchestrator. Each agent operates independently while sharing context with the others, enabling incremental deployment, cross-system intelligence, and secure automation governed by role-based access control.</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Agent-as-a-Tool Orchestration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Connects enterprise systems through a central orchestrator while each agent operates independently.</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Cross-System Context Sharing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Shares context between agents across connected systems for coordinated decisioning.</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Incremental Deployment Model</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Enables new use cases to be added without rebuilding the underlying integration layer.</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RBAC-Governed Automation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Secures every automated action with role-based access control.</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Vendor-Agnostic Architecture</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Avoids lock-in to any single platform vendor as the system scales.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Rapid Use-Case Onboarding</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Reduces the time to stand up a new automation use case from months to weeks.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85%</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Deployment (6-9 Months → ~5 Weeks)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85%</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Cost Reduction ($300K → ~$50K)</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40-50%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Resolution via Cross-System Orchestration</a:t>
            </a:r>
            <a:endParaRPr lang="en-US" sz="8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AGENTIC AI GOVERNANCE IMPLEMENTATION</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AI Governance  ·  Human-in-the-Loop  ·  Audit Trail  ·  Cost Tracking  ·  Compliance  ·  Enterprise AI</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Enterprise IT Organization   |   Domain: Software &amp; Technology   |   Function: AI Governance</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Enterprise deploying autonomous AI agents had no standardized approval policies, human-in-the-loop controls, or audit mechanisms governing agent behavior. Agent decisions had no visible trail, and cost accountability across agentic use cases was entirely absent — leaving compliance and finance teams with no way to verify what agents had done or what it had cost.</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Governance layer deployed to operationalize autonomous agent oversight, designing approval policies, building behavior monitoring dashboards, and establishing token-level cost tracking and ROI measurement per use case. Every agent action now carries a visible decision trail and a cost attribution back to its specific use case.</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Approval Policy Design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Establishes standardized approval workflows for autonomous agent actions.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Human-in-the-Loop Controls</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Embeds review gates for sensitive or high-impact agent decisions.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Behavior Monitoring Dashboards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Tracks agent behavior continuously across all deployed use cases.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Token-Level Cost Tracking</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Attributes AI spend down to the token level per use case.</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ROI Measurement</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Measures return on investment per agentic use case against defined business outcomes.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Audit Trail Generation</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Maintains full decision trail visibility across every autonomous workflow for compliance review.</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3x</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Agent Audit &amp; Compliance Reviews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Decision Trail Visibility</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Ungoverned Agent Spend</a:t>
            </a:r>
            <a:endParaRPr lang="en-US" sz="8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LLMOPS AND GENAI OBSERVABILITY</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LLMOps  ·  GenAI  ·  RAG Quality  ·  Semantic Drift  ·  Prompt Tracing  ·  AI Governance</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Enterprise IT Organization   |   Domain: Software &amp; Technology   |   Function: AI Governance</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Enterprise running GenAI applications in production had no meaningful observability into how those applications behaved. Prompt traces were lost, RAG retrieval quality went unmeasured, cost attribution per use case remained unclear, and standard APM tooling captured infrastructure metrics but missed AI-specific operational signals entirely.</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Purpose-built observability layer deployed to deliver prompt-level tracing, retrieval quality scoring, semantic drift detection, and cost attribution. System correlates user intent through agent action to business outcome, giving end-to-end production traceability that standard infrastructure monitoring could not provide.</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Prompt-Level Tracing</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Captures and traces every prompt through the full GenAI pipeline.</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Retrieval Quality Scoring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Measures RAG retrieval quality continuously rather than assuming correctness.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Semantic Drift Detection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Detects when model outputs drift semantically from expected behavior.</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Cost Attribution per Use Case</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Tracks GenAI spend by specific use case rather than aggregated infrastructure cost.</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Intent-to-Outcome Correlation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Correlates user intent through agent action to business outcome for full traceability.</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Continuous Performance Telemetry</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Provides ongoing, telemetry-driven visibility instead of reactive incident response.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50-70%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Improvement in GenAI Operational Visibility</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40-55%</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Root Cause ID for Model Performance</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Continuous</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Telemetry-Driven Performance Management</a:t>
            </a:r>
            <a:endParaRPr lang="en-US" sz="8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AI GOVERNANCE AND GUARDRAILS</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AI Safety  ·  Guardrails  ·  Output Validation  ·  Compliance  ·  Policy Enforcement  ·  Enterprise AI</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Enterprise IT Organization   |   Domain: Software &amp; Technology   |   Function: AI Governance</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Enterprise deploying AI at scale faced growing pressure to ensure outputs remained safe, compliant, and aligned with regulatory expectations. Without embedded guardrails, AI systems risked generating harmful outputs and operating without accountability across business-critical workflows.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Guardrails and governance framework deployed to embed safety controls, output validation, and compliance checkpoints directly into AI pipelines. Every model interaction is monitored, bounded by policy, and auditable across all deployment environments. Policy enforcement happens in real time as part of the pipeline.</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Embedded Safety Controls</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Builds safety checks directly into the AI pipeline rather than as an external review step.</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Output Validation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Validates model outputs against defined policy before they reach downstream systems.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Compliance Checkpoints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Enforces compliance checks at defined points across the AI pipeline.</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Real-Time Guardrail Enforcement</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Applies policy bounds to every model interaction as it happens.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Cross-Environment Auditability</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Maintains auditability across all deployment environments, not just production.</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Policy-Bounded Model Interaction</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Ensures every model interaction stays within defined policy bounds by design.</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50-60%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Policy Violation Incidents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Model Interactions Monitored &amp; Policy-Bounded</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Real-Time</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Guardrail Enforcement Across All AI Workflows</a:t>
            </a:r>
            <a:endParaRPr lang="en-US" sz="8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SAM AND HAM — IT ASSET MANAGEMENT</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ServiceNow  ·  Software Assets  ·  Hardware Lifecycle  ·  License Optimization  ·  Audit Readiness  ·  ITAM</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Enterprise IT Organization   |   Domain: Software &amp; Technology   |   Function: IT Operations</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enterprise had fragmented IT asset data leaving up to 30% of annual software spend tied up in unused licenses and unassigned hardware. Manual tracking made it impossible to mount a defensible position against aggressive Oracle, Microsoft, and IBM license audits, driving multi-million dollar true-up penalties.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Unified ServiceNow-led software and hardware asset management framework deployed, bringing every license and device into one pane of glass governed from a single source of truth. Unused and underutilized licenses surfaced against actual consumption, every device tracked from procurement to retirement automatically.</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Software License Optimization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Surfaces unused and underutilized licenses against actual consumption, reclaiming the ~30% of software spend that fragmented tracking strands.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Automated Hardware Lifecycle</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Tracks every device from procurement to retirement automatically, ending the unassigned-hardware blind spot.</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Always Audit-Ready Position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Maintains a defensible, real-time compliance position for Oracle, Microsoft, and IBM audits, replacing 200+ hours of manual prep per vendor.</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Single Source of Truth in ServiceNow</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Consolidates all software and hardware data inside ServiceNow, eliminating siloed management that creates blind spots.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License Consumption Analytics</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Compares purchased entitlements against actual usage continuously so over-licensing is visible and actionable.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True-Up Exposure Management</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Tracks entitlement positions against actual deployment to quantify and minimize true-up exposure ahead of vendor audit cycles.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Of Annual Software Spend Reclaimed</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200+ hrs</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Per Vendor Saved on Audit Preparation</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Audit Readiness with Real-Time Position</a:t>
            </a:r>
            <a:endParaRPr lang="en-US" sz="8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DEVSECOPS PIPELINE FOR OPEN BANKING — BFSI</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PSD2  ·  SAST/DAST  ·  FCA  ·  MAS  ·  RBI  ·  DevSecOps Banking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Top-Tier Banking Institution   |   Domain: Banking &amp; Financial Services   |   Function: Open Banking Compliance</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Bank's open banking initiatives spanning PSD2 compliance across European markets and CMA API enablement required continuous delivery pipelines embedding security and compliance gates without sacrificing release velocity. Operating under simultaneous FCA, MAS, RBI, and Fed oversight, every release needed audit-ready traceability. Manual governance processes created release bottlenecks.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AWS-based DevSecOps pipeline deployed using a release train model with automated quality and security gates at every stage. Multiple parallel microservice releases governed through SAST/DAST scanning, test automation enforcement, and compliance artifact generation, enabling simultaneous multi-jurisdiction delivery with full regulatory traceability.</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Automated Security Gates</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Blocks non-compliant code from reaching production automatically.</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SAST/DAST Scanning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Runs continuous static and dynamic security testing on every build.</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Release Train Model</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Coordinates release cycles across interdependent services.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Compliance Traceability</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Generates audit-ready artifacts for every build automatically.</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Multi-Jurisdiction CI/CD</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Supports simultaneous deployment across differing regulatory zones.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Test Automation Framework</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Replaces manual QA with a comprehensive automated regression suite.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94%</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Test Automation Across Microservices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 Parallel</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Releases Governed Across FCA, MAS &amp; RBI</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65%</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Deployment Cycle to Production</a:t>
            </a:r>
            <a:endParaRPr lang="en-US" sz="8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AGENTIC ORDER-TO-CASH TRANSFORMATION</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O2C  ·  Cash Application  ·  DSO  ·  Dunning  ·  Freight  ·  Logistics</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Freight &amp; Logistics Operator   |   Domain: Logistics &amp; Freight   |   Function: Order-to-Cash</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Third-party logistics operator managing thousands of daily shipments faced structural cash-flow delays in accounts receivable. Collections managers worked aging buckets, remittances arrived in mismatched formats, unapplied cash accumulated silently, and dispute resolution depended on individual analyst judgment. Every day of delayed cash application left working capital idle.</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AI execution layer deployed over existing ERP and collections platforms. Remittances matched automatically using AI pattern recognition. Collections prioritized by predicted payment probability. Deductions and disputes auto-classified and routed. AI-drafted dunning outreach reviewed by collections team before send. All matched items staged for human confirmation before GL posting.</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Intelligent Cash Application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Auto-matches remittances to open invoices across formats and channels, including partial payments and multi-invoice remittances.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Predictive Collections Prioritization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Scores every open receivable by payment likelihood, focusing collector effort where it moves cash fastest.</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Deduction and Dispute Auto-Routing</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Classifies incoming deductions by reason code and routes to the right resolution team without manual triage.</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AI-Drafted Dunning Outreach</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Generates contextually appropriate follow-up communications, reviewed and released by the collections team.</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Human-in-the-Loop ERP Write-Back</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Stages all matched and resolved items for human confirmation before posting to the general ledger.</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O2C Analytics Dashboard</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Real-time visibility into DSO trends, unapplied cash balances, dispute aging, and team productivity.</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85-92%</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Cash Application Auto-Match Rate</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37%</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DSO Within 2 Quarters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90%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Drop in Unapplied Cash Backlog at Go-Live</a:t>
            </a:r>
            <a:endParaRPr lang="en-US" sz="8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CLOSE AND CONTROL COPILOT</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Period-End Close  ·  GBS  ·  Agentic Finance  ·  IT Triage  ·  QA Test Generation  ·  Banking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Banking Institution   |   Domain: Banking &amp; Financial Services   |   Function: Global Capability Center Operations</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Banking institution's finance controllers spent close week drafting journals and chasing reconciliations by hand. IT support absorbed senior engineers in Tier-1 requests. QA leads watched release cycles stretch because manual test generation couldn't keep pace with development. Across all 3 functions, capable people were doing work that did not require their judgment.</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Agentic copilots deployed across finance, IT support, and QA simultaneously. Finance agents handle reconciliation drafting, anomaly flagging, and journal preparation with human review before posting. IT support AI triage resolves Tier-1 tickets automatically. QA AI-assisted test generation and defect classification accelerate release cycles.</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Agentic Reconciliation &amp; Journal Drafting</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Prepares period-end reconciliations and journal entries from source data, flagged for human sign-off before posting.</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Financial Anomaly Detection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Continuously monitors transaction data to surface outliers before close, not after.</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IT Ticket Deflection and Triage</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Resolves Tier-1 service requests automatically and routes escalations pre-enriched with diagnostic context.</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AI-Assisted QA and Test Generation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Generates test cases from requirements, classifies defects, and accelerates regression coverage.</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Agent Supervision Training</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Provides a structured capability-building program transitioning staff to agentic-first operating roles.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GBS Value Dashboard</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Tracks agent productivity, process cycle times, and headcount-to-output ratios across all 3 functions.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70%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Finance Process Cycle Time</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Of GBS Tasks Handled by Agents at Full Deployment</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Drop in Manual Close Workload in First 2 Quarters</a:t>
            </a:r>
            <a:endParaRPr lang="en-US" sz="8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AI/ML AND INTELLIGENT AUTOMATION — FINANCIAL INSTITUTIONS</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GenAI  ·  MLOps  ·  Credit Research  ·  Covenant Tracking  ·  RAG  ·  BFSI</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Financial Institution   |   Domain: Banking &amp; Financial Services   |   Function: Enterprise AI Operations</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Financial institution needed to operationalize GenAI and ML across credit research, deal processing, and portfolio surveillance but lacked an enterprise framework for governance, security, and auditability. Analyst time went into manual credit research summarization, deal memo drafting, and document checklist work, with no systematic way to monitor portfolio risk or covenant compliance at scale.</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Enterprise-grade GenAI and ML platform deployed covering AI assistants for credit research and deal memo drafting, intelligent document processing for deal checklists, and predictive surveillance for portfolio monitoring and covenant tracking. Delivery follows structured framework: use-case discovery, vectorization, RAG/LLM engineering, and MLOps governance.</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 Credit Research Summarization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Assembles and summarizes credit research from source documents and filings automatically.</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Deal Memo Drafting Assistant</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Drafts deal memos and advisor engagement materials for analyst review.</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Intelligent Document Processing</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Automates document extraction, data verification, and checklist workflows for deals.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ML-Driven Portfolio Monitoring</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Tracks portfolio performance and surfaces risk signals continuously.</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Covenant Tracking Alerts</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Flags covenant breaches and market trend deviations automatically.</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MLOps and Audit Governance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Provides model monitoring, drift detection, and audit-trail integration for regulatory compliance.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Increase in Analyst Productivity</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90%+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Precision and Recall</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Cycle Time</a:t>
            </a:r>
            <a:endParaRPr lang="en-US" sz="8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AI-POWERED FINANCIAL RECONCILIATION</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Reconciliation  ·  Agentic AI  ·  Month-End Close  ·  Exception Resolution  ·  Finance Ops  ·  AP/AR</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Top-Tier Enterprise Finance Organization   |   Domain: Finance Operations   |   Function: Financial Reconciliation</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Finance organization's teams manually matched transactions across multiple channels against payments, returns, and deductions that frequently arrived late, partial, or mismatched. Every exception landed in an analyst's queue, and month-end close was held hostage to manual reconciliation across disconnected ledgers that didn't share a common transaction view.</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Agentic reconciliation engine deployed to ingest transactions across every source, intelligently match collections, reason through partial payments and deductions autonomously, and escalate only genuine exceptions. Conversational interface lets finance teams query trends, risks, and outstanding items in plain language instead of pulling static reports.</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Multi-Source Transaction Ingestion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Connects to every transaction source and ledger, normalizing data into a unified reconciliation layer.</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Intelligent Match Engine</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Matches sales to collections across channels, handling partial payments, timing mismatches, and format inconsistencies.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Exception Reasoning and Auto-Resolution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Reasons through deductions, short payments, and returns autonomously, resolving most without analyst involvement.</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Conversational Finance Interface</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Lets finance teams query outstanding items, trends, and risk areas in plain language.</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Audit Trail and Lineage</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Carries full lineage including source, logic applied, and confidence score for every matched decision.</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Anomaly Detection and Risk Flagging</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Continuously monitors transaction patterns and surfaces unusual deduction trends or reconciliation gaps before they escalate.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80-90%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Exceptions Resolved Autonomously</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40-50%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Month-End Close</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Day 1</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Full Transaction Auditability</a:t>
            </a:r>
            <a:endParaRPr lang="en-US" sz="8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MARKET DATA COST OPTIMIZATION &amp; CONVERSATIONAL ANALYTICS</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Bloomberg  ·  Refinitiv  ·  Entitlement Audit  ·  GenAI  ·  Wealth Management  ·  Market Data</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Top-Tier Banking Institution   |   Domain: Banking &amp; Financial Services   |   Function: Market Data Governance</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Wealth management and capital markets functions ran on costly market data feeds. Entitlement sprawl across named users, redundant subscriptions, and manual invoice reconciliation were inflating market data spend. Frontline relationship managers remained dependent on analysts for routine data queries, creating decision latency on client-facing conversations.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GenAI-powered market data management platform deployed to automate entitlement auditing and invoice processing across Bloomberg and Refinitiv contracts. Conversational analytics layer embedded for frontline wealth teams, letting relationship managers query market and portfolio data in natural language without going through an analyst.</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Entitlement Audit Engine</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Automatically discovers unused licenses and seats across the organization.</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Subscription Rationalization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Consolidates redundant data feeds across business units.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Automated Invoice Processing</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Streamlines payment workflows and reconciliation for data vendor invoices.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Conversational Analytics Interface</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Natural language interface for complex market and portfolio data queries.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Spend Governance Dashboard</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Real-time visibility into global market data consumption.</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Vendor Contract Management</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Centralizes tracking of renewal dates and contract terms.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$4.1M</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Redundant Subscriptions Identified &amp; Rationalized</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52%</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Effort Reduction in Entitlement Audits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4hr→12min</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Average Query Turnaround for RMs</a:t>
            </a:r>
            <a:endParaRPr lang="en-US" sz="8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CLEARSIGHT — CHEQUE CLEARING AUTOMATION</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Cheque Clearing  ·  AI Signature Verification  ·  Payment Operations  ·  Retail Banking  ·  Fraud Prevention  ·  Automation</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Retail Banking Institution   |   Domain: Banking &amp; Financial Services   |   Function: Payment Operations</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Retail bank's cheque clearing operation was only half-automated. Cheques were scanned but signatures and data fields still required manual four-eyes validation. During peak cycles and month-ends, dependence on human reviewers created backlogs, missed clearing windows, and delayed fund availability. Without an automated verification layer, the bank was exposed to signature forgery that manual inspection frequently missed.</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AI-powered clearing operations engine deployed to automate the end-to-end cheque lifecycle, from extraction and signature verification to downstream core-banking integration. Routine volume clears automatically at machine speed. Forgery caught through AI verification rather than manual inspection. Only true exceptions route to a human reviewer.</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End-to-End Cheque Automation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Handles the full lifecycle from extraction to downstream core-banking integration, replacing semi-digital scan-then-validate workflow.</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 Signature Verification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Validates signatures automatically against forgery patterns that manual four-eyes inspection frequently misses.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Peak-Proof Clearing Windows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Clears volume at machine speed through peaks and month-ends, eliminating window misses and T+2 fund-availability delays.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Exception Routing</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Routes only true exceptions to human reviewers, keeping manual workload proportional to genuine complexity.</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Core-Banking Integration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Connects directly to downstream core-banking systems for seamless posting without manual re-entry.</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100% Verification Coverage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Every cheque and signature is checked rather than sampled, closing the coverage gap that selective manual review cannot address.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$150K-400K</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Saved Per Year in Clearing Labor</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T+2→Same Day</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Fund Availability for Cleared Cheques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Signature Verification Coverage</a:t>
            </a:r>
            <a:endParaRPr lang="en-US" sz="8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CONTACTFLOW AI — CONTACT CENTER INTELLIGENCE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Contact Center  ·  NLP  ·  Indic Languages  ·  100% QA  ·  Hinglish  ·  Telecom BFSI</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Telecommunications &amp; Financial Services Operator   |   Domain: Banking &amp; Financial Services   |   Function: Contact Center Operations</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Contact center agents spent an average of 47 minutes resolving routine billing and service queries, requiring manual search across 6+ disconnected systems. New agents needed 8 weeks of ramp before going live. Only 2-5% of calls were ever reviewed, making coaching guesswork and leaving compliance breaches to surface through customer escalations.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Tenant-resident AI operating stack deployed to sit beside every agent on live calls, surfacing next-best action and verified answers within 2 seconds. Automated QA scores every call on compliance, script adherence, and sentiment the moment it ends. Runs natively across 10+ Indic languages including code-switched Hindi-English.</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Live In-Call Copilot</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Surfaces next-best action, policy clauses, and verified answers on the agent's screen within 2 seconds, drawn only from sanctioned knowledge base.</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100% Automated QA</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Scores every call on compliance, script adherence, and sentiment the moment it ends, flagging breaches in real time rather than weeks later.</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Native Indic &amp; Hinglish Support</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Understands code-switched speech across 10+ languages without routing to a separate queue, keeping resolution in first contact.</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Knowledge Base Grounding</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Answers drawn exclusively from sanctioned content, eliminating fabricated responses during live calls.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Compliance Breach Flagging</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Surfaces compliance issues immediately on call completion rather than through customer escalation cycles.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Volume Deflection Engine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Handles automatable volume off human queues, reducing agent load on routine inquiries.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47→8 Min</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Avg Resolution Time on Routine Journeys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QA Coverage Replacing 2-5% Manual Sampling</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10-20%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Total Volume Deflected Off Human Queues</a:t>
            </a:r>
            <a:endParaRPr lang="en-US" sz="8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VOICEVISTA — CALL INTELLIGENCE &amp; QA AUTOMATION</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Call Intelligence  ·  QA Automation  ·  Voice Agents  ·  Compliance Monitoring  ·  Contact Center  ·  AI</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Enterprise Contact Center Operator   |   Domain: Banking &amp; Financial Services   |   Function: Contact Center Operations</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Large enterprise contact center reviewed only 10% of calls manually, leaving a 90% blind spot across QA and compliance coverage. Supervisors managed escalations reactively after damage was done, raising churn risk and regulatory exposure. Coaching was disconnected from actual call performance, and language barriers forced expensive language-specific hiring.</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Modular AI conversation intelligence platform deployed above existing telephony and CRM stack without changing any workflow. Every call is reviewed instead of a 10% manual sample. At-risk calls flagged to supervisors as they happen. Tier-1 voice agent layer handles routine volume across languages with seamless escalation.</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100% Call Visibility</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Reviews every call instead of a 10% manual sample, closing the QA and compliance blind spot without adding QA analysts.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Proactive Escalation Detection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Flags at-risk calls as they happen so supervisors intervene before damage is done, replacing reactive after-the-fact handling.</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Vista Nova Tier-1 Voice Agents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Deflects routine volume with seamless escalation across languages without requiring telephony changes.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Compliance Monitoring</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Identifies compliance breaches on every call in real time rather than surfacing them through customer escalations.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Coaching Intelligence</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Grounds coaching in actual call performance data rather than the 10% sample that previously drove feedback.</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Existing Stack Integration</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Sits above existing telephony and CRM systems without changing any workflow or requiring re-platforming.</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Call Visibility Replacing 10% Manual Sampling</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Of Tier-1 Volume Deflected</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Cost-Per-Contact on Tier-1</a:t>
            </a:r>
            <a:endParaRPr lang="en-US" sz="8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DUE DILIGENCE ACCELERATION</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Due Diligence  ·  VC  ·  CIM  ·  Data Room  ·  Checklist Automation  ·  Financial Models</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Venture Capital Firm   |   Domain: Private Equity &amp; Venture Capital   |   Function: Due Diligence</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VC firm growing at 20% CAGR found due diligence capacity was its binding constraint on deal velocity. Manual data collection and document review consumed weeks per deal. In AI, SaaS, and FinTech deals, target companies often lacked mature financial reporting, forcing analysts to infer signals from product data, cohort metrics, and market proxies — slowing every deal further.</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AI-powered due diligence platform deployed to read inbound deal materials, extract key financial data, build draft financial models, and manage the diligence checklist workflow. Reads CIMs, data rooms, cap tables, product metrics, and presentations to populate draft models automatically. Dynamic checklists adapt by deal type.</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Automated Data Extraction &amp; Model Scaffolding</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Reads CIMs, data rooms, cap tables, product metrics, and presentations to populate draft financial models.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Document and Data Room Intelligence</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Tracks received and outstanding items with intelligent follow-up and completeness scoring.</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Diligence Checklist Automation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Dynamic checklists adapt by deal type, auto-populate where data exists, and flag gaps.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Portfolio Company Data Readiness Assessment</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Evaluates reporting infrastructure, data maturity, and analytics gaps before close.</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KPI and Sector Comparable Benchmarking</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Surfaces relevant sector comparables alongside the draft model for faster context.</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Pre-Close Gap Flagging</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Identifies data and reporting gaps before close to prevent post-close surprises.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Weeks→Days</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Due Diligence Cycle Time</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Zero</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Missed Diligence Items via Auto-Populated Checklists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Day 1</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Value Creation Ready with No Post-Close Surprises</a:t>
            </a:r>
            <a:endParaRPr lang="en-US" sz="8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INVESTMENT ANALYSIS AND MEMO INTELLIGENCE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Private Credit  ·  Investment Memo  ·  LLM  ·  Red Flag Detection  ·  Exit Modelling  ·  PE</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Private Credit Investment Firm   |   Domain: Private Equity &amp; Venture Capital   |   Function: Investment Underwriting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Private credit firm's analysts spent the majority of their time on data gathering rather than credit judgment. Memo creation was repetitive, memo quality varied across the team, and deal windows compressed quickly — firms taking 6 weeks to form conviction were losing deals to firms that could move in days.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AI co-pilot purpose-built for credit analysis and investment memo generation deployed to accelerate research and drafting. Assembles company profiles from databases, filings, and news into structured briefs, drafts memos using firm templates with metrics and comparables pre-populated, and models exit scenarios at deal entry.</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Research Acceleration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Assembles profiles from databases, filings, and news into structured, pre-populated briefs.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Investment Memo Generation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LLM-powered drafting using firm templates, pulling metrics, comparables, and risks for analyst review.</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Red Flag Detection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Cross-references deal data against founder signals, sector risks, regulatory exposure, and comparable failures.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Exit Thesis Modelling</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Models potential exit scenarios including trade sale, secondary, and IPO, stress-tested across market conditions.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Comparable and Metric Sourcing</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Pulls relevant sector comparables and benchmark metrics automatically into every memo draft.</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Standardized Memo Quality</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Enforces consistent, institutional-grade memo structure and content across every analyst.</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More Time</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on Judgment, Less on Data Assembly</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Consistent</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Institutional-Grade Memos Every Time</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Fewer</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Post-Close Surprises via AI-Surfaced Red Flags</a:t>
            </a:r>
            <a:endParaRPr lang="en-US" sz="8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PORTFOLIO COMPANY MONITORING</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Portfolio Monitoring  ·  KPI Tracking  ·  News Signals  ·  PE  ·  Peer Benchmarking  ·  LP Reporting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Private Equity Firm   |   Domain: Private Equity &amp; Venture Capital   |   Function: Portfolio Monitoring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PE firm's portfolio companies often lacked the reporting infrastructure to give the firm real-time visibility into performance. News events, management changes, and peer deterioration were easy to miss between board meetings. LPs expected proactive portfolio intelligence, not quarterly surprises, and the firm had no systematic way to deliver it.</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Continuous monitoring engine deployed to track every portfolio company across financial performance, KPI benchmarks, news signals, and market data, alerting the team before problems became losses. Automated ingestion tracks growth metrics, burn rate, and milestones continuously. News and event monitoring correlates external signals with financial performance.</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KPI and Financial Health Monitoring</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Automated ingestion of portfolio company financials and KPIs with continuous tracking of growth metrics, burn rate, and milestones.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News and Event Monitoring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Scans news, regulatory filings, and market data for signals and correlates events with financials.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Peer Benchmarking</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Automated comparison against sector peers and market trends to identify relative underperformance.</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Post-Investment Data Readiness Onboarding</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Brings portfolio companies without structured reporting onto a consistent data standard after investment.</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Monthly Health Reporting</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Generates recurring health reports for each portfolio company without manual compilation.</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Quarterly Deep-Dive Analysis</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Produces structured quarterly reviews combining financial, market, and peer signals.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Earlier</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Visibility Into Performance Deviations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No Surprises</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Team Sees Signals as They Happen</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LP-Ready</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Portfolio Intelligence Demonstrating Active Management</a:t>
            </a:r>
            <a:endParaRPr lang="en-US" sz="85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COMPLIANCE AND REPORTING AUTOMATION — INVESTMENT FUNDS</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DFSA  ·  ADGM  ·  SCA  ·  SEC  ·  Regulatory Compliance  ·  Multi-Jurisdiction</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Multi-Jurisdiction Investment Fund   |   Domain: Private Equity &amp; Venture Capital   |   Function: Regulatory Compliance</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Multi-jurisdiction investment fund managed inventory reporting through spreadsheets and manual processes, with compliance checklists tracked over email. Audit gaps and meaningful operational risk as regulatory burden increased linearly with AUM growth. Portfolio companies in regulated sectors often lacked their own compliance infrastructure.</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Automated compliance platform deployed to track regulatory requirements across UAE SCA, DFSA, ADGM, and SEC frameworks, generate inventory reports, manage checklists, and produce audit-ready documentation from a unified data layer. Portfolio company compliance readiness checks run ahead of exit.</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Automated Inventory &amp; Regulatory Reporting</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Maintains an audit-ready compliance posture that scales with fund growth rather than headcount.</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Intelligent Checklist Management</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Tracks compliance items with zero missed steps across the fund's regulatory obligations.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Multi-Jurisdiction Coverage</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Aligns seamlessly with DFSA, ADGM, and SCA frameworks alongside SEC requirements.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Portfolio Company Compliance Readiness</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Runs pre-exit compliance audits and remediation for portfolio companies entering regulated markets.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Unified Compliance Data Layer</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Consolidates regulatory data across jurisdictions into a single source for reporting and audit.</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Audit-Ready Documentation Generation</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Produces documentation formatted for regulator and auditor review without manual assembly.</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Scalable</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Audit-Ready Posture Without Adding Headcount</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Zero</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Missed Compliance Items Across Checklist</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No</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Exit Multiple Compression from Compliance Gaps</a:t>
            </a:r>
            <a:endParaRPr lang="en-US" sz="8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DEALIQ — AGENTIC DEAL INTELLIGENCE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Deal Intelligence  ·  CIM Parsing  ·  Agentic AI  ·  Investment Memos  ·  DD Checklists  ·  Private Credit</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Private Credit &amp; Private Equity Firm   |   Domain: Private Equity &amp; Venture Capital   |   Function: Deal Sourcing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Private credit and PE firm's analysts spent days reading each CIM and teaser, scoring it against the mandate by hand and building due diligence checklists from scratch for every deal. On-mandate deals were getting buried under off-mandate volume that consumed the same review cycles. Origination throughput was capped by reading speed rather than quality of deal flow.</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Agentic deal-intelligence engine deployed to read CIMs and teasers automatically, score each deal against the mandate, and draft due diligence checklists and investment memos without manual input. On-mandate opportunities surface first in a ranked view, and analysts enter every deal with a structured first draft.</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Automated Deal Sourcing and Triage</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Ingests CIMs and teasers, scores fit against the mandate, and ranks deal flow so on-mandate opportunities surface first.</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Instant Due Diligence Preparation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Generates a tailored DD checklist for each deal automatically, replacing the from-scratch build that repeats on every opportunity.</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Drafted Investment Memos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Converts deal reading and scoring into a structured first-draft memo, moving the team from triage to decision without writing lag.</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Mandate-Based Scoring Engine</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Continuously scores incoming deal flow against defined investment criteria without manual assessment.</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CIM and Teaser Parsing</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Extracts key terms, financials, and sector signals from unstructured deal documents automatically.</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Deal Ranking and Prioritization</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Surfaces the strongest on-mandate deals at the top of the queue, preventing strong opportunities from being buried.</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Days→Hours</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Per CIM with Manual Reading Automated</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On-Mandate</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Deals Ranked and Surfaced First</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Uncapped</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Origination Throughput Beyond Reading Speed</a:t>
            </a:r>
            <a:endParaRPr lang="en-US" sz="8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OPSIQ — INVESTMENT OPERATIONS CONSOLE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Fund Admin  ·  Reconciliation  ·  Geneva  ·  eFront  ·  NAV Validation  ·  Multi-Custodian</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Fund Administrator &amp; Asset Manager   |   Domain: Private Equity &amp; Venture Capital   |   Function: Investment Operations</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Fund administrator's analysts burned 800+ hours per month matching position, cash, NAV, and trade line items by hand across spreadsheets, Geneva, eFront, custodian portals, and Bloomberg. NAV strikes depended on individual recall of 25+ validation checks, and breaks aging beyond 3 days went unnoticed until someone escalated.</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Agentic investment operations console deployed to auto-reconcile position, cash, NAV, and trade across Geneva, eFront, and custodians, leaving analysts only the true exceptions. The 25+ NAV validation checks codified as system rules. Break aging and exceptions surface in a single console instead of 10+ systems.</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Automated Multi-Source Reconciliation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Matches position, cash, NAV, and trade across Geneva, eFront, custodians, and Bloomberg automatically, leaving analysts only true exceptions.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Codified NAV Validation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Runs 25+ validation checks as system rules rather than tribal knowledge, making NAV strike repeatable.</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Single Operational View</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Surfaces break aging and exceptions in one console instead of 10+ systems.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Multi-Custodian Support</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Scales across custodians and funds without adding manual load linearly as the portfolio grows.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Exception Aging Tracking</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Flags breaks by age so the oldest and highest-risk exceptions receive attention first.</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Audit-Ready Reconciliation Records</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Maintains a complete, time-stamped record of every reconciliation decision for fund audit and LP reporting.</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800+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Hours/Month Reclaimed from Manual Reconciliation</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25+</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NAV Validation Checks Codified Off Tribal Knowledge</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Single</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Operational Console Replacing 10+ Disconnected Systems</a:t>
            </a:r>
            <a:endParaRPr lang="en-US" sz="8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PORTFOLIO INTELLIGENCE AI — CONTINUOUS MONITORING</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Portfolio Monitoring  ·  Covenant Tracking  ·  Credit  ·  Alternative Assets  ·  Agentic AI  ·  LP Reporting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Alternative Asset Manager   |   Domain: Private Equity &amp; Venture Capital   |   Function: Portfolio Monitoring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Private credit and alternative asset manager ran portfolio monitoring as a quarterly exercise. Covenant breaches, sector rotations, and credit-sensitive news landed in inboxes days or weeks after the signal appeared. Analysts spent 2-3 days per company per review stitching financials, covenant headroom, news, and peer data across spreadsheets and PDFs.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Continuous agentic portfolio monitoring platform deployed to ingest financial, covenant, news, and market signals in near real time and link every signal to the specific holding. Live health-scored view replaces quarter-end spreadsheet assembly. AI-drafted commentary grounded in firm's own data logs what was known and when.</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Continuous Signal Ingestion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Pulls financials, covenant headroom, news, and market data in near real time and links every signal to the specific holding.</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Live Health-Scored View</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Replaces quarter-end spreadsheet assembly with an always-current, health-scored portfolio view available when needed.</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Audit-Trailed AI Commentary</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Drafts commentary grounded in the firm's own data and logs what was known and when, producing a defensible record for audit.</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Covenant Headroom Tracking</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Monitors headroom against covenants continuously rather than at quarterly review, flagging deterioration as it develops.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News and Market Signal Correlation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Automatically links external news and market movements to specific holdings, surfacing relevance without manual scanning.</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Peer Benchmarking</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Compares each holding against sector peers continuously so relative underperformance is visible in real time.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2-3 Days</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Per-Company Review Prep Automated &amp; Eliminated</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Real-Time</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Signal Capture Replacing Weeks-Late Monitoring</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Audit Trail Evidencing What Was Known &amp; When</a:t>
            </a:r>
            <a:endParaRPr lang="en-US" sz="8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GENERATION AND GRID FORECASTING INTELLIGENCE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Renewable Energy  ·  ML Forecasting  ·  Grid Dispatch  ·  Curtailment  ·  SCADA  ·  Weather Integration</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Renewable Energy Operator   |   Domain: Energy   |   Function: Grid Operations</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Renewable energy operator scheduling generation and grid dispatch relied on fixed assumptions and day-ahead estimates that failed to account for real-time weather variability, equipment condition, and demand fluctuations. Forecast inaccuracies led to grid imbalance penalties, missed dispatch windows, and suboptimal asset utilization.</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AI-driven forecasting layer deployed to continuously ingest weather, SCADA, historical generation, and grid signal data, producing accurate short- and long-term generation forecasts across every asset. Actual vs predicted generation tracked continuously per asset, with model drift detection triggering automatic recalibration.</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Short-Term Generation Forecasting</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ML models trained on historical generation and real-time weather data produce hour-ahead and day-ahead forecasts per asset and plant.</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Long-Term Yield Forecasting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Projects asset-level energy yield incorporating degradation trends, seasonal patterns, and maintenance schedules.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Grid Dispatch Optimization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Maps forecast outputs to grid scheduling windows, surfacing optimal dispatch recommendations and flagging deviation risk before commitment deadlines.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Weather and Irradiance Integration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Continuously ingests satellite and ground-level weather feeds with irradiance modelling per plant location.</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Forecast Accuracy Monitoring</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Tracks actual versus predicted generation continuously per asset with automatic recalibration on model drift.</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Curtailment and Constraint Intelligence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Identifies grid curtailment patterns and network constraint windows ahead of dispatch limitations.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25-35%</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Improvement in Forecast Accuracy</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40-50%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Grid Imbalance Penalties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30-40%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Improvement in Asset Utilisation</a:t>
            </a:r>
            <a:endParaRPr lang="en-US" sz="8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REAL-TIME PROCESS OPTIMIZATION — PETROCHEMICALS</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MPC  ·  GenAI  ·  Setpoint Optimization  ·  Petrochemical  ·  DCS  ·  Human-in-the-Loop</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Petrochemical Processor   |   Domain: Process Manufacturing   |   Function: Plant Operations</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Petrochemical processor ran advanced process control — MPC, PID loops, real-time optimization — that was static, model-dependent, and provided no explanation when processes drifted. Operators received alarms without cause. MPC model re-identification required weeks of step tests on live equipment whenever models degraded.</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GenAI-augmented process optimization layer deployed alongside existing control infrastructure to auto-identify model degradation from historian data, explain setpoint deviations in plain language, and generate prescriptive recommendations. System does not write to the controller until a human approves the change.</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AI-Assisted Model ID</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LLM-guided analysis auto-generates models and flags MPC degradation before it affects output.</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RL Setpoint Optimizer</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Proposes improved setpoints for energy and yield with simulated impact before implementation.</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Real-Time Process Advisor</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Conversational AI providing grounded, cited explanations to operators on the floor.</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Soft Sensor Models</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Predict unmeasured variables to reduce lab sampling and enable real-time control.</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Energy Optimization Advisor</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Generates recommendations to optimize steam, air, and peak demand usage.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Human-in-the-Loop Safety</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Requires explicit human approval before any setpoint change writes back to the DCS.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5-15%</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Throughput Gain on Targeted Operations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3-5%</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Yield Uplift Across Process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5-18%</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Energy Intensity Reduction</a:t>
            </a:r>
            <a:endParaRPr lang="en-US" sz="8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PREDICTIVE ASSET INTELLIGENCE — PROCESS INDUSTRY</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Predictive Maintenance  ·  CMMS  ·  FMEA  ·  ML  ·  Process Industry  ·  Asset Health</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Process Industry Operator   |   Domain: Process Manufacturing   |   Function: Plant Operations</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Process industry operator running critical rotating equipment — heat exchangers, compressors, furnaces — was experiencing silent asset failures. Maintenance was either time-based and wasteful or reactive and costly. Sensor data and failure history needed to predict failure already existed in historians and CMMS systems, but no analytical layer existed to extract signal from noise before failure occurred.</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Modular predictive asset intelligence layer deployed, trained on the plant's own asset-specific sensor telemetry and maintenance history. Predicts failure windows per asset class, generates plain-language maintenance prioritization, and writes approved work orders directly to the existing CMMS — no new platform required.</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Failure-Mode-Aware ML Models</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Asset-class-specific models output failure probability and predicted days-to-failure.</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Chain-of-Thought Diagnostics</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 small language model fine-tuned on FMEA libraries provides human-readable reasoning and recommendations.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Anomaly Detection and Explanation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Combines a traditional ML anomaly detector with a RAG system for grounded root-cause hypotheses.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CMMS Write-Back Integration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 bidirectional connector auto-generates structured work orders with required details.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Asset Health Dashboard</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Real-time fleet-level health visualization with ranked maintenance prioritization.</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Continuous Model Improvement</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 feedback loop retrains models automatically based on work order outcomes.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20-35%</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Unplanned Downtime</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25-30%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Maintenance Cost</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30-90 Days</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Failure Prediction Lead Time on Critical Assets</a:t>
            </a:r>
            <a:endParaRPr lang="en-US" sz="8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INDUSTRIAL KNOWLEDGE COPILOT</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RAG  ·  Knowledge Management  ·  RCA  ·  SOPs  ·  P&amp;IDs  ·  Process Industry</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Process Industry Operator   |   Domain: Process Manufacturing   |   Function: Plant Operations</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Process industry operator's engineers spent 60-80% of investigation time on quality events and asset failures simply searching — across scattered manuals, unstructured CMMS notes, historian exports, and institutional knowledge held by senior engineers who weren't always available. Every hour of search delay translated directly into an hour of production loss.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RAG-based industrial knowledge copilot deployed to ingest equipment manuals, SOPs, P&amp;IDs, maintenance histories, batch records, and prior failure analyses, making them queryable in natural language with every answer cited to source. Multi-agent causal reasoning generates ranked root cause hypotheses with confidence scores in minutes.</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Industrial Knowledge Vault</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Hybrid vector and keyword retrieval over equipment manuals, SOPs, P&amp;IDs, and maintenance records with cited answers.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Graph-RAG for Process Knowledge</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Advanced multi-view graph retrieval for structured SOPs and complex step-by-step procedure execution.</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Root Cause Analysis Copilot</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Multi-agent causal reasoning generates ranked RCA hypotheses with confidence scores in minutes.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Shift Handover Intelligence</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Converts raw DCS event logs and operator notes into structured, searchable shift handover briefs.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Documentation Automation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GenAI drafts and updates SOPs, MOCs, and compliance reports, reducing cycle time significantly.</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Hallucination Guardrails</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Validates generated outputs against source documents with human review gates before system entry.</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60-80%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Troubleshooting &amp; RCA Cycle Time</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70%+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Documentation Drafting Time</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Of Operator Queries Resolved Without Escalation</a:t>
            </a:r>
            <a:endParaRPr lang="en-US" sz="8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EDGE AI FOR INDUSTRIAL OPERATIONS</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Edge AI  ·  Air-Gap  ·  NVIDIA Jetson  ·  OPC UA  ·  SLM  ·  OT Security</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Process Industry Operator   |   Domain: Process Manufacturing   |   Function: Plant Operations</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Process industry operator generated data at the edge where cloud-dependent AI introduced latency, data sovereignty risk, and bandwidth cost the process could not tolerate. As vendor management systems migrated from cloud to edge, AI models needed to move with the data — running offline, air-gapped, and at sub-millisecond decision speeds.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Pre-validated edge SLM deployment stack deployed, running Phi-4, Mistral 7B, or Llama 3.2 on NVIDIA Jetson, IGX, or industrial PCs — fully air-gappable, offline-capable, and deployed alongside existing DCS or IIoT platform without replacing it. Domain-specific fine-tuning on proprietary plant data improves reasoning accuracy.</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Model Selection &amp; Fine-Tuning Lab</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Domain-specific fine-tuning of SLMs on proprietary plant data for industrial-grade reasoning accuracy.</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Inference Runtime Optimization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TensorRT/ONNX/OpenVINO optimization for sub-30ms response latency on heterogeneous edge hardware.</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Offline and Air-Gap Capability</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Runs full inference and RAG retrieval with zero cloud dependency, designed for OT-security-compliant environments.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Edge-Cloud Hybrid Orchestration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Edge handles real-time inference while cloud handles retraining and governance, aligned to NAMUR principles.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VMS Migration Playbook</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Structured cloud-to-edge migration through shadow-mode comparison and phased cutover, with no rip-and-replace.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Multi-Protocol Integration Layer</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Connects to historian, DCS, and MES via OPC UA, Modbus TCP, EtherNet/IP, and MQTT.</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80-90%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AI Inference Cost vs Cloud LLM APIs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&lt;30ms</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On-Edge Response Latency, Fully Offline</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Air-Gap and OT-Security Compliant</a:t>
            </a:r>
            <a:endParaRPr lang="en-US" sz="8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GENERATIVE AI FOR PRODUCT DESIGN</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Text-to-CAD  ·  2D-to-3D  ·  GenAI  ·  Sheet Metal  ·  Pipe Routing  ·  Manufacturing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Industrial Equipment Manufacturer   |   Domain: Manufacturing   |   Function: Product Engineering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industrial equipment manufacturer's product engineering teams managed mechanical component design, 2D-to-3D reconstruction, pipe routing, harness layout, and sheet metal preparation through manual CAD workflows. Packaging constraints, frequent change requests, and variant complexity stretched concept-to-prototype cycles, delaying production readiness.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GenAI-powered design engine deployed, converting multi-angle 2D images into exportable 3D models and generating mechanical components from natural language prompts through text-to-CAD. AI-driven routing automation and sheet metal optimization generate CAD-ready outputs optimized for manufacturability and cost.</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2D-to-3D AI Reconstruction Engine</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Converts multi-angle 2D images into exportable 3D models automatically.</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Text-to-CAD Generative Design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Generates mechanical components from natural language prompts with parametric outputs.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CAD-Ready Feasibility Validator</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Validates generated designs against manufacturability and cost rules before they advance.</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Pipe and Cable Harness Routing</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AI-driven routing using bend radius, clearance, collision, and manufacturability rules.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Sheet Metal Optimizer</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Automates flattening, nesting, and bend-sequence planning with cost-aware tooling suggestions.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Variant Complexity Handling</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Manages packaging constraints and change requests across design variants without restarting the CAD workflow from scratch.</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50-60%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Model Reconstruction Effort</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90-95%</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Routing Time</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35%</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Design Finalisation</a:t>
            </a:r>
            <a:endParaRPr lang="en-US" sz="8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AUTOMATED DMU ANALYSIS AND CHANGE MANAGEMENT</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Siemens Teamcenter  ·  DMU  ·  Clearance Analysis  ·  PLM  ·  Automotive Tier-1  ·  Change Management</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Tier-1 Automotive Supplier   |   Domain: Manufacturing   |   Function: Product Engineering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Engineers at a global Tier-1 supplier spent a growing share of every design cycle on repetitive manual DMU validation — configuring clearance checks, building reports from scratch, and tracking changes retrospectively by email. Interference issues surfaced late. Senior engineers consumed by report generation rather than engineering judgment.</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Fully automated DMU framework deployed inside Siemens Teamcenter, covering JT validation, static and dynamic clearance, openness reporting, and change management. Analysis triggers within existing workflows and is scoped only to modified components. Senior engineers now review flagged interference issues instead of producing the reports.</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Automated JT Input Validation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Pre-flight checks validate attributes, missing components, and version capture.</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Static and Dynamic Clearance Analysis</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Rule-based interference detection and motion-based clearance with change delta tracking.</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Openness Reporting</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Accessibility analysis for service and manufacturing with change comparison reporting.</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Teamcenter-Native Change Management</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Version-controlled integration via SOA APIs with scoped analysis on modified parts.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Automated Report Generation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Standardized clearance and openness reports generated automatically across regions.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Cross-Revision Traceability</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Full linkage of reports to Teamcenter revisions with end-to-end version history.</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85%</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Report Generation Time</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Issue Detection Before Analysis Execution</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~60 hrs</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Saved Per Month in Senior Engineering Effort</a:t>
            </a:r>
            <a:endParaRPr lang="en-US" sz="8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AI-ASSISTED NVH VALIDATION</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NVH  ·  Acoustic Signal  ·  Vibration  ·  Automotive OEM  ·  PLM  ·  AI Validation</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Automotive OEM   |   Domain: Manufacturing   |   Function: Product Engineering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Automotive OEM's NVH validation depended on engineers manually analyzing acoustic and vibration signals to trace wind noise, powertrain whine, or chassis rattles back to their source. The process was subjective and inconsistent — 2 engineers could rate the same noise event differently. Root cause identification routinely delayed until late in the validation cycle.</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AI layer deployed to analyze acoustic and vibration data from onboard microphones and sensors, classifying noise signatures, localizing sound sources, and tracing vibration transfer paths through components. System delivers objective, repeatable analysis independent of individual engineering judgment.</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Acoustic Signal Classification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Distinguishes wind noise, powertrain whine, road noise, and chassis rattles across frequency bands.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Sound Source Localization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Identifies the physical origin of noise using multi-sensor data fusion, without manual triangulation.</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Vibration Transfer Path Analysis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Traces vibration propagation through components to isolate root cause quickly.</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Objective Severity Scoring</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Replaces subjective engineer ratings with quantified, repeatable severity scores.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PLM and Test Integration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Links NVH findings to PLM and test management systems for full traceability.</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Trend and Regression Monitoring</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Tracks NVH patterns across test sessions to detect degradation trends early.</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30-50%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Validation Cycles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40-60%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Debugging Time</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25-35%</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Fewer Late-Stage Design Changes</a:t>
            </a:r>
            <a:endParaRPr lang="en-US" sz="8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PLM BUDGET CONTROL AND TESTBED INTELLIGENCE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PLM  ·  Budget Forecasting  ·  ECO Cost  ·  Testbed Optimization  ·  Automotive  ·  Product Engineering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Automotive OEM   |   Domain: Manufacturing   |   Function: Product Engineering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Automotive OEM's PLM programs were bleeding margin silently. Design cost impacts surfaced too late in the cycle to act on, ECO approvals proceeded without any financial scoring attached, and testbed scheduling was managed manually. Budget overruns discovered at sign-off. Test re-runs wasted execution cycles and underutilized lab capacity eroded timelines.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AI-embedded PLM intelligence layer deployed spanning budget control and testbed optimization. Predictive cost forecasting runs across the full lifecycle from concept to manufacturing. AI-driven scheduling, anomaly detection, and automated validation reduce idle test time. Engineering changes now carry a financial impact score before approval.</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Predictive Budget Forecasting</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Anticipates total project cost using design complexity, BOM growth, ECO history, and supplier data.</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ECO Cost Impact Scoring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Estimates the financial impact of engineering changes before approval.</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Intelligent Cost Roll-Ups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Auto-calculates part and assembly cost from EBOM/MBOM using supplier and material data.</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 Test Scheduling and Sequencing</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Optimizes test schedules to eliminate idle time and reduce bottlenecks.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Predictive Early-Stop Alerts</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Detects abnormal test patterns and stops failing tests early to save execution time.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PLM and Traceability Dashboard</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Links validation results to PLM and tracks utilization, reruns, and bottlenecks.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15-25%</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Cost Overruns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30-40%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Improvement in Testbed Utilization</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25-35%</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Validation Cycle Time</a:t>
            </a:r>
            <a:endParaRPr lang="en-US" sz="8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BOM SYNCHRONIZATION AND VARIANT INTELLIGENCE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EBOM  ·  MBOM  ·  SBOM  ·  PPAP  ·  PLM  ·  Automotive OEM</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Automotive OEM   |   Domain: Manufacturing   |   Function: Product Engineering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Automotive OEM running variant-heavy product programme saw BOM complexity escalate rapidly. EBOM, MBOM, and SBOM structures drifted out of alignment silently, accumulating phantom parts, revision conflicts, and missing alternates. BOM changes remained unsynchronized with procurement and supplier planning, leaving PPAP readiness gaps surfacing only at the production gate.</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AI-powered BOM intelligence layer deployed to continuously monitor, reconcile, and synchronize EBOM, MBOM, and SBOM across the engineering and supply chain lifecycle. Mismatch detection, downstream impact prediction, and alternate part recommendation embedded directly into the existing PLM workflow.</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 Mismatch Detection Engine</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Compares EBOM, MBOM, and SBOM snapshots continuously, flagging phantom parts, revision conflicts, missing alternates, and duplicate part numbers.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Downstream Impact Prediction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Predicts procurement, lead time, inventory, and cost impact of any BOM change before it is committed.</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Alternate Part Recommender</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Suggests approved substitutions ranked by cost, availability, and compliance, without manual supplier cross-referencing.</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Variant and Localization Management</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Tracks and reconciles BOM variations across product variants and regional requirements.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PPAP Readiness Tracking</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Monitors part approval status and flags readiness gaps to ensure compliance before production.</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Supply Chain Synchronization</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Integrates with planning systems to trigger demand updates and shortage alerts instantly.</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20-30%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Material Shortages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25-35%</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Engineering Change Implementation</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15-25%</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Expediting &amp; Last-Minute Procurement</a:t>
            </a:r>
            <a:endParaRPr lang="en-US" sz="8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ENGINEERING ANALYST AUGMENTATION</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RAG  ·  Teamcenter  ·  GenAI  ·  Knowledge Graph  ·  SIMULIA  ·  2,500 Engineers</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Automotive OEM   |   Domain: Manufacturing   |   Function: Product Engineering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automotive OEM's 2,500-strong engineering team spent a significant share of time retrieving information from legacy documents, manuals, and past project repositories, generating standard reports by hand, and navigating complex PLM and simulation tools to find data that already existed somewhere in the organization.</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GenAI engineering productivity layer deployed across PLM and engineering environment, providing a RAG-based knowledge assistant, automated standard reporting, a natural language interface to Teamcenter, and a cross-team knowledge graph. Engineers now query Teamcenter and past project data in plain language and receive cited answers.</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Engineering Knowledge Assistant</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RAG-based assistant trained on documentation, standards, and past projects, delivering cited answers from authoritative sources.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Simulation and Report Automation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Converts simulation outputs into structured engineering reports and summaries automatically.</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PLM Integration Copilot</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Natural language interface to Teamcenter for querying data, comparisons, and change history.</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Change Impact Intelligence</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Identifies downstream dependencies, affected simulation runs, and validation requirements instantly.</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Cross-Team Knowledge Graph</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Maps relationships across components, engineers, projects, and solutions to prevent duplicate effort.</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Multi-System Integration</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Connects Teamcenter PLM, SIMULIA/ANSYS, SharePoint/Confluence, and CAD repositories into a single query layer.</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30-40%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Search &amp; Synthesis Time</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20-30%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Change Impact Assessments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2,500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Engineers Augmented Globally</a:t>
            </a:r>
            <a:endParaRPr lang="en-US" sz="8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PLM COST ESTIMATION &amp; BUDGET GOVERNANCE INTELLIGENCE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PLM  ·  Real-Time Cost  ·  ECO  ·  BOM  ·  What-If  ·  Budget Governance</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Automotive OEM   |   Domain: Manufacturing   |   Function: Product Engineering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automotive OEM's cost visibility inside PLM was fragmented and delayed. BOM changes propagated through the system without any financial scoring attached, ECO approvals proceeded without cost impact assessment, and program-level budget status had to be assembled manually from disconnected sources.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Real-time cost intelligence layer deployed directly inside PLM, spanning instant BOM cost roll-ups, what-if simulation, ECO-level financial scoring, and a live program budget dashboard. Cost now functions as a real-time design-time signal rather than a quarterly reconciliation exercise.</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Real-Time Cost Roll-Up Engine</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Ingests BOM data and applies cost rules to calculate assembly and program-level costs instantly.</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What-If Cost Simulator</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Enables evaluation of design alternatives — materials, configurations, supplier changes — before a decision is locked in.</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ECO/ECN Cost Delta Tracker</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Auto-calculates the financial impact of engineering change orders and surfaces it during approval workflows.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Program-Level Budget Dashboard</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Live dashboard comparing budget versus actuals with real-time variance alerts.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Supplier Price Change Monitoring</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Flags supplier price movements as they happen so cost roll-ups stay current.</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Design-Stage Cost Visibility</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Surfaces cost impact at the point of design decision rather than at quarterly or milestone review.</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40-60%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Cost Estimation Cycles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20-30%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Fewer Budget Overruns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20-30%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ECO Approvals with Real-Time Cost Visibility</a:t>
            </a:r>
            <a:endParaRPr lang="en-US" sz="85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WARRANTY &amp; AMC PREDICTIVE COST MODELLING</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Warranty  ·  AMC Pricing  ·  MTBF  ·  Insurance Renegotiation  ·  Automotive OEM  ·  Aftersales</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Automotive OEM   |   Domain: Manufacturing   |   Function: Aftersales &amp; Warranty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Automotive OEM's aftersales and finance teams priced warranties and AMC contracts using flat-rate actuarial tables ignoring component-level age curves, variant-specific failure rates, and parts inflation. Correlating service sheets, ERP cost data, and claims history required manual cross-referencing. Loss-making AMC contracts and inefficient insurance premiums discovered only after margins had eroded.</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AI-powered warranty and service intelligence platform layered on top of ERP, claims, telematics, and service records to turn warranty into an actively managed margin lever. Reliability intelligence tracks failure trends by component and variant. Contract-level cost modelling prices AMCs against actual risk.</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MTBF Trending Engine</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Tracks mean time between failures across components and variants, identifying reliability trends before claim spikes occur.</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Warranty Provisioning Optimizer</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Aligns warranty provisions with actual failure rates to eliminate under- or over-provisioning at part level.</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AMC Pricing Engine</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Prices contracts dynamically based on variant, mileage, and age curves, replacing flat-rate pricing with risk-aware models.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Blast Radius Calculator</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Quantifies vehicle and contract exposure when a batch failure is detected, enabling proactive provisioning.</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Insurance Renegotiation Intelligence</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Compares real failure data against insurer baselines to challenge inflated premiums with evidence.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Supplier Risk and Traceability</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Links claims to supplier batches, enabling root cause identification and chargeback recovery.</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30-40%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Loss-Making AMC Contracts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8-14%</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Improvement in Warranty &amp; AMC Portfolio Margins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Rs 3-5 Cr</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Per Year Savings in Insurance Premiums</a:t>
            </a:r>
            <a:endParaRPr lang="en-US" sz="85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AI-ASSISTED WARRANTY CLAIM TRIAGE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Warranty Triage  ·  Multimodal AI  ·  Computer Vision  ·  Dealership  ·  Diagnosis  ·  Automotive</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Automotive OEM   |   Domain: Manufacturing   |   Function: Aftersales &amp; Warranty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Large share of automotive OEM's warranty cost stemmed from under-diagnosed cases at the dealership. Without clear diagnostic tools at point of service, technicians frequently raised warranty claims and replaced full parts unnecessarily rather than isolating the actual fault. Reversing an incorrect claim after submission was complex and the cost of misdiagnosis was rarely recovered.</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Real-time AI diagnostic assistant deployed at the dealership and service center, using multimodal input — voice, photos, and service history — combined with computer vision and LLM layers to generate ranked probable diagnoses. System pre-populates repair workflows with suggested actions before the technician commits to a claim.</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Multimodal Intake</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Processes technician voice descriptions, part images, and repair history simultaneously.</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Computer Vision Model</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Classifies visual defects as good or defective based on trained historical repair datasets.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LLM Diagnosis Layer</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Cross-references fault codes and visual insights to generate ranked diagnoses with confidence scores.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Repair Sheet Integration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Pre-populates warranty systems with suggested actions, reducing manual input at the point of service.</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QA Retrospective Dashboard</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Tracks incorrect diagnoses by technician or center to improve training programs.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Historical Data Integration</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Draws on labeled images, claims data, fault codes, and repair system history to ground every diagnosis.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25-40%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Unnecessary Claims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Lower</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Warranty Accrual Rates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Measurable</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Improvement in First-Time-Right Diagnosis</a:t>
            </a:r>
            <a:endParaRPr lang="en-US" sz="8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VISION AI FOR WARRANTY CLAIMS</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Vision AI  ·  Agentic Inspection  ·  Damage Detection  ·  Claim Adjudication  ·  Automotive  ·  Warranty</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Automotive OEM   |   Domain: Manufacturing   |   Function: Aftersales &amp; Warranty</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automotive OEM's warranty claims team had no AI-assisted continuity between part inspection, damage assessment, and claim adjudication. Technicians manually reviewed photos and translated observations into written reports. Decisions were inconsistent across reviewers handling similar damage. Claim histories sat in silos, approval logic was opaque, and no feedback mechanism connected inspection outcomes back into service workflows.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End-to-end agentic inspection framework deployed, embedding AI across every stage of the warranty lifecycle. AI agents autonomously analyze part images, localize damage regions, score failure risk, and generate adjudication decisions with plain-language reasoning. Every decision traceable back to the image evidence and reasoning behind it.</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 Damage Detection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Automatically identifies damage type and location from part images with visual overlay highlighting.</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Severity Scoring Engine</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Multi-dimensional scoring across severity, failure risk, remaining useful life, and claim confidence.</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Agentic Claim Adjudication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Generates autonomous claim decisions — approved, rejected, or escalated — with traceable reasoning.</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Self-Generating Inspection Reports</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One-click PDF export of full analysis for audit trails and service records.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Claim Simulation and Submission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Simulates claim submission directly from inspection output within a single workflow.</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Inspection History Dashboard</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Persistent claim history view with real-time service operations visibility.</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60-70%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Inspection Throughput</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40-50%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Documentation Effort</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Standardized</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Decision Consistency with Earlier Defect Detection</a:t>
            </a:r>
            <a:endParaRPr lang="en-US" sz="8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CONNECTED VEHICLE DATA PLATFORM</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Telematics  ·  Data Lake  ·  Privacy-by-Design  ·  Driver Behaviour  ·  Fleet Analytics  ·  Automotive OEM</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Automotive OEM   |   Domain: Manufacturing   |   Function: Connected Vehicle Data</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automotive OEM was collecting large-scale connected vehicle data with no unified backend to process or operationalize it. Data residency and consent management had never been formalized, creating regulatory exposure. Telematics data was being collected at scale but no structured pipeline existed to turn it into usable insight.</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Scalable telematics platform deployed to consolidate vehicle streams into a governed data lake with real-time and batch ingestion. Privacy-by-design layer covers consent, data classification, residency controls, and anonymization. Driver behavior scoring, predictive maintenance, and fleet insights run on top of the same governed data layer.</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Telematics Data Ingestion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Real-time and batch handling for ECU logs, GPS, diagnostics, and sensor feeds.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Unified Vehicle Data Lake</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Consolidated storage with standardized models across variants.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Privacy-by-Design and Compliance</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Consent management, classification, anonymization, residency enforcement, lineage, and access logs.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Driver Behaviour Analytics</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Detects patterns across acceleration, braking, charging behavior, and usage cycles.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Predictive Maintenance Models</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Identifies failure and degradation signals before incidents occur.</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Data Monetization APIs</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Governed API layer exposing insights for internal and third-party use.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256GB+</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Per Source Per Week Ingested</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40-60%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Less Data Preparation Effort</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10-20%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Fewer Abnormal Degradation Cases</a:t>
            </a:r>
            <a:endParaRPr lang="en-US" sz="85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TELEMETRY INTELLIGENCE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Telematics  ·  Driver Scoring  ·  Gamification  ·  Engineering Analytics  ·  Fleet  ·  EV</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Automotive OEM   |   Domain: Manufacturing   |   Function: Connected Vehicle Data</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automotive OEM's connected vehicle program generated massive telemetry across its fleet, but insights stayed siloed and underutilized. Driving behavior went unscored, trip patterns went unanalyzed, and engineering teams manually mined field data to derive specs. Market adoption signals surfaced late, and no feedback loop existed from real vehicle performance back into product development.</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Unified telemetry intelligence layer deployed to continuously ingest, score, and analyze vehicle data across driver behavior, trips, engineering performance, and market adoption. AI pattern recognition combined with gamification turns raw telemetry into actionable intelligence for drivers, fleet operators, and engineering teams.</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Driving Behaviour Scoring</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Continuously scores drivers on acceleration, braking, and cornering to identify risk.</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Gamification and Engagement Engine</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Converts scores into leaderboards and engagement mechanics to improve driver behavior.</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Trip Intelligence</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Analyzes routes, idle time, and fuel consumption to identify efficiency opportunities.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Engineering Analytics and Spec Derivation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Aggregates performance data across variants to inform product engineering.</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Vehicle Health and Performance</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Tracks component trends to identify degradation early.</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Market Adoption Intelligence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Provides real-time visibility into variant adoption and feature usage.</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30-40%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Improvement in Driver Safety Outcomes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25-35%</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Engineering Spec Derivation</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20-30%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Fleet Operational Costs</a:t>
            </a:r>
            <a:endParaRPr lang="en-US" sz="8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RANGE PREDICTION AND RANGE POLYGON</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EV Range  ·  Range Polygon  ·  DTE  ·  Charging Planning  ·  Fleet  ·  Electric Vehicle</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Electric Vehicle Manufacturer   |   Domain: Manufacturing   |   Function: Connected Vehicle Data</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EV manufacturer's drivers faced a key limitation: a single range number on the dashboard did not reflect real-world conditions like terrain, weather, speed, or load. Range anxiety remained a major barrier to EV adoption. Without granular prediction, drivers either overcharged or risked running out of charge, and fleet operators had no precise basis for route or charging planning.</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Multi-variable AI range prediction engine deployed, outputting a directional range polygon — a live spatial map showing how far a vehicle can travel under current conditions. Polygon dynamically expands or contracts based on real-time parameters including state of charge, terrain, speed profile, HVAC load, and payload.</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Distance-to-Empty Engine</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Computes best- and worst-case range using degradation, terrain, and historical efficiency.</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Energy Efficiency Optimization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Provides actionable recommendations for driving efficiency.</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Range Anxiety Alleviation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Spatial confidence map reflects real terrain and driving variability instead of a single number.</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Charging Stop Planning</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Suggests stations, recalculates state of charge at arrival, and recommends charging duration.</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Dynamic Real-Time Updates</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Continuously recalculates range based on driving behavior as the trip progresses.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Region and Fleet Intelligence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Incorporates traffic, road gradients, and fleet-level baselines into predictions.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~32%</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Range Anxiety Incidents</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+/- 3km</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DTE Prediction Accuracy Across Conditions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Fewer Unplanned Roadside Charging Stops</a:t>
            </a:r>
            <a:endParaRPr lang="en-US" sz="85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BATTERY SOH ANALYTICS AND DEGRADATION INTELLIGENCE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Battery SOH  ·  BMS Telemetry  ·  EV  ·  Degradation Detection  ·  Warranty  ·  Fleet</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Electric Vehicle Manufacturer   |   Domain: Manufacturing   |   Function: Connected Vehicle Data</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EV manufacturer's batteries degraded differently across vehicles depending on charging behavior, thermal exposure, and cell-level imbalance, but state of health estimation remained static and retrospective. Early degradation signals went undetected until capacity fade or pack imbalance had already affected range and reliability.</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AI/ML-driven SOH prediction layer deployed to continuously ingest BMS telemetry across the fleet, detecting early degradation indicators, forecasting remaining useful life per pack, and surfacing anomaly alerts before failures materialized. Health intelligence feeds directly into servicing and warranty workflows.</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SOH Prediction via BMS Telemetry</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ML models trained on voltage, current, temperature, SOC, and cycle count predict state of health per pack with accuracy beyond static estimation.</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Early Degradation Detection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Continuously monitors for capacity fade, internal resistance rise, and cell imbalance drift, flagging deterioration weeks before range is affected.</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Remaining Useful Life Forecasting</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Projects pack-level RUL, enabling proactive servicing, replacement planning, and end-of-life risk stratification across the fleet.</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Anomaly Alerting for High-Risk Packs</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Automates alerts on abnormal aging patterns, prioritizing high-risk modules for inspection before failure events occur.</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SOH Trend Dashboards</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Tracks fleet-wide health across degradation trajectories, supporting warranty management and field service planning.</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Customer Communication Integration</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Feeds health trend data into customer-facing communications ahead of a service need becoming urgent.</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20-30%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Improvement in SOH Prediction Accuracy</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25-40%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Unexpected Battery Failures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15-25%</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Battery Warranty Costs</a:t>
            </a:r>
            <a:endParaRPr lang="en-US" sz="85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AI-ENABLED DATA EXPLORATION AND REPORTING</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MDF  ·  ECU Data  ·  Testbed  ·  E-Powertrain  ·  Anomaly Detection  ·  Automotive</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Automotive OEM   |   Domain: Manufacturing   |   Function: Product Engineering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automotive OEM's test engineers collected vast volumes of data across engine testbeds, e-powertrain benches, and battery cyclers, but post-processing remained fragmented. ECU channels and in-vehicle signals lived across incompatible formats, scripts broke when reused across projects, and report generation consumed significant manual effort every test cycle.</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AI-enabled data analysis and reporting platform deployed for the powertrain and e-mobility environment. Ingests ECU and testbed data across MDF, CSV, Parquet, and BFO formats, applies Python-based processing, detects anomalies using AI, and auto-generates structured reports.</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Multi-Format ECU &amp; Testbed Data Ingestion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Supports MDF, CSV, Parquet, and BFO without manual preprocessing.</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AI-Powered Anomaly Detection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Identifies deviations in ECU parameters and battery behavior in real time.</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Automated Report Generation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Generates calibration and test reports using templates and corrections.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Python-First Scripting Environment</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Reusable scripts with full access to libraries and graphical interfaces.</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Big Data and Scalable Automation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Parallel processing with native Parquet integration for large datasets.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Inbuilt Calculator and Visualization Engine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Performs advanced calculations and visualizations within the platform.</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60-70%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Report Generation Time</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Earlier</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Detection of ECU Parameter Drift</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Scalable</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Platform Across Formats &amp; Distributed Teams</a:t>
            </a:r>
            <a:endParaRPr lang="en-US" sz="85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INTELLIGENT INVENTORY CONTROL</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Inventory Management  ·  Real-Time Sync  ·  Batch Tracking  ·  AI Alerts  ·  Warehousing  ·  Manufacturing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Manufacturing Operator   |   Domain: Manufacturing   |   Function: Supply Chain Planning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manufacturing operator running multiple warehouses had disconnected stock records creating blind spots across locations. Overstocking tied up working capital at some sites while stockouts halted production at others, often for the same SKU. Batch traceability relied on manual spreadsheets maintained per location, making audits slow and frequently inaccurate.</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Centralized platform deployed to sync stock in real time across all warehouses. AI-driven alerts instantly flag low stock and quality holds. Integrated batch and barcode tracking ensures complete traceability with automated inventory health scoring. Every location now reports from the same live stock position.</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Real-Time Stock Sync</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Unified visibility across warehouses, plants, and transit locations.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Batch and Barcode Tracking</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End-to-end traceability with batch and serial numbers.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AI-Driven Stock Alerts</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Automated alerts for low stock, expiry, and anomalies.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Ageing and Quality Insights</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Identifies dead stock, slow movers, and quality holds instantly.</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Inventory Health Scoring</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Scores inventory based on turnover, value, and risk factors.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BI Dashboards and Reports</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Real-time operational and leadership reporting.</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Wastage</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85%</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Decrease in Inventory Leakages</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Real-Time</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Stock Visibility Across All Locations</a:t>
            </a:r>
            <a:endParaRPr lang="en-US" sz="85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PREDICTIVE MATERIAL GOVERNANCE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Material Selection  ·  Supply Disruption  ·  Sustainability  ·  CAE/FEA  ·  PLM  ·  Automotive OEM</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Automotive OEM   |   Domain: Manufacturing   |   Function: Product Engineering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automotive OEM's material selection relied on static supplier catalogs, siloed simulation outputs, and tribal knowledge — with no system connecting real-world usage data to design decisions. Engineers faced supply disruptions late, defaulted to overly conservative material choices, and missed sustainability targets. Manual cross-referencing slowed every material decision.</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AI-embedded material intelligence layer deployed to connect real-world usage data, supplier health signals, and simulation outputs directly to material selection decisions. Ranked material alternatives scored on cost, strength, and sustainability. Supply disruption intelligence flags at-risk materials and suggests qualified substitutes before a shortage hits.</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Ranked Material Alternatives Engine</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Scores cost, strength, and sustainability using design inputs, supplier data, and simulation outputs.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Supply Disruption Intelligence</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Flags at-risk materials and suggests qualified substitutes using supplier health signals.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Intelligent Cost and Sustainability Scoring</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Calculates cost and carbon impact to support balanced decision-making.</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ML Feedback Loop and Library Enrichment</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Continuously improves the material library using real-world outcomes and test data.</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Simulation-to-Selection Integration</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Connects CAE/FEA outputs directly to material selection workflows.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PLM and Supplier Traceability Dashboard</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Links materials to PLM records and supplier qualifications across revisions.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70-80%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Manual Material Cross-Referencing</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Weeks→Days</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Material Selection Cycle Time</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25-35%</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Overly Conservative Material Choices</a:t>
            </a:r>
            <a:endParaRPr lang="en-US" sz="85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MULTI-JURISDICTIONAL REGULATORY CHANGE INTELLIGENCE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Pharma Regulatory  ·  FDA  ·  EMA  ·  PMDA  ·  LLM  ·  Regulatory Affairs</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Global Pharmaceutical Manufacturer   |   Domain: Life Sciences   |   Function: Regulatory Affairs</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Global pharmaceutical manufacturer tracked guidance updates, inspection findings, and framework changes from the FDA, EMA, PMDA, NMPA, MHRA, and CDSCO through manual portal checks and fragmented alerts. The process depended on individual analyst vigilance across 100+ agency portals. Critical updates were missed or surfaced too late.</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LLM-based monitoring agent deployed to continuously ingest regulatory feeds across 100+ health authority portals and map every incoming change against the active product-market portfolio. System generates a structured Impact Delta Report identifying affected dossiers, required filing type, and deadline windows, integrated with the regulatory information management platform.</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Multi-Agency Crawler</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Automates ingestion across 100+ health authority portals, capturing updates in near real-time without analyst intervention.</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LLM Summarization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Generates structured briefs with change type, domain, phase, and urgency classification.</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Portfolio Impact Mapping</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Cross-references guidance against the active product-market registration matrix to identify affected dossiers.</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Impact Delta Report Generation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Structures affected dossiers, filing type, regulatory pathway, and deadline windows per jurisdiction.</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Intelligence Dashboard</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Centralized view by agency, therapy area, and risk tier with drill-through to actions.</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RIM Platform Integration</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Pushes alerts and impact assessments directly into the existing regulatory information management platform.</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60-80%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Manual Monitoring Effort</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35-50%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Faster Portfolio Impact Assessment</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Zero</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Missed Signals via 24/7 Crawling Across 100+ Markets</a:t>
            </a:r>
            <a:endParaRPr lang="en-US" sz="85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HYBRID TEST AUTOMATION FOR CLINICAL VALIDATION</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Clinical Validation  ·  AI Vision  ·  Self-Healing Tests  ·  Patient Monitoring  ·  Hybrid Automation  ·  Healthcare</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Enterprise Healthcare Technology Provider   |   Domain: Healthcare Technology   |   Function: Quality Engineering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Leading enterprise healthcare client operated a safety-critical patient monitoring ecosystem requiring extensive manual validation before every release. Engineers configured simulators, observed monitors, cross-checked data, and wrote execution evidence by hand — stretching a single regression cycle to several days. GPU-rendered waveforms and embedded clinical displays were unreachable through conventional automation tools.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Unified hybrid automation platform deployed to continuously orchestrate test execution across native, rendered, and embedded clinical interfaces from a single framework. AI-powered vision detection, self-healing test execution, and automated evidence collection run across the full validation lifecycle.</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Hybrid Automation Orchestrator</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Routes test execution across multiple UI technologies from a single engine, eliminating framework switching and manual handoffs.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AI-Powered Visual Validation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Computer vision models interact with rendered and embedded interfaces that expose no accessibility metadata to conventional tools.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Self-Healing Test Execution</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Adjusts test paths dynamically when UI layouts shift between releases, reducing brittleness and maintenance overhead.</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Collaborative Test Authoring</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Lets QA, engineering, and product teams author and validate test cases in plain language without developer involvement.</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Cross-System Data Validator</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Automatically cross-checks patient vitals across all system layers with timestamped, traceable evidence at each step.</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Fully Automated Evidence Capture</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Captures screenshots, failure traces, and structured reports at every step, delivering audit-ready documentation.</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70%</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Regression Cycle Duration</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Reduction in Manual Validation Effort</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Increase in Test Coverage via AI-Powered Vision</a:t>
            </a:r>
            <a:endParaRPr lang="en-US" sz="85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PLANFORGE AI — AGENTIC PRODUCTION PLANNING</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Production Planning  ·  ETO Manufacturing  ·  Disruption Response  ·  Scenario Simulation  ·  Agentic AI  ·  MRP</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Engineer-to-Order Manufacturer   |   Domain: Manufacturing   |   Function: Production Planning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Manufacturer's planners spent 6-10 hours per disruption event stitching ERP, MRP, supplier, and material data into spreadsheets just to assess the situation. A 2-4 day gap separated a real-world signal from a revised plan, meaning cascades were discovered days late. Compound disruption scenarios were rarely modelled before the plan changed.</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Agentic production planning engine deployed connecting order books, factory capacity, supplier reliability, and material readiness in a unified model. System simulates disruption scenarios before the plan changes and compares recovery options side by side, replacing instinct with evidence-based choices. Every plan change logged with reasoning.</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Unified Planning View</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Brings order books, capacity, supplier reliability, and material readiness into one model so a cascade is visible as it starts.</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Scenario Simulation</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Models compound disruptions before the plan changes and compares recovery options side by side, replacing instinct with evidence-based decisions.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Disruption Response and Audit</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Surfaces revenue at risk within the response window, enables cross-plant rebalancing on signal, and logs why each plan changed.</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Signal-to-Plan Automation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Connects real-world signals directly to plan updates, reducing the lag between disruption and revised schedule.</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Cross-Plant Rebalancing</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Evaluates rebalancing options across plants simultaneously when a disruption hits, rather than sequentially per plant.</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Revenue-at-Risk Quantification</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Calculates the financial exposure of each disruption scenario so planners prioritize by commercial impact, not just operational urgency.</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6-10 hrs</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Planner Time Freed Per Disruption Event</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2-4 Day Lag</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Signal-to-Plan Reduced Toward Real Time</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Decision Trail with Every Plan Change Logged</a:t>
            </a:r>
            <a:endParaRPr lang="en-US" sz="85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PLANTPULSE — MANUFACTURING OPERATIONS INTELLIGENCE</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OEE  ·  MES  ·  QMS  ·  WMS  ·  ERP  ·  Discrete Manufacturing</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Discrete Manufacturer   |   Domain: Manufacturing   |   Function: Production Planning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Discrete manufacturer's supervisors and planners spent 4-6 hours per day chasing numbers across MES, QMS, WMS, and ERP because no system reconciled them in real time. Planners committed schedules without live material visibility, stock-outs were called on day-old data, and quality excursions surfaced only after the shift ended.</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Unified manufacturing operations intelligence platform deployed to reconcile MES, QMS, WMS, and ERP data into one live view across every line and plant. OEE losses, line-level slippage, and first-pass yield issues flagged as they happen rather than after the shift. Any finished-good defect can be traced back to the supplier batch and MES record.</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Unified Live Operational View</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Reconciles production, quality, stock, and cost data from MES, QMS, WMS, and ERP into one real-time view.</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In-Shift Slippage and Quality Alerts</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Flags OEE losses, line-level slippage, and first-pass yield issues as they happen rather than after the shift ends.</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End-to-End Defect Traceability</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Links any finished-good defect back to the supplier batch and MES record with a traceable lineage.</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Live Material Visibility</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Surfaces stock positions in real time so planners commit schedules against current rather than day-old data.</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Cost Overrun Detection in Flight</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Surfaces cost deviations during the period rather than at month-close when corrective action is no longer possible.</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Cross-System Data Reconciliation</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Eliminates the manual reconciliation effort that previously consumed 4-6 hours per day per supervisor.</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4-6 hrs</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Daily Reconciliation Time Freed Per Supervisor</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8-12%</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OEE Recovered Through Slippage Caught in Shift</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100%</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Defect Lineage Traced to Supplier Batch &amp; MES Record</a:t>
            </a:r>
            <a:endParaRPr lang="en-US" sz="85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4008"/>
          </a:xfrm>
          <a:prstGeom prst="rect">
            <a:avLst/>
          </a:prstGeom>
          <a:solidFill>
            <a:srgbClr val="C0392B"/>
          </a:solidFill>
          <a:ln w="12700">
            <a:solidFill>
              <a:srgbClr val="C0392B"/>
            </a:solidFill>
            <a:prstDash val="solid"/>
          </a:ln>
        </p:spPr>
        <p:txBody>
          <a:bodyPr/>
          <a:lstStyle/>
          <a:p>
            <a:endParaRPr lang="en-US"/>
          </a:p>
        </p:txBody>
      </p:sp>
      <p:sp>
        <p:nvSpPr>
          <p:cNvPr id="3" name="Shape 1"/>
          <p:cNvSpPr/>
          <p:nvPr/>
        </p:nvSpPr>
        <p:spPr>
          <a:xfrm>
            <a:off x="0" y="64008"/>
            <a:ext cx="109728" cy="1417320"/>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201168" y="91440"/>
            <a:ext cx="11430000" cy="713232"/>
          </a:xfrm>
          <a:prstGeom prst="rect">
            <a:avLst/>
          </a:prstGeom>
          <a:noFill/>
          <a:ln/>
        </p:spPr>
        <p:txBody>
          <a:bodyPr wrap="square" lIns="0" tIns="0" rIns="0" bIns="0" rtlCol="0" anchor="ctr"/>
          <a:lstStyle/>
          <a:p>
            <a:pPr marL="0" indent="0">
              <a:buNone/>
            </a:pPr>
            <a:r>
              <a:rPr lang="en-US" sz="2800" b="1" dirty="0">
                <a:solidFill>
                  <a:srgbClr val="1C1C1C"/>
                </a:solidFill>
                <a:latin typeface="Calibri" pitchFamily="34" charset="0"/>
                <a:ea typeface="Calibri" pitchFamily="34" charset="-122"/>
                <a:cs typeface="Calibri" pitchFamily="34" charset="-120"/>
              </a:rPr>
              <a:t>SERVEIQ — AGENTIC POLICY SERVICING</a:t>
            </a:r>
            <a:endParaRPr lang="en-US" sz="2800" dirty="0"/>
          </a:p>
        </p:txBody>
      </p:sp>
      <p:sp>
        <p:nvSpPr>
          <p:cNvPr id="5" name="Text 3"/>
          <p:cNvSpPr/>
          <p:nvPr/>
        </p:nvSpPr>
        <p:spPr>
          <a:xfrm>
            <a:off x="201168" y="822960"/>
            <a:ext cx="11430000" cy="292608"/>
          </a:xfrm>
          <a:prstGeom prst="rect">
            <a:avLst/>
          </a:prstGeom>
          <a:noFill/>
          <a:ln/>
        </p:spPr>
        <p:txBody>
          <a:bodyPr wrap="square" lIns="0" tIns="0" rIns="0" bIns="0" rtlCol="0" anchor="ctr"/>
          <a:lstStyle/>
          <a:p>
            <a:pPr marL="0" indent="0">
              <a:buNone/>
            </a:pPr>
            <a:r>
              <a:rPr lang="en-US" sz="1100" b="1" dirty="0">
                <a:solidFill>
                  <a:srgbClr val="007A7A"/>
                </a:solidFill>
                <a:latin typeface="Calibri" pitchFamily="34" charset="0"/>
                <a:ea typeface="Calibri" pitchFamily="34" charset="-122"/>
                <a:cs typeface="Calibri" pitchFamily="34" charset="-120"/>
              </a:rPr>
              <a:t>Insurance  ·  Policy Servicing  ·  Life-Event Detection  ·  Cross-Sell  ·  Pre-Fill  ·  Agentic AI</a:t>
            </a:r>
            <a:endParaRPr lang="en-US" sz="1100" dirty="0"/>
          </a:p>
        </p:txBody>
      </p:sp>
      <p:sp>
        <p:nvSpPr>
          <p:cNvPr id="6" name="Shape 4"/>
          <p:cNvSpPr/>
          <p:nvPr/>
        </p:nvSpPr>
        <p:spPr>
          <a:xfrm>
            <a:off x="0" y="1143000"/>
            <a:ext cx="12188952" cy="22860"/>
          </a:xfrm>
          <a:prstGeom prst="rect">
            <a:avLst/>
          </a:prstGeom>
          <a:solidFill>
            <a:srgbClr val="DDDDDD"/>
          </a:solidFill>
          <a:ln w="12700">
            <a:solidFill>
              <a:srgbClr val="DDDDDD"/>
            </a:solidFill>
            <a:prstDash val="solid"/>
          </a:ln>
        </p:spPr>
        <p:txBody>
          <a:bodyPr/>
          <a:lstStyle/>
          <a:p>
            <a:endParaRPr lang="en-US"/>
          </a:p>
        </p:txBody>
      </p:sp>
      <p:sp>
        <p:nvSpPr>
          <p:cNvPr id="7" name="Text 5"/>
          <p:cNvSpPr/>
          <p:nvPr/>
        </p:nvSpPr>
        <p:spPr>
          <a:xfrm>
            <a:off x="201168" y="1170432"/>
            <a:ext cx="11430000" cy="274320"/>
          </a:xfrm>
          <a:prstGeom prst="rect">
            <a:avLst/>
          </a:prstGeom>
          <a:noFill/>
          <a:ln/>
        </p:spPr>
        <p:txBody>
          <a:bodyPr wrap="square" lIns="0" tIns="0" rIns="0" bIns="0" rtlCol="0" anchor="ctr"/>
          <a:lstStyle/>
          <a:p>
            <a:pPr marL="0" indent="0">
              <a:buNone/>
            </a:pPr>
            <a:r>
              <a:rPr lang="en-US" sz="950" i="1" dirty="0">
                <a:solidFill>
                  <a:srgbClr val="555555"/>
                </a:solidFill>
                <a:latin typeface="Calibri" pitchFamily="34" charset="0"/>
                <a:ea typeface="Calibri" pitchFamily="34" charset="-122"/>
                <a:cs typeface="Calibri" pitchFamily="34" charset="-120"/>
              </a:rPr>
              <a:t>Client: Leading Insurance Provider   |   Domain: Insurance   |   Function: Policy Servicing</a:t>
            </a:r>
            <a:endParaRPr lang="en-US" sz="950" dirty="0"/>
          </a:p>
        </p:txBody>
      </p:sp>
      <p:sp>
        <p:nvSpPr>
          <p:cNvPr id="8" name="Shape 6"/>
          <p:cNvSpPr/>
          <p:nvPr/>
        </p:nvSpPr>
        <p:spPr>
          <a:xfrm>
            <a:off x="137160" y="1508760"/>
            <a:ext cx="5865876" cy="1371600"/>
          </a:xfrm>
          <a:prstGeom prst="rect">
            <a:avLst/>
          </a:prstGeom>
          <a:solidFill>
            <a:srgbClr val="F7F9F9"/>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pic>
        <p:nvPicPr>
          <p:cNvPr id="9" name="Image 0" descr="preencoded.png"/>
          <p:cNvPicPr>
            <a:picLocks noChangeAspect="1"/>
          </p:cNvPicPr>
          <p:nvPr/>
        </p:nvPicPr>
        <p:blipFill>
          <a:blip r:embed="rId3"/>
          <a:stretch>
            <a:fillRect/>
          </a:stretch>
        </p:blipFill>
        <p:spPr>
          <a:xfrm>
            <a:off x="256032" y="1600200"/>
            <a:ext cx="256032" cy="256032"/>
          </a:xfrm>
          <a:prstGeom prst="rect">
            <a:avLst/>
          </a:prstGeom>
        </p:spPr>
      </p:pic>
      <p:sp>
        <p:nvSpPr>
          <p:cNvPr id="10" name="Text 7"/>
          <p:cNvSpPr/>
          <p:nvPr/>
        </p:nvSpPr>
        <p:spPr>
          <a:xfrm>
            <a:off x="566928" y="1581912"/>
            <a:ext cx="5362956" cy="274320"/>
          </a:xfrm>
          <a:prstGeom prst="rect">
            <a:avLst/>
          </a:prstGeom>
          <a:noFill/>
          <a:ln/>
        </p:spPr>
        <p:txBody>
          <a:bodyPr wrap="square" lIns="0" tIns="0" rIns="0" bIns="0"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THE CHALLENGE</a:t>
            </a:r>
            <a:endParaRPr lang="en-US" sz="1000" dirty="0"/>
          </a:p>
        </p:txBody>
      </p:sp>
      <p:sp>
        <p:nvSpPr>
          <p:cNvPr id="11" name="Text 8"/>
          <p:cNvSpPr/>
          <p:nvPr/>
        </p:nvSpPr>
        <p:spPr>
          <a:xfrm>
            <a:off x="256032"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Large insurance provider's routine servicing transactions — beneficiary changes and endorsements — took 3-4 days to process, with data re-keyed by hand from blank forms. First-pass resolution ran below 60%, driving rework and SLA breaches. Agent ramp took 8-12 weeks since product knowledge lived in individuals rather than systems. Servicing ran as a pure cost center with no mechanism to capture cross-sell opportunities.</a:t>
            </a:r>
            <a:endParaRPr lang="en-US" sz="950" dirty="0"/>
          </a:p>
        </p:txBody>
      </p:sp>
      <p:sp>
        <p:nvSpPr>
          <p:cNvPr id="12" name="Shape 9"/>
          <p:cNvSpPr/>
          <p:nvPr/>
        </p:nvSpPr>
        <p:spPr>
          <a:xfrm>
            <a:off x="6185916" y="1508760"/>
            <a:ext cx="5865876" cy="1371600"/>
          </a:xfrm>
          <a:prstGeom prst="rect">
            <a:avLst/>
          </a:prstGeom>
          <a:solidFill>
            <a:srgbClr val="E6F4F4"/>
          </a:solidFill>
          <a:ln w="6350">
            <a:solidFill>
              <a:srgbClr val="008080"/>
            </a:solidFill>
            <a:prstDash val="solid"/>
          </a:ln>
          <a:effectLst>
            <a:outerShdw blurRad="63500" dist="25400" dir="27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04788" y="1600200"/>
            <a:ext cx="256032" cy="256032"/>
          </a:xfrm>
          <a:prstGeom prst="rect">
            <a:avLst/>
          </a:prstGeom>
        </p:spPr>
      </p:pic>
      <p:sp>
        <p:nvSpPr>
          <p:cNvPr id="14" name="Text 10"/>
          <p:cNvSpPr/>
          <p:nvPr/>
        </p:nvSpPr>
        <p:spPr>
          <a:xfrm>
            <a:off x="6615684" y="1581912"/>
            <a:ext cx="5362956" cy="274320"/>
          </a:xfrm>
          <a:prstGeom prst="rect">
            <a:avLst/>
          </a:prstGeom>
          <a:noFill/>
          <a:ln/>
        </p:spPr>
        <p:txBody>
          <a:bodyPr wrap="square" lIns="0" tIns="0" rIns="0" bIns="0" rtlCol="0" anchor="ctr"/>
          <a:lstStyle/>
          <a:p>
            <a:pPr marL="0" indent="0">
              <a:buNone/>
            </a:pPr>
            <a:r>
              <a:rPr lang="en-US" sz="1000" b="1" dirty="0">
                <a:solidFill>
                  <a:srgbClr val="008080"/>
                </a:solidFill>
                <a:latin typeface="Calibri" pitchFamily="34" charset="0"/>
                <a:ea typeface="Calibri" pitchFamily="34" charset="-122"/>
                <a:cs typeface="Calibri" pitchFamily="34" charset="-120"/>
              </a:rPr>
              <a:t>THE SOLUTION</a:t>
            </a:r>
            <a:endParaRPr lang="en-US" sz="1000" dirty="0"/>
          </a:p>
        </p:txBody>
      </p:sp>
      <p:sp>
        <p:nvSpPr>
          <p:cNvPr id="15" name="Text 11"/>
          <p:cNvSpPr/>
          <p:nvPr/>
        </p:nvSpPr>
        <p:spPr>
          <a:xfrm>
            <a:off x="6304788" y="1892808"/>
            <a:ext cx="5664708" cy="896112"/>
          </a:xfrm>
          <a:prstGeom prst="rect">
            <a:avLst/>
          </a:prstGeom>
          <a:noFill/>
          <a:ln/>
        </p:spPr>
        <p:txBody>
          <a:bodyPr wrap="square" lIns="0" tIns="0" rIns="0" bIns="0" rtlCol="0" anchor="t"/>
          <a:lstStyle/>
          <a:p>
            <a:pPr marL="0" indent="0">
              <a:buNone/>
            </a:pPr>
            <a:r>
              <a:rPr lang="en-US" sz="950" dirty="0">
                <a:solidFill>
                  <a:srgbClr val="1C1C1C"/>
                </a:solidFill>
                <a:latin typeface="Calibri" pitchFamily="34" charset="0"/>
                <a:ea typeface="Calibri" pitchFamily="34" charset="-122"/>
                <a:cs typeface="Calibri" pitchFamily="34" charset="-120"/>
              </a:rPr>
              <a:t>Agentic policy servicing engine deployed to detect life events in servicing requests in real time, pre-fill transactions from the policy admin system, and surface the right cross-sell recommendation inside the agent's workflow at the moment of service. Routine transactions now resolve the same day.</a:t>
            </a:r>
            <a:endParaRPr lang="en-US" sz="950" dirty="0"/>
          </a:p>
        </p:txBody>
      </p:sp>
      <p:sp>
        <p:nvSpPr>
          <p:cNvPr id="16" name="Text 12"/>
          <p:cNvSpPr/>
          <p:nvPr/>
        </p:nvSpPr>
        <p:spPr>
          <a:xfrm>
            <a:off x="137160" y="3017520"/>
            <a:ext cx="4572000" cy="201168"/>
          </a:xfrm>
          <a:prstGeom prst="rect">
            <a:avLst/>
          </a:prstGeom>
          <a:noFill/>
          <a:ln/>
        </p:spPr>
        <p:txBody>
          <a:bodyPr wrap="square" lIns="0" tIns="0" rIns="0" bIns="0" rtlCol="0" anchor="ctr"/>
          <a:lstStyle/>
          <a:p>
            <a:pPr marL="0" indent="0">
              <a:buNone/>
            </a:pPr>
            <a:r>
              <a:rPr lang="en-US" sz="900" b="1" kern="0" spc="100" dirty="0">
                <a:solidFill>
                  <a:srgbClr val="555555"/>
                </a:solidFill>
                <a:latin typeface="Calibri" pitchFamily="34" charset="0"/>
                <a:ea typeface="Calibri" pitchFamily="34" charset="-122"/>
                <a:cs typeface="Calibri" pitchFamily="34" charset="-120"/>
              </a:rPr>
              <a:t>⚙  KEY CAPABILITIES</a:t>
            </a:r>
            <a:endParaRPr lang="en-US" sz="900" dirty="0"/>
          </a:p>
        </p:txBody>
      </p:sp>
      <p:sp>
        <p:nvSpPr>
          <p:cNvPr id="17" name="Shape 13"/>
          <p:cNvSpPr/>
          <p:nvPr/>
        </p:nvSpPr>
        <p:spPr>
          <a:xfrm>
            <a:off x="137160"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18" name="Shape 14"/>
          <p:cNvSpPr/>
          <p:nvPr/>
        </p:nvSpPr>
        <p:spPr>
          <a:xfrm>
            <a:off x="137160"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19" name="Text 15"/>
          <p:cNvSpPr/>
          <p:nvPr/>
        </p:nvSpPr>
        <p:spPr>
          <a:xfrm>
            <a:off x="210312"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Real-Time Life-Event Detection</a:t>
            </a:r>
            <a:endParaRPr lang="en-US" sz="950" dirty="0"/>
          </a:p>
        </p:txBody>
      </p:sp>
      <p:sp>
        <p:nvSpPr>
          <p:cNvPr id="20" name="Text 16"/>
          <p:cNvSpPr/>
          <p:nvPr/>
        </p:nvSpPr>
        <p:spPr>
          <a:xfrm>
            <a:off x="210312"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Reads each servicing request for the life event signal behind it and flags it so it is never processed blind.</a:t>
            </a:r>
            <a:endParaRPr lang="en-US" sz="850" dirty="0"/>
          </a:p>
        </p:txBody>
      </p:sp>
      <p:sp>
        <p:nvSpPr>
          <p:cNvPr id="21" name="Shape 17"/>
          <p:cNvSpPr/>
          <p:nvPr/>
        </p:nvSpPr>
        <p:spPr>
          <a:xfrm>
            <a:off x="4047744"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2" name="Shape 18"/>
          <p:cNvSpPr/>
          <p:nvPr/>
        </p:nvSpPr>
        <p:spPr>
          <a:xfrm>
            <a:off x="4047744"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3" name="Text 19"/>
          <p:cNvSpPr/>
          <p:nvPr/>
        </p:nvSpPr>
        <p:spPr>
          <a:xfrm>
            <a:off x="4120896"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In-Workflow Cross-Sell</a:t>
            </a:r>
            <a:endParaRPr lang="en-US" sz="950" dirty="0"/>
          </a:p>
        </p:txBody>
      </p:sp>
      <p:sp>
        <p:nvSpPr>
          <p:cNvPr id="24" name="Text 20"/>
          <p:cNvSpPr/>
          <p:nvPr/>
        </p:nvSpPr>
        <p:spPr>
          <a:xfrm>
            <a:off x="4120896"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Surfaces the right next-best product inside the agent's screen at the moment of service, converting routine transactions into revenue.</a:t>
            </a:r>
            <a:endParaRPr lang="en-US" sz="850" dirty="0"/>
          </a:p>
        </p:txBody>
      </p:sp>
      <p:sp>
        <p:nvSpPr>
          <p:cNvPr id="25" name="Shape 21"/>
          <p:cNvSpPr/>
          <p:nvPr/>
        </p:nvSpPr>
        <p:spPr>
          <a:xfrm>
            <a:off x="7958328" y="3273552"/>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26" name="Shape 22"/>
          <p:cNvSpPr/>
          <p:nvPr/>
        </p:nvSpPr>
        <p:spPr>
          <a:xfrm>
            <a:off x="7958328" y="3273552"/>
            <a:ext cx="3819144" cy="50292"/>
          </a:xfrm>
          <a:prstGeom prst="rect">
            <a:avLst/>
          </a:prstGeom>
          <a:solidFill>
            <a:srgbClr val="C0392B"/>
          </a:solidFill>
          <a:ln w="12700">
            <a:solidFill>
              <a:srgbClr val="C0392B"/>
            </a:solidFill>
            <a:prstDash val="solid"/>
          </a:ln>
        </p:spPr>
        <p:txBody>
          <a:bodyPr/>
          <a:lstStyle/>
          <a:p>
            <a:endParaRPr lang="en-US"/>
          </a:p>
        </p:txBody>
      </p:sp>
      <p:sp>
        <p:nvSpPr>
          <p:cNvPr id="27" name="Text 23"/>
          <p:cNvSpPr/>
          <p:nvPr/>
        </p:nvSpPr>
        <p:spPr>
          <a:xfrm>
            <a:off x="8031480" y="3337560"/>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Pre-Filled Same-Day Servicing</a:t>
            </a:r>
            <a:endParaRPr lang="en-US" sz="950" dirty="0"/>
          </a:p>
        </p:txBody>
      </p:sp>
      <p:sp>
        <p:nvSpPr>
          <p:cNvPr id="28" name="Text 24"/>
          <p:cNvSpPr/>
          <p:nvPr/>
        </p:nvSpPr>
        <p:spPr>
          <a:xfrm>
            <a:off x="8031480" y="3547872"/>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Pulls data already held in the policy admin system into the transaction, lifting first-pass resolution and collapsing 3-4 day cycles to same-day.</a:t>
            </a:r>
            <a:endParaRPr lang="en-US" sz="850" dirty="0"/>
          </a:p>
        </p:txBody>
      </p:sp>
      <p:sp>
        <p:nvSpPr>
          <p:cNvPr id="29" name="Shape 25"/>
          <p:cNvSpPr/>
          <p:nvPr/>
        </p:nvSpPr>
        <p:spPr>
          <a:xfrm>
            <a:off x="137160"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0" name="Shape 26"/>
          <p:cNvSpPr/>
          <p:nvPr/>
        </p:nvSpPr>
        <p:spPr>
          <a:xfrm>
            <a:off x="137160"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1" name="Text 27"/>
          <p:cNvSpPr/>
          <p:nvPr/>
        </p:nvSpPr>
        <p:spPr>
          <a:xfrm>
            <a:off x="210312"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Policy Admin System Integration</a:t>
            </a:r>
            <a:endParaRPr lang="en-US" sz="950" dirty="0"/>
          </a:p>
        </p:txBody>
      </p:sp>
      <p:sp>
        <p:nvSpPr>
          <p:cNvPr id="32" name="Text 28"/>
          <p:cNvSpPr/>
          <p:nvPr/>
        </p:nvSpPr>
        <p:spPr>
          <a:xfrm>
            <a:off x="210312"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Connects directly to the policy admin system to source data for pre-fill, eliminating blank-form re-keying.</a:t>
            </a:r>
            <a:endParaRPr lang="en-US" sz="850" dirty="0"/>
          </a:p>
        </p:txBody>
      </p:sp>
      <p:sp>
        <p:nvSpPr>
          <p:cNvPr id="33" name="Shape 29"/>
          <p:cNvSpPr/>
          <p:nvPr/>
        </p:nvSpPr>
        <p:spPr>
          <a:xfrm>
            <a:off x="4047744"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4" name="Shape 30"/>
          <p:cNvSpPr/>
          <p:nvPr/>
        </p:nvSpPr>
        <p:spPr>
          <a:xfrm>
            <a:off x="4047744"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5" name="Text 31"/>
          <p:cNvSpPr/>
          <p:nvPr/>
        </p:nvSpPr>
        <p:spPr>
          <a:xfrm>
            <a:off x="4120896"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Agent Workflow Embedding</a:t>
            </a:r>
            <a:endParaRPr lang="en-US" sz="950" dirty="0"/>
          </a:p>
        </p:txBody>
      </p:sp>
      <p:sp>
        <p:nvSpPr>
          <p:cNvPr id="36" name="Text 32"/>
          <p:cNvSpPr/>
          <p:nvPr/>
        </p:nvSpPr>
        <p:spPr>
          <a:xfrm>
            <a:off x="4120896"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Surfaces cross-sell recommendations and pre-filled data inside the existing agent workflow without requiring a tool switch.</a:t>
            </a:r>
            <a:endParaRPr lang="en-US" sz="850" dirty="0"/>
          </a:p>
        </p:txBody>
      </p:sp>
      <p:sp>
        <p:nvSpPr>
          <p:cNvPr id="37" name="Shape 33"/>
          <p:cNvSpPr/>
          <p:nvPr/>
        </p:nvSpPr>
        <p:spPr>
          <a:xfrm>
            <a:off x="7958328" y="4078224"/>
            <a:ext cx="3819144" cy="749808"/>
          </a:xfrm>
          <a:prstGeom prst="rect">
            <a:avLst/>
          </a:prstGeom>
          <a:solidFill>
            <a:srgbClr val="FFFFFF"/>
          </a:solidFill>
          <a:ln w="6350">
            <a:solidFill>
              <a:srgbClr val="DDDDDD"/>
            </a:solidFill>
            <a:prstDash val="solid"/>
          </a:ln>
          <a:effectLst>
            <a:outerShdw blurRad="63500" dist="25400" dir="2700000" algn="bl" rotWithShape="0">
              <a:srgbClr val="000000">
                <a:alpha val="10000"/>
              </a:srgbClr>
            </a:outerShdw>
          </a:effectLst>
        </p:spPr>
        <p:txBody>
          <a:bodyPr/>
          <a:lstStyle/>
          <a:p>
            <a:endParaRPr lang="en-US"/>
          </a:p>
        </p:txBody>
      </p:sp>
      <p:sp>
        <p:nvSpPr>
          <p:cNvPr id="38" name="Shape 34"/>
          <p:cNvSpPr/>
          <p:nvPr/>
        </p:nvSpPr>
        <p:spPr>
          <a:xfrm>
            <a:off x="7958328" y="4078224"/>
            <a:ext cx="3819144" cy="50292"/>
          </a:xfrm>
          <a:prstGeom prst="rect">
            <a:avLst/>
          </a:prstGeom>
          <a:solidFill>
            <a:srgbClr val="C0392B"/>
          </a:solidFill>
          <a:ln w="12700">
            <a:solidFill>
              <a:srgbClr val="C0392B"/>
            </a:solidFill>
            <a:prstDash val="solid"/>
          </a:ln>
        </p:spPr>
        <p:txBody>
          <a:bodyPr/>
          <a:lstStyle/>
          <a:p>
            <a:endParaRPr lang="en-US"/>
          </a:p>
        </p:txBody>
      </p:sp>
      <p:sp>
        <p:nvSpPr>
          <p:cNvPr id="39" name="Text 35"/>
          <p:cNvSpPr/>
          <p:nvPr/>
        </p:nvSpPr>
        <p:spPr>
          <a:xfrm>
            <a:off x="8031480" y="4142232"/>
            <a:ext cx="3654552" cy="201168"/>
          </a:xfrm>
          <a:prstGeom prst="rect">
            <a:avLst/>
          </a:prstGeom>
          <a:noFill/>
          <a:ln/>
        </p:spPr>
        <p:txBody>
          <a:bodyPr wrap="square" lIns="0" tIns="0" rIns="0" bIns="0" rtlCol="0" anchor="ctr"/>
          <a:lstStyle/>
          <a:p>
            <a:pPr marL="0" indent="0">
              <a:buNone/>
            </a:pPr>
            <a:r>
              <a:rPr lang="en-US" sz="950" b="1" dirty="0">
                <a:solidFill>
                  <a:srgbClr val="1C1C1C"/>
                </a:solidFill>
                <a:latin typeface="Calibri" pitchFamily="34" charset="0"/>
                <a:ea typeface="Calibri" pitchFamily="34" charset="-122"/>
                <a:cs typeface="Calibri" pitchFamily="34" charset="-120"/>
              </a:rPr>
              <a:t>SLA Compliance Monitoring</a:t>
            </a:r>
            <a:endParaRPr lang="en-US" sz="950" dirty="0"/>
          </a:p>
        </p:txBody>
      </p:sp>
      <p:sp>
        <p:nvSpPr>
          <p:cNvPr id="40" name="Text 36"/>
          <p:cNvSpPr/>
          <p:nvPr/>
        </p:nvSpPr>
        <p:spPr>
          <a:xfrm>
            <a:off x="8031480" y="4352544"/>
            <a:ext cx="3654552" cy="420624"/>
          </a:xfrm>
          <a:prstGeom prst="rect">
            <a:avLst/>
          </a:prstGeom>
          <a:noFill/>
          <a:ln/>
        </p:spPr>
        <p:txBody>
          <a:bodyPr wrap="square" lIns="0" tIns="0" rIns="0" bIns="0" rtlCol="0" anchor="t"/>
          <a:lstStyle/>
          <a:p>
            <a:pPr marL="0" indent="0">
              <a:buNone/>
            </a:pPr>
            <a:r>
              <a:rPr lang="en-US" sz="850" dirty="0">
                <a:solidFill>
                  <a:srgbClr val="555555"/>
                </a:solidFill>
                <a:latin typeface="Calibri" pitchFamily="34" charset="0"/>
                <a:ea typeface="Calibri" pitchFamily="34" charset="-122"/>
                <a:cs typeface="Calibri" pitchFamily="34" charset="-120"/>
              </a:rPr>
              <a:t>Tracks transaction cycle times and first-pass rates continuously to surface SLA breach risk before it materializes.</a:t>
            </a:r>
            <a:endParaRPr lang="en-US" sz="850" dirty="0"/>
          </a:p>
        </p:txBody>
      </p:sp>
      <p:sp>
        <p:nvSpPr>
          <p:cNvPr id="41" name="Shape 37"/>
          <p:cNvSpPr/>
          <p:nvPr/>
        </p:nvSpPr>
        <p:spPr>
          <a:xfrm>
            <a:off x="0"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2" name="Text 38"/>
          <p:cNvSpPr/>
          <p:nvPr/>
        </p:nvSpPr>
        <p:spPr>
          <a:xfrm>
            <a:off x="91440"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3-4 Days→Same Day</a:t>
            </a:r>
            <a:endParaRPr lang="en-US" sz="2000" dirty="0"/>
          </a:p>
        </p:txBody>
      </p:sp>
      <p:sp>
        <p:nvSpPr>
          <p:cNvPr id="43" name="Text 39"/>
          <p:cNvSpPr/>
          <p:nvPr/>
        </p:nvSpPr>
        <p:spPr>
          <a:xfrm>
            <a:off x="91440"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Resolution via Pre-Filled Single-Pass Servicing</a:t>
            </a:r>
            <a:endParaRPr lang="en-US" sz="850" dirty="0"/>
          </a:p>
        </p:txBody>
      </p:sp>
      <p:sp>
        <p:nvSpPr>
          <p:cNvPr id="44" name="Shape 40"/>
          <p:cNvSpPr/>
          <p:nvPr/>
        </p:nvSpPr>
        <p:spPr>
          <a:xfrm>
            <a:off x="4062984" y="5943600"/>
            <a:ext cx="4062984" cy="914400"/>
          </a:xfrm>
          <a:prstGeom prst="rect">
            <a:avLst/>
          </a:prstGeom>
          <a:solidFill>
            <a:srgbClr val="008080"/>
          </a:solidFill>
          <a:ln w="12700">
            <a:solidFill>
              <a:srgbClr val="008080"/>
            </a:solidFill>
            <a:prstDash val="solid"/>
          </a:ln>
        </p:spPr>
        <p:txBody>
          <a:bodyPr/>
          <a:lstStyle/>
          <a:p>
            <a:endParaRPr lang="en-US"/>
          </a:p>
        </p:txBody>
      </p:sp>
      <p:sp>
        <p:nvSpPr>
          <p:cNvPr id="45" name="Text 41"/>
          <p:cNvSpPr/>
          <p:nvPr/>
        </p:nvSpPr>
        <p:spPr>
          <a:xfrm>
            <a:off x="4154424"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Above 60%</a:t>
            </a:r>
            <a:endParaRPr lang="en-US" sz="2000" dirty="0"/>
          </a:p>
        </p:txBody>
      </p:sp>
      <p:sp>
        <p:nvSpPr>
          <p:cNvPr id="46" name="Text 42"/>
          <p:cNvSpPr/>
          <p:nvPr/>
        </p:nvSpPr>
        <p:spPr>
          <a:xfrm>
            <a:off x="4154424"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First-Pass Resolution Rate Lifted</a:t>
            </a:r>
            <a:endParaRPr lang="en-US" sz="850" dirty="0"/>
          </a:p>
        </p:txBody>
      </p:sp>
      <p:sp>
        <p:nvSpPr>
          <p:cNvPr id="47" name="Shape 43"/>
          <p:cNvSpPr/>
          <p:nvPr/>
        </p:nvSpPr>
        <p:spPr>
          <a:xfrm>
            <a:off x="8125968" y="5943600"/>
            <a:ext cx="4062984" cy="914400"/>
          </a:xfrm>
          <a:prstGeom prst="rect">
            <a:avLst/>
          </a:prstGeom>
          <a:solidFill>
            <a:srgbClr val="006B6B"/>
          </a:solidFill>
          <a:ln w="12700">
            <a:solidFill>
              <a:srgbClr val="006B6B"/>
            </a:solidFill>
            <a:prstDash val="solid"/>
          </a:ln>
        </p:spPr>
        <p:txBody>
          <a:bodyPr/>
          <a:lstStyle/>
          <a:p>
            <a:endParaRPr lang="en-US"/>
          </a:p>
        </p:txBody>
      </p:sp>
      <p:sp>
        <p:nvSpPr>
          <p:cNvPr id="48" name="Text 44"/>
          <p:cNvSpPr/>
          <p:nvPr/>
        </p:nvSpPr>
        <p:spPr>
          <a:xfrm>
            <a:off x="8217408" y="5989320"/>
            <a:ext cx="3880104" cy="438912"/>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$2-5M</a:t>
            </a:r>
            <a:endParaRPr lang="en-US" sz="2000" dirty="0"/>
          </a:p>
        </p:txBody>
      </p:sp>
      <p:sp>
        <p:nvSpPr>
          <p:cNvPr id="49" name="Text 45"/>
          <p:cNvSpPr/>
          <p:nvPr/>
        </p:nvSpPr>
        <p:spPr>
          <a:xfrm>
            <a:off x="8217408" y="6419088"/>
            <a:ext cx="3880104" cy="347472"/>
          </a:xfrm>
          <a:prstGeom prst="rect">
            <a:avLst/>
          </a:prstGeom>
          <a:noFill/>
          <a:ln/>
        </p:spPr>
        <p:txBody>
          <a:bodyPr wrap="square" lIns="0" tIns="0" rIns="0" bIns="0" rtlCol="0" anchor="t"/>
          <a:lstStyle/>
          <a:p>
            <a:pPr marL="0" indent="0" algn="ctr">
              <a:buNone/>
            </a:pPr>
            <a:r>
              <a:rPr lang="en-US" sz="850" dirty="0">
                <a:solidFill>
                  <a:srgbClr val="CCFFFF"/>
                </a:solidFill>
                <a:latin typeface="Calibri" pitchFamily="34" charset="0"/>
                <a:ea typeface="Calibri" pitchFamily="34" charset="-122"/>
                <a:cs typeface="Calibri" pitchFamily="34" charset="-120"/>
              </a:rPr>
              <a:t>Revenue Per 1,000 Daily Interactions via Cross-Sell</a:t>
            </a:r>
            <a:endParaRPr lang="en-US" sz="85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667598" y="-751535"/>
            <a:ext cx="4286707" cy="4286707"/>
          </a:xfrm>
          <a:prstGeom prst="ellipse">
            <a:avLst/>
          </a:prstGeom>
          <a:solidFill>
            <a:srgbClr val="2A9D8F">
              <a:alpha val="3000"/>
            </a:srgbClr>
          </a:solidFill>
          <a:ln w="12700">
            <a:solidFill>
              <a:srgbClr val="FFFFFF">
                <a:alpha val="0"/>
              </a:srgbClr>
            </a:solidFill>
            <a:prstDash val="solid"/>
          </a:ln>
        </p:spPr>
        <p:txBody>
          <a:bodyPr/>
          <a:lstStyle/>
          <a:p>
            <a:endParaRPr lang="en-US"/>
          </a:p>
        </p:txBody>
      </p:sp>
      <p:pic>
        <p:nvPicPr>
          <p:cNvPr id="5" name="Image 0" descr="gen-dedup-debd4e3596836e8640379be3057665ef.png"/>
          <p:cNvPicPr>
            <a:picLocks noChangeAspect="1"/>
          </p:cNvPicPr>
          <p:nvPr/>
        </p:nvPicPr>
        <p:blipFill>
          <a:blip r:embed="rId3">
            <a:alphaModFix amt="5000"/>
          </a:blip>
          <a:srcRect/>
          <a:stretch/>
        </p:blipFill>
        <p:spPr>
          <a:xfrm>
            <a:off x="-476402" y="3047695"/>
            <a:ext cx="2857500" cy="2857500"/>
          </a:xfrm>
          <a:prstGeom prst="rect">
            <a:avLst/>
          </a:prstGeom>
        </p:spPr>
      </p:pic>
      <p:pic>
        <p:nvPicPr>
          <p:cNvPr id="6" name="Image 1" descr="gen-dedup-ef527bea2207a14ec6e8d4c8ae9cdc45.png"/>
          <p:cNvPicPr>
            <a:picLocks noChangeAspect="1"/>
          </p:cNvPicPr>
          <p:nvPr/>
        </p:nvPicPr>
        <p:blipFill>
          <a:blip r:embed="rId4"/>
          <a:srcRect l="-384" r="-384"/>
          <a:stretch/>
        </p:blipFill>
        <p:spPr>
          <a:xfrm>
            <a:off x="609905" y="457200"/>
            <a:ext cx="57607" cy="476402"/>
          </a:xfrm>
          <a:prstGeom prst="rect">
            <a:avLst/>
          </a:prstGeom>
        </p:spPr>
      </p:pic>
      <p:sp>
        <p:nvSpPr>
          <p:cNvPr id="7" name="Shape 3"/>
          <p:cNvSpPr/>
          <p:nvPr/>
        </p:nvSpPr>
        <p:spPr>
          <a:xfrm>
            <a:off x="1714500" y="1285646"/>
            <a:ext cx="4304995" cy="2667305"/>
          </a:xfrm>
          <a:prstGeom prst="roundRect">
            <a:avLst>
              <a:gd name="adj" fmla="val 1959"/>
            </a:avLst>
          </a:prstGeom>
          <a:solidFill>
            <a:srgbClr val="FFFFFF"/>
          </a:solidFill>
          <a:ln w="12700">
            <a:solidFill>
              <a:srgbClr val="F3F4F6"/>
            </a:solidFill>
            <a:prstDash val="solid"/>
          </a:ln>
          <a:effectLst>
            <a:outerShdw blurRad="114300" dist="38100" dir="16200000" algn="bl" rotWithShape="0">
              <a:srgbClr val="000000">
                <a:alpha val="4000"/>
              </a:srgbClr>
            </a:outerShdw>
          </a:effectLst>
        </p:spPr>
        <p:txBody>
          <a:bodyPr/>
          <a:lstStyle/>
          <a:p>
            <a:endParaRPr lang="en-US"/>
          </a:p>
        </p:txBody>
      </p:sp>
      <p:sp>
        <p:nvSpPr>
          <p:cNvPr id="8" name="Shape 4"/>
          <p:cNvSpPr/>
          <p:nvPr/>
        </p:nvSpPr>
        <p:spPr>
          <a:xfrm>
            <a:off x="1714500" y="1285646"/>
            <a:ext cx="4304995" cy="38405"/>
          </a:xfrm>
          <a:prstGeom prst="roundRect">
            <a:avLst>
              <a:gd name="adj" fmla="val 136054"/>
            </a:avLst>
          </a:prstGeom>
          <a:solidFill>
            <a:srgbClr val="2A9D8F"/>
          </a:solidFill>
          <a:ln w="12700">
            <a:solidFill>
              <a:srgbClr val="2A9D8F">
                <a:alpha val="0"/>
              </a:srgbClr>
            </a:solidFill>
            <a:prstDash val="solid"/>
          </a:ln>
        </p:spPr>
        <p:txBody>
          <a:bodyPr/>
          <a:lstStyle/>
          <a:p>
            <a:endParaRPr lang="en-US"/>
          </a:p>
        </p:txBody>
      </p:sp>
      <p:sp>
        <p:nvSpPr>
          <p:cNvPr id="9" name="Shape 5"/>
          <p:cNvSpPr/>
          <p:nvPr/>
        </p:nvSpPr>
        <p:spPr>
          <a:xfrm>
            <a:off x="6191402" y="1285646"/>
            <a:ext cx="4304995" cy="2667305"/>
          </a:xfrm>
          <a:prstGeom prst="roundRect">
            <a:avLst>
              <a:gd name="adj" fmla="val 1959"/>
            </a:avLst>
          </a:prstGeom>
          <a:solidFill>
            <a:srgbClr val="FFFFFF"/>
          </a:solidFill>
          <a:ln w="12700">
            <a:solidFill>
              <a:srgbClr val="F3F4F6"/>
            </a:solidFill>
            <a:prstDash val="solid"/>
          </a:ln>
          <a:effectLst>
            <a:outerShdw blurRad="114300" dist="38100" dir="16200000" algn="bl" rotWithShape="0">
              <a:srgbClr val="000000">
                <a:alpha val="4000"/>
              </a:srgbClr>
            </a:outerShdw>
          </a:effectLst>
        </p:spPr>
        <p:txBody>
          <a:bodyPr/>
          <a:lstStyle/>
          <a:p>
            <a:endParaRPr lang="en-US"/>
          </a:p>
        </p:txBody>
      </p:sp>
      <p:sp>
        <p:nvSpPr>
          <p:cNvPr id="10" name="Shape 6"/>
          <p:cNvSpPr/>
          <p:nvPr/>
        </p:nvSpPr>
        <p:spPr>
          <a:xfrm>
            <a:off x="6191402" y="1285646"/>
            <a:ext cx="4304995" cy="38405"/>
          </a:xfrm>
          <a:prstGeom prst="roundRect">
            <a:avLst>
              <a:gd name="adj" fmla="val 136054"/>
            </a:avLst>
          </a:prstGeom>
          <a:solidFill>
            <a:srgbClr val="D62839"/>
          </a:solidFill>
          <a:ln w="12700">
            <a:solidFill>
              <a:srgbClr val="D62839">
                <a:alpha val="0"/>
              </a:srgbClr>
            </a:solidFill>
            <a:prstDash val="solid"/>
          </a:ln>
        </p:spPr>
        <p:txBody>
          <a:bodyPr/>
          <a:lstStyle/>
          <a:p>
            <a:endParaRPr lang="en-US"/>
          </a:p>
        </p:txBody>
      </p:sp>
      <p:sp>
        <p:nvSpPr>
          <p:cNvPr id="11" name="Shape 7"/>
          <p:cNvSpPr/>
          <p:nvPr/>
        </p:nvSpPr>
        <p:spPr>
          <a:xfrm>
            <a:off x="609905" y="4095598"/>
            <a:ext cx="3590849" cy="2523744"/>
          </a:xfrm>
          <a:prstGeom prst="roundRect">
            <a:avLst>
              <a:gd name="adj" fmla="val 2188"/>
            </a:avLst>
          </a:prstGeom>
          <a:solidFill>
            <a:srgbClr val="FFFFFF"/>
          </a:solidFill>
          <a:ln w="12700">
            <a:solidFill>
              <a:srgbClr val="F3F4F6"/>
            </a:solidFill>
            <a:prstDash val="solid"/>
          </a:ln>
          <a:effectLst>
            <a:outerShdw blurRad="114300" dist="38100" dir="16200000" algn="bl" rotWithShape="0">
              <a:srgbClr val="000000">
                <a:alpha val="4000"/>
              </a:srgbClr>
            </a:outerShdw>
          </a:effectLst>
        </p:spPr>
        <p:txBody>
          <a:bodyPr/>
          <a:lstStyle/>
          <a:p>
            <a:endParaRPr lang="en-US"/>
          </a:p>
        </p:txBody>
      </p:sp>
      <p:sp>
        <p:nvSpPr>
          <p:cNvPr id="12" name="Shape 8"/>
          <p:cNvSpPr/>
          <p:nvPr/>
        </p:nvSpPr>
        <p:spPr>
          <a:xfrm>
            <a:off x="609905" y="4095598"/>
            <a:ext cx="3590849" cy="38405"/>
          </a:xfrm>
          <a:prstGeom prst="roundRect">
            <a:avLst>
              <a:gd name="adj" fmla="val 143755"/>
            </a:avLst>
          </a:prstGeom>
          <a:solidFill>
            <a:srgbClr val="2A9D8F"/>
          </a:solidFill>
          <a:ln w="12700">
            <a:solidFill>
              <a:srgbClr val="2A9D8F">
                <a:alpha val="0"/>
              </a:srgbClr>
            </a:solidFill>
            <a:prstDash val="solid"/>
          </a:ln>
        </p:spPr>
        <p:txBody>
          <a:bodyPr/>
          <a:lstStyle/>
          <a:p>
            <a:endParaRPr lang="en-US"/>
          </a:p>
        </p:txBody>
      </p:sp>
      <p:sp>
        <p:nvSpPr>
          <p:cNvPr id="13" name="Shape 9"/>
          <p:cNvSpPr/>
          <p:nvPr/>
        </p:nvSpPr>
        <p:spPr>
          <a:xfrm>
            <a:off x="4304995" y="4095598"/>
            <a:ext cx="3590849" cy="2523744"/>
          </a:xfrm>
          <a:prstGeom prst="roundRect">
            <a:avLst>
              <a:gd name="adj" fmla="val 2188"/>
            </a:avLst>
          </a:prstGeom>
          <a:solidFill>
            <a:srgbClr val="FFFFFF"/>
          </a:solidFill>
          <a:ln w="12700">
            <a:solidFill>
              <a:srgbClr val="F3F4F6"/>
            </a:solidFill>
            <a:prstDash val="solid"/>
          </a:ln>
          <a:effectLst>
            <a:outerShdw blurRad="114300" dist="38100" dir="16200000" algn="bl" rotWithShape="0">
              <a:srgbClr val="000000">
                <a:alpha val="4000"/>
              </a:srgbClr>
            </a:outerShdw>
          </a:effectLst>
        </p:spPr>
        <p:txBody>
          <a:bodyPr/>
          <a:lstStyle/>
          <a:p>
            <a:endParaRPr lang="en-US"/>
          </a:p>
        </p:txBody>
      </p:sp>
      <p:sp>
        <p:nvSpPr>
          <p:cNvPr id="14" name="Shape 10"/>
          <p:cNvSpPr/>
          <p:nvPr/>
        </p:nvSpPr>
        <p:spPr>
          <a:xfrm>
            <a:off x="4304995" y="4095598"/>
            <a:ext cx="3590849" cy="38405"/>
          </a:xfrm>
          <a:prstGeom prst="roundRect">
            <a:avLst>
              <a:gd name="adj" fmla="val 143755"/>
            </a:avLst>
          </a:prstGeom>
          <a:solidFill>
            <a:srgbClr val="D62839"/>
          </a:solidFill>
          <a:ln w="12700">
            <a:solidFill>
              <a:srgbClr val="D62839">
                <a:alpha val="0"/>
              </a:srgbClr>
            </a:solidFill>
            <a:prstDash val="solid"/>
          </a:ln>
        </p:spPr>
        <p:txBody>
          <a:bodyPr/>
          <a:lstStyle/>
          <a:p>
            <a:endParaRPr lang="en-US"/>
          </a:p>
        </p:txBody>
      </p:sp>
      <p:sp>
        <p:nvSpPr>
          <p:cNvPr id="15" name="Shape 11"/>
          <p:cNvSpPr/>
          <p:nvPr/>
        </p:nvSpPr>
        <p:spPr>
          <a:xfrm>
            <a:off x="8001000" y="4095598"/>
            <a:ext cx="3590849" cy="2523744"/>
          </a:xfrm>
          <a:prstGeom prst="roundRect">
            <a:avLst>
              <a:gd name="adj" fmla="val 2188"/>
            </a:avLst>
          </a:prstGeom>
          <a:solidFill>
            <a:srgbClr val="FFFFFF"/>
          </a:solidFill>
          <a:ln w="12700">
            <a:solidFill>
              <a:srgbClr val="F3F4F6"/>
            </a:solidFill>
            <a:prstDash val="solid"/>
          </a:ln>
          <a:effectLst>
            <a:outerShdw blurRad="114300" dist="38100" dir="16200000" algn="bl" rotWithShape="0">
              <a:srgbClr val="000000">
                <a:alpha val="4000"/>
              </a:srgbClr>
            </a:outerShdw>
          </a:effectLst>
        </p:spPr>
        <p:txBody>
          <a:bodyPr/>
          <a:lstStyle/>
          <a:p>
            <a:endParaRPr lang="en-US"/>
          </a:p>
        </p:txBody>
      </p:sp>
      <p:sp>
        <p:nvSpPr>
          <p:cNvPr id="16" name="Shape 12"/>
          <p:cNvSpPr/>
          <p:nvPr/>
        </p:nvSpPr>
        <p:spPr>
          <a:xfrm>
            <a:off x="8001000" y="4095598"/>
            <a:ext cx="3590849" cy="38405"/>
          </a:xfrm>
          <a:prstGeom prst="roundRect">
            <a:avLst>
              <a:gd name="adj" fmla="val 143755"/>
            </a:avLst>
          </a:prstGeom>
          <a:solidFill>
            <a:srgbClr val="2A9D8F"/>
          </a:solidFill>
          <a:ln w="12700">
            <a:solidFill>
              <a:srgbClr val="2A9D8F">
                <a:alpha val="0"/>
              </a:srgbClr>
            </a:solidFill>
            <a:prstDash val="solid"/>
          </a:ln>
        </p:spPr>
        <p:txBody>
          <a:bodyPr/>
          <a:lstStyle/>
          <a:p>
            <a:endParaRPr lang="en-US"/>
          </a:p>
        </p:txBody>
      </p:sp>
      <p:sp>
        <p:nvSpPr>
          <p:cNvPr id="17" name="Text 13"/>
          <p:cNvSpPr txBox="1"/>
          <p:nvPr/>
        </p:nvSpPr>
        <p:spPr>
          <a:xfrm>
            <a:off x="819302" y="381305"/>
            <a:ext cx="10478110" cy="362102"/>
          </a:xfrm>
          <a:prstGeom prst="rect">
            <a:avLst/>
          </a:prstGeom>
          <a:noFill/>
          <a:ln/>
        </p:spPr>
        <p:txBody>
          <a:bodyPr wrap="none" lIns="0" tIns="0" rIns="0" bIns="0" rtlCol="0" anchor="ctr"/>
          <a:lstStyle/>
          <a:p>
            <a:pPr marL="0" indent="0" algn="l">
              <a:buNone/>
            </a:pPr>
            <a:r>
              <a:rPr lang="en-US" sz="2500" b="1" kern="0" spc="-25">
                <a:solidFill>
                  <a:srgbClr val="111827"/>
                </a:solidFill>
                <a:latin typeface="Oswald" pitchFamily="34" charset="0"/>
                <a:ea typeface="Oswald" pitchFamily="34" charset="-122"/>
                <a:cs typeface="Oswald" pitchFamily="34" charset="-120"/>
              </a:rPr>
              <a:t>ARCHITECTS OF TRANSFORMATION</a:t>
            </a:r>
            <a:endParaRPr lang="en-US" sz="2500"/>
          </a:p>
        </p:txBody>
      </p:sp>
      <p:sp>
        <p:nvSpPr>
          <p:cNvPr id="18" name="Text 14"/>
          <p:cNvSpPr txBox="1"/>
          <p:nvPr/>
        </p:nvSpPr>
        <p:spPr>
          <a:xfrm>
            <a:off x="819302" y="794614"/>
            <a:ext cx="10478110" cy="181051"/>
          </a:xfrm>
          <a:prstGeom prst="rect">
            <a:avLst/>
          </a:prstGeom>
          <a:noFill/>
          <a:ln/>
        </p:spPr>
        <p:txBody>
          <a:bodyPr wrap="none" lIns="0" tIns="0" rIns="0" bIns="0" rtlCol="0" anchor="ctr"/>
          <a:lstStyle/>
          <a:p>
            <a:pPr marL="0" indent="0" algn="l">
              <a:buNone/>
            </a:pPr>
            <a:r>
              <a:rPr lang="en-US" sz="1200" b="1" kern="0" spc="60">
                <a:solidFill>
                  <a:srgbClr val="2A9D8F"/>
                </a:solidFill>
                <a:latin typeface="Roboto Condensed" pitchFamily="34" charset="0"/>
                <a:ea typeface="Roboto Condensed" pitchFamily="34" charset="-122"/>
                <a:cs typeface="Roboto Condensed" pitchFamily="34" charset="-120"/>
              </a:rPr>
              <a:t>A SEASONED TEAM UNITING TECHNOLOGY, STRATEGY, AND WORKFORCE EXCELLENCE</a:t>
            </a:r>
            <a:endParaRPr lang="en-US" sz="1200"/>
          </a:p>
        </p:txBody>
      </p:sp>
      <p:sp>
        <p:nvSpPr>
          <p:cNvPr id="19" name="Shape 15"/>
          <p:cNvSpPr/>
          <p:nvPr/>
        </p:nvSpPr>
        <p:spPr>
          <a:xfrm>
            <a:off x="3476549" y="1429207"/>
            <a:ext cx="761695" cy="761695"/>
          </a:xfrm>
          <a:prstGeom prst="ellipse">
            <a:avLst/>
          </a:prstGeom>
          <a:solidFill>
            <a:srgbClr val="F3F4F6"/>
          </a:solidFill>
          <a:ln w="25400">
            <a:solidFill>
              <a:srgbClr val="E5E7EB"/>
            </a:solidFill>
            <a:prstDash val="solid"/>
          </a:ln>
        </p:spPr>
        <p:txBody>
          <a:bodyPr/>
          <a:lstStyle/>
          <a:p>
            <a:endParaRPr lang="en-US"/>
          </a:p>
        </p:txBody>
      </p:sp>
      <p:sp>
        <p:nvSpPr>
          <p:cNvPr id="20" name="Text 16"/>
          <p:cNvSpPr/>
          <p:nvPr/>
        </p:nvSpPr>
        <p:spPr>
          <a:xfrm>
            <a:off x="3476549" y="1429207"/>
            <a:ext cx="762610" cy="762610"/>
          </a:xfrm>
          <a:prstGeom prst="rect">
            <a:avLst/>
          </a:prstGeom>
          <a:solidFill>
            <a:srgbClr val="FFFFFF">
              <a:alpha val="0"/>
            </a:srgbClr>
          </a:solidFill>
          <a:ln>
            <a:solidFill>
              <a:srgbClr val="FFFFFF">
                <a:alpha val="0"/>
              </a:srgbClr>
            </a:solidFill>
          </a:ln>
        </p:spPr>
        <p:txBody>
          <a:bodyPr wrap="none" lIns="0" tIns="0" rIns="0" bIns="0" rtlCol="0" anchor="ctr"/>
          <a:lstStyle/>
          <a:p>
            <a:pPr marL="0" indent="0" algn="ctr">
              <a:buNone/>
            </a:pPr>
            <a:r>
              <a:rPr lang="en-US" sz="1000" b="1">
                <a:solidFill>
                  <a:srgbClr val="9CA3AF"/>
                </a:solidFill>
                <a:latin typeface="Raleway" pitchFamily="34" charset="0"/>
                <a:ea typeface="Raleway" pitchFamily="34" charset="-122"/>
                <a:cs typeface="Raleway" pitchFamily="34" charset="-120"/>
              </a:rPr>
              <a:t>Photo</a:t>
            </a:r>
            <a:endParaRPr lang="en-US" sz="1000"/>
          </a:p>
        </p:txBody>
      </p:sp>
      <p:sp>
        <p:nvSpPr>
          <p:cNvPr id="21" name="Text 17"/>
          <p:cNvSpPr txBox="1"/>
          <p:nvPr/>
        </p:nvSpPr>
        <p:spPr>
          <a:xfrm>
            <a:off x="3294583" y="2266798"/>
            <a:ext cx="1133856" cy="286207"/>
          </a:xfrm>
          <a:prstGeom prst="rect">
            <a:avLst/>
          </a:prstGeom>
          <a:noFill/>
          <a:ln/>
        </p:spPr>
        <p:txBody>
          <a:bodyPr wrap="none" lIns="0" tIns="0" rIns="0" bIns="0" rtlCol="0" anchor="ctr"/>
          <a:lstStyle/>
          <a:p>
            <a:pPr marL="0" indent="0" algn="ctr">
              <a:buNone/>
            </a:pPr>
            <a:r>
              <a:rPr lang="en-US" sz="1500" b="1">
                <a:solidFill>
                  <a:srgbClr val="111827"/>
                </a:solidFill>
                <a:latin typeface="Oswald" pitchFamily="34" charset="0"/>
                <a:ea typeface="Oswald" pitchFamily="34" charset="-122"/>
                <a:cs typeface="Oswald" pitchFamily="34" charset="-120"/>
              </a:rPr>
              <a:t>Priti Sawant</a:t>
            </a:r>
            <a:endParaRPr lang="en-US" sz="1500"/>
          </a:p>
        </p:txBody>
      </p:sp>
      <p:sp>
        <p:nvSpPr>
          <p:cNvPr id="22" name="Text 18"/>
          <p:cNvSpPr txBox="1"/>
          <p:nvPr/>
        </p:nvSpPr>
        <p:spPr>
          <a:xfrm>
            <a:off x="3254350" y="2572207"/>
            <a:ext cx="1207008" cy="143561"/>
          </a:xfrm>
          <a:prstGeom prst="rect">
            <a:avLst/>
          </a:prstGeom>
          <a:noFill/>
          <a:ln/>
        </p:spPr>
        <p:txBody>
          <a:bodyPr wrap="none" lIns="0" tIns="0" rIns="0" bIns="0" rtlCol="0" anchor="ctr"/>
          <a:lstStyle/>
          <a:p>
            <a:pPr marL="0" indent="0" algn="ctr">
              <a:buNone/>
            </a:pPr>
            <a:r>
              <a:rPr lang="en-US" sz="900" b="1" kern="0" spc="49">
                <a:solidFill>
                  <a:srgbClr val="2A9D8F"/>
                </a:solidFill>
                <a:latin typeface="Roboto Condensed" pitchFamily="34" charset="0"/>
                <a:ea typeface="Roboto Condensed" pitchFamily="34" charset="-122"/>
                <a:cs typeface="Roboto Condensed" pitchFamily="34" charset="-120"/>
              </a:rPr>
              <a:t>FOUNDER &amp; CEO</a:t>
            </a:r>
            <a:endParaRPr lang="en-US" sz="900"/>
          </a:p>
        </p:txBody>
      </p:sp>
      <p:sp>
        <p:nvSpPr>
          <p:cNvPr id="23" name="Text 19"/>
          <p:cNvSpPr txBox="1"/>
          <p:nvPr/>
        </p:nvSpPr>
        <p:spPr>
          <a:xfrm>
            <a:off x="1857146" y="2790749"/>
            <a:ext cx="4000500" cy="876910"/>
          </a:xfrm>
          <a:prstGeom prst="rect">
            <a:avLst/>
          </a:prstGeom>
          <a:noFill/>
          <a:ln/>
        </p:spPr>
        <p:txBody>
          <a:bodyPr wrap="square" lIns="0" tIns="0" rIns="0" bIns="0" rtlCol="0" anchor="ctr"/>
          <a:lstStyle/>
          <a:p>
            <a:pPr marL="0" indent="0" algn="ctr">
              <a:buNone/>
            </a:pPr>
            <a:r>
              <a:rPr lang="en-US" sz="1000">
                <a:solidFill>
                  <a:srgbClr val="4B5563"/>
                </a:solidFill>
                <a:latin typeface="Raleway" pitchFamily="34" charset="0"/>
                <a:ea typeface="Raleway" pitchFamily="34" charset="-122"/>
                <a:cs typeface="Raleway" pitchFamily="34" charset="-120"/>
              </a:rPr>
              <a:t>Serial entrepreneur and pioneer of India's GCC ecosystem. 20+ years building businesses at the intersection of technology and enterprise transformation. Founded J2W, operating across 8 countries, 300+ GCCs, 5,200+ professionals. Forbes Japan featured. TiE Charter Member.</a:t>
            </a:r>
            <a:endParaRPr lang="en-US" sz="1000"/>
          </a:p>
        </p:txBody>
      </p:sp>
      <p:sp>
        <p:nvSpPr>
          <p:cNvPr id="24" name="Shape 20"/>
          <p:cNvSpPr/>
          <p:nvPr/>
        </p:nvSpPr>
        <p:spPr>
          <a:xfrm>
            <a:off x="7953451" y="1429207"/>
            <a:ext cx="761695" cy="761695"/>
          </a:xfrm>
          <a:prstGeom prst="ellipse">
            <a:avLst/>
          </a:prstGeom>
          <a:solidFill>
            <a:srgbClr val="F3F4F6"/>
          </a:solidFill>
          <a:ln w="25400">
            <a:solidFill>
              <a:srgbClr val="E5E7EB"/>
            </a:solidFill>
            <a:prstDash val="solid"/>
          </a:ln>
        </p:spPr>
        <p:txBody>
          <a:bodyPr/>
          <a:lstStyle/>
          <a:p>
            <a:endParaRPr lang="en-US"/>
          </a:p>
        </p:txBody>
      </p:sp>
      <p:sp>
        <p:nvSpPr>
          <p:cNvPr id="25" name="Text 21"/>
          <p:cNvSpPr/>
          <p:nvPr/>
        </p:nvSpPr>
        <p:spPr>
          <a:xfrm>
            <a:off x="7953451" y="1429207"/>
            <a:ext cx="762610" cy="762610"/>
          </a:xfrm>
          <a:prstGeom prst="rect">
            <a:avLst/>
          </a:prstGeom>
          <a:solidFill>
            <a:srgbClr val="FFFFFF">
              <a:alpha val="0"/>
            </a:srgbClr>
          </a:solidFill>
          <a:ln>
            <a:solidFill>
              <a:srgbClr val="FFFFFF">
                <a:alpha val="0"/>
              </a:srgbClr>
            </a:solidFill>
          </a:ln>
        </p:spPr>
        <p:txBody>
          <a:bodyPr wrap="none" lIns="0" tIns="0" rIns="0" bIns="0" rtlCol="0" anchor="ctr"/>
          <a:lstStyle/>
          <a:p>
            <a:pPr marL="0" indent="0" algn="ctr">
              <a:buNone/>
            </a:pPr>
            <a:r>
              <a:rPr lang="en-US" sz="1000" b="1">
                <a:solidFill>
                  <a:srgbClr val="9CA3AF"/>
                </a:solidFill>
                <a:latin typeface="Raleway" pitchFamily="34" charset="0"/>
                <a:ea typeface="Raleway" pitchFamily="34" charset="-122"/>
                <a:cs typeface="Raleway" pitchFamily="34" charset="-120"/>
              </a:rPr>
              <a:t>Photo</a:t>
            </a:r>
            <a:endParaRPr lang="en-US" sz="1000"/>
          </a:p>
        </p:txBody>
      </p:sp>
      <p:sp>
        <p:nvSpPr>
          <p:cNvPr id="26" name="Text 22"/>
          <p:cNvSpPr txBox="1"/>
          <p:nvPr/>
        </p:nvSpPr>
        <p:spPr>
          <a:xfrm>
            <a:off x="7764170" y="2266798"/>
            <a:ext cx="1144829" cy="286207"/>
          </a:xfrm>
          <a:prstGeom prst="rect">
            <a:avLst/>
          </a:prstGeom>
          <a:noFill/>
          <a:ln/>
        </p:spPr>
        <p:txBody>
          <a:bodyPr wrap="none" lIns="0" tIns="0" rIns="0" bIns="0" rtlCol="0" anchor="ctr"/>
          <a:lstStyle/>
          <a:p>
            <a:pPr marL="0" indent="0" algn="ctr">
              <a:buNone/>
            </a:pPr>
            <a:r>
              <a:rPr lang="en-US" sz="1500" b="1">
                <a:solidFill>
                  <a:srgbClr val="111827"/>
                </a:solidFill>
                <a:latin typeface="Oswald" pitchFamily="34" charset="0"/>
                <a:ea typeface="Oswald" pitchFamily="34" charset="-122"/>
                <a:cs typeface="Oswald" pitchFamily="34" charset="-120"/>
              </a:rPr>
              <a:t>Priya Mohan</a:t>
            </a:r>
            <a:endParaRPr lang="en-US" sz="1500"/>
          </a:p>
        </p:txBody>
      </p:sp>
      <p:sp>
        <p:nvSpPr>
          <p:cNvPr id="27" name="Text 23"/>
          <p:cNvSpPr txBox="1"/>
          <p:nvPr/>
        </p:nvSpPr>
        <p:spPr>
          <a:xfrm>
            <a:off x="8214970" y="2572207"/>
            <a:ext cx="247802" cy="143561"/>
          </a:xfrm>
          <a:prstGeom prst="rect">
            <a:avLst/>
          </a:prstGeom>
          <a:noFill/>
          <a:ln/>
        </p:spPr>
        <p:txBody>
          <a:bodyPr wrap="none" lIns="0" tIns="0" rIns="0" bIns="0" rtlCol="0" anchor="ctr"/>
          <a:lstStyle/>
          <a:p>
            <a:pPr marL="0" indent="0" algn="ctr">
              <a:buNone/>
            </a:pPr>
            <a:r>
              <a:rPr lang="en-US" sz="900" b="1" kern="0" spc="49">
                <a:solidFill>
                  <a:srgbClr val="D62839"/>
                </a:solidFill>
                <a:latin typeface="Roboto Condensed" pitchFamily="34" charset="0"/>
                <a:ea typeface="Roboto Condensed" pitchFamily="34" charset="-122"/>
                <a:cs typeface="Roboto Condensed" pitchFamily="34" charset="-120"/>
              </a:rPr>
              <a:t>COO</a:t>
            </a:r>
            <a:endParaRPr lang="en-US" sz="900"/>
          </a:p>
        </p:txBody>
      </p:sp>
      <p:sp>
        <p:nvSpPr>
          <p:cNvPr id="28" name="Text 24"/>
          <p:cNvSpPr txBox="1"/>
          <p:nvPr/>
        </p:nvSpPr>
        <p:spPr>
          <a:xfrm>
            <a:off x="6334049" y="2790749"/>
            <a:ext cx="4000500" cy="695858"/>
          </a:xfrm>
          <a:prstGeom prst="rect">
            <a:avLst/>
          </a:prstGeom>
          <a:noFill/>
          <a:ln/>
        </p:spPr>
        <p:txBody>
          <a:bodyPr wrap="square" lIns="0" tIns="0" rIns="0" bIns="0" rtlCol="0" anchor="ctr"/>
          <a:lstStyle/>
          <a:p>
            <a:pPr marL="0" indent="0" algn="ctr">
              <a:buNone/>
            </a:pPr>
            <a:r>
              <a:rPr lang="en-US" sz="1000">
                <a:solidFill>
                  <a:srgbClr val="4B5563"/>
                </a:solidFill>
                <a:latin typeface="Raleway" pitchFamily="34" charset="0"/>
                <a:ea typeface="Raleway" pitchFamily="34" charset="-122"/>
                <a:cs typeface="Raleway" pitchFamily="34" charset="-120"/>
              </a:rPr>
              <a:t>Seasoned operator, investor, and entrepreneur with 20+ years in venture capital and investment banking. Ex-General Catalyst &amp; Venture Highway. Co-founded Vidyartha, exited to BYJU'S. CA &amp; ISB alumna. Kamalnayan Bajaj Aspen Fellow.</a:t>
            </a:r>
            <a:endParaRPr lang="en-US" sz="1000"/>
          </a:p>
        </p:txBody>
      </p:sp>
      <p:sp>
        <p:nvSpPr>
          <p:cNvPr id="31" name="Text 27"/>
          <p:cNvSpPr txBox="1"/>
          <p:nvPr/>
        </p:nvSpPr>
        <p:spPr>
          <a:xfrm>
            <a:off x="1821485" y="5178349"/>
            <a:ext cx="1156716" cy="247802"/>
          </a:xfrm>
          <a:prstGeom prst="rect">
            <a:avLst/>
          </a:prstGeom>
          <a:noFill/>
          <a:ln/>
        </p:spPr>
        <p:txBody>
          <a:bodyPr wrap="none" lIns="0" tIns="0" rIns="0" bIns="0" rtlCol="0" anchor="ctr"/>
          <a:lstStyle/>
          <a:p>
            <a:pPr marL="0" indent="0" algn="ctr">
              <a:buNone/>
            </a:pPr>
            <a:r>
              <a:rPr lang="en-US" sz="1300" b="1">
                <a:solidFill>
                  <a:srgbClr val="111827"/>
                </a:solidFill>
                <a:latin typeface="Oswald" pitchFamily="34" charset="0"/>
                <a:ea typeface="Oswald" pitchFamily="34" charset="-122"/>
                <a:cs typeface="Oswald" pitchFamily="34" charset="-120"/>
              </a:rPr>
              <a:t>Vineet Shukla</a:t>
            </a:r>
            <a:endParaRPr lang="en-US" sz="1300"/>
          </a:p>
        </p:txBody>
      </p:sp>
      <p:sp>
        <p:nvSpPr>
          <p:cNvPr id="32" name="Text 28"/>
          <p:cNvSpPr txBox="1"/>
          <p:nvPr/>
        </p:nvSpPr>
        <p:spPr>
          <a:xfrm>
            <a:off x="1503274" y="5445354"/>
            <a:ext cx="1791310" cy="133502"/>
          </a:xfrm>
          <a:prstGeom prst="rect">
            <a:avLst/>
          </a:prstGeom>
          <a:noFill/>
          <a:ln/>
        </p:spPr>
        <p:txBody>
          <a:bodyPr wrap="none" lIns="0" tIns="0" rIns="0" bIns="0" rtlCol="0" anchor="ctr"/>
          <a:lstStyle/>
          <a:p>
            <a:pPr marL="0" indent="0" algn="ctr">
              <a:buNone/>
            </a:pPr>
            <a:r>
              <a:rPr lang="en-US" sz="900" b="1" kern="0" spc="45">
                <a:solidFill>
                  <a:srgbClr val="2A9D8F"/>
                </a:solidFill>
                <a:latin typeface="Roboto Condensed" pitchFamily="34" charset="0"/>
                <a:ea typeface="Roboto Condensed" pitchFamily="34" charset="-122"/>
                <a:cs typeface="Roboto Condensed" pitchFamily="34" charset="-120"/>
              </a:rPr>
              <a:t>CHIEF TECHNOLOGY OFFICER</a:t>
            </a:r>
            <a:endParaRPr lang="en-US" sz="900"/>
          </a:p>
        </p:txBody>
      </p:sp>
      <p:sp>
        <p:nvSpPr>
          <p:cNvPr id="33" name="Text 29"/>
          <p:cNvSpPr txBox="1"/>
          <p:nvPr/>
        </p:nvSpPr>
        <p:spPr>
          <a:xfrm>
            <a:off x="904646" y="5688076"/>
            <a:ext cx="3286354" cy="486461"/>
          </a:xfrm>
          <a:prstGeom prst="rect">
            <a:avLst/>
          </a:prstGeom>
          <a:noFill/>
          <a:ln/>
        </p:spPr>
        <p:txBody>
          <a:bodyPr wrap="square" lIns="0" tIns="0" rIns="0" bIns="0" rtlCol="0" anchor="ctr"/>
          <a:lstStyle/>
          <a:p>
            <a:pPr marL="0" indent="0" algn="ctr">
              <a:buNone/>
            </a:pPr>
            <a:r>
              <a:rPr lang="en-US" sz="900">
                <a:solidFill>
                  <a:srgbClr val="4B5563"/>
                </a:solidFill>
                <a:latin typeface="Raleway" pitchFamily="34" charset="0"/>
                <a:ea typeface="Raleway" pitchFamily="34" charset="-122"/>
                <a:cs typeface="Raleway" pitchFamily="34" charset="-120"/>
              </a:rPr>
              <a:t>20+ years experience, 15 in financial services. AI, data science &amp; ML leader. Patent holder. Scales enterprise AI transformations. IIM Bangalore MBA.</a:t>
            </a:r>
            <a:endParaRPr lang="en-US" sz="900"/>
          </a:p>
        </p:txBody>
      </p:sp>
      <p:sp>
        <p:nvSpPr>
          <p:cNvPr id="34" name="Shape 30"/>
          <p:cNvSpPr/>
          <p:nvPr/>
        </p:nvSpPr>
        <p:spPr>
          <a:xfrm>
            <a:off x="5710428" y="4339844"/>
            <a:ext cx="761695" cy="761695"/>
          </a:xfrm>
          <a:prstGeom prst="ellipse">
            <a:avLst/>
          </a:prstGeom>
          <a:solidFill>
            <a:srgbClr val="F3F4F6"/>
          </a:solidFill>
          <a:ln w="25400">
            <a:solidFill>
              <a:srgbClr val="E5E7EB"/>
            </a:solidFill>
            <a:prstDash val="solid"/>
          </a:ln>
        </p:spPr>
        <p:txBody>
          <a:bodyPr/>
          <a:lstStyle/>
          <a:p>
            <a:endParaRPr lang="en-US"/>
          </a:p>
        </p:txBody>
      </p:sp>
      <p:sp>
        <p:nvSpPr>
          <p:cNvPr id="35" name="Text 31"/>
          <p:cNvSpPr/>
          <p:nvPr/>
        </p:nvSpPr>
        <p:spPr>
          <a:xfrm>
            <a:off x="5710428" y="4339844"/>
            <a:ext cx="762610" cy="762610"/>
          </a:xfrm>
          <a:prstGeom prst="rect">
            <a:avLst/>
          </a:prstGeom>
          <a:solidFill>
            <a:srgbClr val="FFFFFF">
              <a:alpha val="0"/>
            </a:srgbClr>
          </a:solidFill>
          <a:ln>
            <a:solidFill>
              <a:srgbClr val="FFFFFF">
                <a:alpha val="0"/>
              </a:srgbClr>
            </a:solidFill>
          </a:ln>
        </p:spPr>
        <p:txBody>
          <a:bodyPr wrap="none" lIns="0" tIns="0" rIns="0" bIns="0" rtlCol="0" anchor="ctr"/>
          <a:lstStyle/>
          <a:p>
            <a:pPr marL="0" indent="0" algn="ctr">
              <a:buNone/>
            </a:pPr>
            <a:r>
              <a:rPr lang="en-US" sz="1000" b="1">
                <a:solidFill>
                  <a:srgbClr val="9CA3AF"/>
                </a:solidFill>
                <a:latin typeface="Raleway" pitchFamily="34" charset="0"/>
                <a:ea typeface="Raleway" pitchFamily="34" charset="-122"/>
                <a:cs typeface="Raleway" pitchFamily="34" charset="-120"/>
              </a:rPr>
              <a:t>Photo</a:t>
            </a:r>
            <a:endParaRPr lang="en-US" sz="1000"/>
          </a:p>
        </p:txBody>
      </p:sp>
      <p:sp>
        <p:nvSpPr>
          <p:cNvPr id="36" name="Text 32"/>
          <p:cNvSpPr txBox="1"/>
          <p:nvPr/>
        </p:nvSpPr>
        <p:spPr>
          <a:xfrm>
            <a:off x="5512003" y="5178349"/>
            <a:ext cx="1167689" cy="247802"/>
          </a:xfrm>
          <a:prstGeom prst="rect">
            <a:avLst/>
          </a:prstGeom>
          <a:noFill/>
          <a:ln/>
        </p:spPr>
        <p:txBody>
          <a:bodyPr wrap="none" lIns="0" tIns="0" rIns="0" bIns="0" rtlCol="0" anchor="ctr"/>
          <a:lstStyle/>
          <a:p>
            <a:pPr marL="0" indent="0" algn="ctr">
              <a:buNone/>
            </a:pPr>
            <a:r>
              <a:rPr lang="en-US" sz="1300" b="1">
                <a:solidFill>
                  <a:srgbClr val="111827"/>
                </a:solidFill>
                <a:latin typeface="Oswald" pitchFamily="34" charset="0"/>
                <a:ea typeface="Oswald" pitchFamily="34" charset="-122"/>
                <a:cs typeface="Oswald" pitchFamily="34" charset="-120"/>
              </a:rPr>
              <a:t>Daniel Dsouza</a:t>
            </a:r>
            <a:endParaRPr lang="en-US" sz="1300"/>
          </a:p>
        </p:txBody>
      </p:sp>
      <p:sp>
        <p:nvSpPr>
          <p:cNvPr id="37" name="Text 33"/>
          <p:cNvSpPr txBox="1"/>
          <p:nvPr/>
        </p:nvSpPr>
        <p:spPr>
          <a:xfrm>
            <a:off x="4998110" y="5445354"/>
            <a:ext cx="2188159" cy="133502"/>
          </a:xfrm>
          <a:prstGeom prst="rect">
            <a:avLst/>
          </a:prstGeom>
          <a:noFill/>
          <a:ln/>
        </p:spPr>
        <p:txBody>
          <a:bodyPr wrap="none" lIns="0" tIns="0" rIns="0" bIns="0" rtlCol="0" anchor="ctr"/>
          <a:lstStyle/>
          <a:p>
            <a:pPr marL="0" indent="0" algn="ctr">
              <a:buNone/>
            </a:pPr>
            <a:r>
              <a:rPr lang="en-US" sz="900" b="1" kern="0" spc="45">
                <a:solidFill>
                  <a:srgbClr val="D62839"/>
                </a:solidFill>
                <a:latin typeface="Roboto Condensed" pitchFamily="34" charset="0"/>
                <a:ea typeface="Roboto Condensed" pitchFamily="34" charset="-122"/>
                <a:cs typeface="Roboto Condensed" pitchFamily="34" charset="-120"/>
              </a:rPr>
              <a:t>HEAD OF ARTIFICIAL INTELLIGENCE</a:t>
            </a:r>
            <a:endParaRPr lang="en-US" sz="900"/>
          </a:p>
        </p:txBody>
      </p:sp>
      <p:sp>
        <p:nvSpPr>
          <p:cNvPr id="38" name="Text 34"/>
          <p:cNvSpPr txBox="1"/>
          <p:nvPr/>
        </p:nvSpPr>
        <p:spPr>
          <a:xfrm>
            <a:off x="4600651" y="5688076"/>
            <a:ext cx="3286354" cy="486461"/>
          </a:xfrm>
          <a:prstGeom prst="rect">
            <a:avLst/>
          </a:prstGeom>
          <a:noFill/>
          <a:ln/>
        </p:spPr>
        <p:txBody>
          <a:bodyPr wrap="square" lIns="0" tIns="0" rIns="0" bIns="0" rtlCol="0" anchor="ctr"/>
          <a:lstStyle/>
          <a:p>
            <a:pPr marL="0" indent="0" algn="ctr">
              <a:buNone/>
            </a:pPr>
            <a:r>
              <a:rPr lang="en-US" sz="900">
                <a:solidFill>
                  <a:srgbClr val="4B5563"/>
                </a:solidFill>
                <a:latin typeface="Raleway" pitchFamily="34" charset="0"/>
                <a:ea typeface="Raleway" pitchFamily="34" charset="-122"/>
                <a:cs typeface="Raleway" pitchFamily="34" charset="-120"/>
              </a:rPr>
              <a:t>Enterprise AI transformation leader. INSEAD MBA. AWS Certified Architect &amp; PMP. Expertise in AI strategy, architecture and cross-geography team leadership.</a:t>
            </a:r>
            <a:endParaRPr lang="en-US" sz="900"/>
          </a:p>
        </p:txBody>
      </p:sp>
      <p:sp>
        <p:nvSpPr>
          <p:cNvPr id="39" name="Shape 35"/>
          <p:cNvSpPr/>
          <p:nvPr/>
        </p:nvSpPr>
        <p:spPr>
          <a:xfrm>
            <a:off x="9405518" y="4339844"/>
            <a:ext cx="761695" cy="761695"/>
          </a:xfrm>
          <a:prstGeom prst="ellipse">
            <a:avLst/>
          </a:prstGeom>
          <a:solidFill>
            <a:srgbClr val="F3F4F6"/>
          </a:solidFill>
          <a:ln w="25400">
            <a:solidFill>
              <a:srgbClr val="E5E7EB"/>
            </a:solidFill>
            <a:prstDash val="solid"/>
          </a:ln>
        </p:spPr>
        <p:txBody>
          <a:bodyPr/>
          <a:lstStyle/>
          <a:p>
            <a:endParaRPr lang="en-US"/>
          </a:p>
        </p:txBody>
      </p:sp>
      <p:sp>
        <p:nvSpPr>
          <p:cNvPr id="40" name="Text 36"/>
          <p:cNvSpPr/>
          <p:nvPr/>
        </p:nvSpPr>
        <p:spPr>
          <a:xfrm>
            <a:off x="9405518" y="4339844"/>
            <a:ext cx="762610" cy="762610"/>
          </a:xfrm>
          <a:prstGeom prst="rect">
            <a:avLst/>
          </a:prstGeom>
          <a:solidFill>
            <a:srgbClr val="FFFFFF">
              <a:alpha val="0"/>
            </a:srgbClr>
          </a:solidFill>
          <a:ln>
            <a:solidFill>
              <a:srgbClr val="FFFFFF">
                <a:alpha val="0"/>
              </a:srgbClr>
            </a:solidFill>
          </a:ln>
        </p:spPr>
        <p:txBody>
          <a:bodyPr wrap="none" lIns="0" tIns="0" rIns="0" bIns="0" rtlCol="0" anchor="ctr"/>
          <a:lstStyle/>
          <a:p>
            <a:pPr marL="0" indent="0" algn="ctr">
              <a:buNone/>
            </a:pPr>
            <a:r>
              <a:rPr lang="en-US" sz="1000" b="1">
                <a:solidFill>
                  <a:srgbClr val="9CA3AF"/>
                </a:solidFill>
                <a:latin typeface="Raleway" pitchFamily="34" charset="0"/>
                <a:ea typeface="Raleway" pitchFamily="34" charset="-122"/>
                <a:cs typeface="Raleway" pitchFamily="34" charset="-120"/>
              </a:rPr>
              <a:t>Photo</a:t>
            </a:r>
            <a:endParaRPr lang="en-US" sz="1000"/>
          </a:p>
        </p:txBody>
      </p:sp>
      <p:sp>
        <p:nvSpPr>
          <p:cNvPr id="41" name="Text 37"/>
          <p:cNvSpPr txBox="1"/>
          <p:nvPr/>
        </p:nvSpPr>
        <p:spPr>
          <a:xfrm>
            <a:off x="9322308" y="5178349"/>
            <a:ext cx="929945" cy="247802"/>
          </a:xfrm>
          <a:prstGeom prst="rect">
            <a:avLst/>
          </a:prstGeom>
          <a:noFill/>
          <a:ln/>
        </p:spPr>
        <p:txBody>
          <a:bodyPr wrap="none" lIns="0" tIns="0" rIns="0" bIns="0" rtlCol="0" anchor="ctr"/>
          <a:lstStyle/>
          <a:p>
            <a:pPr marL="0" indent="0" algn="ctr">
              <a:buNone/>
            </a:pPr>
            <a:r>
              <a:rPr lang="en-US" sz="1300" b="1">
                <a:solidFill>
                  <a:srgbClr val="111827"/>
                </a:solidFill>
                <a:latin typeface="Oswald" pitchFamily="34" charset="0"/>
                <a:ea typeface="Oswald" pitchFamily="34" charset="-122"/>
                <a:cs typeface="Oswald" pitchFamily="34" charset="-120"/>
              </a:rPr>
              <a:t>Kunal Shah</a:t>
            </a:r>
            <a:endParaRPr lang="en-US" sz="1300"/>
          </a:p>
        </p:txBody>
      </p:sp>
      <p:sp>
        <p:nvSpPr>
          <p:cNvPr id="42" name="Text 38"/>
          <p:cNvSpPr txBox="1"/>
          <p:nvPr/>
        </p:nvSpPr>
        <p:spPr>
          <a:xfrm>
            <a:off x="8810244" y="5445354"/>
            <a:ext cx="1961388" cy="133502"/>
          </a:xfrm>
          <a:prstGeom prst="rect">
            <a:avLst/>
          </a:prstGeom>
          <a:noFill/>
          <a:ln/>
        </p:spPr>
        <p:txBody>
          <a:bodyPr wrap="none" lIns="0" tIns="0" rIns="0" bIns="0" rtlCol="0" anchor="ctr"/>
          <a:lstStyle/>
          <a:p>
            <a:pPr marL="0" indent="0" algn="ctr">
              <a:buNone/>
            </a:pPr>
            <a:r>
              <a:rPr lang="en-US" sz="900" b="1" kern="0" spc="45">
                <a:solidFill>
                  <a:srgbClr val="2A9D8F"/>
                </a:solidFill>
                <a:latin typeface="Roboto Condensed" pitchFamily="34" charset="0"/>
                <a:ea typeface="Roboto Condensed" pitchFamily="34" charset="-122"/>
                <a:cs typeface="Roboto Condensed" pitchFamily="34" charset="-120"/>
              </a:rPr>
              <a:t>HEAD - GLOBAL BFSI STRATEGY</a:t>
            </a:r>
            <a:endParaRPr lang="en-US" sz="900"/>
          </a:p>
        </p:txBody>
      </p:sp>
      <p:sp>
        <p:nvSpPr>
          <p:cNvPr id="43" name="Text 39"/>
          <p:cNvSpPr txBox="1"/>
          <p:nvPr/>
        </p:nvSpPr>
        <p:spPr>
          <a:xfrm>
            <a:off x="8295741" y="5644997"/>
            <a:ext cx="3146959" cy="648310"/>
          </a:xfrm>
          <a:prstGeom prst="rect">
            <a:avLst/>
          </a:prstGeom>
          <a:noFill/>
          <a:ln/>
        </p:spPr>
        <p:txBody>
          <a:bodyPr wrap="square" lIns="0" tIns="0" rIns="0" bIns="0" rtlCol="0" anchor="ctr"/>
          <a:lstStyle/>
          <a:p>
            <a:pPr marL="0" indent="0" algn="ctr">
              <a:buNone/>
            </a:pPr>
            <a:r>
              <a:rPr lang="en-US" sz="900">
                <a:solidFill>
                  <a:srgbClr val="4B5563"/>
                </a:solidFill>
                <a:latin typeface="Raleway" pitchFamily="34" charset="0"/>
                <a:ea typeface="Raleway" pitchFamily="34" charset="-122"/>
                <a:cs typeface="Raleway" pitchFamily="34" charset="-120"/>
              </a:rPr>
              <a:t>Industry-recognized AI, data science &amp; ML leader. 20+ years in BFSI. Ex JP Morgan &amp; CLSA. Scales enterprise AI transformations. Drives measurable ROI for banks &amp; fintechs.</a:t>
            </a:r>
            <a:endParaRPr lang="en-US" sz="900"/>
          </a:p>
        </p:txBody>
      </p:sp>
      <p:pic>
        <p:nvPicPr>
          <p:cNvPr id="46" name="Image 4" descr="preencoded.png">
            <a:extLst>
              <a:ext uri="{FF2B5EF4-FFF2-40B4-BE49-F238E27FC236}">
                <a16:creationId xmlns:a16="http://schemas.microsoft.com/office/drawing/2014/main" id="{C6614DD8-D2D3-3E59-136C-61594D6E82DB}"/>
              </a:ext>
            </a:extLst>
          </p:cNvPr>
          <p:cNvPicPr>
            <a:picLocks noChangeAspect="1"/>
          </p:cNvPicPr>
          <p:nvPr/>
        </p:nvPicPr>
        <p:blipFill>
          <a:blip r:embed="rId5"/>
          <a:srcRect b="1042"/>
          <a:stretch/>
        </p:blipFill>
        <p:spPr>
          <a:xfrm>
            <a:off x="7895844" y="1398828"/>
            <a:ext cx="857707" cy="857707"/>
          </a:xfrm>
          <a:prstGeom prst="rect">
            <a:avLst/>
          </a:prstGeom>
        </p:spPr>
      </p:pic>
      <p:pic>
        <p:nvPicPr>
          <p:cNvPr id="48" name="Image 2" descr="preencoded.png">
            <a:extLst>
              <a:ext uri="{FF2B5EF4-FFF2-40B4-BE49-F238E27FC236}">
                <a16:creationId xmlns:a16="http://schemas.microsoft.com/office/drawing/2014/main" id="{3C07FD42-E1E3-E85C-D27C-13F1FA4C86FB}"/>
              </a:ext>
            </a:extLst>
          </p:cNvPr>
          <p:cNvPicPr>
            <a:picLocks noChangeAspect="1"/>
          </p:cNvPicPr>
          <p:nvPr/>
        </p:nvPicPr>
        <p:blipFill>
          <a:blip r:embed="rId6"/>
          <a:srcRect/>
          <a:stretch/>
        </p:blipFill>
        <p:spPr>
          <a:xfrm>
            <a:off x="3472994" y="1429207"/>
            <a:ext cx="783996" cy="783996"/>
          </a:xfrm>
          <a:prstGeom prst="rect">
            <a:avLst/>
          </a:prstGeom>
        </p:spPr>
      </p:pic>
      <p:pic>
        <p:nvPicPr>
          <p:cNvPr id="49" name="Picture 48">
            <a:extLst>
              <a:ext uri="{FF2B5EF4-FFF2-40B4-BE49-F238E27FC236}">
                <a16:creationId xmlns:a16="http://schemas.microsoft.com/office/drawing/2014/main" id="{21381C72-F8AC-4843-BD6E-BF2328463577}"/>
              </a:ext>
            </a:extLst>
          </p:cNvPr>
          <p:cNvPicPr>
            <a:picLocks noChangeAspect="1"/>
          </p:cNvPicPr>
          <p:nvPr/>
        </p:nvPicPr>
        <p:blipFill>
          <a:blip r:embed="rId7"/>
          <a:stretch>
            <a:fillRect/>
          </a:stretch>
        </p:blipFill>
        <p:spPr>
          <a:xfrm>
            <a:off x="1949958" y="4383736"/>
            <a:ext cx="761695" cy="761695"/>
          </a:xfrm>
          <a:prstGeom prst="ellipse">
            <a:avLst/>
          </a:prstGeom>
          <a:ln>
            <a:solidFill>
              <a:schemeClr val="bg2">
                <a:lumMod val="50000"/>
              </a:schemeClr>
            </a:solidFill>
          </a:ln>
        </p:spPr>
      </p:pic>
      <p:pic>
        <p:nvPicPr>
          <p:cNvPr id="51" name="Picture 50">
            <a:extLst>
              <a:ext uri="{FF2B5EF4-FFF2-40B4-BE49-F238E27FC236}">
                <a16:creationId xmlns:a16="http://schemas.microsoft.com/office/drawing/2014/main" id="{1E4787F7-0E35-B225-403B-21A9F0D68FCA}"/>
              </a:ext>
            </a:extLst>
          </p:cNvPr>
          <p:cNvPicPr>
            <a:picLocks noChangeAspect="1"/>
          </p:cNvPicPr>
          <p:nvPr/>
        </p:nvPicPr>
        <p:blipFill>
          <a:blip r:embed="rId8"/>
          <a:stretch>
            <a:fillRect/>
          </a:stretch>
        </p:blipFill>
        <p:spPr>
          <a:xfrm>
            <a:off x="5710428" y="4311358"/>
            <a:ext cx="791235" cy="791235"/>
          </a:xfrm>
          <a:prstGeom prst="ellipse">
            <a:avLst/>
          </a:prstGeom>
          <a:ln>
            <a:solidFill>
              <a:schemeClr val="bg2">
                <a:lumMod val="75000"/>
              </a:schemeClr>
            </a:solidFill>
          </a:ln>
        </p:spPr>
      </p:pic>
      <p:pic>
        <p:nvPicPr>
          <p:cNvPr id="52" name="Picture 51">
            <a:extLst>
              <a:ext uri="{FF2B5EF4-FFF2-40B4-BE49-F238E27FC236}">
                <a16:creationId xmlns:a16="http://schemas.microsoft.com/office/drawing/2014/main" id="{EFE56F8F-09ED-BCC5-7551-0F240ACC8FD8}"/>
              </a:ext>
            </a:extLst>
          </p:cNvPr>
          <p:cNvPicPr>
            <a:picLocks noChangeAspect="1"/>
          </p:cNvPicPr>
          <p:nvPr/>
        </p:nvPicPr>
        <p:blipFill>
          <a:blip r:embed="rId9"/>
          <a:stretch>
            <a:fillRect/>
          </a:stretch>
        </p:blipFill>
        <p:spPr>
          <a:xfrm>
            <a:off x="9408768" y="4336643"/>
            <a:ext cx="792836" cy="792836"/>
          </a:xfrm>
          <a:prstGeom prst="ellipse">
            <a:avLst/>
          </a:prstGeom>
          <a:ln>
            <a:solidFill>
              <a:schemeClr val="bg2">
                <a:lumMod val="75000"/>
              </a:schemeClr>
            </a:solidFill>
          </a:ln>
        </p:spPr>
      </p:pic>
    </p:spTree>
    <p:extLst>
      <p:ext uri="{BB962C8B-B14F-4D97-AF65-F5344CB8AC3E}">
        <p14:creationId xmlns:p14="http://schemas.microsoft.com/office/powerpoint/2010/main" val="215227022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4918E-CA58-E5F4-F9F4-9F82CB89CE4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0EFF5F3-4DDA-24A6-E4D8-A4A3C70A9235}"/>
              </a:ext>
            </a:extLst>
          </p:cNvPr>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a:extLst>
              <a:ext uri="{FF2B5EF4-FFF2-40B4-BE49-F238E27FC236}">
                <a16:creationId xmlns:a16="http://schemas.microsoft.com/office/drawing/2014/main" id="{1E78A4C1-42F3-11EA-B71C-5C5DA0E2DB61}"/>
              </a:ext>
            </a:extLst>
          </p:cNvPr>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a:extLst>
              <a:ext uri="{FF2B5EF4-FFF2-40B4-BE49-F238E27FC236}">
                <a16:creationId xmlns:a16="http://schemas.microsoft.com/office/drawing/2014/main" id="{5EEB366C-A762-A317-6EC4-B4CB5906CB0C}"/>
              </a:ext>
            </a:extLst>
          </p:cNvPr>
          <p:cNvSpPr/>
          <p:nvPr/>
        </p:nvSpPr>
        <p:spPr>
          <a:xfrm>
            <a:off x="8667598" y="-761695"/>
            <a:ext cx="4286707" cy="4286707"/>
          </a:xfrm>
          <a:prstGeom prst="ellipse">
            <a:avLst/>
          </a:prstGeom>
          <a:solidFill>
            <a:srgbClr val="2A9D8F">
              <a:alpha val="3000"/>
            </a:srgbClr>
          </a:solidFill>
          <a:ln w="12700">
            <a:solidFill>
              <a:srgbClr val="FFFFFF">
                <a:alpha val="0"/>
              </a:srgbClr>
            </a:solidFill>
            <a:prstDash val="solid"/>
          </a:ln>
        </p:spPr>
        <p:txBody>
          <a:bodyPr/>
          <a:lstStyle/>
          <a:p>
            <a:endParaRPr lang="en-US"/>
          </a:p>
        </p:txBody>
      </p:sp>
      <p:pic>
        <p:nvPicPr>
          <p:cNvPr id="5" name="Image 0" descr="gen-dedup-debd4e3596836e8640379be3057665ef.png">
            <a:extLst>
              <a:ext uri="{FF2B5EF4-FFF2-40B4-BE49-F238E27FC236}">
                <a16:creationId xmlns:a16="http://schemas.microsoft.com/office/drawing/2014/main" id="{1CB91D49-ED4B-44E1-D2BD-99A7301EF327}"/>
              </a:ext>
            </a:extLst>
          </p:cNvPr>
          <p:cNvPicPr>
            <a:picLocks noChangeAspect="1"/>
          </p:cNvPicPr>
          <p:nvPr/>
        </p:nvPicPr>
        <p:blipFill>
          <a:blip r:embed="rId3">
            <a:alphaModFix amt="5000"/>
          </a:blip>
          <a:srcRect/>
          <a:stretch/>
        </p:blipFill>
        <p:spPr>
          <a:xfrm>
            <a:off x="-476402" y="3047695"/>
            <a:ext cx="2857500" cy="2857500"/>
          </a:xfrm>
          <a:prstGeom prst="rect">
            <a:avLst/>
          </a:prstGeom>
        </p:spPr>
      </p:pic>
      <p:pic>
        <p:nvPicPr>
          <p:cNvPr id="6" name="Image 1" descr="gen-dedup-ef527bea2207a14ec6e8d4c8ae9cdc45.png">
            <a:extLst>
              <a:ext uri="{FF2B5EF4-FFF2-40B4-BE49-F238E27FC236}">
                <a16:creationId xmlns:a16="http://schemas.microsoft.com/office/drawing/2014/main" id="{CFAD2321-944A-2D5D-9226-C340246D345F}"/>
              </a:ext>
            </a:extLst>
          </p:cNvPr>
          <p:cNvPicPr>
            <a:picLocks noChangeAspect="1"/>
          </p:cNvPicPr>
          <p:nvPr/>
        </p:nvPicPr>
        <p:blipFill>
          <a:blip r:embed="rId4"/>
          <a:srcRect l="-384" r="-384"/>
          <a:stretch/>
        </p:blipFill>
        <p:spPr>
          <a:xfrm>
            <a:off x="609905" y="457200"/>
            <a:ext cx="57607" cy="476402"/>
          </a:xfrm>
          <a:prstGeom prst="rect">
            <a:avLst/>
          </a:prstGeom>
        </p:spPr>
      </p:pic>
      <p:sp>
        <p:nvSpPr>
          <p:cNvPr id="11" name="Shape 7">
            <a:extLst>
              <a:ext uri="{FF2B5EF4-FFF2-40B4-BE49-F238E27FC236}">
                <a16:creationId xmlns:a16="http://schemas.microsoft.com/office/drawing/2014/main" id="{44747A4E-921A-5EDB-FAC9-CD0C2B5E6FE6}"/>
              </a:ext>
            </a:extLst>
          </p:cNvPr>
          <p:cNvSpPr/>
          <p:nvPr/>
        </p:nvSpPr>
        <p:spPr>
          <a:xfrm>
            <a:off x="609905" y="4095598"/>
            <a:ext cx="3590849" cy="2523744"/>
          </a:xfrm>
          <a:prstGeom prst="roundRect">
            <a:avLst>
              <a:gd name="adj" fmla="val 2188"/>
            </a:avLst>
          </a:prstGeom>
          <a:solidFill>
            <a:srgbClr val="FFFFFF"/>
          </a:solidFill>
          <a:ln w="12700">
            <a:solidFill>
              <a:srgbClr val="F3F4F6"/>
            </a:solidFill>
            <a:prstDash val="solid"/>
          </a:ln>
          <a:effectLst>
            <a:outerShdw blurRad="114300" dist="38100" dir="16200000" algn="bl" rotWithShape="0">
              <a:srgbClr val="000000">
                <a:alpha val="4000"/>
              </a:srgbClr>
            </a:outerShdw>
          </a:effectLst>
        </p:spPr>
        <p:txBody>
          <a:bodyPr/>
          <a:lstStyle/>
          <a:p>
            <a:endParaRPr lang="en-US"/>
          </a:p>
        </p:txBody>
      </p:sp>
      <p:sp>
        <p:nvSpPr>
          <p:cNvPr id="12" name="Shape 8">
            <a:extLst>
              <a:ext uri="{FF2B5EF4-FFF2-40B4-BE49-F238E27FC236}">
                <a16:creationId xmlns:a16="http://schemas.microsoft.com/office/drawing/2014/main" id="{62D325F3-E949-BD67-D77F-B841EA2FFC98}"/>
              </a:ext>
            </a:extLst>
          </p:cNvPr>
          <p:cNvSpPr/>
          <p:nvPr/>
        </p:nvSpPr>
        <p:spPr>
          <a:xfrm>
            <a:off x="609905" y="4095598"/>
            <a:ext cx="3590849" cy="38405"/>
          </a:xfrm>
          <a:prstGeom prst="roundRect">
            <a:avLst>
              <a:gd name="adj" fmla="val 143755"/>
            </a:avLst>
          </a:prstGeom>
          <a:solidFill>
            <a:srgbClr val="2A9D8F"/>
          </a:solidFill>
          <a:ln w="12700">
            <a:solidFill>
              <a:srgbClr val="2A9D8F">
                <a:alpha val="0"/>
              </a:srgbClr>
            </a:solidFill>
            <a:prstDash val="solid"/>
          </a:ln>
        </p:spPr>
        <p:txBody>
          <a:bodyPr/>
          <a:lstStyle/>
          <a:p>
            <a:endParaRPr lang="en-US"/>
          </a:p>
        </p:txBody>
      </p:sp>
      <p:sp>
        <p:nvSpPr>
          <p:cNvPr id="13" name="Shape 9">
            <a:extLst>
              <a:ext uri="{FF2B5EF4-FFF2-40B4-BE49-F238E27FC236}">
                <a16:creationId xmlns:a16="http://schemas.microsoft.com/office/drawing/2014/main" id="{CF7BBC12-BA96-1390-E4D1-18008A972E35}"/>
              </a:ext>
            </a:extLst>
          </p:cNvPr>
          <p:cNvSpPr/>
          <p:nvPr/>
        </p:nvSpPr>
        <p:spPr>
          <a:xfrm>
            <a:off x="4304995" y="4095598"/>
            <a:ext cx="3590849" cy="2523744"/>
          </a:xfrm>
          <a:prstGeom prst="roundRect">
            <a:avLst>
              <a:gd name="adj" fmla="val 2188"/>
            </a:avLst>
          </a:prstGeom>
          <a:solidFill>
            <a:srgbClr val="FFFFFF"/>
          </a:solidFill>
          <a:ln w="12700">
            <a:solidFill>
              <a:srgbClr val="F3F4F6"/>
            </a:solidFill>
            <a:prstDash val="solid"/>
          </a:ln>
          <a:effectLst>
            <a:outerShdw blurRad="114300" dist="38100" dir="16200000" algn="bl" rotWithShape="0">
              <a:srgbClr val="000000">
                <a:alpha val="4000"/>
              </a:srgbClr>
            </a:outerShdw>
          </a:effectLst>
        </p:spPr>
        <p:txBody>
          <a:bodyPr/>
          <a:lstStyle/>
          <a:p>
            <a:endParaRPr lang="en-US"/>
          </a:p>
        </p:txBody>
      </p:sp>
      <p:sp>
        <p:nvSpPr>
          <p:cNvPr id="14" name="Shape 10">
            <a:extLst>
              <a:ext uri="{FF2B5EF4-FFF2-40B4-BE49-F238E27FC236}">
                <a16:creationId xmlns:a16="http://schemas.microsoft.com/office/drawing/2014/main" id="{B449B8BA-5A3A-4443-904B-545B45C085D1}"/>
              </a:ext>
            </a:extLst>
          </p:cNvPr>
          <p:cNvSpPr/>
          <p:nvPr/>
        </p:nvSpPr>
        <p:spPr>
          <a:xfrm>
            <a:off x="4304995" y="4095598"/>
            <a:ext cx="3590849" cy="38405"/>
          </a:xfrm>
          <a:prstGeom prst="roundRect">
            <a:avLst>
              <a:gd name="adj" fmla="val 143755"/>
            </a:avLst>
          </a:prstGeom>
          <a:solidFill>
            <a:srgbClr val="D62839"/>
          </a:solidFill>
          <a:ln w="12700">
            <a:solidFill>
              <a:srgbClr val="D62839">
                <a:alpha val="0"/>
              </a:srgbClr>
            </a:solidFill>
            <a:prstDash val="solid"/>
          </a:ln>
        </p:spPr>
        <p:txBody>
          <a:bodyPr/>
          <a:lstStyle/>
          <a:p>
            <a:endParaRPr lang="en-US"/>
          </a:p>
        </p:txBody>
      </p:sp>
      <p:sp>
        <p:nvSpPr>
          <p:cNvPr id="15" name="Shape 11">
            <a:extLst>
              <a:ext uri="{FF2B5EF4-FFF2-40B4-BE49-F238E27FC236}">
                <a16:creationId xmlns:a16="http://schemas.microsoft.com/office/drawing/2014/main" id="{020476DD-27A6-B949-7BAB-B7EDC28ED23E}"/>
              </a:ext>
            </a:extLst>
          </p:cNvPr>
          <p:cNvSpPr/>
          <p:nvPr/>
        </p:nvSpPr>
        <p:spPr>
          <a:xfrm>
            <a:off x="8001000" y="4095598"/>
            <a:ext cx="3590849" cy="2523744"/>
          </a:xfrm>
          <a:prstGeom prst="roundRect">
            <a:avLst>
              <a:gd name="adj" fmla="val 2188"/>
            </a:avLst>
          </a:prstGeom>
          <a:solidFill>
            <a:srgbClr val="FFFFFF"/>
          </a:solidFill>
          <a:ln w="12700">
            <a:solidFill>
              <a:srgbClr val="F3F4F6"/>
            </a:solidFill>
            <a:prstDash val="solid"/>
          </a:ln>
          <a:effectLst>
            <a:outerShdw blurRad="114300" dist="38100" dir="16200000" algn="bl" rotWithShape="0">
              <a:srgbClr val="000000">
                <a:alpha val="4000"/>
              </a:srgbClr>
            </a:outerShdw>
          </a:effectLst>
        </p:spPr>
        <p:txBody>
          <a:bodyPr/>
          <a:lstStyle/>
          <a:p>
            <a:endParaRPr lang="en-US"/>
          </a:p>
        </p:txBody>
      </p:sp>
      <p:sp>
        <p:nvSpPr>
          <p:cNvPr id="16" name="Shape 12">
            <a:extLst>
              <a:ext uri="{FF2B5EF4-FFF2-40B4-BE49-F238E27FC236}">
                <a16:creationId xmlns:a16="http://schemas.microsoft.com/office/drawing/2014/main" id="{1127C0E3-8A1A-1DCC-1A8D-1D4C70CB7928}"/>
              </a:ext>
            </a:extLst>
          </p:cNvPr>
          <p:cNvSpPr/>
          <p:nvPr/>
        </p:nvSpPr>
        <p:spPr>
          <a:xfrm>
            <a:off x="8001000" y="4095598"/>
            <a:ext cx="3590849" cy="38405"/>
          </a:xfrm>
          <a:prstGeom prst="roundRect">
            <a:avLst>
              <a:gd name="adj" fmla="val 143755"/>
            </a:avLst>
          </a:prstGeom>
          <a:solidFill>
            <a:srgbClr val="2A9D8F"/>
          </a:solidFill>
          <a:ln w="12700">
            <a:solidFill>
              <a:srgbClr val="2A9D8F">
                <a:alpha val="0"/>
              </a:srgbClr>
            </a:solidFill>
            <a:prstDash val="solid"/>
          </a:ln>
        </p:spPr>
        <p:txBody>
          <a:bodyPr/>
          <a:lstStyle/>
          <a:p>
            <a:endParaRPr lang="en-US"/>
          </a:p>
        </p:txBody>
      </p:sp>
      <p:sp>
        <p:nvSpPr>
          <p:cNvPr id="17" name="Text 13">
            <a:extLst>
              <a:ext uri="{FF2B5EF4-FFF2-40B4-BE49-F238E27FC236}">
                <a16:creationId xmlns:a16="http://schemas.microsoft.com/office/drawing/2014/main" id="{E5123C06-1736-AA5E-4B57-DA609F852FBF}"/>
              </a:ext>
            </a:extLst>
          </p:cNvPr>
          <p:cNvSpPr txBox="1"/>
          <p:nvPr/>
        </p:nvSpPr>
        <p:spPr>
          <a:xfrm>
            <a:off x="819302" y="381305"/>
            <a:ext cx="10478110" cy="362102"/>
          </a:xfrm>
          <a:prstGeom prst="rect">
            <a:avLst/>
          </a:prstGeom>
          <a:noFill/>
          <a:ln/>
        </p:spPr>
        <p:txBody>
          <a:bodyPr wrap="none" lIns="0" tIns="0" rIns="0" bIns="0" rtlCol="0" anchor="ctr"/>
          <a:lstStyle/>
          <a:p>
            <a:pPr marL="0" indent="0" algn="l">
              <a:buNone/>
            </a:pPr>
            <a:r>
              <a:rPr lang="en-US" sz="2500" b="1" kern="0" spc="-25">
                <a:solidFill>
                  <a:srgbClr val="111827"/>
                </a:solidFill>
                <a:latin typeface="Oswald" pitchFamily="34" charset="0"/>
                <a:ea typeface="Oswald" pitchFamily="34" charset="-122"/>
                <a:cs typeface="Oswald" pitchFamily="34" charset="-120"/>
              </a:rPr>
              <a:t>THE J2W SQUAD</a:t>
            </a:r>
          </a:p>
        </p:txBody>
      </p:sp>
      <p:sp>
        <p:nvSpPr>
          <p:cNvPr id="18" name="Text 14">
            <a:extLst>
              <a:ext uri="{FF2B5EF4-FFF2-40B4-BE49-F238E27FC236}">
                <a16:creationId xmlns:a16="http://schemas.microsoft.com/office/drawing/2014/main" id="{C0F8F398-50F2-62AE-E4A6-521DD9C62CAE}"/>
              </a:ext>
            </a:extLst>
          </p:cNvPr>
          <p:cNvSpPr txBox="1"/>
          <p:nvPr/>
        </p:nvSpPr>
        <p:spPr>
          <a:xfrm>
            <a:off x="819302" y="794614"/>
            <a:ext cx="10478110" cy="181051"/>
          </a:xfrm>
          <a:prstGeom prst="rect">
            <a:avLst/>
          </a:prstGeom>
          <a:noFill/>
          <a:ln/>
        </p:spPr>
        <p:txBody>
          <a:bodyPr wrap="none" lIns="0" tIns="0" rIns="0" bIns="0" rtlCol="0" anchor="ctr"/>
          <a:lstStyle/>
          <a:p>
            <a:pPr marL="0" indent="0" algn="l">
              <a:buNone/>
            </a:pPr>
            <a:r>
              <a:rPr lang="en-US" sz="1200" b="1" kern="0" spc="60">
                <a:solidFill>
                  <a:srgbClr val="2A9D8F"/>
                </a:solidFill>
                <a:latin typeface="Roboto Condensed" pitchFamily="34" charset="0"/>
                <a:ea typeface="Roboto Condensed" pitchFamily="34" charset="-122"/>
                <a:cs typeface="Roboto Condensed" pitchFamily="34" charset="-120"/>
              </a:rPr>
              <a:t>Senior leadership that architects every GCC we build — from category-creating founders to deep LLM and aerospace engineering pedigree.</a:t>
            </a:r>
          </a:p>
        </p:txBody>
      </p:sp>
      <p:sp>
        <p:nvSpPr>
          <p:cNvPr id="36" name="Text 32">
            <a:extLst>
              <a:ext uri="{FF2B5EF4-FFF2-40B4-BE49-F238E27FC236}">
                <a16:creationId xmlns:a16="http://schemas.microsoft.com/office/drawing/2014/main" id="{167190F1-E999-2077-D39E-1D1D1144962B}"/>
              </a:ext>
            </a:extLst>
          </p:cNvPr>
          <p:cNvSpPr txBox="1"/>
          <p:nvPr/>
        </p:nvSpPr>
        <p:spPr>
          <a:xfrm>
            <a:off x="5512003" y="5203749"/>
            <a:ext cx="1167689" cy="247802"/>
          </a:xfrm>
          <a:prstGeom prst="rect">
            <a:avLst/>
          </a:prstGeom>
          <a:noFill/>
          <a:ln/>
        </p:spPr>
        <p:txBody>
          <a:bodyPr wrap="none" lIns="0" tIns="0" rIns="0" bIns="0" rtlCol="0" anchor="ctr"/>
          <a:lstStyle/>
          <a:p>
            <a:pPr marL="0" indent="0" algn="ctr">
              <a:buNone/>
            </a:pPr>
            <a:r>
              <a:rPr lang="en-US" sz="1300" b="1">
                <a:solidFill>
                  <a:srgbClr val="111827"/>
                </a:solidFill>
                <a:latin typeface="Oswald" pitchFamily="34" charset="0"/>
                <a:ea typeface="Oswald" pitchFamily="34" charset="-122"/>
                <a:cs typeface="Oswald" pitchFamily="34" charset="-120"/>
              </a:rPr>
              <a:t>Deepak Desai</a:t>
            </a:r>
          </a:p>
        </p:txBody>
      </p:sp>
      <p:sp>
        <p:nvSpPr>
          <p:cNvPr id="37" name="Text 33">
            <a:extLst>
              <a:ext uri="{FF2B5EF4-FFF2-40B4-BE49-F238E27FC236}">
                <a16:creationId xmlns:a16="http://schemas.microsoft.com/office/drawing/2014/main" id="{8B384D12-7A64-640E-7F5B-8B89D4A842BE}"/>
              </a:ext>
            </a:extLst>
          </p:cNvPr>
          <p:cNvSpPr txBox="1"/>
          <p:nvPr/>
        </p:nvSpPr>
        <p:spPr>
          <a:xfrm>
            <a:off x="4998110" y="5483454"/>
            <a:ext cx="2188159" cy="133502"/>
          </a:xfrm>
          <a:prstGeom prst="rect">
            <a:avLst/>
          </a:prstGeom>
          <a:noFill/>
          <a:ln/>
        </p:spPr>
        <p:txBody>
          <a:bodyPr wrap="none" lIns="0" tIns="0" rIns="0" bIns="0" rtlCol="0" anchor="ctr"/>
          <a:lstStyle/>
          <a:p>
            <a:pPr marL="0" indent="0" algn="ctr">
              <a:buNone/>
            </a:pPr>
            <a:r>
              <a:rPr lang="en-US" sz="900" b="1" kern="0" spc="45">
                <a:solidFill>
                  <a:srgbClr val="D62839"/>
                </a:solidFill>
                <a:latin typeface="Roboto Condensed" pitchFamily="34" charset="0"/>
                <a:ea typeface="Roboto Condensed" pitchFamily="34" charset="-122"/>
                <a:cs typeface="Roboto Condensed" pitchFamily="34" charset="-120"/>
              </a:rPr>
              <a:t>TECHNOLOGY ADVISOR &amp; LLM SPECIALIST</a:t>
            </a:r>
          </a:p>
        </p:txBody>
      </p:sp>
      <p:sp>
        <p:nvSpPr>
          <p:cNvPr id="38" name="Text 34">
            <a:extLst>
              <a:ext uri="{FF2B5EF4-FFF2-40B4-BE49-F238E27FC236}">
                <a16:creationId xmlns:a16="http://schemas.microsoft.com/office/drawing/2014/main" id="{3D859B5E-A79A-62A8-39BA-AC8B1D8A7A5E}"/>
              </a:ext>
            </a:extLst>
          </p:cNvPr>
          <p:cNvSpPr txBox="1"/>
          <p:nvPr/>
        </p:nvSpPr>
        <p:spPr>
          <a:xfrm>
            <a:off x="4600651" y="5688076"/>
            <a:ext cx="3286354" cy="486461"/>
          </a:xfrm>
          <a:prstGeom prst="rect">
            <a:avLst/>
          </a:prstGeom>
          <a:noFill/>
          <a:ln/>
        </p:spPr>
        <p:txBody>
          <a:bodyPr wrap="square" lIns="0" tIns="0" rIns="0" bIns="0" rtlCol="0" anchor="ctr"/>
          <a:lstStyle/>
          <a:p>
            <a:pPr marL="0" indent="0" algn="ctr">
              <a:buNone/>
            </a:pPr>
            <a:r>
              <a:rPr lang="en-US" sz="900">
                <a:solidFill>
                  <a:srgbClr val="4B5563"/>
                </a:solidFill>
                <a:latin typeface="Raleway" pitchFamily="34" charset="0"/>
                <a:ea typeface="Raleway" pitchFamily="34" charset="-122"/>
                <a:cs typeface="Raleway" pitchFamily="34" charset="-120"/>
              </a:rPr>
              <a:t>Ex-IBM Senior Partner (APAC &amp; US). 30+ yrs; deep NLP, LLM &amp; GenAI </a:t>
            </a:r>
            <a:r>
              <a:rPr lang="en-US" sz="900" err="1">
                <a:solidFill>
                  <a:srgbClr val="4B5563"/>
                </a:solidFill>
                <a:latin typeface="Raleway" pitchFamily="34" charset="0"/>
                <a:ea typeface="Raleway" pitchFamily="34" charset="-122"/>
                <a:cs typeface="Raleway" pitchFamily="34" charset="-120"/>
              </a:rPr>
              <a:t>specialisation</a:t>
            </a:r>
            <a:r>
              <a:rPr lang="en-US" sz="900">
                <a:solidFill>
                  <a:srgbClr val="4B5563"/>
                </a:solidFill>
                <a:latin typeface="Raleway" pitchFamily="34" charset="0"/>
                <a:ea typeface="Raleway" pitchFamily="34" charset="-122"/>
                <a:cs typeface="Raleway" pitchFamily="34" charset="-120"/>
              </a:rPr>
              <a:t>.</a:t>
            </a:r>
          </a:p>
        </p:txBody>
      </p:sp>
      <p:sp>
        <p:nvSpPr>
          <p:cNvPr id="41" name="Text 37">
            <a:extLst>
              <a:ext uri="{FF2B5EF4-FFF2-40B4-BE49-F238E27FC236}">
                <a16:creationId xmlns:a16="http://schemas.microsoft.com/office/drawing/2014/main" id="{E9E23B86-AFDA-FBE0-A66D-169B980A5221}"/>
              </a:ext>
            </a:extLst>
          </p:cNvPr>
          <p:cNvSpPr txBox="1"/>
          <p:nvPr/>
        </p:nvSpPr>
        <p:spPr>
          <a:xfrm>
            <a:off x="9369908" y="5241849"/>
            <a:ext cx="929945" cy="247802"/>
          </a:xfrm>
          <a:prstGeom prst="rect">
            <a:avLst/>
          </a:prstGeom>
          <a:noFill/>
          <a:ln/>
        </p:spPr>
        <p:txBody>
          <a:bodyPr wrap="none" lIns="0" tIns="0" rIns="0" bIns="0" rtlCol="0" anchor="ctr"/>
          <a:lstStyle/>
          <a:p>
            <a:pPr marL="0" indent="0" algn="ctr">
              <a:buNone/>
            </a:pPr>
            <a:r>
              <a:rPr lang="en-US" sz="1300" b="1">
                <a:solidFill>
                  <a:srgbClr val="111827"/>
                </a:solidFill>
                <a:latin typeface="Oswald" pitchFamily="34" charset="0"/>
                <a:ea typeface="Oswald" pitchFamily="34" charset="-122"/>
                <a:cs typeface="Oswald" pitchFamily="34" charset="-120"/>
              </a:rPr>
              <a:t>Alok Raj</a:t>
            </a:r>
          </a:p>
        </p:txBody>
      </p:sp>
      <p:sp>
        <p:nvSpPr>
          <p:cNvPr id="42" name="Text 38">
            <a:extLst>
              <a:ext uri="{FF2B5EF4-FFF2-40B4-BE49-F238E27FC236}">
                <a16:creationId xmlns:a16="http://schemas.microsoft.com/office/drawing/2014/main" id="{EB1414D0-7C7E-984D-8097-5F5882853D37}"/>
              </a:ext>
            </a:extLst>
          </p:cNvPr>
          <p:cNvSpPr txBox="1"/>
          <p:nvPr/>
        </p:nvSpPr>
        <p:spPr>
          <a:xfrm>
            <a:off x="8857844" y="5521554"/>
            <a:ext cx="1961388" cy="133502"/>
          </a:xfrm>
          <a:prstGeom prst="rect">
            <a:avLst/>
          </a:prstGeom>
          <a:noFill/>
          <a:ln/>
        </p:spPr>
        <p:txBody>
          <a:bodyPr wrap="none" lIns="0" tIns="0" rIns="0" bIns="0" rtlCol="0" anchor="ctr"/>
          <a:lstStyle/>
          <a:p>
            <a:pPr marL="0" indent="0" algn="ctr">
              <a:buNone/>
            </a:pPr>
            <a:r>
              <a:rPr lang="en-US" sz="900" b="1" kern="0" spc="45">
                <a:solidFill>
                  <a:srgbClr val="2A9D8F"/>
                </a:solidFill>
                <a:latin typeface="Roboto Condensed" pitchFamily="34" charset="0"/>
                <a:ea typeface="Roboto Condensed" pitchFamily="34" charset="-122"/>
                <a:cs typeface="Roboto Condensed" pitchFamily="34" charset="-120"/>
              </a:rPr>
              <a:t>HEAD — TECH ASSESSMENTS &amp; AI ENGINEERING</a:t>
            </a:r>
          </a:p>
        </p:txBody>
      </p:sp>
      <p:sp>
        <p:nvSpPr>
          <p:cNvPr id="43" name="Text 39">
            <a:extLst>
              <a:ext uri="{FF2B5EF4-FFF2-40B4-BE49-F238E27FC236}">
                <a16:creationId xmlns:a16="http://schemas.microsoft.com/office/drawing/2014/main" id="{F00AEF2F-F343-5140-DAE4-D166B891E453}"/>
              </a:ext>
            </a:extLst>
          </p:cNvPr>
          <p:cNvSpPr txBox="1"/>
          <p:nvPr/>
        </p:nvSpPr>
        <p:spPr>
          <a:xfrm>
            <a:off x="8295741" y="5634075"/>
            <a:ext cx="3146959" cy="648310"/>
          </a:xfrm>
          <a:prstGeom prst="rect">
            <a:avLst/>
          </a:prstGeom>
          <a:noFill/>
          <a:ln/>
        </p:spPr>
        <p:txBody>
          <a:bodyPr wrap="square" lIns="0" tIns="0" rIns="0" bIns="0" rtlCol="0" anchor="ctr"/>
          <a:lstStyle/>
          <a:p>
            <a:pPr marL="0" indent="0" algn="ctr">
              <a:buNone/>
            </a:pPr>
            <a:r>
              <a:rPr lang="en-US" sz="900">
                <a:solidFill>
                  <a:srgbClr val="4B5563"/>
                </a:solidFill>
                <a:latin typeface="Raleway" pitchFamily="34" charset="0"/>
                <a:ea typeface="Raleway" pitchFamily="34" charset="-122"/>
                <a:cs typeface="Raleway" pitchFamily="34" charset="-120"/>
              </a:rPr>
              <a:t>Ex-Airbus. Leads technical screening, upskilling &amp; AI platform work.</a:t>
            </a:r>
          </a:p>
        </p:txBody>
      </p:sp>
      <p:sp>
        <p:nvSpPr>
          <p:cNvPr id="29" name="Shape 7">
            <a:extLst>
              <a:ext uri="{FF2B5EF4-FFF2-40B4-BE49-F238E27FC236}">
                <a16:creationId xmlns:a16="http://schemas.microsoft.com/office/drawing/2014/main" id="{E2F5F6E6-811A-BEBD-EA4F-AB0A72E09B96}"/>
              </a:ext>
            </a:extLst>
          </p:cNvPr>
          <p:cNvSpPr/>
          <p:nvPr/>
        </p:nvSpPr>
        <p:spPr>
          <a:xfrm>
            <a:off x="609905" y="1351230"/>
            <a:ext cx="3590849" cy="2523744"/>
          </a:xfrm>
          <a:prstGeom prst="roundRect">
            <a:avLst>
              <a:gd name="adj" fmla="val 2188"/>
            </a:avLst>
          </a:prstGeom>
          <a:solidFill>
            <a:srgbClr val="FFFFFF"/>
          </a:solidFill>
          <a:ln w="12700">
            <a:solidFill>
              <a:srgbClr val="F3F4F6"/>
            </a:solidFill>
            <a:prstDash val="solid"/>
          </a:ln>
          <a:effectLst>
            <a:outerShdw blurRad="114300" dist="38100" dir="16200000" algn="bl" rotWithShape="0">
              <a:srgbClr val="000000">
                <a:alpha val="4000"/>
              </a:srgbClr>
            </a:outerShdw>
          </a:effectLst>
        </p:spPr>
        <p:txBody>
          <a:bodyPr/>
          <a:lstStyle/>
          <a:p>
            <a:endParaRPr lang="en-US"/>
          </a:p>
        </p:txBody>
      </p:sp>
      <p:sp>
        <p:nvSpPr>
          <p:cNvPr id="30" name="Shape 8">
            <a:extLst>
              <a:ext uri="{FF2B5EF4-FFF2-40B4-BE49-F238E27FC236}">
                <a16:creationId xmlns:a16="http://schemas.microsoft.com/office/drawing/2014/main" id="{E8E625C5-6C60-4C0D-D5E0-531142AB8043}"/>
              </a:ext>
            </a:extLst>
          </p:cNvPr>
          <p:cNvSpPr/>
          <p:nvPr/>
        </p:nvSpPr>
        <p:spPr>
          <a:xfrm>
            <a:off x="609905" y="1351230"/>
            <a:ext cx="3590849" cy="38405"/>
          </a:xfrm>
          <a:prstGeom prst="roundRect">
            <a:avLst>
              <a:gd name="adj" fmla="val 143755"/>
            </a:avLst>
          </a:prstGeom>
          <a:solidFill>
            <a:srgbClr val="2A9D8F"/>
          </a:solidFill>
          <a:ln w="12700">
            <a:solidFill>
              <a:srgbClr val="2A9D8F">
                <a:alpha val="0"/>
              </a:srgbClr>
            </a:solidFill>
            <a:prstDash val="solid"/>
          </a:ln>
        </p:spPr>
        <p:txBody>
          <a:bodyPr/>
          <a:lstStyle/>
          <a:p>
            <a:endParaRPr lang="en-US"/>
          </a:p>
        </p:txBody>
      </p:sp>
      <p:sp>
        <p:nvSpPr>
          <p:cNvPr id="44" name="Shape 9">
            <a:extLst>
              <a:ext uri="{FF2B5EF4-FFF2-40B4-BE49-F238E27FC236}">
                <a16:creationId xmlns:a16="http://schemas.microsoft.com/office/drawing/2014/main" id="{BC0FA406-4AA6-F67C-DDFE-B58975E86601}"/>
              </a:ext>
            </a:extLst>
          </p:cNvPr>
          <p:cNvSpPr/>
          <p:nvPr/>
        </p:nvSpPr>
        <p:spPr>
          <a:xfrm>
            <a:off x="4304995" y="1351230"/>
            <a:ext cx="3590849" cy="2523744"/>
          </a:xfrm>
          <a:prstGeom prst="roundRect">
            <a:avLst>
              <a:gd name="adj" fmla="val 2188"/>
            </a:avLst>
          </a:prstGeom>
          <a:solidFill>
            <a:srgbClr val="FFFFFF"/>
          </a:solidFill>
          <a:ln w="12700">
            <a:solidFill>
              <a:srgbClr val="F3F4F6"/>
            </a:solidFill>
            <a:prstDash val="solid"/>
          </a:ln>
          <a:effectLst>
            <a:outerShdw blurRad="114300" dist="38100" dir="16200000" algn="bl" rotWithShape="0">
              <a:srgbClr val="000000">
                <a:alpha val="4000"/>
              </a:srgbClr>
            </a:outerShdw>
          </a:effectLst>
        </p:spPr>
        <p:txBody>
          <a:bodyPr/>
          <a:lstStyle/>
          <a:p>
            <a:endParaRPr lang="en-US"/>
          </a:p>
        </p:txBody>
      </p:sp>
      <p:sp>
        <p:nvSpPr>
          <p:cNvPr id="45" name="Shape 10">
            <a:extLst>
              <a:ext uri="{FF2B5EF4-FFF2-40B4-BE49-F238E27FC236}">
                <a16:creationId xmlns:a16="http://schemas.microsoft.com/office/drawing/2014/main" id="{3A05880F-C31C-8F78-1AAB-02143D86C584}"/>
              </a:ext>
            </a:extLst>
          </p:cNvPr>
          <p:cNvSpPr/>
          <p:nvPr/>
        </p:nvSpPr>
        <p:spPr>
          <a:xfrm>
            <a:off x="4304995" y="1351230"/>
            <a:ext cx="3590849" cy="38405"/>
          </a:xfrm>
          <a:prstGeom prst="roundRect">
            <a:avLst>
              <a:gd name="adj" fmla="val 143755"/>
            </a:avLst>
          </a:prstGeom>
          <a:solidFill>
            <a:srgbClr val="D62839"/>
          </a:solidFill>
          <a:ln w="12700">
            <a:solidFill>
              <a:srgbClr val="D62839">
                <a:alpha val="0"/>
              </a:srgbClr>
            </a:solidFill>
            <a:prstDash val="solid"/>
          </a:ln>
        </p:spPr>
        <p:txBody>
          <a:bodyPr/>
          <a:lstStyle/>
          <a:p>
            <a:endParaRPr lang="en-US"/>
          </a:p>
        </p:txBody>
      </p:sp>
      <p:sp>
        <p:nvSpPr>
          <p:cNvPr id="47" name="Shape 11">
            <a:extLst>
              <a:ext uri="{FF2B5EF4-FFF2-40B4-BE49-F238E27FC236}">
                <a16:creationId xmlns:a16="http://schemas.microsoft.com/office/drawing/2014/main" id="{08B807FE-1B80-6A6E-1103-88480D41A8CB}"/>
              </a:ext>
            </a:extLst>
          </p:cNvPr>
          <p:cNvSpPr/>
          <p:nvPr/>
        </p:nvSpPr>
        <p:spPr>
          <a:xfrm>
            <a:off x="8001000" y="1351230"/>
            <a:ext cx="3590849" cy="2523744"/>
          </a:xfrm>
          <a:prstGeom prst="roundRect">
            <a:avLst>
              <a:gd name="adj" fmla="val 2188"/>
            </a:avLst>
          </a:prstGeom>
          <a:solidFill>
            <a:srgbClr val="FFFFFF"/>
          </a:solidFill>
          <a:ln w="12700">
            <a:solidFill>
              <a:srgbClr val="F3F4F6"/>
            </a:solidFill>
            <a:prstDash val="solid"/>
          </a:ln>
          <a:effectLst>
            <a:outerShdw blurRad="114300" dist="38100" dir="16200000" algn="bl" rotWithShape="0">
              <a:srgbClr val="000000">
                <a:alpha val="4000"/>
              </a:srgbClr>
            </a:outerShdw>
          </a:effectLst>
        </p:spPr>
        <p:txBody>
          <a:bodyPr/>
          <a:lstStyle/>
          <a:p>
            <a:endParaRPr lang="en-US"/>
          </a:p>
        </p:txBody>
      </p:sp>
      <p:sp>
        <p:nvSpPr>
          <p:cNvPr id="50" name="Shape 12">
            <a:extLst>
              <a:ext uri="{FF2B5EF4-FFF2-40B4-BE49-F238E27FC236}">
                <a16:creationId xmlns:a16="http://schemas.microsoft.com/office/drawing/2014/main" id="{46EF62F7-B6FE-4656-C8B8-B8BB21513E63}"/>
              </a:ext>
            </a:extLst>
          </p:cNvPr>
          <p:cNvSpPr/>
          <p:nvPr/>
        </p:nvSpPr>
        <p:spPr>
          <a:xfrm>
            <a:off x="8001000" y="1351230"/>
            <a:ext cx="3590849" cy="38405"/>
          </a:xfrm>
          <a:prstGeom prst="roundRect">
            <a:avLst>
              <a:gd name="adj" fmla="val 143755"/>
            </a:avLst>
          </a:prstGeom>
          <a:solidFill>
            <a:srgbClr val="2A9D8F"/>
          </a:solidFill>
          <a:ln w="12700">
            <a:solidFill>
              <a:srgbClr val="2A9D8F">
                <a:alpha val="0"/>
              </a:srgbClr>
            </a:solidFill>
            <a:prstDash val="solid"/>
          </a:ln>
        </p:spPr>
        <p:txBody>
          <a:bodyPr/>
          <a:lstStyle/>
          <a:p>
            <a:endParaRPr lang="en-US"/>
          </a:p>
        </p:txBody>
      </p:sp>
      <p:sp>
        <p:nvSpPr>
          <p:cNvPr id="53" name="Text 27">
            <a:extLst>
              <a:ext uri="{FF2B5EF4-FFF2-40B4-BE49-F238E27FC236}">
                <a16:creationId xmlns:a16="http://schemas.microsoft.com/office/drawing/2014/main" id="{09B7B038-1011-2FD6-B6CF-97CD0771FA43}"/>
              </a:ext>
            </a:extLst>
          </p:cNvPr>
          <p:cNvSpPr txBox="1"/>
          <p:nvPr/>
        </p:nvSpPr>
        <p:spPr>
          <a:xfrm>
            <a:off x="1821485" y="2433981"/>
            <a:ext cx="1156716" cy="247802"/>
          </a:xfrm>
          <a:prstGeom prst="rect">
            <a:avLst/>
          </a:prstGeom>
          <a:noFill/>
          <a:ln/>
        </p:spPr>
        <p:txBody>
          <a:bodyPr wrap="none" lIns="0" tIns="0" rIns="0" bIns="0" rtlCol="0" anchor="ctr"/>
          <a:lstStyle/>
          <a:p>
            <a:pPr marL="0" indent="0" algn="ctr">
              <a:buNone/>
            </a:pPr>
            <a:r>
              <a:rPr lang="en-US" sz="1300" b="1">
                <a:solidFill>
                  <a:srgbClr val="111827"/>
                </a:solidFill>
                <a:latin typeface="Oswald" pitchFamily="34" charset="0"/>
                <a:ea typeface="Oswald" pitchFamily="34" charset="-122"/>
                <a:cs typeface="Oswald" pitchFamily="34" charset="-120"/>
              </a:rPr>
              <a:t>Priti Sawant</a:t>
            </a:r>
          </a:p>
        </p:txBody>
      </p:sp>
      <p:sp>
        <p:nvSpPr>
          <p:cNvPr id="54" name="Text 28">
            <a:extLst>
              <a:ext uri="{FF2B5EF4-FFF2-40B4-BE49-F238E27FC236}">
                <a16:creationId xmlns:a16="http://schemas.microsoft.com/office/drawing/2014/main" id="{7113E0F9-68A9-7E68-2727-3FBEDDAB0956}"/>
              </a:ext>
            </a:extLst>
          </p:cNvPr>
          <p:cNvSpPr txBox="1"/>
          <p:nvPr/>
        </p:nvSpPr>
        <p:spPr>
          <a:xfrm>
            <a:off x="1503274" y="2700986"/>
            <a:ext cx="1791310" cy="133502"/>
          </a:xfrm>
          <a:prstGeom prst="rect">
            <a:avLst/>
          </a:prstGeom>
          <a:noFill/>
          <a:ln/>
        </p:spPr>
        <p:txBody>
          <a:bodyPr wrap="none" lIns="0" tIns="0" rIns="0" bIns="0" rtlCol="0" anchor="ctr"/>
          <a:lstStyle/>
          <a:p>
            <a:pPr marL="0" indent="0" algn="ctr">
              <a:buNone/>
            </a:pPr>
            <a:r>
              <a:rPr lang="en-US" sz="900" b="1" kern="0" spc="45">
                <a:solidFill>
                  <a:srgbClr val="2A9D8F"/>
                </a:solidFill>
                <a:latin typeface="Roboto Condensed" pitchFamily="34" charset="0"/>
                <a:ea typeface="Roboto Condensed" pitchFamily="34" charset="-122"/>
                <a:cs typeface="Roboto Condensed" pitchFamily="34" charset="-120"/>
              </a:rPr>
              <a:t>FOUNDER &amp; CEO</a:t>
            </a:r>
          </a:p>
        </p:txBody>
      </p:sp>
      <p:sp>
        <p:nvSpPr>
          <p:cNvPr id="55" name="Text 29">
            <a:extLst>
              <a:ext uri="{FF2B5EF4-FFF2-40B4-BE49-F238E27FC236}">
                <a16:creationId xmlns:a16="http://schemas.microsoft.com/office/drawing/2014/main" id="{48BE7424-2C1C-ABB5-7637-F221420FFB43}"/>
              </a:ext>
            </a:extLst>
          </p:cNvPr>
          <p:cNvSpPr txBox="1"/>
          <p:nvPr/>
        </p:nvSpPr>
        <p:spPr>
          <a:xfrm>
            <a:off x="904646" y="2943708"/>
            <a:ext cx="3286354" cy="486461"/>
          </a:xfrm>
          <a:prstGeom prst="rect">
            <a:avLst/>
          </a:prstGeom>
          <a:noFill/>
          <a:ln/>
        </p:spPr>
        <p:txBody>
          <a:bodyPr wrap="square" lIns="0" tIns="0" rIns="0" bIns="0" rtlCol="0" anchor="ctr"/>
          <a:lstStyle/>
          <a:p>
            <a:pPr marL="0" indent="0" algn="ctr">
              <a:buNone/>
            </a:pPr>
            <a:r>
              <a:rPr lang="en-US" sz="900">
                <a:solidFill>
                  <a:srgbClr val="4B5563"/>
                </a:solidFill>
                <a:latin typeface="Raleway" pitchFamily="34" charset="0"/>
                <a:ea typeface="Raleway" pitchFamily="34" charset="-122"/>
                <a:cs typeface="Raleway" pitchFamily="34" charset="-120"/>
              </a:rPr>
              <a:t>Pioneer of India's GCC ecosystem; built &amp; </a:t>
            </a:r>
            <a:r>
              <a:rPr lang="en-US" sz="900" err="1">
                <a:solidFill>
                  <a:srgbClr val="4B5563"/>
                </a:solidFill>
                <a:latin typeface="Raleway" pitchFamily="34" charset="0"/>
                <a:ea typeface="Raleway" pitchFamily="34" charset="-122"/>
                <a:cs typeface="Raleway" pitchFamily="34" charset="-120"/>
              </a:rPr>
              <a:t>IPO'd</a:t>
            </a:r>
            <a:r>
              <a:rPr lang="en-US" sz="900">
                <a:solidFill>
                  <a:srgbClr val="4B5563"/>
                </a:solidFill>
                <a:latin typeface="Raleway" pitchFamily="34" charset="0"/>
                <a:ea typeface="Raleway" pitchFamily="34" charset="-122"/>
                <a:cs typeface="Raleway" pitchFamily="34" charset="-120"/>
              </a:rPr>
              <a:t> India's first GCC-focused model. 20+ yrs · Forbes Japan.</a:t>
            </a:r>
          </a:p>
        </p:txBody>
      </p:sp>
      <p:sp>
        <p:nvSpPr>
          <p:cNvPr id="58" name="Text 32">
            <a:extLst>
              <a:ext uri="{FF2B5EF4-FFF2-40B4-BE49-F238E27FC236}">
                <a16:creationId xmlns:a16="http://schemas.microsoft.com/office/drawing/2014/main" id="{D6A207EA-7DC5-1085-2F92-ECCBA22ABD4C}"/>
              </a:ext>
            </a:extLst>
          </p:cNvPr>
          <p:cNvSpPr txBox="1"/>
          <p:nvPr/>
        </p:nvSpPr>
        <p:spPr>
          <a:xfrm>
            <a:off x="5512003" y="2433981"/>
            <a:ext cx="1167689" cy="247802"/>
          </a:xfrm>
          <a:prstGeom prst="rect">
            <a:avLst/>
          </a:prstGeom>
          <a:noFill/>
          <a:ln/>
        </p:spPr>
        <p:txBody>
          <a:bodyPr wrap="none" lIns="0" tIns="0" rIns="0" bIns="0" rtlCol="0" anchor="ctr"/>
          <a:lstStyle/>
          <a:p>
            <a:pPr marL="0" indent="0" algn="ctr">
              <a:buNone/>
            </a:pPr>
            <a:r>
              <a:rPr lang="en-US" sz="1300" b="1">
                <a:solidFill>
                  <a:srgbClr val="111827"/>
                </a:solidFill>
                <a:latin typeface="Oswald" pitchFamily="34" charset="0"/>
                <a:ea typeface="Oswald" pitchFamily="34" charset="-122"/>
                <a:cs typeface="Oswald" pitchFamily="34" charset="-120"/>
              </a:rPr>
              <a:t>Priya Mohan</a:t>
            </a:r>
          </a:p>
        </p:txBody>
      </p:sp>
      <p:sp>
        <p:nvSpPr>
          <p:cNvPr id="59" name="Text 33">
            <a:extLst>
              <a:ext uri="{FF2B5EF4-FFF2-40B4-BE49-F238E27FC236}">
                <a16:creationId xmlns:a16="http://schemas.microsoft.com/office/drawing/2014/main" id="{A8488A79-ED28-6B95-20FA-980EF1D07CF8}"/>
              </a:ext>
            </a:extLst>
          </p:cNvPr>
          <p:cNvSpPr txBox="1"/>
          <p:nvPr/>
        </p:nvSpPr>
        <p:spPr>
          <a:xfrm>
            <a:off x="4998110" y="2700986"/>
            <a:ext cx="2188159" cy="133502"/>
          </a:xfrm>
          <a:prstGeom prst="rect">
            <a:avLst/>
          </a:prstGeom>
          <a:noFill/>
          <a:ln/>
        </p:spPr>
        <p:txBody>
          <a:bodyPr wrap="none" lIns="0" tIns="0" rIns="0" bIns="0" rtlCol="0" anchor="ctr"/>
          <a:lstStyle/>
          <a:p>
            <a:pPr marL="0" indent="0" algn="ctr">
              <a:buNone/>
            </a:pPr>
            <a:r>
              <a:rPr lang="en-US" sz="900" b="1" kern="0" spc="45">
                <a:solidFill>
                  <a:srgbClr val="D62839"/>
                </a:solidFill>
                <a:latin typeface="Roboto Condensed" pitchFamily="34" charset="0"/>
                <a:ea typeface="Roboto Condensed" pitchFamily="34" charset="-122"/>
                <a:cs typeface="Roboto Condensed" pitchFamily="34" charset="-120"/>
              </a:rPr>
              <a:t>COO</a:t>
            </a:r>
          </a:p>
        </p:txBody>
      </p:sp>
      <p:sp>
        <p:nvSpPr>
          <p:cNvPr id="60" name="Text 34">
            <a:extLst>
              <a:ext uri="{FF2B5EF4-FFF2-40B4-BE49-F238E27FC236}">
                <a16:creationId xmlns:a16="http://schemas.microsoft.com/office/drawing/2014/main" id="{B7486E20-6348-0E06-FAD5-6B07D847F523}"/>
              </a:ext>
            </a:extLst>
          </p:cNvPr>
          <p:cNvSpPr txBox="1"/>
          <p:nvPr/>
        </p:nvSpPr>
        <p:spPr>
          <a:xfrm>
            <a:off x="4600651" y="2943708"/>
            <a:ext cx="3286354" cy="486461"/>
          </a:xfrm>
          <a:prstGeom prst="rect">
            <a:avLst/>
          </a:prstGeom>
          <a:noFill/>
          <a:ln/>
        </p:spPr>
        <p:txBody>
          <a:bodyPr wrap="square" lIns="0" tIns="0" rIns="0" bIns="0" rtlCol="0" anchor="ctr"/>
          <a:lstStyle/>
          <a:p>
            <a:pPr marL="0" indent="0" algn="ctr">
              <a:buNone/>
            </a:pPr>
            <a:r>
              <a:rPr lang="en-US" sz="900">
                <a:solidFill>
                  <a:srgbClr val="4B5563"/>
                </a:solidFill>
                <a:latin typeface="Raleway" pitchFamily="34" charset="0"/>
                <a:ea typeface="Raleway" pitchFamily="34" charset="-122"/>
                <a:cs typeface="Raleway" pitchFamily="34" charset="-120"/>
              </a:rPr>
              <a:t>Ex-General Catalyst Partner &amp; Venture Highway MP. CA + ISB. Leads the full AI implementation lifecycle.</a:t>
            </a:r>
          </a:p>
        </p:txBody>
      </p:sp>
      <p:sp>
        <p:nvSpPr>
          <p:cNvPr id="70" name="Text 17">
            <a:extLst>
              <a:ext uri="{FF2B5EF4-FFF2-40B4-BE49-F238E27FC236}">
                <a16:creationId xmlns:a16="http://schemas.microsoft.com/office/drawing/2014/main" id="{1FB4B21B-03F9-D4C5-6FB9-8113E17E8C4F}"/>
              </a:ext>
            </a:extLst>
          </p:cNvPr>
          <p:cNvSpPr txBox="1"/>
          <p:nvPr/>
        </p:nvSpPr>
        <p:spPr>
          <a:xfrm>
            <a:off x="3153308" y="2381404"/>
            <a:ext cx="1133856" cy="286207"/>
          </a:xfrm>
          <a:prstGeom prst="rect">
            <a:avLst/>
          </a:prstGeom>
          <a:noFill/>
          <a:ln/>
        </p:spPr>
        <p:txBody>
          <a:bodyPr wrap="none" lIns="0" tIns="0" rIns="0" bIns="0" rtlCol="0" anchor="ctr"/>
          <a:lstStyle/>
          <a:p>
            <a:pPr marL="0" indent="0" algn="ctr">
              <a:buNone/>
            </a:pPr>
            <a:endParaRPr lang="en-US" sz="1500"/>
          </a:p>
        </p:txBody>
      </p:sp>
      <p:sp>
        <p:nvSpPr>
          <p:cNvPr id="72" name="Text 18">
            <a:extLst>
              <a:ext uri="{FF2B5EF4-FFF2-40B4-BE49-F238E27FC236}">
                <a16:creationId xmlns:a16="http://schemas.microsoft.com/office/drawing/2014/main" id="{9FDC9E99-482C-3F4A-E3D9-BB9B4D52CF45}"/>
              </a:ext>
            </a:extLst>
          </p:cNvPr>
          <p:cNvSpPr txBox="1"/>
          <p:nvPr/>
        </p:nvSpPr>
        <p:spPr>
          <a:xfrm>
            <a:off x="3113075" y="2686813"/>
            <a:ext cx="1207008" cy="143561"/>
          </a:xfrm>
          <a:prstGeom prst="rect">
            <a:avLst/>
          </a:prstGeom>
          <a:noFill/>
          <a:ln/>
        </p:spPr>
        <p:txBody>
          <a:bodyPr wrap="none" lIns="0" tIns="0" rIns="0" bIns="0" rtlCol="0" anchor="ctr"/>
          <a:lstStyle/>
          <a:p>
            <a:pPr marL="0" indent="0" algn="ctr">
              <a:buNone/>
            </a:pPr>
            <a:endParaRPr lang="en-US" sz="900"/>
          </a:p>
        </p:txBody>
      </p:sp>
      <p:pic>
        <p:nvPicPr>
          <p:cNvPr id="78" name="Image 4" descr="preencoded.png">
            <a:extLst>
              <a:ext uri="{FF2B5EF4-FFF2-40B4-BE49-F238E27FC236}">
                <a16:creationId xmlns:a16="http://schemas.microsoft.com/office/drawing/2014/main" id="{A2ED01AD-6CA0-176F-9158-B666E1FEF16C}"/>
              </a:ext>
            </a:extLst>
          </p:cNvPr>
          <p:cNvPicPr>
            <a:picLocks noChangeAspect="1"/>
          </p:cNvPicPr>
          <p:nvPr/>
        </p:nvPicPr>
        <p:blipFill>
          <a:blip r:embed="rId5"/>
          <a:srcRect b="1042"/>
          <a:stretch/>
        </p:blipFill>
        <p:spPr>
          <a:xfrm>
            <a:off x="5643956" y="1498143"/>
            <a:ext cx="857707" cy="857707"/>
          </a:xfrm>
          <a:prstGeom prst="rect">
            <a:avLst/>
          </a:prstGeom>
        </p:spPr>
      </p:pic>
      <p:pic>
        <p:nvPicPr>
          <p:cNvPr id="80" name="Image 2" descr="preencoded.png">
            <a:extLst>
              <a:ext uri="{FF2B5EF4-FFF2-40B4-BE49-F238E27FC236}">
                <a16:creationId xmlns:a16="http://schemas.microsoft.com/office/drawing/2014/main" id="{76AF17EC-A631-46EC-EE69-CA4956C54455}"/>
              </a:ext>
            </a:extLst>
          </p:cNvPr>
          <p:cNvPicPr>
            <a:picLocks noChangeAspect="1"/>
          </p:cNvPicPr>
          <p:nvPr/>
        </p:nvPicPr>
        <p:blipFill>
          <a:blip r:embed="rId6"/>
          <a:srcRect/>
          <a:stretch/>
        </p:blipFill>
        <p:spPr>
          <a:xfrm>
            <a:off x="1989100" y="1540410"/>
            <a:ext cx="783996" cy="783996"/>
          </a:xfrm>
          <a:prstGeom prst="rect">
            <a:avLst/>
          </a:prstGeom>
        </p:spPr>
      </p:pic>
      <p:sp>
        <p:nvSpPr>
          <p:cNvPr id="81" name="Text 27">
            <a:extLst>
              <a:ext uri="{FF2B5EF4-FFF2-40B4-BE49-F238E27FC236}">
                <a16:creationId xmlns:a16="http://schemas.microsoft.com/office/drawing/2014/main" id="{B381CD11-E268-2372-4D99-32B247B0C995}"/>
              </a:ext>
            </a:extLst>
          </p:cNvPr>
          <p:cNvSpPr txBox="1"/>
          <p:nvPr/>
        </p:nvSpPr>
        <p:spPr>
          <a:xfrm>
            <a:off x="9240521" y="2460703"/>
            <a:ext cx="1156716" cy="247802"/>
          </a:xfrm>
          <a:prstGeom prst="rect">
            <a:avLst/>
          </a:prstGeom>
          <a:noFill/>
          <a:ln/>
        </p:spPr>
        <p:txBody>
          <a:bodyPr wrap="none" lIns="0" tIns="0" rIns="0" bIns="0" rtlCol="0" anchor="ctr"/>
          <a:lstStyle/>
          <a:p>
            <a:pPr marL="0" indent="0" algn="ctr">
              <a:buNone/>
            </a:pPr>
            <a:r>
              <a:rPr lang="en-US" sz="1300" b="1">
                <a:solidFill>
                  <a:srgbClr val="111827"/>
                </a:solidFill>
                <a:latin typeface="Oswald" pitchFamily="34" charset="0"/>
                <a:ea typeface="Oswald" pitchFamily="34" charset="-122"/>
                <a:cs typeface="Oswald" pitchFamily="34" charset="-120"/>
              </a:rPr>
              <a:t>Vineet Shukla</a:t>
            </a:r>
            <a:endParaRPr lang="en-US" sz="1300"/>
          </a:p>
        </p:txBody>
      </p:sp>
      <p:sp>
        <p:nvSpPr>
          <p:cNvPr id="82" name="Text 28">
            <a:extLst>
              <a:ext uri="{FF2B5EF4-FFF2-40B4-BE49-F238E27FC236}">
                <a16:creationId xmlns:a16="http://schemas.microsoft.com/office/drawing/2014/main" id="{5E7655ED-600E-B7B1-5E25-9C0CD529FC89}"/>
              </a:ext>
            </a:extLst>
          </p:cNvPr>
          <p:cNvSpPr txBox="1"/>
          <p:nvPr/>
        </p:nvSpPr>
        <p:spPr>
          <a:xfrm>
            <a:off x="8923224" y="2727708"/>
            <a:ext cx="1791310" cy="133502"/>
          </a:xfrm>
          <a:prstGeom prst="rect">
            <a:avLst/>
          </a:prstGeom>
          <a:noFill/>
          <a:ln/>
        </p:spPr>
        <p:txBody>
          <a:bodyPr wrap="none" lIns="0" tIns="0" rIns="0" bIns="0" rtlCol="0" anchor="ctr"/>
          <a:lstStyle/>
          <a:p>
            <a:pPr marL="0" indent="0" algn="ctr">
              <a:buNone/>
            </a:pPr>
            <a:r>
              <a:rPr lang="en-US" sz="900" b="1" kern="0" spc="45">
                <a:solidFill>
                  <a:srgbClr val="2A9D8F"/>
                </a:solidFill>
                <a:latin typeface="Roboto Condensed" pitchFamily="34" charset="0"/>
                <a:ea typeface="Roboto Condensed" pitchFamily="34" charset="-122"/>
                <a:cs typeface="Roboto Condensed" pitchFamily="34" charset="-120"/>
              </a:rPr>
              <a:t>CHIEF TECHNOLOGY OFFICER</a:t>
            </a:r>
            <a:endParaRPr lang="en-US" sz="900"/>
          </a:p>
        </p:txBody>
      </p:sp>
      <p:sp>
        <p:nvSpPr>
          <p:cNvPr id="83" name="Text 29">
            <a:extLst>
              <a:ext uri="{FF2B5EF4-FFF2-40B4-BE49-F238E27FC236}">
                <a16:creationId xmlns:a16="http://schemas.microsoft.com/office/drawing/2014/main" id="{65C84447-29D7-83F1-7E2D-21FC86F81B79}"/>
              </a:ext>
            </a:extLst>
          </p:cNvPr>
          <p:cNvSpPr txBox="1"/>
          <p:nvPr/>
        </p:nvSpPr>
        <p:spPr>
          <a:xfrm>
            <a:off x="8324596" y="2970430"/>
            <a:ext cx="3286354" cy="486461"/>
          </a:xfrm>
          <a:prstGeom prst="rect">
            <a:avLst/>
          </a:prstGeom>
          <a:noFill/>
          <a:ln/>
        </p:spPr>
        <p:txBody>
          <a:bodyPr wrap="square" lIns="0" tIns="0" rIns="0" bIns="0" rtlCol="0" anchor="ctr"/>
          <a:lstStyle/>
          <a:p>
            <a:pPr marL="0" indent="0" algn="ctr">
              <a:buNone/>
            </a:pPr>
            <a:r>
              <a:rPr lang="en-US" sz="900">
                <a:solidFill>
                  <a:srgbClr val="4B5563"/>
                </a:solidFill>
                <a:latin typeface="Raleway" pitchFamily="34" charset="0"/>
                <a:ea typeface="Raleway" pitchFamily="34" charset="-122"/>
                <a:cs typeface="Raleway" pitchFamily="34" charset="-120"/>
              </a:rPr>
              <a:t>20+ yrs scaling AI/ML at enterprise scale; built UnitedHealth Group's AI/ML practice ground-up.</a:t>
            </a:r>
          </a:p>
        </p:txBody>
      </p:sp>
      <p:pic>
        <p:nvPicPr>
          <p:cNvPr id="84" name="Picture 83">
            <a:extLst>
              <a:ext uri="{FF2B5EF4-FFF2-40B4-BE49-F238E27FC236}">
                <a16:creationId xmlns:a16="http://schemas.microsoft.com/office/drawing/2014/main" id="{51689ACD-6133-3D2C-FB65-00805A1BA9B9}"/>
              </a:ext>
            </a:extLst>
          </p:cNvPr>
          <p:cNvPicPr>
            <a:picLocks noChangeAspect="1"/>
          </p:cNvPicPr>
          <p:nvPr/>
        </p:nvPicPr>
        <p:blipFill>
          <a:blip r:embed="rId7"/>
          <a:stretch>
            <a:fillRect/>
          </a:stretch>
        </p:blipFill>
        <p:spPr>
          <a:xfrm>
            <a:off x="9369908" y="1565302"/>
            <a:ext cx="797305" cy="797305"/>
          </a:xfrm>
          <a:prstGeom prst="ellipse">
            <a:avLst/>
          </a:prstGeom>
          <a:ln>
            <a:solidFill>
              <a:schemeClr val="bg2">
                <a:lumMod val="50000"/>
              </a:schemeClr>
            </a:solidFill>
          </a:ln>
        </p:spPr>
      </p:pic>
      <p:sp>
        <p:nvSpPr>
          <p:cNvPr id="85" name="Text 32">
            <a:extLst>
              <a:ext uri="{FF2B5EF4-FFF2-40B4-BE49-F238E27FC236}">
                <a16:creationId xmlns:a16="http://schemas.microsoft.com/office/drawing/2014/main" id="{3D99FB26-2BB6-A39C-43E5-EBC5369FDE30}"/>
              </a:ext>
            </a:extLst>
          </p:cNvPr>
          <p:cNvSpPr txBox="1"/>
          <p:nvPr/>
        </p:nvSpPr>
        <p:spPr>
          <a:xfrm>
            <a:off x="1661923" y="5203228"/>
            <a:ext cx="1167689" cy="247802"/>
          </a:xfrm>
          <a:prstGeom prst="rect">
            <a:avLst/>
          </a:prstGeom>
          <a:noFill/>
          <a:ln/>
        </p:spPr>
        <p:txBody>
          <a:bodyPr wrap="none" lIns="0" tIns="0" rIns="0" bIns="0" rtlCol="0" anchor="ctr"/>
          <a:lstStyle/>
          <a:p>
            <a:pPr marL="0" indent="0" algn="ctr">
              <a:buNone/>
            </a:pPr>
            <a:r>
              <a:rPr lang="en-US" sz="1300" b="1">
                <a:solidFill>
                  <a:srgbClr val="111827"/>
                </a:solidFill>
                <a:latin typeface="Oswald" pitchFamily="34" charset="0"/>
                <a:ea typeface="Oswald" pitchFamily="34" charset="-122"/>
                <a:cs typeface="Oswald" pitchFamily="34" charset="-120"/>
              </a:rPr>
              <a:t>Daniel Dsouza</a:t>
            </a:r>
            <a:endParaRPr lang="en-US" sz="1300"/>
          </a:p>
        </p:txBody>
      </p:sp>
      <p:sp>
        <p:nvSpPr>
          <p:cNvPr id="86" name="Text 33">
            <a:extLst>
              <a:ext uri="{FF2B5EF4-FFF2-40B4-BE49-F238E27FC236}">
                <a16:creationId xmlns:a16="http://schemas.microsoft.com/office/drawing/2014/main" id="{D659C513-FD23-4690-80EB-2002DECA9008}"/>
              </a:ext>
            </a:extLst>
          </p:cNvPr>
          <p:cNvSpPr txBox="1"/>
          <p:nvPr/>
        </p:nvSpPr>
        <p:spPr>
          <a:xfrm>
            <a:off x="1148030" y="5470233"/>
            <a:ext cx="2188159" cy="133502"/>
          </a:xfrm>
          <a:prstGeom prst="rect">
            <a:avLst/>
          </a:prstGeom>
          <a:noFill/>
          <a:ln/>
        </p:spPr>
        <p:txBody>
          <a:bodyPr wrap="none" lIns="0" tIns="0" rIns="0" bIns="0" rtlCol="0" anchor="ctr"/>
          <a:lstStyle/>
          <a:p>
            <a:pPr marL="0" indent="0" algn="ctr">
              <a:buNone/>
            </a:pPr>
            <a:r>
              <a:rPr lang="en-US" sz="900" b="1" kern="0" spc="45">
                <a:solidFill>
                  <a:srgbClr val="2A9D8F"/>
                </a:solidFill>
                <a:latin typeface="Roboto Condensed" pitchFamily="34" charset="0"/>
                <a:ea typeface="Roboto Condensed" pitchFamily="34" charset="-122"/>
                <a:cs typeface="Roboto Condensed" pitchFamily="34" charset="-120"/>
              </a:rPr>
              <a:t>HEAD OF ARTIFICIAL INTELLIGENCE</a:t>
            </a:r>
            <a:endParaRPr lang="en-US" sz="900">
              <a:solidFill>
                <a:srgbClr val="2A9D8F"/>
              </a:solidFill>
            </a:endParaRPr>
          </a:p>
        </p:txBody>
      </p:sp>
      <p:sp>
        <p:nvSpPr>
          <p:cNvPr id="87" name="Text 34">
            <a:extLst>
              <a:ext uri="{FF2B5EF4-FFF2-40B4-BE49-F238E27FC236}">
                <a16:creationId xmlns:a16="http://schemas.microsoft.com/office/drawing/2014/main" id="{79B11D3C-42A6-79D9-601B-161AC7C56371}"/>
              </a:ext>
            </a:extLst>
          </p:cNvPr>
          <p:cNvSpPr txBox="1"/>
          <p:nvPr/>
        </p:nvSpPr>
        <p:spPr>
          <a:xfrm>
            <a:off x="750571" y="5712955"/>
            <a:ext cx="3286354" cy="486461"/>
          </a:xfrm>
          <a:prstGeom prst="rect">
            <a:avLst/>
          </a:prstGeom>
          <a:noFill/>
          <a:ln/>
        </p:spPr>
        <p:txBody>
          <a:bodyPr wrap="square" lIns="0" tIns="0" rIns="0" bIns="0" rtlCol="0" anchor="ctr"/>
          <a:lstStyle/>
          <a:p>
            <a:pPr marL="0" indent="0" algn="ctr">
              <a:buNone/>
            </a:pPr>
            <a:r>
              <a:rPr lang="en-US" sz="900">
                <a:solidFill>
                  <a:srgbClr val="4B5563"/>
                </a:solidFill>
                <a:latin typeface="Raleway" pitchFamily="34" charset="0"/>
                <a:ea typeface="Raleway" pitchFamily="34" charset="-122"/>
                <a:cs typeface="Raleway" pitchFamily="34" charset="-120"/>
              </a:rPr>
              <a:t>Enterprise AI strategy &amp; LLM deployment. Owns GCC AI accelerators. INSEAD.</a:t>
            </a:r>
          </a:p>
        </p:txBody>
      </p:sp>
      <p:pic>
        <p:nvPicPr>
          <p:cNvPr id="88" name="Picture 87">
            <a:extLst>
              <a:ext uri="{FF2B5EF4-FFF2-40B4-BE49-F238E27FC236}">
                <a16:creationId xmlns:a16="http://schemas.microsoft.com/office/drawing/2014/main" id="{8A886F30-D801-727B-D49A-08BE134763BC}"/>
              </a:ext>
            </a:extLst>
          </p:cNvPr>
          <p:cNvPicPr>
            <a:picLocks noChangeAspect="1"/>
          </p:cNvPicPr>
          <p:nvPr/>
        </p:nvPicPr>
        <p:blipFill>
          <a:blip r:embed="rId8"/>
          <a:stretch>
            <a:fillRect/>
          </a:stretch>
        </p:blipFill>
        <p:spPr>
          <a:xfrm>
            <a:off x="1860348" y="4336237"/>
            <a:ext cx="791235" cy="791235"/>
          </a:xfrm>
          <a:prstGeom prst="ellipse">
            <a:avLst/>
          </a:prstGeom>
          <a:ln>
            <a:solidFill>
              <a:schemeClr val="bg2">
                <a:lumMod val="75000"/>
              </a:schemeClr>
            </a:solidFill>
          </a:ln>
        </p:spPr>
      </p:pic>
      <p:pic>
        <p:nvPicPr>
          <p:cNvPr id="89" name="Picture 88">
            <a:extLst>
              <a:ext uri="{FF2B5EF4-FFF2-40B4-BE49-F238E27FC236}">
                <a16:creationId xmlns:a16="http://schemas.microsoft.com/office/drawing/2014/main" id="{7FE7B978-BC8D-A9AE-DDD9-3536B965D593}"/>
              </a:ext>
            </a:extLst>
          </p:cNvPr>
          <p:cNvPicPr>
            <a:picLocks noChangeAspect="1"/>
          </p:cNvPicPr>
          <p:nvPr/>
        </p:nvPicPr>
        <p:blipFill>
          <a:blip r:embed="rId9"/>
          <a:stretch>
            <a:fillRect/>
          </a:stretch>
        </p:blipFill>
        <p:spPr>
          <a:xfrm>
            <a:off x="9496742" y="4308997"/>
            <a:ext cx="834910" cy="834910"/>
          </a:xfrm>
          <a:prstGeom prst="ellipse">
            <a:avLst/>
          </a:prstGeom>
          <a:ln>
            <a:solidFill>
              <a:schemeClr val="bg2">
                <a:lumMod val="75000"/>
              </a:schemeClr>
            </a:solidFill>
          </a:ln>
        </p:spPr>
      </p:pic>
      <p:pic>
        <p:nvPicPr>
          <p:cNvPr id="90" name="Picture 89">
            <a:extLst>
              <a:ext uri="{FF2B5EF4-FFF2-40B4-BE49-F238E27FC236}">
                <a16:creationId xmlns:a16="http://schemas.microsoft.com/office/drawing/2014/main" id="{B07CD8E2-0147-7DFF-D0E3-F8BDD9DC4480}"/>
              </a:ext>
            </a:extLst>
          </p:cNvPr>
          <p:cNvPicPr>
            <a:picLocks noChangeAspect="1"/>
          </p:cNvPicPr>
          <p:nvPr/>
        </p:nvPicPr>
        <p:blipFill>
          <a:blip r:embed="rId10"/>
          <a:stretch>
            <a:fillRect/>
          </a:stretch>
        </p:blipFill>
        <p:spPr>
          <a:xfrm>
            <a:off x="5693619" y="4336236"/>
            <a:ext cx="835609" cy="835609"/>
          </a:xfrm>
          <a:prstGeom prst="ellipse">
            <a:avLst/>
          </a:prstGeom>
          <a:ln>
            <a:solidFill>
              <a:schemeClr val="bg2">
                <a:lumMod val="75000"/>
              </a:schemeClr>
            </a:solidFill>
          </a:ln>
        </p:spPr>
      </p:pic>
    </p:spTree>
    <p:extLst>
      <p:ext uri="{BB962C8B-B14F-4D97-AF65-F5344CB8AC3E}">
        <p14:creationId xmlns:p14="http://schemas.microsoft.com/office/powerpoint/2010/main" val="400846382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descr="gen-dedup-37abb9d8cc081a24feb608c288538026.png"/>
          <p:cNvPicPr>
            <a:picLocks noChangeAspect="1"/>
          </p:cNvPicPr>
          <p:nvPr/>
        </p:nvPicPr>
        <p:blipFill>
          <a:blip r:embed="rId3"/>
          <a:srcRect l="-198" r="-198"/>
          <a:stretch/>
        </p:blipFill>
        <p:spPr>
          <a:xfrm>
            <a:off x="0" y="0"/>
            <a:ext cx="8124444" cy="75895"/>
          </a:xfrm>
          <a:prstGeom prst="rect">
            <a:avLst/>
          </a:prstGeom>
        </p:spPr>
      </p:pic>
      <p:pic>
        <p:nvPicPr>
          <p:cNvPr id="5" name="Image 1" descr="gen-dedup-c2c9136402f20c216bf7cbcc052ad1a0.png"/>
          <p:cNvPicPr>
            <a:picLocks noChangeAspect="1"/>
          </p:cNvPicPr>
          <p:nvPr/>
        </p:nvPicPr>
        <p:blipFill>
          <a:blip r:embed="rId4"/>
          <a:srcRect l="-202" r="-202"/>
          <a:stretch/>
        </p:blipFill>
        <p:spPr>
          <a:xfrm>
            <a:off x="8124444" y="0"/>
            <a:ext cx="4067251" cy="75895"/>
          </a:xfrm>
          <a:prstGeom prst="rect">
            <a:avLst/>
          </a:prstGeom>
        </p:spPr>
      </p:pic>
      <p:sp>
        <p:nvSpPr>
          <p:cNvPr id="6" name="Shape 2"/>
          <p:cNvSpPr/>
          <p:nvPr/>
        </p:nvSpPr>
        <p:spPr>
          <a:xfrm>
            <a:off x="8858707" y="-952805"/>
            <a:ext cx="3810305" cy="3810305"/>
          </a:xfrm>
          <a:prstGeom prst="ellipse">
            <a:avLst/>
          </a:prstGeom>
          <a:solidFill>
            <a:srgbClr val="2A9D8F">
              <a:alpha val="3000"/>
            </a:srgbClr>
          </a:solidFill>
          <a:ln w="12700">
            <a:solidFill>
              <a:srgbClr val="FFFFFF">
                <a:alpha val="0"/>
              </a:srgbClr>
            </a:solidFill>
            <a:prstDash val="solid"/>
          </a:ln>
        </p:spPr>
        <p:txBody>
          <a:bodyPr/>
          <a:lstStyle/>
          <a:p>
            <a:endParaRPr lang="en-US"/>
          </a:p>
        </p:txBody>
      </p:sp>
      <p:sp>
        <p:nvSpPr>
          <p:cNvPr id="7" name="Shape 3"/>
          <p:cNvSpPr/>
          <p:nvPr/>
        </p:nvSpPr>
        <p:spPr>
          <a:xfrm>
            <a:off x="-476402" y="4476902"/>
            <a:ext cx="3333902" cy="3333902"/>
          </a:xfrm>
          <a:prstGeom prst="ellipse">
            <a:avLst/>
          </a:prstGeom>
          <a:solidFill>
            <a:srgbClr val="D62839">
              <a:alpha val="2000"/>
            </a:srgbClr>
          </a:solidFill>
          <a:ln w="12700">
            <a:solidFill>
              <a:srgbClr val="FFFFFF">
                <a:alpha val="0"/>
              </a:srgbClr>
            </a:solidFill>
            <a:prstDash val="solid"/>
          </a:ln>
        </p:spPr>
        <p:txBody>
          <a:bodyPr/>
          <a:lstStyle/>
          <a:p>
            <a:endParaRPr lang="en-US"/>
          </a:p>
        </p:txBody>
      </p:sp>
      <p:sp>
        <p:nvSpPr>
          <p:cNvPr id="8" name="Shape 4"/>
          <p:cNvSpPr/>
          <p:nvPr/>
        </p:nvSpPr>
        <p:spPr>
          <a:xfrm>
            <a:off x="609905" y="1714500"/>
            <a:ext cx="3448202" cy="2286000"/>
          </a:xfrm>
          <a:prstGeom prst="roundRect">
            <a:avLst>
              <a:gd name="adj" fmla="val 3320"/>
            </a:avLst>
          </a:prstGeom>
          <a:solidFill>
            <a:srgbClr val="FFFFFF"/>
          </a:solidFill>
          <a:ln w="12700">
            <a:solidFill>
              <a:srgbClr val="E2E8F0"/>
            </a:solidFill>
            <a:prstDash val="solid"/>
          </a:ln>
          <a:effectLst>
            <a:outerShdw blurRad="76200" dist="25400" dir="16200000" algn="bl" rotWithShape="0">
              <a:srgbClr val="000000">
                <a:alpha val="3000"/>
              </a:srgbClr>
            </a:outerShdw>
          </a:effectLst>
        </p:spPr>
        <p:txBody>
          <a:bodyPr/>
          <a:lstStyle/>
          <a:p>
            <a:endParaRPr lang="en-US"/>
          </a:p>
        </p:txBody>
      </p:sp>
      <p:sp>
        <p:nvSpPr>
          <p:cNvPr id="9" name="Shape 5"/>
          <p:cNvSpPr/>
          <p:nvPr/>
        </p:nvSpPr>
        <p:spPr>
          <a:xfrm>
            <a:off x="609905" y="1714500"/>
            <a:ext cx="3448202"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0" name="Shape 6"/>
          <p:cNvSpPr/>
          <p:nvPr/>
        </p:nvSpPr>
        <p:spPr>
          <a:xfrm>
            <a:off x="4381805" y="1714500"/>
            <a:ext cx="3448202" cy="2286000"/>
          </a:xfrm>
          <a:prstGeom prst="roundRect">
            <a:avLst>
              <a:gd name="adj" fmla="val 3320"/>
            </a:avLst>
          </a:prstGeom>
          <a:solidFill>
            <a:srgbClr val="FFFFFF"/>
          </a:solidFill>
          <a:ln w="12700">
            <a:solidFill>
              <a:srgbClr val="E2E8F0"/>
            </a:solidFill>
            <a:prstDash val="solid"/>
          </a:ln>
          <a:effectLst>
            <a:outerShdw blurRad="76200" dist="25400" dir="16200000" algn="bl" rotWithShape="0">
              <a:srgbClr val="000000">
                <a:alpha val="3000"/>
              </a:srgbClr>
            </a:outerShdw>
          </a:effectLst>
        </p:spPr>
        <p:txBody>
          <a:bodyPr/>
          <a:lstStyle/>
          <a:p>
            <a:endParaRPr lang="en-US"/>
          </a:p>
        </p:txBody>
      </p:sp>
      <p:sp>
        <p:nvSpPr>
          <p:cNvPr id="11" name="Shape 7"/>
          <p:cNvSpPr/>
          <p:nvPr/>
        </p:nvSpPr>
        <p:spPr>
          <a:xfrm>
            <a:off x="4381805" y="1714500"/>
            <a:ext cx="3448202"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12" name="Shape 8"/>
          <p:cNvSpPr/>
          <p:nvPr/>
        </p:nvSpPr>
        <p:spPr>
          <a:xfrm>
            <a:off x="8153705" y="1714500"/>
            <a:ext cx="3448202" cy="2286000"/>
          </a:xfrm>
          <a:prstGeom prst="roundRect">
            <a:avLst>
              <a:gd name="adj" fmla="val 3320"/>
            </a:avLst>
          </a:prstGeom>
          <a:solidFill>
            <a:srgbClr val="FFFFFF"/>
          </a:solidFill>
          <a:ln w="12700">
            <a:solidFill>
              <a:srgbClr val="E2E8F0"/>
            </a:solidFill>
            <a:prstDash val="solid"/>
          </a:ln>
          <a:effectLst>
            <a:outerShdw blurRad="76200" dist="25400" dir="16200000" algn="bl" rotWithShape="0">
              <a:srgbClr val="000000">
                <a:alpha val="3000"/>
              </a:srgbClr>
            </a:outerShdw>
          </a:effectLst>
        </p:spPr>
        <p:txBody>
          <a:bodyPr/>
          <a:lstStyle/>
          <a:p>
            <a:endParaRPr lang="en-US"/>
          </a:p>
        </p:txBody>
      </p:sp>
      <p:sp>
        <p:nvSpPr>
          <p:cNvPr id="13" name="Shape 9"/>
          <p:cNvSpPr/>
          <p:nvPr/>
        </p:nvSpPr>
        <p:spPr>
          <a:xfrm>
            <a:off x="8153705" y="1714500"/>
            <a:ext cx="3448202"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4" name="Shape 10"/>
          <p:cNvSpPr/>
          <p:nvPr/>
        </p:nvSpPr>
        <p:spPr>
          <a:xfrm>
            <a:off x="609905" y="4238244"/>
            <a:ext cx="3448202" cy="2286000"/>
          </a:xfrm>
          <a:prstGeom prst="roundRect">
            <a:avLst>
              <a:gd name="adj" fmla="val 3320"/>
            </a:avLst>
          </a:prstGeom>
          <a:solidFill>
            <a:srgbClr val="FFFFFF"/>
          </a:solidFill>
          <a:ln w="12700">
            <a:solidFill>
              <a:srgbClr val="E2E8F0"/>
            </a:solidFill>
            <a:prstDash val="solid"/>
          </a:ln>
          <a:effectLst>
            <a:outerShdw blurRad="76200" dist="25400" dir="16200000" algn="bl" rotWithShape="0">
              <a:srgbClr val="000000">
                <a:alpha val="3000"/>
              </a:srgbClr>
            </a:outerShdw>
          </a:effectLst>
        </p:spPr>
        <p:txBody>
          <a:bodyPr/>
          <a:lstStyle/>
          <a:p>
            <a:endParaRPr lang="en-US"/>
          </a:p>
        </p:txBody>
      </p:sp>
      <p:sp>
        <p:nvSpPr>
          <p:cNvPr id="15" name="Shape 11"/>
          <p:cNvSpPr/>
          <p:nvPr/>
        </p:nvSpPr>
        <p:spPr>
          <a:xfrm>
            <a:off x="609905" y="4238244"/>
            <a:ext cx="3448202"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16" name="Shape 12"/>
          <p:cNvSpPr/>
          <p:nvPr/>
        </p:nvSpPr>
        <p:spPr>
          <a:xfrm>
            <a:off x="4381805" y="4238244"/>
            <a:ext cx="3448202" cy="2286000"/>
          </a:xfrm>
          <a:prstGeom prst="roundRect">
            <a:avLst>
              <a:gd name="adj" fmla="val 3320"/>
            </a:avLst>
          </a:prstGeom>
          <a:solidFill>
            <a:srgbClr val="FFFFFF"/>
          </a:solidFill>
          <a:ln w="12700">
            <a:solidFill>
              <a:srgbClr val="E2E8F0"/>
            </a:solidFill>
            <a:prstDash val="solid"/>
          </a:ln>
          <a:effectLst>
            <a:outerShdw blurRad="76200" dist="25400" dir="16200000" algn="bl" rotWithShape="0">
              <a:srgbClr val="000000">
                <a:alpha val="3000"/>
              </a:srgbClr>
            </a:outerShdw>
          </a:effectLst>
        </p:spPr>
        <p:txBody>
          <a:bodyPr/>
          <a:lstStyle/>
          <a:p>
            <a:endParaRPr lang="en-US"/>
          </a:p>
        </p:txBody>
      </p:sp>
      <p:sp>
        <p:nvSpPr>
          <p:cNvPr id="17" name="Shape 13"/>
          <p:cNvSpPr/>
          <p:nvPr/>
        </p:nvSpPr>
        <p:spPr>
          <a:xfrm>
            <a:off x="4381805" y="4238244"/>
            <a:ext cx="3448202"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8" name="Shape 14"/>
          <p:cNvSpPr/>
          <p:nvPr/>
        </p:nvSpPr>
        <p:spPr>
          <a:xfrm>
            <a:off x="8153705" y="4238244"/>
            <a:ext cx="3448202" cy="2286000"/>
          </a:xfrm>
          <a:prstGeom prst="roundRect">
            <a:avLst>
              <a:gd name="adj" fmla="val 3320"/>
            </a:avLst>
          </a:prstGeom>
          <a:solidFill>
            <a:srgbClr val="FFFFFF"/>
          </a:solidFill>
          <a:ln w="12700">
            <a:solidFill>
              <a:srgbClr val="E2E8F0"/>
            </a:solidFill>
            <a:prstDash val="solid"/>
          </a:ln>
          <a:effectLst>
            <a:outerShdw blurRad="76200" dist="25400" dir="16200000" algn="bl" rotWithShape="0">
              <a:srgbClr val="000000">
                <a:alpha val="3000"/>
              </a:srgbClr>
            </a:outerShdw>
          </a:effectLst>
        </p:spPr>
        <p:txBody>
          <a:bodyPr/>
          <a:lstStyle/>
          <a:p>
            <a:endParaRPr lang="en-US"/>
          </a:p>
        </p:txBody>
      </p:sp>
      <p:sp>
        <p:nvSpPr>
          <p:cNvPr id="19" name="Shape 15"/>
          <p:cNvSpPr/>
          <p:nvPr/>
        </p:nvSpPr>
        <p:spPr>
          <a:xfrm>
            <a:off x="8153705" y="4238244"/>
            <a:ext cx="3448202"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pic>
        <p:nvPicPr>
          <p:cNvPr id="20" name="Image 2" descr="gen-dedup-90395934058aa4b7c1bff00d7e70c0a4.png"/>
          <p:cNvPicPr>
            <a:picLocks noChangeAspect="1"/>
          </p:cNvPicPr>
          <p:nvPr/>
        </p:nvPicPr>
        <p:blipFill>
          <a:blip r:embed="rId5"/>
          <a:srcRect l="-416" r="-416"/>
          <a:stretch/>
        </p:blipFill>
        <p:spPr>
          <a:xfrm>
            <a:off x="609905" y="533095"/>
            <a:ext cx="57607" cy="714146"/>
          </a:xfrm>
          <a:prstGeom prst="rect">
            <a:avLst/>
          </a:prstGeom>
        </p:spPr>
      </p:pic>
      <p:sp>
        <p:nvSpPr>
          <p:cNvPr id="21" name="Text 16"/>
          <p:cNvSpPr txBox="1"/>
          <p:nvPr/>
        </p:nvSpPr>
        <p:spPr>
          <a:xfrm>
            <a:off x="819302" y="495605"/>
            <a:ext cx="8572500" cy="362102"/>
          </a:xfrm>
          <a:prstGeom prst="rect">
            <a:avLst/>
          </a:prstGeom>
          <a:noFill/>
          <a:ln/>
        </p:spPr>
        <p:txBody>
          <a:bodyPr wrap="none" lIns="0" tIns="0" rIns="0" bIns="0" rtlCol="0" anchor="ctr"/>
          <a:lstStyle/>
          <a:p>
            <a:pPr marL="0" indent="0" algn="l">
              <a:buNone/>
            </a:pPr>
            <a:r>
              <a:rPr lang="en-US" sz="2500" b="1">
                <a:solidFill>
                  <a:srgbClr val="111827"/>
                </a:solidFill>
                <a:latin typeface="Oswald" pitchFamily="34" charset="0"/>
                <a:ea typeface="Oswald" pitchFamily="34" charset="-122"/>
                <a:cs typeface="Oswald" pitchFamily="34" charset="-120"/>
              </a:rPr>
              <a:t>WORKFORCE SOLUTIONS – WHAT WE DEPLOY</a:t>
            </a:r>
            <a:endParaRPr lang="en-US" sz="2500"/>
          </a:p>
        </p:txBody>
      </p:sp>
      <p:sp>
        <p:nvSpPr>
          <p:cNvPr id="22" name="Text 17"/>
          <p:cNvSpPr txBox="1"/>
          <p:nvPr/>
        </p:nvSpPr>
        <p:spPr>
          <a:xfrm>
            <a:off x="819302" y="908914"/>
            <a:ext cx="8572500" cy="448056"/>
          </a:xfrm>
          <a:prstGeom prst="rect">
            <a:avLst/>
          </a:prstGeom>
          <a:noFill/>
          <a:ln/>
        </p:spPr>
        <p:txBody>
          <a:bodyPr wrap="square" lIns="0" tIns="0" rIns="0" bIns="0" rtlCol="0" anchor="ctr"/>
          <a:lstStyle/>
          <a:p>
            <a:pPr marL="0" indent="0" algn="l">
              <a:buNone/>
            </a:pPr>
            <a:r>
              <a:rPr lang="en-US" sz="1300" b="1" kern="0" spc="68">
                <a:solidFill>
                  <a:srgbClr val="2A9D8F"/>
                </a:solidFill>
                <a:latin typeface="Roboto Condensed" pitchFamily="34" charset="0"/>
                <a:ea typeface="Roboto Condensed" pitchFamily="34" charset="-122"/>
                <a:cs typeface="Roboto Condensed" pitchFamily="34" charset="-120"/>
              </a:rPr>
              <a:t>Not just tech stacks — domain-certified engineers who understand product liability, safety standards, and engineering constraints.</a:t>
            </a:r>
            <a:endParaRPr lang="en-US" sz="1300"/>
          </a:p>
        </p:txBody>
      </p:sp>
      <p:sp>
        <p:nvSpPr>
          <p:cNvPr id="23" name="Shape 18"/>
          <p:cNvSpPr/>
          <p:nvPr/>
        </p:nvSpPr>
        <p:spPr>
          <a:xfrm>
            <a:off x="9677095" y="533095"/>
            <a:ext cx="1904695" cy="342900"/>
          </a:xfrm>
          <a:prstGeom prst="roundRect">
            <a:avLst>
              <a:gd name="adj" fmla="val 50133"/>
            </a:avLst>
          </a:prstGeom>
          <a:solidFill>
            <a:srgbClr val="2A9D8F"/>
          </a:solidFill>
          <a:ln w="12700">
            <a:solidFill>
              <a:srgbClr val="FFFFFF">
                <a:alpha val="0"/>
              </a:srgbClr>
            </a:solidFill>
            <a:prstDash val="solid"/>
          </a:ln>
        </p:spPr>
        <p:txBody>
          <a:bodyPr/>
          <a:lstStyle/>
          <a:p>
            <a:endParaRPr lang="en-US"/>
          </a:p>
        </p:txBody>
      </p:sp>
      <p:sp>
        <p:nvSpPr>
          <p:cNvPr id="24" name="Text 19"/>
          <p:cNvSpPr txBox="1"/>
          <p:nvPr/>
        </p:nvSpPr>
        <p:spPr>
          <a:xfrm>
            <a:off x="9891065" y="629107"/>
            <a:ext cx="1881835" cy="152705"/>
          </a:xfrm>
          <a:prstGeom prst="rect">
            <a:avLst/>
          </a:prstGeom>
          <a:noFill/>
          <a:ln/>
        </p:spPr>
        <p:txBody>
          <a:bodyPr wrap="none" lIns="0" tIns="0" rIns="0" bIns="0" rtlCol="0" anchor="ctr"/>
          <a:lstStyle/>
          <a:p>
            <a:pPr marL="0" indent="0" algn="l">
              <a:buNone/>
            </a:pPr>
            <a:r>
              <a:rPr lang="en-US" sz="1000" b="1" kern="0" spc="52">
                <a:solidFill>
                  <a:srgbClr val="FFFFFF"/>
                </a:solidFill>
                <a:latin typeface="Roboto Condensed" pitchFamily="34" charset="0"/>
                <a:ea typeface="Roboto Condensed" pitchFamily="34" charset="-122"/>
                <a:cs typeface="Roboto Condensed" pitchFamily="34" charset="-120"/>
              </a:rPr>
              <a:t>Workforce Solutions</a:t>
            </a:r>
            <a:endParaRPr lang="en-US" sz="1000"/>
          </a:p>
        </p:txBody>
      </p:sp>
      <p:sp>
        <p:nvSpPr>
          <p:cNvPr id="25" name="Text 20"/>
          <p:cNvSpPr txBox="1"/>
          <p:nvPr/>
        </p:nvSpPr>
        <p:spPr>
          <a:xfrm>
            <a:off x="1028700" y="1904695"/>
            <a:ext cx="2820010" cy="286207"/>
          </a:xfrm>
          <a:prstGeom prst="rect">
            <a:avLst/>
          </a:prstGeom>
          <a:noFill/>
          <a:ln/>
        </p:spPr>
        <p:txBody>
          <a:bodyPr wrap="none" lIns="0" tIns="0" rIns="0" bIns="0" rtlCol="0" anchor="ctr"/>
          <a:lstStyle/>
          <a:p>
            <a:pPr marL="0" indent="0" algn="l">
              <a:buNone/>
            </a:pPr>
            <a:r>
              <a:rPr lang="en-US" sz="1500" b="1">
                <a:solidFill>
                  <a:srgbClr val="111827"/>
                </a:solidFill>
                <a:latin typeface="Oswald" pitchFamily="34" charset="0"/>
                <a:ea typeface="Oswald" pitchFamily="34" charset="-122"/>
                <a:cs typeface="Oswald" pitchFamily="34" charset="-120"/>
              </a:rPr>
              <a:t>BFSI</a:t>
            </a:r>
            <a:endParaRPr lang="en-US" sz="1500"/>
          </a:p>
        </p:txBody>
      </p:sp>
      <p:sp>
        <p:nvSpPr>
          <p:cNvPr id="26" name="Text 21"/>
          <p:cNvSpPr txBox="1"/>
          <p:nvPr/>
        </p:nvSpPr>
        <p:spPr>
          <a:xfrm>
            <a:off x="990295" y="2305202"/>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Java / Python / Angular</a:t>
            </a:r>
            <a:endParaRPr lang="en-US" sz="1000"/>
          </a:p>
        </p:txBody>
      </p:sp>
      <p:sp>
        <p:nvSpPr>
          <p:cNvPr id="27" name="Text 22"/>
          <p:cNvSpPr txBox="1"/>
          <p:nvPr/>
        </p:nvSpPr>
        <p:spPr>
          <a:xfrm>
            <a:off x="990295" y="2544775"/>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Banking APIs · SWIFT · Finacle</a:t>
            </a:r>
            <a:endParaRPr lang="en-US" sz="1000"/>
          </a:p>
        </p:txBody>
      </p:sp>
      <p:sp>
        <p:nvSpPr>
          <p:cNvPr id="28" name="Text 23"/>
          <p:cNvSpPr txBox="1"/>
          <p:nvPr/>
        </p:nvSpPr>
        <p:spPr>
          <a:xfrm>
            <a:off x="990295" y="2785262"/>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Salesforce FSC · SAP FICO</a:t>
            </a:r>
            <a:endParaRPr lang="en-US" sz="1000"/>
          </a:p>
        </p:txBody>
      </p:sp>
      <p:sp>
        <p:nvSpPr>
          <p:cNvPr id="29" name="Text 24"/>
          <p:cNvSpPr txBox="1"/>
          <p:nvPr/>
        </p:nvSpPr>
        <p:spPr>
          <a:xfrm>
            <a:off x="990295" y="3024835"/>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PCI-DSS compliance</a:t>
            </a:r>
            <a:endParaRPr lang="en-US" sz="1000"/>
          </a:p>
        </p:txBody>
      </p:sp>
      <p:pic>
        <p:nvPicPr>
          <p:cNvPr id="30" name="Image 3" descr="gen-dedup-2aa19c82c71fd240e470708f6dffe216.png"/>
          <p:cNvPicPr>
            <a:picLocks noChangeAspect="1"/>
          </p:cNvPicPr>
          <p:nvPr/>
        </p:nvPicPr>
        <p:blipFill>
          <a:blip r:embed="rId6"/>
          <a:srcRect t="-12275" b="-12275"/>
          <a:stretch/>
        </p:blipFill>
        <p:spPr>
          <a:xfrm>
            <a:off x="800100" y="1966874"/>
            <a:ext cx="152705" cy="190195"/>
          </a:xfrm>
          <a:prstGeom prst="rect">
            <a:avLst/>
          </a:prstGeom>
        </p:spPr>
      </p:pic>
      <p:sp>
        <p:nvSpPr>
          <p:cNvPr id="31" name="Text 25"/>
          <p:cNvSpPr txBox="1"/>
          <p:nvPr/>
        </p:nvSpPr>
        <p:spPr>
          <a:xfrm>
            <a:off x="4800600" y="1904695"/>
            <a:ext cx="2820010" cy="286207"/>
          </a:xfrm>
          <a:prstGeom prst="rect">
            <a:avLst/>
          </a:prstGeom>
          <a:noFill/>
          <a:ln/>
        </p:spPr>
        <p:txBody>
          <a:bodyPr wrap="none" lIns="0" tIns="0" rIns="0" bIns="0" rtlCol="0" anchor="ctr"/>
          <a:lstStyle/>
          <a:p>
            <a:pPr marL="0" indent="0" algn="l">
              <a:buNone/>
            </a:pPr>
            <a:r>
              <a:rPr lang="en-US" sz="1500" b="1">
                <a:solidFill>
                  <a:srgbClr val="111827"/>
                </a:solidFill>
                <a:latin typeface="Oswald" pitchFamily="34" charset="0"/>
                <a:ea typeface="Oswald" pitchFamily="34" charset="-122"/>
                <a:cs typeface="Oswald" pitchFamily="34" charset="-120"/>
              </a:rPr>
              <a:t>Healthcare &amp; MedTech</a:t>
            </a:r>
            <a:endParaRPr lang="en-US" sz="1500"/>
          </a:p>
        </p:txBody>
      </p:sp>
      <p:sp>
        <p:nvSpPr>
          <p:cNvPr id="32" name="Text 26"/>
          <p:cNvSpPr txBox="1"/>
          <p:nvPr/>
        </p:nvSpPr>
        <p:spPr>
          <a:xfrm>
            <a:off x="4762195" y="2305202"/>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HL7 / FHIR / DICOM</a:t>
            </a:r>
            <a:endParaRPr lang="en-US" sz="1000"/>
          </a:p>
        </p:txBody>
      </p:sp>
      <p:sp>
        <p:nvSpPr>
          <p:cNvPr id="33" name="Text 27"/>
          <p:cNvSpPr txBox="1"/>
          <p:nvPr/>
        </p:nvSpPr>
        <p:spPr>
          <a:xfrm>
            <a:off x="4762195" y="2544775"/>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AWS HealthLake · Epic</a:t>
            </a:r>
            <a:endParaRPr lang="en-US" sz="1000"/>
          </a:p>
        </p:txBody>
      </p:sp>
      <p:sp>
        <p:nvSpPr>
          <p:cNvPr id="34" name="Text 28"/>
          <p:cNvSpPr txBox="1"/>
          <p:nvPr/>
        </p:nvSpPr>
        <p:spPr>
          <a:xfrm>
            <a:off x="4762195" y="2785262"/>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MLOps for medical imaging</a:t>
            </a:r>
            <a:endParaRPr lang="en-US" sz="1000"/>
          </a:p>
        </p:txBody>
      </p:sp>
      <p:sp>
        <p:nvSpPr>
          <p:cNvPr id="35" name="Text 29"/>
          <p:cNvSpPr txBox="1"/>
          <p:nvPr/>
        </p:nvSpPr>
        <p:spPr>
          <a:xfrm>
            <a:off x="4762195" y="3024835"/>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HIPAA / FDA 21 CFR</a:t>
            </a:r>
            <a:endParaRPr lang="en-US" sz="1000"/>
          </a:p>
        </p:txBody>
      </p:sp>
      <p:pic>
        <p:nvPicPr>
          <p:cNvPr id="36" name="Image 4" descr="gen-dedup-b8cc7496714d41e2a07586de42649107.png"/>
          <p:cNvPicPr>
            <a:picLocks noChangeAspect="1"/>
          </p:cNvPicPr>
          <p:nvPr/>
        </p:nvPicPr>
        <p:blipFill>
          <a:blip r:embed="rId7"/>
          <a:srcRect t="-12275" b="-12275"/>
          <a:stretch/>
        </p:blipFill>
        <p:spPr>
          <a:xfrm>
            <a:off x="4572000" y="1966874"/>
            <a:ext cx="152705" cy="190195"/>
          </a:xfrm>
          <a:prstGeom prst="rect">
            <a:avLst/>
          </a:prstGeom>
        </p:spPr>
      </p:pic>
      <p:sp>
        <p:nvSpPr>
          <p:cNvPr id="37" name="Text 30"/>
          <p:cNvSpPr txBox="1"/>
          <p:nvPr/>
        </p:nvSpPr>
        <p:spPr>
          <a:xfrm>
            <a:off x="8572500" y="1904695"/>
            <a:ext cx="3185770" cy="286207"/>
          </a:xfrm>
          <a:prstGeom prst="rect">
            <a:avLst/>
          </a:prstGeom>
          <a:noFill/>
          <a:ln/>
        </p:spPr>
        <p:txBody>
          <a:bodyPr wrap="none" lIns="0" tIns="0" rIns="0" bIns="0" rtlCol="0" anchor="ctr"/>
          <a:lstStyle/>
          <a:p>
            <a:pPr marL="0" indent="0" algn="l">
              <a:buNone/>
            </a:pPr>
            <a:r>
              <a:rPr lang="en-US" sz="1500" b="1">
                <a:solidFill>
                  <a:srgbClr val="111827"/>
                </a:solidFill>
                <a:latin typeface="Oswald" pitchFamily="34" charset="0"/>
                <a:ea typeface="Oswald" pitchFamily="34" charset="-122"/>
                <a:cs typeface="Oswald" pitchFamily="34" charset="-120"/>
              </a:rPr>
              <a:t>Automotive &amp; Manufacturing</a:t>
            </a:r>
            <a:endParaRPr lang="en-US" sz="1500"/>
          </a:p>
        </p:txBody>
      </p:sp>
      <p:sp>
        <p:nvSpPr>
          <p:cNvPr id="38" name="Text 31"/>
          <p:cNvSpPr txBox="1"/>
          <p:nvPr/>
        </p:nvSpPr>
        <p:spPr>
          <a:xfrm>
            <a:off x="8534095" y="2305202"/>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Embedded C/C++ · AUTOSAR</a:t>
            </a:r>
            <a:endParaRPr lang="en-US" sz="1000"/>
          </a:p>
        </p:txBody>
      </p:sp>
      <p:sp>
        <p:nvSpPr>
          <p:cNvPr id="39" name="Text 32"/>
          <p:cNvSpPr txBox="1"/>
          <p:nvPr/>
        </p:nvSpPr>
        <p:spPr>
          <a:xfrm>
            <a:off x="8534095" y="2544775"/>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CAN / LIN · SCADA / MES</a:t>
            </a:r>
            <a:endParaRPr lang="en-US" sz="1000"/>
          </a:p>
        </p:txBody>
      </p:sp>
      <p:sp>
        <p:nvSpPr>
          <p:cNvPr id="40" name="Text 33"/>
          <p:cNvSpPr txBox="1"/>
          <p:nvPr/>
        </p:nvSpPr>
        <p:spPr>
          <a:xfrm>
            <a:off x="8534095" y="2785262"/>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Siemens Teamcenter PLM</a:t>
            </a:r>
            <a:endParaRPr lang="en-US" sz="1000"/>
          </a:p>
        </p:txBody>
      </p:sp>
      <p:sp>
        <p:nvSpPr>
          <p:cNvPr id="41" name="Text 34"/>
          <p:cNvSpPr txBox="1"/>
          <p:nvPr/>
        </p:nvSpPr>
        <p:spPr>
          <a:xfrm>
            <a:off x="8534095" y="3024835"/>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ISO 26262 / MISRA</a:t>
            </a:r>
            <a:endParaRPr lang="en-US" sz="1000"/>
          </a:p>
        </p:txBody>
      </p:sp>
      <p:pic>
        <p:nvPicPr>
          <p:cNvPr id="42" name="Image 5" descr="gen-dedup-55f61aa4f889b7525dd1b3da0df44f38.png"/>
          <p:cNvPicPr>
            <a:picLocks noChangeAspect="1"/>
          </p:cNvPicPr>
          <p:nvPr/>
        </p:nvPicPr>
        <p:blipFill>
          <a:blip r:embed="rId8"/>
          <a:srcRect t="-12275" b="-12275"/>
          <a:stretch/>
        </p:blipFill>
        <p:spPr>
          <a:xfrm>
            <a:off x="8343900" y="1966874"/>
            <a:ext cx="152705" cy="190195"/>
          </a:xfrm>
          <a:prstGeom prst="rect">
            <a:avLst/>
          </a:prstGeom>
        </p:spPr>
      </p:pic>
      <p:sp>
        <p:nvSpPr>
          <p:cNvPr id="43" name="Text 35"/>
          <p:cNvSpPr txBox="1"/>
          <p:nvPr/>
        </p:nvSpPr>
        <p:spPr>
          <a:xfrm>
            <a:off x="1028700" y="4429354"/>
            <a:ext cx="2820010" cy="286207"/>
          </a:xfrm>
          <a:prstGeom prst="rect">
            <a:avLst/>
          </a:prstGeom>
          <a:noFill/>
          <a:ln/>
        </p:spPr>
        <p:txBody>
          <a:bodyPr wrap="none" lIns="0" tIns="0" rIns="0" bIns="0" rtlCol="0" anchor="ctr"/>
          <a:lstStyle/>
          <a:p>
            <a:pPr marL="0" indent="0" algn="l">
              <a:buNone/>
            </a:pPr>
            <a:r>
              <a:rPr lang="en-US" sz="1500" b="1">
                <a:solidFill>
                  <a:srgbClr val="111827"/>
                </a:solidFill>
                <a:latin typeface="Oswald" pitchFamily="34" charset="0"/>
                <a:ea typeface="Oswald" pitchFamily="34" charset="-122"/>
                <a:cs typeface="Oswald" pitchFamily="34" charset="-120"/>
              </a:rPr>
              <a:t>Technology / SaaS</a:t>
            </a:r>
            <a:endParaRPr lang="en-US" sz="1500"/>
          </a:p>
        </p:txBody>
      </p:sp>
      <p:sp>
        <p:nvSpPr>
          <p:cNvPr id="44" name="Text 36"/>
          <p:cNvSpPr txBox="1"/>
          <p:nvPr/>
        </p:nvSpPr>
        <p:spPr>
          <a:xfrm>
            <a:off x="990295" y="4828946"/>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Full-stack (React/Node/Java)</a:t>
            </a:r>
            <a:endParaRPr lang="en-US" sz="1000"/>
          </a:p>
        </p:txBody>
      </p:sp>
      <p:sp>
        <p:nvSpPr>
          <p:cNvPr id="45" name="Text 37"/>
          <p:cNvSpPr txBox="1"/>
          <p:nvPr/>
        </p:nvSpPr>
        <p:spPr>
          <a:xfrm>
            <a:off x="990295" y="5069434"/>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Cloud-native AWS / Azure / GCP</a:t>
            </a:r>
            <a:endParaRPr lang="en-US" sz="1000"/>
          </a:p>
        </p:txBody>
      </p:sp>
      <p:sp>
        <p:nvSpPr>
          <p:cNvPr id="46" name="Text 38"/>
          <p:cNvSpPr txBox="1"/>
          <p:nvPr/>
        </p:nvSpPr>
        <p:spPr>
          <a:xfrm>
            <a:off x="990295" y="5309006"/>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DevSecOps / CI-CD / K8s</a:t>
            </a:r>
            <a:endParaRPr lang="en-US" sz="1000"/>
          </a:p>
        </p:txBody>
      </p:sp>
      <p:sp>
        <p:nvSpPr>
          <p:cNvPr id="47" name="Text 39"/>
          <p:cNvSpPr txBox="1"/>
          <p:nvPr/>
        </p:nvSpPr>
        <p:spPr>
          <a:xfrm>
            <a:off x="990295" y="5549494"/>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AI/ML &amp; GenAI pipelines</a:t>
            </a:r>
            <a:endParaRPr lang="en-US" sz="1000"/>
          </a:p>
        </p:txBody>
      </p:sp>
      <p:pic>
        <p:nvPicPr>
          <p:cNvPr id="48" name="Image 6" descr="gen-dedup-68421e7391c70a5aa3cb0ca89cfbd556.png"/>
          <p:cNvPicPr>
            <a:picLocks noChangeAspect="1"/>
          </p:cNvPicPr>
          <p:nvPr/>
        </p:nvPicPr>
        <p:blipFill>
          <a:blip r:embed="rId9"/>
          <a:srcRect t="-27844" b="-27844"/>
          <a:stretch/>
        </p:blipFill>
        <p:spPr>
          <a:xfrm>
            <a:off x="800100" y="4490618"/>
            <a:ext cx="152705" cy="190195"/>
          </a:xfrm>
          <a:prstGeom prst="rect">
            <a:avLst/>
          </a:prstGeom>
        </p:spPr>
      </p:pic>
      <p:sp>
        <p:nvSpPr>
          <p:cNvPr id="49" name="Text 40"/>
          <p:cNvSpPr txBox="1"/>
          <p:nvPr/>
        </p:nvSpPr>
        <p:spPr>
          <a:xfrm>
            <a:off x="4800600" y="4429354"/>
            <a:ext cx="2820010" cy="286207"/>
          </a:xfrm>
          <a:prstGeom prst="rect">
            <a:avLst/>
          </a:prstGeom>
          <a:noFill/>
          <a:ln/>
        </p:spPr>
        <p:txBody>
          <a:bodyPr wrap="none" lIns="0" tIns="0" rIns="0" bIns="0" rtlCol="0" anchor="ctr"/>
          <a:lstStyle/>
          <a:p>
            <a:pPr marL="0" indent="0" algn="l">
              <a:buNone/>
            </a:pPr>
            <a:r>
              <a:rPr lang="en-US" sz="1500" b="1">
                <a:solidFill>
                  <a:srgbClr val="111827"/>
                </a:solidFill>
                <a:latin typeface="Oswald" pitchFamily="34" charset="0"/>
                <a:ea typeface="Oswald" pitchFamily="34" charset="-122"/>
                <a:cs typeface="Oswald" pitchFamily="34" charset="-120"/>
              </a:rPr>
              <a:t>Pharma &amp; Life Sciences</a:t>
            </a:r>
            <a:endParaRPr lang="en-US" sz="1500"/>
          </a:p>
        </p:txBody>
      </p:sp>
      <p:sp>
        <p:nvSpPr>
          <p:cNvPr id="50" name="Text 41"/>
          <p:cNvSpPr txBox="1"/>
          <p:nvPr/>
        </p:nvSpPr>
        <p:spPr>
          <a:xfrm>
            <a:off x="4762195" y="4828946"/>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SAS · R · Python · Power BI</a:t>
            </a:r>
            <a:endParaRPr lang="en-US" sz="1000"/>
          </a:p>
        </p:txBody>
      </p:sp>
      <p:sp>
        <p:nvSpPr>
          <p:cNvPr id="51" name="Text 42"/>
          <p:cNvSpPr txBox="1"/>
          <p:nvPr/>
        </p:nvSpPr>
        <p:spPr>
          <a:xfrm>
            <a:off x="4762195" y="5069434"/>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Clinical data analytics</a:t>
            </a:r>
            <a:endParaRPr lang="en-US" sz="1000"/>
          </a:p>
        </p:txBody>
      </p:sp>
      <p:sp>
        <p:nvSpPr>
          <p:cNvPr id="52" name="Text 43"/>
          <p:cNvSpPr txBox="1"/>
          <p:nvPr/>
        </p:nvSpPr>
        <p:spPr>
          <a:xfrm>
            <a:off x="4762195" y="5309006"/>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BPMN 2.0 process mapping</a:t>
            </a:r>
            <a:endParaRPr lang="en-US" sz="1000"/>
          </a:p>
        </p:txBody>
      </p:sp>
      <p:sp>
        <p:nvSpPr>
          <p:cNvPr id="53" name="Text 44"/>
          <p:cNvSpPr txBox="1"/>
          <p:nvPr/>
        </p:nvSpPr>
        <p:spPr>
          <a:xfrm>
            <a:off x="4762195" y="5549494"/>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GxP / FDA / EMA compliance</a:t>
            </a:r>
            <a:endParaRPr lang="en-US" sz="1000"/>
          </a:p>
        </p:txBody>
      </p:sp>
      <p:pic>
        <p:nvPicPr>
          <p:cNvPr id="54" name="Image 7" descr="gen-dedup-231d573942f103a3d6cb03e0f4d8280b.png"/>
          <p:cNvPicPr>
            <a:picLocks noChangeAspect="1"/>
          </p:cNvPicPr>
          <p:nvPr/>
        </p:nvPicPr>
        <p:blipFill>
          <a:blip r:embed="rId10"/>
          <a:srcRect t="-4491" b="-4491"/>
          <a:stretch/>
        </p:blipFill>
        <p:spPr>
          <a:xfrm>
            <a:off x="4572000" y="4490618"/>
            <a:ext cx="152705" cy="190195"/>
          </a:xfrm>
          <a:prstGeom prst="rect">
            <a:avLst/>
          </a:prstGeom>
        </p:spPr>
      </p:pic>
      <p:sp>
        <p:nvSpPr>
          <p:cNvPr id="55" name="Text 45"/>
          <p:cNvSpPr txBox="1"/>
          <p:nvPr/>
        </p:nvSpPr>
        <p:spPr>
          <a:xfrm>
            <a:off x="8572500" y="4429354"/>
            <a:ext cx="2820010" cy="286207"/>
          </a:xfrm>
          <a:prstGeom prst="rect">
            <a:avLst/>
          </a:prstGeom>
          <a:noFill/>
          <a:ln/>
        </p:spPr>
        <p:txBody>
          <a:bodyPr wrap="none" lIns="0" tIns="0" rIns="0" bIns="0" rtlCol="0" anchor="ctr"/>
          <a:lstStyle/>
          <a:p>
            <a:pPr marL="0" indent="0" algn="l">
              <a:buNone/>
            </a:pPr>
            <a:r>
              <a:rPr lang="en-US" sz="1500" b="1">
                <a:solidFill>
                  <a:srgbClr val="111827"/>
                </a:solidFill>
                <a:latin typeface="Oswald" pitchFamily="34" charset="0"/>
                <a:ea typeface="Oswald" pitchFamily="34" charset="-122"/>
                <a:cs typeface="Oswald" pitchFamily="34" charset="-120"/>
              </a:rPr>
              <a:t>Retail &amp; E-commerce</a:t>
            </a:r>
            <a:endParaRPr lang="en-US" sz="1500"/>
          </a:p>
        </p:txBody>
      </p:sp>
      <p:sp>
        <p:nvSpPr>
          <p:cNvPr id="56" name="Text 46"/>
          <p:cNvSpPr txBox="1"/>
          <p:nvPr/>
        </p:nvSpPr>
        <p:spPr>
          <a:xfrm>
            <a:off x="8534095" y="4828946"/>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SAP Hybris · Salesforce</a:t>
            </a:r>
            <a:endParaRPr lang="en-US" sz="1000"/>
          </a:p>
        </p:txBody>
      </p:sp>
      <p:sp>
        <p:nvSpPr>
          <p:cNvPr id="57" name="Text 47"/>
          <p:cNvSpPr txBox="1"/>
          <p:nvPr/>
        </p:nvSpPr>
        <p:spPr>
          <a:xfrm>
            <a:off x="8534095" y="5069434"/>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Java / MySQL / Splunk</a:t>
            </a:r>
            <a:endParaRPr lang="en-US" sz="1000"/>
          </a:p>
        </p:txBody>
      </p:sp>
      <p:sp>
        <p:nvSpPr>
          <p:cNvPr id="58" name="Text 48"/>
          <p:cNvSpPr txBox="1"/>
          <p:nvPr/>
        </p:nvSpPr>
        <p:spPr>
          <a:xfrm>
            <a:off x="8534095" y="5309006"/>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App support (L1–L3)</a:t>
            </a:r>
            <a:endParaRPr lang="en-US" sz="1000"/>
          </a:p>
        </p:txBody>
      </p:sp>
      <p:sp>
        <p:nvSpPr>
          <p:cNvPr id="59" name="Text 49"/>
          <p:cNvSpPr txBox="1"/>
          <p:nvPr/>
        </p:nvSpPr>
        <p:spPr>
          <a:xfrm>
            <a:off x="8534095" y="5549494"/>
            <a:ext cx="2857500" cy="247802"/>
          </a:xfrm>
          <a:prstGeom prst="rect">
            <a:avLst/>
          </a:prstGeom>
          <a:noFill/>
          <a:ln/>
        </p:spPr>
        <p:txBody>
          <a:bodyPr wrap="non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Peak-season scale ops</a:t>
            </a:r>
            <a:endParaRPr lang="en-US" sz="1000"/>
          </a:p>
        </p:txBody>
      </p:sp>
      <p:pic>
        <p:nvPicPr>
          <p:cNvPr id="60" name="Image 8" descr="gen-dedup-e1ac69483d10434729f72c129465ac9b.png"/>
          <p:cNvPicPr>
            <a:picLocks noChangeAspect="1"/>
          </p:cNvPicPr>
          <p:nvPr/>
        </p:nvPicPr>
        <p:blipFill>
          <a:blip r:embed="rId11"/>
          <a:srcRect t="-20060" b="-20060"/>
          <a:stretch/>
        </p:blipFill>
        <p:spPr>
          <a:xfrm>
            <a:off x="8343900" y="4490618"/>
            <a:ext cx="152705" cy="190195"/>
          </a:xfrm>
          <a:prstGeom prst="rect">
            <a:avLst/>
          </a:prstGeom>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858707" y="-952805"/>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gen-dedup-debd4e3596836e8640379be3057665ef.png"/>
          <p:cNvPicPr>
            <a:picLocks noChangeAspect="1"/>
          </p:cNvPicPr>
          <p:nvPr/>
        </p:nvPicPr>
        <p:blipFill>
          <a:blip r:embed="rId3">
            <a:alphaModFix amt="6000"/>
          </a:blip>
          <a:srcRect/>
          <a:stretch/>
        </p:blipFill>
        <p:spPr>
          <a:xfrm>
            <a:off x="-761695" y="4762195"/>
            <a:ext cx="2857500" cy="2857500"/>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b359e3fa59182a7dfb1cf9bffd3421a2.png"/>
          <p:cNvPicPr>
            <a:picLocks noChangeAspect="1"/>
          </p:cNvPicPr>
          <p:nvPr/>
        </p:nvPicPr>
        <p:blipFill>
          <a:blip r:embed="rId6"/>
          <a:srcRect l="-375" r="-375"/>
          <a:stretch/>
        </p:blipFill>
        <p:spPr>
          <a:xfrm>
            <a:off x="609905" y="457200"/>
            <a:ext cx="57607" cy="609905"/>
          </a:xfrm>
          <a:prstGeom prst="rect">
            <a:avLst/>
          </a:prstGeom>
        </p:spPr>
      </p:pic>
      <p:sp>
        <p:nvSpPr>
          <p:cNvPr id="9" name="Shape 3"/>
          <p:cNvSpPr/>
          <p:nvPr/>
        </p:nvSpPr>
        <p:spPr>
          <a:xfrm>
            <a:off x="609905" y="1714500"/>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0" name="Shape 4"/>
          <p:cNvSpPr/>
          <p:nvPr/>
        </p:nvSpPr>
        <p:spPr>
          <a:xfrm>
            <a:off x="609905" y="1714500"/>
            <a:ext cx="3258007"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1" name="Shape 5"/>
          <p:cNvSpPr/>
          <p:nvPr/>
        </p:nvSpPr>
        <p:spPr>
          <a:xfrm>
            <a:off x="4476902" y="1714500"/>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2" name="Shape 6"/>
          <p:cNvSpPr/>
          <p:nvPr/>
        </p:nvSpPr>
        <p:spPr>
          <a:xfrm>
            <a:off x="4476902" y="1714500"/>
            <a:ext cx="3258007"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13" name="Shape 7"/>
          <p:cNvSpPr/>
          <p:nvPr/>
        </p:nvSpPr>
        <p:spPr>
          <a:xfrm>
            <a:off x="8343900" y="1714500"/>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4" name="Shape 8"/>
          <p:cNvSpPr/>
          <p:nvPr/>
        </p:nvSpPr>
        <p:spPr>
          <a:xfrm>
            <a:off x="8343900" y="1714500"/>
            <a:ext cx="3258007"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5" name="Shape 9"/>
          <p:cNvSpPr/>
          <p:nvPr/>
        </p:nvSpPr>
        <p:spPr>
          <a:xfrm>
            <a:off x="609905" y="4190695"/>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6" name="Shape 10"/>
          <p:cNvSpPr/>
          <p:nvPr/>
        </p:nvSpPr>
        <p:spPr>
          <a:xfrm>
            <a:off x="609905" y="4190695"/>
            <a:ext cx="3258007"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17" name="Shape 11"/>
          <p:cNvSpPr/>
          <p:nvPr/>
        </p:nvSpPr>
        <p:spPr>
          <a:xfrm>
            <a:off x="4476902" y="4190695"/>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8" name="Shape 12"/>
          <p:cNvSpPr/>
          <p:nvPr/>
        </p:nvSpPr>
        <p:spPr>
          <a:xfrm>
            <a:off x="4476902" y="4190695"/>
            <a:ext cx="3258007"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9" name="Shape 13"/>
          <p:cNvSpPr/>
          <p:nvPr/>
        </p:nvSpPr>
        <p:spPr>
          <a:xfrm>
            <a:off x="8343900" y="4190695"/>
            <a:ext cx="3258007" cy="2143354"/>
          </a:xfrm>
          <a:prstGeom prst="roundRect">
            <a:avLst>
              <a:gd name="adj" fmla="val 3541"/>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20" name="Shape 14"/>
          <p:cNvSpPr/>
          <p:nvPr/>
        </p:nvSpPr>
        <p:spPr>
          <a:xfrm>
            <a:off x="8343900" y="4190695"/>
            <a:ext cx="3258007"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21" name="Shape 15"/>
          <p:cNvSpPr/>
          <p:nvPr/>
        </p:nvSpPr>
        <p:spPr>
          <a:xfrm>
            <a:off x="9677095" y="381305"/>
            <a:ext cx="1904695" cy="342900"/>
          </a:xfrm>
          <a:prstGeom prst="roundRect">
            <a:avLst>
              <a:gd name="adj" fmla="val 50133"/>
            </a:avLst>
          </a:prstGeom>
          <a:solidFill>
            <a:srgbClr val="2A9D8F"/>
          </a:solidFill>
          <a:ln w="12700">
            <a:solidFill>
              <a:srgbClr val="FFFFFF">
                <a:alpha val="0"/>
              </a:srgbClr>
            </a:solidFill>
            <a:prstDash val="solid"/>
          </a:ln>
        </p:spPr>
        <p:txBody>
          <a:bodyPr/>
          <a:lstStyle/>
          <a:p>
            <a:endParaRPr lang="en-US"/>
          </a:p>
        </p:txBody>
      </p:sp>
      <p:sp>
        <p:nvSpPr>
          <p:cNvPr id="22" name="Text 16"/>
          <p:cNvSpPr txBox="1"/>
          <p:nvPr/>
        </p:nvSpPr>
        <p:spPr>
          <a:xfrm>
            <a:off x="9891065" y="476402"/>
            <a:ext cx="1881835" cy="152705"/>
          </a:xfrm>
          <a:prstGeom prst="rect">
            <a:avLst/>
          </a:prstGeom>
          <a:noFill/>
          <a:ln/>
        </p:spPr>
        <p:txBody>
          <a:bodyPr wrap="none" lIns="0" tIns="0" rIns="0" bIns="0" rtlCol="0" anchor="ctr"/>
          <a:lstStyle/>
          <a:p>
            <a:pPr marL="0" indent="0" algn="l">
              <a:buNone/>
            </a:pPr>
            <a:r>
              <a:rPr lang="en-US" sz="1000" b="1" kern="0" spc="52">
                <a:solidFill>
                  <a:srgbClr val="FFFFFF"/>
                </a:solidFill>
                <a:latin typeface="Roboto Condensed" pitchFamily="34" charset="0"/>
                <a:ea typeface="Roboto Condensed" pitchFamily="34" charset="-122"/>
                <a:cs typeface="Roboto Condensed" pitchFamily="34" charset="-120"/>
              </a:rPr>
              <a:t>Workforce Solutions</a:t>
            </a:r>
            <a:endParaRPr lang="en-US" sz="1000"/>
          </a:p>
        </p:txBody>
      </p:sp>
      <p:sp>
        <p:nvSpPr>
          <p:cNvPr id="23" name="Text 17"/>
          <p:cNvSpPr txBox="1"/>
          <p:nvPr/>
        </p:nvSpPr>
        <p:spPr>
          <a:xfrm>
            <a:off x="760780" y="577088"/>
            <a:ext cx="8438998" cy="409651"/>
          </a:xfrm>
          <a:prstGeom prst="rect">
            <a:avLst/>
          </a:prstGeom>
          <a:noFill/>
          <a:ln/>
        </p:spPr>
        <p:txBody>
          <a:bodyPr wrap="none" lIns="0" tIns="0" rIns="0" bIns="0" rtlCol="0" anchor="ctr"/>
          <a:lstStyle/>
          <a:p>
            <a:pPr marL="0" indent="0" algn="l">
              <a:buNone/>
            </a:pPr>
            <a:r>
              <a:rPr lang="en-US" sz="2500" b="1">
                <a:solidFill>
                  <a:srgbClr val="111827"/>
                </a:solidFill>
                <a:latin typeface="Oswald" pitchFamily="34" charset="0"/>
                <a:ea typeface="Oswald" pitchFamily="34" charset="-122"/>
                <a:cs typeface="Oswald" pitchFamily="34" charset="-120"/>
              </a:rPr>
              <a:t>WORKFORCE SOLUTIONS - HOW WE DELIVER</a:t>
            </a:r>
          </a:p>
          <a:p>
            <a:pPr marL="0" indent="0" algn="l">
              <a:buNone/>
            </a:pPr>
            <a:endParaRPr lang="en-US" sz="2500"/>
          </a:p>
        </p:txBody>
      </p:sp>
      <p:sp>
        <p:nvSpPr>
          <p:cNvPr id="24" name="Text 18"/>
          <p:cNvSpPr txBox="1"/>
          <p:nvPr/>
        </p:nvSpPr>
        <p:spPr>
          <a:xfrm>
            <a:off x="819302" y="822960"/>
            <a:ext cx="8097012" cy="181051"/>
          </a:xfrm>
          <a:prstGeom prst="rect">
            <a:avLst/>
          </a:prstGeom>
          <a:noFill/>
          <a:ln/>
        </p:spPr>
        <p:txBody>
          <a:bodyPr wrap="none" lIns="0" tIns="0" rIns="0" bIns="0" rtlCol="0" anchor="ctr"/>
          <a:lstStyle/>
          <a:p>
            <a:pPr marL="0" indent="0" algn="l">
              <a:buNone/>
            </a:pPr>
            <a:r>
              <a:rPr lang="en-US" sz="1200" b="1" kern="0" spc="60">
                <a:solidFill>
                  <a:srgbClr val="2A9D8F"/>
                </a:solidFill>
                <a:latin typeface="Roboto Condensed" pitchFamily="34" charset="0"/>
                <a:ea typeface="Roboto Condensed" pitchFamily="34" charset="-122"/>
                <a:cs typeface="Roboto Condensed" pitchFamily="34" charset="-120"/>
              </a:rPr>
              <a:t>From sourcing to sprint governance — a structured operating model, not a staffing drop.</a:t>
            </a:r>
          </a:p>
        </p:txBody>
      </p:sp>
      <p:sp>
        <p:nvSpPr>
          <p:cNvPr id="25" name="Text 19"/>
          <p:cNvSpPr txBox="1"/>
          <p:nvPr/>
        </p:nvSpPr>
        <p:spPr>
          <a:xfrm>
            <a:off x="819302" y="1079906"/>
            <a:ext cx="8097012" cy="152705"/>
          </a:xfrm>
          <a:prstGeom prst="rect">
            <a:avLst/>
          </a:prstGeom>
          <a:noFill/>
          <a:ln/>
        </p:spPr>
        <p:txBody>
          <a:bodyPr wrap="none" lIns="0" tIns="0" rIns="0" bIns="0" rtlCol="0" anchor="ctr"/>
          <a:lstStyle/>
          <a:p>
            <a:pPr marL="0" indent="0" algn="l">
              <a:buNone/>
            </a:pPr>
            <a:endParaRPr lang="en-US" sz="1000"/>
          </a:p>
        </p:txBody>
      </p:sp>
      <p:sp>
        <p:nvSpPr>
          <p:cNvPr id="26" name="Text 20"/>
          <p:cNvSpPr txBox="1"/>
          <p:nvPr/>
        </p:nvSpPr>
        <p:spPr>
          <a:xfrm>
            <a:off x="838505" y="1981505"/>
            <a:ext cx="340157" cy="305410"/>
          </a:xfrm>
          <a:prstGeom prst="rect">
            <a:avLst/>
          </a:prstGeom>
          <a:noFill/>
          <a:ln/>
        </p:spPr>
        <p:txBody>
          <a:bodyPr wrap="none" lIns="0" tIns="0" rIns="0" bIns="0" rtlCol="0" anchor="ctr"/>
          <a:lstStyle/>
          <a:p>
            <a:pPr marL="0" indent="0" algn="l">
              <a:buNone/>
            </a:pPr>
            <a:r>
              <a:rPr lang="en-US" sz="2400" b="1">
                <a:solidFill>
                  <a:srgbClr val="2A9D8F"/>
                </a:solidFill>
                <a:latin typeface="Oswald" pitchFamily="34" charset="0"/>
                <a:ea typeface="Oswald" pitchFamily="34" charset="-122"/>
                <a:cs typeface="Oswald" pitchFamily="34" charset="-120"/>
              </a:rPr>
              <a:t>01</a:t>
            </a:r>
            <a:endParaRPr lang="en-US" sz="2400"/>
          </a:p>
        </p:txBody>
      </p:sp>
      <p:sp>
        <p:nvSpPr>
          <p:cNvPr id="27" name="Text 21"/>
          <p:cNvSpPr txBox="1"/>
          <p:nvPr/>
        </p:nvSpPr>
        <p:spPr>
          <a:xfrm>
            <a:off x="1237183" y="1995424"/>
            <a:ext cx="1417320"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Scope &amp; Source</a:t>
            </a:r>
            <a:endParaRPr lang="en-US" sz="1600"/>
          </a:p>
        </p:txBody>
      </p:sp>
      <p:sp>
        <p:nvSpPr>
          <p:cNvPr id="28" name="Text 22"/>
          <p:cNvSpPr txBox="1"/>
          <p:nvPr/>
        </p:nvSpPr>
        <p:spPr>
          <a:xfrm>
            <a:off x="838505" y="242864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Role definition + domain-specific talent pool activation. TalentAI matching + voice-agent pre-screen. Shortlist in 72 hrs.</a:t>
            </a:r>
            <a:endParaRPr lang="en-US" sz="1000"/>
          </a:p>
        </p:txBody>
      </p:sp>
      <p:pic>
        <p:nvPicPr>
          <p:cNvPr id="29" name="Image 4" descr="gen-dedup-68afaceb726e7c14c8688760b973252d.png"/>
          <p:cNvPicPr>
            <a:picLocks noChangeAspect="1"/>
          </p:cNvPicPr>
          <p:nvPr/>
        </p:nvPicPr>
        <p:blipFill>
          <a:blip r:embed="rId7"/>
          <a:srcRect l="-13360" r="-13360"/>
          <a:stretch/>
        </p:blipFill>
        <p:spPr>
          <a:xfrm>
            <a:off x="4062679" y="2648102"/>
            <a:ext cx="181051" cy="228600"/>
          </a:xfrm>
          <a:prstGeom prst="rect">
            <a:avLst/>
          </a:prstGeom>
        </p:spPr>
      </p:pic>
      <p:sp>
        <p:nvSpPr>
          <p:cNvPr id="30" name="Text 23"/>
          <p:cNvSpPr txBox="1"/>
          <p:nvPr/>
        </p:nvSpPr>
        <p:spPr>
          <a:xfrm>
            <a:off x="4705502" y="1981505"/>
            <a:ext cx="391363" cy="305410"/>
          </a:xfrm>
          <a:prstGeom prst="rect">
            <a:avLst/>
          </a:prstGeom>
          <a:noFill/>
          <a:ln/>
        </p:spPr>
        <p:txBody>
          <a:bodyPr wrap="none" lIns="0" tIns="0" rIns="0" bIns="0" rtlCol="0" anchor="ctr"/>
          <a:lstStyle/>
          <a:p>
            <a:pPr marL="0" indent="0" algn="l">
              <a:buNone/>
            </a:pPr>
            <a:r>
              <a:rPr lang="en-US" sz="2400" b="1">
                <a:solidFill>
                  <a:srgbClr val="D62839"/>
                </a:solidFill>
                <a:latin typeface="Oswald" pitchFamily="34" charset="0"/>
                <a:ea typeface="Oswald" pitchFamily="34" charset="-122"/>
                <a:cs typeface="Oswald" pitchFamily="34" charset="-120"/>
              </a:rPr>
              <a:t>02</a:t>
            </a:r>
            <a:endParaRPr lang="en-US" sz="2400"/>
          </a:p>
        </p:txBody>
      </p:sp>
      <p:sp>
        <p:nvSpPr>
          <p:cNvPr id="31" name="Text 24"/>
          <p:cNvSpPr txBox="1"/>
          <p:nvPr/>
        </p:nvSpPr>
        <p:spPr>
          <a:xfrm>
            <a:off x="5144414" y="1995424"/>
            <a:ext cx="839419"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AI-Assess</a:t>
            </a:r>
            <a:endParaRPr lang="en-US" sz="1600"/>
          </a:p>
        </p:txBody>
      </p:sp>
      <p:sp>
        <p:nvSpPr>
          <p:cNvPr id="32" name="Text 25"/>
          <p:cNvSpPr txBox="1"/>
          <p:nvPr/>
        </p:nvSpPr>
        <p:spPr>
          <a:xfrm>
            <a:off x="4705502" y="242864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Live coding + domain scenario assessment via TalentSphere. Technical bar validated by J2W before client interview.</a:t>
            </a:r>
            <a:endParaRPr lang="en-US" sz="1000"/>
          </a:p>
        </p:txBody>
      </p:sp>
      <p:pic>
        <p:nvPicPr>
          <p:cNvPr id="33" name="Image 5" descr="gen-dedup-68afaceb726e7c14c8688760b973252d.png"/>
          <p:cNvPicPr>
            <a:picLocks noChangeAspect="1"/>
          </p:cNvPicPr>
          <p:nvPr/>
        </p:nvPicPr>
        <p:blipFill>
          <a:blip r:embed="rId7"/>
          <a:srcRect l="-13360" r="-13360"/>
          <a:stretch/>
        </p:blipFill>
        <p:spPr>
          <a:xfrm>
            <a:off x="7929677" y="2648102"/>
            <a:ext cx="181051" cy="228600"/>
          </a:xfrm>
          <a:prstGeom prst="rect">
            <a:avLst/>
          </a:prstGeom>
        </p:spPr>
      </p:pic>
      <p:sp>
        <p:nvSpPr>
          <p:cNvPr id="34" name="Text 26"/>
          <p:cNvSpPr txBox="1"/>
          <p:nvPr/>
        </p:nvSpPr>
        <p:spPr>
          <a:xfrm>
            <a:off x="8572500" y="1981505"/>
            <a:ext cx="391363" cy="305410"/>
          </a:xfrm>
          <a:prstGeom prst="rect">
            <a:avLst/>
          </a:prstGeom>
          <a:noFill/>
          <a:ln/>
        </p:spPr>
        <p:txBody>
          <a:bodyPr wrap="none" lIns="0" tIns="0" rIns="0" bIns="0" rtlCol="0" anchor="ctr"/>
          <a:lstStyle/>
          <a:p>
            <a:pPr marL="0" indent="0" algn="l">
              <a:buNone/>
            </a:pPr>
            <a:r>
              <a:rPr lang="en-US" sz="2400" b="1">
                <a:solidFill>
                  <a:srgbClr val="2A9D8F"/>
                </a:solidFill>
                <a:latin typeface="Oswald" pitchFamily="34" charset="0"/>
                <a:ea typeface="Oswald" pitchFamily="34" charset="-122"/>
                <a:cs typeface="Oswald" pitchFamily="34" charset="-120"/>
              </a:rPr>
              <a:t>03</a:t>
            </a:r>
            <a:endParaRPr lang="en-US" sz="2400"/>
          </a:p>
        </p:txBody>
      </p:sp>
      <p:sp>
        <p:nvSpPr>
          <p:cNvPr id="35" name="Text 27"/>
          <p:cNvSpPr txBox="1"/>
          <p:nvPr/>
        </p:nvSpPr>
        <p:spPr>
          <a:xfrm>
            <a:off x="9011412" y="1995424"/>
            <a:ext cx="1553566"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Deploy in 10 Days</a:t>
            </a:r>
            <a:endParaRPr lang="en-US" sz="1600"/>
          </a:p>
        </p:txBody>
      </p:sp>
      <p:sp>
        <p:nvSpPr>
          <p:cNvPr id="36" name="Text 28"/>
          <p:cNvSpPr txBox="1"/>
          <p:nvPr/>
        </p:nvSpPr>
        <p:spPr>
          <a:xfrm>
            <a:off x="8572500" y="242864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Offer → onboarding → Day-1 productivity. J2W payroll, compliance, IT provisioning — fully managed.</a:t>
            </a:r>
            <a:endParaRPr lang="en-US" sz="1000"/>
          </a:p>
        </p:txBody>
      </p:sp>
      <p:pic>
        <p:nvPicPr>
          <p:cNvPr id="37" name="Image 6" descr="gen-dedup-ff9a716cc6b1850cd75acb20aeb0dc17.png"/>
          <p:cNvPicPr>
            <a:picLocks noChangeAspect="1"/>
          </p:cNvPicPr>
          <p:nvPr/>
        </p:nvPicPr>
        <p:blipFill>
          <a:blip r:embed="rId8"/>
          <a:srcRect t="-13131" b="-13131"/>
          <a:stretch/>
        </p:blipFill>
        <p:spPr>
          <a:xfrm>
            <a:off x="9872777" y="3895344"/>
            <a:ext cx="181051" cy="228600"/>
          </a:xfrm>
          <a:prstGeom prst="rect">
            <a:avLst/>
          </a:prstGeom>
        </p:spPr>
      </p:pic>
      <p:sp>
        <p:nvSpPr>
          <p:cNvPr id="38" name="Text 29"/>
          <p:cNvSpPr txBox="1"/>
          <p:nvPr/>
        </p:nvSpPr>
        <p:spPr>
          <a:xfrm>
            <a:off x="838505" y="4457700"/>
            <a:ext cx="391363" cy="305410"/>
          </a:xfrm>
          <a:prstGeom prst="rect">
            <a:avLst/>
          </a:prstGeom>
          <a:noFill/>
          <a:ln/>
        </p:spPr>
        <p:txBody>
          <a:bodyPr wrap="none" lIns="0" tIns="0" rIns="0" bIns="0" rtlCol="0" anchor="ctr"/>
          <a:lstStyle/>
          <a:p>
            <a:pPr marL="0" indent="0" algn="l">
              <a:buNone/>
            </a:pPr>
            <a:r>
              <a:rPr lang="en-US" sz="2400" b="1">
                <a:solidFill>
                  <a:srgbClr val="D62839"/>
                </a:solidFill>
                <a:latin typeface="Oswald" pitchFamily="34" charset="0"/>
                <a:ea typeface="Oswald" pitchFamily="34" charset="-122"/>
                <a:cs typeface="Oswald" pitchFamily="34" charset="-120"/>
              </a:rPr>
              <a:t>04</a:t>
            </a:r>
            <a:endParaRPr lang="en-US" sz="2400"/>
          </a:p>
        </p:txBody>
      </p:sp>
      <p:sp>
        <p:nvSpPr>
          <p:cNvPr id="39" name="Text 30"/>
          <p:cNvSpPr txBox="1"/>
          <p:nvPr/>
        </p:nvSpPr>
        <p:spPr>
          <a:xfrm>
            <a:off x="1280160" y="4472534"/>
            <a:ext cx="1564538"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Govern &amp; Upskill</a:t>
            </a:r>
            <a:endParaRPr lang="en-US" sz="1600"/>
          </a:p>
        </p:txBody>
      </p:sp>
      <p:sp>
        <p:nvSpPr>
          <p:cNvPr id="40" name="Text 31"/>
          <p:cNvSpPr txBox="1"/>
          <p:nvPr/>
        </p:nvSpPr>
        <p:spPr>
          <a:xfrm>
            <a:off x="838505" y="490575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Sprint accountability via Pod Manager. Monthly AI upskilling in J2W Labs. Weekly performance telemetry.</a:t>
            </a:r>
            <a:endParaRPr lang="en-US" sz="1000"/>
          </a:p>
        </p:txBody>
      </p:sp>
      <p:pic>
        <p:nvPicPr>
          <p:cNvPr id="41" name="Image 7" descr="gen-dedup-68afaceb726e7c14c8688760b973252d.png"/>
          <p:cNvPicPr>
            <a:picLocks noChangeAspect="1"/>
          </p:cNvPicPr>
          <p:nvPr/>
        </p:nvPicPr>
        <p:blipFill>
          <a:blip r:embed="rId7"/>
          <a:srcRect l="-13360" r="-13360"/>
          <a:stretch/>
        </p:blipFill>
        <p:spPr>
          <a:xfrm>
            <a:off x="4062679" y="5124298"/>
            <a:ext cx="181051" cy="228600"/>
          </a:xfrm>
          <a:prstGeom prst="rect">
            <a:avLst/>
          </a:prstGeom>
        </p:spPr>
      </p:pic>
      <p:sp>
        <p:nvSpPr>
          <p:cNvPr id="42" name="Text 32"/>
          <p:cNvSpPr txBox="1"/>
          <p:nvPr/>
        </p:nvSpPr>
        <p:spPr>
          <a:xfrm>
            <a:off x="4705502" y="4457700"/>
            <a:ext cx="385877" cy="305410"/>
          </a:xfrm>
          <a:prstGeom prst="rect">
            <a:avLst/>
          </a:prstGeom>
          <a:noFill/>
          <a:ln/>
        </p:spPr>
        <p:txBody>
          <a:bodyPr wrap="none" lIns="0" tIns="0" rIns="0" bIns="0" rtlCol="0" anchor="ctr"/>
          <a:lstStyle/>
          <a:p>
            <a:pPr marL="0" indent="0" algn="l">
              <a:buNone/>
            </a:pPr>
            <a:r>
              <a:rPr lang="en-US" sz="2400" b="1">
                <a:solidFill>
                  <a:srgbClr val="2A9D8F"/>
                </a:solidFill>
                <a:latin typeface="Oswald" pitchFamily="34" charset="0"/>
                <a:ea typeface="Oswald" pitchFamily="34" charset="-122"/>
                <a:cs typeface="Oswald" pitchFamily="34" charset="-120"/>
              </a:rPr>
              <a:t>05</a:t>
            </a:r>
            <a:endParaRPr lang="en-US" sz="2400"/>
          </a:p>
        </p:txBody>
      </p:sp>
      <p:sp>
        <p:nvSpPr>
          <p:cNvPr id="43" name="Text 33"/>
          <p:cNvSpPr txBox="1"/>
          <p:nvPr/>
        </p:nvSpPr>
        <p:spPr>
          <a:xfrm>
            <a:off x="5142586" y="4472534"/>
            <a:ext cx="2018081"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POFU — 90-Day Funnel</a:t>
            </a:r>
            <a:endParaRPr lang="en-US" sz="1600"/>
          </a:p>
        </p:txBody>
      </p:sp>
      <p:sp>
        <p:nvSpPr>
          <p:cNvPr id="44" name="Text 34"/>
          <p:cNvSpPr txBox="1"/>
          <p:nvPr/>
        </p:nvSpPr>
        <p:spPr>
          <a:xfrm>
            <a:off x="4705502" y="4905756"/>
            <a:ext cx="2781605" cy="800100"/>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Post-Offer Follow-Up: milestone touchpoints, counter-offer inoculation, manager connects. Dropout rate → single digits.</a:t>
            </a:r>
            <a:endParaRPr lang="en-US" sz="1000"/>
          </a:p>
        </p:txBody>
      </p:sp>
      <p:pic>
        <p:nvPicPr>
          <p:cNvPr id="45" name="Image 8" descr="gen-dedup-68afaceb726e7c14c8688760b973252d.png"/>
          <p:cNvPicPr>
            <a:picLocks noChangeAspect="1"/>
          </p:cNvPicPr>
          <p:nvPr/>
        </p:nvPicPr>
        <p:blipFill>
          <a:blip r:embed="rId7"/>
          <a:srcRect l="-13360" r="-13360"/>
          <a:stretch/>
        </p:blipFill>
        <p:spPr>
          <a:xfrm>
            <a:off x="7929677" y="5124298"/>
            <a:ext cx="181051" cy="228600"/>
          </a:xfrm>
          <a:prstGeom prst="rect">
            <a:avLst/>
          </a:prstGeom>
        </p:spPr>
      </p:pic>
      <p:sp>
        <p:nvSpPr>
          <p:cNvPr id="46" name="Text 35"/>
          <p:cNvSpPr txBox="1"/>
          <p:nvPr/>
        </p:nvSpPr>
        <p:spPr>
          <a:xfrm>
            <a:off x="8572500" y="4457700"/>
            <a:ext cx="391363" cy="305410"/>
          </a:xfrm>
          <a:prstGeom prst="rect">
            <a:avLst/>
          </a:prstGeom>
          <a:noFill/>
          <a:ln/>
        </p:spPr>
        <p:txBody>
          <a:bodyPr wrap="none" lIns="0" tIns="0" rIns="0" bIns="0" rtlCol="0" anchor="ctr"/>
          <a:lstStyle/>
          <a:p>
            <a:pPr marL="0" indent="0" algn="l">
              <a:buNone/>
            </a:pPr>
            <a:r>
              <a:rPr lang="en-US" sz="2400" b="1">
                <a:solidFill>
                  <a:srgbClr val="D62839"/>
                </a:solidFill>
                <a:latin typeface="Oswald" pitchFamily="34" charset="0"/>
                <a:ea typeface="Oswald" pitchFamily="34" charset="-122"/>
                <a:cs typeface="Oswald" pitchFamily="34" charset="-120"/>
              </a:rPr>
              <a:t>06</a:t>
            </a:r>
            <a:endParaRPr lang="en-US" sz="2400"/>
          </a:p>
        </p:txBody>
      </p:sp>
      <p:sp>
        <p:nvSpPr>
          <p:cNvPr id="47" name="Text 36"/>
          <p:cNvSpPr txBox="1"/>
          <p:nvPr/>
        </p:nvSpPr>
        <p:spPr>
          <a:xfrm>
            <a:off x="9018727" y="4472534"/>
            <a:ext cx="1598371" cy="247802"/>
          </a:xfrm>
          <a:prstGeom prst="rect">
            <a:avLst/>
          </a:prstGeom>
          <a:noFill/>
          <a:ln/>
        </p:spPr>
        <p:txBody>
          <a:bodyPr wrap="none" lIns="0" tIns="0" rIns="0" bIns="0" rtlCol="0" anchor="ctr"/>
          <a:lstStyle/>
          <a:p>
            <a:pPr marL="0" indent="0" algn="l">
              <a:buNone/>
            </a:pPr>
            <a:r>
              <a:rPr lang="en-US" sz="1600" b="1">
                <a:solidFill>
                  <a:srgbClr val="111827"/>
                </a:solidFill>
                <a:latin typeface="Oswald" pitchFamily="34" charset="0"/>
                <a:ea typeface="Oswald" pitchFamily="34" charset="-122"/>
                <a:cs typeface="Oswald" pitchFamily="34" charset="-120"/>
              </a:rPr>
              <a:t>Scale or Convert</a:t>
            </a:r>
            <a:endParaRPr lang="en-US" sz="1600"/>
          </a:p>
        </p:txBody>
      </p:sp>
      <p:sp>
        <p:nvSpPr>
          <p:cNvPr id="48" name="Text 37"/>
          <p:cNvSpPr txBox="1"/>
          <p:nvPr/>
        </p:nvSpPr>
        <p:spPr>
          <a:xfrm>
            <a:off x="8572500" y="4905756"/>
            <a:ext cx="2781605" cy="600761"/>
          </a:xfrm>
          <a:prstGeom prst="rect">
            <a:avLst/>
          </a:prstGeom>
          <a:noFill/>
          <a:ln/>
        </p:spPr>
        <p:txBody>
          <a:bodyPr wrap="square" lIns="0" tIns="0" rIns="0" bIns="0" rtlCol="0" anchor="ctr"/>
          <a:lstStyle/>
          <a:p>
            <a:pPr marL="0" indent="0" algn="l">
              <a:buNone/>
            </a:pPr>
            <a:r>
              <a:rPr lang="en-US" sz="1000">
                <a:solidFill>
                  <a:srgbClr val="4B5563"/>
                </a:solidFill>
                <a:latin typeface="Raleway" pitchFamily="34" charset="0"/>
                <a:ea typeface="Raleway" pitchFamily="34" charset="-122"/>
                <a:cs typeface="Raleway" pitchFamily="34" charset="-120"/>
              </a:rPr>
              <a:t>C2H → permanent conversion on Day 91. Scale the pod up or down. Quarterly Business Review with ROI data.</a:t>
            </a:r>
            <a:endParaRPr lang="en-US" sz="100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858707" y="-952805"/>
            <a:ext cx="3810305" cy="3810305"/>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gen-dedup-debd4e3596836e8640379be3057665ef.png"/>
          <p:cNvPicPr>
            <a:picLocks noChangeAspect="1"/>
          </p:cNvPicPr>
          <p:nvPr/>
        </p:nvPicPr>
        <p:blipFill>
          <a:blip r:embed="rId3">
            <a:alphaModFix amt="5000"/>
          </a:blip>
          <a:srcRect/>
          <a:stretch/>
        </p:blipFill>
        <p:spPr>
          <a:xfrm>
            <a:off x="-761695" y="3238805"/>
            <a:ext cx="2857500" cy="2857500"/>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b359e3fa59182a7dfb1cf9bffd3421a2.png"/>
          <p:cNvPicPr>
            <a:picLocks noChangeAspect="1"/>
          </p:cNvPicPr>
          <p:nvPr/>
        </p:nvPicPr>
        <p:blipFill>
          <a:blip r:embed="rId6"/>
          <a:srcRect l="-375" r="-375"/>
          <a:stretch/>
        </p:blipFill>
        <p:spPr>
          <a:xfrm>
            <a:off x="609905" y="457200"/>
            <a:ext cx="57607" cy="609905"/>
          </a:xfrm>
          <a:prstGeom prst="rect">
            <a:avLst/>
          </a:prstGeom>
        </p:spPr>
      </p:pic>
      <p:sp>
        <p:nvSpPr>
          <p:cNvPr id="9" name="Shape 3"/>
          <p:cNvSpPr/>
          <p:nvPr/>
        </p:nvSpPr>
        <p:spPr>
          <a:xfrm>
            <a:off x="609905" y="1524305"/>
            <a:ext cx="2704795" cy="514807"/>
          </a:xfrm>
          <a:prstGeom prst="roundRect">
            <a:avLst>
              <a:gd name="adj" fmla="val 14742"/>
            </a:avLst>
          </a:prstGeom>
          <a:solidFill>
            <a:srgbClr val="FEF2F2"/>
          </a:solidFill>
          <a:ln w="12700">
            <a:solidFill>
              <a:srgbClr val="FCA5A5"/>
            </a:solidFill>
            <a:prstDash val="solid"/>
          </a:ln>
        </p:spPr>
        <p:txBody>
          <a:bodyPr/>
          <a:lstStyle/>
          <a:p>
            <a:endParaRPr lang="en-US"/>
          </a:p>
        </p:txBody>
      </p:sp>
      <p:sp>
        <p:nvSpPr>
          <p:cNvPr id="10" name="Shape 4"/>
          <p:cNvSpPr/>
          <p:nvPr/>
        </p:nvSpPr>
        <p:spPr>
          <a:xfrm>
            <a:off x="609905" y="2286000"/>
            <a:ext cx="5352898" cy="1524305"/>
          </a:xfrm>
          <a:prstGeom prst="roundRect">
            <a:avLst>
              <a:gd name="adj" fmla="val 4979"/>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1" name="Shape 5"/>
          <p:cNvSpPr/>
          <p:nvPr/>
        </p:nvSpPr>
        <p:spPr>
          <a:xfrm>
            <a:off x="609905" y="2286000"/>
            <a:ext cx="5352898"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2" name="Shape 6"/>
          <p:cNvSpPr/>
          <p:nvPr/>
        </p:nvSpPr>
        <p:spPr>
          <a:xfrm>
            <a:off x="6248095" y="2286000"/>
            <a:ext cx="5352898" cy="1524305"/>
          </a:xfrm>
          <a:prstGeom prst="roundRect">
            <a:avLst>
              <a:gd name="adj" fmla="val 4979"/>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3" name="Shape 7"/>
          <p:cNvSpPr/>
          <p:nvPr/>
        </p:nvSpPr>
        <p:spPr>
          <a:xfrm>
            <a:off x="6248095" y="2286000"/>
            <a:ext cx="5352898"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14" name="Shape 8"/>
          <p:cNvSpPr/>
          <p:nvPr/>
        </p:nvSpPr>
        <p:spPr>
          <a:xfrm>
            <a:off x="609905" y="3952951"/>
            <a:ext cx="5352898" cy="1524305"/>
          </a:xfrm>
          <a:prstGeom prst="roundRect">
            <a:avLst>
              <a:gd name="adj" fmla="val 4979"/>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5" name="Shape 9"/>
          <p:cNvSpPr/>
          <p:nvPr/>
        </p:nvSpPr>
        <p:spPr>
          <a:xfrm>
            <a:off x="609905" y="3952951"/>
            <a:ext cx="5352898" cy="38405"/>
          </a:xfrm>
          <a:prstGeom prst="roundRect">
            <a:avLst>
              <a:gd name="adj" fmla="val 197618"/>
            </a:avLst>
          </a:prstGeom>
          <a:solidFill>
            <a:srgbClr val="D62839"/>
          </a:solidFill>
          <a:ln w="12700">
            <a:solidFill>
              <a:srgbClr val="D62839">
                <a:alpha val="0"/>
              </a:srgbClr>
            </a:solidFill>
            <a:prstDash val="solid"/>
          </a:ln>
        </p:spPr>
        <p:txBody>
          <a:bodyPr/>
          <a:lstStyle/>
          <a:p>
            <a:endParaRPr lang="en-US"/>
          </a:p>
        </p:txBody>
      </p:sp>
      <p:sp>
        <p:nvSpPr>
          <p:cNvPr id="16" name="Shape 10"/>
          <p:cNvSpPr/>
          <p:nvPr/>
        </p:nvSpPr>
        <p:spPr>
          <a:xfrm>
            <a:off x="6248095" y="3952951"/>
            <a:ext cx="5352898" cy="1524305"/>
          </a:xfrm>
          <a:prstGeom prst="roundRect">
            <a:avLst>
              <a:gd name="adj" fmla="val 4979"/>
            </a:avLst>
          </a:prstGeom>
          <a:solidFill>
            <a:srgbClr val="FFFFFF"/>
          </a:solidFill>
          <a:ln w="12700">
            <a:solidFill>
              <a:srgbClr val="E2E8F0"/>
            </a:solidFill>
            <a:prstDash val="solid"/>
          </a:ln>
          <a:effectLst>
            <a:outerShdw blurRad="63500" dist="38100" dir="16200000" algn="bl" rotWithShape="0">
              <a:srgbClr val="000000">
                <a:alpha val="5000"/>
              </a:srgbClr>
            </a:outerShdw>
          </a:effectLst>
        </p:spPr>
        <p:txBody>
          <a:bodyPr/>
          <a:lstStyle/>
          <a:p>
            <a:endParaRPr lang="en-US"/>
          </a:p>
        </p:txBody>
      </p:sp>
      <p:sp>
        <p:nvSpPr>
          <p:cNvPr id="17" name="Shape 11"/>
          <p:cNvSpPr/>
          <p:nvPr/>
        </p:nvSpPr>
        <p:spPr>
          <a:xfrm>
            <a:off x="6248095" y="3952951"/>
            <a:ext cx="5352898" cy="38405"/>
          </a:xfrm>
          <a:prstGeom prst="roundRect">
            <a:avLst>
              <a:gd name="adj" fmla="val 197618"/>
            </a:avLst>
          </a:prstGeom>
          <a:solidFill>
            <a:srgbClr val="2A9D8F"/>
          </a:solidFill>
          <a:ln w="12700">
            <a:solidFill>
              <a:srgbClr val="2A9D8F">
                <a:alpha val="0"/>
              </a:srgbClr>
            </a:solidFill>
            <a:prstDash val="solid"/>
          </a:ln>
        </p:spPr>
        <p:txBody>
          <a:bodyPr/>
          <a:lstStyle/>
          <a:p>
            <a:endParaRPr lang="en-US"/>
          </a:p>
        </p:txBody>
      </p:sp>
      <p:sp>
        <p:nvSpPr>
          <p:cNvPr id="18" name="Shape 12"/>
          <p:cNvSpPr/>
          <p:nvPr/>
        </p:nvSpPr>
        <p:spPr>
          <a:xfrm>
            <a:off x="609905" y="5715000"/>
            <a:ext cx="10972800" cy="857707"/>
          </a:xfrm>
          <a:prstGeom prst="roundRect">
            <a:avLst>
              <a:gd name="adj" fmla="val 8849"/>
            </a:avLst>
          </a:prstGeom>
          <a:solidFill>
            <a:srgbClr val="111827"/>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sp>
        <p:nvSpPr>
          <p:cNvPr id="19" name="Shape 13"/>
          <p:cNvSpPr/>
          <p:nvPr/>
        </p:nvSpPr>
        <p:spPr>
          <a:xfrm>
            <a:off x="9677095" y="381305"/>
            <a:ext cx="1904695" cy="342900"/>
          </a:xfrm>
          <a:prstGeom prst="roundRect">
            <a:avLst>
              <a:gd name="adj" fmla="val 50133"/>
            </a:avLst>
          </a:prstGeom>
          <a:solidFill>
            <a:srgbClr val="2A9D8F"/>
          </a:solidFill>
          <a:ln w="12700">
            <a:solidFill>
              <a:srgbClr val="FFFFFF">
                <a:alpha val="0"/>
              </a:srgbClr>
            </a:solidFill>
            <a:prstDash val="solid"/>
          </a:ln>
        </p:spPr>
        <p:txBody>
          <a:bodyPr/>
          <a:lstStyle/>
          <a:p>
            <a:endParaRPr lang="en-US"/>
          </a:p>
        </p:txBody>
      </p:sp>
      <p:sp>
        <p:nvSpPr>
          <p:cNvPr id="20" name="Text 14"/>
          <p:cNvSpPr txBox="1"/>
          <p:nvPr/>
        </p:nvSpPr>
        <p:spPr>
          <a:xfrm>
            <a:off x="9891065" y="476402"/>
            <a:ext cx="1881835" cy="152705"/>
          </a:xfrm>
          <a:prstGeom prst="rect">
            <a:avLst/>
          </a:prstGeom>
          <a:noFill/>
          <a:ln/>
        </p:spPr>
        <p:txBody>
          <a:bodyPr wrap="none" lIns="0" tIns="0" rIns="0" bIns="0" rtlCol="0" anchor="ctr"/>
          <a:lstStyle/>
          <a:p>
            <a:pPr marL="0" indent="0" algn="l">
              <a:buNone/>
            </a:pPr>
            <a:r>
              <a:rPr lang="en-US" sz="1000" b="1" kern="0" spc="52">
                <a:solidFill>
                  <a:srgbClr val="FFFFFF"/>
                </a:solidFill>
                <a:latin typeface="Roboto Condensed" pitchFamily="34" charset="0"/>
                <a:ea typeface="Roboto Condensed" pitchFamily="34" charset="-122"/>
                <a:cs typeface="Roboto Condensed" pitchFamily="34" charset="-120"/>
              </a:rPr>
              <a:t>Workforce Solutions</a:t>
            </a:r>
            <a:endParaRPr lang="en-US" sz="1000"/>
          </a:p>
        </p:txBody>
      </p:sp>
      <p:sp>
        <p:nvSpPr>
          <p:cNvPr id="21" name="Text 15"/>
          <p:cNvSpPr txBox="1"/>
          <p:nvPr/>
        </p:nvSpPr>
        <p:spPr>
          <a:xfrm>
            <a:off x="819302" y="381305"/>
            <a:ext cx="8097012" cy="409651"/>
          </a:xfrm>
          <a:prstGeom prst="rect">
            <a:avLst/>
          </a:prstGeom>
          <a:noFill/>
          <a:ln/>
        </p:spPr>
        <p:txBody>
          <a:bodyPr wrap="none" lIns="0" tIns="0" rIns="0" bIns="0" rtlCol="0" anchor="ctr"/>
          <a:lstStyle/>
          <a:p>
            <a:pPr marL="0" indent="0" algn="l">
              <a:buNone/>
            </a:pPr>
            <a:r>
              <a:rPr lang="en-US" sz="2500" b="1">
                <a:solidFill>
                  <a:srgbClr val="111827"/>
                </a:solidFill>
                <a:latin typeface="Oswald" pitchFamily="34" charset="0"/>
                <a:ea typeface="Oswald" pitchFamily="34" charset="-122"/>
                <a:cs typeface="Oswald" pitchFamily="34" charset="-120"/>
              </a:rPr>
              <a:t>CLIENT CONTEXT</a:t>
            </a:r>
            <a:endParaRPr lang="en-US" sz="2500"/>
          </a:p>
        </p:txBody>
      </p:sp>
      <p:sp>
        <p:nvSpPr>
          <p:cNvPr id="22" name="Text 16"/>
          <p:cNvSpPr txBox="1"/>
          <p:nvPr/>
        </p:nvSpPr>
        <p:spPr>
          <a:xfrm>
            <a:off x="819302" y="822960"/>
            <a:ext cx="8097012" cy="181051"/>
          </a:xfrm>
          <a:prstGeom prst="rect">
            <a:avLst/>
          </a:prstGeom>
          <a:noFill/>
          <a:ln/>
        </p:spPr>
        <p:txBody>
          <a:bodyPr wrap="none" lIns="0" tIns="0" rIns="0" bIns="0" rtlCol="0" anchor="ctr"/>
          <a:lstStyle/>
          <a:p>
            <a:pPr marL="0" indent="0" algn="l">
              <a:buNone/>
            </a:pPr>
            <a:r>
              <a:rPr lang="en-US" sz="1200" b="1" kern="0" spc="60">
                <a:solidFill>
                  <a:srgbClr val="2A9D8F"/>
                </a:solidFill>
                <a:latin typeface="Roboto Condensed" pitchFamily="34" charset="0"/>
                <a:ea typeface="Roboto Condensed" pitchFamily="34" charset="-122"/>
                <a:cs typeface="Roboto Condensed" pitchFamily="34" charset="-120"/>
              </a:rPr>
              <a:t>[CLIENT NAME] — Talent Challenges Identified</a:t>
            </a:r>
            <a:endParaRPr lang="en-US" sz="1200"/>
          </a:p>
        </p:txBody>
      </p:sp>
      <p:sp>
        <p:nvSpPr>
          <p:cNvPr id="23" name="Text 17"/>
          <p:cNvSpPr txBox="1"/>
          <p:nvPr/>
        </p:nvSpPr>
        <p:spPr>
          <a:xfrm>
            <a:off x="819302" y="1079906"/>
            <a:ext cx="8097012" cy="152705"/>
          </a:xfrm>
          <a:prstGeom prst="rect">
            <a:avLst/>
          </a:prstGeom>
          <a:noFill/>
          <a:ln/>
        </p:spPr>
        <p:txBody>
          <a:bodyPr wrap="none" lIns="0" tIns="0" rIns="0" bIns="0" rtlCol="0" anchor="ctr"/>
          <a:lstStyle/>
          <a:p>
            <a:pPr marL="0" indent="0" algn="l">
              <a:buNone/>
            </a:pPr>
            <a:r>
              <a:rPr lang="en-US" sz="1000" b="1">
                <a:solidFill>
                  <a:srgbClr val="4B5563"/>
                </a:solidFill>
                <a:latin typeface="Raleway" pitchFamily="34" charset="0"/>
                <a:ea typeface="Raleway" pitchFamily="34" charset="-122"/>
                <a:cs typeface="Raleway" pitchFamily="34" charset="-120"/>
              </a:rPr>
              <a:t>Identified during discovery session — [DATE]</a:t>
            </a:r>
            <a:endParaRPr lang="en-US" sz="1000"/>
          </a:p>
        </p:txBody>
      </p:sp>
      <p:pic>
        <p:nvPicPr>
          <p:cNvPr id="24" name="Image 4" descr="gen-dedup-d103097e730368316f78abf5dde7d335.png"/>
          <p:cNvPicPr>
            <a:picLocks noChangeAspect="1"/>
          </p:cNvPicPr>
          <p:nvPr/>
        </p:nvPicPr>
        <p:blipFill>
          <a:blip r:embed="rId7"/>
          <a:srcRect t="-16800" b="-16800"/>
          <a:stretch/>
        </p:blipFill>
        <p:spPr>
          <a:xfrm>
            <a:off x="819302" y="1695298"/>
            <a:ext cx="114300" cy="152705"/>
          </a:xfrm>
          <a:prstGeom prst="rect">
            <a:avLst/>
          </a:prstGeom>
        </p:spPr>
      </p:pic>
      <p:sp>
        <p:nvSpPr>
          <p:cNvPr id="25" name="Text 18"/>
          <p:cNvSpPr txBox="1"/>
          <p:nvPr/>
        </p:nvSpPr>
        <p:spPr>
          <a:xfrm>
            <a:off x="1067105" y="1666951"/>
            <a:ext cx="2211019" cy="210312"/>
          </a:xfrm>
          <a:prstGeom prst="rect">
            <a:avLst/>
          </a:prstGeom>
          <a:noFill/>
          <a:ln/>
        </p:spPr>
        <p:txBody>
          <a:bodyPr wrap="none" lIns="0" tIns="0" rIns="0" bIns="0" rtlCol="0" anchor="ctr"/>
          <a:lstStyle/>
          <a:p>
            <a:pPr marL="0" indent="0" algn="l">
              <a:buNone/>
            </a:pPr>
            <a:r>
              <a:rPr lang="en-US" sz="1600" b="1">
                <a:solidFill>
                  <a:srgbClr val="D62839"/>
                </a:solidFill>
                <a:latin typeface="Oswald" pitchFamily="34" charset="0"/>
                <a:ea typeface="Oswald" pitchFamily="34" charset="-122"/>
                <a:cs typeface="Oswald" pitchFamily="34" charset="-120"/>
              </a:rPr>
              <a:t>[X]% Offer Drop Rate</a:t>
            </a:r>
            <a:endParaRPr lang="en-US" sz="1600"/>
          </a:p>
        </p:txBody>
      </p:sp>
      <p:sp>
        <p:nvSpPr>
          <p:cNvPr id="26" name="Text 19"/>
          <p:cNvSpPr txBox="1"/>
          <p:nvPr/>
        </p:nvSpPr>
        <p:spPr>
          <a:xfrm>
            <a:off x="838505" y="2476195"/>
            <a:ext cx="306324" cy="267005"/>
          </a:xfrm>
          <a:prstGeom prst="rect">
            <a:avLst/>
          </a:prstGeom>
          <a:noFill/>
          <a:ln/>
        </p:spPr>
        <p:txBody>
          <a:bodyPr wrap="none" lIns="0" tIns="0" rIns="0" bIns="0" rtlCol="0" anchor="ctr"/>
          <a:lstStyle/>
          <a:p>
            <a:pPr marL="0" indent="0" algn="l">
              <a:buNone/>
            </a:pPr>
            <a:r>
              <a:rPr lang="en-US" sz="2100" b="1">
                <a:solidFill>
                  <a:srgbClr val="2A9D8F"/>
                </a:solidFill>
                <a:latin typeface="Oswald" pitchFamily="34" charset="0"/>
                <a:ea typeface="Oswald" pitchFamily="34" charset="-122"/>
                <a:cs typeface="Oswald" pitchFamily="34" charset="-120"/>
              </a:rPr>
              <a:t>01</a:t>
            </a:r>
            <a:endParaRPr lang="en-US" sz="2100"/>
          </a:p>
        </p:txBody>
      </p:sp>
      <p:sp>
        <p:nvSpPr>
          <p:cNvPr id="27" name="Text 20"/>
          <p:cNvSpPr txBox="1"/>
          <p:nvPr/>
        </p:nvSpPr>
        <p:spPr>
          <a:xfrm>
            <a:off x="1201522" y="2495398"/>
            <a:ext cx="1848002" cy="286207"/>
          </a:xfrm>
          <a:prstGeom prst="rect">
            <a:avLst/>
          </a:prstGeom>
          <a:noFill/>
          <a:ln/>
        </p:spPr>
        <p:txBody>
          <a:bodyPr wrap="none" lIns="0" tIns="0" rIns="0" bIns="0" rtlCol="0" anchor="ctr"/>
          <a:lstStyle/>
          <a:p>
            <a:pPr marL="0" indent="0" algn="l">
              <a:buNone/>
            </a:pPr>
            <a:r>
              <a:rPr lang="en-US" sz="1500" b="1">
                <a:solidFill>
                  <a:srgbClr val="111827"/>
                </a:solidFill>
                <a:latin typeface="Oswald" pitchFamily="34" charset="0"/>
                <a:ea typeface="Oswald" pitchFamily="34" charset="-122"/>
                <a:cs typeface="Oswald" pitchFamily="34" charset="-120"/>
              </a:rPr>
              <a:t>[Challenge 1 Title]</a:t>
            </a:r>
            <a:endParaRPr lang="en-US" sz="1500"/>
          </a:p>
        </p:txBody>
      </p:sp>
      <p:sp>
        <p:nvSpPr>
          <p:cNvPr id="28" name="Text 21"/>
          <p:cNvSpPr txBox="1"/>
          <p:nvPr/>
        </p:nvSpPr>
        <p:spPr>
          <a:xfrm>
            <a:off x="838505" y="2895905"/>
            <a:ext cx="4877410" cy="428854"/>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e.g. 90-Day Notice Period — Extended windows enable offer shopping, joining-day dropouts and wasted recruitment effort.</a:t>
            </a:r>
            <a:endParaRPr lang="en-US" sz="1100"/>
          </a:p>
        </p:txBody>
      </p:sp>
      <p:sp>
        <p:nvSpPr>
          <p:cNvPr id="29" name="Text 22"/>
          <p:cNvSpPr txBox="1"/>
          <p:nvPr/>
        </p:nvSpPr>
        <p:spPr>
          <a:xfrm>
            <a:off x="6476695" y="2476195"/>
            <a:ext cx="340157" cy="267005"/>
          </a:xfrm>
          <a:prstGeom prst="rect">
            <a:avLst/>
          </a:prstGeom>
          <a:noFill/>
          <a:ln/>
        </p:spPr>
        <p:txBody>
          <a:bodyPr wrap="none" lIns="0" tIns="0" rIns="0" bIns="0" rtlCol="0" anchor="ctr"/>
          <a:lstStyle/>
          <a:p>
            <a:pPr marL="0" indent="0" algn="l">
              <a:buNone/>
            </a:pPr>
            <a:r>
              <a:rPr lang="en-US" sz="2100" b="1">
                <a:solidFill>
                  <a:srgbClr val="D62839"/>
                </a:solidFill>
                <a:latin typeface="Oswald" pitchFamily="34" charset="0"/>
                <a:ea typeface="Oswald" pitchFamily="34" charset="-122"/>
                <a:cs typeface="Oswald" pitchFamily="34" charset="-120"/>
              </a:rPr>
              <a:t>02</a:t>
            </a:r>
            <a:endParaRPr lang="en-US" sz="2100"/>
          </a:p>
        </p:txBody>
      </p:sp>
      <p:sp>
        <p:nvSpPr>
          <p:cNvPr id="30" name="Text 23"/>
          <p:cNvSpPr txBox="1"/>
          <p:nvPr/>
        </p:nvSpPr>
        <p:spPr>
          <a:xfrm>
            <a:off x="6875374" y="2495398"/>
            <a:ext cx="1881835" cy="286207"/>
          </a:xfrm>
          <a:prstGeom prst="rect">
            <a:avLst/>
          </a:prstGeom>
          <a:noFill/>
          <a:ln/>
        </p:spPr>
        <p:txBody>
          <a:bodyPr wrap="none" lIns="0" tIns="0" rIns="0" bIns="0" rtlCol="0" anchor="ctr"/>
          <a:lstStyle/>
          <a:p>
            <a:pPr marL="0" indent="0" algn="l">
              <a:buNone/>
            </a:pPr>
            <a:r>
              <a:rPr lang="en-US" sz="1500" b="1">
                <a:solidFill>
                  <a:srgbClr val="111827"/>
                </a:solidFill>
                <a:latin typeface="Oswald" pitchFamily="34" charset="0"/>
                <a:ea typeface="Oswald" pitchFamily="34" charset="-122"/>
                <a:cs typeface="Oswald" pitchFamily="34" charset="-120"/>
              </a:rPr>
              <a:t>[Challenge 2 Title]</a:t>
            </a:r>
            <a:endParaRPr lang="en-US" sz="1500"/>
          </a:p>
        </p:txBody>
      </p:sp>
      <p:sp>
        <p:nvSpPr>
          <p:cNvPr id="31" name="Text 24"/>
          <p:cNvSpPr txBox="1"/>
          <p:nvPr/>
        </p:nvSpPr>
        <p:spPr>
          <a:xfrm>
            <a:off x="6476695" y="2895905"/>
            <a:ext cx="4877410" cy="428854"/>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e.g. 5-Day WFO Resistance — Post-COVID candidates resist full office return; qualified talent pool shrinks for mandatory in-office roles.</a:t>
            </a:r>
            <a:endParaRPr lang="en-US" sz="1100"/>
          </a:p>
        </p:txBody>
      </p:sp>
      <p:sp>
        <p:nvSpPr>
          <p:cNvPr id="32" name="Text 25"/>
          <p:cNvSpPr txBox="1"/>
          <p:nvPr/>
        </p:nvSpPr>
        <p:spPr>
          <a:xfrm>
            <a:off x="838505" y="4143146"/>
            <a:ext cx="340157" cy="267005"/>
          </a:xfrm>
          <a:prstGeom prst="rect">
            <a:avLst/>
          </a:prstGeom>
          <a:noFill/>
          <a:ln/>
        </p:spPr>
        <p:txBody>
          <a:bodyPr wrap="none" lIns="0" tIns="0" rIns="0" bIns="0" rtlCol="0" anchor="ctr"/>
          <a:lstStyle/>
          <a:p>
            <a:pPr marL="0" indent="0" algn="l">
              <a:buNone/>
            </a:pPr>
            <a:r>
              <a:rPr lang="en-US" sz="2100" b="1">
                <a:solidFill>
                  <a:srgbClr val="D62839"/>
                </a:solidFill>
                <a:latin typeface="Oswald" pitchFamily="34" charset="0"/>
                <a:ea typeface="Oswald" pitchFamily="34" charset="-122"/>
                <a:cs typeface="Oswald" pitchFamily="34" charset="-120"/>
              </a:rPr>
              <a:t>03</a:t>
            </a:r>
            <a:endParaRPr lang="en-US" sz="2100"/>
          </a:p>
        </p:txBody>
      </p:sp>
      <p:sp>
        <p:nvSpPr>
          <p:cNvPr id="33" name="Text 26"/>
          <p:cNvSpPr txBox="1"/>
          <p:nvPr/>
        </p:nvSpPr>
        <p:spPr>
          <a:xfrm>
            <a:off x="1236269" y="4162349"/>
            <a:ext cx="1881835" cy="286207"/>
          </a:xfrm>
          <a:prstGeom prst="rect">
            <a:avLst/>
          </a:prstGeom>
          <a:noFill/>
          <a:ln/>
        </p:spPr>
        <p:txBody>
          <a:bodyPr wrap="none" lIns="0" tIns="0" rIns="0" bIns="0" rtlCol="0" anchor="ctr"/>
          <a:lstStyle/>
          <a:p>
            <a:pPr marL="0" indent="0" algn="l">
              <a:buNone/>
            </a:pPr>
            <a:r>
              <a:rPr lang="en-US" sz="1500" b="1">
                <a:solidFill>
                  <a:srgbClr val="111827"/>
                </a:solidFill>
                <a:latin typeface="Oswald" pitchFamily="34" charset="0"/>
                <a:ea typeface="Oswald" pitchFamily="34" charset="-122"/>
                <a:cs typeface="Oswald" pitchFamily="34" charset="-120"/>
              </a:rPr>
              <a:t>[Challenge 3 Title]</a:t>
            </a:r>
            <a:endParaRPr lang="en-US" sz="1500"/>
          </a:p>
        </p:txBody>
      </p:sp>
      <p:sp>
        <p:nvSpPr>
          <p:cNvPr id="34" name="Text 27"/>
          <p:cNvSpPr txBox="1"/>
          <p:nvPr/>
        </p:nvSpPr>
        <p:spPr>
          <a:xfrm>
            <a:off x="838505" y="4562856"/>
            <a:ext cx="4877410" cy="428854"/>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e.g. Niche Skill Pool — 50% of hires are CAs (≤5 yrs exp). Intense competition from Big 4s and other captives for limited talent.</a:t>
            </a:r>
            <a:endParaRPr lang="en-US" sz="1100"/>
          </a:p>
        </p:txBody>
      </p:sp>
      <p:sp>
        <p:nvSpPr>
          <p:cNvPr id="35" name="Text 28"/>
          <p:cNvSpPr txBox="1"/>
          <p:nvPr/>
        </p:nvSpPr>
        <p:spPr>
          <a:xfrm>
            <a:off x="6476695" y="4143146"/>
            <a:ext cx="342900" cy="267005"/>
          </a:xfrm>
          <a:prstGeom prst="rect">
            <a:avLst/>
          </a:prstGeom>
          <a:noFill/>
          <a:ln/>
        </p:spPr>
        <p:txBody>
          <a:bodyPr wrap="none" lIns="0" tIns="0" rIns="0" bIns="0" rtlCol="0" anchor="ctr"/>
          <a:lstStyle/>
          <a:p>
            <a:pPr marL="0" indent="0" algn="l">
              <a:buNone/>
            </a:pPr>
            <a:r>
              <a:rPr lang="en-US" sz="2100" b="1">
                <a:solidFill>
                  <a:srgbClr val="2A9D8F"/>
                </a:solidFill>
                <a:latin typeface="Oswald" pitchFamily="34" charset="0"/>
                <a:ea typeface="Oswald" pitchFamily="34" charset="-122"/>
                <a:cs typeface="Oswald" pitchFamily="34" charset="-120"/>
              </a:rPr>
              <a:t>04</a:t>
            </a:r>
            <a:endParaRPr lang="en-US" sz="2100"/>
          </a:p>
        </p:txBody>
      </p:sp>
      <p:sp>
        <p:nvSpPr>
          <p:cNvPr id="36" name="Text 29"/>
          <p:cNvSpPr txBox="1"/>
          <p:nvPr/>
        </p:nvSpPr>
        <p:spPr>
          <a:xfrm>
            <a:off x="6878117" y="4162349"/>
            <a:ext cx="1881835" cy="286207"/>
          </a:xfrm>
          <a:prstGeom prst="rect">
            <a:avLst/>
          </a:prstGeom>
          <a:noFill/>
          <a:ln/>
        </p:spPr>
        <p:txBody>
          <a:bodyPr wrap="none" lIns="0" tIns="0" rIns="0" bIns="0" rtlCol="0" anchor="ctr"/>
          <a:lstStyle/>
          <a:p>
            <a:pPr marL="0" indent="0" algn="l">
              <a:buNone/>
            </a:pPr>
            <a:r>
              <a:rPr lang="en-US" sz="1500" b="1">
                <a:solidFill>
                  <a:srgbClr val="111827"/>
                </a:solidFill>
                <a:latin typeface="Oswald" pitchFamily="34" charset="0"/>
                <a:ea typeface="Oswald" pitchFamily="34" charset="-122"/>
                <a:cs typeface="Oswald" pitchFamily="34" charset="-120"/>
              </a:rPr>
              <a:t>[Challenge 4 Title]</a:t>
            </a:r>
            <a:endParaRPr lang="en-US" sz="1500"/>
          </a:p>
        </p:txBody>
      </p:sp>
      <p:sp>
        <p:nvSpPr>
          <p:cNvPr id="37" name="Text 30"/>
          <p:cNvSpPr txBox="1"/>
          <p:nvPr/>
        </p:nvSpPr>
        <p:spPr>
          <a:xfrm>
            <a:off x="6476695" y="4562856"/>
            <a:ext cx="4877410" cy="428854"/>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e.g. Sporadic Demand — 8–10 roles max per BU creates unpredictable, low-volume patterns. Hard to maintain dedicated pipeline.</a:t>
            </a:r>
            <a:endParaRPr lang="en-US" sz="1100"/>
          </a:p>
        </p:txBody>
      </p:sp>
      <p:sp>
        <p:nvSpPr>
          <p:cNvPr id="38" name="Text 31"/>
          <p:cNvSpPr txBox="1"/>
          <p:nvPr/>
        </p:nvSpPr>
        <p:spPr>
          <a:xfrm>
            <a:off x="972007" y="5857646"/>
            <a:ext cx="2553005" cy="257861"/>
          </a:xfrm>
          <a:prstGeom prst="rect">
            <a:avLst/>
          </a:prstGeom>
          <a:noFill/>
          <a:ln/>
        </p:spPr>
        <p:txBody>
          <a:bodyPr wrap="none" lIns="0" tIns="0" rIns="0" bIns="0" rtlCol="0" anchor="ctr"/>
          <a:lstStyle/>
          <a:p>
            <a:pPr marL="0" indent="0" algn="l">
              <a:buNone/>
            </a:pPr>
            <a:r>
              <a:rPr lang="en-US" sz="1600" b="1">
                <a:solidFill>
                  <a:srgbClr val="2A9D8F"/>
                </a:solidFill>
                <a:latin typeface="Oswald" pitchFamily="34" charset="0"/>
                <a:ea typeface="Oswald" pitchFamily="34" charset="-122"/>
                <a:cs typeface="Oswald" pitchFamily="34" charset="-120"/>
              </a:rPr>
              <a:t>[X] people strong</a:t>
            </a:r>
            <a:endParaRPr lang="en-US" sz="1600"/>
          </a:p>
        </p:txBody>
      </p:sp>
      <p:sp>
        <p:nvSpPr>
          <p:cNvPr id="39" name="Text 32"/>
          <p:cNvSpPr txBox="1"/>
          <p:nvPr/>
        </p:nvSpPr>
        <p:spPr>
          <a:xfrm>
            <a:off x="972007" y="6147511"/>
            <a:ext cx="2553005" cy="181051"/>
          </a:xfrm>
          <a:prstGeom prst="rect">
            <a:avLst/>
          </a:prstGeom>
          <a:noFill/>
          <a:ln/>
        </p:spPr>
        <p:txBody>
          <a:bodyPr wrap="none" lIns="0" tIns="0" rIns="0" bIns="0" rtlCol="0" anchor="ctr"/>
          <a:lstStyle/>
          <a:p>
            <a:pPr marL="0" indent="0" algn="l">
              <a:buNone/>
            </a:pPr>
            <a:r>
              <a:rPr lang="en-US" sz="1000">
                <a:solidFill>
                  <a:srgbClr val="E5E7EB"/>
                </a:solidFill>
                <a:latin typeface="Raleway" pitchFamily="34" charset="0"/>
                <a:ea typeface="Raleway" pitchFamily="34" charset="-122"/>
                <a:cs typeface="Raleway" pitchFamily="34" charset="-120"/>
              </a:rPr>
              <a:t>Org size</a:t>
            </a:r>
            <a:endParaRPr lang="en-US" sz="1000"/>
          </a:p>
        </p:txBody>
      </p:sp>
      <p:sp>
        <p:nvSpPr>
          <p:cNvPr id="40" name="Text 33"/>
          <p:cNvSpPr txBox="1"/>
          <p:nvPr/>
        </p:nvSpPr>
        <p:spPr>
          <a:xfrm>
            <a:off x="3638398" y="5857646"/>
            <a:ext cx="2830982" cy="257861"/>
          </a:xfrm>
          <a:prstGeom prst="rect">
            <a:avLst/>
          </a:prstGeom>
          <a:noFill/>
          <a:ln/>
        </p:spPr>
        <p:txBody>
          <a:bodyPr wrap="none" lIns="0" tIns="0" rIns="0" bIns="0" rtlCol="0" anchor="ctr"/>
          <a:lstStyle/>
          <a:p>
            <a:pPr marL="0" indent="0" algn="l">
              <a:buNone/>
            </a:pPr>
            <a:r>
              <a:rPr lang="en-US" sz="1600" b="1">
                <a:solidFill>
                  <a:srgbClr val="D62839"/>
                </a:solidFill>
                <a:latin typeface="Oswald" pitchFamily="34" charset="0"/>
                <a:ea typeface="Oswald" pitchFamily="34" charset="-122"/>
                <a:cs typeface="Oswald" pitchFamily="34" charset="-120"/>
              </a:rPr>
              <a:t>[X–X] hires in [YEAR]</a:t>
            </a:r>
            <a:endParaRPr lang="en-US" sz="1600"/>
          </a:p>
        </p:txBody>
      </p:sp>
      <p:sp>
        <p:nvSpPr>
          <p:cNvPr id="41" name="Text 34"/>
          <p:cNvSpPr txBox="1"/>
          <p:nvPr/>
        </p:nvSpPr>
        <p:spPr>
          <a:xfrm>
            <a:off x="3638398" y="6147511"/>
            <a:ext cx="2553005" cy="181051"/>
          </a:xfrm>
          <a:prstGeom prst="rect">
            <a:avLst/>
          </a:prstGeom>
          <a:noFill/>
          <a:ln/>
        </p:spPr>
        <p:txBody>
          <a:bodyPr wrap="none" lIns="0" tIns="0" rIns="0" bIns="0" rtlCol="0" anchor="ctr"/>
          <a:lstStyle/>
          <a:p>
            <a:pPr marL="0" indent="0" algn="l">
              <a:buNone/>
            </a:pPr>
            <a:r>
              <a:rPr lang="en-US" sz="1000">
                <a:solidFill>
                  <a:srgbClr val="E5E7EB"/>
                </a:solidFill>
                <a:latin typeface="Raleway" pitchFamily="34" charset="0"/>
                <a:ea typeface="Raleway" pitchFamily="34" charset="-122"/>
                <a:cs typeface="Raleway" pitchFamily="34" charset="-120"/>
              </a:rPr>
              <a:t>Hiring target</a:t>
            </a:r>
            <a:endParaRPr lang="en-US" sz="1000"/>
          </a:p>
        </p:txBody>
      </p:sp>
      <p:sp>
        <p:nvSpPr>
          <p:cNvPr id="42" name="Text 35"/>
          <p:cNvSpPr txBox="1"/>
          <p:nvPr/>
        </p:nvSpPr>
        <p:spPr>
          <a:xfrm>
            <a:off x="6305702" y="5857646"/>
            <a:ext cx="2830982" cy="257861"/>
          </a:xfrm>
          <a:prstGeom prst="rect">
            <a:avLst/>
          </a:prstGeom>
          <a:noFill/>
          <a:ln/>
        </p:spPr>
        <p:txBody>
          <a:bodyPr wrap="none" lIns="0" tIns="0" rIns="0" bIns="0" rtlCol="0" anchor="ctr"/>
          <a:lstStyle/>
          <a:p>
            <a:pPr marL="0" indent="0" algn="l">
              <a:buNone/>
            </a:pPr>
            <a:r>
              <a:rPr lang="en-US" sz="1600" b="1">
                <a:solidFill>
                  <a:srgbClr val="2A9D8F"/>
                </a:solidFill>
                <a:latin typeface="Oswald" pitchFamily="34" charset="0"/>
                <a:ea typeface="Oswald" pitchFamily="34" charset="-122"/>
                <a:cs typeface="Oswald" pitchFamily="34" charset="-120"/>
              </a:rPr>
              <a:t>[X]% junior workforce</a:t>
            </a:r>
            <a:endParaRPr lang="en-US" sz="1600"/>
          </a:p>
        </p:txBody>
      </p:sp>
      <p:sp>
        <p:nvSpPr>
          <p:cNvPr id="43" name="Text 36"/>
          <p:cNvSpPr txBox="1"/>
          <p:nvPr/>
        </p:nvSpPr>
        <p:spPr>
          <a:xfrm>
            <a:off x="6305702" y="6147511"/>
            <a:ext cx="2553005" cy="181051"/>
          </a:xfrm>
          <a:prstGeom prst="rect">
            <a:avLst/>
          </a:prstGeom>
          <a:noFill/>
          <a:ln/>
        </p:spPr>
        <p:txBody>
          <a:bodyPr wrap="none" lIns="0" tIns="0" rIns="0" bIns="0" rtlCol="0" anchor="ctr"/>
          <a:lstStyle/>
          <a:p>
            <a:pPr marL="0" indent="0" algn="l">
              <a:buNone/>
            </a:pPr>
            <a:r>
              <a:rPr lang="en-US" sz="1000">
                <a:solidFill>
                  <a:srgbClr val="E5E7EB"/>
                </a:solidFill>
                <a:latin typeface="Raleway" pitchFamily="34" charset="0"/>
                <a:ea typeface="Raleway" pitchFamily="34" charset="-122"/>
                <a:cs typeface="Raleway" pitchFamily="34" charset="-120"/>
              </a:rPr>
              <a:t>Level mix</a:t>
            </a:r>
            <a:endParaRPr lang="en-US" sz="1000"/>
          </a:p>
        </p:txBody>
      </p:sp>
      <p:sp>
        <p:nvSpPr>
          <p:cNvPr id="44" name="Text 37"/>
          <p:cNvSpPr txBox="1"/>
          <p:nvPr/>
        </p:nvSpPr>
        <p:spPr>
          <a:xfrm>
            <a:off x="8973007" y="5857646"/>
            <a:ext cx="3038551" cy="257861"/>
          </a:xfrm>
          <a:prstGeom prst="rect">
            <a:avLst/>
          </a:prstGeom>
          <a:noFill/>
          <a:ln/>
        </p:spPr>
        <p:txBody>
          <a:bodyPr wrap="none" lIns="0" tIns="0" rIns="0" bIns="0" rtlCol="0" anchor="ctr"/>
          <a:lstStyle/>
          <a:p>
            <a:pPr marL="0" indent="0" algn="l">
              <a:buNone/>
            </a:pPr>
            <a:r>
              <a:rPr lang="en-US" sz="1600" b="1">
                <a:solidFill>
                  <a:srgbClr val="D62839"/>
                </a:solidFill>
                <a:latin typeface="Oswald" pitchFamily="34" charset="0"/>
                <a:ea typeface="Oswald" pitchFamily="34" charset="-122"/>
                <a:cs typeface="Oswald" pitchFamily="34" charset="-120"/>
              </a:rPr>
              <a:t>[City] extension of [HQ]</a:t>
            </a:r>
            <a:endParaRPr lang="en-US" sz="1600"/>
          </a:p>
        </p:txBody>
      </p:sp>
      <p:sp>
        <p:nvSpPr>
          <p:cNvPr id="45" name="Text 38"/>
          <p:cNvSpPr txBox="1"/>
          <p:nvPr/>
        </p:nvSpPr>
        <p:spPr>
          <a:xfrm>
            <a:off x="8973007" y="6147511"/>
            <a:ext cx="2553005" cy="181051"/>
          </a:xfrm>
          <a:prstGeom prst="rect">
            <a:avLst/>
          </a:prstGeom>
          <a:noFill/>
          <a:ln/>
        </p:spPr>
        <p:txBody>
          <a:bodyPr wrap="none" lIns="0" tIns="0" rIns="0" bIns="0" rtlCol="0" anchor="ctr"/>
          <a:lstStyle/>
          <a:p>
            <a:pPr marL="0" indent="0" algn="l">
              <a:buNone/>
            </a:pPr>
            <a:r>
              <a:rPr lang="en-US" sz="1000">
                <a:solidFill>
                  <a:srgbClr val="E5E7EB"/>
                </a:solidFill>
                <a:latin typeface="Raleway" pitchFamily="34" charset="0"/>
                <a:ea typeface="Raleway" pitchFamily="34" charset="-122"/>
                <a:cs typeface="Raleway" pitchFamily="34" charset="-120"/>
              </a:rPr>
              <a:t>GCC mandate</a:t>
            </a:r>
            <a:endParaRPr lang="en-US" sz="100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9334195" y="-476402"/>
            <a:ext cx="3333902" cy="3333902"/>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gen-dedup-16b8f91e6d72561d8e86691bd4589640.svg"/>
          <p:cNvPicPr>
            <a:picLocks noChangeAspect="1"/>
          </p:cNvPicPr>
          <p:nvPr/>
        </p:nvPicPr>
        <p:blipFill>
          <a:blip>
            <a:extLst>
              <a:ext uri="{96DAC541-7B7A-43D3-8B79-37D633B846F1}">
                <asvg:svgBlip xmlns:asvg="http://schemas.microsoft.com/office/drawing/2016/SVG/main" r:embed="rId3"/>
              </a:ext>
            </a:extLst>
          </a:blip>
          <a:srcRect/>
          <a:stretch/>
        </p:blipFill>
        <p:spPr>
          <a:xfrm>
            <a:off x="381305" y="4572000"/>
            <a:ext cx="1904695" cy="1904695"/>
          </a:xfrm>
          <a:prstGeom prst="rect">
            <a:avLst/>
          </a:prstGeom>
        </p:spPr>
      </p:pic>
      <p:pic>
        <p:nvPicPr>
          <p:cNvPr id="6" name="Image 1" descr="gen-dedup-c43d37ec6b749a14b46300e23657ecc9.png"/>
          <p:cNvPicPr>
            <a:picLocks noChangeAspect="1"/>
          </p:cNvPicPr>
          <p:nvPr/>
        </p:nvPicPr>
        <p:blipFill>
          <a:blip r:embed="rId4"/>
          <a:srcRect l="-2" r="-2"/>
          <a:stretch/>
        </p:blipFill>
        <p:spPr>
          <a:xfrm>
            <a:off x="0" y="6743700"/>
            <a:ext cx="8128102" cy="114300"/>
          </a:xfrm>
          <a:prstGeom prst="rect">
            <a:avLst/>
          </a:prstGeom>
        </p:spPr>
      </p:pic>
      <p:pic>
        <p:nvPicPr>
          <p:cNvPr id="7" name="Image 2" descr="gen-dedup-ccb3fbefd7198ae67d29d234b7ba9a3d.png"/>
          <p:cNvPicPr>
            <a:picLocks noChangeAspect="1"/>
          </p:cNvPicPr>
          <p:nvPr/>
        </p:nvPicPr>
        <p:blipFill>
          <a:blip r:embed="rId5"/>
          <a:srcRect t="-4" b="-4"/>
          <a:stretch/>
        </p:blipFill>
        <p:spPr>
          <a:xfrm>
            <a:off x="8128102" y="6743700"/>
            <a:ext cx="4063594" cy="114300"/>
          </a:xfrm>
          <a:prstGeom prst="rect">
            <a:avLst/>
          </a:prstGeom>
        </p:spPr>
      </p:pic>
      <p:pic>
        <p:nvPicPr>
          <p:cNvPr id="8" name="Image 3" descr="gen-dedup-c72c85b07e3f177762516dd89615ea68.png"/>
          <p:cNvPicPr>
            <a:picLocks noChangeAspect="1"/>
          </p:cNvPicPr>
          <p:nvPr/>
        </p:nvPicPr>
        <p:blipFill>
          <a:blip r:embed="rId6"/>
          <a:srcRect t="-217" b="-217"/>
          <a:stretch/>
        </p:blipFill>
        <p:spPr>
          <a:xfrm>
            <a:off x="457200" y="439826"/>
            <a:ext cx="75895" cy="476402"/>
          </a:xfrm>
          <a:prstGeom prst="rect">
            <a:avLst/>
          </a:prstGeom>
        </p:spPr>
      </p:pic>
      <p:sp>
        <p:nvSpPr>
          <p:cNvPr id="9" name="Text 3"/>
          <p:cNvSpPr txBox="1"/>
          <p:nvPr/>
        </p:nvSpPr>
        <p:spPr>
          <a:xfrm>
            <a:off x="724205" y="286207"/>
            <a:ext cx="5162702" cy="419710"/>
          </a:xfrm>
          <a:prstGeom prst="rect">
            <a:avLst/>
          </a:prstGeom>
          <a:noFill/>
          <a:ln/>
        </p:spPr>
        <p:txBody>
          <a:bodyPr wrap="none" lIns="0" tIns="0" rIns="0" bIns="0" rtlCol="0" anchor="ctr"/>
          <a:lstStyle/>
          <a:p>
            <a:pPr marL="0" indent="0" algn="l">
              <a:buNone/>
            </a:pPr>
            <a:r>
              <a:rPr lang="en-US" sz="3300" b="1" kern="0" spc="-82">
                <a:solidFill>
                  <a:srgbClr val="111827"/>
                </a:solidFill>
                <a:latin typeface="Oswald" pitchFamily="34" charset="0"/>
                <a:ea typeface="Oswald" pitchFamily="34" charset="-122"/>
                <a:cs typeface="Oswald" pitchFamily="34" charset="-120"/>
              </a:rPr>
              <a:t>TAILORED APPROACH</a:t>
            </a:r>
            <a:endParaRPr lang="en-US" sz="3300"/>
          </a:p>
        </p:txBody>
      </p:sp>
      <p:sp>
        <p:nvSpPr>
          <p:cNvPr id="10" name="Text 4"/>
          <p:cNvSpPr txBox="1"/>
          <p:nvPr/>
        </p:nvSpPr>
        <p:spPr>
          <a:xfrm>
            <a:off x="724205" y="761695"/>
            <a:ext cx="5848502" cy="314554"/>
          </a:xfrm>
          <a:prstGeom prst="rect">
            <a:avLst/>
          </a:prstGeom>
          <a:noFill/>
          <a:ln/>
        </p:spPr>
        <p:txBody>
          <a:bodyPr wrap="none" lIns="0" tIns="0" rIns="0" bIns="0" rtlCol="0" anchor="ctr"/>
          <a:lstStyle/>
          <a:p>
            <a:pPr marL="0" indent="0" algn="l">
              <a:buNone/>
            </a:pPr>
            <a:r>
              <a:rPr lang="en-US" sz="1600" b="1" kern="0" spc="81">
                <a:solidFill>
                  <a:srgbClr val="2A9D8F"/>
                </a:solidFill>
                <a:latin typeface="Roboto Condensed" pitchFamily="34" charset="0"/>
                <a:ea typeface="Roboto Condensed" pitchFamily="34" charset="-122"/>
                <a:cs typeface="Roboto Condensed" pitchFamily="34" charset="-120"/>
              </a:rPr>
              <a:t>JOULESTOWATTS — TAILORED APPROACH FOR [CLIENT]</a:t>
            </a:r>
            <a:endParaRPr lang="en-US" sz="1600"/>
          </a:p>
        </p:txBody>
      </p:sp>
      <p:sp>
        <p:nvSpPr>
          <p:cNvPr id="11" name="Shape 5"/>
          <p:cNvSpPr/>
          <p:nvPr/>
        </p:nvSpPr>
        <p:spPr>
          <a:xfrm>
            <a:off x="724205" y="1185062"/>
            <a:ext cx="19202" cy="267005"/>
          </a:xfrm>
          <a:prstGeom prst="rect">
            <a:avLst/>
          </a:prstGeom>
          <a:solidFill>
            <a:srgbClr val="E5E7EB"/>
          </a:solidFill>
          <a:ln w="12700">
            <a:solidFill>
              <a:srgbClr val="E5E7EB">
                <a:alpha val="0"/>
              </a:srgbClr>
            </a:solidFill>
            <a:prstDash val="solid"/>
          </a:ln>
        </p:spPr>
        <p:txBody>
          <a:bodyPr/>
          <a:lstStyle/>
          <a:p>
            <a:endParaRPr lang="en-US"/>
          </a:p>
        </p:txBody>
      </p:sp>
      <p:sp>
        <p:nvSpPr>
          <p:cNvPr id="12" name="Text 6"/>
          <p:cNvSpPr txBox="1"/>
          <p:nvPr/>
        </p:nvSpPr>
        <p:spPr>
          <a:xfrm>
            <a:off x="857707" y="1185062"/>
            <a:ext cx="8172907" cy="267005"/>
          </a:xfrm>
          <a:prstGeom prst="rect">
            <a:avLst/>
          </a:prstGeom>
          <a:solidFill>
            <a:srgbClr val="FFFFFF">
              <a:alpha val="0"/>
            </a:srgbClr>
          </a:solidFill>
          <a:ln>
            <a:solidFill>
              <a:srgbClr val="FFFFFF">
                <a:alpha val="0"/>
              </a:srgbClr>
            </a:solidFill>
          </a:ln>
        </p:spPr>
        <p:txBody>
          <a:bodyPr wrap="none" lIns="0" tIns="0" rIns="0" bIns="0" rtlCol="0" anchor="ctr"/>
          <a:lstStyle/>
          <a:p>
            <a:pPr marL="0" indent="0" algn="l">
              <a:buNone/>
            </a:pPr>
            <a:r>
              <a:rPr lang="en-US" sz="1300">
                <a:solidFill>
                  <a:srgbClr val="4B5563"/>
                </a:solidFill>
                <a:latin typeface="Raleway" pitchFamily="34" charset="0"/>
                <a:ea typeface="Raleway" pitchFamily="34" charset="-122"/>
                <a:cs typeface="Raleway" pitchFamily="34" charset="-120"/>
              </a:rPr>
              <a:t>Addressing [CLIENT]'s talent challenges with precision.</a:t>
            </a:r>
            <a:endParaRPr lang="en-US" sz="1300"/>
          </a:p>
        </p:txBody>
      </p:sp>
      <p:sp>
        <p:nvSpPr>
          <p:cNvPr id="13" name="Shape 7"/>
          <p:cNvSpPr/>
          <p:nvPr/>
        </p:nvSpPr>
        <p:spPr>
          <a:xfrm>
            <a:off x="9286646" y="381305"/>
            <a:ext cx="2447849" cy="485546"/>
          </a:xfrm>
          <a:prstGeom prst="roundRect">
            <a:avLst>
              <a:gd name="adj" fmla="val 50094"/>
            </a:avLst>
          </a:prstGeom>
          <a:solidFill>
            <a:srgbClr val="2A9D8F"/>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sp>
        <p:nvSpPr>
          <p:cNvPr id="14" name="Text 8"/>
          <p:cNvSpPr txBox="1"/>
          <p:nvPr/>
        </p:nvSpPr>
        <p:spPr>
          <a:xfrm>
            <a:off x="9408262" y="495605"/>
            <a:ext cx="2205533" cy="257861"/>
          </a:xfrm>
          <a:prstGeom prst="rect">
            <a:avLst/>
          </a:prstGeom>
          <a:noFill/>
          <a:ln/>
        </p:spPr>
        <p:txBody>
          <a:bodyPr wrap="none" lIns="0" tIns="0" rIns="0" bIns="0" rtlCol="0" anchor="ctr"/>
          <a:lstStyle/>
          <a:p>
            <a:pPr marL="0" indent="0" algn="ctr">
              <a:buNone/>
            </a:pPr>
            <a:r>
              <a:rPr lang="en-US" sz="1300" b="1" kern="0" spc="66">
                <a:solidFill>
                  <a:srgbClr val="FFFFFF"/>
                </a:solidFill>
                <a:latin typeface="Oswald" pitchFamily="34" charset="0"/>
                <a:ea typeface="Oswald" pitchFamily="34" charset="-122"/>
                <a:cs typeface="Oswald" pitchFamily="34" charset="-120"/>
              </a:rPr>
              <a:t>WORKFORCE SOLUTIONS</a:t>
            </a:r>
            <a:endParaRPr lang="en-US" sz="1300"/>
          </a:p>
        </p:txBody>
      </p:sp>
      <p:pic>
        <p:nvPicPr>
          <p:cNvPr id="15" name="Image 4" descr="gen-dedup-95d112f40cf296f81bdd24a7d4987a4a.png"/>
          <p:cNvPicPr>
            <a:picLocks noChangeAspect="1"/>
          </p:cNvPicPr>
          <p:nvPr/>
        </p:nvPicPr>
        <p:blipFill>
          <a:blip r:embed="rId7"/>
          <a:srcRect l="-7" r="-7"/>
          <a:stretch/>
        </p:blipFill>
        <p:spPr>
          <a:xfrm>
            <a:off x="457200" y="1571854"/>
            <a:ext cx="5524805" cy="2428646"/>
          </a:xfrm>
          <a:prstGeom prst="rect">
            <a:avLst/>
          </a:prstGeom>
        </p:spPr>
      </p:pic>
      <p:sp>
        <p:nvSpPr>
          <p:cNvPr id="16" name="Shape 9"/>
          <p:cNvSpPr/>
          <p:nvPr/>
        </p:nvSpPr>
        <p:spPr>
          <a:xfrm>
            <a:off x="5219395" y="1571854"/>
            <a:ext cx="761695" cy="761695"/>
          </a:xfrm>
          <a:prstGeom prst="rect">
            <a:avLst/>
          </a:prstGeom>
          <a:solidFill>
            <a:srgbClr val="000000">
              <a:alpha val="2000"/>
            </a:srgbClr>
          </a:solidFill>
          <a:ln w="12700">
            <a:solidFill>
              <a:srgbClr val="FFFFFF">
                <a:alpha val="0"/>
              </a:srgbClr>
            </a:solidFill>
            <a:prstDash val="solid"/>
          </a:ln>
        </p:spPr>
        <p:txBody>
          <a:bodyPr/>
          <a:lstStyle/>
          <a:p>
            <a:endParaRPr lang="en-US"/>
          </a:p>
        </p:txBody>
      </p:sp>
      <p:sp>
        <p:nvSpPr>
          <p:cNvPr id="17" name="Shape 10"/>
          <p:cNvSpPr/>
          <p:nvPr/>
        </p:nvSpPr>
        <p:spPr>
          <a:xfrm>
            <a:off x="685800" y="1848002"/>
            <a:ext cx="428854" cy="428854"/>
          </a:xfrm>
          <a:prstGeom prst="roundRect">
            <a:avLst>
              <a:gd name="adj" fmla="val 22175"/>
            </a:avLst>
          </a:prstGeom>
          <a:solidFill>
            <a:srgbClr val="2A9D8F">
              <a:alpha val="8000"/>
            </a:srgbClr>
          </a:solidFill>
          <a:ln w="12700">
            <a:solidFill>
              <a:srgbClr val="FFFFFF">
                <a:alpha val="0"/>
              </a:srgbClr>
            </a:solidFill>
            <a:prstDash val="solid"/>
          </a:ln>
        </p:spPr>
        <p:txBody>
          <a:bodyPr/>
          <a:lstStyle/>
          <a:p>
            <a:endParaRPr lang="en-US"/>
          </a:p>
        </p:txBody>
      </p:sp>
      <p:pic>
        <p:nvPicPr>
          <p:cNvPr id="18" name="Image 5" descr="gen-dedup-05ba22bc3988e5bbe03600cefb5c4c1e.png"/>
          <p:cNvPicPr>
            <a:picLocks noChangeAspect="1"/>
          </p:cNvPicPr>
          <p:nvPr/>
        </p:nvPicPr>
        <p:blipFill>
          <a:blip r:embed="rId8"/>
          <a:srcRect t="-13131" b="-13131"/>
          <a:stretch/>
        </p:blipFill>
        <p:spPr>
          <a:xfrm>
            <a:off x="809244" y="1947672"/>
            <a:ext cx="181051" cy="228600"/>
          </a:xfrm>
          <a:prstGeom prst="rect">
            <a:avLst/>
          </a:prstGeom>
        </p:spPr>
      </p:pic>
      <p:sp>
        <p:nvSpPr>
          <p:cNvPr id="19" name="Text 11"/>
          <p:cNvSpPr txBox="1"/>
          <p:nvPr/>
        </p:nvSpPr>
        <p:spPr>
          <a:xfrm>
            <a:off x="5508346" y="1772107"/>
            <a:ext cx="451714" cy="514807"/>
          </a:xfrm>
          <a:prstGeom prst="rect">
            <a:avLst/>
          </a:prstGeom>
          <a:noFill/>
          <a:ln/>
        </p:spPr>
        <p:txBody>
          <a:bodyPr wrap="none" lIns="0" tIns="0" rIns="0" bIns="0" rtlCol="0" anchor="ctr"/>
          <a:lstStyle/>
          <a:p>
            <a:pPr marL="0" indent="0" algn="l">
              <a:buNone/>
            </a:pPr>
            <a:r>
              <a:rPr lang="en-US" sz="2700" b="1">
                <a:solidFill>
                  <a:srgbClr val="F3F4F6"/>
                </a:solidFill>
                <a:latin typeface="Oswald" pitchFamily="34" charset="0"/>
                <a:ea typeface="Oswald" pitchFamily="34" charset="-122"/>
                <a:cs typeface="Oswald" pitchFamily="34" charset="-120"/>
              </a:rPr>
              <a:t>01</a:t>
            </a:r>
            <a:endParaRPr lang="en-US" sz="2700"/>
          </a:p>
        </p:txBody>
      </p:sp>
      <p:sp>
        <p:nvSpPr>
          <p:cNvPr id="20" name="Text 12"/>
          <p:cNvSpPr txBox="1"/>
          <p:nvPr/>
        </p:nvSpPr>
        <p:spPr>
          <a:xfrm>
            <a:off x="685800" y="2391156"/>
            <a:ext cx="5067605" cy="277063"/>
          </a:xfrm>
          <a:prstGeom prst="rect">
            <a:avLst/>
          </a:prstGeom>
          <a:noFill/>
          <a:ln/>
        </p:spPr>
        <p:txBody>
          <a:bodyPr wrap="none" lIns="0" tIns="0" rIns="0" bIns="0" rtlCol="0" anchor="ctr"/>
          <a:lstStyle/>
          <a:p>
            <a:pPr marL="0" indent="0" algn="l">
              <a:buNone/>
            </a:pPr>
            <a:r>
              <a:rPr lang="en-US" sz="1800" b="1">
                <a:solidFill>
                  <a:srgbClr val="1F2937"/>
                </a:solidFill>
                <a:latin typeface="Oswald" pitchFamily="34" charset="0"/>
                <a:ea typeface="Oswald" pitchFamily="34" charset="-122"/>
                <a:cs typeface="Oswald" pitchFamily="34" charset="-120"/>
              </a:rPr>
              <a:t>[Solution 1 Title]</a:t>
            </a:r>
            <a:endParaRPr lang="en-US" sz="1800"/>
          </a:p>
        </p:txBody>
      </p:sp>
      <p:sp>
        <p:nvSpPr>
          <p:cNvPr id="21" name="Text 13"/>
          <p:cNvSpPr txBox="1"/>
          <p:nvPr/>
        </p:nvSpPr>
        <p:spPr>
          <a:xfrm>
            <a:off x="685800" y="2779776"/>
            <a:ext cx="5067605" cy="609905"/>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e.g. Dedicated CA Talent Pipeline — Pre-mapped, warm bench of Chartered Accountants across PE, renewables, infra. Proactive sourcing from campus, Big 4, competitor pools — ready before demand hits.</a:t>
            </a:r>
            <a:endParaRPr lang="en-US" sz="1100"/>
          </a:p>
        </p:txBody>
      </p:sp>
      <p:sp>
        <p:nvSpPr>
          <p:cNvPr id="22" name="Shape 14"/>
          <p:cNvSpPr/>
          <p:nvPr/>
        </p:nvSpPr>
        <p:spPr>
          <a:xfrm>
            <a:off x="685800" y="3387852"/>
            <a:ext cx="5067605" cy="437998"/>
          </a:xfrm>
          <a:prstGeom prst="roundRect">
            <a:avLst>
              <a:gd name="adj" fmla="val 17328"/>
            </a:avLst>
          </a:prstGeom>
          <a:solidFill>
            <a:srgbClr val="F9FAFB"/>
          </a:solidFill>
          <a:ln/>
        </p:spPr>
        <p:txBody>
          <a:bodyPr/>
          <a:lstStyle/>
          <a:p>
            <a:endParaRPr lang="en-US"/>
          </a:p>
        </p:txBody>
      </p:sp>
      <p:sp>
        <p:nvSpPr>
          <p:cNvPr id="23" name="Shape 15"/>
          <p:cNvSpPr/>
          <p:nvPr/>
        </p:nvSpPr>
        <p:spPr>
          <a:xfrm>
            <a:off x="685800" y="3387852"/>
            <a:ext cx="38405" cy="437998"/>
          </a:xfrm>
          <a:prstGeom prst="roundRect">
            <a:avLst>
              <a:gd name="adj" fmla="val 197618"/>
            </a:avLst>
          </a:prstGeom>
          <a:solidFill>
            <a:srgbClr val="000000"/>
          </a:solidFill>
          <a:ln w="12700">
            <a:solidFill>
              <a:srgbClr val="000000">
                <a:alpha val="0"/>
              </a:srgbClr>
            </a:solidFill>
            <a:prstDash val="solid"/>
          </a:ln>
        </p:spPr>
        <p:txBody>
          <a:bodyPr/>
          <a:lstStyle/>
          <a:p>
            <a:endParaRPr lang="en-US"/>
          </a:p>
        </p:txBody>
      </p:sp>
      <p:sp>
        <p:nvSpPr>
          <p:cNvPr id="24" name="Text 16"/>
          <p:cNvSpPr txBox="1"/>
          <p:nvPr/>
        </p:nvSpPr>
        <p:spPr>
          <a:xfrm>
            <a:off x="1057046" y="3502152"/>
            <a:ext cx="4543654" cy="210312"/>
          </a:xfrm>
          <a:prstGeom prst="rect">
            <a:avLst/>
          </a:prstGeom>
          <a:noFill/>
          <a:ln/>
        </p:spPr>
        <p:txBody>
          <a:bodyPr wrap="non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Solves: Niche Talent + Sporadic Demand</a:t>
            </a:r>
            <a:endParaRPr lang="en-US" sz="1000"/>
          </a:p>
        </p:txBody>
      </p:sp>
      <p:pic>
        <p:nvPicPr>
          <p:cNvPr id="25" name="Image 6" descr="gen-dedup-b5a86b1bccfd13e1ee7bd0a5c9907751.png"/>
          <p:cNvPicPr>
            <a:picLocks noChangeAspect="1"/>
          </p:cNvPicPr>
          <p:nvPr/>
        </p:nvPicPr>
        <p:blipFill>
          <a:blip r:embed="rId9"/>
          <a:srcRect t="-13478" b="-13478"/>
          <a:stretch/>
        </p:blipFill>
        <p:spPr>
          <a:xfrm>
            <a:off x="875995" y="3537814"/>
            <a:ext cx="105156" cy="133502"/>
          </a:xfrm>
          <a:prstGeom prst="rect">
            <a:avLst/>
          </a:prstGeom>
        </p:spPr>
      </p:pic>
      <p:pic>
        <p:nvPicPr>
          <p:cNvPr id="26" name="Image 7" descr="gen-dedup-95d112f40cf296f81bdd24a7d4987a4a.png"/>
          <p:cNvPicPr>
            <a:picLocks noChangeAspect="1"/>
          </p:cNvPicPr>
          <p:nvPr/>
        </p:nvPicPr>
        <p:blipFill>
          <a:blip r:embed="rId7"/>
          <a:srcRect l="-7" r="-7"/>
          <a:stretch/>
        </p:blipFill>
        <p:spPr>
          <a:xfrm>
            <a:off x="6210605" y="1571854"/>
            <a:ext cx="5524805" cy="2428646"/>
          </a:xfrm>
          <a:prstGeom prst="rect">
            <a:avLst/>
          </a:prstGeom>
        </p:spPr>
      </p:pic>
      <p:sp>
        <p:nvSpPr>
          <p:cNvPr id="27" name="Shape 17"/>
          <p:cNvSpPr/>
          <p:nvPr/>
        </p:nvSpPr>
        <p:spPr>
          <a:xfrm>
            <a:off x="10972800" y="1571854"/>
            <a:ext cx="761695" cy="761695"/>
          </a:xfrm>
          <a:prstGeom prst="rect">
            <a:avLst/>
          </a:prstGeom>
          <a:solidFill>
            <a:srgbClr val="000000">
              <a:alpha val="2000"/>
            </a:srgbClr>
          </a:solidFill>
          <a:ln w="12700">
            <a:solidFill>
              <a:srgbClr val="FFFFFF">
                <a:alpha val="0"/>
              </a:srgbClr>
            </a:solidFill>
            <a:prstDash val="solid"/>
          </a:ln>
        </p:spPr>
        <p:txBody>
          <a:bodyPr/>
          <a:lstStyle/>
          <a:p>
            <a:endParaRPr lang="en-US"/>
          </a:p>
        </p:txBody>
      </p:sp>
      <p:sp>
        <p:nvSpPr>
          <p:cNvPr id="28" name="Shape 18"/>
          <p:cNvSpPr/>
          <p:nvPr/>
        </p:nvSpPr>
        <p:spPr>
          <a:xfrm>
            <a:off x="6439205" y="1848002"/>
            <a:ext cx="428854" cy="428854"/>
          </a:xfrm>
          <a:prstGeom prst="roundRect">
            <a:avLst>
              <a:gd name="adj" fmla="val 22175"/>
            </a:avLst>
          </a:prstGeom>
          <a:solidFill>
            <a:srgbClr val="D62839">
              <a:alpha val="5000"/>
            </a:srgbClr>
          </a:solidFill>
          <a:ln w="12700">
            <a:solidFill>
              <a:srgbClr val="FFFFFF">
                <a:alpha val="0"/>
              </a:srgbClr>
            </a:solidFill>
            <a:prstDash val="solid"/>
          </a:ln>
        </p:spPr>
        <p:txBody>
          <a:bodyPr/>
          <a:lstStyle/>
          <a:p>
            <a:endParaRPr lang="en-US"/>
          </a:p>
        </p:txBody>
      </p:sp>
      <p:pic>
        <p:nvPicPr>
          <p:cNvPr id="29" name="Image 8" descr="gen-dedup-bcfe80973f057fc6d9d91d2ed63b3815.png"/>
          <p:cNvPicPr>
            <a:picLocks noChangeAspect="1"/>
          </p:cNvPicPr>
          <p:nvPr/>
        </p:nvPicPr>
        <p:blipFill>
          <a:blip r:embed="rId10"/>
          <a:srcRect t="-28914" b="-28914"/>
          <a:stretch/>
        </p:blipFill>
        <p:spPr>
          <a:xfrm>
            <a:off x="6562649" y="1947672"/>
            <a:ext cx="181051" cy="228600"/>
          </a:xfrm>
          <a:prstGeom prst="rect">
            <a:avLst/>
          </a:prstGeom>
        </p:spPr>
      </p:pic>
      <p:sp>
        <p:nvSpPr>
          <p:cNvPr id="30" name="Text 19"/>
          <p:cNvSpPr txBox="1"/>
          <p:nvPr/>
        </p:nvSpPr>
        <p:spPr>
          <a:xfrm>
            <a:off x="11217859" y="1772107"/>
            <a:ext cx="455371" cy="514807"/>
          </a:xfrm>
          <a:prstGeom prst="rect">
            <a:avLst/>
          </a:prstGeom>
          <a:noFill/>
          <a:ln/>
        </p:spPr>
        <p:txBody>
          <a:bodyPr wrap="none" lIns="0" tIns="0" rIns="0" bIns="0" rtlCol="0" anchor="ctr"/>
          <a:lstStyle/>
          <a:p>
            <a:pPr marL="0" indent="0" algn="l">
              <a:buNone/>
            </a:pPr>
            <a:r>
              <a:rPr lang="en-US" sz="2700" b="1">
                <a:solidFill>
                  <a:srgbClr val="F3F4F6"/>
                </a:solidFill>
                <a:latin typeface="Oswald" pitchFamily="34" charset="0"/>
                <a:ea typeface="Oswald" pitchFamily="34" charset="-122"/>
                <a:cs typeface="Oswald" pitchFamily="34" charset="-120"/>
              </a:rPr>
              <a:t>02</a:t>
            </a:r>
            <a:endParaRPr lang="en-US" sz="2700"/>
          </a:p>
        </p:txBody>
      </p:sp>
      <p:sp>
        <p:nvSpPr>
          <p:cNvPr id="31" name="Text 20"/>
          <p:cNvSpPr txBox="1"/>
          <p:nvPr/>
        </p:nvSpPr>
        <p:spPr>
          <a:xfrm>
            <a:off x="6439205" y="2391156"/>
            <a:ext cx="5067605" cy="277063"/>
          </a:xfrm>
          <a:prstGeom prst="rect">
            <a:avLst/>
          </a:prstGeom>
          <a:noFill/>
          <a:ln/>
        </p:spPr>
        <p:txBody>
          <a:bodyPr wrap="none" lIns="0" tIns="0" rIns="0" bIns="0" rtlCol="0" anchor="ctr"/>
          <a:lstStyle/>
          <a:p>
            <a:pPr marL="0" indent="0" algn="l">
              <a:buNone/>
            </a:pPr>
            <a:r>
              <a:rPr lang="en-US" sz="1800" b="1">
                <a:solidFill>
                  <a:srgbClr val="1F2937"/>
                </a:solidFill>
                <a:latin typeface="Oswald" pitchFamily="34" charset="0"/>
                <a:ea typeface="Oswald" pitchFamily="34" charset="-122"/>
                <a:cs typeface="Oswald" pitchFamily="34" charset="-120"/>
              </a:rPr>
              <a:t>[Solution 2 Title]</a:t>
            </a:r>
            <a:endParaRPr lang="en-US" sz="1800"/>
          </a:p>
        </p:txBody>
      </p:sp>
      <p:sp>
        <p:nvSpPr>
          <p:cNvPr id="32" name="Text 21"/>
          <p:cNvSpPr txBox="1"/>
          <p:nvPr/>
        </p:nvSpPr>
        <p:spPr>
          <a:xfrm>
            <a:off x="6439205" y="2779776"/>
            <a:ext cx="5067605" cy="609905"/>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e.g. Candidate Commitment Engine — Structured 90-day POFU: milestone touchpoints, early virtual onboarding, manager connects, counter-offer inoculation. Reduces offer drop from [X]% to single digits.</a:t>
            </a:r>
            <a:endParaRPr lang="en-US" sz="1100"/>
          </a:p>
        </p:txBody>
      </p:sp>
      <p:sp>
        <p:nvSpPr>
          <p:cNvPr id="33" name="Shape 22"/>
          <p:cNvSpPr/>
          <p:nvPr/>
        </p:nvSpPr>
        <p:spPr>
          <a:xfrm>
            <a:off x="6439205" y="3387852"/>
            <a:ext cx="5067605" cy="437998"/>
          </a:xfrm>
          <a:prstGeom prst="roundRect">
            <a:avLst>
              <a:gd name="adj" fmla="val 17328"/>
            </a:avLst>
          </a:prstGeom>
          <a:solidFill>
            <a:srgbClr val="F9FAFB"/>
          </a:solidFill>
          <a:ln/>
        </p:spPr>
        <p:txBody>
          <a:bodyPr/>
          <a:lstStyle/>
          <a:p>
            <a:endParaRPr lang="en-US"/>
          </a:p>
        </p:txBody>
      </p:sp>
      <p:sp>
        <p:nvSpPr>
          <p:cNvPr id="34" name="Shape 23"/>
          <p:cNvSpPr/>
          <p:nvPr/>
        </p:nvSpPr>
        <p:spPr>
          <a:xfrm>
            <a:off x="6439205" y="3387852"/>
            <a:ext cx="38405" cy="437998"/>
          </a:xfrm>
          <a:prstGeom prst="roundRect">
            <a:avLst>
              <a:gd name="adj" fmla="val 197618"/>
            </a:avLst>
          </a:prstGeom>
          <a:solidFill>
            <a:srgbClr val="000000"/>
          </a:solidFill>
          <a:ln w="12700">
            <a:solidFill>
              <a:srgbClr val="000000">
                <a:alpha val="0"/>
              </a:srgbClr>
            </a:solidFill>
            <a:prstDash val="solid"/>
          </a:ln>
        </p:spPr>
        <p:txBody>
          <a:bodyPr/>
          <a:lstStyle/>
          <a:p>
            <a:endParaRPr lang="en-US"/>
          </a:p>
        </p:txBody>
      </p:sp>
      <p:sp>
        <p:nvSpPr>
          <p:cNvPr id="35" name="Text 24"/>
          <p:cNvSpPr txBox="1"/>
          <p:nvPr/>
        </p:nvSpPr>
        <p:spPr>
          <a:xfrm>
            <a:off x="6810451" y="3502152"/>
            <a:ext cx="4543654" cy="210312"/>
          </a:xfrm>
          <a:prstGeom prst="rect">
            <a:avLst/>
          </a:prstGeom>
          <a:noFill/>
          <a:ln/>
        </p:spPr>
        <p:txBody>
          <a:bodyPr wrap="non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Solves: Offer Dropouts + Notice Period</a:t>
            </a:r>
            <a:endParaRPr lang="en-US" sz="1000"/>
          </a:p>
        </p:txBody>
      </p:sp>
      <p:pic>
        <p:nvPicPr>
          <p:cNvPr id="36" name="Image 9" descr="gen-dedup-812f619697984955bda52af315dc5a08.png"/>
          <p:cNvPicPr>
            <a:picLocks noChangeAspect="1"/>
          </p:cNvPicPr>
          <p:nvPr/>
        </p:nvPicPr>
        <p:blipFill>
          <a:blip r:embed="rId11"/>
          <a:srcRect t="-13478" b="-13478"/>
          <a:stretch/>
        </p:blipFill>
        <p:spPr>
          <a:xfrm>
            <a:off x="6629400" y="3537814"/>
            <a:ext cx="105156" cy="133502"/>
          </a:xfrm>
          <a:prstGeom prst="rect">
            <a:avLst/>
          </a:prstGeom>
        </p:spPr>
      </p:pic>
      <p:pic>
        <p:nvPicPr>
          <p:cNvPr id="37" name="Image 10" descr="gen-dedup-95d112f40cf296f81bdd24a7d4987a4a.png"/>
          <p:cNvPicPr>
            <a:picLocks noChangeAspect="1"/>
          </p:cNvPicPr>
          <p:nvPr/>
        </p:nvPicPr>
        <p:blipFill>
          <a:blip r:embed="rId7"/>
          <a:srcRect l="-7" r="-7"/>
          <a:stretch/>
        </p:blipFill>
        <p:spPr>
          <a:xfrm>
            <a:off x="457200" y="4143146"/>
            <a:ext cx="5524805" cy="2428646"/>
          </a:xfrm>
          <a:prstGeom prst="rect">
            <a:avLst/>
          </a:prstGeom>
        </p:spPr>
      </p:pic>
      <p:sp>
        <p:nvSpPr>
          <p:cNvPr id="38" name="Shape 25"/>
          <p:cNvSpPr/>
          <p:nvPr/>
        </p:nvSpPr>
        <p:spPr>
          <a:xfrm>
            <a:off x="5219395" y="4143146"/>
            <a:ext cx="761695" cy="761695"/>
          </a:xfrm>
          <a:prstGeom prst="rect">
            <a:avLst/>
          </a:prstGeom>
          <a:solidFill>
            <a:srgbClr val="000000">
              <a:alpha val="2000"/>
            </a:srgbClr>
          </a:solidFill>
          <a:ln w="12700">
            <a:solidFill>
              <a:srgbClr val="FFFFFF">
                <a:alpha val="0"/>
              </a:srgbClr>
            </a:solidFill>
            <a:prstDash val="solid"/>
          </a:ln>
        </p:spPr>
        <p:txBody>
          <a:bodyPr/>
          <a:lstStyle/>
          <a:p>
            <a:endParaRPr lang="en-US"/>
          </a:p>
        </p:txBody>
      </p:sp>
      <p:sp>
        <p:nvSpPr>
          <p:cNvPr id="39" name="Shape 26"/>
          <p:cNvSpPr/>
          <p:nvPr/>
        </p:nvSpPr>
        <p:spPr>
          <a:xfrm>
            <a:off x="685800" y="4419295"/>
            <a:ext cx="428854" cy="428854"/>
          </a:xfrm>
          <a:prstGeom prst="roundRect">
            <a:avLst>
              <a:gd name="adj" fmla="val 22175"/>
            </a:avLst>
          </a:prstGeom>
          <a:solidFill>
            <a:srgbClr val="2A9D8F">
              <a:alpha val="8000"/>
            </a:srgbClr>
          </a:solidFill>
          <a:ln w="12700">
            <a:solidFill>
              <a:srgbClr val="FFFFFF">
                <a:alpha val="0"/>
              </a:srgbClr>
            </a:solidFill>
            <a:prstDash val="solid"/>
          </a:ln>
        </p:spPr>
        <p:txBody>
          <a:bodyPr/>
          <a:lstStyle/>
          <a:p>
            <a:endParaRPr lang="en-US"/>
          </a:p>
        </p:txBody>
      </p:sp>
      <p:pic>
        <p:nvPicPr>
          <p:cNvPr id="40" name="Image 11" descr="gen-dedup-6476ff3035aeb0817ff39e799f5ab604.png"/>
          <p:cNvPicPr>
            <a:picLocks noChangeAspect="1"/>
          </p:cNvPicPr>
          <p:nvPr/>
        </p:nvPicPr>
        <p:blipFill>
          <a:blip r:embed="rId12"/>
          <a:srcRect l="-2800" r="-2800"/>
          <a:stretch/>
        </p:blipFill>
        <p:spPr>
          <a:xfrm>
            <a:off x="809244" y="4519879"/>
            <a:ext cx="181051" cy="228600"/>
          </a:xfrm>
          <a:prstGeom prst="rect">
            <a:avLst/>
          </a:prstGeom>
        </p:spPr>
      </p:pic>
      <p:sp>
        <p:nvSpPr>
          <p:cNvPr id="41" name="Text 27"/>
          <p:cNvSpPr txBox="1"/>
          <p:nvPr/>
        </p:nvSpPr>
        <p:spPr>
          <a:xfrm>
            <a:off x="5464454" y="4343400"/>
            <a:ext cx="455371" cy="514807"/>
          </a:xfrm>
          <a:prstGeom prst="rect">
            <a:avLst/>
          </a:prstGeom>
          <a:noFill/>
          <a:ln/>
        </p:spPr>
        <p:txBody>
          <a:bodyPr wrap="none" lIns="0" tIns="0" rIns="0" bIns="0" rtlCol="0" anchor="ctr"/>
          <a:lstStyle/>
          <a:p>
            <a:pPr marL="0" indent="0" algn="l">
              <a:buNone/>
            </a:pPr>
            <a:r>
              <a:rPr lang="en-US" sz="2700" b="1">
                <a:solidFill>
                  <a:srgbClr val="F3F4F6"/>
                </a:solidFill>
                <a:latin typeface="Oswald" pitchFamily="34" charset="0"/>
                <a:ea typeface="Oswald" pitchFamily="34" charset="-122"/>
                <a:cs typeface="Oswald" pitchFamily="34" charset="-120"/>
              </a:rPr>
              <a:t>03</a:t>
            </a:r>
            <a:endParaRPr lang="en-US" sz="2700"/>
          </a:p>
        </p:txBody>
      </p:sp>
      <p:sp>
        <p:nvSpPr>
          <p:cNvPr id="42" name="Text 28"/>
          <p:cNvSpPr txBox="1"/>
          <p:nvPr/>
        </p:nvSpPr>
        <p:spPr>
          <a:xfrm>
            <a:off x="685800" y="4962449"/>
            <a:ext cx="5067605" cy="277063"/>
          </a:xfrm>
          <a:prstGeom prst="rect">
            <a:avLst/>
          </a:prstGeom>
          <a:noFill/>
          <a:ln/>
        </p:spPr>
        <p:txBody>
          <a:bodyPr wrap="none" lIns="0" tIns="0" rIns="0" bIns="0" rtlCol="0" anchor="ctr"/>
          <a:lstStyle/>
          <a:p>
            <a:pPr marL="0" indent="0" algn="l">
              <a:buNone/>
            </a:pPr>
            <a:r>
              <a:rPr lang="en-US" sz="1800" b="1">
                <a:solidFill>
                  <a:srgbClr val="1F2937"/>
                </a:solidFill>
                <a:latin typeface="Oswald" pitchFamily="34" charset="0"/>
                <a:ea typeface="Oswald" pitchFamily="34" charset="-122"/>
                <a:cs typeface="Oswald" pitchFamily="34" charset="-120"/>
              </a:rPr>
              <a:t>[Solution 3 Title]</a:t>
            </a:r>
            <a:endParaRPr lang="en-US" sz="1800"/>
          </a:p>
        </p:txBody>
      </p:sp>
      <p:sp>
        <p:nvSpPr>
          <p:cNvPr id="43" name="Text 29"/>
          <p:cNvSpPr txBox="1"/>
          <p:nvPr/>
        </p:nvSpPr>
        <p:spPr>
          <a:xfrm>
            <a:off x="685800" y="5351069"/>
            <a:ext cx="5067605" cy="609905"/>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e.g. WFO Employer Brand Strategy — Position 5-day WFO as a career accelerator: same role as HQ, in-person mentorship, global parity. Target candidates already in-office or returning.</a:t>
            </a:r>
            <a:endParaRPr lang="en-US" sz="1100"/>
          </a:p>
        </p:txBody>
      </p:sp>
      <p:sp>
        <p:nvSpPr>
          <p:cNvPr id="44" name="Shape 30"/>
          <p:cNvSpPr/>
          <p:nvPr/>
        </p:nvSpPr>
        <p:spPr>
          <a:xfrm>
            <a:off x="685800" y="5959145"/>
            <a:ext cx="5067605" cy="437998"/>
          </a:xfrm>
          <a:prstGeom prst="roundRect">
            <a:avLst>
              <a:gd name="adj" fmla="val 17328"/>
            </a:avLst>
          </a:prstGeom>
          <a:solidFill>
            <a:srgbClr val="F9FAFB"/>
          </a:solidFill>
          <a:ln/>
        </p:spPr>
        <p:txBody>
          <a:bodyPr/>
          <a:lstStyle/>
          <a:p>
            <a:endParaRPr lang="en-US"/>
          </a:p>
        </p:txBody>
      </p:sp>
      <p:sp>
        <p:nvSpPr>
          <p:cNvPr id="45" name="Shape 31"/>
          <p:cNvSpPr/>
          <p:nvPr/>
        </p:nvSpPr>
        <p:spPr>
          <a:xfrm>
            <a:off x="685800" y="5959145"/>
            <a:ext cx="38405" cy="437998"/>
          </a:xfrm>
          <a:prstGeom prst="roundRect">
            <a:avLst>
              <a:gd name="adj" fmla="val 197618"/>
            </a:avLst>
          </a:prstGeom>
          <a:solidFill>
            <a:srgbClr val="000000"/>
          </a:solidFill>
          <a:ln w="12700">
            <a:solidFill>
              <a:srgbClr val="000000">
                <a:alpha val="0"/>
              </a:srgbClr>
            </a:solidFill>
            <a:prstDash val="solid"/>
          </a:ln>
        </p:spPr>
        <p:txBody>
          <a:bodyPr/>
          <a:lstStyle/>
          <a:p>
            <a:endParaRPr lang="en-US"/>
          </a:p>
        </p:txBody>
      </p:sp>
      <p:sp>
        <p:nvSpPr>
          <p:cNvPr id="46" name="Text 32"/>
          <p:cNvSpPr txBox="1"/>
          <p:nvPr/>
        </p:nvSpPr>
        <p:spPr>
          <a:xfrm>
            <a:off x="1057046" y="6073445"/>
            <a:ext cx="4543654" cy="210312"/>
          </a:xfrm>
          <a:prstGeom prst="rect">
            <a:avLst/>
          </a:prstGeom>
          <a:noFill/>
          <a:ln/>
        </p:spPr>
        <p:txBody>
          <a:bodyPr wrap="non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Solves: WFO Resistance + Brand</a:t>
            </a:r>
            <a:endParaRPr lang="en-US" sz="1000"/>
          </a:p>
        </p:txBody>
      </p:sp>
      <p:pic>
        <p:nvPicPr>
          <p:cNvPr id="47" name="Image 12" descr="gen-dedup-b5a86b1bccfd13e1ee7bd0a5c9907751.png"/>
          <p:cNvPicPr>
            <a:picLocks noChangeAspect="1"/>
          </p:cNvPicPr>
          <p:nvPr/>
        </p:nvPicPr>
        <p:blipFill>
          <a:blip r:embed="rId9"/>
          <a:srcRect t="-13478" b="-13478"/>
          <a:stretch/>
        </p:blipFill>
        <p:spPr>
          <a:xfrm>
            <a:off x="875995" y="6110021"/>
            <a:ext cx="105156" cy="133502"/>
          </a:xfrm>
          <a:prstGeom prst="rect">
            <a:avLst/>
          </a:prstGeom>
        </p:spPr>
      </p:pic>
      <p:pic>
        <p:nvPicPr>
          <p:cNvPr id="48" name="Image 13" descr="gen-dedup-95d112f40cf296f81bdd24a7d4987a4a.png"/>
          <p:cNvPicPr>
            <a:picLocks noChangeAspect="1"/>
          </p:cNvPicPr>
          <p:nvPr/>
        </p:nvPicPr>
        <p:blipFill>
          <a:blip r:embed="rId7"/>
          <a:srcRect l="-7" r="-7"/>
          <a:stretch/>
        </p:blipFill>
        <p:spPr>
          <a:xfrm>
            <a:off x="6210605" y="4143146"/>
            <a:ext cx="5524805" cy="2428646"/>
          </a:xfrm>
          <a:prstGeom prst="rect">
            <a:avLst/>
          </a:prstGeom>
        </p:spPr>
      </p:pic>
      <p:sp>
        <p:nvSpPr>
          <p:cNvPr id="49" name="Shape 33"/>
          <p:cNvSpPr/>
          <p:nvPr/>
        </p:nvSpPr>
        <p:spPr>
          <a:xfrm>
            <a:off x="10972800" y="4143146"/>
            <a:ext cx="761695" cy="761695"/>
          </a:xfrm>
          <a:prstGeom prst="rect">
            <a:avLst/>
          </a:prstGeom>
          <a:solidFill>
            <a:srgbClr val="000000">
              <a:alpha val="2000"/>
            </a:srgbClr>
          </a:solidFill>
          <a:ln w="12700">
            <a:solidFill>
              <a:srgbClr val="FFFFFF">
                <a:alpha val="0"/>
              </a:srgbClr>
            </a:solidFill>
            <a:prstDash val="solid"/>
          </a:ln>
        </p:spPr>
        <p:txBody>
          <a:bodyPr/>
          <a:lstStyle/>
          <a:p>
            <a:endParaRPr lang="en-US"/>
          </a:p>
        </p:txBody>
      </p:sp>
      <p:sp>
        <p:nvSpPr>
          <p:cNvPr id="50" name="Shape 34"/>
          <p:cNvSpPr/>
          <p:nvPr/>
        </p:nvSpPr>
        <p:spPr>
          <a:xfrm>
            <a:off x="6439205" y="4419295"/>
            <a:ext cx="428854" cy="428854"/>
          </a:xfrm>
          <a:prstGeom prst="roundRect">
            <a:avLst>
              <a:gd name="adj" fmla="val 22175"/>
            </a:avLst>
          </a:prstGeom>
          <a:solidFill>
            <a:srgbClr val="D62839">
              <a:alpha val="5000"/>
            </a:srgbClr>
          </a:solidFill>
          <a:ln w="12700">
            <a:solidFill>
              <a:srgbClr val="FFFFFF">
                <a:alpha val="0"/>
              </a:srgbClr>
            </a:solidFill>
            <a:prstDash val="solid"/>
          </a:ln>
        </p:spPr>
        <p:txBody>
          <a:bodyPr/>
          <a:lstStyle/>
          <a:p>
            <a:endParaRPr lang="en-US"/>
          </a:p>
        </p:txBody>
      </p:sp>
      <p:pic>
        <p:nvPicPr>
          <p:cNvPr id="51" name="Image 14" descr="gen-dedup-83b2b39c1654ef06d127da6f7bb8f2a0.png"/>
          <p:cNvPicPr>
            <a:picLocks noChangeAspect="1"/>
          </p:cNvPicPr>
          <p:nvPr/>
        </p:nvPicPr>
        <p:blipFill>
          <a:blip r:embed="rId13"/>
          <a:srcRect t="-28914" b="-28914"/>
          <a:stretch/>
        </p:blipFill>
        <p:spPr>
          <a:xfrm>
            <a:off x="6562649" y="4519879"/>
            <a:ext cx="181051" cy="228600"/>
          </a:xfrm>
          <a:prstGeom prst="rect">
            <a:avLst/>
          </a:prstGeom>
        </p:spPr>
      </p:pic>
      <p:sp>
        <p:nvSpPr>
          <p:cNvPr id="52" name="Text 35"/>
          <p:cNvSpPr txBox="1"/>
          <p:nvPr/>
        </p:nvSpPr>
        <p:spPr>
          <a:xfrm>
            <a:off x="11214202" y="4343400"/>
            <a:ext cx="455371" cy="514807"/>
          </a:xfrm>
          <a:prstGeom prst="rect">
            <a:avLst/>
          </a:prstGeom>
          <a:noFill/>
          <a:ln/>
        </p:spPr>
        <p:txBody>
          <a:bodyPr wrap="none" lIns="0" tIns="0" rIns="0" bIns="0" rtlCol="0" anchor="ctr"/>
          <a:lstStyle/>
          <a:p>
            <a:pPr marL="0" indent="0" algn="l">
              <a:buNone/>
            </a:pPr>
            <a:r>
              <a:rPr lang="en-US" sz="2700" b="1">
                <a:solidFill>
                  <a:srgbClr val="F3F4F6"/>
                </a:solidFill>
                <a:latin typeface="Oswald" pitchFamily="34" charset="0"/>
                <a:ea typeface="Oswald" pitchFamily="34" charset="-122"/>
                <a:cs typeface="Oswald" pitchFamily="34" charset="-120"/>
              </a:rPr>
              <a:t>04</a:t>
            </a:r>
            <a:endParaRPr lang="en-US" sz="2700"/>
          </a:p>
        </p:txBody>
      </p:sp>
      <p:sp>
        <p:nvSpPr>
          <p:cNvPr id="53" name="Text 36"/>
          <p:cNvSpPr txBox="1"/>
          <p:nvPr/>
        </p:nvSpPr>
        <p:spPr>
          <a:xfrm>
            <a:off x="6439205" y="4962449"/>
            <a:ext cx="5067605" cy="277063"/>
          </a:xfrm>
          <a:prstGeom prst="rect">
            <a:avLst/>
          </a:prstGeom>
          <a:noFill/>
          <a:ln/>
        </p:spPr>
        <p:txBody>
          <a:bodyPr wrap="none" lIns="0" tIns="0" rIns="0" bIns="0" rtlCol="0" anchor="ctr"/>
          <a:lstStyle/>
          <a:p>
            <a:pPr marL="0" indent="0" algn="l">
              <a:buNone/>
            </a:pPr>
            <a:r>
              <a:rPr lang="en-US" sz="1800" b="1">
                <a:solidFill>
                  <a:srgbClr val="1F2937"/>
                </a:solidFill>
                <a:latin typeface="Oswald" pitchFamily="34" charset="0"/>
                <a:ea typeface="Oswald" pitchFamily="34" charset="-122"/>
                <a:cs typeface="Oswald" pitchFamily="34" charset="-120"/>
              </a:rPr>
              <a:t>[Solution 4 Title]</a:t>
            </a:r>
            <a:endParaRPr lang="en-US" sz="1800"/>
          </a:p>
        </p:txBody>
      </p:sp>
      <p:sp>
        <p:nvSpPr>
          <p:cNvPr id="54" name="Text 37"/>
          <p:cNvSpPr txBox="1"/>
          <p:nvPr/>
        </p:nvSpPr>
        <p:spPr>
          <a:xfrm>
            <a:off x="6439205" y="5351069"/>
            <a:ext cx="5067605" cy="609905"/>
          </a:xfrm>
          <a:prstGeom prst="rect">
            <a:avLst/>
          </a:prstGeom>
          <a:noFill/>
          <a:ln/>
        </p:spPr>
        <p:txBody>
          <a:bodyPr wrap="square" lIns="0" tIns="0" rIns="0" bIns="0" rtlCol="0" anchor="ctr"/>
          <a:lstStyle/>
          <a:p>
            <a:pPr marL="0" indent="0" algn="l">
              <a:buNone/>
            </a:pPr>
            <a:r>
              <a:rPr lang="en-US" sz="1100">
                <a:solidFill>
                  <a:srgbClr val="4B5563"/>
                </a:solidFill>
                <a:latin typeface="Raleway" pitchFamily="34" charset="0"/>
                <a:ea typeface="Raleway" pitchFamily="34" charset="-122"/>
                <a:cs typeface="Raleway" pitchFamily="34" charset="-120"/>
              </a:rPr>
              <a:t>e.g. Managed RPO Partnership — Consolidated recruitment ops across all BUs with a dedicated team. Eliminates vendor fragmentation. Data-driven hiring intelligence for workforce planning.</a:t>
            </a:r>
            <a:endParaRPr lang="en-US" sz="1100"/>
          </a:p>
        </p:txBody>
      </p:sp>
      <p:sp>
        <p:nvSpPr>
          <p:cNvPr id="55" name="Shape 38"/>
          <p:cNvSpPr/>
          <p:nvPr/>
        </p:nvSpPr>
        <p:spPr>
          <a:xfrm>
            <a:off x="6439205" y="5959145"/>
            <a:ext cx="5067605" cy="437998"/>
          </a:xfrm>
          <a:prstGeom prst="roundRect">
            <a:avLst>
              <a:gd name="adj" fmla="val 17328"/>
            </a:avLst>
          </a:prstGeom>
          <a:solidFill>
            <a:srgbClr val="F9FAFB"/>
          </a:solidFill>
          <a:ln/>
        </p:spPr>
        <p:txBody>
          <a:bodyPr/>
          <a:lstStyle/>
          <a:p>
            <a:endParaRPr lang="en-US"/>
          </a:p>
        </p:txBody>
      </p:sp>
      <p:sp>
        <p:nvSpPr>
          <p:cNvPr id="56" name="Shape 39"/>
          <p:cNvSpPr/>
          <p:nvPr/>
        </p:nvSpPr>
        <p:spPr>
          <a:xfrm>
            <a:off x="6439205" y="5959145"/>
            <a:ext cx="38405" cy="437998"/>
          </a:xfrm>
          <a:prstGeom prst="roundRect">
            <a:avLst>
              <a:gd name="adj" fmla="val 197618"/>
            </a:avLst>
          </a:prstGeom>
          <a:solidFill>
            <a:srgbClr val="000000"/>
          </a:solidFill>
          <a:ln w="12700">
            <a:solidFill>
              <a:srgbClr val="000000">
                <a:alpha val="0"/>
              </a:srgbClr>
            </a:solidFill>
            <a:prstDash val="solid"/>
          </a:ln>
        </p:spPr>
        <p:txBody>
          <a:bodyPr/>
          <a:lstStyle/>
          <a:p>
            <a:endParaRPr lang="en-US"/>
          </a:p>
        </p:txBody>
      </p:sp>
      <p:sp>
        <p:nvSpPr>
          <p:cNvPr id="57" name="Text 40"/>
          <p:cNvSpPr txBox="1"/>
          <p:nvPr/>
        </p:nvSpPr>
        <p:spPr>
          <a:xfrm>
            <a:off x="6810451" y="6073445"/>
            <a:ext cx="4543654" cy="210312"/>
          </a:xfrm>
          <a:prstGeom prst="rect">
            <a:avLst/>
          </a:prstGeom>
          <a:noFill/>
          <a:ln/>
        </p:spPr>
        <p:txBody>
          <a:bodyPr wrap="none" lIns="0" tIns="0" rIns="0" bIns="0" rtlCol="0" anchor="ctr"/>
          <a:lstStyle/>
          <a:p>
            <a:pPr marL="0" indent="0" algn="l">
              <a:buNone/>
            </a:pPr>
            <a:r>
              <a:rPr lang="en-US" sz="1000" b="1">
                <a:solidFill>
                  <a:srgbClr val="374151"/>
                </a:solidFill>
                <a:latin typeface="Raleway" pitchFamily="34" charset="0"/>
                <a:ea typeface="Raleway" pitchFamily="34" charset="-122"/>
                <a:cs typeface="Raleway" pitchFamily="34" charset="-120"/>
              </a:rPr>
              <a:t>Solves: Fragmented Hiring + Scale</a:t>
            </a:r>
            <a:endParaRPr lang="en-US" sz="1000"/>
          </a:p>
        </p:txBody>
      </p:sp>
      <p:pic>
        <p:nvPicPr>
          <p:cNvPr id="58" name="Image 15" descr="gen-dedup-812f619697984955bda52af315dc5a08.png"/>
          <p:cNvPicPr>
            <a:picLocks noChangeAspect="1"/>
          </p:cNvPicPr>
          <p:nvPr/>
        </p:nvPicPr>
        <p:blipFill>
          <a:blip r:embed="rId11"/>
          <a:srcRect t="-13478" b="-13478"/>
          <a:stretch/>
        </p:blipFill>
        <p:spPr>
          <a:xfrm>
            <a:off x="6629400" y="6110021"/>
            <a:ext cx="105156" cy="133502"/>
          </a:xfrm>
          <a:prstGeom prst="rect">
            <a:avLst/>
          </a:prstGeom>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8382305" y="0"/>
            <a:ext cx="3810305" cy="3810305"/>
          </a:xfrm>
          <a:prstGeom prst="ellipse">
            <a:avLst/>
          </a:prstGeom>
          <a:solidFill>
            <a:srgbClr val="2A9D8F">
              <a:alpha val="3000"/>
            </a:srgbClr>
          </a:solidFill>
          <a:ln w="12700">
            <a:solidFill>
              <a:srgbClr val="FFFFFF">
                <a:alpha val="0"/>
              </a:srgbClr>
            </a:solidFill>
            <a:prstDash val="solid"/>
          </a:ln>
        </p:spPr>
        <p:txBody>
          <a:bodyPr/>
          <a:lstStyle/>
          <a:p>
            <a:endParaRPr lang="en-US"/>
          </a:p>
        </p:txBody>
      </p:sp>
      <p:sp>
        <p:nvSpPr>
          <p:cNvPr id="5" name="Shape 3"/>
          <p:cNvSpPr/>
          <p:nvPr/>
        </p:nvSpPr>
        <p:spPr>
          <a:xfrm>
            <a:off x="-476402" y="3524098"/>
            <a:ext cx="2381098" cy="2381098"/>
          </a:xfrm>
          <a:prstGeom prst="ellipse">
            <a:avLst/>
          </a:prstGeom>
          <a:solidFill>
            <a:srgbClr val="D62839">
              <a:alpha val="2000"/>
            </a:srgbClr>
          </a:solidFill>
          <a:ln w="12700">
            <a:solidFill>
              <a:srgbClr val="FFFFFF">
                <a:alpha val="0"/>
              </a:srgbClr>
            </a:solidFill>
            <a:prstDash val="solid"/>
          </a:ln>
        </p:spPr>
        <p:txBody>
          <a:bodyPr/>
          <a:lstStyle/>
          <a:p>
            <a:endParaRPr lang="en-US"/>
          </a:p>
        </p:txBody>
      </p:sp>
      <p:pic>
        <p:nvPicPr>
          <p:cNvPr id="6" name="Image 0" descr="gen-dedup-37abb9d8cc081a24feb608c288538026.png"/>
          <p:cNvPicPr>
            <a:picLocks noChangeAspect="1"/>
          </p:cNvPicPr>
          <p:nvPr/>
        </p:nvPicPr>
        <p:blipFill>
          <a:blip r:embed="rId3"/>
          <a:srcRect l="-198" r="-198"/>
          <a:stretch/>
        </p:blipFill>
        <p:spPr>
          <a:xfrm>
            <a:off x="0" y="0"/>
            <a:ext cx="8124444" cy="75895"/>
          </a:xfrm>
          <a:prstGeom prst="rect">
            <a:avLst/>
          </a:prstGeom>
        </p:spPr>
      </p:pic>
      <p:pic>
        <p:nvPicPr>
          <p:cNvPr id="7" name="Image 1" descr="gen-dedup-c2c9136402f20c216bf7cbcc052ad1a0.png"/>
          <p:cNvPicPr>
            <a:picLocks noChangeAspect="1"/>
          </p:cNvPicPr>
          <p:nvPr/>
        </p:nvPicPr>
        <p:blipFill>
          <a:blip r:embed="rId4"/>
          <a:srcRect l="-202" r="-202"/>
          <a:stretch/>
        </p:blipFill>
        <p:spPr>
          <a:xfrm>
            <a:off x="8124444" y="0"/>
            <a:ext cx="4067251" cy="75895"/>
          </a:xfrm>
          <a:prstGeom prst="rect">
            <a:avLst/>
          </a:prstGeom>
        </p:spPr>
      </p:pic>
      <p:pic>
        <p:nvPicPr>
          <p:cNvPr id="8" name="Image 2" descr="gen-dedup-50f81f9bdcb5400074144f35c0ecb91c.png"/>
          <p:cNvPicPr>
            <a:picLocks noChangeAspect="1"/>
          </p:cNvPicPr>
          <p:nvPr/>
        </p:nvPicPr>
        <p:blipFill>
          <a:blip r:embed="rId5"/>
          <a:srcRect l="-7" r="-7"/>
          <a:stretch/>
        </p:blipFill>
        <p:spPr>
          <a:xfrm>
            <a:off x="2704795" y="1238098"/>
            <a:ext cx="3143707" cy="4457700"/>
          </a:xfrm>
          <a:prstGeom prst="rect">
            <a:avLst/>
          </a:prstGeom>
        </p:spPr>
      </p:pic>
      <p:sp>
        <p:nvSpPr>
          <p:cNvPr id="9" name="Shape 4"/>
          <p:cNvSpPr/>
          <p:nvPr/>
        </p:nvSpPr>
        <p:spPr>
          <a:xfrm>
            <a:off x="609905" y="5762549"/>
            <a:ext cx="10992002" cy="847649"/>
          </a:xfrm>
          <a:prstGeom prst="roundRect">
            <a:avLst>
              <a:gd name="adj" fmla="val 19393"/>
            </a:avLst>
          </a:prstGeom>
          <a:solidFill>
            <a:srgbClr val="F8FAFC"/>
          </a:solidFill>
          <a:ln w="12700">
            <a:solidFill>
              <a:srgbClr val="E2E8F0"/>
            </a:solidFill>
            <a:prstDash val="solid"/>
          </a:ln>
          <a:effectLst>
            <a:outerShdw blurRad="63500" dist="38100" dir="16200000" algn="bl" rotWithShape="0">
              <a:srgbClr val="000000">
                <a:alpha val="2000"/>
              </a:srgbClr>
            </a:outerShdw>
          </a:effectLst>
        </p:spPr>
        <p:txBody>
          <a:bodyPr/>
          <a:lstStyle/>
          <a:p>
            <a:endParaRPr lang="en-US"/>
          </a:p>
        </p:txBody>
      </p:sp>
      <p:pic>
        <p:nvPicPr>
          <p:cNvPr id="10" name="Image 3" descr="gen-dedup-1004aa64a550a79a04cd74d7f57c96c1.png"/>
          <p:cNvPicPr>
            <a:picLocks noChangeAspect="1"/>
          </p:cNvPicPr>
          <p:nvPr/>
        </p:nvPicPr>
        <p:blipFill>
          <a:blip r:embed="rId6"/>
          <a:srcRect l="-2083" r="-2083"/>
          <a:stretch/>
        </p:blipFill>
        <p:spPr>
          <a:xfrm>
            <a:off x="609905" y="2467051"/>
            <a:ext cx="10972800" cy="9144"/>
          </a:xfrm>
          <a:prstGeom prst="rect">
            <a:avLst/>
          </a:prstGeom>
        </p:spPr>
      </p:pic>
      <p:pic>
        <p:nvPicPr>
          <p:cNvPr id="11" name="Image 4" descr="gen-dedup-1004aa64a550a79a04cd74d7f57c96c1.png"/>
          <p:cNvPicPr>
            <a:picLocks noChangeAspect="1"/>
          </p:cNvPicPr>
          <p:nvPr/>
        </p:nvPicPr>
        <p:blipFill>
          <a:blip r:embed="rId6"/>
          <a:srcRect l="-2083" r="-2083"/>
          <a:stretch/>
        </p:blipFill>
        <p:spPr>
          <a:xfrm>
            <a:off x="609905" y="3267151"/>
            <a:ext cx="10972800" cy="9144"/>
          </a:xfrm>
          <a:prstGeom prst="rect">
            <a:avLst/>
          </a:prstGeom>
        </p:spPr>
      </p:pic>
      <p:pic>
        <p:nvPicPr>
          <p:cNvPr id="12" name="Image 5" descr="gen-dedup-1004aa64a550a79a04cd74d7f57c96c1.png"/>
          <p:cNvPicPr>
            <a:picLocks noChangeAspect="1"/>
          </p:cNvPicPr>
          <p:nvPr/>
        </p:nvPicPr>
        <p:blipFill>
          <a:blip r:embed="rId6"/>
          <a:srcRect l="-2083" r="-2083"/>
          <a:stretch/>
        </p:blipFill>
        <p:spPr>
          <a:xfrm>
            <a:off x="609905" y="4067251"/>
            <a:ext cx="10972800" cy="9144"/>
          </a:xfrm>
          <a:prstGeom prst="rect">
            <a:avLst/>
          </a:prstGeom>
        </p:spPr>
      </p:pic>
      <p:pic>
        <p:nvPicPr>
          <p:cNvPr id="13" name="Image 6" descr="gen-dedup-1004aa64a550a79a04cd74d7f57c96c1.png"/>
          <p:cNvPicPr>
            <a:picLocks noChangeAspect="1"/>
          </p:cNvPicPr>
          <p:nvPr/>
        </p:nvPicPr>
        <p:blipFill>
          <a:blip r:embed="rId6"/>
          <a:srcRect l="-2083" r="-2083"/>
          <a:stretch/>
        </p:blipFill>
        <p:spPr>
          <a:xfrm>
            <a:off x="609905" y="4867351"/>
            <a:ext cx="10972800" cy="9144"/>
          </a:xfrm>
          <a:prstGeom prst="rect">
            <a:avLst/>
          </a:prstGeom>
        </p:spPr>
      </p:pic>
      <p:pic>
        <p:nvPicPr>
          <p:cNvPr id="14" name="Image 7" descr="gen-dedup-06e3d16aa0e9246458a784af17ea21a8.png"/>
          <p:cNvPicPr>
            <a:picLocks noChangeAspect="1"/>
          </p:cNvPicPr>
          <p:nvPr/>
        </p:nvPicPr>
        <p:blipFill>
          <a:blip r:embed="rId7"/>
          <a:srcRect l="-437" r="-437"/>
          <a:stretch/>
        </p:blipFill>
        <p:spPr>
          <a:xfrm>
            <a:off x="609905" y="390449"/>
            <a:ext cx="57607" cy="418795"/>
          </a:xfrm>
          <a:prstGeom prst="rect">
            <a:avLst/>
          </a:prstGeom>
        </p:spPr>
      </p:pic>
      <p:sp>
        <p:nvSpPr>
          <p:cNvPr id="15" name="Text 5"/>
          <p:cNvSpPr txBox="1"/>
          <p:nvPr/>
        </p:nvSpPr>
        <p:spPr>
          <a:xfrm>
            <a:off x="819302" y="390449"/>
            <a:ext cx="10478110" cy="381305"/>
          </a:xfrm>
          <a:prstGeom prst="rect">
            <a:avLst/>
          </a:prstGeom>
          <a:noFill/>
          <a:ln/>
        </p:spPr>
        <p:txBody>
          <a:bodyPr wrap="square" lIns="0" tIns="0" rIns="0" bIns="0" rtlCol="0" anchor="ctr"/>
          <a:lstStyle/>
          <a:p>
            <a:pPr marL="0" indent="0" algn="l">
              <a:buNone/>
            </a:pPr>
            <a:r>
              <a:rPr lang="en-US" sz="2700" b="1">
                <a:solidFill>
                  <a:srgbClr val="111827"/>
                </a:solidFill>
                <a:latin typeface="Oswald" pitchFamily="34" charset="0"/>
                <a:ea typeface="Oswald" pitchFamily="34" charset="-122"/>
                <a:cs typeface="Oswald" pitchFamily="34" charset="-120"/>
              </a:rPr>
              <a:t>WHY J2W - NOT THE BIG 4 OR LARGE SIs</a:t>
            </a:r>
            <a:endParaRPr lang="en-US" sz="2700"/>
          </a:p>
        </p:txBody>
      </p:sp>
      <p:sp>
        <p:nvSpPr>
          <p:cNvPr id="16" name="Text 6"/>
          <p:cNvSpPr txBox="1"/>
          <p:nvPr/>
        </p:nvSpPr>
        <p:spPr>
          <a:xfrm>
            <a:off x="819302" y="824789"/>
            <a:ext cx="10478110" cy="181051"/>
          </a:xfrm>
          <a:prstGeom prst="rect">
            <a:avLst/>
          </a:prstGeom>
          <a:noFill/>
          <a:ln/>
        </p:spPr>
        <p:txBody>
          <a:bodyPr wrap="square" lIns="0" tIns="0" rIns="0" bIns="0" rtlCol="0" anchor="ctr"/>
          <a:lstStyle/>
          <a:p>
            <a:pPr marL="0" indent="0" algn="l">
              <a:buNone/>
            </a:pPr>
            <a:r>
              <a:rPr lang="en-US" sz="1200" b="1" kern="0" spc="60">
                <a:solidFill>
                  <a:srgbClr val="2A9D8F"/>
                </a:solidFill>
                <a:latin typeface="Roboto Condensed" pitchFamily="34" charset="0"/>
                <a:ea typeface="Roboto Condensed" pitchFamily="34" charset="-122"/>
                <a:cs typeface="Roboto Condensed" pitchFamily="34" charset="-120"/>
              </a:rPr>
              <a:t>THE SMARTER CHOICE FOR AI &amp; DIGITAL TRANSFORMATION AT SCALE</a:t>
            </a:r>
            <a:endParaRPr lang="en-US" sz="1200"/>
          </a:p>
        </p:txBody>
      </p:sp>
      <p:sp>
        <p:nvSpPr>
          <p:cNvPr id="17" name="Text 7"/>
          <p:cNvSpPr txBox="1"/>
          <p:nvPr/>
        </p:nvSpPr>
        <p:spPr>
          <a:xfrm>
            <a:off x="2704795" y="1333195"/>
            <a:ext cx="3143707" cy="286207"/>
          </a:xfrm>
          <a:prstGeom prst="rect">
            <a:avLst/>
          </a:prstGeom>
          <a:noFill/>
          <a:ln/>
        </p:spPr>
        <p:txBody>
          <a:bodyPr wrap="square" lIns="0" tIns="0" rIns="0" bIns="0" rtlCol="0" anchor="ctr"/>
          <a:lstStyle/>
          <a:p>
            <a:pPr marL="0" indent="0" algn="ctr">
              <a:buNone/>
            </a:pPr>
            <a:r>
              <a:rPr lang="en-US" sz="1500" b="1">
                <a:solidFill>
                  <a:srgbClr val="111827"/>
                </a:solidFill>
                <a:latin typeface="Oswald" pitchFamily="34" charset="0"/>
                <a:ea typeface="Oswald" pitchFamily="34" charset="-122"/>
                <a:cs typeface="Oswald" pitchFamily="34" charset="-120"/>
              </a:rPr>
              <a:t>JoulesToWatts + J2W</a:t>
            </a:r>
            <a:endParaRPr lang="en-US" sz="1500"/>
          </a:p>
        </p:txBody>
      </p:sp>
      <p:sp>
        <p:nvSpPr>
          <p:cNvPr id="18" name="Text 8"/>
          <p:cNvSpPr txBox="1"/>
          <p:nvPr/>
        </p:nvSpPr>
        <p:spPr>
          <a:xfrm>
            <a:off x="5848502" y="1333195"/>
            <a:ext cx="2857500" cy="286207"/>
          </a:xfrm>
          <a:prstGeom prst="rect">
            <a:avLst/>
          </a:prstGeom>
          <a:noFill/>
          <a:ln/>
        </p:spPr>
        <p:txBody>
          <a:bodyPr wrap="square" lIns="0" tIns="0" rIns="0" bIns="0" rtlCol="0" anchor="ctr"/>
          <a:lstStyle/>
          <a:p>
            <a:pPr marL="0" indent="0" algn="ctr">
              <a:buNone/>
            </a:pPr>
            <a:r>
              <a:rPr lang="en-US" sz="1500" b="1">
                <a:solidFill>
                  <a:srgbClr val="64748B"/>
                </a:solidFill>
                <a:latin typeface="Oswald" pitchFamily="34" charset="0"/>
                <a:ea typeface="Oswald" pitchFamily="34" charset="-122"/>
                <a:cs typeface="Oswald" pitchFamily="34" charset="-120"/>
              </a:rPr>
              <a:t>Big 4 / Top IT SIs</a:t>
            </a:r>
            <a:endParaRPr lang="en-US" sz="1500"/>
          </a:p>
        </p:txBody>
      </p:sp>
      <p:sp>
        <p:nvSpPr>
          <p:cNvPr id="19" name="Text 9"/>
          <p:cNvSpPr txBox="1"/>
          <p:nvPr/>
        </p:nvSpPr>
        <p:spPr>
          <a:xfrm>
            <a:off x="8706002" y="1333195"/>
            <a:ext cx="2876702" cy="286207"/>
          </a:xfrm>
          <a:prstGeom prst="rect">
            <a:avLst/>
          </a:prstGeom>
          <a:noFill/>
          <a:ln/>
        </p:spPr>
        <p:txBody>
          <a:bodyPr wrap="square" lIns="0" tIns="0" rIns="0" bIns="0" rtlCol="0" anchor="ctr"/>
          <a:lstStyle/>
          <a:p>
            <a:pPr marL="0" indent="0" algn="ctr">
              <a:buNone/>
            </a:pPr>
            <a:r>
              <a:rPr lang="en-US" sz="1500" b="1">
                <a:solidFill>
                  <a:srgbClr val="64748B"/>
                </a:solidFill>
                <a:latin typeface="Oswald" pitchFamily="34" charset="0"/>
                <a:ea typeface="Oswald" pitchFamily="34" charset="-122"/>
                <a:cs typeface="Oswald" pitchFamily="34" charset="-120"/>
              </a:rPr>
              <a:t>Staffing Agencies</a:t>
            </a:r>
            <a:endParaRPr lang="en-US" sz="1500"/>
          </a:p>
        </p:txBody>
      </p:sp>
      <p:sp>
        <p:nvSpPr>
          <p:cNvPr id="20" name="Text 10"/>
          <p:cNvSpPr txBox="1"/>
          <p:nvPr/>
        </p:nvSpPr>
        <p:spPr>
          <a:xfrm>
            <a:off x="609905" y="1990649"/>
            <a:ext cx="1905610"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ROI &amp; Outcome Model</a:t>
            </a:r>
            <a:endParaRPr lang="en-US" sz="1000"/>
          </a:p>
        </p:txBody>
      </p:sp>
      <p:sp>
        <p:nvSpPr>
          <p:cNvPr id="21" name="Text 11"/>
          <p:cNvSpPr txBox="1"/>
          <p:nvPr/>
        </p:nvSpPr>
        <p:spPr>
          <a:xfrm>
            <a:off x="2895905" y="1806854"/>
            <a:ext cx="2762402" cy="523951"/>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Outcome-driven from Day 1 - aligned to your milestones, CXO ROI expectations &amp; project KPIs</a:t>
            </a:r>
            <a:endParaRPr lang="en-US" sz="1000"/>
          </a:p>
        </p:txBody>
      </p:sp>
      <p:sp>
        <p:nvSpPr>
          <p:cNvPr id="22" name="Text 12"/>
          <p:cNvSpPr txBox="1"/>
          <p:nvPr/>
        </p:nvSpPr>
        <p:spPr>
          <a:xfrm>
            <a:off x="6038698" y="1806854"/>
            <a:ext cx="2477110" cy="523951"/>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Heavy retainers + longer payback cycles. High technical debt risk on failed transformations</a:t>
            </a:r>
            <a:endParaRPr lang="en-US" sz="1000"/>
          </a:p>
        </p:txBody>
      </p:sp>
      <p:sp>
        <p:nvSpPr>
          <p:cNvPr id="23" name="Text 13"/>
          <p:cNvSpPr txBox="1"/>
          <p:nvPr/>
        </p:nvSpPr>
        <p:spPr>
          <a:xfrm>
            <a:off x="8896198" y="1893722"/>
            <a:ext cx="2496312" cy="352958"/>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Headcount model only. Zero delivery ownership or outcome accountability</a:t>
            </a:r>
            <a:endParaRPr lang="en-US" sz="1000"/>
          </a:p>
        </p:txBody>
      </p:sp>
      <p:sp>
        <p:nvSpPr>
          <p:cNvPr id="24" name="Text 14"/>
          <p:cNvSpPr txBox="1"/>
          <p:nvPr/>
        </p:nvSpPr>
        <p:spPr>
          <a:xfrm>
            <a:off x="609905" y="2790749"/>
            <a:ext cx="1905610"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Time-To-Value</a:t>
            </a:r>
            <a:endParaRPr lang="en-US" sz="1000"/>
          </a:p>
        </p:txBody>
      </p:sp>
      <p:sp>
        <p:nvSpPr>
          <p:cNvPr id="25" name="Text 15"/>
          <p:cNvSpPr txBox="1"/>
          <p:nvPr/>
        </p:nvSpPr>
        <p:spPr>
          <a:xfrm>
            <a:off x="2895905" y="2606954"/>
            <a:ext cx="2762402" cy="523951"/>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Production-ready Gen &amp; Agentic AI PoCs in weeks via 50+ accelerators across SAP, Oracle, ServiceNow &amp; more</a:t>
            </a:r>
            <a:endParaRPr lang="en-US" sz="1000"/>
          </a:p>
        </p:txBody>
      </p:sp>
      <p:sp>
        <p:nvSpPr>
          <p:cNvPr id="26" name="Text 16"/>
          <p:cNvSpPr txBox="1"/>
          <p:nvPr/>
        </p:nvSpPr>
        <p:spPr>
          <a:xfrm>
            <a:off x="6038698" y="2606954"/>
            <a:ext cx="2477110" cy="523951"/>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Lengthy consulting cycles with SI-driven models - higher costs &amp; slower results</a:t>
            </a:r>
            <a:endParaRPr lang="en-US" sz="1000"/>
          </a:p>
        </p:txBody>
      </p:sp>
      <p:sp>
        <p:nvSpPr>
          <p:cNvPr id="27" name="Text 17"/>
          <p:cNvSpPr txBox="1"/>
          <p:nvPr/>
        </p:nvSpPr>
        <p:spPr>
          <a:xfrm>
            <a:off x="8896198" y="2780690"/>
            <a:ext cx="2496312" cy="181051"/>
          </a:xfrm>
          <a:prstGeom prst="rect">
            <a:avLst/>
          </a:prstGeom>
          <a:noFill/>
          <a:ln/>
        </p:spPr>
        <p:txBody>
          <a:bodyPr wrap="square" lIns="0" tIns="0" rIns="0" bIns="0" rtlCol="0" anchor="ctr"/>
          <a:lstStyle/>
          <a:p>
            <a:pPr marL="0" indent="0" algn="l">
              <a:buNone/>
            </a:pPr>
            <a:r>
              <a:rPr lang="en-US" sz="1000" i="1">
                <a:solidFill>
                  <a:srgbClr val="94A3B8"/>
                </a:solidFill>
                <a:latin typeface="Raleway" pitchFamily="34" charset="0"/>
                <a:ea typeface="Raleway" pitchFamily="34" charset="-122"/>
                <a:cs typeface="Raleway" pitchFamily="34" charset="-120"/>
              </a:rPr>
              <a:t>Not offered</a:t>
            </a:r>
            <a:endParaRPr lang="en-US" sz="1000"/>
          </a:p>
        </p:txBody>
      </p:sp>
      <p:sp>
        <p:nvSpPr>
          <p:cNvPr id="28" name="Text 18"/>
          <p:cNvSpPr txBox="1"/>
          <p:nvPr/>
        </p:nvSpPr>
        <p:spPr>
          <a:xfrm>
            <a:off x="609905" y="3590849"/>
            <a:ext cx="1905610"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AI / Data Governance</a:t>
            </a:r>
            <a:endParaRPr lang="en-US" sz="1000"/>
          </a:p>
        </p:txBody>
      </p:sp>
      <p:sp>
        <p:nvSpPr>
          <p:cNvPr id="29" name="Text 19"/>
          <p:cNvSpPr txBox="1"/>
          <p:nvPr/>
        </p:nvSpPr>
        <p:spPr>
          <a:xfrm>
            <a:off x="2895905" y="3321101"/>
            <a:ext cx="2762402" cy="695858"/>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Pre-built guardrails. Mission-critical delivery in regulated industries (Fortune 500 MedTech). Data stays in your environment</a:t>
            </a:r>
            <a:endParaRPr lang="en-US" sz="1000"/>
          </a:p>
        </p:txBody>
      </p:sp>
      <p:sp>
        <p:nvSpPr>
          <p:cNvPr id="30" name="Text 20"/>
          <p:cNvSpPr txBox="1"/>
          <p:nvPr/>
        </p:nvSpPr>
        <p:spPr>
          <a:xfrm>
            <a:off x="6038698" y="3407054"/>
            <a:ext cx="2477110" cy="523951"/>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Claims excellence, but multiple public incidents (e.g. Deloitte AU govt penalties) undermine credibility</a:t>
            </a:r>
            <a:endParaRPr lang="en-US" sz="1000"/>
          </a:p>
        </p:txBody>
      </p:sp>
      <p:sp>
        <p:nvSpPr>
          <p:cNvPr id="31" name="Text 21"/>
          <p:cNvSpPr txBox="1"/>
          <p:nvPr/>
        </p:nvSpPr>
        <p:spPr>
          <a:xfrm>
            <a:off x="8896198" y="3580790"/>
            <a:ext cx="2496312" cy="181051"/>
          </a:xfrm>
          <a:prstGeom prst="rect">
            <a:avLst/>
          </a:prstGeom>
          <a:noFill/>
          <a:ln/>
        </p:spPr>
        <p:txBody>
          <a:bodyPr wrap="square" lIns="0" tIns="0" rIns="0" bIns="0" rtlCol="0" anchor="ctr"/>
          <a:lstStyle/>
          <a:p>
            <a:pPr marL="0" indent="0" algn="l">
              <a:buNone/>
            </a:pPr>
            <a:r>
              <a:rPr lang="en-US" sz="1000" i="1">
                <a:solidFill>
                  <a:srgbClr val="94A3B8"/>
                </a:solidFill>
                <a:latin typeface="Raleway" pitchFamily="34" charset="0"/>
                <a:ea typeface="Raleway" pitchFamily="34" charset="-122"/>
                <a:cs typeface="Raleway" pitchFamily="34" charset="-120"/>
              </a:rPr>
              <a:t>Not offered</a:t>
            </a:r>
            <a:endParaRPr lang="en-US" sz="1000"/>
          </a:p>
        </p:txBody>
      </p:sp>
      <p:sp>
        <p:nvSpPr>
          <p:cNvPr id="32" name="Text 22"/>
          <p:cNvSpPr txBox="1"/>
          <p:nvPr/>
        </p:nvSpPr>
        <p:spPr>
          <a:xfrm>
            <a:off x="609905" y="4390949"/>
            <a:ext cx="1905610"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AI OPEX Optimisation</a:t>
            </a:r>
            <a:endParaRPr lang="en-US" sz="1000"/>
          </a:p>
        </p:txBody>
      </p:sp>
      <p:sp>
        <p:nvSpPr>
          <p:cNvPr id="33" name="Text 23"/>
          <p:cNvSpPr txBox="1"/>
          <p:nvPr/>
        </p:nvSpPr>
        <p:spPr>
          <a:xfrm>
            <a:off x="2895905" y="4207154"/>
            <a:ext cx="2762402" cy="523951"/>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30-40% reduction in AI OPEX via Query Routing, Semantic Caching, Precision RAG &amp; in-house SLMs</a:t>
            </a:r>
            <a:endParaRPr lang="en-US" sz="1000"/>
          </a:p>
        </p:txBody>
      </p:sp>
      <p:sp>
        <p:nvSpPr>
          <p:cNvPr id="34" name="Text 24"/>
          <p:cNvSpPr txBox="1"/>
          <p:nvPr/>
        </p:nvSpPr>
        <p:spPr>
          <a:xfrm>
            <a:off x="6038698" y="4294022"/>
            <a:ext cx="2477110" cy="352958"/>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SI </a:t>
            </a:r>
            <a:r>
              <a:rPr lang="en-US" sz="1000" err="1">
                <a:solidFill>
                  <a:srgbClr val="475569"/>
                </a:solidFill>
                <a:latin typeface="Raleway" pitchFamily="34" charset="0"/>
                <a:ea typeface="Raleway" pitchFamily="34" charset="-122"/>
                <a:cs typeface="Raleway" pitchFamily="34" charset="-120"/>
              </a:rPr>
              <a:t>incentivised</a:t>
            </a:r>
            <a:r>
              <a:rPr lang="en-US" sz="1000">
                <a:solidFill>
                  <a:srgbClr val="475569"/>
                </a:solidFill>
                <a:latin typeface="Raleway" pitchFamily="34" charset="0"/>
                <a:ea typeface="Raleway" pitchFamily="34" charset="-122"/>
                <a:cs typeface="Raleway" pitchFamily="34" charset="-120"/>
              </a:rPr>
              <a:t> to </a:t>
            </a:r>
            <a:r>
              <a:rPr lang="en-US" sz="1000" err="1">
                <a:solidFill>
                  <a:srgbClr val="475569"/>
                </a:solidFill>
                <a:latin typeface="Raleway" pitchFamily="34" charset="0"/>
                <a:ea typeface="Raleway" pitchFamily="34" charset="-122"/>
                <a:cs typeface="Raleway" pitchFamily="34" charset="-120"/>
              </a:rPr>
              <a:t>maximise</a:t>
            </a:r>
            <a:r>
              <a:rPr lang="en-US" sz="1000">
                <a:solidFill>
                  <a:srgbClr val="475569"/>
                </a:solidFill>
                <a:latin typeface="Raleway" pitchFamily="34" charset="0"/>
                <a:ea typeface="Raleway" pitchFamily="34" charset="-122"/>
                <a:cs typeface="Raleway" pitchFamily="34" charset="-120"/>
              </a:rPr>
              <a:t> </a:t>
            </a:r>
            <a:r>
              <a:rPr lang="en-US" sz="1000" err="1">
                <a:solidFill>
                  <a:srgbClr val="475569"/>
                </a:solidFill>
                <a:latin typeface="Raleway" pitchFamily="34" charset="0"/>
                <a:ea typeface="Raleway" pitchFamily="34" charset="-122"/>
                <a:cs typeface="Raleway" pitchFamily="34" charset="-120"/>
              </a:rPr>
              <a:t>licences</a:t>
            </a:r>
            <a:r>
              <a:rPr lang="en-US" sz="1000">
                <a:solidFill>
                  <a:srgbClr val="475569"/>
                </a:solidFill>
                <a:latin typeface="Raleway" pitchFamily="34" charset="0"/>
                <a:ea typeface="Raleway" pitchFamily="34" charset="-122"/>
                <a:cs typeface="Raleway" pitchFamily="34" charset="-120"/>
              </a:rPr>
              <a:t> &amp; tokens - not to </a:t>
            </a:r>
            <a:r>
              <a:rPr lang="en-US" sz="1000" err="1">
                <a:solidFill>
                  <a:srgbClr val="475569"/>
                </a:solidFill>
                <a:latin typeface="Raleway" pitchFamily="34" charset="0"/>
                <a:ea typeface="Raleway" pitchFamily="34" charset="-122"/>
                <a:cs typeface="Raleway" pitchFamily="34" charset="-120"/>
              </a:rPr>
              <a:t>optimise</a:t>
            </a:r>
            <a:r>
              <a:rPr lang="en-US" sz="1000">
                <a:solidFill>
                  <a:srgbClr val="475569"/>
                </a:solidFill>
                <a:latin typeface="Raleway" pitchFamily="34" charset="0"/>
                <a:ea typeface="Raleway" pitchFamily="34" charset="-122"/>
                <a:cs typeface="Raleway" pitchFamily="34" charset="-120"/>
              </a:rPr>
              <a:t> your cost</a:t>
            </a:r>
            <a:endParaRPr lang="en-US" sz="1000"/>
          </a:p>
        </p:txBody>
      </p:sp>
      <p:sp>
        <p:nvSpPr>
          <p:cNvPr id="35" name="Text 25"/>
          <p:cNvSpPr txBox="1"/>
          <p:nvPr/>
        </p:nvSpPr>
        <p:spPr>
          <a:xfrm>
            <a:off x="8896198" y="4380890"/>
            <a:ext cx="2496312" cy="181051"/>
          </a:xfrm>
          <a:prstGeom prst="rect">
            <a:avLst/>
          </a:prstGeom>
          <a:noFill/>
          <a:ln/>
        </p:spPr>
        <p:txBody>
          <a:bodyPr wrap="square" lIns="0" tIns="0" rIns="0" bIns="0" rtlCol="0" anchor="ctr"/>
          <a:lstStyle/>
          <a:p>
            <a:pPr marL="0" indent="0" algn="l">
              <a:buNone/>
            </a:pPr>
            <a:r>
              <a:rPr lang="en-US" sz="1000" i="1">
                <a:solidFill>
                  <a:srgbClr val="94A3B8"/>
                </a:solidFill>
                <a:latin typeface="Raleway" pitchFamily="34" charset="0"/>
                <a:ea typeface="Raleway" pitchFamily="34" charset="-122"/>
                <a:cs typeface="Raleway" pitchFamily="34" charset="-120"/>
              </a:rPr>
              <a:t>Not offered</a:t>
            </a:r>
            <a:endParaRPr lang="en-US" sz="1000"/>
          </a:p>
        </p:txBody>
      </p:sp>
      <p:sp>
        <p:nvSpPr>
          <p:cNvPr id="36" name="Text 26"/>
          <p:cNvSpPr txBox="1"/>
          <p:nvPr/>
        </p:nvSpPr>
        <p:spPr>
          <a:xfrm>
            <a:off x="609905" y="5191049"/>
            <a:ext cx="2143354" cy="152705"/>
          </a:xfrm>
          <a:prstGeom prst="rect">
            <a:avLst/>
          </a:prstGeom>
          <a:noFill/>
          <a:ln/>
        </p:spPr>
        <p:txBody>
          <a:bodyPr wrap="square" lIns="0" tIns="0" rIns="0" bIns="0" rtlCol="0" anchor="ctr"/>
          <a:lstStyle/>
          <a:p>
            <a:pPr marL="0" indent="0" algn="l">
              <a:buNone/>
            </a:pPr>
            <a:r>
              <a:rPr lang="en-US" sz="1000" b="1">
                <a:solidFill>
                  <a:srgbClr val="334155"/>
                </a:solidFill>
                <a:latin typeface="Roboto Condensed" pitchFamily="34" charset="0"/>
                <a:ea typeface="Roboto Condensed" pitchFamily="34" charset="-122"/>
                <a:cs typeface="Roboto Condensed" pitchFamily="34" charset="-120"/>
              </a:rPr>
              <a:t>Talent &amp; Managed Services</a:t>
            </a:r>
            <a:endParaRPr lang="en-US" sz="1000"/>
          </a:p>
        </p:txBody>
      </p:sp>
      <p:sp>
        <p:nvSpPr>
          <p:cNvPr id="37" name="Text 27"/>
          <p:cNvSpPr txBox="1"/>
          <p:nvPr/>
        </p:nvSpPr>
        <p:spPr>
          <a:xfrm>
            <a:off x="2895905" y="5007254"/>
            <a:ext cx="2762402" cy="523951"/>
          </a:xfrm>
          <a:prstGeom prst="rect">
            <a:avLst/>
          </a:prstGeom>
          <a:noFill/>
          <a:ln/>
        </p:spPr>
        <p:txBody>
          <a:bodyPr wrap="square" lIns="0" tIns="0" rIns="0" bIns="0" rtlCol="0" anchor="ctr"/>
          <a:lstStyle/>
          <a:p>
            <a:pPr marL="0" indent="0" algn="l">
              <a:buNone/>
            </a:pPr>
            <a:r>
              <a:rPr lang="en-US" sz="1000" b="1">
                <a:solidFill>
                  <a:srgbClr val="111827"/>
                </a:solidFill>
                <a:latin typeface="Raleway" pitchFamily="34" charset="0"/>
                <a:ea typeface="Raleway" pitchFamily="34" charset="-122"/>
                <a:cs typeface="Raleway" pitchFamily="34" charset="-120"/>
              </a:rPr>
              <a:t>7,200+ in-house consultants · 300+ recruiters · 2 proprietary hiring platforms · No subcontracting</a:t>
            </a:r>
            <a:endParaRPr lang="en-US" sz="1000"/>
          </a:p>
        </p:txBody>
      </p:sp>
      <p:sp>
        <p:nvSpPr>
          <p:cNvPr id="38" name="Text 28"/>
          <p:cNvSpPr txBox="1"/>
          <p:nvPr/>
        </p:nvSpPr>
        <p:spPr>
          <a:xfrm>
            <a:off x="6038698" y="5094122"/>
            <a:ext cx="2477110" cy="352958"/>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Frequently subcontract. No proprietary hiring platforms</a:t>
            </a:r>
            <a:endParaRPr lang="en-US" sz="1000"/>
          </a:p>
        </p:txBody>
      </p:sp>
      <p:sp>
        <p:nvSpPr>
          <p:cNvPr id="39" name="Text 29"/>
          <p:cNvSpPr txBox="1"/>
          <p:nvPr/>
        </p:nvSpPr>
        <p:spPr>
          <a:xfrm>
            <a:off x="8896198" y="5094122"/>
            <a:ext cx="2496312" cy="352958"/>
          </a:xfrm>
          <a:prstGeom prst="rect">
            <a:avLst/>
          </a:prstGeom>
          <a:noFill/>
          <a:ln/>
        </p:spPr>
        <p:txBody>
          <a:bodyPr wrap="square" lIns="0" tIns="0" rIns="0" bIns="0" rtlCol="0" anchor="ctr"/>
          <a:lstStyle/>
          <a:p>
            <a:pPr marL="0" indent="0" algn="l">
              <a:buNone/>
            </a:pPr>
            <a:r>
              <a:rPr lang="en-US" sz="1000">
                <a:solidFill>
                  <a:srgbClr val="475569"/>
                </a:solidFill>
                <a:latin typeface="Raleway" pitchFamily="34" charset="0"/>
                <a:ea typeface="Raleway" pitchFamily="34" charset="-122"/>
                <a:cs typeface="Raleway" pitchFamily="34" charset="-120"/>
              </a:rPr>
              <a:t>Lacks SME depth &amp; governance. Outcome ownership absent</a:t>
            </a:r>
            <a:endParaRPr lang="en-US" sz="1000"/>
          </a:p>
        </p:txBody>
      </p:sp>
      <p:sp>
        <p:nvSpPr>
          <p:cNvPr id="40" name="Shape 30"/>
          <p:cNvSpPr/>
          <p:nvPr/>
        </p:nvSpPr>
        <p:spPr>
          <a:xfrm>
            <a:off x="2315261" y="5762549"/>
            <a:ext cx="9144" cy="828446"/>
          </a:xfrm>
          <a:prstGeom prst="rect">
            <a:avLst/>
          </a:prstGeom>
          <a:solidFill>
            <a:srgbClr val="E2E8F0"/>
          </a:solidFill>
          <a:ln w="12700">
            <a:solidFill>
              <a:srgbClr val="E2E8F0">
                <a:alpha val="0"/>
              </a:srgbClr>
            </a:solidFill>
            <a:prstDash val="solid"/>
          </a:ln>
        </p:spPr>
        <p:txBody>
          <a:bodyPr/>
          <a:lstStyle/>
          <a:p>
            <a:endParaRPr lang="en-US"/>
          </a:p>
        </p:txBody>
      </p:sp>
      <p:sp>
        <p:nvSpPr>
          <p:cNvPr id="41" name="Text 31"/>
          <p:cNvSpPr txBox="1"/>
          <p:nvPr/>
        </p:nvSpPr>
        <p:spPr>
          <a:xfrm>
            <a:off x="1185062" y="6072530"/>
            <a:ext cx="1043330" cy="210312"/>
          </a:xfrm>
          <a:prstGeom prst="rect">
            <a:avLst/>
          </a:prstGeom>
          <a:noFill/>
          <a:ln/>
        </p:spPr>
        <p:txBody>
          <a:bodyPr wrap="square" lIns="0" tIns="0" rIns="0" bIns="0" rtlCol="0" anchor="ctr"/>
          <a:lstStyle/>
          <a:p>
            <a:pPr marL="0" indent="0" algn="l">
              <a:buNone/>
            </a:pPr>
            <a:r>
              <a:rPr lang="en-US" sz="1100" b="1" kern="0" spc="56">
                <a:solidFill>
                  <a:srgbClr val="64748B"/>
                </a:solidFill>
                <a:latin typeface="Oswald" pitchFamily="34" charset="0"/>
                <a:ea typeface="Oswald" pitchFamily="34" charset="-122"/>
                <a:cs typeface="Oswald" pitchFamily="34" charset="-120"/>
              </a:rPr>
              <a:t> KEY METRICS</a:t>
            </a:r>
            <a:endParaRPr lang="en-US" sz="1100"/>
          </a:p>
        </p:txBody>
      </p:sp>
      <p:pic>
        <p:nvPicPr>
          <p:cNvPr id="42" name="Image 8" descr="gen-dedup-0bed6a635fcb1d23b7a23c5aaedf5133.png"/>
          <p:cNvPicPr>
            <a:picLocks noChangeAspect="1"/>
          </p:cNvPicPr>
          <p:nvPr/>
        </p:nvPicPr>
        <p:blipFill>
          <a:blip r:embed="rId8"/>
          <a:srcRect l="-3526" r="-3526"/>
          <a:stretch/>
        </p:blipFill>
        <p:spPr>
          <a:xfrm>
            <a:off x="913486" y="6118250"/>
            <a:ext cx="152705" cy="142646"/>
          </a:xfrm>
          <a:prstGeom prst="rect">
            <a:avLst/>
          </a:prstGeom>
        </p:spPr>
      </p:pic>
      <p:sp>
        <p:nvSpPr>
          <p:cNvPr id="43" name="Text 32"/>
          <p:cNvSpPr txBox="1"/>
          <p:nvPr/>
        </p:nvSpPr>
        <p:spPr>
          <a:xfrm>
            <a:off x="2506370" y="5981090"/>
            <a:ext cx="1638605" cy="228600"/>
          </a:xfrm>
          <a:prstGeom prst="rect">
            <a:avLst/>
          </a:prstGeom>
          <a:noFill/>
          <a:ln/>
        </p:spPr>
        <p:txBody>
          <a:bodyPr wrap="square" lIns="0" tIns="0" rIns="0" bIns="0" rtlCol="0" anchor="ctr"/>
          <a:lstStyle/>
          <a:p>
            <a:pPr marL="0" indent="0" algn="ctr">
              <a:buNone/>
            </a:pPr>
            <a:r>
              <a:rPr lang="en-US" sz="1800" b="1">
                <a:solidFill>
                  <a:srgbClr val="D62839"/>
                </a:solidFill>
                <a:latin typeface="Oswald" pitchFamily="34" charset="0"/>
                <a:ea typeface="Oswald" pitchFamily="34" charset="-122"/>
                <a:cs typeface="Oswald" pitchFamily="34" charset="-120"/>
              </a:rPr>
              <a:t>5,500</a:t>
            </a:r>
            <a:endParaRPr lang="en-US" sz="1800"/>
          </a:p>
        </p:txBody>
      </p:sp>
      <p:sp>
        <p:nvSpPr>
          <p:cNvPr id="44" name="Text 33"/>
          <p:cNvSpPr txBox="1"/>
          <p:nvPr/>
        </p:nvSpPr>
        <p:spPr>
          <a:xfrm>
            <a:off x="2506370"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In-house Consultants</a:t>
            </a:r>
            <a:endParaRPr lang="en-US" sz="800"/>
          </a:p>
        </p:txBody>
      </p:sp>
      <p:pic>
        <p:nvPicPr>
          <p:cNvPr id="45" name="Image 9" descr="gen-dedup-bc499f386c10f37c45470adccc65c0cd.png"/>
          <p:cNvPicPr>
            <a:picLocks noChangeAspect="1"/>
          </p:cNvPicPr>
          <p:nvPr/>
        </p:nvPicPr>
        <p:blipFill>
          <a:blip r:embed="rId9"/>
          <a:srcRect t="-2165" b="-2165"/>
          <a:stretch/>
        </p:blipFill>
        <p:spPr>
          <a:xfrm>
            <a:off x="4225442" y="6034126"/>
            <a:ext cx="9144" cy="286207"/>
          </a:xfrm>
          <a:prstGeom prst="rect">
            <a:avLst/>
          </a:prstGeom>
        </p:spPr>
      </p:pic>
      <p:sp>
        <p:nvSpPr>
          <p:cNvPr id="46" name="Text 34"/>
          <p:cNvSpPr txBox="1"/>
          <p:nvPr/>
        </p:nvSpPr>
        <p:spPr>
          <a:xfrm>
            <a:off x="4321454" y="5981090"/>
            <a:ext cx="1638605" cy="228600"/>
          </a:xfrm>
          <a:prstGeom prst="rect">
            <a:avLst/>
          </a:prstGeom>
          <a:noFill/>
          <a:ln/>
        </p:spPr>
        <p:txBody>
          <a:bodyPr wrap="square" lIns="0" tIns="0" rIns="0" bIns="0" rtlCol="0" anchor="ctr"/>
          <a:lstStyle/>
          <a:p>
            <a:pPr marL="0" indent="0" algn="ctr">
              <a:buNone/>
            </a:pPr>
            <a:r>
              <a:rPr lang="en-US" b="1">
                <a:solidFill>
                  <a:srgbClr val="2A9D8F"/>
                </a:solidFill>
                <a:latin typeface="Oswald" pitchFamily="34" charset="0"/>
                <a:ea typeface="Oswald" pitchFamily="34" charset="-122"/>
                <a:cs typeface="Oswald" pitchFamily="34" charset="-120"/>
              </a:rPr>
              <a:t>6</a:t>
            </a:r>
            <a:r>
              <a:rPr lang="en-US" sz="1800" b="1">
                <a:solidFill>
                  <a:srgbClr val="2A9D8F"/>
                </a:solidFill>
                <a:latin typeface="Oswald" pitchFamily="34" charset="0"/>
                <a:ea typeface="Oswald" pitchFamily="34" charset="-122"/>
                <a:cs typeface="Oswald" pitchFamily="34" charset="-120"/>
              </a:rPr>
              <a:t>0+</a:t>
            </a:r>
            <a:endParaRPr lang="en-US" sz="1800"/>
          </a:p>
        </p:txBody>
      </p:sp>
      <p:sp>
        <p:nvSpPr>
          <p:cNvPr id="47" name="Text 35"/>
          <p:cNvSpPr txBox="1"/>
          <p:nvPr/>
        </p:nvSpPr>
        <p:spPr>
          <a:xfrm>
            <a:off x="4321454"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AI Accelerators</a:t>
            </a:r>
            <a:endParaRPr lang="en-US" sz="800"/>
          </a:p>
        </p:txBody>
      </p:sp>
      <p:pic>
        <p:nvPicPr>
          <p:cNvPr id="48" name="Image 10" descr="gen-dedup-bc499f386c10f37c45470adccc65c0cd.png"/>
          <p:cNvPicPr>
            <a:picLocks noChangeAspect="1"/>
          </p:cNvPicPr>
          <p:nvPr/>
        </p:nvPicPr>
        <p:blipFill>
          <a:blip r:embed="rId9"/>
          <a:srcRect t="-2165" b="-2165"/>
          <a:stretch/>
        </p:blipFill>
        <p:spPr>
          <a:xfrm>
            <a:off x="6040526" y="6034126"/>
            <a:ext cx="9144" cy="286207"/>
          </a:xfrm>
          <a:prstGeom prst="rect">
            <a:avLst/>
          </a:prstGeom>
        </p:spPr>
      </p:pic>
      <p:sp>
        <p:nvSpPr>
          <p:cNvPr id="49" name="Text 36"/>
          <p:cNvSpPr txBox="1"/>
          <p:nvPr/>
        </p:nvSpPr>
        <p:spPr>
          <a:xfrm>
            <a:off x="6137453" y="5981090"/>
            <a:ext cx="1638605" cy="228600"/>
          </a:xfrm>
          <a:prstGeom prst="rect">
            <a:avLst/>
          </a:prstGeom>
          <a:noFill/>
          <a:ln/>
        </p:spPr>
        <p:txBody>
          <a:bodyPr wrap="square" lIns="0" tIns="0" rIns="0" bIns="0" rtlCol="0" anchor="ctr"/>
          <a:lstStyle/>
          <a:p>
            <a:pPr marL="0" indent="0" algn="ctr">
              <a:buNone/>
            </a:pPr>
            <a:r>
              <a:rPr lang="en-US" sz="1800" b="1">
                <a:solidFill>
                  <a:srgbClr val="D62839"/>
                </a:solidFill>
                <a:latin typeface="Oswald" pitchFamily="34" charset="0"/>
                <a:ea typeface="Oswald" pitchFamily="34" charset="-122"/>
                <a:cs typeface="Oswald" pitchFamily="34" charset="-120"/>
              </a:rPr>
              <a:t>30-40%</a:t>
            </a:r>
            <a:endParaRPr lang="en-US" sz="1800"/>
          </a:p>
        </p:txBody>
      </p:sp>
      <p:sp>
        <p:nvSpPr>
          <p:cNvPr id="50" name="Text 37"/>
          <p:cNvSpPr txBox="1"/>
          <p:nvPr/>
        </p:nvSpPr>
        <p:spPr>
          <a:xfrm>
            <a:off x="6137453"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AI OPEX Reduction</a:t>
            </a:r>
            <a:endParaRPr lang="en-US" sz="800"/>
          </a:p>
        </p:txBody>
      </p:sp>
      <p:pic>
        <p:nvPicPr>
          <p:cNvPr id="51" name="Image 11" descr="gen-dedup-bc499f386c10f37c45470adccc65c0cd.png"/>
          <p:cNvPicPr>
            <a:picLocks noChangeAspect="1"/>
          </p:cNvPicPr>
          <p:nvPr/>
        </p:nvPicPr>
        <p:blipFill>
          <a:blip r:embed="rId9"/>
          <a:srcRect t="-2165" b="-2165"/>
          <a:stretch/>
        </p:blipFill>
        <p:spPr>
          <a:xfrm>
            <a:off x="7856525" y="6034126"/>
            <a:ext cx="9144" cy="286207"/>
          </a:xfrm>
          <a:prstGeom prst="rect">
            <a:avLst/>
          </a:prstGeom>
        </p:spPr>
      </p:pic>
      <p:sp>
        <p:nvSpPr>
          <p:cNvPr id="52" name="Text 38"/>
          <p:cNvSpPr txBox="1"/>
          <p:nvPr/>
        </p:nvSpPr>
        <p:spPr>
          <a:xfrm>
            <a:off x="7952537" y="5981090"/>
            <a:ext cx="1638605" cy="228600"/>
          </a:xfrm>
          <a:prstGeom prst="rect">
            <a:avLst/>
          </a:prstGeom>
          <a:noFill/>
          <a:ln/>
        </p:spPr>
        <p:txBody>
          <a:bodyPr wrap="square" lIns="0" tIns="0" rIns="0" bIns="0" rtlCol="0" anchor="ctr"/>
          <a:lstStyle/>
          <a:p>
            <a:pPr marL="0" indent="0" algn="ctr">
              <a:buNone/>
            </a:pPr>
            <a:r>
              <a:rPr lang="en-US" sz="1800" b="1">
                <a:solidFill>
                  <a:srgbClr val="2A9D8F"/>
                </a:solidFill>
                <a:latin typeface="Oswald" pitchFamily="34" charset="0"/>
                <a:ea typeface="Oswald" pitchFamily="34" charset="-122"/>
                <a:cs typeface="Oswald" pitchFamily="34" charset="-120"/>
              </a:rPr>
              <a:t>Weeks</a:t>
            </a:r>
            <a:endParaRPr lang="en-US" sz="1800"/>
          </a:p>
        </p:txBody>
      </p:sp>
      <p:sp>
        <p:nvSpPr>
          <p:cNvPr id="53" name="Text 39"/>
          <p:cNvSpPr txBox="1"/>
          <p:nvPr/>
        </p:nvSpPr>
        <p:spPr>
          <a:xfrm>
            <a:off x="7952537"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PoC to Production</a:t>
            </a:r>
            <a:endParaRPr lang="en-US" sz="800"/>
          </a:p>
        </p:txBody>
      </p:sp>
      <p:pic>
        <p:nvPicPr>
          <p:cNvPr id="54" name="Image 12" descr="gen-dedup-bc499f386c10f37c45470adccc65c0cd.png"/>
          <p:cNvPicPr>
            <a:picLocks noChangeAspect="1"/>
          </p:cNvPicPr>
          <p:nvPr/>
        </p:nvPicPr>
        <p:blipFill>
          <a:blip r:embed="rId9"/>
          <a:srcRect t="-2165" b="-2165"/>
          <a:stretch/>
        </p:blipFill>
        <p:spPr>
          <a:xfrm>
            <a:off x="9671609" y="6034126"/>
            <a:ext cx="9144" cy="286207"/>
          </a:xfrm>
          <a:prstGeom prst="rect">
            <a:avLst/>
          </a:prstGeom>
        </p:spPr>
      </p:pic>
      <p:sp>
        <p:nvSpPr>
          <p:cNvPr id="55" name="Text 40"/>
          <p:cNvSpPr txBox="1"/>
          <p:nvPr/>
        </p:nvSpPr>
        <p:spPr>
          <a:xfrm>
            <a:off x="9767621" y="5981090"/>
            <a:ext cx="1638605" cy="228600"/>
          </a:xfrm>
          <a:prstGeom prst="rect">
            <a:avLst/>
          </a:prstGeom>
          <a:noFill/>
          <a:ln/>
        </p:spPr>
        <p:txBody>
          <a:bodyPr wrap="square" lIns="0" tIns="0" rIns="0" bIns="0" rtlCol="0" anchor="ctr"/>
          <a:lstStyle/>
          <a:p>
            <a:pPr marL="0" indent="0" algn="ctr">
              <a:buNone/>
            </a:pPr>
            <a:r>
              <a:rPr lang="en-US" sz="1800" b="1">
                <a:solidFill>
                  <a:srgbClr val="D62839"/>
                </a:solidFill>
                <a:latin typeface="Oswald" pitchFamily="34" charset="0"/>
                <a:ea typeface="Oswald" pitchFamily="34" charset="-122"/>
                <a:cs typeface="Oswald" pitchFamily="34" charset="-120"/>
              </a:rPr>
              <a:t>0</a:t>
            </a:r>
            <a:endParaRPr lang="en-US" sz="1800"/>
          </a:p>
        </p:txBody>
      </p:sp>
      <p:sp>
        <p:nvSpPr>
          <p:cNvPr id="56" name="Text 41"/>
          <p:cNvSpPr txBox="1"/>
          <p:nvPr/>
        </p:nvSpPr>
        <p:spPr>
          <a:xfrm>
            <a:off x="9767621" y="6247181"/>
            <a:ext cx="1638605" cy="133502"/>
          </a:xfrm>
          <a:prstGeom prst="rect">
            <a:avLst/>
          </a:prstGeom>
          <a:noFill/>
          <a:ln/>
        </p:spPr>
        <p:txBody>
          <a:bodyPr wrap="square" lIns="0" tIns="0" rIns="0" bIns="0" rtlCol="0" anchor="ctr"/>
          <a:lstStyle/>
          <a:p>
            <a:pPr marL="0" indent="0" algn="ctr">
              <a:buNone/>
            </a:pPr>
            <a:r>
              <a:rPr lang="en-US" sz="800" b="1">
                <a:solidFill>
                  <a:srgbClr val="475569"/>
                </a:solidFill>
                <a:latin typeface="Raleway" pitchFamily="34" charset="0"/>
                <a:ea typeface="Raleway" pitchFamily="34" charset="-122"/>
                <a:cs typeface="Raleway" pitchFamily="34" charset="-120"/>
              </a:rPr>
              <a:t>Subcontracting</a:t>
            </a:r>
            <a:endParaRPr lang="en-US" sz="800"/>
          </a:p>
        </p:txBody>
      </p:sp>
    </p:spTree>
    <p:extLst>
      <p:ext uri="{BB962C8B-B14F-4D97-AF65-F5344CB8AC3E}">
        <p14:creationId xmlns:p14="http://schemas.microsoft.com/office/powerpoint/2010/main" val="3931324798"/>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sp>
        <p:nvSpPr>
          <p:cNvPr id="4" name="Shape 2"/>
          <p:cNvSpPr/>
          <p:nvPr/>
        </p:nvSpPr>
        <p:spPr>
          <a:xfrm>
            <a:off x="9905695" y="-571500"/>
            <a:ext cx="2857500" cy="2857500"/>
          </a:xfrm>
          <a:prstGeom prst="ellipse">
            <a:avLst/>
          </a:prstGeom>
          <a:solidFill>
            <a:srgbClr val="2A9D8F">
              <a:alpha val="4000"/>
            </a:srgbClr>
          </a:solidFill>
          <a:ln w="12700">
            <a:solidFill>
              <a:srgbClr val="FFFFFF">
                <a:alpha val="0"/>
              </a:srgbClr>
            </a:solidFill>
            <a:prstDash val="solid"/>
          </a:ln>
        </p:spPr>
        <p:txBody>
          <a:bodyPr/>
          <a:lstStyle/>
          <a:p>
            <a:endParaRPr lang="en-US"/>
          </a:p>
        </p:txBody>
      </p:sp>
      <p:pic>
        <p:nvPicPr>
          <p:cNvPr id="5" name="Image 0" descr="gen-dedup-4ab2116e971fbb9400d0e99205bd0390.png"/>
          <p:cNvPicPr>
            <a:picLocks noChangeAspect="1"/>
          </p:cNvPicPr>
          <p:nvPr/>
        </p:nvPicPr>
        <p:blipFill>
          <a:blip r:embed="rId3">
            <a:alphaModFix amt="5000"/>
          </a:blip>
          <a:srcRect/>
          <a:stretch/>
        </p:blipFill>
        <p:spPr>
          <a:xfrm>
            <a:off x="-381305" y="4190695"/>
            <a:ext cx="1904695" cy="1904695"/>
          </a:xfrm>
          <a:prstGeom prst="rect">
            <a:avLst/>
          </a:prstGeom>
        </p:spPr>
      </p:pic>
      <p:pic>
        <p:nvPicPr>
          <p:cNvPr id="6" name="Image 1" descr="gen-dedup-323228122ff92d2332e711a84ca3b40c.png"/>
          <p:cNvPicPr>
            <a:picLocks noChangeAspect="1"/>
          </p:cNvPicPr>
          <p:nvPr/>
        </p:nvPicPr>
        <p:blipFill>
          <a:blip r:embed="rId4"/>
          <a:srcRect l="-198" r="-198"/>
          <a:stretch/>
        </p:blipFill>
        <p:spPr>
          <a:xfrm>
            <a:off x="0" y="0"/>
            <a:ext cx="8124444" cy="75895"/>
          </a:xfrm>
          <a:prstGeom prst="rect">
            <a:avLst/>
          </a:prstGeom>
        </p:spPr>
      </p:pic>
      <p:pic>
        <p:nvPicPr>
          <p:cNvPr id="7" name="Image 2" descr="gen-dedup-9663ecf744b06e35d4c2cebaab92a2ea.png"/>
          <p:cNvPicPr>
            <a:picLocks noChangeAspect="1"/>
          </p:cNvPicPr>
          <p:nvPr/>
        </p:nvPicPr>
        <p:blipFill>
          <a:blip r:embed="rId5"/>
          <a:srcRect l="-202" r="-202"/>
          <a:stretch/>
        </p:blipFill>
        <p:spPr>
          <a:xfrm>
            <a:off x="8124444" y="0"/>
            <a:ext cx="4067251" cy="75895"/>
          </a:xfrm>
          <a:prstGeom prst="rect">
            <a:avLst/>
          </a:prstGeom>
        </p:spPr>
      </p:pic>
      <p:pic>
        <p:nvPicPr>
          <p:cNvPr id="8" name="Image 3" descr="gen-dedup-806ddcf4485dfb282961f80f6430c89d.png"/>
          <p:cNvPicPr>
            <a:picLocks noChangeAspect="1"/>
          </p:cNvPicPr>
          <p:nvPr/>
        </p:nvPicPr>
        <p:blipFill>
          <a:blip r:embed="rId6"/>
          <a:srcRect l="-424" r="-424"/>
          <a:stretch/>
        </p:blipFill>
        <p:spPr>
          <a:xfrm>
            <a:off x="609905" y="533095"/>
            <a:ext cx="57607" cy="809244"/>
          </a:xfrm>
          <a:prstGeom prst="rect">
            <a:avLst/>
          </a:prstGeom>
        </p:spPr>
      </p:pic>
      <p:sp>
        <p:nvSpPr>
          <p:cNvPr id="9" name="Shape 3"/>
          <p:cNvSpPr/>
          <p:nvPr/>
        </p:nvSpPr>
        <p:spPr>
          <a:xfrm>
            <a:off x="609905" y="1657807"/>
            <a:ext cx="3543300" cy="1809598"/>
          </a:xfrm>
          <a:prstGeom prst="roundRect">
            <a:avLst>
              <a:gd name="adj" fmla="val 2122"/>
            </a:avLst>
          </a:prstGeom>
          <a:solidFill>
            <a:srgbClr val="F8FAFC"/>
          </a:solidFill>
          <a:ln w="12700">
            <a:solidFill>
              <a:srgbClr val="E2E8F0"/>
            </a:solidFill>
            <a:prstDash val="solid"/>
          </a:ln>
        </p:spPr>
        <p:txBody>
          <a:bodyPr/>
          <a:lstStyle/>
          <a:p>
            <a:endParaRPr lang="en-US"/>
          </a:p>
        </p:txBody>
      </p:sp>
      <p:sp>
        <p:nvSpPr>
          <p:cNvPr id="10" name="Shape 4"/>
          <p:cNvSpPr/>
          <p:nvPr/>
        </p:nvSpPr>
        <p:spPr>
          <a:xfrm>
            <a:off x="609905" y="1657807"/>
            <a:ext cx="3543300" cy="38405"/>
          </a:xfrm>
          <a:prstGeom prst="roundRect">
            <a:avLst>
              <a:gd name="adj" fmla="val 99999"/>
            </a:avLst>
          </a:prstGeom>
          <a:solidFill>
            <a:srgbClr val="111827"/>
          </a:solidFill>
          <a:ln w="12700">
            <a:solidFill>
              <a:srgbClr val="111827">
                <a:alpha val="0"/>
              </a:srgbClr>
            </a:solidFill>
            <a:prstDash val="solid"/>
          </a:ln>
        </p:spPr>
        <p:txBody>
          <a:bodyPr/>
          <a:lstStyle/>
          <a:p>
            <a:endParaRPr lang="en-US"/>
          </a:p>
        </p:txBody>
      </p:sp>
      <p:sp>
        <p:nvSpPr>
          <p:cNvPr id="11" name="Shape 5"/>
          <p:cNvSpPr/>
          <p:nvPr/>
        </p:nvSpPr>
        <p:spPr>
          <a:xfrm>
            <a:off x="4343400" y="1657807"/>
            <a:ext cx="3543300" cy="1809598"/>
          </a:xfrm>
          <a:prstGeom prst="roundRect">
            <a:avLst>
              <a:gd name="adj" fmla="val 2122"/>
            </a:avLst>
          </a:prstGeom>
          <a:solidFill>
            <a:srgbClr val="F8FAFC"/>
          </a:solidFill>
          <a:ln w="12700">
            <a:solidFill>
              <a:srgbClr val="E2E8F0"/>
            </a:solidFill>
            <a:prstDash val="solid"/>
          </a:ln>
        </p:spPr>
        <p:txBody>
          <a:bodyPr/>
          <a:lstStyle/>
          <a:p>
            <a:endParaRPr lang="en-US"/>
          </a:p>
        </p:txBody>
      </p:sp>
      <p:sp>
        <p:nvSpPr>
          <p:cNvPr id="12" name="Shape 6"/>
          <p:cNvSpPr/>
          <p:nvPr/>
        </p:nvSpPr>
        <p:spPr>
          <a:xfrm>
            <a:off x="4343400" y="1657807"/>
            <a:ext cx="3543300" cy="38405"/>
          </a:xfrm>
          <a:prstGeom prst="roundRect">
            <a:avLst>
              <a:gd name="adj" fmla="val 99999"/>
            </a:avLst>
          </a:prstGeom>
          <a:solidFill>
            <a:srgbClr val="2A9D8F"/>
          </a:solidFill>
          <a:ln w="12700">
            <a:solidFill>
              <a:srgbClr val="2A9D8F">
                <a:alpha val="0"/>
              </a:srgbClr>
            </a:solidFill>
            <a:prstDash val="solid"/>
          </a:ln>
        </p:spPr>
        <p:txBody>
          <a:bodyPr/>
          <a:lstStyle/>
          <a:p>
            <a:endParaRPr lang="en-US"/>
          </a:p>
        </p:txBody>
      </p:sp>
      <p:sp>
        <p:nvSpPr>
          <p:cNvPr id="13" name="Shape 7"/>
          <p:cNvSpPr/>
          <p:nvPr/>
        </p:nvSpPr>
        <p:spPr>
          <a:xfrm>
            <a:off x="8076895" y="1657807"/>
            <a:ext cx="3543300" cy="1809598"/>
          </a:xfrm>
          <a:prstGeom prst="roundRect">
            <a:avLst>
              <a:gd name="adj" fmla="val 2122"/>
            </a:avLst>
          </a:prstGeom>
          <a:solidFill>
            <a:srgbClr val="F8FAFC"/>
          </a:solidFill>
          <a:ln w="12700">
            <a:solidFill>
              <a:srgbClr val="E2E8F0"/>
            </a:solidFill>
            <a:prstDash val="solid"/>
          </a:ln>
        </p:spPr>
        <p:txBody>
          <a:bodyPr/>
          <a:lstStyle/>
          <a:p>
            <a:endParaRPr lang="en-US"/>
          </a:p>
        </p:txBody>
      </p:sp>
      <p:sp>
        <p:nvSpPr>
          <p:cNvPr id="14" name="Shape 8"/>
          <p:cNvSpPr/>
          <p:nvPr/>
        </p:nvSpPr>
        <p:spPr>
          <a:xfrm>
            <a:off x="8076895" y="1657807"/>
            <a:ext cx="3543300" cy="38405"/>
          </a:xfrm>
          <a:prstGeom prst="roundRect">
            <a:avLst>
              <a:gd name="adj" fmla="val 99999"/>
            </a:avLst>
          </a:prstGeom>
          <a:solidFill>
            <a:srgbClr val="D62839"/>
          </a:solidFill>
          <a:ln w="12700">
            <a:solidFill>
              <a:srgbClr val="D62839">
                <a:alpha val="0"/>
              </a:srgbClr>
            </a:solidFill>
            <a:prstDash val="solid"/>
          </a:ln>
        </p:spPr>
        <p:txBody>
          <a:bodyPr/>
          <a:lstStyle/>
          <a:p>
            <a:endParaRPr lang="en-US"/>
          </a:p>
        </p:txBody>
      </p:sp>
      <p:sp>
        <p:nvSpPr>
          <p:cNvPr id="15" name="Shape 9"/>
          <p:cNvSpPr/>
          <p:nvPr/>
        </p:nvSpPr>
        <p:spPr>
          <a:xfrm>
            <a:off x="609905" y="3571646"/>
            <a:ext cx="3543300" cy="1809598"/>
          </a:xfrm>
          <a:prstGeom prst="roundRect">
            <a:avLst>
              <a:gd name="adj" fmla="val 2122"/>
            </a:avLst>
          </a:prstGeom>
          <a:solidFill>
            <a:srgbClr val="F8FAFC"/>
          </a:solidFill>
          <a:ln w="12700">
            <a:solidFill>
              <a:srgbClr val="E2E8F0"/>
            </a:solidFill>
            <a:prstDash val="solid"/>
          </a:ln>
        </p:spPr>
        <p:txBody>
          <a:bodyPr/>
          <a:lstStyle/>
          <a:p>
            <a:endParaRPr lang="en-US"/>
          </a:p>
        </p:txBody>
      </p:sp>
      <p:sp>
        <p:nvSpPr>
          <p:cNvPr id="16" name="Shape 10"/>
          <p:cNvSpPr/>
          <p:nvPr/>
        </p:nvSpPr>
        <p:spPr>
          <a:xfrm>
            <a:off x="609905" y="3571646"/>
            <a:ext cx="3543300" cy="38405"/>
          </a:xfrm>
          <a:prstGeom prst="roundRect">
            <a:avLst>
              <a:gd name="adj" fmla="val 99999"/>
            </a:avLst>
          </a:prstGeom>
          <a:solidFill>
            <a:srgbClr val="111827"/>
          </a:solidFill>
          <a:ln w="12700">
            <a:solidFill>
              <a:srgbClr val="111827">
                <a:alpha val="0"/>
              </a:srgbClr>
            </a:solidFill>
            <a:prstDash val="solid"/>
          </a:ln>
        </p:spPr>
        <p:txBody>
          <a:bodyPr/>
          <a:lstStyle/>
          <a:p>
            <a:endParaRPr lang="en-US"/>
          </a:p>
        </p:txBody>
      </p:sp>
      <p:sp>
        <p:nvSpPr>
          <p:cNvPr id="17" name="Shape 11"/>
          <p:cNvSpPr/>
          <p:nvPr/>
        </p:nvSpPr>
        <p:spPr>
          <a:xfrm>
            <a:off x="4343400" y="3571646"/>
            <a:ext cx="3543300" cy="1809598"/>
          </a:xfrm>
          <a:prstGeom prst="roundRect">
            <a:avLst>
              <a:gd name="adj" fmla="val 2122"/>
            </a:avLst>
          </a:prstGeom>
          <a:solidFill>
            <a:srgbClr val="F8FAFC"/>
          </a:solidFill>
          <a:ln w="12700">
            <a:solidFill>
              <a:srgbClr val="E2E8F0"/>
            </a:solidFill>
            <a:prstDash val="solid"/>
          </a:ln>
        </p:spPr>
        <p:txBody>
          <a:bodyPr/>
          <a:lstStyle/>
          <a:p>
            <a:endParaRPr lang="en-US"/>
          </a:p>
        </p:txBody>
      </p:sp>
      <p:sp>
        <p:nvSpPr>
          <p:cNvPr id="18" name="Shape 12"/>
          <p:cNvSpPr/>
          <p:nvPr/>
        </p:nvSpPr>
        <p:spPr>
          <a:xfrm>
            <a:off x="4343400" y="3571646"/>
            <a:ext cx="3543300" cy="38405"/>
          </a:xfrm>
          <a:prstGeom prst="roundRect">
            <a:avLst>
              <a:gd name="adj" fmla="val 99999"/>
            </a:avLst>
          </a:prstGeom>
          <a:solidFill>
            <a:srgbClr val="2A9D8F"/>
          </a:solidFill>
          <a:ln w="12700">
            <a:solidFill>
              <a:srgbClr val="2A9D8F">
                <a:alpha val="0"/>
              </a:srgbClr>
            </a:solidFill>
            <a:prstDash val="solid"/>
          </a:ln>
        </p:spPr>
        <p:txBody>
          <a:bodyPr/>
          <a:lstStyle/>
          <a:p>
            <a:endParaRPr lang="en-US"/>
          </a:p>
        </p:txBody>
      </p:sp>
      <p:sp>
        <p:nvSpPr>
          <p:cNvPr id="19" name="Shape 13"/>
          <p:cNvSpPr/>
          <p:nvPr/>
        </p:nvSpPr>
        <p:spPr>
          <a:xfrm>
            <a:off x="8076895" y="3571646"/>
            <a:ext cx="3543300" cy="1809598"/>
          </a:xfrm>
          <a:prstGeom prst="roundRect">
            <a:avLst>
              <a:gd name="adj" fmla="val 2122"/>
            </a:avLst>
          </a:prstGeom>
          <a:solidFill>
            <a:srgbClr val="F8FAFC"/>
          </a:solidFill>
          <a:ln w="12700">
            <a:solidFill>
              <a:srgbClr val="E2E8F0"/>
            </a:solidFill>
            <a:prstDash val="solid"/>
          </a:ln>
        </p:spPr>
        <p:txBody>
          <a:bodyPr/>
          <a:lstStyle/>
          <a:p>
            <a:endParaRPr lang="en-US"/>
          </a:p>
        </p:txBody>
      </p:sp>
      <p:sp>
        <p:nvSpPr>
          <p:cNvPr id="20" name="Shape 14"/>
          <p:cNvSpPr/>
          <p:nvPr/>
        </p:nvSpPr>
        <p:spPr>
          <a:xfrm>
            <a:off x="8076895" y="3571646"/>
            <a:ext cx="3543300" cy="38405"/>
          </a:xfrm>
          <a:prstGeom prst="roundRect">
            <a:avLst>
              <a:gd name="adj" fmla="val 99999"/>
            </a:avLst>
          </a:prstGeom>
          <a:solidFill>
            <a:srgbClr val="D62839"/>
          </a:solidFill>
          <a:ln w="12700">
            <a:solidFill>
              <a:srgbClr val="D62839">
                <a:alpha val="0"/>
              </a:srgbClr>
            </a:solidFill>
            <a:prstDash val="solid"/>
          </a:ln>
        </p:spPr>
        <p:txBody>
          <a:bodyPr/>
          <a:lstStyle/>
          <a:p>
            <a:endParaRPr lang="en-US"/>
          </a:p>
        </p:txBody>
      </p:sp>
      <p:sp>
        <p:nvSpPr>
          <p:cNvPr id="21" name="Shape 15"/>
          <p:cNvSpPr/>
          <p:nvPr/>
        </p:nvSpPr>
        <p:spPr>
          <a:xfrm>
            <a:off x="609905" y="5619902"/>
            <a:ext cx="10972800" cy="761695"/>
          </a:xfrm>
          <a:prstGeom prst="roundRect">
            <a:avLst>
              <a:gd name="adj" fmla="val 5042"/>
            </a:avLst>
          </a:prstGeom>
          <a:solidFill>
            <a:srgbClr val="111827"/>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en-US"/>
          </a:p>
        </p:txBody>
      </p:sp>
      <p:sp>
        <p:nvSpPr>
          <p:cNvPr id="22" name="Shape 16"/>
          <p:cNvSpPr/>
          <p:nvPr/>
        </p:nvSpPr>
        <p:spPr>
          <a:xfrm>
            <a:off x="10096805" y="381305"/>
            <a:ext cx="1524305" cy="342900"/>
          </a:xfrm>
          <a:prstGeom prst="roundRect">
            <a:avLst>
              <a:gd name="adj" fmla="val 50133"/>
            </a:avLst>
          </a:prstGeom>
          <a:solidFill>
            <a:srgbClr val="2A9D8F"/>
          </a:solidFill>
          <a:ln w="12700">
            <a:solidFill>
              <a:srgbClr val="FFFFFF">
                <a:alpha val="0"/>
              </a:srgbClr>
            </a:solidFill>
            <a:prstDash val="solid"/>
          </a:ln>
        </p:spPr>
        <p:txBody>
          <a:bodyPr/>
          <a:lstStyle/>
          <a:p>
            <a:endParaRPr lang="en-US"/>
          </a:p>
        </p:txBody>
      </p:sp>
      <p:sp>
        <p:nvSpPr>
          <p:cNvPr id="23" name="Text 17"/>
          <p:cNvSpPr txBox="1"/>
          <p:nvPr/>
        </p:nvSpPr>
        <p:spPr>
          <a:xfrm>
            <a:off x="819302" y="514807"/>
            <a:ext cx="8572500" cy="152705"/>
          </a:xfrm>
          <a:prstGeom prst="rect">
            <a:avLst/>
          </a:prstGeom>
          <a:noFill/>
          <a:ln/>
        </p:spPr>
        <p:txBody>
          <a:bodyPr wrap="none" lIns="0" tIns="0" rIns="0" bIns="0" rtlCol="0" anchor="ctr"/>
          <a:lstStyle/>
          <a:p>
            <a:pPr marL="0" indent="0" algn="l">
              <a:buNone/>
            </a:pPr>
            <a:r>
              <a:rPr lang="en-US" sz="1000" b="1" kern="0" spc="52">
                <a:solidFill>
                  <a:srgbClr val="2A9D8F"/>
                </a:solidFill>
                <a:latin typeface="Roboto Condensed" pitchFamily="34" charset="0"/>
                <a:ea typeface="Roboto Condensed" pitchFamily="34" charset="-122"/>
                <a:cs typeface="Roboto Condensed" pitchFamily="34" charset="-120"/>
              </a:rPr>
              <a:t>AI POD</a:t>
            </a:r>
            <a:endParaRPr lang="en-US" sz="1000"/>
          </a:p>
        </p:txBody>
      </p:sp>
      <p:sp>
        <p:nvSpPr>
          <p:cNvPr id="24" name="Text 18"/>
          <p:cNvSpPr txBox="1"/>
          <p:nvPr/>
        </p:nvSpPr>
        <p:spPr>
          <a:xfrm>
            <a:off x="819302" y="705002"/>
            <a:ext cx="8572500" cy="372161"/>
          </a:xfrm>
          <a:prstGeom prst="rect">
            <a:avLst/>
          </a:prstGeom>
          <a:noFill/>
          <a:ln/>
        </p:spPr>
        <p:txBody>
          <a:bodyPr wrap="none" lIns="0" tIns="0" rIns="0" bIns="0" rtlCol="0" anchor="ctr"/>
          <a:lstStyle/>
          <a:p>
            <a:pPr marL="0" indent="0" algn="l">
              <a:buNone/>
            </a:pPr>
            <a:r>
              <a:rPr lang="en-US" sz="2400" b="1">
                <a:solidFill>
                  <a:srgbClr val="111827"/>
                </a:solidFill>
                <a:latin typeface="Oswald" pitchFamily="34" charset="0"/>
                <a:ea typeface="Oswald" pitchFamily="34" charset="-122"/>
                <a:cs typeface="Oswald" pitchFamily="34" charset="-120"/>
              </a:rPr>
              <a:t>What We Hold Ourselves Accountable To</a:t>
            </a:r>
            <a:endParaRPr lang="en-US" sz="2400"/>
          </a:p>
        </p:txBody>
      </p:sp>
      <p:sp>
        <p:nvSpPr>
          <p:cNvPr id="25" name="Text 19"/>
          <p:cNvSpPr txBox="1"/>
          <p:nvPr/>
        </p:nvSpPr>
        <p:spPr>
          <a:xfrm>
            <a:off x="819302" y="1146658"/>
            <a:ext cx="8572500" cy="219456"/>
          </a:xfrm>
          <a:prstGeom prst="rect">
            <a:avLst/>
          </a:prstGeom>
          <a:noFill/>
          <a:ln/>
        </p:spPr>
        <p:txBody>
          <a:bodyPr wrap="none" lIns="0" tIns="0" rIns="0" bIns="0" rtlCol="0" anchor="ctr"/>
          <a:lstStyle/>
          <a:p>
            <a:pPr marL="0" indent="0" algn="l">
              <a:buNone/>
            </a:pPr>
            <a:r>
              <a:rPr lang="en-US" sz="1200">
                <a:solidFill>
                  <a:srgbClr val="4B5563"/>
                </a:solidFill>
                <a:latin typeface="Raleway" pitchFamily="34" charset="0"/>
                <a:ea typeface="Raleway" pitchFamily="34" charset="-122"/>
                <a:cs typeface="Raleway" pitchFamily="34" charset="-120"/>
              </a:rPr>
              <a:t>Measured monthly, governed weekly, escalated immediately.</a:t>
            </a:r>
            <a:endParaRPr lang="en-US" sz="1200"/>
          </a:p>
        </p:txBody>
      </p:sp>
      <p:sp>
        <p:nvSpPr>
          <p:cNvPr id="26" name="Text 20"/>
          <p:cNvSpPr txBox="1"/>
          <p:nvPr/>
        </p:nvSpPr>
        <p:spPr>
          <a:xfrm>
            <a:off x="761695" y="1772107"/>
            <a:ext cx="3200400" cy="381305"/>
          </a:xfrm>
          <a:prstGeom prst="rect">
            <a:avLst/>
          </a:prstGeom>
          <a:noFill/>
          <a:ln/>
        </p:spPr>
        <p:txBody>
          <a:bodyPr wrap="none" lIns="0" tIns="0" rIns="0" bIns="0" rtlCol="0" anchor="ctr"/>
          <a:lstStyle/>
          <a:p>
            <a:pPr marL="0" indent="0" algn="l">
              <a:buNone/>
            </a:pPr>
            <a:r>
              <a:rPr lang="en-US" sz="2700" b="1">
                <a:solidFill>
                  <a:srgbClr val="111827"/>
                </a:solidFill>
                <a:latin typeface="Oswald" pitchFamily="34" charset="0"/>
                <a:ea typeface="Oswald" pitchFamily="34" charset="-122"/>
                <a:cs typeface="Oswald" pitchFamily="34" charset="-120"/>
              </a:rPr>
              <a:t>85%+</a:t>
            </a:r>
            <a:endParaRPr lang="en-US" sz="2700"/>
          </a:p>
        </p:txBody>
      </p:sp>
      <p:sp>
        <p:nvSpPr>
          <p:cNvPr id="27" name="Text 21"/>
          <p:cNvSpPr txBox="1"/>
          <p:nvPr/>
        </p:nvSpPr>
        <p:spPr>
          <a:xfrm>
            <a:off x="761695" y="2187245"/>
            <a:ext cx="3200400" cy="152705"/>
          </a:xfrm>
          <a:prstGeom prst="rect">
            <a:avLst/>
          </a:prstGeom>
          <a:noFill/>
          <a:ln/>
        </p:spPr>
        <p:txBody>
          <a:bodyPr wrap="none" lIns="0" tIns="0" rIns="0" bIns="0" rtlCol="0" anchor="ctr"/>
          <a:lstStyle/>
          <a:p>
            <a:pPr marL="0" indent="0" algn="l">
              <a:buNone/>
            </a:pPr>
            <a:r>
              <a:rPr lang="en-US" sz="1000" b="1">
                <a:solidFill>
                  <a:srgbClr val="2A9D8F"/>
                </a:solidFill>
                <a:latin typeface="Roboto Condensed" pitchFamily="34" charset="0"/>
                <a:ea typeface="Roboto Condensed" pitchFamily="34" charset="-122"/>
                <a:cs typeface="Roboto Condensed" pitchFamily="34" charset="-120"/>
              </a:rPr>
              <a:t>Sprint Completion</a:t>
            </a:r>
            <a:endParaRPr lang="en-US" sz="1000"/>
          </a:p>
        </p:txBody>
      </p:sp>
      <p:sp>
        <p:nvSpPr>
          <p:cNvPr id="28" name="Text 22"/>
          <p:cNvSpPr txBox="1"/>
          <p:nvPr/>
        </p:nvSpPr>
        <p:spPr>
          <a:xfrm>
            <a:off x="761695" y="2415845"/>
            <a:ext cx="3200400" cy="352958"/>
          </a:xfrm>
          <a:prstGeom prst="rect">
            <a:avLst/>
          </a:prstGeom>
          <a:noFill/>
          <a:ln/>
        </p:spPr>
        <p:txBody>
          <a:bodyPr wrap="square" lIns="0" tIns="0" rIns="0" bIns="0" rtlCol="0" anchor="ctr"/>
          <a:lstStyle/>
          <a:p>
            <a:pPr marL="0" indent="0" algn="l">
              <a:buNone/>
            </a:pPr>
            <a:r>
              <a:rPr lang="en-US" sz="900">
                <a:solidFill>
                  <a:srgbClr val="4B5563"/>
                </a:solidFill>
                <a:latin typeface="Raleway" pitchFamily="34" charset="0"/>
                <a:ea typeface="Raleway" pitchFamily="34" charset="-122"/>
                <a:cs typeface="Raleway" pitchFamily="34" charset="-120"/>
              </a:rPr>
              <a:t>Tracked weekly. Below 80% triggers immediate escalation to Practice Head.</a:t>
            </a:r>
            <a:endParaRPr lang="en-US" sz="900"/>
          </a:p>
        </p:txBody>
      </p:sp>
      <p:sp>
        <p:nvSpPr>
          <p:cNvPr id="29" name="Text 23"/>
          <p:cNvSpPr txBox="1"/>
          <p:nvPr/>
        </p:nvSpPr>
        <p:spPr>
          <a:xfrm>
            <a:off x="4496105" y="1772107"/>
            <a:ext cx="3200400" cy="381305"/>
          </a:xfrm>
          <a:prstGeom prst="rect">
            <a:avLst/>
          </a:prstGeom>
          <a:noFill/>
          <a:ln/>
        </p:spPr>
        <p:txBody>
          <a:bodyPr wrap="none" lIns="0" tIns="0" rIns="0" bIns="0" rtlCol="0" anchor="ctr"/>
          <a:lstStyle/>
          <a:p>
            <a:pPr marL="0" indent="0" algn="l">
              <a:buNone/>
            </a:pPr>
            <a:r>
              <a:rPr lang="en-US" sz="2700" b="1">
                <a:solidFill>
                  <a:srgbClr val="2A9D8F"/>
                </a:solidFill>
                <a:latin typeface="Oswald" pitchFamily="34" charset="0"/>
                <a:ea typeface="Oswald" pitchFamily="34" charset="-122"/>
                <a:cs typeface="Oswald" pitchFamily="34" charset="-120"/>
              </a:rPr>
              <a:t>&lt;=0.5</a:t>
            </a:r>
            <a:endParaRPr lang="en-US" sz="2700"/>
          </a:p>
        </p:txBody>
      </p:sp>
      <p:sp>
        <p:nvSpPr>
          <p:cNvPr id="30" name="Text 24"/>
          <p:cNvSpPr txBox="1"/>
          <p:nvPr/>
        </p:nvSpPr>
        <p:spPr>
          <a:xfrm>
            <a:off x="4496105" y="2187245"/>
            <a:ext cx="3200400" cy="152705"/>
          </a:xfrm>
          <a:prstGeom prst="rect">
            <a:avLst/>
          </a:prstGeom>
          <a:noFill/>
          <a:ln/>
        </p:spPr>
        <p:txBody>
          <a:bodyPr wrap="none" lIns="0" tIns="0" rIns="0" bIns="0" rtlCol="0" anchor="ctr"/>
          <a:lstStyle/>
          <a:p>
            <a:pPr marL="0" indent="0" algn="l">
              <a:buNone/>
            </a:pPr>
            <a:r>
              <a:rPr lang="en-US" sz="1000" b="1">
                <a:solidFill>
                  <a:srgbClr val="111827"/>
                </a:solidFill>
                <a:latin typeface="Roboto Condensed" pitchFamily="34" charset="0"/>
                <a:ea typeface="Roboto Condensed" pitchFamily="34" charset="-122"/>
                <a:cs typeface="Roboto Condensed" pitchFamily="34" charset="-120"/>
              </a:rPr>
              <a:t>Defect Density</a:t>
            </a:r>
            <a:endParaRPr lang="en-US" sz="1000"/>
          </a:p>
        </p:txBody>
      </p:sp>
      <p:sp>
        <p:nvSpPr>
          <p:cNvPr id="31" name="Text 25"/>
          <p:cNvSpPr txBox="1"/>
          <p:nvPr/>
        </p:nvSpPr>
        <p:spPr>
          <a:xfrm>
            <a:off x="4496105" y="2415845"/>
            <a:ext cx="3200400" cy="352958"/>
          </a:xfrm>
          <a:prstGeom prst="rect">
            <a:avLst/>
          </a:prstGeom>
          <a:noFill/>
          <a:ln/>
        </p:spPr>
        <p:txBody>
          <a:bodyPr wrap="square" lIns="0" tIns="0" rIns="0" bIns="0" rtlCol="0" anchor="ctr"/>
          <a:lstStyle/>
          <a:p>
            <a:pPr marL="0" indent="0" algn="l">
              <a:buNone/>
            </a:pPr>
            <a:r>
              <a:rPr lang="en-US" sz="900">
                <a:solidFill>
                  <a:srgbClr val="4B5563"/>
                </a:solidFill>
                <a:latin typeface="Raleway" pitchFamily="34" charset="0"/>
                <a:ea typeface="Raleway" pitchFamily="34" charset="-122"/>
                <a:cs typeface="Raleway" pitchFamily="34" charset="-120"/>
              </a:rPr>
              <a:t>Code quality benchmark (per KLOC). Reviewed at monthly performance scorecard.</a:t>
            </a:r>
            <a:endParaRPr lang="en-US" sz="900"/>
          </a:p>
        </p:txBody>
      </p:sp>
      <p:sp>
        <p:nvSpPr>
          <p:cNvPr id="32" name="Text 26"/>
          <p:cNvSpPr txBox="1"/>
          <p:nvPr/>
        </p:nvSpPr>
        <p:spPr>
          <a:xfrm>
            <a:off x="8229600" y="1772107"/>
            <a:ext cx="3200400" cy="381305"/>
          </a:xfrm>
          <a:prstGeom prst="rect">
            <a:avLst/>
          </a:prstGeom>
          <a:noFill/>
          <a:ln/>
        </p:spPr>
        <p:txBody>
          <a:bodyPr wrap="none" lIns="0" tIns="0" rIns="0" bIns="0" rtlCol="0" anchor="ctr"/>
          <a:lstStyle/>
          <a:p>
            <a:pPr marL="0" indent="0" algn="l">
              <a:buNone/>
            </a:pPr>
            <a:r>
              <a:rPr lang="en-US" sz="2700" b="1">
                <a:solidFill>
                  <a:srgbClr val="D62839"/>
                </a:solidFill>
                <a:latin typeface="Oswald" pitchFamily="34" charset="0"/>
                <a:ea typeface="Oswald" pitchFamily="34" charset="-122"/>
                <a:cs typeface="Oswald" pitchFamily="34" charset="-120"/>
              </a:rPr>
              <a:t>10-Day</a:t>
            </a:r>
            <a:endParaRPr lang="en-US" sz="2700"/>
          </a:p>
        </p:txBody>
      </p:sp>
      <p:sp>
        <p:nvSpPr>
          <p:cNvPr id="33" name="Text 27"/>
          <p:cNvSpPr txBox="1"/>
          <p:nvPr/>
        </p:nvSpPr>
        <p:spPr>
          <a:xfrm>
            <a:off x="8229600" y="2187245"/>
            <a:ext cx="3200400" cy="152705"/>
          </a:xfrm>
          <a:prstGeom prst="rect">
            <a:avLst/>
          </a:prstGeom>
          <a:noFill/>
          <a:ln/>
        </p:spPr>
        <p:txBody>
          <a:bodyPr wrap="none" lIns="0" tIns="0" rIns="0" bIns="0" rtlCol="0" anchor="ctr"/>
          <a:lstStyle/>
          <a:p>
            <a:pPr marL="0" indent="0" algn="l">
              <a:buNone/>
            </a:pPr>
            <a:r>
              <a:rPr lang="en-US" sz="1000" b="1">
                <a:solidFill>
                  <a:srgbClr val="111827"/>
                </a:solidFill>
                <a:latin typeface="Roboto Condensed" pitchFamily="34" charset="0"/>
                <a:ea typeface="Roboto Condensed" pitchFamily="34" charset="-122"/>
                <a:cs typeface="Roboto Condensed" pitchFamily="34" charset="-120"/>
              </a:rPr>
              <a:t>Onboarding</a:t>
            </a:r>
            <a:endParaRPr lang="en-US" sz="1000"/>
          </a:p>
        </p:txBody>
      </p:sp>
      <p:sp>
        <p:nvSpPr>
          <p:cNvPr id="34" name="Text 28"/>
          <p:cNvSpPr txBox="1"/>
          <p:nvPr/>
        </p:nvSpPr>
        <p:spPr>
          <a:xfrm>
            <a:off x="8229600" y="2415845"/>
            <a:ext cx="3200400" cy="352958"/>
          </a:xfrm>
          <a:prstGeom prst="rect">
            <a:avLst/>
          </a:prstGeom>
          <a:noFill/>
          <a:ln/>
        </p:spPr>
        <p:txBody>
          <a:bodyPr wrap="square" lIns="0" tIns="0" rIns="0" bIns="0" rtlCol="0" anchor="ctr"/>
          <a:lstStyle/>
          <a:p>
            <a:pPr marL="0" indent="0" algn="l">
              <a:buNone/>
            </a:pPr>
            <a:r>
              <a:rPr lang="en-US" sz="900">
                <a:solidFill>
                  <a:srgbClr val="4B5563"/>
                </a:solidFill>
                <a:latin typeface="Raleway" pitchFamily="34" charset="0"/>
                <a:ea typeface="Raleway" pitchFamily="34" charset="-122"/>
                <a:cs typeface="Raleway" pitchFamily="34" charset="-120"/>
              </a:rPr>
              <a:t>New engineers contributing to sprint by Day 10 via GenAI knowledge repo.</a:t>
            </a:r>
            <a:endParaRPr lang="en-US" sz="900"/>
          </a:p>
        </p:txBody>
      </p:sp>
      <p:sp>
        <p:nvSpPr>
          <p:cNvPr id="35" name="Text 29"/>
          <p:cNvSpPr txBox="1"/>
          <p:nvPr/>
        </p:nvSpPr>
        <p:spPr>
          <a:xfrm>
            <a:off x="761695" y="3685946"/>
            <a:ext cx="3200400" cy="381305"/>
          </a:xfrm>
          <a:prstGeom prst="rect">
            <a:avLst/>
          </a:prstGeom>
          <a:noFill/>
          <a:ln/>
        </p:spPr>
        <p:txBody>
          <a:bodyPr wrap="none" lIns="0" tIns="0" rIns="0" bIns="0" rtlCol="0" anchor="ctr"/>
          <a:lstStyle/>
          <a:p>
            <a:pPr marL="0" indent="0" algn="l">
              <a:buNone/>
            </a:pPr>
            <a:r>
              <a:rPr lang="en-US" sz="2700" b="1">
                <a:solidFill>
                  <a:srgbClr val="111827"/>
                </a:solidFill>
                <a:latin typeface="Oswald" pitchFamily="34" charset="0"/>
                <a:ea typeface="Oswald" pitchFamily="34" charset="-122"/>
                <a:cs typeface="Oswald" pitchFamily="34" charset="-120"/>
              </a:rPr>
              <a:t>90-Day</a:t>
            </a:r>
            <a:endParaRPr lang="en-US" sz="2700"/>
          </a:p>
        </p:txBody>
      </p:sp>
      <p:sp>
        <p:nvSpPr>
          <p:cNvPr id="36" name="Text 30"/>
          <p:cNvSpPr txBox="1"/>
          <p:nvPr/>
        </p:nvSpPr>
        <p:spPr>
          <a:xfrm>
            <a:off x="761695" y="4101084"/>
            <a:ext cx="3200400" cy="152705"/>
          </a:xfrm>
          <a:prstGeom prst="rect">
            <a:avLst/>
          </a:prstGeom>
          <a:noFill/>
          <a:ln/>
        </p:spPr>
        <p:txBody>
          <a:bodyPr wrap="none" lIns="0" tIns="0" rIns="0" bIns="0" rtlCol="0" anchor="ctr"/>
          <a:lstStyle/>
          <a:p>
            <a:pPr marL="0" indent="0" algn="l">
              <a:buNone/>
            </a:pPr>
            <a:r>
              <a:rPr lang="en-US" sz="1000" b="1">
                <a:solidFill>
                  <a:srgbClr val="2A9D8F"/>
                </a:solidFill>
                <a:latin typeface="Roboto Condensed" pitchFamily="34" charset="0"/>
                <a:ea typeface="Roboto Condensed" pitchFamily="34" charset="-122"/>
                <a:cs typeface="Roboto Condensed" pitchFamily="34" charset="-120"/>
              </a:rPr>
              <a:t>POFU</a:t>
            </a:r>
            <a:endParaRPr lang="en-US" sz="1000"/>
          </a:p>
        </p:txBody>
      </p:sp>
      <p:sp>
        <p:nvSpPr>
          <p:cNvPr id="37" name="Text 31"/>
          <p:cNvSpPr txBox="1"/>
          <p:nvPr/>
        </p:nvSpPr>
        <p:spPr>
          <a:xfrm>
            <a:off x="761695" y="4329684"/>
            <a:ext cx="3200400" cy="352958"/>
          </a:xfrm>
          <a:prstGeom prst="rect">
            <a:avLst/>
          </a:prstGeom>
          <a:noFill/>
          <a:ln/>
        </p:spPr>
        <p:txBody>
          <a:bodyPr wrap="square" lIns="0" tIns="0" rIns="0" bIns="0" rtlCol="0" anchor="ctr"/>
          <a:lstStyle/>
          <a:p>
            <a:pPr marL="0" indent="0" algn="l">
              <a:buNone/>
            </a:pPr>
            <a:r>
              <a:rPr lang="en-US" sz="900">
                <a:solidFill>
                  <a:srgbClr val="4B5563"/>
                </a:solidFill>
                <a:latin typeface="Raleway" pitchFamily="34" charset="0"/>
                <a:ea typeface="Raleway" pitchFamily="34" charset="-122"/>
                <a:cs typeface="Raleway" pitchFamily="34" charset="-120"/>
              </a:rPr>
              <a:t>Post-Offer Follow-Up management. Milestone touchpoints ensure offer dropout stays in single digits.</a:t>
            </a:r>
            <a:endParaRPr lang="en-US" sz="900"/>
          </a:p>
        </p:txBody>
      </p:sp>
      <p:sp>
        <p:nvSpPr>
          <p:cNvPr id="38" name="Text 32"/>
          <p:cNvSpPr txBox="1"/>
          <p:nvPr/>
        </p:nvSpPr>
        <p:spPr>
          <a:xfrm>
            <a:off x="4496105" y="3685946"/>
            <a:ext cx="3200400" cy="381305"/>
          </a:xfrm>
          <a:prstGeom prst="rect">
            <a:avLst/>
          </a:prstGeom>
          <a:noFill/>
          <a:ln/>
        </p:spPr>
        <p:txBody>
          <a:bodyPr wrap="none" lIns="0" tIns="0" rIns="0" bIns="0" rtlCol="0" anchor="ctr"/>
          <a:lstStyle/>
          <a:p>
            <a:pPr marL="0" indent="0" algn="l">
              <a:buNone/>
            </a:pPr>
            <a:r>
              <a:rPr lang="en-US" sz="2700" b="1">
                <a:solidFill>
                  <a:srgbClr val="2A9D8F"/>
                </a:solidFill>
                <a:latin typeface="Oswald" pitchFamily="34" charset="0"/>
                <a:ea typeface="Oswald" pitchFamily="34" charset="-122"/>
                <a:cs typeface="Oswald" pitchFamily="34" charset="-120"/>
              </a:rPr>
              <a:t>&lt;5%</a:t>
            </a:r>
            <a:endParaRPr lang="en-US" sz="2700"/>
          </a:p>
        </p:txBody>
      </p:sp>
      <p:sp>
        <p:nvSpPr>
          <p:cNvPr id="39" name="Text 33"/>
          <p:cNvSpPr txBox="1"/>
          <p:nvPr/>
        </p:nvSpPr>
        <p:spPr>
          <a:xfrm>
            <a:off x="4496105" y="4101084"/>
            <a:ext cx="3200400" cy="152705"/>
          </a:xfrm>
          <a:prstGeom prst="rect">
            <a:avLst/>
          </a:prstGeom>
          <a:noFill/>
          <a:ln/>
        </p:spPr>
        <p:txBody>
          <a:bodyPr wrap="none" lIns="0" tIns="0" rIns="0" bIns="0" rtlCol="0" anchor="ctr"/>
          <a:lstStyle/>
          <a:p>
            <a:pPr marL="0" indent="0" algn="l">
              <a:buNone/>
            </a:pPr>
            <a:r>
              <a:rPr lang="en-US" sz="1000" b="1">
                <a:solidFill>
                  <a:srgbClr val="111827"/>
                </a:solidFill>
                <a:latin typeface="Roboto Condensed" pitchFamily="34" charset="0"/>
                <a:ea typeface="Roboto Condensed" pitchFamily="34" charset="-122"/>
                <a:cs typeface="Roboto Condensed" pitchFamily="34" charset="-120"/>
              </a:rPr>
              <a:t>Unplanned Carryover</a:t>
            </a:r>
            <a:endParaRPr lang="en-US" sz="1000"/>
          </a:p>
        </p:txBody>
      </p:sp>
      <p:sp>
        <p:nvSpPr>
          <p:cNvPr id="40" name="Text 34"/>
          <p:cNvSpPr txBox="1"/>
          <p:nvPr/>
        </p:nvSpPr>
        <p:spPr>
          <a:xfrm>
            <a:off x="4496105" y="4329684"/>
            <a:ext cx="3200400" cy="352958"/>
          </a:xfrm>
          <a:prstGeom prst="rect">
            <a:avLst/>
          </a:prstGeom>
          <a:noFill/>
          <a:ln/>
        </p:spPr>
        <p:txBody>
          <a:bodyPr wrap="square" lIns="0" tIns="0" rIns="0" bIns="0" rtlCol="0" anchor="ctr"/>
          <a:lstStyle/>
          <a:p>
            <a:pPr marL="0" indent="0" algn="l">
              <a:buNone/>
            </a:pPr>
            <a:r>
              <a:rPr lang="en-US" sz="900">
                <a:solidFill>
                  <a:srgbClr val="4B5563"/>
                </a:solidFill>
                <a:latin typeface="Raleway" pitchFamily="34" charset="0"/>
                <a:ea typeface="Raleway" pitchFamily="34" charset="-122"/>
                <a:cs typeface="Raleway" pitchFamily="34" charset="-120"/>
              </a:rPr>
              <a:t>Strict backlog management to ensure sprint commitments are reliably met.</a:t>
            </a:r>
            <a:endParaRPr lang="en-US" sz="900"/>
          </a:p>
        </p:txBody>
      </p:sp>
      <p:sp>
        <p:nvSpPr>
          <p:cNvPr id="41" name="Text 35"/>
          <p:cNvSpPr txBox="1"/>
          <p:nvPr/>
        </p:nvSpPr>
        <p:spPr>
          <a:xfrm>
            <a:off x="8229600" y="3685946"/>
            <a:ext cx="3200400" cy="381305"/>
          </a:xfrm>
          <a:prstGeom prst="rect">
            <a:avLst/>
          </a:prstGeom>
          <a:noFill/>
          <a:ln/>
        </p:spPr>
        <p:txBody>
          <a:bodyPr wrap="none" lIns="0" tIns="0" rIns="0" bIns="0" rtlCol="0" anchor="ctr"/>
          <a:lstStyle/>
          <a:p>
            <a:pPr marL="0" indent="0" algn="l">
              <a:buNone/>
            </a:pPr>
            <a:r>
              <a:rPr lang="en-US" sz="2700" b="1">
                <a:solidFill>
                  <a:srgbClr val="D62839"/>
                </a:solidFill>
                <a:latin typeface="Oswald" pitchFamily="34" charset="0"/>
                <a:ea typeface="Oswald" pitchFamily="34" charset="-122"/>
                <a:cs typeface="Oswald" pitchFamily="34" charset="-120"/>
              </a:rPr>
              <a:t>100%</a:t>
            </a:r>
            <a:endParaRPr lang="en-US" sz="2700"/>
          </a:p>
        </p:txBody>
      </p:sp>
      <p:sp>
        <p:nvSpPr>
          <p:cNvPr id="42" name="Text 36"/>
          <p:cNvSpPr txBox="1"/>
          <p:nvPr/>
        </p:nvSpPr>
        <p:spPr>
          <a:xfrm>
            <a:off x="8229600" y="4101084"/>
            <a:ext cx="3200400" cy="152705"/>
          </a:xfrm>
          <a:prstGeom prst="rect">
            <a:avLst/>
          </a:prstGeom>
          <a:noFill/>
          <a:ln/>
        </p:spPr>
        <p:txBody>
          <a:bodyPr wrap="none" lIns="0" tIns="0" rIns="0" bIns="0" rtlCol="0" anchor="ctr"/>
          <a:lstStyle/>
          <a:p>
            <a:pPr marL="0" indent="0" algn="l">
              <a:buNone/>
            </a:pPr>
            <a:r>
              <a:rPr lang="en-US" sz="1000" b="1">
                <a:solidFill>
                  <a:srgbClr val="111827"/>
                </a:solidFill>
                <a:latin typeface="Roboto Condensed" pitchFamily="34" charset="0"/>
                <a:ea typeface="Roboto Condensed" pitchFamily="34" charset="-122"/>
                <a:cs typeface="Roboto Condensed" pitchFamily="34" charset="-120"/>
              </a:rPr>
              <a:t>Governance Cadence Adherence</a:t>
            </a:r>
            <a:endParaRPr lang="en-US" sz="1000"/>
          </a:p>
        </p:txBody>
      </p:sp>
      <p:sp>
        <p:nvSpPr>
          <p:cNvPr id="43" name="Text 37"/>
          <p:cNvSpPr txBox="1"/>
          <p:nvPr/>
        </p:nvSpPr>
        <p:spPr>
          <a:xfrm>
            <a:off x="8229600" y="4329684"/>
            <a:ext cx="3200400" cy="352958"/>
          </a:xfrm>
          <a:prstGeom prst="rect">
            <a:avLst/>
          </a:prstGeom>
          <a:noFill/>
          <a:ln/>
        </p:spPr>
        <p:txBody>
          <a:bodyPr wrap="square" lIns="0" tIns="0" rIns="0" bIns="0" rtlCol="0" anchor="ctr"/>
          <a:lstStyle/>
          <a:p>
            <a:pPr marL="0" indent="0" algn="l">
              <a:buNone/>
            </a:pPr>
            <a:r>
              <a:rPr lang="en-US" sz="900">
                <a:solidFill>
                  <a:srgbClr val="4B5563"/>
                </a:solidFill>
                <a:latin typeface="Raleway" pitchFamily="34" charset="0"/>
                <a:ea typeface="Raleway" pitchFamily="34" charset="-122"/>
                <a:cs typeface="Raleway" pitchFamily="34" charset="-120"/>
              </a:rPr>
              <a:t>Mandatory participation in standups, sprint reviews, and quarterly ROI QBRs.</a:t>
            </a:r>
            <a:endParaRPr lang="en-US" sz="900"/>
          </a:p>
        </p:txBody>
      </p:sp>
      <p:sp>
        <p:nvSpPr>
          <p:cNvPr id="44" name="Text 38"/>
          <p:cNvSpPr txBox="1"/>
          <p:nvPr/>
        </p:nvSpPr>
        <p:spPr>
          <a:xfrm>
            <a:off x="2202790" y="5880506"/>
            <a:ext cx="7791602" cy="247802"/>
          </a:xfrm>
          <a:prstGeom prst="rect">
            <a:avLst/>
          </a:prstGeom>
          <a:noFill/>
          <a:ln/>
        </p:spPr>
        <p:txBody>
          <a:bodyPr wrap="none" lIns="0" tIns="0" rIns="0" bIns="0" rtlCol="0" anchor="ctr"/>
          <a:lstStyle/>
          <a:p>
            <a:pPr marL="0" indent="0" algn="ctr">
              <a:buNone/>
            </a:pPr>
            <a:r>
              <a:rPr lang="en-US" sz="1300" b="1">
                <a:solidFill>
                  <a:srgbClr val="FFFFFF"/>
                </a:solidFill>
                <a:latin typeface="Raleway" pitchFamily="34" charset="0"/>
                <a:ea typeface="Raleway" pitchFamily="34" charset="-122"/>
                <a:cs typeface="Raleway" pitchFamily="34" charset="-120"/>
              </a:rPr>
              <a:t>These metrics convert pods from staffing cost centers into predictable delivery engines.</a:t>
            </a:r>
            <a:endParaRPr lang="en-US" sz="1300"/>
          </a:p>
        </p:txBody>
      </p:sp>
      <p:sp>
        <p:nvSpPr>
          <p:cNvPr id="45" name="Text 39"/>
          <p:cNvSpPr txBox="1"/>
          <p:nvPr/>
        </p:nvSpPr>
        <p:spPr>
          <a:xfrm>
            <a:off x="10515600" y="485546"/>
            <a:ext cx="694944" cy="133502"/>
          </a:xfrm>
          <a:prstGeom prst="rect">
            <a:avLst/>
          </a:prstGeom>
          <a:noFill/>
          <a:ln/>
        </p:spPr>
        <p:txBody>
          <a:bodyPr wrap="none" lIns="0" tIns="0" rIns="0" bIns="0" rtlCol="0" anchor="ctr"/>
          <a:lstStyle/>
          <a:p>
            <a:pPr marL="0" indent="0" algn="ctr">
              <a:buNone/>
            </a:pPr>
            <a:r>
              <a:rPr lang="en-US" sz="1000" b="1" kern="0" spc="52">
                <a:solidFill>
                  <a:srgbClr val="FFFFFF"/>
                </a:solidFill>
                <a:latin typeface="Roboto Condensed" pitchFamily="34" charset="0"/>
                <a:ea typeface="Roboto Condensed" pitchFamily="34" charset="-122"/>
                <a:cs typeface="Roboto Condensed" pitchFamily="34" charset="-120"/>
              </a:rPr>
              <a:t>AI Pods</a:t>
            </a:r>
            <a:endParaRPr lang="en-US" sz="1000"/>
          </a:p>
        </p:txBody>
      </p:sp>
    </p:spTree>
    <p:extLst>
      <p:ext uri="{BB962C8B-B14F-4D97-AF65-F5344CB8AC3E}">
        <p14:creationId xmlns:p14="http://schemas.microsoft.com/office/powerpoint/2010/main" val="181587005"/>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57200"/>
            <a:ext cx="10972800" cy="1005840"/>
          </a:xfrm>
          <a:prstGeom prst="rect">
            <a:avLst/>
          </a:prstGeom>
          <a:noFill/>
        </p:spPr>
        <p:txBody>
          <a:bodyPr wrap="none">
            <a:spAutoFit/>
          </a:bodyPr>
          <a:lstStyle/>
          <a:p>
            <a:r>
              <a:rPr sz="2800" b="1" i="0">
                <a:solidFill>
                  <a:srgbClr val="142850"/>
                </a:solidFill>
              </a:rPr>
              <a:t>Transforming Aviation MRO with Predictive Maintenance and AIOps</a:t>
            </a:r>
          </a:p>
        </p:txBody>
      </p:sp>
      <p:sp>
        <p:nvSpPr>
          <p:cNvPr id="3" name="TextBox 2"/>
          <p:cNvSpPr txBox="1"/>
          <p:nvPr/>
        </p:nvSpPr>
        <p:spPr>
          <a:xfrm>
            <a:off x="548640" y="1463040"/>
            <a:ext cx="10972800" cy="457200"/>
          </a:xfrm>
          <a:prstGeom prst="rect">
            <a:avLst/>
          </a:prstGeom>
          <a:noFill/>
        </p:spPr>
        <p:txBody>
          <a:bodyPr wrap="none">
            <a:spAutoFit/>
          </a:bodyPr>
          <a:lstStyle/>
          <a:p>
            <a:r>
              <a:rPr sz="1300" b="0" i="1">
                <a:solidFill>
                  <a:srgbClr val="0F6E56"/>
                </a:solidFill>
              </a:rPr>
              <a:t>Predictive Maintenance · AIOps · Efficiency · Cost Reduction</a:t>
            </a:r>
          </a:p>
        </p:txBody>
      </p:sp>
      <p:sp>
        <p:nvSpPr>
          <p:cNvPr id="4" name="TextBox 3"/>
          <p:cNvSpPr txBox="1"/>
          <p:nvPr/>
        </p:nvSpPr>
        <p:spPr>
          <a:xfrm>
            <a:off x="548640" y="2103120"/>
            <a:ext cx="10972800" cy="3657600"/>
          </a:xfrm>
          <a:prstGeom prst="rect">
            <a:avLst/>
          </a:prstGeom>
          <a:noFill/>
        </p:spPr>
        <p:txBody>
          <a:bodyPr wrap="none">
            <a:spAutoFit/>
          </a:bodyPr>
          <a:lstStyle/>
          <a:p>
            <a:r>
              <a:t>• Reduced aircraft downtime by 30% through predictive analytics, enhancing operational efficiency.</a:t>
            </a:r>
          </a:p>
          <a:p>
            <a:r>
              <a:t>• Achieved a 25% reduction in maintenance costs by optimizing resource allocation with AIOps.</a:t>
            </a:r>
          </a:p>
          <a:p>
            <a:r>
              <a:t>• Improved safety compliance by 40% with real-time monitoring and proactive issue resolution.</a:t>
            </a:r>
          </a:p>
          <a:p>
            <a:r>
              <a:t>• Enabled data-driven decision-making, leading to a 20% increase in overall fleet reliability.</a:t>
            </a:r>
          </a:p>
        </p:txBody>
      </p:sp>
      <p:sp>
        <p:nvSpPr>
          <p:cNvPr id="5" name="TextBox 4"/>
          <p:cNvSpPr txBox="1"/>
          <p:nvPr/>
        </p:nvSpPr>
        <p:spPr>
          <a:xfrm>
            <a:off x="548640" y="6309360"/>
            <a:ext cx="10972800" cy="365760"/>
          </a:xfrm>
          <a:prstGeom prst="rect">
            <a:avLst/>
          </a:prstGeom>
          <a:noFill/>
        </p:spPr>
        <p:txBody>
          <a:bodyPr wrap="none">
            <a:spAutoFit/>
          </a:bodyPr>
          <a:lstStyle/>
          <a:p>
            <a:r>
              <a:rPr sz="1000" b="0" i="1">
                <a:solidFill>
                  <a:srgbClr val="AAAAAA"/>
                </a:solidFill>
              </a:rPr>
              <a:t>Generated slide — replace with the real J2W template</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57200"/>
            <a:ext cx="10972800" cy="1005840"/>
          </a:xfrm>
          <a:prstGeom prst="rect">
            <a:avLst/>
          </a:prstGeom>
          <a:noFill/>
        </p:spPr>
        <p:txBody>
          <a:bodyPr wrap="none">
            <a:spAutoFit/>
          </a:bodyPr>
          <a:lstStyle/>
          <a:p>
            <a:r>
              <a:rPr sz="2800" b="1" i="0">
                <a:solidFill>
                  <a:srgbClr val="142850"/>
                </a:solidFill>
              </a:rPr>
              <a:t>AI-Pod Engagement Case Study: Northwind Aerospace</a:t>
            </a:r>
          </a:p>
        </p:txBody>
      </p:sp>
      <p:sp>
        <p:nvSpPr>
          <p:cNvPr id="3" name="TextBox 2"/>
          <p:cNvSpPr txBox="1"/>
          <p:nvPr/>
        </p:nvSpPr>
        <p:spPr>
          <a:xfrm>
            <a:off x="548640" y="1463040"/>
            <a:ext cx="10972800" cy="457200"/>
          </a:xfrm>
          <a:prstGeom prst="rect">
            <a:avLst/>
          </a:prstGeom>
          <a:noFill/>
        </p:spPr>
        <p:txBody>
          <a:bodyPr wrap="none">
            <a:spAutoFit/>
          </a:bodyPr>
          <a:lstStyle/>
          <a:p>
            <a:r>
              <a:rPr sz="1300" b="0" i="1">
                <a:solidFill>
                  <a:srgbClr val="0F6E56"/>
                </a:solidFill>
              </a:rPr>
              <a:t>Predictive Maintenance · Unplanned Downtime · Spare-Parts Forecasting · Managed Services</a:t>
            </a:r>
          </a:p>
        </p:txBody>
      </p:sp>
      <p:sp>
        <p:nvSpPr>
          <p:cNvPr id="4" name="TextBox 3"/>
          <p:cNvSpPr txBox="1"/>
          <p:nvPr/>
        </p:nvSpPr>
        <p:spPr>
          <a:xfrm>
            <a:off x="548640" y="2103120"/>
            <a:ext cx="10972800" cy="3657600"/>
          </a:xfrm>
          <a:prstGeom prst="rect">
            <a:avLst/>
          </a:prstGeom>
          <a:noFill/>
        </p:spPr>
        <p:txBody>
          <a:bodyPr wrap="none">
            <a:spAutoFit/>
          </a:bodyPr>
          <a:lstStyle/>
          <a:p>
            <a:r>
              <a:t>• Developed predictive maintenance models, reducing unplanned downtime by 30%.</a:t>
            </a:r>
          </a:p>
          <a:p>
            <a:r>
              <a:t>• Forecasted spare-parts demand with 95% accuracy, optimizing inventory management.</a:t>
            </a:r>
          </a:p>
          <a:p>
            <a:r>
              <a:t>• Implemented 24/7 managed services for analytics platform, ensuring continuous support and uptime.</a:t>
            </a:r>
          </a:p>
          <a:p>
            <a:r>
              <a:t>• Enhanced operational efficiency, leading to a 20% increase in overall productivity.</a:t>
            </a:r>
          </a:p>
        </p:txBody>
      </p:sp>
      <p:sp>
        <p:nvSpPr>
          <p:cNvPr id="5" name="TextBox 4"/>
          <p:cNvSpPr txBox="1"/>
          <p:nvPr/>
        </p:nvSpPr>
        <p:spPr>
          <a:xfrm>
            <a:off x="548640" y="6309360"/>
            <a:ext cx="10972800" cy="365760"/>
          </a:xfrm>
          <a:prstGeom prst="rect">
            <a:avLst/>
          </a:prstGeom>
          <a:noFill/>
        </p:spPr>
        <p:txBody>
          <a:bodyPr wrap="none">
            <a:spAutoFit/>
          </a:bodyPr>
          <a:lstStyle/>
          <a:p>
            <a:r>
              <a:rPr sz="1000" b="0" i="1">
                <a:solidFill>
                  <a:srgbClr val="AAAAAA"/>
                </a:solidFill>
              </a:rPr>
              <a:t>Generated slide — replace with the real J2W template</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57200"/>
            <a:ext cx="10972800" cy="1005840"/>
          </a:xfrm>
          <a:prstGeom prst="rect">
            <a:avLst/>
          </a:prstGeom>
          <a:noFill/>
        </p:spPr>
        <p:txBody>
          <a:bodyPr wrap="none">
            <a:spAutoFit/>
          </a:bodyPr>
          <a:lstStyle/>
          <a:p>
            <a:r>
              <a:rPr sz="2800" b="1" i="0">
                <a:solidFill>
                  <a:srgbClr val="142850"/>
                </a:solidFill>
              </a:rPr>
              <a:t>AI POD FOR RENEWABLE ENERGY OPTIMIZATION</a:t>
            </a:r>
          </a:p>
        </p:txBody>
      </p:sp>
      <p:sp>
        <p:nvSpPr>
          <p:cNvPr id="3" name="TextBox 2"/>
          <p:cNvSpPr txBox="1"/>
          <p:nvPr/>
        </p:nvSpPr>
        <p:spPr>
          <a:xfrm>
            <a:off x="548640" y="1463040"/>
            <a:ext cx="10972800" cy="457200"/>
          </a:xfrm>
          <a:prstGeom prst="rect">
            <a:avLst/>
          </a:prstGeom>
          <a:noFill/>
        </p:spPr>
        <p:txBody>
          <a:bodyPr wrap="none">
            <a:spAutoFit/>
          </a:bodyPr>
          <a:lstStyle/>
          <a:p>
            <a:r>
              <a:rPr sz="1300" b="0" i="1">
                <a:solidFill>
                  <a:srgbClr val="0F6E56"/>
                </a:solidFill>
              </a:rPr>
              <a:t>Energy · AI Pod · Grid Load Forecasting · Renewable Dispatch · Solar · Wind</a:t>
            </a:r>
          </a:p>
        </p:txBody>
      </p:sp>
      <p:sp>
        <p:nvSpPr>
          <p:cNvPr id="4" name="TextBox 3"/>
          <p:cNvSpPr txBox="1"/>
          <p:nvPr/>
        </p:nvSpPr>
        <p:spPr>
          <a:xfrm>
            <a:off x="548640" y="2103120"/>
            <a:ext cx="10972800" cy="3657600"/>
          </a:xfrm>
          <a:prstGeom prst="rect">
            <a:avLst/>
          </a:prstGeom>
          <a:noFill/>
        </p:spPr>
        <p:txBody>
          <a:bodyPr wrap="none">
            <a:spAutoFit/>
          </a:bodyPr>
          <a:lstStyle/>
          <a:p>
            <a:r>
              <a:t>• Accurate grid load forecasting to enhance operational efficiency.</a:t>
            </a:r>
          </a:p>
          <a:p>
            <a:r>
              <a:t>• Optimized dispatch of solar and wind assets, reducing curtailment by up to 30%.</a:t>
            </a:r>
          </a:p>
          <a:p>
            <a:r>
              <a:t>• Lowered balancing costs through advanced predictive analytics.</a:t>
            </a:r>
          </a:p>
          <a:p>
            <a:r>
              <a:t>• Rapid deployment of data-engineering and analytics team to support AI initiatives.</a:t>
            </a:r>
          </a:p>
        </p:txBody>
      </p:sp>
      <p:sp>
        <p:nvSpPr>
          <p:cNvPr id="5" name="TextBox 4"/>
          <p:cNvSpPr txBox="1"/>
          <p:nvPr/>
        </p:nvSpPr>
        <p:spPr>
          <a:xfrm>
            <a:off x="548640" y="6309360"/>
            <a:ext cx="10972800" cy="365760"/>
          </a:xfrm>
          <a:prstGeom prst="rect">
            <a:avLst/>
          </a:prstGeom>
          <a:noFill/>
        </p:spPr>
        <p:txBody>
          <a:bodyPr wrap="none">
            <a:spAutoFit/>
          </a:bodyPr>
          <a:lstStyle/>
          <a:p>
            <a:r>
              <a:rPr sz="1000" b="0" i="1">
                <a:solidFill>
                  <a:srgbClr val="AAAAAA"/>
                </a:solidFill>
              </a:rPr>
              <a:t>Generated slide — replace with the real J2W template</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57200"/>
            <a:ext cx="10972800" cy="1005840"/>
          </a:xfrm>
          <a:prstGeom prst="rect">
            <a:avLst/>
          </a:prstGeom>
          <a:noFill/>
        </p:spPr>
        <p:txBody>
          <a:bodyPr wrap="none">
            <a:spAutoFit/>
          </a:bodyPr>
          <a:lstStyle/>
          <a:p>
            <a:r>
              <a:rPr sz="2800" b="1" i="0">
                <a:solidFill>
                  <a:srgbClr val="142850"/>
                </a:solidFill>
              </a:rPr>
              <a:t>AI-DRIVEN GRID OPTIMIZATION FOR RENEWABLES</a:t>
            </a:r>
          </a:p>
        </p:txBody>
      </p:sp>
      <p:sp>
        <p:nvSpPr>
          <p:cNvPr id="3" name="TextBox 2"/>
          <p:cNvSpPr txBox="1"/>
          <p:nvPr/>
        </p:nvSpPr>
        <p:spPr>
          <a:xfrm>
            <a:off x="548640" y="1463040"/>
            <a:ext cx="10972800" cy="457200"/>
          </a:xfrm>
          <a:prstGeom prst="rect">
            <a:avLst/>
          </a:prstGeom>
          <a:noFill/>
        </p:spPr>
        <p:txBody>
          <a:bodyPr wrap="none">
            <a:spAutoFit/>
          </a:bodyPr>
          <a:lstStyle/>
          <a:p>
            <a:r>
              <a:rPr sz="1300" b="0" i="1">
                <a:solidFill>
                  <a:srgbClr val="0F6E56"/>
                </a:solidFill>
              </a:rPr>
              <a:t>Energy · Grid Operations · AI Pod · Renewable Dispatch · Curtailment Reduction · Data Engineering</a:t>
            </a:r>
          </a:p>
        </p:txBody>
      </p:sp>
      <p:sp>
        <p:nvSpPr>
          <p:cNvPr id="4" name="TextBox 3"/>
          <p:cNvSpPr txBox="1"/>
          <p:nvPr/>
        </p:nvSpPr>
        <p:spPr>
          <a:xfrm>
            <a:off x="548640" y="2103120"/>
            <a:ext cx="10972800" cy="3657600"/>
          </a:xfrm>
          <a:prstGeom prst="rect">
            <a:avLst/>
          </a:prstGeom>
          <a:noFill/>
        </p:spPr>
        <p:txBody>
          <a:bodyPr wrap="none">
            <a:spAutoFit/>
          </a:bodyPr>
          <a:lstStyle/>
          <a:p>
            <a:r>
              <a:t>• Dedicated AI pod for accurate grid load forecasting, enhancing operational efficiency.</a:t>
            </a:r>
          </a:p>
          <a:p>
            <a:r>
              <a:t>• Optimized dispatch of solar and wind assets to minimize curtailment and balancing costs.</a:t>
            </a:r>
          </a:p>
          <a:p>
            <a:r>
              <a:t>• Rapid deployment of data-engineering and analytics squad to support AI platform integration.</a:t>
            </a:r>
          </a:p>
          <a:p>
            <a:r>
              <a:t>• Real-time insights and predictive analytics driving smarter energy management decisions.</a:t>
            </a:r>
          </a:p>
        </p:txBody>
      </p:sp>
      <p:sp>
        <p:nvSpPr>
          <p:cNvPr id="5" name="TextBox 4"/>
          <p:cNvSpPr txBox="1"/>
          <p:nvPr/>
        </p:nvSpPr>
        <p:spPr>
          <a:xfrm>
            <a:off x="548640" y="6309360"/>
            <a:ext cx="10972800" cy="365760"/>
          </a:xfrm>
          <a:prstGeom prst="rect">
            <a:avLst/>
          </a:prstGeom>
          <a:noFill/>
        </p:spPr>
        <p:txBody>
          <a:bodyPr wrap="none">
            <a:spAutoFit/>
          </a:bodyPr>
          <a:lstStyle/>
          <a:p>
            <a:r>
              <a:rPr sz="1000" b="0" i="1">
                <a:solidFill>
                  <a:srgbClr val="AAAAAA"/>
                </a:solidFill>
              </a:rPr>
              <a:t>Generated slide — replace with the real J2W template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32819</Words>
  <Application>Microsoft Office PowerPoint</Application>
  <PresentationFormat>Widescreen</PresentationFormat>
  <Paragraphs>3575</Paragraphs>
  <Slides>138</Slides>
  <Notes>138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138</vt:i4>
      </vt:variant>
    </vt:vector>
  </HeadingPairs>
  <TitlesOfParts>
    <vt:vector size="145" baseType="lpstr">
      <vt:lpstr>Aptos</vt:lpstr>
      <vt:lpstr>Arial</vt:lpstr>
      <vt:lpstr>Calibri</vt:lpstr>
      <vt:lpstr>Oswald</vt:lpstr>
      <vt:lpstr>Raleway</vt:lpstr>
      <vt:lpstr>Roboto Condensed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 Case Study Portfolio</dc:title>
  <dc:subject>PptxGenJS Presentation</dc:subject>
  <dc:creator>J2W</dc:creator>
  <cp:lastModifiedBy>Athithia Krishna</cp:lastModifiedBy>
  <cp:revision>5</cp:revision>
  <dcterms:created xsi:type="dcterms:W3CDTF">2026-06-22T10:46:20Z</dcterms:created>
  <dcterms:modified xsi:type="dcterms:W3CDTF">2026-06-24T11:39:04Z</dcterms:modified>
</cp:coreProperties>
</file>