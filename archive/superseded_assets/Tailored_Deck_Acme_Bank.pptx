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5.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0"/>
  </p:notesMasterIdLst>
  <p:sldIdLst>
    <p:sldId id="2147483328" r:id="rId2"/>
    <p:sldId id="2147483329" r:id="rId3"/>
    <p:sldId id="2147483330" r:id="rId4"/>
    <p:sldId id="2147483327" r:id="rId5"/>
    <p:sldId id="2147483332" r:id="rId6"/>
    <p:sldId id="2147483331" r:id="rId7"/>
    <p:sldId id="2147483426" r:id="rId10"/>
    <p:sldId id="2147483323" r:id="rId11"/>
    <p:sldId id="2147483416" r:id="rId12"/>
    <p:sldId id="2147483418" r:id="rId13"/>
    <p:sldId id="2147483320" r:id="rId14"/>
    <p:sldId id="2147483427" r:id="rId15"/>
    <p:sldId id="2147483428" r:id="rId16"/>
    <p:sldId id="2147483429" r:id="rId17"/>
    <p:sldId id="257" r:id="rId22"/>
    <p:sldId id="265" r:id="rId30"/>
    <p:sldId id="266" r:id="rId31"/>
    <p:sldId id="268" r:id="rId33"/>
    <p:sldId id="271" r:id="rId36"/>
    <p:sldId id="274" r:id="rId39"/>
    <p:sldId id="275" r:id="rId40"/>
    <p:sldId id="277" r:id="rId42"/>
    <p:sldId id="2147483305" r:id="rId8"/>
    <p:sldId id="29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22" Type="http://schemas.openxmlformats.org/officeDocument/2006/relationships/slide" Target="slides/slide21.xml"/><Relationship Id="rId30" Type="http://schemas.openxmlformats.org/officeDocument/2006/relationships/slide" Target="slides/slide29.xml"/><Relationship Id="rId31" Type="http://schemas.openxmlformats.org/officeDocument/2006/relationships/slide" Target="slides/slide30.xml"/><Relationship Id="rId33" Type="http://schemas.openxmlformats.org/officeDocument/2006/relationships/slide" Target="slides/slide32.xml"/><Relationship Id="rId36" Type="http://schemas.openxmlformats.org/officeDocument/2006/relationships/slide" Target="slides/slide35.xml"/><Relationship Id="rId39" Type="http://schemas.openxmlformats.org/officeDocument/2006/relationships/slide" Target="slides/slide38.xml"/><Relationship Id="rId40" Type="http://schemas.openxmlformats.org/officeDocument/2006/relationships/slide" Target="slides/slide39.xml"/><Relationship Id="rId42" Type="http://schemas.openxmlformats.org/officeDocument/2006/relationships/slide" Target="slides/slide41.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 Id="rId7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39C72-50B3-E3AF-D46A-682D935D8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0CD18-B2E7-2213-3ADC-CC79A8BDC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5F7EF-8EE2-A756-31A6-FE6C1D6C1B5D}"/>
              </a:ext>
            </a:extLst>
          </p:cNvPr>
          <p:cNvSpPr>
            <a:spLocks noGrp="1"/>
          </p:cNvSpPr>
          <p:nvPr>
            <p:ph type="body" idx="1"/>
          </p:nvPr>
        </p:nvSpPr>
        <p:spPr/>
        <p:txBody>
          <a:bodyPr/>
          <a:lstStyle/>
          <a:p>
            <a:r>
              <a:t>J2W_ID: CS09</a:t>
            </a:r>
          </a:p>
        </p:txBody>
      </p:sp>
      <p:sp>
        <p:nvSpPr>
          <p:cNvPr id="4" name="Slide Number Placeholder 3">
            <a:extLst>
              <a:ext uri="{FF2B5EF4-FFF2-40B4-BE49-F238E27FC236}">
                <a16:creationId xmlns:a16="http://schemas.microsoft.com/office/drawing/2014/main" id="{0488B3FC-01B1-6FC7-0489-6B130E9F03D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46507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173587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516902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CS21</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CS29</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CS30</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CS32</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CS35</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CS38</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CS39</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CS41</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jpeg"/><Relationship Id="rId8" Type="http://schemas.openxmlformats.org/officeDocument/2006/relationships/image" Target="../media/image34.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9.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70.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73.png"/><Relationship Id="rId10" Type="http://schemas.openxmlformats.org/officeDocument/2006/relationships/image" Target="../media/image74.png"/><Relationship Id="rId11" Type="http://schemas.openxmlformats.org/officeDocument/2006/relationships/image" Target="../media/image75.png"/><Relationship Id="rId12" Type="http://schemas.openxmlformats.org/officeDocument/2006/relationships/image" Target="../media/image76.png"/><Relationship Id="rId13" Type="http://schemas.openxmlformats.org/officeDocument/2006/relationships/image" Target="../media/image77.png"/><Relationship Id="rId14" Type="http://schemas.openxmlformats.org/officeDocument/2006/relationships/image" Target="../media/image7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8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69.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53.png"/><Relationship Id="rId8" Type="http://schemas.openxmlformats.org/officeDocument/2006/relationships/image" Target="../media/image101.png"/><Relationship Id="rId9" Type="http://schemas.openxmlformats.org/officeDocument/2006/relationships/image" Target="../media/image10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9.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70.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73.png"/><Relationship Id="rId10" Type="http://schemas.openxmlformats.org/officeDocument/2006/relationships/image" Target="../media/image74.png"/><Relationship Id="rId11" Type="http://schemas.openxmlformats.org/officeDocument/2006/relationships/image" Target="../media/image75.png"/><Relationship Id="rId12" Type="http://schemas.openxmlformats.org/officeDocument/2006/relationships/image" Target="../media/image76.png"/><Relationship Id="rId13" Type="http://schemas.openxmlformats.org/officeDocument/2006/relationships/image" Target="../media/image77.png"/><Relationship Id="rId14" Type="http://schemas.openxmlformats.org/officeDocument/2006/relationships/image" Target="../media/image7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5.png"/><Relationship Id="rId8" Type="http://schemas.openxmlformats.org/officeDocument/2006/relationships/image" Target="../media/image106.png"/><Relationship Id="rId9" Type="http://schemas.openxmlformats.org/officeDocument/2006/relationships/image" Target="../media/image107.png"/><Relationship Id="rId10" Type="http://schemas.openxmlformats.org/officeDocument/2006/relationships/image" Target="../media/image108.png"/><Relationship Id="rId11" Type="http://schemas.openxmlformats.org/officeDocument/2006/relationships/image" Target="../media/image109.png"/><Relationship Id="rId12" Type="http://schemas.openxmlformats.org/officeDocument/2006/relationships/image" Target="../media/image1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15.png"/><Relationship Id="rId8" Type="http://schemas.openxmlformats.org/officeDocument/2006/relationships/image" Target="../media/image116.pn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image" Target="../media/image119.png"/><Relationship Id="rId12" Type="http://schemas.openxmlformats.org/officeDocument/2006/relationships/image" Target="../media/image120.png"/><Relationship Id="rId13" Type="http://schemas.openxmlformats.org/officeDocument/2006/relationships/image" Target="../media/image1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6.png"/><Relationship Id="rId4" Type="http://schemas.openxmlformats.org/officeDocument/2006/relationships/image" Target="../media/image1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36.png"/><Relationship Id="rId4" Type="http://schemas.openxmlformats.org/officeDocument/2006/relationships/image" Target="../media/image1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36.png"/><Relationship Id="rId4" Type="http://schemas.openxmlformats.org/officeDocument/2006/relationships/image" Target="../media/image1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36.png"/><Relationship Id="rId4" Type="http://schemas.openxmlformats.org/officeDocument/2006/relationships/image" Target="../media/image1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36.png"/><Relationship Id="rId4" Type="http://schemas.openxmlformats.org/officeDocument/2006/relationships/image" Target="../media/image1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36.png"/><Relationship Id="rId4" Type="http://schemas.openxmlformats.org/officeDocument/2006/relationships/image" Target="../media/image1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TECHNOLOGY ACCELERATORS </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GAME CHANGERS </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856D4-134A-581B-EC5E-520C5A537530}"/>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8A530831-F204-5E89-7B5A-76B52BF25A35}"/>
              </a:ext>
            </a:extLst>
          </p:cNvPr>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a:extLst>
              <a:ext uri="{FF2B5EF4-FFF2-40B4-BE49-F238E27FC236}">
                <a16:creationId xmlns:a16="http://schemas.microsoft.com/office/drawing/2014/main" id="{9C2AF6D8-5D7F-C534-E8E4-DA00D9002C87}"/>
              </a:ext>
            </a:extLst>
          </p:cNvPr>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a:extLst>
              <a:ext uri="{FF2B5EF4-FFF2-40B4-BE49-F238E27FC236}">
                <a16:creationId xmlns:a16="http://schemas.microsoft.com/office/drawing/2014/main" id="{BCEA5056-2FC8-FBB4-C394-8A4C143CC070}"/>
              </a:ext>
            </a:extLst>
          </p:cNvPr>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a:extLst>
              <a:ext uri="{FF2B5EF4-FFF2-40B4-BE49-F238E27FC236}">
                <a16:creationId xmlns:a16="http://schemas.microsoft.com/office/drawing/2014/main" id="{5A98248E-EE1B-23EF-94BB-766E2BC3FDC3}"/>
              </a:ext>
            </a:extLst>
          </p:cNvPr>
          <p:cNvPicPr>
            <a:picLocks noChangeAspect="1"/>
          </p:cNvPicPr>
          <p:nvPr/>
        </p:nvPicPr>
        <p:blipFill>
          <a:blip r:embed="rId5"/>
          <a:srcRect l="-202" r="-202"/>
          <a:stretch/>
        </p:blipFill>
        <p:spPr>
          <a:xfrm>
            <a:off x="8124444" y="0"/>
            <a:ext cx="4067251" cy="75895"/>
          </a:xfrm>
          <a:prstGeom prst="rect">
            <a:avLst/>
          </a:prstGeom>
        </p:spPr>
      </p:pic>
      <p:sp>
        <p:nvSpPr>
          <p:cNvPr id="8" name="Text 3">
            <a:extLst>
              <a:ext uri="{FF2B5EF4-FFF2-40B4-BE49-F238E27FC236}">
                <a16:creationId xmlns:a16="http://schemas.microsoft.com/office/drawing/2014/main" id="{3618C317-4414-EB34-2C38-0AC5944E1004}"/>
              </a:ext>
            </a:extLst>
          </p:cNvPr>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01</a:t>
            </a:r>
            <a:endParaRPr lang="en-US" sz="12000"/>
          </a:p>
        </p:txBody>
      </p:sp>
      <p:pic>
        <p:nvPicPr>
          <p:cNvPr id="11" name="Image 3" descr="gen-dedup-90395934058aa4b7c1bff00d7e70c0a4.png">
            <a:extLst>
              <a:ext uri="{FF2B5EF4-FFF2-40B4-BE49-F238E27FC236}">
                <a16:creationId xmlns:a16="http://schemas.microsoft.com/office/drawing/2014/main" id="{F31C911D-F040-F235-7735-291225B14DAB}"/>
              </a:ext>
            </a:extLst>
          </p:cNvPr>
          <p:cNvPicPr>
            <a:picLocks noChangeAspect="1"/>
          </p:cNvPicPr>
          <p:nvPr/>
        </p:nvPicPr>
        <p:blipFill>
          <a:blip r:embed="rId6"/>
          <a:srcRect l="-416" r="-416"/>
          <a:stretch/>
        </p:blipFill>
        <p:spPr>
          <a:xfrm>
            <a:off x="1143000" y="2428646"/>
            <a:ext cx="57607" cy="714146"/>
          </a:xfrm>
          <a:prstGeom prst="rect">
            <a:avLst/>
          </a:prstGeom>
        </p:spPr>
      </p:pic>
      <p:sp>
        <p:nvSpPr>
          <p:cNvPr id="12" name="Text 6">
            <a:extLst>
              <a:ext uri="{FF2B5EF4-FFF2-40B4-BE49-F238E27FC236}">
                <a16:creationId xmlns:a16="http://schemas.microsoft.com/office/drawing/2014/main" id="{832DFE89-9B52-C7A9-8829-A59C6834021E}"/>
              </a:ext>
            </a:extLst>
          </p:cNvPr>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WORKFORCE SOLUTIONS</a:t>
            </a:r>
          </a:p>
        </p:txBody>
      </p:sp>
      <p:sp>
        <p:nvSpPr>
          <p:cNvPr id="13" name="Text 7">
            <a:extLst>
              <a:ext uri="{FF2B5EF4-FFF2-40B4-BE49-F238E27FC236}">
                <a16:creationId xmlns:a16="http://schemas.microsoft.com/office/drawing/2014/main" id="{A9806661-5DF1-05EF-1477-AF6345A7FD0F}"/>
              </a:ext>
            </a:extLst>
          </p:cNvPr>
          <p:cNvSpPr txBox="1"/>
          <p:nvPr/>
        </p:nvSpPr>
        <p:spPr>
          <a:xfrm>
            <a:off x="1429207" y="3333902"/>
            <a:ext cx="10687507" cy="352958"/>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Domain-deep engineering talent - deployed, governed, and continuously upskilled</a:t>
            </a:r>
          </a:p>
        </p:txBody>
      </p:sp>
      <p:sp>
        <p:nvSpPr>
          <p:cNvPr id="14" name="Text 8">
            <a:extLst>
              <a:ext uri="{FF2B5EF4-FFF2-40B4-BE49-F238E27FC236}">
                <a16:creationId xmlns:a16="http://schemas.microsoft.com/office/drawing/2014/main" id="{3AA6F4EC-9880-9FAB-4776-CB7EC6C7DD60}"/>
              </a:ext>
            </a:extLst>
          </p:cNvPr>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We don't place people. We deploy domain-certified engineers into governed pods - with sprint accountability, AI-powered sourcing, and a contract-to-hire model that keeps your risk low and your velocity high</a:t>
            </a:r>
            <a:endParaRPr lang="en-US" sz="1300"/>
          </a:p>
        </p:txBody>
      </p:sp>
      <p:pic>
        <p:nvPicPr>
          <p:cNvPr id="15" name="Image 4" descr="gen-dedup-818c62191cf4a66fb5704c7f87e3fedf.png">
            <a:extLst>
              <a:ext uri="{FF2B5EF4-FFF2-40B4-BE49-F238E27FC236}">
                <a16:creationId xmlns:a16="http://schemas.microsoft.com/office/drawing/2014/main" id="{3BE14DA7-645C-95C9-5C91-F96EFC962D61}"/>
              </a:ext>
            </a:extLst>
          </p:cNvPr>
          <p:cNvPicPr>
            <a:picLocks noChangeAspect="1"/>
          </p:cNvPicPr>
          <p:nvPr/>
        </p:nvPicPr>
        <p:blipFill>
          <a:blip r:embed="rId7"/>
          <a:srcRect l="-166" r="-166"/>
          <a:stretch/>
        </p:blipFill>
        <p:spPr>
          <a:xfrm>
            <a:off x="1429207" y="5143500"/>
            <a:ext cx="1933956" cy="418795"/>
          </a:xfrm>
          <a:prstGeom prst="rect">
            <a:avLst/>
          </a:prstGeom>
        </p:spPr>
      </p:pic>
      <p:sp>
        <p:nvSpPr>
          <p:cNvPr id="16" name="Shape 9">
            <a:extLst>
              <a:ext uri="{FF2B5EF4-FFF2-40B4-BE49-F238E27FC236}">
                <a16:creationId xmlns:a16="http://schemas.microsoft.com/office/drawing/2014/main" id="{9F4FE693-DA3B-61CF-1215-7B57E8924352}"/>
              </a:ext>
            </a:extLst>
          </p:cNvPr>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a:extLst>
              <a:ext uri="{FF2B5EF4-FFF2-40B4-BE49-F238E27FC236}">
                <a16:creationId xmlns:a16="http://schemas.microsoft.com/office/drawing/2014/main" id="{442C24B0-8636-74A4-4FC8-8DBDB08299C1}"/>
              </a:ext>
            </a:extLst>
          </p:cNvPr>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10 days or less to </a:t>
            </a:r>
          </a:p>
          <a:p>
            <a:pPr marL="0" indent="0" algn="l">
              <a:buNone/>
            </a:pPr>
            <a:r>
              <a:rPr lang="en-US" sz="1100" b="1">
                <a:solidFill>
                  <a:srgbClr val="374151"/>
                </a:solidFill>
                <a:latin typeface="Raleway" pitchFamily="34" charset="0"/>
                <a:ea typeface="Raleway" pitchFamily="34" charset="-122"/>
                <a:cs typeface="Raleway" pitchFamily="34" charset="-120"/>
              </a:rPr>
              <a:t>deploy</a:t>
            </a:r>
            <a:endParaRPr lang="en-US" sz="1100"/>
          </a:p>
        </p:txBody>
      </p:sp>
      <p:pic>
        <p:nvPicPr>
          <p:cNvPr id="18" name="Image 5" descr="gen-dedup-a287ae7abd092c83dc5f899415c51d00.png">
            <a:extLst>
              <a:ext uri="{FF2B5EF4-FFF2-40B4-BE49-F238E27FC236}">
                <a16:creationId xmlns:a16="http://schemas.microsoft.com/office/drawing/2014/main" id="{717DBA06-294F-AFD6-F4A3-E3BB6A843F09}"/>
              </a:ext>
            </a:extLst>
          </p:cNvPr>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a:extLst>
              <a:ext uri="{FF2B5EF4-FFF2-40B4-BE49-F238E27FC236}">
                <a16:creationId xmlns:a16="http://schemas.microsoft.com/office/drawing/2014/main" id="{19292444-1F09-6360-0F68-8AD41048A7D3}"/>
              </a:ext>
            </a:extLst>
          </p:cNvPr>
          <p:cNvPicPr>
            <a:picLocks noChangeAspect="1"/>
          </p:cNvPicPr>
          <p:nvPr/>
        </p:nvPicPr>
        <p:blipFill>
          <a:blip r:embed="rId9"/>
          <a:srcRect l="-260" r="-260"/>
          <a:stretch/>
        </p:blipFill>
        <p:spPr>
          <a:xfrm>
            <a:off x="3510382" y="5143500"/>
            <a:ext cx="2300935" cy="418795"/>
          </a:xfrm>
          <a:prstGeom prst="rect">
            <a:avLst/>
          </a:prstGeom>
        </p:spPr>
      </p:pic>
      <p:sp>
        <p:nvSpPr>
          <p:cNvPr id="20" name="Shape 11">
            <a:extLst>
              <a:ext uri="{FF2B5EF4-FFF2-40B4-BE49-F238E27FC236}">
                <a16:creationId xmlns:a16="http://schemas.microsoft.com/office/drawing/2014/main" id="{0A4FE0DB-0E00-A4E0-D0F5-5DA20E53E7F3}"/>
              </a:ext>
            </a:extLst>
          </p:cNvPr>
          <p:cNvSpPr/>
          <p:nvPr/>
        </p:nvSpPr>
        <p:spPr>
          <a:xfrm>
            <a:off x="3510382" y="5143500"/>
            <a:ext cx="2300935"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a:extLst>
              <a:ext uri="{FF2B5EF4-FFF2-40B4-BE49-F238E27FC236}">
                <a16:creationId xmlns:a16="http://schemas.microsoft.com/office/drawing/2014/main" id="{F5640A7D-F0E3-6BED-EEA7-16F614B5632E}"/>
              </a:ext>
            </a:extLst>
          </p:cNvPr>
          <p:cNvSpPr txBox="1"/>
          <p:nvPr/>
        </p:nvSpPr>
        <p:spPr>
          <a:xfrm>
            <a:off x="3735018" y="5143500"/>
            <a:ext cx="1648005"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300+ in-house recruiters, </a:t>
            </a:r>
          </a:p>
          <a:p>
            <a:pPr marL="0" indent="0" algn="l">
              <a:buNone/>
            </a:pPr>
            <a:r>
              <a:rPr lang="en-US" sz="1100" b="1">
                <a:solidFill>
                  <a:srgbClr val="374151"/>
                </a:solidFill>
                <a:latin typeface="Raleway" pitchFamily="34" charset="0"/>
                <a:ea typeface="Raleway" pitchFamily="34" charset="-122"/>
                <a:cs typeface="Raleway" pitchFamily="34" charset="-120"/>
              </a:rPr>
              <a:t>zero subcontracting</a:t>
            </a:r>
            <a:endParaRPr lang="en-US" sz="1100"/>
          </a:p>
        </p:txBody>
      </p:sp>
      <p:pic>
        <p:nvPicPr>
          <p:cNvPr id="22" name="Image 7" descr="gen-dedup-c395ac9c840728d6470a4a8b33662e6e.png">
            <a:extLst>
              <a:ext uri="{FF2B5EF4-FFF2-40B4-BE49-F238E27FC236}">
                <a16:creationId xmlns:a16="http://schemas.microsoft.com/office/drawing/2014/main" id="{93207DB2-729B-AE24-7E77-6519958DE5C8}"/>
              </a:ext>
            </a:extLst>
          </p:cNvPr>
          <p:cNvPicPr>
            <a:picLocks noChangeAspect="1"/>
          </p:cNvPicPr>
          <p:nvPr/>
        </p:nvPicPr>
        <p:blipFill>
          <a:blip r:embed="rId10"/>
          <a:srcRect t="-16800" b="-16800"/>
          <a:stretch/>
        </p:blipFill>
        <p:spPr>
          <a:xfrm>
            <a:off x="3738981" y="5277002"/>
            <a:ext cx="170389" cy="152705"/>
          </a:xfrm>
          <a:prstGeom prst="rect">
            <a:avLst/>
          </a:prstGeom>
        </p:spPr>
      </p:pic>
      <p:pic>
        <p:nvPicPr>
          <p:cNvPr id="23" name="Image 8" descr="gen-dedup-fe10f786880821f62e6e2a70ff719369.png">
            <a:extLst>
              <a:ext uri="{FF2B5EF4-FFF2-40B4-BE49-F238E27FC236}">
                <a16:creationId xmlns:a16="http://schemas.microsoft.com/office/drawing/2014/main" id="{E0CA82C4-F034-80D0-F825-1B18CD990C55}"/>
              </a:ext>
            </a:extLst>
          </p:cNvPr>
          <p:cNvPicPr>
            <a:picLocks noChangeAspect="1"/>
          </p:cNvPicPr>
          <p:nvPr/>
        </p:nvPicPr>
        <p:blipFill>
          <a:blip r:embed="rId11"/>
          <a:srcRect l="-58" r="-58"/>
          <a:stretch/>
        </p:blipFill>
        <p:spPr>
          <a:xfrm>
            <a:off x="6080150" y="5143500"/>
            <a:ext cx="2619756" cy="418795"/>
          </a:xfrm>
          <a:prstGeom prst="rect">
            <a:avLst/>
          </a:prstGeom>
        </p:spPr>
      </p:pic>
      <p:sp>
        <p:nvSpPr>
          <p:cNvPr id="24" name="Shape 13">
            <a:extLst>
              <a:ext uri="{FF2B5EF4-FFF2-40B4-BE49-F238E27FC236}">
                <a16:creationId xmlns:a16="http://schemas.microsoft.com/office/drawing/2014/main" id="{2266D092-185E-2198-BDD3-B88FC8175BF2}"/>
              </a:ext>
            </a:extLst>
          </p:cNvPr>
          <p:cNvSpPr/>
          <p:nvPr/>
        </p:nvSpPr>
        <p:spPr>
          <a:xfrm>
            <a:off x="6080150"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a:extLst>
              <a:ext uri="{FF2B5EF4-FFF2-40B4-BE49-F238E27FC236}">
                <a16:creationId xmlns:a16="http://schemas.microsoft.com/office/drawing/2014/main" id="{ED31349B-331C-666B-1026-10D8E100F4F3}"/>
              </a:ext>
            </a:extLst>
          </p:cNvPr>
          <p:cNvSpPr txBox="1"/>
          <p:nvPr/>
        </p:nvSpPr>
        <p:spPr>
          <a:xfrm>
            <a:off x="6304788"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Contract-to-hire flexibility </a:t>
            </a:r>
          </a:p>
          <a:p>
            <a:pPr marL="0" indent="0" algn="l">
              <a:buNone/>
            </a:pPr>
            <a:r>
              <a:rPr lang="en-US" sz="1100" b="1">
                <a:solidFill>
                  <a:srgbClr val="374151"/>
                </a:solidFill>
                <a:latin typeface="Raleway" pitchFamily="34" charset="0"/>
                <a:ea typeface="Raleway" pitchFamily="34" charset="-122"/>
                <a:cs typeface="Raleway" pitchFamily="34" charset="-120"/>
              </a:rPr>
              <a:t>built in</a:t>
            </a:r>
            <a:endParaRPr lang="en-US" sz="1100"/>
          </a:p>
        </p:txBody>
      </p:sp>
      <p:pic>
        <p:nvPicPr>
          <p:cNvPr id="26" name="Image 9" descr="gen-dedup-7637b076e607f7218cdb4973c81f38e6.png">
            <a:extLst>
              <a:ext uri="{FF2B5EF4-FFF2-40B4-BE49-F238E27FC236}">
                <a16:creationId xmlns:a16="http://schemas.microsoft.com/office/drawing/2014/main" id="{205FF807-74F6-4E07-EE11-D8132CD5F0CD}"/>
              </a:ext>
            </a:extLst>
          </p:cNvPr>
          <p:cNvPicPr>
            <a:picLocks noChangeAspect="1"/>
          </p:cNvPicPr>
          <p:nvPr/>
        </p:nvPicPr>
        <p:blipFill>
          <a:blip r:embed="rId12"/>
          <a:srcRect t="-8450" b="-8450"/>
          <a:stretch/>
        </p:blipFill>
        <p:spPr>
          <a:xfrm>
            <a:off x="6308750" y="5277002"/>
            <a:ext cx="114300" cy="152705"/>
          </a:xfrm>
          <a:prstGeom prst="rect">
            <a:avLst/>
          </a:prstGeom>
        </p:spPr>
      </p:pic>
      <p:pic>
        <p:nvPicPr>
          <p:cNvPr id="27" name="Image 10" descr="gen-dedup-4b04481605890cd5e2948f325621428b.png">
            <a:extLst>
              <a:ext uri="{FF2B5EF4-FFF2-40B4-BE49-F238E27FC236}">
                <a16:creationId xmlns:a16="http://schemas.microsoft.com/office/drawing/2014/main" id="{FB78842A-22DE-1C9A-4EE2-D07FD5A3BBDC}"/>
              </a:ext>
            </a:extLst>
          </p:cNvPr>
          <p:cNvPicPr>
            <a:picLocks noChangeAspect="1"/>
          </p:cNvPicPr>
          <p:nvPr/>
        </p:nvPicPr>
        <p:blipFill>
          <a:blip r:embed="rId13"/>
          <a:srcRect l="-216" r="-216"/>
          <a:stretch/>
        </p:blipFill>
        <p:spPr>
          <a:xfrm>
            <a:off x="8850782" y="5143500"/>
            <a:ext cx="2562149" cy="418795"/>
          </a:xfrm>
          <a:prstGeom prst="rect">
            <a:avLst/>
          </a:prstGeom>
        </p:spPr>
      </p:pic>
      <p:sp>
        <p:nvSpPr>
          <p:cNvPr id="28" name="Shape 15">
            <a:extLst>
              <a:ext uri="{FF2B5EF4-FFF2-40B4-BE49-F238E27FC236}">
                <a16:creationId xmlns:a16="http://schemas.microsoft.com/office/drawing/2014/main" id="{34AB57F4-B2CA-C3A2-0103-9F6A8E9AFA38}"/>
              </a:ext>
            </a:extLst>
          </p:cNvPr>
          <p:cNvSpPr/>
          <p:nvPr/>
        </p:nvSpPr>
        <p:spPr>
          <a:xfrm>
            <a:off x="8850782"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a:extLst>
              <a:ext uri="{FF2B5EF4-FFF2-40B4-BE49-F238E27FC236}">
                <a16:creationId xmlns:a16="http://schemas.microsoft.com/office/drawing/2014/main" id="{5B673A20-4A15-839A-EE62-676A6C5F3333}"/>
              </a:ext>
            </a:extLst>
          </p:cNvPr>
          <p:cNvSpPr txBox="1"/>
          <p:nvPr/>
        </p:nvSpPr>
        <p:spPr>
          <a:xfrm>
            <a:off x="9075420"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Pod governance + sprint </a:t>
            </a:r>
          </a:p>
          <a:p>
            <a:pPr marL="0" indent="0" algn="l">
              <a:buNone/>
            </a:pPr>
            <a:r>
              <a:rPr lang="en-US" sz="1100" b="1">
                <a:solidFill>
                  <a:srgbClr val="374151"/>
                </a:solidFill>
                <a:latin typeface="Raleway" pitchFamily="34" charset="0"/>
                <a:ea typeface="Raleway" pitchFamily="34" charset="-122"/>
                <a:cs typeface="Raleway" pitchFamily="34" charset="-120"/>
              </a:rPr>
              <a:t>accountability from Day 1</a:t>
            </a:r>
            <a:endParaRPr lang="en-US" sz="1100"/>
          </a:p>
        </p:txBody>
      </p:sp>
      <p:pic>
        <p:nvPicPr>
          <p:cNvPr id="30" name="Image 11" descr="gen-dedup-de4cb59b8211160ed90cebf7a454cebf.png">
            <a:extLst>
              <a:ext uri="{FF2B5EF4-FFF2-40B4-BE49-F238E27FC236}">
                <a16:creationId xmlns:a16="http://schemas.microsoft.com/office/drawing/2014/main" id="{93529912-BB1C-C574-75A1-3D8ECD602D40}"/>
              </a:ext>
            </a:extLst>
          </p:cNvPr>
          <p:cNvPicPr>
            <a:picLocks noChangeAspect="1"/>
          </p:cNvPicPr>
          <p:nvPr/>
        </p:nvPicPr>
        <p:blipFill>
          <a:blip r:embed="rId14"/>
          <a:srcRect t="-16800" b="-16800"/>
          <a:stretch/>
        </p:blipFill>
        <p:spPr>
          <a:xfrm>
            <a:off x="9079382" y="5277002"/>
            <a:ext cx="114300" cy="152705"/>
          </a:xfrm>
          <a:prstGeom prst="rect">
            <a:avLst/>
          </a:prstGeom>
        </p:spPr>
      </p:pic>
      <p:sp>
        <p:nvSpPr>
          <p:cNvPr id="31" name="Shape 17">
            <a:extLst>
              <a:ext uri="{FF2B5EF4-FFF2-40B4-BE49-F238E27FC236}">
                <a16:creationId xmlns:a16="http://schemas.microsoft.com/office/drawing/2014/main" id="{99FB5298-5A36-5FFC-CC7E-17E7D43B7AAD}"/>
              </a:ext>
            </a:extLst>
          </p:cNvPr>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a:extLst>
              <a:ext uri="{FF2B5EF4-FFF2-40B4-BE49-F238E27FC236}">
                <a16:creationId xmlns:a16="http://schemas.microsoft.com/office/drawing/2014/main" id="{ED705767-82C0-1D2C-EADE-B791EDD5E9F6}"/>
              </a:ext>
            </a:extLst>
          </p:cNvPr>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Scale your engineering capacity with domain depth and delivery accountability.</a:t>
            </a:r>
            <a:endParaRPr lang="en-US" sz="1200"/>
          </a:p>
        </p:txBody>
      </p:sp>
    </p:spTree>
    <p:extLst>
      <p:ext uri="{BB962C8B-B14F-4D97-AF65-F5344CB8AC3E}">
        <p14:creationId xmlns:p14="http://schemas.microsoft.com/office/powerpoint/2010/main" val="4170679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219456"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7" name="Shape 5"/>
          <p:cNvSpPr/>
          <p:nvPr/>
        </p:nvSpPr>
        <p:spPr>
          <a:xfrm>
            <a:off x="219456"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8" name="Image 0" descr="preencoded.png"/>
          <p:cNvPicPr>
            <a:picLocks noChangeAspect="1"/>
          </p:cNvPicPr>
          <p:nvPr/>
        </p:nvPicPr>
        <p:blipFill>
          <a:blip r:embed="rId3"/>
          <a:stretch>
            <a:fillRect/>
          </a:stretch>
        </p:blipFill>
        <p:spPr>
          <a:xfrm>
            <a:off x="390144" y="1341120"/>
            <a:ext cx="414528" cy="414528"/>
          </a:xfrm>
          <a:prstGeom prst="rect">
            <a:avLst/>
          </a:prstGeom>
        </p:spPr>
      </p:pic>
      <p:sp>
        <p:nvSpPr>
          <p:cNvPr id="9" name="Text 6"/>
          <p:cNvSpPr/>
          <p:nvPr/>
        </p:nvSpPr>
        <p:spPr>
          <a:xfrm>
            <a:off x="341376"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Sourcing Engine</a:t>
            </a:r>
            <a:endParaRPr lang="en-US" sz="1467">
              <a:latin typeface="Oswald" panose="00000500000000000000" pitchFamily="2" charset="0"/>
            </a:endParaRPr>
          </a:p>
        </p:txBody>
      </p:sp>
      <p:sp>
        <p:nvSpPr>
          <p:cNvPr id="10" name="Text 7"/>
          <p:cNvSpPr/>
          <p:nvPr/>
        </p:nvSpPr>
        <p:spPr>
          <a:xfrm>
            <a:off x="341376"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AI-driven talent matching across 8,500+ active consultants and 1,250+ skills - niche to mainstream.</a:t>
            </a:r>
            <a:endParaRPr lang="en-US" sz="1133">
              <a:latin typeface="Raleway" pitchFamily="2" charset="0"/>
            </a:endParaRPr>
          </a:p>
        </p:txBody>
      </p:sp>
      <p:sp>
        <p:nvSpPr>
          <p:cNvPr id="11" name="Shape 8"/>
          <p:cNvSpPr/>
          <p:nvPr/>
        </p:nvSpPr>
        <p:spPr>
          <a:xfrm>
            <a:off x="3108960"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12" name="Shape 9"/>
          <p:cNvSpPr/>
          <p:nvPr/>
        </p:nvSpPr>
        <p:spPr>
          <a:xfrm>
            <a:off x="3108960"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3279648" y="1341120"/>
            <a:ext cx="414528" cy="414528"/>
          </a:xfrm>
          <a:prstGeom prst="rect">
            <a:avLst/>
          </a:prstGeom>
        </p:spPr>
      </p:pic>
      <p:sp>
        <p:nvSpPr>
          <p:cNvPr id="14" name="Text 10"/>
          <p:cNvSpPr/>
          <p:nvPr/>
        </p:nvSpPr>
        <p:spPr>
          <a:xfrm>
            <a:off x="3230880"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Human + AI Teams</a:t>
            </a:r>
            <a:endParaRPr lang="en-US" sz="1467">
              <a:latin typeface="Oswald" panose="00000500000000000000" pitchFamily="2" charset="0"/>
            </a:endParaRPr>
          </a:p>
        </p:txBody>
      </p:sp>
      <p:sp>
        <p:nvSpPr>
          <p:cNvPr id="15" name="Text 11"/>
          <p:cNvSpPr/>
          <p:nvPr/>
        </p:nvSpPr>
        <p:spPr>
          <a:xfrm>
            <a:off x="3230880"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Blended delivery with AI productivity tools embedded from Day 1. Capability stacks over role pyramids.</a:t>
            </a:r>
            <a:endParaRPr lang="en-US" sz="1133">
              <a:latin typeface="Raleway" pitchFamily="2" charset="0"/>
            </a:endParaRPr>
          </a:p>
        </p:txBody>
      </p:sp>
      <p:sp>
        <p:nvSpPr>
          <p:cNvPr id="16" name="Shape 12"/>
          <p:cNvSpPr/>
          <p:nvPr/>
        </p:nvSpPr>
        <p:spPr>
          <a:xfrm>
            <a:off x="5998464"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17" name="Shape 13"/>
          <p:cNvSpPr/>
          <p:nvPr/>
        </p:nvSpPr>
        <p:spPr>
          <a:xfrm>
            <a:off x="5998464"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8" name="Image 2" descr="preencoded.png"/>
          <p:cNvPicPr>
            <a:picLocks noChangeAspect="1"/>
          </p:cNvPicPr>
          <p:nvPr/>
        </p:nvPicPr>
        <p:blipFill>
          <a:blip r:embed="rId5"/>
          <a:stretch>
            <a:fillRect/>
          </a:stretch>
        </p:blipFill>
        <p:spPr>
          <a:xfrm>
            <a:off x="6169152" y="1341120"/>
            <a:ext cx="414528" cy="414528"/>
          </a:xfrm>
          <a:prstGeom prst="rect">
            <a:avLst/>
          </a:prstGeom>
        </p:spPr>
      </p:pic>
      <p:sp>
        <p:nvSpPr>
          <p:cNvPr id="19" name="Text 14"/>
          <p:cNvSpPr/>
          <p:nvPr/>
        </p:nvSpPr>
        <p:spPr>
          <a:xfrm>
            <a:off x="6120384"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Fully Managed</a:t>
            </a:r>
            <a:endParaRPr lang="en-US" sz="1467">
              <a:latin typeface="Oswald" panose="00000500000000000000" pitchFamily="2" charset="0"/>
            </a:endParaRPr>
          </a:p>
        </p:txBody>
      </p:sp>
      <p:sp>
        <p:nvSpPr>
          <p:cNvPr id="20" name="Text 15"/>
          <p:cNvSpPr/>
          <p:nvPr/>
        </p:nvSpPr>
        <p:spPr>
          <a:xfrm>
            <a:off x="6120384"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J2W owns payroll, compliance, onboarding and HR. Zero admin burden on the client side.</a:t>
            </a:r>
            <a:endParaRPr lang="en-US" sz="1133">
              <a:latin typeface="Raleway" pitchFamily="2" charset="0"/>
            </a:endParaRPr>
          </a:p>
        </p:txBody>
      </p:sp>
      <p:sp>
        <p:nvSpPr>
          <p:cNvPr id="21" name="Shape 16"/>
          <p:cNvSpPr/>
          <p:nvPr/>
        </p:nvSpPr>
        <p:spPr>
          <a:xfrm>
            <a:off x="8887968"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22" name="Shape 17"/>
          <p:cNvSpPr/>
          <p:nvPr/>
        </p:nvSpPr>
        <p:spPr>
          <a:xfrm>
            <a:off x="8887968"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23" name="Image 3" descr="preencoded.png"/>
          <p:cNvPicPr>
            <a:picLocks noChangeAspect="1"/>
          </p:cNvPicPr>
          <p:nvPr/>
        </p:nvPicPr>
        <p:blipFill>
          <a:blip r:embed="rId6"/>
          <a:stretch>
            <a:fillRect/>
          </a:stretch>
        </p:blipFill>
        <p:spPr>
          <a:xfrm>
            <a:off x="9058656" y="1341120"/>
            <a:ext cx="414528" cy="414528"/>
          </a:xfrm>
          <a:prstGeom prst="rect">
            <a:avLst/>
          </a:prstGeom>
        </p:spPr>
      </p:pic>
      <p:sp>
        <p:nvSpPr>
          <p:cNvPr id="24" name="Text 18"/>
          <p:cNvSpPr/>
          <p:nvPr/>
        </p:nvSpPr>
        <p:spPr>
          <a:xfrm>
            <a:off x="9009888"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AI-First L&amp;D</a:t>
            </a:r>
            <a:endParaRPr lang="en-US" sz="1467">
              <a:latin typeface="Oswald" panose="00000500000000000000" pitchFamily="2" charset="0"/>
            </a:endParaRPr>
          </a:p>
        </p:txBody>
      </p:sp>
      <p:sp>
        <p:nvSpPr>
          <p:cNvPr id="25" name="Text 19"/>
          <p:cNvSpPr/>
          <p:nvPr/>
        </p:nvSpPr>
        <p:spPr>
          <a:xfrm>
            <a:off x="9009888"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Continuous upskilling via J2W </a:t>
            </a:r>
            <a:r>
              <a:rPr lang="en-US" sz="1133" err="1">
                <a:solidFill>
                  <a:srgbClr val="555555"/>
                </a:solidFill>
                <a:latin typeface="Raleway" pitchFamily="2" charset="0"/>
                <a:ea typeface="Calibri" pitchFamily="34" charset="-122"/>
                <a:cs typeface="Calibri" pitchFamily="34" charset="-120"/>
              </a:rPr>
              <a:t>CoE</a:t>
            </a:r>
            <a:r>
              <a:rPr lang="en-US" sz="1133">
                <a:solidFill>
                  <a:srgbClr val="555555"/>
                </a:solidFill>
                <a:latin typeface="Raleway" pitchFamily="2" charset="0"/>
                <a:ea typeface="Calibri" pitchFamily="34" charset="-122"/>
                <a:cs typeface="Calibri" pitchFamily="34" charset="-120"/>
              </a:rPr>
              <a:t> - contextual, hands-on AI training powered by Research Wing.</a:t>
            </a:r>
            <a:endParaRPr lang="en-US" sz="1133">
              <a:latin typeface="Raleway" pitchFamily="2" charset="0"/>
            </a:endParaRPr>
          </a:p>
        </p:txBody>
      </p:sp>
      <p:sp>
        <p:nvSpPr>
          <p:cNvPr id="26" name="Text 20"/>
          <p:cNvSpPr/>
          <p:nvPr/>
        </p:nvSpPr>
        <p:spPr>
          <a:xfrm>
            <a:off x="341376" y="3291840"/>
            <a:ext cx="256032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Dimension</a:t>
            </a:r>
            <a:endParaRPr lang="en-US" sz="1267">
              <a:latin typeface="Raleway" pitchFamily="2" charset="0"/>
            </a:endParaRPr>
          </a:p>
        </p:txBody>
      </p:sp>
      <p:sp>
        <p:nvSpPr>
          <p:cNvPr id="27" name="Text 21"/>
          <p:cNvSpPr/>
          <p:nvPr/>
        </p:nvSpPr>
        <p:spPr>
          <a:xfrm>
            <a:off x="2901696" y="3291840"/>
            <a:ext cx="402336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Traditional Staffing</a:t>
            </a:r>
            <a:endParaRPr lang="en-US" sz="1267">
              <a:latin typeface="Raleway" pitchFamily="2" charset="0"/>
            </a:endParaRPr>
          </a:p>
        </p:txBody>
      </p:sp>
      <p:sp>
        <p:nvSpPr>
          <p:cNvPr id="28" name="Text 22"/>
          <p:cNvSpPr/>
          <p:nvPr/>
        </p:nvSpPr>
        <p:spPr>
          <a:xfrm>
            <a:off x="6925056" y="3291840"/>
            <a:ext cx="4949952"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 Workforce</a:t>
            </a:r>
            <a:endParaRPr lang="en-US" sz="1267">
              <a:latin typeface="Raleway" pitchFamily="2" charset="0"/>
            </a:endParaRPr>
          </a:p>
        </p:txBody>
      </p:sp>
      <p:sp>
        <p:nvSpPr>
          <p:cNvPr id="29" name="Shape 23"/>
          <p:cNvSpPr/>
          <p:nvPr/>
        </p:nvSpPr>
        <p:spPr>
          <a:xfrm>
            <a:off x="219456" y="3681984"/>
            <a:ext cx="11533632" cy="0"/>
          </a:xfrm>
          <a:prstGeom prst="line">
            <a:avLst/>
          </a:prstGeom>
          <a:noFill/>
          <a:ln w="9525">
            <a:solidFill>
              <a:srgbClr val="0D9488"/>
            </a:solidFill>
            <a:prstDash val="solid"/>
          </a:ln>
        </p:spPr>
        <p:txBody>
          <a:bodyPr/>
          <a:lstStyle/>
          <a:p>
            <a:endParaRPr lang="en-US" sz="2400"/>
          </a:p>
        </p:txBody>
      </p:sp>
      <p:sp>
        <p:nvSpPr>
          <p:cNvPr id="30" name="Shape 24"/>
          <p:cNvSpPr/>
          <p:nvPr/>
        </p:nvSpPr>
        <p:spPr>
          <a:xfrm>
            <a:off x="219456" y="3681984"/>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31" name="Text 25"/>
          <p:cNvSpPr/>
          <p:nvPr/>
        </p:nvSpPr>
        <p:spPr>
          <a:xfrm>
            <a:off x="341376" y="3730752"/>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Speed to Deploy</a:t>
            </a:r>
            <a:endParaRPr lang="en-US" sz="1267">
              <a:latin typeface="Raleway" pitchFamily="2" charset="0"/>
            </a:endParaRPr>
          </a:p>
        </p:txBody>
      </p:sp>
      <p:sp>
        <p:nvSpPr>
          <p:cNvPr id="32" name="Text 26"/>
          <p:cNvSpPr/>
          <p:nvPr/>
        </p:nvSpPr>
        <p:spPr>
          <a:xfrm>
            <a:off x="2901696" y="3730752"/>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Weeks to months</a:t>
            </a:r>
            <a:endParaRPr lang="en-US" sz="1267">
              <a:latin typeface="Raleway" pitchFamily="2" charset="0"/>
            </a:endParaRPr>
          </a:p>
        </p:txBody>
      </p:sp>
      <p:pic>
        <p:nvPicPr>
          <p:cNvPr id="33" name="Image 4" descr="preencoded.png"/>
          <p:cNvPicPr>
            <a:picLocks noChangeAspect="1"/>
          </p:cNvPicPr>
          <p:nvPr/>
        </p:nvPicPr>
        <p:blipFill>
          <a:blip r:embed="rId7"/>
          <a:stretch>
            <a:fillRect/>
          </a:stretch>
        </p:blipFill>
        <p:spPr>
          <a:xfrm>
            <a:off x="6900672" y="3791712"/>
            <a:ext cx="219456" cy="219456"/>
          </a:xfrm>
          <a:prstGeom prst="rect">
            <a:avLst/>
          </a:prstGeom>
        </p:spPr>
      </p:pic>
      <p:sp>
        <p:nvSpPr>
          <p:cNvPr id="34" name="Text 27"/>
          <p:cNvSpPr/>
          <p:nvPr/>
        </p:nvSpPr>
        <p:spPr>
          <a:xfrm>
            <a:off x="7193280" y="3730752"/>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1 engineer onboarded per hour</a:t>
            </a:r>
            <a:endParaRPr lang="en-US" sz="1267">
              <a:latin typeface="Raleway" pitchFamily="2" charset="0"/>
            </a:endParaRPr>
          </a:p>
        </p:txBody>
      </p:sp>
      <p:sp>
        <p:nvSpPr>
          <p:cNvPr id="35" name="Shape 28"/>
          <p:cNvSpPr/>
          <p:nvPr/>
        </p:nvSpPr>
        <p:spPr>
          <a:xfrm>
            <a:off x="219456" y="4114800"/>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36" name="Text 29"/>
          <p:cNvSpPr/>
          <p:nvPr/>
        </p:nvSpPr>
        <p:spPr>
          <a:xfrm>
            <a:off x="341376" y="4163568"/>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Team Composition</a:t>
            </a:r>
            <a:endParaRPr lang="en-US" sz="1267">
              <a:latin typeface="Raleway" pitchFamily="2" charset="0"/>
            </a:endParaRPr>
          </a:p>
        </p:txBody>
      </p:sp>
      <p:sp>
        <p:nvSpPr>
          <p:cNvPr id="37" name="Text 30"/>
          <p:cNvSpPr/>
          <p:nvPr/>
        </p:nvSpPr>
        <p:spPr>
          <a:xfrm>
            <a:off x="2901696" y="4163568"/>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Single-role profile deployments</a:t>
            </a:r>
            <a:endParaRPr lang="en-US" sz="1267">
              <a:latin typeface="Raleway" pitchFamily="2" charset="0"/>
            </a:endParaRPr>
          </a:p>
        </p:txBody>
      </p:sp>
      <p:pic>
        <p:nvPicPr>
          <p:cNvPr id="38" name="Image 5" descr="preencoded.png"/>
          <p:cNvPicPr>
            <a:picLocks noChangeAspect="1"/>
          </p:cNvPicPr>
          <p:nvPr/>
        </p:nvPicPr>
        <p:blipFill>
          <a:blip r:embed="rId7"/>
          <a:stretch>
            <a:fillRect/>
          </a:stretch>
        </p:blipFill>
        <p:spPr>
          <a:xfrm>
            <a:off x="6900672" y="4224528"/>
            <a:ext cx="219456" cy="219456"/>
          </a:xfrm>
          <a:prstGeom prst="rect">
            <a:avLst/>
          </a:prstGeom>
        </p:spPr>
      </p:pic>
      <p:sp>
        <p:nvSpPr>
          <p:cNvPr id="39" name="Text 31"/>
          <p:cNvSpPr/>
          <p:nvPr/>
        </p:nvSpPr>
        <p:spPr>
          <a:xfrm>
            <a:off x="7193280" y="4163568"/>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Human + AI blended capability stacks</a:t>
            </a:r>
            <a:endParaRPr lang="en-US" sz="1267">
              <a:latin typeface="Raleway" pitchFamily="2" charset="0"/>
            </a:endParaRPr>
          </a:p>
        </p:txBody>
      </p:sp>
      <p:sp>
        <p:nvSpPr>
          <p:cNvPr id="40" name="Shape 32"/>
          <p:cNvSpPr/>
          <p:nvPr/>
        </p:nvSpPr>
        <p:spPr>
          <a:xfrm>
            <a:off x="219456" y="4547616"/>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41" name="Text 33"/>
          <p:cNvSpPr/>
          <p:nvPr/>
        </p:nvSpPr>
        <p:spPr>
          <a:xfrm>
            <a:off x="341376" y="4596384"/>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Governance</a:t>
            </a:r>
            <a:endParaRPr lang="en-US" sz="1267">
              <a:latin typeface="Raleway" pitchFamily="2" charset="0"/>
            </a:endParaRPr>
          </a:p>
        </p:txBody>
      </p:sp>
      <p:sp>
        <p:nvSpPr>
          <p:cNvPr id="42" name="Text 34"/>
          <p:cNvSpPr/>
          <p:nvPr/>
        </p:nvSpPr>
        <p:spPr>
          <a:xfrm>
            <a:off x="2901696" y="4596384"/>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Client's burden</a:t>
            </a:r>
            <a:endParaRPr lang="en-US" sz="1267">
              <a:latin typeface="Raleway" pitchFamily="2" charset="0"/>
            </a:endParaRPr>
          </a:p>
        </p:txBody>
      </p:sp>
      <p:pic>
        <p:nvPicPr>
          <p:cNvPr id="43" name="Image 6" descr="preencoded.png"/>
          <p:cNvPicPr>
            <a:picLocks noChangeAspect="1"/>
          </p:cNvPicPr>
          <p:nvPr/>
        </p:nvPicPr>
        <p:blipFill>
          <a:blip r:embed="rId7"/>
          <a:stretch>
            <a:fillRect/>
          </a:stretch>
        </p:blipFill>
        <p:spPr>
          <a:xfrm>
            <a:off x="6900672" y="4657344"/>
            <a:ext cx="219456" cy="219456"/>
          </a:xfrm>
          <a:prstGeom prst="rect">
            <a:avLst/>
          </a:prstGeom>
        </p:spPr>
      </p:pic>
      <p:sp>
        <p:nvSpPr>
          <p:cNvPr id="44" name="Text 35"/>
          <p:cNvSpPr/>
          <p:nvPr/>
        </p:nvSpPr>
        <p:spPr>
          <a:xfrm>
            <a:off x="7193280" y="4596384"/>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J2W-owned - HRBP implant at every site</a:t>
            </a:r>
            <a:endParaRPr lang="en-US" sz="1267">
              <a:latin typeface="Raleway" pitchFamily="2" charset="0"/>
            </a:endParaRPr>
          </a:p>
        </p:txBody>
      </p:sp>
      <p:sp>
        <p:nvSpPr>
          <p:cNvPr id="45" name="Shape 36"/>
          <p:cNvSpPr/>
          <p:nvPr/>
        </p:nvSpPr>
        <p:spPr>
          <a:xfrm>
            <a:off x="219456" y="4980432"/>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46" name="Text 37"/>
          <p:cNvSpPr/>
          <p:nvPr/>
        </p:nvSpPr>
        <p:spPr>
          <a:xfrm>
            <a:off x="341376" y="5029200"/>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Performance Issues</a:t>
            </a:r>
            <a:endParaRPr lang="en-US" sz="1267">
              <a:latin typeface="Raleway" pitchFamily="2" charset="0"/>
            </a:endParaRPr>
          </a:p>
        </p:txBody>
      </p:sp>
      <p:sp>
        <p:nvSpPr>
          <p:cNvPr id="47" name="Text 38"/>
          <p:cNvSpPr/>
          <p:nvPr/>
        </p:nvSpPr>
        <p:spPr>
          <a:xfrm>
            <a:off x="2901696" y="5029200"/>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Escalation after the fact</a:t>
            </a:r>
            <a:endParaRPr lang="en-US" sz="1267">
              <a:latin typeface="Raleway" pitchFamily="2" charset="0"/>
            </a:endParaRPr>
          </a:p>
        </p:txBody>
      </p:sp>
      <p:pic>
        <p:nvPicPr>
          <p:cNvPr id="48" name="Image 7" descr="preencoded.png"/>
          <p:cNvPicPr>
            <a:picLocks noChangeAspect="1"/>
          </p:cNvPicPr>
          <p:nvPr/>
        </p:nvPicPr>
        <p:blipFill>
          <a:blip r:embed="rId7"/>
          <a:stretch>
            <a:fillRect/>
          </a:stretch>
        </p:blipFill>
        <p:spPr>
          <a:xfrm>
            <a:off x="6900672" y="5090160"/>
            <a:ext cx="219456" cy="219456"/>
          </a:xfrm>
          <a:prstGeom prst="rect">
            <a:avLst/>
          </a:prstGeom>
        </p:spPr>
      </p:pic>
      <p:sp>
        <p:nvSpPr>
          <p:cNvPr id="49" name="Text 39"/>
          <p:cNvSpPr/>
          <p:nvPr/>
        </p:nvSpPr>
        <p:spPr>
          <a:xfrm>
            <a:off x="7193280" y="5029200"/>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Proactive monitoring &amp; intervention</a:t>
            </a:r>
            <a:endParaRPr lang="en-US" sz="1267">
              <a:latin typeface="Raleway" pitchFamily="2" charset="0"/>
            </a:endParaRPr>
          </a:p>
        </p:txBody>
      </p:sp>
      <p:sp>
        <p:nvSpPr>
          <p:cNvPr id="50" name="Shape 40"/>
          <p:cNvSpPr/>
          <p:nvPr/>
        </p:nvSpPr>
        <p:spPr>
          <a:xfrm>
            <a:off x="219456" y="5413248"/>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51" name="Text 41"/>
          <p:cNvSpPr/>
          <p:nvPr/>
        </p:nvSpPr>
        <p:spPr>
          <a:xfrm>
            <a:off x="341376" y="5462016"/>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Knowledge Retention</a:t>
            </a:r>
            <a:endParaRPr lang="en-US" sz="1267">
              <a:latin typeface="Raleway" pitchFamily="2" charset="0"/>
            </a:endParaRPr>
          </a:p>
        </p:txBody>
      </p:sp>
      <p:sp>
        <p:nvSpPr>
          <p:cNvPr id="52" name="Text 42"/>
          <p:cNvSpPr/>
          <p:nvPr/>
        </p:nvSpPr>
        <p:spPr>
          <a:xfrm>
            <a:off x="2901696" y="5462016"/>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Lost with attrition</a:t>
            </a:r>
            <a:endParaRPr lang="en-US" sz="1267">
              <a:latin typeface="Raleway" pitchFamily="2" charset="0"/>
            </a:endParaRPr>
          </a:p>
        </p:txBody>
      </p:sp>
      <p:pic>
        <p:nvPicPr>
          <p:cNvPr id="53" name="Image 8" descr="preencoded.png"/>
          <p:cNvPicPr>
            <a:picLocks noChangeAspect="1"/>
          </p:cNvPicPr>
          <p:nvPr/>
        </p:nvPicPr>
        <p:blipFill>
          <a:blip r:embed="rId7"/>
          <a:stretch>
            <a:fillRect/>
          </a:stretch>
        </p:blipFill>
        <p:spPr>
          <a:xfrm>
            <a:off x="6900672" y="5522976"/>
            <a:ext cx="219456" cy="219456"/>
          </a:xfrm>
          <a:prstGeom prst="rect">
            <a:avLst/>
          </a:prstGeom>
        </p:spPr>
      </p:pic>
      <p:sp>
        <p:nvSpPr>
          <p:cNvPr id="54" name="Text 43"/>
          <p:cNvSpPr/>
          <p:nvPr/>
        </p:nvSpPr>
        <p:spPr>
          <a:xfrm>
            <a:off x="7193280" y="5462016"/>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Captured in J2W Knowledge Repository</a:t>
            </a:r>
            <a:endParaRPr lang="en-US" sz="1267">
              <a:latin typeface="Raleway" pitchFamily="2" charset="0"/>
            </a:endParaRPr>
          </a:p>
        </p:txBody>
      </p:sp>
      <p:sp>
        <p:nvSpPr>
          <p:cNvPr id="55" name="Shape 44"/>
          <p:cNvSpPr/>
          <p:nvPr/>
        </p:nvSpPr>
        <p:spPr>
          <a:xfrm>
            <a:off x="219456" y="5846064"/>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56" name="Text 45"/>
          <p:cNvSpPr/>
          <p:nvPr/>
        </p:nvSpPr>
        <p:spPr>
          <a:xfrm>
            <a:off x="341376" y="5894832"/>
            <a:ext cx="2377440" cy="335280"/>
          </a:xfrm>
          <a:prstGeom prst="rect">
            <a:avLst/>
          </a:prstGeom>
          <a:noFill/>
          <a:ln/>
        </p:spPr>
        <p:txBody>
          <a:bodyPr wrap="square" lIns="0" tIns="0" rIns="0" bIns="0" rtlCol="0" anchor="ctr"/>
          <a:lstStyle/>
          <a:p>
            <a:r>
              <a:rPr lang="en-US" sz="1267" b="1">
                <a:solidFill>
                  <a:srgbClr val="1A1A2E"/>
                </a:solidFill>
                <a:latin typeface="Calibri" pitchFamily="34" charset="0"/>
                <a:ea typeface="Calibri" pitchFamily="34" charset="-122"/>
                <a:cs typeface="Calibri" pitchFamily="34" charset="-120"/>
              </a:rPr>
              <a:t>AI Readiness</a:t>
            </a:r>
            <a:endParaRPr lang="en-US" sz="1267"/>
          </a:p>
        </p:txBody>
      </p:sp>
      <p:sp>
        <p:nvSpPr>
          <p:cNvPr id="57" name="Text 46"/>
          <p:cNvSpPr/>
          <p:nvPr/>
        </p:nvSpPr>
        <p:spPr>
          <a:xfrm>
            <a:off x="2901696" y="5894832"/>
            <a:ext cx="3840480" cy="335280"/>
          </a:xfrm>
          <a:prstGeom prst="rect">
            <a:avLst/>
          </a:prstGeom>
          <a:noFill/>
          <a:ln/>
        </p:spPr>
        <p:txBody>
          <a:bodyPr wrap="square" lIns="0" tIns="0" rIns="0" bIns="0" rtlCol="0" anchor="ctr"/>
          <a:lstStyle/>
          <a:p>
            <a:r>
              <a:rPr lang="en-US" sz="1267">
                <a:solidFill>
                  <a:srgbClr val="888888"/>
                </a:solidFill>
                <a:latin typeface="Calibri" pitchFamily="34" charset="0"/>
                <a:ea typeface="Calibri" pitchFamily="34" charset="-122"/>
                <a:cs typeface="Calibri" pitchFamily="34" charset="-120"/>
              </a:rPr>
              <a:t>Ad hoc</a:t>
            </a:r>
            <a:endParaRPr lang="en-US" sz="1267"/>
          </a:p>
        </p:txBody>
      </p:sp>
      <p:pic>
        <p:nvPicPr>
          <p:cNvPr id="58" name="Image 9" descr="preencoded.png"/>
          <p:cNvPicPr>
            <a:picLocks noChangeAspect="1"/>
          </p:cNvPicPr>
          <p:nvPr/>
        </p:nvPicPr>
        <p:blipFill>
          <a:blip r:embed="rId7"/>
          <a:stretch>
            <a:fillRect/>
          </a:stretch>
        </p:blipFill>
        <p:spPr>
          <a:xfrm>
            <a:off x="6900672" y="5955792"/>
            <a:ext cx="219456" cy="219456"/>
          </a:xfrm>
          <a:prstGeom prst="rect">
            <a:avLst/>
          </a:prstGeom>
        </p:spPr>
      </p:pic>
      <p:sp>
        <p:nvSpPr>
          <p:cNvPr id="59" name="Text 47"/>
          <p:cNvSpPr/>
          <p:nvPr/>
        </p:nvSpPr>
        <p:spPr>
          <a:xfrm>
            <a:off x="7193280" y="5894832"/>
            <a:ext cx="4437888" cy="335280"/>
          </a:xfrm>
          <a:prstGeom prst="rect">
            <a:avLst/>
          </a:prstGeom>
          <a:noFill/>
          <a:ln/>
        </p:spPr>
        <p:txBody>
          <a:bodyPr wrap="square" lIns="0" tIns="0" rIns="0" bIns="0" rtlCol="0" anchor="ctr"/>
          <a:lstStyle/>
          <a:p>
            <a:r>
              <a:rPr lang="en-US" sz="1267" b="1">
                <a:solidFill>
                  <a:srgbClr val="C0392B"/>
                </a:solidFill>
                <a:latin typeface="Raleway" pitchFamily="2" charset="0"/>
                <a:ea typeface="Calibri" pitchFamily="34" charset="-122"/>
                <a:cs typeface="Calibri" pitchFamily="34" charset="-120"/>
              </a:rPr>
              <a:t>Embedded from Day 1</a:t>
            </a:r>
            <a:endParaRPr lang="en-US" sz="1267">
              <a:latin typeface="Raleway" pitchFamily="2" charset="0"/>
            </a:endParaRPr>
          </a:p>
        </p:txBody>
      </p:sp>
      <p:sp>
        <p:nvSpPr>
          <p:cNvPr id="60" name="Shape 48"/>
          <p:cNvSpPr/>
          <p:nvPr/>
        </p:nvSpPr>
        <p:spPr>
          <a:xfrm>
            <a:off x="0" y="6352032"/>
            <a:ext cx="12192000" cy="505968"/>
          </a:xfrm>
          <a:prstGeom prst="rect">
            <a:avLst/>
          </a:prstGeom>
          <a:solidFill>
            <a:srgbClr val="0D9488"/>
          </a:solidFill>
          <a:ln w="12700">
            <a:solidFill>
              <a:srgbClr val="0D9488"/>
            </a:solidFill>
            <a:prstDash val="solid"/>
          </a:ln>
        </p:spPr>
        <p:txBody>
          <a:bodyPr/>
          <a:lstStyle/>
          <a:p>
            <a:endParaRPr lang="en-US" sz="2400"/>
          </a:p>
        </p:txBody>
      </p:sp>
      <p:sp>
        <p:nvSpPr>
          <p:cNvPr id="61" name="Text 49"/>
          <p:cNvSpPr/>
          <p:nvPr/>
        </p:nvSpPr>
        <p:spPr>
          <a:xfrm>
            <a:off x="609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5,500+</a:t>
            </a:r>
            <a:endParaRPr lang="en-US" sz="1600"/>
          </a:p>
        </p:txBody>
      </p:sp>
      <p:sp>
        <p:nvSpPr>
          <p:cNvPr id="62" name="Text 50"/>
          <p:cNvSpPr/>
          <p:nvPr/>
        </p:nvSpPr>
        <p:spPr>
          <a:xfrm>
            <a:off x="609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Active Consultants</a:t>
            </a:r>
            <a:endParaRPr lang="en-US" sz="1000"/>
          </a:p>
        </p:txBody>
      </p:sp>
      <p:sp>
        <p:nvSpPr>
          <p:cNvPr id="63" name="Shape 51"/>
          <p:cNvSpPr/>
          <p:nvPr/>
        </p:nvSpPr>
        <p:spPr>
          <a:xfrm>
            <a:off x="2438400" y="6400800"/>
            <a:ext cx="0" cy="402336"/>
          </a:xfrm>
          <a:prstGeom prst="line">
            <a:avLst/>
          </a:prstGeom>
          <a:noFill/>
          <a:ln w="6350">
            <a:solidFill>
              <a:srgbClr val="FFFFFF">
                <a:alpha val="45000"/>
              </a:srgbClr>
            </a:solidFill>
            <a:prstDash val="solid"/>
          </a:ln>
        </p:spPr>
        <p:txBody>
          <a:bodyPr/>
          <a:lstStyle/>
          <a:p>
            <a:endParaRPr lang="en-US" sz="2400"/>
          </a:p>
        </p:txBody>
      </p:sp>
      <p:sp>
        <p:nvSpPr>
          <p:cNvPr id="64" name="Text 52"/>
          <p:cNvSpPr/>
          <p:nvPr/>
        </p:nvSpPr>
        <p:spPr>
          <a:xfrm>
            <a:off x="24993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1,250+</a:t>
            </a:r>
            <a:endParaRPr lang="en-US" sz="1600"/>
          </a:p>
        </p:txBody>
      </p:sp>
      <p:sp>
        <p:nvSpPr>
          <p:cNvPr id="65" name="Text 53"/>
          <p:cNvSpPr/>
          <p:nvPr/>
        </p:nvSpPr>
        <p:spPr>
          <a:xfrm>
            <a:off x="24993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Skills Covered</a:t>
            </a:r>
            <a:endParaRPr lang="en-US" sz="1000"/>
          </a:p>
        </p:txBody>
      </p:sp>
      <p:sp>
        <p:nvSpPr>
          <p:cNvPr id="66" name="Shape 54"/>
          <p:cNvSpPr/>
          <p:nvPr/>
        </p:nvSpPr>
        <p:spPr>
          <a:xfrm>
            <a:off x="4876800" y="6400800"/>
            <a:ext cx="0" cy="402336"/>
          </a:xfrm>
          <a:prstGeom prst="line">
            <a:avLst/>
          </a:prstGeom>
          <a:noFill/>
          <a:ln w="6350">
            <a:solidFill>
              <a:srgbClr val="FFFFFF">
                <a:alpha val="45000"/>
              </a:srgbClr>
            </a:solidFill>
            <a:prstDash val="solid"/>
          </a:ln>
        </p:spPr>
        <p:txBody>
          <a:bodyPr/>
          <a:lstStyle/>
          <a:p>
            <a:endParaRPr lang="en-US" sz="2400"/>
          </a:p>
        </p:txBody>
      </p:sp>
      <p:sp>
        <p:nvSpPr>
          <p:cNvPr id="67" name="Text 55"/>
          <p:cNvSpPr/>
          <p:nvPr/>
        </p:nvSpPr>
        <p:spPr>
          <a:xfrm>
            <a:off x="49377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320+</a:t>
            </a:r>
            <a:endParaRPr lang="en-US" sz="1600"/>
          </a:p>
        </p:txBody>
      </p:sp>
      <p:sp>
        <p:nvSpPr>
          <p:cNvPr id="68" name="Text 56"/>
          <p:cNvSpPr/>
          <p:nvPr/>
        </p:nvSpPr>
        <p:spPr>
          <a:xfrm>
            <a:off x="49377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Enterprise Clients</a:t>
            </a:r>
            <a:endParaRPr lang="en-US" sz="1000"/>
          </a:p>
        </p:txBody>
      </p:sp>
      <p:sp>
        <p:nvSpPr>
          <p:cNvPr id="69" name="Shape 57"/>
          <p:cNvSpPr/>
          <p:nvPr/>
        </p:nvSpPr>
        <p:spPr>
          <a:xfrm>
            <a:off x="7315200" y="6400800"/>
            <a:ext cx="0" cy="402336"/>
          </a:xfrm>
          <a:prstGeom prst="line">
            <a:avLst/>
          </a:prstGeom>
          <a:noFill/>
          <a:ln w="6350">
            <a:solidFill>
              <a:srgbClr val="FFFFFF">
                <a:alpha val="45000"/>
              </a:srgbClr>
            </a:solidFill>
            <a:prstDash val="solid"/>
          </a:ln>
        </p:spPr>
        <p:txBody>
          <a:bodyPr/>
          <a:lstStyle/>
          <a:p>
            <a:endParaRPr lang="en-US" sz="2400"/>
          </a:p>
        </p:txBody>
      </p:sp>
      <p:sp>
        <p:nvSpPr>
          <p:cNvPr id="70" name="Text 58"/>
          <p:cNvSpPr/>
          <p:nvPr/>
        </p:nvSpPr>
        <p:spPr>
          <a:xfrm>
            <a:off x="73761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a:t>
            </a:r>
            <a:endParaRPr lang="en-US" sz="1600"/>
          </a:p>
        </p:txBody>
      </p:sp>
      <p:sp>
        <p:nvSpPr>
          <p:cNvPr id="71" name="Text 59"/>
          <p:cNvSpPr/>
          <p:nvPr/>
        </p:nvSpPr>
        <p:spPr>
          <a:xfrm>
            <a:off x="73761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Attrition (6-Mo Pilot)</a:t>
            </a:r>
            <a:endParaRPr lang="en-US" sz="1000"/>
          </a:p>
        </p:txBody>
      </p:sp>
      <p:sp>
        <p:nvSpPr>
          <p:cNvPr id="72" name="Shape 60"/>
          <p:cNvSpPr/>
          <p:nvPr/>
        </p:nvSpPr>
        <p:spPr>
          <a:xfrm>
            <a:off x="9753600" y="6400800"/>
            <a:ext cx="0" cy="402336"/>
          </a:xfrm>
          <a:prstGeom prst="line">
            <a:avLst/>
          </a:prstGeom>
          <a:noFill/>
          <a:ln w="6350">
            <a:solidFill>
              <a:srgbClr val="FFFFFF">
                <a:alpha val="45000"/>
              </a:srgbClr>
            </a:solidFill>
            <a:prstDash val="solid"/>
          </a:ln>
        </p:spPr>
        <p:txBody>
          <a:bodyPr/>
          <a:lstStyle/>
          <a:p>
            <a:endParaRPr lang="en-US" sz="2400"/>
          </a:p>
        </p:txBody>
      </p:sp>
      <p:sp>
        <p:nvSpPr>
          <p:cNvPr id="73" name="Text 61"/>
          <p:cNvSpPr/>
          <p:nvPr/>
        </p:nvSpPr>
        <p:spPr>
          <a:xfrm>
            <a:off x="98145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1/hr</a:t>
            </a:r>
            <a:endParaRPr lang="en-US" sz="1600"/>
          </a:p>
        </p:txBody>
      </p:sp>
      <p:sp>
        <p:nvSpPr>
          <p:cNvPr id="74" name="Text 62"/>
          <p:cNvSpPr/>
          <p:nvPr/>
        </p:nvSpPr>
        <p:spPr>
          <a:xfrm>
            <a:off x="98145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Engineers Onboarded</a:t>
            </a:r>
            <a:endParaRPr lang="en-US" sz="1000"/>
          </a:p>
        </p:txBody>
      </p:sp>
      <p:pic>
        <p:nvPicPr>
          <p:cNvPr id="75" name="Image 0" descr="preencoded.png">
            <a:extLst>
              <a:ext uri="{FF2B5EF4-FFF2-40B4-BE49-F238E27FC236}">
                <a16:creationId xmlns:a16="http://schemas.microsoft.com/office/drawing/2014/main" id="{FAFFF64B-DC76-00D4-DDA1-C18459247824}"/>
              </a:ext>
            </a:extLst>
          </p:cNvPr>
          <p:cNvPicPr>
            <a:picLocks noChangeAspect="1"/>
          </p:cNvPicPr>
          <p:nvPr/>
        </p:nvPicPr>
        <p:blipFill>
          <a:blip r:embed="rId8"/>
          <a:srcRect l="-207" r="-207"/>
          <a:stretch/>
        </p:blipFill>
        <p:spPr>
          <a:xfrm>
            <a:off x="0" y="0"/>
            <a:ext cx="4058107" cy="75895"/>
          </a:xfrm>
          <a:prstGeom prst="rect">
            <a:avLst/>
          </a:prstGeom>
        </p:spPr>
      </p:pic>
      <p:pic>
        <p:nvPicPr>
          <p:cNvPr id="76" name="Image 1" descr="preencoded.png">
            <a:extLst>
              <a:ext uri="{FF2B5EF4-FFF2-40B4-BE49-F238E27FC236}">
                <a16:creationId xmlns:a16="http://schemas.microsoft.com/office/drawing/2014/main" id="{F02F145E-4174-DB5B-12FC-B946B2BEFC21}"/>
              </a:ext>
            </a:extLst>
          </p:cNvPr>
          <p:cNvPicPr>
            <a:picLocks noChangeAspect="1"/>
          </p:cNvPicPr>
          <p:nvPr/>
        </p:nvPicPr>
        <p:blipFill>
          <a:blip r:embed="rId9"/>
          <a:srcRect l="-202" r="-202"/>
          <a:stretch/>
        </p:blipFill>
        <p:spPr>
          <a:xfrm>
            <a:off x="4058107" y="0"/>
            <a:ext cx="8134502" cy="75895"/>
          </a:xfrm>
          <a:prstGeom prst="rect">
            <a:avLst/>
          </a:prstGeom>
        </p:spPr>
      </p:pic>
      <p:sp>
        <p:nvSpPr>
          <p:cNvPr id="77" name="Shape 2">
            <a:extLst>
              <a:ext uri="{FF2B5EF4-FFF2-40B4-BE49-F238E27FC236}">
                <a16:creationId xmlns:a16="http://schemas.microsoft.com/office/drawing/2014/main" id="{C1C503D5-DE04-F879-CDE8-91C26E3173B8}"/>
              </a:ext>
            </a:extLst>
          </p:cNvPr>
          <p:cNvSpPr/>
          <p:nvPr/>
        </p:nvSpPr>
        <p:spPr>
          <a:xfrm>
            <a:off x="-1380897" y="-1256081"/>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8" name="Image 4" descr="preencoded.png">
            <a:extLst>
              <a:ext uri="{FF2B5EF4-FFF2-40B4-BE49-F238E27FC236}">
                <a16:creationId xmlns:a16="http://schemas.microsoft.com/office/drawing/2014/main" id="{3FB3B60C-A4FF-CE53-9131-90677B3706CF}"/>
              </a:ext>
            </a:extLst>
          </p:cNvPr>
          <p:cNvPicPr>
            <a:picLocks noChangeAspect="1"/>
          </p:cNvPicPr>
          <p:nvPr/>
        </p:nvPicPr>
        <p:blipFill>
          <a:blip r:embed="rId10"/>
          <a:srcRect l="-400" r="-400"/>
          <a:stretch/>
        </p:blipFill>
        <p:spPr>
          <a:xfrm>
            <a:off x="609905" y="457200"/>
            <a:ext cx="57607" cy="457200"/>
          </a:xfrm>
          <a:prstGeom prst="rect">
            <a:avLst/>
          </a:prstGeom>
        </p:spPr>
      </p:pic>
      <p:sp>
        <p:nvSpPr>
          <p:cNvPr id="79" name="Text 11">
            <a:extLst>
              <a:ext uri="{FF2B5EF4-FFF2-40B4-BE49-F238E27FC236}">
                <a16:creationId xmlns:a16="http://schemas.microsoft.com/office/drawing/2014/main" id="{65F3FFE0-7460-C049-BC83-7BC32616A4C0}"/>
              </a:ext>
            </a:extLst>
          </p:cNvPr>
          <p:cNvSpPr txBox="1"/>
          <p:nvPr/>
        </p:nvSpPr>
        <p:spPr>
          <a:xfrm>
            <a:off x="819302" y="228600"/>
            <a:ext cx="9715500" cy="428854"/>
          </a:xfrm>
          <a:prstGeom prst="rect">
            <a:avLst/>
          </a:prstGeom>
          <a:noFill/>
          <a:ln/>
        </p:spPr>
        <p:txBody>
          <a:bodyPr wrap="square" lIns="0" tIns="0" rIns="0" bIns="0" rtlCol="0" anchor="ctr"/>
          <a:lstStyle/>
          <a:p>
            <a:r>
              <a:rPr lang="en-US" sz="3200" b="1">
                <a:solidFill>
                  <a:srgbClr val="1A1A2E"/>
                </a:solidFill>
                <a:latin typeface="Oswald" panose="00000500000000000000" pitchFamily="2" charset="0"/>
                <a:ea typeface="Calibri" pitchFamily="34" charset="-122"/>
                <a:cs typeface="Calibri" pitchFamily="34" charset="-120"/>
              </a:rPr>
              <a:t>Workforce &amp; Talent Solutions</a:t>
            </a:r>
            <a:endParaRPr lang="en-US" sz="3200">
              <a:latin typeface="Oswald" panose="00000500000000000000" pitchFamily="2" charset="0"/>
            </a:endParaRPr>
          </a:p>
        </p:txBody>
      </p:sp>
      <p:sp>
        <p:nvSpPr>
          <p:cNvPr id="80" name="Text 12">
            <a:extLst>
              <a:ext uri="{FF2B5EF4-FFF2-40B4-BE49-F238E27FC236}">
                <a16:creationId xmlns:a16="http://schemas.microsoft.com/office/drawing/2014/main" id="{830CE162-47E2-FB62-8B99-806E90C454F1}"/>
              </a:ext>
            </a:extLst>
          </p:cNvPr>
          <p:cNvSpPr txBox="1"/>
          <p:nvPr/>
        </p:nvSpPr>
        <p:spPr>
          <a:xfrm>
            <a:off x="819302" y="758952"/>
            <a:ext cx="9639605" cy="200254"/>
          </a:xfrm>
          <a:prstGeom prst="rect">
            <a:avLst/>
          </a:prstGeom>
          <a:noFill/>
          <a:ln/>
        </p:spPr>
        <p:txBody>
          <a:bodyPr wrap="square" lIns="0" tIns="0" rIns="0" bIns="0" rtlCol="0" anchor="ctr"/>
          <a:lstStyle/>
          <a:p>
            <a:pPr marL="0" indent="0" algn="l">
              <a:buNone/>
            </a:pPr>
            <a:r>
              <a:rPr lang="en-US" sz="1300" b="1" kern="0" spc="68">
                <a:solidFill>
                  <a:srgbClr val="2A9D8F"/>
                </a:solidFill>
                <a:latin typeface="Roboto Condensed" pitchFamily="34" charset="0"/>
                <a:ea typeface="Roboto Condensed" pitchFamily="34" charset="-122"/>
                <a:cs typeface="Roboto Condensed" pitchFamily="34" charset="-120"/>
              </a:rPr>
              <a:t>A MANAGED, AI-DRIVEN WORKFORCE UNIT - NOT JUST STAFFING WITH A WRAPPER.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6000"/>
          </a:blip>
          <a:srcRect/>
          <a:stretch/>
        </p:blipFill>
        <p:spPr>
          <a:xfrm>
            <a:off x="-761695" y="476219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476902"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4476902" y="1714500"/>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343900"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8"/>
          <p:cNvSpPr/>
          <p:nvPr/>
        </p:nvSpPr>
        <p:spPr>
          <a:xfrm>
            <a:off x="8343900"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0"/>
          <p:cNvSpPr/>
          <p:nvPr/>
        </p:nvSpPr>
        <p:spPr>
          <a:xfrm>
            <a:off x="609905"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4476902"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2"/>
          <p:cNvSpPr/>
          <p:nvPr/>
        </p:nvSpPr>
        <p:spPr>
          <a:xfrm>
            <a:off x="4476902" y="4190695"/>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343900"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8343900"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23" name="Text 17"/>
          <p:cNvSpPr txBox="1"/>
          <p:nvPr/>
        </p:nvSpPr>
        <p:spPr>
          <a:xfrm>
            <a:off x="760780" y="577088"/>
            <a:ext cx="8438998"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HOW WE DELIVER</a:t>
            </a:r>
          </a:p>
          <a:p>
            <a:pPr marL="0" indent="0" algn="l">
              <a:buNone/>
            </a:pPr>
            <a:endParaRPr lang="en-US" sz="2500"/>
          </a:p>
        </p:txBody>
      </p:sp>
      <p:sp>
        <p:nvSpPr>
          <p:cNvPr id="24" name="Text 18"/>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From sourcing to sprint governance - a structured operating model, not a staffing drop.</a:t>
            </a:r>
          </a:p>
        </p:txBody>
      </p:sp>
      <p:sp>
        <p:nvSpPr>
          <p:cNvPr id="25" name="Text 19"/>
          <p:cNvSpPr txBox="1"/>
          <p:nvPr/>
        </p:nvSpPr>
        <p:spPr>
          <a:xfrm>
            <a:off x="819302" y="1079906"/>
            <a:ext cx="8097012" cy="152705"/>
          </a:xfrm>
          <a:prstGeom prst="rect">
            <a:avLst/>
          </a:prstGeom>
          <a:noFill/>
          <a:ln/>
        </p:spPr>
        <p:txBody>
          <a:bodyPr wrap="none" lIns="0" tIns="0" rIns="0" bIns="0" rtlCol="0" anchor="ctr"/>
          <a:lstStyle/>
          <a:p>
            <a:pPr marL="0" indent="0" algn="l">
              <a:buNone/>
            </a:pPr>
            <a:endParaRPr lang="en-US" sz="1000"/>
          </a:p>
        </p:txBody>
      </p:sp>
      <p:sp>
        <p:nvSpPr>
          <p:cNvPr id="26" name="Text 20"/>
          <p:cNvSpPr txBox="1"/>
          <p:nvPr/>
        </p:nvSpPr>
        <p:spPr>
          <a:xfrm>
            <a:off x="838505" y="1981505"/>
            <a:ext cx="34015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01</a:t>
            </a:r>
            <a:endParaRPr lang="en-US" sz="2400"/>
          </a:p>
        </p:txBody>
      </p:sp>
      <p:sp>
        <p:nvSpPr>
          <p:cNvPr id="27" name="Text 21"/>
          <p:cNvSpPr txBox="1"/>
          <p:nvPr/>
        </p:nvSpPr>
        <p:spPr>
          <a:xfrm>
            <a:off x="1237183" y="1995424"/>
            <a:ext cx="1417320"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Scope &amp; Source</a:t>
            </a:r>
            <a:endParaRPr lang="en-US" sz="1600"/>
          </a:p>
        </p:txBody>
      </p:sp>
      <p:sp>
        <p:nvSpPr>
          <p:cNvPr id="28" name="Text 22"/>
          <p:cNvSpPr txBox="1"/>
          <p:nvPr/>
        </p:nvSpPr>
        <p:spPr>
          <a:xfrm>
            <a:off x="838505"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Role definition + domain-specific talent pool activation. TalentAI matching + voice-agent pre-screen. Shortlist in 72 hrs.</a:t>
            </a:r>
            <a:endParaRPr lang="en-US" sz="1000"/>
          </a:p>
        </p:txBody>
      </p:sp>
      <p:pic>
        <p:nvPicPr>
          <p:cNvPr id="29" name="Image 4" descr="gen-dedup-68afaceb726e7c14c8688760b973252d.png"/>
          <p:cNvPicPr>
            <a:picLocks noChangeAspect="1"/>
          </p:cNvPicPr>
          <p:nvPr/>
        </p:nvPicPr>
        <p:blipFill>
          <a:blip r:embed="rId7"/>
          <a:srcRect l="-13360" r="-13360"/>
          <a:stretch/>
        </p:blipFill>
        <p:spPr>
          <a:xfrm>
            <a:off x="4062679" y="2648102"/>
            <a:ext cx="181051" cy="228600"/>
          </a:xfrm>
          <a:prstGeom prst="rect">
            <a:avLst/>
          </a:prstGeom>
        </p:spPr>
      </p:pic>
      <p:sp>
        <p:nvSpPr>
          <p:cNvPr id="30" name="Text 23"/>
          <p:cNvSpPr txBox="1"/>
          <p:nvPr/>
        </p:nvSpPr>
        <p:spPr>
          <a:xfrm>
            <a:off x="4705502" y="1981505"/>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02</a:t>
            </a:r>
            <a:endParaRPr lang="en-US" sz="2400"/>
          </a:p>
        </p:txBody>
      </p:sp>
      <p:sp>
        <p:nvSpPr>
          <p:cNvPr id="31" name="Text 24"/>
          <p:cNvSpPr txBox="1"/>
          <p:nvPr/>
        </p:nvSpPr>
        <p:spPr>
          <a:xfrm>
            <a:off x="5144414" y="1995424"/>
            <a:ext cx="839419"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AI-Assess</a:t>
            </a:r>
            <a:endParaRPr lang="en-US" sz="1600"/>
          </a:p>
        </p:txBody>
      </p:sp>
      <p:sp>
        <p:nvSpPr>
          <p:cNvPr id="32" name="Text 25"/>
          <p:cNvSpPr txBox="1"/>
          <p:nvPr/>
        </p:nvSpPr>
        <p:spPr>
          <a:xfrm>
            <a:off x="4705502"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Live coding + domain scenario assessment via TalentSphere. Technical bar validated by J2W before client interview.</a:t>
            </a:r>
            <a:endParaRPr lang="en-US" sz="1000"/>
          </a:p>
        </p:txBody>
      </p:sp>
      <p:pic>
        <p:nvPicPr>
          <p:cNvPr id="33" name="Image 5" descr="gen-dedup-68afaceb726e7c14c8688760b973252d.png"/>
          <p:cNvPicPr>
            <a:picLocks noChangeAspect="1"/>
          </p:cNvPicPr>
          <p:nvPr/>
        </p:nvPicPr>
        <p:blipFill>
          <a:blip r:embed="rId7"/>
          <a:srcRect l="-13360" r="-13360"/>
          <a:stretch/>
        </p:blipFill>
        <p:spPr>
          <a:xfrm>
            <a:off x="7929677" y="2648102"/>
            <a:ext cx="181051" cy="228600"/>
          </a:xfrm>
          <a:prstGeom prst="rect">
            <a:avLst/>
          </a:prstGeom>
        </p:spPr>
      </p:pic>
      <p:sp>
        <p:nvSpPr>
          <p:cNvPr id="34" name="Text 26"/>
          <p:cNvSpPr txBox="1"/>
          <p:nvPr/>
        </p:nvSpPr>
        <p:spPr>
          <a:xfrm>
            <a:off x="8572500" y="1981505"/>
            <a:ext cx="391363"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03</a:t>
            </a:r>
            <a:endParaRPr lang="en-US" sz="2400"/>
          </a:p>
        </p:txBody>
      </p:sp>
      <p:sp>
        <p:nvSpPr>
          <p:cNvPr id="35" name="Text 27"/>
          <p:cNvSpPr txBox="1"/>
          <p:nvPr/>
        </p:nvSpPr>
        <p:spPr>
          <a:xfrm>
            <a:off x="9011412" y="1995424"/>
            <a:ext cx="1553566"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Deploy in 10 Days</a:t>
            </a:r>
            <a:endParaRPr lang="en-US" sz="1600"/>
          </a:p>
        </p:txBody>
      </p:sp>
      <p:sp>
        <p:nvSpPr>
          <p:cNvPr id="36" name="Text 28"/>
          <p:cNvSpPr txBox="1"/>
          <p:nvPr/>
        </p:nvSpPr>
        <p:spPr>
          <a:xfrm>
            <a:off x="8572500"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Offer → onboarding → Day-1 productivity. J2W payroll, compliance, IT provisioning - fully managed.</a:t>
            </a:r>
            <a:endParaRPr lang="en-US" sz="1000"/>
          </a:p>
        </p:txBody>
      </p:sp>
      <p:pic>
        <p:nvPicPr>
          <p:cNvPr id="37" name="Image 6" descr="gen-dedup-ff9a716cc6b1850cd75acb20aeb0dc17.png"/>
          <p:cNvPicPr>
            <a:picLocks noChangeAspect="1"/>
          </p:cNvPicPr>
          <p:nvPr/>
        </p:nvPicPr>
        <p:blipFill>
          <a:blip r:embed="rId8"/>
          <a:srcRect t="-13131" b="-13131"/>
          <a:stretch/>
        </p:blipFill>
        <p:spPr>
          <a:xfrm>
            <a:off x="9872777" y="3895344"/>
            <a:ext cx="181051" cy="228600"/>
          </a:xfrm>
          <a:prstGeom prst="rect">
            <a:avLst/>
          </a:prstGeom>
        </p:spPr>
      </p:pic>
      <p:sp>
        <p:nvSpPr>
          <p:cNvPr id="38" name="Text 29"/>
          <p:cNvSpPr txBox="1"/>
          <p:nvPr/>
        </p:nvSpPr>
        <p:spPr>
          <a:xfrm>
            <a:off x="838505"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04</a:t>
            </a:r>
            <a:endParaRPr lang="en-US" sz="2400"/>
          </a:p>
        </p:txBody>
      </p:sp>
      <p:sp>
        <p:nvSpPr>
          <p:cNvPr id="39" name="Text 30"/>
          <p:cNvSpPr txBox="1"/>
          <p:nvPr/>
        </p:nvSpPr>
        <p:spPr>
          <a:xfrm>
            <a:off x="1280160" y="4472534"/>
            <a:ext cx="1564538"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Govern &amp; Upskill</a:t>
            </a:r>
            <a:endParaRPr lang="en-US" sz="1600"/>
          </a:p>
        </p:txBody>
      </p:sp>
      <p:sp>
        <p:nvSpPr>
          <p:cNvPr id="40" name="Text 31"/>
          <p:cNvSpPr txBox="1"/>
          <p:nvPr/>
        </p:nvSpPr>
        <p:spPr>
          <a:xfrm>
            <a:off x="838505"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Sprint accountability via Pod Manager. Monthly AI upskilling in J2W Labs. Weekly performance telemetry.</a:t>
            </a:r>
            <a:endParaRPr lang="en-US" sz="1000"/>
          </a:p>
        </p:txBody>
      </p:sp>
      <p:pic>
        <p:nvPicPr>
          <p:cNvPr id="41" name="Image 7" descr="gen-dedup-68afaceb726e7c14c8688760b973252d.png"/>
          <p:cNvPicPr>
            <a:picLocks noChangeAspect="1"/>
          </p:cNvPicPr>
          <p:nvPr/>
        </p:nvPicPr>
        <p:blipFill>
          <a:blip r:embed="rId7"/>
          <a:srcRect l="-13360" r="-13360"/>
          <a:stretch/>
        </p:blipFill>
        <p:spPr>
          <a:xfrm>
            <a:off x="4062679" y="5124298"/>
            <a:ext cx="181051" cy="228600"/>
          </a:xfrm>
          <a:prstGeom prst="rect">
            <a:avLst/>
          </a:prstGeom>
        </p:spPr>
      </p:pic>
      <p:sp>
        <p:nvSpPr>
          <p:cNvPr id="42" name="Text 32"/>
          <p:cNvSpPr txBox="1"/>
          <p:nvPr/>
        </p:nvSpPr>
        <p:spPr>
          <a:xfrm>
            <a:off x="4705502" y="4457700"/>
            <a:ext cx="38587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05</a:t>
            </a:r>
            <a:endParaRPr lang="en-US" sz="2400"/>
          </a:p>
        </p:txBody>
      </p:sp>
      <p:sp>
        <p:nvSpPr>
          <p:cNvPr id="43" name="Text 33"/>
          <p:cNvSpPr txBox="1"/>
          <p:nvPr/>
        </p:nvSpPr>
        <p:spPr>
          <a:xfrm>
            <a:off x="5142586" y="4472534"/>
            <a:ext cx="201808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POFU - 90-Day Funnel</a:t>
            </a:r>
            <a:endParaRPr lang="en-US" sz="1600"/>
          </a:p>
        </p:txBody>
      </p:sp>
      <p:sp>
        <p:nvSpPr>
          <p:cNvPr id="44" name="Text 34"/>
          <p:cNvSpPr txBox="1"/>
          <p:nvPr/>
        </p:nvSpPr>
        <p:spPr>
          <a:xfrm>
            <a:off x="4705502" y="4905756"/>
            <a:ext cx="2781605" cy="800100"/>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Post-Offer Follow-Up: milestone touchpoints, counter-offer inoculation, manager connects. Dropout rate → single digits.</a:t>
            </a:r>
            <a:endParaRPr lang="en-US" sz="1000"/>
          </a:p>
        </p:txBody>
      </p:sp>
      <p:pic>
        <p:nvPicPr>
          <p:cNvPr id="45" name="Image 8" descr="gen-dedup-68afaceb726e7c14c8688760b973252d.png"/>
          <p:cNvPicPr>
            <a:picLocks noChangeAspect="1"/>
          </p:cNvPicPr>
          <p:nvPr/>
        </p:nvPicPr>
        <p:blipFill>
          <a:blip r:embed="rId7"/>
          <a:srcRect l="-13360" r="-13360"/>
          <a:stretch/>
        </p:blipFill>
        <p:spPr>
          <a:xfrm>
            <a:off x="7929677" y="5124298"/>
            <a:ext cx="181051" cy="228600"/>
          </a:xfrm>
          <a:prstGeom prst="rect">
            <a:avLst/>
          </a:prstGeom>
        </p:spPr>
      </p:pic>
      <p:sp>
        <p:nvSpPr>
          <p:cNvPr id="46" name="Text 35"/>
          <p:cNvSpPr txBox="1"/>
          <p:nvPr/>
        </p:nvSpPr>
        <p:spPr>
          <a:xfrm>
            <a:off x="8572500"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06</a:t>
            </a:r>
            <a:endParaRPr lang="en-US" sz="2400"/>
          </a:p>
        </p:txBody>
      </p:sp>
      <p:sp>
        <p:nvSpPr>
          <p:cNvPr id="47" name="Text 36"/>
          <p:cNvSpPr txBox="1"/>
          <p:nvPr/>
        </p:nvSpPr>
        <p:spPr>
          <a:xfrm>
            <a:off x="9018727" y="4472534"/>
            <a:ext cx="159837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Scale or Convert</a:t>
            </a:r>
            <a:endParaRPr lang="en-US" sz="1600"/>
          </a:p>
        </p:txBody>
      </p:sp>
      <p:sp>
        <p:nvSpPr>
          <p:cNvPr id="48" name="Text 37"/>
          <p:cNvSpPr txBox="1"/>
          <p:nvPr/>
        </p:nvSpPr>
        <p:spPr>
          <a:xfrm>
            <a:off x="8572500"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C2H → permanent conversion on Day 91. Scale the pod up or down. Quarterly Business Review with ROI data.</a:t>
            </a:r>
            <a:endParaRPr 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4ab2116e971fbb9400d0e99205bd0390.png"/>
          <p:cNvPicPr>
            <a:picLocks noChangeAspect="1"/>
          </p:cNvPicPr>
          <p:nvPr/>
        </p:nvPicPr>
        <p:blipFill>
          <a:blip r:embed="rId5">
            <a:alphaModFix amt="8000"/>
          </a:blip>
          <a:srcRect/>
          <a:stretch/>
        </p:blipFill>
        <p:spPr>
          <a:xfrm>
            <a:off x="-381305" y="4190695"/>
            <a:ext cx="1904695" cy="1904695"/>
          </a:xfrm>
          <a:prstGeom prst="rect">
            <a:avLst/>
          </a:prstGeom>
        </p:spPr>
      </p:pic>
      <p:sp>
        <p:nvSpPr>
          <p:cNvPr id="8" name="Shape 3"/>
          <p:cNvSpPr/>
          <p:nvPr/>
        </p:nvSpPr>
        <p:spPr>
          <a:xfrm>
            <a:off x="609905" y="20007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9" name="Shape 4"/>
          <p:cNvSpPr/>
          <p:nvPr/>
        </p:nvSpPr>
        <p:spPr>
          <a:xfrm>
            <a:off x="609905" y="2000707"/>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609905" y="29525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1" name="Shape 6"/>
          <p:cNvSpPr/>
          <p:nvPr/>
        </p:nvSpPr>
        <p:spPr>
          <a:xfrm>
            <a:off x="609905" y="2952598"/>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09905" y="3905402"/>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3" name="Shape 8"/>
          <p:cNvSpPr/>
          <p:nvPr/>
        </p:nvSpPr>
        <p:spPr>
          <a:xfrm>
            <a:off x="609905" y="3905402"/>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609905" y="48582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5" name="Shape 10"/>
          <p:cNvSpPr/>
          <p:nvPr/>
        </p:nvSpPr>
        <p:spPr>
          <a:xfrm>
            <a:off x="609905" y="4858207"/>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6" name="Shape 11"/>
          <p:cNvSpPr/>
          <p:nvPr/>
        </p:nvSpPr>
        <p:spPr>
          <a:xfrm>
            <a:off x="609905" y="58100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7" name="Shape 12"/>
          <p:cNvSpPr/>
          <p:nvPr/>
        </p:nvSpPr>
        <p:spPr>
          <a:xfrm>
            <a:off x="609905" y="5810098"/>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pic>
        <p:nvPicPr>
          <p:cNvPr id="20" name="Image 3" descr="gen-dedup-f40e183725d285eac3acdddf8d8f823b.png"/>
          <p:cNvPicPr>
            <a:picLocks noChangeAspect="1"/>
          </p:cNvPicPr>
          <p:nvPr/>
        </p:nvPicPr>
        <p:blipFill>
          <a:blip r:embed="rId6"/>
          <a:srcRect l="-369" r="-369"/>
          <a:stretch/>
        </p:blipFill>
        <p:spPr>
          <a:xfrm>
            <a:off x="609905" y="448970"/>
            <a:ext cx="57607" cy="495605"/>
          </a:xfrm>
          <a:prstGeom prst="rect">
            <a:avLst/>
          </a:prstGeom>
        </p:spPr>
      </p:pic>
      <p:sp>
        <p:nvSpPr>
          <p:cNvPr id="21" name="Text 15"/>
          <p:cNvSpPr txBox="1"/>
          <p:nvPr/>
        </p:nvSpPr>
        <p:spPr>
          <a:xfrm>
            <a:off x="819302" y="381305"/>
            <a:ext cx="4499762" cy="409651"/>
          </a:xfrm>
          <a:prstGeom prst="rect">
            <a:avLst/>
          </a:prstGeom>
          <a:noFill/>
          <a:ln/>
        </p:spPr>
        <p:txBody>
          <a:bodyPr wrap="none" lIns="0" tIns="0" rIns="0" bIns="0" rtlCol="0" anchor="ctr"/>
          <a:lstStyle/>
          <a:p>
            <a:pPr marL="0" indent="0" algn="l">
              <a:buNone/>
            </a:pPr>
            <a:r>
              <a:rPr lang="en-US" sz="2800" b="1">
                <a:solidFill>
                  <a:srgbClr val="111827"/>
                </a:solidFill>
                <a:latin typeface="Oswald" pitchFamily="34" charset="0"/>
                <a:ea typeface="Oswald" pitchFamily="34" charset="-122"/>
                <a:cs typeface="Oswald" pitchFamily="34" charset="-120"/>
              </a:rPr>
              <a:t>STRUCTURAL DIFFERENTIATION</a:t>
            </a:r>
            <a:endParaRPr lang="en-US" sz="2800"/>
          </a:p>
        </p:txBody>
      </p:sp>
      <p:sp>
        <p:nvSpPr>
          <p:cNvPr id="22" name="Text 16"/>
          <p:cNvSpPr txBox="1"/>
          <p:nvPr/>
        </p:nvSpPr>
        <p:spPr>
          <a:xfrm>
            <a:off x="819302" y="821131"/>
            <a:ext cx="3610051" cy="191110"/>
          </a:xfrm>
          <a:prstGeom prst="rect">
            <a:avLst/>
          </a:prstGeom>
          <a:noFill/>
          <a:ln/>
        </p:spPr>
        <p:txBody>
          <a:bodyPr wrap="none" lIns="0" tIns="0" rIns="0" bIns="0" rtlCol="0" anchor="ctr"/>
          <a:lstStyle/>
          <a:p>
            <a:pPr marL="0" indent="0" algn="l">
              <a:buNone/>
            </a:pPr>
            <a:r>
              <a:rPr lang="en-US" sz="1300" b="1" kern="0" spc="66">
                <a:solidFill>
                  <a:srgbClr val="2A9D8F"/>
                </a:solidFill>
                <a:latin typeface="Roboto Condensed" pitchFamily="34" charset="0"/>
                <a:ea typeface="Roboto Condensed" pitchFamily="34" charset="-122"/>
                <a:cs typeface="Roboto Condensed" pitchFamily="34" charset="-120"/>
              </a:rPr>
              <a:t>WORKFORCE SOLUTIONS</a:t>
            </a:r>
          </a:p>
        </p:txBody>
      </p:sp>
      <p:sp>
        <p:nvSpPr>
          <p:cNvPr id="23" name="Text 17"/>
          <p:cNvSpPr txBox="1"/>
          <p:nvPr/>
        </p:nvSpPr>
        <p:spPr>
          <a:xfrm>
            <a:off x="609905" y="1380744"/>
            <a:ext cx="10972800" cy="267005"/>
          </a:xfrm>
          <a:prstGeom prst="rect">
            <a:avLst/>
          </a:prstGeom>
          <a:noFill/>
          <a:ln/>
        </p:spPr>
        <p:txBody>
          <a:bodyPr wrap="none" lIns="0" tIns="0" rIns="0" bIns="0" rtlCol="0" anchor="ctr"/>
          <a:lstStyle/>
          <a:p>
            <a:pPr marL="0" indent="0" algn="l">
              <a:buNone/>
            </a:pPr>
            <a:r>
              <a:rPr lang="en-US" sz="1500" b="1">
                <a:solidFill>
                  <a:srgbClr val="D62839"/>
                </a:solidFill>
                <a:latin typeface="Raleway" pitchFamily="34" charset="0"/>
                <a:ea typeface="Raleway" pitchFamily="34" charset="-122"/>
                <a:cs typeface="Raleway" pitchFamily="34" charset="-120"/>
              </a:rPr>
              <a:t>Five structural differences that change the engagement from transactional to transformational.</a:t>
            </a:r>
            <a:endParaRPr lang="en-US" sz="1500"/>
          </a:p>
        </p:txBody>
      </p:sp>
      <p:sp>
        <p:nvSpPr>
          <p:cNvPr id="24" name="Text 18"/>
          <p:cNvSpPr txBox="1"/>
          <p:nvPr/>
        </p:nvSpPr>
        <p:spPr>
          <a:xfrm>
            <a:off x="1037844" y="2148840"/>
            <a:ext cx="1904695"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No Subcontracting</a:t>
            </a:r>
            <a:endParaRPr lang="en-US" sz="1400"/>
          </a:p>
        </p:txBody>
      </p:sp>
      <p:sp>
        <p:nvSpPr>
          <p:cNvPr id="25" name="Text 19"/>
          <p:cNvSpPr txBox="1"/>
          <p:nvPr/>
        </p:nvSpPr>
        <p:spPr>
          <a:xfrm>
            <a:off x="800100" y="2491740"/>
            <a:ext cx="11278210" cy="219456"/>
          </a:xfrm>
          <a:prstGeom prst="rect">
            <a:avLst/>
          </a:prstGeom>
          <a:no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300+ in-house recruiters. 7,200+ professionals on J2W payroll. Zero subcontracting layer diluting quality, speed, or accountability.</a:t>
            </a:r>
            <a:endParaRPr lang="en-US" sz="1300"/>
          </a:p>
        </p:txBody>
      </p:sp>
      <p:pic>
        <p:nvPicPr>
          <p:cNvPr id="26" name="Image 4" descr="gen-dedup-928b248bf773cd1fca0141b5a5721735.png"/>
          <p:cNvPicPr>
            <a:picLocks noChangeAspect="1"/>
          </p:cNvPicPr>
          <p:nvPr/>
        </p:nvPicPr>
        <p:blipFill>
          <a:blip r:embed="rId7"/>
          <a:srcRect t="-6603" b="-6603"/>
          <a:stretch/>
        </p:blipFill>
        <p:spPr>
          <a:xfrm>
            <a:off x="800100" y="2211934"/>
            <a:ext cx="161849" cy="209398"/>
          </a:xfrm>
          <a:prstGeom prst="rect">
            <a:avLst/>
          </a:prstGeom>
        </p:spPr>
      </p:pic>
      <p:sp>
        <p:nvSpPr>
          <p:cNvPr id="27" name="Text 20"/>
          <p:cNvSpPr txBox="1"/>
          <p:nvPr/>
        </p:nvSpPr>
        <p:spPr>
          <a:xfrm>
            <a:off x="1037844" y="2991917"/>
            <a:ext cx="241493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GCC-Native Intelligence</a:t>
            </a:r>
            <a:endParaRPr lang="en-US" sz="1400"/>
          </a:p>
        </p:txBody>
      </p:sp>
      <p:sp>
        <p:nvSpPr>
          <p:cNvPr id="28" name="Text 21"/>
          <p:cNvSpPr txBox="1"/>
          <p:nvPr/>
        </p:nvSpPr>
        <p:spPr>
          <a:xfrm>
            <a:off x="800100" y="33348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Forged through 300+ active GCC deployments. We see the next problem before it shows up because we have already solved it somewhere else.</a:t>
            </a:r>
            <a:endParaRPr lang="en-US" sz="1300"/>
          </a:p>
        </p:txBody>
      </p:sp>
      <p:pic>
        <p:nvPicPr>
          <p:cNvPr id="29" name="Image 5" descr="gen-dedup-0c58ce2f3d3941653435c84e3cc91c65.png"/>
          <p:cNvPicPr>
            <a:picLocks noChangeAspect="1"/>
          </p:cNvPicPr>
          <p:nvPr/>
        </p:nvPicPr>
        <p:blipFill>
          <a:blip r:embed="rId8"/>
          <a:srcRect t="-14689" b="-14689"/>
          <a:stretch/>
        </p:blipFill>
        <p:spPr>
          <a:xfrm>
            <a:off x="800100" y="3055925"/>
            <a:ext cx="161849" cy="209398"/>
          </a:xfrm>
          <a:prstGeom prst="rect">
            <a:avLst/>
          </a:prstGeom>
        </p:spPr>
      </p:pic>
      <p:sp>
        <p:nvSpPr>
          <p:cNvPr id="30" name="Text 22"/>
          <p:cNvSpPr txBox="1"/>
          <p:nvPr/>
        </p:nvSpPr>
        <p:spPr>
          <a:xfrm>
            <a:off x="1037844" y="3944722"/>
            <a:ext cx="1633118"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AI at Every Step</a:t>
            </a:r>
            <a:endParaRPr lang="en-US" sz="1400"/>
          </a:p>
        </p:txBody>
      </p:sp>
      <p:sp>
        <p:nvSpPr>
          <p:cNvPr id="31" name="Text 23"/>
          <p:cNvSpPr txBox="1"/>
          <p:nvPr/>
        </p:nvSpPr>
        <p:spPr>
          <a:xfrm>
            <a:off x="800100" y="4287622"/>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TalentAI + TalentSphere: AI-ranked pools, voice-agent screening, skill graphs, predictive placement. Every tool passed our 40% improvement gate internally.</a:t>
            </a:r>
            <a:endParaRPr lang="en-US" sz="1300"/>
          </a:p>
        </p:txBody>
      </p:sp>
      <p:pic>
        <p:nvPicPr>
          <p:cNvPr id="32" name="Image 6" descr="gen-dedup-da669e206ac26c7983b1f8612c832ea6.png"/>
          <p:cNvPicPr>
            <a:picLocks noChangeAspect="1"/>
          </p:cNvPicPr>
          <p:nvPr/>
        </p:nvPicPr>
        <p:blipFill>
          <a:blip r:embed="rId9"/>
          <a:srcRect t="-30861" b="-30861"/>
          <a:stretch/>
        </p:blipFill>
        <p:spPr>
          <a:xfrm>
            <a:off x="800100" y="4008730"/>
            <a:ext cx="161849" cy="209398"/>
          </a:xfrm>
          <a:prstGeom prst="rect">
            <a:avLst/>
          </a:prstGeom>
        </p:spPr>
      </p:pic>
      <p:sp>
        <p:nvSpPr>
          <p:cNvPr id="33" name="Text 24"/>
          <p:cNvSpPr txBox="1"/>
          <p:nvPr/>
        </p:nvSpPr>
        <p:spPr>
          <a:xfrm>
            <a:off x="1037844" y="4897526"/>
            <a:ext cx="246065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Pod Governance Built In</a:t>
            </a:r>
            <a:endParaRPr lang="en-US" sz="1400"/>
          </a:p>
        </p:txBody>
      </p:sp>
      <p:sp>
        <p:nvSpPr>
          <p:cNvPr id="34" name="Text 25"/>
          <p:cNvSpPr txBox="1"/>
          <p:nvPr/>
        </p:nvSpPr>
        <p:spPr>
          <a:xfrm>
            <a:off x="800100" y="5240426"/>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 dedicated Pod Manager - not billed to client - owns sprint governance, performance tracking, and L&amp;D coordination. This is a pod, not a staffing drop.</a:t>
            </a:r>
            <a:endParaRPr lang="en-US" sz="1300"/>
          </a:p>
        </p:txBody>
      </p:sp>
      <p:pic>
        <p:nvPicPr>
          <p:cNvPr id="35" name="Image 7" descr="gen-dedup-5d8964838ee5ef7b6e1692b5297312cd.png"/>
          <p:cNvPicPr>
            <a:picLocks noChangeAspect="1"/>
          </p:cNvPicPr>
          <p:nvPr/>
        </p:nvPicPr>
        <p:blipFill>
          <a:blip r:embed="rId10"/>
          <a:srcRect t="-30861" b="-30861"/>
          <a:stretch/>
        </p:blipFill>
        <p:spPr>
          <a:xfrm>
            <a:off x="800100" y="4960620"/>
            <a:ext cx="161849" cy="209398"/>
          </a:xfrm>
          <a:prstGeom prst="rect">
            <a:avLst/>
          </a:prstGeom>
        </p:spPr>
      </p:pic>
      <p:sp>
        <p:nvSpPr>
          <p:cNvPr id="36" name="Text 26"/>
          <p:cNvSpPr txBox="1"/>
          <p:nvPr/>
        </p:nvSpPr>
        <p:spPr>
          <a:xfrm>
            <a:off x="1037844" y="5849417"/>
            <a:ext cx="2051914"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Validated Playbooks</a:t>
            </a:r>
            <a:endParaRPr lang="en-US" sz="1400"/>
          </a:p>
        </p:txBody>
      </p:sp>
      <p:sp>
        <p:nvSpPr>
          <p:cNvPr id="37" name="Text 27"/>
          <p:cNvSpPr txBox="1"/>
          <p:nvPr/>
        </p:nvSpPr>
        <p:spPr>
          <a:xfrm>
            <a:off x="800100" y="61923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Every tool, process, and accelerator has passed our internal 40% improvement gate. Clients benefit from completed learning - not our experimentation.</a:t>
            </a:r>
            <a:endParaRPr lang="en-US" sz="1300"/>
          </a:p>
        </p:txBody>
      </p:sp>
      <p:pic>
        <p:nvPicPr>
          <p:cNvPr id="38" name="Image 8" descr="gen-dedup-001fb79ce367df5df5f79805d3e188cd.png"/>
          <p:cNvPicPr>
            <a:picLocks noChangeAspect="1"/>
          </p:cNvPicPr>
          <p:nvPr/>
        </p:nvPicPr>
        <p:blipFill>
          <a:blip r:embed="rId11"/>
          <a:srcRect t="-22775" b="-22775"/>
          <a:stretch/>
        </p:blipFill>
        <p:spPr>
          <a:xfrm>
            <a:off x="800100" y="5913425"/>
            <a:ext cx="161849" cy="2093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382305" y="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5" name="Shape 3"/>
          <p:cNvSpPr/>
          <p:nvPr/>
        </p:nvSpPr>
        <p:spPr>
          <a:xfrm>
            <a:off x="-476402" y="3524098"/>
            <a:ext cx="2381098" cy="2381098"/>
          </a:xfrm>
          <a:prstGeom prst="ellipse">
            <a:avLst/>
          </a:prstGeom>
          <a:solidFill>
            <a:srgbClr val="D62839">
              <a:alpha val="2000"/>
            </a:srgbClr>
          </a:solidFill>
          <a:ln w="12700">
            <a:solidFill>
              <a:srgbClr val="FFFFFF">
                <a:alpha val="0"/>
              </a:srgbClr>
            </a:solidFill>
            <a:prstDash val="solid"/>
          </a:ln>
        </p:spPr>
        <p:txBody>
          <a:bodyPr/>
          <a:lstStyle/>
          <a:p>
            <a:endParaRPr lang="en-US"/>
          </a:p>
        </p:txBody>
      </p:sp>
      <p:pic>
        <p:nvPicPr>
          <p:cNvPr id="6"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7"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pic>
        <p:nvPicPr>
          <p:cNvPr id="8" name="Image 2" descr="gen-dedup-50f81f9bdcb5400074144f35c0ecb91c.png"/>
          <p:cNvPicPr>
            <a:picLocks noChangeAspect="1"/>
          </p:cNvPicPr>
          <p:nvPr/>
        </p:nvPicPr>
        <p:blipFill>
          <a:blip r:embed="rId5"/>
          <a:srcRect l="-7" r="-7"/>
          <a:stretch/>
        </p:blipFill>
        <p:spPr>
          <a:xfrm>
            <a:off x="2704795" y="1238098"/>
            <a:ext cx="3143707" cy="4457700"/>
          </a:xfrm>
          <a:prstGeom prst="rect">
            <a:avLst/>
          </a:prstGeom>
        </p:spPr>
      </p:pic>
      <p:sp>
        <p:nvSpPr>
          <p:cNvPr id="9" name="Shape 4"/>
          <p:cNvSpPr/>
          <p:nvPr/>
        </p:nvSpPr>
        <p:spPr>
          <a:xfrm>
            <a:off x="609905" y="5762549"/>
            <a:ext cx="10992002" cy="847649"/>
          </a:xfrm>
          <a:prstGeom prst="roundRect">
            <a:avLst>
              <a:gd name="adj" fmla="val 19393"/>
            </a:avLst>
          </a:prstGeom>
          <a:solidFill>
            <a:srgbClr val="F8FAFC"/>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pic>
        <p:nvPicPr>
          <p:cNvPr id="10" name="Image 3" descr="gen-dedup-1004aa64a550a79a04cd74d7f57c96c1.png"/>
          <p:cNvPicPr>
            <a:picLocks noChangeAspect="1"/>
          </p:cNvPicPr>
          <p:nvPr/>
        </p:nvPicPr>
        <p:blipFill>
          <a:blip r:embed="rId6"/>
          <a:srcRect l="-2083" r="-2083"/>
          <a:stretch/>
        </p:blipFill>
        <p:spPr>
          <a:xfrm>
            <a:off x="609905" y="2467051"/>
            <a:ext cx="10972800" cy="9144"/>
          </a:xfrm>
          <a:prstGeom prst="rect">
            <a:avLst/>
          </a:prstGeom>
        </p:spPr>
      </p:pic>
      <p:pic>
        <p:nvPicPr>
          <p:cNvPr id="11" name="Image 4" descr="gen-dedup-1004aa64a550a79a04cd74d7f57c96c1.png"/>
          <p:cNvPicPr>
            <a:picLocks noChangeAspect="1"/>
          </p:cNvPicPr>
          <p:nvPr/>
        </p:nvPicPr>
        <p:blipFill>
          <a:blip r:embed="rId6"/>
          <a:srcRect l="-2083" r="-2083"/>
          <a:stretch/>
        </p:blipFill>
        <p:spPr>
          <a:xfrm>
            <a:off x="609905" y="3267151"/>
            <a:ext cx="10972800" cy="9144"/>
          </a:xfrm>
          <a:prstGeom prst="rect">
            <a:avLst/>
          </a:prstGeom>
        </p:spPr>
      </p:pic>
      <p:pic>
        <p:nvPicPr>
          <p:cNvPr id="12" name="Image 5" descr="gen-dedup-1004aa64a550a79a04cd74d7f57c96c1.png"/>
          <p:cNvPicPr>
            <a:picLocks noChangeAspect="1"/>
          </p:cNvPicPr>
          <p:nvPr/>
        </p:nvPicPr>
        <p:blipFill>
          <a:blip r:embed="rId6"/>
          <a:srcRect l="-2083" r="-2083"/>
          <a:stretch/>
        </p:blipFill>
        <p:spPr>
          <a:xfrm>
            <a:off x="609905" y="4067251"/>
            <a:ext cx="10972800" cy="9144"/>
          </a:xfrm>
          <a:prstGeom prst="rect">
            <a:avLst/>
          </a:prstGeom>
        </p:spPr>
      </p:pic>
      <p:pic>
        <p:nvPicPr>
          <p:cNvPr id="13" name="Image 6" descr="gen-dedup-1004aa64a550a79a04cd74d7f57c96c1.png"/>
          <p:cNvPicPr>
            <a:picLocks noChangeAspect="1"/>
          </p:cNvPicPr>
          <p:nvPr/>
        </p:nvPicPr>
        <p:blipFill>
          <a:blip r:embed="rId6"/>
          <a:srcRect l="-2083" r="-2083"/>
          <a:stretch/>
        </p:blipFill>
        <p:spPr>
          <a:xfrm>
            <a:off x="609905" y="4867351"/>
            <a:ext cx="10972800" cy="9144"/>
          </a:xfrm>
          <a:prstGeom prst="rect">
            <a:avLst/>
          </a:prstGeom>
        </p:spPr>
      </p:pic>
      <p:pic>
        <p:nvPicPr>
          <p:cNvPr id="14" name="Image 7" descr="gen-dedup-06e3d16aa0e9246458a784af17ea21a8.png"/>
          <p:cNvPicPr>
            <a:picLocks noChangeAspect="1"/>
          </p:cNvPicPr>
          <p:nvPr/>
        </p:nvPicPr>
        <p:blipFill>
          <a:blip r:embed="rId7"/>
          <a:srcRect l="-437" r="-437"/>
          <a:stretch/>
        </p:blipFill>
        <p:spPr>
          <a:xfrm>
            <a:off x="609905" y="390449"/>
            <a:ext cx="57607" cy="418795"/>
          </a:xfrm>
          <a:prstGeom prst="rect">
            <a:avLst/>
          </a:prstGeom>
        </p:spPr>
      </p:pic>
      <p:sp>
        <p:nvSpPr>
          <p:cNvPr id="15" name="Text 5"/>
          <p:cNvSpPr txBox="1"/>
          <p:nvPr/>
        </p:nvSpPr>
        <p:spPr>
          <a:xfrm>
            <a:off x="819302" y="390449"/>
            <a:ext cx="10478110" cy="381305"/>
          </a:xfrm>
          <a:prstGeom prst="rect">
            <a:avLst/>
          </a:prstGeom>
          <a:noFill/>
          <a:ln/>
        </p:spPr>
        <p:txBody>
          <a:bodyPr wrap="squar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WHY J2W - NOT THE BIG 4 OR LARGE SIs</a:t>
            </a:r>
            <a:endParaRPr lang="en-US" sz="2700"/>
          </a:p>
        </p:txBody>
      </p:sp>
      <p:sp>
        <p:nvSpPr>
          <p:cNvPr id="16" name="Text 6"/>
          <p:cNvSpPr txBox="1"/>
          <p:nvPr/>
        </p:nvSpPr>
        <p:spPr>
          <a:xfrm>
            <a:off x="819302" y="824789"/>
            <a:ext cx="10478110" cy="181051"/>
          </a:xfrm>
          <a:prstGeom prst="rect">
            <a:avLst/>
          </a:prstGeom>
          <a:noFill/>
          <a:ln/>
        </p:spPr>
        <p:txBody>
          <a:bodyPr wrap="squar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THE SMARTER CHOICE FOR AI &amp; DIGITAL TRANSFORMATION AT SCALE</a:t>
            </a:r>
            <a:endParaRPr lang="en-US" sz="1200"/>
          </a:p>
        </p:txBody>
      </p:sp>
      <p:sp>
        <p:nvSpPr>
          <p:cNvPr id="17" name="Text 7"/>
          <p:cNvSpPr txBox="1"/>
          <p:nvPr/>
        </p:nvSpPr>
        <p:spPr>
          <a:xfrm>
            <a:off x="2704795" y="1333195"/>
            <a:ext cx="3143707" cy="286207"/>
          </a:xfrm>
          <a:prstGeom prst="rect">
            <a:avLst/>
          </a:prstGeom>
          <a:noFill/>
          <a:ln/>
        </p:spPr>
        <p:txBody>
          <a:bodyPr wrap="squar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JoulesToWatts + J2W</a:t>
            </a:r>
            <a:endParaRPr lang="en-US" sz="1500"/>
          </a:p>
        </p:txBody>
      </p:sp>
      <p:sp>
        <p:nvSpPr>
          <p:cNvPr id="18" name="Text 8"/>
          <p:cNvSpPr txBox="1"/>
          <p:nvPr/>
        </p:nvSpPr>
        <p:spPr>
          <a:xfrm>
            <a:off x="5848502" y="1333195"/>
            <a:ext cx="2857500"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Big 4 / Top IT SIs</a:t>
            </a:r>
            <a:endParaRPr lang="en-US" sz="1500"/>
          </a:p>
        </p:txBody>
      </p:sp>
      <p:sp>
        <p:nvSpPr>
          <p:cNvPr id="19" name="Text 9"/>
          <p:cNvSpPr txBox="1"/>
          <p:nvPr/>
        </p:nvSpPr>
        <p:spPr>
          <a:xfrm>
            <a:off x="8706002" y="1333195"/>
            <a:ext cx="2876702"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Staffing Agencies</a:t>
            </a:r>
            <a:endParaRPr lang="en-US" sz="1500"/>
          </a:p>
        </p:txBody>
      </p:sp>
      <p:sp>
        <p:nvSpPr>
          <p:cNvPr id="20" name="Text 10"/>
          <p:cNvSpPr txBox="1"/>
          <p:nvPr/>
        </p:nvSpPr>
        <p:spPr>
          <a:xfrm>
            <a:off x="609905" y="19906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ROI &amp; Outcome Model</a:t>
            </a:r>
            <a:endParaRPr lang="en-US" sz="1000"/>
          </a:p>
        </p:txBody>
      </p:sp>
      <p:sp>
        <p:nvSpPr>
          <p:cNvPr id="21" name="Text 11"/>
          <p:cNvSpPr txBox="1"/>
          <p:nvPr/>
        </p:nvSpPr>
        <p:spPr>
          <a:xfrm>
            <a:off x="2895905" y="18068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Outcome-driven from Day 1 - aligned to your milestones, CXO ROI expectations &amp; project KPIs</a:t>
            </a:r>
            <a:endParaRPr lang="en-US" sz="1000"/>
          </a:p>
        </p:txBody>
      </p:sp>
      <p:sp>
        <p:nvSpPr>
          <p:cNvPr id="22" name="Text 12"/>
          <p:cNvSpPr txBox="1"/>
          <p:nvPr/>
        </p:nvSpPr>
        <p:spPr>
          <a:xfrm>
            <a:off x="6038698" y="18068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Heavy retainers + longer payback cycles. High technical debt risk on failed transformations</a:t>
            </a:r>
            <a:endParaRPr lang="en-US" sz="1000"/>
          </a:p>
        </p:txBody>
      </p:sp>
      <p:sp>
        <p:nvSpPr>
          <p:cNvPr id="23" name="Text 13"/>
          <p:cNvSpPr txBox="1"/>
          <p:nvPr/>
        </p:nvSpPr>
        <p:spPr>
          <a:xfrm>
            <a:off x="8896198" y="18937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Headcount model only. Zero delivery ownership or outcome accountability</a:t>
            </a:r>
            <a:endParaRPr lang="en-US" sz="1000"/>
          </a:p>
        </p:txBody>
      </p:sp>
      <p:sp>
        <p:nvSpPr>
          <p:cNvPr id="24" name="Text 14"/>
          <p:cNvSpPr txBox="1"/>
          <p:nvPr/>
        </p:nvSpPr>
        <p:spPr>
          <a:xfrm>
            <a:off x="609905" y="27907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Time-To-Value</a:t>
            </a:r>
            <a:endParaRPr lang="en-US" sz="1000"/>
          </a:p>
        </p:txBody>
      </p:sp>
      <p:sp>
        <p:nvSpPr>
          <p:cNvPr id="25" name="Text 15"/>
          <p:cNvSpPr txBox="1"/>
          <p:nvPr/>
        </p:nvSpPr>
        <p:spPr>
          <a:xfrm>
            <a:off x="2895905" y="26069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Production-ready Gen &amp; Agentic AI PoCs in weeks via 50+ accelerators across SAP, Oracle, ServiceNow &amp; more</a:t>
            </a:r>
            <a:endParaRPr lang="en-US" sz="1000"/>
          </a:p>
        </p:txBody>
      </p:sp>
      <p:sp>
        <p:nvSpPr>
          <p:cNvPr id="26" name="Text 16"/>
          <p:cNvSpPr txBox="1"/>
          <p:nvPr/>
        </p:nvSpPr>
        <p:spPr>
          <a:xfrm>
            <a:off x="6038698" y="26069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Lengthy consulting cycles with SI-driven models - higher costs &amp; slower results</a:t>
            </a:r>
            <a:endParaRPr lang="en-US" sz="1000"/>
          </a:p>
        </p:txBody>
      </p:sp>
      <p:sp>
        <p:nvSpPr>
          <p:cNvPr id="27" name="Text 17"/>
          <p:cNvSpPr txBox="1"/>
          <p:nvPr/>
        </p:nvSpPr>
        <p:spPr>
          <a:xfrm>
            <a:off x="8896198" y="27806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28" name="Text 18"/>
          <p:cNvSpPr txBox="1"/>
          <p:nvPr/>
        </p:nvSpPr>
        <p:spPr>
          <a:xfrm>
            <a:off x="609905" y="35908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 Data Governance</a:t>
            </a:r>
            <a:endParaRPr lang="en-US" sz="1000"/>
          </a:p>
        </p:txBody>
      </p:sp>
      <p:sp>
        <p:nvSpPr>
          <p:cNvPr id="29" name="Text 19"/>
          <p:cNvSpPr txBox="1"/>
          <p:nvPr/>
        </p:nvSpPr>
        <p:spPr>
          <a:xfrm>
            <a:off x="2895905" y="3321101"/>
            <a:ext cx="2762402" cy="6958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Pre-built guardrails. Mission-critical delivery in regulated industries (Fortune 500 MedTech). Data stays in your environment</a:t>
            </a:r>
            <a:endParaRPr lang="en-US" sz="1000"/>
          </a:p>
        </p:txBody>
      </p:sp>
      <p:sp>
        <p:nvSpPr>
          <p:cNvPr id="30" name="Text 20"/>
          <p:cNvSpPr txBox="1"/>
          <p:nvPr/>
        </p:nvSpPr>
        <p:spPr>
          <a:xfrm>
            <a:off x="6038698" y="34070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Claims excellence, but multiple public incidents (e.g. Deloitte AU govt penalties) undermine credibility</a:t>
            </a:r>
            <a:endParaRPr lang="en-US" sz="1000"/>
          </a:p>
        </p:txBody>
      </p:sp>
      <p:sp>
        <p:nvSpPr>
          <p:cNvPr id="31" name="Text 21"/>
          <p:cNvSpPr txBox="1"/>
          <p:nvPr/>
        </p:nvSpPr>
        <p:spPr>
          <a:xfrm>
            <a:off x="8896198" y="35807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2" name="Text 22"/>
          <p:cNvSpPr txBox="1"/>
          <p:nvPr/>
        </p:nvSpPr>
        <p:spPr>
          <a:xfrm>
            <a:off x="609905" y="43909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OPEX Optimisation</a:t>
            </a:r>
            <a:endParaRPr lang="en-US" sz="1000"/>
          </a:p>
        </p:txBody>
      </p:sp>
      <p:sp>
        <p:nvSpPr>
          <p:cNvPr id="33" name="Text 23"/>
          <p:cNvSpPr txBox="1"/>
          <p:nvPr/>
        </p:nvSpPr>
        <p:spPr>
          <a:xfrm>
            <a:off x="2895905" y="42071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30-40% reduction in AI OPEX via Query Routing, Semantic Caching, Precision RAG &amp; in-house SLMs</a:t>
            </a:r>
            <a:endParaRPr lang="en-US" sz="1000"/>
          </a:p>
        </p:txBody>
      </p:sp>
      <p:sp>
        <p:nvSpPr>
          <p:cNvPr id="34" name="Text 24"/>
          <p:cNvSpPr txBox="1"/>
          <p:nvPr/>
        </p:nvSpPr>
        <p:spPr>
          <a:xfrm>
            <a:off x="6038698" y="42940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 </a:t>
            </a:r>
            <a:r>
              <a:rPr lang="en-US" sz="1000" err="1">
                <a:solidFill>
                  <a:srgbClr val="475569"/>
                </a:solidFill>
                <a:latin typeface="Raleway" pitchFamily="34" charset="0"/>
                <a:ea typeface="Raleway" pitchFamily="34" charset="-122"/>
                <a:cs typeface="Raleway" pitchFamily="34" charset="-120"/>
              </a:rPr>
              <a:t>incentivised</a:t>
            </a:r>
            <a:r>
              <a:rPr lang="en-US" sz="1000">
                <a:solidFill>
                  <a:srgbClr val="475569"/>
                </a:solidFill>
                <a:latin typeface="Raleway" pitchFamily="34" charset="0"/>
                <a:ea typeface="Raleway" pitchFamily="34" charset="-122"/>
                <a:cs typeface="Raleway" pitchFamily="34" charset="-120"/>
              </a:rPr>
              <a:t> to </a:t>
            </a:r>
            <a:r>
              <a:rPr lang="en-US" sz="1000" err="1">
                <a:solidFill>
                  <a:srgbClr val="475569"/>
                </a:solidFill>
                <a:latin typeface="Raleway" pitchFamily="34" charset="0"/>
                <a:ea typeface="Raleway" pitchFamily="34" charset="-122"/>
                <a:cs typeface="Raleway" pitchFamily="34" charset="-120"/>
              </a:rPr>
              <a:t>maximise</a:t>
            </a:r>
            <a:r>
              <a:rPr lang="en-US" sz="1000">
                <a:solidFill>
                  <a:srgbClr val="475569"/>
                </a:solidFill>
                <a:latin typeface="Raleway" pitchFamily="34" charset="0"/>
                <a:ea typeface="Raleway" pitchFamily="34" charset="-122"/>
                <a:cs typeface="Raleway" pitchFamily="34" charset="-120"/>
              </a:rPr>
              <a:t> </a:t>
            </a:r>
            <a:r>
              <a:rPr lang="en-US" sz="1000" err="1">
                <a:solidFill>
                  <a:srgbClr val="475569"/>
                </a:solidFill>
                <a:latin typeface="Raleway" pitchFamily="34" charset="0"/>
                <a:ea typeface="Raleway" pitchFamily="34" charset="-122"/>
                <a:cs typeface="Raleway" pitchFamily="34" charset="-120"/>
              </a:rPr>
              <a:t>licences</a:t>
            </a:r>
            <a:r>
              <a:rPr lang="en-US" sz="1000">
                <a:solidFill>
                  <a:srgbClr val="475569"/>
                </a:solidFill>
                <a:latin typeface="Raleway" pitchFamily="34" charset="0"/>
                <a:ea typeface="Raleway" pitchFamily="34" charset="-122"/>
                <a:cs typeface="Raleway" pitchFamily="34" charset="-120"/>
              </a:rPr>
              <a:t> &amp; tokens - not to </a:t>
            </a:r>
            <a:r>
              <a:rPr lang="en-US" sz="1000" err="1">
                <a:solidFill>
                  <a:srgbClr val="475569"/>
                </a:solidFill>
                <a:latin typeface="Raleway" pitchFamily="34" charset="0"/>
                <a:ea typeface="Raleway" pitchFamily="34" charset="-122"/>
                <a:cs typeface="Raleway" pitchFamily="34" charset="-120"/>
              </a:rPr>
              <a:t>optimise</a:t>
            </a:r>
            <a:r>
              <a:rPr lang="en-US" sz="1000">
                <a:solidFill>
                  <a:srgbClr val="475569"/>
                </a:solidFill>
                <a:latin typeface="Raleway" pitchFamily="34" charset="0"/>
                <a:ea typeface="Raleway" pitchFamily="34" charset="-122"/>
                <a:cs typeface="Raleway" pitchFamily="34" charset="-120"/>
              </a:rPr>
              <a:t> your cost</a:t>
            </a:r>
            <a:endParaRPr lang="en-US" sz="1000"/>
          </a:p>
        </p:txBody>
      </p:sp>
      <p:sp>
        <p:nvSpPr>
          <p:cNvPr id="35" name="Text 25"/>
          <p:cNvSpPr txBox="1"/>
          <p:nvPr/>
        </p:nvSpPr>
        <p:spPr>
          <a:xfrm>
            <a:off x="8896198" y="43808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6" name="Text 26"/>
          <p:cNvSpPr txBox="1"/>
          <p:nvPr/>
        </p:nvSpPr>
        <p:spPr>
          <a:xfrm>
            <a:off x="609905" y="5191049"/>
            <a:ext cx="2143354"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Talent &amp; Managed Services</a:t>
            </a:r>
            <a:endParaRPr lang="en-US" sz="1000"/>
          </a:p>
        </p:txBody>
      </p:sp>
      <p:sp>
        <p:nvSpPr>
          <p:cNvPr id="37" name="Text 27"/>
          <p:cNvSpPr txBox="1"/>
          <p:nvPr/>
        </p:nvSpPr>
        <p:spPr>
          <a:xfrm>
            <a:off x="2895905" y="50072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7,200+ in-house consultants · 300+ recruiters · 2 proprietary hiring platforms · No subcontracting</a:t>
            </a:r>
            <a:endParaRPr lang="en-US" sz="1000"/>
          </a:p>
        </p:txBody>
      </p:sp>
      <p:sp>
        <p:nvSpPr>
          <p:cNvPr id="38" name="Text 28"/>
          <p:cNvSpPr txBox="1"/>
          <p:nvPr/>
        </p:nvSpPr>
        <p:spPr>
          <a:xfrm>
            <a:off x="6038698" y="50941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Frequently subcontract. No proprietary hiring platforms</a:t>
            </a:r>
            <a:endParaRPr lang="en-US" sz="1000"/>
          </a:p>
        </p:txBody>
      </p:sp>
      <p:sp>
        <p:nvSpPr>
          <p:cNvPr id="39" name="Text 29"/>
          <p:cNvSpPr txBox="1"/>
          <p:nvPr/>
        </p:nvSpPr>
        <p:spPr>
          <a:xfrm>
            <a:off x="8896198" y="50941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Lacks SME depth &amp; governance. Outcome ownership absent</a:t>
            </a:r>
            <a:endParaRPr lang="en-US" sz="1000"/>
          </a:p>
        </p:txBody>
      </p:sp>
      <p:sp>
        <p:nvSpPr>
          <p:cNvPr id="40" name="Shape 30"/>
          <p:cNvSpPr/>
          <p:nvPr/>
        </p:nvSpPr>
        <p:spPr>
          <a:xfrm>
            <a:off x="2315261" y="5762549"/>
            <a:ext cx="9144" cy="828446"/>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1"/>
          <p:cNvSpPr txBox="1"/>
          <p:nvPr/>
        </p:nvSpPr>
        <p:spPr>
          <a:xfrm>
            <a:off x="1185062" y="6072530"/>
            <a:ext cx="1043330" cy="210312"/>
          </a:xfrm>
          <a:prstGeom prst="rect">
            <a:avLst/>
          </a:prstGeom>
          <a:noFill/>
          <a:ln/>
        </p:spPr>
        <p:txBody>
          <a:bodyPr wrap="square" lIns="0" tIns="0" rIns="0" bIns="0" rtlCol="0" anchor="ctr"/>
          <a:lstStyle/>
          <a:p>
            <a:pPr marL="0" indent="0" algn="l">
              <a:buNone/>
            </a:pPr>
            <a:r>
              <a:rPr lang="en-US" sz="1100" b="1" kern="0" spc="56">
                <a:solidFill>
                  <a:srgbClr val="64748B"/>
                </a:solidFill>
                <a:latin typeface="Oswald" pitchFamily="34" charset="0"/>
                <a:ea typeface="Oswald" pitchFamily="34" charset="-122"/>
                <a:cs typeface="Oswald" pitchFamily="34" charset="-120"/>
              </a:rPr>
              <a:t> KEY METRICS</a:t>
            </a:r>
            <a:endParaRPr lang="en-US" sz="1100"/>
          </a:p>
        </p:txBody>
      </p:sp>
      <p:pic>
        <p:nvPicPr>
          <p:cNvPr id="42" name="Image 8" descr="gen-dedup-0bed6a635fcb1d23b7a23c5aaedf5133.png"/>
          <p:cNvPicPr>
            <a:picLocks noChangeAspect="1"/>
          </p:cNvPicPr>
          <p:nvPr/>
        </p:nvPicPr>
        <p:blipFill>
          <a:blip r:embed="rId8"/>
          <a:srcRect l="-3526" r="-3526"/>
          <a:stretch/>
        </p:blipFill>
        <p:spPr>
          <a:xfrm>
            <a:off x="913486" y="6118250"/>
            <a:ext cx="152705" cy="142646"/>
          </a:xfrm>
          <a:prstGeom prst="rect">
            <a:avLst/>
          </a:prstGeom>
        </p:spPr>
      </p:pic>
      <p:sp>
        <p:nvSpPr>
          <p:cNvPr id="43" name="Text 32"/>
          <p:cNvSpPr txBox="1"/>
          <p:nvPr/>
        </p:nvSpPr>
        <p:spPr>
          <a:xfrm>
            <a:off x="2506370"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5,500</a:t>
            </a:r>
            <a:endParaRPr lang="en-US" sz="1800"/>
          </a:p>
        </p:txBody>
      </p:sp>
      <p:sp>
        <p:nvSpPr>
          <p:cNvPr id="44" name="Text 33"/>
          <p:cNvSpPr txBox="1"/>
          <p:nvPr/>
        </p:nvSpPr>
        <p:spPr>
          <a:xfrm>
            <a:off x="2506370"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In-house Consultants</a:t>
            </a:r>
            <a:endParaRPr lang="en-US" sz="800"/>
          </a:p>
        </p:txBody>
      </p:sp>
      <p:pic>
        <p:nvPicPr>
          <p:cNvPr id="45" name="Image 9" descr="gen-dedup-bc499f386c10f37c45470adccc65c0cd.png"/>
          <p:cNvPicPr>
            <a:picLocks noChangeAspect="1"/>
          </p:cNvPicPr>
          <p:nvPr/>
        </p:nvPicPr>
        <p:blipFill>
          <a:blip r:embed="rId9"/>
          <a:srcRect t="-2165" b="-2165"/>
          <a:stretch/>
        </p:blipFill>
        <p:spPr>
          <a:xfrm>
            <a:off x="4225442" y="6034126"/>
            <a:ext cx="9144" cy="286207"/>
          </a:xfrm>
          <a:prstGeom prst="rect">
            <a:avLst/>
          </a:prstGeom>
        </p:spPr>
      </p:pic>
      <p:sp>
        <p:nvSpPr>
          <p:cNvPr id="46" name="Text 34"/>
          <p:cNvSpPr txBox="1"/>
          <p:nvPr/>
        </p:nvSpPr>
        <p:spPr>
          <a:xfrm>
            <a:off x="4321454" y="5981090"/>
            <a:ext cx="1638605" cy="228600"/>
          </a:xfrm>
          <a:prstGeom prst="rect">
            <a:avLst/>
          </a:prstGeom>
          <a:noFill/>
          <a:ln/>
        </p:spPr>
        <p:txBody>
          <a:bodyPr wrap="square" lIns="0" tIns="0" rIns="0" bIns="0" rtlCol="0" anchor="ctr"/>
          <a:lstStyle/>
          <a:p>
            <a:pPr marL="0" indent="0" algn="ctr">
              <a:buNone/>
            </a:pPr>
            <a:r>
              <a:rPr lang="en-US" b="1">
                <a:solidFill>
                  <a:srgbClr val="2A9D8F"/>
                </a:solidFill>
                <a:latin typeface="Oswald" pitchFamily="34" charset="0"/>
                <a:ea typeface="Oswald" pitchFamily="34" charset="-122"/>
                <a:cs typeface="Oswald" pitchFamily="34" charset="-120"/>
              </a:rPr>
              <a:t>6</a:t>
            </a:r>
            <a:r>
              <a:rPr lang="en-US" sz="1800" b="1">
                <a:solidFill>
                  <a:srgbClr val="2A9D8F"/>
                </a:solidFill>
                <a:latin typeface="Oswald" pitchFamily="34" charset="0"/>
                <a:ea typeface="Oswald" pitchFamily="34" charset="-122"/>
                <a:cs typeface="Oswald" pitchFamily="34" charset="-120"/>
              </a:rPr>
              <a:t>0+</a:t>
            </a:r>
            <a:endParaRPr lang="en-US" sz="1800"/>
          </a:p>
        </p:txBody>
      </p:sp>
      <p:sp>
        <p:nvSpPr>
          <p:cNvPr id="47" name="Text 35"/>
          <p:cNvSpPr txBox="1"/>
          <p:nvPr/>
        </p:nvSpPr>
        <p:spPr>
          <a:xfrm>
            <a:off x="4321454"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Accelerators</a:t>
            </a:r>
            <a:endParaRPr lang="en-US" sz="800"/>
          </a:p>
        </p:txBody>
      </p:sp>
      <p:pic>
        <p:nvPicPr>
          <p:cNvPr id="48" name="Image 10" descr="gen-dedup-bc499f386c10f37c45470adccc65c0cd.png"/>
          <p:cNvPicPr>
            <a:picLocks noChangeAspect="1"/>
          </p:cNvPicPr>
          <p:nvPr/>
        </p:nvPicPr>
        <p:blipFill>
          <a:blip r:embed="rId9"/>
          <a:srcRect t="-2165" b="-2165"/>
          <a:stretch/>
        </p:blipFill>
        <p:spPr>
          <a:xfrm>
            <a:off x="6040526" y="6034126"/>
            <a:ext cx="9144" cy="286207"/>
          </a:xfrm>
          <a:prstGeom prst="rect">
            <a:avLst/>
          </a:prstGeom>
        </p:spPr>
      </p:pic>
      <p:sp>
        <p:nvSpPr>
          <p:cNvPr id="49" name="Text 36"/>
          <p:cNvSpPr txBox="1"/>
          <p:nvPr/>
        </p:nvSpPr>
        <p:spPr>
          <a:xfrm>
            <a:off x="6137453"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30-40%</a:t>
            </a:r>
            <a:endParaRPr lang="en-US" sz="1800"/>
          </a:p>
        </p:txBody>
      </p:sp>
      <p:sp>
        <p:nvSpPr>
          <p:cNvPr id="50" name="Text 37"/>
          <p:cNvSpPr txBox="1"/>
          <p:nvPr/>
        </p:nvSpPr>
        <p:spPr>
          <a:xfrm>
            <a:off x="6137453"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OPEX Reduction</a:t>
            </a:r>
            <a:endParaRPr lang="en-US" sz="800"/>
          </a:p>
        </p:txBody>
      </p:sp>
      <p:pic>
        <p:nvPicPr>
          <p:cNvPr id="51" name="Image 11" descr="gen-dedup-bc499f386c10f37c45470adccc65c0cd.png"/>
          <p:cNvPicPr>
            <a:picLocks noChangeAspect="1"/>
          </p:cNvPicPr>
          <p:nvPr/>
        </p:nvPicPr>
        <p:blipFill>
          <a:blip r:embed="rId9"/>
          <a:srcRect t="-2165" b="-2165"/>
          <a:stretch/>
        </p:blipFill>
        <p:spPr>
          <a:xfrm>
            <a:off x="7856525" y="6034126"/>
            <a:ext cx="9144" cy="286207"/>
          </a:xfrm>
          <a:prstGeom prst="rect">
            <a:avLst/>
          </a:prstGeom>
        </p:spPr>
      </p:pic>
      <p:sp>
        <p:nvSpPr>
          <p:cNvPr id="52" name="Text 38"/>
          <p:cNvSpPr txBox="1"/>
          <p:nvPr/>
        </p:nvSpPr>
        <p:spPr>
          <a:xfrm>
            <a:off x="7952537" y="5981090"/>
            <a:ext cx="1638605" cy="228600"/>
          </a:xfrm>
          <a:prstGeom prst="rect">
            <a:avLst/>
          </a:prstGeom>
          <a:noFill/>
          <a:ln/>
        </p:spPr>
        <p:txBody>
          <a:bodyPr wrap="square" lIns="0" tIns="0" rIns="0" bIns="0" rtlCol="0" anchor="ctr"/>
          <a:lstStyle/>
          <a:p>
            <a:pPr marL="0" indent="0" algn="ctr">
              <a:buNone/>
            </a:pPr>
            <a:r>
              <a:rPr lang="en-US" sz="1800" b="1">
                <a:solidFill>
                  <a:srgbClr val="2A9D8F"/>
                </a:solidFill>
                <a:latin typeface="Oswald" pitchFamily="34" charset="0"/>
                <a:ea typeface="Oswald" pitchFamily="34" charset="-122"/>
                <a:cs typeface="Oswald" pitchFamily="34" charset="-120"/>
              </a:rPr>
              <a:t>Weeks</a:t>
            </a:r>
            <a:endParaRPr lang="en-US" sz="1800"/>
          </a:p>
        </p:txBody>
      </p:sp>
      <p:sp>
        <p:nvSpPr>
          <p:cNvPr id="53" name="Text 39"/>
          <p:cNvSpPr txBox="1"/>
          <p:nvPr/>
        </p:nvSpPr>
        <p:spPr>
          <a:xfrm>
            <a:off x="7952537"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PoC to Production</a:t>
            </a:r>
            <a:endParaRPr lang="en-US" sz="800"/>
          </a:p>
        </p:txBody>
      </p:sp>
      <p:pic>
        <p:nvPicPr>
          <p:cNvPr id="54" name="Image 12" descr="gen-dedup-bc499f386c10f37c45470adccc65c0cd.png"/>
          <p:cNvPicPr>
            <a:picLocks noChangeAspect="1"/>
          </p:cNvPicPr>
          <p:nvPr/>
        </p:nvPicPr>
        <p:blipFill>
          <a:blip r:embed="rId9"/>
          <a:srcRect t="-2165" b="-2165"/>
          <a:stretch/>
        </p:blipFill>
        <p:spPr>
          <a:xfrm>
            <a:off x="9671609" y="6034126"/>
            <a:ext cx="9144" cy="286207"/>
          </a:xfrm>
          <a:prstGeom prst="rect">
            <a:avLst/>
          </a:prstGeom>
        </p:spPr>
      </p:pic>
      <p:sp>
        <p:nvSpPr>
          <p:cNvPr id="55" name="Text 40"/>
          <p:cNvSpPr txBox="1"/>
          <p:nvPr/>
        </p:nvSpPr>
        <p:spPr>
          <a:xfrm>
            <a:off x="9767621"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0</a:t>
            </a:r>
            <a:endParaRPr lang="en-US" sz="1800"/>
          </a:p>
        </p:txBody>
      </p:sp>
      <p:sp>
        <p:nvSpPr>
          <p:cNvPr id="56" name="Text 41"/>
          <p:cNvSpPr txBox="1"/>
          <p:nvPr/>
        </p:nvSpPr>
        <p:spPr>
          <a:xfrm>
            <a:off x="9767621"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Subcontracting</a:t>
            </a:r>
            <a:endParaRPr lang="en-US" sz="800"/>
          </a:p>
        </p:txBody>
      </p:sp>
    </p:spTree>
    <p:extLst>
      <p:ext uri="{BB962C8B-B14F-4D97-AF65-F5344CB8AC3E}">
        <p14:creationId xmlns:p14="http://schemas.microsoft.com/office/powerpoint/2010/main" val="3072768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sp>
        <p:nvSpPr>
          <p:cNvPr id="8" name="Text 3"/>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02</a:t>
            </a:r>
            <a:endParaRPr lang="en-US" sz="12000"/>
          </a:p>
        </p:txBody>
      </p:sp>
      <p:pic>
        <p:nvPicPr>
          <p:cNvPr id="11" name="Image 3" descr="gen-dedup-90395934058aa4b7c1bff00d7e70c0a4.png"/>
          <p:cNvPicPr>
            <a:picLocks noChangeAspect="1"/>
          </p:cNvPicPr>
          <p:nvPr/>
        </p:nvPicPr>
        <p:blipFill>
          <a:blip r:embed="rId6"/>
          <a:srcRect l="-416" r="-416"/>
          <a:stretch/>
        </p:blipFill>
        <p:spPr>
          <a:xfrm>
            <a:off x="1143000" y="2428646"/>
            <a:ext cx="57607" cy="714146"/>
          </a:xfrm>
          <a:prstGeom prst="rect">
            <a:avLst/>
          </a:prstGeom>
        </p:spPr>
      </p:pic>
      <p:sp>
        <p:nvSpPr>
          <p:cNvPr id="12" name="Text 6"/>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AI PODS</a:t>
            </a:r>
            <a:endParaRPr lang="en-US" sz="5400"/>
          </a:p>
        </p:txBody>
      </p:sp>
      <p:sp>
        <p:nvSpPr>
          <p:cNvPr id="13" name="Text 7"/>
          <p:cNvSpPr txBox="1"/>
          <p:nvPr/>
        </p:nvSpPr>
        <p:spPr>
          <a:xfrm>
            <a:off x="1429207" y="3333902"/>
            <a:ext cx="10687507" cy="352958"/>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AI-first engineering pods - governed, certified, and compounding from Day 1</a:t>
            </a:r>
            <a:endParaRPr lang="en-US" sz="2100"/>
          </a:p>
        </p:txBody>
      </p:sp>
      <p:sp>
        <p:nvSpPr>
          <p:cNvPr id="14" name="Text 8"/>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This is a fully governed, outcome-bound delivery model-not traditional staff augmentation. We embed complete engineering units that integrate directly into your sprint cycles, governed by strict SLAs and continuous AI upskilling.</a:t>
            </a:r>
            <a:endParaRPr lang="en-US" sz="1300"/>
          </a:p>
        </p:txBody>
      </p:sp>
      <p:pic>
        <p:nvPicPr>
          <p:cNvPr id="15" name="Image 4" descr="gen-dedup-818c62191cf4a66fb5704c7f87e3fedf.png"/>
          <p:cNvPicPr>
            <a:picLocks noChangeAspect="1"/>
          </p:cNvPicPr>
          <p:nvPr/>
        </p:nvPicPr>
        <p:blipFill>
          <a:blip r:embed="rId7"/>
          <a:srcRect l="-166" r="-166"/>
          <a:stretch/>
        </p:blipFill>
        <p:spPr>
          <a:xfrm>
            <a:off x="1429207" y="5143500"/>
            <a:ext cx="1933956" cy="418795"/>
          </a:xfrm>
          <a:prstGeom prst="rect">
            <a:avLst/>
          </a:prstGeom>
        </p:spPr>
      </p:pic>
      <p:sp>
        <p:nvSpPr>
          <p:cNvPr id="16" name="Shape 9"/>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10-day onboarding </a:t>
            </a:r>
            <a:endParaRPr lang="en-US" sz="1100"/>
          </a:p>
        </p:txBody>
      </p:sp>
      <p:pic>
        <p:nvPicPr>
          <p:cNvPr id="18" name="Image 5" descr="gen-dedup-a287ae7abd092c83dc5f899415c51d00.png"/>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p:cNvPicPr>
            <a:picLocks noChangeAspect="1"/>
          </p:cNvPicPr>
          <p:nvPr/>
        </p:nvPicPr>
        <p:blipFill>
          <a:blip r:embed="rId9"/>
          <a:srcRect l="-260" r="-260"/>
          <a:stretch/>
        </p:blipFill>
        <p:spPr>
          <a:xfrm>
            <a:off x="3510382" y="5143500"/>
            <a:ext cx="1543507" cy="418795"/>
          </a:xfrm>
          <a:prstGeom prst="rect">
            <a:avLst/>
          </a:prstGeom>
        </p:spPr>
      </p:pic>
      <p:sp>
        <p:nvSpPr>
          <p:cNvPr id="20" name="Shape 11"/>
          <p:cNvSpPr/>
          <p:nvPr/>
        </p:nvSpPr>
        <p:spPr>
          <a:xfrm>
            <a:off x="3510382" y="5143500"/>
            <a:ext cx="1543507"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p:cNvSpPr txBox="1"/>
          <p:nvPr/>
        </p:nvSpPr>
        <p:spPr>
          <a:xfrm>
            <a:off x="3735019" y="5143500"/>
            <a:ext cx="1105510"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90-day POFU </a:t>
            </a:r>
            <a:endParaRPr lang="en-US" sz="1100"/>
          </a:p>
        </p:txBody>
      </p:sp>
      <p:pic>
        <p:nvPicPr>
          <p:cNvPr id="22" name="Image 7" descr="gen-dedup-c395ac9c840728d6470a4a8b33662e6e.png"/>
          <p:cNvPicPr>
            <a:picLocks noChangeAspect="1"/>
          </p:cNvPicPr>
          <p:nvPr/>
        </p:nvPicPr>
        <p:blipFill>
          <a:blip r:embed="rId10"/>
          <a:srcRect t="-16800" b="-16800"/>
          <a:stretch/>
        </p:blipFill>
        <p:spPr>
          <a:xfrm>
            <a:off x="3738982" y="5277002"/>
            <a:ext cx="114300" cy="152705"/>
          </a:xfrm>
          <a:prstGeom prst="rect">
            <a:avLst/>
          </a:prstGeom>
        </p:spPr>
      </p:pic>
      <p:pic>
        <p:nvPicPr>
          <p:cNvPr id="23" name="Image 8" descr="gen-dedup-fe10f786880821f62e6e2a70ff719369.png"/>
          <p:cNvPicPr>
            <a:picLocks noChangeAspect="1"/>
          </p:cNvPicPr>
          <p:nvPr/>
        </p:nvPicPr>
        <p:blipFill>
          <a:blip r:embed="rId11"/>
          <a:srcRect l="-58" r="-58"/>
          <a:stretch/>
        </p:blipFill>
        <p:spPr>
          <a:xfrm>
            <a:off x="5199278" y="5143500"/>
            <a:ext cx="2619756" cy="418795"/>
          </a:xfrm>
          <a:prstGeom prst="rect">
            <a:avLst/>
          </a:prstGeom>
        </p:spPr>
      </p:pic>
      <p:sp>
        <p:nvSpPr>
          <p:cNvPr id="24" name="Shape 13"/>
          <p:cNvSpPr/>
          <p:nvPr/>
        </p:nvSpPr>
        <p:spPr>
          <a:xfrm>
            <a:off x="5199278"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p:cNvSpPr txBox="1"/>
          <p:nvPr/>
        </p:nvSpPr>
        <p:spPr>
          <a:xfrm>
            <a:off x="5423916"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85% sprint completion target </a:t>
            </a:r>
            <a:endParaRPr lang="en-US" sz="1100"/>
          </a:p>
        </p:txBody>
      </p:sp>
      <p:pic>
        <p:nvPicPr>
          <p:cNvPr id="26" name="Image 9" descr="gen-dedup-7637b076e607f7218cdb4973c81f38e6.png"/>
          <p:cNvPicPr>
            <a:picLocks noChangeAspect="1"/>
          </p:cNvPicPr>
          <p:nvPr/>
        </p:nvPicPr>
        <p:blipFill>
          <a:blip r:embed="rId12"/>
          <a:srcRect t="-8450" b="-8450"/>
          <a:stretch/>
        </p:blipFill>
        <p:spPr>
          <a:xfrm>
            <a:off x="5427878" y="5277002"/>
            <a:ext cx="114300" cy="152705"/>
          </a:xfrm>
          <a:prstGeom prst="rect">
            <a:avLst/>
          </a:prstGeom>
        </p:spPr>
      </p:pic>
      <p:pic>
        <p:nvPicPr>
          <p:cNvPr id="27" name="Image 10" descr="gen-dedup-4b04481605890cd5e2948f325621428b.png"/>
          <p:cNvPicPr>
            <a:picLocks noChangeAspect="1"/>
          </p:cNvPicPr>
          <p:nvPr/>
        </p:nvPicPr>
        <p:blipFill>
          <a:blip r:embed="rId13"/>
          <a:srcRect l="-216" r="-216"/>
          <a:stretch/>
        </p:blipFill>
        <p:spPr>
          <a:xfrm>
            <a:off x="7969910" y="5143500"/>
            <a:ext cx="2562149" cy="418795"/>
          </a:xfrm>
          <a:prstGeom prst="rect">
            <a:avLst/>
          </a:prstGeom>
        </p:spPr>
      </p:pic>
      <p:sp>
        <p:nvSpPr>
          <p:cNvPr id="28" name="Shape 15"/>
          <p:cNvSpPr/>
          <p:nvPr/>
        </p:nvSpPr>
        <p:spPr>
          <a:xfrm>
            <a:off x="7969910"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p:cNvSpPr txBox="1"/>
          <p:nvPr/>
        </p:nvSpPr>
        <p:spPr>
          <a:xfrm>
            <a:off x="8194548"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0.5 defect density threshold </a:t>
            </a:r>
            <a:endParaRPr lang="en-US" sz="1100"/>
          </a:p>
        </p:txBody>
      </p:sp>
      <p:pic>
        <p:nvPicPr>
          <p:cNvPr id="30" name="Image 11" descr="gen-dedup-de4cb59b8211160ed90cebf7a454cebf.png"/>
          <p:cNvPicPr>
            <a:picLocks noChangeAspect="1"/>
          </p:cNvPicPr>
          <p:nvPr/>
        </p:nvPicPr>
        <p:blipFill>
          <a:blip r:embed="rId14"/>
          <a:srcRect t="-16800" b="-16800"/>
          <a:stretch/>
        </p:blipFill>
        <p:spPr>
          <a:xfrm>
            <a:off x="8198510" y="5277002"/>
            <a:ext cx="114300" cy="152705"/>
          </a:xfrm>
          <a:prstGeom prst="rect">
            <a:avLst/>
          </a:prstGeom>
        </p:spPr>
      </p:pic>
      <p:sp>
        <p:nvSpPr>
          <p:cNvPr id="31" name="Shape 17"/>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Scale your engineering footprint with absolute control and measurable outcomes.</a:t>
            </a:r>
            <a:endParaRPr lang="en-US" sz="1200"/>
          </a:p>
        </p:txBody>
      </p:sp>
    </p:spTree>
    <p:extLst>
      <p:ext uri="{BB962C8B-B14F-4D97-AF65-F5344CB8AC3E}">
        <p14:creationId xmlns:p14="http://schemas.microsoft.com/office/powerpoint/2010/main" val="2444706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52805"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sp>
        <p:nvSpPr>
          <p:cNvPr id="7" name="Shape 3"/>
          <p:cNvSpPr/>
          <p:nvPr/>
        </p:nvSpPr>
        <p:spPr>
          <a:xfrm>
            <a:off x="9525305" y="4762195"/>
            <a:ext cx="2857500" cy="2857500"/>
          </a:xfrm>
          <a:prstGeom prst="ellipse">
            <a:avLst/>
          </a:prstGeom>
          <a:solidFill>
            <a:srgbClr val="D62839">
              <a:alpha val="3000"/>
            </a:srgbClr>
          </a:solidFill>
          <a:ln w="12700">
            <a:solidFill>
              <a:srgbClr val="FFFFFF">
                <a:alpha val="0"/>
              </a:srgbClr>
            </a:solidFill>
            <a:prstDash val="solid"/>
          </a:ln>
        </p:spPr>
        <p:txBody>
          <a:bodyPr/>
          <a:lstStyle/>
          <a:p>
            <a:endParaRPr lang="en-US"/>
          </a:p>
        </p:txBody>
      </p:sp>
      <p:pic>
        <p:nvPicPr>
          <p:cNvPr id="8" name="Image 2" descr="preencoded.png"/>
          <p:cNvPicPr>
            <a:picLocks noChangeAspect="1"/>
          </p:cNvPicPr>
          <p:nvPr/>
        </p:nvPicPr>
        <p:blipFill>
          <a:blip r:embed="rId5"/>
          <a:srcRect l="-400" r="-400"/>
          <a:stretch/>
        </p:blipFill>
        <p:spPr>
          <a:xfrm>
            <a:off x="609905" y="571500"/>
            <a:ext cx="57607" cy="571500"/>
          </a:xfrm>
          <a:prstGeom prst="rect">
            <a:avLst/>
          </a:prstGeom>
        </p:spPr>
      </p:pic>
      <p:sp>
        <p:nvSpPr>
          <p:cNvPr id="9" name="Shape 4"/>
          <p:cNvSpPr/>
          <p:nvPr/>
        </p:nvSpPr>
        <p:spPr>
          <a:xfrm>
            <a:off x="60990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5"/>
          <p:cNvSpPr/>
          <p:nvPr/>
        </p:nvSpPr>
        <p:spPr>
          <a:xfrm>
            <a:off x="60990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1" name="Shape 6"/>
          <p:cNvSpPr/>
          <p:nvPr/>
        </p:nvSpPr>
        <p:spPr>
          <a:xfrm>
            <a:off x="3372307"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7"/>
          <p:cNvSpPr/>
          <p:nvPr/>
        </p:nvSpPr>
        <p:spPr>
          <a:xfrm>
            <a:off x="3372307"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3" name="Shape 8"/>
          <p:cNvSpPr/>
          <p:nvPr/>
        </p:nvSpPr>
        <p:spPr>
          <a:xfrm>
            <a:off x="613379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9"/>
          <p:cNvSpPr/>
          <p:nvPr/>
        </p:nvSpPr>
        <p:spPr>
          <a:xfrm>
            <a:off x="613379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5" name="Shape 10"/>
          <p:cNvSpPr/>
          <p:nvPr/>
        </p:nvSpPr>
        <p:spPr>
          <a:xfrm>
            <a:off x="8896198"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1"/>
          <p:cNvSpPr/>
          <p:nvPr/>
        </p:nvSpPr>
        <p:spPr>
          <a:xfrm>
            <a:off x="8896198"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7" name="Shape 12"/>
          <p:cNvSpPr/>
          <p:nvPr/>
        </p:nvSpPr>
        <p:spPr>
          <a:xfrm>
            <a:off x="609905" y="3619195"/>
            <a:ext cx="10916107" cy="2876702"/>
          </a:xfrm>
          <a:prstGeom prst="roundRect">
            <a:avLst>
              <a:gd name="adj" fmla="val 168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pic>
        <p:nvPicPr>
          <p:cNvPr id="18" name="Image 3" descr="preencoded.png"/>
          <p:cNvPicPr>
            <a:picLocks noChangeAspect="1"/>
          </p:cNvPicPr>
          <p:nvPr/>
        </p:nvPicPr>
        <p:blipFill>
          <a:blip r:embed="rId6"/>
          <a:srcRect t="-29" b="-29"/>
          <a:stretch/>
        </p:blipFill>
        <p:spPr>
          <a:xfrm>
            <a:off x="609905" y="3619195"/>
            <a:ext cx="10896905" cy="495605"/>
          </a:xfrm>
          <a:prstGeom prst="rect">
            <a:avLst/>
          </a:prstGeom>
        </p:spPr>
      </p:pic>
      <p:sp>
        <p:nvSpPr>
          <p:cNvPr id="19" name="Shape 13"/>
          <p:cNvSpPr/>
          <p:nvPr/>
        </p:nvSpPr>
        <p:spPr>
          <a:xfrm>
            <a:off x="609905" y="4572000"/>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0" name="Shape 14"/>
          <p:cNvSpPr/>
          <p:nvPr/>
        </p:nvSpPr>
        <p:spPr>
          <a:xfrm>
            <a:off x="609905" y="4572000"/>
            <a:ext cx="10896905" cy="485546"/>
          </a:xfrm>
          <a:prstGeom prst="rect">
            <a:avLst/>
          </a:prstGeom>
          <a:solidFill>
            <a:srgbClr val="2A9D8F">
              <a:alpha val="2000"/>
            </a:srgbClr>
          </a:solidFill>
          <a:ln/>
        </p:spPr>
        <p:txBody>
          <a:bodyPr/>
          <a:lstStyle/>
          <a:p>
            <a:endParaRPr lang="en-US"/>
          </a:p>
        </p:txBody>
      </p:sp>
      <p:sp>
        <p:nvSpPr>
          <p:cNvPr id="21" name="Shape 15"/>
          <p:cNvSpPr/>
          <p:nvPr/>
        </p:nvSpPr>
        <p:spPr>
          <a:xfrm>
            <a:off x="609905" y="5048402"/>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2" name="Shape 16"/>
          <p:cNvSpPr/>
          <p:nvPr/>
        </p:nvSpPr>
        <p:spPr>
          <a:xfrm>
            <a:off x="609905" y="5524805"/>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3" name="Shape 17"/>
          <p:cNvSpPr/>
          <p:nvPr/>
        </p:nvSpPr>
        <p:spPr>
          <a:xfrm>
            <a:off x="609905" y="5524805"/>
            <a:ext cx="10896905" cy="485546"/>
          </a:xfrm>
          <a:prstGeom prst="rect">
            <a:avLst/>
          </a:prstGeom>
          <a:solidFill>
            <a:srgbClr val="2A9D8F">
              <a:alpha val="2000"/>
            </a:srgbClr>
          </a:solidFill>
          <a:ln/>
        </p:spPr>
        <p:txBody>
          <a:bodyPr/>
          <a:lstStyle/>
          <a:p>
            <a:endParaRPr lang="en-US"/>
          </a:p>
        </p:txBody>
      </p:sp>
      <p:sp>
        <p:nvSpPr>
          <p:cNvPr id="24" name="Shape 18"/>
          <p:cNvSpPr/>
          <p:nvPr/>
        </p:nvSpPr>
        <p:spPr>
          <a:xfrm>
            <a:off x="609905" y="6001207"/>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5" name="Text 19"/>
          <p:cNvSpPr txBox="1"/>
          <p:nvPr/>
        </p:nvSpPr>
        <p:spPr>
          <a:xfrm>
            <a:off x="857707" y="46634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Introducing the AI-First Pod Model</a:t>
            </a:r>
            <a:endParaRPr lang="en-US" sz="2700"/>
          </a:p>
        </p:txBody>
      </p:sp>
      <p:sp>
        <p:nvSpPr>
          <p:cNvPr id="26" name="Text 20"/>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D62839"/>
                </a:solidFill>
                <a:latin typeface="Roboto Condensed" pitchFamily="34" charset="0"/>
                <a:ea typeface="Roboto Condensed" pitchFamily="34" charset="-122"/>
                <a:cs typeface="Roboto Condensed" pitchFamily="34" charset="-120"/>
              </a:rPr>
              <a:t>A MANAGED, GOVERNED ENGINEERING UNIT - NOT JUST STAFFING WITH A WRAPPER.</a:t>
            </a:r>
            <a:endParaRPr lang="en-US" sz="1300"/>
          </a:p>
        </p:txBody>
      </p:sp>
      <p:pic>
        <p:nvPicPr>
          <p:cNvPr id="27" name="Image 4" descr="preencoded.png"/>
          <p:cNvPicPr>
            <a:picLocks noChangeAspect="1"/>
          </p:cNvPicPr>
          <p:nvPr/>
        </p:nvPicPr>
        <p:blipFill>
          <a:blip r:embed="rId7"/>
          <a:srcRect/>
          <a:stretch/>
        </p:blipFill>
        <p:spPr>
          <a:xfrm>
            <a:off x="823874" y="1772107"/>
            <a:ext cx="333756" cy="267005"/>
          </a:xfrm>
          <a:prstGeom prst="rect">
            <a:avLst/>
          </a:prstGeom>
        </p:spPr>
      </p:pic>
      <p:sp>
        <p:nvSpPr>
          <p:cNvPr id="28" name="Text 21"/>
          <p:cNvSpPr txBox="1"/>
          <p:nvPr/>
        </p:nvSpPr>
        <p:spPr>
          <a:xfrm>
            <a:off x="800100"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Engineering Team</a:t>
            </a:r>
            <a:endParaRPr lang="en-US" sz="1500"/>
          </a:p>
        </p:txBody>
      </p:sp>
      <p:sp>
        <p:nvSpPr>
          <p:cNvPr id="29" name="Text 22"/>
          <p:cNvSpPr txBox="1"/>
          <p:nvPr/>
        </p:nvSpPr>
        <p:spPr>
          <a:xfrm>
            <a:off x="800100"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Dedicated engineers (Java, Python, DevOps) - hired, vetted, and onboarded by J2W.</a:t>
            </a:r>
            <a:endParaRPr lang="en-US" sz="1000"/>
          </a:p>
        </p:txBody>
      </p:sp>
      <p:pic>
        <p:nvPicPr>
          <p:cNvPr id="30" name="Image 5" descr="preencoded.png"/>
          <p:cNvPicPr>
            <a:picLocks noChangeAspect="1"/>
          </p:cNvPicPr>
          <p:nvPr/>
        </p:nvPicPr>
        <p:blipFill>
          <a:blip r:embed="rId8"/>
          <a:srcRect l="-881" r="-881"/>
          <a:stretch/>
        </p:blipFill>
        <p:spPr>
          <a:xfrm>
            <a:off x="3633826" y="1772107"/>
            <a:ext cx="237744" cy="267005"/>
          </a:xfrm>
          <a:prstGeom prst="rect">
            <a:avLst/>
          </a:prstGeom>
        </p:spPr>
      </p:pic>
      <p:sp>
        <p:nvSpPr>
          <p:cNvPr id="31" name="Text 23"/>
          <p:cNvSpPr txBox="1"/>
          <p:nvPr/>
        </p:nvSpPr>
        <p:spPr>
          <a:xfrm>
            <a:off x="3562502"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Pod Lead</a:t>
            </a:r>
            <a:endParaRPr lang="en-US" sz="1500"/>
          </a:p>
        </p:txBody>
      </p:sp>
      <p:sp>
        <p:nvSpPr>
          <p:cNvPr id="32" name="Text 24"/>
          <p:cNvSpPr txBox="1"/>
          <p:nvPr/>
        </p:nvSpPr>
        <p:spPr>
          <a:xfrm>
            <a:off x="3562502"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A J2W program manager who owns delivery, sprint governance, and client alignment.</a:t>
            </a:r>
            <a:endParaRPr lang="en-US" sz="1000"/>
          </a:p>
        </p:txBody>
      </p:sp>
      <p:pic>
        <p:nvPicPr>
          <p:cNvPr id="33" name="Image 6" descr="preencoded.png"/>
          <p:cNvPicPr>
            <a:picLocks noChangeAspect="1"/>
          </p:cNvPicPr>
          <p:nvPr/>
        </p:nvPicPr>
        <p:blipFill>
          <a:blip r:embed="rId9"/>
          <a:srcRect/>
          <a:stretch/>
        </p:blipFill>
        <p:spPr>
          <a:xfrm>
            <a:off x="6381598" y="1772107"/>
            <a:ext cx="267005" cy="267005"/>
          </a:xfrm>
          <a:prstGeom prst="rect">
            <a:avLst/>
          </a:prstGeom>
        </p:spPr>
      </p:pic>
      <p:sp>
        <p:nvSpPr>
          <p:cNvPr id="34" name="Text 25"/>
          <p:cNvSpPr txBox="1"/>
          <p:nvPr/>
        </p:nvSpPr>
        <p:spPr>
          <a:xfrm>
            <a:off x="6324905" y="2190902"/>
            <a:ext cx="265267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Performance Governance</a:t>
            </a:r>
            <a:endParaRPr lang="en-US" sz="1500"/>
          </a:p>
        </p:txBody>
      </p:sp>
      <p:sp>
        <p:nvSpPr>
          <p:cNvPr id="35" name="Text 26"/>
          <p:cNvSpPr txBox="1"/>
          <p:nvPr/>
        </p:nvSpPr>
        <p:spPr>
          <a:xfrm>
            <a:off x="6324905" y="2514600"/>
            <a:ext cx="2305202" cy="543154"/>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Weekly performance tracking, SLA metrics, velocity monitoring, proactive resolution.</a:t>
            </a:r>
            <a:endParaRPr lang="en-US" sz="1000"/>
          </a:p>
        </p:txBody>
      </p:sp>
      <p:pic>
        <p:nvPicPr>
          <p:cNvPr id="36" name="Image 7" descr="preencoded.png"/>
          <p:cNvPicPr>
            <a:picLocks noChangeAspect="1"/>
          </p:cNvPicPr>
          <p:nvPr/>
        </p:nvPicPr>
        <p:blipFill>
          <a:blip r:embed="rId10"/>
          <a:srcRect/>
          <a:stretch/>
        </p:blipFill>
        <p:spPr>
          <a:xfrm>
            <a:off x="9144000" y="1772107"/>
            <a:ext cx="267005" cy="267005"/>
          </a:xfrm>
          <a:prstGeom prst="rect">
            <a:avLst/>
          </a:prstGeom>
        </p:spPr>
      </p:pic>
      <p:sp>
        <p:nvSpPr>
          <p:cNvPr id="37" name="Text 27"/>
          <p:cNvSpPr txBox="1"/>
          <p:nvPr/>
        </p:nvSpPr>
        <p:spPr>
          <a:xfrm>
            <a:off x="9087307" y="2190902"/>
            <a:ext cx="2451506"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AI-First L&amp;D Program</a:t>
            </a:r>
            <a:endParaRPr lang="en-US" sz="1500"/>
          </a:p>
        </p:txBody>
      </p:sp>
      <p:sp>
        <p:nvSpPr>
          <p:cNvPr id="38" name="Text 28"/>
          <p:cNvSpPr txBox="1"/>
          <p:nvPr/>
        </p:nvSpPr>
        <p:spPr>
          <a:xfrm>
            <a:off x="9087307"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Continuous AI training - hands-on, contextual upskilling powered by Research Wing.</a:t>
            </a:r>
            <a:endParaRPr lang="en-US" sz="1000"/>
          </a:p>
        </p:txBody>
      </p:sp>
      <p:sp>
        <p:nvSpPr>
          <p:cNvPr id="39" name="Text 29"/>
          <p:cNvSpPr txBox="1"/>
          <p:nvPr/>
        </p:nvSpPr>
        <p:spPr>
          <a:xfrm>
            <a:off x="800100" y="3762756"/>
            <a:ext cx="277429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Dimension</a:t>
            </a:r>
            <a:endParaRPr lang="en-US" sz="1200"/>
          </a:p>
        </p:txBody>
      </p:sp>
      <p:sp>
        <p:nvSpPr>
          <p:cNvPr id="40" name="Text 30"/>
          <p:cNvSpPr txBox="1"/>
          <p:nvPr/>
        </p:nvSpPr>
        <p:spPr>
          <a:xfrm>
            <a:off x="3657600" y="3762756"/>
            <a:ext cx="354330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Traditional Staffing</a:t>
            </a:r>
            <a:endParaRPr lang="en-US" sz="1200"/>
          </a:p>
        </p:txBody>
      </p:sp>
      <p:sp>
        <p:nvSpPr>
          <p:cNvPr id="41" name="Text 31"/>
          <p:cNvSpPr txBox="1"/>
          <p:nvPr/>
        </p:nvSpPr>
        <p:spPr>
          <a:xfrm>
            <a:off x="7276795" y="3762756"/>
            <a:ext cx="4114800" cy="228600"/>
          </a:xfrm>
          <a:prstGeom prst="rect">
            <a:avLst/>
          </a:prstGeom>
          <a:noFill/>
          <a:ln/>
        </p:spPr>
        <p:txBody>
          <a:bodyPr wrap="square" lIns="0" tIns="0" rIns="0" bIns="0" rtlCol="0" anchor="ctr"/>
          <a:lstStyle/>
          <a:p>
            <a:pPr marL="0" indent="0" algn="l">
              <a:buNone/>
            </a:pPr>
            <a:r>
              <a:rPr lang="en-US" sz="1200" b="1" kern="0" spc="75">
                <a:solidFill>
                  <a:srgbClr val="2A9D8F"/>
                </a:solidFill>
                <a:latin typeface="Oswald" pitchFamily="34" charset="0"/>
                <a:ea typeface="Oswald" pitchFamily="34" charset="-122"/>
                <a:cs typeface="Oswald" pitchFamily="34" charset="-120"/>
              </a:rPr>
              <a:t>AI-First Pod</a:t>
            </a:r>
            <a:endParaRPr lang="en-US" sz="1200"/>
          </a:p>
        </p:txBody>
      </p:sp>
      <p:sp>
        <p:nvSpPr>
          <p:cNvPr id="42" name="Text 32"/>
          <p:cNvSpPr txBox="1"/>
          <p:nvPr/>
        </p:nvSpPr>
        <p:spPr>
          <a:xfrm>
            <a:off x="800100" y="423824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Governance</a:t>
            </a:r>
            <a:endParaRPr lang="en-US" sz="1200"/>
          </a:p>
        </p:txBody>
      </p:sp>
      <p:sp>
        <p:nvSpPr>
          <p:cNvPr id="43" name="Text 33"/>
          <p:cNvSpPr txBox="1"/>
          <p:nvPr/>
        </p:nvSpPr>
        <p:spPr>
          <a:xfrm>
            <a:off x="3657600" y="423824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Client's burden</a:t>
            </a:r>
            <a:endParaRPr lang="en-US" sz="1100"/>
          </a:p>
        </p:txBody>
      </p:sp>
      <p:pic>
        <p:nvPicPr>
          <p:cNvPr id="44" name="Image 8" descr="preencoded.png"/>
          <p:cNvPicPr>
            <a:picLocks noChangeAspect="1"/>
          </p:cNvPicPr>
          <p:nvPr/>
        </p:nvPicPr>
        <p:blipFill>
          <a:blip r:embed="rId11"/>
          <a:srcRect t="-1100" b="-1100"/>
          <a:stretch/>
        </p:blipFill>
        <p:spPr>
          <a:xfrm>
            <a:off x="7276795" y="4257446"/>
            <a:ext cx="114300" cy="133502"/>
          </a:xfrm>
          <a:prstGeom prst="rect">
            <a:avLst/>
          </a:prstGeom>
        </p:spPr>
      </p:pic>
      <p:sp>
        <p:nvSpPr>
          <p:cNvPr id="45" name="Text 34"/>
          <p:cNvSpPr txBox="1"/>
          <p:nvPr/>
        </p:nvSpPr>
        <p:spPr>
          <a:xfrm>
            <a:off x="7524598" y="4238244"/>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J2W-owned</a:t>
            </a:r>
            <a:endParaRPr lang="en-US" sz="1100"/>
          </a:p>
        </p:txBody>
      </p:sp>
      <p:sp>
        <p:nvSpPr>
          <p:cNvPr id="46" name="Text 35"/>
          <p:cNvSpPr txBox="1"/>
          <p:nvPr/>
        </p:nvSpPr>
        <p:spPr>
          <a:xfrm>
            <a:off x="800100" y="4714646"/>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Upskilling</a:t>
            </a:r>
            <a:endParaRPr lang="en-US" sz="1200"/>
          </a:p>
        </p:txBody>
      </p:sp>
      <p:sp>
        <p:nvSpPr>
          <p:cNvPr id="47" name="Text 36"/>
          <p:cNvSpPr txBox="1"/>
          <p:nvPr/>
        </p:nvSpPr>
        <p:spPr>
          <a:xfrm>
            <a:off x="3657600" y="4714646"/>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Engineer's personal initiative</a:t>
            </a:r>
            <a:endParaRPr lang="en-US" sz="1100"/>
          </a:p>
        </p:txBody>
      </p:sp>
      <p:pic>
        <p:nvPicPr>
          <p:cNvPr id="48" name="Image 9" descr="preencoded.png"/>
          <p:cNvPicPr>
            <a:picLocks noChangeAspect="1"/>
          </p:cNvPicPr>
          <p:nvPr/>
        </p:nvPicPr>
        <p:blipFill>
          <a:blip r:embed="rId11"/>
          <a:srcRect t="-1100" b="-1100"/>
          <a:stretch/>
        </p:blipFill>
        <p:spPr>
          <a:xfrm>
            <a:off x="7276795" y="4733849"/>
            <a:ext cx="114300" cy="133502"/>
          </a:xfrm>
          <a:prstGeom prst="rect">
            <a:avLst/>
          </a:prstGeom>
        </p:spPr>
      </p:pic>
      <p:sp>
        <p:nvSpPr>
          <p:cNvPr id="49" name="Text 37"/>
          <p:cNvSpPr txBox="1"/>
          <p:nvPr/>
        </p:nvSpPr>
        <p:spPr>
          <a:xfrm>
            <a:off x="7524598" y="4714646"/>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Structured, continuous, AI-focused</a:t>
            </a:r>
            <a:endParaRPr lang="en-US" sz="1100"/>
          </a:p>
        </p:txBody>
      </p:sp>
      <p:sp>
        <p:nvSpPr>
          <p:cNvPr id="50" name="Text 38"/>
          <p:cNvSpPr txBox="1"/>
          <p:nvPr/>
        </p:nvSpPr>
        <p:spPr>
          <a:xfrm>
            <a:off x="800100" y="5191049"/>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Performance Issues</a:t>
            </a:r>
            <a:endParaRPr lang="en-US" sz="1200"/>
          </a:p>
        </p:txBody>
      </p:sp>
      <p:sp>
        <p:nvSpPr>
          <p:cNvPr id="51" name="Text 39"/>
          <p:cNvSpPr txBox="1"/>
          <p:nvPr/>
        </p:nvSpPr>
        <p:spPr>
          <a:xfrm>
            <a:off x="3657600" y="5191049"/>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Escalation after the fact</a:t>
            </a:r>
            <a:endParaRPr lang="en-US" sz="1100"/>
          </a:p>
        </p:txBody>
      </p:sp>
      <p:pic>
        <p:nvPicPr>
          <p:cNvPr id="52" name="Image 10" descr="preencoded.png"/>
          <p:cNvPicPr>
            <a:picLocks noChangeAspect="1"/>
          </p:cNvPicPr>
          <p:nvPr/>
        </p:nvPicPr>
        <p:blipFill>
          <a:blip r:embed="rId11"/>
          <a:srcRect t="-1100" b="-1100"/>
          <a:stretch/>
        </p:blipFill>
        <p:spPr>
          <a:xfrm>
            <a:off x="7276795" y="5210251"/>
            <a:ext cx="114300" cy="133502"/>
          </a:xfrm>
          <a:prstGeom prst="rect">
            <a:avLst/>
          </a:prstGeom>
        </p:spPr>
      </p:pic>
      <p:sp>
        <p:nvSpPr>
          <p:cNvPr id="53" name="Text 40"/>
          <p:cNvSpPr txBox="1"/>
          <p:nvPr/>
        </p:nvSpPr>
        <p:spPr>
          <a:xfrm>
            <a:off x="7524598" y="5191049"/>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Proactive monitoring &amp; intervention</a:t>
            </a:r>
            <a:endParaRPr lang="en-US" sz="1100"/>
          </a:p>
        </p:txBody>
      </p:sp>
      <p:sp>
        <p:nvSpPr>
          <p:cNvPr id="54" name="Text 41"/>
          <p:cNvSpPr txBox="1"/>
          <p:nvPr/>
        </p:nvSpPr>
        <p:spPr>
          <a:xfrm>
            <a:off x="800100" y="5667451"/>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Knowledge Retention</a:t>
            </a:r>
            <a:endParaRPr lang="en-US" sz="1200"/>
          </a:p>
        </p:txBody>
      </p:sp>
      <p:sp>
        <p:nvSpPr>
          <p:cNvPr id="55" name="Text 42"/>
          <p:cNvSpPr txBox="1"/>
          <p:nvPr/>
        </p:nvSpPr>
        <p:spPr>
          <a:xfrm>
            <a:off x="3657600" y="5667451"/>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Lost with attrition</a:t>
            </a:r>
            <a:endParaRPr lang="en-US" sz="1100"/>
          </a:p>
        </p:txBody>
      </p:sp>
      <p:pic>
        <p:nvPicPr>
          <p:cNvPr id="56" name="Image 11" descr="preencoded.png"/>
          <p:cNvPicPr>
            <a:picLocks noChangeAspect="1"/>
          </p:cNvPicPr>
          <p:nvPr/>
        </p:nvPicPr>
        <p:blipFill>
          <a:blip r:embed="rId11"/>
          <a:srcRect t="-1100" b="-1100"/>
          <a:stretch/>
        </p:blipFill>
        <p:spPr>
          <a:xfrm>
            <a:off x="7276795" y="5686654"/>
            <a:ext cx="114300" cy="133502"/>
          </a:xfrm>
          <a:prstGeom prst="rect">
            <a:avLst/>
          </a:prstGeom>
        </p:spPr>
      </p:pic>
      <p:sp>
        <p:nvSpPr>
          <p:cNvPr id="57" name="Text 43"/>
          <p:cNvSpPr txBox="1"/>
          <p:nvPr/>
        </p:nvSpPr>
        <p:spPr>
          <a:xfrm>
            <a:off x="7524598" y="5667451"/>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Captured in Knowledge Repository</a:t>
            </a:r>
            <a:endParaRPr lang="en-US" sz="1100"/>
          </a:p>
        </p:txBody>
      </p:sp>
      <p:sp>
        <p:nvSpPr>
          <p:cNvPr id="58" name="Text 44"/>
          <p:cNvSpPr txBox="1"/>
          <p:nvPr/>
        </p:nvSpPr>
        <p:spPr>
          <a:xfrm>
            <a:off x="800100" y="614385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AI Readiness</a:t>
            </a:r>
            <a:endParaRPr lang="en-US" sz="1200"/>
          </a:p>
        </p:txBody>
      </p:sp>
      <p:sp>
        <p:nvSpPr>
          <p:cNvPr id="59" name="Text 45"/>
          <p:cNvSpPr txBox="1"/>
          <p:nvPr/>
        </p:nvSpPr>
        <p:spPr>
          <a:xfrm>
            <a:off x="3657600" y="614385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Ad hoc</a:t>
            </a:r>
            <a:endParaRPr lang="en-US" sz="1100"/>
          </a:p>
        </p:txBody>
      </p:sp>
      <p:pic>
        <p:nvPicPr>
          <p:cNvPr id="60" name="Image 12" descr="preencoded.png"/>
          <p:cNvPicPr>
            <a:picLocks noChangeAspect="1"/>
          </p:cNvPicPr>
          <p:nvPr/>
        </p:nvPicPr>
        <p:blipFill>
          <a:blip r:embed="rId12"/>
          <a:srcRect t="-1100" b="-1100"/>
          <a:stretch/>
        </p:blipFill>
        <p:spPr>
          <a:xfrm>
            <a:off x="7276795" y="6163056"/>
            <a:ext cx="114300" cy="133502"/>
          </a:xfrm>
          <a:prstGeom prst="rect">
            <a:avLst/>
          </a:prstGeom>
        </p:spPr>
      </p:pic>
      <p:sp>
        <p:nvSpPr>
          <p:cNvPr id="61" name="Text 46"/>
          <p:cNvSpPr txBox="1"/>
          <p:nvPr/>
        </p:nvSpPr>
        <p:spPr>
          <a:xfrm>
            <a:off x="7524598" y="6143854"/>
            <a:ext cx="3829507" cy="171907"/>
          </a:xfrm>
          <a:prstGeom prst="rect">
            <a:avLst/>
          </a:prstGeom>
          <a:noFill/>
          <a:ln/>
        </p:spPr>
        <p:txBody>
          <a:bodyPr wrap="square" lIns="0" tIns="0" rIns="0" bIns="0" rtlCol="0" anchor="ctr"/>
          <a:lstStyle/>
          <a:p>
            <a:pPr marL="0" indent="0" algn="l">
              <a:buNone/>
            </a:pPr>
            <a:r>
              <a:rPr lang="en-US" sz="1100" b="1">
                <a:solidFill>
                  <a:srgbClr val="D62839"/>
                </a:solidFill>
                <a:latin typeface="Raleway" pitchFamily="34" charset="0"/>
                <a:ea typeface="Raleway" pitchFamily="34" charset="-122"/>
                <a:cs typeface="Raleway" pitchFamily="34" charset="-120"/>
              </a:rPr>
              <a:t>Embedded from Day 1</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334195" y="-1429207"/>
            <a:ext cx="4762195" cy="476219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preencoded.png"/>
          <p:cNvPicPr>
            <a:picLocks noChangeAspect="1"/>
          </p:cNvPicPr>
          <p:nvPr/>
        </p:nvPicPr>
        <p:blipFill>
          <a:blip r:embed="rId5">
            <a:alphaModFix amt="15000"/>
          </a:blip>
          <a:srcRect/>
          <a:stretch/>
        </p:blipFill>
        <p:spPr>
          <a:xfrm>
            <a:off x="571500" y="1143000"/>
            <a:ext cx="1429207" cy="1429207"/>
          </a:xfrm>
          <a:prstGeom prst="rect">
            <a:avLst/>
          </a:prstGeom>
        </p:spPr>
      </p:pic>
      <p:pic>
        <p:nvPicPr>
          <p:cNvPr id="8" name="Image 3" descr="preencoded.png"/>
          <p:cNvPicPr>
            <a:picLocks noChangeAspect="1"/>
          </p:cNvPicPr>
          <p:nvPr/>
        </p:nvPicPr>
        <p:blipFill>
          <a:blip r:embed="rId6"/>
          <a:srcRect l="-400" r="-400"/>
          <a:stretch/>
        </p:blipFill>
        <p:spPr>
          <a:xfrm>
            <a:off x="609905" y="571500"/>
            <a:ext cx="57607" cy="571500"/>
          </a:xfrm>
          <a:prstGeom prst="rect">
            <a:avLst/>
          </a:prstGeom>
        </p:spPr>
      </p:pic>
      <p:sp>
        <p:nvSpPr>
          <p:cNvPr id="9" name="Shape 3"/>
          <p:cNvSpPr/>
          <p:nvPr/>
        </p:nvSpPr>
        <p:spPr>
          <a:xfrm>
            <a:off x="609905" y="1524305"/>
            <a:ext cx="11039551" cy="1752905"/>
          </a:xfrm>
          <a:prstGeom prst="roundRect">
            <a:avLst>
              <a:gd name="adj" fmla="val 4536"/>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524305"/>
            <a:ext cx="57607" cy="1752905"/>
          </a:xfrm>
          <a:prstGeom prst="roundRect">
            <a:avLst>
              <a:gd name="adj" fmla="val 138027"/>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609905" y="3429000"/>
            <a:ext cx="11039551" cy="2305202"/>
          </a:xfrm>
          <a:prstGeom prst="roundRect">
            <a:avLst>
              <a:gd name="adj" fmla="val 2623"/>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609905" y="3429000"/>
            <a:ext cx="57607" cy="2305202"/>
          </a:xfrm>
          <a:prstGeom prst="roundRect">
            <a:avLst>
              <a:gd name="adj" fmla="val 104946"/>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609905" y="5905195"/>
            <a:ext cx="10972800" cy="609905"/>
          </a:xfrm>
          <a:prstGeom prst="roundRect">
            <a:avLst>
              <a:gd name="adj" fmla="val 37481"/>
            </a:avLst>
          </a:prstGeom>
          <a:solidFill>
            <a:srgbClr val="2A9D8F"/>
          </a:solidFill>
          <a:ln w="12700">
            <a:solidFill>
              <a:srgbClr val="FFFFFF">
                <a:alpha val="0"/>
              </a:srgbClr>
            </a:solidFill>
            <a:prstDash val="solid"/>
          </a:ln>
          <a:effectLst>
            <a:outerShdw blurRad="101600" dist="38100" dir="16200000" algn="bl" rotWithShape="0">
              <a:srgbClr val="2A9D8F">
                <a:alpha val="20000"/>
              </a:srgbClr>
            </a:outerShdw>
          </a:effectLst>
        </p:spPr>
        <p:txBody>
          <a:bodyPr/>
          <a:lstStyle/>
          <a:p>
            <a:endParaRPr lang="en-US"/>
          </a:p>
        </p:txBody>
      </p:sp>
      <p:sp>
        <p:nvSpPr>
          <p:cNvPr id="14" name="Text 8"/>
          <p:cNvSpPr txBox="1"/>
          <p:nvPr/>
        </p:nvSpPr>
        <p:spPr>
          <a:xfrm>
            <a:off x="857707" y="42885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The J2W AI Research Wing</a:t>
            </a:r>
            <a:endParaRPr lang="en-US" sz="2700"/>
          </a:p>
        </p:txBody>
      </p:sp>
      <p:sp>
        <p:nvSpPr>
          <p:cNvPr id="15" name="Text 9"/>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2A9D8F"/>
                </a:solidFill>
                <a:latin typeface="Roboto Condensed" pitchFamily="34" charset="0"/>
                <a:ea typeface="Roboto Condensed" pitchFamily="34" charset="-122"/>
                <a:cs typeface="Roboto Condensed" pitchFamily="34" charset="-120"/>
              </a:rPr>
              <a:t>YOUR POD'S SECRET WEAPON</a:t>
            </a:r>
            <a:endParaRPr lang="en-US" sz="1300"/>
          </a:p>
        </p:txBody>
      </p:sp>
      <p:sp>
        <p:nvSpPr>
          <p:cNvPr id="16" name="Shape 10"/>
          <p:cNvSpPr/>
          <p:nvPr/>
        </p:nvSpPr>
        <p:spPr>
          <a:xfrm>
            <a:off x="990295" y="2085746"/>
            <a:ext cx="4476902" cy="19202"/>
          </a:xfrm>
          <a:prstGeom prst="rect">
            <a:avLst/>
          </a:prstGeom>
          <a:solidFill>
            <a:srgbClr val="2A9D8F">
              <a:alpha val="20000"/>
            </a:srgbClr>
          </a:solidFill>
          <a:ln w="12700">
            <a:solidFill>
              <a:srgbClr val="2A9D8F">
                <a:alpha val="0"/>
              </a:srgbClr>
            </a:solidFill>
            <a:prstDash val="solid"/>
          </a:ln>
        </p:spPr>
        <p:txBody>
          <a:bodyPr/>
          <a:lstStyle/>
          <a:p>
            <a:endParaRPr lang="en-US"/>
          </a:p>
        </p:txBody>
      </p:sp>
      <p:sp>
        <p:nvSpPr>
          <p:cNvPr id="17" name="Text 11"/>
          <p:cNvSpPr txBox="1"/>
          <p:nvPr/>
        </p:nvSpPr>
        <p:spPr>
          <a:xfrm>
            <a:off x="990295" y="1666951"/>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What Is the AI Research Wing?</a:t>
            </a:r>
            <a:endParaRPr lang="en-US" sz="1800"/>
          </a:p>
        </p:txBody>
      </p:sp>
      <p:pic>
        <p:nvPicPr>
          <p:cNvPr id="18" name="Image 4" descr="preencoded.png"/>
          <p:cNvPicPr>
            <a:picLocks noChangeAspect="1"/>
          </p:cNvPicPr>
          <p:nvPr/>
        </p:nvPicPr>
        <p:blipFill>
          <a:blip r:embed="rId7"/>
          <a:srcRect/>
          <a:stretch/>
        </p:blipFill>
        <p:spPr>
          <a:xfrm>
            <a:off x="1019556" y="2221992"/>
            <a:ext cx="171907" cy="171907"/>
          </a:xfrm>
          <a:prstGeom prst="rect">
            <a:avLst/>
          </a:prstGeom>
        </p:spPr>
      </p:pic>
      <p:sp>
        <p:nvSpPr>
          <p:cNvPr id="19" name="Text 12"/>
          <p:cNvSpPr txBox="1"/>
          <p:nvPr/>
        </p:nvSpPr>
        <p:spPr>
          <a:xfrm>
            <a:off x="1314907" y="2190902"/>
            <a:ext cx="9982505"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A dedicated team of AI researchers and engineers working on cutting-edge enterprise AI - agentic AI systems, LLM orchestration, model governance, and applied ML</a:t>
            </a:r>
            <a:endParaRPr lang="en-US" sz="1100"/>
          </a:p>
        </p:txBody>
      </p:sp>
      <p:pic>
        <p:nvPicPr>
          <p:cNvPr id="20" name="Image 5" descr="preencoded.png"/>
          <p:cNvPicPr>
            <a:picLocks noChangeAspect="1"/>
          </p:cNvPicPr>
          <p:nvPr/>
        </p:nvPicPr>
        <p:blipFill>
          <a:blip r:embed="rId8"/>
          <a:srcRect/>
          <a:stretch/>
        </p:blipFill>
        <p:spPr>
          <a:xfrm>
            <a:off x="1019556" y="2602382"/>
            <a:ext cx="171907" cy="171907"/>
          </a:xfrm>
          <a:prstGeom prst="rect">
            <a:avLst/>
          </a:prstGeom>
        </p:spPr>
      </p:pic>
      <p:sp>
        <p:nvSpPr>
          <p:cNvPr id="21" name="Text 13"/>
          <p:cNvSpPr txBox="1"/>
          <p:nvPr/>
        </p:nvSpPr>
        <p:spPr>
          <a:xfrm>
            <a:off x="1314907" y="2572207"/>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Currently building and publishing research on agentic AI architectures, prompt engineering frameworks, and enterprise AI adoption strategies</a:t>
            </a:r>
            <a:endParaRPr lang="en-US" sz="1100"/>
          </a:p>
        </p:txBody>
      </p:sp>
      <p:pic>
        <p:nvPicPr>
          <p:cNvPr id="22" name="Image 6" descr="preencoded.png"/>
          <p:cNvPicPr>
            <a:picLocks noChangeAspect="1"/>
          </p:cNvPicPr>
          <p:nvPr/>
        </p:nvPicPr>
        <p:blipFill>
          <a:blip r:embed="rId9"/>
          <a:srcRect/>
          <a:stretch/>
        </p:blipFill>
        <p:spPr>
          <a:xfrm>
            <a:off x="1019556" y="2983687"/>
            <a:ext cx="171907" cy="171907"/>
          </a:xfrm>
          <a:prstGeom prst="rect">
            <a:avLst/>
          </a:prstGeom>
        </p:spPr>
      </p:pic>
      <p:sp>
        <p:nvSpPr>
          <p:cNvPr id="23" name="Text 14"/>
          <p:cNvSpPr txBox="1"/>
          <p:nvPr/>
        </p:nvSpPr>
        <p:spPr>
          <a:xfrm>
            <a:off x="1314907" y="2952598"/>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Powers J2W's proprietary platforms: the J2W Agentic Platform, Qualizen (GenAI-assisted quality engineering), and Talk2Data (conversational BI)</a:t>
            </a:r>
            <a:endParaRPr lang="en-US" sz="1100"/>
          </a:p>
        </p:txBody>
      </p:sp>
      <p:sp>
        <p:nvSpPr>
          <p:cNvPr id="24" name="Shape 15"/>
          <p:cNvSpPr/>
          <p:nvPr/>
        </p:nvSpPr>
        <p:spPr>
          <a:xfrm>
            <a:off x="990295" y="3990442"/>
            <a:ext cx="4476902" cy="19202"/>
          </a:xfrm>
          <a:prstGeom prst="rect">
            <a:avLst/>
          </a:prstGeom>
          <a:solidFill>
            <a:srgbClr val="D62839">
              <a:alpha val="20000"/>
            </a:srgbClr>
          </a:solidFill>
          <a:ln w="12700">
            <a:solidFill>
              <a:srgbClr val="D62839">
                <a:alpha val="0"/>
              </a:srgbClr>
            </a:solidFill>
            <a:prstDash val="solid"/>
          </a:ln>
        </p:spPr>
        <p:txBody>
          <a:bodyPr/>
          <a:lstStyle/>
          <a:p>
            <a:endParaRPr lang="en-US"/>
          </a:p>
        </p:txBody>
      </p:sp>
      <p:sp>
        <p:nvSpPr>
          <p:cNvPr id="25" name="Text 16"/>
          <p:cNvSpPr txBox="1"/>
          <p:nvPr/>
        </p:nvSpPr>
        <p:spPr>
          <a:xfrm>
            <a:off x="990295" y="3571646"/>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How Pod Members Benefit</a:t>
            </a:r>
            <a:endParaRPr lang="en-US" sz="1800"/>
          </a:p>
        </p:txBody>
      </p:sp>
      <p:pic>
        <p:nvPicPr>
          <p:cNvPr id="26" name="Image 7" descr="preencoded.png"/>
          <p:cNvPicPr>
            <a:picLocks noChangeAspect="1"/>
          </p:cNvPicPr>
          <p:nvPr/>
        </p:nvPicPr>
        <p:blipFill>
          <a:blip r:embed="rId10"/>
          <a:srcRect l="-1064" r="-1064"/>
          <a:stretch/>
        </p:blipFill>
        <p:spPr>
          <a:xfrm>
            <a:off x="995782" y="4126687"/>
            <a:ext cx="219456" cy="171907"/>
          </a:xfrm>
          <a:prstGeom prst="rect">
            <a:avLst/>
          </a:prstGeom>
        </p:spPr>
      </p:pic>
      <p:sp>
        <p:nvSpPr>
          <p:cNvPr id="27" name="Text 17"/>
          <p:cNvSpPr txBox="1"/>
          <p:nvPr/>
        </p:nvSpPr>
        <p:spPr>
          <a:xfrm>
            <a:off x="1314907" y="4095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Weekly AI workshops</a:t>
            </a:r>
            <a:r>
              <a:rPr lang="en-US" sz="1100">
                <a:solidFill>
                  <a:srgbClr val="4B5563"/>
                </a:solidFill>
                <a:latin typeface="Raleway" pitchFamily="34" charset="0"/>
                <a:ea typeface="Raleway" pitchFamily="34" charset="-122"/>
                <a:cs typeface="Raleway" pitchFamily="34" charset="-120"/>
              </a:rPr>
              <a:t> led by our research team - covering practical, project-applicable AI skills </a:t>
            </a:r>
            <a:endParaRPr lang="en-US" sz="1100"/>
          </a:p>
        </p:txBody>
      </p:sp>
      <p:pic>
        <p:nvPicPr>
          <p:cNvPr id="28" name="Image 8" descr="preencoded.png"/>
          <p:cNvPicPr>
            <a:picLocks noChangeAspect="1"/>
          </p:cNvPicPr>
          <p:nvPr/>
        </p:nvPicPr>
        <p:blipFill>
          <a:blip r:embed="rId11"/>
          <a:srcRect l="-1773" r="-1773"/>
          <a:stretch/>
        </p:blipFill>
        <p:spPr>
          <a:xfrm>
            <a:off x="1037844" y="4507992"/>
            <a:ext cx="133502" cy="171907"/>
          </a:xfrm>
          <a:prstGeom prst="rect">
            <a:avLst/>
          </a:prstGeom>
        </p:spPr>
      </p:pic>
      <p:sp>
        <p:nvSpPr>
          <p:cNvPr id="29" name="Text 18"/>
          <p:cNvSpPr txBox="1"/>
          <p:nvPr/>
        </p:nvSpPr>
        <p:spPr>
          <a:xfrm>
            <a:off x="1314907" y="4476902"/>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Access to the J2W </a:t>
            </a:r>
            <a:r>
              <a:rPr lang="en-US" sz="1100" b="1" err="1">
                <a:solidFill>
                  <a:srgbClr val="111827"/>
                </a:solidFill>
                <a:latin typeface="Raleway" pitchFamily="34" charset="0"/>
                <a:ea typeface="Raleway" pitchFamily="34" charset="-122"/>
                <a:cs typeface="Raleway" pitchFamily="34" charset="-120"/>
              </a:rPr>
              <a:t>iLAB</a:t>
            </a:r>
            <a:r>
              <a:rPr lang="en-US" sz="1100">
                <a:solidFill>
                  <a:srgbClr val="4B5563"/>
                </a:solidFill>
                <a:latin typeface="Raleway" pitchFamily="34" charset="0"/>
                <a:ea typeface="Raleway" pitchFamily="34" charset="-122"/>
                <a:cs typeface="Raleway" pitchFamily="34" charset="-120"/>
              </a:rPr>
              <a:t> - Innovation Points program for building PoCs, hackathons, and rapid prototyping </a:t>
            </a:r>
            <a:endParaRPr lang="en-US" sz="1100"/>
          </a:p>
        </p:txBody>
      </p:sp>
      <p:pic>
        <p:nvPicPr>
          <p:cNvPr id="30" name="Image 9" descr="preencoded.png"/>
          <p:cNvPicPr>
            <a:picLocks noChangeAspect="1"/>
          </p:cNvPicPr>
          <p:nvPr/>
        </p:nvPicPr>
        <p:blipFill>
          <a:blip r:embed="rId12"/>
          <a:srcRect l="-1064" r="-1064"/>
          <a:stretch/>
        </p:blipFill>
        <p:spPr>
          <a:xfrm>
            <a:off x="995782" y="4888382"/>
            <a:ext cx="219456" cy="171907"/>
          </a:xfrm>
          <a:prstGeom prst="rect">
            <a:avLst/>
          </a:prstGeom>
        </p:spPr>
      </p:pic>
      <p:sp>
        <p:nvSpPr>
          <p:cNvPr id="31" name="Text 19"/>
          <p:cNvSpPr txBox="1"/>
          <p:nvPr/>
        </p:nvSpPr>
        <p:spPr>
          <a:xfrm>
            <a:off x="1314907" y="4858207"/>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Contextual AI training</a:t>
            </a:r>
            <a:r>
              <a:rPr lang="en-US" sz="1100">
                <a:solidFill>
                  <a:srgbClr val="4B5563"/>
                </a:solidFill>
                <a:latin typeface="Raleway" pitchFamily="34" charset="0"/>
                <a:ea typeface="Raleway" pitchFamily="34" charset="-122"/>
                <a:cs typeface="Raleway" pitchFamily="34" charset="-120"/>
              </a:rPr>
              <a:t> - hands-on training tailored to the specific technology stack and domain </a:t>
            </a:r>
            <a:endParaRPr lang="en-US" sz="1100"/>
          </a:p>
        </p:txBody>
      </p:sp>
      <p:pic>
        <p:nvPicPr>
          <p:cNvPr id="32" name="Image 10" descr="preencoded.png"/>
          <p:cNvPicPr>
            <a:picLocks noChangeAspect="1"/>
          </p:cNvPicPr>
          <p:nvPr/>
        </p:nvPicPr>
        <p:blipFill>
          <a:blip r:embed="rId13"/>
          <a:srcRect/>
          <a:stretch/>
        </p:blipFill>
        <p:spPr>
          <a:xfrm>
            <a:off x="1019556" y="5269687"/>
            <a:ext cx="171907" cy="171907"/>
          </a:xfrm>
          <a:prstGeom prst="rect">
            <a:avLst/>
          </a:prstGeom>
        </p:spPr>
      </p:pic>
      <p:sp>
        <p:nvSpPr>
          <p:cNvPr id="33" name="Text 20"/>
          <p:cNvSpPr txBox="1"/>
          <p:nvPr/>
        </p:nvSpPr>
        <p:spPr>
          <a:xfrm>
            <a:off x="1314907" y="5238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Benchmarking against global best practices</a:t>
            </a:r>
            <a:r>
              <a:rPr lang="en-US" sz="1100">
                <a:solidFill>
                  <a:srgbClr val="4B5563"/>
                </a:solidFill>
                <a:latin typeface="Raleway" pitchFamily="34" charset="0"/>
                <a:ea typeface="Raleway" pitchFamily="34" charset="-122"/>
                <a:cs typeface="Raleway" pitchFamily="34" charset="-120"/>
              </a:rPr>
              <a:t> - continuous measurement against industry-leading standards </a:t>
            </a:r>
            <a:endParaRPr lang="en-US" sz="1100"/>
          </a:p>
        </p:txBody>
      </p:sp>
      <p:sp>
        <p:nvSpPr>
          <p:cNvPr id="34" name="Text 21"/>
          <p:cNvSpPr txBox="1"/>
          <p:nvPr/>
        </p:nvSpPr>
        <p:spPr>
          <a:xfrm>
            <a:off x="952805" y="6010351"/>
            <a:ext cx="10287000" cy="400507"/>
          </a:xfrm>
          <a:prstGeom prst="rect">
            <a:avLst/>
          </a:prstGeom>
          <a:noFill/>
          <a:ln/>
        </p:spPr>
        <p:txBody>
          <a:bodyPr wrap="square" lIns="0" tIns="0" rIns="0" bIns="0" rtlCol="0" anchor="ctr"/>
          <a:lstStyle/>
          <a:p>
            <a:pPr marL="0" indent="0" algn="ctr">
              <a:buNone/>
            </a:pPr>
            <a:r>
              <a:rPr lang="en-US" sz="1400" b="1">
                <a:solidFill>
                  <a:srgbClr val="FFFFFF"/>
                </a:solidFill>
                <a:latin typeface="Raleway" pitchFamily="34" charset="0"/>
                <a:ea typeface="Raleway" pitchFamily="34" charset="-122"/>
                <a:cs typeface="Raleway" pitchFamily="34" charset="-120"/>
              </a:rPr>
              <a:t>The result: Your engineers don't just work - they get better every week. And that compounding improvement is something no staffing model can deliver.</a:t>
            </a:r>
            <a:endParaRPr lang="en-US" sz="1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457200" y="0"/>
            <a:ext cx="11731752" cy="109728"/>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731520" y="548640"/>
            <a:ext cx="2560320" cy="384048"/>
          </a:xfrm>
          <a:prstGeom prst="roundRect">
            <a:avLst>
              <a:gd name="adj" fmla="val 19048"/>
            </a:avLst>
          </a:prstGeom>
          <a:solidFill>
            <a:srgbClr val="00A896"/>
          </a:solidFill>
          <a:ln w="12700">
            <a:solidFill>
              <a:srgbClr val="00A896"/>
            </a:solidFill>
            <a:prstDash val="solid"/>
          </a:ln>
        </p:spPr>
        <p:txBody>
          <a:bodyPr/>
          <a:lstStyle/>
          <a:p>
            <a:endParaRPr lang="en-US"/>
          </a:p>
        </p:txBody>
      </p:sp>
      <p:sp>
        <p:nvSpPr>
          <p:cNvPr id="5" name="Text 3"/>
          <p:cNvSpPr/>
          <p:nvPr/>
        </p:nvSpPr>
        <p:spPr>
          <a:xfrm>
            <a:off x="731520" y="548640"/>
            <a:ext cx="2560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PODS • J2W DELIVERY</a:t>
            </a:r>
            <a:endParaRPr lang="en-US" sz="1100" dirty="0"/>
          </a:p>
        </p:txBody>
      </p:sp>
      <p:sp>
        <p:nvSpPr>
          <p:cNvPr id="6" name="Text 4"/>
          <p:cNvSpPr/>
          <p:nvPr/>
        </p:nvSpPr>
        <p:spPr>
          <a:xfrm>
            <a:off x="731520" y="1188720"/>
            <a:ext cx="10058400" cy="14630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AI PODS CASE STUDIES</a:t>
            </a:r>
            <a:endParaRPr lang="en-US" sz="4600" dirty="0"/>
          </a:p>
        </p:txBody>
      </p:sp>
      <p:sp>
        <p:nvSpPr>
          <p:cNvPr id="7" name="Shape 5"/>
          <p:cNvSpPr/>
          <p:nvPr/>
        </p:nvSpPr>
        <p:spPr>
          <a:xfrm>
            <a:off x="731520" y="2834640"/>
            <a:ext cx="7315200" cy="45720"/>
          </a:xfrm>
          <a:prstGeom prst="rect">
            <a:avLst/>
          </a:prstGeom>
          <a:solidFill>
            <a:srgbClr val="00A896"/>
          </a:solidFill>
          <a:ln w="12700">
            <a:solidFill>
              <a:srgbClr val="00A896"/>
            </a:solidFill>
            <a:prstDash val="solid"/>
          </a:ln>
        </p:spPr>
        <p:txBody>
          <a:bodyPr/>
          <a:lstStyle/>
          <a:p>
            <a:endParaRPr lang="en-US"/>
          </a:p>
        </p:txBody>
      </p:sp>
      <p:sp>
        <p:nvSpPr>
          <p:cNvPr id="8" name="Text 6"/>
          <p:cNvSpPr/>
          <p:nvPr/>
        </p:nvSpPr>
        <p:spPr>
          <a:xfrm>
            <a:off x="731520" y="3017520"/>
            <a:ext cx="9144000" cy="54864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AI-first engineering pod delivery, quality engineering, and DevSecOps across industries.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APP STORE RATING RECOVERY FOR DIGITAL BANK</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Mobile QA  ·  App Store  ·  Android  ·  iOS  ·  UX Testing  ·  Fintech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Digital Bank   |   Domain: Banking &amp; Financial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Digital bank saw significant App Store/Play Store rating drop due to poor performance causing customer churn. Performance inconsistencies across iOS/Android across multiple regions made diagnosis and fix through internal teams difficult.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Cross-device analysis and bug tracking approach deployed using JIRA to integrate user feedback into fix cycle. App benchmarked against competitor apps. Functional retests conducted on every new app version before release.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Cross-Device Analysis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User experience evaluation across Android and iOS in multiple regions identifying device/region-specific issues.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App Store Feedback Integration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User reviews from App Store and Play Store integrated into JIRA for faster identification and resolution.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Competitor Benchmarking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App performance compared against leading competitors to identify improvement targets.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Functional Retest on Every Version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Thorough retests on each new version validating previously identified issues before release.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Region-Specific Diagnostics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Performance issues isolated by region and device type enabling targeted remediation.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Fix Cycle Acceleration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Direct feedback loop from user reviews to development team compressing issue-to-release time.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App Store Rating (3 months)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3.5→4.8</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Play Store Rating (3 months)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Improved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User Retention &amp; Organic Growth</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DEVSECOPS PIPELINE FOR OPEN BANKING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DevSecOps  ·  AWS  ·  GitHub Actions  ·  HashiCorp Vault  ·  ARGO CD  ·  Open Banking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Banking Leader   |   Domain: Banking &amp; Financial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bank's Open Banking initiative required fully automated, security-compliant DevSecOps pipeline across multiple microservices and source control repositories — adhering to strict global banking regulations and managing complex multi-service release cycles.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Comprehensive AWS-powered DevSecOps pipeline implemented integrating GitHub Actions, HashiCorp Vault, Veracode SAST/SCA, JFrog, ARGO CD, and Lacework across Dev, Staging, and Production environments with formal approval gates.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Stakeholder-Balanced Pipeline Design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Architecture balancing technical requirements and business stakeholder needs across all environments.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Multi-Repository Microservice Integration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Seamless integration across multiple source control repositories and microservice boundaries.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Near 100% Test Automation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QE and security testing across every release candidate without manual regression.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Streamlined Release Train Model</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Multi-service coordinated release model cutting deployment times significantly.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Security-First Pipeline Architecture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SAST, SCA, dependency validation, and Lacework monitoring embedded throughout the pipeline.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Banking Regulatory Compliance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Architecture ensuring adherence to global banking regulatory standards at every release gate.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Test Automation Across Microservices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Reduced</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Deployment Cycle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QE &amp; Security Automation</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SAP PERFORMANCE TESTING FOR HIGH-LOAD HEALTH INSURANCE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SAP  ·  LoadRunner  ·  Performance Testing  ·  5000 Users  ·  Insurance  ·  Benchmarking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Health Insurance Company   |   Domain: Insurance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Health insurance company needed to validate SAP system under 5,000 concurrent users with strict benchmarks: dialog response &lt;1 second, CPU/memory &lt;65%, 99% DB cache hit ratio — across complex batch processes and varied network latency scenarios.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Detailed performance testing using HP LoadRunner VUGEN with production-data-based user scenarios. Gradual load increase tests, batch process impact evaluation, and targeted database optimization recommendations including secondary index creation delivered.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Production-Based Load Simulation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Test scenarios built from real user interaction and transaction data to accurately simulate usage.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HP LoadRunner VUGEN Scripts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Performance scripts for frequently used SAP T-Codes comprehensively covering critical functions.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Gradual Load Testing Protocol</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Progressive load increase with/without network latency to identify stress points.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Batch Process Performance Isolation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Analysis with/without concurrent batch processes to quantify batch impact on response times.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Database Optimization Recommendations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Targeted secondary index recommendations improving peak-load data retrieval.</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Latency Impact Analysis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Identification of response time jumps at specific latency levels guiding infrastructure remediation.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Concurrent Users Validated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Strict Performance Benchmarks Met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Optimization Roadmap Delivered</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6">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457200" y="0"/>
            <a:ext cx="11731752" cy="109728"/>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731520" y="548640"/>
            <a:ext cx="2560320" cy="384048"/>
          </a:xfrm>
          <a:prstGeom prst="roundRect">
            <a:avLst>
              <a:gd name="adj" fmla="val 19048"/>
            </a:avLst>
          </a:prstGeom>
          <a:solidFill>
            <a:srgbClr val="00A896"/>
          </a:solidFill>
          <a:ln w="12700">
            <a:solidFill>
              <a:srgbClr val="00A896"/>
            </a:solidFill>
            <a:prstDash val="solid"/>
          </a:ln>
        </p:spPr>
        <p:txBody>
          <a:bodyPr/>
          <a:lstStyle/>
          <a:p>
            <a:endParaRPr lang="en-US"/>
          </a:p>
        </p:txBody>
      </p:sp>
      <p:sp>
        <p:nvSpPr>
          <p:cNvPr id="5" name="Text 3"/>
          <p:cNvSpPr/>
          <p:nvPr/>
        </p:nvSpPr>
        <p:spPr>
          <a:xfrm>
            <a:off x="731520" y="548640"/>
            <a:ext cx="2560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WORKFORCE SOLUTIONS • J2W DELIVERY</a:t>
            </a:r>
            <a:endParaRPr lang="en-US" sz="1100" dirty="0"/>
          </a:p>
        </p:txBody>
      </p:sp>
      <p:sp>
        <p:nvSpPr>
          <p:cNvPr id="6" name="Text 4"/>
          <p:cNvSpPr/>
          <p:nvPr/>
        </p:nvSpPr>
        <p:spPr>
          <a:xfrm>
            <a:off x="731520" y="1188720"/>
            <a:ext cx="10058400" cy="14630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WORKFORCE SOLUTIONS CASE STUDIES</a:t>
            </a:r>
            <a:endParaRPr lang="en-US" sz="4600" dirty="0"/>
          </a:p>
        </p:txBody>
      </p:sp>
      <p:sp>
        <p:nvSpPr>
          <p:cNvPr id="7" name="Shape 5"/>
          <p:cNvSpPr/>
          <p:nvPr/>
        </p:nvSpPr>
        <p:spPr>
          <a:xfrm>
            <a:off x="731520" y="2834640"/>
            <a:ext cx="7315200" cy="45720"/>
          </a:xfrm>
          <a:prstGeom prst="rect">
            <a:avLst/>
          </a:prstGeom>
          <a:solidFill>
            <a:srgbClr val="00A896"/>
          </a:solidFill>
          <a:ln w="12700">
            <a:solidFill>
              <a:srgbClr val="00A896"/>
            </a:solidFill>
            <a:prstDash val="solid"/>
          </a:ln>
        </p:spPr>
        <p:txBody>
          <a:bodyPr/>
          <a:lstStyle/>
          <a:p>
            <a:endParaRPr lang="en-US"/>
          </a:p>
        </p:txBody>
      </p:sp>
      <p:sp>
        <p:nvSpPr>
          <p:cNvPr id="8" name="Text 6"/>
          <p:cNvSpPr/>
          <p:nvPr/>
        </p:nvSpPr>
        <p:spPr>
          <a:xfrm>
            <a:off x="731520" y="3017520"/>
            <a:ext cx="9144000" cy="54864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Talent acquisition, managed services, GCC setup, and workforce transformation across industries.</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GREENFIELD TO APAC INNOVATION HUB — 15-YEAR BFSI EVOLUTION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GCC  ·  APAC  ·  Banking  ·  AI Credit Risk  ·  KYC/AML  ·  Multi-City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Banking Leader, APAC   |   Domain: Banking &amp; Financial Services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bank needed to build, evolve, and scale a multi-city APAC hub across 15+ years — from lean greenfield foundation to fully automated excellence hub supporting €1.3 trillion in assets across 15 countries, with increasing compliance and AI integration requirements.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Phase 1: 120 professionals, core BFSI CoE. Phase 2: 450+ specialists, AI-driven risk automation, 98% fraud detection. Phase 3: 700+ professionals across APAC with automated KYC/AML, real-time reporting, $1.2B annual value generation.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 1 Banking GCC Foundation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120 professionals establishing core BFSI CoE operations with compliance engine and risk framework.</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 2 Digital Transformation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450+ specialists driving AI-powered risk accuracy improvement of 30% and retail banking automation of 45%.</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 3 APAC Excellence Hub</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700+ professionals across multi-city hub with automated KYC/AML and real-time reporting across 15 countries.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AI-Powered Credit Risk Modelling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92% accuracy in AI-driven credit risk modelling supporting enterprise-scale financial decision-making.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Regulatory Compliance at Scale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100% regulatory compliance maintained across all APAC jurisdictions throughout every phase.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Innovation Engine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Sustainable innovation frameworks ensuring the hub remains at the forefront of BFSI operations.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Professionals Across APAC</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92%</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AI Credit-Risk Modeling Accuracy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$1.2B</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Annual Value Generation</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FINANCE &amp; TECHNOLOGY COE BUILD — GLOBAL INDUSTRIAL LEADER (SULZER)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BOT Model  ·  150 Hires  ·  RPA  ·  Finance  ·  ServiceNow  ·  GCC</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Engineering Leader (Sulzer)   |   Domain: Industrial Engineering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industrial leader needed 150-member India CoE across Finance and Technology within 6 months — niche roles including ServiceNow engineers, SAP architects, finance transformation specialists, and data engineering leads requiring rapid scaling and operational maturity.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Build-Operate-Transfer model across 3 phases: infrastructure + 100% recruitment (months 1-2), knowledge transfer + RPA rollout (months 2-4), operational maturity with controlled transfer (months 4-6). Client Vantage dashboard integrated for real-time visibility.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BOT Operating Model</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Build-Operate-Transfer structure with Sulzer assuming control at month 6 and advisory continuing post-transfer.</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Finance Tower Excellence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O2C, P2P, R2R, and FP&amp;A each built with embedded control frameworks, compliance, and efficiency benchmarks.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C2H for Critical Roles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Contract-to-Hire at 45-50% of year-1 compensation with 85% mis-hire risk reduction and day-91 permanent conversion.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RPA &amp; AI Workflow Automation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SAP P2P, O2C, R2R automation targeting 25-30% manual effort reduction across all Finance towers.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Client Vantage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performance visibility and predictive pipeline analytics from day 1 for leadership oversight.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ServiceNow &amp; Cloud Enablement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deployment and CRM optimization for the 50-person technology track.</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Hires Completed in 6 Months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Manual Effort Reduction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Operational Leverage</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CA &amp; FINANCE TALENT PIPELINE — GLOBAL ALTERNATIVE ASSET MANAGER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CA Hiring  ·  RPO  ·  TalentAI  ·  POFU  ·  GCC  ·  Finance Talent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Global Alternative Asset Manager   |   Domain: Banking &amp; Financial Services   |   Function: Talent Acquisition &amp; Deployment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India GCC faced 17-18% offer dropout rate from long notice periods, mandatory WFO, competition from Big 4, and fragmented hiring demand. Traditional partners couldn't address structural causes of dropout at required scale.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4-pillar talent engine: pre-mapped CA warm bench, structured 90-day POFU rhythm, WFO employer brand strategy, and Managed RPO consolidating recruitment across all business units. TalentAI and TalentSphere for AI-ranked sourcing.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Pre-Vetted Immediate Joiners Pipeline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Warm bench of CAs mapped and ready before demand hits, drawn from campus, Big 4, and competitor pools.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90-Day POFU Rhythm</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post-offer follow-up with milestone touchpoints, manager connects, and counter-offer inoculation.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WFO Employer Brand Strategy</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Repositioned 5-day office as career accelerator with same-role-as-HQ messaging.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Managed RPO Partnership</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Consolidated recruitment across all business units with dedicated team eliminating vendor fragmentation.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TalentAI &amp; TalentSphere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AI-ranked candidate pools with skill-graph matching and voice-agent pre-screening for faster, higher-quality shortlisting.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Zero Subcontracting Policy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300+ in-house recruiters handling all sourcing with no subcontracting layer diluting quality.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&lt;5%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Offer Dropout (Down from 17-18%)</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 Hrs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Time to First Shortlist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Candidates Double-Screened</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12309</Words>
  <Application>Microsoft Office PowerPoint</Application>
  <PresentationFormat>Widescreen</PresentationFormat>
  <Paragraphs>1435</Paragraphs>
  <Slides>68</Slides>
  <Notes>68</Notes>
  <HiddenSlides>0</HiddenSlides>
  <MMClips>0</MMClips>
  <ScaleCrop>false</ScaleCrop>
  <HeadingPairs>
    <vt:vector size="4" baseType="variant">
      <vt:variant>
        <vt:lpstr>Theme</vt:lpstr>
      </vt:variant>
      <vt:variant>
        <vt:i4>1</vt:i4>
      </vt:variant>
      <vt:variant>
        <vt:lpstr>Slide Titles</vt:lpstr>
      </vt:variant>
      <vt:variant>
        <vt:i4>68</vt:i4>
      </vt:variant>
    </vt:vector>
  </HeadingPairs>
  <TitlesOfParts>
    <vt:vector size="6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3</cp:revision>
  <dcterms:created xsi:type="dcterms:W3CDTF">2026-06-22T10:46:20Z</dcterms:created>
  <dcterms:modified xsi:type="dcterms:W3CDTF">2026-06-22T11:17:35Z</dcterms:modified>
</cp:coreProperties>
</file>