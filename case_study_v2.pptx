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J2W_TEMPLATE: case_study_v2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852160" cy="91440"/>
          </a:xfrm>
          <a:prstGeom prst="rect">
            <a:avLst/>
          </a:prstGeom>
          <a:solidFill>
            <a:srgbClr val="C0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0" y="0"/>
            <a:ext cx="6336792" cy="91440"/>
          </a:xfrm>
          <a:prstGeom prst="rect">
            <a:avLst/>
          </a:prstGeom>
          <a:solidFill>
            <a:srgbClr val="3A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310896"/>
            <a:ext cx="59436" cy="502920"/>
          </a:xfrm>
          <a:prstGeom prst="rect">
            <a:avLst/>
          </a:prstGeom>
          <a:solidFill>
            <a:srgbClr val="C0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274320"/>
            <a:ext cx="868680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400" b="1">
                <a:solidFill>
                  <a:srgbClr val="111110"/>
                </a:solidFill>
                <a:latin typeface="Calibri"/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676656"/>
            <a:ext cx="11430000" cy="3108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>
                <a:solidFill>
                  <a:srgbClr val="3A8B82"/>
                </a:solidFill>
                <a:latin typeface="Calibri"/>
              </a:rPr>
              <a:t>CLIENT: {{CLIENT}}  |  DOMAIN: {{DOMAIN}}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280160"/>
            <a:ext cx="59436" cy="1828800"/>
          </a:xfrm>
          <a:prstGeom prst="rect">
            <a:avLst/>
          </a:prstGeom>
          <a:solidFill>
            <a:srgbClr val="C0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36" y="128016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44168"/>
            <a:ext cx="5166360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>
                <a:solidFill>
                  <a:srgbClr val="111110"/>
                </a:solidFill>
                <a:latin typeface="Calibri"/>
              </a:rP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91640"/>
            <a:ext cx="5166360" cy="1353312"/>
          </a:xfrm>
          <a:prstGeom prst="rect">
            <a:avLst/>
          </a:prstGeom>
          <a:noFill/>
        </p:spPr>
        <p:txBody>
          <a:bodyPr wrap="square" tIns="0" bIns="0" lIns="0" rIns="0">
            <a:normAutofit/>
          </a:bodyPr>
          <a:lstStyle/>
          <a:p>
            <a:pPr algn="l"/>
            <a:r>
              <a:rPr sz="1100" b="0">
                <a:solidFill>
                  <a:srgbClr val="3E3E3E"/>
                </a:solidFill>
                <a:latin typeface="Calibri"/>
              </a:rPr>
              <a:t>{{CHALLENGE}}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7607" y="1280160"/>
            <a:ext cx="59436" cy="1828800"/>
          </a:xfrm>
          <a:prstGeom prst="rect">
            <a:avLst/>
          </a:prstGeom>
          <a:solidFill>
            <a:srgbClr val="3A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67044" y="1280160"/>
            <a:ext cx="5852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5916" y="1344168"/>
            <a:ext cx="5614416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>
                <a:solidFill>
                  <a:srgbClr val="111110"/>
                </a:solidFill>
                <a:latin typeface="Calibri"/>
              </a:rPr>
              <a:t>The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5916" y="1691640"/>
            <a:ext cx="5614416" cy="1353312"/>
          </a:xfrm>
          <a:prstGeom prst="rect">
            <a:avLst/>
          </a:prstGeom>
          <a:noFill/>
        </p:spPr>
        <p:txBody>
          <a:bodyPr wrap="square" tIns="0" bIns="0" lIns="0" rIns="0">
            <a:normAutofit/>
          </a:bodyPr>
          <a:lstStyle/>
          <a:p>
            <a:pPr algn="l"/>
            <a:r>
              <a:rPr sz="1100" b="0">
                <a:solidFill>
                  <a:srgbClr val="3E3E3E"/>
                </a:solidFill>
                <a:latin typeface="Calibri"/>
              </a:rPr>
              <a:t>{{SOLUTION}}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3200400"/>
            <a:ext cx="640080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>
                <a:solidFill>
                  <a:srgbClr val="3A8B82"/>
                </a:solidFill>
                <a:latin typeface="Calibri"/>
              </a:rPr>
              <a:t>Key Capabilities Developed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3511296"/>
            <a:ext cx="3831336" cy="914400"/>
          </a:xfrm>
          <a:prstGeom prst="rect">
            <a:avLst/>
          </a:prstGeom>
          <a:solidFill>
            <a:srgbClr val="F5F5F5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75303"/>
            <a:ext cx="361188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>
                <a:solidFill>
                  <a:srgbClr val="111110"/>
                </a:solidFill>
                <a:latin typeface="Calibri"/>
              </a:rPr>
              <a:t>{{CAP_1_TITLE}}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840480"/>
            <a:ext cx="3611880" cy="512064"/>
          </a:xfrm>
          <a:prstGeom prst="rect">
            <a:avLst/>
          </a:prstGeom>
          <a:noFill/>
        </p:spPr>
        <p:txBody>
          <a:bodyPr wrap="square" tIns="0" bIns="0" lIns="0" rIns="0">
            <a:normAutofit/>
          </a:bodyPr>
          <a:lstStyle/>
          <a:p>
            <a:pPr algn="l"/>
            <a:r>
              <a:rPr sz="1100" b="0">
                <a:solidFill>
                  <a:srgbClr val="3E3E3E"/>
                </a:solidFill>
                <a:latin typeface="Calibri"/>
              </a:rPr>
              <a:t>{{CAP_1_BODY}}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83380" y="3511296"/>
            <a:ext cx="3831336" cy="914400"/>
          </a:xfrm>
          <a:prstGeom prst="rect">
            <a:avLst/>
          </a:prstGeom>
          <a:solidFill>
            <a:srgbClr val="F5F5F5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3108" y="3575303"/>
            <a:ext cx="361188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>
                <a:solidFill>
                  <a:srgbClr val="111110"/>
                </a:solidFill>
                <a:latin typeface="Calibri"/>
              </a:rPr>
              <a:t>{{CAP_2_TITLE}}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3108" y="3840480"/>
            <a:ext cx="3611880" cy="512064"/>
          </a:xfrm>
          <a:prstGeom prst="rect">
            <a:avLst/>
          </a:prstGeom>
          <a:noFill/>
        </p:spPr>
        <p:txBody>
          <a:bodyPr wrap="square" tIns="0" bIns="0" lIns="0" rIns="0">
            <a:normAutofit/>
          </a:bodyPr>
          <a:lstStyle/>
          <a:p>
            <a:pPr algn="l"/>
            <a:r>
              <a:rPr sz="1100" b="0">
                <a:solidFill>
                  <a:srgbClr val="3E3E3E"/>
                </a:solidFill>
                <a:latin typeface="Calibri"/>
              </a:rPr>
              <a:t>{{CAP_2_BODY}}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0728" y="3511296"/>
            <a:ext cx="3831336" cy="914400"/>
          </a:xfrm>
          <a:prstGeom prst="rect">
            <a:avLst/>
          </a:prstGeom>
          <a:solidFill>
            <a:srgbClr val="F5F5F5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0456" y="3575303"/>
            <a:ext cx="361188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>
                <a:solidFill>
                  <a:srgbClr val="111110"/>
                </a:solidFill>
                <a:latin typeface="Calibri"/>
              </a:rPr>
              <a:t>{{CAP_3_TITLE}}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3840480"/>
            <a:ext cx="3611880" cy="512064"/>
          </a:xfrm>
          <a:prstGeom prst="rect">
            <a:avLst/>
          </a:prstGeom>
          <a:noFill/>
        </p:spPr>
        <p:txBody>
          <a:bodyPr wrap="square" tIns="0" bIns="0" lIns="0" rIns="0">
            <a:normAutofit/>
          </a:bodyPr>
          <a:lstStyle/>
          <a:p>
            <a:pPr algn="l"/>
            <a:r>
              <a:rPr sz="1100" b="0">
                <a:solidFill>
                  <a:srgbClr val="3E3E3E"/>
                </a:solidFill>
                <a:latin typeface="Calibri"/>
              </a:rPr>
              <a:t>{{CAP_3_BODY}}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" y="4526280"/>
            <a:ext cx="3831336" cy="914400"/>
          </a:xfrm>
          <a:prstGeom prst="rect">
            <a:avLst/>
          </a:prstGeom>
          <a:solidFill>
            <a:srgbClr val="F5F5F5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590288"/>
            <a:ext cx="361188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>
                <a:solidFill>
                  <a:srgbClr val="111110"/>
                </a:solidFill>
                <a:latin typeface="Calibri"/>
              </a:rPr>
              <a:t>{{CAP_4_TITLE}}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855464"/>
            <a:ext cx="3611880" cy="512064"/>
          </a:xfrm>
          <a:prstGeom prst="rect">
            <a:avLst/>
          </a:prstGeom>
          <a:noFill/>
        </p:spPr>
        <p:txBody>
          <a:bodyPr wrap="square" tIns="0" bIns="0" lIns="0" rIns="0">
            <a:normAutofit/>
          </a:bodyPr>
          <a:lstStyle/>
          <a:p>
            <a:pPr algn="l"/>
            <a:r>
              <a:rPr sz="1100" b="0">
                <a:solidFill>
                  <a:srgbClr val="3E3E3E"/>
                </a:solidFill>
                <a:latin typeface="Calibri"/>
              </a:rPr>
              <a:t>{{CAP_4_BODY}}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83380" y="4526280"/>
            <a:ext cx="3831336" cy="914400"/>
          </a:xfrm>
          <a:prstGeom prst="rect">
            <a:avLst/>
          </a:prstGeom>
          <a:solidFill>
            <a:srgbClr val="F5F5F5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3108" y="4590288"/>
            <a:ext cx="361188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>
                <a:solidFill>
                  <a:srgbClr val="111110"/>
                </a:solidFill>
                <a:latin typeface="Calibri"/>
              </a:rPr>
              <a:t>{{CAP_5_TITLE}}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3108" y="4855464"/>
            <a:ext cx="3611880" cy="512064"/>
          </a:xfrm>
          <a:prstGeom prst="rect">
            <a:avLst/>
          </a:prstGeom>
          <a:noFill/>
        </p:spPr>
        <p:txBody>
          <a:bodyPr wrap="square" tIns="0" bIns="0" lIns="0" rIns="0">
            <a:normAutofit/>
          </a:bodyPr>
          <a:lstStyle/>
          <a:p>
            <a:pPr algn="l"/>
            <a:r>
              <a:rPr sz="1100" b="0">
                <a:solidFill>
                  <a:srgbClr val="3E3E3E"/>
                </a:solidFill>
                <a:latin typeface="Calibri"/>
              </a:rPr>
              <a:t>{{CAP_5_BODY}}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0728" y="4526280"/>
            <a:ext cx="3831336" cy="914400"/>
          </a:xfrm>
          <a:prstGeom prst="rect">
            <a:avLst/>
          </a:prstGeom>
          <a:solidFill>
            <a:srgbClr val="F5F5F5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0456" y="4590288"/>
            <a:ext cx="361188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>
                <a:solidFill>
                  <a:srgbClr val="111110"/>
                </a:solidFill>
                <a:latin typeface="Calibri"/>
              </a:rPr>
              <a:t>{{CAP_6_TITLE}}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456" y="4855464"/>
            <a:ext cx="3611880" cy="512064"/>
          </a:xfrm>
          <a:prstGeom prst="rect">
            <a:avLst/>
          </a:prstGeom>
          <a:noFill/>
        </p:spPr>
        <p:txBody>
          <a:bodyPr wrap="square" tIns="0" bIns="0" lIns="0" rIns="0">
            <a:normAutofit/>
          </a:bodyPr>
          <a:lstStyle/>
          <a:p>
            <a:pPr algn="l"/>
            <a:r>
              <a:rPr sz="1100" b="0">
                <a:solidFill>
                  <a:srgbClr val="3E3E3E"/>
                </a:solidFill>
                <a:latin typeface="Calibri"/>
              </a:rPr>
              <a:t>{{CAP_6_BODY}}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3A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" y="5614416"/>
            <a:ext cx="3697223" cy="6035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{{RESULT_1_PCT}}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" y="6272784"/>
            <a:ext cx="3788664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{{RESULT_1_TEXT}}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45864" y="5614416"/>
            <a:ext cx="3697223" cy="6035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{{RESULT_2_PCT}}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0144" y="6272784"/>
            <a:ext cx="3788664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{{RESULT_2_TEXT}}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8847" y="5614416"/>
            <a:ext cx="3697223" cy="60350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{{RESULT_3_PCT}}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3128" y="6272784"/>
            <a:ext cx="3788664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{{RESULT_3_TEXT}}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