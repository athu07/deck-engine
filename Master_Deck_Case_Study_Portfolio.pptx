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0"/>
  </p:notesMasterIdLst>
  <p:sldIdLst>
    <p:sldId id="2147483328" r:id="rId2"/>
    <p:sldId id="2147483329" r:id="rId3"/>
    <p:sldId id="2147483330" r:id="rId4"/>
    <p:sldId id="2147483327" r:id="rId5"/>
    <p:sldId id="2147483332" r:id="rId6"/>
    <p:sldId id="2147483331" r:id="rId7"/>
    <p:sldId id="2147483305" r:id="rId8"/>
    <p:sldId id="299" r:id="rId9"/>
    <p:sldId id="2147483426" r:id="rId10"/>
    <p:sldId id="2147483323" r:id="rId11"/>
    <p:sldId id="2147483416" r:id="rId12"/>
    <p:sldId id="2147483418" r:id="rId13"/>
    <p:sldId id="2147483320" r:id="rId14"/>
    <p:sldId id="2147483427" r:id="rId15"/>
    <p:sldId id="2147483428" r:id="rId16"/>
    <p:sldId id="2147483429" r:id="rId17"/>
    <p:sldId id="2147483430" r:id="rId18"/>
    <p:sldId id="2147483431" r:id="rId19"/>
    <p:sldId id="2147483432" r:id="rId20"/>
    <p:sldId id="256" r:id="rId21"/>
    <p:sldId id="257" r:id="rId22"/>
    <p:sldId id="258" r:id="rId23"/>
    <p:sldId id="259" r:id="rId24"/>
    <p:sldId id="260" r:id="rId25"/>
    <p:sldId id="261" r:id="rId26"/>
    <p:sldId id="262" r:id="rId27"/>
    <p:sldId id="263" r:id="rId28"/>
    <p:sldId id="264" r:id="rId29"/>
    <p:sldId id="265" r:id="rId30"/>
    <p:sldId id="266" r:id="rId31"/>
    <p:sldId id="267" r:id="rId32"/>
    <p:sldId id="268" r:id="rId33"/>
    <p:sldId id="269" r:id="rId34"/>
    <p:sldId id="270" r:id="rId35"/>
    <p:sldId id="271" r:id="rId36"/>
    <p:sldId id="272" r:id="rId37"/>
    <p:sldId id="273" r:id="rId38"/>
    <p:sldId id="274" r:id="rId39"/>
    <p:sldId id="275" r:id="rId40"/>
    <p:sldId id="276" r:id="rId41"/>
    <p:sldId id="277" r:id="rId42"/>
    <p:sldId id="278" r:id="rId43"/>
    <p:sldId id="279" r:id="rId44"/>
    <p:sldId id="280" r:id="rId45"/>
    <p:sldId id="281" r:id="rId46"/>
    <p:sldId id="282" r:id="rId47"/>
    <p:sldId id="283" r:id="rId48"/>
    <p:sldId id="284" r:id="rId49"/>
    <p:sldId id="285" r:id="rId50"/>
    <p:sldId id="286" r:id="rId51"/>
    <p:sldId id="287" r:id="rId52"/>
    <p:sldId id="288" r:id="rId53"/>
    <p:sldId id="289" r:id="rId54"/>
    <p:sldId id="290" r:id="rId55"/>
    <p:sldId id="291" r:id="rId56"/>
    <p:sldId id="292" r:id="rId57"/>
    <p:sldId id="293" r:id="rId58"/>
    <p:sldId id="294" r:id="rId59"/>
    <p:sldId id="295" r:id="rId60"/>
    <p:sldId id="296" r:id="rId61"/>
    <p:sldId id="2147483433" r:id="rId62"/>
    <p:sldId id="2147483434" r:id="rId63"/>
    <p:sldId id="2147483415" r:id="rId64"/>
    <p:sldId id="2147483435" r:id="rId65"/>
    <p:sldId id="2147483419" r:id="rId66"/>
    <p:sldId id="2147483420" r:id="rId67"/>
    <p:sldId id="2147483436" r:id="rId68"/>
    <p:sldId id="2147483423" r:id="rId6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984CD-E0AE-483E-8716-12DE2F9F24C4}" v="3" dt="2026-06-22T11:16:53.6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1831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988758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571011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95518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39C72-50B3-E3AF-D46A-682D935D8A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30CD18-B2E7-2213-3ADC-CC79A8BDC6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C5F7EF-8EE2-A756-31A6-FE6C1D6C1B5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488B3FC-01B1-6FC7-0489-6B130E9F03D2}"/>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3465072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1735871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5169020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82EEA-3085-13E8-584F-9DB1BB1C51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BD695A-8813-98FA-0375-DA314DBB60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137F7E-9DAC-DD80-84EA-6F843A2F33F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80812CB-0C05-4306-1A51-5CD003DFFE6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4354771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7733899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29009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3759F-D684-2B53-71A3-1873919979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B25E1F-F7FC-A264-368E-2EA22A4D6B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B15D19-27F9-D83D-845C-8CB0D0D3F63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AC283EC-4EEC-FDF0-9715-A2D0D76EEB5D}"/>
              </a:ext>
            </a:extLst>
          </p:cNvPr>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413970873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317358718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2414000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jpe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jpe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jpeg"/><Relationship Id="rId4" Type="http://schemas.openxmlformats.org/officeDocument/2006/relationships/image" Target="../media/image30.png"/><Relationship Id="rId9" Type="http://schemas.openxmlformats.org/officeDocument/2006/relationships/image" Target="../media/image35.png"/></Relationships>
</file>

<file path=ppt/slides/_rels/slide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24.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6.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23.png"/><Relationship Id="rId7" Type="http://schemas.openxmlformats.org/officeDocument/2006/relationships/image" Target="../media/image47.png"/><Relationship Id="rId12" Type="http://schemas.openxmlformats.org/officeDocument/2006/relationships/image" Target="../media/image5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image" Target="../media/image51.png"/><Relationship Id="rId5" Type="http://schemas.openxmlformats.org/officeDocument/2006/relationships/image" Target="../media/image25.png"/><Relationship Id="rId10" Type="http://schemas.openxmlformats.org/officeDocument/2006/relationships/image" Target="../media/image50.png"/><Relationship Id="rId4" Type="http://schemas.openxmlformats.org/officeDocument/2006/relationships/image" Target="../media/image24.png"/><Relationship Id="rId9" Type="http://schemas.openxmlformats.org/officeDocument/2006/relationships/image" Target="../media/image49.png"/></Relationships>
</file>

<file path=ppt/slides/_rels/slide7.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1.png"/><Relationship Id="rId3" Type="http://schemas.openxmlformats.org/officeDocument/2006/relationships/image" Target="../media/image25.png"/><Relationship Id="rId7" Type="http://schemas.openxmlformats.org/officeDocument/2006/relationships/image" Target="../media/image55.png"/><Relationship Id="rId12" Type="http://schemas.openxmlformats.org/officeDocument/2006/relationships/image" Target="../media/image6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4.png"/><Relationship Id="rId11" Type="http://schemas.openxmlformats.org/officeDocument/2006/relationships/image" Target="../media/image59.png"/><Relationship Id="rId5" Type="http://schemas.openxmlformats.org/officeDocument/2006/relationships/image" Target="../media/image53.png"/><Relationship Id="rId10" Type="http://schemas.openxmlformats.org/officeDocument/2006/relationships/image" Target="../media/image58.png"/><Relationship Id="rId4" Type="http://schemas.openxmlformats.org/officeDocument/2006/relationships/image" Target="../media/image24.png"/><Relationship Id="rId9" Type="http://schemas.openxmlformats.org/officeDocument/2006/relationships/image" Target="../media/image57.png"/><Relationship Id="rId14" Type="http://schemas.openxmlformats.org/officeDocument/2006/relationships/image" Target="../media/image62.png"/></Relationships>
</file>

<file path=ppt/slides/_rels/slide8.xml.rels><?xml version="1.0" encoding="UTF-8" standalone="yes"?>
<Relationships xmlns="http://schemas.openxmlformats.org/package/2006/relationships"><Relationship Id="rId8" Type="http://schemas.openxmlformats.org/officeDocument/2006/relationships/image" Target="../media/image65.jpeg"/><Relationship Id="rId3" Type="http://schemas.openxmlformats.org/officeDocument/2006/relationships/image" Target="../media/image34.png"/><Relationship Id="rId7" Type="http://schemas.openxmlformats.org/officeDocument/2006/relationships/image" Target="../media/image64.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3.png"/><Relationship Id="rId11" Type="http://schemas.openxmlformats.org/officeDocument/2006/relationships/image" Target="../media/image68.jpeg"/><Relationship Id="rId5" Type="http://schemas.openxmlformats.org/officeDocument/2006/relationships/image" Target="../media/image4.png"/><Relationship Id="rId10" Type="http://schemas.openxmlformats.org/officeDocument/2006/relationships/image" Target="../media/image67.jpeg"/><Relationship Id="rId4" Type="http://schemas.openxmlformats.org/officeDocument/2006/relationships/image" Target="../media/image35.png"/><Relationship Id="rId9" Type="http://schemas.openxmlformats.org/officeDocument/2006/relationships/image" Target="../media/image66.jpeg"/></Relationships>
</file>

<file path=ppt/slides/_rels/slide9.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7.png"/><Relationship Id="rId3" Type="http://schemas.openxmlformats.org/officeDocument/2006/relationships/image" Target="../media/image69.png"/><Relationship Id="rId7" Type="http://schemas.openxmlformats.org/officeDocument/2006/relationships/image" Target="../media/image71.png"/><Relationship Id="rId12" Type="http://schemas.openxmlformats.org/officeDocument/2006/relationships/image" Target="../media/image7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25.png"/><Relationship Id="rId10" Type="http://schemas.openxmlformats.org/officeDocument/2006/relationships/image" Target="../media/image74.png"/><Relationship Id="rId4" Type="http://schemas.openxmlformats.org/officeDocument/2006/relationships/image" Target="../media/image24.png"/><Relationship Id="rId9" Type="http://schemas.openxmlformats.org/officeDocument/2006/relationships/image" Target="../media/image73.png"/><Relationship Id="rId14" Type="http://schemas.openxmlformats.org/officeDocument/2006/relationships/image" Target="../media/image78.png"/></Relationships>
</file>

<file path=ppt/slides/_rels/slide10.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2.png"/><Relationship Id="rId5" Type="http://schemas.openxmlformats.org/officeDocument/2006/relationships/image" Target="../media/image81.png"/><Relationship Id="rId10" Type="http://schemas.openxmlformats.org/officeDocument/2006/relationships/image" Target="../media/image86.png"/><Relationship Id="rId4" Type="http://schemas.openxmlformats.org/officeDocument/2006/relationships/image" Target="../media/image80.png"/><Relationship Id="rId9" Type="http://schemas.openxmlformats.org/officeDocument/2006/relationships/image" Target="../media/image85.png"/></Relationships>
</file>

<file path=ppt/slides/_rels/slide11.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7.png"/><Relationship Id="rId7" Type="http://schemas.openxmlformats.org/officeDocument/2006/relationships/image" Target="../media/image8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88.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36.png"/><Relationship Id="rId7" Type="http://schemas.openxmlformats.org/officeDocument/2006/relationships/image" Target="../media/image9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1.png"/><Relationship Id="rId11" Type="http://schemas.openxmlformats.org/officeDocument/2006/relationships/image" Target="../media/image96.png"/><Relationship Id="rId5" Type="http://schemas.openxmlformats.org/officeDocument/2006/relationships/image" Target="../media/image69.png"/><Relationship Id="rId10" Type="http://schemas.openxmlformats.org/officeDocument/2006/relationships/image" Target="../media/image95.png"/><Relationship Id="rId4" Type="http://schemas.openxmlformats.org/officeDocument/2006/relationships/image" Target="../media/image37.png"/><Relationship Id="rId9" Type="http://schemas.openxmlformats.org/officeDocument/2006/relationships/image" Target="../media/image94.png"/></Relationships>
</file>

<file path=ppt/slides/_rels/slide13.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image" Target="../media/image97.png"/><Relationship Id="rId7" Type="http://schemas.openxmlformats.org/officeDocument/2006/relationships/image" Target="../media/image5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 Id="rId9" Type="http://schemas.openxmlformats.org/officeDocument/2006/relationships/image" Target="../media/image102.png"/></Relationships>
</file>

<file path=ppt/slides/_rels/slide14.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7.png"/><Relationship Id="rId3" Type="http://schemas.openxmlformats.org/officeDocument/2006/relationships/image" Target="../media/image69.png"/><Relationship Id="rId7" Type="http://schemas.openxmlformats.org/officeDocument/2006/relationships/image" Target="../media/image71.png"/><Relationship Id="rId12" Type="http://schemas.openxmlformats.org/officeDocument/2006/relationships/image" Target="../media/image7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25.png"/><Relationship Id="rId10" Type="http://schemas.openxmlformats.org/officeDocument/2006/relationships/image" Target="../media/image74.png"/><Relationship Id="rId4" Type="http://schemas.openxmlformats.org/officeDocument/2006/relationships/image" Target="../media/image24.png"/><Relationship Id="rId9" Type="http://schemas.openxmlformats.org/officeDocument/2006/relationships/image" Target="../media/image73.png"/><Relationship Id="rId14" Type="http://schemas.openxmlformats.org/officeDocument/2006/relationships/image" Target="../media/image78.png"/></Relationships>
</file>

<file path=ppt/slides/_rels/slide15.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84.png"/><Relationship Id="rId7" Type="http://schemas.openxmlformats.org/officeDocument/2006/relationships/image" Target="../media/image105.png"/><Relationship Id="rId12" Type="http://schemas.openxmlformats.org/officeDocument/2006/relationships/image" Target="../media/image11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04.png"/><Relationship Id="rId11" Type="http://schemas.openxmlformats.org/officeDocument/2006/relationships/image" Target="../media/image109.png"/><Relationship Id="rId5" Type="http://schemas.openxmlformats.org/officeDocument/2006/relationships/image" Target="../media/image103.png"/><Relationship Id="rId10" Type="http://schemas.openxmlformats.org/officeDocument/2006/relationships/image" Target="../media/image108.png"/><Relationship Id="rId4" Type="http://schemas.openxmlformats.org/officeDocument/2006/relationships/image" Target="../media/image85.png"/><Relationship Id="rId9" Type="http://schemas.openxmlformats.org/officeDocument/2006/relationships/image" Target="../media/image107.png"/></Relationships>
</file>

<file path=ppt/slides/_rels/slide16.xml.rels><?xml version="1.0" encoding="UTF-8" standalone="yes"?>
<Relationships xmlns="http://schemas.openxmlformats.org/package/2006/relationships"><Relationship Id="rId8" Type="http://schemas.openxmlformats.org/officeDocument/2006/relationships/image" Target="../media/image116.png"/><Relationship Id="rId13" Type="http://schemas.openxmlformats.org/officeDocument/2006/relationships/image" Target="../media/image121.png"/><Relationship Id="rId3" Type="http://schemas.openxmlformats.org/officeDocument/2006/relationships/image" Target="../media/image111.png"/><Relationship Id="rId7" Type="http://schemas.openxmlformats.org/officeDocument/2006/relationships/image" Target="../media/image115.png"/><Relationship Id="rId12" Type="http://schemas.openxmlformats.org/officeDocument/2006/relationships/image" Target="../media/image12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14.png"/><Relationship Id="rId11" Type="http://schemas.openxmlformats.org/officeDocument/2006/relationships/image" Target="../media/image119.png"/><Relationship Id="rId5" Type="http://schemas.openxmlformats.org/officeDocument/2006/relationships/image" Target="../media/image113.png"/><Relationship Id="rId10" Type="http://schemas.openxmlformats.org/officeDocument/2006/relationships/image" Target="../media/image118.png"/><Relationship Id="rId4" Type="http://schemas.openxmlformats.org/officeDocument/2006/relationships/image" Target="../media/image112.png"/><Relationship Id="rId9" Type="http://schemas.openxmlformats.org/officeDocument/2006/relationships/image" Target="../media/image117.png"/></Relationships>
</file>

<file path=ppt/slides/_rels/slide17.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7.png"/><Relationship Id="rId3" Type="http://schemas.openxmlformats.org/officeDocument/2006/relationships/image" Target="../media/image69.png"/><Relationship Id="rId7" Type="http://schemas.openxmlformats.org/officeDocument/2006/relationships/image" Target="../media/image71.png"/><Relationship Id="rId12" Type="http://schemas.openxmlformats.org/officeDocument/2006/relationships/image" Target="../media/image76.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25.png"/><Relationship Id="rId10" Type="http://schemas.openxmlformats.org/officeDocument/2006/relationships/image" Target="../media/image74.png"/><Relationship Id="rId4" Type="http://schemas.openxmlformats.org/officeDocument/2006/relationships/image" Target="../media/image24.png"/><Relationship Id="rId9" Type="http://schemas.openxmlformats.org/officeDocument/2006/relationships/image" Target="../media/image73.png"/><Relationship Id="rId14" Type="http://schemas.openxmlformats.org/officeDocument/2006/relationships/image" Target="../media/image78.png"/></Relationships>
</file>

<file path=ppt/slides/_rels/slide18.xml.rels><?xml version="1.0" encoding="UTF-8" standalone="yes"?>
<Relationships xmlns="http://schemas.openxmlformats.org/package/2006/relationships"><Relationship Id="rId8" Type="http://schemas.openxmlformats.org/officeDocument/2006/relationships/image" Target="../media/image124.png"/><Relationship Id="rId3" Type="http://schemas.openxmlformats.org/officeDocument/2006/relationships/image" Target="../media/image24.png"/><Relationship Id="rId7" Type="http://schemas.openxmlformats.org/officeDocument/2006/relationships/image" Target="../media/image12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22.png"/><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125.png"/></Relationships>
</file>

<file path=ppt/slides/_rels/slide19.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image" Target="../media/image135.png"/><Relationship Id="rId3" Type="http://schemas.openxmlformats.org/officeDocument/2006/relationships/image" Target="../media/image29.png"/><Relationship Id="rId7" Type="http://schemas.openxmlformats.org/officeDocument/2006/relationships/image" Target="../media/image129.png"/><Relationship Id="rId12" Type="http://schemas.openxmlformats.org/officeDocument/2006/relationships/image" Target="../media/image134.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28.png"/><Relationship Id="rId11" Type="http://schemas.openxmlformats.org/officeDocument/2006/relationships/image" Target="../media/image133.png"/><Relationship Id="rId5" Type="http://schemas.openxmlformats.org/officeDocument/2006/relationships/image" Target="../media/image127.png"/><Relationship Id="rId15" Type="http://schemas.openxmlformats.org/officeDocument/2006/relationships/image" Target="../media/image35.png"/><Relationship Id="rId10" Type="http://schemas.openxmlformats.org/officeDocument/2006/relationships/image" Target="../media/image132.png"/><Relationship Id="rId4" Type="http://schemas.openxmlformats.org/officeDocument/2006/relationships/image" Target="../media/image126.png"/><Relationship Id="rId9" Type="http://schemas.openxmlformats.org/officeDocument/2006/relationships/image" Target="../media/image131.png"/><Relationship Id="rId14" Type="http://schemas.openxmlformats.org/officeDocument/2006/relationships/image" Target="../media/image3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23.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24.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25.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26.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27.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28.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29.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30.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31.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32.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33.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34.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37.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38.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39.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40.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41.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42.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43.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44.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47.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48.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49.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50.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51.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52.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53.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54.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55.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56.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57.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58.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59.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60.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137.png"/></Relationships>
</file>

<file path=ppt/slides/_rels/slide61.xml.rels><?xml version="1.0" encoding="UTF-8" standalone="yes"?>
<Relationships xmlns="http://schemas.openxmlformats.org/package/2006/relationships"><Relationship Id="rId8" Type="http://schemas.openxmlformats.org/officeDocument/2006/relationships/image" Target="../media/image139.jpeg"/><Relationship Id="rId3" Type="http://schemas.openxmlformats.org/officeDocument/2006/relationships/image" Target="../media/image87.png"/><Relationship Id="rId7" Type="http://schemas.openxmlformats.org/officeDocument/2006/relationships/image" Target="../media/image138.jpeg"/><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31.jpeg"/><Relationship Id="rId5" Type="http://schemas.openxmlformats.org/officeDocument/2006/relationships/image" Target="../media/image33.jpeg"/><Relationship Id="rId4" Type="http://schemas.openxmlformats.org/officeDocument/2006/relationships/image" Target="../media/image26.png"/><Relationship Id="rId9" Type="http://schemas.openxmlformats.org/officeDocument/2006/relationships/image" Target="../media/image140.jpeg"/></Relationships>
</file>

<file path=ppt/slides/_rels/slide62.xml.rels><?xml version="1.0" encoding="UTF-8" standalone="yes"?>
<Relationships xmlns="http://schemas.openxmlformats.org/package/2006/relationships"><Relationship Id="rId8" Type="http://schemas.openxmlformats.org/officeDocument/2006/relationships/image" Target="../media/image139.jpeg"/><Relationship Id="rId3" Type="http://schemas.openxmlformats.org/officeDocument/2006/relationships/image" Target="../media/image87.png"/><Relationship Id="rId7" Type="http://schemas.openxmlformats.org/officeDocument/2006/relationships/image" Target="../media/image138.jpeg"/><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31.jpeg"/><Relationship Id="rId5" Type="http://schemas.openxmlformats.org/officeDocument/2006/relationships/image" Target="../media/image33.jpeg"/><Relationship Id="rId10" Type="http://schemas.openxmlformats.org/officeDocument/2006/relationships/image" Target="../media/image142.jpeg"/><Relationship Id="rId4" Type="http://schemas.openxmlformats.org/officeDocument/2006/relationships/image" Target="../media/image26.png"/><Relationship Id="rId9" Type="http://schemas.openxmlformats.org/officeDocument/2006/relationships/image" Target="../media/image141.jpeg"/></Relationships>
</file>

<file path=ppt/slides/_rels/slide63.xml.rels><?xml version="1.0" encoding="UTF-8" standalone="yes"?>
<Relationships xmlns="http://schemas.openxmlformats.org/package/2006/relationships"><Relationship Id="rId8" Type="http://schemas.openxmlformats.org/officeDocument/2006/relationships/image" Target="../media/image145.png"/><Relationship Id="rId3" Type="http://schemas.openxmlformats.org/officeDocument/2006/relationships/image" Target="../media/image97.png"/><Relationship Id="rId7" Type="http://schemas.openxmlformats.org/officeDocument/2006/relationships/image" Target="../media/image144.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image" Target="../media/image143.png"/><Relationship Id="rId11" Type="http://schemas.openxmlformats.org/officeDocument/2006/relationships/image" Target="../media/image148.png"/><Relationship Id="rId5" Type="http://schemas.openxmlformats.org/officeDocument/2006/relationships/image" Target="../media/image70.png"/><Relationship Id="rId10" Type="http://schemas.openxmlformats.org/officeDocument/2006/relationships/image" Target="../media/image147.png"/><Relationship Id="rId4" Type="http://schemas.openxmlformats.org/officeDocument/2006/relationships/image" Target="../media/image98.png"/><Relationship Id="rId9" Type="http://schemas.openxmlformats.org/officeDocument/2006/relationships/image" Target="../media/image146.png"/></Relationships>
</file>

<file path=ppt/slides/_rels/slide64.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7.png"/><Relationship Id="rId7" Type="http://schemas.openxmlformats.org/officeDocument/2006/relationships/image" Target="../media/image89.png"/><Relationship Id="rId2" Type="http://schemas.openxmlformats.org/officeDocument/2006/relationships/notesSlide" Target="../notesSlides/notesSlide64.xml"/><Relationship Id="rId1" Type="http://schemas.openxmlformats.org/officeDocument/2006/relationships/slideLayout" Target="../slideLayouts/slideLayout1.xml"/><Relationship Id="rId6" Type="http://schemas.openxmlformats.org/officeDocument/2006/relationships/image" Target="../media/image88.png"/><Relationship Id="rId5" Type="http://schemas.openxmlformats.org/officeDocument/2006/relationships/image" Target="../media/image25.png"/><Relationship Id="rId4" Type="http://schemas.openxmlformats.org/officeDocument/2006/relationships/image" Target="../media/image24.png"/></Relationships>
</file>

<file path=ppt/slides/_rels/slide65.xml.rels><?xml version="1.0" encoding="UTF-8" standalone="yes"?>
<Relationships xmlns="http://schemas.openxmlformats.org/package/2006/relationships"><Relationship Id="rId3" Type="http://schemas.openxmlformats.org/officeDocument/2006/relationships/image" Target="../media/image87.png"/><Relationship Id="rId7" Type="http://schemas.openxmlformats.org/officeDocument/2006/relationships/image" Target="../media/image149.png"/><Relationship Id="rId2" Type="http://schemas.openxmlformats.org/officeDocument/2006/relationships/notesSlide" Target="../notesSlides/notesSlide65.xml"/><Relationship Id="rId1" Type="http://schemas.openxmlformats.org/officeDocument/2006/relationships/slideLayout" Target="../slideLayouts/slideLayout1.xml"/><Relationship Id="rId6" Type="http://schemas.openxmlformats.org/officeDocument/2006/relationships/image" Target="../media/image88.png"/><Relationship Id="rId5" Type="http://schemas.openxmlformats.org/officeDocument/2006/relationships/image" Target="../media/image25.png"/><Relationship Id="rId4" Type="http://schemas.openxmlformats.org/officeDocument/2006/relationships/image" Target="../media/image24.png"/></Relationships>
</file>

<file path=ppt/slides/_rels/slide66.xml.rels><?xml version="1.0" encoding="UTF-8" standalone="yes"?>
<Relationships xmlns="http://schemas.openxmlformats.org/package/2006/relationships"><Relationship Id="rId8" Type="http://schemas.openxmlformats.org/officeDocument/2006/relationships/image" Target="../media/image154.png"/><Relationship Id="rId13" Type="http://schemas.openxmlformats.org/officeDocument/2006/relationships/image" Target="../media/image159.png"/><Relationship Id="rId3" Type="http://schemas.openxmlformats.org/officeDocument/2006/relationships/image" Target="../media/image150.svg"/><Relationship Id="rId7" Type="http://schemas.openxmlformats.org/officeDocument/2006/relationships/image" Target="../media/image153.png"/><Relationship Id="rId12" Type="http://schemas.openxmlformats.org/officeDocument/2006/relationships/image" Target="../media/image158.png"/><Relationship Id="rId2" Type="http://schemas.openxmlformats.org/officeDocument/2006/relationships/notesSlide" Target="../notesSlides/notesSlide66.xml"/><Relationship Id="rId1" Type="http://schemas.openxmlformats.org/officeDocument/2006/relationships/slideLayout" Target="../slideLayouts/slideLayout1.xml"/><Relationship Id="rId6" Type="http://schemas.openxmlformats.org/officeDocument/2006/relationships/image" Target="../media/image122.png"/><Relationship Id="rId11" Type="http://schemas.openxmlformats.org/officeDocument/2006/relationships/image" Target="../media/image157.png"/><Relationship Id="rId5" Type="http://schemas.openxmlformats.org/officeDocument/2006/relationships/image" Target="../media/image152.png"/><Relationship Id="rId10" Type="http://schemas.openxmlformats.org/officeDocument/2006/relationships/image" Target="../media/image156.png"/><Relationship Id="rId4" Type="http://schemas.openxmlformats.org/officeDocument/2006/relationships/image" Target="../media/image151.png"/><Relationship Id="rId9" Type="http://schemas.openxmlformats.org/officeDocument/2006/relationships/image" Target="../media/image155.png"/></Relationships>
</file>

<file path=ppt/slides/_rels/slide67.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image" Target="../media/image97.png"/><Relationship Id="rId7" Type="http://schemas.openxmlformats.org/officeDocument/2006/relationships/image" Target="../media/image53.png"/><Relationship Id="rId2" Type="http://schemas.openxmlformats.org/officeDocument/2006/relationships/notesSlide" Target="../notesSlides/notesSlide67.xml"/><Relationship Id="rId1" Type="http://schemas.openxmlformats.org/officeDocument/2006/relationships/slideLayout" Target="../slideLayouts/slideLayout1.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 Id="rId9" Type="http://schemas.openxmlformats.org/officeDocument/2006/relationships/image" Target="../media/image102.png"/></Relationships>
</file>

<file path=ppt/slides/_rels/slide6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8.xml"/><Relationship Id="rId1" Type="http://schemas.openxmlformats.org/officeDocument/2006/relationships/slideLayout" Target="../slideLayouts/slideLayout1.xml"/><Relationship Id="rId6" Type="http://schemas.openxmlformats.org/officeDocument/2006/relationships/image" Target="../media/image160.png"/><Relationship Id="rId5" Type="http://schemas.openxmlformats.org/officeDocument/2006/relationships/image" Target="../media/image2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w="12700">
            <a:solidFill>
              <a:srgbClr val="FFFFFF">
                <a:alpha val="0"/>
              </a:srgbClr>
            </a:solidFill>
            <a:prstDash val="solid"/>
          </a:ln>
        </p:spPr>
        <p:txBody>
          <a:bodyPr/>
          <a:lstStyle/>
          <a:p>
            <a:endParaRPr lang="en-US"/>
          </a:p>
        </p:txBody>
      </p:sp>
      <p:sp>
        <p:nvSpPr>
          <p:cNvPr id="3" name="Shape 1"/>
          <p:cNvSpPr/>
          <p:nvPr/>
        </p:nvSpPr>
        <p:spPr>
          <a:xfrm>
            <a:off x="305" y="0"/>
            <a:ext cx="12191695" cy="6858000"/>
          </a:xfrm>
          <a:prstGeom prst="rect">
            <a:avLst/>
          </a:prstGeom>
          <a:solidFill>
            <a:srgbClr val="FFFFFF"/>
          </a:solidFill>
          <a:ln w="12700">
            <a:solidFill>
              <a:srgbClr val="FFFFFF">
                <a:alpha val="0"/>
              </a:srgbClr>
            </a:solidFill>
            <a:prstDash val="solid"/>
          </a:ln>
        </p:spPr>
        <p:txBody>
          <a:bodyPr/>
          <a:lstStyle/>
          <a:p>
            <a:pPr algn="ctr"/>
            <a:endParaRPr lang="en-US"/>
          </a:p>
        </p:txBody>
      </p:sp>
      <p:pic>
        <p:nvPicPr>
          <p:cNvPr id="4" name="Image 0" descr="preencoded.png"/>
          <p:cNvPicPr>
            <a:picLocks noChangeAspect="1"/>
          </p:cNvPicPr>
          <p:nvPr/>
        </p:nvPicPr>
        <p:blipFill>
          <a:blip r:embed="rId3"/>
          <a:srcRect/>
          <a:stretch/>
        </p:blipFill>
        <p:spPr>
          <a:xfrm>
            <a:off x="9334195" y="0"/>
            <a:ext cx="2857500" cy="2857500"/>
          </a:xfrm>
          <a:prstGeom prst="rect">
            <a:avLst/>
          </a:prstGeom>
        </p:spPr>
      </p:pic>
      <p:sp>
        <p:nvSpPr>
          <p:cNvPr id="5" name="Shape 2"/>
          <p:cNvSpPr/>
          <p:nvPr/>
        </p:nvSpPr>
        <p:spPr>
          <a:xfrm>
            <a:off x="0" y="5905195"/>
            <a:ext cx="3810305" cy="952805"/>
          </a:xfrm>
          <a:custGeom>
            <a:avLst/>
            <a:gdLst/>
            <a:ahLst/>
            <a:cxnLst/>
            <a:rect l="l" t="t" r="r" b="b"/>
            <a:pathLst>
              <a:path w="3810305" h="952805">
                <a:moveTo>
                  <a:pt x="0" y="952805"/>
                </a:moveTo>
                <a:lnTo>
                  <a:pt x="3810305" y="952805"/>
                </a:lnTo>
                <a:lnTo>
                  <a:pt x="0" y="0"/>
                </a:lnTo>
                <a:close/>
              </a:path>
            </a:pathLst>
          </a:custGeom>
          <a:solidFill>
            <a:srgbClr val="D62839">
              <a:alpha val="3000"/>
            </a:srgbClr>
          </a:solidFill>
          <a:ln/>
        </p:spPr>
        <p:txBody>
          <a:bodyPr/>
          <a:lstStyle/>
          <a:p>
            <a:endParaRPr lang="en-US"/>
          </a:p>
        </p:txBody>
      </p:sp>
      <p:pic>
        <p:nvPicPr>
          <p:cNvPr id="6" name="Image 1" descr="preencoded.png"/>
          <p:cNvPicPr>
            <a:picLocks noChangeAspect="1"/>
          </p:cNvPicPr>
          <p:nvPr/>
        </p:nvPicPr>
        <p:blipFill>
          <a:blip r:embed="rId4"/>
          <a:srcRect l="-202" r="-202"/>
          <a:stretch/>
        </p:blipFill>
        <p:spPr>
          <a:xfrm>
            <a:off x="0" y="0"/>
            <a:ext cx="8128102" cy="75895"/>
          </a:xfrm>
          <a:prstGeom prst="rect">
            <a:avLst/>
          </a:prstGeom>
        </p:spPr>
      </p:pic>
      <p:pic>
        <p:nvPicPr>
          <p:cNvPr id="7" name="Image 2" descr="preencoded.png"/>
          <p:cNvPicPr>
            <a:picLocks noChangeAspect="1"/>
          </p:cNvPicPr>
          <p:nvPr/>
        </p:nvPicPr>
        <p:blipFill>
          <a:blip r:embed="rId5"/>
          <a:srcRect l="-197" r="-197"/>
          <a:stretch/>
        </p:blipFill>
        <p:spPr>
          <a:xfrm>
            <a:off x="8128102" y="0"/>
            <a:ext cx="4063594" cy="75895"/>
          </a:xfrm>
          <a:prstGeom prst="rect">
            <a:avLst/>
          </a:prstGeom>
        </p:spPr>
      </p:pic>
      <p:sp>
        <p:nvSpPr>
          <p:cNvPr id="8" name="Text 3"/>
          <p:cNvSpPr txBox="1"/>
          <p:nvPr/>
        </p:nvSpPr>
        <p:spPr>
          <a:xfrm>
            <a:off x="2774290" y="3881628"/>
            <a:ext cx="6648602" cy="267005"/>
          </a:xfrm>
          <a:prstGeom prst="rect">
            <a:avLst/>
          </a:prstGeom>
          <a:noFill/>
          <a:ln/>
        </p:spPr>
        <p:txBody>
          <a:bodyPr wrap="square" lIns="0" tIns="0" rIns="0" bIns="0" rtlCol="0" anchor="ctr"/>
          <a:lstStyle/>
          <a:p>
            <a:pPr marL="0" indent="0" algn="ctr">
              <a:buNone/>
            </a:pPr>
            <a:r>
              <a:rPr lang="en-US" sz="1500" b="1">
                <a:solidFill>
                  <a:srgbClr val="4B5563"/>
                </a:solidFill>
                <a:latin typeface="Roboto Condensed" pitchFamily="34" charset="0"/>
                <a:ea typeface="Roboto Condensed" pitchFamily="34" charset="-122"/>
                <a:cs typeface="Roboto Condensed" pitchFamily="34" charset="-120"/>
              </a:rPr>
              <a:t>BUSINESS DRIVERS</a:t>
            </a:r>
            <a:r>
              <a:rPr lang="en-US" sz="1200" b="1">
                <a:solidFill>
                  <a:srgbClr val="D62839"/>
                </a:solidFill>
                <a:latin typeface="Raleway" pitchFamily="34" charset="0"/>
                <a:ea typeface="Raleway" pitchFamily="34" charset="-122"/>
                <a:cs typeface="Raleway" pitchFamily="34" charset="-120"/>
              </a:rPr>
              <a:t>|</a:t>
            </a:r>
            <a:r>
              <a:rPr lang="en-US" sz="1500" b="1">
                <a:solidFill>
                  <a:srgbClr val="4B5563"/>
                </a:solidFill>
                <a:latin typeface="Roboto Condensed" pitchFamily="34" charset="0"/>
                <a:ea typeface="Roboto Condensed" pitchFamily="34" charset="-122"/>
                <a:cs typeface="Roboto Condensed" pitchFamily="34" charset="-120"/>
              </a:rPr>
              <a:t> TECHNOLOGY ACCELERATORS </a:t>
            </a:r>
            <a:r>
              <a:rPr lang="en-US" sz="1200" b="1">
                <a:solidFill>
                  <a:srgbClr val="D62839"/>
                </a:solidFill>
                <a:latin typeface="Raleway" pitchFamily="34" charset="0"/>
                <a:ea typeface="Raleway" pitchFamily="34" charset="-122"/>
                <a:cs typeface="Raleway" pitchFamily="34" charset="-120"/>
              </a:rPr>
              <a:t>|</a:t>
            </a:r>
            <a:r>
              <a:rPr lang="en-US" sz="1500" b="1">
                <a:solidFill>
                  <a:srgbClr val="4B5563"/>
                </a:solidFill>
                <a:latin typeface="Roboto Condensed" pitchFamily="34" charset="0"/>
                <a:ea typeface="Roboto Condensed" pitchFamily="34" charset="-122"/>
                <a:cs typeface="Roboto Condensed" pitchFamily="34" charset="-120"/>
              </a:rPr>
              <a:t> GAME CHANGERS </a:t>
            </a:r>
            <a:endParaRPr lang="en-US" sz="1200"/>
          </a:p>
        </p:txBody>
      </p:sp>
      <p:sp>
        <p:nvSpPr>
          <p:cNvPr id="9" name="Text 4"/>
          <p:cNvSpPr txBox="1"/>
          <p:nvPr/>
        </p:nvSpPr>
        <p:spPr>
          <a:xfrm>
            <a:off x="4153205" y="4262933"/>
            <a:ext cx="3893515" cy="305410"/>
          </a:xfrm>
          <a:prstGeom prst="rect">
            <a:avLst/>
          </a:prstGeom>
          <a:noFill/>
          <a:ln/>
        </p:spPr>
        <p:txBody>
          <a:bodyPr wrap="square" lIns="0" tIns="0" rIns="0" bIns="0" rtlCol="0" anchor="ctr"/>
          <a:lstStyle/>
          <a:p>
            <a:pPr marL="0" indent="0" algn="ctr">
              <a:buNone/>
            </a:pPr>
            <a:r>
              <a:rPr lang="en-US" sz="1800" i="1">
                <a:solidFill>
                  <a:srgbClr val="D62839"/>
                </a:solidFill>
                <a:latin typeface="Raleway" pitchFamily="34" charset="0"/>
                <a:ea typeface="Raleway" pitchFamily="34" charset="-122"/>
                <a:cs typeface="Raleway" pitchFamily="34" charset="-120"/>
              </a:rPr>
              <a:t>Energy. Excellence. Innovation.</a:t>
            </a:r>
            <a:endParaRPr lang="en-US" sz="1800"/>
          </a:p>
        </p:txBody>
      </p:sp>
      <p:pic>
        <p:nvPicPr>
          <p:cNvPr id="10" name="Image 3" descr="preencoded.png"/>
          <p:cNvPicPr>
            <a:picLocks noChangeAspect="1"/>
          </p:cNvPicPr>
          <p:nvPr/>
        </p:nvPicPr>
        <p:blipFill>
          <a:blip r:embed="rId6"/>
          <a:srcRect l="141" r="141"/>
          <a:stretch/>
        </p:blipFill>
        <p:spPr>
          <a:xfrm>
            <a:off x="4629607" y="447142"/>
            <a:ext cx="2933395" cy="1419149"/>
          </a:xfrm>
          <a:prstGeom prst="rect">
            <a:avLst/>
          </a:prstGeom>
        </p:spPr>
      </p:pic>
      <p:sp>
        <p:nvSpPr>
          <p:cNvPr id="11" name="Text 5"/>
          <p:cNvSpPr txBox="1"/>
          <p:nvPr/>
        </p:nvSpPr>
        <p:spPr>
          <a:xfrm>
            <a:off x="1287018" y="2262226"/>
            <a:ext cx="9475927" cy="1143000"/>
          </a:xfrm>
          <a:prstGeom prst="rect">
            <a:avLst/>
          </a:prstGeom>
          <a:noFill/>
          <a:ln/>
        </p:spPr>
        <p:txBody>
          <a:bodyPr wrap="square" lIns="0" tIns="0" rIns="0" bIns="0" rtlCol="0" anchor="ctr"/>
          <a:lstStyle/>
          <a:p>
            <a:pPr marL="0" indent="0" algn="ctr">
              <a:buNone/>
            </a:pPr>
            <a:r>
              <a:rPr lang="en-US" sz="3600" b="1" dirty="0">
                <a:solidFill>
                  <a:srgbClr val="1F2937"/>
                </a:solidFill>
                <a:latin typeface="Oswald" pitchFamily="34" charset="0"/>
                <a:ea typeface="Oswald" pitchFamily="34" charset="-122"/>
                <a:cs typeface="Oswald" pitchFamily="34" charset="-120"/>
              </a:rPr>
              <a:t> Building the Enterprise Operating Model​</a:t>
            </a:r>
          </a:p>
          <a:p>
            <a:pPr marL="0" indent="0" algn="ctr">
              <a:buNone/>
            </a:pPr>
            <a:r>
              <a:rPr lang="en-US" sz="3600" b="1" dirty="0">
                <a:solidFill>
                  <a:srgbClr val="1F2937"/>
                </a:solidFill>
                <a:latin typeface="Oswald" pitchFamily="34" charset="0"/>
                <a:ea typeface="Oswald" pitchFamily="34" charset="-122"/>
                <a:cs typeface="Oswald" pitchFamily="34" charset="-120"/>
              </a:rPr>
              <a:t>for the Next Decade​</a:t>
            </a:r>
          </a:p>
        </p:txBody>
      </p:sp>
      <p:pic>
        <p:nvPicPr>
          <p:cNvPr id="12" name="Image 4" descr="preencoded.png"/>
          <p:cNvPicPr>
            <a:picLocks noChangeAspect="1"/>
          </p:cNvPicPr>
          <p:nvPr/>
        </p:nvPicPr>
        <p:blipFill>
          <a:blip r:embed="rId7"/>
          <a:srcRect t="-400" b="-400"/>
          <a:stretch/>
        </p:blipFill>
        <p:spPr>
          <a:xfrm>
            <a:off x="5639105" y="3596335"/>
            <a:ext cx="914400" cy="57607"/>
          </a:xfrm>
          <a:prstGeom prst="rect">
            <a:avLst/>
          </a:prstGeom>
        </p:spPr>
      </p:pic>
      <p:sp>
        <p:nvSpPr>
          <p:cNvPr id="13" name="Shape 6"/>
          <p:cNvSpPr/>
          <p:nvPr/>
        </p:nvSpPr>
        <p:spPr>
          <a:xfrm>
            <a:off x="0" y="5238598"/>
            <a:ext cx="12191695" cy="1619402"/>
          </a:xfrm>
          <a:prstGeom prst="rect">
            <a:avLst/>
          </a:prstGeom>
          <a:solidFill>
            <a:srgbClr val="F9FAFB"/>
          </a:solidFill>
          <a:ln/>
        </p:spPr>
        <p:txBody>
          <a:bodyPr/>
          <a:lstStyle/>
          <a:p>
            <a:endParaRPr lang="en-US"/>
          </a:p>
        </p:txBody>
      </p:sp>
      <p:sp>
        <p:nvSpPr>
          <p:cNvPr id="14" name="Shape 7"/>
          <p:cNvSpPr/>
          <p:nvPr/>
        </p:nvSpPr>
        <p:spPr>
          <a:xfrm>
            <a:off x="0" y="5238598"/>
            <a:ext cx="12191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15" name="Shape 8"/>
          <p:cNvSpPr/>
          <p:nvPr/>
        </p:nvSpPr>
        <p:spPr>
          <a:xfrm>
            <a:off x="10201961" y="5362956"/>
            <a:ext cx="9144" cy="1380744"/>
          </a:xfrm>
          <a:prstGeom prst="rect">
            <a:avLst/>
          </a:prstGeom>
          <a:solidFill>
            <a:srgbClr val="D1D5DB"/>
          </a:solidFill>
          <a:ln w="12700">
            <a:solidFill>
              <a:srgbClr val="D1D5DB">
                <a:alpha val="0"/>
              </a:srgbClr>
            </a:solidFill>
            <a:prstDash val="solid"/>
          </a:ln>
        </p:spPr>
        <p:txBody>
          <a:bodyPr/>
          <a:lstStyle/>
          <a:p>
            <a:endParaRPr lang="en-US"/>
          </a:p>
        </p:txBody>
      </p:sp>
      <p:sp>
        <p:nvSpPr>
          <p:cNvPr id="16" name="Text 9"/>
          <p:cNvSpPr txBox="1"/>
          <p:nvPr/>
        </p:nvSpPr>
        <p:spPr>
          <a:xfrm>
            <a:off x="457200" y="5362956"/>
            <a:ext cx="9630461" cy="191110"/>
          </a:xfrm>
          <a:prstGeom prst="rect">
            <a:avLst/>
          </a:prstGeom>
          <a:noFill/>
          <a:ln/>
        </p:spPr>
        <p:txBody>
          <a:bodyPr wrap="squar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Trusted by:</a:t>
            </a:r>
            <a:endParaRPr lang="en-US" sz="1000"/>
          </a:p>
        </p:txBody>
      </p:sp>
      <p:sp>
        <p:nvSpPr>
          <p:cNvPr id="17" name="Shape 10"/>
          <p:cNvSpPr/>
          <p:nvPr/>
        </p:nvSpPr>
        <p:spPr>
          <a:xfrm>
            <a:off x="10362895" y="560527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18" name="Image 5" descr="preencoded.png"/>
          <p:cNvPicPr>
            <a:picLocks noChangeAspect="1"/>
          </p:cNvPicPr>
          <p:nvPr/>
        </p:nvPicPr>
        <p:blipFill>
          <a:blip r:embed="rId8"/>
          <a:srcRect/>
          <a:stretch/>
        </p:blipFill>
        <p:spPr>
          <a:xfrm>
            <a:off x="10577779" y="5672023"/>
            <a:ext cx="114300" cy="114300"/>
          </a:xfrm>
          <a:prstGeom prst="rect">
            <a:avLst/>
          </a:prstGeom>
        </p:spPr>
      </p:pic>
      <p:sp>
        <p:nvSpPr>
          <p:cNvPr id="19" name="Text 11"/>
          <p:cNvSpPr txBox="1"/>
          <p:nvPr/>
        </p:nvSpPr>
        <p:spPr>
          <a:xfrm>
            <a:off x="10767974" y="5605272"/>
            <a:ext cx="8101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ISO 9001:2015</a:t>
            </a:r>
            <a:endParaRPr lang="en-US" sz="900"/>
          </a:p>
        </p:txBody>
      </p:sp>
      <p:sp>
        <p:nvSpPr>
          <p:cNvPr id="20" name="Shape 12"/>
          <p:cNvSpPr/>
          <p:nvPr/>
        </p:nvSpPr>
        <p:spPr>
          <a:xfrm>
            <a:off x="10362895" y="5928970"/>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1" name="Image 6" descr="preencoded.png"/>
          <p:cNvPicPr>
            <a:picLocks noChangeAspect="1"/>
          </p:cNvPicPr>
          <p:nvPr/>
        </p:nvPicPr>
        <p:blipFill>
          <a:blip r:embed="rId9"/>
          <a:srcRect/>
          <a:stretch/>
        </p:blipFill>
        <p:spPr>
          <a:xfrm>
            <a:off x="10554919" y="5995721"/>
            <a:ext cx="114300" cy="114300"/>
          </a:xfrm>
          <a:prstGeom prst="rect">
            <a:avLst/>
          </a:prstGeom>
        </p:spPr>
      </p:pic>
      <p:sp>
        <p:nvSpPr>
          <p:cNvPr id="22" name="Text 13"/>
          <p:cNvSpPr txBox="1"/>
          <p:nvPr/>
        </p:nvSpPr>
        <p:spPr>
          <a:xfrm>
            <a:off x="10745114" y="5928970"/>
            <a:ext cx="857707"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CMMI Certified</a:t>
            </a:r>
            <a:endParaRPr lang="en-US" sz="900"/>
          </a:p>
        </p:txBody>
      </p:sp>
      <p:sp>
        <p:nvSpPr>
          <p:cNvPr id="23" name="Shape 14"/>
          <p:cNvSpPr/>
          <p:nvPr/>
        </p:nvSpPr>
        <p:spPr>
          <a:xfrm>
            <a:off x="10362895" y="625358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4" name="Image 7" descr="preencoded.png"/>
          <p:cNvPicPr>
            <a:picLocks noChangeAspect="1"/>
          </p:cNvPicPr>
          <p:nvPr/>
        </p:nvPicPr>
        <p:blipFill>
          <a:blip r:embed="rId10"/>
          <a:srcRect l="-133" r="-133"/>
          <a:stretch/>
        </p:blipFill>
        <p:spPr>
          <a:xfrm>
            <a:off x="10537546" y="6319418"/>
            <a:ext cx="85954" cy="114300"/>
          </a:xfrm>
          <a:prstGeom prst="rect">
            <a:avLst/>
          </a:prstGeom>
        </p:spPr>
      </p:pic>
      <p:sp>
        <p:nvSpPr>
          <p:cNvPr id="25" name="Text 15"/>
          <p:cNvSpPr txBox="1"/>
          <p:nvPr/>
        </p:nvSpPr>
        <p:spPr>
          <a:xfrm>
            <a:off x="10699394" y="6253582"/>
            <a:ext cx="9244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Women-Owned</a:t>
            </a:r>
            <a:endParaRPr lang="en-US" sz="900"/>
          </a:p>
        </p:txBody>
      </p:sp>
      <p:pic>
        <p:nvPicPr>
          <p:cNvPr id="26" name="Image 8" descr="preencoded.png"/>
          <p:cNvPicPr>
            <a:picLocks noChangeAspect="1"/>
          </p:cNvPicPr>
          <p:nvPr/>
        </p:nvPicPr>
        <p:blipFill>
          <a:blip r:embed="rId11">
            <a:alphaModFix amt="90000"/>
          </a:blip>
          <a:srcRect/>
          <a:stretch/>
        </p:blipFill>
        <p:spPr>
          <a:xfrm>
            <a:off x="457200" y="5700370"/>
            <a:ext cx="428854" cy="428854"/>
          </a:xfrm>
          <a:prstGeom prst="rect">
            <a:avLst/>
          </a:prstGeom>
        </p:spPr>
      </p:pic>
      <p:pic>
        <p:nvPicPr>
          <p:cNvPr id="27" name="Image 9" descr="preencoded.png"/>
          <p:cNvPicPr>
            <a:picLocks noChangeAspect="1"/>
          </p:cNvPicPr>
          <p:nvPr/>
        </p:nvPicPr>
        <p:blipFill>
          <a:blip r:embed="rId12">
            <a:alphaModFix amt="90000"/>
          </a:blip>
          <a:srcRect l="2016" r="2016"/>
          <a:stretch/>
        </p:blipFill>
        <p:spPr>
          <a:xfrm>
            <a:off x="1578254" y="5805526"/>
            <a:ext cx="1143000" cy="228600"/>
          </a:xfrm>
          <a:prstGeom prst="rect">
            <a:avLst/>
          </a:prstGeom>
        </p:spPr>
      </p:pic>
      <p:pic>
        <p:nvPicPr>
          <p:cNvPr id="28" name="Image 10" descr="preencoded.png"/>
          <p:cNvPicPr>
            <a:picLocks noChangeAspect="1"/>
          </p:cNvPicPr>
          <p:nvPr/>
        </p:nvPicPr>
        <p:blipFill>
          <a:blip r:embed="rId13">
            <a:alphaModFix amt="90000"/>
          </a:blip>
          <a:srcRect t="569" b="569"/>
          <a:stretch/>
        </p:blipFill>
        <p:spPr>
          <a:xfrm>
            <a:off x="3413455" y="5639105"/>
            <a:ext cx="838505" cy="552298"/>
          </a:xfrm>
          <a:prstGeom prst="rect">
            <a:avLst/>
          </a:prstGeom>
        </p:spPr>
      </p:pic>
      <p:pic>
        <p:nvPicPr>
          <p:cNvPr id="29" name="Image 11" descr="preencoded.png"/>
          <p:cNvPicPr>
            <a:picLocks noChangeAspect="1"/>
          </p:cNvPicPr>
          <p:nvPr/>
        </p:nvPicPr>
        <p:blipFill>
          <a:blip r:embed="rId14">
            <a:alphaModFix amt="90000"/>
          </a:blip>
          <a:srcRect t="563" b="563"/>
          <a:stretch/>
        </p:blipFill>
        <p:spPr>
          <a:xfrm>
            <a:off x="4935017" y="5648249"/>
            <a:ext cx="809244" cy="533095"/>
          </a:xfrm>
          <a:prstGeom prst="rect">
            <a:avLst/>
          </a:prstGeom>
        </p:spPr>
      </p:pic>
      <p:pic>
        <p:nvPicPr>
          <p:cNvPr id="30" name="Image 12" descr="preencoded.png"/>
          <p:cNvPicPr>
            <a:picLocks noChangeAspect="1"/>
          </p:cNvPicPr>
          <p:nvPr/>
        </p:nvPicPr>
        <p:blipFill>
          <a:blip r:embed="rId15">
            <a:alphaModFix amt="90000"/>
          </a:blip>
          <a:srcRect t="267" b="267"/>
          <a:stretch/>
        </p:blipFill>
        <p:spPr>
          <a:xfrm>
            <a:off x="6427318" y="5648249"/>
            <a:ext cx="952805" cy="533095"/>
          </a:xfrm>
          <a:prstGeom prst="rect">
            <a:avLst/>
          </a:prstGeom>
        </p:spPr>
      </p:pic>
      <p:pic>
        <p:nvPicPr>
          <p:cNvPr id="31" name="Image 13" descr="preencoded.png"/>
          <p:cNvPicPr>
            <a:picLocks noChangeAspect="1"/>
          </p:cNvPicPr>
          <p:nvPr/>
        </p:nvPicPr>
        <p:blipFill>
          <a:blip r:embed="rId16">
            <a:alphaModFix amt="90000"/>
          </a:blip>
          <a:srcRect/>
          <a:stretch/>
        </p:blipFill>
        <p:spPr>
          <a:xfrm>
            <a:off x="8067751" y="5662879"/>
            <a:ext cx="504749" cy="504749"/>
          </a:xfrm>
          <a:prstGeom prst="rect">
            <a:avLst/>
          </a:prstGeom>
        </p:spPr>
      </p:pic>
      <p:pic>
        <p:nvPicPr>
          <p:cNvPr id="32" name="Image 14" descr="preencoded.png"/>
          <p:cNvPicPr>
            <a:picLocks noChangeAspect="1"/>
          </p:cNvPicPr>
          <p:nvPr/>
        </p:nvPicPr>
        <p:blipFill>
          <a:blip r:embed="rId17">
            <a:alphaModFix amt="90000"/>
          </a:blip>
          <a:srcRect t="525" b="525"/>
          <a:stretch/>
        </p:blipFill>
        <p:spPr>
          <a:xfrm>
            <a:off x="9265615" y="5662879"/>
            <a:ext cx="714146" cy="504749"/>
          </a:xfrm>
          <a:prstGeom prst="rect">
            <a:avLst/>
          </a:prstGeom>
        </p:spPr>
      </p:pic>
      <p:pic>
        <p:nvPicPr>
          <p:cNvPr id="33" name="Image 15" descr="preencoded.png"/>
          <p:cNvPicPr>
            <a:picLocks noChangeAspect="1"/>
          </p:cNvPicPr>
          <p:nvPr/>
        </p:nvPicPr>
        <p:blipFill>
          <a:blip r:embed="rId18">
            <a:alphaModFix amt="90000"/>
          </a:blip>
          <a:srcRect l="688" r="688"/>
          <a:stretch/>
        </p:blipFill>
        <p:spPr>
          <a:xfrm>
            <a:off x="457200" y="6445606"/>
            <a:ext cx="1067105" cy="190195"/>
          </a:xfrm>
          <a:prstGeom prst="rect">
            <a:avLst/>
          </a:prstGeom>
        </p:spPr>
      </p:pic>
      <p:pic>
        <p:nvPicPr>
          <p:cNvPr id="34" name="Image 16" descr="preencoded.png"/>
          <p:cNvPicPr>
            <a:picLocks noChangeAspect="1"/>
          </p:cNvPicPr>
          <p:nvPr/>
        </p:nvPicPr>
        <p:blipFill>
          <a:blip r:embed="rId19">
            <a:alphaModFix amt="90000"/>
          </a:blip>
          <a:srcRect l="960" r="960"/>
          <a:stretch/>
        </p:blipFill>
        <p:spPr>
          <a:xfrm>
            <a:off x="2056486" y="6390742"/>
            <a:ext cx="1466698" cy="304495"/>
          </a:xfrm>
          <a:prstGeom prst="rect">
            <a:avLst/>
          </a:prstGeom>
        </p:spPr>
      </p:pic>
      <p:pic>
        <p:nvPicPr>
          <p:cNvPr id="35" name="Image 17" descr="preencoded.png"/>
          <p:cNvPicPr>
            <a:picLocks noChangeAspect="1"/>
          </p:cNvPicPr>
          <p:nvPr/>
        </p:nvPicPr>
        <p:blipFill>
          <a:blip r:embed="rId20">
            <a:alphaModFix amt="90000"/>
          </a:blip>
          <a:srcRect t="311" b="311"/>
          <a:stretch/>
        </p:blipFill>
        <p:spPr>
          <a:xfrm>
            <a:off x="4055364" y="6325819"/>
            <a:ext cx="828446" cy="428854"/>
          </a:xfrm>
          <a:prstGeom prst="rect">
            <a:avLst/>
          </a:prstGeom>
        </p:spPr>
      </p:pic>
      <p:pic>
        <p:nvPicPr>
          <p:cNvPr id="36" name="Image 18" descr="preencoded.png"/>
          <p:cNvPicPr>
            <a:picLocks noChangeAspect="1"/>
          </p:cNvPicPr>
          <p:nvPr/>
        </p:nvPicPr>
        <p:blipFill>
          <a:blip r:embed="rId21">
            <a:alphaModFix amt="90000"/>
          </a:blip>
          <a:srcRect t="385" b="385"/>
          <a:stretch/>
        </p:blipFill>
        <p:spPr>
          <a:xfrm>
            <a:off x="5410505" y="6325819"/>
            <a:ext cx="771754" cy="428854"/>
          </a:xfrm>
          <a:prstGeom prst="rect">
            <a:avLst/>
          </a:prstGeom>
        </p:spPr>
      </p:pic>
      <p:pic>
        <p:nvPicPr>
          <p:cNvPr id="37" name="Image 19" descr="preencoded.png"/>
          <p:cNvPicPr>
            <a:picLocks noChangeAspect="1"/>
          </p:cNvPicPr>
          <p:nvPr/>
        </p:nvPicPr>
        <p:blipFill>
          <a:blip r:embed="rId22">
            <a:alphaModFix amt="90000"/>
          </a:blip>
          <a:srcRect/>
          <a:stretch/>
        </p:blipFill>
        <p:spPr>
          <a:xfrm>
            <a:off x="6708038" y="6325819"/>
            <a:ext cx="428854" cy="428854"/>
          </a:xfrm>
          <a:prstGeom prst="rect">
            <a:avLst/>
          </a:prstGeom>
        </p:spPr>
      </p:pic>
      <p:pic>
        <p:nvPicPr>
          <p:cNvPr id="38" name="Image 20" descr="preencoded.png"/>
          <p:cNvPicPr>
            <a:picLocks noChangeAspect="1"/>
          </p:cNvPicPr>
          <p:nvPr/>
        </p:nvPicPr>
        <p:blipFill>
          <a:blip r:embed="rId23">
            <a:alphaModFix amt="90000"/>
          </a:blip>
          <a:srcRect t="77" b="77"/>
          <a:stretch/>
        </p:blipFill>
        <p:spPr>
          <a:xfrm>
            <a:off x="7669073" y="6368796"/>
            <a:ext cx="629107" cy="342900"/>
          </a:xfrm>
          <a:prstGeom prst="rect">
            <a:avLst/>
          </a:prstGeom>
        </p:spPr>
      </p:pic>
      <p:pic>
        <p:nvPicPr>
          <p:cNvPr id="39" name="Image 21" descr="preencoded.png"/>
          <p:cNvPicPr>
            <a:picLocks noChangeAspect="1"/>
          </p:cNvPicPr>
          <p:nvPr/>
        </p:nvPicPr>
        <p:blipFill>
          <a:blip r:embed="rId24">
            <a:alphaModFix amt="90000"/>
          </a:blip>
          <a:srcRect l="1712" r="1712"/>
          <a:stretch/>
        </p:blipFill>
        <p:spPr>
          <a:xfrm>
            <a:off x="8829446" y="6420002"/>
            <a:ext cx="1143000" cy="2478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8953805" y="-571500"/>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8000"/>
          </a:blip>
          <a:srcRect/>
          <a:stretch/>
        </p:blipFill>
        <p:spPr>
          <a:xfrm>
            <a:off x="-381305" y="3715207"/>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513893"/>
            <a:ext cx="57607" cy="476402"/>
          </a:xfrm>
          <a:prstGeom prst="rect">
            <a:avLst/>
          </a:prstGeom>
        </p:spPr>
      </p:pic>
      <p:sp>
        <p:nvSpPr>
          <p:cNvPr id="9" name="Shape 3"/>
          <p:cNvSpPr/>
          <p:nvPr/>
        </p:nvSpPr>
        <p:spPr>
          <a:xfrm>
            <a:off x="609905" y="1387090"/>
            <a:ext cx="10972190" cy="1450129"/>
          </a:xfrm>
          <a:prstGeom prst="roundRect">
            <a:avLst>
              <a:gd name="adj" fmla="val 2853"/>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387090"/>
            <a:ext cx="47549" cy="1450129"/>
          </a:xfrm>
          <a:prstGeom prst="roundRect">
            <a:avLst>
              <a:gd name="adj" fmla="val 132625"/>
            </a:avLst>
          </a:prstGeom>
          <a:solidFill>
            <a:srgbClr val="111827"/>
          </a:solidFill>
          <a:ln w="12700">
            <a:solidFill>
              <a:srgbClr val="111827">
                <a:alpha val="0"/>
              </a:srgbClr>
            </a:solidFill>
            <a:prstDash val="solid"/>
          </a:ln>
        </p:spPr>
        <p:txBody>
          <a:bodyPr/>
          <a:lstStyle/>
          <a:p>
            <a:endParaRPr lang="en-US"/>
          </a:p>
        </p:txBody>
      </p:sp>
      <p:sp>
        <p:nvSpPr>
          <p:cNvPr id="11" name="Shape 5"/>
          <p:cNvSpPr/>
          <p:nvPr/>
        </p:nvSpPr>
        <p:spPr>
          <a:xfrm>
            <a:off x="609905"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2" name="Shape 6"/>
          <p:cNvSpPr/>
          <p:nvPr/>
        </p:nvSpPr>
        <p:spPr>
          <a:xfrm>
            <a:off x="4343400"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3" name="Shape 7"/>
          <p:cNvSpPr/>
          <p:nvPr/>
        </p:nvSpPr>
        <p:spPr>
          <a:xfrm>
            <a:off x="8076895" y="32388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4" name="Shape 8"/>
          <p:cNvSpPr/>
          <p:nvPr/>
        </p:nvSpPr>
        <p:spPr>
          <a:xfrm>
            <a:off x="609905"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5" name="Shape 9"/>
          <p:cNvSpPr/>
          <p:nvPr/>
        </p:nvSpPr>
        <p:spPr>
          <a:xfrm>
            <a:off x="4343400"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6" name="Shape 10"/>
          <p:cNvSpPr/>
          <p:nvPr/>
        </p:nvSpPr>
        <p:spPr>
          <a:xfrm>
            <a:off x="8076895" y="49533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7" name="Text 11"/>
          <p:cNvSpPr txBox="1"/>
          <p:nvPr/>
        </p:nvSpPr>
        <p:spPr>
          <a:xfrm>
            <a:off x="819302" y="466344"/>
            <a:ext cx="3810305" cy="342900"/>
          </a:xfrm>
          <a:prstGeom prst="rect">
            <a:avLst/>
          </a:prstGeom>
          <a:noFill/>
          <a:ln/>
        </p:spPr>
        <p:txBody>
          <a:bodyPr wrap="none" lIns="0" tIns="0" rIns="0" bIns="0" rtlCol="0" anchor="ctr"/>
          <a:lstStyle/>
          <a:p>
            <a:pPr marL="0" indent="0" algn="l">
              <a:buNone/>
            </a:pPr>
            <a:r>
              <a:rPr lang="en-US" sz="2400" b="1" dirty="0">
                <a:solidFill>
                  <a:srgbClr val="111827"/>
                </a:solidFill>
                <a:latin typeface="Oswald" pitchFamily="34" charset="0"/>
                <a:ea typeface="Oswald" pitchFamily="34" charset="-122"/>
                <a:cs typeface="Oswald" pitchFamily="34" charset="-120"/>
              </a:rPr>
              <a:t>WHO WE ARE</a:t>
            </a:r>
            <a:endParaRPr lang="en-US" sz="2400" dirty="0"/>
          </a:p>
        </p:txBody>
      </p:sp>
      <p:sp>
        <p:nvSpPr>
          <p:cNvPr id="18" name="Text 12"/>
          <p:cNvSpPr txBox="1"/>
          <p:nvPr/>
        </p:nvSpPr>
        <p:spPr>
          <a:xfrm>
            <a:off x="819302" y="858622"/>
            <a:ext cx="4496105" cy="152705"/>
          </a:xfrm>
          <a:prstGeom prst="rect">
            <a:avLst/>
          </a:prstGeom>
          <a:noFill/>
          <a:ln/>
        </p:spPr>
        <p:txBody>
          <a:bodyPr wrap="none" lIns="0" tIns="0" rIns="0" bIns="0" rtlCol="0" anchor="ctr"/>
          <a:lstStyle/>
          <a:p>
            <a:pPr marL="0" indent="0" algn="l">
              <a:buNone/>
            </a:pPr>
            <a:r>
              <a:rPr lang="en-US" sz="1500" b="1" kern="0" spc="52" dirty="0">
                <a:solidFill>
                  <a:srgbClr val="2A9D8F"/>
                </a:solidFill>
                <a:latin typeface="Roboto Condensed" pitchFamily="34" charset="0"/>
                <a:ea typeface="Roboto Condensed" pitchFamily="34" charset="-122"/>
                <a:cs typeface="Roboto Condensed" pitchFamily="34" charset="-120"/>
              </a:rPr>
              <a:t>The AI-native GCC platform - a decade in the making</a:t>
            </a:r>
            <a:endParaRPr lang="en-US" sz="1500" dirty="0"/>
          </a:p>
        </p:txBody>
      </p:sp>
      <p:sp>
        <p:nvSpPr>
          <p:cNvPr id="19" name="Text 13"/>
          <p:cNvSpPr txBox="1"/>
          <p:nvPr/>
        </p:nvSpPr>
        <p:spPr>
          <a:xfrm>
            <a:off x="990295" y="1465380"/>
            <a:ext cx="6967162" cy="648310"/>
          </a:xfrm>
          <a:prstGeom prst="rect">
            <a:avLst/>
          </a:prstGeom>
          <a:noFill/>
          <a:ln/>
        </p:spPr>
        <p:txBody>
          <a:bodyPr wrap="square" lIns="0" tIns="0" rIns="0" bIns="0" rtlCol="0" anchor="ctr"/>
          <a:lstStyle/>
          <a:p>
            <a:pPr marL="0" indent="0" algn="l">
              <a:buNone/>
            </a:pPr>
            <a:r>
              <a:rPr lang="en-US" sz="1900" b="1" dirty="0">
                <a:solidFill>
                  <a:srgbClr val="111827"/>
                </a:solidFill>
                <a:latin typeface="Oswald" pitchFamily="34" charset="0"/>
                <a:ea typeface="Oswald" pitchFamily="34" charset="-122"/>
                <a:cs typeface="Oswald" pitchFamily="34" charset="-120"/>
              </a:rPr>
              <a:t>J2W is the AI-native GCC platform for the Fortune 1000 and beyond.</a:t>
            </a:r>
            <a:endParaRPr lang="en-US" sz="1900" dirty="0"/>
          </a:p>
        </p:txBody>
      </p:sp>
      <p:sp>
        <p:nvSpPr>
          <p:cNvPr id="20" name="Text 14"/>
          <p:cNvSpPr txBox="1"/>
          <p:nvPr/>
        </p:nvSpPr>
        <p:spPr>
          <a:xfrm>
            <a:off x="990294" y="1977901"/>
            <a:ext cx="9144915" cy="685800"/>
          </a:xfrm>
          <a:prstGeom prst="rect">
            <a:avLst/>
          </a:prstGeom>
          <a:noFill/>
          <a:ln/>
        </p:spPr>
        <p:txBody>
          <a:bodyPr wrap="square" lIns="0" tIns="0" rIns="0" bIns="0" rtlCol="0" anchor="ctr"/>
          <a:lstStyle/>
          <a:p>
            <a:pPr marL="0" indent="0" algn="l">
              <a:buNone/>
            </a:pPr>
            <a:r>
              <a:rPr lang="en-US" sz="1100" dirty="0">
                <a:solidFill>
                  <a:srgbClr val="4B5563"/>
                </a:solidFill>
                <a:latin typeface="Raleway" pitchFamily="34" charset="0"/>
                <a:ea typeface="Raleway" pitchFamily="34" charset="-122"/>
                <a:cs typeface="Raleway" pitchFamily="34" charset="-120"/>
              </a:rPr>
              <a:t>Ten years building nothing but GCCs - so we solve the next problem before it shows up, deliver ROI in weeks where the industry takes quarters, and turn the GCC from a cost line into an innovation engine.</a:t>
            </a:r>
            <a:endParaRPr lang="en-US" sz="1100" dirty="0"/>
          </a:p>
        </p:txBody>
      </p:sp>
      <p:pic>
        <p:nvPicPr>
          <p:cNvPr id="21" name="Image 4" descr="gen-dedup-3d17221e8cd76f10a3e0815681bf2023.png"/>
          <p:cNvPicPr>
            <a:picLocks noChangeAspect="1"/>
          </p:cNvPicPr>
          <p:nvPr/>
        </p:nvPicPr>
        <p:blipFill>
          <a:blip r:embed="rId7"/>
          <a:srcRect l="-400" r="-400"/>
          <a:stretch/>
        </p:blipFill>
        <p:spPr>
          <a:xfrm>
            <a:off x="800100" y="3476549"/>
            <a:ext cx="38405" cy="571500"/>
          </a:xfrm>
          <a:prstGeom prst="rect">
            <a:avLst/>
          </a:prstGeom>
        </p:spPr>
      </p:pic>
      <p:sp>
        <p:nvSpPr>
          <p:cNvPr id="22" name="Text 15"/>
          <p:cNvSpPr txBox="1"/>
          <p:nvPr/>
        </p:nvSpPr>
        <p:spPr>
          <a:xfrm>
            <a:off x="990295" y="3476549"/>
            <a:ext cx="1552651"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10+</a:t>
            </a:r>
            <a:endParaRPr lang="en-US" sz="3100" dirty="0"/>
          </a:p>
        </p:txBody>
      </p:sp>
      <p:sp>
        <p:nvSpPr>
          <p:cNvPr id="23" name="Text 16"/>
          <p:cNvSpPr txBox="1"/>
          <p:nvPr/>
        </p:nvSpPr>
        <p:spPr>
          <a:xfrm>
            <a:off x="990295" y="3993185"/>
            <a:ext cx="1848002"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Years GCC leadership</a:t>
            </a:r>
            <a:endParaRPr lang="en-US" sz="1200" dirty="0"/>
          </a:p>
        </p:txBody>
      </p:sp>
      <p:pic>
        <p:nvPicPr>
          <p:cNvPr id="24" name="Image 5" descr="gen-dedup-32cd67bc95385c5507b78533d3bab6e6.png"/>
          <p:cNvPicPr>
            <a:picLocks noChangeAspect="1"/>
          </p:cNvPicPr>
          <p:nvPr/>
        </p:nvPicPr>
        <p:blipFill>
          <a:blip r:embed="rId8"/>
          <a:srcRect l="-400" r="-400"/>
          <a:stretch/>
        </p:blipFill>
        <p:spPr>
          <a:xfrm>
            <a:off x="4533595" y="3476549"/>
            <a:ext cx="38405" cy="571500"/>
          </a:xfrm>
          <a:prstGeom prst="rect">
            <a:avLst/>
          </a:prstGeom>
        </p:spPr>
      </p:pic>
      <p:sp>
        <p:nvSpPr>
          <p:cNvPr id="25" name="Text 17"/>
          <p:cNvSpPr txBox="1"/>
          <p:nvPr/>
        </p:nvSpPr>
        <p:spPr>
          <a:xfrm>
            <a:off x="4724705" y="3476549"/>
            <a:ext cx="17913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320+</a:t>
            </a:r>
            <a:endParaRPr lang="en-US" sz="3100" dirty="0"/>
          </a:p>
        </p:txBody>
      </p:sp>
      <p:sp>
        <p:nvSpPr>
          <p:cNvPr id="26" name="Text 18"/>
          <p:cNvSpPr txBox="1"/>
          <p:nvPr/>
        </p:nvSpPr>
        <p:spPr>
          <a:xfrm>
            <a:off x="4724705" y="3993185"/>
            <a:ext cx="2131466"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Enterprise clients served</a:t>
            </a:r>
            <a:endParaRPr lang="en-US" sz="1200" dirty="0"/>
          </a:p>
        </p:txBody>
      </p:sp>
      <p:pic>
        <p:nvPicPr>
          <p:cNvPr id="27" name="Image 6" descr="gen-dedup-3d17221e8cd76f10a3e0815681bf2023.png"/>
          <p:cNvPicPr>
            <a:picLocks noChangeAspect="1"/>
          </p:cNvPicPr>
          <p:nvPr/>
        </p:nvPicPr>
        <p:blipFill>
          <a:blip r:embed="rId7"/>
          <a:srcRect l="-400" r="-400"/>
          <a:stretch/>
        </p:blipFill>
        <p:spPr>
          <a:xfrm>
            <a:off x="8268005" y="3476549"/>
            <a:ext cx="38405" cy="571500"/>
          </a:xfrm>
          <a:prstGeom prst="rect">
            <a:avLst/>
          </a:prstGeom>
        </p:spPr>
      </p:pic>
      <p:sp>
        <p:nvSpPr>
          <p:cNvPr id="28" name="Text 19"/>
          <p:cNvSpPr txBox="1"/>
          <p:nvPr/>
        </p:nvSpPr>
        <p:spPr>
          <a:xfrm>
            <a:off x="8458200" y="3476549"/>
            <a:ext cx="2524658"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300+</a:t>
            </a:r>
            <a:endParaRPr lang="en-US" sz="3100" dirty="0"/>
          </a:p>
        </p:txBody>
      </p:sp>
      <p:sp>
        <p:nvSpPr>
          <p:cNvPr id="29" name="Text 20"/>
          <p:cNvSpPr txBox="1"/>
          <p:nvPr/>
        </p:nvSpPr>
        <p:spPr>
          <a:xfrm>
            <a:off x="8458200" y="3993185"/>
            <a:ext cx="300380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GCCs built: greenfield &amp; brownfield</a:t>
            </a:r>
            <a:endParaRPr lang="en-US" sz="1200" dirty="0"/>
          </a:p>
        </p:txBody>
      </p:sp>
      <p:pic>
        <p:nvPicPr>
          <p:cNvPr id="30" name="Image 7" descr="gen-dedup-32cd67bc95385c5507b78533d3bab6e6.png"/>
          <p:cNvPicPr>
            <a:picLocks noChangeAspect="1"/>
          </p:cNvPicPr>
          <p:nvPr/>
        </p:nvPicPr>
        <p:blipFill>
          <a:blip r:embed="rId8"/>
          <a:srcRect l="-400" r="-400"/>
          <a:stretch/>
        </p:blipFill>
        <p:spPr>
          <a:xfrm>
            <a:off x="800100" y="5191049"/>
            <a:ext cx="38405" cy="571500"/>
          </a:xfrm>
          <a:prstGeom prst="rect">
            <a:avLst/>
          </a:prstGeom>
        </p:spPr>
      </p:pic>
      <p:sp>
        <p:nvSpPr>
          <p:cNvPr id="31" name="Text 21"/>
          <p:cNvSpPr txBox="1"/>
          <p:nvPr/>
        </p:nvSpPr>
        <p:spPr>
          <a:xfrm>
            <a:off x="990295"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5,500+</a:t>
            </a:r>
            <a:endParaRPr lang="en-US" sz="3100" dirty="0"/>
          </a:p>
        </p:txBody>
      </p:sp>
      <p:sp>
        <p:nvSpPr>
          <p:cNvPr id="32" name="Text 22"/>
          <p:cNvSpPr txBox="1"/>
          <p:nvPr/>
        </p:nvSpPr>
        <p:spPr>
          <a:xfrm>
            <a:off x="990295"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Industry &amp; tech experts</a:t>
            </a:r>
            <a:endParaRPr lang="en-US" sz="1200" dirty="0"/>
          </a:p>
        </p:txBody>
      </p:sp>
      <p:pic>
        <p:nvPicPr>
          <p:cNvPr id="33" name="Image 8" descr="gen-dedup-3d17221e8cd76f10a3e0815681bf2023.png"/>
          <p:cNvPicPr>
            <a:picLocks noChangeAspect="1"/>
          </p:cNvPicPr>
          <p:nvPr/>
        </p:nvPicPr>
        <p:blipFill>
          <a:blip r:embed="rId7"/>
          <a:srcRect l="-400" r="-400"/>
          <a:stretch/>
        </p:blipFill>
        <p:spPr>
          <a:xfrm>
            <a:off x="4533595" y="5191049"/>
            <a:ext cx="38405" cy="571500"/>
          </a:xfrm>
          <a:prstGeom prst="rect">
            <a:avLst/>
          </a:prstGeom>
        </p:spPr>
      </p:pic>
      <p:sp>
        <p:nvSpPr>
          <p:cNvPr id="34" name="Text 23"/>
          <p:cNvSpPr txBox="1"/>
          <p:nvPr/>
        </p:nvSpPr>
        <p:spPr>
          <a:xfrm>
            <a:off x="4724705" y="5191049"/>
            <a:ext cx="1705356"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8</a:t>
            </a:r>
            <a:endParaRPr lang="en-US" sz="3100" dirty="0"/>
          </a:p>
        </p:txBody>
      </p:sp>
      <p:sp>
        <p:nvSpPr>
          <p:cNvPr id="35" name="Text 24"/>
          <p:cNvSpPr txBox="1"/>
          <p:nvPr/>
        </p:nvSpPr>
        <p:spPr>
          <a:xfrm>
            <a:off x="4724705" y="5707685"/>
            <a:ext cx="202905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Countries with footprint</a:t>
            </a:r>
            <a:endParaRPr lang="en-US" sz="1200" dirty="0"/>
          </a:p>
        </p:txBody>
      </p:sp>
      <p:pic>
        <p:nvPicPr>
          <p:cNvPr id="36" name="Image 9" descr="gen-dedup-32cd67bc95385c5507b78533d3bab6e6.png"/>
          <p:cNvPicPr>
            <a:picLocks noChangeAspect="1"/>
          </p:cNvPicPr>
          <p:nvPr/>
        </p:nvPicPr>
        <p:blipFill>
          <a:blip r:embed="rId8"/>
          <a:srcRect l="-400" r="-400"/>
          <a:stretch/>
        </p:blipFill>
        <p:spPr>
          <a:xfrm>
            <a:off x="8268005" y="5191049"/>
            <a:ext cx="38405" cy="571500"/>
          </a:xfrm>
          <a:prstGeom prst="rect">
            <a:avLst/>
          </a:prstGeom>
        </p:spPr>
      </p:pic>
      <p:sp>
        <p:nvSpPr>
          <p:cNvPr id="37" name="Text 25"/>
          <p:cNvSpPr txBox="1"/>
          <p:nvPr/>
        </p:nvSpPr>
        <p:spPr>
          <a:xfrm>
            <a:off x="8458200"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60+</a:t>
            </a:r>
            <a:endParaRPr lang="en-US" sz="3100" dirty="0"/>
          </a:p>
        </p:txBody>
      </p:sp>
      <p:sp>
        <p:nvSpPr>
          <p:cNvPr id="38" name="Text 26"/>
          <p:cNvSpPr txBox="1"/>
          <p:nvPr/>
        </p:nvSpPr>
        <p:spPr>
          <a:xfrm>
            <a:off x="8458200"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AI-enabled capabilities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430207" y="-571500"/>
            <a:ext cx="3333902" cy="3333902"/>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preencoded.png"/>
          <p:cNvPicPr>
            <a:picLocks noChangeAspect="1"/>
          </p:cNvPicPr>
          <p:nvPr/>
        </p:nvPicPr>
        <p:blipFill>
          <a:blip r:embed="rId3"/>
          <a:srcRect l="-360" r="-360"/>
          <a:stretch/>
        </p:blipFill>
        <p:spPr>
          <a:xfrm>
            <a:off x="609905" y="485546"/>
            <a:ext cx="57607" cy="381305"/>
          </a:xfrm>
          <a:prstGeom prst="rect">
            <a:avLst/>
          </a:prstGeom>
        </p:spPr>
      </p:pic>
      <p:sp>
        <p:nvSpPr>
          <p:cNvPr id="6" name="Text 3"/>
          <p:cNvSpPr txBox="1"/>
          <p:nvPr/>
        </p:nvSpPr>
        <p:spPr>
          <a:xfrm>
            <a:off x="819302" y="342900"/>
            <a:ext cx="5912510" cy="381305"/>
          </a:xfrm>
          <a:prstGeom prst="rect">
            <a:avLst/>
          </a:prstGeom>
          <a:noFill/>
          <a:ln/>
        </p:spPr>
        <p:txBody>
          <a:bodyPr wrap="square" lIns="0" tIns="0" rIns="0" bIns="0" rtlCol="0" anchor="ctr"/>
          <a:lstStyle/>
          <a:p>
            <a:pPr marL="0" indent="0" algn="l">
              <a:buNone/>
            </a:pPr>
            <a:r>
              <a:rPr lang="en-US" sz="2700" b="1" kern="0" spc="-67">
                <a:solidFill>
                  <a:srgbClr val="111827"/>
                </a:solidFill>
                <a:latin typeface="Oswald" pitchFamily="34" charset="0"/>
                <a:ea typeface="Oswald" pitchFamily="34" charset="-122"/>
                <a:cs typeface="Oswald" pitchFamily="34" charset="-120"/>
              </a:rPr>
              <a:t>Architects of Transformation</a:t>
            </a:r>
            <a:endParaRPr lang="en-US" sz="2700"/>
          </a:p>
        </p:txBody>
      </p:sp>
      <p:sp>
        <p:nvSpPr>
          <p:cNvPr id="7" name="Text 4"/>
          <p:cNvSpPr txBox="1"/>
          <p:nvPr/>
        </p:nvSpPr>
        <p:spPr>
          <a:xfrm>
            <a:off x="819302" y="743407"/>
            <a:ext cx="5811012" cy="267005"/>
          </a:xfrm>
          <a:prstGeom prst="rect">
            <a:avLst/>
          </a:prstGeom>
          <a:noFill/>
          <a:ln/>
        </p:spPr>
        <p:txBody>
          <a:bodyPr wrap="squar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VISIONARY LEADERSHIP DRIVING ENTERPRISE EXCELLENCE</a:t>
            </a:r>
            <a:endParaRPr lang="en-US" sz="1500"/>
          </a:p>
        </p:txBody>
      </p:sp>
      <p:pic>
        <p:nvPicPr>
          <p:cNvPr id="8" name="Image 1" descr="preencoded.png"/>
          <p:cNvPicPr>
            <a:picLocks noChangeAspect="1"/>
          </p:cNvPicPr>
          <p:nvPr/>
        </p:nvPicPr>
        <p:blipFill>
          <a:blip r:embed="rId4"/>
          <a:srcRect t="-6" b="-6"/>
          <a:stretch/>
        </p:blipFill>
        <p:spPr>
          <a:xfrm>
            <a:off x="609905" y="1123798"/>
            <a:ext cx="5372100" cy="3715207"/>
          </a:xfrm>
          <a:prstGeom prst="rect">
            <a:avLst/>
          </a:prstGeom>
        </p:spPr>
      </p:pic>
      <p:sp>
        <p:nvSpPr>
          <p:cNvPr id="9" name="Shape 5"/>
          <p:cNvSpPr/>
          <p:nvPr/>
        </p:nvSpPr>
        <p:spPr>
          <a:xfrm>
            <a:off x="9198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0" name="Image 2" descr="preencoded.png"/>
          <p:cNvPicPr>
            <a:picLocks noChangeAspect="1"/>
          </p:cNvPicPr>
          <p:nvPr/>
        </p:nvPicPr>
        <p:blipFill>
          <a:blip r:embed="rId5"/>
          <a:srcRect/>
          <a:stretch/>
        </p:blipFill>
        <p:spPr>
          <a:xfrm>
            <a:off x="948233" y="1367942"/>
            <a:ext cx="752551" cy="752551"/>
          </a:xfrm>
          <a:prstGeom prst="rect">
            <a:avLst/>
          </a:prstGeom>
        </p:spPr>
      </p:pic>
      <p:sp>
        <p:nvSpPr>
          <p:cNvPr id="11" name="Text 6"/>
          <p:cNvSpPr txBox="1"/>
          <p:nvPr/>
        </p:nvSpPr>
        <p:spPr>
          <a:xfrm>
            <a:off x="817474" y="2224735"/>
            <a:ext cx="1020470"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Priti Sawant</a:t>
            </a:r>
            <a:endParaRPr lang="en-US" sz="1300"/>
          </a:p>
        </p:txBody>
      </p:sp>
      <p:sp>
        <p:nvSpPr>
          <p:cNvPr id="12" name="Text 7"/>
          <p:cNvSpPr txBox="1"/>
          <p:nvPr/>
        </p:nvSpPr>
        <p:spPr>
          <a:xfrm>
            <a:off x="789127" y="2457907"/>
            <a:ext cx="1074420" cy="152705"/>
          </a:xfrm>
          <a:prstGeom prst="rect">
            <a:avLst/>
          </a:prstGeom>
          <a:noFill/>
          <a:ln/>
        </p:spPr>
        <p:txBody>
          <a:bodyPr wrap="square" lIns="0" tIns="0" rIns="0" bIns="0" rtlCol="0" anchor="ctr"/>
          <a:lstStyle/>
          <a:p>
            <a:pPr marL="0" indent="0" algn="ctr">
              <a:buNone/>
            </a:pPr>
            <a:r>
              <a:rPr lang="en-US" sz="900" b="1" kern="0" spc="22" dirty="0">
                <a:solidFill>
                  <a:srgbClr val="2A9D8F"/>
                </a:solidFill>
                <a:latin typeface="Roboto Condensed" pitchFamily="34" charset="0"/>
                <a:ea typeface="Roboto Condensed" pitchFamily="34" charset="-122"/>
                <a:cs typeface="Roboto Condensed" pitchFamily="34" charset="-120"/>
              </a:rPr>
              <a:t>Founder &amp; CEO</a:t>
            </a:r>
            <a:endParaRPr lang="en-US" sz="900" dirty="0"/>
          </a:p>
        </p:txBody>
      </p:sp>
      <p:sp>
        <p:nvSpPr>
          <p:cNvPr id="13" name="Text 8"/>
          <p:cNvSpPr txBox="1"/>
          <p:nvPr/>
        </p:nvSpPr>
        <p:spPr>
          <a:xfrm>
            <a:off x="2025396" y="1557311"/>
            <a:ext cx="3867912" cy="15526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Priti Sawant is a serial entrepreneur, category creator, and a pioneer of India’s Global Capability Center (GCC) ecosystem. With 20+ years of experience, she has built and scaled businesses at the intersection of technology and enterprise transformation. She began her journey at Accenture and later led Magna Infotech-scaling it from pre-revenue to a market leader, creating India’s first GCC-focused model, and delivering a successful exit and public listing (IPO). She is a 2-time entrepreneur, having built two successful, leading companies solving for GCCs in India.</a:t>
            </a:r>
            <a:endParaRPr lang="en-US" sz="1100" dirty="0"/>
          </a:p>
        </p:txBody>
      </p:sp>
      <p:sp>
        <p:nvSpPr>
          <p:cNvPr id="14" name="Text 9"/>
          <p:cNvSpPr txBox="1"/>
          <p:nvPr/>
        </p:nvSpPr>
        <p:spPr>
          <a:xfrm>
            <a:off x="2025396" y="3527888"/>
            <a:ext cx="3867912" cy="1381658"/>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She founded JoulestoWatts, backed by Manipal Global Education Services. Today, J2W operates across 8 countries, enabling 300+ GCCs, deploying 5,200+ professionals, and building 4 in-house products, with strong Fortune 500 partnerships. Recognised by Forbes Japan, she is also a TiE Charter Member, startup mentor, and a strong advocate of gender diversity, having built organisations with 40%+ women representation and 50% women-led leadership roles.</a:t>
            </a:r>
            <a:endParaRPr lang="en-US" sz="1100"/>
          </a:p>
        </p:txBody>
      </p:sp>
      <p:pic>
        <p:nvPicPr>
          <p:cNvPr id="15" name="Image 3" descr="preencoded.png"/>
          <p:cNvPicPr>
            <a:picLocks noChangeAspect="1"/>
          </p:cNvPicPr>
          <p:nvPr/>
        </p:nvPicPr>
        <p:blipFill>
          <a:blip r:embed="rId6"/>
          <a:srcRect t="-6" b="-6"/>
          <a:stretch/>
        </p:blipFill>
        <p:spPr>
          <a:xfrm>
            <a:off x="6210605" y="1123798"/>
            <a:ext cx="5372100" cy="3715207"/>
          </a:xfrm>
          <a:prstGeom prst="rect">
            <a:avLst/>
          </a:prstGeom>
        </p:spPr>
      </p:pic>
      <p:sp>
        <p:nvSpPr>
          <p:cNvPr id="16" name="Shape 10"/>
          <p:cNvSpPr/>
          <p:nvPr/>
        </p:nvSpPr>
        <p:spPr>
          <a:xfrm>
            <a:off x="65205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7" name="Image 4" descr="preencoded.png"/>
          <p:cNvPicPr>
            <a:picLocks noChangeAspect="1"/>
          </p:cNvPicPr>
          <p:nvPr/>
        </p:nvPicPr>
        <p:blipFill>
          <a:blip r:embed="rId7"/>
          <a:srcRect b="1042"/>
          <a:stretch/>
        </p:blipFill>
        <p:spPr>
          <a:xfrm>
            <a:off x="6548933" y="1367942"/>
            <a:ext cx="752551" cy="752551"/>
          </a:xfrm>
          <a:prstGeom prst="rect">
            <a:avLst/>
          </a:prstGeom>
        </p:spPr>
      </p:pic>
      <p:sp>
        <p:nvSpPr>
          <p:cNvPr id="18" name="Text 11"/>
          <p:cNvSpPr txBox="1"/>
          <p:nvPr/>
        </p:nvSpPr>
        <p:spPr>
          <a:xfrm>
            <a:off x="6411773" y="2224735"/>
            <a:ext cx="1032358"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Priya Mohan</a:t>
            </a:r>
            <a:endParaRPr lang="en-US" sz="1300"/>
          </a:p>
        </p:txBody>
      </p:sp>
      <p:sp>
        <p:nvSpPr>
          <p:cNvPr id="19" name="Text 12"/>
          <p:cNvSpPr txBox="1"/>
          <p:nvPr/>
        </p:nvSpPr>
        <p:spPr>
          <a:xfrm>
            <a:off x="6781190" y="2457907"/>
            <a:ext cx="295351" cy="152705"/>
          </a:xfrm>
          <a:prstGeom prst="rect">
            <a:avLst/>
          </a:prstGeom>
          <a:noFill/>
          <a:ln/>
        </p:spPr>
        <p:txBody>
          <a:bodyPr wrap="square" lIns="0" tIns="0" rIns="0" bIns="0" rtlCol="0" anchor="ctr"/>
          <a:lstStyle/>
          <a:p>
            <a:pPr marL="0" indent="0" algn="ctr">
              <a:buNone/>
            </a:pPr>
            <a:r>
              <a:rPr lang="en-US" sz="1100" b="1" kern="0" spc="22" dirty="0">
                <a:solidFill>
                  <a:srgbClr val="D62839"/>
                </a:solidFill>
                <a:latin typeface="Roboto Condensed" pitchFamily="34" charset="0"/>
                <a:ea typeface="Roboto Condensed" pitchFamily="34" charset="-122"/>
                <a:cs typeface="Roboto Condensed" pitchFamily="34" charset="-120"/>
              </a:rPr>
              <a:t>coo</a:t>
            </a:r>
            <a:endParaRPr lang="en-US" sz="1100" dirty="0"/>
          </a:p>
        </p:txBody>
      </p:sp>
      <p:sp>
        <p:nvSpPr>
          <p:cNvPr id="20" name="Text 13"/>
          <p:cNvSpPr txBox="1"/>
          <p:nvPr/>
        </p:nvSpPr>
        <p:spPr>
          <a:xfrm>
            <a:off x="7626096" y="1557311"/>
            <a:ext cx="3867912" cy="1552651"/>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Priya Mohan is a seasoned operator, investor, and entrepreneur with 20+ years spanning venture capital, high-growth startups, and investment banking. She was most recently a Partner at General Catalyst India, where she led India investments and co-creation opportunities across transformative, economy-shaping companies. Previously, as Managing Partner at Venture Highway, she held board seats across marquee portfolio companies in multiple sectors. Before investing, she co-founded Vidyartha, an EdTech platform which she successfully exited to Byju's.</a:t>
            </a:r>
            <a:endParaRPr lang="en-US" sz="1100"/>
          </a:p>
        </p:txBody>
      </p:sp>
      <p:sp>
        <p:nvSpPr>
          <p:cNvPr id="21" name="Text 14"/>
          <p:cNvSpPr txBox="1"/>
          <p:nvPr/>
        </p:nvSpPr>
        <p:spPr>
          <a:xfrm>
            <a:off x="7626096" y="3527888"/>
            <a:ext cx="3867912" cy="12097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Her earlier career included 9 years in investment banking and equity research - structuring and executing complex transactions across private equity raises, secondary sales, and buyouts. A Chartered Accountant and Management Graduate from the Indian School of Business (ISB), Priya was a state guest of the United States under the IVLP program and is a member of the Kamalnayan Bajaj Aspen Fellowship (Cohort X).</a:t>
            </a:r>
            <a:endParaRPr lang="en-US" sz="1100" dirty="0"/>
          </a:p>
        </p:txBody>
      </p:sp>
      <p:pic>
        <p:nvPicPr>
          <p:cNvPr id="54" name="Image 15" descr="preencoded.png"/>
          <p:cNvPicPr>
            <a:picLocks noChangeAspect="1"/>
          </p:cNvPicPr>
          <p:nvPr/>
        </p:nvPicPr>
        <p:blipFill>
          <a:blip r:embed="rId8"/>
          <a:srcRect l="-202" r="-202"/>
          <a:stretch/>
        </p:blipFill>
        <p:spPr>
          <a:xfrm>
            <a:off x="0" y="0"/>
            <a:ext cx="8128102" cy="75895"/>
          </a:xfrm>
          <a:prstGeom prst="rect">
            <a:avLst/>
          </a:prstGeom>
        </p:spPr>
      </p:pic>
      <p:pic>
        <p:nvPicPr>
          <p:cNvPr id="55" name="Image 16" descr="preencoded.png"/>
          <p:cNvPicPr>
            <a:picLocks noChangeAspect="1"/>
          </p:cNvPicPr>
          <p:nvPr/>
        </p:nvPicPr>
        <p:blipFill>
          <a:blip r:embed="rId9"/>
          <a:srcRect l="-197" r="-197"/>
          <a:stretch/>
        </p:blipFill>
        <p:spPr>
          <a:xfrm>
            <a:off x="8128102" y="0"/>
            <a:ext cx="4063594" cy="758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b81d2082573e6d8de64df87af639bbf0.png"/>
          <p:cNvPicPr>
            <a:picLocks noChangeAspect="1"/>
          </p:cNvPicPr>
          <p:nvPr/>
        </p:nvPicPr>
        <p:blipFill>
          <a:blip r:embed="rId6"/>
          <a:srcRect l="-360" r="-360"/>
          <a:stretch/>
        </p:blipFill>
        <p:spPr>
          <a:xfrm>
            <a:off x="609905" y="533095"/>
            <a:ext cx="57607" cy="381305"/>
          </a:xfrm>
          <a:prstGeom prst="rect">
            <a:avLst/>
          </a:prstGeom>
        </p:spPr>
      </p:pic>
      <p:sp>
        <p:nvSpPr>
          <p:cNvPr id="9" name="Text 3"/>
          <p:cNvSpPr txBox="1"/>
          <p:nvPr/>
        </p:nvSpPr>
        <p:spPr>
          <a:xfrm>
            <a:off x="819302" y="381305"/>
            <a:ext cx="3871570" cy="381305"/>
          </a:xfrm>
          <a:prstGeom prst="rect">
            <a:avLst/>
          </a:prstGeom>
          <a:noFill/>
          <a:ln/>
        </p:spPr>
        <p:txBody>
          <a:bodyPr wrap="none" lIns="0" tIns="0" rIns="0" bIns="0" rtlCol="0" anchor="ctr"/>
          <a:lstStyle/>
          <a:p>
            <a:pPr marL="0" indent="0" algn="l">
              <a:buNone/>
            </a:pPr>
            <a:r>
              <a:rPr lang="en-US" sz="2700" b="1" kern="0" spc="-67" dirty="0">
                <a:solidFill>
                  <a:srgbClr val="111827"/>
                </a:solidFill>
                <a:latin typeface="Oswald" pitchFamily="34" charset="0"/>
                <a:ea typeface="Oswald" pitchFamily="34" charset="-122"/>
                <a:cs typeface="Oswald" pitchFamily="34" charset="-120"/>
              </a:rPr>
              <a:t>WHAT WE OFFER</a:t>
            </a:r>
            <a:endParaRPr lang="en-US" sz="2700" dirty="0"/>
          </a:p>
        </p:txBody>
      </p:sp>
      <p:sp>
        <p:nvSpPr>
          <p:cNvPr id="10" name="Text 4"/>
          <p:cNvSpPr txBox="1"/>
          <p:nvPr/>
        </p:nvSpPr>
        <p:spPr>
          <a:xfrm>
            <a:off x="819302" y="800100"/>
            <a:ext cx="4189781" cy="267005"/>
          </a:xfrm>
          <a:prstGeom prst="rect">
            <a:avLst/>
          </a:prstGeom>
          <a:noFill/>
          <a:ln/>
        </p:spPr>
        <p:txBody>
          <a:bodyPr wrap="none" lIns="0" tIns="0" rIns="0" bIns="0" rtlCol="0" anchor="ctr"/>
          <a:lstStyle/>
          <a:p>
            <a:pPr marL="0" indent="0" algn="l">
              <a:buNone/>
            </a:pPr>
            <a:r>
              <a:rPr lang="en-US" sz="1500" b="1" kern="0" spc="75" dirty="0">
                <a:solidFill>
                  <a:srgbClr val="2A9D8F"/>
                </a:solidFill>
                <a:latin typeface="Roboto Condensed" pitchFamily="34" charset="0"/>
                <a:ea typeface="Roboto Condensed" pitchFamily="34" charset="-122"/>
                <a:cs typeface="Roboto Condensed" pitchFamily="34" charset="-120"/>
              </a:rPr>
              <a:t>THREE INTERLOCKING REVENUE ENGINES</a:t>
            </a:r>
            <a:endParaRPr lang="en-US" sz="1500" dirty="0"/>
          </a:p>
        </p:txBody>
      </p:sp>
      <p:sp>
        <p:nvSpPr>
          <p:cNvPr id="11" name="Shape 5"/>
          <p:cNvSpPr/>
          <p:nvPr/>
        </p:nvSpPr>
        <p:spPr>
          <a:xfrm>
            <a:off x="60990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dirty="0"/>
          </a:p>
        </p:txBody>
      </p:sp>
      <p:sp>
        <p:nvSpPr>
          <p:cNvPr id="12" name="Shape 6"/>
          <p:cNvSpPr/>
          <p:nvPr/>
        </p:nvSpPr>
        <p:spPr>
          <a:xfrm>
            <a:off x="619049"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13" name="Text 7"/>
          <p:cNvSpPr txBox="1"/>
          <p:nvPr/>
        </p:nvSpPr>
        <p:spPr>
          <a:xfrm>
            <a:off x="1411834" y="2033626"/>
            <a:ext cx="173461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Workforce Solutions</a:t>
            </a:r>
            <a:endParaRPr lang="en-US" sz="1500" dirty="0"/>
          </a:p>
        </p:txBody>
      </p:sp>
      <p:sp>
        <p:nvSpPr>
          <p:cNvPr id="14" name="Text 8"/>
          <p:cNvSpPr txBox="1"/>
          <p:nvPr/>
        </p:nvSpPr>
        <p:spPr>
          <a:xfrm>
            <a:off x="819302" y="2691079"/>
            <a:ext cx="2934310" cy="300106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Domain-deep engineers - not generic coders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Verticals: IT and Cloud Computing · BFSI · more </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Deployed in 10 days or less </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Pod governance + sprint accountability</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Contract-to-hire flexibility</a:t>
            </a:r>
            <a:endParaRPr lang="en-US" sz="1400" dirty="0"/>
          </a:p>
        </p:txBody>
      </p:sp>
      <p:sp>
        <p:nvSpPr>
          <p:cNvPr id="21" name="Text 15"/>
          <p:cNvSpPr txBox="1"/>
          <p:nvPr/>
        </p:nvSpPr>
        <p:spPr>
          <a:xfrm>
            <a:off x="2116836" y="1652321"/>
            <a:ext cx="329184"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01</a:t>
            </a:r>
            <a:endParaRPr lang="en-US" sz="2200" dirty="0"/>
          </a:p>
        </p:txBody>
      </p:sp>
      <p:sp>
        <p:nvSpPr>
          <p:cNvPr id="22" name="Text 16"/>
          <p:cNvSpPr txBox="1"/>
          <p:nvPr/>
        </p:nvSpPr>
        <p:spPr>
          <a:xfrm>
            <a:off x="1570025" y="2309774"/>
            <a:ext cx="1420978"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Volume Engine</a:t>
            </a:r>
            <a:endParaRPr lang="en-US" sz="900" dirty="0"/>
          </a:p>
        </p:txBody>
      </p:sp>
      <p:sp>
        <p:nvSpPr>
          <p:cNvPr id="23" name="Shape 17"/>
          <p:cNvSpPr/>
          <p:nvPr/>
        </p:nvSpPr>
        <p:spPr>
          <a:xfrm>
            <a:off x="441929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24" name="Shape 18"/>
          <p:cNvSpPr/>
          <p:nvPr/>
        </p:nvSpPr>
        <p:spPr>
          <a:xfrm>
            <a:off x="4429354" y="1533449"/>
            <a:ext cx="3314700" cy="1047902"/>
          </a:xfrm>
          <a:prstGeom prst="rect">
            <a:avLst/>
          </a:prstGeom>
          <a:solidFill>
            <a:srgbClr val="D62839"/>
          </a:solidFill>
          <a:ln w="12700">
            <a:solidFill>
              <a:srgbClr val="FFFFFF">
                <a:alpha val="0"/>
              </a:srgbClr>
            </a:solidFill>
            <a:prstDash val="solid"/>
          </a:ln>
        </p:spPr>
        <p:txBody>
          <a:bodyPr/>
          <a:lstStyle/>
          <a:p>
            <a:endParaRPr lang="en-US"/>
          </a:p>
        </p:txBody>
      </p:sp>
      <p:sp>
        <p:nvSpPr>
          <p:cNvPr id="25" name="Text 19"/>
          <p:cNvSpPr txBox="1"/>
          <p:nvPr/>
        </p:nvSpPr>
        <p:spPr>
          <a:xfrm>
            <a:off x="5386730" y="2033626"/>
            <a:ext cx="140634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AI Pods</a:t>
            </a:r>
            <a:endParaRPr lang="en-US" sz="1500" dirty="0"/>
          </a:p>
        </p:txBody>
      </p:sp>
      <p:sp>
        <p:nvSpPr>
          <p:cNvPr id="26" name="Text 20"/>
          <p:cNvSpPr txBox="1"/>
          <p:nvPr/>
        </p:nvSpPr>
        <p:spPr>
          <a:xfrm>
            <a:off x="4619549" y="4204760"/>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AI-first engineering pods, embedded tech lead</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Every engineer AI-certified before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J2W AI Labs - continuous monthly upskilling</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AI-assisted code, test &amp; docs from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Compounding productivity, not static seats</a:t>
            </a:r>
            <a:endParaRPr lang="en-US" sz="1400" dirty="0"/>
          </a:p>
        </p:txBody>
      </p:sp>
      <p:sp>
        <p:nvSpPr>
          <p:cNvPr id="33" name="Text 27"/>
          <p:cNvSpPr txBox="1"/>
          <p:nvPr/>
        </p:nvSpPr>
        <p:spPr>
          <a:xfrm>
            <a:off x="5905195"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02</a:t>
            </a:r>
            <a:endParaRPr lang="en-US" sz="2200" dirty="0"/>
          </a:p>
        </p:txBody>
      </p:sp>
      <p:sp>
        <p:nvSpPr>
          <p:cNvPr id="34" name="Text 28"/>
          <p:cNvSpPr txBox="1"/>
          <p:nvPr/>
        </p:nvSpPr>
        <p:spPr>
          <a:xfrm>
            <a:off x="5079492" y="2309774"/>
            <a:ext cx="2018081"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Margin Expansion Engine</a:t>
            </a:r>
            <a:endParaRPr lang="en-US" sz="900" dirty="0"/>
          </a:p>
        </p:txBody>
      </p:sp>
      <p:sp>
        <p:nvSpPr>
          <p:cNvPr id="35" name="Shape 29"/>
          <p:cNvSpPr/>
          <p:nvPr/>
        </p:nvSpPr>
        <p:spPr>
          <a:xfrm>
            <a:off x="8229600"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36" name="Shape 30"/>
          <p:cNvSpPr/>
          <p:nvPr/>
        </p:nvSpPr>
        <p:spPr>
          <a:xfrm>
            <a:off x="8238744"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37" name="Text 31"/>
          <p:cNvSpPr txBox="1"/>
          <p:nvPr/>
        </p:nvSpPr>
        <p:spPr>
          <a:xfrm>
            <a:off x="8685886" y="2033626"/>
            <a:ext cx="2425903"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Managed Service Solutions</a:t>
            </a:r>
            <a:endParaRPr lang="en-US" sz="1500" dirty="0"/>
          </a:p>
        </p:txBody>
      </p:sp>
      <p:sp>
        <p:nvSpPr>
          <p:cNvPr id="38" name="Text 32"/>
          <p:cNvSpPr txBox="1"/>
          <p:nvPr/>
        </p:nvSpPr>
        <p:spPr>
          <a:xfrm>
            <a:off x="8429854" y="4158691"/>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Dedicated pods owning outcomes, not tasks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Operate to outcome-bound SLOs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60+ pre-built solution accelerators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On SAP, ServiceNow &amp; industry stacks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40% improvement threshold - our standard</a:t>
            </a:r>
            <a:endParaRPr lang="en-US" sz="1400" dirty="0"/>
          </a:p>
        </p:txBody>
      </p:sp>
      <p:sp>
        <p:nvSpPr>
          <p:cNvPr id="45" name="Text 39"/>
          <p:cNvSpPr txBox="1"/>
          <p:nvPr/>
        </p:nvSpPr>
        <p:spPr>
          <a:xfrm>
            <a:off x="9715500"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03</a:t>
            </a:r>
            <a:endParaRPr lang="en-US" sz="2200" dirty="0"/>
          </a:p>
        </p:txBody>
      </p:sp>
      <p:sp>
        <p:nvSpPr>
          <p:cNvPr id="46" name="Text 40"/>
          <p:cNvSpPr txBox="1"/>
          <p:nvPr/>
        </p:nvSpPr>
        <p:spPr>
          <a:xfrm>
            <a:off x="8956548" y="2309774"/>
            <a:ext cx="1881835"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Strategic Value Engine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198" r="-198"/>
          <a:stretch/>
        </p:blipFill>
        <p:spPr>
          <a:xfrm>
            <a:off x="0" y="0"/>
            <a:ext cx="8124444" cy="75895"/>
          </a:xfrm>
          <a:prstGeom prst="rect">
            <a:avLst/>
          </a:prstGeom>
        </p:spPr>
      </p:pic>
      <p:pic>
        <p:nvPicPr>
          <p:cNvPr id="5" name="Image 1" descr="gen-dedup-9663ecf744b06e35d4c2cebaab92a2ea.png"/>
          <p:cNvPicPr>
            <a:picLocks noChangeAspect="1"/>
          </p:cNvPicPr>
          <p:nvPr/>
        </p:nvPicPr>
        <p:blipFill>
          <a:blip r:embed="rId4"/>
          <a:srcRect l="-202" r="-202"/>
          <a:stretch/>
        </p:blipFill>
        <p:spPr>
          <a:xfrm>
            <a:off x="8124444" y="0"/>
            <a:ext cx="4067251" cy="75895"/>
          </a:xfrm>
          <a:prstGeom prst="rect">
            <a:avLst/>
          </a:prstGeom>
        </p:spPr>
      </p:pic>
      <p:sp>
        <p:nvSpPr>
          <p:cNvPr id="6" name="Shape 2"/>
          <p:cNvSpPr/>
          <p:nvPr/>
        </p:nvSpPr>
        <p:spPr>
          <a:xfrm>
            <a:off x="9525305" y="4762195"/>
            <a:ext cx="3810305" cy="3810305"/>
          </a:xfrm>
          <a:prstGeom prst="ellipse">
            <a:avLst/>
          </a:prstGeom>
          <a:noFill/>
          <a:ln w="508000">
            <a:solidFill>
              <a:srgbClr val="D62839">
                <a:alpha val="3000"/>
              </a:srgbClr>
            </a:solidFill>
            <a:prstDash val="solid"/>
          </a:ln>
        </p:spPr>
        <p:txBody>
          <a:bodyPr/>
          <a:lstStyle/>
          <a:p>
            <a:endParaRPr lang="en-US"/>
          </a:p>
        </p:txBody>
      </p:sp>
      <p:pic>
        <p:nvPicPr>
          <p:cNvPr id="7" name="Image 2" descr="gen-dedup-b81d2082573e6d8de64df87af639bbf0.png"/>
          <p:cNvPicPr>
            <a:picLocks noChangeAspect="1"/>
          </p:cNvPicPr>
          <p:nvPr/>
        </p:nvPicPr>
        <p:blipFill>
          <a:blip r:embed="rId5"/>
          <a:srcRect l="-360" r="-360"/>
          <a:stretch/>
        </p:blipFill>
        <p:spPr>
          <a:xfrm>
            <a:off x="609905" y="381305"/>
            <a:ext cx="57607" cy="381305"/>
          </a:xfrm>
          <a:prstGeom prst="rect">
            <a:avLst/>
          </a:prstGeom>
        </p:spPr>
      </p:pic>
      <p:sp>
        <p:nvSpPr>
          <p:cNvPr id="8" name="Shape 3"/>
          <p:cNvSpPr/>
          <p:nvPr/>
        </p:nvSpPr>
        <p:spPr>
          <a:xfrm>
            <a:off x="6099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4"/>
          <p:cNvSpPr/>
          <p:nvPr/>
        </p:nvSpPr>
        <p:spPr>
          <a:xfrm>
            <a:off x="60990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3429000"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1" name="Shape 6"/>
          <p:cNvSpPr/>
          <p:nvPr/>
        </p:nvSpPr>
        <p:spPr>
          <a:xfrm>
            <a:off x="3429000"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24809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3" name="Shape 8"/>
          <p:cNvSpPr/>
          <p:nvPr/>
        </p:nvSpPr>
        <p:spPr>
          <a:xfrm>
            <a:off x="624809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90681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5" name="Shape 10"/>
          <p:cNvSpPr/>
          <p:nvPr/>
        </p:nvSpPr>
        <p:spPr>
          <a:xfrm>
            <a:off x="9068105"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pic>
        <p:nvPicPr>
          <p:cNvPr id="16" name="Image 3" descr="gen-dedup-c79c8869390c39dd2ec5734755e72ead.png"/>
          <p:cNvPicPr>
            <a:picLocks noChangeAspect="1"/>
          </p:cNvPicPr>
          <p:nvPr/>
        </p:nvPicPr>
        <p:blipFill>
          <a:blip r:embed="rId6"/>
          <a:srcRect l="-2083" r="-2083"/>
          <a:stretch/>
        </p:blipFill>
        <p:spPr>
          <a:xfrm>
            <a:off x="609905" y="5715000"/>
            <a:ext cx="11011205" cy="9144"/>
          </a:xfrm>
          <a:prstGeom prst="rect">
            <a:avLst/>
          </a:prstGeom>
        </p:spPr>
      </p:pic>
      <p:sp>
        <p:nvSpPr>
          <p:cNvPr id="17" name="Shape 11"/>
          <p:cNvSpPr/>
          <p:nvPr/>
        </p:nvSpPr>
        <p:spPr>
          <a:xfrm>
            <a:off x="609905" y="5905195"/>
            <a:ext cx="11058754" cy="685800"/>
          </a:xfrm>
          <a:prstGeom prst="roundRect">
            <a:avLst>
              <a:gd name="adj" fmla="val 29630"/>
            </a:avLst>
          </a:prstGeom>
          <a:solidFill>
            <a:srgbClr val="2A9D8F">
              <a:alpha val="5000"/>
            </a:srgbClr>
          </a:solidFill>
          <a:ln w="12700">
            <a:solidFill>
              <a:srgbClr val="E5E7EB"/>
            </a:solidFill>
            <a:prstDash val="solid"/>
          </a:ln>
        </p:spPr>
        <p:txBody>
          <a:bodyPr/>
          <a:lstStyle/>
          <a:p>
            <a:endParaRPr lang="en-US"/>
          </a:p>
        </p:txBody>
      </p:sp>
      <p:sp>
        <p:nvSpPr>
          <p:cNvPr id="18" name="Shape 12"/>
          <p:cNvSpPr/>
          <p:nvPr/>
        </p:nvSpPr>
        <p:spPr>
          <a:xfrm>
            <a:off x="609905" y="5905195"/>
            <a:ext cx="38405" cy="685800"/>
          </a:xfrm>
          <a:prstGeom prst="roundRect">
            <a:avLst>
              <a:gd name="adj" fmla="val 529098"/>
            </a:avLst>
          </a:prstGeom>
          <a:solidFill>
            <a:srgbClr val="2A9D8F"/>
          </a:solidFill>
          <a:ln w="12700">
            <a:solidFill>
              <a:srgbClr val="2A9D8F">
                <a:alpha val="0"/>
              </a:srgbClr>
            </a:solidFill>
            <a:prstDash val="solid"/>
          </a:ln>
        </p:spPr>
        <p:txBody>
          <a:bodyPr/>
          <a:lstStyle/>
          <a:p>
            <a:endParaRPr lang="en-US"/>
          </a:p>
        </p:txBody>
      </p:sp>
      <p:pic>
        <p:nvPicPr>
          <p:cNvPr id="19" name="Image 4" descr="gen-dedup-1bf8b7c2ed0132a588bc6493359d36f7.png"/>
          <p:cNvPicPr>
            <a:picLocks noChangeAspect="1"/>
          </p:cNvPicPr>
          <p:nvPr/>
        </p:nvPicPr>
        <p:blipFill>
          <a:blip r:embed="rId7"/>
          <a:srcRect/>
          <a:stretch/>
        </p:blipFill>
        <p:spPr>
          <a:xfrm>
            <a:off x="3157460" y="3543605"/>
            <a:ext cx="323698" cy="323698"/>
          </a:xfrm>
          <a:prstGeom prst="rect">
            <a:avLst/>
          </a:prstGeom>
        </p:spPr>
      </p:pic>
      <p:pic>
        <p:nvPicPr>
          <p:cNvPr id="20" name="Image 5" descr="gen-dedup-4f3b576989a6b43ea9ecd09ca0f289b1.png"/>
          <p:cNvPicPr>
            <a:picLocks noChangeAspect="1"/>
          </p:cNvPicPr>
          <p:nvPr/>
        </p:nvPicPr>
        <p:blipFill>
          <a:blip r:embed="rId8"/>
          <a:srcRect t="-5544" b="-5544"/>
          <a:stretch/>
        </p:blipFill>
        <p:spPr>
          <a:xfrm>
            <a:off x="3266274" y="3638702"/>
            <a:ext cx="105156" cy="133502"/>
          </a:xfrm>
          <a:prstGeom prst="rect">
            <a:avLst/>
          </a:prstGeom>
        </p:spPr>
      </p:pic>
      <p:pic>
        <p:nvPicPr>
          <p:cNvPr id="21" name="Image 6" descr="gen-dedup-1bf8b7c2ed0132a588bc6493359d36f7.png"/>
          <p:cNvPicPr>
            <a:picLocks noChangeAspect="1"/>
          </p:cNvPicPr>
          <p:nvPr/>
        </p:nvPicPr>
        <p:blipFill>
          <a:blip r:embed="rId7"/>
          <a:srcRect/>
          <a:stretch/>
        </p:blipFill>
        <p:spPr>
          <a:xfrm>
            <a:off x="5976555" y="3543605"/>
            <a:ext cx="323698" cy="323698"/>
          </a:xfrm>
          <a:prstGeom prst="rect">
            <a:avLst/>
          </a:prstGeom>
        </p:spPr>
      </p:pic>
      <p:pic>
        <p:nvPicPr>
          <p:cNvPr id="22" name="Image 7" descr="gen-dedup-4f3b576989a6b43ea9ecd09ca0f289b1.png"/>
          <p:cNvPicPr>
            <a:picLocks noChangeAspect="1"/>
          </p:cNvPicPr>
          <p:nvPr/>
        </p:nvPicPr>
        <p:blipFill>
          <a:blip r:embed="rId8"/>
          <a:srcRect t="-5544" b="-5544"/>
          <a:stretch/>
        </p:blipFill>
        <p:spPr>
          <a:xfrm>
            <a:off x="6086283" y="3638702"/>
            <a:ext cx="105156" cy="133502"/>
          </a:xfrm>
          <a:prstGeom prst="rect">
            <a:avLst/>
          </a:prstGeom>
        </p:spPr>
      </p:pic>
      <p:pic>
        <p:nvPicPr>
          <p:cNvPr id="23" name="Image 8" descr="gen-dedup-1bf8b7c2ed0132a588bc6493359d36f7.png"/>
          <p:cNvPicPr>
            <a:picLocks noChangeAspect="1"/>
          </p:cNvPicPr>
          <p:nvPr/>
        </p:nvPicPr>
        <p:blipFill>
          <a:blip r:embed="rId7"/>
          <a:srcRect/>
          <a:stretch/>
        </p:blipFill>
        <p:spPr>
          <a:xfrm>
            <a:off x="8795651" y="3543605"/>
            <a:ext cx="323698" cy="323698"/>
          </a:xfrm>
          <a:prstGeom prst="rect">
            <a:avLst/>
          </a:prstGeom>
        </p:spPr>
      </p:pic>
      <p:pic>
        <p:nvPicPr>
          <p:cNvPr id="24" name="Image 9" descr="gen-dedup-4f3b576989a6b43ea9ecd09ca0f289b1.png"/>
          <p:cNvPicPr>
            <a:picLocks noChangeAspect="1"/>
          </p:cNvPicPr>
          <p:nvPr/>
        </p:nvPicPr>
        <p:blipFill>
          <a:blip r:embed="rId8"/>
          <a:srcRect t="-5544" b="-5544"/>
          <a:stretch/>
        </p:blipFill>
        <p:spPr>
          <a:xfrm>
            <a:off x="8905379" y="3638702"/>
            <a:ext cx="105156" cy="133502"/>
          </a:xfrm>
          <a:prstGeom prst="rect">
            <a:avLst/>
          </a:prstGeom>
        </p:spPr>
      </p:pic>
      <p:sp>
        <p:nvSpPr>
          <p:cNvPr id="25" name="Text 13"/>
          <p:cNvSpPr txBox="1"/>
          <p:nvPr/>
        </p:nvSpPr>
        <p:spPr>
          <a:xfrm>
            <a:off x="819302" y="304495"/>
            <a:ext cx="10478110" cy="419710"/>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THE J2W OPERATING MODEL</a:t>
            </a:r>
            <a:endParaRPr lang="en-US" sz="2700" dirty="0"/>
          </a:p>
        </p:txBody>
      </p:sp>
      <p:sp>
        <p:nvSpPr>
          <p:cNvPr id="26" name="Text 14"/>
          <p:cNvSpPr txBox="1"/>
          <p:nvPr/>
        </p:nvSpPr>
        <p:spPr>
          <a:xfrm>
            <a:off x="819302" y="792785"/>
            <a:ext cx="10478110" cy="181051"/>
          </a:xfrm>
          <a:prstGeom prst="rect">
            <a:avLst/>
          </a:prstGeom>
          <a:noFill/>
          <a:ln/>
        </p:spPr>
        <p:txBody>
          <a:bodyPr wrap="none" lIns="0" tIns="0" rIns="0" bIns="0" rtlCol="0" anchor="ctr"/>
          <a:lstStyle/>
          <a:p>
            <a:pPr marL="0" indent="0" algn="l">
              <a:buNone/>
            </a:pPr>
            <a:r>
              <a:rPr lang="en-US" sz="1500" dirty="0">
                <a:solidFill>
                  <a:srgbClr val="4B5563"/>
                </a:solidFill>
                <a:latin typeface="Raleway" pitchFamily="34" charset="0"/>
                <a:ea typeface="Raleway" pitchFamily="34" charset="-122"/>
                <a:cs typeface="Raleway" pitchFamily="34" charset="-120"/>
              </a:rPr>
              <a:t>We don't just deploy - we embed, align, and deliver measurable outcomes.</a:t>
            </a:r>
            <a:endParaRPr lang="en-US" sz="1500" dirty="0"/>
          </a:p>
        </p:txBody>
      </p:sp>
      <p:sp>
        <p:nvSpPr>
          <p:cNvPr id="27" name="Shape 15"/>
          <p:cNvSpPr/>
          <p:nvPr/>
        </p:nvSpPr>
        <p:spPr>
          <a:xfrm>
            <a:off x="163860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28" name="Image 10" descr="gen-dedup-ac1977dfe20a87d93b03eab8a85600aa.png"/>
          <p:cNvPicPr>
            <a:picLocks noChangeAspect="1"/>
          </p:cNvPicPr>
          <p:nvPr/>
        </p:nvPicPr>
        <p:blipFill>
          <a:blip r:embed="rId9"/>
          <a:srcRect t="-13131" b="-13131"/>
          <a:stretch/>
        </p:blipFill>
        <p:spPr>
          <a:xfrm>
            <a:off x="1814170" y="1971446"/>
            <a:ext cx="181051" cy="228600"/>
          </a:xfrm>
          <a:prstGeom prst="rect">
            <a:avLst/>
          </a:prstGeom>
        </p:spPr>
      </p:pic>
      <p:sp>
        <p:nvSpPr>
          <p:cNvPr id="29" name="Text 16"/>
          <p:cNvSpPr txBox="1"/>
          <p:nvPr/>
        </p:nvSpPr>
        <p:spPr>
          <a:xfrm>
            <a:off x="7050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Embed.</a:t>
            </a:r>
            <a:endParaRPr lang="en-US" sz="2000" dirty="0"/>
          </a:p>
        </p:txBody>
      </p:sp>
      <p:sp>
        <p:nvSpPr>
          <p:cNvPr id="30" name="Text 17"/>
          <p:cNvSpPr txBox="1"/>
          <p:nvPr/>
        </p:nvSpPr>
        <p:spPr>
          <a:xfrm>
            <a:off x="705002"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Days 1–14</a:t>
            </a:r>
            <a:endParaRPr lang="en-US" sz="1300" dirty="0"/>
          </a:p>
        </p:txBody>
      </p:sp>
      <p:sp>
        <p:nvSpPr>
          <p:cNvPr id="31" name="Text 18"/>
          <p:cNvSpPr txBox="1"/>
          <p:nvPr/>
        </p:nvSpPr>
        <p:spPr>
          <a:xfrm>
            <a:off x="705002" y="3018434"/>
            <a:ext cx="2309775" cy="1743761"/>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map your stakeholder reality before touching a single workflow — identifying the 80% we move within and the 20% that unlocks transformation.</a:t>
            </a:r>
            <a:endParaRPr lang="en-US" sz="1200" dirty="0"/>
          </a:p>
        </p:txBody>
      </p:sp>
      <p:sp>
        <p:nvSpPr>
          <p:cNvPr id="32" name="Text 19"/>
          <p:cNvSpPr txBox="1"/>
          <p:nvPr/>
        </p:nvSpPr>
        <p:spPr>
          <a:xfrm>
            <a:off x="2409444" y="1687137"/>
            <a:ext cx="601675"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01</a:t>
            </a:r>
            <a:endParaRPr lang="en-US" sz="3600" dirty="0"/>
          </a:p>
        </p:txBody>
      </p:sp>
      <p:sp>
        <p:nvSpPr>
          <p:cNvPr id="33" name="Shape 20"/>
          <p:cNvSpPr/>
          <p:nvPr/>
        </p:nvSpPr>
        <p:spPr>
          <a:xfrm>
            <a:off x="4457700"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34" name="Image 11" descr="gen-dedup-bb65f8a83efde23cd45884ce4e632f2a.png"/>
          <p:cNvPicPr>
            <a:picLocks noChangeAspect="1"/>
          </p:cNvPicPr>
          <p:nvPr/>
        </p:nvPicPr>
        <p:blipFill>
          <a:blip r:embed="rId10"/>
          <a:srcRect t="-13131" b="-13131"/>
          <a:stretch/>
        </p:blipFill>
        <p:spPr>
          <a:xfrm>
            <a:off x="4634179" y="1971446"/>
            <a:ext cx="181051" cy="228600"/>
          </a:xfrm>
          <a:prstGeom prst="rect">
            <a:avLst/>
          </a:prstGeom>
        </p:spPr>
      </p:pic>
      <p:sp>
        <p:nvSpPr>
          <p:cNvPr id="35" name="Text 21"/>
          <p:cNvSpPr txBox="1"/>
          <p:nvPr/>
        </p:nvSpPr>
        <p:spPr>
          <a:xfrm>
            <a:off x="3524098"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Build.</a:t>
            </a:r>
            <a:endParaRPr lang="en-US" sz="2000" dirty="0"/>
          </a:p>
        </p:txBody>
      </p:sp>
      <p:sp>
        <p:nvSpPr>
          <p:cNvPr id="36" name="Text 22"/>
          <p:cNvSpPr txBox="1"/>
          <p:nvPr/>
        </p:nvSpPr>
        <p:spPr>
          <a:xfrm>
            <a:off x="3524098"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Weeks 2–6</a:t>
            </a:r>
            <a:endParaRPr lang="en-US" sz="1300" dirty="0"/>
          </a:p>
        </p:txBody>
      </p:sp>
      <p:sp>
        <p:nvSpPr>
          <p:cNvPr id="37" name="Text 23"/>
          <p:cNvSpPr txBox="1"/>
          <p:nvPr/>
        </p:nvSpPr>
        <p:spPr>
          <a:xfrm>
            <a:off x="3524098" y="329793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deploy the closest-fit accelerator and customize where needed. Hundreds of prior engagements mean you inherit a head start, not a blank slate.</a:t>
            </a:r>
            <a:endParaRPr lang="en-US" sz="1200" dirty="0"/>
          </a:p>
        </p:txBody>
      </p:sp>
      <p:sp>
        <p:nvSpPr>
          <p:cNvPr id="38" name="Text 24"/>
          <p:cNvSpPr txBox="1"/>
          <p:nvPr/>
        </p:nvSpPr>
        <p:spPr>
          <a:xfrm>
            <a:off x="5231282"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02</a:t>
            </a:r>
            <a:endParaRPr lang="en-US" sz="3600" dirty="0"/>
          </a:p>
        </p:txBody>
      </p:sp>
      <p:sp>
        <p:nvSpPr>
          <p:cNvPr id="39" name="Shape 25"/>
          <p:cNvSpPr/>
          <p:nvPr/>
        </p:nvSpPr>
        <p:spPr>
          <a:xfrm>
            <a:off x="727679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40" name="Image 12" descr="gen-dedup-ec7913c77fa2db42f3e898c22d604bf4.png"/>
          <p:cNvPicPr>
            <a:picLocks noChangeAspect="1"/>
          </p:cNvPicPr>
          <p:nvPr/>
        </p:nvPicPr>
        <p:blipFill>
          <a:blip r:embed="rId11"/>
          <a:srcRect t="-28914" b="-28914"/>
          <a:stretch/>
        </p:blipFill>
        <p:spPr>
          <a:xfrm>
            <a:off x="7398844" y="1895244"/>
            <a:ext cx="289681" cy="365760"/>
          </a:xfrm>
          <a:prstGeom prst="rect">
            <a:avLst/>
          </a:prstGeom>
        </p:spPr>
      </p:pic>
      <p:sp>
        <p:nvSpPr>
          <p:cNvPr id="41" name="Text 26"/>
          <p:cNvSpPr txBox="1"/>
          <p:nvPr/>
        </p:nvSpPr>
        <p:spPr>
          <a:xfrm>
            <a:off x="6344107"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Operate.</a:t>
            </a:r>
            <a:endParaRPr lang="en-US" sz="2000" dirty="0"/>
          </a:p>
        </p:txBody>
      </p:sp>
      <p:sp>
        <p:nvSpPr>
          <p:cNvPr id="42" name="Text 27"/>
          <p:cNvSpPr txBox="1"/>
          <p:nvPr/>
        </p:nvSpPr>
        <p:spPr>
          <a:xfrm>
            <a:off x="6344107"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Month 2 onward</a:t>
            </a:r>
            <a:endParaRPr lang="en-US" sz="1300" dirty="0"/>
          </a:p>
        </p:txBody>
      </p:sp>
      <p:sp>
        <p:nvSpPr>
          <p:cNvPr id="43" name="Text 28"/>
          <p:cNvSpPr txBox="1"/>
          <p:nvPr/>
        </p:nvSpPr>
        <p:spPr>
          <a:xfrm>
            <a:off x="6344107" y="319572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Forward-deployed engineers run AI inside your enterprise and don't rotate off. The context, accountability, and institutional memory stay with you.</a:t>
            </a:r>
            <a:endParaRPr lang="en-US" sz="1200" dirty="0"/>
          </a:p>
        </p:txBody>
      </p:sp>
      <p:sp>
        <p:nvSpPr>
          <p:cNvPr id="44" name="Text 29"/>
          <p:cNvSpPr txBox="1"/>
          <p:nvPr/>
        </p:nvSpPr>
        <p:spPr>
          <a:xfrm>
            <a:off x="8051292" y="1687137"/>
            <a:ext cx="607162"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03</a:t>
            </a:r>
            <a:endParaRPr lang="en-US" sz="3600" dirty="0"/>
          </a:p>
        </p:txBody>
      </p:sp>
      <p:sp>
        <p:nvSpPr>
          <p:cNvPr id="45" name="Shape 30"/>
          <p:cNvSpPr/>
          <p:nvPr/>
        </p:nvSpPr>
        <p:spPr>
          <a:xfrm>
            <a:off x="10096805"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46" name="Image 13" descr="gen-dedup-9fd551ffaf14ed4b68fb6cf808d818cf.png"/>
          <p:cNvPicPr>
            <a:picLocks noChangeAspect="1"/>
          </p:cNvPicPr>
          <p:nvPr/>
        </p:nvPicPr>
        <p:blipFill>
          <a:blip r:embed="rId12"/>
          <a:srcRect t="-13131" b="-13131"/>
          <a:stretch/>
        </p:blipFill>
        <p:spPr>
          <a:xfrm>
            <a:off x="10272370" y="1971446"/>
            <a:ext cx="181051" cy="228600"/>
          </a:xfrm>
          <a:prstGeom prst="rect">
            <a:avLst/>
          </a:prstGeom>
        </p:spPr>
      </p:pic>
      <p:sp>
        <p:nvSpPr>
          <p:cNvPr id="47" name="Text 31"/>
          <p:cNvSpPr txBox="1"/>
          <p:nvPr/>
        </p:nvSpPr>
        <p:spPr>
          <a:xfrm>
            <a:off x="91632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Compound.</a:t>
            </a:r>
            <a:endParaRPr lang="en-US" sz="2000" dirty="0"/>
          </a:p>
        </p:txBody>
      </p:sp>
      <p:sp>
        <p:nvSpPr>
          <p:cNvPr id="48" name="Text 32"/>
          <p:cNvSpPr txBox="1"/>
          <p:nvPr/>
        </p:nvSpPr>
        <p:spPr>
          <a:xfrm>
            <a:off x="9163202"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Year one &amp; beyond</a:t>
            </a:r>
            <a:endParaRPr lang="en-US" sz="1300" dirty="0"/>
          </a:p>
        </p:txBody>
      </p:sp>
      <p:sp>
        <p:nvSpPr>
          <p:cNvPr id="49" name="Text 33"/>
          <p:cNvSpPr txBox="1"/>
          <p:nvPr/>
        </p:nvSpPr>
        <p:spPr>
          <a:xfrm>
            <a:off x="9163202" y="3285235"/>
            <a:ext cx="2309775" cy="1219810"/>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Every problem solved sharpens the platform. The system gets smarter as you scale — outcomes that compound while you sleep.</a:t>
            </a:r>
            <a:endParaRPr lang="en-US" sz="1200" dirty="0"/>
          </a:p>
        </p:txBody>
      </p:sp>
      <p:sp>
        <p:nvSpPr>
          <p:cNvPr id="50" name="Text 34"/>
          <p:cNvSpPr txBox="1"/>
          <p:nvPr/>
        </p:nvSpPr>
        <p:spPr>
          <a:xfrm>
            <a:off x="10865815"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04</a:t>
            </a:r>
            <a:endParaRPr lang="en-US" sz="3600" dirty="0"/>
          </a:p>
        </p:txBody>
      </p:sp>
      <p:sp>
        <p:nvSpPr>
          <p:cNvPr id="51" name="Text 35"/>
          <p:cNvSpPr txBox="1"/>
          <p:nvPr/>
        </p:nvSpPr>
        <p:spPr>
          <a:xfrm>
            <a:off x="914400" y="6048756"/>
            <a:ext cx="10401300" cy="428854"/>
          </a:xfrm>
          <a:prstGeom prst="rect">
            <a:avLst/>
          </a:prstGeom>
          <a:noFill/>
          <a:ln/>
        </p:spPr>
        <p:txBody>
          <a:bodyPr wrap="square" lIns="0" tIns="0" rIns="0" bIns="0" rtlCol="0" anchor="ctr"/>
          <a:lstStyle/>
          <a:p>
            <a:pPr marL="0" indent="0" algn="ctr">
              <a:buNone/>
            </a:pPr>
            <a:r>
              <a:rPr lang="en-US" sz="1300" b="1" dirty="0">
                <a:solidFill>
                  <a:srgbClr val="2A9D8F"/>
                </a:solidFill>
                <a:latin typeface="Raleway" pitchFamily="34" charset="0"/>
                <a:ea typeface="Raleway" pitchFamily="34" charset="-122"/>
                <a:cs typeface="Raleway" pitchFamily="34" charset="-120"/>
              </a:rPr>
              <a:t>Your business is our GTM.</a:t>
            </a:r>
            <a:r>
              <a:rPr lang="en-US" sz="1300" b="1" dirty="0">
                <a:solidFill>
                  <a:srgbClr val="1F2937"/>
                </a:solidFill>
                <a:latin typeface="Raleway" pitchFamily="34" charset="0"/>
                <a:ea typeface="Raleway" pitchFamily="34" charset="-122"/>
                <a:cs typeface="Raleway" pitchFamily="34" charset="-120"/>
              </a:rPr>
              <a:t> We build with you, so your teams actually adopt, use, and grow everything we create together - not just receive it.</a:t>
            </a:r>
            <a:endParaRPr lang="en-US" sz="1300" dirty="0"/>
          </a:p>
        </p:txBody>
      </p:sp>
    </p:spTree>
    <p:extLst>
      <p:ext uri="{BB962C8B-B14F-4D97-AF65-F5344CB8AC3E}">
        <p14:creationId xmlns:p14="http://schemas.microsoft.com/office/powerpoint/2010/main" val="177576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953805" y="-57150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5000"/>
          </a:blip>
          <a:srcRect/>
          <a:stretch/>
        </p:blipFill>
        <p:spPr>
          <a:xfrm>
            <a:off x="-381305" y="4095598"/>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743407"/>
            <a:ext cx="57607" cy="476402"/>
          </a:xfrm>
          <a:prstGeom prst="rect">
            <a:avLst/>
          </a:prstGeom>
        </p:spPr>
      </p:pic>
      <p:sp>
        <p:nvSpPr>
          <p:cNvPr id="9" name="Shape 3"/>
          <p:cNvSpPr/>
          <p:nvPr/>
        </p:nvSpPr>
        <p:spPr>
          <a:xfrm>
            <a:off x="6099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3818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2" name="Shape 6"/>
          <p:cNvSpPr/>
          <p:nvPr/>
        </p:nvSpPr>
        <p:spPr>
          <a:xfrm>
            <a:off x="4381805" y="1714500"/>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1537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4" name="Shape 8"/>
          <p:cNvSpPr/>
          <p:nvPr/>
        </p:nvSpPr>
        <p:spPr>
          <a:xfrm>
            <a:off x="81537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24953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6" name="Shape 10"/>
          <p:cNvSpPr/>
          <p:nvPr/>
        </p:nvSpPr>
        <p:spPr>
          <a:xfrm>
            <a:off x="2495398" y="3619195"/>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62672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8" name="Shape 12"/>
          <p:cNvSpPr/>
          <p:nvPr/>
        </p:nvSpPr>
        <p:spPr>
          <a:xfrm>
            <a:off x="6267298" y="3619195"/>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609905" y="5572354"/>
            <a:ext cx="10972800" cy="571500"/>
          </a:xfrm>
          <a:prstGeom prst="roundRect">
            <a:avLst>
              <a:gd name="adj" fmla="val 42667"/>
            </a:avLst>
          </a:prstGeom>
          <a:solidFill>
            <a:srgbClr val="111827"/>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pic>
        <p:nvPicPr>
          <p:cNvPr id="20" name="Image 4" descr="gen-dedup-fcfcca745fa5c1c832fd66175382f504.png"/>
          <p:cNvPicPr>
            <a:picLocks noChangeAspect="1"/>
          </p:cNvPicPr>
          <p:nvPr/>
        </p:nvPicPr>
        <p:blipFill>
          <a:blip r:embed="rId7"/>
          <a:srcRect l="-2083" r="-2083"/>
          <a:stretch/>
        </p:blipFill>
        <p:spPr>
          <a:xfrm>
            <a:off x="609905" y="6286500"/>
            <a:ext cx="10972800" cy="9144"/>
          </a:xfrm>
          <a:prstGeom prst="rect">
            <a:avLst/>
          </a:prstGeom>
        </p:spPr>
      </p:pic>
      <p:sp>
        <p:nvSpPr>
          <p:cNvPr id="21" name="Text 14"/>
          <p:cNvSpPr txBox="1"/>
          <p:nvPr/>
        </p:nvSpPr>
        <p:spPr>
          <a:xfrm>
            <a:off x="819302" y="666598"/>
            <a:ext cx="5715000" cy="381305"/>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WHAT WE OWN</a:t>
            </a:r>
            <a:endParaRPr lang="en-US" sz="2700" dirty="0"/>
          </a:p>
        </p:txBody>
      </p:sp>
      <p:sp>
        <p:nvSpPr>
          <p:cNvPr id="22" name="Text 15"/>
          <p:cNvSpPr txBox="1"/>
          <p:nvPr/>
        </p:nvSpPr>
        <p:spPr>
          <a:xfrm>
            <a:off x="819302" y="1100938"/>
            <a:ext cx="5715000" cy="200254"/>
          </a:xfrm>
          <a:prstGeom prst="rect">
            <a:avLst/>
          </a:prstGeom>
          <a:noFill/>
          <a:ln/>
        </p:spPr>
        <p:txBody>
          <a:bodyPr wrap="none" lIns="0" tIns="0" rIns="0" bIns="0" rtlCol="0" anchor="ctr"/>
          <a:lstStyle/>
          <a:p>
            <a:pPr marL="0" indent="0" algn="l">
              <a:buNone/>
            </a:pPr>
            <a:r>
              <a:rPr lang="en-US" sz="1300" b="1" kern="0" spc="68" dirty="0">
                <a:solidFill>
                  <a:srgbClr val="2A9D8F"/>
                </a:solidFill>
                <a:latin typeface="Roboto Condensed" pitchFamily="34" charset="0"/>
                <a:ea typeface="Roboto Condensed" pitchFamily="34" charset="-122"/>
                <a:cs typeface="Roboto Condensed" pitchFamily="34" charset="-120"/>
              </a:rPr>
              <a:t>The proprietary stack - our moat</a:t>
            </a:r>
            <a:endParaRPr lang="en-US" sz="1300" dirty="0"/>
          </a:p>
        </p:txBody>
      </p:sp>
      <p:sp>
        <p:nvSpPr>
          <p:cNvPr id="23" name="Shape 16"/>
          <p:cNvSpPr/>
          <p:nvPr/>
        </p:nvSpPr>
        <p:spPr>
          <a:xfrm>
            <a:off x="8001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24" name="Image 5" descr="gen-dedup-354148c7dfe2ece024d9587c6b984377.png"/>
          <p:cNvPicPr>
            <a:picLocks noChangeAspect="1"/>
          </p:cNvPicPr>
          <p:nvPr/>
        </p:nvPicPr>
        <p:blipFill>
          <a:blip r:embed="rId8"/>
          <a:srcRect t="-16800" b="-16800"/>
          <a:stretch/>
        </p:blipFill>
        <p:spPr>
          <a:xfrm>
            <a:off x="895198" y="2029054"/>
            <a:ext cx="114300" cy="152705"/>
          </a:xfrm>
          <a:prstGeom prst="rect">
            <a:avLst/>
          </a:prstGeom>
        </p:spPr>
      </p:pic>
      <p:sp>
        <p:nvSpPr>
          <p:cNvPr id="25" name="Text 17"/>
          <p:cNvSpPr txBox="1"/>
          <p:nvPr/>
        </p:nvSpPr>
        <p:spPr>
          <a:xfrm>
            <a:off x="12380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Premier Lounge</a:t>
            </a:r>
            <a:endParaRPr lang="en-US" sz="1500" dirty="0"/>
          </a:p>
        </p:txBody>
      </p:sp>
      <p:sp>
        <p:nvSpPr>
          <p:cNvPr id="26" name="Text 18"/>
          <p:cNvSpPr txBox="1"/>
          <p:nvPr/>
        </p:nvSpPr>
        <p:spPr>
          <a:xfrm>
            <a:off x="8001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Curated network of vetted experts - instant access to scarce skills.</a:t>
            </a:r>
            <a:endParaRPr lang="en-US" sz="1200" dirty="0"/>
          </a:p>
        </p:txBody>
      </p:sp>
      <p:sp>
        <p:nvSpPr>
          <p:cNvPr id="27" name="Shape 19"/>
          <p:cNvSpPr/>
          <p:nvPr/>
        </p:nvSpPr>
        <p:spPr>
          <a:xfrm>
            <a:off x="4572000" y="195224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28" name="Image 6" descr="gen-dedup-8653d22c8fc2d1668da8a16f36629000.png"/>
          <p:cNvPicPr>
            <a:picLocks noChangeAspect="1"/>
          </p:cNvPicPr>
          <p:nvPr/>
        </p:nvPicPr>
        <p:blipFill>
          <a:blip r:embed="rId9"/>
          <a:srcRect t="-25150" b="-25150"/>
          <a:stretch/>
        </p:blipFill>
        <p:spPr>
          <a:xfrm>
            <a:off x="4667098" y="2029054"/>
            <a:ext cx="114300" cy="152705"/>
          </a:xfrm>
          <a:prstGeom prst="rect">
            <a:avLst/>
          </a:prstGeom>
        </p:spPr>
      </p:pic>
      <p:sp>
        <p:nvSpPr>
          <p:cNvPr id="29" name="Text 20"/>
          <p:cNvSpPr txBox="1"/>
          <p:nvPr/>
        </p:nvSpPr>
        <p:spPr>
          <a:xfrm>
            <a:off x="50099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OfferLetter</a:t>
            </a:r>
            <a:endParaRPr lang="en-US" sz="1500" dirty="0"/>
          </a:p>
        </p:txBody>
      </p:sp>
      <p:sp>
        <p:nvSpPr>
          <p:cNvPr id="30" name="Text 21"/>
          <p:cNvSpPr txBox="1"/>
          <p:nvPr/>
        </p:nvSpPr>
        <p:spPr>
          <a:xfrm>
            <a:off x="45720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AI-driven sourcing &amp; resume parsing - onboard one engineer an hour.</a:t>
            </a:r>
            <a:endParaRPr lang="en-US" sz="1200" dirty="0"/>
          </a:p>
        </p:txBody>
      </p:sp>
      <p:sp>
        <p:nvSpPr>
          <p:cNvPr id="31" name="Shape 22"/>
          <p:cNvSpPr/>
          <p:nvPr/>
        </p:nvSpPr>
        <p:spPr>
          <a:xfrm>
            <a:off x="83439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32" name="Image 7" descr="gen-dedup-fe8b3fc2b54c6cb2835c9e1123b7a343.png"/>
          <p:cNvPicPr>
            <a:picLocks noChangeAspect="1"/>
          </p:cNvPicPr>
          <p:nvPr/>
        </p:nvPicPr>
        <p:blipFill>
          <a:blip r:embed="rId10"/>
          <a:srcRect t="-25150" b="-25150"/>
          <a:stretch/>
        </p:blipFill>
        <p:spPr>
          <a:xfrm>
            <a:off x="8438998" y="2029054"/>
            <a:ext cx="114300" cy="152705"/>
          </a:xfrm>
          <a:prstGeom prst="rect">
            <a:avLst/>
          </a:prstGeom>
        </p:spPr>
      </p:pic>
      <p:sp>
        <p:nvSpPr>
          <p:cNvPr id="33" name="Text 23"/>
          <p:cNvSpPr txBox="1"/>
          <p:nvPr/>
        </p:nvSpPr>
        <p:spPr>
          <a:xfrm>
            <a:off x="8781898" y="1952244"/>
            <a:ext cx="2702052"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Data Abstraction Layer</a:t>
            </a:r>
            <a:endParaRPr lang="en-US" sz="1500" dirty="0"/>
          </a:p>
        </p:txBody>
      </p:sp>
      <p:sp>
        <p:nvSpPr>
          <p:cNvPr id="34" name="Text 24"/>
          <p:cNvSpPr txBox="1"/>
          <p:nvPr/>
        </p:nvSpPr>
        <p:spPr>
          <a:xfrm>
            <a:off x="83439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Unified API gateway + real-time ETL - a single pane of glass.</a:t>
            </a:r>
            <a:endParaRPr lang="en-US" sz="1200" dirty="0"/>
          </a:p>
        </p:txBody>
      </p:sp>
      <p:sp>
        <p:nvSpPr>
          <p:cNvPr id="35" name="Shape 25"/>
          <p:cNvSpPr/>
          <p:nvPr/>
        </p:nvSpPr>
        <p:spPr>
          <a:xfrm>
            <a:off x="2686507" y="385785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36" name="Image 8" descr="gen-dedup-e7d7166718140d8159b1663599725aa5.png"/>
          <p:cNvPicPr>
            <a:picLocks noChangeAspect="1"/>
          </p:cNvPicPr>
          <p:nvPr/>
        </p:nvPicPr>
        <p:blipFill>
          <a:blip r:embed="rId11"/>
          <a:srcRect t="-8450" b="-8450"/>
          <a:stretch/>
        </p:blipFill>
        <p:spPr>
          <a:xfrm>
            <a:off x="2781605" y="3933749"/>
            <a:ext cx="114300" cy="152705"/>
          </a:xfrm>
          <a:prstGeom prst="rect">
            <a:avLst/>
          </a:prstGeom>
        </p:spPr>
      </p:pic>
      <p:sp>
        <p:nvSpPr>
          <p:cNvPr id="37" name="Text 26"/>
          <p:cNvSpPr txBox="1"/>
          <p:nvPr/>
        </p:nvSpPr>
        <p:spPr>
          <a:xfrm>
            <a:off x="31245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AI Labs</a:t>
            </a:r>
            <a:endParaRPr lang="en-US" sz="1500" dirty="0"/>
          </a:p>
        </p:txBody>
      </p:sp>
      <p:sp>
        <p:nvSpPr>
          <p:cNvPr id="38" name="Text 27"/>
          <p:cNvSpPr txBox="1"/>
          <p:nvPr/>
        </p:nvSpPr>
        <p:spPr>
          <a:xfrm>
            <a:off x="26865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Internal AI engine - every engineer AI-certified before Day 1.</a:t>
            </a:r>
            <a:endParaRPr lang="en-US" sz="1200" dirty="0"/>
          </a:p>
        </p:txBody>
      </p:sp>
      <p:sp>
        <p:nvSpPr>
          <p:cNvPr id="39" name="Shape 28"/>
          <p:cNvSpPr/>
          <p:nvPr/>
        </p:nvSpPr>
        <p:spPr>
          <a:xfrm>
            <a:off x="6458407" y="385785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40" name="Image 9" descr="gen-dedup-a3d9bb31ae14fa9101e3246a3a64819e.png"/>
          <p:cNvPicPr>
            <a:picLocks noChangeAspect="1"/>
          </p:cNvPicPr>
          <p:nvPr/>
        </p:nvPicPr>
        <p:blipFill>
          <a:blip r:embed="rId12"/>
          <a:srcRect t="-8450" b="-8450"/>
          <a:stretch/>
        </p:blipFill>
        <p:spPr>
          <a:xfrm>
            <a:off x="6553505" y="3933749"/>
            <a:ext cx="114300" cy="152705"/>
          </a:xfrm>
          <a:prstGeom prst="rect">
            <a:avLst/>
          </a:prstGeom>
        </p:spPr>
      </p:pic>
      <p:sp>
        <p:nvSpPr>
          <p:cNvPr id="41" name="Text 29"/>
          <p:cNvSpPr txBox="1"/>
          <p:nvPr/>
        </p:nvSpPr>
        <p:spPr>
          <a:xfrm>
            <a:off x="68964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60+ Accelerators</a:t>
            </a:r>
            <a:endParaRPr lang="en-US" sz="1500" dirty="0"/>
          </a:p>
        </p:txBody>
      </p:sp>
      <p:sp>
        <p:nvSpPr>
          <p:cNvPr id="42" name="Text 30"/>
          <p:cNvSpPr txBox="1"/>
          <p:nvPr/>
        </p:nvSpPr>
        <p:spPr>
          <a:xfrm>
            <a:off x="64584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Pre-built solutions on SAP, ServiceNow &amp; industry stacks.</a:t>
            </a:r>
            <a:endParaRPr lang="en-US" sz="1200" dirty="0"/>
          </a:p>
        </p:txBody>
      </p:sp>
      <p:sp>
        <p:nvSpPr>
          <p:cNvPr id="43" name="Text 31"/>
          <p:cNvSpPr txBox="1"/>
          <p:nvPr/>
        </p:nvSpPr>
        <p:spPr>
          <a:xfrm>
            <a:off x="800100" y="5715000"/>
            <a:ext cx="10592410" cy="286207"/>
          </a:xfrm>
          <a:prstGeom prst="rect">
            <a:avLst/>
          </a:prstGeom>
          <a:noFill/>
          <a:ln/>
        </p:spPr>
        <p:txBody>
          <a:bodyPr wrap="none" lIns="0" tIns="0" rIns="0" bIns="0" rtlCol="0" anchor="ctr"/>
          <a:lstStyle/>
          <a:p>
            <a:pPr marL="0" indent="0" algn="ctr">
              <a:buNone/>
            </a:pPr>
            <a:r>
              <a:rPr lang="en-US" sz="1500" b="1" kern="0" spc="75" dirty="0">
                <a:solidFill>
                  <a:srgbClr val="9CA3AF"/>
                </a:solidFill>
                <a:latin typeface="Oswald" pitchFamily="34" charset="0"/>
                <a:ea typeface="Oswald" pitchFamily="34" charset="-122"/>
                <a:cs typeface="Oswald" pitchFamily="34" charset="-120"/>
              </a:rPr>
              <a:t>THE ARC FRAMEWORK</a:t>
            </a:r>
            <a:r>
              <a:rPr lang="en-US" sz="1500" b="1" kern="0" spc="75" dirty="0">
                <a:solidFill>
                  <a:srgbClr val="2A9D8F"/>
                </a:solidFill>
                <a:latin typeface="Oswald" pitchFamily="34" charset="0"/>
                <a:ea typeface="Oswald" pitchFamily="34" charset="-122"/>
                <a:cs typeface="Oswald" pitchFamily="34" charset="-120"/>
              </a:rPr>
              <a:t>Adaptive</a:t>
            </a:r>
            <a:r>
              <a:rPr lang="en-US" sz="1200" b="1" kern="0" spc="75" dirty="0">
                <a:solidFill>
                  <a:srgbClr val="CBD5E1"/>
                </a:solidFill>
                <a:latin typeface="Raleway" pitchFamily="34" charset="0"/>
                <a:ea typeface="Raleway" pitchFamily="34" charset="-122"/>
                <a:cs typeface="Raleway" pitchFamily="34" charset="-120"/>
              </a:rPr>
              <a:t>(Grow)</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D62839"/>
                </a:solidFill>
                <a:latin typeface="Oswald" pitchFamily="34" charset="0"/>
                <a:ea typeface="Oswald" pitchFamily="34" charset="-122"/>
                <a:cs typeface="Oswald" pitchFamily="34" charset="-120"/>
              </a:rPr>
              <a:t>Resilient</a:t>
            </a:r>
            <a:r>
              <a:rPr lang="en-US" sz="1200" b="1" kern="0" spc="75" dirty="0">
                <a:solidFill>
                  <a:srgbClr val="CBD5E1"/>
                </a:solidFill>
                <a:latin typeface="Raleway" pitchFamily="34" charset="0"/>
                <a:ea typeface="Raleway" pitchFamily="34" charset="-122"/>
                <a:cs typeface="Raleway" pitchFamily="34" charset="-120"/>
              </a:rPr>
              <a:t>(Mature)</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2A9D8F"/>
                </a:solidFill>
                <a:latin typeface="Oswald" pitchFamily="34" charset="0"/>
                <a:ea typeface="Oswald" pitchFamily="34" charset="-122"/>
                <a:cs typeface="Oswald" pitchFamily="34" charset="-120"/>
              </a:rPr>
              <a:t>Cognitive</a:t>
            </a:r>
            <a:r>
              <a:rPr lang="en-US" sz="1200" b="1" kern="0" spc="75" dirty="0">
                <a:solidFill>
                  <a:srgbClr val="CBD5E1"/>
                </a:solidFill>
                <a:latin typeface="Raleway" pitchFamily="34" charset="0"/>
                <a:ea typeface="Raleway" pitchFamily="34" charset="-122"/>
                <a:cs typeface="Raleway" pitchFamily="34" charset="-120"/>
              </a:rPr>
              <a:t>(Transform)</a:t>
            </a:r>
            <a:endParaRPr lang="en-US" sz="1500" dirty="0"/>
          </a:p>
        </p:txBody>
      </p:sp>
      <p:sp>
        <p:nvSpPr>
          <p:cNvPr id="44" name="Text 32"/>
          <p:cNvSpPr txBox="1"/>
          <p:nvPr/>
        </p:nvSpPr>
        <p:spPr>
          <a:xfrm>
            <a:off x="609905" y="6429146"/>
            <a:ext cx="10972800" cy="181051"/>
          </a:xfrm>
          <a:prstGeom prst="rect">
            <a:avLst/>
          </a:prstGeom>
          <a:noFill/>
          <a:ln/>
        </p:spPr>
        <p:txBody>
          <a:bodyPr wrap="none" lIns="0" tIns="0" rIns="0" bIns="0" rtlCol="0" anchor="ctr"/>
          <a:lstStyle/>
          <a:p>
            <a:pPr marL="0" indent="0" algn="ctr">
              <a:buNone/>
            </a:pPr>
            <a:r>
              <a:rPr lang="en-US" sz="1200" b="1" dirty="0">
                <a:solidFill>
                  <a:srgbClr val="374151"/>
                </a:solidFill>
                <a:latin typeface="Raleway" pitchFamily="34" charset="0"/>
                <a:ea typeface="Raleway" pitchFamily="34" charset="-122"/>
                <a:cs typeface="Raleway" pitchFamily="34" charset="-120"/>
              </a:rPr>
              <a:t>Transparent, scalable, and owned by us - </a:t>
            </a:r>
            <a:r>
              <a:rPr lang="en-US" sz="1200" b="1" dirty="0">
                <a:solidFill>
                  <a:srgbClr val="2A9D8F"/>
                </a:solidFill>
                <a:latin typeface="Raleway" pitchFamily="34" charset="0"/>
                <a:ea typeface="Raleway" pitchFamily="34" charset="-122"/>
                <a:cs typeface="Raleway" pitchFamily="34" charset="-120"/>
              </a:rPr>
              <a:t>your competitive moat, not a black box.</a:t>
            </a:r>
            <a:endParaRPr lang="en-US" sz="1200" dirty="0"/>
          </a:p>
        </p:txBody>
      </p:sp>
      <p:sp>
        <p:nvSpPr>
          <p:cNvPr id="45" name="TextBox 44">
            <a:extLst>
              <a:ext uri="{FF2B5EF4-FFF2-40B4-BE49-F238E27FC236}">
                <a16:creationId xmlns:a16="http://schemas.microsoft.com/office/drawing/2014/main" id="{25DD6EC7-8F41-58C5-8FE6-D76C9E660C2A}"/>
              </a:ext>
            </a:extLst>
          </p:cNvPr>
          <p:cNvSpPr txBox="1"/>
          <p:nvPr/>
        </p:nvSpPr>
        <p:spPr>
          <a:xfrm>
            <a:off x="3048000" y="3429000"/>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Tree>
    <p:extLst>
      <p:ext uri="{BB962C8B-B14F-4D97-AF65-F5344CB8AC3E}">
        <p14:creationId xmlns:p14="http://schemas.microsoft.com/office/powerpoint/2010/main" val="3821239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9663ecf744b06e35d4c2cebaab92a2ea.png"/>
          <p:cNvPicPr>
            <a:picLocks noChangeAspect="1"/>
          </p:cNvPicPr>
          <p:nvPr/>
        </p:nvPicPr>
        <p:blipFill>
          <a:blip r:embed="rId3"/>
          <a:srcRect l="-202" r="-202"/>
          <a:stretch/>
        </p:blipFill>
        <p:spPr>
          <a:xfrm>
            <a:off x="0" y="0"/>
            <a:ext cx="4067251" cy="75895"/>
          </a:xfrm>
          <a:prstGeom prst="rect">
            <a:avLst/>
          </a:prstGeom>
        </p:spPr>
      </p:pic>
      <p:pic>
        <p:nvPicPr>
          <p:cNvPr id="5" name="Image 1" descr="gen-dedup-323228122ff92d2332e711a84ca3b40c.png"/>
          <p:cNvPicPr>
            <a:picLocks noChangeAspect="1"/>
          </p:cNvPicPr>
          <p:nvPr/>
        </p:nvPicPr>
        <p:blipFill>
          <a:blip r:embed="rId4"/>
          <a:srcRect l="-198" r="-198"/>
          <a:stretch/>
        </p:blipFill>
        <p:spPr>
          <a:xfrm>
            <a:off x="4067251" y="0"/>
            <a:ext cx="8124444" cy="75895"/>
          </a:xfrm>
          <a:prstGeom prst="rect">
            <a:avLst/>
          </a:prstGeom>
        </p:spPr>
      </p:pic>
      <p:sp>
        <p:nvSpPr>
          <p:cNvPr id="6" name="Shape 2"/>
          <p:cNvSpPr/>
          <p:nvPr/>
        </p:nvSpPr>
        <p:spPr>
          <a:xfrm>
            <a:off x="9334195" y="-476402"/>
            <a:ext cx="3810305" cy="3810305"/>
          </a:xfrm>
          <a:prstGeom prst="ellipse">
            <a:avLst/>
          </a:prstGeom>
          <a:solidFill>
            <a:srgbClr val="2A9D8F">
              <a:alpha val="2000"/>
            </a:srgbClr>
          </a:solidFill>
          <a:ln w="12700">
            <a:solidFill>
              <a:srgbClr val="FFFFFF">
                <a:alpha val="0"/>
              </a:srgbClr>
            </a:solidFill>
            <a:prstDash val="solid"/>
          </a:ln>
        </p:spPr>
        <p:txBody>
          <a:bodyPr/>
          <a:lstStyle/>
          <a:p>
            <a:endParaRPr lang="en-US"/>
          </a:p>
        </p:txBody>
      </p:sp>
      <p:sp>
        <p:nvSpPr>
          <p:cNvPr id="7" name="Shape 3"/>
          <p:cNvSpPr/>
          <p:nvPr/>
        </p:nvSpPr>
        <p:spPr>
          <a:xfrm>
            <a:off x="-1429207" y="3047695"/>
            <a:ext cx="3333902" cy="3333902"/>
          </a:xfrm>
          <a:prstGeom prst="ellipse">
            <a:avLst/>
          </a:prstGeom>
          <a:solidFill>
            <a:srgbClr val="D62839">
              <a:alpha val="2000"/>
            </a:srgbClr>
          </a:solidFill>
          <a:ln w="12700">
            <a:solidFill>
              <a:srgbClr val="FFFFFF">
                <a:alpha val="0"/>
              </a:srgbClr>
            </a:solidFill>
            <a:prstDash val="solid"/>
          </a:ln>
        </p:spPr>
        <p:txBody>
          <a:bodyPr/>
          <a:lstStyle/>
          <a:p>
            <a:endParaRPr lang="en-US"/>
          </a:p>
        </p:txBody>
      </p:sp>
      <p:sp>
        <p:nvSpPr>
          <p:cNvPr id="8" name="Shape 4"/>
          <p:cNvSpPr/>
          <p:nvPr/>
        </p:nvSpPr>
        <p:spPr>
          <a:xfrm>
            <a:off x="647395" y="4619549"/>
            <a:ext cx="10916107" cy="1781251"/>
          </a:xfrm>
          <a:prstGeom prst="roundRect">
            <a:avLst>
              <a:gd name="adj" fmla="val 4392"/>
            </a:avLst>
          </a:prstGeom>
          <a:solidFill>
            <a:srgbClr val="F8FAFC"/>
          </a:solidFill>
          <a:ln w="12700">
            <a:solidFill>
              <a:srgbClr val="E2E8F0"/>
            </a:solidFill>
            <a:prstDash val="solid"/>
          </a:ln>
        </p:spPr>
        <p:txBody>
          <a:bodyPr/>
          <a:lstStyle/>
          <a:p>
            <a:endParaRPr lang="en-US"/>
          </a:p>
        </p:txBody>
      </p:sp>
      <p:sp>
        <p:nvSpPr>
          <p:cNvPr id="9" name="Shape 5"/>
          <p:cNvSpPr/>
          <p:nvPr/>
        </p:nvSpPr>
        <p:spPr>
          <a:xfrm>
            <a:off x="64739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0" name="Shape 6"/>
          <p:cNvSpPr/>
          <p:nvPr/>
        </p:nvSpPr>
        <p:spPr>
          <a:xfrm>
            <a:off x="647395" y="1571854"/>
            <a:ext cx="3524098" cy="38405"/>
          </a:xfrm>
          <a:prstGeom prst="roundRect">
            <a:avLst>
              <a:gd name="adj" fmla="val 96852"/>
            </a:avLst>
          </a:prstGeom>
          <a:solidFill>
            <a:srgbClr val="2A9D8F"/>
          </a:solidFill>
          <a:ln w="12700">
            <a:solidFill>
              <a:srgbClr val="2A9D8F">
                <a:alpha val="0"/>
              </a:srgbClr>
            </a:solidFill>
            <a:prstDash val="solid"/>
          </a:ln>
        </p:spPr>
        <p:txBody>
          <a:bodyPr/>
          <a:lstStyle/>
          <a:p>
            <a:endParaRPr lang="en-US"/>
          </a:p>
        </p:txBody>
      </p:sp>
      <p:sp>
        <p:nvSpPr>
          <p:cNvPr id="11" name="Shape 7"/>
          <p:cNvSpPr/>
          <p:nvPr/>
        </p:nvSpPr>
        <p:spPr>
          <a:xfrm>
            <a:off x="4343400"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2" name="Shape 8"/>
          <p:cNvSpPr/>
          <p:nvPr/>
        </p:nvSpPr>
        <p:spPr>
          <a:xfrm>
            <a:off x="4343400" y="1571854"/>
            <a:ext cx="3524098" cy="38405"/>
          </a:xfrm>
          <a:prstGeom prst="roundRect">
            <a:avLst>
              <a:gd name="adj" fmla="val 96852"/>
            </a:avLst>
          </a:prstGeom>
          <a:solidFill>
            <a:srgbClr val="D62839"/>
          </a:solidFill>
          <a:ln w="12700">
            <a:solidFill>
              <a:srgbClr val="D62839">
                <a:alpha val="0"/>
              </a:srgbClr>
            </a:solidFill>
            <a:prstDash val="solid"/>
          </a:ln>
        </p:spPr>
        <p:txBody>
          <a:bodyPr/>
          <a:lstStyle/>
          <a:p>
            <a:endParaRPr lang="en-US"/>
          </a:p>
        </p:txBody>
      </p:sp>
      <p:sp>
        <p:nvSpPr>
          <p:cNvPr id="13" name="Shape 9"/>
          <p:cNvSpPr/>
          <p:nvPr/>
        </p:nvSpPr>
        <p:spPr>
          <a:xfrm>
            <a:off x="803940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4" name="Shape 10"/>
          <p:cNvSpPr/>
          <p:nvPr/>
        </p:nvSpPr>
        <p:spPr>
          <a:xfrm>
            <a:off x="8039405" y="1571854"/>
            <a:ext cx="3524098" cy="38405"/>
          </a:xfrm>
          <a:prstGeom prst="roundRect">
            <a:avLst>
              <a:gd name="adj" fmla="val 96852"/>
            </a:avLst>
          </a:prstGeom>
          <a:solidFill>
            <a:srgbClr val="111827"/>
          </a:solidFill>
          <a:ln w="12700">
            <a:solidFill>
              <a:srgbClr val="111827">
                <a:alpha val="0"/>
              </a:srgbClr>
            </a:solidFill>
            <a:prstDash val="solid"/>
          </a:ln>
        </p:spPr>
        <p:txBody>
          <a:bodyPr/>
          <a:lstStyle/>
          <a:p>
            <a:endParaRPr lang="en-US"/>
          </a:p>
        </p:txBody>
      </p:sp>
      <p:sp>
        <p:nvSpPr>
          <p:cNvPr id="15" name="Shape 11"/>
          <p:cNvSpPr/>
          <p:nvPr/>
        </p:nvSpPr>
        <p:spPr>
          <a:xfrm>
            <a:off x="90525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6" name="Shape 12"/>
          <p:cNvSpPr/>
          <p:nvPr/>
        </p:nvSpPr>
        <p:spPr>
          <a:xfrm>
            <a:off x="3666744"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7" name="Shape 13"/>
          <p:cNvSpPr/>
          <p:nvPr/>
        </p:nvSpPr>
        <p:spPr>
          <a:xfrm>
            <a:off x="642914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8" name="Shape 14"/>
          <p:cNvSpPr/>
          <p:nvPr/>
        </p:nvSpPr>
        <p:spPr>
          <a:xfrm>
            <a:off x="9191549" y="5143500"/>
            <a:ext cx="2180844"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pic>
        <p:nvPicPr>
          <p:cNvPr id="19" name="Image 2" descr="gen-dedup-06e3d16aa0e9246458a784af17ea21a8.png"/>
          <p:cNvPicPr>
            <a:picLocks noChangeAspect="1"/>
          </p:cNvPicPr>
          <p:nvPr/>
        </p:nvPicPr>
        <p:blipFill>
          <a:blip r:embed="rId5"/>
          <a:srcRect l="-437" r="-437"/>
          <a:stretch/>
        </p:blipFill>
        <p:spPr>
          <a:xfrm>
            <a:off x="647395" y="743407"/>
            <a:ext cx="57607" cy="418795"/>
          </a:xfrm>
          <a:prstGeom prst="rect">
            <a:avLst/>
          </a:prstGeom>
        </p:spPr>
      </p:pic>
      <p:sp>
        <p:nvSpPr>
          <p:cNvPr id="20" name="Text 15"/>
          <p:cNvSpPr txBox="1"/>
          <p:nvPr/>
        </p:nvSpPr>
        <p:spPr>
          <a:xfrm>
            <a:off x="857707" y="685800"/>
            <a:ext cx="10478110" cy="419710"/>
          </a:xfrm>
          <a:prstGeom prst="rect">
            <a:avLst/>
          </a:prstGeom>
          <a:noFill/>
          <a:ln/>
        </p:spPr>
        <p:txBody>
          <a:bodyPr wrap="square" lIns="0" tIns="0" rIns="0" bIns="0" rtlCol="0" anchor="ctr"/>
          <a:lstStyle/>
          <a:p>
            <a:pPr marL="0" indent="0" algn="l">
              <a:buNone/>
            </a:pPr>
            <a:r>
              <a:rPr lang="en-US" sz="3000" b="1" dirty="0">
                <a:solidFill>
                  <a:srgbClr val="111827"/>
                </a:solidFill>
                <a:latin typeface="Oswald" pitchFamily="34" charset="0"/>
                <a:ea typeface="Oswald" pitchFamily="34" charset="-122"/>
                <a:cs typeface="Oswald" pitchFamily="34" charset="-120"/>
              </a:rPr>
              <a:t>NEXT STEPS</a:t>
            </a:r>
            <a:endParaRPr lang="en-US" sz="3000" dirty="0"/>
          </a:p>
        </p:txBody>
      </p:sp>
      <p:sp>
        <p:nvSpPr>
          <p:cNvPr id="21" name="Text 16"/>
          <p:cNvSpPr txBox="1"/>
          <p:nvPr/>
        </p:nvSpPr>
        <p:spPr>
          <a:xfrm>
            <a:off x="857707" y="1143000"/>
            <a:ext cx="10478110" cy="181051"/>
          </a:xfrm>
          <a:prstGeom prst="rect">
            <a:avLst/>
          </a:prstGeom>
          <a:noFill/>
          <a:ln/>
        </p:spPr>
        <p:txBody>
          <a:bodyPr wrap="square" lIns="0" tIns="0" rIns="0" bIns="0" rtlCol="0" anchor="ctr"/>
          <a:lstStyle/>
          <a:p>
            <a:pPr marL="0" indent="0" algn="l">
              <a:buNone/>
            </a:pPr>
            <a:r>
              <a:rPr lang="en-US" sz="1200" b="1" kern="0" spc="60" dirty="0">
                <a:solidFill>
                  <a:srgbClr val="2A9D8F"/>
                </a:solidFill>
                <a:latin typeface="Roboto Condensed" pitchFamily="34" charset="0"/>
                <a:ea typeface="Roboto Condensed" pitchFamily="34" charset="-122"/>
                <a:cs typeface="Roboto Condensed" pitchFamily="34" charset="-120"/>
              </a:rPr>
              <a:t>FLEXIBLE ENGAGEMENT MODELS TAILORED TO YOUR THREE-YEAR ROADMAP</a:t>
            </a:r>
            <a:endParaRPr lang="en-US" sz="1200" dirty="0"/>
          </a:p>
        </p:txBody>
      </p:sp>
      <p:sp>
        <p:nvSpPr>
          <p:cNvPr id="22" name="Shape 17"/>
          <p:cNvSpPr/>
          <p:nvPr/>
        </p:nvSpPr>
        <p:spPr>
          <a:xfrm>
            <a:off x="838505" y="1762049"/>
            <a:ext cx="457200" cy="457200"/>
          </a:xfrm>
          <a:prstGeom prst="roundRect">
            <a:avLst>
              <a:gd name="adj" fmla="val 66667"/>
            </a:avLst>
          </a:prstGeom>
          <a:solidFill>
            <a:srgbClr val="E6F3F1"/>
          </a:solidFill>
          <a:ln w="12700">
            <a:solidFill>
              <a:srgbClr val="FFFFFF">
                <a:alpha val="0"/>
              </a:srgbClr>
            </a:solidFill>
            <a:prstDash val="solid"/>
          </a:ln>
        </p:spPr>
        <p:txBody>
          <a:bodyPr/>
          <a:lstStyle/>
          <a:p>
            <a:endParaRPr lang="en-US"/>
          </a:p>
        </p:txBody>
      </p:sp>
      <p:pic>
        <p:nvPicPr>
          <p:cNvPr id="23" name="Image 3" descr="gen-dedup-fa5d0b435e79f3035aaec6593bf7cfb3.png"/>
          <p:cNvPicPr>
            <a:picLocks noChangeAspect="1"/>
          </p:cNvPicPr>
          <p:nvPr/>
        </p:nvPicPr>
        <p:blipFill>
          <a:blip r:embed="rId6"/>
          <a:srcRect l="-3526" r="-3526"/>
          <a:stretch/>
        </p:blipFill>
        <p:spPr>
          <a:xfrm>
            <a:off x="990295" y="1895551"/>
            <a:ext cx="152705" cy="190195"/>
          </a:xfrm>
          <a:prstGeom prst="rect">
            <a:avLst/>
          </a:prstGeom>
        </p:spPr>
      </p:pic>
      <p:sp>
        <p:nvSpPr>
          <p:cNvPr id="24" name="Text 18"/>
          <p:cNvSpPr txBox="1"/>
          <p:nvPr/>
        </p:nvSpPr>
        <p:spPr>
          <a:xfrm>
            <a:off x="1447495" y="1794967"/>
            <a:ext cx="1995221"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Discovery Workshop</a:t>
            </a:r>
            <a:endParaRPr lang="en-US" sz="1600"/>
          </a:p>
        </p:txBody>
      </p:sp>
      <p:sp>
        <p:nvSpPr>
          <p:cNvPr id="25" name="Text 19"/>
          <p:cNvSpPr txBox="1"/>
          <p:nvPr/>
        </p:nvSpPr>
        <p:spPr>
          <a:xfrm>
            <a:off x="1447495" y="2043684"/>
            <a:ext cx="1677010"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~90 Minutes</a:t>
            </a:r>
            <a:endParaRPr lang="en-US" sz="900"/>
          </a:p>
        </p:txBody>
      </p:sp>
      <p:sp>
        <p:nvSpPr>
          <p:cNvPr id="26" name="Shape 20"/>
          <p:cNvSpPr/>
          <p:nvPr/>
        </p:nvSpPr>
        <p:spPr>
          <a:xfrm>
            <a:off x="3259836" y="1762049"/>
            <a:ext cx="705002" cy="256946"/>
          </a:xfrm>
          <a:prstGeom prst="roundRect">
            <a:avLst>
              <a:gd name="adj" fmla="val 316331"/>
            </a:avLst>
          </a:prstGeom>
          <a:solidFill>
            <a:srgbClr val="E6F3F1"/>
          </a:solidFill>
          <a:ln w="12700">
            <a:solidFill>
              <a:srgbClr val="FFFFFF">
                <a:alpha val="0"/>
              </a:srgbClr>
            </a:solidFill>
            <a:prstDash val="solid"/>
          </a:ln>
        </p:spPr>
        <p:txBody>
          <a:bodyPr/>
          <a:lstStyle/>
          <a:p>
            <a:endParaRPr lang="en-US"/>
          </a:p>
        </p:txBody>
      </p:sp>
      <p:sp>
        <p:nvSpPr>
          <p:cNvPr id="27" name="Text 21"/>
          <p:cNvSpPr txBox="1"/>
          <p:nvPr/>
        </p:nvSpPr>
        <p:spPr>
          <a:xfrm>
            <a:off x="83850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28" name="Image 4" descr="gen-dedup-2910efa1624004b251a6644ba5a6ae47.png"/>
          <p:cNvPicPr>
            <a:picLocks noChangeAspect="1"/>
          </p:cNvPicPr>
          <p:nvPr/>
        </p:nvPicPr>
        <p:blipFill>
          <a:blip r:embed="rId7"/>
          <a:srcRect t="-27726" b="-27726"/>
          <a:stretch/>
        </p:blipFill>
        <p:spPr>
          <a:xfrm>
            <a:off x="838505" y="2734056"/>
            <a:ext cx="85954" cy="152705"/>
          </a:xfrm>
          <a:prstGeom prst="rect">
            <a:avLst/>
          </a:prstGeom>
        </p:spPr>
      </p:pic>
      <p:sp>
        <p:nvSpPr>
          <p:cNvPr id="29" name="Text 22"/>
          <p:cNvSpPr txBox="1"/>
          <p:nvPr/>
        </p:nvSpPr>
        <p:spPr>
          <a:xfrm>
            <a:off x="1019556" y="2695651"/>
            <a:ext cx="2732227"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Use case identification &amp; prioritization</a:t>
            </a:r>
            <a:endParaRPr lang="en-US" sz="1000"/>
          </a:p>
        </p:txBody>
      </p:sp>
      <p:pic>
        <p:nvPicPr>
          <p:cNvPr id="30" name="Image 5" descr="gen-dedup-2910efa1624004b251a6644ba5a6ae47.png"/>
          <p:cNvPicPr>
            <a:picLocks noChangeAspect="1"/>
          </p:cNvPicPr>
          <p:nvPr/>
        </p:nvPicPr>
        <p:blipFill>
          <a:blip r:embed="rId7"/>
          <a:srcRect t="-27726" b="-27726"/>
          <a:stretch/>
        </p:blipFill>
        <p:spPr>
          <a:xfrm>
            <a:off x="838505" y="3019349"/>
            <a:ext cx="85954" cy="152705"/>
          </a:xfrm>
          <a:prstGeom prst="rect">
            <a:avLst/>
          </a:prstGeom>
        </p:spPr>
      </p:pic>
      <p:sp>
        <p:nvSpPr>
          <p:cNvPr id="31" name="Text 23"/>
          <p:cNvSpPr txBox="1"/>
          <p:nvPr/>
        </p:nvSpPr>
        <p:spPr>
          <a:xfrm>
            <a:off x="1019556" y="2980944"/>
            <a:ext cx="1972361"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Value hypothesis definition</a:t>
            </a:r>
            <a:endParaRPr lang="en-US" sz="1000"/>
          </a:p>
        </p:txBody>
      </p:sp>
      <p:pic>
        <p:nvPicPr>
          <p:cNvPr id="32" name="Image 6" descr="gen-dedup-2910efa1624004b251a6644ba5a6ae47.png"/>
          <p:cNvPicPr>
            <a:picLocks noChangeAspect="1"/>
          </p:cNvPicPr>
          <p:nvPr/>
        </p:nvPicPr>
        <p:blipFill>
          <a:blip r:embed="rId7"/>
          <a:srcRect t="-27726" b="-27726"/>
          <a:stretch/>
        </p:blipFill>
        <p:spPr>
          <a:xfrm>
            <a:off x="838505" y="3305556"/>
            <a:ext cx="85954" cy="152705"/>
          </a:xfrm>
          <a:prstGeom prst="rect">
            <a:avLst/>
          </a:prstGeom>
        </p:spPr>
      </p:pic>
      <p:sp>
        <p:nvSpPr>
          <p:cNvPr id="33" name="Text 24"/>
          <p:cNvSpPr txBox="1"/>
          <p:nvPr/>
        </p:nvSpPr>
        <p:spPr>
          <a:xfrm>
            <a:off x="1019556" y="3267151"/>
            <a:ext cx="3377794"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High-level roadmap aligned to 70/30 strategy</a:t>
            </a:r>
            <a:endParaRPr lang="en-US" sz="1000"/>
          </a:p>
        </p:txBody>
      </p:sp>
      <p:sp>
        <p:nvSpPr>
          <p:cNvPr id="34" name="Text 25"/>
          <p:cNvSpPr txBox="1"/>
          <p:nvPr/>
        </p:nvSpPr>
        <p:spPr>
          <a:xfrm>
            <a:off x="3354934" y="1848002"/>
            <a:ext cx="662026" cy="124358"/>
          </a:xfrm>
          <a:prstGeom prst="rect">
            <a:avLst/>
          </a:prstGeom>
          <a:noFill/>
          <a:ln/>
        </p:spPr>
        <p:txBody>
          <a:bodyPr wrap="square" lIns="0" tIns="0" rIns="0" bIns="0" rtlCol="0" anchor="ctr"/>
          <a:lstStyle/>
          <a:p>
            <a:pPr marL="0" indent="0" algn="l">
              <a:buNone/>
            </a:pPr>
            <a:r>
              <a:rPr lang="en-US" sz="800" b="1">
                <a:solidFill>
                  <a:srgbClr val="2A9D8F"/>
                </a:solidFill>
                <a:latin typeface="Roboto Condensed" pitchFamily="34" charset="0"/>
                <a:ea typeface="Roboto Condensed" pitchFamily="34" charset="-122"/>
                <a:cs typeface="Roboto Condensed" pitchFamily="34" charset="-120"/>
              </a:rPr>
              <a:t>LOW TOUCH</a:t>
            </a:r>
            <a:endParaRPr lang="en-US" sz="800"/>
          </a:p>
        </p:txBody>
      </p:sp>
      <p:sp>
        <p:nvSpPr>
          <p:cNvPr id="35" name="Shape 26"/>
          <p:cNvSpPr/>
          <p:nvPr/>
        </p:nvSpPr>
        <p:spPr>
          <a:xfrm>
            <a:off x="4533595" y="1762049"/>
            <a:ext cx="457200" cy="457200"/>
          </a:xfrm>
          <a:prstGeom prst="roundRect">
            <a:avLst>
              <a:gd name="adj" fmla="val 66667"/>
            </a:avLst>
          </a:prstGeom>
          <a:solidFill>
            <a:srgbClr val="FBE6E8"/>
          </a:solidFill>
          <a:ln w="12700">
            <a:solidFill>
              <a:srgbClr val="FFFFFF">
                <a:alpha val="0"/>
              </a:srgbClr>
            </a:solidFill>
            <a:prstDash val="solid"/>
          </a:ln>
        </p:spPr>
        <p:txBody>
          <a:bodyPr/>
          <a:lstStyle/>
          <a:p>
            <a:endParaRPr lang="en-US"/>
          </a:p>
        </p:txBody>
      </p:sp>
      <p:pic>
        <p:nvPicPr>
          <p:cNvPr id="36" name="Image 7" descr="gen-dedup-302cf04975ca72dffec5134ed5b99fbe.png"/>
          <p:cNvPicPr>
            <a:picLocks noChangeAspect="1"/>
          </p:cNvPicPr>
          <p:nvPr/>
        </p:nvPicPr>
        <p:blipFill>
          <a:blip r:embed="rId8"/>
          <a:srcRect t="-4491" b="-4491"/>
          <a:stretch/>
        </p:blipFill>
        <p:spPr>
          <a:xfrm>
            <a:off x="4686300" y="1895551"/>
            <a:ext cx="152705" cy="190195"/>
          </a:xfrm>
          <a:prstGeom prst="rect">
            <a:avLst/>
          </a:prstGeom>
        </p:spPr>
      </p:pic>
      <p:sp>
        <p:nvSpPr>
          <p:cNvPr id="37" name="Text 27"/>
          <p:cNvSpPr txBox="1"/>
          <p:nvPr/>
        </p:nvSpPr>
        <p:spPr>
          <a:xfrm>
            <a:off x="5143500" y="1794967"/>
            <a:ext cx="1825142"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Assessment &amp; PoC</a:t>
            </a:r>
            <a:endParaRPr lang="en-US" sz="1600"/>
          </a:p>
        </p:txBody>
      </p:sp>
      <p:sp>
        <p:nvSpPr>
          <p:cNvPr id="38" name="Text 28"/>
          <p:cNvSpPr txBox="1"/>
          <p:nvPr/>
        </p:nvSpPr>
        <p:spPr>
          <a:xfrm>
            <a:off x="5143500" y="2043684"/>
            <a:ext cx="1534363"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4 Weeks</a:t>
            </a:r>
            <a:endParaRPr lang="en-US" sz="900"/>
          </a:p>
        </p:txBody>
      </p:sp>
      <p:sp>
        <p:nvSpPr>
          <p:cNvPr id="39" name="Shape 29"/>
          <p:cNvSpPr/>
          <p:nvPr/>
        </p:nvSpPr>
        <p:spPr>
          <a:xfrm>
            <a:off x="6982358" y="1762049"/>
            <a:ext cx="676656" cy="256946"/>
          </a:xfrm>
          <a:prstGeom prst="roundRect">
            <a:avLst>
              <a:gd name="adj" fmla="val 316331"/>
            </a:avLst>
          </a:prstGeom>
          <a:solidFill>
            <a:srgbClr val="FBE6E8"/>
          </a:solidFill>
          <a:ln w="12700">
            <a:solidFill>
              <a:srgbClr val="FFFFFF">
                <a:alpha val="0"/>
              </a:srgbClr>
            </a:solidFill>
            <a:prstDash val="solid"/>
          </a:ln>
        </p:spPr>
        <p:txBody>
          <a:bodyPr/>
          <a:lstStyle/>
          <a:p>
            <a:endParaRPr lang="en-US"/>
          </a:p>
        </p:txBody>
      </p:sp>
      <p:sp>
        <p:nvSpPr>
          <p:cNvPr id="40" name="Text 30"/>
          <p:cNvSpPr txBox="1"/>
          <p:nvPr/>
        </p:nvSpPr>
        <p:spPr>
          <a:xfrm>
            <a:off x="453359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41" name="Image 8" descr="gen-dedup-3f480c66afa147b2245dea2610bb3896.png"/>
          <p:cNvPicPr>
            <a:picLocks noChangeAspect="1"/>
          </p:cNvPicPr>
          <p:nvPr/>
        </p:nvPicPr>
        <p:blipFill>
          <a:blip r:embed="rId9"/>
          <a:srcRect t="-12832" b="-12832"/>
          <a:stretch/>
        </p:blipFill>
        <p:spPr>
          <a:xfrm>
            <a:off x="4533595" y="2734056"/>
            <a:ext cx="85954" cy="123444"/>
          </a:xfrm>
          <a:prstGeom prst="rect">
            <a:avLst/>
          </a:prstGeom>
        </p:spPr>
      </p:pic>
      <p:sp>
        <p:nvSpPr>
          <p:cNvPr id="42" name="Text 31"/>
          <p:cNvSpPr txBox="1"/>
          <p:nvPr/>
        </p:nvSpPr>
        <p:spPr>
          <a:xfrm>
            <a:off x="4714646" y="2695651"/>
            <a:ext cx="215432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Target state architecture design</a:t>
            </a:r>
            <a:endParaRPr lang="en-US" sz="900"/>
          </a:p>
        </p:txBody>
      </p:sp>
      <p:pic>
        <p:nvPicPr>
          <p:cNvPr id="43" name="Image 9" descr="gen-dedup-3f480c66afa147b2245dea2610bb3896.png"/>
          <p:cNvPicPr>
            <a:picLocks noChangeAspect="1"/>
          </p:cNvPicPr>
          <p:nvPr/>
        </p:nvPicPr>
        <p:blipFill>
          <a:blip r:embed="rId9"/>
          <a:srcRect t="-12832" b="-12832"/>
          <a:stretch/>
        </p:blipFill>
        <p:spPr>
          <a:xfrm>
            <a:off x="4533595" y="2971800"/>
            <a:ext cx="85954" cy="123444"/>
          </a:xfrm>
          <a:prstGeom prst="rect">
            <a:avLst/>
          </a:prstGeom>
        </p:spPr>
      </p:pic>
      <p:sp>
        <p:nvSpPr>
          <p:cNvPr id="44" name="Text 32"/>
          <p:cNvSpPr txBox="1"/>
          <p:nvPr/>
        </p:nvSpPr>
        <p:spPr>
          <a:xfrm>
            <a:off x="4714646" y="2933395"/>
            <a:ext cx="250545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Working pilot / MVP implementation</a:t>
            </a:r>
            <a:endParaRPr lang="en-US" sz="900"/>
          </a:p>
        </p:txBody>
      </p:sp>
      <p:pic>
        <p:nvPicPr>
          <p:cNvPr id="45" name="Image 10" descr="gen-dedup-3f480c66afa147b2245dea2610bb3896.png"/>
          <p:cNvPicPr>
            <a:picLocks noChangeAspect="1"/>
          </p:cNvPicPr>
          <p:nvPr/>
        </p:nvPicPr>
        <p:blipFill>
          <a:blip r:embed="rId9"/>
          <a:srcRect t="-12832" b="-12832"/>
          <a:stretch/>
        </p:blipFill>
        <p:spPr>
          <a:xfrm>
            <a:off x="4533595" y="3209544"/>
            <a:ext cx="85954" cy="123444"/>
          </a:xfrm>
          <a:prstGeom prst="rect">
            <a:avLst/>
          </a:prstGeom>
        </p:spPr>
      </p:pic>
      <p:sp>
        <p:nvSpPr>
          <p:cNvPr id="46" name="Text 33"/>
          <p:cNvSpPr txBox="1"/>
          <p:nvPr/>
        </p:nvSpPr>
        <p:spPr>
          <a:xfrm>
            <a:off x="4714646" y="3172054"/>
            <a:ext cx="2278685"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Detailed ROI model &amp; rollout plan</a:t>
            </a:r>
            <a:endParaRPr lang="en-US" sz="900"/>
          </a:p>
        </p:txBody>
      </p:sp>
      <p:pic>
        <p:nvPicPr>
          <p:cNvPr id="47" name="Image 11" descr="gen-dedup-3f480c66afa147b2245dea2610bb3896.png"/>
          <p:cNvPicPr>
            <a:picLocks noChangeAspect="1"/>
          </p:cNvPicPr>
          <p:nvPr/>
        </p:nvPicPr>
        <p:blipFill>
          <a:blip r:embed="rId9"/>
          <a:srcRect t="-12832" b="-12832"/>
          <a:stretch/>
        </p:blipFill>
        <p:spPr>
          <a:xfrm>
            <a:off x="4533595" y="3448202"/>
            <a:ext cx="85954" cy="123444"/>
          </a:xfrm>
          <a:prstGeom prst="rect">
            <a:avLst/>
          </a:prstGeom>
        </p:spPr>
      </p:pic>
      <p:sp>
        <p:nvSpPr>
          <p:cNvPr id="48" name="Text 34"/>
          <p:cNvSpPr txBox="1"/>
          <p:nvPr/>
        </p:nvSpPr>
        <p:spPr>
          <a:xfrm>
            <a:off x="4714646" y="3409798"/>
            <a:ext cx="210860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Vendor integration assessment</a:t>
            </a:r>
            <a:endParaRPr lang="en-US" sz="900"/>
          </a:p>
        </p:txBody>
      </p:sp>
      <p:sp>
        <p:nvSpPr>
          <p:cNvPr id="49" name="Text 35"/>
          <p:cNvSpPr txBox="1"/>
          <p:nvPr/>
        </p:nvSpPr>
        <p:spPr>
          <a:xfrm>
            <a:off x="7077456" y="1848002"/>
            <a:ext cx="658368" cy="124358"/>
          </a:xfrm>
          <a:prstGeom prst="rect">
            <a:avLst/>
          </a:prstGeom>
          <a:noFill/>
          <a:ln/>
        </p:spPr>
        <p:txBody>
          <a:bodyPr wrap="square" lIns="0" tIns="0" rIns="0" bIns="0" rtlCol="0" anchor="ctr"/>
          <a:lstStyle/>
          <a:p>
            <a:pPr marL="0" indent="0" algn="l">
              <a:buNone/>
            </a:pPr>
            <a:r>
              <a:rPr lang="en-US" sz="800" b="1">
                <a:solidFill>
                  <a:srgbClr val="D62839"/>
                </a:solidFill>
                <a:latin typeface="Roboto Condensed" pitchFamily="34" charset="0"/>
                <a:ea typeface="Roboto Condensed" pitchFamily="34" charset="-122"/>
                <a:cs typeface="Roboto Condensed" pitchFamily="34" charset="-120"/>
              </a:rPr>
              <a:t>STRATEGIC</a:t>
            </a:r>
            <a:endParaRPr lang="en-US" sz="800"/>
          </a:p>
        </p:txBody>
      </p:sp>
      <p:sp>
        <p:nvSpPr>
          <p:cNvPr id="50" name="Shape 36"/>
          <p:cNvSpPr/>
          <p:nvPr/>
        </p:nvSpPr>
        <p:spPr>
          <a:xfrm>
            <a:off x="8229600" y="1762049"/>
            <a:ext cx="457200" cy="457200"/>
          </a:xfrm>
          <a:prstGeom prst="roundRect">
            <a:avLst>
              <a:gd name="adj" fmla="val 66667"/>
            </a:avLst>
          </a:prstGeom>
          <a:solidFill>
            <a:srgbClr val="F1F5F9"/>
          </a:solidFill>
          <a:ln w="12700">
            <a:solidFill>
              <a:srgbClr val="FFFFFF">
                <a:alpha val="0"/>
              </a:srgbClr>
            </a:solidFill>
            <a:prstDash val="solid"/>
          </a:ln>
        </p:spPr>
        <p:txBody>
          <a:bodyPr/>
          <a:lstStyle/>
          <a:p>
            <a:endParaRPr lang="en-US"/>
          </a:p>
        </p:txBody>
      </p:sp>
      <p:pic>
        <p:nvPicPr>
          <p:cNvPr id="51" name="Image 12" descr="gen-dedup-e104b6e838315a11dc2d3bf260faf00b.png"/>
          <p:cNvPicPr>
            <a:picLocks noChangeAspect="1"/>
          </p:cNvPicPr>
          <p:nvPr/>
        </p:nvPicPr>
        <p:blipFill>
          <a:blip r:embed="rId10"/>
          <a:srcRect t="-27844" b="-27844"/>
          <a:stretch/>
        </p:blipFill>
        <p:spPr>
          <a:xfrm>
            <a:off x="8382305" y="1895551"/>
            <a:ext cx="152705" cy="190195"/>
          </a:xfrm>
          <a:prstGeom prst="rect">
            <a:avLst/>
          </a:prstGeom>
        </p:spPr>
      </p:pic>
      <p:sp>
        <p:nvSpPr>
          <p:cNvPr id="52" name="Text 37"/>
          <p:cNvSpPr txBox="1"/>
          <p:nvPr/>
        </p:nvSpPr>
        <p:spPr>
          <a:xfrm>
            <a:off x="8839505" y="1794967"/>
            <a:ext cx="1938528"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Build &amp; Run Models</a:t>
            </a:r>
            <a:endParaRPr lang="en-US" sz="1600"/>
          </a:p>
        </p:txBody>
      </p:sp>
      <p:sp>
        <p:nvSpPr>
          <p:cNvPr id="53" name="Text 38"/>
          <p:cNvSpPr txBox="1"/>
          <p:nvPr/>
        </p:nvSpPr>
        <p:spPr>
          <a:xfrm>
            <a:off x="8839505" y="2043684"/>
            <a:ext cx="1629461"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Multi-Year</a:t>
            </a:r>
            <a:endParaRPr lang="en-US" sz="900"/>
          </a:p>
        </p:txBody>
      </p:sp>
      <p:sp>
        <p:nvSpPr>
          <p:cNvPr id="54" name="Shape 39"/>
          <p:cNvSpPr/>
          <p:nvPr/>
        </p:nvSpPr>
        <p:spPr>
          <a:xfrm>
            <a:off x="10555834" y="1762049"/>
            <a:ext cx="800100" cy="256946"/>
          </a:xfrm>
          <a:prstGeom prst="roundRect">
            <a:avLst>
              <a:gd name="adj" fmla="val 316331"/>
            </a:avLst>
          </a:prstGeom>
          <a:solidFill>
            <a:srgbClr val="F1F5F9"/>
          </a:solidFill>
          <a:ln w="12700">
            <a:solidFill>
              <a:srgbClr val="FFFFFF">
                <a:alpha val="0"/>
              </a:srgbClr>
            </a:solidFill>
            <a:prstDash val="solid"/>
          </a:ln>
        </p:spPr>
        <p:txBody>
          <a:bodyPr/>
          <a:lstStyle/>
          <a:p>
            <a:endParaRPr lang="en-US"/>
          </a:p>
        </p:txBody>
      </p:sp>
      <p:sp>
        <p:nvSpPr>
          <p:cNvPr id="55" name="Text 40"/>
          <p:cNvSpPr txBox="1"/>
          <p:nvPr/>
        </p:nvSpPr>
        <p:spPr>
          <a:xfrm>
            <a:off x="8229600"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COMMERCIAL MODELS</a:t>
            </a:r>
            <a:endParaRPr lang="en-US" sz="900"/>
          </a:p>
        </p:txBody>
      </p:sp>
      <p:pic>
        <p:nvPicPr>
          <p:cNvPr id="56" name="Image 13" descr="gen-dedup-06c19e2f143b52e69c4653630769d291.png"/>
          <p:cNvPicPr>
            <a:picLocks noChangeAspect="1"/>
          </p:cNvPicPr>
          <p:nvPr/>
        </p:nvPicPr>
        <p:blipFill>
          <a:blip r:embed="rId11"/>
          <a:srcRect t="-27726" b="-27726"/>
          <a:stretch/>
        </p:blipFill>
        <p:spPr>
          <a:xfrm>
            <a:off x="8229600" y="2734056"/>
            <a:ext cx="85954" cy="152705"/>
          </a:xfrm>
          <a:prstGeom prst="rect">
            <a:avLst/>
          </a:prstGeom>
        </p:spPr>
      </p:pic>
      <p:sp>
        <p:nvSpPr>
          <p:cNvPr id="57" name="Text 41"/>
          <p:cNvSpPr txBox="1"/>
          <p:nvPr/>
        </p:nvSpPr>
        <p:spPr>
          <a:xfrm>
            <a:off x="8410651" y="2695651"/>
            <a:ext cx="2879446"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Fixed Scope:</a:t>
            </a:r>
            <a:r>
              <a:rPr lang="en-US" sz="1000">
                <a:solidFill>
                  <a:srgbClr val="475569"/>
                </a:solidFill>
                <a:latin typeface="Raleway" pitchFamily="34" charset="0"/>
                <a:ea typeface="Raleway" pitchFamily="34" charset="-122"/>
                <a:cs typeface="Raleway" pitchFamily="34" charset="-120"/>
              </a:rPr>
              <a:t> For defined project builds</a:t>
            </a:r>
            <a:endParaRPr lang="en-US" sz="1000"/>
          </a:p>
        </p:txBody>
      </p:sp>
      <p:pic>
        <p:nvPicPr>
          <p:cNvPr id="58" name="Image 14" descr="gen-dedup-06c19e2f143b52e69c4653630769d291.png"/>
          <p:cNvPicPr>
            <a:picLocks noChangeAspect="1"/>
          </p:cNvPicPr>
          <p:nvPr/>
        </p:nvPicPr>
        <p:blipFill>
          <a:blip r:embed="rId11"/>
          <a:srcRect t="-27726" b="-27726"/>
          <a:stretch/>
        </p:blipFill>
        <p:spPr>
          <a:xfrm>
            <a:off x="8229600" y="3038551"/>
            <a:ext cx="85954" cy="152705"/>
          </a:xfrm>
          <a:prstGeom prst="rect">
            <a:avLst/>
          </a:prstGeom>
        </p:spPr>
      </p:pic>
      <p:sp>
        <p:nvSpPr>
          <p:cNvPr id="59" name="Text 42"/>
          <p:cNvSpPr txBox="1"/>
          <p:nvPr/>
        </p:nvSpPr>
        <p:spPr>
          <a:xfrm>
            <a:off x="8410651" y="3000146"/>
            <a:ext cx="3038551"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Managed Service:</a:t>
            </a:r>
            <a:r>
              <a:rPr lang="en-US" sz="1000">
                <a:solidFill>
                  <a:srgbClr val="475569"/>
                </a:solidFill>
                <a:latin typeface="Raleway" pitchFamily="34" charset="0"/>
                <a:ea typeface="Raleway" pitchFamily="34" charset="-122"/>
                <a:cs typeface="Raleway" pitchFamily="34" charset="-120"/>
              </a:rPr>
              <a:t> SLA-driven operations</a:t>
            </a:r>
            <a:endParaRPr lang="en-US" sz="1000"/>
          </a:p>
        </p:txBody>
      </p:sp>
      <p:pic>
        <p:nvPicPr>
          <p:cNvPr id="60" name="Image 15" descr="gen-dedup-3678629b4a5ad6139a7cc5dcf1ee97ee.png"/>
          <p:cNvPicPr>
            <a:picLocks noChangeAspect="1"/>
          </p:cNvPicPr>
          <p:nvPr/>
        </p:nvPicPr>
        <p:blipFill>
          <a:blip r:embed="rId12"/>
          <a:srcRect t="-119879" b="-119879"/>
          <a:stretch/>
        </p:blipFill>
        <p:spPr>
          <a:xfrm>
            <a:off x="8229600" y="3343046"/>
            <a:ext cx="85954" cy="333756"/>
          </a:xfrm>
          <a:prstGeom prst="rect">
            <a:avLst/>
          </a:prstGeom>
        </p:spPr>
      </p:pic>
      <p:sp>
        <p:nvSpPr>
          <p:cNvPr id="61" name="Text 43"/>
          <p:cNvSpPr txBox="1"/>
          <p:nvPr/>
        </p:nvSpPr>
        <p:spPr>
          <a:xfrm>
            <a:off x="8410651" y="3305556"/>
            <a:ext cx="2943454" cy="381305"/>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Outcome-Based:</a:t>
            </a:r>
            <a:r>
              <a:rPr lang="en-US" sz="1000">
                <a:solidFill>
                  <a:srgbClr val="475569"/>
                </a:solidFill>
                <a:latin typeface="Raleway" pitchFamily="34" charset="0"/>
                <a:ea typeface="Raleway" pitchFamily="34" charset="-122"/>
                <a:cs typeface="Raleway" pitchFamily="34" charset="-120"/>
              </a:rPr>
              <a:t> Gain-share pricing tied to value</a:t>
            </a:r>
            <a:endParaRPr lang="en-US" sz="1000"/>
          </a:p>
        </p:txBody>
      </p:sp>
      <p:sp>
        <p:nvSpPr>
          <p:cNvPr id="62" name="Text 44"/>
          <p:cNvSpPr txBox="1"/>
          <p:nvPr/>
        </p:nvSpPr>
        <p:spPr>
          <a:xfrm>
            <a:off x="10650931" y="1848002"/>
            <a:ext cx="806501" cy="124358"/>
          </a:xfrm>
          <a:prstGeom prst="rect">
            <a:avLst/>
          </a:prstGeom>
          <a:noFill/>
          <a:ln/>
        </p:spPr>
        <p:txBody>
          <a:bodyPr wrap="square" lIns="0" tIns="0" rIns="0" bIns="0" rtlCol="0" anchor="ctr"/>
          <a:lstStyle/>
          <a:p>
            <a:pPr marL="0" indent="0" algn="l">
              <a:buNone/>
            </a:pPr>
            <a:r>
              <a:rPr lang="en-US" sz="800" b="1">
                <a:solidFill>
                  <a:srgbClr val="334155"/>
                </a:solidFill>
                <a:latin typeface="Roboto Condensed" pitchFamily="34" charset="0"/>
                <a:ea typeface="Roboto Condensed" pitchFamily="34" charset="-122"/>
                <a:cs typeface="Roboto Condensed" pitchFamily="34" charset="-120"/>
              </a:rPr>
              <a:t>PARTNERSHIP</a:t>
            </a:r>
            <a:endParaRPr lang="en-US" sz="800"/>
          </a:p>
        </p:txBody>
      </p:sp>
      <p:pic>
        <p:nvPicPr>
          <p:cNvPr id="63" name="Image 16" descr="gen-dedup-a2699a036d9634824b4953ceddf6835e.png"/>
          <p:cNvPicPr>
            <a:picLocks noChangeAspect="1"/>
          </p:cNvPicPr>
          <p:nvPr/>
        </p:nvPicPr>
        <p:blipFill>
          <a:blip r:embed="rId13"/>
          <a:srcRect t="-16800" b="-16800"/>
          <a:stretch/>
        </p:blipFill>
        <p:spPr>
          <a:xfrm>
            <a:off x="905256" y="4809744"/>
            <a:ext cx="114300" cy="152705"/>
          </a:xfrm>
          <a:prstGeom prst="rect">
            <a:avLst/>
          </a:prstGeom>
        </p:spPr>
      </p:pic>
      <p:sp>
        <p:nvSpPr>
          <p:cNvPr id="64" name="Text 45"/>
          <p:cNvSpPr txBox="1"/>
          <p:nvPr/>
        </p:nvSpPr>
        <p:spPr>
          <a:xfrm>
            <a:off x="1114654" y="4762195"/>
            <a:ext cx="3151937" cy="247802"/>
          </a:xfrm>
          <a:prstGeom prst="rect">
            <a:avLst/>
          </a:prstGeom>
          <a:noFill/>
          <a:ln/>
        </p:spPr>
        <p:txBody>
          <a:bodyPr wrap="square" lIns="0" tIns="0" rIns="0" bIns="0" rtlCol="0" anchor="ctr"/>
          <a:lstStyle/>
          <a:p>
            <a:pPr marL="0" indent="0" algn="l">
              <a:buNone/>
            </a:pPr>
            <a:r>
              <a:rPr lang="en-US" sz="1300" b="1" kern="0" spc="27">
                <a:solidFill>
                  <a:srgbClr val="1E293B"/>
                </a:solidFill>
                <a:latin typeface="Oswald" pitchFamily="34" charset="0"/>
                <a:ea typeface="Oswald" pitchFamily="34" charset="-122"/>
                <a:cs typeface="Oswald" pitchFamily="34" charset="-120"/>
              </a:rPr>
              <a:t>SAMPLE IMPLEMENTATION ROADMAP</a:t>
            </a:r>
            <a:endParaRPr lang="en-US" sz="1300"/>
          </a:p>
        </p:txBody>
      </p:sp>
      <p:sp>
        <p:nvSpPr>
          <p:cNvPr id="65" name="Text 46"/>
          <p:cNvSpPr txBox="1"/>
          <p:nvPr/>
        </p:nvSpPr>
        <p:spPr>
          <a:xfrm>
            <a:off x="1047902" y="5315407"/>
            <a:ext cx="719633" cy="133502"/>
          </a:xfrm>
          <a:prstGeom prst="rect">
            <a:avLst/>
          </a:prstGeom>
          <a:noFill/>
          <a:ln/>
        </p:spPr>
        <p:txBody>
          <a:bodyPr wrap="square" lIns="0" tIns="0" rIns="0" bIns="0" rtlCol="0" anchor="ctr"/>
          <a:lstStyle/>
          <a:p>
            <a:pPr marL="0" indent="0" algn="l">
              <a:buNone/>
            </a:pPr>
            <a:r>
              <a:rPr lang="en-US" sz="900" b="1">
                <a:solidFill>
                  <a:srgbClr val="2A9D8F"/>
                </a:solidFill>
                <a:latin typeface="Roboto Condensed" pitchFamily="34" charset="0"/>
                <a:ea typeface="Roboto Condensed" pitchFamily="34" charset="-122"/>
                <a:cs typeface="Roboto Condensed" pitchFamily="34" charset="-120"/>
              </a:rPr>
              <a:t>DISCOVERY</a:t>
            </a:r>
            <a:endParaRPr lang="en-US" sz="900"/>
          </a:p>
        </p:txBody>
      </p:sp>
      <p:sp>
        <p:nvSpPr>
          <p:cNvPr id="66" name="Text 47"/>
          <p:cNvSpPr txBox="1"/>
          <p:nvPr/>
        </p:nvSpPr>
        <p:spPr>
          <a:xfrm>
            <a:off x="3063240" y="5238598"/>
            <a:ext cx="18196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Q1</a:t>
            </a:r>
            <a:endParaRPr lang="en-US" sz="1200"/>
          </a:p>
        </p:txBody>
      </p:sp>
      <p:sp>
        <p:nvSpPr>
          <p:cNvPr id="67" name="Text 48"/>
          <p:cNvSpPr txBox="1"/>
          <p:nvPr/>
        </p:nvSpPr>
        <p:spPr>
          <a:xfrm>
            <a:off x="1047902"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Assess readiness, define scope, select initial use cases</a:t>
            </a:r>
            <a:endParaRPr lang="en-US" sz="900"/>
          </a:p>
        </p:txBody>
      </p:sp>
      <p:sp>
        <p:nvSpPr>
          <p:cNvPr id="68" name="Shape 49"/>
          <p:cNvSpPr/>
          <p:nvPr/>
        </p:nvSpPr>
        <p:spPr>
          <a:xfrm>
            <a:off x="1047902" y="6117336"/>
            <a:ext cx="562356" cy="9144"/>
          </a:xfrm>
          <a:prstGeom prst="rect">
            <a:avLst/>
          </a:prstGeom>
          <a:solidFill>
            <a:srgbClr val="E6F3F1"/>
          </a:solidFill>
          <a:ln w="12700">
            <a:solidFill>
              <a:srgbClr val="E6F3F1">
                <a:alpha val="0"/>
              </a:srgbClr>
            </a:solidFill>
            <a:prstDash val="solid"/>
          </a:ln>
        </p:spPr>
        <p:txBody>
          <a:bodyPr/>
          <a:lstStyle/>
          <a:p>
            <a:endParaRPr lang="en-US"/>
          </a:p>
        </p:txBody>
      </p:sp>
      <p:sp>
        <p:nvSpPr>
          <p:cNvPr id="69" name="Text 50"/>
          <p:cNvSpPr txBox="1"/>
          <p:nvPr/>
        </p:nvSpPr>
        <p:spPr>
          <a:xfrm>
            <a:off x="1104595" y="5964631"/>
            <a:ext cx="716890" cy="124358"/>
          </a:xfrm>
          <a:prstGeom prst="rect">
            <a:avLst/>
          </a:prstGeom>
          <a:noFill/>
          <a:ln/>
        </p:spPr>
        <p:txBody>
          <a:bodyPr wrap="squar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Initiation</a:t>
            </a:r>
            <a:endParaRPr lang="en-US" sz="800"/>
          </a:p>
        </p:txBody>
      </p:sp>
      <p:pic>
        <p:nvPicPr>
          <p:cNvPr id="70" name="Image 17" descr="gen-dedup-6bab9f986820d248c4d42c53288c0e5d.png"/>
          <p:cNvPicPr>
            <a:picLocks noChangeAspect="1"/>
          </p:cNvPicPr>
          <p:nvPr/>
        </p:nvPicPr>
        <p:blipFill>
          <a:blip r:embed="rId14"/>
          <a:srcRect t="-5544" b="-5544"/>
          <a:stretch/>
        </p:blipFill>
        <p:spPr>
          <a:xfrm>
            <a:off x="3452774" y="5627218"/>
            <a:ext cx="105156" cy="133502"/>
          </a:xfrm>
          <a:prstGeom prst="rect">
            <a:avLst/>
          </a:prstGeom>
        </p:spPr>
      </p:pic>
      <p:sp>
        <p:nvSpPr>
          <p:cNvPr id="71" name="Text 51"/>
          <p:cNvSpPr txBox="1"/>
          <p:nvPr/>
        </p:nvSpPr>
        <p:spPr>
          <a:xfrm>
            <a:off x="3810305" y="5315407"/>
            <a:ext cx="864108" cy="133502"/>
          </a:xfrm>
          <a:prstGeom prst="rect">
            <a:avLst/>
          </a:prstGeom>
          <a:noFill/>
          <a:ln/>
        </p:spPr>
        <p:txBody>
          <a:bodyPr wrap="square" lIns="0" tIns="0" rIns="0" bIns="0" rtlCol="0" anchor="ctr"/>
          <a:lstStyle/>
          <a:p>
            <a:pPr marL="0" indent="0" algn="l">
              <a:buNone/>
            </a:pPr>
            <a:r>
              <a:rPr lang="en-US" sz="900" b="1">
                <a:solidFill>
                  <a:srgbClr val="D62839"/>
                </a:solidFill>
                <a:latin typeface="Roboto Condensed" pitchFamily="34" charset="0"/>
                <a:ea typeface="Roboto Condensed" pitchFamily="34" charset="-122"/>
                <a:cs typeface="Roboto Condensed" pitchFamily="34" charset="-120"/>
              </a:rPr>
              <a:t>PILOT / POC</a:t>
            </a:r>
            <a:endParaRPr lang="en-US" sz="900"/>
          </a:p>
        </p:txBody>
      </p:sp>
      <p:sp>
        <p:nvSpPr>
          <p:cNvPr id="72" name="Text 52"/>
          <p:cNvSpPr txBox="1"/>
          <p:nvPr/>
        </p:nvSpPr>
        <p:spPr>
          <a:xfrm>
            <a:off x="5807354"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Q2</a:t>
            </a:r>
            <a:endParaRPr lang="en-US" sz="1200"/>
          </a:p>
        </p:txBody>
      </p:sp>
      <p:sp>
        <p:nvSpPr>
          <p:cNvPr id="73" name="Text 53"/>
          <p:cNvSpPr txBox="1"/>
          <p:nvPr/>
        </p:nvSpPr>
        <p:spPr>
          <a:xfrm>
            <a:off x="3810305"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MVP build, user testing, architecture validation</a:t>
            </a:r>
            <a:endParaRPr lang="en-US" sz="900"/>
          </a:p>
        </p:txBody>
      </p:sp>
      <p:sp>
        <p:nvSpPr>
          <p:cNvPr id="74" name="Shape 54"/>
          <p:cNvSpPr/>
          <p:nvPr/>
        </p:nvSpPr>
        <p:spPr>
          <a:xfrm>
            <a:off x="3810305" y="5897880"/>
            <a:ext cx="629107" cy="219456"/>
          </a:xfrm>
          <a:prstGeom prst="roundRect">
            <a:avLst>
              <a:gd name="adj" fmla="val 144928"/>
            </a:avLst>
          </a:prstGeom>
          <a:solidFill>
            <a:srgbClr val="FEF2F2"/>
          </a:solidFill>
          <a:ln w="12700">
            <a:solidFill>
              <a:srgbClr val="FFFFFF">
                <a:alpha val="0"/>
              </a:srgbClr>
            </a:solidFill>
            <a:prstDash val="solid"/>
          </a:ln>
        </p:spPr>
        <p:txBody>
          <a:bodyPr/>
          <a:lstStyle/>
          <a:p>
            <a:endParaRPr lang="en-US"/>
          </a:p>
        </p:txBody>
      </p:sp>
      <p:sp>
        <p:nvSpPr>
          <p:cNvPr id="75" name="Text 55"/>
          <p:cNvSpPr txBox="1"/>
          <p:nvPr/>
        </p:nvSpPr>
        <p:spPr>
          <a:xfrm>
            <a:off x="3866998" y="5964631"/>
            <a:ext cx="726948" cy="124358"/>
          </a:xfrm>
          <a:prstGeom prst="rect">
            <a:avLst/>
          </a:prstGeom>
          <a:noFill/>
          <a:ln/>
        </p:spPr>
        <p:txBody>
          <a:bodyPr wrap="square" lIns="0" tIns="0" rIns="0" bIns="0" rtlCol="0" anchor="ctr"/>
          <a:lstStyle/>
          <a:p>
            <a:pPr marL="0" indent="0" algn="l">
              <a:buNone/>
            </a:pPr>
            <a:r>
              <a:rPr lang="en-US" sz="800" b="1">
                <a:solidFill>
                  <a:srgbClr val="D62839"/>
                </a:solidFill>
                <a:latin typeface="Raleway" pitchFamily="34" charset="0"/>
                <a:ea typeface="Raleway" pitchFamily="34" charset="-122"/>
                <a:cs typeface="Raleway" pitchFamily="34" charset="-120"/>
              </a:rPr>
              <a:t>Validation</a:t>
            </a:r>
            <a:endParaRPr lang="en-US" sz="800"/>
          </a:p>
        </p:txBody>
      </p:sp>
      <p:pic>
        <p:nvPicPr>
          <p:cNvPr id="76" name="Image 18" descr="gen-dedup-6bab9f986820d248c4d42c53288c0e5d.png"/>
          <p:cNvPicPr>
            <a:picLocks noChangeAspect="1"/>
          </p:cNvPicPr>
          <p:nvPr/>
        </p:nvPicPr>
        <p:blipFill>
          <a:blip r:embed="rId14"/>
          <a:srcRect t="-5544" b="-5544"/>
          <a:stretch/>
        </p:blipFill>
        <p:spPr>
          <a:xfrm>
            <a:off x="6215177" y="5627218"/>
            <a:ext cx="105156" cy="133502"/>
          </a:xfrm>
          <a:prstGeom prst="rect">
            <a:avLst/>
          </a:prstGeom>
        </p:spPr>
      </p:pic>
      <p:sp>
        <p:nvSpPr>
          <p:cNvPr id="77" name="Text 56"/>
          <p:cNvSpPr txBox="1"/>
          <p:nvPr/>
        </p:nvSpPr>
        <p:spPr>
          <a:xfrm>
            <a:off x="6572707" y="5315407"/>
            <a:ext cx="402336"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SCALE</a:t>
            </a:r>
            <a:endParaRPr lang="en-US" sz="900"/>
          </a:p>
        </p:txBody>
      </p:sp>
      <p:sp>
        <p:nvSpPr>
          <p:cNvPr id="78" name="Text 57"/>
          <p:cNvSpPr txBox="1"/>
          <p:nvPr/>
        </p:nvSpPr>
        <p:spPr>
          <a:xfrm>
            <a:off x="8569757"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Q3</a:t>
            </a:r>
            <a:endParaRPr lang="en-US" sz="1200"/>
          </a:p>
        </p:txBody>
      </p:sp>
      <p:sp>
        <p:nvSpPr>
          <p:cNvPr id="79" name="Text 58"/>
          <p:cNvSpPr txBox="1"/>
          <p:nvPr/>
        </p:nvSpPr>
        <p:spPr>
          <a:xfrm>
            <a:off x="6572707"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Production deployment, integration, vendor onboarding</a:t>
            </a:r>
            <a:endParaRPr lang="en-US" sz="900"/>
          </a:p>
        </p:txBody>
      </p:sp>
      <p:sp>
        <p:nvSpPr>
          <p:cNvPr id="80" name="Shape 59"/>
          <p:cNvSpPr/>
          <p:nvPr/>
        </p:nvSpPr>
        <p:spPr>
          <a:xfrm>
            <a:off x="6572707" y="5897880"/>
            <a:ext cx="619049" cy="219456"/>
          </a:xfrm>
          <a:prstGeom prst="roundRect">
            <a:avLst>
              <a:gd name="adj" fmla="val 144928"/>
            </a:avLst>
          </a:prstGeom>
          <a:solidFill>
            <a:srgbClr val="F1F5F9"/>
          </a:solidFill>
          <a:ln w="12700">
            <a:solidFill>
              <a:srgbClr val="FFFFFF">
                <a:alpha val="0"/>
              </a:srgbClr>
            </a:solidFill>
            <a:prstDash val="solid"/>
          </a:ln>
        </p:spPr>
        <p:txBody>
          <a:bodyPr/>
          <a:lstStyle/>
          <a:p>
            <a:endParaRPr lang="en-US"/>
          </a:p>
        </p:txBody>
      </p:sp>
      <p:sp>
        <p:nvSpPr>
          <p:cNvPr id="81" name="Text 60"/>
          <p:cNvSpPr txBox="1"/>
          <p:nvPr/>
        </p:nvSpPr>
        <p:spPr>
          <a:xfrm>
            <a:off x="6629400" y="5964631"/>
            <a:ext cx="661111" cy="124358"/>
          </a:xfrm>
          <a:prstGeom prst="rect">
            <a:avLst/>
          </a:prstGeom>
          <a:noFill/>
          <a:ln/>
        </p:spPr>
        <p:txBody>
          <a:bodyPr wrap="square" lIns="0" tIns="0" rIns="0" bIns="0" rtlCol="0" anchor="ctr"/>
          <a:lstStyle/>
          <a:p>
            <a:pPr marL="0" indent="0" algn="l">
              <a:buNone/>
            </a:pPr>
            <a:r>
              <a:rPr lang="en-US" sz="800" b="1">
                <a:solidFill>
                  <a:srgbClr val="475569"/>
                </a:solidFill>
                <a:latin typeface="Raleway" pitchFamily="34" charset="0"/>
                <a:ea typeface="Raleway" pitchFamily="34" charset="-122"/>
                <a:cs typeface="Raleway" pitchFamily="34" charset="-120"/>
              </a:rPr>
              <a:t>Execution</a:t>
            </a:r>
            <a:endParaRPr lang="en-US" sz="800"/>
          </a:p>
        </p:txBody>
      </p:sp>
      <p:pic>
        <p:nvPicPr>
          <p:cNvPr id="82" name="Image 19" descr="gen-dedup-6bab9f986820d248c4d42c53288c0e5d.png"/>
          <p:cNvPicPr>
            <a:picLocks noChangeAspect="1"/>
          </p:cNvPicPr>
          <p:nvPr/>
        </p:nvPicPr>
        <p:blipFill>
          <a:blip r:embed="rId14"/>
          <a:srcRect t="-5544" b="-5544"/>
          <a:stretch/>
        </p:blipFill>
        <p:spPr>
          <a:xfrm>
            <a:off x="8977579" y="5627218"/>
            <a:ext cx="105156" cy="133502"/>
          </a:xfrm>
          <a:prstGeom prst="rect">
            <a:avLst/>
          </a:prstGeom>
        </p:spPr>
      </p:pic>
      <p:sp>
        <p:nvSpPr>
          <p:cNvPr id="83" name="Text 61"/>
          <p:cNvSpPr txBox="1"/>
          <p:nvPr/>
        </p:nvSpPr>
        <p:spPr>
          <a:xfrm>
            <a:off x="9334195" y="5315407"/>
            <a:ext cx="637337"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OPTIMIZE</a:t>
            </a:r>
            <a:endParaRPr lang="en-US" sz="900"/>
          </a:p>
        </p:txBody>
      </p:sp>
      <p:sp>
        <p:nvSpPr>
          <p:cNvPr id="84" name="Text 62"/>
          <p:cNvSpPr txBox="1"/>
          <p:nvPr/>
        </p:nvSpPr>
        <p:spPr>
          <a:xfrm>
            <a:off x="11044123"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Q4</a:t>
            </a:r>
            <a:endParaRPr lang="en-US" sz="1200"/>
          </a:p>
        </p:txBody>
      </p:sp>
      <p:sp>
        <p:nvSpPr>
          <p:cNvPr id="85" name="Text 63"/>
          <p:cNvSpPr txBox="1"/>
          <p:nvPr/>
        </p:nvSpPr>
        <p:spPr>
          <a:xfrm>
            <a:off x="9334195" y="5505602"/>
            <a:ext cx="1877263"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Run ops, process tuning, continuous improvement</a:t>
            </a:r>
            <a:endParaRPr lang="en-US" sz="900"/>
          </a:p>
        </p:txBody>
      </p:sp>
      <p:sp>
        <p:nvSpPr>
          <p:cNvPr id="86" name="Text 64"/>
          <p:cNvSpPr txBox="1"/>
          <p:nvPr/>
        </p:nvSpPr>
        <p:spPr>
          <a:xfrm>
            <a:off x="9391802" y="5964631"/>
            <a:ext cx="737006" cy="124358"/>
          </a:xfrm>
          <a:prstGeom prst="rect">
            <a:avLst/>
          </a:prstGeom>
          <a:noFill/>
          <a:ln/>
        </p:spPr>
        <p:txBody>
          <a:bodyPr wrap="square" lIns="0" tIns="0" rIns="0" bIns="0" rtlCol="0" anchor="ctr"/>
          <a:lstStyle/>
          <a:p>
            <a:pPr marL="0" indent="0" algn="l">
              <a:buNone/>
            </a:pPr>
            <a:r>
              <a:rPr lang="en-US" sz="800" b="1">
                <a:solidFill>
                  <a:srgbClr val="64748B"/>
                </a:solidFill>
                <a:latin typeface="Raleway" pitchFamily="34" charset="0"/>
                <a:ea typeface="Raleway" pitchFamily="34" charset="-122"/>
                <a:cs typeface="Raleway" pitchFamily="34" charset="-120"/>
              </a:rPr>
              <a:t>Refinement</a:t>
            </a:r>
            <a:endParaRPr lang="en-US" sz="800"/>
          </a:p>
        </p:txBody>
      </p:sp>
    </p:spTree>
    <p:extLst>
      <p:ext uri="{BB962C8B-B14F-4D97-AF65-F5344CB8AC3E}">
        <p14:creationId xmlns:p14="http://schemas.microsoft.com/office/powerpoint/2010/main" val="115305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solidFill>
            <a:srgbClr val="2A9D8F">
              <a:alpha val="3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52805" y="4476902"/>
            <a:ext cx="3810305" cy="3810305"/>
          </a:xfrm>
          <a:prstGeom prst="ellipse">
            <a:avLst/>
          </a:prstGeom>
          <a:solidFill>
            <a:srgbClr val="D62839">
              <a:alpha val="2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rcRect l="-202" r="-202"/>
          <a:stretch/>
        </p:blipFill>
        <p:spPr>
          <a:xfrm>
            <a:off x="0" y="6782105"/>
            <a:ext cx="8128102" cy="75895"/>
          </a:xfrm>
          <a:prstGeom prst="rect">
            <a:avLst/>
          </a:prstGeom>
        </p:spPr>
      </p:pic>
      <p:pic>
        <p:nvPicPr>
          <p:cNvPr id="7" name="Image 1" descr="preencoded.png"/>
          <p:cNvPicPr>
            <a:picLocks noChangeAspect="1"/>
          </p:cNvPicPr>
          <p:nvPr/>
        </p:nvPicPr>
        <p:blipFill>
          <a:blip r:embed="rId4"/>
          <a:srcRect l="-197" r="-197"/>
          <a:stretch/>
        </p:blipFill>
        <p:spPr>
          <a:xfrm>
            <a:off x="8128102" y="6782105"/>
            <a:ext cx="4063594" cy="75895"/>
          </a:xfrm>
          <a:prstGeom prst="rect">
            <a:avLst/>
          </a:prstGeom>
        </p:spPr>
      </p:pic>
      <p:pic>
        <p:nvPicPr>
          <p:cNvPr id="8" name="Image 2" descr="preencoded.png"/>
          <p:cNvPicPr>
            <a:picLocks noChangeAspect="1"/>
          </p:cNvPicPr>
          <p:nvPr/>
        </p:nvPicPr>
        <p:blipFill>
          <a:blip r:embed="rId5"/>
          <a:srcRect t="60" b="60"/>
          <a:stretch/>
        </p:blipFill>
        <p:spPr>
          <a:xfrm>
            <a:off x="4121201" y="914400"/>
            <a:ext cx="3952951" cy="1904695"/>
          </a:xfrm>
          <a:prstGeom prst="rect">
            <a:avLst/>
          </a:prstGeom>
        </p:spPr>
      </p:pic>
      <p:pic>
        <p:nvPicPr>
          <p:cNvPr id="9" name="Image 3" descr="preencoded.png"/>
          <p:cNvPicPr>
            <a:picLocks noChangeAspect="1"/>
          </p:cNvPicPr>
          <p:nvPr/>
        </p:nvPicPr>
        <p:blipFill>
          <a:blip r:embed="rId6"/>
          <a:srcRect t="-420" b="-420"/>
          <a:stretch/>
        </p:blipFill>
        <p:spPr>
          <a:xfrm>
            <a:off x="5715000" y="3276295"/>
            <a:ext cx="761695" cy="38405"/>
          </a:xfrm>
          <a:prstGeom prst="rect">
            <a:avLst/>
          </a:prstGeom>
        </p:spPr>
      </p:pic>
      <p:sp>
        <p:nvSpPr>
          <p:cNvPr id="10" name="Text 4"/>
          <p:cNvSpPr txBox="1"/>
          <p:nvPr/>
        </p:nvSpPr>
        <p:spPr>
          <a:xfrm>
            <a:off x="3536899" y="3619195"/>
            <a:ext cx="5125212" cy="5715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1" u="none" strike="noStrike" kern="0" cap="none" spc="150" normalizeH="0" baseline="0" noProof="0">
                <a:ln>
                  <a:noFill/>
                </a:ln>
                <a:solidFill>
                  <a:srgbClr val="4B5563"/>
                </a:solidFill>
                <a:effectLst/>
                <a:uLnTx/>
                <a:uFillTx/>
                <a:latin typeface="Raleway" pitchFamily="34" charset="0"/>
                <a:ea typeface="Raleway" pitchFamily="34" charset="-122"/>
                <a:cs typeface="Raleway" pitchFamily="34" charset="-120"/>
              </a:rPr>
              <a:t>"Let's win together"</a:t>
            </a:r>
            <a:endParaRPr kumimoji="0" lang="en-US" sz="30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4" descr="preencoded.png"/>
          <p:cNvPicPr>
            <a:picLocks noChangeAspect="1"/>
          </p:cNvPicPr>
          <p:nvPr/>
        </p:nvPicPr>
        <p:blipFill>
          <a:blip r:embed="rId7"/>
          <a:srcRect/>
          <a:stretch/>
        </p:blipFill>
        <p:spPr>
          <a:xfrm>
            <a:off x="761695" y="5410505"/>
            <a:ext cx="761695" cy="761695"/>
          </a:xfrm>
          <a:prstGeom prst="rect">
            <a:avLst/>
          </a:prstGeom>
        </p:spPr>
      </p:pic>
      <p:pic>
        <p:nvPicPr>
          <p:cNvPr id="12" name="Image 5" descr="preencoded.png"/>
          <p:cNvPicPr>
            <a:picLocks noChangeAspect="1"/>
          </p:cNvPicPr>
          <p:nvPr/>
        </p:nvPicPr>
        <p:blipFill>
          <a:blip r:embed="rId8"/>
          <a:srcRect l="81" r="81"/>
          <a:stretch/>
        </p:blipFill>
        <p:spPr>
          <a:xfrm>
            <a:off x="3189427" y="5658307"/>
            <a:ext cx="809244" cy="267005"/>
          </a:xfrm>
          <a:prstGeom prst="rect">
            <a:avLst/>
          </a:prstGeom>
        </p:spPr>
      </p:pic>
      <p:pic>
        <p:nvPicPr>
          <p:cNvPr id="13" name="Image 6" descr="preencoded.png"/>
          <p:cNvPicPr>
            <a:picLocks noChangeAspect="1"/>
          </p:cNvPicPr>
          <p:nvPr/>
        </p:nvPicPr>
        <p:blipFill>
          <a:blip r:embed="rId9"/>
          <a:srcRect l="7" r="7"/>
          <a:stretch/>
        </p:blipFill>
        <p:spPr>
          <a:xfrm>
            <a:off x="5665622" y="5453482"/>
            <a:ext cx="724205" cy="676656"/>
          </a:xfrm>
          <a:prstGeom prst="rect">
            <a:avLst/>
          </a:prstGeom>
        </p:spPr>
      </p:pic>
      <p:pic>
        <p:nvPicPr>
          <p:cNvPr id="14" name="Image 7" descr="preencoded.png"/>
          <p:cNvPicPr>
            <a:picLocks noChangeAspect="1"/>
          </p:cNvPicPr>
          <p:nvPr/>
        </p:nvPicPr>
        <p:blipFill>
          <a:blip r:embed="rId10"/>
          <a:srcRect t="236" b="236"/>
          <a:stretch/>
        </p:blipFill>
        <p:spPr>
          <a:xfrm>
            <a:off x="8054950" y="5410505"/>
            <a:ext cx="1257300" cy="761695"/>
          </a:xfrm>
          <a:prstGeom prst="rect">
            <a:avLst/>
          </a:prstGeom>
        </p:spPr>
      </p:pic>
      <p:pic>
        <p:nvPicPr>
          <p:cNvPr id="15" name="Image 8" descr="preencoded.png"/>
          <p:cNvPicPr>
            <a:picLocks noChangeAspect="1"/>
          </p:cNvPicPr>
          <p:nvPr/>
        </p:nvPicPr>
        <p:blipFill>
          <a:blip r:embed="rId11"/>
          <a:srcRect t="23" b="24"/>
          <a:stretch/>
        </p:blipFill>
        <p:spPr>
          <a:xfrm>
            <a:off x="10972800" y="5548579"/>
            <a:ext cx="457200" cy="485546"/>
          </a:xfrm>
          <a:prstGeom prst="rect">
            <a:avLst/>
          </a:prstGeom>
        </p:spPr>
      </p:pic>
      <p:pic>
        <p:nvPicPr>
          <p:cNvPr id="16" name="Image 9" descr="preencoded.png"/>
          <p:cNvPicPr>
            <a:picLocks noChangeAspect="1"/>
          </p:cNvPicPr>
          <p:nvPr/>
        </p:nvPicPr>
        <p:blipFill>
          <a:blip r:embed="rId4"/>
          <a:srcRect l="-197" r="-197"/>
          <a:stretch/>
        </p:blipFill>
        <p:spPr>
          <a:xfrm>
            <a:off x="0" y="0"/>
            <a:ext cx="4063594" cy="75895"/>
          </a:xfrm>
          <a:prstGeom prst="rect">
            <a:avLst/>
          </a:prstGeom>
        </p:spPr>
      </p:pic>
      <p:pic>
        <p:nvPicPr>
          <p:cNvPr id="17" name="Image 10" descr="preencoded.png"/>
          <p:cNvPicPr>
            <a:picLocks noChangeAspect="1"/>
          </p:cNvPicPr>
          <p:nvPr/>
        </p:nvPicPr>
        <p:blipFill>
          <a:blip r:embed="rId3"/>
          <a:srcRect l="-202" r="-202"/>
          <a:stretch/>
        </p:blipFill>
        <p:spPr>
          <a:xfrm>
            <a:off x="4063594" y="0"/>
            <a:ext cx="8128102" cy="75895"/>
          </a:xfrm>
          <a:prstGeom prst="rect">
            <a:avLst/>
          </a:prstGeom>
        </p:spPr>
      </p:pic>
    </p:spTree>
    <p:extLst>
      <p:ext uri="{BB962C8B-B14F-4D97-AF65-F5344CB8AC3E}">
        <p14:creationId xmlns:p14="http://schemas.microsoft.com/office/powerpoint/2010/main" val="2467474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856D4-134A-581B-EC5E-520C5A537530}"/>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8A530831-F204-5E89-7B5A-76B52BF25A35}"/>
              </a:ext>
            </a:extLst>
          </p:cNvPr>
          <p:cNvSpPr/>
          <p:nvPr/>
        </p:nvSpPr>
        <p:spPr>
          <a:xfrm>
            <a:off x="9334195" y="-952805"/>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4ab2116e971fbb9400d0e99205bd0390.png">
            <a:extLst>
              <a:ext uri="{FF2B5EF4-FFF2-40B4-BE49-F238E27FC236}">
                <a16:creationId xmlns:a16="http://schemas.microsoft.com/office/drawing/2014/main" id="{9C2AF6D8-5D7F-C534-E8E4-DA00D9002C87}"/>
              </a:ext>
            </a:extLst>
          </p:cNvPr>
          <p:cNvPicPr>
            <a:picLocks noChangeAspect="1"/>
          </p:cNvPicPr>
          <p:nvPr/>
        </p:nvPicPr>
        <p:blipFill>
          <a:blip r:embed="rId3">
            <a:alphaModFix amt="5000"/>
          </a:blip>
          <a:srcRect/>
          <a:stretch/>
        </p:blipFill>
        <p:spPr>
          <a:xfrm>
            <a:off x="10001707" y="5238598"/>
            <a:ext cx="1904695" cy="1904695"/>
          </a:xfrm>
          <a:prstGeom prst="rect">
            <a:avLst/>
          </a:prstGeom>
        </p:spPr>
      </p:pic>
      <p:pic>
        <p:nvPicPr>
          <p:cNvPr id="6" name="Image 1" descr="gen-dedup-323228122ff92d2332e711a84ca3b40c.png">
            <a:extLst>
              <a:ext uri="{FF2B5EF4-FFF2-40B4-BE49-F238E27FC236}">
                <a16:creationId xmlns:a16="http://schemas.microsoft.com/office/drawing/2014/main" id="{BCEA5056-2FC8-FBB4-C394-8A4C143CC070}"/>
              </a:ext>
            </a:extLst>
          </p:cNvPr>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a:extLst>
              <a:ext uri="{FF2B5EF4-FFF2-40B4-BE49-F238E27FC236}">
                <a16:creationId xmlns:a16="http://schemas.microsoft.com/office/drawing/2014/main" id="{5A98248E-EE1B-23EF-94BB-766E2BC3FDC3}"/>
              </a:ext>
            </a:extLst>
          </p:cNvPr>
          <p:cNvPicPr>
            <a:picLocks noChangeAspect="1"/>
          </p:cNvPicPr>
          <p:nvPr/>
        </p:nvPicPr>
        <p:blipFill>
          <a:blip r:embed="rId5"/>
          <a:srcRect l="-202" r="-202"/>
          <a:stretch/>
        </p:blipFill>
        <p:spPr>
          <a:xfrm>
            <a:off x="8124444" y="0"/>
            <a:ext cx="4067251" cy="75895"/>
          </a:xfrm>
          <a:prstGeom prst="rect">
            <a:avLst/>
          </a:prstGeom>
        </p:spPr>
      </p:pic>
      <p:sp>
        <p:nvSpPr>
          <p:cNvPr id="8" name="Text 3">
            <a:extLst>
              <a:ext uri="{FF2B5EF4-FFF2-40B4-BE49-F238E27FC236}">
                <a16:creationId xmlns:a16="http://schemas.microsoft.com/office/drawing/2014/main" id="{3618C317-4414-EB34-2C38-0AC5944E1004}"/>
              </a:ext>
            </a:extLst>
          </p:cNvPr>
          <p:cNvSpPr txBox="1"/>
          <p:nvPr/>
        </p:nvSpPr>
        <p:spPr>
          <a:xfrm>
            <a:off x="381305" y="1143000"/>
            <a:ext cx="2382012" cy="1524305"/>
          </a:xfrm>
          <a:prstGeom prst="rect">
            <a:avLst/>
          </a:prstGeom>
          <a:noFill/>
          <a:ln/>
        </p:spPr>
        <p:txBody>
          <a:bodyPr wrap="none" lIns="0" tIns="0" rIns="0" bIns="0" rtlCol="0" anchor="ctr"/>
          <a:lstStyle/>
          <a:p>
            <a:pPr marL="0" indent="0" algn="l">
              <a:buNone/>
            </a:pPr>
            <a:r>
              <a:rPr lang="en-US" sz="12000" b="1">
                <a:solidFill>
                  <a:srgbClr val="F3F4F6"/>
                </a:solidFill>
                <a:latin typeface="Oswald" pitchFamily="34" charset="0"/>
                <a:ea typeface="Oswald" pitchFamily="34" charset="-122"/>
                <a:cs typeface="Oswald" pitchFamily="34" charset="-120"/>
              </a:rPr>
              <a:t>01</a:t>
            </a:r>
            <a:endParaRPr lang="en-US" sz="12000"/>
          </a:p>
        </p:txBody>
      </p:sp>
      <p:pic>
        <p:nvPicPr>
          <p:cNvPr id="11" name="Image 3" descr="gen-dedup-90395934058aa4b7c1bff00d7e70c0a4.png">
            <a:extLst>
              <a:ext uri="{FF2B5EF4-FFF2-40B4-BE49-F238E27FC236}">
                <a16:creationId xmlns:a16="http://schemas.microsoft.com/office/drawing/2014/main" id="{F31C911D-F040-F235-7735-291225B14DAB}"/>
              </a:ext>
            </a:extLst>
          </p:cNvPr>
          <p:cNvPicPr>
            <a:picLocks noChangeAspect="1"/>
          </p:cNvPicPr>
          <p:nvPr/>
        </p:nvPicPr>
        <p:blipFill>
          <a:blip r:embed="rId6"/>
          <a:srcRect l="-416" r="-416"/>
          <a:stretch/>
        </p:blipFill>
        <p:spPr>
          <a:xfrm>
            <a:off x="1143000" y="2428646"/>
            <a:ext cx="57607" cy="714146"/>
          </a:xfrm>
          <a:prstGeom prst="rect">
            <a:avLst/>
          </a:prstGeom>
        </p:spPr>
      </p:pic>
      <p:sp>
        <p:nvSpPr>
          <p:cNvPr id="12" name="Text 6">
            <a:extLst>
              <a:ext uri="{FF2B5EF4-FFF2-40B4-BE49-F238E27FC236}">
                <a16:creationId xmlns:a16="http://schemas.microsoft.com/office/drawing/2014/main" id="{832DFE89-9B52-C7A9-8829-A59C6834021E}"/>
              </a:ext>
            </a:extLst>
          </p:cNvPr>
          <p:cNvSpPr txBox="1"/>
          <p:nvPr/>
        </p:nvSpPr>
        <p:spPr>
          <a:xfrm>
            <a:off x="1429207" y="2333549"/>
            <a:ext cx="9525305" cy="762610"/>
          </a:xfrm>
          <a:prstGeom prst="rect">
            <a:avLst/>
          </a:prstGeom>
          <a:noFill/>
          <a:ln/>
        </p:spPr>
        <p:txBody>
          <a:bodyPr wrap="none" lIns="0" tIns="0" rIns="0" bIns="0" rtlCol="0" anchor="ctr"/>
          <a:lstStyle/>
          <a:p>
            <a:pPr marL="0" indent="0" algn="l">
              <a:buNone/>
            </a:pPr>
            <a:r>
              <a:rPr lang="en-US" sz="5400" b="1" kern="0" spc="108">
                <a:solidFill>
                  <a:srgbClr val="111827"/>
                </a:solidFill>
                <a:latin typeface="Oswald" pitchFamily="34" charset="0"/>
                <a:ea typeface="Oswald" pitchFamily="34" charset="-122"/>
                <a:cs typeface="Oswald" pitchFamily="34" charset="-120"/>
              </a:rPr>
              <a:t>WORKFORCE SOLUTIONS</a:t>
            </a:r>
          </a:p>
        </p:txBody>
      </p:sp>
      <p:sp>
        <p:nvSpPr>
          <p:cNvPr id="13" name="Text 7">
            <a:extLst>
              <a:ext uri="{FF2B5EF4-FFF2-40B4-BE49-F238E27FC236}">
                <a16:creationId xmlns:a16="http://schemas.microsoft.com/office/drawing/2014/main" id="{A9806661-5DF1-05EF-1477-AF6345A7FD0F}"/>
              </a:ext>
            </a:extLst>
          </p:cNvPr>
          <p:cNvSpPr txBox="1"/>
          <p:nvPr/>
        </p:nvSpPr>
        <p:spPr>
          <a:xfrm>
            <a:off x="1429207" y="3333902"/>
            <a:ext cx="10687507" cy="352958"/>
          </a:xfrm>
          <a:prstGeom prst="rect">
            <a:avLst/>
          </a:prstGeom>
          <a:noFill/>
          <a:ln/>
        </p:spPr>
        <p:txBody>
          <a:bodyPr wrap="none" lIns="0" tIns="0" rIns="0" bIns="0" rtlCol="0" anchor="ctr"/>
          <a:lstStyle/>
          <a:p>
            <a:pPr marL="0" indent="0" algn="l">
              <a:buNone/>
            </a:pPr>
            <a:r>
              <a:rPr lang="en-US" sz="2100">
                <a:solidFill>
                  <a:srgbClr val="2A9D8F"/>
                </a:solidFill>
                <a:latin typeface="Raleway" pitchFamily="34" charset="0"/>
                <a:ea typeface="Raleway" pitchFamily="34" charset="-122"/>
                <a:cs typeface="Raleway" pitchFamily="34" charset="-120"/>
              </a:rPr>
              <a:t>Domain-deep engineering talent - deployed, governed, and continuously upskilled</a:t>
            </a:r>
          </a:p>
        </p:txBody>
      </p:sp>
      <p:sp>
        <p:nvSpPr>
          <p:cNvPr id="14" name="Text 8">
            <a:extLst>
              <a:ext uri="{FF2B5EF4-FFF2-40B4-BE49-F238E27FC236}">
                <a16:creationId xmlns:a16="http://schemas.microsoft.com/office/drawing/2014/main" id="{3AA6F4EC-9880-9FAB-4776-CB7EC6C7DD60}"/>
              </a:ext>
            </a:extLst>
          </p:cNvPr>
          <p:cNvSpPr txBox="1"/>
          <p:nvPr/>
        </p:nvSpPr>
        <p:spPr>
          <a:xfrm>
            <a:off x="1429207" y="4143146"/>
            <a:ext cx="9335110" cy="5532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We don't place people. We deploy domain-certified engineers into governed pods - with sprint accountability, AI-powered sourcing, and a contract-to-hire model that keeps your risk low and your velocity high</a:t>
            </a:r>
            <a:endParaRPr lang="en-US" sz="1300"/>
          </a:p>
        </p:txBody>
      </p:sp>
      <p:pic>
        <p:nvPicPr>
          <p:cNvPr id="15" name="Image 4" descr="gen-dedup-818c62191cf4a66fb5704c7f87e3fedf.png">
            <a:extLst>
              <a:ext uri="{FF2B5EF4-FFF2-40B4-BE49-F238E27FC236}">
                <a16:creationId xmlns:a16="http://schemas.microsoft.com/office/drawing/2014/main" id="{3BE14DA7-645C-95C9-5C91-F96EFC962D61}"/>
              </a:ext>
            </a:extLst>
          </p:cNvPr>
          <p:cNvPicPr>
            <a:picLocks noChangeAspect="1"/>
          </p:cNvPicPr>
          <p:nvPr/>
        </p:nvPicPr>
        <p:blipFill>
          <a:blip r:embed="rId7"/>
          <a:srcRect l="-166" r="-166"/>
          <a:stretch/>
        </p:blipFill>
        <p:spPr>
          <a:xfrm>
            <a:off x="1429207" y="5143500"/>
            <a:ext cx="1933956" cy="418795"/>
          </a:xfrm>
          <a:prstGeom prst="rect">
            <a:avLst/>
          </a:prstGeom>
        </p:spPr>
      </p:pic>
      <p:sp>
        <p:nvSpPr>
          <p:cNvPr id="16" name="Shape 9">
            <a:extLst>
              <a:ext uri="{FF2B5EF4-FFF2-40B4-BE49-F238E27FC236}">
                <a16:creationId xmlns:a16="http://schemas.microsoft.com/office/drawing/2014/main" id="{9F4FE693-DA3B-61CF-1215-7B57E8924352}"/>
              </a:ext>
            </a:extLst>
          </p:cNvPr>
          <p:cNvSpPr/>
          <p:nvPr/>
        </p:nvSpPr>
        <p:spPr>
          <a:xfrm>
            <a:off x="1429207" y="5143500"/>
            <a:ext cx="1933956" cy="418795"/>
          </a:xfrm>
          <a:prstGeom prst="roundRect">
            <a:avLst>
              <a:gd name="adj" fmla="val 13755"/>
            </a:avLst>
          </a:prstGeom>
          <a:noFill/>
          <a:ln w="12700">
            <a:solidFill>
              <a:srgbClr val="E5E7EB"/>
            </a:solidFill>
            <a:prstDash val="solid"/>
          </a:ln>
        </p:spPr>
        <p:txBody>
          <a:bodyPr/>
          <a:lstStyle/>
          <a:p>
            <a:endParaRPr lang="en-US"/>
          </a:p>
        </p:txBody>
      </p:sp>
      <p:sp>
        <p:nvSpPr>
          <p:cNvPr id="17" name="Text 10">
            <a:extLst>
              <a:ext uri="{FF2B5EF4-FFF2-40B4-BE49-F238E27FC236}">
                <a16:creationId xmlns:a16="http://schemas.microsoft.com/office/drawing/2014/main" id="{442C24B0-8636-74A4-4FC8-8DBDB08299C1}"/>
              </a:ext>
            </a:extLst>
          </p:cNvPr>
          <p:cNvSpPr txBox="1"/>
          <p:nvPr/>
        </p:nvSpPr>
        <p:spPr>
          <a:xfrm>
            <a:off x="1653845" y="5143500"/>
            <a:ext cx="14959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10 days or less to </a:t>
            </a:r>
          </a:p>
          <a:p>
            <a:pPr marL="0" indent="0" algn="l">
              <a:buNone/>
            </a:pPr>
            <a:r>
              <a:rPr lang="en-US" sz="1100" b="1">
                <a:solidFill>
                  <a:srgbClr val="374151"/>
                </a:solidFill>
                <a:latin typeface="Raleway" pitchFamily="34" charset="0"/>
                <a:ea typeface="Raleway" pitchFamily="34" charset="-122"/>
                <a:cs typeface="Raleway" pitchFamily="34" charset="-120"/>
              </a:rPr>
              <a:t>deploy</a:t>
            </a:r>
            <a:endParaRPr lang="en-US" sz="1100"/>
          </a:p>
        </p:txBody>
      </p:sp>
      <p:pic>
        <p:nvPicPr>
          <p:cNvPr id="18" name="Image 5" descr="gen-dedup-a287ae7abd092c83dc5f899415c51d00.png">
            <a:extLst>
              <a:ext uri="{FF2B5EF4-FFF2-40B4-BE49-F238E27FC236}">
                <a16:creationId xmlns:a16="http://schemas.microsoft.com/office/drawing/2014/main" id="{717DBA06-294F-AFD6-F4A3-E3BB6A843F09}"/>
              </a:ext>
            </a:extLst>
          </p:cNvPr>
          <p:cNvPicPr>
            <a:picLocks noChangeAspect="1"/>
          </p:cNvPicPr>
          <p:nvPr/>
        </p:nvPicPr>
        <p:blipFill>
          <a:blip r:embed="rId8"/>
          <a:srcRect t="-16800" b="-16800"/>
          <a:stretch/>
        </p:blipFill>
        <p:spPr>
          <a:xfrm>
            <a:off x="1657807" y="5277002"/>
            <a:ext cx="114300" cy="152705"/>
          </a:xfrm>
          <a:prstGeom prst="rect">
            <a:avLst/>
          </a:prstGeom>
        </p:spPr>
      </p:pic>
      <p:pic>
        <p:nvPicPr>
          <p:cNvPr id="19" name="Image 6" descr="gen-dedup-0363cb9fbb55bfd8aa96459f99cffd70.png">
            <a:extLst>
              <a:ext uri="{FF2B5EF4-FFF2-40B4-BE49-F238E27FC236}">
                <a16:creationId xmlns:a16="http://schemas.microsoft.com/office/drawing/2014/main" id="{19292444-1F09-6360-0F68-8AD41048A7D3}"/>
              </a:ext>
            </a:extLst>
          </p:cNvPr>
          <p:cNvPicPr>
            <a:picLocks noChangeAspect="1"/>
          </p:cNvPicPr>
          <p:nvPr/>
        </p:nvPicPr>
        <p:blipFill>
          <a:blip r:embed="rId9"/>
          <a:srcRect l="-260" r="-260"/>
          <a:stretch/>
        </p:blipFill>
        <p:spPr>
          <a:xfrm>
            <a:off x="3510382" y="5143500"/>
            <a:ext cx="2300935" cy="418795"/>
          </a:xfrm>
          <a:prstGeom prst="rect">
            <a:avLst/>
          </a:prstGeom>
        </p:spPr>
      </p:pic>
      <p:sp>
        <p:nvSpPr>
          <p:cNvPr id="20" name="Shape 11">
            <a:extLst>
              <a:ext uri="{FF2B5EF4-FFF2-40B4-BE49-F238E27FC236}">
                <a16:creationId xmlns:a16="http://schemas.microsoft.com/office/drawing/2014/main" id="{0A4FE0DB-0E00-A4E0-D0F5-5DA20E53E7F3}"/>
              </a:ext>
            </a:extLst>
          </p:cNvPr>
          <p:cNvSpPr/>
          <p:nvPr/>
        </p:nvSpPr>
        <p:spPr>
          <a:xfrm>
            <a:off x="3510382" y="5143500"/>
            <a:ext cx="2300935" cy="418795"/>
          </a:xfrm>
          <a:prstGeom prst="roundRect">
            <a:avLst>
              <a:gd name="adj" fmla="val 13755"/>
            </a:avLst>
          </a:prstGeom>
          <a:noFill/>
          <a:ln w="12700">
            <a:solidFill>
              <a:srgbClr val="E5E7EB"/>
            </a:solidFill>
            <a:prstDash val="solid"/>
          </a:ln>
        </p:spPr>
        <p:txBody>
          <a:bodyPr/>
          <a:lstStyle/>
          <a:p>
            <a:endParaRPr lang="en-US"/>
          </a:p>
        </p:txBody>
      </p:sp>
      <p:sp>
        <p:nvSpPr>
          <p:cNvPr id="21" name="Text 12">
            <a:extLst>
              <a:ext uri="{FF2B5EF4-FFF2-40B4-BE49-F238E27FC236}">
                <a16:creationId xmlns:a16="http://schemas.microsoft.com/office/drawing/2014/main" id="{F5640A7D-F0E3-6BED-EEA7-16F614B5632E}"/>
              </a:ext>
            </a:extLst>
          </p:cNvPr>
          <p:cNvSpPr txBox="1"/>
          <p:nvPr/>
        </p:nvSpPr>
        <p:spPr>
          <a:xfrm>
            <a:off x="3735018" y="5143500"/>
            <a:ext cx="1648005"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300+ in-house recruiters, </a:t>
            </a:r>
          </a:p>
          <a:p>
            <a:pPr marL="0" indent="0" algn="l">
              <a:buNone/>
            </a:pPr>
            <a:r>
              <a:rPr lang="en-US" sz="1100" b="1">
                <a:solidFill>
                  <a:srgbClr val="374151"/>
                </a:solidFill>
                <a:latin typeface="Raleway" pitchFamily="34" charset="0"/>
                <a:ea typeface="Raleway" pitchFamily="34" charset="-122"/>
                <a:cs typeface="Raleway" pitchFamily="34" charset="-120"/>
              </a:rPr>
              <a:t>zero subcontracting</a:t>
            </a:r>
            <a:endParaRPr lang="en-US" sz="1100"/>
          </a:p>
        </p:txBody>
      </p:sp>
      <p:pic>
        <p:nvPicPr>
          <p:cNvPr id="22" name="Image 7" descr="gen-dedup-c395ac9c840728d6470a4a8b33662e6e.png">
            <a:extLst>
              <a:ext uri="{FF2B5EF4-FFF2-40B4-BE49-F238E27FC236}">
                <a16:creationId xmlns:a16="http://schemas.microsoft.com/office/drawing/2014/main" id="{93207DB2-729B-AE24-7E77-6519958DE5C8}"/>
              </a:ext>
            </a:extLst>
          </p:cNvPr>
          <p:cNvPicPr>
            <a:picLocks noChangeAspect="1"/>
          </p:cNvPicPr>
          <p:nvPr/>
        </p:nvPicPr>
        <p:blipFill>
          <a:blip r:embed="rId10"/>
          <a:srcRect t="-16800" b="-16800"/>
          <a:stretch/>
        </p:blipFill>
        <p:spPr>
          <a:xfrm>
            <a:off x="3738981" y="5277002"/>
            <a:ext cx="170389" cy="152705"/>
          </a:xfrm>
          <a:prstGeom prst="rect">
            <a:avLst/>
          </a:prstGeom>
        </p:spPr>
      </p:pic>
      <p:pic>
        <p:nvPicPr>
          <p:cNvPr id="23" name="Image 8" descr="gen-dedup-fe10f786880821f62e6e2a70ff719369.png">
            <a:extLst>
              <a:ext uri="{FF2B5EF4-FFF2-40B4-BE49-F238E27FC236}">
                <a16:creationId xmlns:a16="http://schemas.microsoft.com/office/drawing/2014/main" id="{E0CA82C4-F034-80D0-F825-1B18CD990C55}"/>
              </a:ext>
            </a:extLst>
          </p:cNvPr>
          <p:cNvPicPr>
            <a:picLocks noChangeAspect="1"/>
          </p:cNvPicPr>
          <p:nvPr/>
        </p:nvPicPr>
        <p:blipFill>
          <a:blip r:embed="rId11"/>
          <a:srcRect l="-58" r="-58"/>
          <a:stretch/>
        </p:blipFill>
        <p:spPr>
          <a:xfrm>
            <a:off x="6080150" y="5143500"/>
            <a:ext cx="2619756" cy="418795"/>
          </a:xfrm>
          <a:prstGeom prst="rect">
            <a:avLst/>
          </a:prstGeom>
        </p:spPr>
      </p:pic>
      <p:sp>
        <p:nvSpPr>
          <p:cNvPr id="24" name="Shape 13">
            <a:extLst>
              <a:ext uri="{FF2B5EF4-FFF2-40B4-BE49-F238E27FC236}">
                <a16:creationId xmlns:a16="http://schemas.microsoft.com/office/drawing/2014/main" id="{2266D092-185E-2198-BDD3-B88FC8175BF2}"/>
              </a:ext>
            </a:extLst>
          </p:cNvPr>
          <p:cNvSpPr/>
          <p:nvPr/>
        </p:nvSpPr>
        <p:spPr>
          <a:xfrm>
            <a:off x="6080150" y="5143500"/>
            <a:ext cx="2619756" cy="418795"/>
          </a:xfrm>
          <a:prstGeom prst="roundRect">
            <a:avLst>
              <a:gd name="adj" fmla="val 13755"/>
            </a:avLst>
          </a:prstGeom>
          <a:noFill/>
          <a:ln w="12700">
            <a:solidFill>
              <a:srgbClr val="E5E7EB"/>
            </a:solidFill>
            <a:prstDash val="solid"/>
          </a:ln>
        </p:spPr>
        <p:txBody>
          <a:bodyPr/>
          <a:lstStyle/>
          <a:p>
            <a:endParaRPr lang="en-US"/>
          </a:p>
        </p:txBody>
      </p:sp>
      <p:sp>
        <p:nvSpPr>
          <p:cNvPr id="25" name="Text 14">
            <a:extLst>
              <a:ext uri="{FF2B5EF4-FFF2-40B4-BE49-F238E27FC236}">
                <a16:creationId xmlns:a16="http://schemas.microsoft.com/office/drawing/2014/main" id="{ED31349B-331C-666B-1026-10D8E100F4F3}"/>
              </a:ext>
            </a:extLst>
          </p:cNvPr>
          <p:cNvSpPr txBox="1"/>
          <p:nvPr/>
        </p:nvSpPr>
        <p:spPr>
          <a:xfrm>
            <a:off x="6304788" y="5143500"/>
            <a:ext cx="21817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Contract-to-hire flexibility </a:t>
            </a:r>
          </a:p>
          <a:p>
            <a:pPr marL="0" indent="0" algn="l">
              <a:buNone/>
            </a:pPr>
            <a:r>
              <a:rPr lang="en-US" sz="1100" b="1">
                <a:solidFill>
                  <a:srgbClr val="374151"/>
                </a:solidFill>
                <a:latin typeface="Raleway" pitchFamily="34" charset="0"/>
                <a:ea typeface="Raleway" pitchFamily="34" charset="-122"/>
                <a:cs typeface="Raleway" pitchFamily="34" charset="-120"/>
              </a:rPr>
              <a:t>built in</a:t>
            </a:r>
            <a:endParaRPr lang="en-US" sz="1100"/>
          </a:p>
        </p:txBody>
      </p:sp>
      <p:pic>
        <p:nvPicPr>
          <p:cNvPr id="26" name="Image 9" descr="gen-dedup-7637b076e607f7218cdb4973c81f38e6.png">
            <a:extLst>
              <a:ext uri="{FF2B5EF4-FFF2-40B4-BE49-F238E27FC236}">
                <a16:creationId xmlns:a16="http://schemas.microsoft.com/office/drawing/2014/main" id="{205FF807-74F6-4E07-EE11-D8132CD5F0CD}"/>
              </a:ext>
            </a:extLst>
          </p:cNvPr>
          <p:cNvPicPr>
            <a:picLocks noChangeAspect="1"/>
          </p:cNvPicPr>
          <p:nvPr/>
        </p:nvPicPr>
        <p:blipFill>
          <a:blip r:embed="rId12"/>
          <a:srcRect t="-8450" b="-8450"/>
          <a:stretch/>
        </p:blipFill>
        <p:spPr>
          <a:xfrm>
            <a:off x="6308750" y="5277002"/>
            <a:ext cx="114300" cy="152705"/>
          </a:xfrm>
          <a:prstGeom prst="rect">
            <a:avLst/>
          </a:prstGeom>
        </p:spPr>
      </p:pic>
      <p:pic>
        <p:nvPicPr>
          <p:cNvPr id="27" name="Image 10" descr="gen-dedup-4b04481605890cd5e2948f325621428b.png">
            <a:extLst>
              <a:ext uri="{FF2B5EF4-FFF2-40B4-BE49-F238E27FC236}">
                <a16:creationId xmlns:a16="http://schemas.microsoft.com/office/drawing/2014/main" id="{FB78842A-22DE-1C9A-4EE2-D07FD5A3BBDC}"/>
              </a:ext>
            </a:extLst>
          </p:cNvPr>
          <p:cNvPicPr>
            <a:picLocks noChangeAspect="1"/>
          </p:cNvPicPr>
          <p:nvPr/>
        </p:nvPicPr>
        <p:blipFill>
          <a:blip r:embed="rId13"/>
          <a:srcRect l="-216" r="-216"/>
          <a:stretch/>
        </p:blipFill>
        <p:spPr>
          <a:xfrm>
            <a:off x="8850782" y="5143500"/>
            <a:ext cx="2562149" cy="418795"/>
          </a:xfrm>
          <a:prstGeom prst="rect">
            <a:avLst/>
          </a:prstGeom>
        </p:spPr>
      </p:pic>
      <p:sp>
        <p:nvSpPr>
          <p:cNvPr id="28" name="Shape 15">
            <a:extLst>
              <a:ext uri="{FF2B5EF4-FFF2-40B4-BE49-F238E27FC236}">
                <a16:creationId xmlns:a16="http://schemas.microsoft.com/office/drawing/2014/main" id="{34AB57F4-B2CA-C3A2-0103-9F6A8E9AFA38}"/>
              </a:ext>
            </a:extLst>
          </p:cNvPr>
          <p:cNvSpPr/>
          <p:nvPr/>
        </p:nvSpPr>
        <p:spPr>
          <a:xfrm>
            <a:off x="8850782" y="5143500"/>
            <a:ext cx="2562149" cy="418795"/>
          </a:xfrm>
          <a:prstGeom prst="roundRect">
            <a:avLst>
              <a:gd name="adj" fmla="val 13755"/>
            </a:avLst>
          </a:prstGeom>
          <a:noFill/>
          <a:ln w="12700">
            <a:solidFill>
              <a:srgbClr val="E5E7EB"/>
            </a:solidFill>
            <a:prstDash val="solid"/>
          </a:ln>
        </p:spPr>
        <p:txBody>
          <a:bodyPr/>
          <a:lstStyle/>
          <a:p>
            <a:endParaRPr lang="en-US"/>
          </a:p>
        </p:txBody>
      </p:sp>
      <p:sp>
        <p:nvSpPr>
          <p:cNvPr id="29" name="Text 16">
            <a:extLst>
              <a:ext uri="{FF2B5EF4-FFF2-40B4-BE49-F238E27FC236}">
                <a16:creationId xmlns:a16="http://schemas.microsoft.com/office/drawing/2014/main" id="{5B673A20-4A15-839A-EE62-676A6C5F3333}"/>
              </a:ext>
            </a:extLst>
          </p:cNvPr>
          <p:cNvSpPr txBox="1"/>
          <p:nvPr/>
        </p:nvSpPr>
        <p:spPr>
          <a:xfrm>
            <a:off x="9075420" y="5143500"/>
            <a:ext cx="2125066"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Pod governance + sprint </a:t>
            </a:r>
          </a:p>
          <a:p>
            <a:pPr marL="0" indent="0" algn="l">
              <a:buNone/>
            </a:pPr>
            <a:r>
              <a:rPr lang="en-US" sz="1100" b="1">
                <a:solidFill>
                  <a:srgbClr val="374151"/>
                </a:solidFill>
                <a:latin typeface="Raleway" pitchFamily="34" charset="0"/>
                <a:ea typeface="Raleway" pitchFamily="34" charset="-122"/>
                <a:cs typeface="Raleway" pitchFamily="34" charset="-120"/>
              </a:rPr>
              <a:t>accountability from Day 1</a:t>
            </a:r>
            <a:endParaRPr lang="en-US" sz="1100"/>
          </a:p>
        </p:txBody>
      </p:sp>
      <p:pic>
        <p:nvPicPr>
          <p:cNvPr id="30" name="Image 11" descr="gen-dedup-de4cb59b8211160ed90cebf7a454cebf.png">
            <a:extLst>
              <a:ext uri="{FF2B5EF4-FFF2-40B4-BE49-F238E27FC236}">
                <a16:creationId xmlns:a16="http://schemas.microsoft.com/office/drawing/2014/main" id="{93529912-BB1C-C574-75A1-3D8ECD602D40}"/>
              </a:ext>
            </a:extLst>
          </p:cNvPr>
          <p:cNvPicPr>
            <a:picLocks noChangeAspect="1"/>
          </p:cNvPicPr>
          <p:nvPr/>
        </p:nvPicPr>
        <p:blipFill>
          <a:blip r:embed="rId14"/>
          <a:srcRect t="-16800" b="-16800"/>
          <a:stretch/>
        </p:blipFill>
        <p:spPr>
          <a:xfrm>
            <a:off x="9079382" y="5277002"/>
            <a:ext cx="114300" cy="152705"/>
          </a:xfrm>
          <a:prstGeom prst="rect">
            <a:avLst/>
          </a:prstGeom>
        </p:spPr>
      </p:pic>
      <p:sp>
        <p:nvSpPr>
          <p:cNvPr id="31" name="Shape 17">
            <a:extLst>
              <a:ext uri="{FF2B5EF4-FFF2-40B4-BE49-F238E27FC236}">
                <a16:creationId xmlns:a16="http://schemas.microsoft.com/office/drawing/2014/main" id="{99FB5298-5A36-5FFC-CC7E-17E7D43B7AAD}"/>
              </a:ext>
            </a:extLst>
          </p:cNvPr>
          <p:cNvSpPr/>
          <p:nvPr/>
        </p:nvSpPr>
        <p:spPr>
          <a:xfrm>
            <a:off x="1143000" y="6096305"/>
            <a:ext cx="9905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32" name="Text 18">
            <a:extLst>
              <a:ext uri="{FF2B5EF4-FFF2-40B4-BE49-F238E27FC236}">
                <a16:creationId xmlns:a16="http://schemas.microsoft.com/office/drawing/2014/main" id="{ED705767-82C0-1D2C-EADE-B791EDD5E9F6}"/>
              </a:ext>
            </a:extLst>
          </p:cNvPr>
          <p:cNvSpPr txBox="1"/>
          <p:nvPr/>
        </p:nvSpPr>
        <p:spPr>
          <a:xfrm>
            <a:off x="1143000" y="6258154"/>
            <a:ext cx="9906610" cy="181051"/>
          </a:xfrm>
          <a:prstGeom prst="rect">
            <a:avLst/>
          </a:prstGeom>
          <a:noFill/>
          <a:ln/>
        </p:spPr>
        <p:txBody>
          <a:bodyPr wrap="none" lIns="0" tIns="0" rIns="0" bIns="0" rtlCol="0" anchor="ctr"/>
          <a:lstStyle/>
          <a:p>
            <a:pPr marL="0" indent="0" algn="l">
              <a:buNone/>
            </a:pPr>
            <a:r>
              <a:rPr lang="en-US" sz="1200" b="1" kern="0" spc="24">
                <a:solidFill>
                  <a:srgbClr val="6B7280"/>
                </a:solidFill>
                <a:latin typeface="Raleway" pitchFamily="34" charset="0"/>
                <a:ea typeface="Raleway" pitchFamily="34" charset="-122"/>
                <a:cs typeface="Raleway" pitchFamily="34" charset="-120"/>
              </a:rPr>
              <a:t>Scale your engineering capacity with domain depth and delivery accountability.</a:t>
            </a:r>
            <a:endParaRPr lang="en-US" sz="1200"/>
          </a:p>
        </p:txBody>
      </p:sp>
    </p:spTree>
    <p:extLst>
      <p:ext uri="{BB962C8B-B14F-4D97-AF65-F5344CB8AC3E}">
        <p14:creationId xmlns:p14="http://schemas.microsoft.com/office/powerpoint/2010/main" val="4170679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
          <p:cNvSpPr/>
          <p:nvPr/>
        </p:nvSpPr>
        <p:spPr>
          <a:xfrm>
            <a:off x="219456" y="1182624"/>
            <a:ext cx="2779776" cy="60960"/>
          </a:xfrm>
          <a:prstGeom prst="rect">
            <a:avLst/>
          </a:prstGeom>
          <a:solidFill>
            <a:srgbClr val="0D9488"/>
          </a:solidFill>
          <a:ln w="12700">
            <a:solidFill>
              <a:srgbClr val="0D9488"/>
            </a:solidFill>
            <a:prstDash val="solid"/>
          </a:ln>
        </p:spPr>
        <p:txBody>
          <a:bodyPr/>
          <a:lstStyle/>
          <a:p>
            <a:endParaRPr lang="en-US" sz="2400"/>
          </a:p>
        </p:txBody>
      </p:sp>
      <p:sp>
        <p:nvSpPr>
          <p:cNvPr id="7" name="Shape 5"/>
          <p:cNvSpPr/>
          <p:nvPr/>
        </p:nvSpPr>
        <p:spPr>
          <a:xfrm>
            <a:off x="219456"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8" name="Image 0" descr="preencoded.png"/>
          <p:cNvPicPr>
            <a:picLocks noChangeAspect="1"/>
          </p:cNvPicPr>
          <p:nvPr/>
        </p:nvPicPr>
        <p:blipFill>
          <a:blip r:embed="rId3"/>
          <a:stretch>
            <a:fillRect/>
          </a:stretch>
        </p:blipFill>
        <p:spPr>
          <a:xfrm>
            <a:off x="390144" y="1341120"/>
            <a:ext cx="414528" cy="414528"/>
          </a:xfrm>
          <a:prstGeom prst="rect">
            <a:avLst/>
          </a:prstGeom>
        </p:spPr>
      </p:pic>
      <p:sp>
        <p:nvSpPr>
          <p:cNvPr id="9" name="Text 6"/>
          <p:cNvSpPr/>
          <p:nvPr/>
        </p:nvSpPr>
        <p:spPr>
          <a:xfrm>
            <a:off x="341376"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Sourcing Engine</a:t>
            </a:r>
            <a:endParaRPr lang="en-US" sz="1467">
              <a:latin typeface="Oswald" panose="00000500000000000000" pitchFamily="2" charset="0"/>
            </a:endParaRPr>
          </a:p>
        </p:txBody>
      </p:sp>
      <p:sp>
        <p:nvSpPr>
          <p:cNvPr id="10" name="Text 7"/>
          <p:cNvSpPr/>
          <p:nvPr/>
        </p:nvSpPr>
        <p:spPr>
          <a:xfrm>
            <a:off x="341376"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AI-driven talent matching across 8,500+ active consultants and 1,250+ skills - niche to mainstream.</a:t>
            </a:r>
            <a:endParaRPr lang="en-US" sz="1133">
              <a:latin typeface="Raleway" pitchFamily="2" charset="0"/>
            </a:endParaRPr>
          </a:p>
        </p:txBody>
      </p:sp>
      <p:sp>
        <p:nvSpPr>
          <p:cNvPr id="11" name="Shape 8"/>
          <p:cNvSpPr/>
          <p:nvPr/>
        </p:nvSpPr>
        <p:spPr>
          <a:xfrm>
            <a:off x="3108960" y="1182624"/>
            <a:ext cx="2779776" cy="60960"/>
          </a:xfrm>
          <a:prstGeom prst="rect">
            <a:avLst/>
          </a:prstGeom>
          <a:solidFill>
            <a:srgbClr val="C0392B"/>
          </a:solidFill>
          <a:ln w="12700">
            <a:solidFill>
              <a:srgbClr val="C0392B"/>
            </a:solidFill>
            <a:prstDash val="solid"/>
          </a:ln>
        </p:spPr>
        <p:txBody>
          <a:bodyPr/>
          <a:lstStyle/>
          <a:p>
            <a:endParaRPr lang="en-US" sz="2400"/>
          </a:p>
        </p:txBody>
      </p:sp>
      <p:sp>
        <p:nvSpPr>
          <p:cNvPr id="12" name="Shape 9"/>
          <p:cNvSpPr/>
          <p:nvPr/>
        </p:nvSpPr>
        <p:spPr>
          <a:xfrm>
            <a:off x="3108960"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13" name="Image 1" descr="preencoded.png"/>
          <p:cNvPicPr>
            <a:picLocks noChangeAspect="1"/>
          </p:cNvPicPr>
          <p:nvPr/>
        </p:nvPicPr>
        <p:blipFill>
          <a:blip r:embed="rId4"/>
          <a:stretch>
            <a:fillRect/>
          </a:stretch>
        </p:blipFill>
        <p:spPr>
          <a:xfrm>
            <a:off x="3279648" y="1341120"/>
            <a:ext cx="414528" cy="414528"/>
          </a:xfrm>
          <a:prstGeom prst="rect">
            <a:avLst/>
          </a:prstGeom>
        </p:spPr>
      </p:pic>
      <p:sp>
        <p:nvSpPr>
          <p:cNvPr id="14" name="Text 10"/>
          <p:cNvSpPr/>
          <p:nvPr/>
        </p:nvSpPr>
        <p:spPr>
          <a:xfrm>
            <a:off x="3230880"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Human + AI Teams</a:t>
            </a:r>
            <a:endParaRPr lang="en-US" sz="1467">
              <a:latin typeface="Oswald" panose="00000500000000000000" pitchFamily="2" charset="0"/>
            </a:endParaRPr>
          </a:p>
        </p:txBody>
      </p:sp>
      <p:sp>
        <p:nvSpPr>
          <p:cNvPr id="15" name="Text 11"/>
          <p:cNvSpPr/>
          <p:nvPr/>
        </p:nvSpPr>
        <p:spPr>
          <a:xfrm>
            <a:off x="3230880"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Blended delivery with AI productivity tools embedded from Day 1. Capability stacks over role pyramids.</a:t>
            </a:r>
            <a:endParaRPr lang="en-US" sz="1133">
              <a:latin typeface="Raleway" pitchFamily="2" charset="0"/>
            </a:endParaRPr>
          </a:p>
        </p:txBody>
      </p:sp>
      <p:sp>
        <p:nvSpPr>
          <p:cNvPr id="16" name="Shape 12"/>
          <p:cNvSpPr/>
          <p:nvPr/>
        </p:nvSpPr>
        <p:spPr>
          <a:xfrm>
            <a:off x="5998464" y="1182624"/>
            <a:ext cx="2779776" cy="60960"/>
          </a:xfrm>
          <a:prstGeom prst="rect">
            <a:avLst/>
          </a:prstGeom>
          <a:solidFill>
            <a:srgbClr val="0D9488"/>
          </a:solidFill>
          <a:ln w="12700">
            <a:solidFill>
              <a:srgbClr val="0D9488"/>
            </a:solidFill>
            <a:prstDash val="solid"/>
          </a:ln>
        </p:spPr>
        <p:txBody>
          <a:bodyPr/>
          <a:lstStyle/>
          <a:p>
            <a:endParaRPr lang="en-US" sz="2400"/>
          </a:p>
        </p:txBody>
      </p:sp>
      <p:sp>
        <p:nvSpPr>
          <p:cNvPr id="17" name="Shape 13"/>
          <p:cNvSpPr/>
          <p:nvPr/>
        </p:nvSpPr>
        <p:spPr>
          <a:xfrm>
            <a:off x="5998464"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18" name="Image 2" descr="preencoded.png"/>
          <p:cNvPicPr>
            <a:picLocks noChangeAspect="1"/>
          </p:cNvPicPr>
          <p:nvPr/>
        </p:nvPicPr>
        <p:blipFill>
          <a:blip r:embed="rId5"/>
          <a:stretch>
            <a:fillRect/>
          </a:stretch>
        </p:blipFill>
        <p:spPr>
          <a:xfrm>
            <a:off x="6169152" y="1341120"/>
            <a:ext cx="414528" cy="414528"/>
          </a:xfrm>
          <a:prstGeom prst="rect">
            <a:avLst/>
          </a:prstGeom>
        </p:spPr>
      </p:pic>
      <p:sp>
        <p:nvSpPr>
          <p:cNvPr id="19" name="Text 14"/>
          <p:cNvSpPr/>
          <p:nvPr/>
        </p:nvSpPr>
        <p:spPr>
          <a:xfrm>
            <a:off x="6120384"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Fully Managed</a:t>
            </a:r>
            <a:endParaRPr lang="en-US" sz="1467">
              <a:latin typeface="Oswald" panose="00000500000000000000" pitchFamily="2" charset="0"/>
            </a:endParaRPr>
          </a:p>
        </p:txBody>
      </p:sp>
      <p:sp>
        <p:nvSpPr>
          <p:cNvPr id="20" name="Text 15"/>
          <p:cNvSpPr/>
          <p:nvPr/>
        </p:nvSpPr>
        <p:spPr>
          <a:xfrm>
            <a:off x="6120384"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J2W owns payroll, compliance, onboarding and HR. Zero admin burden on the client side.</a:t>
            </a:r>
            <a:endParaRPr lang="en-US" sz="1133">
              <a:latin typeface="Raleway" pitchFamily="2" charset="0"/>
            </a:endParaRPr>
          </a:p>
        </p:txBody>
      </p:sp>
      <p:sp>
        <p:nvSpPr>
          <p:cNvPr id="21" name="Shape 16"/>
          <p:cNvSpPr/>
          <p:nvPr/>
        </p:nvSpPr>
        <p:spPr>
          <a:xfrm>
            <a:off x="8887968" y="1182624"/>
            <a:ext cx="2779776" cy="60960"/>
          </a:xfrm>
          <a:prstGeom prst="rect">
            <a:avLst/>
          </a:prstGeom>
          <a:solidFill>
            <a:srgbClr val="C0392B"/>
          </a:solidFill>
          <a:ln w="12700">
            <a:solidFill>
              <a:srgbClr val="C0392B"/>
            </a:solidFill>
            <a:prstDash val="solid"/>
          </a:ln>
        </p:spPr>
        <p:txBody>
          <a:bodyPr/>
          <a:lstStyle/>
          <a:p>
            <a:endParaRPr lang="en-US" sz="2400"/>
          </a:p>
        </p:txBody>
      </p:sp>
      <p:sp>
        <p:nvSpPr>
          <p:cNvPr id="22" name="Shape 17"/>
          <p:cNvSpPr/>
          <p:nvPr/>
        </p:nvSpPr>
        <p:spPr>
          <a:xfrm>
            <a:off x="8887968"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23" name="Image 3" descr="preencoded.png"/>
          <p:cNvPicPr>
            <a:picLocks noChangeAspect="1"/>
          </p:cNvPicPr>
          <p:nvPr/>
        </p:nvPicPr>
        <p:blipFill>
          <a:blip r:embed="rId6"/>
          <a:stretch>
            <a:fillRect/>
          </a:stretch>
        </p:blipFill>
        <p:spPr>
          <a:xfrm>
            <a:off x="9058656" y="1341120"/>
            <a:ext cx="414528" cy="414528"/>
          </a:xfrm>
          <a:prstGeom prst="rect">
            <a:avLst/>
          </a:prstGeom>
        </p:spPr>
      </p:pic>
      <p:sp>
        <p:nvSpPr>
          <p:cNvPr id="24" name="Text 18"/>
          <p:cNvSpPr/>
          <p:nvPr/>
        </p:nvSpPr>
        <p:spPr>
          <a:xfrm>
            <a:off x="9009888"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AI-First L&amp;D</a:t>
            </a:r>
            <a:endParaRPr lang="en-US" sz="1467">
              <a:latin typeface="Oswald" panose="00000500000000000000" pitchFamily="2" charset="0"/>
            </a:endParaRPr>
          </a:p>
        </p:txBody>
      </p:sp>
      <p:sp>
        <p:nvSpPr>
          <p:cNvPr id="25" name="Text 19"/>
          <p:cNvSpPr/>
          <p:nvPr/>
        </p:nvSpPr>
        <p:spPr>
          <a:xfrm>
            <a:off x="9009888"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Continuous upskilling via J2W </a:t>
            </a:r>
            <a:r>
              <a:rPr lang="en-US" sz="1133" err="1">
                <a:solidFill>
                  <a:srgbClr val="555555"/>
                </a:solidFill>
                <a:latin typeface="Raleway" pitchFamily="2" charset="0"/>
                <a:ea typeface="Calibri" pitchFamily="34" charset="-122"/>
                <a:cs typeface="Calibri" pitchFamily="34" charset="-120"/>
              </a:rPr>
              <a:t>CoE</a:t>
            </a:r>
            <a:r>
              <a:rPr lang="en-US" sz="1133">
                <a:solidFill>
                  <a:srgbClr val="555555"/>
                </a:solidFill>
                <a:latin typeface="Raleway" pitchFamily="2" charset="0"/>
                <a:ea typeface="Calibri" pitchFamily="34" charset="-122"/>
                <a:cs typeface="Calibri" pitchFamily="34" charset="-120"/>
              </a:rPr>
              <a:t> - contextual, hands-on AI training powered by Research Wing.</a:t>
            </a:r>
            <a:endParaRPr lang="en-US" sz="1133">
              <a:latin typeface="Raleway" pitchFamily="2" charset="0"/>
            </a:endParaRPr>
          </a:p>
        </p:txBody>
      </p:sp>
      <p:sp>
        <p:nvSpPr>
          <p:cNvPr id="26" name="Text 20"/>
          <p:cNvSpPr/>
          <p:nvPr/>
        </p:nvSpPr>
        <p:spPr>
          <a:xfrm>
            <a:off x="341376" y="3291840"/>
            <a:ext cx="2560320"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Dimension</a:t>
            </a:r>
            <a:endParaRPr lang="en-US" sz="1267">
              <a:latin typeface="Raleway" pitchFamily="2" charset="0"/>
            </a:endParaRPr>
          </a:p>
        </p:txBody>
      </p:sp>
      <p:sp>
        <p:nvSpPr>
          <p:cNvPr id="27" name="Text 21"/>
          <p:cNvSpPr/>
          <p:nvPr/>
        </p:nvSpPr>
        <p:spPr>
          <a:xfrm>
            <a:off x="2901696" y="3291840"/>
            <a:ext cx="4023360"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Traditional Staffing</a:t>
            </a:r>
            <a:endParaRPr lang="en-US" sz="1267">
              <a:latin typeface="Raleway" pitchFamily="2" charset="0"/>
            </a:endParaRPr>
          </a:p>
        </p:txBody>
      </p:sp>
      <p:sp>
        <p:nvSpPr>
          <p:cNvPr id="28" name="Text 22"/>
          <p:cNvSpPr/>
          <p:nvPr/>
        </p:nvSpPr>
        <p:spPr>
          <a:xfrm>
            <a:off x="6925056" y="3291840"/>
            <a:ext cx="4949952"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J2W Workforce</a:t>
            </a:r>
            <a:endParaRPr lang="en-US" sz="1267">
              <a:latin typeface="Raleway" pitchFamily="2" charset="0"/>
            </a:endParaRPr>
          </a:p>
        </p:txBody>
      </p:sp>
      <p:sp>
        <p:nvSpPr>
          <p:cNvPr id="29" name="Shape 23"/>
          <p:cNvSpPr/>
          <p:nvPr/>
        </p:nvSpPr>
        <p:spPr>
          <a:xfrm>
            <a:off x="219456" y="3681984"/>
            <a:ext cx="11533632" cy="0"/>
          </a:xfrm>
          <a:prstGeom prst="line">
            <a:avLst/>
          </a:prstGeom>
          <a:noFill/>
          <a:ln w="9525">
            <a:solidFill>
              <a:srgbClr val="0D9488"/>
            </a:solidFill>
            <a:prstDash val="solid"/>
          </a:ln>
        </p:spPr>
        <p:txBody>
          <a:bodyPr/>
          <a:lstStyle/>
          <a:p>
            <a:endParaRPr lang="en-US" sz="2400"/>
          </a:p>
        </p:txBody>
      </p:sp>
      <p:sp>
        <p:nvSpPr>
          <p:cNvPr id="30" name="Shape 24"/>
          <p:cNvSpPr/>
          <p:nvPr/>
        </p:nvSpPr>
        <p:spPr>
          <a:xfrm>
            <a:off x="219456" y="3681984"/>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31" name="Text 25"/>
          <p:cNvSpPr/>
          <p:nvPr/>
        </p:nvSpPr>
        <p:spPr>
          <a:xfrm>
            <a:off x="341376" y="3730752"/>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Speed to Deploy</a:t>
            </a:r>
            <a:endParaRPr lang="en-US" sz="1267">
              <a:latin typeface="Raleway" pitchFamily="2" charset="0"/>
            </a:endParaRPr>
          </a:p>
        </p:txBody>
      </p:sp>
      <p:sp>
        <p:nvSpPr>
          <p:cNvPr id="32" name="Text 26"/>
          <p:cNvSpPr/>
          <p:nvPr/>
        </p:nvSpPr>
        <p:spPr>
          <a:xfrm>
            <a:off x="2901696" y="3730752"/>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Weeks to months</a:t>
            </a:r>
            <a:endParaRPr lang="en-US" sz="1267">
              <a:latin typeface="Raleway" pitchFamily="2" charset="0"/>
            </a:endParaRPr>
          </a:p>
        </p:txBody>
      </p:sp>
      <p:pic>
        <p:nvPicPr>
          <p:cNvPr id="33" name="Image 4" descr="preencoded.png"/>
          <p:cNvPicPr>
            <a:picLocks noChangeAspect="1"/>
          </p:cNvPicPr>
          <p:nvPr/>
        </p:nvPicPr>
        <p:blipFill>
          <a:blip r:embed="rId7"/>
          <a:stretch>
            <a:fillRect/>
          </a:stretch>
        </p:blipFill>
        <p:spPr>
          <a:xfrm>
            <a:off x="6900672" y="3791712"/>
            <a:ext cx="219456" cy="219456"/>
          </a:xfrm>
          <a:prstGeom prst="rect">
            <a:avLst/>
          </a:prstGeom>
        </p:spPr>
      </p:pic>
      <p:sp>
        <p:nvSpPr>
          <p:cNvPr id="34" name="Text 27"/>
          <p:cNvSpPr/>
          <p:nvPr/>
        </p:nvSpPr>
        <p:spPr>
          <a:xfrm>
            <a:off x="7193280" y="3730752"/>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1 engineer onboarded per hour</a:t>
            </a:r>
            <a:endParaRPr lang="en-US" sz="1267">
              <a:latin typeface="Raleway" pitchFamily="2" charset="0"/>
            </a:endParaRPr>
          </a:p>
        </p:txBody>
      </p:sp>
      <p:sp>
        <p:nvSpPr>
          <p:cNvPr id="35" name="Shape 28"/>
          <p:cNvSpPr/>
          <p:nvPr/>
        </p:nvSpPr>
        <p:spPr>
          <a:xfrm>
            <a:off x="219456" y="4114800"/>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36" name="Text 29"/>
          <p:cNvSpPr/>
          <p:nvPr/>
        </p:nvSpPr>
        <p:spPr>
          <a:xfrm>
            <a:off x="341376" y="4163568"/>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Team Composition</a:t>
            </a:r>
            <a:endParaRPr lang="en-US" sz="1267">
              <a:latin typeface="Raleway" pitchFamily="2" charset="0"/>
            </a:endParaRPr>
          </a:p>
        </p:txBody>
      </p:sp>
      <p:sp>
        <p:nvSpPr>
          <p:cNvPr id="37" name="Text 30"/>
          <p:cNvSpPr/>
          <p:nvPr/>
        </p:nvSpPr>
        <p:spPr>
          <a:xfrm>
            <a:off x="2901696" y="4163568"/>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Single-role profile deployments</a:t>
            </a:r>
            <a:endParaRPr lang="en-US" sz="1267">
              <a:latin typeface="Raleway" pitchFamily="2" charset="0"/>
            </a:endParaRPr>
          </a:p>
        </p:txBody>
      </p:sp>
      <p:pic>
        <p:nvPicPr>
          <p:cNvPr id="38" name="Image 5" descr="preencoded.png"/>
          <p:cNvPicPr>
            <a:picLocks noChangeAspect="1"/>
          </p:cNvPicPr>
          <p:nvPr/>
        </p:nvPicPr>
        <p:blipFill>
          <a:blip r:embed="rId7"/>
          <a:stretch>
            <a:fillRect/>
          </a:stretch>
        </p:blipFill>
        <p:spPr>
          <a:xfrm>
            <a:off x="6900672" y="4224528"/>
            <a:ext cx="219456" cy="219456"/>
          </a:xfrm>
          <a:prstGeom prst="rect">
            <a:avLst/>
          </a:prstGeom>
        </p:spPr>
      </p:pic>
      <p:sp>
        <p:nvSpPr>
          <p:cNvPr id="39" name="Text 31"/>
          <p:cNvSpPr/>
          <p:nvPr/>
        </p:nvSpPr>
        <p:spPr>
          <a:xfrm>
            <a:off x="7193280" y="4163568"/>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Human + AI blended capability stacks</a:t>
            </a:r>
            <a:endParaRPr lang="en-US" sz="1267">
              <a:latin typeface="Raleway" pitchFamily="2" charset="0"/>
            </a:endParaRPr>
          </a:p>
        </p:txBody>
      </p:sp>
      <p:sp>
        <p:nvSpPr>
          <p:cNvPr id="40" name="Shape 32"/>
          <p:cNvSpPr/>
          <p:nvPr/>
        </p:nvSpPr>
        <p:spPr>
          <a:xfrm>
            <a:off x="219456" y="4547616"/>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41" name="Text 33"/>
          <p:cNvSpPr/>
          <p:nvPr/>
        </p:nvSpPr>
        <p:spPr>
          <a:xfrm>
            <a:off x="341376" y="4596384"/>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Governance</a:t>
            </a:r>
            <a:endParaRPr lang="en-US" sz="1267">
              <a:latin typeface="Raleway" pitchFamily="2" charset="0"/>
            </a:endParaRPr>
          </a:p>
        </p:txBody>
      </p:sp>
      <p:sp>
        <p:nvSpPr>
          <p:cNvPr id="42" name="Text 34"/>
          <p:cNvSpPr/>
          <p:nvPr/>
        </p:nvSpPr>
        <p:spPr>
          <a:xfrm>
            <a:off x="2901696" y="4596384"/>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Client's burden</a:t>
            </a:r>
            <a:endParaRPr lang="en-US" sz="1267">
              <a:latin typeface="Raleway" pitchFamily="2" charset="0"/>
            </a:endParaRPr>
          </a:p>
        </p:txBody>
      </p:sp>
      <p:pic>
        <p:nvPicPr>
          <p:cNvPr id="43" name="Image 6" descr="preencoded.png"/>
          <p:cNvPicPr>
            <a:picLocks noChangeAspect="1"/>
          </p:cNvPicPr>
          <p:nvPr/>
        </p:nvPicPr>
        <p:blipFill>
          <a:blip r:embed="rId7"/>
          <a:stretch>
            <a:fillRect/>
          </a:stretch>
        </p:blipFill>
        <p:spPr>
          <a:xfrm>
            <a:off x="6900672" y="4657344"/>
            <a:ext cx="219456" cy="219456"/>
          </a:xfrm>
          <a:prstGeom prst="rect">
            <a:avLst/>
          </a:prstGeom>
        </p:spPr>
      </p:pic>
      <p:sp>
        <p:nvSpPr>
          <p:cNvPr id="44" name="Text 35"/>
          <p:cNvSpPr/>
          <p:nvPr/>
        </p:nvSpPr>
        <p:spPr>
          <a:xfrm>
            <a:off x="7193280" y="4596384"/>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J2W-owned - HRBP implant at every site</a:t>
            </a:r>
            <a:endParaRPr lang="en-US" sz="1267">
              <a:latin typeface="Raleway" pitchFamily="2" charset="0"/>
            </a:endParaRPr>
          </a:p>
        </p:txBody>
      </p:sp>
      <p:sp>
        <p:nvSpPr>
          <p:cNvPr id="45" name="Shape 36"/>
          <p:cNvSpPr/>
          <p:nvPr/>
        </p:nvSpPr>
        <p:spPr>
          <a:xfrm>
            <a:off x="219456" y="4980432"/>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46" name="Text 37"/>
          <p:cNvSpPr/>
          <p:nvPr/>
        </p:nvSpPr>
        <p:spPr>
          <a:xfrm>
            <a:off x="341376" y="5029200"/>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Performance Issues</a:t>
            </a:r>
            <a:endParaRPr lang="en-US" sz="1267">
              <a:latin typeface="Raleway" pitchFamily="2" charset="0"/>
            </a:endParaRPr>
          </a:p>
        </p:txBody>
      </p:sp>
      <p:sp>
        <p:nvSpPr>
          <p:cNvPr id="47" name="Text 38"/>
          <p:cNvSpPr/>
          <p:nvPr/>
        </p:nvSpPr>
        <p:spPr>
          <a:xfrm>
            <a:off x="2901696" y="5029200"/>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Escalation after the fact</a:t>
            </a:r>
            <a:endParaRPr lang="en-US" sz="1267">
              <a:latin typeface="Raleway" pitchFamily="2" charset="0"/>
            </a:endParaRPr>
          </a:p>
        </p:txBody>
      </p:sp>
      <p:pic>
        <p:nvPicPr>
          <p:cNvPr id="48" name="Image 7" descr="preencoded.png"/>
          <p:cNvPicPr>
            <a:picLocks noChangeAspect="1"/>
          </p:cNvPicPr>
          <p:nvPr/>
        </p:nvPicPr>
        <p:blipFill>
          <a:blip r:embed="rId7"/>
          <a:stretch>
            <a:fillRect/>
          </a:stretch>
        </p:blipFill>
        <p:spPr>
          <a:xfrm>
            <a:off x="6900672" y="5090160"/>
            <a:ext cx="219456" cy="219456"/>
          </a:xfrm>
          <a:prstGeom prst="rect">
            <a:avLst/>
          </a:prstGeom>
        </p:spPr>
      </p:pic>
      <p:sp>
        <p:nvSpPr>
          <p:cNvPr id="49" name="Text 39"/>
          <p:cNvSpPr/>
          <p:nvPr/>
        </p:nvSpPr>
        <p:spPr>
          <a:xfrm>
            <a:off x="7193280" y="5029200"/>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Proactive monitoring &amp; intervention</a:t>
            </a:r>
            <a:endParaRPr lang="en-US" sz="1267">
              <a:latin typeface="Raleway" pitchFamily="2" charset="0"/>
            </a:endParaRPr>
          </a:p>
        </p:txBody>
      </p:sp>
      <p:sp>
        <p:nvSpPr>
          <p:cNvPr id="50" name="Shape 40"/>
          <p:cNvSpPr/>
          <p:nvPr/>
        </p:nvSpPr>
        <p:spPr>
          <a:xfrm>
            <a:off x="219456" y="5413248"/>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51" name="Text 41"/>
          <p:cNvSpPr/>
          <p:nvPr/>
        </p:nvSpPr>
        <p:spPr>
          <a:xfrm>
            <a:off x="341376" y="5462016"/>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Knowledge Retention</a:t>
            </a:r>
            <a:endParaRPr lang="en-US" sz="1267">
              <a:latin typeface="Raleway" pitchFamily="2" charset="0"/>
            </a:endParaRPr>
          </a:p>
        </p:txBody>
      </p:sp>
      <p:sp>
        <p:nvSpPr>
          <p:cNvPr id="52" name="Text 42"/>
          <p:cNvSpPr/>
          <p:nvPr/>
        </p:nvSpPr>
        <p:spPr>
          <a:xfrm>
            <a:off x="2901696" y="5462016"/>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Lost with attrition</a:t>
            </a:r>
            <a:endParaRPr lang="en-US" sz="1267">
              <a:latin typeface="Raleway" pitchFamily="2" charset="0"/>
            </a:endParaRPr>
          </a:p>
        </p:txBody>
      </p:sp>
      <p:pic>
        <p:nvPicPr>
          <p:cNvPr id="53" name="Image 8" descr="preencoded.png"/>
          <p:cNvPicPr>
            <a:picLocks noChangeAspect="1"/>
          </p:cNvPicPr>
          <p:nvPr/>
        </p:nvPicPr>
        <p:blipFill>
          <a:blip r:embed="rId7"/>
          <a:stretch>
            <a:fillRect/>
          </a:stretch>
        </p:blipFill>
        <p:spPr>
          <a:xfrm>
            <a:off x="6900672" y="5522976"/>
            <a:ext cx="219456" cy="219456"/>
          </a:xfrm>
          <a:prstGeom prst="rect">
            <a:avLst/>
          </a:prstGeom>
        </p:spPr>
      </p:pic>
      <p:sp>
        <p:nvSpPr>
          <p:cNvPr id="54" name="Text 43"/>
          <p:cNvSpPr/>
          <p:nvPr/>
        </p:nvSpPr>
        <p:spPr>
          <a:xfrm>
            <a:off x="7193280" y="5462016"/>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Captured in J2W Knowledge Repository</a:t>
            </a:r>
            <a:endParaRPr lang="en-US" sz="1267">
              <a:latin typeface="Raleway" pitchFamily="2" charset="0"/>
            </a:endParaRPr>
          </a:p>
        </p:txBody>
      </p:sp>
      <p:sp>
        <p:nvSpPr>
          <p:cNvPr id="55" name="Shape 44"/>
          <p:cNvSpPr/>
          <p:nvPr/>
        </p:nvSpPr>
        <p:spPr>
          <a:xfrm>
            <a:off x="219456" y="5846064"/>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56" name="Text 45"/>
          <p:cNvSpPr/>
          <p:nvPr/>
        </p:nvSpPr>
        <p:spPr>
          <a:xfrm>
            <a:off x="341376" y="5894832"/>
            <a:ext cx="2377440" cy="335280"/>
          </a:xfrm>
          <a:prstGeom prst="rect">
            <a:avLst/>
          </a:prstGeom>
          <a:noFill/>
          <a:ln/>
        </p:spPr>
        <p:txBody>
          <a:bodyPr wrap="square" lIns="0" tIns="0" rIns="0" bIns="0" rtlCol="0" anchor="ctr"/>
          <a:lstStyle/>
          <a:p>
            <a:r>
              <a:rPr lang="en-US" sz="1267" b="1">
                <a:solidFill>
                  <a:srgbClr val="1A1A2E"/>
                </a:solidFill>
                <a:latin typeface="Calibri" pitchFamily="34" charset="0"/>
                <a:ea typeface="Calibri" pitchFamily="34" charset="-122"/>
                <a:cs typeface="Calibri" pitchFamily="34" charset="-120"/>
              </a:rPr>
              <a:t>AI Readiness</a:t>
            </a:r>
            <a:endParaRPr lang="en-US" sz="1267"/>
          </a:p>
        </p:txBody>
      </p:sp>
      <p:sp>
        <p:nvSpPr>
          <p:cNvPr id="57" name="Text 46"/>
          <p:cNvSpPr/>
          <p:nvPr/>
        </p:nvSpPr>
        <p:spPr>
          <a:xfrm>
            <a:off x="2901696" y="5894832"/>
            <a:ext cx="3840480" cy="335280"/>
          </a:xfrm>
          <a:prstGeom prst="rect">
            <a:avLst/>
          </a:prstGeom>
          <a:noFill/>
          <a:ln/>
        </p:spPr>
        <p:txBody>
          <a:bodyPr wrap="square" lIns="0" tIns="0" rIns="0" bIns="0" rtlCol="0" anchor="ctr"/>
          <a:lstStyle/>
          <a:p>
            <a:r>
              <a:rPr lang="en-US" sz="1267">
                <a:solidFill>
                  <a:srgbClr val="888888"/>
                </a:solidFill>
                <a:latin typeface="Calibri" pitchFamily="34" charset="0"/>
                <a:ea typeface="Calibri" pitchFamily="34" charset="-122"/>
                <a:cs typeface="Calibri" pitchFamily="34" charset="-120"/>
              </a:rPr>
              <a:t>Ad hoc</a:t>
            </a:r>
            <a:endParaRPr lang="en-US" sz="1267"/>
          </a:p>
        </p:txBody>
      </p:sp>
      <p:pic>
        <p:nvPicPr>
          <p:cNvPr id="58" name="Image 9" descr="preencoded.png"/>
          <p:cNvPicPr>
            <a:picLocks noChangeAspect="1"/>
          </p:cNvPicPr>
          <p:nvPr/>
        </p:nvPicPr>
        <p:blipFill>
          <a:blip r:embed="rId7"/>
          <a:stretch>
            <a:fillRect/>
          </a:stretch>
        </p:blipFill>
        <p:spPr>
          <a:xfrm>
            <a:off x="6900672" y="5955792"/>
            <a:ext cx="219456" cy="219456"/>
          </a:xfrm>
          <a:prstGeom prst="rect">
            <a:avLst/>
          </a:prstGeom>
        </p:spPr>
      </p:pic>
      <p:sp>
        <p:nvSpPr>
          <p:cNvPr id="59" name="Text 47"/>
          <p:cNvSpPr/>
          <p:nvPr/>
        </p:nvSpPr>
        <p:spPr>
          <a:xfrm>
            <a:off x="7193280" y="5894832"/>
            <a:ext cx="4437888" cy="335280"/>
          </a:xfrm>
          <a:prstGeom prst="rect">
            <a:avLst/>
          </a:prstGeom>
          <a:noFill/>
          <a:ln/>
        </p:spPr>
        <p:txBody>
          <a:bodyPr wrap="square" lIns="0" tIns="0" rIns="0" bIns="0" rtlCol="0" anchor="ctr"/>
          <a:lstStyle/>
          <a:p>
            <a:r>
              <a:rPr lang="en-US" sz="1267" b="1">
                <a:solidFill>
                  <a:srgbClr val="C0392B"/>
                </a:solidFill>
                <a:latin typeface="Raleway" pitchFamily="2" charset="0"/>
                <a:ea typeface="Calibri" pitchFamily="34" charset="-122"/>
                <a:cs typeface="Calibri" pitchFamily="34" charset="-120"/>
              </a:rPr>
              <a:t>Embedded from Day 1</a:t>
            </a:r>
            <a:endParaRPr lang="en-US" sz="1267">
              <a:latin typeface="Raleway" pitchFamily="2" charset="0"/>
            </a:endParaRPr>
          </a:p>
        </p:txBody>
      </p:sp>
      <p:sp>
        <p:nvSpPr>
          <p:cNvPr id="60" name="Shape 48"/>
          <p:cNvSpPr/>
          <p:nvPr/>
        </p:nvSpPr>
        <p:spPr>
          <a:xfrm>
            <a:off x="0" y="6352032"/>
            <a:ext cx="12192000" cy="505968"/>
          </a:xfrm>
          <a:prstGeom prst="rect">
            <a:avLst/>
          </a:prstGeom>
          <a:solidFill>
            <a:srgbClr val="0D9488"/>
          </a:solidFill>
          <a:ln w="12700">
            <a:solidFill>
              <a:srgbClr val="0D9488"/>
            </a:solidFill>
            <a:prstDash val="solid"/>
          </a:ln>
        </p:spPr>
        <p:txBody>
          <a:bodyPr/>
          <a:lstStyle/>
          <a:p>
            <a:endParaRPr lang="en-US" sz="2400"/>
          </a:p>
        </p:txBody>
      </p:sp>
      <p:sp>
        <p:nvSpPr>
          <p:cNvPr id="61" name="Text 49"/>
          <p:cNvSpPr/>
          <p:nvPr/>
        </p:nvSpPr>
        <p:spPr>
          <a:xfrm>
            <a:off x="609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5,500+</a:t>
            </a:r>
            <a:endParaRPr lang="en-US" sz="1600"/>
          </a:p>
        </p:txBody>
      </p:sp>
      <p:sp>
        <p:nvSpPr>
          <p:cNvPr id="62" name="Text 50"/>
          <p:cNvSpPr/>
          <p:nvPr/>
        </p:nvSpPr>
        <p:spPr>
          <a:xfrm>
            <a:off x="609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Active Consultants</a:t>
            </a:r>
            <a:endParaRPr lang="en-US" sz="1000"/>
          </a:p>
        </p:txBody>
      </p:sp>
      <p:sp>
        <p:nvSpPr>
          <p:cNvPr id="63" name="Shape 51"/>
          <p:cNvSpPr/>
          <p:nvPr/>
        </p:nvSpPr>
        <p:spPr>
          <a:xfrm>
            <a:off x="2438400" y="6400800"/>
            <a:ext cx="0" cy="402336"/>
          </a:xfrm>
          <a:prstGeom prst="line">
            <a:avLst/>
          </a:prstGeom>
          <a:noFill/>
          <a:ln w="6350">
            <a:solidFill>
              <a:srgbClr val="FFFFFF">
                <a:alpha val="45000"/>
              </a:srgbClr>
            </a:solidFill>
            <a:prstDash val="solid"/>
          </a:ln>
        </p:spPr>
        <p:txBody>
          <a:bodyPr/>
          <a:lstStyle/>
          <a:p>
            <a:endParaRPr lang="en-US" sz="2400"/>
          </a:p>
        </p:txBody>
      </p:sp>
      <p:sp>
        <p:nvSpPr>
          <p:cNvPr id="64" name="Text 52"/>
          <p:cNvSpPr/>
          <p:nvPr/>
        </p:nvSpPr>
        <p:spPr>
          <a:xfrm>
            <a:off x="24993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1,250+</a:t>
            </a:r>
            <a:endParaRPr lang="en-US" sz="1600"/>
          </a:p>
        </p:txBody>
      </p:sp>
      <p:sp>
        <p:nvSpPr>
          <p:cNvPr id="65" name="Text 53"/>
          <p:cNvSpPr/>
          <p:nvPr/>
        </p:nvSpPr>
        <p:spPr>
          <a:xfrm>
            <a:off x="24993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Skills Covered</a:t>
            </a:r>
            <a:endParaRPr lang="en-US" sz="1000"/>
          </a:p>
        </p:txBody>
      </p:sp>
      <p:sp>
        <p:nvSpPr>
          <p:cNvPr id="66" name="Shape 54"/>
          <p:cNvSpPr/>
          <p:nvPr/>
        </p:nvSpPr>
        <p:spPr>
          <a:xfrm>
            <a:off x="4876800" y="6400800"/>
            <a:ext cx="0" cy="402336"/>
          </a:xfrm>
          <a:prstGeom prst="line">
            <a:avLst/>
          </a:prstGeom>
          <a:noFill/>
          <a:ln w="6350">
            <a:solidFill>
              <a:srgbClr val="FFFFFF">
                <a:alpha val="45000"/>
              </a:srgbClr>
            </a:solidFill>
            <a:prstDash val="solid"/>
          </a:ln>
        </p:spPr>
        <p:txBody>
          <a:bodyPr/>
          <a:lstStyle/>
          <a:p>
            <a:endParaRPr lang="en-US" sz="2400"/>
          </a:p>
        </p:txBody>
      </p:sp>
      <p:sp>
        <p:nvSpPr>
          <p:cNvPr id="67" name="Text 55"/>
          <p:cNvSpPr/>
          <p:nvPr/>
        </p:nvSpPr>
        <p:spPr>
          <a:xfrm>
            <a:off x="49377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320+</a:t>
            </a:r>
            <a:endParaRPr lang="en-US" sz="1600"/>
          </a:p>
        </p:txBody>
      </p:sp>
      <p:sp>
        <p:nvSpPr>
          <p:cNvPr id="68" name="Text 56"/>
          <p:cNvSpPr/>
          <p:nvPr/>
        </p:nvSpPr>
        <p:spPr>
          <a:xfrm>
            <a:off x="49377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Enterprise Clients</a:t>
            </a:r>
            <a:endParaRPr lang="en-US" sz="1000"/>
          </a:p>
        </p:txBody>
      </p:sp>
      <p:sp>
        <p:nvSpPr>
          <p:cNvPr id="69" name="Shape 57"/>
          <p:cNvSpPr/>
          <p:nvPr/>
        </p:nvSpPr>
        <p:spPr>
          <a:xfrm>
            <a:off x="7315200" y="6400800"/>
            <a:ext cx="0" cy="402336"/>
          </a:xfrm>
          <a:prstGeom prst="line">
            <a:avLst/>
          </a:prstGeom>
          <a:noFill/>
          <a:ln w="6350">
            <a:solidFill>
              <a:srgbClr val="FFFFFF">
                <a:alpha val="45000"/>
              </a:srgbClr>
            </a:solidFill>
            <a:prstDash val="solid"/>
          </a:ln>
        </p:spPr>
        <p:txBody>
          <a:bodyPr/>
          <a:lstStyle/>
          <a:p>
            <a:endParaRPr lang="en-US" sz="2400"/>
          </a:p>
        </p:txBody>
      </p:sp>
      <p:sp>
        <p:nvSpPr>
          <p:cNvPr id="70" name="Text 58"/>
          <p:cNvSpPr/>
          <p:nvPr/>
        </p:nvSpPr>
        <p:spPr>
          <a:xfrm>
            <a:off x="73761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0%</a:t>
            </a:r>
            <a:endParaRPr lang="en-US" sz="1600"/>
          </a:p>
        </p:txBody>
      </p:sp>
      <p:sp>
        <p:nvSpPr>
          <p:cNvPr id="71" name="Text 59"/>
          <p:cNvSpPr/>
          <p:nvPr/>
        </p:nvSpPr>
        <p:spPr>
          <a:xfrm>
            <a:off x="73761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Attrition (6-Mo Pilot)</a:t>
            </a:r>
            <a:endParaRPr lang="en-US" sz="1000"/>
          </a:p>
        </p:txBody>
      </p:sp>
      <p:sp>
        <p:nvSpPr>
          <p:cNvPr id="72" name="Shape 60"/>
          <p:cNvSpPr/>
          <p:nvPr/>
        </p:nvSpPr>
        <p:spPr>
          <a:xfrm>
            <a:off x="9753600" y="6400800"/>
            <a:ext cx="0" cy="402336"/>
          </a:xfrm>
          <a:prstGeom prst="line">
            <a:avLst/>
          </a:prstGeom>
          <a:noFill/>
          <a:ln w="6350">
            <a:solidFill>
              <a:srgbClr val="FFFFFF">
                <a:alpha val="45000"/>
              </a:srgbClr>
            </a:solidFill>
            <a:prstDash val="solid"/>
          </a:ln>
        </p:spPr>
        <p:txBody>
          <a:bodyPr/>
          <a:lstStyle/>
          <a:p>
            <a:endParaRPr lang="en-US" sz="2400"/>
          </a:p>
        </p:txBody>
      </p:sp>
      <p:sp>
        <p:nvSpPr>
          <p:cNvPr id="73" name="Text 61"/>
          <p:cNvSpPr/>
          <p:nvPr/>
        </p:nvSpPr>
        <p:spPr>
          <a:xfrm>
            <a:off x="98145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1/hr</a:t>
            </a:r>
            <a:endParaRPr lang="en-US" sz="1600"/>
          </a:p>
        </p:txBody>
      </p:sp>
      <p:sp>
        <p:nvSpPr>
          <p:cNvPr id="74" name="Text 62"/>
          <p:cNvSpPr/>
          <p:nvPr/>
        </p:nvSpPr>
        <p:spPr>
          <a:xfrm>
            <a:off x="98145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Engineers Onboarded</a:t>
            </a:r>
            <a:endParaRPr lang="en-US" sz="1000"/>
          </a:p>
        </p:txBody>
      </p:sp>
      <p:pic>
        <p:nvPicPr>
          <p:cNvPr id="75" name="Image 0" descr="preencoded.png">
            <a:extLst>
              <a:ext uri="{FF2B5EF4-FFF2-40B4-BE49-F238E27FC236}">
                <a16:creationId xmlns:a16="http://schemas.microsoft.com/office/drawing/2014/main" id="{FAFFF64B-DC76-00D4-DDA1-C18459247824}"/>
              </a:ext>
            </a:extLst>
          </p:cNvPr>
          <p:cNvPicPr>
            <a:picLocks noChangeAspect="1"/>
          </p:cNvPicPr>
          <p:nvPr/>
        </p:nvPicPr>
        <p:blipFill>
          <a:blip r:embed="rId8"/>
          <a:srcRect l="-207" r="-207"/>
          <a:stretch/>
        </p:blipFill>
        <p:spPr>
          <a:xfrm>
            <a:off x="0" y="0"/>
            <a:ext cx="4058107" cy="75895"/>
          </a:xfrm>
          <a:prstGeom prst="rect">
            <a:avLst/>
          </a:prstGeom>
        </p:spPr>
      </p:pic>
      <p:pic>
        <p:nvPicPr>
          <p:cNvPr id="76" name="Image 1" descr="preencoded.png">
            <a:extLst>
              <a:ext uri="{FF2B5EF4-FFF2-40B4-BE49-F238E27FC236}">
                <a16:creationId xmlns:a16="http://schemas.microsoft.com/office/drawing/2014/main" id="{F02F145E-4174-DB5B-12FC-B946B2BEFC21}"/>
              </a:ext>
            </a:extLst>
          </p:cNvPr>
          <p:cNvPicPr>
            <a:picLocks noChangeAspect="1"/>
          </p:cNvPicPr>
          <p:nvPr/>
        </p:nvPicPr>
        <p:blipFill>
          <a:blip r:embed="rId9"/>
          <a:srcRect l="-202" r="-202"/>
          <a:stretch/>
        </p:blipFill>
        <p:spPr>
          <a:xfrm>
            <a:off x="4058107" y="0"/>
            <a:ext cx="8134502" cy="75895"/>
          </a:xfrm>
          <a:prstGeom prst="rect">
            <a:avLst/>
          </a:prstGeom>
        </p:spPr>
      </p:pic>
      <p:sp>
        <p:nvSpPr>
          <p:cNvPr id="77" name="Shape 2">
            <a:extLst>
              <a:ext uri="{FF2B5EF4-FFF2-40B4-BE49-F238E27FC236}">
                <a16:creationId xmlns:a16="http://schemas.microsoft.com/office/drawing/2014/main" id="{C1C503D5-DE04-F879-CDE8-91C26E3173B8}"/>
              </a:ext>
            </a:extLst>
          </p:cNvPr>
          <p:cNvSpPr/>
          <p:nvPr/>
        </p:nvSpPr>
        <p:spPr>
          <a:xfrm>
            <a:off x="-1380897" y="-1256081"/>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8" name="Image 4" descr="preencoded.png">
            <a:extLst>
              <a:ext uri="{FF2B5EF4-FFF2-40B4-BE49-F238E27FC236}">
                <a16:creationId xmlns:a16="http://schemas.microsoft.com/office/drawing/2014/main" id="{3FB3B60C-A4FF-CE53-9131-90677B3706CF}"/>
              </a:ext>
            </a:extLst>
          </p:cNvPr>
          <p:cNvPicPr>
            <a:picLocks noChangeAspect="1"/>
          </p:cNvPicPr>
          <p:nvPr/>
        </p:nvPicPr>
        <p:blipFill>
          <a:blip r:embed="rId10"/>
          <a:srcRect l="-400" r="-400"/>
          <a:stretch/>
        </p:blipFill>
        <p:spPr>
          <a:xfrm>
            <a:off x="609905" y="457200"/>
            <a:ext cx="57607" cy="457200"/>
          </a:xfrm>
          <a:prstGeom prst="rect">
            <a:avLst/>
          </a:prstGeom>
        </p:spPr>
      </p:pic>
      <p:sp>
        <p:nvSpPr>
          <p:cNvPr id="79" name="Text 11">
            <a:extLst>
              <a:ext uri="{FF2B5EF4-FFF2-40B4-BE49-F238E27FC236}">
                <a16:creationId xmlns:a16="http://schemas.microsoft.com/office/drawing/2014/main" id="{65F3FFE0-7460-C049-BC83-7BC32616A4C0}"/>
              </a:ext>
            </a:extLst>
          </p:cNvPr>
          <p:cNvSpPr txBox="1"/>
          <p:nvPr/>
        </p:nvSpPr>
        <p:spPr>
          <a:xfrm>
            <a:off x="819302" y="228600"/>
            <a:ext cx="9715500" cy="428854"/>
          </a:xfrm>
          <a:prstGeom prst="rect">
            <a:avLst/>
          </a:prstGeom>
          <a:noFill/>
          <a:ln/>
        </p:spPr>
        <p:txBody>
          <a:bodyPr wrap="square" lIns="0" tIns="0" rIns="0" bIns="0" rtlCol="0" anchor="ctr"/>
          <a:lstStyle/>
          <a:p>
            <a:r>
              <a:rPr lang="en-US" sz="3200" b="1">
                <a:solidFill>
                  <a:srgbClr val="1A1A2E"/>
                </a:solidFill>
                <a:latin typeface="Oswald" panose="00000500000000000000" pitchFamily="2" charset="0"/>
                <a:ea typeface="Calibri" pitchFamily="34" charset="-122"/>
                <a:cs typeface="Calibri" pitchFamily="34" charset="-120"/>
              </a:rPr>
              <a:t>Workforce &amp; Talent Solutions</a:t>
            </a:r>
            <a:endParaRPr lang="en-US" sz="3200">
              <a:latin typeface="Oswald" panose="00000500000000000000" pitchFamily="2" charset="0"/>
            </a:endParaRPr>
          </a:p>
        </p:txBody>
      </p:sp>
      <p:sp>
        <p:nvSpPr>
          <p:cNvPr id="80" name="Text 12">
            <a:extLst>
              <a:ext uri="{FF2B5EF4-FFF2-40B4-BE49-F238E27FC236}">
                <a16:creationId xmlns:a16="http://schemas.microsoft.com/office/drawing/2014/main" id="{830CE162-47E2-FB62-8B99-806E90C454F1}"/>
              </a:ext>
            </a:extLst>
          </p:cNvPr>
          <p:cNvSpPr txBox="1"/>
          <p:nvPr/>
        </p:nvSpPr>
        <p:spPr>
          <a:xfrm>
            <a:off x="819302" y="758952"/>
            <a:ext cx="9639605" cy="200254"/>
          </a:xfrm>
          <a:prstGeom prst="rect">
            <a:avLst/>
          </a:prstGeom>
          <a:noFill/>
          <a:ln/>
        </p:spPr>
        <p:txBody>
          <a:bodyPr wrap="square" lIns="0" tIns="0" rIns="0" bIns="0" rtlCol="0" anchor="ctr"/>
          <a:lstStyle/>
          <a:p>
            <a:pPr marL="0" indent="0" algn="l">
              <a:buNone/>
            </a:pPr>
            <a:r>
              <a:rPr lang="en-US" sz="1300" b="1" kern="0" spc="68">
                <a:solidFill>
                  <a:srgbClr val="2A9D8F"/>
                </a:solidFill>
                <a:latin typeface="Roboto Condensed" pitchFamily="34" charset="0"/>
                <a:ea typeface="Roboto Condensed" pitchFamily="34" charset="-122"/>
                <a:cs typeface="Roboto Condensed" pitchFamily="34" charset="-120"/>
              </a:rPr>
              <a:t>A MANAGED, AI-DRIVEN WORKFORCE UNIT - NOT JUST STAFFING WITH A WRAPPER.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858707"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debd4e3596836e8640379be3057665ef.png"/>
          <p:cNvPicPr>
            <a:picLocks noChangeAspect="1"/>
          </p:cNvPicPr>
          <p:nvPr/>
        </p:nvPicPr>
        <p:blipFill>
          <a:blip r:embed="rId3">
            <a:alphaModFix amt="6000"/>
          </a:blip>
          <a:srcRect/>
          <a:stretch/>
        </p:blipFill>
        <p:spPr>
          <a:xfrm>
            <a:off x="-761695" y="4762195"/>
            <a:ext cx="2857500" cy="2857500"/>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b359e3fa59182a7dfb1cf9bffd3421a2.png"/>
          <p:cNvPicPr>
            <a:picLocks noChangeAspect="1"/>
          </p:cNvPicPr>
          <p:nvPr/>
        </p:nvPicPr>
        <p:blipFill>
          <a:blip r:embed="rId6"/>
          <a:srcRect l="-375" r="-375"/>
          <a:stretch/>
        </p:blipFill>
        <p:spPr>
          <a:xfrm>
            <a:off x="609905" y="457200"/>
            <a:ext cx="57607" cy="609905"/>
          </a:xfrm>
          <a:prstGeom prst="rect">
            <a:avLst/>
          </a:prstGeom>
        </p:spPr>
      </p:pic>
      <p:sp>
        <p:nvSpPr>
          <p:cNvPr id="9" name="Shape 3"/>
          <p:cNvSpPr/>
          <p:nvPr/>
        </p:nvSpPr>
        <p:spPr>
          <a:xfrm>
            <a:off x="609905"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4"/>
          <p:cNvSpPr/>
          <p:nvPr/>
        </p:nvSpPr>
        <p:spPr>
          <a:xfrm>
            <a:off x="609905"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476902"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6"/>
          <p:cNvSpPr/>
          <p:nvPr/>
        </p:nvSpPr>
        <p:spPr>
          <a:xfrm>
            <a:off x="4476902" y="1714500"/>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343900"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4" name="Shape 8"/>
          <p:cNvSpPr/>
          <p:nvPr/>
        </p:nvSpPr>
        <p:spPr>
          <a:xfrm>
            <a:off x="8343900"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6" name="Shape 10"/>
          <p:cNvSpPr/>
          <p:nvPr/>
        </p:nvSpPr>
        <p:spPr>
          <a:xfrm>
            <a:off x="609905"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4476902"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8" name="Shape 12"/>
          <p:cNvSpPr/>
          <p:nvPr/>
        </p:nvSpPr>
        <p:spPr>
          <a:xfrm>
            <a:off x="4476902" y="4190695"/>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8343900"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8343900"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23" name="Text 17"/>
          <p:cNvSpPr txBox="1"/>
          <p:nvPr/>
        </p:nvSpPr>
        <p:spPr>
          <a:xfrm>
            <a:off x="760780" y="577088"/>
            <a:ext cx="8438998" cy="409651"/>
          </a:xfrm>
          <a:prstGeom prst="rect">
            <a:avLst/>
          </a:prstGeom>
          <a:noFill/>
          <a:ln/>
        </p:spPr>
        <p:txBody>
          <a:bodyPr wrap="none" lIns="0" tIns="0" rIns="0" bIns="0" rtlCol="0" anchor="ctr"/>
          <a:lstStyle/>
          <a:p>
            <a:pPr marL="0" indent="0" algn="l">
              <a:buNone/>
            </a:pPr>
            <a:r>
              <a:rPr lang="en-US" sz="2500" b="1">
                <a:solidFill>
                  <a:srgbClr val="111827"/>
                </a:solidFill>
                <a:latin typeface="Oswald" pitchFamily="34" charset="0"/>
                <a:ea typeface="Oswald" pitchFamily="34" charset="-122"/>
                <a:cs typeface="Oswald" pitchFamily="34" charset="-120"/>
              </a:rPr>
              <a:t>WORKFORCE SOLUTIONS - HOW WE DELIVER</a:t>
            </a:r>
          </a:p>
          <a:p>
            <a:pPr marL="0" indent="0" algn="l">
              <a:buNone/>
            </a:pPr>
            <a:endParaRPr lang="en-US" sz="2500"/>
          </a:p>
        </p:txBody>
      </p:sp>
      <p:sp>
        <p:nvSpPr>
          <p:cNvPr id="24" name="Text 18"/>
          <p:cNvSpPr txBox="1"/>
          <p:nvPr/>
        </p:nvSpPr>
        <p:spPr>
          <a:xfrm>
            <a:off x="819302" y="822960"/>
            <a:ext cx="8097012" cy="181051"/>
          </a:xfrm>
          <a:prstGeom prst="rect">
            <a:avLst/>
          </a:prstGeom>
          <a:noFill/>
          <a:ln/>
        </p:spPr>
        <p:txBody>
          <a:bodyPr wrap="non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From sourcing to sprint governance - a structured operating model, not a staffing drop.</a:t>
            </a:r>
          </a:p>
        </p:txBody>
      </p:sp>
      <p:sp>
        <p:nvSpPr>
          <p:cNvPr id="25" name="Text 19"/>
          <p:cNvSpPr txBox="1"/>
          <p:nvPr/>
        </p:nvSpPr>
        <p:spPr>
          <a:xfrm>
            <a:off x="819302" y="1079906"/>
            <a:ext cx="8097012" cy="152705"/>
          </a:xfrm>
          <a:prstGeom prst="rect">
            <a:avLst/>
          </a:prstGeom>
          <a:noFill/>
          <a:ln/>
        </p:spPr>
        <p:txBody>
          <a:bodyPr wrap="none" lIns="0" tIns="0" rIns="0" bIns="0" rtlCol="0" anchor="ctr"/>
          <a:lstStyle/>
          <a:p>
            <a:pPr marL="0" indent="0" algn="l">
              <a:buNone/>
            </a:pPr>
            <a:endParaRPr lang="en-US" sz="1000"/>
          </a:p>
        </p:txBody>
      </p:sp>
      <p:sp>
        <p:nvSpPr>
          <p:cNvPr id="26" name="Text 20"/>
          <p:cNvSpPr txBox="1"/>
          <p:nvPr/>
        </p:nvSpPr>
        <p:spPr>
          <a:xfrm>
            <a:off x="838505" y="1981505"/>
            <a:ext cx="34015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01</a:t>
            </a:r>
            <a:endParaRPr lang="en-US" sz="2400"/>
          </a:p>
        </p:txBody>
      </p:sp>
      <p:sp>
        <p:nvSpPr>
          <p:cNvPr id="27" name="Text 21"/>
          <p:cNvSpPr txBox="1"/>
          <p:nvPr/>
        </p:nvSpPr>
        <p:spPr>
          <a:xfrm>
            <a:off x="1237183" y="1995424"/>
            <a:ext cx="1417320"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Scope &amp; Source</a:t>
            </a:r>
            <a:endParaRPr lang="en-US" sz="1600"/>
          </a:p>
        </p:txBody>
      </p:sp>
      <p:sp>
        <p:nvSpPr>
          <p:cNvPr id="28" name="Text 22"/>
          <p:cNvSpPr txBox="1"/>
          <p:nvPr/>
        </p:nvSpPr>
        <p:spPr>
          <a:xfrm>
            <a:off x="838505"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Role definition + domain-specific talent pool activation. TalentAI matching + voice-agent pre-screen. Shortlist in 72 hrs.</a:t>
            </a:r>
            <a:endParaRPr lang="en-US" sz="1000"/>
          </a:p>
        </p:txBody>
      </p:sp>
      <p:pic>
        <p:nvPicPr>
          <p:cNvPr id="29" name="Image 4" descr="gen-dedup-68afaceb726e7c14c8688760b973252d.png"/>
          <p:cNvPicPr>
            <a:picLocks noChangeAspect="1"/>
          </p:cNvPicPr>
          <p:nvPr/>
        </p:nvPicPr>
        <p:blipFill>
          <a:blip r:embed="rId7"/>
          <a:srcRect l="-13360" r="-13360"/>
          <a:stretch/>
        </p:blipFill>
        <p:spPr>
          <a:xfrm>
            <a:off x="4062679" y="2648102"/>
            <a:ext cx="181051" cy="228600"/>
          </a:xfrm>
          <a:prstGeom prst="rect">
            <a:avLst/>
          </a:prstGeom>
        </p:spPr>
      </p:pic>
      <p:sp>
        <p:nvSpPr>
          <p:cNvPr id="30" name="Text 23"/>
          <p:cNvSpPr txBox="1"/>
          <p:nvPr/>
        </p:nvSpPr>
        <p:spPr>
          <a:xfrm>
            <a:off x="4705502" y="1981505"/>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02</a:t>
            </a:r>
            <a:endParaRPr lang="en-US" sz="2400"/>
          </a:p>
        </p:txBody>
      </p:sp>
      <p:sp>
        <p:nvSpPr>
          <p:cNvPr id="31" name="Text 24"/>
          <p:cNvSpPr txBox="1"/>
          <p:nvPr/>
        </p:nvSpPr>
        <p:spPr>
          <a:xfrm>
            <a:off x="5144414" y="1995424"/>
            <a:ext cx="839419"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AI-Assess</a:t>
            </a:r>
            <a:endParaRPr lang="en-US" sz="1600"/>
          </a:p>
        </p:txBody>
      </p:sp>
      <p:sp>
        <p:nvSpPr>
          <p:cNvPr id="32" name="Text 25"/>
          <p:cNvSpPr txBox="1"/>
          <p:nvPr/>
        </p:nvSpPr>
        <p:spPr>
          <a:xfrm>
            <a:off x="4705502"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Live coding + domain scenario assessment via TalentSphere. Technical bar validated by J2W before client interview.</a:t>
            </a:r>
            <a:endParaRPr lang="en-US" sz="1000"/>
          </a:p>
        </p:txBody>
      </p:sp>
      <p:pic>
        <p:nvPicPr>
          <p:cNvPr id="33" name="Image 5" descr="gen-dedup-68afaceb726e7c14c8688760b973252d.png"/>
          <p:cNvPicPr>
            <a:picLocks noChangeAspect="1"/>
          </p:cNvPicPr>
          <p:nvPr/>
        </p:nvPicPr>
        <p:blipFill>
          <a:blip r:embed="rId7"/>
          <a:srcRect l="-13360" r="-13360"/>
          <a:stretch/>
        </p:blipFill>
        <p:spPr>
          <a:xfrm>
            <a:off x="7929677" y="2648102"/>
            <a:ext cx="181051" cy="228600"/>
          </a:xfrm>
          <a:prstGeom prst="rect">
            <a:avLst/>
          </a:prstGeom>
        </p:spPr>
      </p:pic>
      <p:sp>
        <p:nvSpPr>
          <p:cNvPr id="34" name="Text 26"/>
          <p:cNvSpPr txBox="1"/>
          <p:nvPr/>
        </p:nvSpPr>
        <p:spPr>
          <a:xfrm>
            <a:off x="8572500" y="1981505"/>
            <a:ext cx="391363"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03</a:t>
            </a:r>
            <a:endParaRPr lang="en-US" sz="2400"/>
          </a:p>
        </p:txBody>
      </p:sp>
      <p:sp>
        <p:nvSpPr>
          <p:cNvPr id="35" name="Text 27"/>
          <p:cNvSpPr txBox="1"/>
          <p:nvPr/>
        </p:nvSpPr>
        <p:spPr>
          <a:xfrm>
            <a:off x="9011412" y="1995424"/>
            <a:ext cx="1553566"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Deploy in 10 Days</a:t>
            </a:r>
            <a:endParaRPr lang="en-US" sz="1600"/>
          </a:p>
        </p:txBody>
      </p:sp>
      <p:sp>
        <p:nvSpPr>
          <p:cNvPr id="36" name="Text 28"/>
          <p:cNvSpPr txBox="1"/>
          <p:nvPr/>
        </p:nvSpPr>
        <p:spPr>
          <a:xfrm>
            <a:off x="8572500"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Offer → onboarding → Day-1 productivity. J2W payroll, compliance, IT provisioning - fully managed.</a:t>
            </a:r>
            <a:endParaRPr lang="en-US" sz="1000"/>
          </a:p>
        </p:txBody>
      </p:sp>
      <p:pic>
        <p:nvPicPr>
          <p:cNvPr id="37" name="Image 6" descr="gen-dedup-ff9a716cc6b1850cd75acb20aeb0dc17.png"/>
          <p:cNvPicPr>
            <a:picLocks noChangeAspect="1"/>
          </p:cNvPicPr>
          <p:nvPr/>
        </p:nvPicPr>
        <p:blipFill>
          <a:blip r:embed="rId8"/>
          <a:srcRect t="-13131" b="-13131"/>
          <a:stretch/>
        </p:blipFill>
        <p:spPr>
          <a:xfrm>
            <a:off x="9872777" y="3895344"/>
            <a:ext cx="181051" cy="228600"/>
          </a:xfrm>
          <a:prstGeom prst="rect">
            <a:avLst/>
          </a:prstGeom>
        </p:spPr>
      </p:pic>
      <p:sp>
        <p:nvSpPr>
          <p:cNvPr id="38" name="Text 29"/>
          <p:cNvSpPr txBox="1"/>
          <p:nvPr/>
        </p:nvSpPr>
        <p:spPr>
          <a:xfrm>
            <a:off x="838505"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04</a:t>
            </a:r>
            <a:endParaRPr lang="en-US" sz="2400"/>
          </a:p>
        </p:txBody>
      </p:sp>
      <p:sp>
        <p:nvSpPr>
          <p:cNvPr id="39" name="Text 30"/>
          <p:cNvSpPr txBox="1"/>
          <p:nvPr/>
        </p:nvSpPr>
        <p:spPr>
          <a:xfrm>
            <a:off x="1280160" y="4472534"/>
            <a:ext cx="1564538"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Govern &amp; Upskill</a:t>
            </a:r>
            <a:endParaRPr lang="en-US" sz="1600"/>
          </a:p>
        </p:txBody>
      </p:sp>
      <p:sp>
        <p:nvSpPr>
          <p:cNvPr id="40" name="Text 31"/>
          <p:cNvSpPr txBox="1"/>
          <p:nvPr/>
        </p:nvSpPr>
        <p:spPr>
          <a:xfrm>
            <a:off x="838505"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Sprint accountability via Pod Manager. Monthly AI upskilling in J2W Labs. Weekly performance telemetry.</a:t>
            </a:r>
            <a:endParaRPr lang="en-US" sz="1000"/>
          </a:p>
        </p:txBody>
      </p:sp>
      <p:pic>
        <p:nvPicPr>
          <p:cNvPr id="41" name="Image 7" descr="gen-dedup-68afaceb726e7c14c8688760b973252d.png"/>
          <p:cNvPicPr>
            <a:picLocks noChangeAspect="1"/>
          </p:cNvPicPr>
          <p:nvPr/>
        </p:nvPicPr>
        <p:blipFill>
          <a:blip r:embed="rId7"/>
          <a:srcRect l="-13360" r="-13360"/>
          <a:stretch/>
        </p:blipFill>
        <p:spPr>
          <a:xfrm>
            <a:off x="4062679" y="5124298"/>
            <a:ext cx="181051" cy="228600"/>
          </a:xfrm>
          <a:prstGeom prst="rect">
            <a:avLst/>
          </a:prstGeom>
        </p:spPr>
      </p:pic>
      <p:sp>
        <p:nvSpPr>
          <p:cNvPr id="42" name="Text 32"/>
          <p:cNvSpPr txBox="1"/>
          <p:nvPr/>
        </p:nvSpPr>
        <p:spPr>
          <a:xfrm>
            <a:off x="4705502" y="4457700"/>
            <a:ext cx="38587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05</a:t>
            </a:r>
            <a:endParaRPr lang="en-US" sz="2400"/>
          </a:p>
        </p:txBody>
      </p:sp>
      <p:sp>
        <p:nvSpPr>
          <p:cNvPr id="43" name="Text 33"/>
          <p:cNvSpPr txBox="1"/>
          <p:nvPr/>
        </p:nvSpPr>
        <p:spPr>
          <a:xfrm>
            <a:off x="5142586" y="4472534"/>
            <a:ext cx="201808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POFU - 90-Day Funnel</a:t>
            </a:r>
            <a:endParaRPr lang="en-US" sz="1600"/>
          </a:p>
        </p:txBody>
      </p:sp>
      <p:sp>
        <p:nvSpPr>
          <p:cNvPr id="44" name="Text 34"/>
          <p:cNvSpPr txBox="1"/>
          <p:nvPr/>
        </p:nvSpPr>
        <p:spPr>
          <a:xfrm>
            <a:off x="4705502" y="4905756"/>
            <a:ext cx="2781605" cy="800100"/>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Post-Offer Follow-Up: milestone touchpoints, counter-offer inoculation, manager connects. Dropout rate → single digits.</a:t>
            </a:r>
            <a:endParaRPr lang="en-US" sz="1000"/>
          </a:p>
        </p:txBody>
      </p:sp>
      <p:pic>
        <p:nvPicPr>
          <p:cNvPr id="45" name="Image 8" descr="gen-dedup-68afaceb726e7c14c8688760b973252d.png"/>
          <p:cNvPicPr>
            <a:picLocks noChangeAspect="1"/>
          </p:cNvPicPr>
          <p:nvPr/>
        </p:nvPicPr>
        <p:blipFill>
          <a:blip r:embed="rId7"/>
          <a:srcRect l="-13360" r="-13360"/>
          <a:stretch/>
        </p:blipFill>
        <p:spPr>
          <a:xfrm>
            <a:off x="7929677" y="5124298"/>
            <a:ext cx="181051" cy="228600"/>
          </a:xfrm>
          <a:prstGeom prst="rect">
            <a:avLst/>
          </a:prstGeom>
        </p:spPr>
      </p:pic>
      <p:sp>
        <p:nvSpPr>
          <p:cNvPr id="46" name="Text 35"/>
          <p:cNvSpPr txBox="1"/>
          <p:nvPr/>
        </p:nvSpPr>
        <p:spPr>
          <a:xfrm>
            <a:off x="8572500"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06</a:t>
            </a:r>
            <a:endParaRPr lang="en-US" sz="2400"/>
          </a:p>
        </p:txBody>
      </p:sp>
      <p:sp>
        <p:nvSpPr>
          <p:cNvPr id="47" name="Text 36"/>
          <p:cNvSpPr txBox="1"/>
          <p:nvPr/>
        </p:nvSpPr>
        <p:spPr>
          <a:xfrm>
            <a:off x="9018727" y="4472534"/>
            <a:ext cx="159837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Scale or Convert</a:t>
            </a:r>
            <a:endParaRPr lang="en-US" sz="1600"/>
          </a:p>
        </p:txBody>
      </p:sp>
      <p:sp>
        <p:nvSpPr>
          <p:cNvPr id="48" name="Text 37"/>
          <p:cNvSpPr txBox="1"/>
          <p:nvPr/>
        </p:nvSpPr>
        <p:spPr>
          <a:xfrm>
            <a:off x="8572500"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C2H → permanent conversion on Day 91. Scale the pod up or down. Quarterly Business Review with ROI data.</a:t>
            </a:r>
            <a:endParaRPr lang="en-US"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4ab2116e971fbb9400d0e99205bd0390.png"/>
          <p:cNvPicPr>
            <a:picLocks noChangeAspect="1"/>
          </p:cNvPicPr>
          <p:nvPr/>
        </p:nvPicPr>
        <p:blipFill>
          <a:blip r:embed="rId5">
            <a:alphaModFix amt="8000"/>
          </a:blip>
          <a:srcRect/>
          <a:stretch/>
        </p:blipFill>
        <p:spPr>
          <a:xfrm>
            <a:off x="-381305" y="4190695"/>
            <a:ext cx="1904695" cy="1904695"/>
          </a:xfrm>
          <a:prstGeom prst="rect">
            <a:avLst/>
          </a:prstGeom>
        </p:spPr>
      </p:pic>
      <p:sp>
        <p:nvSpPr>
          <p:cNvPr id="8" name="Shape 3"/>
          <p:cNvSpPr/>
          <p:nvPr/>
        </p:nvSpPr>
        <p:spPr>
          <a:xfrm>
            <a:off x="609905" y="2000707"/>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9" name="Shape 4"/>
          <p:cNvSpPr/>
          <p:nvPr/>
        </p:nvSpPr>
        <p:spPr>
          <a:xfrm>
            <a:off x="609905" y="2000707"/>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609905" y="2952598"/>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1" name="Shape 6"/>
          <p:cNvSpPr/>
          <p:nvPr/>
        </p:nvSpPr>
        <p:spPr>
          <a:xfrm>
            <a:off x="609905" y="2952598"/>
            <a:ext cx="57607" cy="857707"/>
          </a:xfrm>
          <a:prstGeom prst="roundRect">
            <a:avLst>
              <a:gd name="adj" fmla="val 66667"/>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09905" y="3905402"/>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3" name="Shape 8"/>
          <p:cNvSpPr/>
          <p:nvPr/>
        </p:nvSpPr>
        <p:spPr>
          <a:xfrm>
            <a:off x="609905" y="3905402"/>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609905" y="4858207"/>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5" name="Shape 10"/>
          <p:cNvSpPr/>
          <p:nvPr/>
        </p:nvSpPr>
        <p:spPr>
          <a:xfrm>
            <a:off x="609905" y="4858207"/>
            <a:ext cx="57607" cy="857707"/>
          </a:xfrm>
          <a:prstGeom prst="roundRect">
            <a:avLst>
              <a:gd name="adj" fmla="val 66667"/>
            </a:avLst>
          </a:prstGeom>
          <a:solidFill>
            <a:srgbClr val="D62839"/>
          </a:solidFill>
          <a:ln w="12700">
            <a:solidFill>
              <a:srgbClr val="D62839">
                <a:alpha val="0"/>
              </a:srgbClr>
            </a:solidFill>
            <a:prstDash val="solid"/>
          </a:ln>
        </p:spPr>
        <p:txBody>
          <a:bodyPr/>
          <a:lstStyle/>
          <a:p>
            <a:endParaRPr lang="en-US"/>
          </a:p>
        </p:txBody>
      </p:sp>
      <p:sp>
        <p:nvSpPr>
          <p:cNvPr id="16" name="Shape 11"/>
          <p:cNvSpPr/>
          <p:nvPr/>
        </p:nvSpPr>
        <p:spPr>
          <a:xfrm>
            <a:off x="609905" y="5810098"/>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7" name="Shape 12"/>
          <p:cNvSpPr/>
          <p:nvPr/>
        </p:nvSpPr>
        <p:spPr>
          <a:xfrm>
            <a:off x="609905" y="5810098"/>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pic>
        <p:nvPicPr>
          <p:cNvPr id="20" name="Image 3" descr="gen-dedup-f40e183725d285eac3acdddf8d8f823b.png"/>
          <p:cNvPicPr>
            <a:picLocks noChangeAspect="1"/>
          </p:cNvPicPr>
          <p:nvPr/>
        </p:nvPicPr>
        <p:blipFill>
          <a:blip r:embed="rId6"/>
          <a:srcRect l="-369" r="-369"/>
          <a:stretch/>
        </p:blipFill>
        <p:spPr>
          <a:xfrm>
            <a:off x="609905" y="448970"/>
            <a:ext cx="57607" cy="495605"/>
          </a:xfrm>
          <a:prstGeom prst="rect">
            <a:avLst/>
          </a:prstGeom>
        </p:spPr>
      </p:pic>
      <p:sp>
        <p:nvSpPr>
          <p:cNvPr id="21" name="Text 15"/>
          <p:cNvSpPr txBox="1"/>
          <p:nvPr/>
        </p:nvSpPr>
        <p:spPr>
          <a:xfrm>
            <a:off x="819302" y="381305"/>
            <a:ext cx="4499762" cy="409651"/>
          </a:xfrm>
          <a:prstGeom prst="rect">
            <a:avLst/>
          </a:prstGeom>
          <a:noFill/>
          <a:ln/>
        </p:spPr>
        <p:txBody>
          <a:bodyPr wrap="none" lIns="0" tIns="0" rIns="0" bIns="0" rtlCol="0" anchor="ctr"/>
          <a:lstStyle/>
          <a:p>
            <a:pPr marL="0" indent="0" algn="l">
              <a:buNone/>
            </a:pPr>
            <a:r>
              <a:rPr lang="en-US" sz="2800" b="1">
                <a:solidFill>
                  <a:srgbClr val="111827"/>
                </a:solidFill>
                <a:latin typeface="Oswald" pitchFamily="34" charset="0"/>
                <a:ea typeface="Oswald" pitchFamily="34" charset="-122"/>
                <a:cs typeface="Oswald" pitchFamily="34" charset="-120"/>
              </a:rPr>
              <a:t>STRUCTURAL DIFFERENTIATION</a:t>
            </a:r>
            <a:endParaRPr lang="en-US" sz="2800"/>
          </a:p>
        </p:txBody>
      </p:sp>
      <p:sp>
        <p:nvSpPr>
          <p:cNvPr id="22" name="Text 16"/>
          <p:cNvSpPr txBox="1"/>
          <p:nvPr/>
        </p:nvSpPr>
        <p:spPr>
          <a:xfrm>
            <a:off x="819302" y="821131"/>
            <a:ext cx="3610051" cy="191110"/>
          </a:xfrm>
          <a:prstGeom prst="rect">
            <a:avLst/>
          </a:prstGeom>
          <a:noFill/>
          <a:ln/>
        </p:spPr>
        <p:txBody>
          <a:bodyPr wrap="none" lIns="0" tIns="0" rIns="0" bIns="0" rtlCol="0" anchor="ctr"/>
          <a:lstStyle/>
          <a:p>
            <a:pPr marL="0" indent="0" algn="l">
              <a:buNone/>
            </a:pPr>
            <a:r>
              <a:rPr lang="en-US" sz="1300" b="1" kern="0" spc="66">
                <a:solidFill>
                  <a:srgbClr val="2A9D8F"/>
                </a:solidFill>
                <a:latin typeface="Roboto Condensed" pitchFamily="34" charset="0"/>
                <a:ea typeface="Roboto Condensed" pitchFamily="34" charset="-122"/>
                <a:cs typeface="Roboto Condensed" pitchFamily="34" charset="-120"/>
              </a:rPr>
              <a:t>WORKFORCE SOLUTIONS</a:t>
            </a:r>
          </a:p>
        </p:txBody>
      </p:sp>
      <p:sp>
        <p:nvSpPr>
          <p:cNvPr id="23" name="Text 17"/>
          <p:cNvSpPr txBox="1"/>
          <p:nvPr/>
        </p:nvSpPr>
        <p:spPr>
          <a:xfrm>
            <a:off x="609905" y="1380744"/>
            <a:ext cx="10972800" cy="267005"/>
          </a:xfrm>
          <a:prstGeom prst="rect">
            <a:avLst/>
          </a:prstGeom>
          <a:noFill/>
          <a:ln/>
        </p:spPr>
        <p:txBody>
          <a:bodyPr wrap="none" lIns="0" tIns="0" rIns="0" bIns="0" rtlCol="0" anchor="ctr"/>
          <a:lstStyle/>
          <a:p>
            <a:pPr marL="0" indent="0" algn="l">
              <a:buNone/>
            </a:pPr>
            <a:r>
              <a:rPr lang="en-US" sz="1500" b="1">
                <a:solidFill>
                  <a:srgbClr val="D62839"/>
                </a:solidFill>
                <a:latin typeface="Raleway" pitchFamily="34" charset="0"/>
                <a:ea typeface="Raleway" pitchFamily="34" charset="-122"/>
                <a:cs typeface="Raleway" pitchFamily="34" charset="-120"/>
              </a:rPr>
              <a:t>Five structural differences that change the engagement from transactional to transformational.</a:t>
            </a:r>
            <a:endParaRPr lang="en-US" sz="1500"/>
          </a:p>
        </p:txBody>
      </p:sp>
      <p:sp>
        <p:nvSpPr>
          <p:cNvPr id="24" name="Text 18"/>
          <p:cNvSpPr txBox="1"/>
          <p:nvPr/>
        </p:nvSpPr>
        <p:spPr>
          <a:xfrm>
            <a:off x="1037844" y="2148840"/>
            <a:ext cx="1904695"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No Subcontracting</a:t>
            </a:r>
            <a:endParaRPr lang="en-US" sz="1400"/>
          </a:p>
        </p:txBody>
      </p:sp>
      <p:sp>
        <p:nvSpPr>
          <p:cNvPr id="25" name="Text 19"/>
          <p:cNvSpPr txBox="1"/>
          <p:nvPr/>
        </p:nvSpPr>
        <p:spPr>
          <a:xfrm>
            <a:off x="800100" y="2491740"/>
            <a:ext cx="11278210" cy="219456"/>
          </a:xfrm>
          <a:prstGeom prst="rect">
            <a:avLst/>
          </a:prstGeom>
          <a:noFill/>
          <a:ln/>
        </p:spPr>
        <p:txBody>
          <a:bodyPr wrap="non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300+ in-house recruiters. 7,200+ professionals on J2W payroll. Zero subcontracting layer diluting quality, speed, or accountability.</a:t>
            </a:r>
            <a:endParaRPr lang="en-US" sz="1300"/>
          </a:p>
        </p:txBody>
      </p:sp>
      <p:pic>
        <p:nvPicPr>
          <p:cNvPr id="26" name="Image 4" descr="gen-dedup-928b248bf773cd1fca0141b5a5721735.png"/>
          <p:cNvPicPr>
            <a:picLocks noChangeAspect="1"/>
          </p:cNvPicPr>
          <p:nvPr/>
        </p:nvPicPr>
        <p:blipFill>
          <a:blip r:embed="rId7"/>
          <a:srcRect t="-6603" b="-6603"/>
          <a:stretch/>
        </p:blipFill>
        <p:spPr>
          <a:xfrm>
            <a:off x="800100" y="2211934"/>
            <a:ext cx="161849" cy="209398"/>
          </a:xfrm>
          <a:prstGeom prst="rect">
            <a:avLst/>
          </a:prstGeom>
        </p:spPr>
      </p:pic>
      <p:sp>
        <p:nvSpPr>
          <p:cNvPr id="27" name="Text 20"/>
          <p:cNvSpPr txBox="1"/>
          <p:nvPr/>
        </p:nvSpPr>
        <p:spPr>
          <a:xfrm>
            <a:off x="1037844" y="2991917"/>
            <a:ext cx="2414930" cy="305410"/>
          </a:xfrm>
          <a:prstGeom prst="rect">
            <a:avLst/>
          </a:prstGeom>
          <a:noFill/>
          <a:ln/>
        </p:spPr>
        <p:txBody>
          <a:bodyPr wrap="none" lIns="0" tIns="0" rIns="0" bIns="0" rtlCol="0" anchor="ctr"/>
          <a:lstStyle/>
          <a:p>
            <a:pPr marL="0" indent="0" algn="l">
              <a:buNone/>
            </a:pPr>
            <a:r>
              <a:rPr lang="en-US" sz="1400" b="1">
                <a:solidFill>
                  <a:srgbClr val="D62839"/>
                </a:solidFill>
                <a:latin typeface="Oswald" pitchFamily="34" charset="0"/>
                <a:ea typeface="Oswald" pitchFamily="34" charset="-122"/>
                <a:cs typeface="Oswald" pitchFamily="34" charset="-120"/>
              </a:rPr>
              <a:t>GCC-Native Intelligence</a:t>
            </a:r>
            <a:endParaRPr lang="en-US" sz="1400"/>
          </a:p>
        </p:txBody>
      </p:sp>
      <p:sp>
        <p:nvSpPr>
          <p:cNvPr id="28" name="Text 21"/>
          <p:cNvSpPr txBox="1"/>
          <p:nvPr/>
        </p:nvSpPr>
        <p:spPr>
          <a:xfrm>
            <a:off x="800100" y="3334817"/>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Forged through 300+ active GCC deployments. We see the next problem before it shows up because we have already solved it somewhere else.</a:t>
            </a:r>
            <a:endParaRPr lang="en-US" sz="1300"/>
          </a:p>
        </p:txBody>
      </p:sp>
      <p:pic>
        <p:nvPicPr>
          <p:cNvPr id="29" name="Image 5" descr="gen-dedup-0c58ce2f3d3941653435c84e3cc91c65.png"/>
          <p:cNvPicPr>
            <a:picLocks noChangeAspect="1"/>
          </p:cNvPicPr>
          <p:nvPr/>
        </p:nvPicPr>
        <p:blipFill>
          <a:blip r:embed="rId8"/>
          <a:srcRect t="-14689" b="-14689"/>
          <a:stretch/>
        </p:blipFill>
        <p:spPr>
          <a:xfrm>
            <a:off x="800100" y="3055925"/>
            <a:ext cx="161849" cy="209398"/>
          </a:xfrm>
          <a:prstGeom prst="rect">
            <a:avLst/>
          </a:prstGeom>
        </p:spPr>
      </p:pic>
      <p:sp>
        <p:nvSpPr>
          <p:cNvPr id="30" name="Text 22"/>
          <p:cNvSpPr txBox="1"/>
          <p:nvPr/>
        </p:nvSpPr>
        <p:spPr>
          <a:xfrm>
            <a:off x="1037844" y="3944722"/>
            <a:ext cx="1633118"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AI at Every Step</a:t>
            </a:r>
            <a:endParaRPr lang="en-US" sz="1400"/>
          </a:p>
        </p:txBody>
      </p:sp>
      <p:sp>
        <p:nvSpPr>
          <p:cNvPr id="31" name="Text 23"/>
          <p:cNvSpPr txBox="1"/>
          <p:nvPr/>
        </p:nvSpPr>
        <p:spPr>
          <a:xfrm>
            <a:off x="800100" y="4287622"/>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TalentAI + TalentSphere: AI-ranked pools, voice-agent screening, skill graphs, predictive placement. Every tool passed our 40% improvement gate internally.</a:t>
            </a:r>
            <a:endParaRPr lang="en-US" sz="1300"/>
          </a:p>
        </p:txBody>
      </p:sp>
      <p:pic>
        <p:nvPicPr>
          <p:cNvPr id="32" name="Image 6" descr="gen-dedup-da669e206ac26c7983b1f8612c832ea6.png"/>
          <p:cNvPicPr>
            <a:picLocks noChangeAspect="1"/>
          </p:cNvPicPr>
          <p:nvPr/>
        </p:nvPicPr>
        <p:blipFill>
          <a:blip r:embed="rId9"/>
          <a:srcRect t="-30861" b="-30861"/>
          <a:stretch/>
        </p:blipFill>
        <p:spPr>
          <a:xfrm>
            <a:off x="800100" y="4008730"/>
            <a:ext cx="161849" cy="209398"/>
          </a:xfrm>
          <a:prstGeom prst="rect">
            <a:avLst/>
          </a:prstGeom>
        </p:spPr>
      </p:pic>
      <p:sp>
        <p:nvSpPr>
          <p:cNvPr id="33" name="Text 24"/>
          <p:cNvSpPr txBox="1"/>
          <p:nvPr/>
        </p:nvSpPr>
        <p:spPr>
          <a:xfrm>
            <a:off x="1037844" y="4897526"/>
            <a:ext cx="2460650" cy="305410"/>
          </a:xfrm>
          <a:prstGeom prst="rect">
            <a:avLst/>
          </a:prstGeom>
          <a:noFill/>
          <a:ln/>
        </p:spPr>
        <p:txBody>
          <a:bodyPr wrap="none" lIns="0" tIns="0" rIns="0" bIns="0" rtlCol="0" anchor="ctr"/>
          <a:lstStyle/>
          <a:p>
            <a:pPr marL="0" indent="0" algn="l">
              <a:buNone/>
            </a:pPr>
            <a:r>
              <a:rPr lang="en-US" sz="1400" b="1">
                <a:solidFill>
                  <a:srgbClr val="D62839"/>
                </a:solidFill>
                <a:latin typeface="Oswald" pitchFamily="34" charset="0"/>
                <a:ea typeface="Oswald" pitchFamily="34" charset="-122"/>
                <a:cs typeface="Oswald" pitchFamily="34" charset="-120"/>
              </a:rPr>
              <a:t>Pod Governance Built In</a:t>
            </a:r>
            <a:endParaRPr lang="en-US" sz="1400"/>
          </a:p>
        </p:txBody>
      </p:sp>
      <p:sp>
        <p:nvSpPr>
          <p:cNvPr id="34" name="Text 25"/>
          <p:cNvSpPr txBox="1"/>
          <p:nvPr/>
        </p:nvSpPr>
        <p:spPr>
          <a:xfrm>
            <a:off x="800100" y="5240426"/>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A dedicated Pod Manager - not billed to client - owns sprint governance, performance tracking, and L&amp;D coordination. This is a pod, not a staffing drop.</a:t>
            </a:r>
            <a:endParaRPr lang="en-US" sz="1300"/>
          </a:p>
        </p:txBody>
      </p:sp>
      <p:pic>
        <p:nvPicPr>
          <p:cNvPr id="35" name="Image 7" descr="gen-dedup-5d8964838ee5ef7b6e1692b5297312cd.png"/>
          <p:cNvPicPr>
            <a:picLocks noChangeAspect="1"/>
          </p:cNvPicPr>
          <p:nvPr/>
        </p:nvPicPr>
        <p:blipFill>
          <a:blip r:embed="rId10"/>
          <a:srcRect t="-30861" b="-30861"/>
          <a:stretch/>
        </p:blipFill>
        <p:spPr>
          <a:xfrm>
            <a:off x="800100" y="4960620"/>
            <a:ext cx="161849" cy="209398"/>
          </a:xfrm>
          <a:prstGeom prst="rect">
            <a:avLst/>
          </a:prstGeom>
        </p:spPr>
      </p:pic>
      <p:sp>
        <p:nvSpPr>
          <p:cNvPr id="36" name="Text 26"/>
          <p:cNvSpPr txBox="1"/>
          <p:nvPr/>
        </p:nvSpPr>
        <p:spPr>
          <a:xfrm>
            <a:off x="1037844" y="5849417"/>
            <a:ext cx="2051914"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Validated Playbooks</a:t>
            </a:r>
            <a:endParaRPr lang="en-US" sz="1400"/>
          </a:p>
        </p:txBody>
      </p:sp>
      <p:sp>
        <p:nvSpPr>
          <p:cNvPr id="37" name="Text 27"/>
          <p:cNvSpPr txBox="1"/>
          <p:nvPr/>
        </p:nvSpPr>
        <p:spPr>
          <a:xfrm>
            <a:off x="800100" y="6192317"/>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Every tool, process, and accelerator has passed our internal 40% improvement gate. Clients benefit from completed learning - not our experimentation.</a:t>
            </a:r>
            <a:endParaRPr lang="en-US" sz="1300"/>
          </a:p>
        </p:txBody>
      </p:sp>
      <p:pic>
        <p:nvPicPr>
          <p:cNvPr id="38" name="Image 8" descr="gen-dedup-001fb79ce367df5df5f79805d3e188cd.png"/>
          <p:cNvPicPr>
            <a:picLocks noChangeAspect="1"/>
          </p:cNvPicPr>
          <p:nvPr/>
        </p:nvPicPr>
        <p:blipFill>
          <a:blip r:embed="rId11"/>
          <a:srcRect t="-22775" b="-22775"/>
          <a:stretch/>
        </p:blipFill>
        <p:spPr>
          <a:xfrm>
            <a:off x="800100" y="5913425"/>
            <a:ext cx="161849" cy="20939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382305" y="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sp>
        <p:nvSpPr>
          <p:cNvPr id="5" name="Shape 3"/>
          <p:cNvSpPr/>
          <p:nvPr/>
        </p:nvSpPr>
        <p:spPr>
          <a:xfrm>
            <a:off x="-476402" y="3524098"/>
            <a:ext cx="2381098" cy="2381098"/>
          </a:xfrm>
          <a:prstGeom prst="ellipse">
            <a:avLst/>
          </a:prstGeom>
          <a:solidFill>
            <a:srgbClr val="D62839">
              <a:alpha val="2000"/>
            </a:srgbClr>
          </a:solidFill>
          <a:ln w="12700">
            <a:solidFill>
              <a:srgbClr val="FFFFFF">
                <a:alpha val="0"/>
              </a:srgbClr>
            </a:solidFill>
            <a:prstDash val="solid"/>
          </a:ln>
        </p:spPr>
        <p:txBody>
          <a:bodyPr/>
          <a:lstStyle/>
          <a:p>
            <a:endParaRPr lang="en-US"/>
          </a:p>
        </p:txBody>
      </p:sp>
      <p:pic>
        <p:nvPicPr>
          <p:cNvPr id="6" name="Image 0" descr="gen-dedup-37abb9d8cc081a24feb608c288538026.png"/>
          <p:cNvPicPr>
            <a:picLocks noChangeAspect="1"/>
          </p:cNvPicPr>
          <p:nvPr/>
        </p:nvPicPr>
        <p:blipFill>
          <a:blip r:embed="rId3"/>
          <a:srcRect l="-198" r="-198"/>
          <a:stretch/>
        </p:blipFill>
        <p:spPr>
          <a:xfrm>
            <a:off x="0" y="0"/>
            <a:ext cx="8124444" cy="75895"/>
          </a:xfrm>
          <a:prstGeom prst="rect">
            <a:avLst/>
          </a:prstGeom>
        </p:spPr>
      </p:pic>
      <p:pic>
        <p:nvPicPr>
          <p:cNvPr id="7" name="Image 1" descr="gen-dedup-c2c9136402f20c216bf7cbcc052ad1a0.png"/>
          <p:cNvPicPr>
            <a:picLocks noChangeAspect="1"/>
          </p:cNvPicPr>
          <p:nvPr/>
        </p:nvPicPr>
        <p:blipFill>
          <a:blip r:embed="rId4"/>
          <a:srcRect l="-202" r="-202"/>
          <a:stretch/>
        </p:blipFill>
        <p:spPr>
          <a:xfrm>
            <a:off x="8124444" y="0"/>
            <a:ext cx="4067251" cy="75895"/>
          </a:xfrm>
          <a:prstGeom prst="rect">
            <a:avLst/>
          </a:prstGeom>
        </p:spPr>
      </p:pic>
      <p:pic>
        <p:nvPicPr>
          <p:cNvPr id="8" name="Image 2" descr="gen-dedup-50f81f9bdcb5400074144f35c0ecb91c.png"/>
          <p:cNvPicPr>
            <a:picLocks noChangeAspect="1"/>
          </p:cNvPicPr>
          <p:nvPr/>
        </p:nvPicPr>
        <p:blipFill>
          <a:blip r:embed="rId5"/>
          <a:srcRect l="-7" r="-7"/>
          <a:stretch/>
        </p:blipFill>
        <p:spPr>
          <a:xfrm>
            <a:off x="2704795" y="1238098"/>
            <a:ext cx="3143707" cy="4457700"/>
          </a:xfrm>
          <a:prstGeom prst="rect">
            <a:avLst/>
          </a:prstGeom>
        </p:spPr>
      </p:pic>
      <p:sp>
        <p:nvSpPr>
          <p:cNvPr id="9" name="Shape 4"/>
          <p:cNvSpPr/>
          <p:nvPr/>
        </p:nvSpPr>
        <p:spPr>
          <a:xfrm>
            <a:off x="609905" y="5762549"/>
            <a:ext cx="10992002" cy="847649"/>
          </a:xfrm>
          <a:prstGeom prst="roundRect">
            <a:avLst>
              <a:gd name="adj" fmla="val 19393"/>
            </a:avLst>
          </a:prstGeom>
          <a:solidFill>
            <a:srgbClr val="F8FAFC"/>
          </a:solidFill>
          <a:ln w="12700">
            <a:solidFill>
              <a:srgbClr val="E2E8F0"/>
            </a:solidFill>
            <a:prstDash val="solid"/>
          </a:ln>
          <a:effectLst>
            <a:outerShdw blurRad="63500" dist="38100" dir="16200000" algn="bl" rotWithShape="0">
              <a:srgbClr val="000000">
                <a:alpha val="2000"/>
              </a:srgbClr>
            </a:outerShdw>
          </a:effectLst>
        </p:spPr>
        <p:txBody>
          <a:bodyPr/>
          <a:lstStyle/>
          <a:p>
            <a:endParaRPr lang="en-US"/>
          </a:p>
        </p:txBody>
      </p:sp>
      <p:pic>
        <p:nvPicPr>
          <p:cNvPr id="10" name="Image 3" descr="gen-dedup-1004aa64a550a79a04cd74d7f57c96c1.png"/>
          <p:cNvPicPr>
            <a:picLocks noChangeAspect="1"/>
          </p:cNvPicPr>
          <p:nvPr/>
        </p:nvPicPr>
        <p:blipFill>
          <a:blip r:embed="rId6"/>
          <a:srcRect l="-2083" r="-2083"/>
          <a:stretch/>
        </p:blipFill>
        <p:spPr>
          <a:xfrm>
            <a:off x="609905" y="2467051"/>
            <a:ext cx="10972800" cy="9144"/>
          </a:xfrm>
          <a:prstGeom prst="rect">
            <a:avLst/>
          </a:prstGeom>
        </p:spPr>
      </p:pic>
      <p:pic>
        <p:nvPicPr>
          <p:cNvPr id="11" name="Image 4" descr="gen-dedup-1004aa64a550a79a04cd74d7f57c96c1.png"/>
          <p:cNvPicPr>
            <a:picLocks noChangeAspect="1"/>
          </p:cNvPicPr>
          <p:nvPr/>
        </p:nvPicPr>
        <p:blipFill>
          <a:blip r:embed="rId6"/>
          <a:srcRect l="-2083" r="-2083"/>
          <a:stretch/>
        </p:blipFill>
        <p:spPr>
          <a:xfrm>
            <a:off x="609905" y="3267151"/>
            <a:ext cx="10972800" cy="9144"/>
          </a:xfrm>
          <a:prstGeom prst="rect">
            <a:avLst/>
          </a:prstGeom>
        </p:spPr>
      </p:pic>
      <p:pic>
        <p:nvPicPr>
          <p:cNvPr id="12" name="Image 5" descr="gen-dedup-1004aa64a550a79a04cd74d7f57c96c1.png"/>
          <p:cNvPicPr>
            <a:picLocks noChangeAspect="1"/>
          </p:cNvPicPr>
          <p:nvPr/>
        </p:nvPicPr>
        <p:blipFill>
          <a:blip r:embed="rId6"/>
          <a:srcRect l="-2083" r="-2083"/>
          <a:stretch/>
        </p:blipFill>
        <p:spPr>
          <a:xfrm>
            <a:off x="609905" y="4067251"/>
            <a:ext cx="10972800" cy="9144"/>
          </a:xfrm>
          <a:prstGeom prst="rect">
            <a:avLst/>
          </a:prstGeom>
        </p:spPr>
      </p:pic>
      <p:pic>
        <p:nvPicPr>
          <p:cNvPr id="13" name="Image 6" descr="gen-dedup-1004aa64a550a79a04cd74d7f57c96c1.png"/>
          <p:cNvPicPr>
            <a:picLocks noChangeAspect="1"/>
          </p:cNvPicPr>
          <p:nvPr/>
        </p:nvPicPr>
        <p:blipFill>
          <a:blip r:embed="rId6"/>
          <a:srcRect l="-2083" r="-2083"/>
          <a:stretch/>
        </p:blipFill>
        <p:spPr>
          <a:xfrm>
            <a:off x="609905" y="4867351"/>
            <a:ext cx="10972800" cy="9144"/>
          </a:xfrm>
          <a:prstGeom prst="rect">
            <a:avLst/>
          </a:prstGeom>
        </p:spPr>
      </p:pic>
      <p:pic>
        <p:nvPicPr>
          <p:cNvPr id="14" name="Image 7" descr="gen-dedup-06e3d16aa0e9246458a784af17ea21a8.png"/>
          <p:cNvPicPr>
            <a:picLocks noChangeAspect="1"/>
          </p:cNvPicPr>
          <p:nvPr/>
        </p:nvPicPr>
        <p:blipFill>
          <a:blip r:embed="rId7"/>
          <a:srcRect l="-437" r="-437"/>
          <a:stretch/>
        </p:blipFill>
        <p:spPr>
          <a:xfrm>
            <a:off x="609905" y="390449"/>
            <a:ext cx="57607" cy="418795"/>
          </a:xfrm>
          <a:prstGeom prst="rect">
            <a:avLst/>
          </a:prstGeom>
        </p:spPr>
      </p:pic>
      <p:sp>
        <p:nvSpPr>
          <p:cNvPr id="15" name="Text 5"/>
          <p:cNvSpPr txBox="1"/>
          <p:nvPr/>
        </p:nvSpPr>
        <p:spPr>
          <a:xfrm>
            <a:off x="819302" y="390449"/>
            <a:ext cx="10478110" cy="381305"/>
          </a:xfrm>
          <a:prstGeom prst="rect">
            <a:avLst/>
          </a:prstGeom>
          <a:noFill/>
          <a:ln/>
        </p:spPr>
        <p:txBody>
          <a:bodyPr wrap="square" lIns="0" tIns="0" rIns="0" bIns="0" rtlCol="0" anchor="ctr"/>
          <a:lstStyle/>
          <a:p>
            <a:pPr marL="0" indent="0" algn="l">
              <a:buNone/>
            </a:pPr>
            <a:r>
              <a:rPr lang="en-US" sz="2700" b="1">
                <a:solidFill>
                  <a:srgbClr val="111827"/>
                </a:solidFill>
                <a:latin typeface="Oswald" pitchFamily="34" charset="0"/>
                <a:ea typeface="Oswald" pitchFamily="34" charset="-122"/>
                <a:cs typeface="Oswald" pitchFamily="34" charset="-120"/>
              </a:rPr>
              <a:t>WHY J2W - NOT THE BIG 4 OR LARGE SIs</a:t>
            </a:r>
            <a:endParaRPr lang="en-US" sz="2700"/>
          </a:p>
        </p:txBody>
      </p:sp>
      <p:sp>
        <p:nvSpPr>
          <p:cNvPr id="16" name="Text 6"/>
          <p:cNvSpPr txBox="1"/>
          <p:nvPr/>
        </p:nvSpPr>
        <p:spPr>
          <a:xfrm>
            <a:off x="819302" y="824789"/>
            <a:ext cx="10478110" cy="181051"/>
          </a:xfrm>
          <a:prstGeom prst="rect">
            <a:avLst/>
          </a:prstGeom>
          <a:noFill/>
          <a:ln/>
        </p:spPr>
        <p:txBody>
          <a:bodyPr wrap="squar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THE SMARTER CHOICE FOR AI &amp; DIGITAL TRANSFORMATION AT SCALE</a:t>
            </a:r>
            <a:endParaRPr lang="en-US" sz="1200"/>
          </a:p>
        </p:txBody>
      </p:sp>
      <p:sp>
        <p:nvSpPr>
          <p:cNvPr id="17" name="Text 7"/>
          <p:cNvSpPr txBox="1"/>
          <p:nvPr/>
        </p:nvSpPr>
        <p:spPr>
          <a:xfrm>
            <a:off x="2704795" y="1333195"/>
            <a:ext cx="3143707" cy="286207"/>
          </a:xfrm>
          <a:prstGeom prst="rect">
            <a:avLst/>
          </a:prstGeom>
          <a:noFill/>
          <a:ln/>
        </p:spPr>
        <p:txBody>
          <a:bodyPr wrap="square" lIns="0" tIns="0" rIns="0" bIns="0" rtlCol="0" anchor="ctr"/>
          <a:lstStyle/>
          <a:p>
            <a:pPr marL="0" indent="0" algn="ctr">
              <a:buNone/>
            </a:pPr>
            <a:r>
              <a:rPr lang="en-US" sz="1500" b="1">
                <a:solidFill>
                  <a:srgbClr val="111827"/>
                </a:solidFill>
                <a:latin typeface="Oswald" pitchFamily="34" charset="0"/>
                <a:ea typeface="Oswald" pitchFamily="34" charset="-122"/>
                <a:cs typeface="Oswald" pitchFamily="34" charset="-120"/>
              </a:rPr>
              <a:t>JoulesToWatts + J2W</a:t>
            </a:r>
            <a:endParaRPr lang="en-US" sz="1500"/>
          </a:p>
        </p:txBody>
      </p:sp>
      <p:sp>
        <p:nvSpPr>
          <p:cNvPr id="18" name="Text 8"/>
          <p:cNvSpPr txBox="1"/>
          <p:nvPr/>
        </p:nvSpPr>
        <p:spPr>
          <a:xfrm>
            <a:off x="5848502" y="1333195"/>
            <a:ext cx="2857500" cy="286207"/>
          </a:xfrm>
          <a:prstGeom prst="rect">
            <a:avLst/>
          </a:prstGeom>
          <a:noFill/>
          <a:ln/>
        </p:spPr>
        <p:txBody>
          <a:bodyPr wrap="square" lIns="0" tIns="0" rIns="0" bIns="0" rtlCol="0" anchor="ctr"/>
          <a:lstStyle/>
          <a:p>
            <a:pPr marL="0" indent="0" algn="ctr">
              <a:buNone/>
            </a:pPr>
            <a:r>
              <a:rPr lang="en-US" sz="1500" b="1">
                <a:solidFill>
                  <a:srgbClr val="64748B"/>
                </a:solidFill>
                <a:latin typeface="Oswald" pitchFamily="34" charset="0"/>
                <a:ea typeface="Oswald" pitchFamily="34" charset="-122"/>
                <a:cs typeface="Oswald" pitchFamily="34" charset="-120"/>
              </a:rPr>
              <a:t>Big 4 / Top IT SIs</a:t>
            </a:r>
            <a:endParaRPr lang="en-US" sz="1500"/>
          </a:p>
        </p:txBody>
      </p:sp>
      <p:sp>
        <p:nvSpPr>
          <p:cNvPr id="19" name="Text 9"/>
          <p:cNvSpPr txBox="1"/>
          <p:nvPr/>
        </p:nvSpPr>
        <p:spPr>
          <a:xfrm>
            <a:off x="8706002" y="1333195"/>
            <a:ext cx="2876702" cy="286207"/>
          </a:xfrm>
          <a:prstGeom prst="rect">
            <a:avLst/>
          </a:prstGeom>
          <a:noFill/>
          <a:ln/>
        </p:spPr>
        <p:txBody>
          <a:bodyPr wrap="square" lIns="0" tIns="0" rIns="0" bIns="0" rtlCol="0" anchor="ctr"/>
          <a:lstStyle/>
          <a:p>
            <a:pPr marL="0" indent="0" algn="ctr">
              <a:buNone/>
            </a:pPr>
            <a:r>
              <a:rPr lang="en-US" sz="1500" b="1">
                <a:solidFill>
                  <a:srgbClr val="64748B"/>
                </a:solidFill>
                <a:latin typeface="Oswald" pitchFamily="34" charset="0"/>
                <a:ea typeface="Oswald" pitchFamily="34" charset="-122"/>
                <a:cs typeface="Oswald" pitchFamily="34" charset="-120"/>
              </a:rPr>
              <a:t>Staffing Agencies</a:t>
            </a:r>
            <a:endParaRPr lang="en-US" sz="1500"/>
          </a:p>
        </p:txBody>
      </p:sp>
      <p:sp>
        <p:nvSpPr>
          <p:cNvPr id="20" name="Text 10"/>
          <p:cNvSpPr txBox="1"/>
          <p:nvPr/>
        </p:nvSpPr>
        <p:spPr>
          <a:xfrm>
            <a:off x="609905" y="19906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ROI &amp; Outcome Model</a:t>
            </a:r>
            <a:endParaRPr lang="en-US" sz="1000"/>
          </a:p>
        </p:txBody>
      </p:sp>
      <p:sp>
        <p:nvSpPr>
          <p:cNvPr id="21" name="Text 11"/>
          <p:cNvSpPr txBox="1"/>
          <p:nvPr/>
        </p:nvSpPr>
        <p:spPr>
          <a:xfrm>
            <a:off x="2895905" y="18068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Outcome-driven from Day 1 - aligned to your milestones, CXO ROI expectations &amp; project KPIs</a:t>
            </a:r>
            <a:endParaRPr lang="en-US" sz="1000"/>
          </a:p>
        </p:txBody>
      </p:sp>
      <p:sp>
        <p:nvSpPr>
          <p:cNvPr id="22" name="Text 12"/>
          <p:cNvSpPr txBox="1"/>
          <p:nvPr/>
        </p:nvSpPr>
        <p:spPr>
          <a:xfrm>
            <a:off x="6038698" y="18068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Heavy retainers + longer payback cycles. High technical debt risk on failed transformations</a:t>
            </a:r>
            <a:endParaRPr lang="en-US" sz="1000"/>
          </a:p>
        </p:txBody>
      </p:sp>
      <p:sp>
        <p:nvSpPr>
          <p:cNvPr id="23" name="Text 13"/>
          <p:cNvSpPr txBox="1"/>
          <p:nvPr/>
        </p:nvSpPr>
        <p:spPr>
          <a:xfrm>
            <a:off x="8896198" y="1893722"/>
            <a:ext cx="2496312"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Headcount model only. Zero delivery ownership or outcome accountability</a:t>
            </a:r>
            <a:endParaRPr lang="en-US" sz="1000"/>
          </a:p>
        </p:txBody>
      </p:sp>
      <p:sp>
        <p:nvSpPr>
          <p:cNvPr id="24" name="Text 14"/>
          <p:cNvSpPr txBox="1"/>
          <p:nvPr/>
        </p:nvSpPr>
        <p:spPr>
          <a:xfrm>
            <a:off x="609905" y="27907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Time-To-Value</a:t>
            </a:r>
            <a:endParaRPr lang="en-US" sz="1000"/>
          </a:p>
        </p:txBody>
      </p:sp>
      <p:sp>
        <p:nvSpPr>
          <p:cNvPr id="25" name="Text 15"/>
          <p:cNvSpPr txBox="1"/>
          <p:nvPr/>
        </p:nvSpPr>
        <p:spPr>
          <a:xfrm>
            <a:off x="2895905" y="26069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Production-ready Gen &amp; Agentic AI PoCs in weeks via 50+ accelerators across SAP, Oracle, ServiceNow &amp; more</a:t>
            </a:r>
            <a:endParaRPr lang="en-US" sz="1000"/>
          </a:p>
        </p:txBody>
      </p:sp>
      <p:sp>
        <p:nvSpPr>
          <p:cNvPr id="26" name="Text 16"/>
          <p:cNvSpPr txBox="1"/>
          <p:nvPr/>
        </p:nvSpPr>
        <p:spPr>
          <a:xfrm>
            <a:off x="6038698" y="26069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Lengthy consulting cycles with SI-driven models - higher costs &amp; slower results</a:t>
            </a:r>
            <a:endParaRPr lang="en-US" sz="1000"/>
          </a:p>
        </p:txBody>
      </p:sp>
      <p:sp>
        <p:nvSpPr>
          <p:cNvPr id="27" name="Text 17"/>
          <p:cNvSpPr txBox="1"/>
          <p:nvPr/>
        </p:nvSpPr>
        <p:spPr>
          <a:xfrm>
            <a:off x="8896198" y="27806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28" name="Text 18"/>
          <p:cNvSpPr txBox="1"/>
          <p:nvPr/>
        </p:nvSpPr>
        <p:spPr>
          <a:xfrm>
            <a:off x="609905" y="35908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AI / Data Governance</a:t>
            </a:r>
            <a:endParaRPr lang="en-US" sz="1000"/>
          </a:p>
        </p:txBody>
      </p:sp>
      <p:sp>
        <p:nvSpPr>
          <p:cNvPr id="29" name="Text 19"/>
          <p:cNvSpPr txBox="1"/>
          <p:nvPr/>
        </p:nvSpPr>
        <p:spPr>
          <a:xfrm>
            <a:off x="2895905" y="3321101"/>
            <a:ext cx="2762402" cy="6958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Pre-built guardrails. Mission-critical delivery in regulated industries (Fortune 500 MedTech). Data stays in your environment</a:t>
            </a:r>
            <a:endParaRPr lang="en-US" sz="1000"/>
          </a:p>
        </p:txBody>
      </p:sp>
      <p:sp>
        <p:nvSpPr>
          <p:cNvPr id="30" name="Text 20"/>
          <p:cNvSpPr txBox="1"/>
          <p:nvPr/>
        </p:nvSpPr>
        <p:spPr>
          <a:xfrm>
            <a:off x="6038698" y="34070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Claims excellence, but multiple public incidents (e.g. Deloitte AU govt penalties) undermine credibility</a:t>
            </a:r>
            <a:endParaRPr lang="en-US" sz="1000"/>
          </a:p>
        </p:txBody>
      </p:sp>
      <p:sp>
        <p:nvSpPr>
          <p:cNvPr id="31" name="Text 21"/>
          <p:cNvSpPr txBox="1"/>
          <p:nvPr/>
        </p:nvSpPr>
        <p:spPr>
          <a:xfrm>
            <a:off x="8896198" y="35807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32" name="Text 22"/>
          <p:cNvSpPr txBox="1"/>
          <p:nvPr/>
        </p:nvSpPr>
        <p:spPr>
          <a:xfrm>
            <a:off x="609905" y="43909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AI OPEX Optimisation</a:t>
            </a:r>
            <a:endParaRPr lang="en-US" sz="1000"/>
          </a:p>
        </p:txBody>
      </p:sp>
      <p:sp>
        <p:nvSpPr>
          <p:cNvPr id="33" name="Text 23"/>
          <p:cNvSpPr txBox="1"/>
          <p:nvPr/>
        </p:nvSpPr>
        <p:spPr>
          <a:xfrm>
            <a:off x="2895905" y="42071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30-40% reduction in AI OPEX via Query Routing, Semantic Caching, Precision RAG &amp; in-house SLMs</a:t>
            </a:r>
            <a:endParaRPr lang="en-US" sz="1000"/>
          </a:p>
        </p:txBody>
      </p:sp>
      <p:sp>
        <p:nvSpPr>
          <p:cNvPr id="34" name="Text 24"/>
          <p:cNvSpPr txBox="1"/>
          <p:nvPr/>
        </p:nvSpPr>
        <p:spPr>
          <a:xfrm>
            <a:off x="6038698" y="4294022"/>
            <a:ext cx="2477110"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SI </a:t>
            </a:r>
            <a:r>
              <a:rPr lang="en-US" sz="1000" err="1">
                <a:solidFill>
                  <a:srgbClr val="475569"/>
                </a:solidFill>
                <a:latin typeface="Raleway" pitchFamily="34" charset="0"/>
                <a:ea typeface="Raleway" pitchFamily="34" charset="-122"/>
                <a:cs typeface="Raleway" pitchFamily="34" charset="-120"/>
              </a:rPr>
              <a:t>incentivised</a:t>
            </a:r>
            <a:r>
              <a:rPr lang="en-US" sz="1000">
                <a:solidFill>
                  <a:srgbClr val="475569"/>
                </a:solidFill>
                <a:latin typeface="Raleway" pitchFamily="34" charset="0"/>
                <a:ea typeface="Raleway" pitchFamily="34" charset="-122"/>
                <a:cs typeface="Raleway" pitchFamily="34" charset="-120"/>
              </a:rPr>
              <a:t> to </a:t>
            </a:r>
            <a:r>
              <a:rPr lang="en-US" sz="1000" err="1">
                <a:solidFill>
                  <a:srgbClr val="475569"/>
                </a:solidFill>
                <a:latin typeface="Raleway" pitchFamily="34" charset="0"/>
                <a:ea typeface="Raleway" pitchFamily="34" charset="-122"/>
                <a:cs typeface="Raleway" pitchFamily="34" charset="-120"/>
              </a:rPr>
              <a:t>maximise</a:t>
            </a:r>
            <a:r>
              <a:rPr lang="en-US" sz="1000">
                <a:solidFill>
                  <a:srgbClr val="475569"/>
                </a:solidFill>
                <a:latin typeface="Raleway" pitchFamily="34" charset="0"/>
                <a:ea typeface="Raleway" pitchFamily="34" charset="-122"/>
                <a:cs typeface="Raleway" pitchFamily="34" charset="-120"/>
              </a:rPr>
              <a:t> </a:t>
            </a:r>
            <a:r>
              <a:rPr lang="en-US" sz="1000" err="1">
                <a:solidFill>
                  <a:srgbClr val="475569"/>
                </a:solidFill>
                <a:latin typeface="Raleway" pitchFamily="34" charset="0"/>
                <a:ea typeface="Raleway" pitchFamily="34" charset="-122"/>
                <a:cs typeface="Raleway" pitchFamily="34" charset="-120"/>
              </a:rPr>
              <a:t>licences</a:t>
            </a:r>
            <a:r>
              <a:rPr lang="en-US" sz="1000">
                <a:solidFill>
                  <a:srgbClr val="475569"/>
                </a:solidFill>
                <a:latin typeface="Raleway" pitchFamily="34" charset="0"/>
                <a:ea typeface="Raleway" pitchFamily="34" charset="-122"/>
                <a:cs typeface="Raleway" pitchFamily="34" charset="-120"/>
              </a:rPr>
              <a:t> &amp; tokens - not to </a:t>
            </a:r>
            <a:r>
              <a:rPr lang="en-US" sz="1000" err="1">
                <a:solidFill>
                  <a:srgbClr val="475569"/>
                </a:solidFill>
                <a:latin typeface="Raleway" pitchFamily="34" charset="0"/>
                <a:ea typeface="Raleway" pitchFamily="34" charset="-122"/>
                <a:cs typeface="Raleway" pitchFamily="34" charset="-120"/>
              </a:rPr>
              <a:t>optimise</a:t>
            </a:r>
            <a:r>
              <a:rPr lang="en-US" sz="1000">
                <a:solidFill>
                  <a:srgbClr val="475569"/>
                </a:solidFill>
                <a:latin typeface="Raleway" pitchFamily="34" charset="0"/>
                <a:ea typeface="Raleway" pitchFamily="34" charset="-122"/>
                <a:cs typeface="Raleway" pitchFamily="34" charset="-120"/>
              </a:rPr>
              <a:t> your cost</a:t>
            </a:r>
            <a:endParaRPr lang="en-US" sz="1000"/>
          </a:p>
        </p:txBody>
      </p:sp>
      <p:sp>
        <p:nvSpPr>
          <p:cNvPr id="35" name="Text 25"/>
          <p:cNvSpPr txBox="1"/>
          <p:nvPr/>
        </p:nvSpPr>
        <p:spPr>
          <a:xfrm>
            <a:off x="8896198" y="43808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36" name="Text 26"/>
          <p:cNvSpPr txBox="1"/>
          <p:nvPr/>
        </p:nvSpPr>
        <p:spPr>
          <a:xfrm>
            <a:off x="609905" y="5191049"/>
            <a:ext cx="2143354"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Talent &amp; Managed Services</a:t>
            </a:r>
            <a:endParaRPr lang="en-US" sz="1000"/>
          </a:p>
        </p:txBody>
      </p:sp>
      <p:sp>
        <p:nvSpPr>
          <p:cNvPr id="37" name="Text 27"/>
          <p:cNvSpPr txBox="1"/>
          <p:nvPr/>
        </p:nvSpPr>
        <p:spPr>
          <a:xfrm>
            <a:off x="2895905" y="50072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7,200+ in-house consultants · 300+ recruiters · 2 proprietary hiring platforms · No subcontracting</a:t>
            </a:r>
            <a:endParaRPr lang="en-US" sz="1000"/>
          </a:p>
        </p:txBody>
      </p:sp>
      <p:sp>
        <p:nvSpPr>
          <p:cNvPr id="38" name="Text 28"/>
          <p:cNvSpPr txBox="1"/>
          <p:nvPr/>
        </p:nvSpPr>
        <p:spPr>
          <a:xfrm>
            <a:off x="6038698" y="5094122"/>
            <a:ext cx="2477110"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Frequently subcontract. No proprietary hiring platforms</a:t>
            </a:r>
            <a:endParaRPr lang="en-US" sz="1000"/>
          </a:p>
        </p:txBody>
      </p:sp>
      <p:sp>
        <p:nvSpPr>
          <p:cNvPr id="39" name="Text 29"/>
          <p:cNvSpPr txBox="1"/>
          <p:nvPr/>
        </p:nvSpPr>
        <p:spPr>
          <a:xfrm>
            <a:off x="8896198" y="5094122"/>
            <a:ext cx="2496312"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Lacks SME depth &amp; governance. Outcome ownership absent</a:t>
            </a:r>
            <a:endParaRPr lang="en-US" sz="1000"/>
          </a:p>
        </p:txBody>
      </p:sp>
      <p:sp>
        <p:nvSpPr>
          <p:cNvPr id="40" name="Shape 30"/>
          <p:cNvSpPr/>
          <p:nvPr/>
        </p:nvSpPr>
        <p:spPr>
          <a:xfrm>
            <a:off x="2315261" y="5762549"/>
            <a:ext cx="9144" cy="828446"/>
          </a:xfrm>
          <a:prstGeom prst="rect">
            <a:avLst/>
          </a:prstGeom>
          <a:solidFill>
            <a:srgbClr val="E2E8F0"/>
          </a:solidFill>
          <a:ln w="12700">
            <a:solidFill>
              <a:srgbClr val="E2E8F0">
                <a:alpha val="0"/>
              </a:srgbClr>
            </a:solidFill>
            <a:prstDash val="solid"/>
          </a:ln>
        </p:spPr>
        <p:txBody>
          <a:bodyPr/>
          <a:lstStyle/>
          <a:p>
            <a:endParaRPr lang="en-US"/>
          </a:p>
        </p:txBody>
      </p:sp>
      <p:sp>
        <p:nvSpPr>
          <p:cNvPr id="41" name="Text 31"/>
          <p:cNvSpPr txBox="1"/>
          <p:nvPr/>
        </p:nvSpPr>
        <p:spPr>
          <a:xfrm>
            <a:off x="1185062" y="6072530"/>
            <a:ext cx="1043330" cy="210312"/>
          </a:xfrm>
          <a:prstGeom prst="rect">
            <a:avLst/>
          </a:prstGeom>
          <a:noFill/>
          <a:ln/>
        </p:spPr>
        <p:txBody>
          <a:bodyPr wrap="square" lIns="0" tIns="0" rIns="0" bIns="0" rtlCol="0" anchor="ctr"/>
          <a:lstStyle/>
          <a:p>
            <a:pPr marL="0" indent="0" algn="l">
              <a:buNone/>
            </a:pPr>
            <a:r>
              <a:rPr lang="en-US" sz="1100" b="1" kern="0" spc="56">
                <a:solidFill>
                  <a:srgbClr val="64748B"/>
                </a:solidFill>
                <a:latin typeface="Oswald" pitchFamily="34" charset="0"/>
                <a:ea typeface="Oswald" pitchFamily="34" charset="-122"/>
                <a:cs typeface="Oswald" pitchFamily="34" charset="-120"/>
              </a:rPr>
              <a:t> KEY METRICS</a:t>
            </a:r>
            <a:endParaRPr lang="en-US" sz="1100"/>
          </a:p>
        </p:txBody>
      </p:sp>
      <p:pic>
        <p:nvPicPr>
          <p:cNvPr id="42" name="Image 8" descr="gen-dedup-0bed6a635fcb1d23b7a23c5aaedf5133.png"/>
          <p:cNvPicPr>
            <a:picLocks noChangeAspect="1"/>
          </p:cNvPicPr>
          <p:nvPr/>
        </p:nvPicPr>
        <p:blipFill>
          <a:blip r:embed="rId8"/>
          <a:srcRect l="-3526" r="-3526"/>
          <a:stretch/>
        </p:blipFill>
        <p:spPr>
          <a:xfrm>
            <a:off x="913486" y="6118250"/>
            <a:ext cx="152705" cy="142646"/>
          </a:xfrm>
          <a:prstGeom prst="rect">
            <a:avLst/>
          </a:prstGeom>
        </p:spPr>
      </p:pic>
      <p:sp>
        <p:nvSpPr>
          <p:cNvPr id="43" name="Text 32"/>
          <p:cNvSpPr txBox="1"/>
          <p:nvPr/>
        </p:nvSpPr>
        <p:spPr>
          <a:xfrm>
            <a:off x="2506370"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5,500</a:t>
            </a:r>
            <a:endParaRPr lang="en-US" sz="1800"/>
          </a:p>
        </p:txBody>
      </p:sp>
      <p:sp>
        <p:nvSpPr>
          <p:cNvPr id="44" name="Text 33"/>
          <p:cNvSpPr txBox="1"/>
          <p:nvPr/>
        </p:nvSpPr>
        <p:spPr>
          <a:xfrm>
            <a:off x="2506370"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In-house Consultants</a:t>
            </a:r>
            <a:endParaRPr lang="en-US" sz="800"/>
          </a:p>
        </p:txBody>
      </p:sp>
      <p:pic>
        <p:nvPicPr>
          <p:cNvPr id="45" name="Image 9" descr="gen-dedup-bc499f386c10f37c45470adccc65c0cd.png"/>
          <p:cNvPicPr>
            <a:picLocks noChangeAspect="1"/>
          </p:cNvPicPr>
          <p:nvPr/>
        </p:nvPicPr>
        <p:blipFill>
          <a:blip r:embed="rId9"/>
          <a:srcRect t="-2165" b="-2165"/>
          <a:stretch/>
        </p:blipFill>
        <p:spPr>
          <a:xfrm>
            <a:off x="4225442" y="6034126"/>
            <a:ext cx="9144" cy="286207"/>
          </a:xfrm>
          <a:prstGeom prst="rect">
            <a:avLst/>
          </a:prstGeom>
        </p:spPr>
      </p:pic>
      <p:sp>
        <p:nvSpPr>
          <p:cNvPr id="46" name="Text 34"/>
          <p:cNvSpPr txBox="1"/>
          <p:nvPr/>
        </p:nvSpPr>
        <p:spPr>
          <a:xfrm>
            <a:off x="4321454" y="5981090"/>
            <a:ext cx="1638605" cy="228600"/>
          </a:xfrm>
          <a:prstGeom prst="rect">
            <a:avLst/>
          </a:prstGeom>
          <a:noFill/>
          <a:ln/>
        </p:spPr>
        <p:txBody>
          <a:bodyPr wrap="square" lIns="0" tIns="0" rIns="0" bIns="0" rtlCol="0" anchor="ctr"/>
          <a:lstStyle/>
          <a:p>
            <a:pPr marL="0" indent="0" algn="ctr">
              <a:buNone/>
            </a:pPr>
            <a:r>
              <a:rPr lang="en-US" b="1">
                <a:solidFill>
                  <a:srgbClr val="2A9D8F"/>
                </a:solidFill>
                <a:latin typeface="Oswald" pitchFamily="34" charset="0"/>
                <a:ea typeface="Oswald" pitchFamily="34" charset="-122"/>
                <a:cs typeface="Oswald" pitchFamily="34" charset="-120"/>
              </a:rPr>
              <a:t>6</a:t>
            </a:r>
            <a:r>
              <a:rPr lang="en-US" sz="1800" b="1">
                <a:solidFill>
                  <a:srgbClr val="2A9D8F"/>
                </a:solidFill>
                <a:latin typeface="Oswald" pitchFamily="34" charset="0"/>
                <a:ea typeface="Oswald" pitchFamily="34" charset="-122"/>
                <a:cs typeface="Oswald" pitchFamily="34" charset="-120"/>
              </a:rPr>
              <a:t>0+</a:t>
            </a:r>
            <a:endParaRPr lang="en-US" sz="1800"/>
          </a:p>
        </p:txBody>
      </p:sp>
      <p:sp>
        <p:nvSpPr>
          <p:cNvPr id="47" name="Text 35"/>
          <p:cNvSpPr txBox="1"/>
          <p:nvPr/>
        </p:nvSpPr>
        <p:spPr>
          <a:xfrm>
            <a:off x="4321454"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AI Accelerators</a:t>
            </a:r>
            <a:endParaRPr lang="en-US" sz="800"/>
          </a:p>
        </p:txBody>
      </p:sp>
      <p:pic>
        <p:nvPicPr>
          <p:cNvPr id="48" name="Image 10" descr="gen-dedup-bc499f386c10f37c45470adccc65c0cd.png"/>
          <p:cNvPicPr>
            <a:picLocks noChangeAspect="1"/>
          </p:cNvPicPr>
          <p:nvPr/>
        </p:nvPicPr>
        <p:blipFill>
          <a:blip r:embed="rId9"/>
          <a:srcRect t="-2165" b="-2165"/>
          <a:stretch/>
        </p:blipFill>
        <p:spPr>
          <a:xfrm>
            <a:off x="6040526" y="6034126"/>
            <a:ext cx="9144" cy="286207"/>
          </a:xfrm>
          <a:prstGeom prst="rect">
            <a:avLst/>
          </a:prstGeom>
        </p:spPr>
      </p:pic>
      <p:sp>
        <p:nvSpPr>
          <p:cNvPr id="49" name="Text 36"/>
          <p:cNvSpPr txBox="1"/>
          <p:nvPr/>
        </p:nvSpPr>
        <p:spPr>
          <a:xfrm>
            <a:off x="6137453"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30-40%</a:t>
            </a:r>
            <a:endParaRPr lang="en-US" sz="1800"/>
          </a:p>
        </p:txBody>
      </p:sp>
      <p:sp>
        <p:nvSpPr>
          <p:cNvPr id="50" name="Text 37"/>
          <p:cNvSpPr txBox="1"/>
          <p:nvPr/>
        </p:nvSpPr>
        <p:spPr>
          <a:xfrm>
            <a:off x="6137453"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AI OPEX Reduction</a:t>
            </a:r>
            <a:endParaRPr lang="en-US" sz="800"/>
          </a:p>
        </p:txBody>
      </p:sp>
      <p:pic>
        <p:nvPicPr>
          <p:cNvPr id="51" name="Image 11" descr="gen-dedup-bc499f386c10f37c45470adccc65c0cd.png"/>
          <p:cNvPicPr>
            <a:picLocks noChangeAspect="1"/>
          </p:cNvPicPr>
          <p:nvPr/>
        </p:nvPicPr>
        <p:blipFill>
          <a:blip r:embed="rId9"/>
          <a:srcRect t="-2165" b="-2165"/>
          <a:stretch/>
        </p:blipFill>
        <p:spPr>
          <a:xfrm>
            <a:off x="7856525" y="6034126"/>
            <a:ext cx="9144" cy="286207"/>
          </a:xfrm>
          <a:prstGeom prst="rect">
            <a:avLst/>
          </a:prstGeom>
        </p:spPr>
      </p:pic>
      <p:sp>
        <p:nvSpPr>
          <p:cNvPr id="52" name="Text 38"/>
          <p:cNvSpPr txBox="1"/>
          <p:nvPr/>
        </p:nvSpPr>
        <p:spPr>
          <a:xfrm>
            <a:off x="7952537" y="5981090"/>
            <a:ext cx="1638605" cy="228600"/>
          </a:xfrm>
          <a:prstGeom prst="rect">
            <a:avLst/>
          </a:prstGeom>
          <a:noFill/>
          <a:ln/>
        </p:spPr>
        <p:txBody>
          <a:bodyPr wrap="square" lIns="0" tIns="0" rIns="0" bIns="0" rtlCol="0" anchor="ctr"/>
          <a:lstStyle/>
          <a:p>
            <a:pPr marL="0" indent="0" algn="ctr">
              <a:buNone/>
            </a:pPr>
            <a:r>
              <a:rPr lang="en-US" sz="1800" b="1">
                <a:solidFill>
                  <a:srgbClr val="2A9D8F"/>
                </a:solidFill>
                <a:latin typeface="Oswald" pitchFamily="34" charset="0"/>
                <a:ea typeface="Oswald" pitchFamily="34" charset="-122"/>
                <a:cs typeface="Oswald" pitchFamily="34" charset="-120"/>
              </a:rPr>
              <a:t>Weeks</a:t>
            </a:r>
            <a:endParaRPr lang="en-US" sz="1800"/>
          </a:p>
        </p:txBody>
      </p:sp>
      <p:sp>
        <p:nvSpPr>
          <p:cNvPr id="53" name="Text 39"/>
          <p:cNvSpPr txBox="1"/>
          <p:nvPr/>
        </p:nvSpPr>
        <p:spPr>
          <a:xfrm>
            <a:off x="7952537"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PoC to Production</a:t>
            </a:r>
            <a:endParaRPr lang="en-US" sz="800"/>
          </a:p>
        </p:txBody>
      </p:sp>
      <p:pic>
        <p:nvPicPr>
          <p:cNvPr id="54" name="Image 12" descr="gen-dedup-bc499f386c10f37c45470adccc65c0cd.png"/>
          <p:cNvPicPr>
            <a:picLocks noChangeAspect="1"/>
          </p:cNvPicPr>
          <p:nvPr/>
        </p:nvPicPr>
        <p:blipFill>
          <a:blip r:embed="rId9"/>
          <a:srcRect t="-2165" b="-2165"/>
          <a:stretch/>
        </p:blipFill>
        <p:spPr>
          <a:xfrm>
            <a:off x="9671609" y="6034126"/>
            <a:ext cx="9144" cy="286207"/>
          </a:xfrm>
          <a:prstGeom prst="rect">
            <a:avLst/>
          </a:prstGeom>
        </p:spPr>
      </p:pic>
      <p:sp>
        <p:nvSpPr>
          <p:cNvPr id="55" name="Text 40"/>
          <p:cNvSpPr txBox="1"/>
          <p:nvPr/>
        </p:nvSpPr>
        <p:spPr>
          <a:xfrm>
            <a:off x="9767621"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0</a:t>
            </a:r>
            <a:endParaRPr lang="en-US" sz="1800"/>
          </a:p>
        </p:txBody>
      </p:sp>
      <p:sp>
        <p:nvSpPr>
          <p:cNvPr id="56" name="Text 41"/>
          <p:cNvSpPr txBox="1"/>
          <p:nvPr/>
        </p:nvSpPr>
        <p:spPr>
          <a:xfrm>
            <a:off x="9767621"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Subcontracting</a:t>
            </a:r>
            <a:endParaRPr lang="en-US" sz="800"/>
          </a:p>
        </p:txBody>
      </p:sp>
    </p:spTree>
    <p:extLst>
      <p:ext uri="{BB962C8B-B14F-4D97-AF65-F5344CB8AC3E}">
        <p14:creationId xmlns:p14="http://schemas.microsoft.com/office/powerpoint/2010/main" val="3072768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334195" y="-952805"/>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4ab2116e971fbb9400d0e99205bd0390.png"/>
          <p:cNvPicPr>
            <a:picLocks noChangeAspect="1"/>
          </p:cNvPicPr>
          <p:nvPr/>
        </p:nvPicPr>
        <p:blipFill>
          <a:blip r:embed="rId3">
            <a:alphaModFix amt="5000"/>
          </a:blip>
          <a:srcRect/>
          <a:stretch/>
        </p:blipFill>
        <p:spPr>
          <a:xfrm>
            <a:off x="10001707" y="5238598"/>
            <a:ext cx="1904695" cy="1904695"/>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sp>
        <p:nvSpPr>
          <p:cNvPr id="8" name="Text 3"/>
          <p:cNvSpPr txBox="1"/>
          <p:nvPr/>
        </p:nvSpPr>
        <p:spPr>
          <a:xfrm>
            <a:off x="381305" y="1143000"/>
            <a:ext cx="2382012" cy="1524305"/>
          </a:xfrm>
          <a:prstGeom prst="rect">
            <a:avLst/>
          </a:prstGeom>
          <a:noFill/>
          <a:ln/>
        </p:spPr>
        <p:txBody>
          <a:bodyPr wrap="none" lIns="0" tIns="0" rIns="0" bIns="0" rtlCol="0" anchor="ctr"/>
          <a:lstStyle/>
          <a:p>
            <a:pPr marL="0" indent="0" algn="l">
              <a:buNone/>
            </a:pPr>
            <a:r>
              <a:rPr lang="en-US" sz="12000" b="1">
                <a:solidFill>
                  <a:srgbClr val="F3F4F6"/>
                </a:solidFill>
                <a:latin typeface="Oswald" pitchFamily="34" charset="0"/>
                <a:ea typeface="Oswald" pitchFamily="34" charset="-122"/>
                <a:cs typeface="Oswald" pitchFamily="34" charset="-120"/>
              </a:rPr>
              <a:t>02</a:t>
            </a:r>
            <a:endParaRPr lang="en-US" sz="12000"/>
          </a:p>
        </p:txBody>
      </p:sp>
      <p:pic>
        <p:nvPicPr>
          <p:cNvPr id="11" name="Image 3" descr="gen-dedup-90395934058aa4b7c1bff00d7e70c0a4.png"/>
          <p:cNvPicPr>
            <a:picLocks noChangeAspect="1"/>
          </p:cNvPicPr>
          <p:nvPr/>
        </p:nvPicPr>
        <p:blipFill>
          <a:blip r:embed="rId6"/>
          <a:srcRect l="-416" r="-416"/>
          <a:stretch/>
        </p:blipFill>
        <p:spPr>
          <a:xfrm>
            <a:off x="1143000" y="2428646"/>
            <a:ext cx="57607" cy="714146"/>
          </a:xfrm>
          <a:prstGeom prst="rect">
            <a:avLst/>
          </a:prstGeom>
        </p:spPr>
      </p:pic>
      <p:sp>
        <p:nvSpPr>
          <p:cNvPr id="12" name="Text 6"/>
          <p:cNvSpPr txBox="1"/>
          <p:nvPr/>
        </p:nvSpPr>
        <p:spPr>
          <a:xfrm>
            <a:off x="1429207" y="2333549"/>
            <a:ext cx="9525305" cy="762610"/>
          </a:xfrm>
          <a:prstGeom prst="rect">
            <a:avLst/>
          </a:prstGeom>
          <a:noFill/>
          <a:ln/>
        </p:spPr>
        <p:txBody>
          <a:bodyPr wrap="none" lIns="0" tIns="0" rIns="0" bIns="0" rtlCol="0" anchor="ctr"/>
          <a:lstStyle/>
          <a:p>
            <a:pPr marL="0" indent="0" algn="l">
              <a:buNone/>
            </a:pPr>
            <a:r>
              <a:rPr lang="en-US" sz="5400" b="1" kern="0" spc="108">
                <a:solidFill>
                  <a:srgbClr val="111827"/>
                </a:solidFill>
                <a:latin typeface="Oswald" pitchFamily="34" charset="0"/>
                <a:ea typeface="Oswald" pitchFamily="34" charset="-122"/>
                <a:cs typeface="Oswald" pitchFamily="34" charset="-120"/>
              </a:rPr>
              <a:t>AI PODS</a:t>
            </a:r>
            <a:endParaRPr lang="en-US" sz="5400"/>
          </a:p>
        </p:txBody>
      </p:sp>
      <p:sp>
        <p:nvSpPr>
          <p:cNvPr id="13" name="Text 7"/>
          <p:cNvSpPr txBox="1"/>
          <p:nvPr/>
        </p:nvSpPr>
        <p:spPr>
          <a:xfrm>
            <a:off x="1429207" y="3333902"/>
            <a:ext cx="10687507" cy="352958"/>
          </a:xfrm>
          <a:prstGeom prst="rect">
            <a:avLst/>
          </a:prstGeom>
          <a:noFill/>
          <a:ln/>
        </p:spPr>
        <p:txBody>
          <a:bodyPr wrap="none" lIns="0" tIns="0" rIns="0" bIns="0" rtlCol="0" anchor="ctr"/>
          <a:lstStyle/>
          <a:p>
            <a:pPr marL="0" indent="0" algn="l">
              <a:buNone/>
            </a:pPr>
            <a:r>
              <a:rPr lang="en-US" sz="2100">
                <a:solidFill>
                  <a:srgbClr val="2A9D8F"/>
                </a:solidFill>
                <a:latin typeface="Raleway" pitchFamily="34" charset="0"/>
                <a:ea typeface="Raleway" pitchFamily="34" charset="-122"/>
                <a:cs typeface="Raleway" pitchFamily="34" charset="-120"/>
              </a:rPr>
              <a:t>AI-first engineering pods - governed, certified, and compounding from Day 1</a:t>
            </a:r>
            <a:endParaRPr lang="en-US" sz="2100"/>
          </a:p>
        </p:txBody>
      </p:sp>
      <p:sp>
        <p:nvSpPr>
          <p:cNvPr id="14" name="Text 8"/>
          <p:cNvSpPr txBox="1"/>
          <p:nvPr/>
        </p:nvSpPr>
        <p:spPr>
          <a:xfrm>
            <a:off x="1429207" y="4143146"/>
            <a:ext cx="9335110" cy="5532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This is a fully governed, outcome-bound delivery model-not traditional staff augmentation. We embed complete engineering units that integrate directly into your sprint cycles, governed by strict SLAs and continuous AI upskilling.</a:t>
            </a:r>
            <a:endParaRPr lang="en-US" sz="1300"/>
          </a:p>
        </p:txBody>
      </p:sp>
      <p:pic>
        <p:nvPicPr>
          <p:cNvPr id="15" name="Image 4" descr="gen-dedup-818c62191cf4a66fb5704c7f87e3fedf.png"/>
          <p:cNvPicPr>
            <a:picLocks noChangeAspect="1"/>
          </p:cNvPicPr>
          <p:nvPr/>
        </p:nvPicPr>
        <p:blipFill>
          <a:blip r:embed="rId7"/>
          <a:srcRect l="-166" r="-166"/>
          <a:stretch/>
        </p:blipFill>
        <p:spPr>
          <a:xfrm>
            <a:off x="1429207" y="5143500"/>
            <a:ext cx="1933956" cy="418795"/>
          </a:xfrm>
          <a:prstGeom prst="rect">
            <a:avLst/>
          </a:prstGeom>
        </p:spPr>
      </p:pic>
      <p:sp>
        <p:nvSpPr>
          <p:cNvPr id="16" name="Shape 9"/>
          <p:cNvSpPr/>
          <p:nvPr/>
        </p:nvSpPr>
        <p:spPr>
          <a:xfrm>
            <a:off x="1429207" y="5143500"/>
            <a:ext cx="1933956" cy="418795"/>
          </a:xfrm>
          <a:prstGeom prst="roundRect">
            <a:avLst>
              <a:gd name="adj" fmla="val 13755"/>
            </a:avLst>
          </a:prstGeom>
          <a:noFill/>
          <a:ln w="12700">
            <a:solidFill>
              <a:srgbClr val="E5E7EB"/>
            </a:solidFill>
            <a:prstDash val="solid"/>
          </a:ln>
        </p:spPr>
        <p:txBody>
          <a:bodyPr/>
          <a:lstStyle/>
          <a:p>
            <a:endParaRPr lang="en-US"/>
          </a:p>
        </p:txBody>
      </p:sp>
      <p:sp>
        <p:nvSpPr>
          <p:cNvPr id="17" name="Text 10"/>
          <p:cNvSpPr txBox="1"/>
          <p:nvPr/>
        </p:nvSpPr>
        <p:spPr>
          <a:xfrm>
            <a:off x="1653845" y="5143500"/>
            <a:ext cx="14959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 10-day onboarding </a:t>
            </a:r>
            <a:endParaRPr lang="en-US" sz="1100"/>
          </a:p>
        </p:txBody>
      </p:sp>
      <p:pic>
        <p:nvPicPr>
          <p:cNvPr id="18" name="Image 5" descr="gen-dedup-a287ae7abd092c83dc5f899415c51d00.png"/>
          <p:cNvPicPr>
            <a:picLocks noChangeAspect="1"/>
          </p:cNvPicPr>
          <p:nvPr/>
        </p:nvPicPr>
        <p:blipFill>
          <a:blip r:embed="rId8"/>
          <a:srcRect t="-16800" b="-16800"/>
          <a:stretch/>
        </p:blipFill>
        <p:spPr>
          <a:xfrm>
            <a:off x="1657807" y="5277002"/>
            <a:ext cx="114300" cy="152705"/>
          </a:xfrm>
          <a:prstGeom prst="rect">
            <a:avLst/>
          </a:prstGeom>
        </p:spPr>
      </p:pic>
      <p:pic>
        <p:nvPicPr>
          <p:cNvPr id="19" name="Image 6" descr="gen-dedup-0363cb9fbb55bfd8aa96459f99cffd70.png"/>
          <p:cNvPicPr>
            <a:picLocks noChangeAspect="1"/>
          </p:cNvPicPr>
          <p:nvPr/>
        </p:nvPicPr>
        <p:blipFill>
          <a:blip r:embed="rId9"/>
          <a:srcRect l="-260" r="-260"/>
          <a:stretch/>
        </p:blipFill>
        <p:spPr>
          <a:xfrm>
            <a:off x="3510382" y="5143500"/>
            <a:ext cx="1543507" cy="418795"/>
          </a:xfrm>
          <a:prstGeom prst="rect">
            <a:avLst/>
          </a:prstGeom>
        </p:spPr>
      </p:pic>
      <p:sp>
        <p:nvSpPr>
          <p:cNvPr id="20" name="Shape 11"/>
          <p:cNvSpPr/>
          <p:nvPr/>
        </p:nvSpPr>
        <p:spPr>
          <a:xfrm>
            <a:off x="3510382" y="5143500"/>
            <a:ext cx="1543507" cy="418795"/>
          </a:xfrm>
          <a:prstGeom prst="roundRect">
            <a:avLst>
              <a:gd name="adj" fmla="val 13755"/>
            </a:avLst>
          </a:prstGeom>
          <a:noFill/>
          <a:ln w="12700">
            <a:solidFill>
              <a:srgbClr val="E5E7EB"/>
            </a:solidFill>
            <a:prstDash val="solid"/>
          </a:ln>
        </p:spPr>
        <p:txBody>
          <a:bodyPr/>
          <a:lstStyle/>
          <a:p>
            <a:endParaRPr lang="en-US"/>
          </a:p>
        </p:txBody>
      </p:sp>
      <p:sp>
        <p:nvSpPr>
          <p:cNvPr id="21" name="Text 12"/>
          <p:cNvSpPr txBox="1"/>
          <p:nvPr/>
        </p:nvSpPr>
        <p:spPr>
          <a:xfrm>
            <a:off x="3735019" y="5143500"/>
            <a:ext cx="1105510"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 90-day POFU </a:t>
            </a:r>
            <a:endParaRPr lang="en-US" sz="1100"/>
          </a:p>
        </p:txBody>
      </p:sp>
      <p:pic>
        <p:nvPicPr>
          <p:cNvPr id="22" name="Image 7" descr="gen-dedup-c395ac9c840728d6470a4a8b33662e6e.png"/>
          <p:cNvPicPr>
            <a:picLocks noChangeAspect="1"/>
          </p:cNvPicPr>
          <p:nvPr/>
        </p:nvPicPr>
        <p:blipFill>
          <a:blip r:embed="rId10"/>
          <a:srcRect t="-16800" b="-16800"/>
          <a:stretch/>
        </p:blipFill>
        <p:spPr>
          <a:xfrm>
            <a:off x="3738982" y="5277002"/>
            <a:ext cx="114300" cy="152705"/>
          </a:xfrm>
          <a:prstGeom prst="rect">
            <a:avLst/>
          </a:prstGeom>
        </p:spPr>
      </p:pic>
      <p:pic>
        <p:nvPicPr>
          <p:cNvPr id="23" name="Image 8" descr="gen-dedup-fe10f786880821f62e6e2a70ff719369.png"/>
          <p:cNvPicPr>
            <a:picLocks noChangeAspect="1"/>
          </p:cNvPicPr>
          <p:nvPr/>
        </p:nvPicPr>
        <p:blipFill>
          <a:blip r:embed="rId11"/>
          <a:srcRect l="-58" r="-58"/>
          <a:stretch/>
        </p:blipFill>
        <p:spPr>
          <a:xfrm>
            <a:off x="5199278" y="5143500"/>
            <a:ext cx="2619756" cy="418795"/>
          </a:xfrm>
          <a:prstGeom prst="rect">
            <a:avLst/>
          </a:prstGeom>
        </p:spPr>
      </p:pic>
      <p:sp>
        <p:nvSpPr>
          <p:cNvPr id="24" name="Shape 13"/>
          <p:cNvSpPr/>
          <p:nvPr/>
        </p:nvSpPr>
        <p:spPr>
          <a:xfrm>
            <a:off x="5199278" y="5143500"/>
            <a:ext cx="2619756" cy="418795"/>
          </a:xfrm>
          <a:prstGeom prst="roundRect">
            <a:avLst>
              <a:gd name="adj" fmla="val 13755"/>
            </a:avLst>
          </a:prstGeom>
          <a:noFill/>
          <a:ln w="12700">
            <a:solidFill>
              <a:srgbClr val="E5E7EB"/>
            </a:solidFill>
            <a:prstDash val="solid"/>
          </a:ln>
        </p:spPr>
        <p:txBody>
          <a:bodyPr/>
          <a:lstStyle/>
          <a:p>
            <a:endParaRPr lang="en-US"/>
          </a:p>
        </p:txBody>
      </p:sp>
      <p:sp>
        <p:nvSpPr>
          <p:cNvPr id="25" name="Text 14"/>
          <p:cNvSpPr txBox="1"/>
          <p:nvPr/>
        </p:nvSpPr>
        <p:spPr>
          <a:xfrm>
            <a:off x="5423916" y="5143500"/>
            <a:ext cx="21817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 85% sprint completion target </a:t>
            </a:r>
            <a:endParaRPr lang="en-US" sz="1100"/>
          </a:p>
        </p:txBody>
      </p:sp>
      <p:pic>
        <p:nvPicPr>
          <p:cNvPr id="26" name="Image 9" descr="gen-dedup-7637b076e607f7218cdb4973c81f38e6.png"/>
          <p:cNvPicPr>
            <a:picLocks noChangeAspect="1"/>
          </p:cNvPicPr>
          <p:nvPr/>
        </p:nvPicPr>
        <p:blipFill>
          <a:blip r:embed="rId12"/>
          <a:srcRect t="-8450" b="-8450"/>
          <a:stretch/>
        </p:blipFill>
        <p:spPr>
          <a:xfrm>
            <a:off x="5427878" y="5277002"/>
            <a:ext cx="114300" cy="152705"/>
          </a:xfrm>
          <a:prstGeom prst="rect">
            <a:avLst/>
          </a:prstGeom>
        </p:spPr>
      </p:pic>
      <p:pic>
        <p:nvPicPr>
          <p:cNvPr id="27" name="Image 10" descr="gen-dedup-4b04481605890cd5e2948f325621428b.png"/>
          <p:cNvPicPr>
            <a:picLocks noChangeAspect="1"/>
          </p:cNvPicPr>
          <p:nvPr/>
        </p:nvPicPr>
        <p:blipFill>
          <a:blip r:embed="rId13"/>
          <a:srcRect l="-216" r="-216"/>
          <a:stretch/>
        </p:blipFill>
        <p:spPr>
          <a:xfrm>
            <a:off x="7969910" y="5143500"/>
            <a:ext cx="2562149" cy="418795"/>
          </a:xfrm>
          <a:prstGeom prst="rect">
            <a:avLst/>
          </a:prstGeom>
        </p:spPr>
      </p:pic>
      <p:sp>
        <p:nvSpPr>
          <p:cNvPr id="28" name="Shape 15"/>
          <p:cNvSpPr/>
          <p:nvPr/>
        </p:nvSpPr>
        <p:spPr>
          <a:xfrm>
            <a:off x="7969910" y="5143500"/>
            <a:ext cx="2562149" cy="418795"/>
          </a:xfrm>
          <a:prstGeom prst="roundRect">
            <a:avLst>
              <a:gd name="adj" fmla="val 13755"/>
            </a:avLst>
          </a:prstGeom>
          <a:noFill/>
          <a:ln w="12700">
            <a:solidFill>
              <a:srgbClr val="E5E7EB"/>
            </a:solidFill>
            <a:prstDash val="solid"/>
          </a:ln>
        </p:spPr>
        <p:txBody>
          <a:bodyPr/>
          <a:lstStyle/>
          <a:p>
            <a:endParaRPr lang="en-US"/>
          </a:p>
        </p:txBody>
      </p:sp>
      <p:sp>
        <p:nvSpPr>
          <p:cNvPr id="29" name="Text 16"/>
          <p:cNvSpPr txBox="1"/>
          <p:nvPr/>
        </p:nvSpPr>
        <p:spPr>
          <a:xfrm>
            <a:off x="8194548" y="5143500"/>
            <a:ext cx="2125066"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 0.5 defect density threshold </a:t>
            </a:r>
            <a:endParaRPr lang="en-US" sz="1100"/>
          </a:p>
        </p:txBody>
      </p:sp>
      <p:pic>
        <p:nvPicPr>
          <p:cNvPr id="30" name="Image 11" descr="gen-dedup-de4cb59b8211160ed90cebf7a454cebf.png"/>
          <p:cNvPicPr>
            <a:picLocks noChangeAspect="1"/>
          </p:cNvPicPr>
          <p:nvPr/>
        </p:nvPicPr>
        <p:blipFill>
          <a:blip r:embed="rId14"/>
          <a:srcRect t="-16800" b="-16800"/>
          <a:stretch/>
        </p:blipFill>
        <p:spPr>
          <a:xfrm>
            <a:off x="8198510" y="5277002"/>
            <a:ext cx="114300" cy="152705"/>
          </a:xfrm>
          <a:prstGeom prst="rect">
            <a:avLst/>
          </a:prstGeom>
        </p:spPr>
      </p:pic>
      <p:sp>
        <p:nvSpPr>
          <p:cNvPr id="31" name="Shape 17"/>
          <p:cNvSpPr/>
          <p:nvPr/>
        </p:nvSpPr>
        <p:spPr>
          <a:xfrm>
            <a:off x="1143000" y="6096305"/>
            <a:ext cx="9905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32" name="Text 18"/>
          <p:cNvSpPr txBox="1"/>
          <p:nvPr/>
        </p:nvSpPr>
        <p:spPr>
          <a:xfrm>
            <a:off x="1143000" y="6258154"/>
            <a:ext cx="9906610" cy="181051"/>
          </a:xfrm>
          <a:prstGeom prst="rect">
            <a:avLst/>
          </a:prstGeom>
          <a:noFill/>
          <a:ln/>
        </p:spPr>
        <p:txBody>
          <a:bodyPr wrap="none" lIns="0" tIns="0" rIns="0" bIns="0" rtlCol="0" anchor="ctr"/>
          <a:lstStyle/>
          <a:p>
            <a:pPr marL="0" indent="0" algn="l">
              <a:buNone/>
            </a:pPr>
            <a:r>
              <a:rPr lang="en-US" sz="1200" b="1" kern="0" spc="24">
                <a:solidFill>
                  <a:srgbClr val="6B7280"/>
                </a:solidFill>
                <a:latin typeface="Raleway" pitchFamily="34" charset="0"/>
                <a:ea typeface="Raleway" pitchFamily="34" charset="-122"/>
                <a:cs typeface="Raleway" pitchFamily="34" charset="-120"/>
              </a:rPr>
              <a:t>Scale your engineering footprint with absolute control and measurable outcomes.</a:t>
            </a:r>
            <a:endParaRPr lang="en-US" sz="1200"/>
          </a:p>
        </p:txBody>
      </p:sp>
    </p:spTree>
    <p:extLst>
      <p:ext uri="{BB962C8B-B14F-4D97-AF65-F5344CB8AC3E}">
        <p14:creationId xmlns:p14="http://schemas.microsoft.com/office/powerpoint/2010/main" val="2444706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preencoded.png"/>
          <p:cNvPicPr>
            <a:picLocks noChangeAspect="1"/>
          </p:cNvPicPr>
          <p:nvPr/>
        </p:nvPicPr>
        <p:blipFill>
          <a:blip r:embed="rId3"/>
          <a:srcRect l="-207" r="-207"/>
          <a:stretch/>
        </p:blipFill>
        <p:spPr>
          <a:xfrm>
            <a:off x="0" y="0"/>
            <a:ext cx="4058107" cy="75895"/>
          </a:xfrm>
          <a:prstGeom prst="rect">
            <a:avLst/>
          </a:prstGeom>
        </p:spPr>
      </p:pic>
      <p:pic>
        <p:nvPicPr>
          <p:cNvPr id="5" name="Image 1" descr="preencoded.png"/>
          <p:cNvPicPr>
            <a:picLocks noChangeAspect="1"/>
          </p:cNvPicPr>
          <p:nvPr/>
        </p:nvPicPr>
        <p:blipFill>
          <a:blip r:embed="rId4"/>
          <a:srcRect l="-202" r="-202"/>
          <a:stretch/>
        </p:blipFill>
        <p:spPr>
          <a:xfrm>
            <a:off x="4058107" y="0"/>
            <a:ext cx="8134502" cy="75895"/>
          </a:xfrm>
          <a:prstGeom prst="rect">
            <a:avLst/>
          </a:prstGeom>
        </p:spPr>
      </p:pic>
      <p:sp>
        <p:nvSpPr>
          <p:cNvPr id="6" name="Shape 2"/>
          <p:cNvSpPr/>
          <p:nvPr/>
        </p:nvSpPr>
        <p:spPr>
          <a:xfrm>
            <a:off x="-952805"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sp>
        <p:nvSpPr>
          <p:cNvPr id="7" name="Shape 3"/>
          <p:cNvSpPr/>
          <p:nvPr/>
        </p:nvSpPr>
        <p:spPr>
          <a:xfrm>
            <a:off x="9525305" y="4762195"/>
            <a:ext cx="2857500" cy="2857500"/>
          </a:xfrm>
          <a:prstGeom prst="ellipse">
            <a:avLst/>
          </a:prstGeom>
          <a:solidFill>
            <a:srgbClr val="D62839">
              <a:alpha val="3000"/>
            </a:srgbClr>
          </a:solidFill>
          <a:ln w="12700">
            <a:solidFill>
              <a:srgbClr val="FFFFFF">
                <a:alpha val="0"/>
              </a:srgbClr>
            </a:solidFill>
            <a:prstDash val="solid"/>
          </a:ln>
        </p:spPr>
        <p:txBody>
          <a:bodyPr/>
          <a:lstStyle/>
          <a:p>
            <a:endParaRPr lang="en-US"/>
          </a:p>
        </p:txBody>
      </p:sp>
      <p:pic>
        <p:nvPicPr>
          <p:cNvPr id="8" name="Image 2" descr="preencoded.png"/>
          <p:cNvPicPr>
            <a:picLocks noChangeAspect="1"/>
          </p:cNvPicPr>
          <p:nvPr/>
        </p:nvPicPr>
        <p:blipFill>
          <a:blip r:embed="rId5"/>
          <a:srcRect l="-400" r="-400"/>
          <a:stretch/>
        </p:blipFill>
        <p:spPr>
          <a:xfrm>
            <a:off x="609905" y="571500"/>
            <a:ext cx="57607" cy="571500"/>
          </a:xfrm>
          <a:prstGeom prst="rect">
            <a:avLst/>
          </a:prstGeom>
        </p:spPr>
      </p:pic>
      <p:sp>
        <p:nvSpPr>
          <p:cNvPr id="9" name="Shape 4"/>
          <p:cNvSpPr/>
          <p:nvPr/>
        </p:nvSpPr>
        <p:spPr>
          <a:xfrm>
            <a:off x="609905"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5"/>
          <p:cNvSpPr/>
          <p:nvPr/>
        </p:nvSpPr>
        <p:spPr>
          <a:xfrm>
            <a:off x="609905" y="1524305"/>
            <a:ext cx="2628900" cy="47549"/>
          </a:xfrm>
          <a:prstGeom prst="roundRect">
            <a:avLst>
              <a:gd name="adj" fmla="val 149365"/>
            </a:avLst>
          </a:prstGeom>
          <a:solidFill>
            <a:srgbClr val="2A9D8F"/>
          </a:solidFill>
          <a:ln w="12700">
            <a:solidFill>
              <a:srgbClr val="2A9D8F">
                <a:alpha val="0"/>
              </a:srgbClr>
            </a:solidFill>
            <a:prstDash val="solid"/>
          </a:ln>
        </p:spPr>
        <p:txBody>
          <a:bodyPr/>
          <a:lstStyle/>
          <a:p>
            <a:endParaRPr lang="en-US"/>
          </a:p>
        </p:txBody>
      </p:sp>
      <p:sp>
        <p:nvSpPr>
          <p:cNvPr id="11" name="Shape 6"/>
          <p:cNvSpPr/>
          <p:nvPr/>
        </p:nvSpPr>
        <p:spPr>
          <a:xfrm>
            <a:off x="3372307"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7"/>
          <p:cNvSpPr/>
          <p:nvPr/>
        </p:nvSpPr>
        <p:spPr>
          <a:xfrm>
            <a:off x="3372307" y="1524305"/>
            <a:ext cx="2628900" cy="47549"/>
          </a:xfrm>
          <a:prstGeom prst="roundRect">
            <a:avLst>
              <a:gd name="adj" fmla="val 149365"/>
            </a:avLst>
          </a:prstGeom>
          <a:solidFill>
            <a:srgbClr val="D62839"/>
          </a:solidFill>
          <a:ln w="12700">
            <a:solidFill>
              <a:srgbClr val="D62839">
                <a:alpha val="0"/>
              </a:srgbClr>
            </a:solidFill>
            <a:prstDash val="solid"/>
          </a:ln>
        </p:spPr>
        <p:txBody>
          <a:bodyPr/>
          <a:lstStyle/>
          <a:p>
            <a:endParaRPr lang="en-US"/>
          </a:p>
        </p:txBody>
      </p:sp>
      <p:sp>
        <p:nvSpPr>
          <p:cNvPr id="13" name="Shape 8"/>
          <p:cNvSpPr/>
          <p:nvPr/>
        </p:nvSpPr>
        <p:spPr>
          <a:xfrm>
            <a:off x="6133795"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4" name="Shape 9"/>
          <p:cNvSpPr/>
          <p:nvPr/>
        </p:nvSpPr>
        <p:spPr>
          <a:xfrm>
            <a:off x="6133795" y="1524305"/>
            <a:ext cx="2628900" cy="47549"/>
          </a:xfrm>
          <a:prstGeom prst="roundRect">
            <a:avLst>
              <a:gd name="adj" fmla="val 149365"/>
            </a:avLst>
          </a:prstGeom>
          <a:solidFill>
            <a:srgbClr val="2A9D8F"/>
          </a:solidFill>
          <a:ln w="12700">
            <a:solidFill>
              <a:srgbClr val="2A9D8F">
                <a:alpha val="0"/>
              </a:srgbClr>
            </a:solidFill>
            <a:prstDash val="solid"/>
          </a:ln>
        </p:spPr>
        <p:txBody>
          <a:bodyPr/>
          <a:lstStyle/>
          <a:p>
            <a:endParaRPr lang="en-US"/>
          </a:p>
        </p:txBody>
      </p:sp>
      <p:sp>
        <p:nvSpPr>
          <p:cNvPr id="15" name="Shape 10"/>
          <p:cNvSpPr/>
          <p:nvPr/>
        </p:nvSpPr>
        <p:spPr>
          <a:xfrm>
            <a:off x="8896198"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6" name="Shape 11"/>
          <p:cNvSpPr/>
          <p:nvPr/>
        </p:nvSpPr>
        <p:spPr>
          <a:xfrm>
            <a:off x="8896198" y="1524305"/>
            <a:ext cx="2628900" cy="47549"/>
          </a:xfrm>
          <a:prstGeom prst="roundRect">
            <a:avLst>
              <a:gd name="adj" fmla="val 149365"/>
            </a:avLst>
          </a:prstGeom>
          <a:solidFill>
            <a:srgbClr val="D62839"/>
          </a:solidFill>
          <a:ln w="12700">
            <a:solidFill>
              <a:srgbClr val="D62839">
                <a:alpha val="0"/>
              </a:srgbClr>
            </a:solidFill>
            <a:prstDash val="solid"/>
          </a:ln>
        </p:spPr>
        <p:txBody>
          <a:bodyPr/>
          <a:lstStyle/>
          <a:p>
            <a:endParaRPr lang="en-US"/>
          </a:p>
        </p:txBody>
      </p:sp>
      <p:sp>
        <p:nvSpPr>
          <p:cNvPr id="17" name="Shape 12"/>
          <p:cNvSpPr/>
          <p:nvPr/>
        </p:nvSpPr>
        <p:spPr>
          <a:xfrm>
            <a:off x="609905" y="3619195"/>
            <a:ext cx="10916107" cy="2876702"/>
          </a:xfrm>
          <a:prstGeom prst="roundRect">
            <a:avLst>
              <a:gd name="adj" fmla="val 168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pic>
        <p:nvPicPr>
          <p:cNvPr id="18" name="Image 3" descr="preencoded.png"/>
          <p:cNvPicPr>
            <a:picLocks noChangeAspect="1"/>
          </p:cNvPicPr>
          <p:nvPr/>
        </p:nvPicPr>
        <p:blipFill>
          <a:blip r:embed="rId6"/>
          <a:srcRect t="-29" b="-29"/>
          <a:stretch/>
        </p:blipFill>
        <p:spPr>
          <a:xfrm>
            <a:off x="609905" y="3619195"/>
            <a:ext cx="10896905" cy="495605"/>
          </a:xfrm>
          <a:prstGeom prst="rect">
            <a:avLst/>
          </a:prstGeom>
        </p:spPr>
      </p:pic>
      <p:sp>
        <p:nvSpPr>
          <p:cNvPr id="19" name="Shape 13"/>
          <p:cNvSpPr/>
          <p:nvPr/>
        </p:nvSpPr>
        <p:spPr>
          <a:xfrm>
            <a:off x="609905" y="4572000"/>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0" name="Shape 14"/>
          <p:cNvSpPr/>
          <p:nvPr/>
        </p:nvSpPr>
        <p:spPr>
          <a:xfrm>
            <a:off x="609905" y="4572000"/>
            <a:ext cx="10896905" cy="485546"/>
          </a:xfrm>
          <a:prstGeom prst="rect">
            <a:avLst/>
          </a:prstGeom>
          <a:solidFill>
            <a:srgbClr val="2A9D8F">
              <a:alpha val="2000"/>
            </a:srgbClr>
          </a:solidFill>
          <a:ln/>
        </p:spPr>
        <p:txBody>
          <a:bodyPr/>
          <a:lstStyle/>
          <a:p>
            <a:endParaRPr lang="en-US"/>
          </a:p>
        </p:txBody>
      </p:sp>
      <p:sp>
        <p:nvSpPr>
          <p:cNvPr id="21" name="Shape 15"/>
          <p:cNvSpPr/>
          <p:nvPr/>
        </p:nvSpPr>
        <p:spPr>
          <a:xfrm>
            <a:off x="609905" y="5048402"/>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2" name="Shape 16"/>
          <p:cNvSpPr/>
          <p:nvPr/>
        </p:nvSpPr>
        <p:spPr>
          <a:xfrm>
            <a:off x="609905" y="5524805"/>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3" name="Shape 17"/>
          <p:cNvSpPr/>
          <p:nvPr/>
        </p:nvSpPr>
        <p:spPr>
          <a:xfrm>
            <a:off x="609905" y="5524805"/>
            <a:ext cx="10896905" cy="485546"/>
          </a:xfrm>
          <a:prstGeom prst="rect">
            <a:avLst/>
          </a:prstGeom>
          <a:solidFill>
            <a:srgbClr val="2A9D8F">
              <a:alpha val="2000"/>
            </a:srgbClr>
          </a:solidFill>
          <a:ln/>
        </p:spPr>
        <p:txBody>
          <a:bodyPr/>
          <a:lstStyle/>
          <a:p>
            <a:endParaRPr lang="en-US"/>
          </a:p>
        </p:txBody>
      </p:sp>
      <p:sp>
        <p:nvSpPr>
          <p:cNvPr id="24" name="Shape 18"/>
          <p:cNvSpPr/>
          <p:nvPr/>
        </p:nvSpPr>
        <p:spPr>
          <a:xfrm>
            <a:off x="609905" y="6001207"/>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5" name="Text 19"/>
          <p:cNvSpPr txBox="1"/>
          <p:nvPr/>
        </p:nvSpPr>
        <p:spPr>
          <a:xfrm>
            <a:off x="857707" y="466344"/>
            <a:ext cx="10668305" cy="362102"/>
          </a:xfrm>
          <a:prstGeom prst="rect">
            <a:avLst/>
          </a:prstGeom>
          <a:noFill/>
          <a:ln/>
        </p:spPr>
        <p:txBody>
          <a:bodyPr wrap="square" lIns="0" tIns="0" rIns="0" bIns="0" rtlCol="0" anchor="ctr"/>
          <a:lstStyle/>
          <a:p>
            <a:pPr marL="0" indent="0" algn="l">
              <a:buNone/>
            </a:pPr>
            <a:r>
              <a:rPr lang="en-US" sz="2700" b="1" kern="0" spc="38">
                <a:solidFill>
                  <a:srgbClr val="111827"/>
                </a:solidFill>
                <a:latin typeface="Oswald" pitchFamily="34" charset="0"/>
                <a:ea typeface="Oswald" pitchFamily="34" charset="-122"/>
                <a:cs typeface="Oswald" pitchFamily="34" charset="-120"/>
              </a:rPr>
              <a:t>Introducing the AI-First Pod Model</a:t>
            </a:r>
            <a:endParaRPr lang="en-US" sz="2700"/>
          </a:p>
        </p:txBody>
      </p:sp>
      <p:sp>
        <p:nvSpPr>
          <p:cNvPr id="26" name="Text 20"/>
          <p:cNvSpPr txBox="1"/>
          <p:nvPr/>
        </p:nvSpPr>
        <p:spPr>
          <a:xfrm>
            <a:off x="857707" y="1009498"/>
            <a:ext cx="10592410" cy="210312"/>
          </a:xfrm>
          <a:prstGeom prst="rect">
            <a:avLst/>
          </a:prstGeom>
          <a:noFill/>
          <a:ln/>
        </p:spPr>
        <p:txBody>
          <a:bodyPr wrap="square" lIns="0" tIns="0" rIns="0" bIns="0" rtlCol="0" anchor="ctr"/>
          <a:lstStyle/>
          <a:p>
            <a:pPr marL="0" indent="0" algn="l">
              <a:buNone/>
            </a:pPr>
            <a:r>
              <a:rPr lang="en-US" sz="1300" b="1" kern="0" spc="75">
                <a:solidFill>
                  <a:srgbClr val="D62839"/>
                </a:solidFill>
                <a:latin typeface="Roboto Condensed" pitchFamily="34" charset="0"/>
                <a:ea typeface="Roboto Condensed" pitchFamily="34" charset="-122"/>
                <a:cs typeface="Roboto Condensed" pitchFamily="34" charset="-120"/>
              </a:rPr>
              <a:t>A MANAGED, GOVERNED ENGINEERING UNIT - NOT JUST STAFFING WITH A WRAPPER.</a:t>
            </a:r>
            <a:endParaRPr lang="en-US" sz="1300"/>
          </a:p>
        </p:txBody>
      </p:sp>
      <p:pic>
        <p:nvPicPr>
          <p:cNvPr id="27" name="Image 4" descr="preencoded.png"/>
          <p:cNvPicPr>
            <a:picLocks noChangeAspect="1"/>
          </p:cNvPicPr>
          <p:nvPr/>
        </p:nvPicPr>
        <p:blipFill>
          <a:blip r:embed="rId7"/>
          <a:srcRect/>
          <a:stretch/>
        </p:blipFill>
        <p:spPr>
          <a:xfrm>
            <a:off x="823874" y="1772107"/>
            <a:ext cx="333756" cy="267005"/>
          </a:xfrm>
          <a:prstGeom prst="rect">
            <a:avLst/>
          </a:prstGeom>
        </p:spPr>
      </p:pic>
      <p:sp>
        <p:nvSpPr>
          <p:cNvPr id="28" name="Text 21"/>
          <p:cNvSpPr txBox="1"/>
          <p:nvPr/>
        </p:nvSpPr>
        <p:spPr>
          <a:xfrm>
            <a:off x="800100" y="2190902"/>
            <a:ext cx="231800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Engineering Team</a:t>
            </a:r>
            <a:endParaRPr lang="en-US" sz="1500"/>
          </a:p>
        </p:txBody>
      </p:sp>
      <p:sp>
        <p:nvSpPr>
          <p:cNvPr id="29" name="Text 22"/>
          <p:cNvSpPr txBox="1"/>
          <p:nvPr/>
        </p:nvSpPr>
        <p:spPr>
          <a:xfrm>
            <a:off x="800100"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Dedicated engineers (Java, Python, DevOps) - hired, vetted, and onboarded by J2W.</a:t>
            </a:r>
            <a:endParaRPr lang="en-US" sz="1000"/>
          </a:p>
        </p:txBody>
      </p:sp>
      <p:pic>
        <p:nvPicPr>
          <p:cNvPr id="30" name="Image 5" descr="preencoded.png"/>
          <p:cNvPicPr>
            <a:picLocks noChangeAspect="1"/>
          </p:cNvPicPr>
          <p:nvPr/>
        </p:nvPicPr>
        <p:blipFill>
          <a:blip r:embed="rId8"/>
          <a:srcRect l="-881" r="-881"/>
          <a:stretch/>
        </p:blipFill>
        <p:spPr>
          <a:xfrm>
            <a:off x="3633826" y="1772107"/>
            <a:ext cx="237744" cy="267005"/>
          </a:xfrm>
          <a:prstGeom prst="rect">
            <a:avLst/>
          </a:prstGeom>
        </p:spPr>
      </p:pic>
      <p:sp>
        <p:nvSpPr>
          <p:cNvPr id="31" name="Text 23"/>
          <p:cNvSpPr txBox="1"/>
          <p:nvPr/>
        </p:nvSpPr>
        <p:spPr>
          <a:xfrm>
            <a:off x="3562502" y="2190902"/>
            <a:ext cx="231800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Pod Lead</a:t>
            </a:r>
            <a:endParaRPr lang="en-US" sz="1500"/>
          </a:p>
        </p:txBody>
      </p:sp>
      <p:sp>
        <p:nvSpPr>
          <p:cNvPr id="32" name="Text 24"/>
          <p:cNvSpPr txBox="1"/>
          <p:nvPr/>
        </p:nvSpPr>
        <p:spPr>
          <a:xfrm>
            <a:off x="3562502"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A J2W program manager who owns delivery, sprint governance, and client alignment.</a:t>
            </a:r>
            <a:endParaRPr lang="en-US" sz="1000"/>
          </a:p>
        </p:txBody>
      </p:sp>
      <p:pic>
        <p:nvPicPr>
          <p:cNvPr id="33" name="Image 6" descr="preencoded.png"/>
          <p:cNvPicPr>
            <a:picLocks noChangeAspect="1"/>
          </p:cNvPicPr>
          <p:nvPr/>
        </p:nvPicPr>
        <p:blipFill>
          <a:blip r:embed="rId9"/>
          <a:srcRect/>
          <a:stretch/>
        </p:blipFill>
        <p:spPr>
          <a:xfrm>
            <a:off x="6381598" y="1772107"/>
            <a:ext cx="267005" cy="267005"/>
          </a:xfrm>
          <a:prstGeom prst="rect">
            <a:avLst/>
          </a:prstGeom>
        </p:spPr>
      </p:pic>
      <p:sp>
        <p:nvSpPr>
          <p:cNvPr id="34" name="Text 25"/>
          <p:cNvSpPr txBox="1"/>
          <p:nvPr/>
        </p:nvSpPr>
        <p:spPr>
          <a:xfrm>
            <a:off x="6324905" y="2190902"/>
            <a:ext cx="265267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Performance Governance</a:t>
            </a:r>
            <a:endParaRPr lang="en-US" sz="1500"/>
          </a:p>
        </p:txBody>
      </p:sp>
      <p:sp>
        <p:nvSpPr>
          <p:cNvPr id="35" name="Text 26"/>
          <p:cNvSpPr txBox="1"/>
          <p:nvPr/>
        </p:nvSpPr>
        <p:spPr>
          <a:xfrm>
            <a:off x="6324905" y="2514600"/>
            <a:ext cx="2305202" cy="543154"/>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Weekly performance tracking, SLA metrics, velocity monitoring, proactive resolution.</a:t>
            </a:r>
            <a:endParaRPr lang="en-US" sz="1000"/>
          </a:p>
        </p:txBody>
      </p:sp>
      <p:pic>
        <p:nvPicPr>
          <p:cNvPr id="36" name="Image 7" descr="preencoded.png"/>
          <p:cNvPicPr>
            <a:picLocks noChangeAspect="1"/>
          </p:cNvPicPr>
          <p:nvPr/>
        </p:nvPicPr>
        <p:blipFill>
          <a:blip r:embed="rId10"/>
          <a:srcRect/>
          <a:stretch/>
        </p:blipFill>
        <p:spPr>
          <a:xfrm>
            <a:off x="9144000" y="1772107"/>
            <a:ext cx="267005" cy="267005"/>
          </a:xfrm>
          <a:prstGeom prst="rect">
            <a:avLst/>
          </a:prstGeom>
        </p:spPr>
      </p:pic>
      <p:sp>
        <p:nvSpPr>
          <p:cNvPr id="37" name="Text 27"/>
          <p:cNvSpPr txBox="1"/>
          <p:nvPr/>
        </p:nvSpPr>
        <p:spPr>
          <a:xfrm>
            <a:off x="9087307" y="2190902"/>
            <a:ext cx="2451506"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AI-First L&amp;D Program</a:t>
            </a:r>
            <a:endParaRPr lang="en-US" sz="1500"/>
          </a:p>
        </p:txBody>
      </p:sp>
      <p:sp>
        <p:nvSpPr>
          <p:cNvPr id="38" name="Text 28"/>
          <p:cNvSpPr txBox="1"/>
          <p:nvPr/>
        </p:nvSpPr>
        <p:spPr>
          <a:xfrm>
            <a:off x="9087307"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Continuous AI training - hands-on, contextual upskilling powered by Research Wing.</a:t>
            </a:r>
            <a:endParaRPr lang="en-US" sz="1000"/>
          </a:p>
        </p:txBody>
      </p:sp>
      <p:sp>
        <p:nvSpPr>
          <p:cNvPr id="39" name="Text 29"/>
          <p:cNvSpPr txBox="1"/>
          <p:nvPr/>
        </p:nvSpPr>
        <p:spPr>
          <a:xfrm>
            <a:off x="800100" y="3762756"/>
            <a:ext cx="2774290" cy="228600"/>
          </a:xfrm>
          <a:prstGeom prst="rect">
            <a:avLst/>
          </a:prstGeom>
          <a:noFill/>
          <a:ln/>
        </p:spPr>
        <p:txBody>
          <a:bodyPr wrap="square" lIns="0" tIns="0" rIns="0" bIns="0" rtlCol="0" anchor="ctr"/>
          <a:lstStyle/>
          <a:p>
            <a:pPr marL="0" indent="0" algn="l">
              <a:buNone/>
            </a:pPr>
            <a:r>
              <a:rPr lang="en-US" sz="1200" b="1" kern="0" spc="75">
                <a:solidFill>
                  <a:srgbClr val="4B5563"/>
                </a:solidFill>
                <a:latin typeface="Oswald" pitchFamily="34" charset="0"/>
                <a:ea typeface="Oswald" pitchFamily="34" charset="-122"/>
                <a:cs typeface="Oswald" pitchFamily="34" charset="-120"/>
              </a:rPr>
              <a:t>Dimension</a:t>
            </a:r>
            <a:endParaRPr lang="en-US" sz="1200"/>
          </a:p>
        </p:txBody>
      </p:sp>
      <p:sp>
        <p:nvSpPr>
          <p:cNvPr id="40" name="Text 30"/>
          <p:cNvSpPr txBox="1"/>
          <p:nvPr/>
        </p:nvSpPr>
        <p:spPr>
          <a:xfrm>
            <a:off x="3657600" y="3762756"/>
            <a:ext cx="3543300" cy="228600"/>
          </a:xfrm>
          <a:prstGeom prst="rect">
            <a:avLst/>
          </a:prstGeom>
          <a:noFill/>
          <a:ln/>
        </p:spPr>
        <p:txBody>
          <a:bodyPr wrap="square" lIns="0" tIns="0" rIns="0" bIns="0" rtlCol="0" anchor="ctr"/>
          <a:lstStyle/>
          <a:p>
            <a:pPr marL="0" indent="0" algn="l">
              <a:buNone/>
            </a:pPr>
            <a:r>
              <a:rPr lang="en-US" sz="1200" b="1" kern="0" spc="75">
                <a:solidFill>
                  <a:srgbClr val="4B5563"/>
                </a:solidFill>
                <a:latin typeface="Oswald" pitchFamily="34" charset="0"/>
                <a:ea typeface="Oswald" pitchFamily="34" charset="-122"/>
                <a:cs typeface="Oswald" pitchFamily="34" charset="-120"/>
              </a:rPr>
              <a:t>Traditional Staffing</a:t>
            </a:r>
            <a:endParaRPr lang="en-US" sz="1200"/>
          </a:p>
        </p:txBody>
      </p:sp>
      <p:sp>
        <p:nvSpPr>
          <p:cNvPr id="41" name="Text 31"/>
          <p:cNvSpPr txBox="1"/>
          <p:nvPr/>
        </p:nvSpPr>
        <p:spPr>
          <a:xfrm>
            <a:off x="7276795" y="3762756"/>
            <a:ext cx="4114800" cy="228600"/>
          </a:xfrm>
          <a:prstGeom prst="rect">
            <a:avLst/>
          </a:prstGeom>
          <a:noFill/>
          <a:ln/>
        </p:spPr>
        <p:txBody>
          <a:bodyPr wrap="square" lIns="0" tIns="0" rIns="0" bIns="0" rtlCol="0" anchor="ctr"/>
          <a:lstStyle/>
          <a:p>
            <a:pPr marL="0" indent="0" algn="l">
              <a:buNone/>
            </a:pPr>
            <a:r>
              <a:rPr lang="en-US" sz="1200" b="1" kern="0" spc="75">
                <a:solidFill>
                  <a:srgbClr val="2A9D8F"/>
                </a:solidFill>
                <a:latin typeface="Oswald" pitchFamily="34" charset="0"/>
                <a:ea typeface="Oswald" pitchFamily="34" charset="-122"/>
                <a:cs typeface="Oswald" pitchFamily="34" charset="-120"/>
              </a:rPr>
              <a:t>AI-First Pod</a:t>
            </a:r>
            <a:endParaRPr lang="en-US" sz="1200"/>
          </a:p>
        </p:txBody>
      </p:sp>
      <p:sp>
        <p:nvSpPr>
          <p:cNvPr id="42" name="Text 32"/>
          <p:cNvSpPr txBox="1"/>
          <p:nvPr/>
        </p:nvSpPr>
        <p:spPr>
          <a:xfrm>
            <a:off x="800100" y="4238244"/>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Governance</a:t>
            </a:r>
            <a:endParaRPr lang="en-US" sz="1200"/>
          </a:p>
        </p:txBody>
      </p:sp>
      <p:sp>
        <p:nvSpPr>
          <p:cNvPr id="43" name="Text 33"/>
          <p:cNvSpPr txBox="1"/>
          <p:nvPr/>
        </p:nvSpPr>
        <p:spPr>
          <a:xfrm>
            <a:off x="3657600" y="4238244"/>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Client's burden</a:t>
            </a:r>
            <a:endParaRPr lang="en-US" sz="1100"/>
          </a:p>
        </p:txBody>
      </p:sp>
      <p:pic>
        <p:nvPicPr>
          <p:cNvPr id="44" name="Image 8" descr="preencoded.png"/>
          <p:cNvPicPr>
            <a:picLocks noChangeAspect="1"/>
          </p:cNvPicPr>
          <p:nvPr/>
        </p:nvPicPr>
        <p:blipFill>
          <a:blip r:embed="rId11"/>
          <a:srcRect t="-1100" b="-1100"/>
          <a:stretch/>
        </p:blipFill>
        <p:spPr>
          <a:xfrm>
            <a:off x="7276795" y="4257446"/>
            <a:ext cx="114300" cy="133502"/>
          </a:xfrm>
          <a:prstGeom prst="rect">
            <a:avLst/>
          </a:prstGeom>
        </p:spPr>
      </p:pic>
      <p:sp>
        <p:nvSpPr>
          <p:cNvPr id="45" name="Text 34"/>
          <p:cNvSpPr txBox="1"/>
          <p:nvPr/>
        </p:nvSpPr>
        <p:spPr>
          <a:xfrm>
            <a:off x="7524598" y="4238244"/>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J2W-owned</a:t>
            </a:r>
            <a:endParaRPr lang="en-US" sz="1100"/>
          </a:p>
        </p:txBody>
      </p:sp>
      <p:sp>
        <p:nvSpPr>
          <p:cNvPr id="46" name="Text 35"/>
          <p:cNvSpPr txBox="1"/>
          <p:nvPr/>
        </p:nvSpPr>
        <p:spPr>
          <a:xfrm>
            <a:off x="800100" y="4714646"/>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Upskilling</a:t>
            </a:r>
            <a:endParaRPr lang="en-US" sz="1200"/>
          </a:p>
        </p:txBody>
      </p:sp>
      <p:sp>
        <p:nvSpPr>
          <p:cNvPr id="47" name="Text 36"/>
          <p:cNvSpPr txBox="1"/>
          <p:nvPr/>
        </p:nvSpPr>
        <p:spPr>
          <a:xfrm>
            <a:off x="3657600" y="4714646"/>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Engineer's personal initiative</a:t>
            </a:r>
            <a:endParaRPr lang="en-US" sz="1100"/>
          </a:p>
        </p:txBody>
      </p:sp>
      <p:pic>
        <p:nvPicPr>
          <p:cNvPr id="48" name="Image 9" descr="preencoded.png"/>
          <p:cNvPicPr>
            <a:picLocks noChangeAspect="1"/>
          </p:cNvPicPr>
          <p:nvPr/>
        </p:nvPicPr>
        <p:blipFill>
          <a:blip r:embed="rId11"/>
          <a:srcRect t="-1100" b="-1100"/>
          <a:stretch/>
        </p:blipFill>
        <p:spPr>
          <a:xfrm>
            <a:off x="7276795" y="4733849"/>
            <a:ext cx="114300" cy="133502"/>
          </a:xfrm>
          <a:prstGeom prst="rect">
            <a:avLst/>
          </a:prstGeom>
        </p:spPr>
      </p:pic>
      <p:sp>
        <p:nvSpPr>
          <p:cNvPr id="49" name="Text 37"/>
          <p:cNvSpPr txBox="1"/>
          <p:nvPr/>
        </p:nvSpPr>
        <p:spPr>
          <a:xfrm>
            <a:off x="7524598" y="4714646"/>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Structured, continuous, AI-focused</a:t>
            </a:r>
            <a:endParaRPr lang="en-US" sz="1100"/>
          </a:p>
        </p:txBody>
      </p:sp>
      <p:sp>
        <p:nvSpPr>
          <p:cNvPr id="50" name="Text 38"/>
          <p:cNvSpPr txBox="1"/>
          <p:nvPr/>
        </p:nvSpPr>
        <p:spPr>
          <a:xfrm>
            <a:off x="800100" y="5191049"/>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Performance Issues</a:t>
            </a:r>
            <a:endParaRPr lang="en-US" sz="1200"/>
          </a:p>
        </p:txBody>
      </p:sp>
      <p:sp>
        <p:nvSpPr>
          <p:cNvPr id="51" name="Text 39"/>
          <p:cNvSpPr txBox="1"/>
          <p:nvPr/>
        </p:nvSpPr>
        <p:spPr>
          <a:xfrm>
            <a:off x="3657600" y="5191049"/>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Escalation after the fact</a:t>
            </a:r>
            <a:endParaRPr lang="en-US" sz="1100"/>
          </a:p>
        </p:txBody>
      </p:sp>
      <p:pic>
        <p:nvPicPr>
          <p:cNvPr id="52" name="Image 10" descr="preencoded.png"/>
          <p:cNvPicPr>
            <a:picLocks noChangeAspect="1"/>
          </p:cNvPicPr>
          <p:nvPr/>
        </p:nvPicPr>
        <p:blipFill>
          <a:blip r:embed="rId11"/>
          <a:srcRect t="-1100" b="-1100"/>
          <a:stretch/>
        </p:blipFill>
        <p:spPr>
          <a:xfrm>
            <a:off x="7276795" y="5210251"/>
            <a:ext cx="114300" cy="133502"/>
          </a:xfrm>
          <a:prstGeom prst="rect">
            <a:avLst/>
          </a:prstGeom>
        </p:spPr>
      </p:pic>
      <p:sp>
        <p:nvSpPr>
          <p:cNvPr id="53" name="Text 40"/>
          <p:cNvSpPr txBox="1"/>
          <p:nvPr/>
        </p:nvSpPr>
        <p:spPr>
          <a:xfrm>
            <a:off x="7524598" y="5191049"/>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Proactive monitoring &amp; intervention</a:t>
            </a:r>
            <a:endParaRPr lang="en-US" sz="1100"/>
          </a:p>
        </p:txBody>
      </p:sp>
      <p:sp>
        <p:nvSpPr>
          <p:cNvPr id="54" name="Text 41"/>
          <p:cNvSpPr txBox="1"/>
          <p:nvPr/>
        </p:nvSpPr>
        <p:spPr>
          <a:xfrm>
            <a:off x="800100" y="5667451"/>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Knowledge Retention</a:t>
            </a:r>
            <a:endParaRPr lang="en-US" sz="1200"/>
          </a:p>
        </p:txBody>
      </p:sp>
      <p:sp>
        <p:nvSpPr>
          <p:cNvPr id="55" name="Text 42"/>
          <p:cNvSpPr txBox="1"/>
          <p:nvPr/>
        </p:nvSpPr>
        <p:spPr>
          <a:xfrm>
            <a:off x="3657600" y="5667451"/>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Lost with attrition</a:t>
            </a:r>
            <a:endParaRPr lang="en-US" sz="1100"/>
          </a:p>
        </p:txBody>
      </p:sp>
      <p:pic>
        <p:nvPicPr>
          <p:cNvPr id="56" name="Image 11" descr="preencoded.png"/>
          <p:cNvPicPr>
            <a:picLocks noChangeAspect="1"/>
          </p:cNvPicPr>
          <p:nvPr/>
        </p:nvPicPr>
        <p:blipFill>
          <a:blip r:embed="rId11"/>
          <a:srcRect t="-1100" b="-1100"/>
          <a:stretch/>
        </p:blipFill>
        <p:spPr>
          <a:xfrm>
            <a:off x="7276795" y="5686654"/>
            <a:ext cx="114300" cy="133502"/>
          </a:xfrm>
          <a:prstGeom prst="rect">
            <a:avLst/>
          </a:prstGeom>
        </p:spPr>
      </p:pic>
      <p:sp>
        <p:nvSpPr>
          <p:cNvPr id="57" name="Text 43"/>
          <p:cNvSpPr txBox="1"/>
          <p:nvPr/>
        </p:nvSpPr>
        <p:spPr>
          <a:xfrm>
            <a:off x="7524598" y="5667451"/>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Captured in Knowledge Repository</a:t>
            </a:r>
            <a:endParaRPr lang="en-US" sz="1100"/>
          </a:p>
        </p:txBody>
      </p:sp>
      <p:sp>
        <p:nvSpPr>
          <p:cNvPr id="58" name="Text 44"/>
          <p:cNvSpPr txBox="1"/>
          <p:nvPr/>
        </p:nvSpPr>
        <p:spPr>
          <a:xfrm>
            <a:off x="800100" y="6143854"/>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AI Readiness</a:t>
            </a:r>
            <a:endParaRPr lang="en-US" sz="1200"/>
          </a:p>
        </p:txBody>
      </p:sp>
      <p:sp>
        <p:nvSpPr>
          <p:cNvPr id="59" name="Text 45"/>
          <p:cNvSpPr txBox="1"/>
          <p:nvPr/>
        </p:nvSpPr>
        <p:spPr>
          <a:xfrm>
            <a:off x="3657600" y="6143854"/>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Ad hoc</a:t>
            </a:r>
            <a:endParaRPr lang="en-US" sz="1100"/>
          </a:p>
        </p:txBody>
      </p:sp>
      <p:pic>
        <p:nvPicPr>
          <p:cNvPr id="60" name="Image 12" descr="preencoded.png"/>
          <p:cNvPicPr>
            <a:picLocks noChangeAspect="1"/>
          </p:cNvPicPr>
          <p:nvPr/>
        </p:nvPicPr>
        <p:blipFill>
          <a:blip r:embed="rId12"/>
          <a:srcRect t="-1100" b="-1100"/>
          <a:stretch/>
        </p:blipFill>
        <p:spPr>
          <a:xfrm>
            <a:off x="7276795" y="6163056"/>
            <a:ext cx="114300" cy="133502"/>
          </a:xfrm>
          <a:prstGeom prst="rect">
            <a:avLst/>
          </a:prstGeom>
        </p:spPr>
      </p:pic>
      <p:sp>
        <p:nvSpPr>
          <p:cNvPr id="61" name="Text 46"/>
          <p:cNvSpPr txBox="1"/>
          <p:nvPr/>
        </p:nvSpPr>
        <p:spPr>
          <a:xfrm>
            <a:off x="7524598" y="6143854"/>
            <a:ext cx="3829507" cy="171907"/>
          </a:xfrm>
          <a:prstGeom prst="rect">
            <a:avLst/>
          </a:prstGeom>
          <a:noFill/>
          <a:ln/>
        </p:spPr>
        <p:txBody>
          <a:bodyPr wrap="square" lIns="0" tIns="0" rIns="0" bIns="0" rtlCol="0" anchor="ctr"/>
          <a:lstStyle/>
          <a:p>
            <a:pPr marL="0" indent="0" algn="l">
              <a:buNone/>
            </a:pPr>
            <a:r>
              <a:rPr lang="en-US" sz="1100" b="1">
                <a:solidFill>
                  <a:srgbClr val="D62839"/>
                </a:solidFill>
                <a:latin typeface="Raleway" pitchFamily="34" charset="0"/>
                <a:ea typeface="Raleway" pitchFamily="34" charset="-122"/>
                <a:cs typeface="Raleway" pitchFamily="34" charset="-120"/>
              </a:rPr>
              <a:t>Embedded from Day 1</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preencoded.png"/>
          <p:cNvPicPr>
            <a:picLocks noChangeAspect="1"/>
          </p:cNvPicPr>
          <p:nvPr/>
        </p:nvPicPr>
        <p:blipFill>
          <a:blip r:embed="rId3"/>
          <a:srcRect l="-207" r="-207"/>
          <a:stretch/>
        </p:blipFill>
        <p:spPr>
          <a:xfrm>
            <a:off x="0" y="0"/>
            <a:ext cx="4058107" cy="75895"/>
          </a:xfrm>
          <a:prstGeom prst="rect">
            <a:avLst/>
          </a:prstGeom>
        </p:spPr>
      </p:pic>
      <p:pic>
        <p:nvPicPr>
          <p:cNvPr id="5" name="Image 1" descr="preencoded.png"/>
          <p:cNvPicPr>
            <a:picLocks noChangeAspect="1"/>
          </p:cNvPicPr>
          <p:nvPr/>
        </p:nvPicPr>
        <p:blipFill>
          <a:blip r:embed="rId4"/>
          <a:srcRect l="-202" r="-202"/>
          <a:stretch/>
        </p:blipFill>
        <p:spPr>
          <a:xfrm>
            <a:off x="4058107" y="0"/>
            <a:ext cx="8134502" cy="75895"/>
          </a:xfrm>
          <a:prstGeom prst="rect">
            <a:avLst/>
          </a:prstGeom>
        </p:spPr>
      </p:pic>
      <p:sp>
        <p:nvSpPr>
          <p:cNvPr id="6" name="Shape 2"/>
          <p:cNvSpPr/>
          <p:nvPr/>
        </p:nvSpPr>
        <p:spPr>
          <a:xfrm>
            <a:off x="9334195" y="-1429207"/>
            <a:ext cx="4762195" cy="476219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preencoded.png"/>
          <p:cNvPicPr>
            <a:picLocks noChangeAspect="1"/>
          </p:cNvPicPr>
          <p:nvPr/>
        </p:nvPicPr>
        <p:blipFill>
          <a:blip r:embed="rId5">
            <a:alphaModFix amt="15000"/>
          </a:blip>
          <a:srcRect/>
          <a:stretch/>
        </p:blipFill>
        <p:spPr>
          <a:xfrm>
            <a:off x="571500" y="1143000"/>
            <a:ext cx="1429207" cy="1429207"/>
          </a:xfrm>
          <a:prstGeom prst="rect">
            <a:avLst/>
          </a:prstGeom>
        </p:spPr>
      </p:pic>
      <p:pic>
        <p:nvPicPr>
          <p:cNvPr id="8" name="Image 3" descr="preencoded.png"/>
          <p:cNvPicPr>
            <a:picLocks noChangeAspect="1"/>
          </p:cNvPicPr>
          <p:nvPr/>
        </p:nvPicPr>
        <p:blipFill>
          <a:blip r:embed="rId6"/>
          <a:srcRect l="-400" r="-400"/>
          <a:stretch/>
        </p:blipFill>
        <p:spPr>
          <a:xfrm>
            <a:off x="609905" y="571500"/>
            <a:ext cx="57607" cy="571500"/>
          </a:xfrm>
          <a:prstGeom prst="rect">
            <a:avLst/>
          </a:prstGeom>
        </p:spPr>
      </p:pic>
      <p:sp>
        <p:nvSpPr>
          <p:cNvPr id="9" name="Shape 3"/>
          <p:cNvSpPr/>
          <p:nvPr/>
        </p:nvSpPr>
        <p:spPr>
          <a:xfrm>
            <a:off x="609905" y="1524305"/>
            <a:ext cx="11039551" cy="1752905"/>
          </a:xfrm>
          <a:prstGeom prst="roundRect">
            <a:avLst>
              <a:gd name="adj" fmla="val 4536"/>
            </a:avLst>
          </a:prstGeom>
          <a:solidFill>
            <a:srgbClr val="F8FAFC"/>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4"/>
          <p:cNvSpPr/>
          <p:nvPr/>
        </p:nvSpPr>
        <p:spPr>
          <a:xfrm>
            <a:off x="609905" y="1524305"/>
            <a:ext cx="57607" cy="1752905"/>
          </a:xfrm>
          <a:prstGeom prst="roundRect">
            <a:avLst>
              <a:gd name="adj" fmla="val 138027"/>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609905" y="3429000"/>
            <a:ext cx="11039551" cy="2305202"/>
          </a:xfrm>
          <a:prstGeom prst="roundRect">
            <a:avLst>
              <a:gd name="adj" fmla="val 2623"/>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6"/>
          <p:cNvSpPr/>
          <p:nvPr/>
        </p:nvSpPr>
        <p:spPr>
          <a:xfrm>
            <a:off x="609905" y="3429000"/>
            <a:ext cx="57607" cy="2305202"/>
          </a:xfrm>
          <a:prstGeom prst="roundRect">
            <a:avLst>
              <a:gd name="adj" fmla="val 104946"/>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609905" y="5905195"/>
            <a:ext cx="10972800" cy="609905"/>
          </a:xfrm>
          <a:prstGeom prst="roundRect">
            <a:avLst>
              <a:gd name="adj" fmla="val 37481"/>
            </a:avLst>
          </a:prstGeom>
          <a:solidFill>
            <a:srgbClr val="2A9D8F"/>
          </a:solidFill>
          <a:ln w="12700">
            <a:solidFill>
              <a:srgbClr val="FFFFFF">
                <a:alpha val="0"/>
              </a:srgbClr>
            </a:solidFill>
            <a:prstDash val="solid"/>
          </a:ln>
          <a:effectLst>
            <a:outerShdw blurRad="101600" dist="38100" dir="16200000" algn="bl" rotWithShape="0">
              <a:srgbClr val="2A9D8F">
                <a:alpha val="20000"/>
              </a:srgbClr>
            </a:outerShdw>
          </a:effectLst>
        </p:spPr>
        <p:txBody>
          <a:bodyPr/>
          <a:lstStyle/>
          <a:p>
            <a:endParaRPr lang="en-US"/>
          </a:p>
        </p:txBody>
      </p:sp>
      <p:sp>
        <p:nvSpPr>
          <p:cNvPr id="14" name="Text 8"/>
          <p:cNvSpPr txBox="1"/>
          <p:nvPr/>
        </p:nvSpPr>
        <p:spPr>
          <a:xfrm>
            <a:off x="857707" y="428854"/>
            <a:ext cx="10668305" cy="362102"/>
          </a:xfrm>
          <a:prstGeom prst="rect">
            <a:avLst/>
          </a:prstGeom>
          <a:noFill/>
          <a:ln/>
        </p:spPr>
        <p:txBody>
          <a:bodyPr wrap="square" lIns="0" tIns="0" rIns="0" bIns="0" rtlCol="0" anchor="ctr"/>
          <a:lstStyle/>
          <a:p>
            <a:pPr marL="0" indent="0" algn="l">
              <a:buNone/>
            </a:pPr>
            <a:r>
              <a:rPr lang="en-US" sz="2700" b="1" kern="0" spc="38">
                <a:solidFill>
                  <a:srgbClr val="111827"/>
                </a:solidFill>
                <a:latin typeface="Oswald" pitchFamily="34" charset="0"/>
                <a:ea typeface="Oswald" pitchFamily="34" charset="-122"/>
                <a:cs typeface="Oswald" pitchFamily="34" charset="-120"/>
              </a:rPr>
              <a:t>The J2W AI Research Wing</a:t>
            </a:r>
            <a:endParaRPr lang="en-US" sz="2700"/>
          </a:p>
        </p:txBody>
      </p:sp>
      <p:sp>
        <p:nvSpPr>
          <p:cNvPr id="15" name="Text 9"/>
          <p:cNvSpPr txBox="1"/>
          <p:nvPr/>
        </p:nvSpPr>
        <p:spPr>
          <a:xfrm>
            <a:off x="857707" y="1009498"/>
            <a:ext cx="10592410" cy="210312"/>
          </a:xfrm>
          <a:prstGeom prst="rect">
            <a:avLst/>
          </a:prstGeom>
          <a:noFill/>
          <a:ln/>
        </p:spPr>
        <p:txBody>
          <a:bodyPr wrap="square" lIns="0" tIns="0" rIns="0" bIns="0" rtlCol="0" anchor="ctr"/>
          <a:lstStyle/>
          <a:p>
            <a:pPr marL="0" indent="0" algn="l">
              <a:buNone/>
            </a:pPr>
            <a:r>
              <a:rPr lang="en-US" sz="1300" b="1" kern="0" spc="75">
                <a:solidFill>
                  <a:srgbClr val="2A9D8F"/>
                </a:solidFill>
                <a:latin typeface="Roboto Condensed" pitchFamily="34" charset="0"/>
                <a:ea typeface="Roboto Condensed" pitchFamily="34" charset="-122"/>
                <a:cs typeface="Roboto Condensed" pitchFamily="34" charset="-120"/>
              </a:rPr>
              <a:t>YOUR POD'S SECRET WEAPON</a:t>
            </a:r>
            <a:endParaRPr lang="en-US" sz="1300"/>
          </a:p>
        </p:txBody>
      </p:sp>
      <p:sp>
        <p:nvSpPr>
          <p:cNvPr id="16" name="Shape 10"/>
          <p:cNvSpPr/>
          <p:nvPr/>
        </p:nvSpPr>
        <p:spPr>
          <a:xfrm>
            <a:off x="990295" y="2085746"/>
            <a:ext cx="4476902" cy="19202"/>
          </a:xfrm>
          <a:prstGeom prst="rect">
            <a:avLst/>
          </a:prstGeom>
          <a:solidFill>
            <a:srgbClr val="2A9D8F">
              <a:alpha val="20000"/>
            </a:srgbClr>
          </a:solidFill>
          <a:ln w="12700">
            <a:solidFill>
              <a:srgbClr val="2A9D8F">
                <a:alpha val="0"/>
              </a:srgbClr>
            </a:solidFill>
            <a:prstDash val="solid"/>
          </a:ln>
        </p:spPr>
        <p:txBody>
          <a:bodyPr/>
          <a:lstStyle/>
          <a:p>
            <a:endParaRPr lang="en-US"/>
          </a:p>
        </p:txBody>
      </p:sp>
      <p:sp>
        <p:nvSpPr>
          <p:cNvPr id="17" name="Text 11"/>
          <p:cNvSpPr txBox="1"/>
          <p:nvPr/>
        </p:nvSpPr>
        <p:spPr>
          <a:xfrm>
            <a:off x="990295" y="1666951"/>
            <a:ext cx="4562856" cy="343814"/>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What Is the AI Research Wing?</a:t>
            </a:r>
            <a:endParaRPr lang="en-US" sz="1800"/>
          </a:p>
        </p:txBody>
      </p:sp>
      <p:pic>
        <p:nvPicPr>
          <p:cNvPr id="18" name="Image 4" descr="preencoded.png"/>
          <p:cNvPicPr>
            <a:picLocks noChangeAspect="1"/>
          </p:cNvPicPr>
          <p:nvPr/>
        </p:nvPicPr>
        <p:blipFill>
          <a:blip r:embed="rId7"/>
          <a:srcRect/>
          <a:stretch/>
        </p:blipFill>
        <p:spPr>
          <a:xfrm>
            <a:off x="1019556" y="2221992"/>
            <a:ext cx="171907" cy="171907"/>
          </a:xfrm>
          <a:prstGeom prst="rect">
            <a:avLst/>
          </a:prstGeom>
        </p:spPr>
      </p:pic>
      <p:sp>
        <p:nvSpPr>
          <p:cNvPr id="19" name="Text 12"/>
          <p:cNvSpPr txBox="1"/>
          <p:nvPr/>
        </p:nvSpPr>
        <p:spPr>
          <a:xfrm>
            <a:off x="1314907" y="2190902"/>
            <a:ext cx="9982505"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A dedicated team of AI researchers and engineers working on cutting-edge enterprise AI - agentic AI systems, LLM orchestration, model governance, and applied ML</a:t>
            </a:r>
            <a:endParaRPr lang="en-US" sz="1100"/>
          </a:p>
        </p:txBody>
      </p:sp>
      <p:pic>
        <p:nvPicPr>
          <p:cNvPr id="20" name="Image 5" descr="preencoded.png"/>
          <p:cNvPicPr>
            <a:picLocks noChangeAspect="1"/>
          </p:cNvPicPr>
          <p:nvPr/>
        </p:nvPicPr>
        <p:blipFill>
          <a:blip r:embed="rId8"/>
          <a:srcRect/>
          <a:stretch/>
        </p:blipFill>
        <p:spPr>
          <a:xfrm>
            <a:off x="1019556" y="2602382"/>
            <a:ext cx="171907" cy="171907"/>
          </a:xfrm>
          <a:prstGeom prst="rect">
            <a:avLst/>
          </a:prstGeom>
        </p:spPr>
      </p:pic>
      <p:sp>
        <p:nvSpPr>
          <p:cNvPr id="21" name="Text 13"/>
          <p:cNvSpPr txBox="1"/>
          <p:nvPr/>
        </p:nvSpPr>
        <p:spPr>
          <a:xfrm>
            <a:off x="1314907" y="2572207"/>
            <a:ext cx="10592410" cy="2002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Currently building and publishing research on agentic AI architectures, prompt engineering frameworks, and enterprise AI adoption strategies</a:t>
            </a:r>
            <a:endParaRPr lang="en-US" sz="1100"/>
          </a:p>
        </p:txBody>
      </p:sp>
      <p:pic>
        <p:nvPicPr>
          <p:cNvPr id="22" name="Image 6" descr="preencoded.png"/>
          <p:cNvPicPr>
            <a:picLocks noChangeAspect="1"/>
          </p:cNvPicPr>
          <p:nvPr/>
        </p:nvPicPr>
        <p:blipFill>
          <a:blip r:embed="rId9"/>
          <a:srcRect/>
          <a:stretch/>
        </p:blipFill>
        <p:spPr>
          <a:xfrm>
            <a:off x="1019556" y="2983687"/>
            <a:ext cx="171907" cy="171907"/>
          </a:xfrm>
          <a:prstGeom prst="rect">
            <a:avLst/>
          </a:prstGeom>
        </p:spPr>
      </p:pic>
      <p:sp>
        <p:nvSpPr>
          <p:cNvPr id="23" name="Text 14"/>
          <p:cNvSpPr txBox="1"/>
          <p:nvPr/>
        </p:nvSpPr>
        <p:spPr>
          <a:xfrm>
            <a:off x="1314907" y="2952598"/>
            <a:ext cx="10592410" cy="2002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Powers J2W's proprietary platforms: the J2W Agentic Platform, Qualizen (GenAI-assisted quality engineering), and Talk2Data (conversational BI)</a:t>
            </a:r>
            <a:endParaRPr lang="en-US" sz="1100"/>
          </a:p>
        </p:txBody>
      </p:sp>
      <p:sp>
        <p:nvSpPr>
          <p:cNvPr id="24" name="Shape 15"/>
          <p:cNvSpPr/>
          <p:nvPr/>
        </p:nvSpPr>
        <p:spPr>
          <a:xfrm>
            <a:off x="990295" y="3990442"/>
            <a:ext cx="4476902" cy="19202"/>
          </a:xfrm>
          <a:prstGeom prst="rect">
            <a:avLst/>
          </a:prstGeom>
          <a:solidFill>
            <a:srgbClr val="D62839">
              <a:alpha val="20000"/>
            </a:srgbClr>
          </a:solidFill>
          <a:ln w="12700">
            <a:solidFill>
              <a:srgbClr val="D62839">
                <a:alpha val="0"/>
              </a:srgbClr>
            </a:solidFill>
            <a:prstDash val="solid"/>
          </a:ln>
        </p:spPr>
        <p:txBody>
          <a:bodyPr/>
          <a:lstStyle/>
          <a:p>
            <a:endParaRPr lang="en-US"/>
          </a:p>
        </p:txBody>
      </p:sp>
      <p:sp>
        <p:nvSpPr>
          <p:cNvPr id="25" name="Text 16"/>
          <p:cNvSpPr txBox="1"/>
          <p:nvPr/>
        </p:nvSpPr>
        <p:spPr>
          <a:xfrm>
            <a:off x="990295" y="3571646"/>
            <a:ext cx="4562856" cy="343814"/>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How Pod Members Benefit</a:t>
            </a:r>
            <a:endParaRPr lang="en-US" sz="1800"/>
          </a:p>
        </p:txBody>
      </p:sp>
      <p:pic>
        <p:nvPicPr>
          <p:cNvPr id="26" name="Image 7" descr="preencoded.png"/>
          <p:cNvPicPr>
            <a:picLocks noChangeAspect="1"/>
          </p:cNvPicPr>
          <p:nvPr/>
        </p:nvPicPr>
        <p:blipFill>
          <a:blip r:embed="rId10"/>
          <a:srcRect l="-1064" r="-1064"/>
          <a:stretch/>
        </p:blipFill>
        <p:spPr>
          <a:xfrm>
            <a:off x="995782" y="4126687"/>
            <a:ext cx="219456" cy="171907"/>
          </a:xfrm>
          <a:prstGeom prst="rect">
            <a:avLst/>
          </a:prstGeom>
        </p:spPr>
      </p:pic>
      <p:sp>
        <p:nvSpPr>
          <p:cNvPr id="27" name="Text 17"/>
          <p:cNvSpPr txBox="1"/>
          <p:nvPr/>
        </p:nvSpPr>
        <p:spPr>
          <a:xfrm>
            <a:off x="1314907" y="4095598"/>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Weekly AI workshops</a:t>
            </a:r>
            <a:r>
              <a:rPr lang="en-US" sz="1100">
                <a:solidFill>
                  <a:srgbClr val="4B5563"/>
                </a:solidFill>
                <a:latin typeface="Raleway" pitchFamily="34" charset="0"/>
                <a:ea typeface="Raleway" pitchFamily="34" charset="-122"/>
                <a:cs typeface="Raleway" pitchFamily="34" charset="-120"/>
              </a:rPr>
              <a:t> led by our research team - covering practical, project-applicable AI skills </a:t>
            </a:r>
            <a:endParaRPr lang="en-US" sz="1100"/>
          </a:p>
        </p:txBody>
      </p:sp>
      <p:pic>
        <p:nvPicPr>
          <p:cNvPr id="28" name="Image 8" descr="preencoded.png"/>
          <p:cNvPicPr>
            <a:picLocks noChangeAspect="1"/>
          </p:cNvPicPr>
          <p:nvPr/>
        </p:nvPicPr>
        <p:blipFill>
          <a:blip r:embed="rId11"/>
          <a:srcRect l="-1773" r="-1773"/>
          <a:stretch/>
        </p:blipFill>
        <p:spPr>
          <a:xfrm>
            <a:off x="1037844" y="4507992"/>
            <a:ext cx="133502" cy="171907"/>
          </a:xfrm>
          <a:prstGeom prst="rect">
            <a:avLst/>
          </a:prstGeom>
        </p:spPr>
      </p:pic>
      <p:sp>
        <p:nvSpPr>
          <p:cNvPr id="29" name="Text 18"/>
          <p:cNvSpPr txBox="1"/>
          <p:nvPr/>
        </p:nvSpPr>
        <p:spPr>
          <a:xfrm>
            <a:off x="1314907" y="4476902"/>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Access to the J2W </a:t>
            </a:r>
            <a:r>
              <a:rPr lang="en-US" sz="1100" b="1" err="1">
                <a:solidFill>
                  <a:srgbClr val="111827"/>
                </a:solidFill>
                <a:latin typeface="Raleway" pitchFamily="34" charset="0"/>
                <a:ea typeface="Raleway" pitchFamily="34" charset="-122"/>
                <a:cs typeface="Raleway" pitchFamily="34" charset="-120"/>
              </a:rPr>
              <a:t>iLAB</a:t>
            </a:r>
            <a:r>
              <a:rPr lang="en-US" sz="1100">
                <a:solidFill>
                  <a:srgbClr val="4B5563"/>
                </a:solidFill>
                <a:latin typeface="Raleway" pitchFamily="34" charset="0"/>
                <a:ea typeface="Raleway" pitchFamily="34" charset="-122"/>
                <a:cs typeface="Raleway" pitchFamily="34" charset="-120"/>
              </a:rPr>
              <a:t> - Innovation Points program for building PoCs, hackathons, and rapid prototyping </a:t>
            </a:r>
            <a:endParaRPr lang="en-US" sz="1100"/>
          </a:p>
        </p:txBody>
      </p:sp>
      <p:pic>
        <p:nvPicPr>
          <p:cNvPr id="30" name="Image 9" descr="preencoded.png"/>
          <p:cNvPicPr>
            <a:picLocks noChangeAspect="1"/>
          </p:cNvPicPr>
          <p:nvPr/>
        </p:nvPicPr>
        <p:blipFill>
          <a:blip r:embed="rId12"/>
          <a:srcRect l="-1064" r="-1064"/>
          <a:stretch/>
        </p:blipFill>
        <p:spPr>
          <a:xfrm>
            <a:off x="995782" y="4888382"/>
            <a:ext cx="219456" cy="171907"/>
          </a:xfrm>
          <a:prstGeom prst="rect">
            <a:avLst/>
          </a:prstGeom>
        </p:spPr>
      </p:pic>
      <p:sp>
        <p:nvSpPr>
          <p:cNvPr id="31" name="Text 19"/>
          <p:cNvSpPr txBox="1"/>
          <p:nvPr/>
        </p:nvSpPr>
        <p:spPr>
          <a:xfrm>
            <a:off x="1314907" y="4858207"/>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Contextual AI training</a:t>
            </a:r>
            <a:r>
              <a:rPr lang="en-US" sz="1100">
                <a:solidFill>
                  <a:srgbClr val="4B5563"/>
                </a:solidFill>
                <a:latin typeface="Raleway" pitchFamily="34" charset="0"/>
                <a:ea typeface="Raleway" pitchFamily="34" charset="-122"/>
                <a:cs typeface="Raleway" pitchFamily="34" charset="-120"/>
              </a:rPr>
              <a:t> - hands-on training tailored to the specific technology stack and domain </a:t>
            </a:r>
            <a:endParaRPr lang="en-US" sz="1100"/>
          </a:p>
        </p:txBody>
      </p:sp>
      <p:pic>
        <p:nvPicPr>
          <p:cNvPr id="32" name="Image 10" descr="preencoded.png"/>
          <p:cNvPicPr>
            <a:picLocks noChangeAspect="1"/>
          </p:cNvPicPr>
          <p:nvPr/>
        </p:nvPicPr>
        <p:blipFill>
          <a:blip r:embed="rId13"/>
          <a:srcRect/>
          <a:stretch/>
        </p:blipFill>
        <p:spPr>
          <a:xfrm>
            <a:off x="1019556" y="5269687"/>
            <a:ext cx="171907" cy="171907"/>
          </a:xfrm>
          <a:prstGeom prst="rect">
            <a:avLst/>
          </a:prstGeom>
        </p:spPr>
      </p:pic>
      <p:sp>
        <p:nvSpPr>
          <p:cNvPr id="33" name="Text 20"/>
          <p:cNvSpPr txBox="1"/>
          <p:nvPr/>
        </p:nvSpPr>
        <p:spPr>
          <a:xfrm>
            <a:off x="1314907" y="5238598"/>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Benchmarking against global best practices</a:t>
            </a:r>
            <a:r>
              <a:rPr lang="en-US" sz="1100">
                <a:solidFill>
                  <a:srgbClr val="4B5563"/>
                </a:solidFill>
                <a:latin typeface="Raleway" pitchFamily="34" charset="0"/>
                <a:ea typeface="Raleway" pitchFamily="34" charset="-122"/>
                <a:cs typeface="Raleway" pitchFamily="34" charset="-120"/>
              </a:rPr>
              <a:t> - continuous measurement against industry-leading standards </a:t>
            </a:r>
            <a:endParaRPr lang="en-US" sz="1100"/>
          </a:p>
        </p:txBody>
      </p:sp>
      <p:sp>
        <p:nvSpPr>
          <p:cNvPr id="34" name="Text 21"/>
          <p:cNvSpPr txBox="1"/>
          <p:nvPr/>
        </p:nvSpPr>
        <p:spPr>
          <a:xfrm>
            <a:off x="952805" y="6010351"/>
            <a:ext cx="10287000" cy="400507"/>
          </a:xfrm>
          <a:prstGeom prst="rect">
            <a:avLst/>
          </a:prstGeom>
          <a:noFill/>
          <a:ln/>
        </p:spPr>
        <p:txBody>
          <a:bodyPr wrap="square" lIns="0" tIns="0" rIns="0" bIns="0" rtlCol="0" anchor="ctr"/>
          <a:lstStyle/>
          <a:p>
            <a:pPr marL="0" indent="0" algn="ctr">
              <a:buNone/>
            </a:pPr>
            <a:r>
              <a:rPr lang="en-US" sz="1400" b="1">
                <a:solidFill>
                  <a:srgbClr val="FFFFFF"/>
                </a:solidFill>
                <a:latin typeface="Raleway" pitchFamily="34" charset="0"/>
                <a:ea typeface="Raleway" pitchFamily="34" charset="-122"/>
                <a:cs typeface="Raleway" pitchFamily="34" charset="-120"/>
              </a:rPr>
              <a:t>The result: Your engineers don't just work - they get better every week. And that compounding improvement is something no staffing model can deliver.</a:t>
            </a:r>
            <a:endParaRPr lang="en-US" sz="1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36FEC-3F04-EFFB-9494-939530E6ACE6}"/>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7C26CA67-5AC5-033E-F7C6-8741632D395F}"/>
              </a:ext>
            </a:extLst>
          </p:cNvPr>
          <p:cNvSpPr/>
          <p:nvPr/>
        </p:nvSpPr>
        <p:spPr>
          <a:xfrm>
            <a:off x="9334195" y="-952805"/>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4ab2116e971fbb9400d0e99205bd0390.png">
            <a:extLst>
              <a:ext uri="{FF2B5EF4-FFF2-40B4-BE49-F238E27FC236}">
                <a16:creationId xmlns:a16="http://schemas.microsoft.com/office/drawing/2014/main" id="{08E93300-66C1-83DC-0D75-3663638B5410}"/>
              </a:ext>
            </a:extLst>
          </p:cNvPr>
          <p:cNvPicPr>
            <a:picLocks noChangeAspect="1"/>
          </p:cNvPicPr>
          <p:nvPr/>
        </p:nvPicPr>
        <p:blipFill>
          <a:blip r:embed="rId3">
            <a:alphaModFix amt="5000"/>
          </a:blip>
          <a:srcRect/>
          <a:stretch/>
        </p:blipFill>
        <p:spPr>
          <a:xfrm>
            <a:off x="10001707" y="5238598"/>
            <a:ext cx="1904695" cy="1904695"/>
          </a:xfrm>
          <a:prstGeom prst="rect">
            <a:avLst/>
          </a:prstGeom>
        </p:spPr>
      </p:pic>
      <p:pic>
        <p:nvPicPr>
          <p:cNvPr id="6" name="Image 1" descr="gen-dedup-323228122ff92d2332e711a84ca3b40c.png">
            <a:extLst>
              <a:ext uri="{FF2B5EF4-FFF2-40B4-BE49-F238E27FC236}">
                <a16:creationId xmlns:a16="http://schemas.microsoft.com/office/drawing/2014/main" id="{F1659A7B-21C5-E18B-E3B3-532B1CAA7859}"/>
              </a:ext>
            </a:extLst>
          </p:cNvPr>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a:extLst>
              <a:ext uri="{FF2B5EF4-FFF2-40B4-BE49-F238E27FC236}">
                <a16:creationId xmlns:a16="http://schemas.microsoft.com/office/drawing/2014/main" id="{787AB771-F031-FC72-9428-7C4E26C42059}"/>
              </a:ext>
            </a:extLst>
          </p:cNvPr>
          <p:cNvPicPr>
            <a:picLocks noChangeAspect="1"/>
          </p:cNvPicPr>
          <p:nvPr/>
        </p:nvPicPr>
        <p:blipFill>
          <a:blip r:embed="rId5"/>
          <a:srcRect l="-202" r="-202"/>
          <a:stretch/>
        </p:blipFill>
        <p:spPr>
          <a:xfrm>
            <a:off x="8124444" y="0"/>
            <a:ext cx="4067251" cy="75895"/>
          </a:xfrm>
          <a:prstGeom prst="rect">
            <a:avLst/>
          </a:prstGeom>
        </p:spPr>
      </p:pic>
      <p:sp>
        <p:nvSpPr>
          <p:cNvPr id="8" name="Text 3">
            <a:extLst>
              <a:ext uri="{FF2B5EF4-FFF2-40B4-BE49-F238E27FC236}">
                <a16:creationId xmlns:a16="http://schemas.microsoft.com/office/drawing/2014/main" id="{8B088AAD-A287-6BD5-6078-F68C935297D8}"/>
              </a:ext>
            </a:extLst>
          </p:cNvPr>
          <p:cNvSpPr txBox="1"/>
          <p:nvPr/>
        </p:nvSpPr>
        <p:spPr>
          <a:xfrm>
            <a:off x="381305" y="1143000"/>
            <a:ext cx="2382012" cy="1524305"/>
          </a:xfrm>
          <a:prstGeom prst="rect">
            <a:avLst/>
          </a:prstGeom>
          <a:noFill/>
          <a:ln/>
        </p:spPr>
        <p:txBody>
          <a:bodyPr wrap="none" lIns="0" tIns="0" rIns="0" bIns="0" rtlCol="0" anchor="ctr"/>
          <a:lstStyle/>
          <a:p>
            <a:pPr marL="0" indent="0" algn="l">
              <a:buNone/>
            </a:pPr>
            <a:r>
              <a:rPr lang="en-US" sz="12000" b="1">
                <a:solidFill>
                  <a:srgbClr val="F3F4F6"/>
                </a:solidFill>
                <a:latin typeface="Oswald" pitchFamily="34" charset="0"/>
                <a:ea typeface="Oswald" pitchFamily="34" charset="-122"/>
                <a:cs typeface="Oswald" pitchFamily="34" charset="-120"/>
              </a:rPr>
              <a:t>03</a:t>
            </a:r>
            <a:endParaRPr lang="en-US" sz="12000"/>
          </a:p>
        </p:txBody>
      </p:sp>
      <p:pic>
        <p:nvPicPr>
          <p:cNvPr id="11" name="Image 3" descr="gen-dedup-90395934058aa4b7c1bff00d7e70c0a4.png">
            <a:extLst>
              <a:ext uri="{FF2B5EF4-FFF2-40B4-BE49-F238E27FC236}">
                <a16:creationId xmlns:a16="http://schemas.microsoft.com/office/drawing/2014/main" id="{796B9E8C-F151-F8F0-BEDC-37F1FA0B5F06}"/>
              </a:ext>
            </a:extLst>
          </p:cNvPr>
          <p:cNvPicPr>
            <a:picLocks noChangeAspect="1"/>
          </p:cNvPicPr>
          <p:nvPr/>
        </p:nvPicPr>
        <p:blipFill>
          <a:blip r:embed="rId6"/>
          <a:srcRect l="-416" r="-416"/>
          <a:stretch/>
        </p:blipFill>
        <p:spPr>
          <a:xfrm>
            <a:off x="1143000" y="2428646"/>
            <a:ext cx="57607" cy="714146"/>
          </a:xfrm>
          <a:prstGeom prst="rect">
            <a:avLst/>
          </a:prstGeom>
        </p:spPr>
      </p:pic>
      <p:sp>
        <p:nvSpPr>
          <p:cNvPr id="12" name="Text 6">
            <a:extLst>
              <a:ext uri="{FF2B5EF4-FFF2-40B4-BE49-F238E27FC236}">
                <a16:creationId xmlns:a16="http://schemas.microsoft.com/office/drawing/2014/main" id="{493B0B9E-4EAF-B775-BD2D-124ECC0CC2B7}"/>
              </a:ext>
            </a:extLst>
          </p:cNvPr>
          <p:cNvSpPr txBox="1"/>
          <p:nvPr/>
        </p:nvSpPr>
        <p:spPr>
          <a:xfrm>
            <a:off x="1429207" y="2333549"/>
            <a:ext cx="9525305" cy="762610"/>
          </a:xfrm>
          <a:prstGeom prst="rect">
            <a:avLst/>
          </a:prstGeom>
          <a:noFill/>
          <a:ln/>
        </p:spPr>
        <p:txBody>
          <a:bodyPr wrap="none" lIns="0" tIns="0" rIns="0" bIns="0" rtlCol="0" anchor="ctr"/>
          <a:lstStyle/>
          <a:p>
            <a:pPr marL="0" indent="0" algn="l">
              <a:buNone/>
            </a:pPr>
            <a:r>
              <a:rPr lang="en-US" sz="5400" b="1" kern="0" spc="108">
                <a:solidFill>
                  <a:srgbClr val="111827"/>
                </a:solidFill>
                <a:latin typeface="Oswald" pitchFamily="34" charset="0"/>
                <a:ea typeface="Oswald" pitchFamily="34" charset="-122"/>
                <a:cs typeface="Oswald" pitchFamily="34" charset="-120"/>
              </a:rPr>
              <a:t>MANAGED SERVICE SOLUTIONS</a:t>
            </a:r>
          </a:p>
        </p:txBody>
      </p:sp>
      <p:sp>
        <p:nvSpPr>
          <p:cNvPr id="13" name="Text 7">
            <a:extLst>
              <a:ext uri="{FF2B5EF4-FFF2-40B4-BE49-F238E27FC236}">
                <a16:creationId xmlns:a16="http://schemas.microsoft.com/office/drawing/2014/main" id="{D1E95E23-50BF-2585-6188-7EA29589DA1C}"/>
              </a:ext>
            </a:extLst>
          </p:cNvPr>
          <p:cNvSpPr txBox="1"/>
          <p:nvPr/>
        </p:nvSpPr>
        <p:spPr>
          <a:xfrm>
            <a:off x="1429207" y="3333902"/>
            <a:ext cx="9127033" cy="170993"/>
          </a:xfrm>
          <a:prstGeom prst="rect">
            <a:avLst/>
          </a:prstGeom>
          <a:noFill/>
          <a:ln/>
        </p:spPr>
        <p:txBody>
          <a:bodyPr wrap="none" lIns="0" tIns="0" rIns="0" bIns="0" rtlCol="0" anchor="ctr"/>
          <a:lstStyle/>
          <a:p>
            <a:pPr marL="0" indent="0" algn="l">
              <a:buNone/>
            </a:pPr>
            <a:r>
              <a:rPr lang="en-US" sz="2100">
                <a:solidFill>
                  <a:srgbClr val="2A9D8F"/>
                </a:solidFill>
                <a:latin typeface="Raleway" pitchFamily="34" charset="0"/>
                <a:ea typeface="Raleway" pitchFamily="34" charset="-122"/>
                <a:cs typeface="Raleway" pitchFamily="34" charset="-120"/>
              </a:rPr>
              <a:t>Outcome-owned delivery across your most critical enterprise stacks - </a:t>
            </a:r>
          </a:p>
          <a:p>
            <a:pPr marL="0" indent="0" algn="l">
              <a:buNone/>
            </a:pPr>
            <a:r>
              <a:rPr lang="en-US" sz="2100">
                <a:solidFill>
                  <a:srgbClr val="2A9D8F"/>
                </a:solidFill>
                <a:latin typeface="Raleway" pitchFamily="34" charset="0"/>
                <a:ea typeface="Raleway" pitchFamily="34" charset="-122"/>
                <a:cs typeface="Raleway" pitchFamily="34" charset="-120"/>
              </a:rPr>
              <a:t>we own the SLOs, not just the seats.</a:t>
            </a:r>
          </a:p>
        </p:txBody>
      </p:sp>
      <p:sp>
        <p:nvSpPr>
          <p:cNvPr id="14" name="Text 8">
            <a:extLst>
              <a:ext uri="{FF2B5EF4-FFF2-40B4-BE49-F238E27FC236}">
                <a16:creationId xmlns:a16="http://schemas.microsoft.com/office/drawing/2014/main" id="{1852004E-001E-9611-F364-77841D88018F}"/>
              </a:ext>
            </a:extLst>
          </p:cNvPr>
          <p:cNvSpPr txBox="1"/>
          <p:nvPr/>
        </p:nvSpPr>
        <p:spPr>
          <a:xfrm>
            <a:off x="1429207" y="4143146"/>
            <a:ext cx="9335110" cy="5532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This is not a staffing engagement with a governance wrapper. We bring pre-built accelerators, embedded domain expertise, and a hard 40% improvement threshold - so every engagement moves a metric, not just a milestone.</a:t>
            </a:r>
            <a:endParaRPr lang="en-US" sz="1300"/>
          </a:p>
        </p:txBody>
      </p:sp>
      <p:pic>
        <p:nvPicPr>
          <p:cNvPr id="15" name="Image 4" descr="gen-dedup-818c62191cf4a66fb5704c7f87e3fedf.png">
            <a:extLst>
              <a:ext uri="{FF2B5EF4-FFF2-40B4-BE49-F238E27FC236}">
                <a16:creationId xmlns:a16="http://schemas.microsoft.com/office/drawing/2014/main" id="{E8F83646-DE63-E358-1F6F-53BDCE9C510A}"/>
              </a:ext>
            </a:extLst>
          </p:cNvPr>
          <p:cNvPicPr>
            <a:picLocks noChangeAspect="1"/>
          </p:cNvPicPr>
          <p:nvPr/>
        </p:nvPicPr>
        <p:blipFill>
          <a:blip r:embed="rId7"/>
          <a:srcRect l="-166" r="-166"/>
          <a:stretch/>
        </p:blipFill>
        <p:spPr>
          <a:xfrm>
            <a:off x="1429207" y="5143500"/>
            <a:ext cx="1933956" cy="418795"/>
          </a:xfrm>
          <a:prstGeom prst="rect">
            <a:avLst/>
          </a:prstGeom>
        </p:spPr>
      </p:pic>
      <p:sp>
        <p:nvSpPr>
          <p:cNvPr id="16" name="Shape 9">
            <a:extLst>
              <a:ext uri="{FF2B5EF4-FFF2-40B4-BE49-F238E27FC236}">
                <a16:creationId xmlns:a16="http://schemas.microsoft.com/office/drawing/2014/main" id="{F371CEAE-1742-792F-2C3C-3EE3A14928CC}"/>
              </a:ext>
            </a:extLst>
          </p:cNvPr>
          <p:cNvSpPr/>
          <p:nvPr/>
        </p:nvSpPr>
        <p:spPr>
          <a:xfrm>
            <a:off x="1429207" y="5143500"/>
            <a:ext cx="1933956" cy="418795"/>
          </a:xfrm>
          <a:prstGeom prst="roundRect">
            <a:avLst>
              <a:gd name="adj" fmla="val 13755"/>
            </a:avLst>
          </a:prstGeom>
          <a:noFill/>
          <a:ln w="12700">
            <a:solidFill>
              <a:srgbClr val="E5E7EB"/>
            </a:solidFill>
            <a:prstDash val="solid"/>
          </a:ln>
        </p:spPr>
        <p:txBody>
          <a:bodyPr/>
          <a:lstStyle/>
          <a:p>
            <a:endParaRPr lang="en-US"/>
          </a:p>
        </p:txBody>
      </p:sp>
      <p:sp>
        <p:nvSpPr>
          <p:cNvPr id="17" name="Text 10">
            <a:extLst>
              <a:ext uri="{FF2B5EF4-FFF2-40B4-BE49-F238E27FC236}">
                <a16:creationId xmlns:a16="http://schemas.microsoft.com/office/drawing/2014/main" id="{A4DB6210-1039-8E9B-BA17-6D3D6EDB4D79}"/>
              </a:ext>
            </a:extLst>
          </p:cNvPr>
          <p:cNvSpPr txBox="1"/>
          <p:nvPr/>
        </p:nvSpPr>
        <p:spPr>
          <a:xfrm>
            <a:off x="1653845" y="5143500"/>
            <a:ext cx="14959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60+ pre-built solution </a:t>
            </a:r>
          </a:p>
          <a:p>
            <a:pPr marL="0" indent="0" algn="l">
              <a:buNone/>
            </a:pPr>
            <a:r>
              <a:rPr lang="en-US" sz="1100" b="1">
                <a:solidFill>
                  <a:srgbClr val="374151"/>
                </a:solidFill>
                <a:latin typeface="Raleway" pitchFamily="34" charset="0"/>
                <a:ea typeface="Raleway" pitchFamily="34" charset="-122"/>
                <a:cs typeface="Raleway" pitchFamily="34" charset="-120"/>
              </a:rPr>
              <a:t>accelerators</a:t>
            </a:r>
            <a:endParaRPr lang="en-US" sz="1100"/>
          </a:p>
        </p:txBody>
      </p:sp>
      <p:pic>
        <p:nvPicPr>
          <p:cNvPr id="18" name="Image 5" descr="gen-dedup-a287ae7abd092c83dc5f899415c51d00.png">
            <a:extLst>
              <a:ext uri="{FF2B5EF4-FFF2-40B4-BE49-F238E27FC236}">
                <a16:creationId xmlns:a16="http://schemas.microsoft.com/office/drawing/2014/main" id="{B8EBDEE0-CA2B-2977-B786-BF2F31C196AE}"/>
              </a:ext>
            </a:extLst>
          </p:cNvPr>
          <p:cNvPicPr>
            <a:picLocks noChangeAspect="1"/>
          </p:cNvPicPr>
          <p:nvPr/>
        </p:nvPicPr>
        <p:blipFill>
          <a:blip r:embed="rId8"/>
          <a:srcRect t="-16800" b="-16800"/>
          <a:stretch/>
        </p:blipFill>
        <p:spPr>
          <a:xfrm>
            <a:off x="1657807" y="5277002"/>
            <a:ext cx="114300" cy="152705"/>
          </a:xfrm>
          <a:prstGeom prst="rect">
            <a:avLst/>
          </a:prstGeom>
        </p:spPr>
      </p:pic>
      <p:pic>
        <p:nvPicPr>
          <p:cNvPr id="19" name="Image 6" descr="gen-dedup-0363cb9fbb55bfd8aa96459f99cffd70.png">
            <a:extLst>
              <a:ext uri="{FF2B5EF4-FFF2-40B4-BE49-F238E27FC236}">
                <a16:creationId xmlns:a16="http://schemas.microsoft.com/office/drawing/2014/main" id="{70961C1D-5594-5681-CAB0-8FC218329E9A}"/>
              </a:ext>
            </a:extLst>
          </p:cNvPr>
          <p:cNvPicPr>
            <a:picLocks noChangeAspect="1"/>
          </p:cNvPicPr>
          <p:nvPr/>
        </p:nvPicPr>
        <p:blipFill>
          <a:blip r:embed="rId9"/>
          <a:srcRect l="-260" r="-260"/>
          <a:stretch/>
        </p:blipFill>
        <p:spPr>
          <a:xfrm>
            <a:off x="3510382" y="5143500"/>
            <a:ext cx="2430170" cy="418795"/>
          </a:xfrm>
          <a:prstGeom prst="rect">
            <a:avLst/>
          </a:prstGeom>
        </p:spPr>
      </p:pic>
      <p:sp>
        <p:nvSpPr>
          <p:cNvPr id="20" name="Shape 11">
            <a:extLst>
              <a:ext uri="{FF2B5EF4-FFF2-40B4-BE49-F238E27FC236}">
                <a16:creationId xmlns:a16="http://schemas.microsoft.com/office/drawing/2014/main" id="{457818EF-B619-D54A-AD34-A2E5256A6011}"/>
              </a:ext>
            </a:extLst>
          </p:cNvPr>
          <p:cNvSpPr/>
          <p:nvPr/>
        </p:nvSpPr>
        <p:spPr>
          <a:xfrm>
            <a:off x="3510382" y="5143500"/>
            <a:ext cx="2430170" cy="418795"/>
          </a:xfrm>
          <a:prstGeom prst="roundRect">
            <a:avLst>
              <a:gd name="adj" fmla="val 13755"/>
            </a:avLst>
          </a:prstGeom>
          <a:noFill/>
          <a:ln w="12700">
            <a:solidFill>
              <a:srgbClr val="E5E7EB"/>
            </a:solidFill>
            <a:prstDash val="solid"/>
          </a:ln>
        </p:spPr>
        <p:txBody>
          <a:bodyPr/>
          <a:lstStyle/>
          <a:p>
            <a:endParaRPr lang="en-US"/>
          </a:p>
        </p:txBody>
      </p:sp>
      <p:sp>
        <p:nvSpPr>
          <p:cNvPr id="21" name="Text 12">
            <a:extLst>
              <a:ext uri="{FF2B5EF4-FFF2-40B4-BE49-F238E27FC236}">
                <a16:creationId xmlns:a16="http://schemas.microsoft.com/office/drawing/2014/main" id="{F4429C0E-1902-5910-9BDD-8ABBCB86B1EB}"/>
              </a:ext>
            </a:extLst>
          </p:cNvPr>
          <p:cNvSpPr txBox="1"/>
          <p:nvPr/>
        </p:nvSpPr>
        <p:spPr>
          <a:xfrm>
            <a:off x="3735018" y="5143500"/>
            <a:ext cx="1740567"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AI &amp; Data, QE, SAP, </a:t>
            </a:r>
          </a:p>
          <a:p>
            <a:pPr marL="0" indent="0" algn="l">
              <a:buNone/>
            </a:pPr>
            <a:r>
              <a:rPr lang="en-US" sz="1100" b="1">
                <a:solidFill>
                  <a:srgbClr val="374151"/>
                </a:solidFill>
                <a:latin typeface="Raleway" pitchFamily="34" charset="0"/>
                <a:ea typeface="Raleway" pitchFamily="34" charset="-122"/>
                <a:cs typeface="Raleway" pitchFamily="34" charset="-120"/>
              </a:rPr>
              <a:t>ServiceNow &amp; industry stacks</a:t>
            </a:r>
            <a:endParaRPr lang="en-US" sz="1100"/>
          </a:p>
        </p:txBody>
      </p:sp>
      <p:pic>
        <p:nvPicPr>
          <p:cNvPr id="22" name="Image 7" descr="gen-dedup-c395ac9c840728d6470a4a8b33662e6e.png">
            <a:extLst>
              <a:ext uri="{FF2B5EF4-FFF2-40B4-BE49-F238E27FC236}">
                <a16:creationId xmlns:a16="http://schemas.microsoft.com/office/drawing/2014/main" id="{04CB1D1A-103F-1623-0D66-FF28427C6C4F}"/>
              </a:ext>
            </a:extLst>
          </p:cNvPr>
          <p:cNvPicPr>
            <a:picLocks noChangeAspect="1"/>
          </p:cNvPicPr>
          <p:nvPr/>
        </p:nvPicPr>
        <p:blipFill>
          <a:blip r:embed="rId10"/>
          <a:srcRect t="-16800" b="-16800"/>
          <a:stretch/>
        </p:blipFill>
        <p:spPr>
          <a:xfrm>
            <a:off x="3738981" y="5277002"/>
            <a:ext cx="179959" cy="152705"/>
          </a:xfrm>
          <a:prstGeom prst="rect">
            <a:avLst/>
          </a:prstGeom>
        </p:spPr>
      </p:pic>
      <p:pic>
        <p:nvPicPr>
          <p:cNvPr id="23" name="Image 8" descr="gen-dedup-fe10f786880821f62e6e2a70ff719369.png">
            <a:extLst>
              <a:ext uri="{FF2B5EF4-FFF2-40B4-BE49-F238E27FC236}">
                <a16:creationId xmlns:a16="http://schemas.microsoft.com/office/drawing/2014/main" id="{5B947CD5-F90B-9E4C-3474-D5534455F9E9}"/>
              </a:ext>
            </a:extLst>
          </p:cNvPr>
          <p:cNvPicPr>
            <a:picLocks noChangeAspect="1"/>
          </p:cNvPicPr>
          <p:nvPr/>
        </p:nvPicPr>
        <p:blipFill>
          <a:blip r:embed="rId11"/>
          <a:srcRect l="-58" r="-58"/>
          <a:stretch/>
        </p:blipFill>
        <p:spPr>
          <a:xfrm>
            <a:off x="6080150" y="5143500"/>
            <a:ext cx="2619756" cy="418795"/>
          </a:xfrm>
          <a:prstGeom prst="rect">
            <a:avLst/>
          </a:prstGeom>
        </p:spPr>
      </p:pic>
      <p:sp>
        <p:nvSpPr>
          <p:cNvPr id="24" name="Shape 13">
            <a:extLst>
              <a:ext uri="{FF2B5EF4-FFF2-40B4-BE49-F238E27FC236}">
                <a16:creationId xmlns:a16="http://schemas.microsoft.com/office/drawing/2014/main" id="{1F6B1423-0E90-CE64-5BD3-9705DDC9D739}"/>
              </a:ext>
            </a:extLst>
          </p:cNvPr>
          <p:cNvSpPr/>
          <p:nvPr/>
        </p:nvSpPr>
        <p:spPr>
          <a:xfrm>
            <a:off x="6080150" y="5143500"/>
            <a:ext cx="2619756" cy="418795"/>
          </a:xfrm>
          <a:prstGeom prst="roundRect">
            <a:avLst>
              <a:gd name="adj" fmla="val 13755"/>
            </a:avLst>
          </a:prstGeom>
          <a:noFill/>
          <a:ln w="12700">
            <a:solidFill>
              <a:srgbClr val="E5E7EB"/>
            </a:solidFill>
            <a:prstDash val="solid"/>
          </a:ln>
        </p:spPr>
        <p:txBody>
          <a:bodyPr/>
          <a:lstStyle/>
          <a:p>
            <a:endParaRPr lang="en-US"/>
          </a:p>
        </p:txBody>
      </p:sp>
      <p:sp>
        <p:nvSpPr>
          <p:cNvPr id="25" name="Text 14">
            <a:extLst>
              <a:ext uri="{FF2B5EF4-FFF2-40B4-BE49-F238E27FC236}">
                <a16:creationId xmlns:a16="http://schemas.microsoft.com/office/drawing/2014/main" id="{DF7B60D6-7803-AB8C-3D29-B56F3A615CAE}"/>
              </a:ext>
            </a:extLst>
          </p:cNvPr>
          <p:cNvSpPr txBox="1"/>
          <p:nvPr/>
        </p:nvSpPr>
        <p:spPr>
          <a:xfrm>
            <a:off x="6304788" y="5143500"/>
            <a:ext cx="21817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Outcome-bound SLOs - </a:t>
            </a:r>
          </a:p>
          <a:p>
            <a:pPr marL="0" indent="0" algn="l">
              <a:buNone/>
            </a:pPr>
            <a:r>
              <a:rPr lang="en-US" sz="1100" b="1">
                <a:solidFill>
                  <a:srgbClr val="374151"/>
                </a:solidFill>
                <a:latin typeface="Raleway" pitchFamily="34" charset="0"/>
                <a:ea typeface="Raleway" pitchFamily="34" charset="-122"/>
                <a:cs typeface="Raleway" pitchFamily="34" charset="-120"/>
              </a:rPr>
              <a:t>not rigid headcount</a:t>
            </a:r>
            <a:endParaRPr lang="en-US" sz="1100"/>
          </a:p>
        </p:txBody>
      </p:sp>
      <p:pic>
        <p:nvPicPr>
          <p:cNvPr id="26" name="Image 9" descr="gen-dedup-7637b076e607f7218cdb4973c81f38e6.png">
            <a:extLst>
              <a:ext uri="{FF2B5EF4-FFF2-40B4-BE49-F238E27FC236}">
                <a16:creationId xmlns:a16="http://schemas.microsoft.com/office/drawing/2014/main" id="{9A3BB248-7EFA-E322-7669-BBCFE8258323}"/>
              </a:ext>
            </a:extLst>
          </p:cNvPr>
          <p:cNvPicPr>
            <a:picLocks noChangeAspect="1"/>
          </p:cNvPicPr>
          <p:nvPr/>
        </p:nvPicPr>
        <p:blipFill>
          <a:blip r:embed="rId12"/>
          <a:srcRect t="-8450" b="-8450"/>
          <a:stretch/>
        </p:blipFill>
        <p:spPr>
          <a:xfrm>
            <a:off x="6308750" y="5277002"/>
            <a:ext cx="114300" cy="152705"/>
          </a:xfrm>
          <a:prstGeom prst="rect">
            <a:avLst/>
          </a:prstGeom>
        </p:spPr>
      </p:pic>
      <p:pic>
        <p:nvPicPr>
          <p:cNvPr id="27" name="Image 10" descr="gen-dedup-4b04481605890cd5e2948f325621428b.png">
            <a:extLst>
              <a:ext uri="{FF2B5EF4-FFF2-40B4-BE49-F238E27FC236}">
                <a16:creationId xmlns:a16="http://schemas.microsoft.com/office/drawing/2014/main" id="{53B8E985-0D54-46C0-B850-F55F0F43B24D}"/>
              </a:ext>
            </a:extLst>
          </p:cNvPr>
          <p:cNvPicPr>
            <a:picLocks noChangeAspect="1"/>
          </p:cNvPicPr>
          <p:nvPr/>
        </p:nvPicPr>
        <p:blipFill>
          <a:blip r:embed="rId13"/>
          <a:srcRect l="-216" r="-216"/>
          <a:stretch/>
        </p:blipFill>
        <p:spPr>
          <a:xfrm>
            <a:off x="8850782" y="5143500"/>
            <a:ext cx="2562149" cy="418795"/>
          </a:xfrm>
          <a:prstGeom prst="rect">
            <a:avLst/>
          </a:prstGeom>
        </p:spPr>
      </p:pic>
      <p:sp>
        <p:nvSpPr>
          <p:cNvPr id="28" name="Shape 15">
            <a:extLst>
              <a:ext uri="{FF2B5EF4-FFF2-40B4-BE49-F238E27FC236}">
                <a16:creationId xmlns:a16="http://schemas.microsoft.com/office/drawing/2014/main" id="{E9A59155-F9A1-AD80-A65B-F9ECD10439EE}"/>
              </a:ext>
            </a:extLst>
          </p:cNvPr>
          <p:cNvSpPr/>
          <p:nvPr/>
        </p:nvSpPr>
        <p:spPr>
          <a:xfrm>
            <a:off x="8850782" y="5143500"/>
            <a:ext cx="2562149" cy="418795"/>
          </a:xfrm>
          <a:prstGeom prst="roundRect">
            <a:avLst>
              <a:gd name="adj" fmla="val 13755"/>
            </a:avLst>
          </a:prstGeom>
          <a:noFill/>
          <a:ln w="12700">
            <a:solidFill>
              <a:srgbClr val="E5E7EB"/>
            </a:solidFill>
            <a:prstDash val="solid"/>
          </a:ln>
        </p:spPr>
        <p:txBody>
          <a:bodyPr/>
          <a:lstStyle/>
          <a:p>
            <a:endParaRPr lang="en-US"/>
          </a:p>
        </p:txBody>
      </p:sp>
      <p:sp>
        <p:nvSpPr>
          <p:cNvPr id="29" name="Text 16">
            <a:extLst>
              <a:ext uri="{FF2B5EF4-FFF2-40B4-BE49-F238E27FC236}">
                <a16:creationId xmlns:a16="http://schemas.microsoft.com/office/drawing/2014/main" id="{BE549BED-29A0-2ADD-A972-CA7D06BA8631}"/>
              </a:ext>
            </a:extLst>
          </p:cNvPr>
          <p:cNvSpPr txBox="1"/>
          <p:nvPr/>
        </p:nvSpPr>
        <p:spPr>
          <a:xfrm>
            <a:off x="9075420" y="5143500"/>
            <a:ext cx="2125066"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40% improvement threshold - </a:t>
            </a:r>
          </a:p>
          <a:p>
            <a:pPr marL="0" indent="0" algn="l">
              <a:buNone/>
            </a:pPr>
            <a:r>
              <a:rPr lang="en-US" sz="1100" b="1">
                <a:solidFill>
                  <a:srgbClr val="374151"/>
                </a:solidFill>
                <a:latin typeface="Raleway" pitchFamily="34" charset="0"/>
                <a:ea typeface="Raleway" pitchFamily="34" charset="-122"/>
                <a:cs typeface="Raleway" pitchFamily="34" charset="-120"/>
              </a:rPr>
              <a:t>our standard</a:t>
            </a:r>
            <a:endParaRPr lang="en-US" sz="1100"/>
          </a:p>
        </p:txBody>
      </p:sp>
      <p:pic>
        <p:nvPicPr>
          <p:cNvPr id="30" name="Image 11" descr="gen-dedup-de4cb59b8211160ed90cebf7a454cebf.png">
            <a:extLst>
              <a:ext uri="{FF2B5EF4-FFF2-40B4-BE49-F238E27FC236}">
                <a16:creationId xmlns:a16="http://schemas.microsoft.com/office/drawing/2014/main" id="{3B400595-3ACA-18C0-3A49-7171B2960ECC}"/>
              </a:ext>
            </a:extLst>
          </p:cNvPr>
          <p:cNvPicPr>
            <a:picLocks noChangeAspect="1"/>
          </p:cNvPicPr>
          <p:nvPr/>
        </p:nvPicPr>
        <p:blipFill>
          <a:blip r:embed="rId14"/>
          <a:srcRect t="-16800" b="-16800"/>
          <a:stretch/>
        </p:blipFill>
        <p:spPr>
          <a:xfrm>
            <a:off x="9079382" y="5277002"/>
            <a:ext cx="114300" cy="152705"/>
          </a:xfrm>
          <a:prstGeom prst="rect">
            <a:avLst/>
          </a:prstGeom>
        </p:spPr>
      </p:pic>
      <p:sp>
        <p:nvSpPr>
          <p:cNvPr id="31" name="Shape 17">
            <a:extLst>
              <a:ext uri="{FF2B5EF4-FFF2-40B4-BE49-F238E27FC236}">
                <a16:creationId xmlns:a16="http://schemas.microsoft.com/office/drawing/2014/main" id="{3EAF0254-0893-8027-5616-80FDE995E4DA}"/>
              </a:ext>
            </a:extLst>
          </p:cNvPr>
          <p:cNvSpPr/>
          <p:nvPr/>
        </p:nvSpPr>
        <p:spPr>
          <a:xfrm>
            <a:off x="1143000" y="6096305"/>
            <a:ext cx="9905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32" name="Text 18">
            <a:extLst>
              <a:ext uri="{FF2B5EF4-FFF2-40B4-BE49-F238E27FC236}">
                <a16:creationId xmlns:a16="http://schemas.microsoft.com/office/drawing/2014/main" id="{3166FB85-E816-D8A3-12F5-2636818EBBCD}"/>
              </a:ext>
            </a:extLst>
          </p:cNvPr>
          <p:cNvSpPr txBox="1"/>
          <p:nvPr/>
        </p:nvSpPr>
        <p:spPr>
          <a:xfrm>
            <a:off x="1143000" y="6258154"/>
            <a:ext cx="9906610" cy="181051"/>
          </a:xfrm>
          <a:prstGeom prst="rect">
            <a:avLst/>
          </a:prstGeom>
          <a:noFill/>
          <a:ln/>
        </p:spPr>
        <p:txBody>
          <a:bodyPr wrap="none" lIns="0" tIns="0" rIns="0" bIns="0" rtlCol="0" anchor="ctr"/>
          <a:lstStyle/>
          <a:p>
            <a:pPr marL="0" indent="0" algn="l">
              <a:buNone/>
            </a:pPr>
            <a:r>
              <a:rPr lang="en-US" sz="1200" b="1" kern="0" spc="24">
                <a:solidFill>
                  <a:srgbClr val="6B7280"/>
                </a:solidFill>
                <a:latin typeface="Raleway" pitchFamily="34" charset="0"/>
                <a:ea typeface="Raleway" pitchFamily="34" charset="-122"/>
                <a:cs typeface="Raleway" pitchFamily="34" charset="-120"/>
              </a:rPr>
              <a:t>Turn your most complex enterprise operations into a competitive advantage - with outcomes we sign off on.</a:t>
            </a:r>
            <a:endParaRPr lang="en-US" sz="1200"/>
          </a:p>
        </p:txBody>
      </p:sp>
    </p:spTree>
    <p:extLst>
      <p:ext uri="{BB962C8B-B14F-4D97-AF65-F5344CB8AC3E}">
        <p14:creationId xmlns:p14="http://schemas.microsoft.com/office/powerpoint/2010/main" val="2625895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202" r="-202"/>
          <a:stretch/>
        </p:blipFill>
        <p:spPr>
          <a:xfrm>
            <a:off x="0" y="0"/>
            <a:ext cx="8127187" cy="75895"/>
          </a:xfrm>
          <a:prstGeom prst="rect">
            <a:avLst/>
          </a:prstGeom>
        </p:spPr>
      </p:pic>
      <p:pic>
        <p:nvPicPr>
          <p:cNvPr id="5" name="Image 1" descr="gen-dedup-64882feb7a832238af77b962fc7a8538.png"/>
          <p:cNvPicPr>
            <a:picLocks noChangeAspect="1"/>
          </p:cNvPicPr>
          <p:nvPr/>
        </p:nvPicPr>
        <p:blipFill>
          <a:blip r:embed="rId4"/>
          <a:srcRect l="-203" r="-203"/>
          <a:stretch/>
        </p:blipFill>
        <p:spPr>
          <a:xfrm>
            <a:off x="8127187"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c72c85b07e3f177762516dd89615ea68.png"/>
          <p:cNvPicPr>
            <a:picLocks noChangeAspect="1"/>
          </p:cNvPicPr>
          <p:nvPr/>
        </p:nvPicPr>
        <p:blipFill>
          <a:blip r:embed="rId6"/>
          <a:srcRect t="-217" b="-217"/>
          <a:stretch/>
        </p:blipFill>
        <p:spPr>
          <a:xfrm>
            <a:off x="609905" y="544982"/>
            <a:ext cx="75895" cy="476402"/>
          </a:xfrm>
          <a:prstGeom prst="rect">
            <a:avLst/>
          </a:prstGeom>
        </p:spPr>
      </p:pic>
      <p:sp>
        <p:nvSpPr>
          <p:cNvPr id="9" name="Text 3"/>
          <p:cNvSpPr txBox="1"/>
          <p:nvPr/>
        </p:nvSpPr>
        <p:spPr>
          <a:xfrm>
            <a:off x="875995" y="381305"/>
            <a:ext cx="7105802" cy="467258"/>
          </a:xfrm>
          <a:prstGeom prst="rect">
            <a:avLst/>
          </a:prstGeom>
          <a:noFill/>
          <a:ln/>
        </p:spPr>
        <p:txBody>
          <a:bodyPr wrap="none" lIns="0" tIns="0" rIns="0" bIns="0" rtlCol="0" anchor="ctr"/>
          <a:lstStyle/>
          <a:p>
            <a:pPr marL="0" indent="0" algn="l">
              <a:buNone/>
            </a:pPr>
            <a:r>
              <a:rPr lang="en-US" sz="3300" b="1" kern="0" spc="-82">
                <a:solidFill>
                  <a:srgbClr val="111827"/>
                </a:solidFill>
                <a:latin typeface="Oswald" pitchFamily="34" charset="0"/>
                <a:ea typeface="Oswald" pitchFamily="34" charset="-122"/>
                <a:cs typeface="Oswald" pitchFamily="34" charset="-120"/>
              </a:rPr>
              <a:t>Managed Service Solutions</a:t>
            </a:r>
            <a:endParaRPr lang="en-US" sz="3300"/>
          </a:p>
        </p:txBody>
      </p:sp>
      <p:sp>
        <p:nvSpPr>
          <p:cNvPr id="10" name="Text 4"/>
          <p:cNvSpPr txBox="1"/>
          <p:nvPr/>
        </p:nvSpPr>
        <p:spPr>
          <a:xfrm>
            <a:off x="875995" y="898855"/>
            <a:ext cx="7791602" cy="286207"/>
          </a:xfrm>
          <a:prstGeom prst="rect">
            <a:avLst/>
          </a:prstGeom>
          <a:noFill/>
          <a:ln/>
        </p:spPr>
        <p:txBody>
          <a:bodyPr wrap="non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OUTCOME-BOUND DELIVERY - NOT JUST A VENDOR WITH A STATEMENT OF WORK.</a:t>
            </a:r>
            <a:endParaRPr lang="en-US" sz="1500"/>
          </a:p>
        </p:txBody>
      </p:sp>
      <p:sp>
        <p:nvSpPr>
          <p:cNvPr id="11" name="Shape 5"/>
          <p:cNvSpPr/>
          <p:nvPr/>
        </p:nvSpPr>
        <p:spPr>
          <a:xfrm>
            <a:off x="609905" y="1524305"/>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2" name="Shape 6"/>
          <p:cNvSpPr/>
          <p:nvPr/>
        </p:nvSpPr>
        <p:spPr>
          <a:xfrm>
            <a:off x="609905" y="1524305"/>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2699308"/>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6" name="Shape 10"/>
          <p:cNvSpPr/>
          <p:nvPr/>
        </p:nvSpPr>
        <p:spPr>
          <a:xfrm>
            <a:off x="609905" y="2699308"/>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7" name="Shape 11"/>
          <p:cNvSpPr/>
          <p:nvPr/>
        </p:nvSpPr>
        <p:spPr>
          <a:xfrm>
            <a:off x="609905" y="3823105"/>
            <a:ext cx="5524805" cy="1162202"/>
          </a:xfrm>
          <a:prstGeom prst="roundRect">
            <a:avLst>
              <a:gd name="adj" fmla="val 10318"/>
            </a:avLst>
          </a:prstGeom>
          <a:solidFill>
            <a:srgbClr val="FFFFFF"/>
          </a:solidFill>
          <a:ln w="12700">
            <a:solidFill>
              <a:srgbClr val="E5E7EB"/>
            </a:solidFill>
            <a:prstDash val="solid"/>
          </a:ln>
        </p:spPr>
        <p:txBody>
          <a:bodyPr/>
          <a:lstStyle/>
          <a:p>
            <a:endParaRPr lang="en-US"/>
          </a:p>
        </p:txBody>
      </p:sp>
      <p:sp>
        <p:nvSpPr>
          <p:cNvPr id="18" name="Shape 12"/>
          <p:cNvSpPr/>
          <p:nvPr/>
        </p:nvSpPr>
        <p:spPr>
          <a:xfrm>
            <a:off x="609905" y="3823105"/>
            <a:ext cx="38405" cy="1162202"/>
          </a:xfrm>
          <a:prstGeom prst="roundRect">
            <a:avLst>
              <a:gd name="adj" fmla="val 312254"/>
            </a:avLst>
          </a:prstGeom>
          <a:solidFill>
            <a:srgbClr val="D62839"/>
          </a:solidFill>
          <a:ln w="12700">
            <a:solidFill>
              <a:srgbClr val="D62839">
                <a:alpha val="0"/>
              </a:srgbClr>
            </a:solidFill>
            <a:prstDash val="solid"/>
          </a:ln>
        </p:spPr>
        <p:txBody>
          <a:bodyPr/>
          <a:lstStyle/>
          <a:p>
            <a:endParaRPr lang="en-US"/>
          </a:p>
        </p:txBody>
      </p:sp>
      <p:sp>
        <p:nvSpPr>
          <p:cNvPr id="19" name="Shape 13"/>
          <p:cNvSpPr/>
          <p:nvPr/>
        </p:nvSpPr>
        <p:spPr>
          <a:xfrm>
            <a:off x="6381598" y="1524305"/>
            <a:ext cx="5201107" cy="4572000"/>
          </a:xfrm>
          <a:prstGeom prst="roundRect">
            <a:avLst>
              <a:gd name="adj" fmla="val 667"/>
            </a:avLst>
          </a:prstGeom>
          <a:solidFill>
            <a:srgbClr val="F8FAFC"/>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6391656" y="1533449"/>
            <a:ext cx="5181905" cy="552298"/>
          </a:xfrm>
          <a:prstGeom prst="roundRect">
            <a:avLst>
              <a:gd name="adj" fmla="val 45672"/>
            </a:avLst>
          </a:prstGeom>
          <a:solidFill>
            <a:srgbClr val="1F2937"/>
          </a:solidFill>
          <a:ln w="12700">
            <a:solidFill>
              <a:srgbClr val="FFFFFF">
                <a:alpha val="0"/>
              </a:srgbClr>
            </a:solidFill>
            <a:prstDash val="solid"/>
          </a:ln>
        </p:spPr>
        <p:txBody>
          <a:bodyPr/>
          <a:lstStyle/>
          <a:p>
            <a:endParaRPr lang="en-US"/>
          </a:p>
        </p:txBody>
      </p:sp>
      <p:sp>
        <p:nvSpPr>
          <p:cNvPr id="21" name="Text 15"/>
          <p:cNvSpPr txBox="1"/>
          <p:nvPr/>
        </p:nvSpPr>
        <p:spPr>
          <a:xfrm>
            <a:off x="6543446" y="1593692"/>
            <a:ext cx="4877410" cy="324612"/>
          </a:xfrm>
          <a:prstGeom prst="rect">
            <a:avLst/>
          </a:prstGeom>
          <a:noFill/>
          <a:ln/>
        </p:spPr>
        <p:txBody>
          <a:bodyPr wrap="none" lIns="0" tIns="0" rIns="0" bIns="0" rtlCol="0" anchor="ctr"/>
          <a:lstStyle/>
          <a:p>
            <a:pPr marL="0" indent="0" algn="ctr">
              <a:buNone/>
            </a:pPr>
            <a:r>
              <a:rPr lang="en-US" sz="1100">
                <a:solidFill>
                  <a:srgbClr val="FFFFFF"/>
                </a:solidFill>
                <a:latin typeface="Oswald" pitchFamily="34" charset="0"/>
                <a:ea typeface="Oswald" pitchFamily="34" charset="-122"/>
                <a:cs typeface="Oswald" pitchFamily="34" charset="-120"/>
              </a:rPr>
              <a:t>Service Model Comparison</a:t>
            </a:r>
            <a:endParaRPr lang="en-US" sz="1100"/>
          </a:p>
        </p:txBody>
      </p:sp>
      <p:sp>
        <p:nvSpPr>
          <p:cNvPr id="22" name="Shape 16"/>
          <p:cNvSpPr/>
          <p:nvPr/>
        </p:nvSpPr>
        <p:spPr>
          <a:xfrm>
            <a:off x="609905" y="6229807"/>
            <a:ext cx="10972800" cy="437998"/>
          </a:xfrm>
          <a:prstGeom prst="roundRect">
            <a:avLst>
              <a:gd name="adj" fmla="val 36307"/>
            </a:avLst>
          </a:prstGeom>
          <a:solidFill>
            <a:srgbClr val="F8FAFC"/>
          </a:solidFill>
          <a:ln/>
        </p:spPr>
        <p:txBody>
          <a:bodyPr/>
          <a:lstStyle/>
          <a:p>
            <a:endParaRPr lang="en-US"/>
          </a:p>
        </p:txBody>
      </p:sp>
      <p:sp>
        <p:nvSpPr>
          <p:cNvPr id="23" name="Shape 17"/>
          <p:cNvSpPr/>
          <p:nvPr/>
        </p:nvSpPr>
        <p:spPr>
          <a:xfrm>
            <a:off x="609905" y="6229807"/>
            <a:ext cx="38405" cy="437998"/>
          </a:xfrm>
          <a:prstGeom prst="roundRect">
            <a:avLst>
              <a:gd name="adj" fmla="val 414077"/>
            </a:avLst>
          </a:prstGeom>
          <a:solidFill>
            <a:srgbClr val="111827"/>
          </a:solidFill>
          <a:ln w="12700">
            <a:solidFill>
              <a:srgbClr val="111827">
                <a:alpha val="0"/>
              </a:srgbClr>
            </a:solidFill>
            <a:prstDash val="solid"/>
          </a:ln>
        </p:spPr>
        <p:txBody>
          <a:bodyPr/>
          <a:lstStyle/>
          <a:p>
            <a:endParaRPr lang="en-US"/>
          </a:p>
        </p:txBody>
      </p:sp>
      <p:sp>
        <p:nvSpPr>
          <p:cNvPr id="24" name="Text 18"/>
          <p:cNvSpPr txBox="1"/>
          <p:nvPr/>
        </p:nvSpPr>
        <p:spPr>
          <a:xfrm>
            <a:off x="981151" y="16386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Solution Accelerators</a:t>
            </a:r>
            <a:endParaRPr lang="en-US" sz="1400"/>
          </a:p>
        </p:txBody>
      </p:sp>
      <p:sp>
        <p:nvSpPr>
          <p:cNvPr id="25" name="Text 19"/>
          <p:cNvSpPr txBox="1"/>
          <p:nvPr/>
        </p:nvSpPr>
        <p:spPr>
          <a:xfrm>
            <a:off x="761695" y="1950415"/>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60+ pre-built accelerators across SAP, ServiceNow, Salesforce, and industry stacks - deployed fast, customized to fit, never forced.</a:t>
            </a:r>
            <a:endParaRPr lang="en-US" sz="1100"/>
          </a:p>
        </p:txBody>
      </p:sp>
      <p:pic>
        <p:nvPicPr>
          <p:cNvPr id="26" name="Image 4" descr="gen-dedup-aaaf743a9627457c5a8ecc39eba03c50.png"/>
          <p:cNvPicPr>
            <a:picLocks noChangeAspect="1"/>
          </p:cNvPicPr>
          <p:nvPr/>
        </p:nvPicPr>
        <p:blipFill>
          <a:blip r:embed="rId7"/>
          <a:srcRect t="-13462" b="-13462"/>
          <a:stretch/>
        </p:blipFill>
        <p:spPr>
          <a:xfrm>
            <a:off x="761695" y="1689811"/>
            <a:ext cx="142646" cy="181051"/>
          </a:xfrm>
          <a:prstGeom prst="rect">
            <a:avLst/>
          </a:prstGeom>
        </p:spPr>
      </p:pic>
      <p:sp>
        <p:nvSpPr>
          <p:cNvPr id="30" name="Text 22"/>
          <p:cNvSpPr txBox="1"/>
          <p:nvPr/>
        </p:nvSpPr>
        <p:spPr>
          <a:xfrm>
            <a:off x="981151" y="2813608"/>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Cross-Function Coverage</a:t>
            </a:r>
            <a:endParaRPr lang="en-US" sz="1400"/>
          </a:p>
        </p:txBody>
      </p:sp>
      <p:sp>
        <p:nvSpPr>
          <p:cNvPr id="31" name="Text 23"/>
          <p:cNvSpPr txBox="1"/>
          <p:nvPr/>
        </p:nvSpPr>
        <p:spPr>
          <a:xfrm>
            <a:off x="761695" y="3125418"/>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From AI CoE and Data CoE to Digital Engineering, Quality, and Cybersecurity - we operate across the full enterprise function map, not just the easy wins.</a:t>
            </a:r>
            <a:endParaRPr lang="en-US" sz="1100"/>
          </a:p>
        </p:txBody>
      </p:sp>
      <p:pic>
        <p:nvPicPr>
          <p:cNvPr id="32" name="Image 6" descr="gen-dedup-f27d894a2aa16499d7ef79199ddd11dd.png"/>
          <p:cNvPicPr>
            <a:picLocks noChangeAspect="1"/>
          </p:cNvPicPr>
          <p:nvPr/>
        </p:nvPicPr>
        <p:blipFill>
          <a:blip r:embed="rId8"/>
          <a:srcRect t="-21395" b="-21395"/>
          <a:stretch/>
        </p:blipFill>
        <p:spPr>
          <a:xfrm>
            <a:off x="761695" y="2864814"/>
            <a:ext cx="142646" cy="181051"/>
          </a:xfrm>
          <a:prstGeom prst="rect">
            <a:avLst/>
          </a:prstGeom>
        </p:spPr>
      </p:pic>
      <p:sp>
        <p:nvSpPr>
          <p:cNvPr id="33" name="Text 24"/>
          <p:cNvSpPr txBox="1"/>
          <p:nvPr/>
        </p:nvSpPr>
        <p:spPr>
          <a:xfrm>
            <a:off x="981151" y="39374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Proven ROI, Not Projections</a:t>
            </a:r>
            <a:endParaRPr lang="en-US" sz="1400"/>
          </a:p>
        </p:txBody>
      </p:sp>
      <p:sp>
        <p:nvSpPr>
          <p:cNvPr id="34" name="Text 25"/>
          <p:cNvSpPr txBox="1"/>
          <p:nvPr/>
        </p:nvSpPr>
        <p:spPr>
          <a:xfrm>
            <a:off x="761695" y="4249216"/>
            <a:ext cx="5220310" cy="581558"/>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Every accelerator comes with a benchmark from prior deployments. 80% reduction in reporting effort. 55% faster month-end close. 65% faster testing cycles. Numbers you inherit, not numbers we promise.</a:t>
            </a:r>
            <a:endParaRPr lang="en-US" sz="1100"/>
          </a:p>
        </p:txBody>
      </p:sp>
      <p:pic>
        <p:nvPicPr>
          <p:cNvPr id="35" name="Image 7" descr="gen-dedup-0d12da8ebc0b959d48949b1e6044d332.png"/>
          <p:cNvPicPr>
            <a:picLocks noChangeAspect="1"/>
          </p:cNvPicPr>
          <p:nvPr/>
        </p:nvPicPr>
        <p:blipFill>
          <a:blip r:embed="rId9"/>
          <a:srcRect t="-13462" b="-13462"/>
          <a:stretch/>
        </p:blipFill>
        <p:spPr>
          <a:xfrm>
            <a:off x="761695" y="3988612"/>
            <a:ext cx="142646" cy="181051"/>
          </a:xfrm>
          <a:prstGeom prst="rect">
            <a:avLst/>
          </a:prstGeom>
        </p:spPr>
      </p:pic>
      <p:sp>
        <p:nvSpPr>
          <p:cNvPr id="36" name="Shape 26"/>
          <p:cNvSpPr/>
          <p:nvPr/>
        </p:nvSpPr>
        <p:spPr>
          <a:xfrm>
            <a:off x="6381598" y="1952244"/>
            <a:ext cx="5201107" cy="599846"/>
          </a:xfrm>
          <a:prstGeom prst="rect">
            <a:avLst/>
          </a:prstGeom>
          <a:solidFill>
            <a:srgbClr val="F1F5F9"/>
          </a:solidFill>
          <a:ln/>
        </p:spPr>
        <p:txBody>
          <a:bodyPr/>
          <a:lstStyle/>
          <a:p>
            <a:endParaRPr lang="en-US"/>
          </a:p>
        </p:txBody>
      </p:sp>
      <p:sp>
        <p:nvSpPr>
          <p:cNvPr id="37" name="Shape 27"/>
          <p:cNvSpPr/>
          <p:nvPr/>
        </p:nvSpPr>
        <p:spPr>
          <a:xfrm>
            <a:off x="6381598" y="2532888"/>
            <a:ext cx="5201107" cy="19202"/>
          </a:xfrm>
          <a:prstGeom prst="rect">
            <a:avLst/>
          </a:prstGeom>
          <a:solidFill>
            <a:srgbClr val="E5E7EB"/>
          </a:solidFill>
          <a:ln w="12700">
            <a:solidFill>
              <a:srgbClr val="E5E7EB">
                <a:alpha val="0"/>
              </a:srgbClr>
            </a:solidFill>
            <a:prstDash val="solid"/>
          </a:ln>
        </p:spPr>
        <p:txBody>
          <a:bodyPr/>
          <a:lstStyle/>
          <a:p>
            <a:endParaRPr lang="en-US"/>
          </a:p>
        </p:txBody>
      </p:sp>
      <p:sp>
        <p:nvSpPr>
          <p:cNvPr id="38" name="Text 28"/>
          <p:cNvSpPr txBox="1"/>
          <p:nvPr/>
        </p:nvSpPr>
        <p:spPr>
          <a:xfrm>
            <a:off x="6534302" y="2048256"/>
            <a:ext cx="1228954" cy="391363"/>
          </a:xfrm>
          <a:prstGeom prst="rect">
            <a:avLst/>
          </a:prstGeom>
          <a:noFill/>
          <a:ln/>
        </p:spPr>
        <p:txBody>
          <a:bodyPr wrap="square" lIns="0" tIns="0" rIns="0" bIns="0" rtlCol="0" anchor="ctr"/>
          <a:lstStyle/>
          <a:p>
            <a:pPr marL="0" indent="0" algn="l">
              <a:buNone/>
            </a:pPr>
            <a:r>
              <a:rPr lang="en-US" sz="1000" b="1">
                <a:solidFill>
                  <a:srgbClr val="4B5563"/>
                </a:solidFill>
                <a:latin typeface="Roboto Condensed" pitchFamily="34" charset="0"/>
                <a:ea typeface="Roboto Condensed" pitchFamily="34" charset="-122"/>
                <a:cs typeface="Roboto Condensed" pitchFamily="34" charset="-120"/>
              </a:rPr>
              <a:t>Dimension</a:t>
            </a:r>
            <a:endParaRPr lang="en-US" sz="1000"/>
          </a:p>
        </p:txBody>
      </p:sp>
      <p:sp>
        <p:nvSpPr>
          <p:cNvPr id="39" name="Text 29"/>
          <p:cNvSpPr txBox="1"/>
          <p:nvPr/>
        </p:nvSpPr>
        <p:spPr>
          <a:xfrm>
            <a:off x="7757770" y="2048256"/>
            <a:ext cx="1714500" cy="391363"/>
          </a:xfrm>
          <a:prstGeom prst="rect">
            <a:avLst/>
          </a:prstGeom>
          <a:noFill/>
          <a:ln/>
        </p:spPr>
        <p:txBody>
          <a:bodyPr wrap="square" lIns="0" tIns="0" rIns="0" bIns="0" rtlCol="0" anchor="ctr"/>
          <a:lstStyle/>
          <a:p>
            <a:pPr marL="0" indent="0" algn="l">
              <a:buNone/>
            </a:pPr>
            <a:r>
              <a:rPr lang="en-US" sz="1000" b="1">
                <a:solidFill>
                  <a:srgbClr val="D62839"/>
                </a:solidFill>
                <a:latin typeface="Roboto Condensed" pitchFamily="34" charset="0"/>
                <a:ea typeface="Roboto Condensed" pitchFamily="34" charset="-122"/>
                <a:cs typeface="Roboto Condensed" pitchFamily="34" charset="-120"/>
              </a:rPr>
              <a:t>Traditional Managed Services</a:t>
            </a:r>
            <a:endParaRPr lang="en-US" sz="1000"/>
          </a:p>
        </p:txBody>
      </p:sp>
      <p:sp>
        <p:nvSpPr>
          <p:cNvPr id="40" name="Text 30"/>
          <p:cNvSpPr txBox="1"/>
          <p:nvPr/>
        </p:nvSpPr>
        <p:spPr>
          <a:xfrm>
            <a:off x="9471355" y="2048256"/>
            <a:ext cx="1962302" cy="391363"/>
          </a:xfrm>
          <a:prstGeom prst="rect">
            <a:avLst/>
          </a:prstGeom>
          <a:noFill/>
          <a:ln/>
        </p:spPr>
        <p:txBody>
          <a:bodyPr wrap="square" lIns="0" tIns="0" rIns="0" bIns="0" rtlCol="0" anchor="ctr"/>
          <a:lstStyle/>
          <a:p>
            <a:pPr marL="0" indent="0" algn="l">
              <a:buNone/>
            </a:pPr>
            <a:r>
              <a:rPr lang="en-US" sz="1000" b="1">
                <a:solidFill>
                  <a:srgbClr val="2A9D8F"/>
                </a:solidFill>
                <a:latin typeface="Roboto Condensed" pitchFamily="34" charset="0"/>
                <a:ea typeface="Roboto Condensed" pitchFamily="34" charset="-122"/>
                <a:cs typeface="Roboto Condensed" pitchFamily="34" charset="-120"/>
              </a:rPr>
              <a:t>J2W Managed Solutions</a:t>
            </a:r>
            <a:endParaRPr lang="en-US" sz="1000"/>
          </a:p>
        </p:txBody>
      </p:sp>
      <p:sp>
        <p:nvSpPr>
          <p:cNvPr id="41" name="Shape 31"/>
          <p:cNvSpPr/>
          <p:nvPr/>
        </p:nvSpPr>
        <p:spPr>
          <a:xfrm>
            <a:off x="6381598" y="3134563"/>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2" name="Text 32"/>
          <p:cNvSpPr txBox="1"/>
          <p:nvPr/>
        </p:nvSpPr>
        <p:spPr>
          <a:xfrm>
            <a:off x="6534302" y="266730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Engagement </a:t>
            </a:r>
          </a:p>
          <a:p>
            <a:pPr marL="0" indent="0" algn="l">
              <a:buNone/>
            </a:pPr>
            <a:r>
              <a:rPr lang="en-US" sz="1000" b="1">
                <a:solidFill>
                  <a:srgbClr val="374151"/>
                </a:solidFill>
                <a:latin typeface="Raleway" pitchFamily="34" charset="0"/>
                <a:ea typeface="Raleway" pitchFamily="34" charset="-122"/>
                <a:cs typeface="Raleway" pitchFamily="34" charset="-120"/>
              </a:rPr>
              <a:t>Model</a:t>
            </a:r>
            <a:endParaRPr lang="en-US" sz="1000"/>
          </a:p>
        </p:txBody>
      </p:sp>
      <p:sp>
        <p:nvSpPr>
          <p:cNvPr id="43" name="Text 33"/>
          <p:cNvSpPr txBox="1"/>
          <p:nvPr/>
        </p:nvSpPr>
        <p:spPr>
          <a:xfrm>
            <a:off x="7757770" y="266730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SOW-based, scope-</a:t>
            </a:r>
          </a:p>
          <a:p>
            <a:pPr marL="0" indent="0" algn="l">
              <a:buNone/>
            </a:pPr>
            <a:r>
              <a:rPr lang="en-US" sz="1000">
                <a:solidFill>
                  <a:srgbClr val="6B7280"/>
                </a:solidFill>
                <a:latin typeface="Raleway" pitchFamily="34" charset="0"/>
                <a:ea typeface="Raleway" pitchFamily="34" charset="-122"/>
                <a:cs typeface="Raleway" pitchFamily="34" charset="-120"/>
              </a:rPr>
              <a:t>locked</a:t>
            </a:r>
            <a:endParaRPr lang="en-US" sz="1000"/>
          </a:p>
        </p:txBody>
      </p:sp>
      <p:sp>
        <p:nvSpPr>
          <p:cNvPr id="44" name="Text 34"/>
          <p:cNvSpPr txBox="1"/>
          <p:nvPr/>
        </p:nvSpPr>
        <p:spPr>
          <a:xfrm>
            <a:off x="9471355" y="266730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Outcome-bound, SLO-governed</a:t>
            </a:r>
            <a:endParaRPr lang="en-US" sz="1000"/>
          </a:p>
        </p:txBody>
      </p:sp>
      <p:sp>
        <p:nvSpPr>
          <p:cNvPr id="45" name="Shape 35"/>
          <p:cNvSpPr/>
          <p:nvPr/>
        </p:nvSpPr>
        <p:spPr>
          <a:xfrm>
            <a:off x="6381598" y="3143707"/>
            <a:ext cx="5201107" cy="590702"/>
          </a:xfrm>
          <a:prstGeom prst="rect">
            <a:avLst/>
          </a:prstGeom>
          <a:solidFill>
            <a:srgbClr val="2A9D8F">
              <a:alpha val="3000"/>
            </a:srgbClr>
          </a:solidFill>
          <a:ln/>
        </p:spPr>
        <p:txBody>
          <a:bodyPr/>
          <a:lstStyle/>
          <a:p>
            <a:endParaRPr lang="en-US"/>
          </a:p>
        </p:txBody>
      </p:sp>
      <p:sp>
        <p:nvSpPr>
          <p:cNvPr id="46" name="Shape 36"/>
          <p:cNvSpPr/>
          <p:nvPr/>
        </p:nvSpPr>
        <p:spPr>
          <a:xfrm>
            <a:off x="6381598" y="372526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7" name="Text 37"/>
          <p:cNvSpPr txBox="1"/>
          <p:nvPr/>
        </p:nvSpPr>
        <p:spPr>
          <a:xfrm>
            <a:off x="6534302" y="3258007"/>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Starting Point</a:t>
            </a:r>
            <a:endParaRPr lang="en-US" sz="1000"/>
          </a:p>
        </p:txBody>
      </p:sp>
      <p:sp>
        <p:nvSpPr>
          <p:cNvPr id="48" name="Text 38"/>
          <p:cNvSpPr txBox="1"/>
          <p:nvPr/>
        </p:nvSpPr>
        <p:spPr>
          <a:xfrm>
            <a:off x="7757770" y="3258007"/>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Build from scratch</a:t>
            </a:r>
            <a:endParaRPr lang="en-US" sz="1000"/>
          </a:p>
        </p:txBody>
      </p:sp>
      <p:sp>
        <p:nvSpPr>
          <p:cNvPr id="49" name="Text 39"/>
          <p:cNvSpPr txBox="1"/>
          <p:nvPr/>
        </p:nvSpPr>
        <p:spPr>
          <a:xfrm>
            <a:off x="9471355" y="3258007"/>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60+ accelerators, deploy in weeks</a:t>
            </a:r>
            <a:endParaRPr lang="en-US" sz="1000"/>
          </a:p>
        </p:txBody>
      </p:sp>
      <p:sp>
        <p:nvSpPr>
          <p:cNvPr id="50" name="Shape 40"/>
          <p:cNvSpPr/>
          <p:nvPr/>
        </p:nvSpPr>
        <p:spPr>
          <a:xfrm>
            <a:off x="6381598" y="4315054"/>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1" name="Text 41"/>
          <p:cNvSpPr txBox="1"/>
          <p:nvPr/>
        </p:nvSpPr>
        <p:spPr>
          <a:xfrm>
            <a:off x="6534302" y="384779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Performance Standard</a:t>
            </a:r>
            <a:endParaRPr lang="en-US" sz="1000"/>
          </a:p>
        </p:txBody>
      </p:sp>
      <p:sp>
        <p:nvSpPr>
          <p:cNvPr id="52" name="Text 42"/>
          <p:cNvSpPr txBox="1"/>
          <p:nvPr/>
        </p:nvSpPr>
        <p:spPr>
          <a:xfrm>
            <a:off x="7757770" y="384779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Contractual minimums</a:t>
            </a:r>
            <a:endParaRPr lang="en-US" sz="1000"/>
          </a:p>
        </p:txBody>
      </p:sp>
      <p:sp>
        <p:nvSpPr>
          <p:cNvPr id="53" name="Text 43"/>
          <p:cNvSpPr txBox="1"/>
          <p:nvPr/>
        </p:nvSpPr>
        <p:spPr>
          <a:xfrm>
            <a:off x="9471355" y="384779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40% improvement threshold</a:t>
            </a:r>
            <a:endParaRPr lang="en-US" sz="1000"/>
          </a:p>
        </p:txBody>
      </p:sp>
      <p:sp>
        <p:nvSpPr>
          <p:cNvPr id="54" name="Shape 44"/>
          <p:cNvSpPr/>
          <p:nvPr/>
        </p:nvSpPr>
        <p:spPr>
          <a:xfrm>
            <a:off x="6381598" y="4324198"/>
            <a:ext cx="5201107" cy="590702"/>
          </a:xfrm>
          <a:prstGeom prst="rect">
            <a:avLst/>
          </a:prstGeom>
          <a:solidFill>
            <a:srgbClr val="2A9D8F">
              <a:alpha val="3000"/>
            </a:srgbClr>
          </a:solidFill>
          <a:ln/>
        </p:spPr>
        <p:txBody>
          <a:bodyPr/>
          <a:lstStyle/>
          <a:p>
            <a:endParaRPr lang="en-US"/>
          </a:p>
        </p:txBody>
      </p:sp>
      <p:sp>
        <p:nvSpPr>
          <p:cNvPr id="55" name="Shape 45"/>
          <p:cNvSpPr/>
          <p:nvPr/>
        </p:nvSpPr>
        <p:spPr>
          <a:xfrm>
            <a:off x="6381598" y="490575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6" name="Text 46"/>
          <p:cNvSpPr txBox="1"/>
          <p:nvPr/>
        </p:nvSpPr>
        <p:spPr>
          <a:xfrm>
            <a:off x="6534302" y="4438498"/>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Coverage</a:t>
            </a:r>
            <a:endParaRPr lang="en-US" sz="1000"/>
          </a:p>
        </p:txBody>
      </p:sp>
      <p:sp>
        <p:nvSpPr>
          <p:cNvPr id="57" name="Text 47"/>
          <p:cNvSpPr txBox="1"/>
          <p:nvPr/>
        </p:nvSpPr>
        <p:spPr>
          <a:xfrm>
            <a:off x="7757770" y="4438498"/>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Single-function specialization</a:t>
            </a:r>
            <a:endParaRPr lang="en-US" sz="1000"/>
          </a:p>
        </p:txBody>
      </p:sp>
      <p:sp>
        <p:nvSpPr>
          <p:cNvPr id="58" name="Text 48"/>
          <p:cNvSpPr txBox="1"/>
          <p:nvPr/>
        </p:nvSpPr>
        <p:spPr>
          <a:xfrm>
            <a:off x="9471355" y="4438498"/>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Cross-stack: SAP, ServiceNow, Salesforce + more</a:t>
            </a:r>
            <a:endParaRPr lang="en-US" sz="1000"/>
          </a:p>
        </p:txBody>
      </p:sp>
      <p:sp>
        <p:nvSpPr>
          <p:cNvPr id="59" name="Shape 49"/>
          <p:cNvSpPr/>
          <p:nvPr/>
        </p:nvSpPr>
        <p:spPr>
          <a:xfrm>
            <a:off x="6381598" y="5496458"/>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60" name="Text 50"/>
          <p:cNvSpPr txBox="1"/>
          <p:nvPr/>
        </p:nvSpPr>
        <p:spPr>
          <a:xfrm>
            <a:off x="6534302" y="5029200"/>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Knowledge Retention</a:t>
            </a:r>
            <a:endParaRPr lang="en-US" sz="1000"/>
          </a:p>
        </p:txBody>
      </p:sp>
      <p:sp>
        <p:nvSpPr>
          <p:cNvPr id="61" name="Text 51"/>
          <p:cNvSpPr txBox="1"/>
          <p:nvPr/>
        </p:nvSpPr>
        <p:spPr>
          <a:xfrm>
            <a:off x="7757770" y="5029200"/>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Exits with the team</a:t>
            </a:r>
            <a:endParaRPr lang="en-US" sz="1000"/>
          </a:p>
        </p:txBody>
      </p:sp>
      <p:sp>
        <p:nvSpPr>
          <p:cNvPr id="62" name="Text 52"/>
          <p:cNvSpPr txBox="1"/>
          <p:nvPr/>
        </p:nvSpPr>
        <p:spPr>
          <a:xfrm>
            <a:off x="9471355" y="5029200"/>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Captured, compounding, stays with you</a:t>
            </a:r>
            <a:endParaRPr lang="en-US" sz="1000"/>
          </a:p>
        </p:txBody>
      </p:sp>
      <p:sp>
        <p:nvSpPr>
          <p:cNvPr id="63" name="Shape 53"/>
          <p:cNvSpPr/>
          <p:nvPr/>
        </p:nvSpPr>
        <p:spPr>
          <a:xfrm>
            <a:off x="6381598" y="5505602"/>
            <a:ext cx="5201107" cy="590702"/>
          </a:xfrm>
          <a:prstGeom prst="rect">
            <a:avLst/>
          </a:prstGeom>
          <a:solidFill>
            <a:srgbClr val="2A9D8F">
              <a:alpha val="3000"/>
            </a:srgbClr>
          </a:solidFill>
          <a:ln w="12700">
            <a:solidFill>
              <a:srgbClr val="FFFFFF">
                <a:alpha val="0"/>
              </a:srgbClr>
            </a:solidFill>
            <a:prstDash val="solid"/>
          </a:ln>
        </p:spPr>
        <p:txBody>
          <a:bodyPr/>
          <a:lstStyle/>
          <a:p>
            <a:endParaRPr lang="en-US"/>
          </a:p>
        </p:txBody>
      </p:sp>
      <p:sp>
        <p:nvSpPr>
          <p:cNvPr id="64" name="Text 54"/>
          <p:cNvSpPr txBox="1"/>
          <p:nvPr/>
        </p:nvSpPr>
        <p:spPr>
          <a:xfrm>
            <a:off x="6534302" y="5619902"/>
            <a:ext cx="1228954" cy="362102"/>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AI Readiness</a:t>
            </a:r>
            <a:endParaRPr lang="en-US" sz="1000"/>
          </a:p>
        </p:txBody>
      </p:sp>
      <p:sp>
        <p:nvSpPr>
          <p:cNvPr id="65" name="Text 55"/>
          <p:cNvSpPr txBox="1"/>
          <p:nvPr/>
        </p:nvSpPr>
        <p:spPr>
          <a:xfrm>
            <a:off x="7757770" y="5619902"/>
            <a:ext cx="1714500" cy="362102"/>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Optional add-on</a:t>
            </a:r>
            <a:endParaRPr lang="en-US" sz="1000"/>
          </a:p>
        </p:txBody>
      </p:sp>
      <p:sp>
        <p:nvSpPr>
          <p:cNvPr id="66" name="Text 56"/>
          <p:cNvSpPr txBox="1"/>
          <p:nvPr/>
        </p:nvSpPr>
        <p:spPr>
          <a:xfrm>
            <a:off x="9471355" y="5619902"/>
            <a:ext cx="1962302" cy="362102"/>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Embedded from Day 1</a:t>
            </a:r>
            <a:endParaRPr lang="en-US" sz="1000"/>
          </a:p>
        </p:txBody>
      </p:sp>
      <p:sp>
        <p:nvSpPr>
          <p:cNvPr id="67" name="Text 57"/>
          <p:cNvSpPr txBox="1"/>
          <p:nvPr/>
        </p:nvSpPr>
        <p:spPr>
          <a:xfrm>
            <a:off x="800100" y="6245352"/>
            <a:ext cx="10592410" cy="409651"/>
          </a:xfrm>
          <a:prstGeom prst="rect">
            <a:avLst/>
          </a:prstGeom>
          <a:noFill/>
          <a:ln/>
        </p:spPr>
        <p:txBody>
          <a:bodyPr wrap="square" lIns="0" tIns="0" rIns="0" bIns="0" rtlCol="0" anchor="ctr"/>
          <a:lstStyle/>
          <a:p>
            <a:pPr marL="0" indent="0" algn="ctr">
              <a:buNone/>
            </a:pPr>
            <a:r>
              <a:rPr lang="en-US" sz="800" b="1">
                <a:solidFill>
                  <a:srgbClr val="111827"/>
                </a:solidFill>
                <a:latin typeface="Raleway" pitchFamily="34" charset="0"/>
                <a:ea typeface="Raleway" pitchFamily="34" charset="-122"/>
                <a:cs typeface="Raleway" pitchFamily="34" charset="-120"/>
              </a:rPr>
              <a:t>From scattered pilots to governed programs. From manual reporting to real-time intelligence. From legacy stacks to modernized platforms. </a:t>
            </a:r>
            <a:r>
              <a:rPr lang="en-US" sz="1100" b="1">
                <a:solidFill>
                  <a:srgbClr val="2A9D8F"/>
                </a:solidFill>
                <a:latin typeface="Raleway" pitchFamily="34" charset="0"/>
                <a:ea typeface="Raleway" pitchFamily="34" charset="-122"/>
                <a:cs typeface="Raleway" pitchFamily="34" charset="-120"/>
              </a:rPr>
              <a:t>J2W Managed Solutions operate until the outcome is real - then keep compounding.</a:t>
            </a:r>
            <a:endParaRPr lang="en-US" sz="1100"/>
          </a:p>
        </p:txBody>
      </p:sp>
    </p:spTree>
    <p:extLst>
      <p:ext uri="{BB962C8B-B14F-4D97-AF65-F5344CB8AC3E}">
        <p14:creationId xmlns:p14="http://schemas.microsoft.com/office/powerpoint/2010/main" val="37436834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noFill/>
          <a:ln w="508000">
            <a:solidFill>
              <a:srgbClr val="D62839">
                <a:alpha val="3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0" descr="preencoded.png"/>
          <p:cNvPicPr>
            <a:picLocks noChangeAspect="1"/>
          </p:cNvPicPr>
          <p:nvPr/>
        </p:nvPicPr>
        <p:blipFill>
          <a:blip r:embed="rId3"/>
          <a:srcRect l="-360" r="-360"/>
          <a:stretch/>
        </p:blipFill>
        <p:spPr>
          <a:xfrm>
            <a:off x="609905" y="514807"/>
            <a:ext cx="57607" cy="381305"/>
          </a:xfrm>
          <a:prstGeom prst="rect">
            <a:avLst/>
          </a:prstGeom>
        </p:spPr>
      </p:pic>
      <p:sp>
        <p:nvSpPr>
          <p:cNvPr id="6" name="Text 3"/>
          <p:cNvSpPr txBox="1"/>
          <p:nvPr/>
        </p:nvSpPr>
        <p:spPr>
          <a:xfrm>
            <a:off x="819302" y="381305"/>
            <a:ext cx="6010351"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56" normalizeH="0" baseline="0" noProof="0">
                <a:ln>
                  <a:noFill/>
                </a:ln>
                <a:solidFill>
                  <a:srgbClr val="111827"/>
                </a:solidFill>
                <a:effectLst/>
                <a:uLnTx/>
                <a:uFillTx/>
                <a:latin typeface="Oswald" pitchFamily="34" charset="0"/>
                <a:ea typeface="Oswald" pitchFamily="34" charset="-122"/>
                <a:cs typeface="Oswald" pitchFamily="34" charset="-120"/>
              </a:rPr>
              <a:t>Strategic Managed Services Offerings</a:t>
            </a:r>
            <a:endParaRPr kumimoji="0" lang="en-US" sz="2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p:cNvSpPr txBox="1"/>
          <p:nvPr/>
        </p:nvSpPr>
        <p:spPr>
          <a:xfrm>
            <a:off x="819302" y="761695"/>
            <a:ext cx="6010351" cy="26700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68" normalizeH="0" baseline="0" noProof="0">
                <a:ln>
                  <a:noFill/>
                </a:ln>
                <a:solidFill>
                  <a:srgbClr val="2A9D8F"/>
                </a:solidFill>
                <a:effectLst/>
                <a:uLnTx/>
                <a:uFillTx/>
                <a:latin typeface="Roboto Condensed" pitchFamily="34" charset="0"/>
                <a:ea typeface="Roboto Condensed" pitchFamily="34" charset="-122"/>
                <a:cs typeface="Roboto Condensed" pitchFamily="34" charset="-120"/>
              </a:rPr>
              <a:t>COMPREHENSIVE CAPABILITIES DRIVING DIGITAL TRANSFORMATION</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5"/>
          <p:cNvSpPr/>
          <p:nvPr/>
        </p:nvSpPr>
        <p:spPr>
          <a:xfrm>
            <a:off x="6099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6"/>
          <p:cNvSpPr/>
          <p:nvPr/>
        </p:nvSpPr>
        <p:spPr>
          <a:xfrm>
            <a:off x="609905" y="12573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790956" y="13807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1" descr="preencoded.png"/>
          <p:cNvPicPr>
            <a:picLocks noChangeAspect="1"/>
          </p:cNvPicPr>
          <p:nvPr/>
        </p:nvPicPr>
        <p:blipFill>
          <a:blip r:embed="rId4"/>
          <a:srcRect/>
          <a:stretch/>
        </p:blipFill>
        <p:spPr>
          <a:xfrm>
            <a:off x="905256" y="1495044"/>
            <a:ext cx="171907" cy="171907"/>
          </a:xfrm>
          <a:prstGeom prst="rect">
            <a:avLst/>
          </a:prstGeom>
        </p:spPr>
      </p:pic>
      <p:sp>
        <p:nvSpPr>
          <p:cNvPr id="12" name="Text 8"/>
          <p:cNvSpPr txBox="1"/>
          <p:nvPr/>
        </p:nvSpPr>
        <p:spPr>
          <a:xfrm>
            <a:off x="926287" y="181965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01</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9"/>
          <p:cNvSpPr txBox="1"/>
          <p:nvPr/>
        </p:nvSpPr>
        <p:spPr>
          <a:xfrm>
            <a:off x="13716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AI Solutions (AI CoE)</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0"/>
          <p:cNvSpPr txBox="1"/>
          <p:nvPr/>
        </p:nvSpPr>
        <p:spPr>
          <a:xfrm>
            <a:off x="13716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GenAI strategies, agents, LLM workflows, predictive models, knowledge bots, and enterprise-grade AI governance &amp; value realization frameworks.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1"/>
          <p:cNvSpPr/>
          <p:nvPr/>
        </p:nvSpPr>
        <p:spPr>
          <a:xfrm>
            <a:off x="62106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p:cNvSpPr/>
          <p:nvPr/>
        </p:nvSpPr>
        <p:spPr>
          <a:xfrm>
            <a:off x="6210605" y="12573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6391656" y="13807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rcRect/>
          <a:stretch/>
        </p:blipFill>
        <p:spPr>
          <a:xfrm>
            <a:off x="6505956" y="1495044"/>
            <a:ext cx="171907" cy="171907"/>
          </a:xfrm>
          <a:prstGeom prst="rect">
            <a:avLst/>
          </a:prstGeom>
        </p:spPr>
      </p:pic>
      <p:sp>
        <p:nvSpPr>
          <p:cNvPr id="19" name="Text 14"/>
          <p:cNvSpPr txBox="1"/>
          <p:nvPr/>
        </p:nvSpPr>
        <p:spPr>
          <a:xfrm>
            <a:off x="6516929" y="18196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06</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5"/>
          <p:cNvSpPr txBox="1"/>
          <p:nvPr/>
        </p:nvSpPr>
        <p:spPr>
          <a:xfrm>
            <a:off x="69723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Quality Engineering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6"/>
          <p:cNvSpPr txBox="1"/>
          <p:nvPr/>
        </p:nvSpPr>
        <p:spPr>
          <a:xfrm>
            <a:off x="69723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Intelligent QA and Test Automation at scale - covering functional, performance, security, CI/CD pipelines, and TaaS delivery pods.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7"/>
          <p:cNvSpPr/>
          <p:nvPr/>
        </p:nvSpPr>
        <p:spPr>
          <a:xfrm>
            <a:off x="6099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18"/>
          <p:cNvSpPr/>
          <p:nvPr/>
        </p:nvSpPr>
        <p:spPr>
          <a:xfrm>
            <a:off x="609905" y="23244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19"/>
          <p:cNvSpPr/>
          <p:nvPr/>
        </p:nvSpPr>
        <p:spPr>
          <a:xfrm>
            <a:off x="790956" y="24478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Image 3" descr="preencoded.png"/>
          <p:cNvPicPr>
            <a:picLocks noChangeAspect="1"/>
          </p:cNvPicPr>
          <p:nvPr/>
        </p:nvPicPr>
        <p:blipFill>
          <a:blip r:embed="rId6"/>
          <a:srcRect t="-2725" b="-2725"/>
          <a:stretch/>
        </p:blipFill>
        <p:spPr>
          <a:xfrm>
            <a:off x="918972" y="2562149"/>
            <a:ext cx="142646" cy="171907"/>
          </a:xfrm>
          <a:prstGeom prst="rect">
            <a:avLst/>
          </a:prstGeom>
        </p:spPr>
      </p:pic>
      <p:sp>
        <p:nvSpPr>
          <p:cNvPr id="26" name="Text 20"/>
          <p:cNvSpPr txBox="1"/>
          <p:nvPr/>
        </p:nvSpPr>
        <p:spPr>
          <a:xfrm>
            <a:off x="918058" y="28858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02</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1"/>
          <p:cNvSpPr txBox="1"/>
          <p:nvPr/>
        </p:nvSpPr>
        <p:spPr>
          <a:xfrm>
            <a:off x="13716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Migration &amp; Infra Support</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2"/>
          <p:cNvSpPr txBox="1"/>
          <p:nvPr/>
        </p:nvSpPr>
        <p:spPr>
          <a:xfrm>
            <a:off x="13716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Seamless migration across on-prem &amp; cloud, with data quality, cleansing, secure pipelines, infra ops, and cloud governance across AWS/Azure/GCP.</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3"/>
          <p:cNvSpPr/>
          <p:nvPr/>
        </p:nvSpPr>
        <p:spPr>
          <a:xfrm>
            <a:off x="62106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4"/>
          <p:cNvSpPr/>
          <p:nvPr/>
        </p:nvSpPr>
        <p:spPr>
          <a:xfrm>
            <a:off x="6210605" y="23244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5"/>
          <p:cNvSpPr/>
          <p:nvPr/>
        </p:nvSpPr>
        <p:spPr>
          <a:xfrm>
            <a:off x="6391656" y="24478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2" name="Image 4" descr="preencoded.png"/>
          <p:cNvPicPr>
            <a:picLocks noChangeAspect="1"/>
          </p:cNvPicPr>
          <p:nvPr/>
        </p:nvPicPr>
        <p:blipFill>
          <a:blip r:embed="rId7"/>
          <a:srcRect/>
          <a:stretch/>
        </p:blipFill>
        <p:spPr>
          <a:xfrm>
            <a:off x="6505956" y="2562149"/>
            <a:ext cx="171907" cy="171907"/>
          </a:xfrm>
          <a:prstGeom prst="rect">
            <a:avLst/>
          </a:prstGeom>
        </p:spPr>
      </p:pic>
      <p:sp>
        <p:nvSpPr>
          <p:cNvPr id="33" name="Text 26"/>
          <p:cNvSpPr txBox="1"/>
          <p:nvPr/>
        </p:nvSpPr>
        <p:spPr>
          <a:xfrm>
            <a:off x="6523330" y="2885846"/>
            <a:ext cx="219456"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07</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27"/>
          <p:cNvSpPr txBox="1"/>
          <p:nvPr/>
        </p:nvSpPr>
        <p:spPr>
          <a:xfrm>
            <a:off x="69723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Call Centre Optimization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28"/>
          <p:cNvSpPr txBox="1"/>
          <p:nvPr/>
        </p:nvSpPr>
        <p:spPr>
          <a:xfrm>
            <a:off x="69723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Transforming contact centers through operational assessment, workforce analytics, real-time dashboards, agent assist AI, and IVA-based automation.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29"/>
          <p:cNvSpPr/>
          <p:nvPr/>
        </p:nvSpPr>
        <p:spPr>
          <a:xfrm>
            <a:off x="6099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0"/>
          <p:cNvSpPr/>
          <p:nvPr/>
        </p:nvSpPr>
        <p:spPr>
          <a:xfrm>
            <a:off x="609905" y="339059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1"/>
          <p:cNvSpPr/>
          <p:nvPr/>
        </p:nvSpPr>
        <p:spPr>
          <a:xfrm>
            <a:off x="790956" y="351495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 name="Image 5" descr="preencoded.png"/>
          <p:cNvPicPr>
            <a:picLocks noChangeAspect="1"/>
          </p:cNvPicPr>
          <p:nvPr/>
        </p:nvPicPr>
        <p:blipFill>
          <a:blip r:embed="rId8"/>
          <a:srcRect/>
          <a:stretch/>
        </p:blipFill>
        <p:spPr>
          <a:xfrm>
            <a:off x="905256" y="3629254"/>
            <a:ext cx="171907" cy="171907"/>
          </a:xfrm>
          <a:prstGeom prst="rect">
            <a:avLst/>
          </a:prstGeom>
        </p:spPr>
      </p:pic>
      <p:sp>
        <p:nvSpPr>
          <p:cNvPr id="40" name="Text 32"/>
          <p:cNvSpPr txBox="1"/>
          <p:nvPr/>
        </p:nvSpPr>
        <p:spPr>
          <a:xfrm>
            <a:off x="918058"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03</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3"/>
          <p:cNvSpPr txBox="1"/>
          <p:nvPr/>
        </p:nvSpPr>
        <p:spPr>
          <a:xfrm>
            <a:off x="13716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Cybersecurity</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34"/>
          <p:cNvSpPr txBox="1"/>
          <p:nvPr/>
        </p:nvSpPr>
        <p:spPr>
          <a:xfrm>
            <a:off x="13716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Full-spectrum security including assessment, red-team, cloud security, managed SOC/MDR, compliance (ISO, PCI, RBI), incident response &amp; digital forensics.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35"/>
          <p:cNvSpPr/>
          <p:nvPr/>
        </p:nvSpPr>
        <p:spPr>
          <a:xfrm>
            <a:off x="62106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36"/>
          <p:cNvSpPr/>
          <p:nvPr/>
        </p:nvSpPr>
        <p:spPr>
          <a:xfrm>
            <a:off x="6210605" y="339059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37"/>
          <p:cNvSpPr/>
          <p:nvPr/>
        </p:nvSpPr>
        <p:spPr>
          <a:xfrm>
            <a:off x="6391656" y="351495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6" name="Image 6" descr="preencoded.png"/>
          <p:cNvPicPr>
            <a:picLocks noChangeAspect="1"/>
          </p:cNvPicPr>
          <p:nvPr/>
        </p:nvPicPr>
        <p:blipFill>
          <a:blip r:embed="rId9"/>
          <a:srcRect t="-2725" b="-2725"/>
          <a:stretch/>
        </p:blipFill>
        <p:spPr>
          <a:xfrm>
            <a:off x="6519672" y="3629254"/>
            <a:ext cx="142646" cy="171907"/>
          </a:xfrm>
          <a:prstGeom prst="rect">
            <a:avLst/>
          </a:prstGeom>
        </p:spPr>
      </p:pic>
      <p:sp>
        <p:nvSpPr>
          <p:cNvPr id="47" name="Text 38"/>
          <p:cNvSpPr txBox="1"/>
          <p:nvPr/>
        </p:nvSpPr>
        <p:spPr>
          <a:xfrm>
            <a:off x="6517843"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08</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39"/>
          <p:cNvSpPr txBox="1"/>
          <p:nvPr/>
        </p:nvSpPr>
        <p:spPr>
          <a:xfrm>
            <a:off x="69723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SAP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40"/>
          <p:cNvSpPr txBox="1"/>
          <p:nvPr/>
        </p:nvSpPr>
        <p:spPr>
          <a:xfrm>
            <a:off x="69723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SAP modernization - from S/4HANA migrations to BTP, Fiori, SuccessFactors, and enterprise-wide rollout with managed SAP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1"/>
          <p:cNvSpPr/>
          <p:nvPr/>
        </p:nvSpPr>
        <p:spPr>
          <a:xfrm>
            <a:off x="6099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2"/>
          <p:cNvSpPr/>
          <p:nvPr/>
        </p:nvSpPr>
        <p:spPr>
          <a:xfrm>
            <a:off x="609905" y="44577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43"/>
          <p:cNvSpPr/>
          <p:nvPr/>
        </p:nvSpPr>
        <p:spPr>
          <a:xfrm>
            <a:off x="790956" y="45811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3" name="Image 7" descr="preencoded.png"/>
          <p:cNvPicPr>
            <a:picLocks noChangeAspect="1"/>
          </p:cNvPicPr>
          <p:nvPr/>
        </p:nvPicPr>
        <p:blipFill>
          <a:blip r:embed="rId10"/>
          <a:srcRect t="-1310" b="-1310"/>
          <a:stretch/>
        </p:blipFill>
        <p:spPr>
          <a:xfrm>
            <a:off x="886054" y="4695444"/>
            <a:ext cx="209398" cy="171907"/>
          </a:xfrm>
          <a:prstGeom prst="rect">
            <a:avLst/>
          </a:prstGeom>
        </p:spPr>
      </p:pic>
      <p:sp>
        <p:nvSpPr>
          <p:cNvPr id="54" name="Text 44"/>
          <p:cNvSpPr txBox="1"/>
          <p:nvPr/>
        </p:nvSpPr>
        <p:spPr>
          <a:xfrm>
            <a:off x="917143"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04</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45"/>
          <p:cNvSpPr txBox="1"/>
          <p:nvPr/>
        </p:nvSpPr>
        <p:spPr>
          <a:xfrm>
            <a:off x="13716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Digital Engineering &amp; Automation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 46"/>
          <p:cNvSpPr txBox="1"/>
          <p:nvPr/>
        </p:nvSpPr>
        <p:spPr>
          <a:xfrm>
            <a:off x="13716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Spanning full-stack &amp; UI/UX development, intelligent automation, AI-augmented RPA, and end-to-end process orchestration.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47"/>
          <p:cNvSpPr/>
          <p:nvPr/>
        </p:nvSpPr>
        <p:spPr>
          <a:xfrm>
            <a:off x="62106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Shape 48"/>
          <p:cNvSpPr/>
          <p:nvPr/>
        </p:nvSpPr>
        <p:spPr>
          <a:xfrm>
            <a:off x="6210605" y="44577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49"/>
          <p:cNvSpPr/>
          <p:nvPr/>
        </p:nvSpPr>
        <p:spPr>
          <a:xfrm>
            <a:off x="6391656" y="45811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0" name="Image 8" descr="preencoded.png"/>
          <p:cNvPicPr>
            <a:picLocks noChangeAspect="1"/>
          </p:cNvPicPr>
          <p:nvPr/>
        </p:nvPicPr>
        <p:blipFill>
          <a:blip r:embed="rId11"/>
          <a:srcRect t="-1310" b="-1310"/>
          <a:stretch/>
        </p:blipFill>
        <p:spPr>
          <a:xfrm>
            <a:off x="6486754" y="4695444"/>
            <a:ext cx="209398" cy="171907"/>
          </a:xfrm>
          <a:prstGeom prst="rect">
            <a:avLst/>
          </a:prstGeom>
        </p:spPr>
      </p:pic>
      <p:sp>
        <p:nvSpPr>
          <p:cNvPr id="61" name="Text 50"/>
          <p:cNvSpPr txBox="1"/>
          <p:nvPr/>
        </p:nvSpPr>
        <p:spPr>
          <a:xfrm>
            <a:off x="6516929"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09</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Text 51"/>
          <p:cNvSpPr txBox="1"/>
          <p:nvPr/>
        </p:nvSpPr>
        <p:spPr>
          <a:xfrm>
            <a:off x="69723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Salesforce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52"/>
          <p:cNvSpPr txBox="1"/>
          <p:nvPr/>
        </p:nvSpPr>
        <p:spPr>
          <a:xfrm>
            <a:off x="69723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Complete Salesforce transformation across Sales, Service, Marketing, Financial Services Cloud, and MuleSoft - backed by org audits and managed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53"/>
          <p:cNvSpPr/>
          <p:nvPr/>
        </p:nvSpPr>
        <p:spPr>
          <a:xfrm>
            <a:off x="6099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54"/>
          <p:cNvSpPr/>
          <p:nvPr/>
        </p:nvSpPr>
        <p:spPr>
          <a:xfrm>
            <a:off x="609905" y="55248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55"/>
          <p:cNvSpPr/>
          <p:nvPr/>
        </p:nvSpPr>
        <p:spPr>
          <a:xfrm>
            <a:off x="790956" y="56482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7" name="Image 9" descr="preencoded.png"/>
          <p:cNvPicPr>
            <a:picLocks noChangeAspect="1"/>
          </p:cNvPicPr>
          <p:nvPr/>
        </p:nvPicPr>
        <p:blipFill>
          <a:blip r:embed="rId12"/>
          <a:srcRect/>
          <a:stretch/>
        </p:blipFill>
        <p:spPr>
          <a:xfrm>
            <a:off x="905256" y="5762549"/>
            <a:ext cx="171907" cy="171907"/>
          </a:xfrm>
          <a:prstGeom prst="rect">
            <a:avLst/>
          </a:prstGeom>
        </p:spPr>
      </p:pic>
      <p:sp>
        <p:nvSpPr>
          <p:cNvPr id="68" name="Text 56"/>
          <p:cNvSpPr txBox="1"/>
          <p:nvPr/>
        </p:nvSpPr>
        <p:spPr>
          <a:xfrm>
            <a:off x="918058" y="60862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05</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Text 57"/>
          <p:cNvSpPr txBox="1"/>
          <p:nvPr/>
        </p:nvSpPr>
        <p:spPr>
          <a:xfrm>
            <a:off x="13716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Analytics &amp; Dashboarding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Text 58"/>
          <p:cNvSpPr txBox="1"/>
          <p:nvPr/>
        </p:nvSpPr>
        <p:spPr>
          <a:xfrm>
            <a:off x="13716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Interactive dashboards across Power BI, Tableau, and Qlik - enabling real-time operational, financial, and leadership insights.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59"/>
          <p:cNvSpPr/>
          <p:nvPr/>
        </p:nvSpPr>
        <p:spPr>
          <a:xfrm>
            <a:off x="62106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60"/>
          <p:cNvSpPr/>
          <p:nvPr/>
        </p:nvSpPr>
        <p:spPr>
          <a:xfrm>
            <a:off x="6210605" y="55248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61"/>
          <p:cNvSpPr/>
          <p:nvPr/>
        </p:nvSpPr>
        <p:spPr>
          <a:xfrm>
            <a:off x="6391656" y="56482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4" name="Image 10" descr="preencoded.png"/>
          <p:cNvPicPr>
            <a:picLocks noChangeAspect="1"/>
          </p:cNvPicPr>
          <p:nvPr/>
        </p:nvPicPr>
        <p:blipFill>
          <a:blip r:embed="rId13"/>
          <a:srcRect/>
          <a:stretch/>
        </p:blipFill>
        <p:spPr>
          <a:xfrm>
            <a:off x="6505956" y="5762549"/>
            <a:ext cx="171907" cy="171907"/>
          </a:xfrm>
          <a:prstGeom prst="rect">
            <a:avLst/>
          </a:prstGeom>
        </p:spPr>
      </p:pic>
      <p:sp>
        <p:nvSpPr>
          <p:cNvPr id="75" name="Text 62"/>
          <p:cNvSpPr txBox="1"/>
          <p:nvPr/>
        </p:nvSpPr>
        <p:spPr>
          <a:xfrm>
            <a:off x="6526987" y="608624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10</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Text 63"/>
          <p:cNvSpPr txBox="1"/>
          <p:nvPr/>
        </p:nvSpPr>
        <p:spPr>
          <a:xfrm>
            <a:off x="69723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ServiceNow</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Text 64"/>
          <p:cNvSpPr txBox="1"/>
          <p:nvPr/>
        </p:nvSpPr>
        <p:spPr>
          <a:xfrm>
            <a:off x="69723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ServiceNow enablement across ITSM, ITOM, CSM, CMDB, automation workflows, and CoE setup for scalable, multi-instance operations.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8" name="Image 11" descr="preencoded.png"/>
          <p:cNvPicPr>
            <a:picLocks noChangeAspect="1"/>
          </p:cNvPicPr>
          <p:nvPr/>
        </p:nvPicPr>
        <p:blipFill>
          <a:blip r:embed="rId14"/>
          <a:srcRect l="-202" r="-202"/>
          <a:stretch/>
        </p:blipFill>
        <p:spPr>
          <a:xfrm>
            <a:off x="0" y="0"/>
            <a:ext cx="8128102" cy="75895"/>
          </a:xfrm>
          <a:prstGeom prst="rect">
            <a:avLst/>
          </a:prstGeom>
        </p:spPr>
      </p:pic>
      <p:pic>
        <p:nvPicPr>
          <p:cNvPr id="79" name="Image 12" descr="preencoded.png"/>
          <p:cNvPicPr>
            <a:picLocks noChangeAspect="1"/>
          </p:cNvPicPr>
          <p:nvPr/>
        </p:nvPicPr>
        <p:blipFill>
          <a:blip r:embed="rId15"/>
          <a:srcRect l="-197" r="-197"/>
          <a:stretch/>
        </p:blipFill>
        <p:spPr>
          <a:xfrm>
            <a:off x="8128102" y="0"/>
            <a:ext cx="4063594" cy="75895"/>
          </a:xfrm>
          <a:prstGeom prst="rect">
            <a:avLst/>
          </a:prstGeom>
        </p:spPr>
      </p:pic>
    </p:spTree>
    <p:extLst>
      <p:ext uri="{BB962C8B-B14F-4D97-AF65-F5344CB8AC3E}">
        <p14:creationId xmlns:p14="http://schemas.microsoft.com/office/powerpoint/2010/main" val="5047675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
    <p:bg>
      <p:bgPr>
        <a:solidFill>
          <a:srgbClr val="003D3D"/>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0A896"/>
          </a:solidFill>
          <a:ln w="12700">
            <a:solidFill>
              <a:srgbClr val="00A896"/>
            </a:solidFill>
            <a:prstDash val="solid"/>
          </a:ln>
        </p:spPr>
        <p:txBody>
          <a:bodyPr/>
          <a:lstStyle/>
          <a:p>
            <a:endParaRPr lang="en-US"/>
          </a:p>
        </p:txBody>
      </p:sp>
      <p:sp>
        <p:nvSpPr>
          <p:cNvPr id="3" name="Shape 1"/>
          <p:cNvSpPr/>
          <p:nvPr/>
        </p:nvSpPr>
        <p:spPr>
          <a:xfrm>
            <a:off x="0" y="109728"/>
            <a:ext cx="457200" cy="6748272"/>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731520" y="731520"/>
            <a:ext cx="3657600" cy="82296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J2W</a:t>
            </a:r>
            <a:endParaRPr lang="en-US" sz="4800" dirty="0"/>
          </a:p>
        </p:txBody>
      </p:sp>
      <p:sp>
        <p:nvSpPr>
          <p:cNvPr id="5" name="Text 3"/>
          <p:cNvSpPr/>
          <p:nvPr/>
        </p:nvSpPr>
        <p:spPr>
          <a:xfrm>
            <a:off x="731520" y="1463040"/>
            <a:ext cx="3657600" cy="411480"/>
          </a:xfrm>
          <a:prstGeom prst="rect">
            <a:avLst/>
          </a:prstGeom>
          <a:noFill/>
          <a:ln/>
        </p:spPr>
        <p:txBody>
          <a:bodyPr wrap="square" lIns="0" tIns="0" rIns="0" bIns="0" rtlCol="0" anchor="ctr"/>
          <a:lstStyle/>
          <a:p>
            <a:pPr marL="0" indent="0">
              <a:buNone/>
            </a:pPr>
            <a:r>
              <a:rPr lang="en-US" sz="1800" dirty="0">
                <a:solidFill>
                  <a:srgbClr val="00A896"/>
                </a:solidFill>
                <a:latin typeface="Calibri" pitchFamily="34" charset="0"/>
                <a:ea typeface="Calibri" pitchFamily="34" charset="-122"/>
                <a:cs typeface="Calibri" pitchFamily="34" charset="-120"/>
              </a:rPr>
              <a:t>Jobs2Web</a:t>
            </a:r>
            <a:endParaRPr lang="en-US" sz="1800" dirty="0"/>
          </a:p>
        </p:txBody>
      </p:sp>
      <p:sp>
        <p:nvSpPr>
          <p:cNvPr id="6" name="Text 4"/>
          <p:cNvSpPr/>
          <p:nvPr/>
        </p:nvSpPr>
        <p:spPr>
          <a:xfrm>
            <a:off x="731520" y="2194560"/>
            <a:ext cx="7315200" cy="1645920"/>
          </a:xfrm>
          <a:prstGeom prst="rect">
            <a:avLst/>
          </a:prstGeom>
          <a:noFill/>
          <a:ln/>
        </p:spPr>
        <p:txBody>
          <a:bodyPr wrap="square" lIns="0" tIns="0" rIns="0" bIns="0"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CASE STUDY</a:t>
            </a:r>
            <a:endParaRPr lang="en-US" sz="5200" dirty="0"/>
          </a:p>
          <a:p>
            <a:pPr marL="0" indent="0">
              <a:buNone/>
            </a:pPr>
            <a:r>
              <a:rPr lang="en-US" sz="5200" b="1" dirty="0">
                <a:solidFill>
                  <a:srgbClr val="FFFFFF"/>
                </a:solidFill>
                <a:latin typeface="Calibri" pitchFamily="34" charset="0"/>
                <a:ea typeface="Calibri" pitchFamily="34" charset="-122"/>
                <a:cs typeface="Calibri" pitchFamily="34" charset="-120"/>
              </a:rPr>
              <a:t>PORTFOLIO</a:t>
            </a:r>
            <a:endParaRPr lang="en-US" sz="5200" dirty="0"/>
          </a:p>
        </p:txBody>
      </p:sp>
      <p:sp>
        <p:nvSpPr>
          <p:cNvPr id="7" name="Text 5"/>
          <p:cNvSpPr/>
          <p:nvPr/>
        </p:nvSpPr>
        <p:spPr>
          <a:xfrm>
            <a:off x="731520" y="4023360"/>
            <a:ext cx="9144000" cy="457200"/>
          </a:xfrm>
          <a:prstGeom prst="rect">
            <a:avLst/>
          </a:prstGeom>
          <a:noFill/>
          <a:ln/>
        </p:spPr>
        <p:txBody>
          <a:bodyPr wrap="square" lIns="0" tIns="0" rIns="0" bIns="0" rtlCol="0" anchor="ctr"/>
          <a:lstStyle/>
          <a:p>
            <a:pPr marL="0" indent="0">
              <a:buNone/>
            </a:pPr>
            <a:r>
              <a:rPr lang="en-US" sz="1600" dirty="0">
                <a:solidFill>
                  <a:srgbClr val="00A896"/>
                </a:solidFill>
                <a:latin typeface="Calibri" pitchFamily="34" charset="0"/>
                <a:ea typeface="Calibri" pitchFamily="34" charset="-122"/>
                <a:cs typeface="Calibri" pitchFamily="34" charset="-120"/>
              </a:rPr>
              <a:t>AI Pods  ·  Workforce Solutions  ·  AI &amp; Digital Transformation</a:t>
            </a:r>
            <a:endParaRPr lang="en-US" sz="1600" dirty="0"/>
          </a:p>
        </p:txBody>
      </p:sp>
      <p:sp>
        <p:nvSpPr>
          <p:cNvPr id="8" name="Shape 6"/>
          <p:cNvSpPr/>
          <p:nvPr/>
        </p:nvSpPr>
        <p:spPr>
          <a:xfrm>
            <a:off x="731520" y="4526280"/>
            <a:ext cx="8229600" cy="36576"/>
          </a:xfrm>
          <a:prstGeom prst="rect">
            <a:avLst/>
          </a:prstGeom>
          <a:solidFill>
            <a:srgbClr val="00A896"/>
          </a:solidFill>
          <a:ln w="12700">
            <a:solidFill>
              <a:srgbClr val="00A896"/>
            </a:solidFill>
            <a:prstDash val="solid"/>
          </a:ln>
        </p:spPr>
        <p:txBody>
          <a:bodyPr/>
          <a:lstStyle/>
          <a:p>
            <a:endParaRPr lang="en-US"/>
          </a:p>
        </p:txBody>
      </p:sp>
      <p:sp>
        <p:nvSpPr>
          <p:cNvPr id="9" name="Text 7"/>
          <p:cNvSpPr/>
          <p:nvPr/>
        </p:nvSpPr>
        <p:spPr>
          <a:xfrm>
            <a:off x="731520" y="4754880"/>
            <a:ext cx="9144000" cy="411480"/>
          </a:xfrm>
          <a:prstGeom prst="rect">
            <a:avLst/>
          </a:prstGeom>
          <a:noFill/>
          <a:ln/>
        </p:spPr>
        <p:txBody>
          <a:bodyPr wrap="square" lIns="0" tIns="0" rIns="0" bIns="0" rtlCol="0" anchor="ctr"/>
          <a:lstStyle/>
          <a:p>
            <a:pPr marL="0" indent="0">
              <a:buNone/>
            </a:pPr>
            <a:r>
              <a:rPr lang="en-US" sz="1400" dirty="0">
                <a:solidFill>
                  <a:srgbClr val="AAAAAA"/>
                </a:solidFill>
                <a:latin typeface="Calibri" pitchFamily="34" charset="0"/>
                <a:ea typeface="Calibri" pitchFamily="34" charset="-122"/>
                <a:cs typeface="Calibri" pitchFamily="34" charset="-120"/>
              </a:rPr>
              <a:t>80+ Case Studies  ·  20+ Industries  ·  Global Delivery</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
    <p:bg>
      <p:bgPr>
        <a:solidFill>
          <a:srgbClr val="003D3D"/>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457200" y="0"/>
            <a:ext cx="11731752" cy="109728"/>
          </a:xfrm>
          <a:prstGeom prst="rect">
            <a:avLst/>
          </a:prstGeom>
          <a:solidFill>
            <a:srgbClr val="00A896"/>
          </a:solidFill>
          <a:ln w="12700">
            <a:solidFill>
              <a:srgbClr val="00A896"/>
            </a:solidFill>
            <a:prstDash val="solid"/>
          </a:ln>
        </p:spPr>
        <p:txBody>
          <a:bodyPr/>
          <a:lstStyle/>
          <a:p>
            <a:endParaRPr lang="en-US"/>
          </a:p>
        </p:txBody>
      </p:sp>
      <p:sp>
        <p:nvSpPr>
          <p:cNvPr id="4" name="Shape 2"/>
          <p:cNvSpPr/>
          <p:nvPr/>
        </p:nvSpPr>
        <p:spPr>
          <a:xfrm>
            <a:off x="731520" y="548640"/>
            <a:ext cx="2560320" cy="384048"/>
          </a:xfrm>
          <a:prstGeom prst="roundRect">
            <a:avLst>
              <a:gd name="adj" fmla="val 19048"/>
            </a:avLst>
          </a:prstGeom>
          <a:solidFill>
            <a:srgbClr val="00A896"/>
          </a:solidFill>
          <a:ln w="12700">
            <a:solidFill>
              <a:srgbClr val="00A896"/>
            </a:solidFill>
            <a:prstDash val="solid"/>
          </a:ln>
        </p:spPr>
        <p:txBody>
          <a:bodyPr/>
          <a:lstStyle/>
          <a:p>
            <a:endParaRPr lang="en-US"/>
          </a:p>
        </p:txBody>
      </p:sp>
      <p:sp>
        <p:nvSpPr>
          <p:cNvPr id="5" name="Text 3"/>
          <p:cNvSpPr/>
          <p:nvPr/>
        </p:nvSpPr>
        <p:spPr>
          <a:xfrm>
            <a:off x="731520" y="548640"/>
            <a:ext cx="256032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AI PODS • J2W DELIVERY</a:t>
            </a:r>
            <a:endParaRPr lang="en-US" sz="1100" dirty="0"/>
          </a:p>
        </p:txBody>
      </p:sp>
      <p:sp>
        <p:nvSpPr>
          <p:cNvPr id="6" name="Text 4"/>
          <p:cNvSpPr/>
          <p:nvPr/>
        </p:nvSpPr>
        <p:spPr>
          <a:xfrm>
            <a:off x="731520" y="1188720"/>
            <a:ext cx="10058400" cy="146304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AI PODS CASE STUDIES</a:t>
            </a:r>
            <a:endParaRPr lang="en-US" sz="4600" dirty="0"/>
          </a:p>
        </p:txBody>
      </p:sp>
      <p:sp>
        <p:nvSpPr>
          <p:cNvPr id="7" name="Shape 5"/>
          <p:cNvSpPr/>
          <p:nvPr/>
        </p:nvSpPr>
        <p:spPr>
          <a:xfrm>
            <a:off x="731520" y="2834640"/>
            <a:ext cx="7315200" cy="45720"/>
          </a:xfrm>
          <a:prstGeom prst="rect">
            <a:avLst/>
          </a:prstGeom>
          <a:solidFill>
            <a:srgbClr val="00A896"/>
          </a:solidFill>
          <a:ln w="12700">
            <a:solidFill>
              <a:srgbClr val="00A896"/>
            </a:solidFill>
            <a:prstDash val="solid"/>
          </a:ln>
        </p:spPr>
        <p:txBody>
          <a:bodyPr/>
          <a:lstStyle/>
          <a:p>
            <a:endParaRPr lang="en-US"/>
          </a:p>
        </p:txBody>
      </p:sp>
      <p:sp>
        <p:nvSpPr>
          <p:cNvPr id="8" name="Text 6"/>
          <p:cNvSpPr/>
          <p:nvPr/>
        </p:nvSpPr>
        <p:spPr>
          <a:xfrm>
            <a:off x="731520" y="3017520"/>
            <a:ext cx="9144000" cy="548640"/>
          </a:xfrm>
          <a:prstGeom prst="rect">
            <a:avLst/>
          </a:prstGeom>
          <a:noFill/>
          <a:ln/>
        </p:spPr>
        <p:txBody>
          <a:bodyPr wrap="square" lIns="0" tIns="0" rIns="0" bIns="0" rtlCol="0" anchor="ctr"/>
          <a:lstStyle/>
          <a:p>
            <a:pPr marL="0" indent="0">
              <a:buNone/>
            </a:pPr>
            <a:r>
              <a:rPr lang="en-US" sz="1800" dirty="0">
                <a:solidFill>
                  <a:srgbClr val="00A896"/>
                </a:solidFill>
                <a:latin typeface="Calibri" pitchFamily="34" charset="0"/>
                <a:ea typeface="Calibri" pitchFamily="34" charset="-122"/>
                <a:cs typeface="Calibri" pitchFamily="34" charset="-120"/>
              </a:rPr>
              <a:t>AI-first engineering pod delivery, quality engineering, and DevSecOps across industries.</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AI-FIRST POD DELIVERY — GE HEALTHCARE ENGINEERING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AI Pod Governance  ·  CD Automation  ·  Qualizen  ·  SPCR AI  ·  DevSecOps  ·  Healthcare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GE HealthCare   |   Domain: Healthcare Technology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GE HealthCare operated across 20+ vendors and 6 engineering teams with no unified governance. Fragmented vendor model resulted in uneven quality, inconsistent benchmarks, slower release cycles, and zero AI capability embedded in any delivery team.</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J2W became anchor vendor, embedding 121 engineers across Imaging, Patient Care, DevOps/Cloud, AI &amp; Data, and Quality. AI-first pod governance, hackathon-led innovation, vendor consolidation, CD automation (Axone), SPCR AI coding (LLaMA2 with LoRA), and Qualizen AI Test Platform were deployed.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CD Automation via Axone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Release cycle compressed from 6 weeks to &lt;4 weeks; testing efficiency +30%; tag detection time reduced by 98%.</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SPCR AI Coding System</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LLaMA2 with LoRA deployed to auto-classify field incident reports, eliminating manual SPCR coding entirely.</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Parallel Test Execution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&lt;33-hour E2E test cycle with 316 scenarios automated across Kubernetes infrastructure.</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Qualizen AI Test Platform</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65% faster testing cycles; 50% fewer defects — built by J2W; awarded GE internal hackathon prize.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AVS Cloud DevOps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Jenkins to GitOps migration; Docker Swarm to EKS roadmap reducing deployment overhead.</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AI-First Pod Governance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Unified sprint reviews and scorecards maintaining 10-day onboarding, &gt;85% sprint completion, &lt;0.5 defect density.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33%</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Release Cycle Improvement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Testing Efficiency Uplift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 / 3</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GE AI Hackathon Prizes Won</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CAAS GLOBAL MEDTECH ENGINEERING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DevSecOps  ·  Qualizen  ·  SPCR AI  ·  Regulatory Automation  ·  Axone  ·  MedTech</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MedTech via Tata Elxsi   |   Domain: Healthcare Technology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MedTech engineering program required capabilities-as-a-service across AI-enabled quality, regulatory automation, test acceleration, and secure release execution in regulated product environments — demanding embedded DevSecOps, quality engineering, and compliance-aligned automation.</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Capabilities delivered through governed AI pods with embedded DevSecOps, quality engineering, and regulatory-aware automation. SPCR AI coding, SOUP/SBOM regulatory automation, parallel test execution via Qualizen, CD automation via Axone, and DevSecOps/cybersecurity were deployed across the program.</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SPCR AI Coding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classification of software problem change reports eliminating manual coding effort.</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SOUP &amp; SBOM Regulatory Automation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Software of Unknown Provenance and Software Bill of Materials automation ensuring regulatory traceability.</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Parallel Test Execution via Qualizen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Simultaneous test execution across environments compressing regression cycles significantly.</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CD Automation via Axone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 delivery automation reducing release cycle time to under 4 weeks.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DevSecOps &amp; Cybersecurity</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Security integrated into every stage of the development and release pipeline.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Pod Governance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Structured sprint reviews, defect density tracking, and onboarding standards maintained across the program.</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Testing Cycles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&lt;4 Weeks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Release Cycle 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 Min</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Tag Detection Time</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GCC ENABLEMENT — HANDHELD ULTRASOUND (MEDTECH)</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GCC Setup  ·  Bengaluru  ·  Hyderabad  ·  Agile  ·  Healthcare Engineering  ·  India Capability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MedTech Leader (Handheld Ultrasound Division)   |   Domain: Healthcare Technology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 global MedTech company's Ultrasound team needed portable handheld devices to replace bulky machines. US/Finland team faced slow time-to-market, rising costs, insufficient talent, and limited India market penetration ability.</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GCCs established in Bengaluru and Hyderabad. Agile methodologies with cross-functional iterative teams implemented. Top-tier engineers in ultrasound, software, and hardware recruited. Governance frameworks for risk, QA, and digital collaboration deployed.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GCC Establishment (Bengaluru &amp; Hyderabad)</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Dual engineering hubs set up as centers of innovation and product development for the handheld ultrasound program.</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Agile Iterative Methodology</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Cross-functional teams in iterative cycles enabling rapid adaptation to product feedback and design changes.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Strategic Ultrasound Engineering Talent</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Specialists recruited in ultrasound technology, embedded software, and hardware design.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Continuous Learning Programs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Specialized skills development in medical imaging technology maintaining team capability currency.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Governance &amp; Risk Framework</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Risk mitigation protocols, quality audits, and performance metrics maintaining delivery standards.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India Market Penetration Support</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Teams equipped to understand and address India's healthcare landscape and market requirements.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13</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Engineers Added in Initial Phase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Significant</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Cost Reduction vs Milwaukee/Helsinki</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2023</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Most Preferred Partner Award</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MAMMOGRAPHY EXCELLENCE — AI-ENHANCED DIAGNOSTICS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AI Diagnostics  ·  Agile  ·  ML  ·  Clinical Workflow  ·  EU Market  ·  MedTech</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Medical Technology &amp; Digital Solutions Leader   |   Domain: Healthcare Technology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leader's flagship mammography system for the EU market faced operational inefficiency in patient issue identification. Diagnostic delays caused prolonged patient anxiety, risked inadequate care, and strained clinical workflows.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Multidisciplinary team (imaging, software, clinical, PM) deployed within 15 days. Agile iteration streamlined UI for fast data access, developed advanced ML-based diagnostic algorithms, simplified clinical workflows, and implemented onboarding materials.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Rapid Multidisciplinary Team Deployment</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Full team covering imaging, software, clinical, and PM deployed within 15 days.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Agile Iterative Development</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Rapid iteration cycles responsive to clinical stakeholder feedback before final rollout.</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UI Streamlining for Clinical Access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Redesigned interface enabling faster data access and reduced time-to-diagnosis.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ML-Based Diagnostic Algorithm Development</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Machine learning capabilities enhancing diagnostic accuracy and reducing false findings.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Simplified Clinical Workflow Design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Intuitive navigation reducing cognitive load and time for patient assessments.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Continuous Stakeholder Collaboration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Clinical user feedback incorporated throughout development ensuring acceptance before launch.</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 Days</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Multidisciplinary Team Deployment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Faster</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More Accurate Diagnoses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Improved</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Clinical Workflow Efficiencies</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PATIENT CARE SOLUTIONS — MOBILE APP &amp; DEVSECOPS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Mobile App  ·  CI/CD  ·  0% Downtime  ·  DevOps  ·  Healthcare  ·  PoC Delivery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Leader in Medical Technology &amp; Patient Diagnostics   |   Domain: Healthcare Technology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medtech leader needed to innovate its mobile application ecosystem and build a robust DevOps pipeline for 0% downtime. Key challenges: rapid PoC within short timeframe, optimizing mobile app portfolio, assembling team quickly, and differentiating from competitors.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PoC built within 15 days. 13-person team (QA, scrum masters, architects, PM) assembled within 1 week. Agile methodologies applied. CI/CD pipeline enabling 0% application downtime delivered on schedule.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Rapid PoC Delivery</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Full Proof of Concept validated and delivered within 15 days demonstrating capability and approach.</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Fast Team Ramp-Up</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13-member specialized team assembled within 1 week covering all required disciplines.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Domain Healthcare Knowledge Acquisition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Rapid learning and application of healthcare-specific regulations and product requirements.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Agile Project Management</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Adaptive sprint planning enabling continuous improvement and milestone alignment.</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CI/CD DevOps Pipeline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Highly effective pipeline enabling 0% application downtime across the mobile ecosystem.</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On-Time Milestone Delivery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All critical project milestones completed on schedule without quality compromise.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Application Downtime Achieved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 Days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PoC Delivered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13</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Specialists Onboarded in 1 Week</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CAAS GLOBAL AUTOMOTIVE OEM ENGINEERING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ADAS  ·  Automotive  ·  Cloud Migration  ·  Warranty AI  ·  S/4HANA  ·  NLP</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via Tata Elxsi   |   Domain: Automotive Engineering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Automotive OEM engagement via Tata Elxsi required capabilities-as-a-service across cloud modernization, analytics, enterprise migration, and AI-enabled domain workflows. Domain-certified teams needed with flexible billing and multi-workstream engagement continuity.</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Domain-certified engineering teams delivered through governed AI pod structures. ADAS video streaming analytics, Truck BOM Connect cloud migration, Warranty Fault AI NLP engine, S/4HANA migration, and AI pod governance deployed across the engagement.</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ADAS Video Streaming Analytics</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AI-enabled video analytics for advanced driver assistance system processing and real-time data streaming.</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Truck BOM Connect Cloud Migration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Cloud migration of truck bill-of-materials connectivity systems to scalable cloud infrastructure.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Warranty Fault AI NLP Engine</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NLP engine automatically classifying and routing warranty fault reports without manual coding.</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S/4HANA Migration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Enterprise SAP S/4HANA migration delivered within governed pod structures with domain-certified engineers.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Domain-Certified Engineering Teams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Engineers vetted on automotive-specific standards, systems, and software engineering requirements.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Pod Governance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Unified sprint reviews, scorecards, and cadences maintaining delivery accountability across all workstreams.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Memory Optimization Achieved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Billing Models Deployed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 Years</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Active Partnership Sustained</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CYBERSECURITY — PENTESTING TO COMPLIANCE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Pentesting  ·  HIPAA  ·  GDPR  ·  PCI-DSS  ·  Cloud Security  ·  SOC</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Multiple Fintech &amp; HealthTech Organizations   |   Domain: Banking &amp; Financial Services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Fintech and HealthTech organizations faced critical security threats across web, mobile, cloud, CI/CD, and IoT while struggling to meet HIPAA, GDPR, PCI-DSS, and FedRAMP obligations with limited in-house security capability.</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Specialized security pods deployed across pentesting, cloud assessments, data tokenization, supply chain audits, and SOC-led incident response — combining manual testing, advanced tooling, and forensic investigation with zero production downtime.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Web Application Pentesting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Business logic flaw detection, privilege escalation testing, and transaction validation across web surfaces.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Mobile Security Testing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APK reverse engineering, PHI disclosure testing, and hardcoded API token detection across iOS and Android.</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Cloud Security Assessment</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AWS misconfiguration testing, IAM policy chaining analysis, and CIS compliance validation.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Data Tokenization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PII and PHI scanning across structured and unstructured repositories with Skyflow vault implementation.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Supply Chain Security</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CI/CD pipeline audits, vulnerable dependency remediation, and Software Bill of Materials generation.</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SOC Incident Response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Log correlation, insider threat forensics, and ransomware containment under HIPAA compliance requirements.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$50M+</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Active Transactions Protected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40,000+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Patient Records Secured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90 Min</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Ransomware Containment Time</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APP STORE RATING RECOVERY FOR DIGITAL BANK</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Mobile QA  ·  App Store  ·  Android  ·  iOS  ·  UX Testing  ·  Fintech</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Digital Bank   |   Domain: Banking &amp; Financial Services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Digital bank saw significant App Store/Play Store rating drop due to poor performance causing customer churn. Performance inconsistencies across iOS/Android across multiple regions made diagnosis and fix through internal teams difficult.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Cross-device analysis and bug tracking approach deployed using JIRA to integrate user feedback into fix cycle. App benchmarked against competitor apps. Functional retests conducted on every new app version before release.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Cross-Device Analysis</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User experience evaluation across Android and iOS in multiple regions identifying device/region-specific issues.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App Store Feedback Integration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User reviews from App Store and Play Store integrated into JIRA for faster identification and resolution.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Competitor Benchmarking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App performance compared against leading competitors to identify improvement targets.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Functional Retest on Every Version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Thorough retests on each new version validating previously identified issues before release.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Region-Specific Diagnostics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Performance issues isolated by region and device type enabling targeted remediation.</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Fix Cycle Acceleration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Direct feedback loop from user reviews to development team compressing issue-to-release time.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App Store Rating (3 months)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3.5→4.8</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Play Store Rating (3 months)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Improved</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User Retention &amp; Organic Growth</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DEVSECOPS PIPELINE FOR OPEN BANKING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DevSecOps  ·  AWS  ·  GitHub Actions  ·  HashiCorp Vault  ·  ARGO CD  ·  Open Banking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Banking Leader   |   Domain: Banking &amp; Financial Services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bank's Open Banking initiative required fully automated, security-compliant DevSecOps pipeline across multiple microservices and source control repositories — adhering to strict global banking regulations and managing complex multi-service release cycles.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Comprehensive AWS-powered DevSecOps pipeline implemented integrating GitHub Actions, HashiCorp Vault, Veracode SAST/SCA, JFrog, ARGO CD, and Lacework across Dev, Staging, and Production environments with formal approval gates.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Stakeholder-Balanced Pipeline Design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Architecture balancing technical requirements and business stakeholder needs across all environments.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Multi-Repository Microservice Integration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Seamless integration across multiple source control repositories and microservice boundaries.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Near 100% Test Automation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QE and security testing across every release candidate without manual regression.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Streamlined Release Train Model</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Multi-service coordinated release model cutting deployment times significantly.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Security-First Pipeline Architecture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SAST, SCA, dependency validation, and Lacework monitoring embedded throughout the pipeline.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Banking Regulatory Compliance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Architecture ensuring adherence to global banking regulatory standards at every release gate.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Test Automation Across Microservices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Reduced</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Deployment Cycle 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Full</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QE &amp; Security Automation</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MANAGED TESTING FOR OTT PLATFORM LAUNCH — US TELECOM</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OTT  ·  Test Automation  ·  UTAF  ·  Non-Functional  ·  Telecom  ·  QA</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US-Based Telecom Company   |   Domain: Telecom &amp; Digital Services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Major US telecom launching OTT platform needed end-to-end managed quality engineering to reduce go-to-market time — covering test automation, functional/non-functional testing, device compatibility, and API testing while cutting manual effort.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Multi-layer testing strategy using OTT UTAF for E2E automation, cross-browser/device testing across Android/iOS, content/subscription validation, and comprehensive non-functional testing including load, performance, QoE, ad-validation, analytics, and security.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E2E User Journey Automation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user flows using OTT Unified Test Automation Framework accelerating deployment cycles.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Content &amp; Subscription Validation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Rigorous testing across playback, subscription management, and content management systems.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Cross-Device &amp; Cross-Browser Testing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Multi-browser and smartphone testing including seamless OTT application integration validation.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Non-Functional Testing Suite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In-depth load, performance, QoE, ad-validation, analytics, and security testing.</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Continuous Automation Framework</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Systematically reducing manual testing effort while ensuring consistent quality and stability.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Managed Test House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Comprehensive, integrated QA oversight across the entire OTT platform ecosystem.</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Release Timeframe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11.4M</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User Base Grown Post-Launch</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Manual Testing Effort</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SAP PERFORMANCE TESTING FOR HIGH-LOAD HEALTH INSURANCE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SAP  ·  LoadRunner  ·  Performance Testing  ·  5000 Users  ·  Insurance  ·  Benchmarking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Health Insurance Company   |   Domain: Insurance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Health insurance company needed to validate SAP system under 5,000 concurrent users with strict benchmarks: dialog response &lt;1 second, CPU/memory &lt;65%, 99% DB cache hit ratio — across complex batch processes and varied network latency scenarios.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Detailed performance testing using HP LoadRunner VUGEN with production-data-based user scenarios. Gradual load increase tests, batch process impact evaluation, and targeted database optimization recommendations including secondary index creation delivered.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Production-Based Load Simulation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Test scenarios built from real user interaction and transaction data to accurately simulate usage.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HP LoadRunner VUGEN Scripts</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Performance scripts for frequently used SAP T-Codes comprehensively covering critical functions.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Gradual Load Testing Protocol</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Progressive load increase with/without network latency to identify stress points.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Batch Process Performance Isolation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Analysis with/without concurrent batch processes to quantify batch impact on response times.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Database Optimization Recommendations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Targeted secondary index recommendations improving peak-load data retrieval.</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Latency Impact Analysis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Identification of response time jumps at specific latency levels guiding infrastructure remediation.</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5,000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Concurrent Users Validated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Strict Performance Benchmarks Met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Full</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Optimization Roadmap Delivered</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E-LEARNING AUTOMATION FOR LEADING EDTECH PROVIDER</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EdTech  ·  OTT UTAF  ·  Cross-Device  ·  iOS  ·  Android  ·  Test Automation</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E-Learning Provider, India   |   Domain: Education Technology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Seasoned e-learning leader needed to comprehensively validate app for classes 6–10 across multiple platforms, devices, and browsers while supporting a rapidly growing student user base at scale.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Key user journeys identified and E2E flows automated using OTT Unified Automation Framework. Cross-browser/device testing across Android and iOS. OTT app integration testing confirmed seamless functionality across content, eBooks, assessments, and parent notifications.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User Journey Identification &amp; Mapping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Critical student flows mapped for high-quality, educationally aligned test coverage.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E2E Automation via OTT Framework</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Unified automation framework enhancing testing speed, accuracy, and consistency.</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Cross-Browser &amp; Cross-Device Testing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Consistent performance validated across iOS, Android, and major web browsers.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OTT App Integration Testing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Seamless functionality confirmed across all OTT platform integrations.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Content &amp; Feature Validation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Playback, eBooks, assessments, and parent notifications validated across all platforms.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Scale-Ready Test Architecture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Automation framework designed to support growing student base without manual effort increase.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Manual Testing Efforts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11.4M</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Students Supported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On-Time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Production Releases Maintained</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NEXT-GENERATION GAMING CONSOLE ENGINEERING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Gaming  ·  Agile  ·  18-Member Squad  ·  AWS  ·  DevOps  ·  Media &amp; Entertainment</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Media, Entertainment &amp; Electronics Leader   |   Domain: Media &amp; Entertainment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media/electronics leader developing next-gen gaming console needed to accelerate product development and meet ambitious roadmap milestones — requiring agile processes for distributed teams, E2E engineering coverage, and rapid capacity scaling.</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18-member India-based engineering squad (front-end, back-end, DevOps, cloud) augmented core engineering team. Agile development processes for globally distributed collaboration established. Strategic workforce planning and skill development frameworks provided.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Co-Engineering Agility</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Agile development processes for effective globally distributed collaboration across time zones.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Holistic Engineering Coverage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18-member team covering front-end, back-end, DevOps, middleware, AWS, and SCRUM.</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Smooth Workload Transitions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Minimal downtime module transitions with clear knowledge transfer and milestone handover.</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Strategic Workforce Planning Advisory</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Workforce planning for efficient scaling aligned to console roadmap milestones.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Skill Development Framework</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Training and support ensuring team members applied latest tools to the product.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Operational Excellence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India team reached full operational readiness within months and maintained tight schedule adherence.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18</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Engineering Team Members Deployed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Full Stack</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Technology Coverage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On-Time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Delivery Without Quality Compromise</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6">
    <p:bg>
      <p:bgPr>
        <a:solidFill>
          <a:srgbClr val="003D3D"/>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457200" y="0"/>
            <a:ext cx="11731752" cy="109728"/>
          </a:xfrm>
          <a:prstGeom prst="rect">
            <a:avLst/>
          </a:prstGeom>
          <a:solidFill>
            <a:srgbClr val="00A896"/>
          </a:solidFill>
          <a:ln w="12700">
            <a:solidFill>
              <a:srgbClr val="00A896"/>
            </a:solidFill>
            <a:prstDash val="solid"/>
          </a:ln>
        </p:spPr>
        <p:txBody>
          <a:bodyPr/>
          <a:lstStyle/>
          <a:p>
            <a:endParaRPr lang="en-US"/>
          </a:p>
        </p:txBody>
      </p:sp>
      <p:sp>
        <p:nvSpPr>
          <p:cNvPr id="4" name="Shape 2"/>
          <p:cNvSpPr/>
          <p:nvPr/>
        </p:nvSpPr>
        <p:spPr>
          <a:xfrm>
            <a:off x="731520" y="548640"/>
            <a:ext cx="2560320" cy="384048"/>
          </a:xfrm>
          <a:prstGeom prst="roundRect">
            <a:avLst>
              <a:gd name="adj" fmla="val 19048"/>
            </a:avLst>
          </a:prstGeom>
          <a:solidFill>
            <a:srgbClr val="00A896"/>
          </a:solidFill>
          <a:ln w="12700">
            <a:solidFill>
              <a:srgbClr val="00A896"/>
            </a:solidFill>
            <a:prstDash val="solid"/>
          </a:ln>
        </p:spPr>
        <p:txBody>
          <a:bodyPr/>
          <a:lstStyle/>
          <a:p>
            <a:endParaRPr lang="en-US"/>
          </a:p>
        </p:txBody>
      </p:sp>
      <p:sp>
        <p:nvSpPr>
          <p:cNvPr id="5" name="Text 3"/>
          <p:cNvSpPr/>
          <p:nvPr/>
        </p:nvSpPr>
        <p:spPr>
          <a:xfrm>
            <a:off x="731520" y="548640"/>
            <a:ext cx="256032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WORKFORCE SOLUTIONS • J2W DELIVERY</a:t>
            </a:r>
            <a:endParaRPr lang="en-US" sz="1100" dirty="0"/>
          </a:p>
        </p:txBody>
      </p:sp>
      <p:sp>
        <p:nvSpPr>
          <p:cNvPr id="6" name="Text 4"/>
          <p:cNvSpPr/>
          <p:nvPr/>
        </p:nvSpPr>
        <p:spPr>
          <a:xfrm>
            <a:off x="731520" y="1188720"/>
            <a:ext cx="10058400" cy="146304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WORKFORCE SOLUTIONS CASE STUDIES</a:t>
            </a:r>
            <a:endParaRPr lang="en-US" sz="4600" dirty="0"/>
          </a:p>
        </p:txBody>
      </p:sp>
      <p:sp>
        <p:nvSpPr>
          <p:cNvPr id="7" name="Shape 5"/>
          <p:cNvSpPr/>
          <p:nvPr/>
        </p:nvSpPr>
        <p:spPr>
          <a:xfrm>
            <a:off x="731520" y="2834640"/>
            <a:ext cx="7315200" cy="45720"/>
          </a:xfrm>
          <a:prstGeom prst="rect">
            <a:avLst/>
          </a:prstGeom>
          <a:solidFill>
            <a:srgbClr val="00A896"/>
          </a:solidFill>
          <a:ln w="12700">
            <a:solidFill>
              <a:srgbClr val="00A896"/>
            </a:solidFill>
            <a:prstDash val="solid"/>
          </a:ln>
        </p:spPr>
        <p:txBody>
          <a:bodyPr/>
          <a:lstStyle/>
          <a:p>
            <a:endParaRPr lang="en-US"/>
          </a:p>
        </p:txBody>
      </p:sp>
      <p:sp>
        <p:nvSpPr>
          <p:cNvPr id="8" name="Text 6"/>
          <p:cNvSpPr/>
          <p:nvPr/>
        </p:nvSpPr>
        <p:spPr>
          <a:xfrm>
            <a:off x="731520" y="3017520"/>
            <a:ext cx="9144000" cy="548640"/>
          </a:xfrm>
          <a:prstGeom prst="rect">
            <a:avLst/>
          </a:prstGeom>
          <a:noFill/>
          <a:ln/>
        </p:spPr>
        <p:txBody>
          <a:bodyPr wrap="square" lIns="0" tIns="0" rIns="0" bIns="0" rtlCol="0" anchor="ctr"/>
          <a:lstStyle/>
          <a:p>
            <a:pPr marL="0" indent="0">
              <a:buNone/>
            </a:pPr>
            <a:r>
              <a:rPr lang="en-US" sz="1800" dirty="0">
                <a:solidFill>
                  <a:srgbClr val="00A896"/>
                </a:solidFill>
                <a:latin typeface="Calibri" pitchFamily="34" charset="0"/>
                <a:ea typeface="Calibri" pitchFamily="34" charset="-122"/>
                <a:cs typeface="Calibri" pitchFamily="34" charset="-120"/>
              </a:rPr>
              <a:t>Talent acquisition, managed services, GCC setup, and workforce transformation across industries.</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RAPID SECURE ODC DEPLOYMENT</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ODC  ·  ISO 27001  ·  Biometric Access  ·  24/7 Monitoring  ·  GCC  ·  Infrastructure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Technology Company   |   Domain: Technology &amp; IT Services   |   Function: GCC &amp; ODC Setup</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tech company needed fully operational, secure offshore development center stood up in 2 weeks with mandatory ISO 27001:2022 compliance — zero tolerance for downtime, stringent data security, and physical access controls.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High-availability network with firewalls, load balancing, and failover deployed. 24/7 monitoring via SureMDM. Strict biometric/zone-based access controls. End-to-end physical security with controlled entry, lockers, CCTV. Reusable deployment model established.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High-Availability Network Infrastructure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Firewalls, load balancing, and failover built to eliminate single points of failure from day one.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24/7 Monitoring &amp; MDM</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 monitoring, antivirus, patching, and device management via SureMDM across the full ODC environment.</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Biometric &amp; Zone-Based Access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Multi-layer physical access controls ensuring only authorized personnel enter secured zones.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End-to-End Physical Security</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Controlled entry, lockers, and CCTV coverage maintaining physical integrity across the facility.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ISO 27001:2022 Compliance Framework</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Full certification compliance enforced across all systems, processes, and personnel from go-live.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Reusable ODC Deployment Model</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Documented playbook enabling future ODC standup at reduced time and risk.</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 Weeks</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ODC Go-Live from Engagement Start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ISO 27001:2022 Compliance at Launch</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Zero</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Downtime Since Go-Live</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GREENFIELD AI-READY GCC BUILD — MAJOR US AIRLINE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GCC  ·  Greenfield  ·  Hyderabad  ·  AI Certification  ·  Aviation  ·  Talent</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Global Airline   |   Domain: Aviation &amp; Transportation   |   Function: GCC &amp; ODC Setup</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US airline needed greenfield GCC in Hyderabad targeting up to 1,000 technology professionals for AI leadership and global parity. Required competing for scarce senior tech talent, building employer brand in aviation domain from scratch, with AI-first mandate.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Greenfield GCC Playbook deployed covering sourcing, employer branding, and AI certification. Intelligence-led sourcing via TalentAI/TalentSphere. 5-stage technical screen. Every engineer AI-certified before Day 1. Dedicated tech lead embedded at no additional cost.</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Greenfield GCC Playbook</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Operating model, governance, KPI architecture, and regulatory compliance delivered 60-70% faster than industry timelines.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Intelligence-Led Sourcing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Deep signal sourcing using open-source contributions and TalentAI semantic search with skill-graph scoring.</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5-Stage Technical Screen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LinkedIn triage, DSA assessment, architecture review, client panel, and structured onboarding in sequence.</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J2W AI Labs Certification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Every engineer AI-certified before Day 1 with AI-assisted code review, LLM documentation, and automated test generation.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AI-First Engineering Pod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Embedded tech lead at no client cost with sprint velocity and code quality KPIs; engineers shipping from week 3.</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Employer Brand Architecture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Positioned as same role as US HQ with in-person AI mentorship, differentiating from standard GCC narrative.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Days</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Time-to-Shortlist (vs Weeks)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1/hr</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Engineers Onboarded at Peak</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Attrition at 6 Months</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GREENFIELD TO APAC INNOVATION HUB — 15-YEAR BFSI EVOLUTION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GCC  ·  APAC  ·  Banking  ·  AI Credit Risk  ·  KYC/AML  ·  Multi-City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Banking Leader, APAC   |   Domain: Banking &amp; Financial Services   |   Function: GCC &amp; ODC Setup</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bank needed to build, evolve, and scale a multi-city APAC hub across 15+ years — from lean greenfield foundation to fully automated excellence hub supporting €1.3 trillion in assets across 15 countries, with increasing compliance and AI integration requirements.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Phase 1: 120 professionals, core BFSI CoE. Phase 2: 450+ specialists, AI-driven risk automation, 98% fraud detection. Phase 3: 700+ professionals across APAC with automated KYC/AML, real-time reporting, $1.2B annual value generation.</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Phase 1 Banking GCC Foundation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120 professionals establishing core BFSI CoE operations with compliance engine and risk framework.</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Phase 2 Digital Transformation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450+ specialists driving AI-powered risk accuracy improvement of 30% and retail banking automation of 45%.</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Phase 3 APAC Excellence Hub</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700+ professionals across multi-city hub with automated KYC/AML and real-time reporting across 15 countries.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AI-Powered Credit Risk Modelling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92% accuracy in AI-driven credit risk modelling supporting enterprise-scale financial decision-making.</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Regulatory Compliance at Scale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100% regulatory compliance maintained across all APAC jurisdictions throughout every phase.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Continuous Innovation Engine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Sustainable innovation frameworks ensuring the hub remains at the forefront of BFSI operations.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Professionals Across APAC</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92%</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AI Credit-Risk Modeling Accuracy</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$1.2B</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Annual Value Generation</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FINANCE &amp; TECHNOLOGY COE BUILD — GLOBAL INDUSTRIAL LEADER (SULZER)</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BOT Model  ·  150 Hires  ·  RPA  ·  Finance  ·  ServiceNow  ·  GCC</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Industrial Engineering Leader (Sulzer)   |   Domain: Industrial Engineering   |   Function: GCC &amp; ODC Setup</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industrial leader needed 150-member India CoE across Finance and Technology within 6 months — niche roles including ServiceNow engineers, SAP architects, finance transformation specialists, and data engineering leads requiring rapid scaling and operational maturity.</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Build-Operate-Transfer model across 3 phases: infrastructure + 100% recruitment (months 1-2), knowledge transfer + RPA rollout (months 2-4), operational maturity with controlled transfer (months 4-6). Client Vantage dashboard integrated for real-time visibility.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BOT Operating Model</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Build-Operate-Transfer structure with Sulzer assuming control at month 6 and advisory continuing post-transfer.</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Finance Tower Excellence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O2C, P2P, R2R, and FP&amp;A each built with embedded control frameworks, compliance, and efficiency benchmarks.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C2H for Critical Roles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Contract-to-Hire at 45-50% of year-1 compensation with 85% mis-hire risk reduction and day-91 permanent conversion.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RPA &amp; AI Workflow Automation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SAP P2P, O2C, R2R automation targeting 25-30% manual effort reduction across all Finance towers.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Client Vantage Dashboard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performance visibility and predictive pipeline analytics from day 1 for leadership oversight.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ServiceNow &amp; Cloud Enablement</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Full deployment and CRM optimization for the 50-person technology track.</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Hires Completed in 6 Months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Manual Effort Reduction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15-20%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Operational Leverage</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ZERO-DISRUPTION WORKFORCE SCALING FOR HEALTHCARE IT</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C2H  ·  Talent Acquisition  ·  Healthcare  ·  Zero Attrition  ·  Engagement  ·  SOW</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Healthcare &amp; Health Insurance Company   |   Domain: Healthcare &amp; Health Insurance   |   Function: Talent Acquisition &amp; Deployment</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Healthcare/health insurance company required large-scale project hiring with fixed start/end dates across complex SOW governance structures. Attrition and disengagement risk was high. Absolute requirement: zero disruption to business operations.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Contract-to-Hire model with flexible scaling (headcount +10% buffer). Dedicated single-point program manager governance. Engagement/retention framework (learning, rewards, pulse checks). Structured three-phase: onboarding, stabilization, continuity.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Contract-to-Hire with Buffer Scaling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C2H model with 10% headcount buffer built in, absorbing attrition without disrupting delivery timelines.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Single-Point Program Manager Governance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Dedicated PM providing unified accountability across SOW complexity and multi-team coordination.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Engagement &amp; Retention Framework</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Learning, rewards, and pulse check program maintaining workforce commitment throughout the engagement.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Structured Three-Phase Lifecycle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Onboarding, stabilization, and continuity phases ensuring operational readiness at each stage.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Early Warning System</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Proactive attrition signals identified and addressed during regular employee connects before they impact delivery.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Replicable Workforce Model</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Documented engagement model designed for reuse across future large-scale project hires.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98%</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Attendance Rate Maintained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Zero</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Attrition Throughout Engagement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Zero</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Business Disruption</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CA &amp; FINANCE TALENT PIPELINE — GLOBAL ALTERNATIVE ASSET MANAGER</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CA Hiring  ·  RPO  ·  TalentAI  ·  POFU  ·  GCC  ·  Finance Talent</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Global Alternative Asset Manager   |   Domain: Banking &amp; Financial Services   |   Function: Talent Acquisition &amp; Deployment</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India GCC faced 17-18% offer dropout rate from long notice periods, mandatory WFO, competition from Big 4, and fragmented hiring demand. Traditional partners couldn't address structural causes of dropout at required scale.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4-pillar talent engine: pre-mapped CA warm bench, structured 90-day POFU rhythm, WFO employer brand strategy, and Managed RPO consolidating recruitment across all business units. TalentAI and TalentSphere for AI-ranked sourcing.</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Pre-Vetted Immediate Joiners Pipeline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Warm bench of CAs mapped and ready before demand hits, drawn from campus, Big 4, and competitor pools.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90-Day POFU Rhythm</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Structured post-offer follow-up with milestone touchpoints, manager connects, and counter-offer inoculation.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WFO Employer Brand Strategy</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Repositioned 5-day office as career accelerator with same-role-as-HQ messaging.</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Managed RPO Partnership</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Consolidated recruitment across all business units with dedicated team eliminating vendor fragmentation.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TalentAI &amp; TalentSphere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AI-ranked candidate pools with skill-graph matching and voice-agent pre-screening for faster, higher-quality shortlisting.</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Zero Subcontracting Policy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300+ in-house recruiters handling all sourcing with no subcontracting layer diluting quality.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&lt;5%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Offer Dropout (Down from 17-18%)</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24 Hrs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Time to First Shortlist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Candidates Double-Screened</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CORE BANKING TRANSFORMATION &amp; SUPPORT OPTIMIZATION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ServiceNow  ·  ITIL  ·  L1-L3  ·  600+ Branches  ·  SLA  ·  Banking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Private Bank, India   |   Domain: Banking &amp; Financial Services   |   Function: Managed IT Services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Private bank across 600+ branches suffered frequent SLA violations and escalating incident volumes from fragmented vendor management, non-uniform SOPs, and lack of support standardization. No centralized support layer existed.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60-member L1-L3 support team deployed across India. ServiceNow integrated with centralized SLA monitoring. Domain-aligned ITIL training. SOPs standardized across all branches. Single governance layer replaced fragmented multi-vendor model.</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60-Member Multi-Tier Support Team</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L1 to L3 coverage deployed nationally across India, providing unified support across all branch locations.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ServiceNow Integration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End-to-end ITSM integration with centralized SLA monitoring replacing fragmented ticket management.</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Domain-Aligned ITIL Training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All support tiers trained to banking-domain ITIL standards ensuring consistent incident resolution quality.</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Standardized SOPs Across 600+ Branches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Uniform operating procedures deployed across the full branch network eliminating process inconsistency.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Centralized SLA Monitoring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visibility into SLA status across all tiers enabling proactive breach prevention.</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Vendor Consolidation Model</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Single delivery partner replacing fragmented vendor management and associated governance overhead.</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42%</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Avg Ticket Turnaround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99.8%</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SLA Compliance Sustained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Cost Savings from Consolidation</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CLOUD MIGRATION &amp; 24x7 INFRASTRUCTURE SUPPORT</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Cloud Migration  ·  IaC  ·  DevOps  ·  24/7 Managed Services  ·  Healthcare SaaS  ·  140 Workloads</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Healthcare SaaS Provider   |   Domain: Healthcare Technology   |   Function: Managed IT Services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healthcare SaaS provider faced performance issues during migration of 140+ workloads to hybrid cloud. Fragmented visibility and downtime events impacted critical applications relied upon by healthcare customers.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Certified DevOps/infrastructure team deployed for phased migration using Infrastructure-as-Code best practices. 24/7 managed services team with proactive monitoring and structured incident response established simultaneously.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Certified DevOps &amp; Infrastructure Team</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Domain-certified engineers deployed specifically for hybrid cloud migration and managed services.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Phased Migration via IaC</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Infrastructure-as-Code best practices applied across all workload migrations ensuring repeatability.</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24/7 Managed Services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 proactive monitoring and incident response maintaining operations across all post-migration environments.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Structured Incident Response Framework</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Defined escalation and resolution procedures for P1, P2, and P3 incidents with SLA accountability.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Migration Governance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End-to-end program tracking across all 140+ workloads with milestone-based delivery visibility.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Hybrid Cloud Architecture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Multi-environment setup supporting cloud and on-premise workloads within a single managed operations layer.</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On-Time Migration of 140+ Workloads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99.95%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Uptime Post-Migration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P1 Incidents Resolved Within 4 Hours</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GLOBAL PHARMACEUTICAL PROCESS EXCELLENCE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BPMN 2.0  ·  FDA  ·  EMA  ·  Pharma  ·  AI Compliance  ·  Process Unification</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Pharmaceutical Leader   |   Domain: Pharmaceuticals &amp; Life Sciences   |   Function: Process Excellence &amp; Compliance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pharmaceutical leader operated with 11,000+ fragmented process maps with no standardization. High compliance risk from non-uniform documentation. Complex manual processes slowing employee onboarding and audit readiness across multiple markets.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15,000+ processes unified into a BPMN 2.0 system. AI-driven compliance monitoring implemented. Intelligent visual workflows designed to accelerate employee onboarding. Documentation aligned to FDA, EMA, and ICH standards.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BPMN 2.0 Process Unification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15,000+ processes standardized into a single process modeling system across global operations.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AI-Driven Compliance Monitoring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compliance tracking and audit readiness across all process areas in real time.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Intelligent Visual Workflows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Process-guided onboarding workflows reducing the time new employees take to reach productivity.</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FDA/EMA/ICH Documentation Alignment</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All process documentation aligned to major global regulatory standards eliminating compliance gaps.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Audit Readiness Framework</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Structured audit preparation process supported by standardized documentation and compliance tracking.</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Global Rollout Governance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Structured deployment model for process standardization across geographically distributed operations.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Full</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Global Regulatory Compliance Achieved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Audit Preparation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Employee Onboarding</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6">
    <p:bg>
      <p:bgPr>
        <a:solidFill>
          <a:srgbClr val="003D3D"/>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457200" y="0"/>
            <a:ext cx="11731752" cy="109728"/>
          </a:xfrm>
          <a:prstGeom prst="rect">
            <a:avLst/>
          </a:prstGeom>
          <a:solidFill>
            <a:srgbClr val="00A896"/>
          </a:solidFill>
          <a:ln w="12700">
            <a:solidFill>
              <a:srgbClr val="00A896"/>
            </a:solidFill>
            <a:prstDash val="solid"/>
          </a:ln>
        </p:spPr>
        <p:txBody>
          <a:bodyPr/>
          <a:lstStyle/>
          <a:p>
            <a:endParaRPr lang="en-US"/>
          </a:p>
        </p:txBody>
      </p:sp>
      <p:sp>
        <p:nvSpPr>
          <p:cNvPr id="4" name="Shape 2"/>
          <p:cNvSpPr/>
          <p:nvPr/>
        </p:nvSpPr>
        <p:spPr>
          <a:xfrm>
            <a:off x="731520" y="548640"/>
            <a:ext cx="2560320" cy="384048"/>
          </a:xfrm>
          <a:prstGeom prst="roundRect">
            <a:avLst>
              <a:gd name="adj" fmla="val 19048"/>
            </a:avLst>
          </a:prstGeom>
          <a:solidFill>
            <a:srgbClr val="00A896"/>
          </a:solidFill>
          <a:ln w="12700">
            <a:solidFill>
              <a:srgbClr val="00A896"/>
            </a:solidFill>
            <a:prstDash val="solid"/>
          </a:ln>
        </p:spPr>
        <p:txBody>
          <a:bodyPr/>
          <a:lstStyle/>
          <a:p>
            <a:endParaRPr lang="en-US"/>
          </a:p>
        </p:txBody>
      </p:sp>
      <p:sp>
        <p:nvSpPr>
          <p:cNvPr id="5" name="Text 3"/>
          <p:cNvSpPr/>
          <p:nvPr/>
        </p:nvSpPr>
        <p:spPr>
          <a:xfrm>
            <a:off x="731520" y="548640"/>
            <a:ext cx="256032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AI CASE STUDY PORTFOLIO • J2W DELIVERY</a:t>
            </a:r>
            <a:endParaRPr lang="en-US" sz="1100" dirty="0"/>
          </a:p>
        </p:txBody>
      </p:sp>
      <p:sp>
        <p:nvSpPr>
          <p:cNvPr id="6" name="Text 4"/>
          <p:cNvSpPr/>
          <p:nvPr/>
        </p:nvSpPr>
        <p:spPr>
          <a:xfrm>
            <a:off x="731520" y="1188720"/>
            <a:ext cx="10058400" cy="146304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AI &amp; DIGITAL TRANSFORMATION CASE STUDIES</a:t>
            </a:r>
            <a:endParaRPr lang="en-US" sz="4600" dirty="0"/>
          </a:p>
        </p:txBody>
      </p:sp>
      <p:sp>
        <p:nvSpPr>
          <p:cNvPr id="7" name="Shape 5"/>
          <p:cNvSpPr/>
          <p:nvPr/>
        </p:nvSpPr>
        <p:spPr>
          <a:xfrm>
            <a:off x="731520" y="2834640"/>
            <a:ext cx="7315200" cy="45720"/>
          </a:xfrm>
          <a:prstGeom prst="rect">
            <a:avLst/>
          </a:prstGeom>
          <a:solidFill>
            <a:srgbClr val="00A896"/>
          </a:solidFill>
          <a:ln w="12700">
            <a:solidFill>
              <a:srgbClr val="00A896"/>
            </a:solidFill>
            <a:prstDash val="solid"/>
          </a:ln>
        </p:spPr>
        <p:txBody>
          <a:bodyPr/>
          <a:lstStyle/>
          <a:p>
            <a:endParaRPr lang="en-US"/>
          </a:p>
        </p:txBody>
      </p:sp>
      <p:sp>
        <p:nvSpPr>
          <p:cNvPr id="8" name="Text 6"/>
          <p:cNvSpPr/>
          <p:nvPr/>
        </p:nvSpPr>
        <p:spPr>
          <a:xfrm>
            <a:off x="731520" y="3017520"/>
            <a:ext cx="9144000" cy="548640"/>
          </a:xfrm>
          <a:prstGeom prst="rect">
            <a:avLst/>
          </a:prstGeom>
          <a:noFill/>
          <a:ln/>
        </p:spPr>
        <p:txBody>
          <a:bodyPr wrap="square" lIns="0" tIns="0" rIns="0" bIns="0" rtlCol="0" anchor="ctr"/>
          <a:lstStyle/>
          <a:p>
            <a:pPr marL="0" indent="0">
              <a:buNone/>
            </a:pPr>
            <a:r>
              <a:rPr lang="en-US" sz="1800" dirty="0">
                <a:solidFill>
                  <a:srgbClr val="00A896"/>
                </a:solidFill>
                <a:latin typeface="Calibri" pitchFamily="34" charset="0"/>
                <a:ea typeface="Calibri" pitchFamily="34" charset="-122"/>
                <a:cs typeface="Calibri" pitchFamily="34" charset="-120"/>
              </a:rPr>
              <a:t>Enterprise AI transformation across manufacturing, energy, banking, automotive, and more.</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PROCUREMENT CYCLE COMPRESSION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Procure-to-Pay  ·  WhatsApp RFQ  ·  Approval Automation  ·  Spend Analytics  ·  Manufacturing  ·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Manufacturing Institution   |   Domain: Manufacturing   |   Function: Procurement</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Manufacturing company in active scale-up ran entire procurement on calls, emails, and spreadsheets. Vendor quotes arrived in different formats, approval chains had no single owner, and PO status existed only in people's heads. Fragmentation caused production line stoppages.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Fully digitized procure-to-pay system replacing the manual chain from indent to payment. Vendors receive structured RFQs through WhatsApp. Approval routing executes automatically against client hierarchy. Every PO moves through a tracked lifecycle with real-time visibility.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End-to-End Procurement Execution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Covers the full cycle from requisition to final payment on one platform, eliminating handoff gaps.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Vendor Quote Collection via WhatsApp</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Sends structured RFQs to suppliers and captures responses in standard format, removing manual collation.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Approval Routing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Configurable chains trigger and escalate automatically by value, category, and department.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Purchase Order Lifecycle Tracking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visibility from PO creation to goods receipt, so delays surface before they hit the line.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Vendor Performance Scoring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delivery reliability, quality, and pricing trends per supplier to inform future sourcing decisions.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Spend &amp; Savings Analytics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Aggregates procurement data into spend analysis and vendor comparisons, making cost patterns visible.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Procurement Cycle 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Zero</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Manual Approval Chasing</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Single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Platform for Indent-to-Payment Visibility</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DEMAND-DRIVEN MATERIAL PLANNING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ML Forecasting  ·  MRP  ·  Demand Planning  ·  SKU  ·  Inventory  ·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Manufacturing Institution   |   Domain: Manufacturing   |   Function: Supply Chain Planning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Manufacturer running hundreds of SKUs across multiple grades had outgrown human demand planning. Spreadsheet-based forecasts were wrong in ways that compounded fast. Excess inventory locked up capital; stockouts halted lines while procurement scrambled.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ML-based demand forecasting engine deployed alongside automated MRP system. Forecasting layer ingests historical sales, seasonal patterns, and external market signals. Forecasts feed directly into MRP engine that translates production schedules into precise material needs.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ML-Based Demand Forecasting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Analyzes sales history, seasonal variation, and market signals to produce SKU-level predictions at scale.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Anomaly Detection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demand anomalies in real time and flags them before they distort procurement or production plans.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Dynamic Reorder &amp; Safety Stock Calculation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Computes optimal reorder points and safety stock levels per SKU continuously, replacing static rules.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MRP Generation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Converts production schedules directly into material requirements, eliminating the lag between plan and procurement trigger.</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Procurement Guidance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Recommends what to buy, in what quantity, and by when, based on live forecasts and current inventory.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End-to-End Planning Visibility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Single dashboard spanning demand signal, inventory position, and purchase order status across the full chain.</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Zero</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Stockouts Through Predictive Planning</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Optimized</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Storage Costs with JIT Arrival</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E2E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Visibility from Demand to Procurement</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NX CAD TOOLKIT &amp; MACRO CONSOLIDATION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NX Open  ·  CATVBA  ·  Macro Automation  ·  Unified Engineering Dashboard  ·  Change-Driven Efficiency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Industrial Equipment Manufacturer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Engineering teams managed macros scattered across NX environments, requiring manual search, setup, and execution. Overlay comparison, BOM export, and drawing checks lacked a unified interface. No logging, error handling, or consistent deployment across global teams.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 unified NX Open-based engineering toolkit with a single, categorised GUI dashboard consolidating all macros. Engineers execute scripts via one-click buttons with input forms, logging, and error handling — deployed on a shared network.</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Unified Macro Dashboard</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All macros consolidated into a single categorised GUI — engineers find and run any process in one click with no script-hunting.</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NX Open Automation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Full scripting coverage across NX Open Python API — parameters passed via input forms, not hardcoded.</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Overlay &amp; Comparison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geometric overlay comparison between part revisions and PDF report generated without manual steps.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Version-Aware Execution Logging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Every macro run logged with user, timestamp, parameters, and success/fail status — full audit trail across all engineering teams.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Drawing Standards &amp; Attribute Checks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validation of naming conventions, GD&amp;T standards, mandatory attributes, and BOM export — enforced at run-time.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Extensible Macro Registry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New macros added via drag-and-drop + 5-field metadata form — no bespoke code required. Scales to any number of scripts.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Macros Consolidated into One Toolkit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Execution (&lt;30 sec vs 5-10 min)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Users with Simultaneous Consistent Rollout</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AGENTIC QUALITY ROOT CAUSE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Multi-Agent AI  ·  Steel  ·  Quality Engineering  ·  Root Cause  ·  Autonomous  ·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Steel &amp; Metals Manufacturer   |   Domain: Manufacturing   |   Function: Quality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Steel manufacturer's quality failure investigation required 3-6 engineers tracing through disconnected process, equipment, and chemistry systems — taking 3-6 hours per case. 80% of engineering effort went into investigation rather than quality improvement.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4 specialist AI agents deployed to trace failures across process data, equipment logs, chemistry records, and grade specifications simultaneously. Delivers ranked root cause with confidence scoring and corrective actions in under 30 seconds. Resolves routine failures end-to-end autonomously.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Multi-Source Failure Tracing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Simultaneously interrogates process data, equipment logs, and chemistry records across departments.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Ranked Root Cause Scoring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Delivers prioritized root cause candidates with confidence scores for immediate direction.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Corrective Action Recommendation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Pairs each root cause with suggested corrective actions for rapid resolution.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Cross-Department Data Correlation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Bridges siloed systems, eliminating manual handoffs and data reconciliation.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Autonomous Incident Resolution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Handles routine, pattern-matched failures end-to-end without engineer involvement.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Investigation Audit Trail</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Logs every agent decision, data source, and confidence score for compliance.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&lt;30 sec</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Investigation Time (Down from 3-6 Hours)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2.4%→0.9%</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Defect Rate Reduction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Incidents Resolved Fully Autonomously</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SHEET METAL FORMING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Geometric Deep Learning  ·  CAE  ·  Forming Simulation  ·  Stamping  ·  Automotive OEM  ·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Next-gen programme targets required substantial reductions in development time. Conventional CAE for die face shape design took up to 3 hours per run, with full-suite feedback arriving 1-2 weeks later. Previous AI tools rejected — couldn't interpret complex 3D stamped sheet metal geometries.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Geometric deep learning engine deployed to read local surface curvature, feature radii, and neighboring geometry directly from 3D stamped part geometry. Predicts forming outcomes at die face design stage, surfacing thinning, tearing risk, and springback in minutes with CAE-level accuracy.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Geometric Deep Learning Engine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Reads local surface curvature, feature radii, and neighboring geometry directly from 3D stamped part geometry.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Die Face Shape Prediction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Predicts forming outcomes at die face design stage for rapid variant evaluation.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Thickness Reduction Rate Analysis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thinning, tearing risk, and springback in minutes with CAE-level accuracy.</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Press Forming Simulation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Supports rapid design convergence across chassis, body, and powertrain change cycles.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CAE-Comparable Accuracy Validation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Benchmarks predictions against traditional CAE solver outputs to maintain engineering-grade confidence.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Rapid Variant Iteration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Engineers test multiple die face configurations within a single design session instead of queuing separate CAE runs.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90x</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(3 Hours to 2 Minutes)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CAE-Level</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Accuracy Across Forming Outcomes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Weeks→Min</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Full Forming Feedback Cycles</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AERODYNAMIC SIMULATION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CFD Surrogate  ·  Geometric Deep Learning  ·  NVIDIA Omniverse  ·  Automotive  ·  Aero  ·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Automotive OEM's aerodynamic development relied on discrete CFD checkpoints — engineers waiting hours for full cluster runs, hard ceiling of ~30 evaluations/day. Electrification complexity and efficiency pressures pushed team to iterate faster than CFD cycle time allowed.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Geometric deep learning surrogate model trained on 3,000+ CFD simulations maps 3D surface geometry directly to drag and lift responses in seconds. Integrates with NVIDIA Omniverse for real-time visual collaboration. Validated against wind tunnel data for production-grade confidence.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Geometric Deep Learning Surrogate Model</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Maps 3D surface geometry directly to aerodynamic response, trained on over 3,000 CFD simulation cases.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Rapid Aero Prediction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Delivers drag, lift, pressure field, and wake predictions in seconds instead of hours.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Cross-Team Digital Twin Integration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Connects predictions to NVIDIA Omniverse for shared visual review across engineering teams.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Wind Tunnel Validation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Benchmarks surrogate predictions against physical wind tunnel data to maintain production-grade accuracy.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High-Volume Variant Evaluation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Supports up to 900 design evaluations per day, up from ~30 under CFD-only workflow.</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Design Trade-Off Review</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Engineers compare variants live in design reviews instead of waiting on the next CFD batch.</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10x</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More Evaluations Per Day (up to 900)</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Seconds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Per Prediction (vs Hours)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Wind Tunnel</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Validated Production-Grade Accuracy</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PREDICTIVE O&amp;M INTELLIGENCE FOR RENEWABLE ASSETS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Renewable Energy  ·  Drone Thermography  ·  Predictive Maintenance  ·  CMMS  ·  Solar  ·  Edge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Renewable Energy Operator   |   Domain: Energy   |   Function: Asset Management</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Renewable energy operator managing distributed fleet relied on periodic inspections and reactive fault response, missing early degradation signals in inverter telemetry, thermal imaging, and generation data. No closed loop between field findings, maintenance records, and corrective action.</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Integrated predictive O&amp;M platform deployed to continuously ingest SCADA, generation, drone, and sensor data across every asset. Combines AI-driven performance analytics, automated maintenance workflows, and edge intelligence. Automated drone thermography and ML-based defect detection deployed.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Digital Asset Management &amp; CMMS</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Centralizes maintenance scheduling, auto-generates corrective tickets, and manages spare parts through mobile field workflows.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NOC Digital Monitoring &amp; Analytics</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KPI monitoring and multi-plant condition-based alerting across the fleet.</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Inverter Performance &amp; Anomaly Detection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AI-driven deviation analysis on daily generation data to detect underperformance across the inverter fleet.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Aerial Thermography via Drone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Captures thermal and RGB imaging identifying over 10 defect types per site with automated report generation.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EL Image Analysis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Detects defects across 9+ PV module defect classes in under 5 minutes using ML-based image analysis.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Edge AI for Safety &amp; Site Intelligence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Perimeter security, PPE compliance, bushfire monitoring, and wildlife alerts at the edge across distributed infrastructure.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70-80%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Manual Field Inspection Effort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Energy Yield Recovery</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50-60%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Defect Reporting Time</a:t>
            </a:r>
            <a:endParaRPr lang="en-US" sz="8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AI ASSISTANT FOR SELL-SIDE EQUITY RESEARCH</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RAG  ·  Equity Research  ·  Investment Bank  ·  Semantic Search  ·  NLP  ·  Financial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Investment Bank   |   Domain: Banking &amp; Financial Services   |   Function: Equity Research</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Investment bank's equity research content sat in unstructured PDFs and call transcripts. Analysts relied on manual search through archive — slowing turnaround on new research. Sales teams couldn't pull fast, sourced answers during live client conversations.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Enterprise RAG-based AI assistant deployed to ingest PDFs, transcripts, and market data. OCR and chunking with semantic search and metadata filtering by sector, analyst, and time. AI agent layer handles content retrieval with guardrails. Every answer cites back to source.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Multi-Source Document Ingestion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Ingests PDFs, transcripts, and market data with OCR and metadata extraction.</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Semantic Vector Search</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Indexes content for natural language query with metadata filtering by sector, analyst, and time.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Source-Linked Citations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Links every answer back to the specific source PDF page for verification.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Role-Based Entitlements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Controls data access by role to maintain compliance with information barriers.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Context-Aware Thematic Search</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relevant historical research for new thematic pieces automatically.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Natural Language Q&amp;A Interface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Lets analysts and sales query the full research archive in plain language.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Content Authoring 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Sales Broadcasts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12 Weeks</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To Enterprise Pilot</a:t>
            </a:r>
            <a:endParaRPr lang="en-US" sz="8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MAINFRAME COST OPTIMIZATION — BANKING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Splunk  ·  AIOps  ·  Mainframe  ·  MSU Optimization  ·  BFSI  ·  Cost Reduction</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Top-Tier Banking Institution   |   Domain: Banking &amp; Financial Services   |   Function: Mainframe Infrastructure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Retail banking core processed tens of millions of daily transactions on mainframe. Idle CPU cycles, unscheduled batch jobs running during peak hours, and reactive incident management were inflating MSU consumption and IBM licensing costs.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Splunk-powered AIOps observability layer deployed to visualize real-time CPU utilization. Non-critical batch jobs identified and rescheduled to off-peak windows using AI-driven scheduling. Proactive incident detection layer replaced reactive firefighting.</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Splunk Observability</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visibility into CPU utilization across critical mainframe workloads.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Batch Job Rescheduling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Moves non-critical jobs to off-peak windows using AI scheduling intelligence.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MSU Consumption Analytics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consumption granularly to optimize IBM licensing costs.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Incident Detection Engine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Proactively identifies load events, replacing reactive firefighting.</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Cost Governance Dashboard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Unified view for monitoring ongoing run-the-business cost efficiency.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24/7 SLA Compliance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Executes optimization with zero disruption to core banking services.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$2.3M</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Annual Savings in Mainframe OPEX</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 Days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To Full Operationalization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34%</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MSU Reduction in Peak-Hour Consumption</a:t>
            </a:r>
            <a:endParaRPr lang="en-US" sz="8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DEAL SOURCING INTELLIGENCE — VENTURE CAPITAL</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VC  ·  Deal Sourcing  ·  AI Triage  ·  Mandate Scoring  ·  NLP  ·  Private Equity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Venture Capital Firm   |   Domain: Private Equity &amp; Venture Capital   |   Function: Deal Sourcing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VC firm seeing 80%+ of available market deal flow but hundreds of inbound emails per week overwhelmed team's capacity to triage. Deal quality signals in product metrics and technical architecture were routinely missed. Slower response to high-quality deals costing positioning.</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AI-powered deal intake and triage platform deployed to automatically ingest inbound deal flow, categorize/score against investment criteria, and surface highest-quality deals to right team members instantly. Priority scoring ranks by sector, stage, geography, and founder signal.</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Intelligent Deal Intake &amp; Triage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 ingests inbound deal flow from email and portals, automatically extracting sector, size, and geography.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Mandate-Based Scoring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Scores every incoming opportunity against the firm's investment mandate automatically on intake.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Priority Scoring &amp; Routing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ML-driven scoring ranks opportunities based on sector, stage, geography, and founder signal.</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Market Coverage Dashboard</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visibility into deal flow volume, source quality, and coverage percentage.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Source Attribution Tracking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underperforming channels and attributes deal quality back to originating source.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Full-Funnel Visibility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inbound, proprietary, and network-sourced deals in a single view across the funnel.</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3x</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More Opportunities Evaluated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Hours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Response Time to Top-Tier Deals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Full</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Funnel Visibility Across All Channels</a:t>
            </a:r>
            <a:endParaRPr lang="en-US" sz="8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AGENTIC INVOICE &amp; CASH MANAGEMENT</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AP/AR  ·  Invoice Automation  ·  3-Way Match  ·  Cash Application  ·  Touchless  ·  Finance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Top-Tier Enterprise Finance Organization   |   Domain: Finance Operations   |   Function: Accounts Payable &amp; Receivable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Finance organization processed invoices across multiple channels through manual extraction, coding, and matching — small data issues routinely created exceptions and delays. Payments frequently lacked clear references. Month-end close ran reactively with poor AR aging visibility.</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Agentic platform deployed spanning AP and AR. Invoices ingested via OCR, 3-way matching executed, only genuine exceptions routed to analysts. AI applies payments automatically, prioritizes collections by risk, and drafts dunning communications for review.</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Multi-Channel Invoice Ingestion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Ingests invoices from email, vendor portal, FTP, and manual upload with OCR and confidence scoring.</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Autonomous 3-Way Matching &amp; GL Coding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Matches invoices to POs and GRNs, assigns GL codes, and posts to ledger without analyst involvement on most cases.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Exception Triage &amp; Root Cause</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Triages exceptions with root cause attached — duplicate detection, PO mismatches, price variance, GRN gaps.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Intelligent Cash Application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Matches payments across SWIFT, ACH, and SEPA, resolving short pays and unmatched items through AI suggestion.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AR Collections &amp; Dispute Management</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AI-prioritized collections worklist with risk scoring, automated dunning drafts, and real-time dispute tracking.</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Copilot &amp; Audit Trail</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Supports natural language queries across AP and AR with complete SOX-ready decision log of every action.</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81%</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Invoices Processed Touchlessly</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4.2 Min</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Average Time from Ingestion to Posted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87%</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Payments Auto-Applied</a:t>
            </a:r>
            <a:endParaRPr lang="en-US" sz="8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LOAD BALANCING &amp; DEMAND RESPONSE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Energy  ·  Grid  ·  Load Balancing  ·  Demand Response  ·  Agentic AI  ·  Utilities</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Energy &amp; Utilities Operator   |   Domain: Energy   |   Function: Grid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Energy operator managing distributed sites relied on rule-based controls and manual intervention for load balancing and demand response. No real-time intelligence for dynamic grid conditions. Idle capacity undetected, grid penalty charges accumulated, response times lagged market windows.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Agentic optimization engine deployed to continuously monitor consumption, recommend and execute load balancing actions autonomously, and trigger demand response in real time. Anticipates peak windows using historical profiles and weather signals enabling pre-emptive load shedding.</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Consumption Monitoring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Continuously tracks energy usage across all distributed sites, detecting deviations, spikes, and anomalies.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Predictive Peak Demand Forecasting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Anticipates peak windows using historical profiles and weather signals for pre-emptive load shedding.</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Autonomous Load Balancing Engine</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Recommends and executes load redistribution autonomously, eliminating manual scheduling bottlenecks.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Demand Response Trigger</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Automatically executes actions aligned to utility signals and market windows without operator input.</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Grid Condition Anomaly Detection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Flags voltage fluctuations and abnormal draw patterns in real time to prevent grid instability.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Energy Intelligence Dashboard</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Unified visibility tracking utilization, response history, cost avoidance, and grid alignment scores.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15-25%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Peak Load Consumption</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Grid Response 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20-30%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Fewer Energy Penalty Charges</a:t>
            </a:r>
            <a:endParaRPr lang="en-US" sz="8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AIOPS CONTROL TOWER</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AIOps  ·  Observability  ·  Alert Noise  ·  Auto-Remediation  ·  IT Operations  ·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Enterprise IT Operator   |   Domain: Software &amp; Technology   |   Function: IT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enterprise IT ran on metrics, logs, events, and traces scattered across siloed observability tools with no unified view. Alert noise at 70-80% false positives overwhelming operations teams and masking incidents that actually mattered. Manual correlation slowed root cause identification.</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AI-powered AIOps platform deployed to ingest metrics, logs, events, and traces into a single intelligence layer. Correlation and noise filtering reduce false positives before reaching operators. Anomaly detection and predictive insights feed an AI agent layer for auto-remediation and RCA.</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Unified Observability</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End-to-end visibility across hybrid infrastructure from a single platform.</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Alert Noise Reduction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 filtering suppresses false positives before they reach operations teams.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RCA</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Correlation-driven root cause identification across infrastructure and application layers.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Anomaly Detection &amp; Predictive Insights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abnormal patterns and predicts incidents before they escalate.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Agent Auto-Remediation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Executes automated remediation and recommendations based on detected root cause.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Decision Support</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Ops teams receive real-time monitoring and recommendations to act on immediately.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73%</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Alert Noise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 Min</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Average Incident Detection Speed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91%</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Auto-Resolved via Self-Healing Workflows</a:t>
            </a:r>
            <a:endParaRPr lang="en-US" sz="8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BATTERY ON CLOUD — EV FLEET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Battery  ·  EV  ·  Cloud BMS  ·  Predictive Maintenance  ·  Fleet  ·  OTA</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Electric Vehicle Manufacturer   |   Domain: Manufacturing   |   Function: Connected Vehicle Data</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EV manufacturer's battery systems degraded silently in the field. Without continuous visibility into cell-level behavior, temperature patterns, and charge cycle history, degradation went undetected until it appeared as reduced range, unexpected failure, or costly replacement.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Cloud-integrated battery management layer deployed to connect on-vehicle sensors to cloud analytics, enabling continuous monitoring, predictive intelligence, and remote optimization across every battery in the fleet. Pushes optimization decisions back to vehicle BMS without physical intervention.</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Performance Monitoring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charge/discharge cycles, cell voltages, and thermal behavior to flag anomalies early.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Predictive Maintenance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ML models predict failure weeks in advance, enabling proactive scheduling.</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Charge/Discharge Optimization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Determines optimal charging windows based on grid data, temperature, and state of health.</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Reduced Breakdown Risk</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 monitoring with automated alerts minimizes sudden failures.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Fleet SOH Benchmarking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Benchmarks battery health across fleets to guide replacement decisions.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OTA Firmware &amp; Calibration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Updates BMS parameters remotely with safety patches and performance improvements.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Increase in Battery Lifespan</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Unplanned Downtime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 Weeks</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Average Lead Time for Failure Prediction</a:t>
            </a:r>
            <a:endParaRPr lang="en-US" sz="8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CARBON TRACKING &amp; EMISSION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Carbon  ·  ESG  ·  Sustainability  ·  Construction  ·  AI Forecasting  ·  Scope 1/2/3</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Infrastructure &amp; Civil Engineering Contractor   |   Domain: Construction   |   Function: Sustainability &amp; ESG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Major UK infrastructure contractor faced growing requirement for verified carbon reporting as condition of contract award, with no reliable way to produce it. Emissions captured manually at month-end with unaudited emission factors. Carbon overrun on a road project surfaced 6 weeks after closeout — data unrecoverable.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AI-embedded sustainability intelligence layer deployed across the project lifecycle. Predictive carbon forecasting models total project emissions at planning stage. Daily logging engine captures energy, fuel, transport, accommodation, and materials data continuously, auto-calculates tCO2e by scope, and flags deviations in real time.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Predictive Carbon Budget Forecasting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Models total project emissions at planning stage, grounding budgets in data before mobilization.</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Scope 1/2/3 Auto-Classification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Categorizes emissions across direct plant use, indirect energy, and supply chain into audit-ready breakdowns.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Daily Emission Logging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Captures fuel, transport, accommodation, and materials data continuously, flagging deviations as they occur.</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Reduction Levers &amp; Quick-Win Recommendations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ranked interventions with estimated impact — fuel switching, green accommodation, low-carbon materials.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Anomaly Detection &amp; Greenlight Scoring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Flags emission spikes and enables go/no-go decisions at gate reviews before overruns compound.</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Traceability &amp; Integration Dashboard</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Links emission records to project and subcontractor data with confidence scoring and hotspot identification.</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15-25%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Project Carbon Overruns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Sustainability Decision Speed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End-of-Project Reporting Effort</a:t>
            </a:r>
            <a:endParaRPr lang="en-US" sz="8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667598" y="-751535"/>
            <a:ext cx="4286707" cy="4286707"/>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debd4e3596836e8640379be3057665ef.png"/>
          <p:cNvPicPr>
            <a:picLocks noChangeAspect="1"/>
          </p:cNvPicPr>
          <p:nvPr/>
        </p:nvPicPr>
        <p:blipFill>
          <a:blip r:embed="rId3">
            <a:alphaModFix amt="5000"/>
          </a:blip>
          <a:srcRect/>
          <a:stretch/>
        </p:blipFill>
        <p:spPr>
          <a:xfrm>
            <a:off x="-476402" y="3047695"/>
            <a:ext cx="2857500" cy="2857500"/>
          </a:xfrm>
          <a:prstGeom prst="rect">
            <a:avLst/>
          </a:prstGeom>
        </p:spPr>
      </p:pic>
      <p:pic>
        <p:nvPicPr>
          <p:cNvPr id="6" name="Image 1" descr="gen-dedup-ef527bea2207a14ec6e8d4c8ae9cdc45.png"/>
          <p:cNvPicPr>
            <a:picLocks noChangeAspect="1"/>
          </p:cNvPicPr>
          <p:nvPr/>
        </p:nvPicPr>
        <p:blipFill>
          <a:blip r:embed="rId4"/>
          <a:srcRect l="-384" r="-384"/>
          <a:stretch/>
        </p:blipFill>
        <p:spPr>
          <a:xfrm>
            <a:off x="609905" y="457200"/>
            <a:ext cx="57607" cy="476402"/>
          </a:xfrm>
          <a:prstGeom prst="rect">
            <a:avLst/>
          </a:prstGeom>
        </p:spPr>
      </p:pic>
      <p:sp>
        <p:nvSpPr>
          <p:cNvPr id="7" name="Shape 3"/>
          <p:cNvSpPr/>
          <p:nvPr/>
        </p:nvSpPr>
        <p:spPr>
          <a:xfrm>
            <a:off x="1714500" y="1285646"/>
            <a:ext cx="4304995" cy="2667305"/>
          </a:xfrm>
          <a:prstGeom prst="roundRect">
            <a:avLst>
              <a:gd name="adj" fmla="val 1959"/>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8" name="Shape 4"/>
          <p:cNvSpPr/>
          <p:nvPr/>
        </p:nvSpPr>
        <p:spPr>
          <a:xfrm>
            <a:off x="1714500" y="1285646"/>
            <a:ext cx="4304995" cy="38405"/>
          </a:xfrm>
          <a:prstGeom prst="roundRect">
            <a:avLst>
              <a:gd name="adj" fmla="val 136054"/>
            </a:avLst>
          </a:prstGeom>
          <a:solidFill>
            <a:srgbClr val="2A9D8F"/>
          </a:solidFill>
          <a:ln w="12700">
            <a:solidFill>
              <a:srgbClr val="2A9D8F">
                <a:alpha val="0"/>
              </a:srgbClr>
            </a:solidFill>
            <a:prstDash val="solid"/>
          </a:ln>
        </p:spPr>
        <p:txBody>
          <a:bodyPr/>
          <a:lstStyle/>
          <a:p>
            <a:endParaRPr lang="en-US"/>
          </a:p>
        </p:txBody>
      </p:sp>
      <p:sp>
        <p:nvSpPr>
          <p:cNvPr id="9" name="Shape 5"/>
          <p:cNvSpPr/>
          <p:nvPr/>
        </p:nvSpPr>
        <p:spPr>
          <a:xfrm>
            <a:off x="6191402" y="1285646"/>
            <a:ext cx="4304995" cy="2667305"/>
          </a:xfrm>
          <a:prstGeom prst="roundRect">
            <a:avLst>
              <a:gd name="adj" fmla="val 1959"/>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0" name="Shape 6"/>
          <p:cNvSpPr/>
          <p:nvPr/>
        </p:nvSpPr>
        <p:spPr>
          <a:xfrm>
            <a:off x="6191402" y="1285646"/>
            <a:ext cx="4304995" cy="38405"/>
          </a:xfrm>
          <a:prstGeom prst="roundRect">
            <a:avLst>
              <a:gd name="adj" fmla="val 136054"/>
            </a:avLst>
          </a:prstGeom>
          <a:solidFill>
            <a:srgbClr val="D62839"/>
          </a:solidFill>
          <a:ln w="12700">
            <a:solidFill>
              <a:srgbClr val="D62839">
                <a:alpha val="0"/>
              </a:srgbClr>
            </a:solidFill>
            <a:prstDash val="solid"/>
          </a:ln>
        </p:spPr>
        <p:txBody>
          <a:bodyPr/>
          <a:lstStyle/>
          <a:p>
            <a:endParaRPr lang="en-US"/>
          </a:p>
        </p:txBody>
      </p:sp>
      <p:sp>
        <p:nvSpPr>
          <p:cNvPr id="11" name="Shape 7"/>
          <p:cNvSpPr/>
          <p:nvPr/>
        </p:nvSpPr>
        <p:spPr>
          <a:xfrm>
            <a:off x="609905" y="4095598"/>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2" name="Shape 8"/>
          <p:cNvSpPr/>
          <p:nvPr/>
        </p:nvSpPr>
        <p:spPr>
          <a:xfrm>
            <a:off x="609905" y="4095598"/>
            <a:ext cx="3590849" cy="38405"/>
          </a:xfrm>
          <a:prstGeom prst="roundRect">
            <a:avLst>
              <a:gd name="adj" fmla="val 143755"/>
            </a:avLst>
          </a:prstGeom>
          <a:solidFill>
            <a:srgbClr val="2A9D8F"/>
          </a:solidFill>
          <a:ln w="12700">
            <a:solidFill>
              <a:srgbClr val="2A9D8F">
                <a:alpha val="0"/>
              </a:srgbClr>
            </a:solidFill>
            <a:prstDash val="solid"/>
          </a:ln>
        </p:spPr>
        <p:txBody>
          <a:bodyPr/>
          <a:lstStyle/>
          <a:p>
            <a:endParaRPr lang="en-US"/>
          </a:p>
        </p:txBody>
      </p:sp>
      <p:sp>
        <p:nvSpPr>
          <p:cNvPr id="13" name="Shape 9"/>
          <p:cNvSpPr/>
          <p:nvPr/>
        </p:nvSpPr>
        <p:spPr>
          <a:xfrm>
            <a:off x="4304995" y="4095598"/>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4" name="Shape 10"/>
          <p:cNvSpPr/>
          <p:nvPr/>
        </p:nvSpPr>
        <p:spPr>
          <a:xfrm>
            <a:off x="4304995" y="4095598"/>
            <a:ext cx="3590849" cy="38405"/>
          </a:xfrm>
          <a:prstGeom prst="roundRect">
            <a:avLst>
              <a:gd name="adj" fmla="val 143755"/>
            </a:avLst>
          </a:prstGeom>
          <a:solidFill>
            <a:srgbClr val="D62839"/>
          </a:solidFill>
          <a:ln w="12700">
            <a:solidFill>
              <a:srgbClr val="D62839">
                <a:alpha val="0"/>
              </a:srgbClr>
            </a:solidFill>
            <a:prstDash val="solid"/>
          </a:ln>
        </p:spPr>
        <p:txBody>
          <a:bodyPr/>
          <a:lstStyle/>
          <a:p>
            <a:endParaRPr lang="en-US"/>
          </a:p>
        </p:txBody>
      </p:sp>
      <p:sp>
        <p:nvSpPr>
          <p:cNvPr id="15" name="Shape 11"/>
          <p:cNvSpPr/>
          <p:nvPr/>
        </p:nvSpPr>
        <p:spPr>
          <a:xfrm>
            <a:off x="8001000" y="4095598"/>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6" name="Shape 12"/>
          <p:cNvSpPr/>
          <p:nvPr/>
        </p:nvSpPr>
        <p:spPr>
          <a:xfrm>
            <a:off x="8001000" y="4095598"/>
            <a:ext cx="3590849" cy="38405"/>
          </a:xfrm>
          <a:prstGeom prst="roundRect">
            <a:avLst>
              <a:gd name="adj" fmla="val 143755"/>
            </a:avLst>
          </a:prstGeom>
          <a:solidFill>
            <a:srgbClr val="2A9D8F"/>
          </a:solidFill>
          <a:ln w="12700">
            <a:solidFill>
              <a:srgbClr val="2A9D8F">
                <a:alpha val="0"/>
              </a:srgbClr>
            </a:solidFill>
            <a:prstDash val="solid"/>
          </a:ln>
        </p:spPr>
        <p:txBody>
          <a:bodyPr/>
          <a:lstStyle/>
          <a:p>
            <a:endParaRPr lang="en-US"/>
          </a:p>
        </p:txBody>
      </p:sp>
      <p:sp>
        <p:nvSpPr>
          <p:cNvPr id="17" name="Text 13"/>
          <p:cNvSpPr txBox="1"/>
          <p:nvPr/>
        </p:nvSpPr>
        <p:spPr>
          <a:xfrm>
            <a:off x="819302" y="381305"/>
            <a:ext cx="10478110" cy="362102"/>
          </a:xfrm>
          <a:prstGeom prst="rect">
            <a:avLst/>
          </a:prstGeom>
          <a:noFill/>
          <a:ln/>
        </p:spPr>
        <p:txBody>
          <a:bodyPr wrap="none" lIns="0" tIns="0" rIns="0" bIns="0" rtlCol="0" anchor="ctr"/>
          <a:lstStyle/>
          <a:p>
            <a:pPr marL="0" indent="0" algn="l">
              <a:buNone/>
            </a:pPr>
            <a:r>
              <a:rPr lang="en-US" sz="2500" b="1" kern="0" spc="-25">
                <a:solidFill>
                  <a:srgbClr val="111827"/>
                </a:solidFill>
                <a:latin typeface="Oswald" pitchFamily="34" charset="0"/>
                <a:ea typeface="Oswald" pitchFamily="34" charset="-122"/>
                <a:cs typeface="Oswald" pitchFamily="34" charset="-120"/>
              </a:rPr>
              <a:t>ARCHITECTS OF TRANSFORMATION</a:t>
            </a:r>
            <a:endParaRPr lang="en-US" sz="2500"/>
          </a:p>
        </p:txBody>
      </p:sp>
      <p:sp>
        <p:nvSpPr>
          <p:cNvPr id="18" name="Text 14"/>
          <p:cNvSpPr txBox="1"/>
          <p:nvPr/>
        </p:nvSpPr>
        <p:spPr>
          <a:xfrm>
            <a:off x="819302" y="794614"/>
            <a:ext cx="10478110" cy="181051"/>
          </a:xfrm>
          <a:prstGeom prst="rect">
            <a:avLst/>
          </a:prstGeom>
          <a:noFill/>
          <a:ln/>
        </p:spPr>
        <p:txBody>
          <a:bodyPr wrap="non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A SEASONED TEAM UNITING TECHNOLOGY, STRATEGY, AND WORKFORCE EXCELLENCE</a:t>
            </a:r>
            <a:endParaRPr lang="en-US" sz="1200"/>
          </a:p>
        </p:txBody>
      </p:sp>
      <p:sp>
        <p:nvSpPr>
          <p:cNvPr id="19" name="Shape 15"/>
          <p:cNvSpPr/>
          <p:nvPr/>
        </p:nvSpPr>
        <p:spPr>
          <a:xfrm>
            <a:off x="3476549" y="1429207"/>
            <a:ext cx="761695" cy="761695"/>
          </a:xfrm>
          <a:prstGeom prst="ellipse">
            <a:avLst/>
          </a:prstGeom>
          <a:solidFill>
            <a:srgbClr val="F3F4F6"/>
          </a:solidFill>
          <a:ln w="25400">
            <a:solidFill>
              <a:srgbClr val="E5E7EB"/>
            </a:solidFill>
            <a:prstDash val="solid"/>
          </a:ln>
        </p:spPr>
        <p:txBody>
          <a:bodyPr/>
          <a:lstStyle/>
          <a:p>
            <a:endParaRPr lang="en-US"/>
          </a:p>
        </p:txBody>
      </p:sp>
      <p:sp>
        <p:nvSpPr>
          <p:cNvPr id="20" name="Text 16"/>
          <p:cNvSpPr/>
          <p:nvPr/>
        </p:nvSpPr>
        <p:spPr>
          <a:xfrm>
            <a:off x="3476549" y="1429207"/>
            <a:ext cx="762610" cy="762610"/>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ctr">
              <a:buNone/>
            </a:pPr>
            <a:r>
              <a:rPr lang="en-US" sz="1000" b="1">
                <a:solidFill>
                  <a:srgbClr val="9CA3AF"/>
                </a:solidFill>
                <a:latin typeface="Raleway" pitchFamily="34" charset="0"/>
                <a:ea typeface="Raleway" pitchFamily="34" charset="-122"/>
                <a:cs typeface="Raleway" pitchFamily="34" charset="-120"/>
              </a:rPr>
              <a:t>Photo</a:t>
            </a:r>
            <a:endParaRPr lang="en-US" sz="1000"/>
          </a:p>
        </p:txBody>
      </p:sp>
      <p:sp>
        <p:nvSpPr>
          <p:cNvPr id="21" name="Text 17"/>
          <p:cNvSpPr txBox="1"/>
          <p:nvPr/>
        </p:nvSpPr>
        <p:spPr>
          <a:xfrm>
            <a:off x="3294583" y="2266798"/>
            <a:ext cx="1133856" cy="286207"/>
          </a:xfrm>
          <a:prstGeom prst="rect">
            <a:avLst/>
          </a:prstGeom>
          <a:noFill/>
          <a:ln/>
        </p:spPr>
        <p:txBody>
          <a:bodyPr wrap="none" lIns="0" tIns="0" rIns="0" bIns="0" rtlCol="0" anchor="ctr"/>
          <a:lstStyle/>
          <a:p>
            <a:pPr marL="0" indent="0" algn="ctr">
              <a:buNone/>
            </a:pPr>
            <a:r>
              <a:rPr lang="en-US" sz="1500" b="1">
                <a:solidFill>
                  <a:srgbClr val="111827"/>
                </a:solidFill>
                <a:latin typeface="Oswald" pitchFamily="34" charset="0"/>
                <a:ea typeface="Oswald" pitchFamily="34" charset="-122"/>
                <a:cs typeface="Oswald" pitchFamily="34" charset="-120"/>
              </a:rPr>
              <a:t>Priti Sawant</a:t>
            </a:r>
            <a:endParaRPr lang="en-US" sz="1500"/>
          </a:p>
        </p:txBody>
      </p:sp>
      <p:sp>
        <p:nvSpPr>
          <p:cNvPr id="22" name="Text 18"/>
          <p:cNvSpPr txBox="1"/>
          <p:nvPr/>
        </p:nvSpPr>
        <p:spPr>
          <a:xfrm>
            <a:off x="3254350" y="2572207"/>
            <a:ext cx="1207008" cy="143561"/>
          </a:xfrm>
          <a:prstGeom prst="rect">
            <a:avLst/>
          </a:prstGeom>
          <a:noFill/>
          <a:ln/>
        </p:spPr>
        <p:txBody>
          <a:bodyPr wrap="none" lIns="0" tIns="0" rIns="0" bIns="0" rtlCol="0" anchor="ctr"/>
          <a:lstStyle/>
          <a:p>
            <a:pPr marL="0" indent="0" algn="ctr">
              <a:buNone/>
            </a:pPr>
            <a:r>
              <a:rPr lang="en-US" sz="900" b="1" kern="0" spc="49">
                <a:solidFill>
                  <a:srgbClr val="2A9D8F"/>
                </a:solidFill>
                <a:latin typeface="Roboto Condensed" pitchFamily="34" charset="0"/>
                <a:ea typeface="Roboto Condensed" pitchFamily="34" charset="-122"/>
                <a:cs typeface="Roboto Condensed" pitchFamily="34" charset="-120"/>
              </a:rPr>
              <a:t>FOUNDER &amp; CEO</a:t>
            </a:r>
            <a:endParaRPr lang="en-US" sz="900"/>
          </a:p>
        </p:txBody>
      </p:sp>
      <p:sp>
        <p:nvSpPr>
          <p:cNvPr id="23" name="Text 19"/>
          <p:cNvSpPr txBox="1"/>
          <p:nvPr/>
        </p:nvSpPr>
        <p:spPr>
          <a:xfrm>
            <a:off x="1857146" y="2790749"/>
            <a:ext cx="4000500" cy="876910"/>
          </a:xfrm>
          <a:prstGeom prst="rect">
            <a:avLst/>
          </a:prstGeom>
          <a:noFill/>
          <a:ln/>
        </p:spPr>
        <p:txBody>
          <a:bodyPr wrap="square" lIns="0" tIns="0" rIns="0" bIns="0" rtlCol="0" anchor="ctr"/>
          <a:lstStyle/>
          <a:p>
            <a:pPr marL="0" indent="0" algn="ctr">
              <a:buNone/>
            </a:pPr>
            <a:r>
              <a:rPr lang="en-US" sz="1000">
                <a:solidFill>
                  <a:srgbClr val="4B5563"/>
                </a:solidFill>
                <a:latin typeface="Raleway" pitchFamily="34" charset="0"/>
                <a:ea typeface="Raleway" pitchFamily="34" charset="-122"/>
                <a:cs typeface="Raleway" pitchFamily="34" charset="-120"/>
              </a:rPr>
              <a:t>Serial entrepreneur and pioneer of India's GCC ecosystem. 20+ years building businesses at the intersection of technology and enterprise transformation. Founded J2W, operating across 8 countries, 300+ GCCs, 5,200+ professionals. Forbes Japan featured. TiE Charter Member.</a:t>
            </a:r>
            <a:endParaRPr lang="en-US" sz="1000"/>
          </a:p>
        </p:txBody>
      </p:sp>
      <p:sp>
        <p:nvSpPr>
          <p:cNvPr id="24" name="Shape 20"/>
          <p:cNvSpPr/>
          <p:nvPr/>
        </p:nvSpPr>
        <p:spPr>
          <a:xfrm>
            <a:off x="7953451" y="1429207"/>
            <a:ext cx="761695" cy="761695"/>
          </a:xfrm>
          <a:prstGeom prst="ellipse">
            <a:avLst/>
          </a:prstGeom>
          <a:solidFill>
            <a:srgbClr val="F3F4F6"/>
          </a:solidFill>
          <a:ln w="25400">
            <a:solidFill>
              <a:srgbClr val="E5E7EB"/>
            </a:solidFill>
            <a:prstDash val="solid"/>
          </a:ln>
        </p:spPr>
        <p:txBody>
          <a:bodyPr/>
          <a:lstStyle/>
          <a:p>
            <a:endParaRPr lang="en-US"/>
          </a:p>
        </p:txBody>
      </p:sp>
      <p:sp>
        <p:nvSpPr>
          <p:cNvPr id="25" name="Text 21"/>
          <p:cNvSpPr/>
          <p:nvPr/>
        </p:nvSpPr>
        <p:spPr>
          <a:xfrm>
            <a:off x="7953451" y="1429207"/>
            <a:ext cx="762610" cy="762610"/>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ctr">
              <a:buNone/>
            </a:pPr>
            <a:r>
              <a:rPr lang="en-US" sz="1000" b="1">
                <a:solidFill>
                  <a:srgbClr val="9CA3AF"/>
                </a:solidFill>
                <a:latin typeface="Raleway" pitchFamily="34" charset="0"/>
                <a:ea typeface="Raleway" pitchFamily="34" charset="-122"/>
                <a:cs typeface="Raleway" pitchFamily="34" charset="-120"/>
              </a:rPr>
              <a:t>Photo</a:t>
            </a:r>
            <a:endParaRPr lang="en-US" sz="1000"/>
          </a:p>
        </p:txBody>
      </p:sp>
      <p:sp>
        <p:nvSpPr>
          <p:cNvPr id="26" name="Text 22"/>
          <p:cNvSpPr txBox="1"/>
          <p:nvPr/>
        </p:nvSpPr>
        <p:spPr>
          <a:xfrm>
            <a:off x="7764170" y="2266798"/>
            <a:ext cx="1144829" cy="286207"/>
          </a:xfrm>
          <a:prstGeom prst="rect">
            <a:avLst/>
          </a:prstGeom>
          <a:noFill/>
          <a:ln/>
        </p:spPr>
        <p:txBody>
          <a:bodyPr wrap="none" lIns="0" tIns="0" rIns="0" bIns="0" rtlCol="0" anchor="ctr"/>
          <a:lstStyle/>
          <a:p>
            <a:pPr marL="0" indent="0" algn="ctr">
              <a:buNone/>
            </a:pPr>
            <a:r>
              <a:rPr lang="en-US" sz="1500" b="1">
                <a:solidFill>
                  <a:srgbClr val="111827"/>
                </a:solidFill>
                <a:latin typeface="Oswald" pitchFamily="34" charset="0"/>
                <a:ea typeface="Oswald" pitchFamily="34" charset="-122"/>
                <a:cs typeface="Oswald" pitchFamily="34" charset="-120"/>
              </a:rPr>
              <a:t>Priya Mohan</a:t>
            </a:r>
            <a:endParaRPr lang="en-US" sz="1500"/>
          </a:p>
        </p:txBody>
      </p:sp>
      <p:sp>
        <p:nvSpPr>
          <p:cNvPr id="27" name="Text 23"/>
          <p:cNvSpPr txBox="1"/>
          <p:nvPr/>
        </p:nvSpPr>
        <p:spPr>
          <a:xfrm>
            <a:off x="8214970" y="2572207"/>
            <a:ext cx="247802" cy="143561"/>
          </a:xfrm>
          <a:prstGeom prst="rect">
            <a:avLst/>
          </a:prstGeom>
          <a:noFill/>
          <a:ln/>
        </p:spPr>
        <p:txBody>
          <a:bodyPr wrap="none" lIns="0" tIns="0" rIns="0" bIns="0" rtlCol="0" anchor="ctr"/>
          <a:lstStyle/>
          <a:p>
            <a:pPr marL="0" indent="0" algn="ctr">
              <a:buNone/>
            </a:pPr>
            <a:r>
              <a:rPr lang="en-US" sz="900" b="1" kern="0" spc="49">
                <a:solidFill>
                  <a:srgbClr val="D62839"/>
                </a:solidFill>
                <a:latin typeface="Roboto Condensed" pitchFamily="34" charset="0"/>
                <a:ea typeface="Roboto Condensed" pitchFamily="34" charset="-122"/>
                <a:cs typeface="Roboto Condensed" pitchFamily="34" charset="-120"/>
              </a:rPr>
              <a:t>COO</a:t>
            </a:r>
            <a:endParaRPr lang="en-US" sz="900"/>
          </a:p>
        </p:txBody>
      </p:sp>
      <p:sp>
        <p:nvSpPr>
          <p:cNvPr id="28" name="Text 24"/>
          <p:cNvSpPr txBox="1"/>
          <p:nvPr/>
        </p:nvSpPr>
        <p:spPr>
          <a:xfrm>
            <a:off x="6334049" y="2790749"/>
            <a:ext cx="4000500" cy="695858"/>
          </a:xfrm>
          <a:prstGeom prst="rect">
            <a:avLst/>
          </a:prstGeom>
          <a:noFill/>
          <a:ln/>
        </p:spPr>
        <p:txBody>
          <a:bodyPr wrap="square" lIns="0" tIns="0" rIns="0" bIns="0" rtlCol="0" anchor="ctr"/>
          <a:lstStyle/>
          <a:p>
            <a:pPr marL="0" indent="0" algn="ctr">
              <a:buNone/>
            </a:pPr>
            <a:r>
              <a:rPr lang="en-US" sz="1000">
                <a:solidFill>
                  <a:srgbClr val="4B5563"/>
                </a:solidFill>
                <a:latin typeface="Raleway" pitchFamily="34" charset="0"/>
                <a:ea typeface="Raleway" pitchFamily="34" charset="-122"/>
                <a:cs typeface="Raleway" pitchFamily="34" charset="-120"/>
              </a:rPr>
              <a:t>Seasoned operator, investor, and entrepreneur with 20+ years in venture capital and investment banking. Ex-General Catalyst &amp; Venture Highway. Co-founded Vidyartha, exited to BYJU'S. CA &amp; ISB alumna. Kamalnayan Bajaj Aspen Fellow.</a:t>
            </a:r>
            <a:endParaRPr lang="en-US" sz="1000"/>
          </a:p>
        </p:txBody>
      </p:sp>
      <p:sp>
        <p:nvSpPr>
          <p:cNvPr id="31" name="Text 27"/>
          <p:cNvSpPr txBox="1"/>
          <p:nvPr/>
        </p:nvSpPr>
        <p:spPr>
          <a:xfrm>
            <a:off x="1821485" y="5178349"/>
            <a:ext cx="1156716"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Vineet Shukla</a:t>
            </a:r>
            <a:endParaRPr lang="en-US" sz="1300"/>
          </a:p>
        </p:txBody>
      </p:sp>
      <p:sp>
        <p:nvSpPr>
          <p:cNvPr id="32" name="Text 28"/>
          <p:cNvSpPr txBox="1"/>
          <p:nvPr/>
        </p:nvSpPr>
        <p:spPr>
          <a:xfrm>
            <a:off x="1503274" y="5445354"/>
            <a:ext cx="1791310" cy="133502"/>
          </a:xfrm>
          <a:prstGeom prst="rect">
            <a:avLst/>
          </a:prstGeom>
          <a:noFill/>
          <a:ln/>
        </p:spPr>
        <p:txBody>
          <a:bodyPr wrap="none" lIns="0" tIns="0" rIns="0" bIns="0" rtlCol="0" anchor="ctr"/>
          <a:lstStyle/>
          <a:p>
            <a:pPr marL="0" indent="0" algn="ctr">
              <a:buNone/>
            </a:pPr>
            <a:r>
              <a:rPr lang="en-US" sz="900" b="1" kern="0" spc="45">
                <a:solidFill>
                  <a:srgbClr val="2A9D8F"/>
                </a:solidFill>
                <a:latin typeface="Roboto Condensed" pitchFamily="34" charset="0"/>
                <a:ea typeface="Roboto Condensed" pitchFamily="34" charset="-122"/>
                <a:cs typeface="Roboto Condensed" pitchFamily="34" charset="-120"/>
              </a:rPr>
              <a:t>CHIEF TECHNOLOGY OFFICER</a:t>
            </a:r>
            <a:endParaRPr lang="en-US" sz="900"/>
          </a:p>
        </p:txBody>
      </p:sp>
      <p:sp>
        <p:nvSpPr>
          <p:cNvPr id="33" name="Text 29"/>
          <p:cNvSpPr txBox="1"/>
          <p:nvPr/>
        </p:nvSpPr>
        <p:spPr>
          <a:xfrm>
            <a:off x="904646" y="5688076"/>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20+ years experience, 15 in financial services. AI, data science &amp; ML leader. Patent holder. Scales enterprise AI transformations. IIM Bangalore MBA.</a:t>
            </a:r>
            <a:endParaRPr lang="en-US" sz="900"/>
          </a:p>
        </p:txBody>
      </p:sp>
      <p:sp>
        <p:nvSpPr>
          <p:cNvPr id="34" name="Shape 30"/>
          <p:cNvSpPr/>
          <p:nvPr/>
        </p:nvSpPr>
        <p:spPr>
          <a:xfrm>
            <a:off x="5710428" y="4339844"/>
            <a:ext cx="761695" cy="761695"/>
          </a:xfrm>
          <a:prstGeom prst="ellipse">
            <a:avLst/>
          </a:prstGeom>
          <a:solidFill>
            <a:srgbClr val="F3F4F6"/>
          </a:solidFill>
          <a:ln w="25400">
            <a:solidFill>
              <a:srgbClr val="E5E7EB"/>
            </a:solidFill>
            <a:prstDash val="solid"/>
          </a:ln>
        </p:spPr>
        <p:txBody>
          <a:bodyPr/>
          <a:lstStyle/>
          <a:p>
            <a:endParaRPr lang="en-US"/>
          </a:p>
        </p:txBody>
      </p:sp>
      <p:sp>
        <p:nvSpPr>
          <p:cNvPr id="35" name="Text 31"/>
          <p:cNvSpPr/>
          <p:nvPr/>
        </p:nvSpPr>
        <p:spPr>
          <a:xfrm>
            <a:off x="5710428" y="4339844"/>
            <a:ext cx="762610" cy="762610"/>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ctr">
              <a:buNone/>
            </a:pPr>
            <a:r>
              <a:rPr lang="en-US" sz="1000" b="1">
                <a:solidFill>
                  <a:srgbClr val="9CA3AF"/>
                </a:solidFill>
                <a:latin typeface="Raleway" pitchFamily="34" charset="0"/>
                <a:ea typeface="Raleway" pitchFamily="34" charset="-122"/>
                <a:cs typeface="Raleway" pitchFamily="34" charset="-120"/>
              </a:rPr>
              <a:t>Photo</a:t>
            </a:r>
            <a:endParaRPr lang="en-US" sz="1000"/>
          </a:p>
        </p:txBody>
      </p:sp>
      <p:sp>
        <p:nvSpPr>
          <p:cNvPr id="36" name="Text 32"/>
          <p:cNvSpPr txBox="1"/>
          <p:nvPr/>
        </p:nvSpPr>
        <p:spPr>
          <a:xfrm>
            <a:off x="5512003" y="5178349"/>
            <a:ext cx="1167689"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Daniel Dsouza</a:t>
            </a:r>
            <a:endParaRPr lang="en-US" sz="1300"/>
          </a:p>
        </p:txBody>
      </p:sp>
      <p:sp>
        <p:nvSpPr>
          <p:cNvPr id="37" name="Text 33"/>
          <p:cNvSpPr txBox="1"/>
          <p:nvPr/>
        </p:nvSpPr>
        <p:spPr>
          <a:xfrm>
            <a:off x="4998110" y="5445354"/>
            <a:ext cx="2188159" cy="133502"/>
          </a:xfrm>
          <a:prstGeom prst="rect">
            <a:avLst/>
          </a:prstGeom>
          <a:noFill/>
          <a:ln/>
        </p:spPr>
        <p:txBody>
          <a:bodyPr wrap="none" lIns="0" tIns="0" rIns="0" bIns="0" rtlCol="0" anchor="ctr"/>
          <a:lstStyle/>
          <a:p>
            <a:pPr marL="0" indent="0" algn="ctr">
              <a:buNone/>
            </a:pPr>
            <a:r>
              <a:rPr lang="en-US" sz="900" b="1" kern="0" spc="45">
                <a:solidFill>
                  <a:srgbClr val="D62839"/>
                </a:solidFill>
                <a:latin typeface="Roboto Condensed" pitchFamily="34" charset="0"/>
                <a:ea typeface="Roboto Condensed" pitchFamily="34" charset="-122"/>
                <a:cs typeface="Roboto Condensed" pitchFamily="34" charset="-120"/>
              </a:rPr>
              <a:t>HEAD OF ARTIFICIAL INTELLIGENCE</a:t>
            </a:r>
            <a:endParaRPr lang="en-US" sz="900"/>
          </a:p>
        </p:txBody>
      </p:sp>
      <p:sp>
        <p:nvSpPr>
          <p:cNvPr id="38" name="Text 34"/>
          <p:cNvSpPr txBox="1"/>
          <p:nvPr/>
        </p:nvSpPr>
        <p:spPr>
          <a:xfrm>
            <a:off x="4600651" y="5688076"/>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Enterprise AI transformation leader. INSEAD MBA. AWS Certified Architect &amp; PMP. Expertise in AI strategy, architecture and cross-geography team leadership.</a:t>
            </a:r>
            <a:endParaRPr lang="en-US" sz="900"/>
          </a:p>
        </p:txBody>
      </p:sp>
      <p:sp>
        <p:nvSpPr>
          <p:cNvPr id="39" name="Shape 35"/>
          <p:cNvSpPr/>
          <p:nvPr/>
        </p:nvSpPr>
        <p:spPr>
          <a:xfrm>
            <a:off x="9405518" y="4339844"/>
            <a:ext cx="761695" cy="761695"/>
          </a:xfrm>
          <a:prstGeom prst="ellipse">
            <a:avLst/>
          </a:prstGeom>
          <a:solidFill>
            <a:srgbClr val="F3F4F6"/>
          </a:solidFill>
          <a:ln w="25400">
            <a:solidFill>
              <a:srgbClr val="E5E7EB"/>
            </a:solidFill>
            <a:prstDash val="solid"/>
          </a:ln>
        </p:spPr>
        <p:txBody>
          <a:bodyPr/>
          <a:lstStyle/>
          <a:p>
            <a:endParaRPr lang="en-US"/>
          </a:p>
        </p:txBody>
      </p:sp>
      <p:sp>
        <p:nvSpPr>
          <p:cNvPr id="40" name="Text 36"/>
          <p:cNvSpPr/>
          <p:nvPr/>
        </p:nvSpPr>
        <p:spPr>
          <a:xfrm>
            <a:off x="9405518" y="4339844"/>
            <a:ext cx="762610" cy="762610"/>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ctr">
              <a:buNone/>
            </a:pPr>
            <a:r>
              <a:rPr lang="en-US" sz="1000" b="1">
                <a:solidFill>
                  <a:srgbClr val="9CA3AF"/>
                </a:solidFill>
                <a:latin typeface="Raleway" pitchFamily="34" charset="0"/>
                <a:ea typeface="Raleway" pitchFamily="34" charset="-122"/>
                <a:cs typeface="Raleway" pitchFamily="34" charset="-120"/>
              </a:rPr>
              <a:t>Photo</a:t>
            </a:r>
            <a:endParaRPr lang="en-US" sz="1000"/>
          </a:p>
        </p:txBody>
      </p:sp>
      <p:sp>
        <p:nvSpPr>
          <p:cNvPr id="41" name="Text 37"/>
          <p:cNvSpPr txBox="1"/>
          <p:nvPr/>
        </p:nvSpPr>
        <p:spPr>
          <a:xfrm>
            <a:off x="9322308" y="5178349"/>
            <a:ext cx="929945"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Kunal Shah</a:t>
            </a:r>
            <a:endParaRPr lang="en-US" sz="1300"/>
          </a:p>
        </p:txBody>
      </p:sp>
      <p:sp>
        <p:nvSpPr>
          <p:cNvPr id="42" name="Text 38"/>
          <p:cNvSpPr txBox="1"/>
          <p:nvPr/>
        </p:nvSpPr>
        <p:spPr>
          <a:xfrm>
            <a:off x="8810244" y="5445354"/>
            <a:ext cx="1961388" cy="133502"/>
          </a:xfrm>
          <a:prstGeom prst="rect">
            <a:avLst/>
          </a:prstGeom>
          <a:noFill/>
          <a:ln/>
        </p:spPr>
        <p:txBody>
          <a:bodyPr wrap="none" lIns="0" tIns="0" rIns="0" bIns="0" rtlCol="0" anchor="ctr"/>
          <a:lstStyle/>
          <a:p>
            <a:pPr marL="0" indent="0" algn="ctr">
              <a:buNone/>
            </a:pPr>
            <a:r>
              <a:rPr lang="en-US" sz="900" b="1" kern="0" spc="45">
                <a:solidFill>
                  <a:srgbClr val="2A9D8F"/>
                </a:solidFill>
                <a:latin typeface="Roboto Condensed" pitchFamily="34" charset="0"/>
                <a:ea typeface="Roboto Condensed" pitchFamily="34" charset="-122"/>
                <a:cs typeface="Roboto Condensed" pitchFamily="34" charset="-120"/>
              </a:rPr>
              <a:t>HEAD - GLOBAL BFSI STRATEGY</a:t>
            </a:r>
            <a:endParaRPr lang="en-US" sz="900"/>
          </a:p>
        </p:txBody>
      </p:sp>
      <p:sp>
        <p:nvSpPr>
          <p:cNvPr id="43" name="Text 39"/>
          <p:cNvSpPr txBox="1"/>
          <p:nvPr/>
        </p:nvSpPr>
        <p:spPr>
          <a:xfrm>
            <a:off x="8295741" y="5644997"/>
            <a:ext cx="3146959" cy="648310"/>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Industry-recognized AI, data science &amp; ML leader. 20+ years in BFSI. Ex JP Morgan &amp; CLSA. Scales enterprise AI transformations. Drives measurable ROI for banks &amp; fintechs.</a:t>
            </a:r>
            <a:endParaRPr lang="en-US" sz="900"/>
          </a:p>
        </p:txBody>
      </p:sp>
      <p:pic>
        <p:nvPicPr>
          <p:cNvPr id="46" name="Image 4" descr="preencoded.png">
            <a:extLst>
              <a:ext uri="{FF2B5EF4-FFF2-40B4-BE49-F238E27FC236}">
                <a16:creationId xmlns:a16="http://schemas.microsoft.com/office/drawing/2014/main" id="{C6614DD8-D2D3-3E59-136C-61594D6E82DB}"/>
              </a:ext>
            </a:extLst>
          </p:cNvPr>
          <p:cNvPicPr>
            <a:picLocks noChangeAspect="1"/>
          </p:cNvPicPr>
          <p:nvPr/>
        </p:nvPicPr>
        <p:blipFill>
          <a:blip r:embed="rId5"/>
          <a:srcRect b="1042"/>
          <a:stretch/>
        </p:blipFill>
        <p:spPr>
          <a:xfrm>
            <a:off x="7895844" y="1398828"/>
            <a:ext cx="857707" cy="857707"/>
          </a:xfrm>
          <a:prstGeom prst="rect">
            <a:avLst/>
          </a:prstGeom>
        </p:spPr>
      </p:pic>
      <p:pic>
        <p:nvPicPr>
          <p:cNvPr id="48" name="Image 2" descr="preencoded.png">
            <a:extLst>
              <a:ext uri="{FF2B5EF4-FFF2-40B4-BE49-F238E27FC236}">
                <a16:creationId xmlns:a16="http://schemas.microsoft.com/office/drawing/2014/main" id="{3C07FD42-E1E3-E85C-D27C-13F1FA4C86FB}"/>
              </a:ext>
            </a:extLst>
          </p:cNvPr>
          <p:cNvPicPr>
            <a:picLocks noChangeAspect="1"/>
          </p:cNvPicPr>
          <p:nvPr/>
        </p:nvPicPr>
        <p:blipFill>
          <a:blip r:embed="rId6"/>
          <a:srcRect/>
          <a:stretch/>
        </p:blipFill>
        <p:spPr>
          <a:xfrm>
            <a:off x="3472994" y="1429207"/>
            <a:ext cx="783996" cy="783996"/>
          </a:xfrm>
          <a:prstGeom prst="rect">
            <a:avLst/>
          </a:prstGeom>
        </p:spPr>
      </p:pic>
      <p:pic>
        <p:nvPicPr>
          <p:cNvPr id="49" name="Picture 48">
            <a:extLst>
              <a:ext uri="{FF2B5EF4-FFF2-40B4-BE49-F238E27FC236}">
                <a16:creationId xmlns:a16="http://schemas.microsoft.com/office/drawing/2014/main" id="{21381C72-F8AC-4843-BD6E-BF2328463577}"/>
              </a:ext>
            </a:extLst>
          </p:cNvPr>
          <p:cNvPicPr>
            <a:picLocks noChangeAspect="1"/>
          </p:cNvPicPr>
          <p:nvPr/>
        </p:nvPicPr>
        <p:blipFill>
          <a:blip r:embed="rId7"/>
          <a:stretch>
            <a:fillRect/>
          </a:stretch>
        </p:blipFill>
        <p:spPr>
          <a:xfrm>
            <a:off x="1949958" y="4383736"/>
            <a:ext cx="761695" cy="761695"/>
          </a:xfrm>
          <a:prstGeom prst="ellipse">
            <a:avLst/>
          </a:prstGeom>
          <a:ln>
            <a:solidFill>
              <a:schemeClr val="bg2">
                <a:lumMod val="50000"/>
              </a:schemeClr>
            </a:solidFill>
          </a:ln>
        </p:spPr>
      </p:pic>
      <p:pic>
        <p:nvPicPr>
          <p:cNvPr id="51" name="Picture 50">
            <a:extLst>
              <a:ext uri="{FF2B5EF4-FFF2-40B4-BE49-F238E27FC236}">
                <a16:creationId xmlns:a16="http://schemas.microsoft.com/office/drawing/2014/main" id="{1E4787F7-0E35-B225-403B-21A9F0D68FCA}"/>
              </a:ext>
            </a:extLst>
          </p:cNvPr>
          <p:cNvPicPr>
            <a:picLocks noChangeAspect="1"/>
          </p:cNvPicPr>
          <p:nvPr/>
        </p:nvPicPr>
        <p:blipFill>
          <a:blip r:embed="rId8"/>
          <a:stretch>
            <a:fillRect/>
          </a:stretch>
        </p:blipFill>
        <p:spPr>
          <a:xfrm>
            <a:off x="5710428" y="4311358"/>
            <a:ext cx="791235" cy="791235"/>
          </a:xfrm>
          <a:prstGeom prst="ellipse">
            <a:avLst/>
          </a:prstGeom>
          <a:ln>
            <a:solidFill>
              <a:schemeClr val="bg2">
                <a:lumMod val="75000"/>
              </a:schemeClr>
            </a:solidFill>
          </a:ln>
        </p:spPr>
      </p:pic>
      <p:pic>
        <p:nvPicPr>
          <p:cNvPr id="52" name="Picture 51">
            <a:extLst>
              <a:ext uri="{FF2B5EF4-FFF2-40B4-BE49-F238E27FC236}">
                <a16:creationId xmlns:a16="http://schemas.microsoft.com/office/drawing/2014/main" id="{EFE56F8F-09ED-BCC5-7551-0F240ACC8FD8}"/>
              </a:ext>
            </a:extLst>
          </p:cNvPr>
          <p:cNvPicPr>
            <a:picLocks noChangeAspect="1"/>
          </p:cNvPicPr>
          <p:nvPr/>
        </p:nvPicPr>
        <p:blipFill>
          <a:blip r:embed="rId9"/>
          <a:stretch>
            <a:fillRect/>
          </a:stretch>
        </p:blipFill>
        <p:spPr>
          <a:xfrm>
            <a:off x="9408768" y="4336643"/>
            <a:ext cx="792836" cy="792836"/>
          </a:xfrm>
          <a:prstGeom prst="ellipse">
            <a:avLst/>
          </a:prstGeom>
          <a:ln>
            <a:solidFill>
              <a:schemeClr val="bg2">
                <a:lumMod val="75000"/>
              </a:schemeClr>
            </a:solidFill>
          </a:ln>
        </p:spPr>
      </p:pic>
    </p:spTree>
    <p:extLst>
      <p:ext uri="{BB962C8B-B14F-4D97-AF65-F5344CB8AC3E}">
        <p14:creationId xmlns:p14="http://schemas.microsoft.com/office/powerpoint/2010/main" val="21522702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4918E-CA58-E5F4-F9F4-9F82CB89CE4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0EFF5F3-4DDA-24A6-E4D8-A4A3C70A9235}"/>
              </a:ext>
            </a:extLst>
          </p:cNvPr>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a:extLst>
              <a:ext uri="{FF2B5EF4-FFF2-40B4-BE49-F238E27FC236}">
                <a16:creationId xmlns:a16="http://schemas.microsoft.com/office/drawing/2014/main" id="{1E78A4C1-42F3-11EA-B71C-5C5DA0E2DB61}"/>
              </a:ext>
            </a:extLst>
          </p:cNvPr>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a:extLst>
              <a:ext uri="{FF2B5EF4-FFF2-40B4-BE49-F238E27FC236}">
                <a16:creationId xmlns:a16="http://schemas.microsoft.com/office/drawing/2014/main" id="{5EEB366C-A762-A317-6EC4-B4CB5906CB0C}"/>
              </a:ext>
            </a:extLst>
          </p:cNvPr>
          <p:cNvSpPr/>
          <p:nvPr/>
        </p:nvSpPr>
        <p:spPr>
          <a:xfrm>
            <a:off x="8667598" y="-761695"/>
            <a:ext cx="4286707" cy="4286707"/>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debd4e3596836e8640379be3057665ef.png">
            <a:extLst>
              <a:ext uri="{FF2B5EF4-FFF2-40B4-BE49-F238E27FC236}">
                <a16:creationId xmlns:a16="http://schemas.microsoft.com/office/drawing/2014/main" id="{1CB91D49-ED4B-44E1-D2BD-99A7301EF327}"/>
              </a:ext>
            </a:extLst>
          </p:cNvPr>
          <p:cNvPicPr>
            <a:picLocks noChangeAspect="1"/>
          </p:cNvPicPr>
          <p:nvPr/>
        </p:nvPicPr>
        <p:blipFill>
          <a:blip r:embed="rId3">
            <a:alphaModFix amt="5000"/>
          </a:blip>
          <a:srcRect/>
          <a:stretch/>
        </p:blipFill>
        <p:spPr>
          <a:xfrm>
            <a:off x="-476402" y="3047695"/>
            <a:ext cx="2857500" cy="2857500"/>
          </a:xfrm>
          <a:prstGeom prst="rect">
            <a:avLst/>
          </a:prstGeom>
        </p:spPr>
      </p:pic>
      <p:pic>
        <p:nvPicPr>
          <p:cNvPr id="6" name="Image 1" descr="gen-dedup-ef527bea2207a14ec6e8d4c8ae9cdc45.png">
            <a:extLst>
              <a:ext uri="{FF2B5EF4-FFF2-40B4-BE49-F238E27FC236}">
                <a16:creationId xmlns:a16="http://schemas.microsoft.com/office/drawing/2014/main" id="{CFAD2321-944A-2D5D-9226-C340246D345F}"/>
              </a:ext>
            </a:extLst>
          </p:cNvPr>
          <p:cNvPicPr>
            <a:picLocks noChangeAspect="1"/>
          </p:cNvPicPr>
          <p:nvPr/>
        </p:nvPicPr>
        <p:blipFill>
          <a:blip r:embed="rId4"/>
          <a:srcRect l="-384" r="-384"/>
          <a:stretch/>
        </p:blipFill>
        <p:spPr>
          <a:xfrm>
            <a:off x="609905" y="457200"/>
            <a:ext cx="57607" cy="476402"/>
          </a:xfrm>
          <a:prstGeom prst="rect">
            <a:avLst/>
          </a:prstGeom>
        </p:spPr>
      </p:pic>
      <p:sp>
        <p:nvSpPr>
          <p:cNvPr id="11" name="Shape 7">
            <a:extLst>
              <a:ext uri="{FF2B5EF4-FFF2-40B4-BE49-F238E27FC236}">
                <a16:creationId xmlns:a16="http://schemas.microsoft.com/office/drawing/2014/main" id="{44747A4E-921A-5EDB-FAC9-CD0C2B5E6FE6}"/>
              </a:ext>
            </a:extLst>
          </p:cNvPr>
          <p:cNvSpPr/>
          <p:nvPr/>
        </p:nvSpPr>
        <p:spPr>
          <a:xfrm>
            <a:off x="609905" y="4095598"/>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2" name="Shape 8">
            <a:extLst>
              <a:ext uri="{FF2B5EF4-FFF2-40B4-BE49-F238E27FC236}">
                <a16:creationId xmlns:a16="http://schemas.microsoft.com/office/drawing/2014/main" id="{62D325F3-E949-BD67-D77F-B841EA2FFC98}"/>
              </a:ext>
            </a:extLst>
          </p:cNvPr>
          <p:cNvSpPr/>
          <p:nvPr/>
        </p:nvSpPr>
        <p:spPr>
          <a:xfrm>
            <a:off x="609905" y="4095598"/>
            <a:ext cx="3590849" cy="38405"/>
          </a:xfrm>
          <a:prstGeom prst="roundRect">
            <a:avLst>
              <a:gd name="adj" fmla="val 143755"/>
            </a:avLst>
          </a:prstGeom>
          <a:solidFill>
            <a:srgbClr val="2A9D8F"/>
          </a:solidFill>
          <a:ln w="12700">
            <a:solidFill>
              <a:srgbClr val="2A9D8F">
                <a:alpha val="0"/>
              </a:srgbClr>
            </a:solidFill>
            <a:prstDash val="solid"/>
          </a:ln>
        </p:spPr>
        <p:txBody>
          <a:bodyPr/>
          <a:lstStyle/>
          <a:p>
            <a:endParaRPr lang="en-US"/>
          </a:p>
        </p:txBody>
      </p:sp>
      <p:sp>
        <p:nvSpPr>
          <p:cNvPr id="13" name="Shape 9">
            <a:extLst>
              <a:ext uri="{FF2B5EF4-FFF2-40B4-BE49-F238E27FC236}">
                <a16:creationId xmlns:a16="http://schemas.microsoft.com/office/drawing/2014/main" id="{CF7BBC12-BA96-1390-E4D1-18008A972E35}"/>
              </a:ext>
            </a:extLst>
          </p:cNvPr>
          <p:cNvSpPr/>
          <p:nvPr/>
        </p:nvSpPr>
        <p:spPr>
          <a:xfrm>
            <a:off x="4304995" y="4095598"/>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4" name="Shape 10">
            <a:extLst>
              <a:ext uri="{FF2B5EF4-FFF2-40B4-BE49-F238E27FC236}">
                <a16:creationId xmlns:a16="http://schemas.microsoft.com/office/drawing/2014/main" id="{B449B8BA-5A3A-4443-904B-545B45C085D1}"/>
              </a:ext>
            </a:extLst>
          </p:cNvPr>
          <p:cNvSpPr/>
          <p:nvPr/>
        </p:nvSpPr>
        <p:spPr>
          <a:xfrm>
            <a:off x="4304995" y="4095598"/>
            <a:ext cx="3590849" cy="38405"/>
          </a:xfrm>
          <a:prstGeom prst="roundRect">
            <a:avLst>
              <a:gd name="adj" fmla="val 143755"/>
            </a:avLst>
          </a:prstGeom>
          <a:solidFill>
            <a:srgbClr val="D62839"/>
          </a:solidFill>
          <a:ln w="12700">
            <a:solidFill>
              <a:srgbClr val="D62839">
                <a:alpha val="0"/>
              </a:srgbClr>
            </a:solidFill>
            <a:prstDash val="solid"/>
          </a:ln>
        </p:spPr>
        <p:txBody>
          <a:bodyPr/>
          <a:lstStyle/>
          <a:p>
            <a:endParaRPr lang="en-US"/>
          </a:p>
        </p:txBody>
      </p:sp>
      <p:sp>
        <p:nvSpPr>
          <p:cNvPr id="15" name="Shape 11">
            <a:extLst>
              <a:ext uri="{FF2B5EF4-FFF2-40B4-BE49-F238E27FC236}">
                <a16:creationId xmlns:a16="http://schemas.microsoft.com/office/drawing/2014/main" id="{020476DD-27A6-B949-7BAB-B7EDC28ED23E}"/>
              </a:ext>
            </a:extLst>
          </p:cNvPr>
          <p:cNvSpPr/>
          <p:nvPr/>
        </p:nvSpPr>
        <p:spPr>
          <a:xfrm>
            <a:off x="8001000" y="4095598"/>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6" name="Shape 12">
            <a:extLst>
              <a:ext uri="{FF2B5EF4-FFF2-40B4-BE49-F238E27FC236}">
                <a16:creationId xmlns:a16="http://schemas.microsoft.com/office/drawing/2014/main" id="{1127C0E3-8A1A-1DCC-1A8D-1D4C70CB7928}"/>
              </a:ext>
            </a:extLst>
          </p:cNvPr>
          <p:cNvSpPr/>
          <p:nvPr/>
        </p:nvSpPr>
        <p:spPr>
          <a:xfrm>
            <a:off x="8001000" y="4095598"/>
            <a:ext cx="3590849" cy="38405"/>
          </a:xfrm>
          <a:prstGeom prst="roundRect">
            <a:avLst>
              <a:gd name="adj" fmla="val 143755"/>
            </a:avLst>
          </a:prstGeom>
          <a:solidFill>
            <a:srgbClr val="2A9D8F"/>
          </a:solidFill>
          <a:ln w="12700">
            <a:solidFill>
              <a:srgbClr val="2A9D8F">
                <a:alpha val="0"/>
              </a:srgbClr>
            </a:solidFill>
            <a:prstDash val="solid"/>
          </a:ln>
        </p:spPr>
        <p:txBody>
          <a:bodyPr/>
          <a:lstStyle/>
          <a:p>
            <a:endParaRPr lang="en-US"/>
          </a:p>
        </p:txBody>
      </p:sp>
      <p:sp>
        <p:nvSpPr>
          <p:cNvPr id="17" name="Text 13">
            <a:extLst>
              <a:ext uri="{FF2B5EF4-FFF2-40B4-BE49-F238E27FC236}">
                <a16:creationId xmlns:a16="http://schemas.microsoft.com/office/drawing/2014/main" id="{E5123C06-1736-AA5E-4B57-DA609F852FBF}"/>
              </a:ext>
            </a:extLst>
          </p:cNvPr>
          <p:cNvSpPr txBox="1"/>
          <p:nvPr/>
        </p:nvSpPr>
        <p:spPr>
          <a:xfrm>
            <a:off x="819302" y="381305"/>
            <a:ext cx="10478110" cy="362102"/>
          </a:xfrm>
          <a:prstGeom prst="rect">
            <a:avLst/>
          </a:prstGeom>
          <a:noFill/>
          <a:ln/>
        </p:spPr>
        <p:txBody>
          <a:bodyPr wrap="none" lIns="0" tIns="0" rIns="0" bIns="0" rtlCol="0" anchor="ctr"/>
          <a:lstStyle/>
          <a:p>
            <a:pPr marL="0" indent="0" algn="l">
              <a:buNone/>
            </a:pPr>
            <a:r>
              <a:rPr lang="en-US" sz="2500" b="1" kern="0" spc="-25">
                <a:solidFill>
                  <a:srgbClr val="111827"/>
                </a:solidFill>
                <a:latin typeface="Oswald" pitchFamily="34" charset="0"/>
                <a:ea typeface="Oswald" pitchFamily="34" charset="-122"/>
                <a:cs typeface="Oswald" pitchFamily="34" charset="-120"/>
              </a:rPr>
              <a:t>THE J2W SQUAD</a:t>
            </a:r>
          </a:p>
        </p:txBody>
      </p:sp>
      <p:sp>
        <p:nvSpPr>
          <p:cNvPr id="18" name="Text 14">
            <a:extLst>
              <a:ext uri="{FF2B5EF4-FFF2-40B4-BE49-F238E27FC236}">
                <a16:creationId xmlns:a16="http://schemas.microsoft.com/office/drawing/2014/main" id="{C0F8F398-50F2-62AE-E4A6-521DD9C62CAE}"/>
              </a:ext>
            </a:extLst>
          </p:cNvPr>
          <p:cNvSpPr txBox="1"/>
          <p:nvPr/>
        </p:nvSpPr>
        <p:spPr>
          <a:xfrm>
            <a:off x="819302" y="794614"/>
            <a:ext cx="10478110" cy="181051"/>
          </a:xfrm>
          <a:prstGeom prst="rect">
            <a:avLst/>
          </a:prstGeom>
          <a:noFill/>
          <a:ln/>
        </p:spPr>
        <p:txBody>
          <a:bodyPr wrap="non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Senior leadership that architects every GCC we build — from category-creating founders to deep LLM and aerospace engineering pedigree.</a:t>
            </a:r>
          </a:p>
        </p:txBody>
      </p:sp>
      <p:sp>
        <p:nvSpPr>
          <p:cNvPr id="36" name="Text 32">
            <a:extLst>
              <a:ext uri="{FF2B5EF4-FFF2-40B4-BE49-F238E27FC236}">
                <a16:creationId xmlns:a16="http://schemas.microsoft.com/office/drawing/2014/main" id="{167190F1-E999-2077-D39E-1D1D1144962B}"/>
              </a:ext>
            </a:extLst>
          </p:cNvPr>
          <p:cNvSpPr txBox="1"/>
          <p:nvPr/>
        </p:nvSpPr>
        <p:spPr>
          <a:xfrm>
            <a:off x="5512003" y="5203749"/>
            <a:ext cx="1167689"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Deepak Desai</a:t>
            </a:r>
          </a:p>
        </p:txBody>
      </p:sp>
      <p:sp>
        <p:nvSpPr>
          <p:cNvPr id="37" name="Text 33">
            <a:extLst>
              <a:ext uri="{FF2B5EF4-FFF2-40B4-BE49-F238E27FC236}">
                <a16:creationId xmlns:a16="http://schemas.microsoft.com/office/drawing/2014/main" id="{8B384D12-7A64-640E-7F5B-8B89D4A842BE}"/>
              </a:ext>
            </a:extLst>
          </p:cNvPr>
          <p:cNvSpPr txBox="1"/>
          <p:nvPr/>
        </p:nvSpPr>
        <p:spPr>
          <a:xfrm>
            <a:off x="4998110" y="5483454"/>
            <a:ext cx="2188159" cy="133502"/>
          </a:xfrm>
          <a:prstGeom prst="rect">
            <a:avLst/>
          </a:prstGeom>
          <a:noFill/>
          <a:ln/>
        </p:spPr>
        <p:txBody>
          <a:bodyPr wrap="none" lIns="0" tIns="0" rIns="0" bIns="0" rtlCol="0" anchor="ctr"/>
          <a:lstStyle/>
          <a:p>
            <a:pPr marL="0" indent="0" algn="ctr">
              <a:buNone/>
            </a:pPr>
            <a:r>
              <a:rPr lang="en-US" sz="900" b="1" kern="0" spc="45">
                <a:solidFill>
                  <a:srgbClr val="D62839"/>
                </a:solidFill>
                <a:latin typeface="Roboto Condensed" pitchFamily="34" charset="0"/>
                <a:ea typeface="Roboto Condensed" pitchFamily="34" charset="-122"/>
                <a:cs typeface="Roboto Condensed" pitchFamily="34" charset="-120"/>
              </a:rPr>
              <a:t>TECHNOLOGY ADVISOR &amp; LLM SPECIALIST</a:t>
            </a:r>
          </a:p>
        </p:txBody>
      </p:sp>
      <p:sp>
        <p:nvSpPr>
          <p:cNvPr id="38" name="Text 34">
            <a:extLst>
              <a:ext uri="{FF2B5EF4-FFF2-40B4-BE49-F238E27FC236}">
                <a16:creationId xmlns:a16="http://schemas.microsoft.com/office/drawing/2014/main" id="{3D859B5E-A79A-62A8-39BA-AC8B1D8A7A5E}"/>
              </a:ext>
            </a:extLst>
          </p:cNvPr>
          <p:cNvSpPr txBox="1"/>
          <p:nvPr/>
        </p:nvSpPr>
        <p:spPr>
          <a:xfrm>
            <a:off x="4600651" y="5688076"/>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Ex-IBM Senior Partner (APAC &amp; US). 30+ yrs; deep NLP, LLM &amp; GenAI </a:t>
            </a:r>
            <a:r>
              <a:rPr lang="en-US" sz="900" err="1">
                <a:solidFill>
                  <a:srgbClr val="4B5563"/>
                </a:solidFill>
                <a:latin typeface="Raleway" pitchFamily="34" charset="0"/>
                <a:ea typeface="Raleway" pitchFamily="34" charset="-122"/>
                <a:cs typeface="Raleway" pitchFamily="34" charset="-120"/>
              </a:rPr>
              <a:t>specialisation</a:t>
            </a:r>
            <a:r>
              <a:rPr lang="en-US" sz="900">
                <a:solidFill>
                  <a:srgbClr val="4B5563"/>
                </a:solidFill>
                <a:latin typeface="Raleway" pitchFamily="34" charset="0"/>
                <a:ea typeface="Raleway" pitchFamily="34" charset="-122"/>
                <a:cs typeface="Raleway" pitchFamily="34" charset="-120"/>
              </a:rPr>
              <a:t>.</a:t>
            </a:r>
          </a:p>
        </p:txBody>
      </p:sp>
      <p:sp>
        <p:nvSpPr>
          <p:cNvPr id="41" name="Text 37">
            <a:extLst>
              <a:ext uri="{FF2B5EF4-FFF2-40B4-BE49-F238E27FC236}">
                <a16:creationId xmlns:a16="http://schemas.microsoft.com/office/drawing/2014/main" id="{E9E23B86-AFDA-FBE0-A66D-169B980A5221}"/>
              </a:ext>
            </a:extLst>
          </p:cNvPr>
          <p:cNvSpPr txBox="1"/>
          <p:nvPr/>
        </p:nvSpPr>
        <p:spPr>
          <a:xfrm>
            <a:off x="9369908" y="5241849"/>
            <a:ext cx="929945"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Alok Raj</a:t>
            </a:r>
          </a:p>
        </p:txBody>
      </p:sp>
      <p:sp>
        <p:nvSpPr>
          <p:cNvPr id="42" name="Text 38">
            <a:extLst>
              <a:ext uri="{FF2B5EF4-FFF2-40B4-BE49-F238E27FC236}">
                <a16:creationId xmlns:a16="http://schemas.microsoft.com/office/drawing/2014/main" id="{EB1414D0-7C7E-984D-8097-5F5882853D37}"/>
              </a:ext>
            </a:extLst>
          </p:cNvPr>
          <p:cNvSpPr txBox="1"/>
          <p:nvPr/>
        </p:nvSpPr>
        <p:spPr>
          <a:xfrm>
            <a:off x="8857844" y="5521554"/>
            <a:ext cx="1961388" cy="133502"/>
          </a:xfrm>
          <a:prstGeom prst="rect">
            <a:avLst/>
          </a:prstGeom>
          <a:noFill/>
          <a:ln/>
        </p:spPr>
        <p:txBody>
          <a:bodyPr wrap="none" lIns="0" tIns="0" rIns="0" bIns="0" rtlCol="0" anchor="ctr"/>
          <a:lstStyle/>
          <a:p>
            <a:pPr marL="0" indent="0" algn="ctr">
              <a:buNone/>
            </a:pPr>
            <a:r>
              <a:rPr lang="en-US" sz="900" b="1" kern="0" spc="45">
                <a:solidFill>
                  <a:srgbClr val="2A9D8F"/>
                </a:solidFill>
                <a:latin typeface="Roboto Condensed" pitchFamily="34" charset="0"/>
                <a:ea typeface="Roboto Condensed" pitchFamily="34" charset="-122"/>
                <a:cs typeface="Roboto Condensed" pitchFamily="34" charset="-120"/>
              </a:rPr>
              <a:t>HEAD — TECH ASSESSMENTS &amp; AI ENGINEERING</a:t>
            </a:r>
          </a:p>
        </p:txBody>
      </p:sp>
      <p:sp>
        <p:nvSpPr>
          <p:cNvPr id="43" name="Text 39">
            <a:extLst>
              <a:ext uri="{FF2B5EF4-FFF2-40B4-BE49-F238E27FC236}">
                <a16:creationId xmlns:a16="http://schemas.microsoft.com/office/drawing/2014/main" id="{F00AEF2F-F343-5140-DAE4-D166B891E453}"/>
              </a:ext>
            </a:extLst>
          </p:cNvPr>
          <p:cNvSpPr txBox="1"/>
          <p:nvPr/>
        </p:nvSpPr>
        <p:spPr>
          <a:xfrm>
            <a:off x="8295741" y="5634075"/>
            <a:ext cx="3146959" cy="648310"/>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Ex-Airbus. Leads technical screening, upskilling &amp; AI platform work.</a:t>
            </a:r>
          </a:p>
        </p:txBody>
      </p:sp>
      <p:sp>
        <p:nvSpPr>
          <p:cNvPr id="29" name="Shape 7">
            <a:extLst>
              <a:ext uri="{FF2B5EF4-FFF2-40B4-BE49-F238E27FC236}">
                <a16:creationId xmlns:a16="http://schemas.microsoft.com/office/drawing/2014/main" id="{E2F5F6E6-811A-BEBD-EA4F-AB0A72E09B96}"/>
              </a:ext>
            </a:extLst>
          </p:cNvPr>
          <p:cNvSpPr/>
          <p:nvPr/>
        </p:nvSpPr>
        <p:spPr>
          <a:xfrm>
            <a:off x="609905" y="1351230"/>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30" name="Shape 8">
            <a:extLst>
              <a:ext uri="{FF2B5EF4-FFF2-40B4-BE49-F238E27FC236}">
                <a16:creationId xmlns:a16="http://schemas.microsoft.com/office/drawing/2014/main" id="{E8E625C5-6C60-4C0D-D5E0-531142AB8043}"/>
              </a:ext>
            </a:extLst>
          </p:cNvPr>
          <p:cNvSpPr/>
          <p:nvPr/>
        </p:nvSpPr>
        <p:spPr>
          <a:xfrm>
            <a:off x="609905" y="1351230"/>
            <a:ext cx="3590849" cy="38405"/>
          </a:xfrm>
          <a:prstGeom prst="roundRect">
            <a:avLst>
              <a:gd name="adj" fmla="val 143755"/>
            </a:avLst>
          </a:prstGeom>
          <a:solidFill>
            <a:srgbClr val="2A9D8F"/>
          </a:solidFill>
          <a:ln w="12700">
            <a:solidFill>
              <a:srgbClr val="2A9D8F">
                <a:alpha val="0"/>
              </a:srgbClr>
            </a:solidFill>
            <a:prstDash val="solid"/>
          </a:ln>
        </p:spPr>
        <p:txBody>
          <a:bodyPr/>
          <a:lstStyle/>
          <a:p>
            <a:endParaRPr lang="en-US"/>
          </a:p>
        </p:txBody>
      </p:sp>
      <p:sp>
        <p:nvSpPr>
          <p:cNvPr id="44" name="Shape 9">
            <a:extLst>
              <a:ext uri="{FF2B5EF4-FFF2-40B4-BE49-F238E27FC236}">
                <a16:creationId xmlns:a16="http://schemas.microsoft.com/office/drawing/2014/main" id="{BC0FA406-4AA6-F67C-DDFE-B58975E86601}"/>
              </a:ext>
            </a:extLst>
          </p:cNvPr>
          <p:cNvSpPr/>
          <p:nvPr/>
        </p:nvSpPr>
        <p:spPr>
          <a:xfrm>
            <a:off x="4304995" y="1351230"/>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45" name="Shape 10">
            <a:extLst>
              <a:ext uri="{FF2B5EF4-FFF2-40B4-BE49-F238E27FC236}">
                <a16:creationId xmlns:a16="http://schemas.microsoft.com/office/drawing/2014/main" id="{3A05880F-C31C-8F78-1AAB-02143D86C584}"/>
              </a:ext>
            </a:extLst>
          </p:cNvPr>
          <p:cNvSpPr/>
          <p:nvPr/>
        </p:nvSpPr>
        <p:spPr>
          <a:xfrm>
            <a:off x="4304995" y="1351230"/>
            <a:ext cx="3590849" cy="38405"/>
          </a:xfrm>
          <a:prstGeom prst="roundRect">
            <a:avLst>
              <a:gd name="adj" fmla="val 143755"/>
            </a:avLst>
          </a:prstGeom>
          <a:solidFill>
            <a:srgbClr val="D62839"/>
          </a:solidFill>
          <a:ln w="12700">
            <a:solidFill>
              <a:srgbClr val="D62839">
                <a:alpha val="0"/>
              </a:srgbClr>
            </a:solidFill>
            <a:prstDash val="solid"/>
          </a:ln>
        </p:spPr>
        <p:txBody>
          <a:bodyPr/>
          <a:lstStyle/>
          <a:p>
            <a:endParaRPr lang="en-US"/>
          </a:p>
        </p:txBody>
      </p:sp>
      <p:sp>
        <p:nvSpPr>
          <p:cNvPr id="47" name="Shape 11">
            <a:extLst>
              <a:ext uri="{FF2B5EF4-FFF2-40B4-BE49-F238E27FC236}">
                <a16:creationId xmlns:a16="http://schemas.microsoft.com/office/drawing/2014/main" id="{08B807FE-1B80-6A6E-1103-88480D41A8CB}"/>
              </a:ext>
            </a:extLst>
          </p:cNvPr>
          <p:cNvSpPr/>
          <p:nvPr/>
        </p:nvSpPr>
        <p:spPr>
          <a:xfrm>
            <a:off x="8001000" y="1351230"/>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50" name="Shape 12">
            <a:extLst>
              <a:ext uri="{FF2B5EF4-FFF2-40B4-BE49-F238E27FC236}">
                <a16:creationId xmlns:a16="http://schemas.microsoft.com/office/drawing/2014/main" id="{46EF62F7-B6FE-4656-C8B8-B8BB21513E63}"/>
              </a:ext>
            </a:extLst>
          </p:cNvPr>
          <p:cNvSpPr/>
          <p:nvPr/>
        </p:nvSpPr>
        <p:spPr>
          <a:xfrm>
            <a:off x="8001000" y="1351230"/>
            <a:ext cx="3590849" cy="38405"/>
          </a:xfrm>
          <a:prstGeom prst="roundRect">
            <a:avLst>
              <a:gd name="adj" fmla="val 143755"/>
            </a:avLst>
          </a:prstGeom>
          <a:solidFill>
            <a:srgbClr val="2A9D8F"/>
          </a:solidFill>
          <a:ln w="12700">
            <a:solidFill>
              <a:srgbClr val="2A9D8F">
                <a:alpha val="0"/>
              </a:srgbClr>
            </a:solidFill>
            <a:prstDash val="solid"/>
          </a:ln>
        </p:spPr>
        <p:txBody>
          <a:bodyPr/>
          <a:lstStyle/>
          <a:p>
            <a:endParaRPr lang="en-US"/>
          </a:p>
        </p:txBody>
      </p:sp>
      <p:sp>
        <p:nvSpPr>
          <p:cNvPr id="53" name="Text 27">
            <a:extLst>
              <a:ext uri="{FF2B5EF4-FFF2-40B4-BE49-F238E27FC236}">
                <a16:creationId xmlns:a16="http://schemas.microsoft.com/office/drawing/2014/main" id="{09B7B038-1011-2FD6-B6CF-97CD0771FA43}"/>
              </a:ext>
            </a:extLst>
          </p:cNvPr>
          <p:cNvSpPr txBox="1"/>
          <p:nvPr/>
        </p:nvSpPr>
        <p:spPr>
          <a:xfrm>
            <a:off x="1821485" y="2433981"/>
            <a:ext cx="1156716"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Priti Sawant</a:t>
            </a:r>
          </a:p>
        </p:txBody>
      </p:sp>
      <p:sp>
        <p:nvSpPr>
          <p:cNvPr id="54" name="Text 28">
            <a:extLst>
              <a:ext uri="{FF2B5EF4-FFF2-40B4-BE49-F238E27FC236}">
                <a16:creationId xmlns:a16="http://schemas.microsoft.com/office/drawing/2014/main" id="{7113E0F9-68A9-7E68-2727-3FBEDDAB0956}"/>
              </a:ext>
            </a:extLst>
          </p:cNvPr>
          <p:cNvSpPr txBox="1"/>
          <p:nvPr/>
        </p:nvSpPr>
        <p:spPr>
          <a:xfrm>
            <a:off x="1503274" y="2700986"/>
            <a:ext cx="1791310" cy="133502"/>
          </a:xfrm>
          <a:prstGeom prst="rect">
            <a:avLst/>
          </a:prstGeom>
          <a:noFill/>
          <a:ln/>
        </p:spPr>
        <p:txBody>
          <a:bodyPr wrap="none" lIns="0" tIns="0" rIns="0" bIns="0" rtlCol="0" anchor="ctr"/>
          <a:lstStyle/>
          <a:p>
            <a:pPr marL="0" indent="0" algn="ctr">
              <a:buNone/>
            </a:pPr>
            <a:r>
              <a:rPr lang="en-US" sz="900" b="1" kern="0" spc="45">
                <a:solidFill>
                  <a:srgbClr val="2A9D8F"/>
                </a:solidFill>
                <a:latin typeface="Roboto Condensed" pitchFamily="34" charset="0"/>
                <a:ea typeface="Roboto Condensed" pitchFamily="34" charset="-122"/>
                <a:cs typeface="Roboto Condensed" pitchFamily="34" charset="-120"/>
              </a:rPr>
              <a:t>FOUNDER &amp; CEO</a:t>
            </a:r>
          </a:p>
        </p:txBody>
      </p:sp>
      <p:sp>
        <p:nvSpPr>
          <p:cNvPr id="55" name="Text 29">
            <a:extLst>
              <a:ext uri="{FF2B5EF4-FFF2-40B4-BE49-F238E27FC236}">
                <a16:creationId xmlns:a16="http://schemas.microsoft.com/office/drawing/2014/main" id="{48BE7424-2C1C-ABB5-7637-F221420FFB43}"/>
              </a:ext>
            </a:extLst>
          </p:cNvPr>
          <p:cNvSpPr txBox="1"/>
          <p:nvPr/>
        </p:nvSpPr>
        <p:spPr>
          <a:xfrm>
            <a:off x="904646" y="2943708"/>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Pioneer of India's GCC ecosystem; built &amp; </a:t>
            </a:r>
            <a:r>
              <a:rPr lang="en-US" sz="900" err="1">
                <a:solidFill>
                  <a:srgbClr val="4B5563"/>
                </a:solidFill>
                <a:latin typeface="Raleway" pitchFamily="34" charset="0"/>
                <a:ea typeface="Raleway" pitchFamily="34" charset="-122"/>
                <a:cs typeface="Raleway" pitchFamily="34" charset="-120"/>
              </a:rPr>
              <a:t>IPO'd</a:t>
            </a:r>
            <a:r>
              <a:rPr lang="en-US" sz="900">
                <a:solidFill>
                  <a:srgbClr val="4B5563"/>
                </a:solidFill>
                <a:latin typeface="Raleway" pitchFamily="34" charset="0"/>
                <a:ea typeface="Raleway" pitchFamily="34" charset="-122"/>
                <a:cs typeface="Raleway" pitchFamily="34" charset="-120"/>
              </a:rPr>
              <a:t> India's first GCC-focused model. 20+ yrs · Forbes Japan.</a:t>
            </a:r>
          </a:p>
        </p:txBody>
      </p:sp>
      <p:sp>
        <p:nvSpPr>
          <p:cNvPr id="58" name="Text 32">
            <a:extLst>
              <a:ext uri="{FF2B5EF4-FFF2-40B4-BE49-F238E27FC236}">
                <a16:creationId xmlns:a16="http://schemas.microsoft.com/office/drawing/2014/main" id="{D6A207EA-7DC5-1085-2F92-ECCBA22ABD4C}"/>
              </a:ext>
            </a:extLst>
          </p:cNvPr>
          <p:cNvSpPr txBox="1"/>
          <p:nvPr/>
        </p:nvSpPr>
        <p:spPr>
          <a:xfrm>
            <a:off x="5512003" y="2433981"/>
            <a:ext cx="1167689"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Priya Mohan</a:t>
            </a:r>
          </a:p>
        </p:txBody>
      </p:sp>
      <p:sp>
        <p:nvSpPr>
          <p:cNvPr id="59" name="Text 33">
            <a:extLst>
              <a:ext uri="{FF2B5EF4-FFF2-40B4-BE49-F238E27FC236}">
                <a16:creationId xmlns:a16="http://schemas.microsoft.com/office/drawing/2014/main" id="{A8488A79-ED28-6B95-20FA-980EF1D07CF8}"/>
              </a:ext>
            </a:extLst>
          </p:cNvPr>
          <p:cNvSpPr txBox="1"/>
          <p:nvPr/>
        </p:nvSpPr>
        <p:spPr>
          <a:xfrm>
            <a:off x="4998110" y="2700986"/>
            <a:ext cx="2188159" cy="133502"/>
          </a:xfrm>
          <a:prstGeom prst="rect">
            <a:avLst/>
          </a:prstGeom>
          <a:noFill/>
          <a:ln/>
        </p:spPr>
        <p:txBody>
          <a:bodyPr wrap="none" lIns="0" tIns="0" rIns="0" bIns="0" rtlCol="0" anchor="ctr"/>
          <a:lstStyle/>
          <a:p>
            <a:pPr marL="0" indent="0" algn="ctr">
              <a:buNone/>
            </a:pPr>
            <a:r>
              <a:rPr lang="en-US" sz="900" b="1" kern="0" spc="45">
                <a:solidFill>
                  <a:srgbClr val="D62839"/>
                </a:solidFill>
                <a:latin typeface="Roboto Condensed" pitchFamily="34" charset="0"/>
                <a:ea typeface="Roboto Condensed" pitchFamily="34" charset="-122"/>
                <a:cs typeface="Roboto Condensed" pitchFamily="34" charset="-120"/>
              </a:rPr>
              <a:t>COO</a:t>
            </a:r>
          </a:p>
        </p:txBody>
      </p:sp>
      <p:sp>
        <p:nvSpPr>
          <p:cNvPr id="60" name="Text 34">
            <a:extLst>
              <a:ext uri="{FF2B5EF4-FFF2-40B4-BE49-F238E27FC236}">
                <a16:creationId xmlns:a16="http://schemas.microsoft.com/office/drawing/2014/main" id="{B7486E20-6348-0E06-FAD5-6B07D847F523}"/>
              </a:ext>
            </a:extLst>
          </p:cNvPr>
          <p:cNvSpPr txBox="1"/>
          <p:nvPr/>
        </p:nvSpPr>
        <p:spPr>
          <a:xfrm>
            <a:off x="4600651" y="2943708"/>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Ex-General Catalyst Partner &amp; Venture Highway MP. CA + ISB. Leads the full AI implementation lifecycle.</a:t>
            </a:r>
          </a:p>
        </p:txBody>
      </p:sp>
      <p:sp>
        <p:nvSpPr>
          <p:cNvPr id="70" name="Text 17">
            <a:extLst>
              <a:ext uri="{FF2B5EF4-FFF2-40B4-BE49-F238E27FC236}">
                <a16:creationId xmlns:a16="http://schemas.microsoft.com/office/drawing/2014/main" id="{1FB4B21B-03F9-D4C5-6FB9-8113E17E8C4F}"/>
              </a:ext>
            </a:extLst>
          </p:cNvPr>
          <p:cNvSpPr txBox="1"/>
          <p:nvPr/>
        </p:nvSpPr>
        <p:spPr>
          <a:xfrm>
            <a:off x="3153308" y="2381404"/>
            <a:ext cx="1133856" cy="286207"/>
          </a:xfrm>
          <a:prstGeom prst="rect">
            <a:avLst/>
          </a:prstGeom>
          <a:noFill/>
          <a:ln/>
        </p:spPr>
        <p:txBody>
          <a:bodyPr wrap="none" lIns="0" tIns="0" rIns="0" bIns="0" rtlCol="0" anchor="ctr"/>
          <a:lstStyle/>
          <a:p>
            <a:pPr marL="0" indent="0" algn="ctr">
              <a:buNone/>
            </a:pPr>
            <a:endParaRPr lang="en-US" sz="1500"/>
          </a:p>
        </p:txBody>
      </p:sp>
      <p:sp>
        <p:nvSpPr>
          <p:cNvPr id="72" name="Text 18">
            <a:extLst>
              <a:ext uri="{FF2B5EF4-FFF2-40B4-BE49-F238E27FC236}">
                <a16:creationId xmlns:a16="http://schemas.microsoft.com/office/drawing/2014/main" id="{9FDC9E99-482C-3F4A-E3D9-BB9B4D52CF45}"/>
              </a:ext>
            </a:extLst>
          </p:cNvPr>
          <p:cNvSpPr txBox="1"/>
          <p:nvPr/>
        </p:nvSpPr>
        <p:spPr>
          <a:xfrm>
            <a:off x="3113075" y="2686813"/>
            <a:ext cx="1207008" cy="143561"/>
          </a:xfrm>
          <a:prstGeom prst="rect">
            <a:avLst/>
          </a:prstGeom>
          <a:noFill/>
          <a:ln/>
        </p:spPr>
        <p:txBody>
          <a:bodyPr wrap="none" lIns="0" tIns="0" rIns="0" bIns="0" rtlCol="0" anchor="ctr"/>
          <a:lstStyle/>
          <a:p>
            <a:pPr marL="0" indent="0" algn="ctr">
              <a:buNone/>
            </a:pPr>
            <a:endParaRPr lang="en-US" sz="900"/>
          </a:p>
        </p:txBody>
      </p:sp>
      <p:pic>
        <p:nvPicPr>
          <p:cNvPr id="78" name="Image 4" descr="preencoded.png">
            <a:extLst>
              <a:ext uri="{FF2B5EF4-FFF2-40B4-BE49-F238E27FC236}">
                <a16:creationId xmlns:a16="http://schemas.microsoft.com/office/drawing/2014/main" id="{A2ED01AD-6CA0-176F-9158-B666E1FEF16C}"/>
              </a:ext>
            </a:extLst>
          </p:cNvPr>
          <p:cNvPicPr>
            <a:picLocks noChangeAspect="1"/>
          </p:cNvPicPr>
          <p:nvPr/>
        </p:nvPicPr>
        <p:blipFill>
          <a:blip r:embed="rId5"/>
          <a:srcRect b="1042"/>
          <a:stretch/>
        </p:blipFill>
        <p:spPr>
          <a:xfrm>
            <a:off x="5643956" y="1498143"/>
            <a:ext cx="857707" cy="857707"/>
          </a:xfrm>
          <a:prstGeom prst="rect">
            <a:avLst/>
          </a:prstGeom>
        </p:spPr>
      </p:pic>
      <p:pic>
        <p:nvPicPr>
          <p:cNvPr id="80" name="Image 2" descr="preencoded.png">
            <a:extLst>
              <a:ext uri="{FF2B5EF4-FFF2-40B4-BE49-F238E27FC236}">
                <a16:creationId xmlns:a16="http://schemas.microsoft.com/office/drawing/2014/main" id="{76AF17EC-A631-46EC-EE69-CA4956C54455}"/>
              </a:ext>
            </a:extLst>
          </p:cNvPr>
          <p:cNvPicPr>
            <a:picLocks noChangeAspect="1"/>
          </p:cNvPicPr>
          <p:nvPr/>
        </p:nvPicPr>
        <p:blipFill>
          <a:blip r:embed="rId6"/>
          <a:srcRect/>
          <a:stretch/>
        </p:blipFill>
        <p:spPr>
          <a:xfrm>
            <a:off x="1989100" y="1540410"/>
            <a:ext cx="783996" cy="783996"/>
          </a:xfrm>
          <a:prstGeom prst="rect">
            <a:avLst/>
          </a:prstGeom>
        </p:spPr>
      </p:pic>
      <p:sp>
        <p:nvSpPr>
          <p:cNvPr id="81" name="Text 27">
            <a:extLst>
              <a:ext uri="{FF2B5EF4-FFF2-40B4-BE49-F238E27FC236}">
                <a16:creationId xmlns:a16="http://schemas.microsoft.com/office/drawing/2014/main" id="{B381CD11-E268-2372-4D99-32B247B0C995}"/>
              </a:ext>
            </a:extLst>
          </p:cNvPr>
          <p:cNvSpPr txBox="1"/>
          <p:nvPr/>
        </p:nvSpPr>
        <p:spPr>
          <a:xfrm>
            <a:off x="9240521" y="2460703"/>
            <a:ext cx="1156716"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Vineet Shukla</a:t>
            </a:r>
            <a:endParaRPr lang="en-US" sz="1300"/>
          </a:p>
        </p:txBody>
      </p:sp>
      <p:sp>
        <p:nvSpPr>
          <p:cNvPr id="82" name="Text 28">
            <a:extLst>
              <a:ext uri="{FF2B5EF4-FFF2-40B4-BE49-F238E27FC236}">
                <a16:creationId xmlns:a16="http://schemas.microsoft.com/office/drawing/2014/main" id="{5E7655ED-600E-B7B1-5E25-9C0CD529FC89}"/>
              </a:ext>
            </a:extLst>
          </p:cNvPr>
          <p:cNvSpPr txBox="1"/>
          <p:nvPr/>
        </p:nvSpPr>
        <p:spPr>
          <a:xfrm>
            <a:off x="8923224" y="2727708"/>
            <a:ext cx="1791310" cy="133502"/>
          </a:xfrm>
          <a:prstGeom prst="rect">
            <a:avLst/>
          </a:prstGeom>
          <a:noFill/>
          <a:ln/>
        </p:spPr>
        <p:txBody>
          <a:bodyPr wrap="none" lIns="0" tIns="0" rIns="0" bIns="0" rtlCol="0" anchor="ctr"/>
          <a:lstStyle/>
          <a:p>
            <a:pPr marL="0" indent="0" algn="ctr">
              <a:buNone/>
            </a:pPr>
            <a:r>
              <a:rPr lang="en-US" sz="900" b="1" kern="0" spc="45">
                <a:solidFill>
                  <a:srgbClr val="2A9D8F"/>
                </a:solidFill>
                <a:latin typeface="Roboto Condensed" pitchFamily="34" charset="0"/>
                <a:ea typeface="Roboto Condensed" pitchFamily="34" charset="-122"/>
                <a:cs typeface="Roboto Condensed" pitchFamily="34" charset="-120"/>
              </a:rPr>
              <a:t>CHIEF TECHNOLOGY OFFICER</a:t>
            </a:r>
            <a:endParaRPr lang="en-US" sz="900"/>
          </a:p>
        </p:txBody>
      </p:sp>
      <p:sp>
        <p:nvSpPr>
          <p:cNvPr id="83" name="Text 29">
            <a:extLst>
              <a:ext uri="{FF2B5EF4-FFF2-40B4-BE49-F238E27FC236}">
                <a16:creationId xmlns:a16="http://schemas.microsoft.com/office/drawing/2014/main" id="{65C84447-29D7-83F1-7E2D-21FC86F81B79}"/>
              </a:ext>
            </a:extLst>
          </p:cNvPr>
          <p:cNvSpPr txBox="1"/>
          <p:nvPr/>
        </p:nvSpPr>
        <p:spPr>
          <a:xfrm>
            <a:off x="8324596" y="2970430"/>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20+ yrs scaling AI/ML at enterprise scale; built UnitedHealth Group's AI/ML practice ground-up.</a:t>
            </a:r>
          </a:p>
        </p:txBody>
      </p:sp>
      <p:pic>
        <p:nvPicPr>
          <p:cNvPr id="84" name="Picture 83">
            <a:extLst>
              <a:ext uri="{FF2B5EF4-FFF2-40B4-BE49-F238E27FC236}">
                <a16:creationId xmlns:a16="http://schemas.microsoft.com/office/drawing/2014/main" id="{51689ACD-6133-3D2C-FB65-00805A1BA9B9}"/>
              </a:ext>
            </a:extLst>
          </p:cNvPr>
          <p:cNvPicPr>
            <a:picLocks noChangeAspect="1"/>
          </p:cNvPicPr>
          <p:nvPr/>
        </p:nvPicPr>
        <p:blipFill>
          <a:blip r:embed="rId7"/>
          <a:stretch>
            <a:fillRect/>
          </a:stretch>
        </p:blipFill>
        <p:spPr>
          <a:xfrm>
            <a:off x="9369908" y="1565302"/>
            <a:ext cx="797305" cy="797305"/>
          </a:xfrm>
          <a:prstGeom prst="ellipse">
            <a:avLst/>
          </a:prstGeom>
          <a:ln>
            <a:solidFill>
              <a:schemeClr val="bg2">
                <a:lumMod val="50000"/>
              </a:schemeClr>
            </a:solidFill>
          </a:ln>
        </p:spPr>
      </p:pic>
      <p:sp>
        <p:nvSpPr>
          <p:cNvPr id="85" name="Text 32">
            <a:extLst>
              <a:ext uri="{FF2B5EF4-FFF2-40B4-BE49-F238E27FC236}">
                <a16:creationId xmlns:a16="http://schemas.microsoft.com/office/drawing/2014/main" id="{3D99FB26-2BB6-A39C-43E5-EBC5369FDE30}"/>
              </a:ext>
            </a:extLst>
          </p:cNvPr>
          <p:cNvSpPr txBox="1"/>
          <p:nvPr/>
        </p:nvSpPr>
        <p:spPr>
          <a:xfrm>
            <a:off x="1661923" y="5203228"/>
            <a:ext cx="1167689"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Daniel Dsouza</a:t>
            </a:r>
            <a:endParaRPr lang="en-US" sz="1300"/>
          </a:p>
        </p:txBody>
      </p:sp>
      <p:sp>
        <p:nvSpPr>
          <p:cNvPr id="86" name="Text 33">
            <a:extLst>
              <a:ext uri="{FF2B5EF4-FFF2-40B4-BE49-F238E27FC236}">
                <a16:creationId xmlns:a16="http://schemas.microsoft.com/office/drawing/2014/main" id="{D659C513-FD23-4690-80EB-2002DECA9008}"/>
              </a:ext>
            </a:extLst>
          </p:cNvPr>
          <p:cNvSpPr txBox="1"/>
          <p:nvPr/>
        </p:nvSpPr>
        <p:spPr>
          <a:xfrm>
            <a:off x="1148030" y="5470233"/>
            <a:ext cx="2188159" cy="133502"/>
          </a:xfrm>
          <a:prstGeom prst="rect">
            <a:avLst/>
          </a:prstGeom>
          <a:noFill/>
          <a:ln/>
        </p:spPr>
        <p:txBody>
          <a:bodyPr wrap="none" lIns="0" tIns="0" rIns="0" bIns="0" rtlCol="0" anchor="ctr"/>
          <a:lstStyle/>
          <a:p>
            <a:pPr marL="0" indent="0" algn="ctr">
              <a:buNone/>
            </a:pPr>
            <a:r>
              <a:rPr lang="en-US" sz="900" b="1" kern="0" spc="45">
                <a:solidFill>
                  <a:srgbClr val="2A9D8F"/>
                </a:solidFill>
                <a:latin typeface="Roboto Condensed" pitchFamily="34" charset="0"/>
                <a:ea typeface="Roboto Condensed" pitchFamily="34" charset="-122"/>
                <a:cs typeface="Roboto Condensed" pitchFamily="34" charset="-120"/>
              </a:rPr>
              <a:t>HEAD OF ARTIFICIAL INTELLIGENCE</a:t>
            </a:r>
            <a:endParaRPr lang="en-US" sz="900">
              <a:solidFill>
                <a:srgbClr val="2A9D8F"/>
              </a:solidFill>
            </a:endParaRPr>
          </a:p>
        </p:txBody>
      </p:sp>
      <p:sp>
        <p:nvSpPr>
          <p:cNvPr id="87" name="Text 34">
            <a:extLst>
              <a:ext uri="{FF2B5EF4-FFF2-40B4-BE49-F238E27FC236}">
                <a16:creationId xmlns:a16="http://schemas.microsoft.com/office/drawing/2014/main" id="{79B11D3C-42A6-79D9-601B-161AC7C56371}"/>
              </a:ext>
            </a:extLst>
          </p:cNvPr>
          <p:cNvSpPr txBox="1"/>
          <p:nvPr/>
        </p:nvSpPr>
        <p:spPr>
          <a:xfrm>
            <a:off x="750571" y="5712955"/>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Enterprise AI strategy &amp; LLM deployment. Owns GCC AI accelerators. INSEAD.</a:t>
            </a:r>
          </a:p>
        </p:txBody>
      </p:sp>
      <p:pic>
        <p:nvPicPr>
          <p:cNvPr id="88" name="Picture 87">
            <a:extLst>
              <a:ext uri="{FF2B5EF4-FFF2-40B4-BE49-F238E27FC236}">
                <a16:creationId xmlns:a16="http://schemas.microsoft.com/office/drawing/2014/main" id="{8A886F30-D801-727B-D49A-08BE134763BC}"/>
              </a:ext>
            </a:extLst>
          </p:cNvPr>
          <p:cNvPicPr>
            <a:picLocks noChangeAspect="1"/>
          </p:cNvPicPr>
          <p:nvPr/>
        </p:nvPicPr>
        <p:blipFill>
          <a:blip r:embed="rId8"/>
          <a:stretch>
            <a:fillRect/>
          </a:stretch>
        </p:blipFill>
        <p:spPr>
          <a:xfrm>
            <a:off x="1860348" y="4336237"/>
            <a:ext cx="791235" cy="791235"/>
          </a:xfrm>
          <a:prstGeom prst="ellipse">
            <a:avLst/>
          </a:prstGeom>
          <a:ln>
            <a:solidFill>
              <a:schemeClr val="bg2">
                <a:lumMod val="75000"/>
              </a:schemeClr>
            </a:solidFill>
          </a:ln>
        </p:spPr>
      </p:pic>
      <p:pic>
        <p:nvPicPr>
          <p:cNvPr id="89" name="Picture 88">
            <a:extLst>
              <a:ext uri="{FF2B5EF4-FFF2-40B4-BE49-F238E27FC236}">
                <a16:creationId xmlns:a16="http://schemas.microsoft.com/office/drawing/2014/main" id="{7FE7B978-BC8D-A9AE-DDD9-3536B965D593}"/>
              </a:ext>
            </a:extLst>
          </p:cNvPr>
          <p:cNvPicPr>
            <a:picLocks noChangeAspect="1"/>
          </p:cNvPicPr>
          <p:nvPr/>
        </p:nvPicPr>
        <p:blipFill>
          <a:blip r:embed="rId9"/>
          <a:stretch>
            <a:fillRect/>
          </a:stretch>
        </p:blipFill>
        <p:spPr>
          <a:xfrm>
            <a:off x="9496742" y="4308997"/>
            <a:ext cx="834910" cy="834910"/>
          </a:xfrm>
          <a:prstGeom prst="ellipse">
            <a:avLst/>
          </a:prstGeom>
          <a:ln>
            <a:solidFill>
              <a:schemeClr val="bg2">
                <a:lumMod val="75000"/>
              </a:schemeClr>
            </a:solidFill>
          </a:ln>
        </p:spPr>
      </p:pic>
      <p:pic>
        <p:nvPicPr>
          <p:cNvPr id="90" name="Picture 89">
            <a:extLst>
              <a:ext uri="{FF2B5EF4-FFF2-40B4-BE49-F238E27FC236}">
                <a16:creationId xmlns:a16="http://schemas.microsoft.com/office/drawing/2014/main" id="{B07CD8E2-0147-7DFF-D0E3-F8BDD9DC4480}"/>
              </a:ext>
            </a:extLst>
          </p:cNvPr>
          <p:cNvPicPr>
            <a:picLocks noChangeAspect="1"/>
          </p:cNvPicPr>
          <p:nvPr/>
        </p:nvPicPr>
        <p:blipFill>
          <a:blip r:embed="rId10"/>
          <a:stretch>
            <a:fillRect/>
          </a:stretch>
        </p:blipFill>
        <p:spPr>
          <a:xfrm>
            <a:off x="5693619" y="4336236"/>
            <a:ext cx="835609" cy="835609"/>
          </a:xfrm>
          <a:prstGeom prst="ellipse">
            <a:avLst/>
          </a:prstGeom>
          <a:ln>
            <a:solidFill>
              <a:schemeClr val="bg2">
                <a:lumMod val="75000"/>
              </a:schemeClr>
            </a:solidFill>
          </a:ln>
        </p:spPr>
      </p:pic>
    </p:spTree>
    <p:extLst>
      <p:ext uri="{BB962C8B-B14F-4D97-AF65-F5344CB8AC3E}">
        <p14:creationId xmlns:p14="http://schemas.microsoft.com/office/powerpoint/2010/main" val="40084638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7abb9d8cc081a24feb608c288538026.png"/>
          <p:cNvPicPr>
            <a:picLocks noChangeAspect="1"/>
          </p:cNvPicPr>
          <p:nvPr/>
        </p:nvPicPr>
        <p:blipFill>
          <a:blip r:embed="rId3"/>
          <a:srcRect l="-198" r="-198"/>
          <a:stretch/>
        </p:blipFill>
        <p:spPr>
          <a:xfrm>
            <a:off x="0" y="0"/>
            <a:ext cx="8124444" cy="75895"/>
          </a:xfrm>
          <a:prstGeom prst="rect">
            <a:avLst/>
          </a:prstGeom>
        </p:spPr>
      </p:pic>
      <p:pic>
        <p:nvPicPr>
          <p:cNvPr id="5" name="Image 1" descr="gen-dedup-c2c9136402f20c216bf7cbcc052ad1a0.png"/>
          <p:cNvPicPr>
            <a:picLocks noChangeAspect="1"/>
          </p:cNvPicPr>
          <p:nvPr/>
        </p:nvPicPr>
        <p:blipFill>
          <a:blip r:embed="rId4"/>
          <a:srcRect l="-202" r="-202"/>
          <a:stretch/>
        </p:blipFill>
        <p:spPr>
          <a:xfrm>
            <a:off x="8124444" y="0"/>
            <a:ext cx="4067251" cy="75895"/>
          </a:xfrm>
          <a:prstGeom prst="rect">
            <a:avLst/>
          </a:prstGeom>
        </p:spPr>
      </p:pic>
      <p:sp>
        <p:nvSpPr>
          <p:cNvPr id="6" name="Shape 2"/>
          <p:cNvSpPr/>
          <p:nvPr/>
        </p:nvSpPr>
        <p:spPr>
          <a:xfrm>
            <a:off x="8858707" y="-952805"/>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sp>
        <p:nvSpPr>
          <p:cNvPr id="7" name="Shape 3"/>
          <p:cNvSpPr/>
          <p:nvPr/>
        </p:nvSpPr>
        <p:spPr>
          <a:xfrm>
            <a:off x="-476402" y="4476902"/>
            <a:ext cx="3333902" cy="3333902"/>
          </a:xfrm>
          <a:prstGeom prst="ellipse">
            <a:avLst/>
          </a:prstGeom>
          <a:solidFill>
            <a:srgbClr val="D62839">
              <a:alpha val="2000"/>
            </a:srgbClr>
          </a:solidFill>
          <a:ln w="12700">
            <a:solidFill>
              <a:srgbClr val="FFFFFF">
                <a:alpha val="0"/>
              </a:srgbClr>
            </a:solidFill>
            <a:prstDash val="solid"/>
          </a:ln>
        </p:spPr>
        <p:txBody>
          <a:bodyPr/>
          <a:lstStyle/>
          <a:p>
            <a:endParaRPr lang="en-US"/>
          </a:p>
        </p:txBody>
      </p:sp>
      <p:sp>
        <p:nvSpPr>
          <p:cNvPr id="8" name="Shape 4"/>
          <p:cNvSpPr/>
          <p:nvPr/>
        </p:nvSpPr>
        <p:spPr>
          <a:xfrm>
            <a:off x="609905" y="1714500"/>
            <a:ext cx="3448202" cy="2286000"/>
          </a:xfrm>
          <a:prstGeom prst="roundRect">
            <a:avLst>
              <a:gd name="adj" fmla="val 3320"/>
            </a:avLst>
          </a:prstGeom>
          <a:solidFill>
            <a:srgbClr val="FFFFFF"/>
          </a:solidFill>
          <a:ln w="12700">
            <a:solidFill>
              <a:srgbClr val="E2E8F0"/>
            </a:solidFill>
            <a:prstDash val="solid"/>
          </a:ln>
          <a:effectLst>
            <a:outerShdw blurRad="76200" dist="25400" dir="16200000" algn="bl" rotWithShape="0">
              <a:srgbClr val="000000">
                <a:alpha val="3000"/>
              </a:srgbClr>
            </a:outerShdw>
          </a:effectLst>
        </p:spPr>
        <p:txBody>
          <a:bodyPr/>
          <a:lstStyle/>
          <a:p>
            <a:endParaRPr lang="en-US"/>
          </a:p>
        </p:txBody>
      </p:sp>
      <p:sp>
        <p:nvSpPr>
          <p:cNvPr id="9" name="Shape 5"/>
          <p:cNvSpPr/>
          <p:nvPr/>
        </p:nvSpPr>
        <p:spPr>
          <a:xfrm>
            <a:off x="609905" y="1714500"/>
            <a:ext cx="3448202"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0" name="Shape 6"/>
          <p:cNvSpPr/>
          <p:nvPr/>
        </p:nvSpPr>
        <p:spPr>
          <a:xfrm>
            <a:off x="4381805" y="1714500"/>
            <a:ext cx="3448202" cy="2286000"/>
          </a:xfrm>
          <a:prstGeom prst="roundRect">
            <a:avLst>
              <a:gd name="adj" fmla="val 3320"/>
            </a:avLst>
          </a:prstGeom>
          <a:solidFill>
            <a:srgbClr val="FFFFFF"/>
          </a:solidFill>
          <a:ln w="12700">
            <a:solidFill>
              <a:srgbClr val="E2E8F0"/>
            </a:solidFill>
            <a:prstDash val="solid"/>
          </a:ln>
          <a:effectLst>
            <a:outerShdw blurRad="76200" dist="25400" dir="16200000" algn="bl" rotWithShape="0">
              <a:srgbClr val="000000">
                <a:alpha val="3000"/>
              </a:srgbClr>
            </a:outerShdw>
          </a:effectLst>
        </p:spPr>
        <p:txBody>
          <a:bodyPr/>
          <a:lstStyle/>
          <a:p>
            <a:endParaRPr lang="en-US"/>
          </a:p>
        </p:txBody>
      </p:sp>
      <p:sp>
        <p:nvSpPr>
          <p:cNvPr id="11" name="Shape 7"/>
          <p:cNvSpPr/>
          <p:nvPr/>
        </p:nvSpPr>
        <p:spPr>
          <a:xfrm>
            <a:off x="4381805" y="1714500"/>
            <a:ext cx="3448202"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2" name="Shape 8"/>
          <p:cNvSpPr/>
          <p:nvPr/>
        </p:nvSpPr>
        <p:spPr>
          <a:xfrm>
            <a:off x="8153705" y="1714500"/>
            <a:ext cx="3448202" cy="2286000"/>
          </a:xfrm>
          <a:prstGeom prst="roundRect">
            <a:avLst>
              <a:gd name="adj" fmla="val 3320"/>
            </a:avLst>
          </a:prstGeom>
          <a:solidFill>
            <a:srgbClr val="FFFFFF"/>
          </a:solidFill>
          <a:ln w="12700">
            <a:solidFill>
              <a:srgbClr val="E2E8F0"/>
            </a:solidFill>
            <a:prstDash val="solid"/>
          </a:ln>
          <a:effectLst>
            <a:outerShdw blurRad="76200" dist="25400" dir="16200000" algn="bl" rotWithShape="0">
              <a:srgbClr val="000000">
                <a:alpha val="3000"/>
              </a:srgbClr>
            </a:outerShdw>
          </a:effectLst>
        </p:spPr>
        <p:txBody>
          <a:bodyPr/>
          <a:lstStyle/>
          <a:p>
            <a:endParaRPr lang="en-US"/>
          </a:p>
        </p:txBody>
      </p:sp>
      <p:sp>
        <p:nvSpPr>
          <p:cNvPr id="13" name="Shape 9"/>
          <p:cNvSpPr/>
          <p:nvPr/>
        </p:nvSpPr>
        <p:spPr>
          <a:xfrm>
            <a:off x="8153705" y="1714500"/>
            <a:ext cx="3448202"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4" name="Shape 10"/>
          <p:cNvSpPr/>
          <p:nvPr/>
        </p:nvSpPr>
        <p:spPr>
          <a:xfrm>
            <a:off x="609905" y="4238244"/>
            <a:ext cx="3448202" cy="2286000"/>
          </a:xfrm>
          <a:prstGeom prst="roundRect">
            <a:avLst>
              <a:gd name="adj" fmla="val 3320"/>
            </a:avLst>
          </a:prstGeom>
          <a:solidFill>
            <a:srgbClr val="FFFFFF"/>
          </a:solidFill>
          <a:ln w="12700">
            <a:solidFill>
              <a:srgbClr val="E2E8F0"/>
            </a:solidFill>
            <a:prstDash val="solid"/>
          </a:ln>
          <a:effectLst>
            <a:outerShdw blurRad="76200" dist="25400" dir="16200000" algn="bl" rotWithShape="0">
              <a:srgbClr val="000000">
                <a:alpha val="3000"/>
              </a:srgbClr>
            </a:outerShdw>
          </a:effectLst>
        </p:spPr>
        <p:txBody>
          <a:bodyPr/>
          <a:lstStyle/>
          <a:p>
            <a:endParaRPr lang="en-US"/>
          </a:p>
        </p:txBody>
      </p:sp>
      <p:sp>
        <p:nvSpPr>
          <p:cNvPr id="15" name="Shape 11"/>
          <p:cNvSpPr/>
          <p:nvPr/>
        </p:nvSpPr>
        <p:spPr>
          <a:xfrm>
            <a:off x="609905" y="4238244"/>
            <a:ext cx="3448202"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6" name="Shape 12"/>
          <p:cNvSpPr/>
          <p:nvPr/>
        </p:nvSpPr>
        <p:spPr>
          <a:xfrm>
            <a:off x="4381805" y="4238244"/>
            <a:ext cx="3448202" cy="2286000"/>
          </a:xfrm>
          <a:prstGeom prst="roundRect">
            <a:avLst>
              <a:gd name="adj" fmla="val 3320"/>
            </a:avLst>
          </a:prstGeom>
          <a:solidFill>
            <a:srgbClr val="FFFFFF"/>
          </a:solidFill>
          <a:ln w="12700">
            <a:solidFill>
              <a:srgbClr val="E2E8F0"/>
            </a:solidFill>
            <a:prstDash val="solid"/>
          </a:ln>
          <a:effectLst>
            <a:outerShdw blurRad="76200" dist="25400" dir="16200000" algn="bl" rotWithShape="0">
              <a:srgbClr val="000000">
                <a:alpha val="3000"/>
              </a:srgbClr>
            </a:outerShdw>
          </a:effectLst>
        </p:spPr>
        <p:txBody>
          <a:bodyPr/>
          <a:lstStyle/>
          <a:p>
            <a:endParaRPr lang="en-US"/>
          </a:p>
        </p:txBody>
      </p:sp>
      <p:sp>
        <p:nvSpPr>
          <p:cNvPr id="17" name="Shape 13"/>
          <p:cNvSpPr/>
          <p:nvPr/>
        </p:nvSpPr>
        <p:spPr>
          <a:xfrm>
            <a:off x="4381805" y="4238244"/>
            <a:ext cx="3448202"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8" name="Shape 14"/>
          <p:cNvSpPr/>
          <p:nvPr/>
        </p:nvSpPr>
        <p:spPr>
          <a:xfrm>
            <a:off x="8153705" y="4238244"/>
            <a:ext cx="3448202" cy="2286000"/>
          </a:xfrm>
          <a:prstGeom prst="roundRect">
            <a:avLst>
              <a:gd name="adj" fmla="val 3320"/>
            </a:avLst>
          </a:prstGeom>
          <a:solidFill>
            <a:srgbClr val="FFFFFF"/>
          </a:solidFill>
          <a:ln w="12700">
            <a:solidFill>
              <a:srgbClr val="E2E8F0"/>
            </a:solidFill>
            <a:prstDash val="solid"/>
          </a:ln>
          <a:effectLst>
            <a:outerShdw blurRad="76200" dist="25400" dir="16200000" algn="bl" rotWithShape="0">
              <a:srgbClr val="000000">
                <a:alpha val="3000"/>
              </a:srgbClr>
            </a:outerShdw>
          </a:effectLst>
        </p:spPr>
        <p:txBody>
          <a:bodyPr/>
          <a:lstStyle/>
          <a:p>
            <a:endParaRPr lang="en-US"/>
          </a:p>
        </p:txBody>
      </p:sp>
      <p:sp>
        <p:nvSpPr>
          <p:cNvPr id="19" name="Shape 15"/>
          <p:cNvSpPr/>
          <p:nvPr/>
        </p:nvSpPr>
        <p:spPr>
          <a:xfrm>
            <a:off x="8153705" y="4238244"/>
            <a:ext cx="3448202"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pic>
        <p:nvPicPr>
          <p:cNvPr id="20" name="Image 2" descr="gen-dedup-90395934058aa4b7c1bff00d7e70c0a4.png"/>
          <p:cNvPicPr>
            <a:picLocks noChangeAspect="1"/>
          </p:cNvPicPr>
          <p:nvPr/>
        </p:nvPicPr>
        <p:blipFill>
          <a:blip r:embed="rId5"/>
          <a:srcRect l="-416" r="-416"/>
          <a:stretch/>
        </p:blipFill>
        <p:spPr>
          <a:xfrm>
            <a:off x="609905" y="533095"/>
            <a:ext cx="57607" cy="714146"/>
          </a:xfrm>
          <a:prstGeom prst="rect">
            <a:avLst/>
          </a:prstGeom>
        </p:spPr>
      </p:pic>
      <p:sp>
        <p:nvSpPr>
          <p:cNvPr id="21" name="Text 16"/>
          <p:cNvSpPr txBox="1"/>
          <p:nvPr/>
        </p:nvSpPr>
        <p:spPr>
          <a:xfrm>
            <a:off x="819302" y="495605"/>
            <a:ext cx="8572500" cy="362102"/>
          </a:xfrm>
          <a:prstGeom prst="rect">
            <a:avLst/>
          </a:prstGeom>
          <a:noFill/>
          <a:ln/>
        </p:spPr>
        <p:txBody>
          <a:bodyPr wrap="none" lIns="0" tIns="0" rIns="0" bIns="0" rtlCol="0" anchor="ctr"/>
          <a:lstStyle/>
          <a:p>
            <a:pPr marL="0" indent="0" algn="l">
              <a:buNone/>
            </a:pPr>
            <a:r>
              <a:rPr lang="en-US" sz="2500" b="1">
                <a:solidFill>
                  <a:srgbClr val="111827"/>
                </a:solidFill>
                <a:latin typeface="Oswald" pitchFamily="34" charset="0"/>
                <a:ea typeface="Oswald" pitchFamily="34" charset="-122"/>
                <a:cs typeface="Oswald" pitchFamily="34" charset="-120"/>
              </a:rPr>
              <a:t>WORKFORCE SOLUTIONS – WHAT WE DEPLOY</a:t>
            </a:r>
            <a:endParaRPr lang="en-US" sz="2500"/>
          </a:p>
        </p:txBody>
      </p:sp>
      <p:sp>
        <p:nvSpPr>
          <p:cNvPr id="22" name="Text 17"/>
          <p:cNvSpPr txBox="1"/>
          <p:nvPr/>
        </p:nvSpPr>
        <p:spPr>
          <a:xfrm>
            <a:off x="819302" y="908914"/>
            <a:ext cx="8572500" cy="448056"/>
          </a:xfrm>
          <a:prstGeom prst="rect">
            <a:avLst/>
          </a:prstGeom>
          <a:noFill/>
          <a:ln/>
        </p:spPr>
        <p:txBody>
          <a:bodyPr wrap="square" lIns="0" tIns="0" rIns="0" bIns="0" rtlCol="0" anchor="ctr"/>
          <a:lstStyle/>
          <a:p>
            <a:pPr marL="0" indent="0" algn="l">
              <a:buNone/>
            </a:pPr>
            <a:r>
              <a:rPr lang="en-US" sz="1300" b="1" kern="0" spc="68">
                <a:solidFill>
                  <a:srgbClr val="2A9D8F"/>
                </a:solidFill>
                <a:latin typeface="Roboto Condensed" pitchFamily="34" charset="0"/>
                <a:ea typeface="Roboto Condensed" pitchFamily="34" charset="-122"/>
                <a:cs typeface="Roboto Condensed" pitchFamily="34" charset="-120"/>
              </a:rPr>
              <a:t>Not just tech stacks — domain-certified engineers who understand product liability, safety standards, and engineering constraints.</a:t>
            </a:r>
            <a:endParaRPr lang="en-US" sz="1300"/>
          </a:p>
        </p:txBody>
      </p:sp>
      <p:sp>
        <p:nvSpPr>
          <p:cNvPr id="23" name="Shape 18"/>
          <p:cNvSpPr/>
          <p:nvPr/>
        </p:nvSpPr>
        <p:spPr>
          <a:xfrm>
            <a:off x="9677095" y="533095"/>
            <a:ext cx="1904695" cy="342900"/>
          </a:xfrm>
          <a:prstGeom prst="roundRect">
            <a:avLst>
              <a:gd name="adj" fmla="val 50133"/>
            </a:avLst>
          </a:prstGeom>
          <a:solidFill>
            <a:srgbClr val="2A9D8F"/>
          </a:solidFill>
          <a:ln w="12700">
            <a:solidFill>
              <a:srgbClr val="FFFFFF">
                <a:alpha val="0"/>
              </a:srgbClr>
            </a:solidFill>
            <a:prstDash val="solid"/>
          </a:ln>
        </p:spPr>
        <p:txBody>
          <a:bodyPr/>
          <a:lstStyle/>
          <a:p>
            <a:endParaRPr lang="en-US"/>
          </a:p>
        </p:txBody>
      </p:sp>
      <p:sp>
        <p:nvSpPr>
          <p:cNvPr id="24" name="Text 19"/>
          <p:cNvSpPr txBox="1"/>
          <p:nvPr/>
        </p:nvSpPr>
        <p:spPr>
          <a:xfrm>
            <a:off x="9891065" y="629107"/>
            <a:ext cx="1881835" cy="152705"/>
          </a:xfrm>
          <a:prstGeom prst="rect">
            <a:avLst/>
          </a:prstGeom>
          <a:noFill/>
          <a:ln/>
        </p:spPr>
        <p:txBody>
          <a:bodyPr wrap="none" lIns="0" tIns="0" rIns="0" bIns="0" rtlCol="0" anchor="ctr"/>
          <a:lstStyle/>
          <a:p>
            <a:pPr marL="0" indent="0" algn="l">
              <a:buNone/>
            </a:pPr>
            <a:r>
              <a:rPr lang="en-US" sz="1000" b="1" kern="0" spc="52">
                <a:solidFill>
                  <a:srgbClr val="FFFFFF"/>
                </a:solidFill>
                <a:latin typeface="Roboto Condensed" pitchFamily="34" charset="0"/>
                <a:ea typeface="Roboto Condensed" pitchFamily="34" charset="-122"/>
                <a:cs typeface="Roboto Condensed" pitchFamily="34" charset="-120"/>
              </a:rPr>
              <a:t>Workforce Solutions</a:t>
            </a:r>
            <a:endParaRPr lang="en-US" sz="1000"/>
          </a:p>
        </p:txBody>
      </p:sp>
      <p:sp>
        <p:nvSpPr>
          <p:cNvPr id="25" name="Text 20"/>
          <p:cNvSpPr txBox="1"/>
          <p:nvPr/>
        </p:nvSpPr>
        <p:spPr>
          <a:xfrm>
            <a:off x="1028700" y="1904695"/>
            <a:ext cx="2820010"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BFSI</a:t>
            </a:r>
            <a:endParaRPr lang="en-US" sz="1500"/>
          </a:p>
        </p:txBody>
      </p:sp>
      <p:sp>
        <p:nvSpPr>
          <p:cNvPr id="26" name="Text 21"/>
          <p:cNvSpPr txBox="1"/>
          <p:nvPr/>
        </p:nvSpPr>
        <p:spPr>
          <a:xfrm>
            <a:off x="990295" y="2305202"/>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Java / Python / Angular</a:t>
            </a:r>
            <a:endParaRPr lang="en-US" sz="1000"/>
          </a:p>
        </p:txBody>
      </p:sp>
      <p:sp>
        <p:nvSpPr>
          <p:cNvPr id="27" name="Text 22"/>
          <p:cNvSpPr txBox="1"/>
          <p:nvPr/>
        </p:nvSpPr>
        <p:spPr>
          <a:xfrm>
            <a:off x="990295" y="2544775"/>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Banking APIs · SWIFT · Finacle</a:t>
            </a:r>
            <a:endParaRPr lang="en-US" sz="1000"/>
          </a:p>
        </p:txBody>
      </p:sp>
      <p:sp>
        <p:nvSpPr>
          <p:cNvPr id="28" name="Text 23"/>
          <p:cNvSpPr txBox="1"/>
          <p:nvPr/>
        </p:nvSpPr>
        <p:spPr>
          <a:xfrm>
            <a:off x="990295" y="2785262"/>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Salesforce FSC · SAP FICO</a:t>
            </a:r>
            <a:endParaRPr lang="en-US" sz="1000"/>
          </a:p>
        </p:txBody>
      </p:sp>
      <p:sp>
        <p:nvSpPr>
          <p:cNvPr id="29" name="Text 24"/>
          <p:cNvSpPr txBox="1"/>
          <p:nvPr/>
        </p:nvSpPr>
        <p:spPr>
          <a:xfrm>
            <a:off x="990295" y="3024835"/>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PCI-DSS compliance</a:t>
            </a:r>
            <a:endParaRPr lang="en-US" sz="1000"/>
          </a:p>
        </p:txBody>
      </p:sp>
      <p:pic>
        <p:nvPicPr>
          <p:cNvPr id="30" name="Image 3" descr="gen-dedup-2aa19c82c71fd240e470708f6dffe216.png"/>
          <p:cNvPicPr>
            <a:picLocks noChangeAspect="1"/>
          </p:cNvPicPr>
          <p:nvPr/>
        </p:nvPicPr>
        <p:blipFill>
          <a:blip r:embed="rId6"/>
          <a:srcRect t="-12275" b="-12275"/>
          <a:stretch/>
        </p:blipFill>
        <p:spPr>
          <a:xfrm>
            <a:off x="800100" y="1966874"/>
            <a:ext cx="152705" cy="190195"/>
          </a:xfrm>
          <a:prstGeom prst="rect">
            <a:avLst/>
          </a:prstGeom>
        </p:spPr>
      </p:pic>
      <p:sp>
        <p:nvSpPr>
          <p:cNvPr id="31" name="Text 25"/>
          <p:cNvSpPr txBox="1"/>
          <p:nvPr/>
        </p:nvSpPr>
        <p:spPr>
          <a:xfrm>
            <a:off x="4800600" y="1904695"/>
            <a:ext cx="2820010"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Healthcare &amp; MedTech</a:t>
            </a:r>
            <a:endParaRPr lang="en-US" sz="1500"/>
          </a:p>
        </p:txBody>
      </p:sp>
      <p:sp>
        <p:nvSpPr>
          <p:cNvPr id="32" name="Text 26"/>
          <p:cNvSpPr txBox="1"/>
          <p:nvPr/>
        </p:nvSpPr>
        <p:spPr>
          <a:xfrm>
            <a:off x="4762195" y="2305202"/>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HL7 / FHIR / DICOM</a:t>
            </a:r>
            <a:endParaRPr lang="en-US" sz="1000"/>
          </a:p>
        </p:txBody>
      </p:sp>
      <p:sp>
        <p:nvSpPr>
          <p:cNvPr id="33" name="Text 27"/>
          <p:cNvSpPr txBox="1"/>
          <p:nvPr/>
        </p:nvSpPr>
        <p:spPr>
          <a:xfrm>
            <a:off x="4762195" y="2544775"/>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AWS HealthLake · Epic</a:t>
            </a:r>
            <a:endParaRPr lang="en-US" sz="1000"/>
          </a:p>
        </p:txBody>
      </p:sp>
      <p:sp>
        <p:nvSpPr>
          <p:cNvPr id="34" name="Text 28"/>
          <p:cNvSpPr txBox="1"/>
          <p:nvPr/>
        </p:nvSpPr>
        <p:spPr>
          <a:xfrm>
            <a:off x="4762195" y="2785262"/>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MLOps for medical imaging</a:t>
            </a:r>
            <a:endParaRPr lang="en-US" sz="1000"/>
          </a:p>
        </p:txBody>
      </p:sp>
      <p:sp>
        <p:nvSpPr>
          <p:cNvPr id="35" name="Text 29"/>
          <p:cNvSpPr txBox="1"/>
          <p:nvPr/>
        </p:nvSpPr>
        <p:spPr>
          <a:xfrm>
            <a:off x="4762195" y="3024835"/>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HIPAA / FDA 21 CFR</a:t>
            </a:r>
            <a:endParaRPr lang="en-US" sz="1000"/>
          </a:p>
        </p:txBody>
      </p:sp>
      <p:pic>
        <p:nvPicPr>
          <p:cNvPr id="36" name="Image 4" descr="gen-dedup-b8cc7496714d41e2a07586de42649107.png"/>
          <p:cNvPicPr>
            <a:picLocks noChangeAspect="1"/>
          </p:cNvPicPr>
          <p:nvPr/>
        </p:nvPicPr>
        <p:blipFill>
          <a:blip r:embed="rId7"/>
          <a:srcRect t="-12275" b="-12275"/>
          <a:stretch/>
        </p:blipFill>
        <p:spPr>
          <a:xfrm>
            <a:off x="4572000" y="1966874"/>
            <a:ext cx="152705" cy="190195"/>
          </a:xfrm>
          <a:prstGeom prst="rect">
            <a:avLst/>
          </a:prstGeom>
        </p:spPr>
      </p:pic>
      <p:sp>
        <p:nvSpPr>
          <p:cNvPr id="37" name="Text 30"/>
          <p:cNvSpPr txBox="1"/>
          <p:nvPr/>
        </p:nvSpPr>
        <p:spPr>
          <a:xfrm>
            <a:off x="8572500" y="1904695"/>
            <a:ext cx="3185770"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Automotive &amp; Manufacturing</a:t>
            </a:r>
            <a:endParaRPr lang="en-US" sz="1500"/>
          </a:p>
        </p:txBody>
      </p:sp>
      <p:sp>
        <p:nvSpPr>
          <p:cNvPr id="38" name="Text 31"/>
          <p:cNvSpPr txBox="1"/>
          <p:nvPr/>
        </p:nvSpPr>
        <p:spPr>
          <a:xfrm>
            <a:off x="8534095" y="2305202"/>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Embedded C/C++ · AUTOSAR</a:t>
            </a:r>
            <a:endParaRPr lang="en-US" sz="1000"/>
          </a:p>
        </p:txBody>
      </p:sp>
      <p:sp>
        <p:nvSpPr>
          <p:cNvPr id="39" name="Text 32"/>
          <p:cNvSpPr txBox="1"/>
          <p:nvPr/>
        </p:nvSpPr>
        <p:spPr>
          <a:xfrm>
            <a:off x="8534095" y="2544775"/>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CAN / LIN · SCADA / MES</a:t>
            </a:r>
            <a:endParaRPr lang="en-US" sz="1000"/>
          </a:p>
        </p:txBody>
      </p:sp>
      <p:sp>
        <p:nvSpPr>
          <p:cNvPr id="40" name="Text 33"/>
          <p:cNvSpPr txBox="1"/>
          <p:nvPr/>
        </p:nvSpPr>
        <p:spPr>
          <a:xfrm>
            <a:off x="8534095" y="2785262"/>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Siemens Teamcenter PLM</a:t>
            </a:r>
            <a:endParaRPr lang="en-US" sz="1000"/>
          </a:p>
        </p:txBody>
      </p:sp>
      <p:sp>
        <p:nvSpPr>
          <p:cNvPr id="41" name="Text 34"/>
          <p:cNvSpPr txBox="1"/>
          <p:nvPr/>
        </p:nvSpPr>
        <p:spPr>
          <a:xfrm>
            <a:off x="8534095" y="3024835"/>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ISO 26262 / MISRA</a:t>
            </a:r>
            <a:endParaRPr lang="en-US" sz="1000"/>
          </a:p>
        </p:txBody>
      </p:sp>
      <p:pic>
        <p:nvPicPr>
          <p:cNvPr id="42" name="Image 5" descr="gen-dedup-55f61aa4f889b7525dd1b3da0df44f38.png"/>
          <p:cNvPicPr>
            <a:picLocks noChangeAspect="1"/>
          </p:cNvPicPr>
          <p:nvPr/>
        </p:nvPicPr>
        <p:blipFill>
          <a:blip r:embed="rId8"/>
          <a:srcRect t="-12275" b="-12275"/>
          <a:stretch/>
        </p:blipFill>
        <p:spPr>
          <a:xfrm>
            <a:off x="8343900" y="1966874"/>
            <a:ext cx="152705" cy="190195"/>
          </a:xfrm>
          <a:prstGeom prst="rect">
            <a:avLst/>
          </a:prstGeom>
        </p:spPr>
      </p:pic>
      <p:sp>
        <p:nvSpPr>
          <p:cNvPr id="43" name="Text 35"/>
          <p:cNvSpPr txBox="1"/>
          <p:nvPr/>
        </p:nvSpPr>
        <p:spPr>
          <a:xfrm>
            <a:off x="1028700" y="4429354"/>
            <a:ext cx="2820010"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Technology / SaaS</a:t>
            </a:r>
            <a:endParaRPr lang="en-US" sz="1500"/>
          </a:p>
        </p:txBody>
      </p:sp>
      <p:sp>
        <p:nvSpPr>
          <p:cNvPr id="44" name="Text 36"/>
          <p:cNvSpPr txBox="1"/>
          <p:nvPr/>
        </p:nvSpPr>
        <p:spPr>
          <a:xfrm>
            <a:off x="990295" y="4828946"/>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Full-stack (React/Node/Java)</a:t>
            </a:r>
            <a:endParaRPr lang="en-US" sz="1000"/>
          </a:p>
        </p:txBody>
      </p:sp>
      <p:sp>
        <p:nvSpPr>
          <p:cNvPr id="45" name="Text 37"/>
          <p:cNvSpPr txBox="1"/>
          <p:nvPr/>
        </p:nvSpPr>
        <p:spPr>
          <a:xfrm>
            <a:off x="990295" y="5069434"/>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Cloud-native AWS / Azure / GCP</a:t>
            </a:r>
            <a:endParaRPr lang="en-US" sz="1000"/>
          </a:p>
        </p:txBody>
      </p:sp>
      <p:sp>
        <p:nvSpPr>
          <p:cNvPr id="46" name="Text 38"/>
          <p:cNvSpPr txBox="1"/>
          <p:nvPr/>
        </p:nvSpPr>
        <p:spPr>
          <a:xfrm>
            <a:off x="990295" y="5309006"/>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DevSecOps / CI-CD / K8s</a:t>
            </a:r>
            <a:endParaRPr lang="en-US" sz="1000"/>
          </a:p>
        </p:txBody>
      </p:sp>
      <p:sp>
        <p:nvSpPr>
          <p:cNvPr id="47" name="Text 39"/>
          <p:cNvSpPr txBox="1"/>
          <p:nvPr/>
        </p:nvSpPr>
        <p:spPr>
          <a:xfrm>
            <a:off x="990295" y="5549494"/>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AI/ML &amp; GenAI pipelines</a:t>
            </a:r>
            <a:endParaRPr lang="en-US" sz="1000"/>
          </a:p>
        </p:txBody>
      </p:sp>
      <p:pic>
        <p:nvPicPr>
          <p:cNvPr id="48" name="Image 6" descr="gen-dedup-68421e7391c70a5aa3cb0ca89cfbd556.png"/>
          <p:cNvPicPr>
            <a:picLocks noChangeAspect="1"/>
          </p:cNvPicPr>
          <p:nvPr/>
        </p:nvPicPr>
        <p:blipFill>
          <a:blip r:embed="rId9"/>
          <a:srcRect t="-27844" b="-27844"/>
          <a:stretch/>
        </p:blipFill>
        <p:spPr>
          <a:xfrm>
            <a:off x="800100" y="4490618"/>
            <a:ext cx="152705" cy="190195"/>
          </a:xfrm>
          <a:prstGeom prst="rect">
            <a:avLst/>
          </a:prstGeom>
        </p:spPr>
      </p:pic>
      <p:sp>
        <p:nvSpPr>
          <p:cNvPr id="49" name="Text 40"/>
          <p:cNvSpPr txBox="1"/>
          <p:nvPr/>
        </p:nvSpPr>
        <p:spPr>
          <a:xfrm>
            <a:off x="4800600" y="4429354"/>
            <a:ext cx="2820010"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Pharma &amp; Life Sciences</a:t>
            </a:r>
            <a:endParaRPr lang="en-US" sz="1500"/>
          </a:p>
        </p:txBody>
      </p:sp>
      <p:sp>
        <p:nvSpPr>
          <p:cNvPr id="50" name="Text 41"/>
          <p:cNvSpPr txBox="1"/>
          <p:nvPr/>
        </p:nvSpPr>
        <p:spPr>
          <a:xfrm>
            <a:off x="4762195" y="4828946"/>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SAS · R · Python · Power BI</a:t>
            </a:r>
            <a:endParaRPr lang="en-US" sz="1000"/>
          </a:p>
        </p:txBody>
      </p:sp>
      <p:sp>
        <p:nvSpPr>
          <p:cNvPr id="51" name="Text 42"/>
          <p:cNvSpPr txBox="1"/>
          <p:nvPr/>
        </p:nvSpPr>
        <p:spPr>
          <a:xfrm>
            <a:off x="4762195" y="5069434"/>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Clinical data analytics</a:t>
            </a:r>
            <a:endParaRPr lang="en-US" sz="1000"/>
          </a:p>
        </p:txBody>
      </p:sp>
      <p:sp>
        <p:nvSpPr>
          <p:cNvPr id="52" name="Text 43"/>
          <p:cNvSpPr txBox="1"/>
          <p:nvPr/>
        </p:nvSpPr>
        <p:spPr>
          <a:xfrm>
            <a:off x="4762195" y="5309006"/>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BPMN 2.0 process mapping</a:t>
            </a:r>
            <a:endParaRPr lang="en-US" sz="1000"/>
          </a:p>
        </p:txBody>
      </p:sp>
      <p:sp>
        <p:nvSpPr>
          <p:cNvPr id="53" name="Text 44"/>
          <p:cNvSpPr txBox="1"/>
          <p:nvPr/>
        </p:nvSpPr>
        <p:spPr>
          <a:xfrm>
            <a:off x="4762195" y="5549494"/>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GxP / FDA / EMA compliance</a:t>
            </a:r>
            <a:endParaRPr lang="en-US" sz="1000"/>
          </a:p>
        </p:txBody>
      </p:sp>
      <p:pic>
        <p:nvPicPr>
          <p:cNvPr id="54" name="Image 7" descr="gen-dedup-231d573942f103a3d6cb03e0f4d8280b.png"/>
          <p:cNvPicPr>
            <a:picLocks noChangeAspect="1"/>
          </p:cNvPicPr>
          <p:nvPr/>
        </p:nvPicPr>
        <p:blipFill>
          <a:blip r:embed="rId10"/>
          <a:srcRect t="-4491" b="-4491"/>
          <a:stretch/>
        </p:blipFill>
        <p:spPr>
          <a:xfrm>
            <a:off x="4572000" y="4490618"/>
            <a:ext cx="152705" cy="190195"/>
          </a:xfrm>
          <a:prstGeom prst="rect">
            <a:avLst/>
          </a:prstGeom>
        </p:spPr>
      </p:pic>
      <p:sp>
        <p:nvSpPr>
          <p:cNvPr id="55" name="Text 45"/>
          <p:cNvSpPr txBox="1"/>
          <p:nvPr/>
        </p:nvSpPr>
        <p:spPr>
          <a:xfrm>
            <a:off x="8572500" y="4429354"/>
            <a:ext cx="2820010"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Retail &amp; E-commerce</a:t>
            </a:r>
            <a:endParaRPr lang="en-US" sz="1500"/>
          </a:p>
        </p:txBody>
      </p:sp>
      <p:sp>
        <p:nvSpPr>
          <p:cNvPr id="56" name="Text 46"/>
          <p:cNvSpPr txBox="1"/>
          <p:nvPr/>
        </p:nvSpPr>
        <p:spPr>
          <a:xfrm>
            <a:off x="8534095" y="4828946"/>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SAP Hybris · Salesforce</a:t>
            </a:r>
            <a:endParaRPr lang="en-US" sz="1000"/>
          </a:p>
        </p:txBody>
      </p:sp>
      <p:sp>
        <p:nvSpPr>
          <p:cNvPr id="57" name="Text 47"/>
          <p:cNvSpPr txBox="1"/>
          <p:nvPr/>
        </p:nvSpPr>
        <p:spPr>
          <a:xfrm>
            <a:off x="8534095" y="5069434"/>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Java / MySQL / Splunk</a:t>
            </a:r>
            <a:endParaRPr lang="en-US" sz="1000"/>
          </a:p>
        </p:txBody>
      </p:sp>
      <p:sp>
        <p:nvSpPr>
          <p:cNvPr id="58" name="Text 48"/>
          <p:cNvSpPr txBox="1"/>
          <p:nvPr/>
        </p:nvSpPr>
        <p:spPr>
          <a:xfrm>
            <a:off x="8534095" y="5309006"/>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App support (L1–L3)</a:t>
            </a:r>
            <a:endParaRPr lang="en-US" sz="1000"/>
          </a:p>
        </p:txBody>
      </p:sp>
      <p:sp>
        <p:nvSpPr>
          <p:cNvPr id="59" name="Text 49"/>
          <p:cNvSpPr txBox="1"/>
          <p:nvPr/>
        </p:nvSpPr>
        <p:spPr>
          <a:xfrm>
            <a:off x="8534095" y="5549494"/>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Peak-season scale ops</a:t>
            </a:r>
            <a:endParaRPr lang="en-US" sz="1000"/>
          </a:p>
        </p:txBody>
      </p:sp>
      <p:pic>
        <p:nvPicPr>
          <p:cNvPr id="60" name="Image 8" descr="gen-dedup-e1ac69483d10434729f72c129465ac9b.png"/>
          <p:cNvPicPr>
            <a:picLocks noChangeAspect="1"/>
          </p:cNvPicPr>
          <p:nvPr/>
        </p:nvPicPr>
        <p:blipFill>
          <a:blip r:embed="rId11"/>
          <a:srcRect t="-20060" b="-20060"/>
          <a:stretch/>
        </p:blipFill>
        <p:spPr>
          <a:xfrm>
            <a:off x="8343900" y="4490618"/>
            <a:ext cx="152705" cy="19019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858707"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debd4e3596836e8640379be3057665ef.png"/>
          <p:cNvPicPr>
            <a:picLocks noChangeAspect="1"/>
          </p:cNvPicPr>
          <p:nvPr/>
        </p:nvPicPr>
        <p:blipFill>
          <a:blip r:embed="rId3">
            <a:alphaModFix amt="6000"/>
          </a:blip>
          <a:srcRect/>
          <a:stretch/>
        </p:blipFill>
        <p:spPr>
          <a:xfrm>
            <a:off x="-761695" y="4762195"/>
            <a:ext cx="2857500" cy="2857500"/>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b359e3fa59182a7dfb1cf9bffd3421a2.png"/>
          <p:cNvPicPr>
            <a:picLocks noChangeAspect="1"/>
          </p:cNvPicPr>
          <p:nvPr/>
        </p:nvPicPr>
        <p:blipFill>
          <a:blip r:embed="rId6"/>
          <a:srcRect l="-375" r="-375"/>
          <a:stretch/>
        </p:blipFill>
        <p:spPr>
          <a:xfrm>
            <a:off x="609905" y="457200"/>
            <a:ext cx="57607" cy="609905"/>
          </a:xfrm>
          <a:prstGeom prst="rect">
            <a:avLst/>
          </a:prstGeom>
        </p:spPr>
      </p:pic>
      <p:sp>
        <p:nvSpPr>
          <p:cNvPr id="9" name="Shape 3"/>
          <p:cNvSpPr/>
          <p:nvPr/>
        </p:nvSpPr>
        <p:spPr>
          <a:xfrm>
            <a:off x="609905"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4"/>
          <p:cNvSpPr/>
          <p:nvPr/>
        </p:nvSpPr>
        <p:spPr>
          <a:xfrm>
            <a:off x="609905"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476902"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6"/>
          <p:cNvSpPr/>
          <p:nvPr/>
        </p:nvSpPr>
        <p:spPr>
          <a:xfrm>
            <a:off x="4476902" y="1714500"/>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343900"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4" name="Shape 8"/>
          <p:cNvSpPr/>
          <p:nvPr/>
        </p:nvSpPr>
        <p:spPr>
          <a:xfrm>
            <a:off x="8343900"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6" name="Shape 10"/>
          <p:cNvSpPr/>
          <p:nvPr/>
        </p:nvSpPr>
        <p:spPr>
          <a:xfrm>
            <a:off x="609905"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4476902"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8" name="Shape 12"/>
          <p:cNvSpPr/>
          <p:nvPr/>
        </p:nvSpPr>
        <p:spPr>
          <a:xfrm>
            <a:off x="4476902" y="4190695"/>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8343900"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8343900"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21" name="Shape 15"/>
          <p:cNvSpPr/>
          <p:nvPr/>
        </p:nvSpPr>
        <p:spPr>
          <a:xfrm>
            <a:off x="9677095" y="381305"/>
            <a:ext cx="1904695" cy="342900"/>
          </a:xfrm>
          <a:prstGeom prst="roundRect">
            <a:avLst>
              <a:gd name="adj" fmla="val 50133"/>
            </a:avLst>
          </a:prstGeom>
          <a:solidFill>
            <a:srgbClr val="2A9D8F"/>
          </a:solidFill>
          <a:ln w="12700">
            <a:solidFill>
              <a:srgbClr val="FFFFFF">
                <a:alpha val="0"/>
              </a:srgbClr>
            </a:solidFill>
            <a:prstDash val="solid"/>
          </a:ln>
        </p:spPr>
        <p:txBody>
          <a:bodyPr/>
          <a:lstStyle/>
          <a:p>
            <a:endParaRPr lang="en-US"/>
          </a:p>
        </p:txBody>
      </p:sp>
      <p:sp>
        <p:nvSpPr>
          <p:cNvPr id="22" name="Text 16"/>
          <p:cNvSpPr txBox="1"/>
          <p:nvPr/>
        </p:nvSpPr>
        <p:spPr>
          <a:xfrm>
            <a:off x="9891065" y="476402"/>
            <a:ext cx="1881835" cy="152705"/>
          </a:xfrm>
          <a:prstGeom prst="rect">
            <a:avLst/>
          </a:prstGeom>
          <a:noFill/>
          <a:ln/>
        </p:spPr>
        <p:txBody>
          <a:bodyPr wrap="none" lIns="0" tIns="0" rIns="0" bIns="0" rtlCol="0" anchor="ctr"/>
          <a:lstStyle/>
          <a:p>
            <a:pPr marL="0" indent="0" algn="l">
              <a:buNone/>
            </a:pPr>
            <a:r>
              <a:rPr lang="en-US" sz="1000" b="1" kern="0" spc="52">
                <a:solidFill>
                  <a:srgbClr val="FFFFFF"/>
                </a:solidFill>
                <a:latin typeface="Roboto Condensed" pitchFamily="34" charset="0"/>
                <a:ea typeface="Roboto Condensed" pitchFamily="34" charset="-122"/>
                <a:cs typeface="Roboto Condensed" pitchFamily="34" charset="-120"/>
              </a:rPr>
              <a:t>Workforce Solutions</a:t>
            </a:r>
            <a:endParaRPr lang="en-US" sz="1000"/>
          </a:p>
        </p:txBody>
      </p:sp>
      <p:sp>
        <p:nvSpPr>
          <p:cNvPr id="23" name="Text 17"/>
          <p:cNvSpPr txBox="1"/>
          <p:nvPr/>
        </p:nvSpPr>
        <p:spPr>
          <a:xfrm>
            <a:off x="760780" y="577088"/>
            <a:ext cx="8438998" cy="409651"/>
          </a:xfrm>
          <a:prstGeom prst="rect">
            <a:avLst/>
          </a:prstGeom>
          <a:noFill/>
          <a:ln/>
        </p:spPr>
        <p:txBody>
          <a:bodyPr wrap="none" lIns="0" tIns="0" rIns="0" bIns="0" rtlCol="0" anchor="ctr"/>
          <a:lstStyle/>
          <a:p>
            <a:pPr marL="0" indent="0" algn="l">
              <a:buNone/>
            </a:pPr>
            <a:r>
              <a:rPr lang="en-US" sz="2500" b="1">
                <a:solidFill>
                  <a:srgbClr val="111827"/>
                </a:solidFill>
                <a:latin typeface="Oswald" pitchFamily="34" charset="0"/>
                <a:ea typeface="Oswald" pitchFamily="34" charset="-122"/>
                <a:cs typeface="Oswald" pitchFamily="34" charset="-120"/>
              </a:rPr>
              <a:t>WORKFORCE SOLUTIONS - HOW WE DELIVER</a:t>
            </a:r>
          </a:p>
          <a:p>
            <a:pPr marL="0" indent="0" algn="l">
              <a:buNone/>
            </a:pPr>
            <a:endParaRPr lang="en-US" sz="2500"/>
          </a:p>
        </p:txBody>
      </p:sp>
      <p:sp>
        <p:nvSpPr>
          <p:cNvPr id="24" name="Text 18"/>
          <p:cNvSpPr txBox="1"/>
          <p:nvPr/>
        </p:nvSpPr>
        <p:spPr>
          <a:xfrm>
            <a:off x="819302" y="822960"/>
            <a:ext cx="8097012" cy="181051"/>
          </a:xfrm>
          <a:prstGeom prst="rect">
            <a:avLst/>
          </a:prstGeom>
          <a:noFill/>
          <a:ln/>
        </p:spPr>
        <p:txBody>
          <a:bodyPr wrap="non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From sourcing to sprint governance — a structured operating model, not a staffing drop.</a:t>
            </a:r>
          </a:p>
        </p:txBody>
      </p:sp>
      <p:sp>
        <p:nvSpPr>
          <p:cNvPr id="25" name="Text 19"/>
          <p:cNvSpPr txBox="1"/>
          <p:nvPr/>
        </p:nvSpPr>
        <p:spPr>
          <a:xfrm>
            <a:off x="819302" y="1079906"/>
            <a:ext cx="8097012" cy="152705"/>
          </a:xfrm>
          <a:prstGeom prst="rect">
            <a:avLst/>
          </a:prstGeom>
          <a:noFill/>
          <a:ln/>
        </p:spPr>
        <p:txBody>
          <a:bodyPr wrap="none" lIns="0" tIns="0" rIns="0" bIns="0" rtlCol="0" anchor="ctr"/>
          <a:lstStyle/>
          <a:p>
            <a:pPr marL="0" indent="0" algn="l">
              <a:buNone/>
            </a:pPr>
            <a:endParaRPr lang="en-US" sz="1000"/>
          </a:p>
        </p:txBody>
      </p:sp>
      <p:sp>
        <p:nvSpPr>
          <p:cNvPr id="26" name="Text 20"/>
          <p:cNvSpPr txBox="1"/>
          <p:nvPr/>
        </p:nvSpPr>
        <p:spPr>
          <a:xfrm>
            <a:off x="838505" y="1981505"/>
            <a:ext cx="34015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01</a:t>
            </a:r>
            <a:endParaRPr lang="en-US" sz="2400"/>
          </a:p>
        </p:txBody>
      </p:sp>
      <p:sp>
        <p:nvSpPr>
          <p:cNvPr id="27" name="Text 21"/>
          <p:cNvSpPr txBox="1"/>
          <p:nvPr/>
        </p:nvSpPr>
        <p:spPr>
          <a:xfrm>
            <a:off x="1237183" y="1995424"/>
            <a:ext cx="1417320"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Scope &amp; Source</a:t>
            </a:r>
            <a:endParaRPr lang="en-US" sz="1600"/>
          </a:p>
        </p:txBody>
      </p:sp>
      <p:sp>
        <p:nvSpPr>
          <p:cNvPr id="28" name="Text 22"/>
          <p:cNvSpPr txBox="1"/>
          <p:nvPr/>
        </p:nvSpPr>
        <p:spPr>
          <a:xfrm>
            <a:off x="838505"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Role definition + domain-specific talent pool activation. TalentAI matching + voice-agent pre-screen. Shortlist in 72 hrs.</a:t>
            </a:r>
            <a:endParaRPr lang="en-US" sz="1000"/>
          </a:p>
        </p:txBody>
      </p:sp>
      <p:pic>
        <p:nvPicPr>
          <p:cNvPr id="29" name="Image 4" descr="gen-dedup-68afaceb726e7c14c8688760b973252d.png"/>
          <p:cNvPicPr>
            <a:picLocks noChangeAspect="1"/>
          </p:cNvPicPr>
          <p:nvPr/>
        </p:nvPicPr>
        <p:blipFill>
          <a:blip r:embed="rId7"/>
          <a:srcRect l="-13360" r="-13360"/>
          <a:stretch/>
        </p:blipFill>
        <p:spPr>
          <a:xfrm>
            <a:off x="4062679" y="2648102"/>
            <a:ext cx="181051" cy="228600"/>
          </a:xfrm>
          <a:prstGeom prst="rect">
            <a:avLst/>
          </a:prstGeom>
        </p:spPr>
      </p:pic>
      <p:sp>
        <p:nvSpPr>
          <p:cNvPr id="30" name="Text 23"/>
          <p:cNvSpPr txBox="1"/>
          <p:nvPr/>
        </p:nvSpPr>
        <p:spPr>
          <a:xfrm>
            <a:off x="4705502" y="1981505"/>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02</a:t>
            </a:r>
            <a:endParaRPr lang="en-US" sz="2400"/>
          </a:p>
        </p:txBody>
      </p:sp>
      <p:sp>
        <p:nvSpPr>
          <p:cNvPr id="31" name="Text 24"/>
          <p:cNvSpPr txBox="1"/>
          <p:nvPr/>
        </p:nvSpPr>
        <p:spPr>
          <a:xfrm>
            <a:off x="5144414" y="1995424"/>
            <a:ext cx="839419"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AI-Assess</a:t>
            </a:r>
            <a:endParaRPr lang="en-US" sz="1600"/>
          </a:p>
        </p:txBody>
      </p:sp>
      <p:sp>
        <p:nvSpPr>
          <p:cNvPr id="32" name="Text 25"/>
          <p:cNvSpPr txBox="1"/>
          <p:nvPr/>
        </p:nvSpPr>
        <p:spPr>
          <a:xfrm>
            <a:off x="4705502"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Live coding + domain scenario assessment via TalentSphere. Technical bar validated by J2W before client interview.</a:t>
            </a:r>
            <a:endParaRPr lang="en-US" sz="1000"/>
          </a:p>
        </p:txBody>
      </p:sp>
      <p:pic>
        <p:nvPicPr>
          <p:cNvPr id="33" name="Image 5" descr="gen-dedup-68afaceb726e7c14c8688760b973252d.png"/>
          <p:cNvPicPr>
            <a:picLocks noChangeAspect="1"/>
          </p:cNvPicPr>
          <p:nvPr/>
        </p:nvPicPr>
        <p:blipFill>
          <a:blip r:embed="rId7"/>
          <a:srcRect l="-13360" r="-13360"/>
          <a:stretch/>
        </p:blipFill>
        <p:spPr>
          <a:xfrm>
            <a:off x="7929677" y="2648102"/>
            <a:ext cx="181051" cy="228600"/>
          </a:xfrm>
          <a:prstGeom prst="rect">
            <a:avLst/>
          </a:prstGeom>
        </p:spPr>
      </p:pic>
      <p:sp>
        <p:nvSpPr>
          <p:cNvPr id="34" name="Text 26"/>
          <p:cNvSpPr txBox="1"/>
          <p:nvPr/>
        </p:nvSpPr>
        <p:spPr>
          <a:xfrm>
            <a:off x="8572500" y="1981505"/>
            <a:ext cx="391363"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03</a:t>
            </a:r>
            <a:endParaRPr lang="en-US" sz="2400"/>
          </a:p>
        </p:txBody>
      </p:sp>
      <p:sp>
        <p:nvSpPr>
          <p:cNvPr id="35" name="Text 27"/>
          <p:cNvSpPr txBox="1"/>
          <p:nvPr/>
        </p:nvSpPr>
        <p:spPr>
          <a:xfrm>
            <a:off x="9011412" y="1995424"/>
            <a:ext cx="1553566"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Deploy in 10 Days</a:t>
            </a:r>
            <a:endParaRPr lang="en-US" sz="1600"/>
          </a:p>
        </p:txBody>
      </p:sp>
      <p:sp>
        <p:nvSpPr>
          <p:cNvPr id="36" name="Text 28"/>
          <p:cNvSpPr txBox="1"/>
          <p:nvPr/>
        </p:nvSpPr>
        <p:spPr>
          <a:xfrm>
            <a:off x="8572500"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Offer → onboarding → Day-1 productivity. J2W payroll, compliance, IT provisioning — fully managed.</a:t>
            </a:r>
            <a:endParaRPr lang="en-US" sz="1000"/>
          </a:p>
        </p:txBody>
      </p:sp>
      <p:pic>
        <p:nvPicPr>
          <p:cNvPr id="37" name="Image 6" descr="gen-dedup-ff9a716cc6b1850cd75acb20aeb0dc17.png"/>
          <p:cNvPicPr>
            <a:picLocks noChangeAspect="1"/>
          </p:cNvPicPr>
          <p:nvPr/>
        </p:nvPicPr>
        <p:blipFill>
          <a:blip r:embed="rId8"/>
          <a:srcRect t="-13131" b="-13131"/>
          <a:stretch/>
        </p:blipFill>
        <p:spPr>
          <a:xfrm>
            <a:off x="9872777" y="3895344"/>
            <a:ext cx="181051" cy="228600"/>
          </a:xfrm>
          <a:prstGeom prst="rect">
            <a:avLst/>
          </a:prstGeom>
        </p:spPr>
      </p:pic>
      <p:sp>
        <p:nvSpPr>
          <p:cNvPr id="38" name="Text 29"/>
          <p:cNvSpPr txBox="1"/>
          <p:nvPr/>
        </p:nvSpPr>
        <p:spPr>
          <a:xfrm>
            <a:off x="838505"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04</a:t>
            </a:r>
            <a:endParaRPr lang="en-US" sz="2400"/>
          </a:p>
        </p:txBody>
      </p:sp>
      <p:sp>
        <p:nvSpPr>
          <p:cNvPr id="39" name="Text 30"/>
          <p:cNvSpPr txBox="1"/>
          <p:nvPr/>
        </p:nvSpPr>
        <p:spPr>
          <a:xfrm>
            <a:off x="1280160" y="4472534"/>
            <a:ext cx="1564538"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Govern &amp; Upskill</a:t>
            </a:r>
            <a:endParaRPr lang="en-US" sz="1600"/>
          </a:p>
        </p:txBody>
      </p:sp>
      <p:sp>
        <p:nvSpPr>
          <p:cNvPr id="40" name="Text 31"/>
          <p:cNvSpPr txBox="1"/>
          <p:nvPr/>
        </p:nvSpPr>
        <p:spPr>
          <a:xfrm>
            <a:off x="838505"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Sprint accountability via Pod Manager. Monthly AI upskilling in J2W Labs. Weekly performance telemetry.</a:t>
            </a:r>
            <a:endParaRPr lang="en-US" sz="1000"/>
          </a:p>
        </p:txBody>
      </p:sp>
      <p:pic>
        <p:nvPicPr>
          <p:cNvPr id="41" name="Image 7" descr="gen-dedup-68afaceb726e7c14c8688760b973252d.png"/>
          <p:cNvPicPr>
            <a:picLocks noChangeAspect="1"/>
          </p:cNvPicPr>
          <p:nvPr/>
        </p:nvPicPr>
        <p:blipFill>
          <a:blip r:embed="rId7"/>
          <a:srcRect l="-13360" r="-13360"/>
          <a:stretch/>
        </p:blipFill>
        <p:spPr>
          <a:xfrm>
            <a:off x="4062679" y="5124298"/>
            <a:ext cx="181051" cy="228600"/>
          </a:xfrm>
          <a:prstGeom prst="rect">
            <a:avLst/>
          </a:prstGeom>
        </p:spPr>
      </p:pic>
      <p:sp>
        <p:nvSpPr>
          <p:cNvPr id="42" name="Text 32"/>
          <p:cNvSpPr txBox="1"/>
          <p:nvPr/>
        </p:nvSpPr>
        <p:spPr>
          <a:xfrm>
            <a:off x="4705502" y="4457700"/>
            <a:ext cx="38587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05</a:t>
            </a:r>
            <a:endParaRPr lang="en-US" sz="2400"/>
          </a:p>
        </p:txBody>
      </p:sp>
      <p:sp>
        <p:nvSpPr>
          <p:cNvPr id="43" name="Text 33"/>
          <p:cNvSpPr txBox="1"/>
          <p:nvPr/>
        </p:nvSpPr>
        <p:spPr>
          <a:xfrm>
            <a:off x="5142586" y="4472534"/>
            <a:ext cx="201808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POFU — 90-Day Funnel</a:t>
            </a:r>
            <a:endParaRPr lang="en-US" sz="1600"/>
          </a:p>
        </p:txBody>
      </p:sp>
      <p:sp>
        <p:nvSpPr>
          <p:cNvPr id="44" name="Text 34"/>
          <p:cNvSpPr txBox="1"/>
          <p:nvPr/>
        </p:nvSpPr>
        <p:spPr>
          <a:xfrm>
            <a:off x="4705502" y="4905756"/>
            <a:ext cx="2781605" cy="800100"/>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Post-Offer Follow-Up: milestone touchpoints, counter-offer inoculation, manager connects. Dropout rate → single digits.</a:t>
            </a:r>
            <a:endParaRPr lang="en-US" sz="1000"/>
          </a:p>
        </p:txBody>
      </p:sp>
      <p:pic>
        <p:nvPicPr>
          <p:cNvPr id="45" name="Image 8" descr="gen-dedup-68afaceb726e7c14c8688760b973252d.png"/>
          <p:cNvPicPr>
            <a:picLocks noChangeAspect="1"/>
          </p:cNvPicPr>
          <p:nvPr/>
        </p:nvPicPr>
        <p:blipFill>
          <a:blip r:embed="rId7"/>
          <a:srcRect l="-13360" r="-13360"/>
          <a:stretch/>
        </p:blipFill>
        <p:spPr>
          <a:xfrm>
            <a:off x="7929677" y="5124298"/>
            <a:ext cx="181051" cy="228600"/>
          </a:xfrm>
          <a:prstGeom prst="rect">
            <a:avLst/>
          </a:prstGeom>
        </p:spPr>
      </p:pic>
      <p:sp>
        <p:nvSpPr>
          <p:cNvPr id="46" name="Text 35"/>
          <p:cNvSpPr txBox="1"/>
          <p:nvPr/>
        </p:nvSpPr>
        <p:spPr>
          <a:xfrm>
            <a:off x="8572500"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06</a:t>
            </a:r>
            <a:endParaRPr lang="en-US" sz="2400"/>
          </a:p>
        </p:txBody>
      </p:sp>
      <p:sp>
        <p:nvSpPr>
          <p:cNvPr id="47" name="Text 36"/>
          <p:cNvSpPr txBox="1"/>
          <p:nvPr/>
        </p:nvSpPr>
        <p:spPr>
          <a:xfrm>
            <a:off x="9018727" y="4472534"/>
            <a:ext cx="159837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Scale or Convert</a:t>
            </a:r>
            <a:endParaRPr lang="en-US" sz="1600"/>
          </a:p>
        </p:txBody>
      </p:sp>
      <p:sp>
        <p:nvSpPr>
          <p:cNvPr id="48" name="Text 37"/>
          <p:cNvSpPr txBox="1"/>
          <p:nvPr/>
        </p:nvSpPr>
        <p:spPr>
          <a:xfrm>
            <a:off x="8572500"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C2H → permanent conversion on Day 91. Scale the pod up or down. Quarterly Business Review with ROI data.</a:t>
            </a:r>
            <a:endParaRPr lang="en-US" sz="10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858707"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debd4e3596836e8640379be3057665ef.png"/>
          <p:cNvPicPr>
            <a:picLocks noChangeAspect="1"/>
          </p:cNvPicPr>
          <p:nvPr/>
        </p:nvPicPr>
        <p:blipFill>
          <a:blip r:embed="rId3">
            <a:alphaModFix amt="5000"/>
          </a:blip>
          <a:srcRect/>
          <a:stretch/>
        </p:blipFill>
        <p:spPr>
          <a:xfrm>
            <a:off x="-761695" y="3238805"/>
            <a:ext cx="2857500" cy="2857500"/>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b359e3fa59182a7dfb1cf9bffd3421a2.png"/>
          <p:cNvPicPr>
            <a:picLocks noChangeAspect="1"/>
          </p:cNvPicPr>
          <p:nvPr/>
        </p:nvPicPr>
        <p:blipFill>
          <a:blip r:embed="rId6"/>
          <a:srcRect l="-375" r="-375"/>
          <a:stretch/>
        </p:blipFill>
        <p:spPr>
          <a:xfrm>
            <a:off x="609905" y="457200"/>
            <a:ext cx="57607" cy="609905"/>
          </a:xfrm>
          <a:prstGeom prst="rect">
            <a:avLst/>
          </a:prstGeom>
        </p:spPr>
      </p:pic>
      <p:sp>
        <p:nvSpPr>
          <p:cNvPr id="9" name="Shape 3"/>
          <p:cNvSpPr/>
          <p:nvPr/>
        </p:nvSpPr>
        <p:spPr>
          <a:xfrm>
            <a:off x="609905" y="1524305"/>
            <a:ext cx="2704795" cy="514807"/>
          </a:xfrm>
          <a:prstGeom prst="roundRect">
            <a:avLst>
              <a:gd name="adj" fmla="val 14742"/>
            </a:avLst>
          </a:prstGeom>
          <a:solidFill>
            <a:srgbClr val="FEF2F2"/>
          </a:solidFill>
          <a:ln w="12700">
            <a:solidFill>
              <a:srgbClr val="FCA5A5"/>
            </a:solidFill>
            <a:prstDash val="solid"/>
          </a:ln>
        </p:spPr>
        <p:txBody>
          <a:bodyPr/>
          <a:lstStyle/>
          <a:p>
            <a:endParaRPr lang="en-US"/>
          </a:p>
        </p:txBody>
      </p:sp>
      <p:sp>
        <p:nvSpPr>
          <p:cNvPr id="10" name="Shape 4"/>
          <p:cNvSpPr/>
          <p:nvPr/>
        </p:nvSpPr>
        <p:spPr>
          <a:xfrm>
            <a:off x="609905" y="2286000"/>
            <a:ext cx="5352898" cy="1524305"/>
          </a:xfrm>
          <a:prstGeom prst="roundRect">
            <a:avLst>
              <a:gd name="adj" fmla="val 497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1" name="Shape 5"/>
          <p:cNvSpPr/>
          <p:nvPr/>
        </p:nvSpPr>
        <p:spPr>
          <a:xfrm>
            <a:off x="609905" y="2286000"/>
            <a:ext cx="5352898"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2" name="Shape 6"/>
          <p:cNvSpPr/>
          <p:nvPr/>
        </p:nvSpPr>
        <p:spPr>
          <a:xfrm>
            <a:off x="6248095" y="2286000"/>
            <a:ext cx="5352898" cy="1524305"/>
          </a:xfrm>
          <a:prstGeom prst="roundRect">
            <a:avLst>
              <a:gd name="adj" fmla="val 497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3" name="Shape 7"/>
          <p:cNvSpPr/>
          <p:nvPr/>
        </p:nvSpPr>
        <p:spPr>
          <a:xfrm>
            <a:off x="6248095" y="2286000"/>
            <a:ext cx="5352898"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4" name="Shape 8"/>
          <p:cNvSpPr/>
          <p:nvPr/>
        </p:nvSpPr>
        <p:spPr>
          <a:xfrm>
            <a:off x="609905" y="3952951"/>
            <a:ext cx="5352898" cy="1524305"/>
          </a:xfrm>
          <a:prstGeom prst="roundRect">
            <a:avLst>
              <a:gd name="adj" fmla="val 497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5" name="Shape 9"/>
          <p:cNvSpPr/>
          <p:nvPr/>
        </p:nvSpPr>
        <p:spPr>
          <a:xfrm>
            <a:off x="609905" y="3952951"/>
            <a:ext cx="5352898"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6" name="Shape 10"/>
          <p:cNvSpPr/>
          <p:nvPr/>
        </p:nvSpPr>
        <p:spPr>
          <a:xfrm>
            <a:off x="6248095" y="3952951"/>
            <a:ext cx="5352898" cy="1524305"/>
          </a:xfrm>
          <a:prstGeom prst="roundRect">
            <a:avLst>
              <a:gd name="adj" fmla="val 497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7" name="Shape 11"/>
          <p:cNvSpPr/>
          <p:nvPr/>
        </p:nvSpPr>
        <p:spPr>
          <a:xfrm>
            <a:off x="6248095" y="3952951"/>
            <a:ext cx="5352898"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8" name="Shape 12"/>
          <p:cNvSpPr/>
          <p:nvPr/>
        </p:nvSpPr>
        <p:spPr>
          <a:xfrm>
            <a:off x="609905" y="5715000"/>
            <a:ext cx="10972800" cy="857707"/>
          </a:xfrm>
          <a:prstGeom prst="roundRect">
            <a:avLst>
              <a:gd name="adj" fmla="val 8849"/>
            </a:avLst>
          </a:prstGeom>
          <a:solidFill>
            <a:srgbClr val="111827"/>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19" name="Shape 13"/>
          <p:cNvSpPr/>
          <p:nvPr/>
        </p:nvSpPr>
        <p:spPr>
          <a:xfrm>
            <a:off x="9677095" y="381305"/>
            <a:ext cx="1904695" cy="342900"/>
          </a:xfrm>
          <a:prstGeom prst="roundRect">
            <a:avLst>
              <a:gd name="adj" fmla="val 50133"/>
            </a:avLst>
          </a:prstGeom>
          <a:solidFill>
            <a:srgbClr val="2A9D8F"/>
          </a:solidFill>
          <a:ln w="12700">
            <a:solidFill>
              <a:srgbClr val="FFFFFF">
                <a:alpha val="0"/>
              </a:srgbClr>
            </a:solidFill>
            <a:prstDash val="solid"/>
          </a:ln>
        </p:spPr>
        <p:txBody>
          <a:bodyPr/>
          <a:lstStyle/>
          <a:p>
            <a:endParaRPr lang="en-US"/>
          </a:p>
        </p:txBody>
      </p:sp>
      <p:sp>
        <p:nvSpPr>
          <p:cNvPr id="20" name="Text 14"/>
          <p:cNvSpPr txBox="1"/>
          <p:nvPr/>
        </p:nvSpPr>
        <p:spPr>
          <a:xfrm>
            <a:off x="9891065" y="476402"/>
            <a:ext cx="1881835" cy="152705"/>
          </a:xfrm>
          <a:prstGeom prst="rect">
            <a:avLst/>
          </a:prstGeom>
          <a:noFill/>
          <a:ln/>
        </p:spPr>
        <p:txBody>
          <a:bodyPr wrap="none" lIns="0" tIns="0" rIns="0" bIns="0" rtlCol="0" anchor="ctr"/>
          <a:lstStyle/>
          <a:p>
            <a:pPr marL="0" indent="0" algn="l">
              <a:buNone/>
            </a:pPr>
            <a:r>
              <a:rPr lang="en-US" sz="1000" b="1" kern="0" spc="52">
                <a:solidFill>
                  <a:srgbClr val="FFFFFF"/>
                </a:solidFill>
                <a:latin typeface="Roboto Condensed" pitchFamily="34" charset="0"/>
                <a:ea typeface="Roboto Condensed" pitchFamily="34" charset="-122"/>
                <a:cs typeface="Roboto Condensed" pitchFamily="34" charset="-120"/>
              </a:rPr>
              <a:t>Workforce Solutions</a:t>
            </a:r>
            <a:endParaRPr lang="en-US" sz="1000"/>
          </a:p>
        </p:txBody>
      </p:sp>
      <p:sp>
        <p:nvSpPr>
          <p:cNvPr id="21" name="Text 15"/>
          <p:cNvSpPr txBox="1"/>
          <p:nvPr/>
        </p:nvSpPr>
        <p:spPr>
          <a:xfrm>
            <a:off x="819302" y="381305"/>
            <a:ext cx="8097012" cy="409651"/>
          </a:xfrm>
          <a:prstGeom prst="rect">
            <a:avLst/>
          </a:prstGeom>
          <a:noFill/>
          <a:ln/>
        </p:spPr>
        <p:txBody>
          <a:bodyPr wrap="none" lIns="0" tIns="0" rIns="0" bIns="0" rtlCol="0" anchor="ctr"/>
          <a:lstStyle/>
          <a:p>
            <a:pPr marL="0" indent="0" algn="l">
              <a:buNone/>
            </a:pPr>
            <a:r>
              <a:rPr lang="en-US" sz="2500" b="1">
                <a:solidFill>
                  <a:srgbClr val="111827"/>
                </a:solidFill>
                <a:latin typeface="Oswald" pitchFamily="34" charset="0"/>
                <a:ea typeface="Oswald" pitchFamily="34" charset="-122"/>
                <a:cs typeface="Oswald" pitchFamily="34" charset="-120"/>
              </a:rPr>
              <a:t>CLIENT CONTEXT</a:t>
            </a:r>
            <a:endParaRPr lang="en-US" sz="2500"/>
          </a:p>
        </p:txBody>
      </p:sp>
      <p:sp>
        <p:nvSpPr>
          <p:cNvPr id="22" name="Text 16"/>
          <p:cNvSpPr txBox="1"/>
          <p:nvPr/>
        </p:nvSpPr>
        <p:spPr>
          <a:xfrm>
            <a:off x="819302" y="822960"/>
            <a:ext cx="8097012" cy="181051"/>
          </a:xfrm>
          <a:prstGeom prst="rect">
            <a:avLst/>
          </a:prstGeom>
          <a:noFill/>
          <a:ln/>
        </p:spPr>
        <p:txBody>
          <a:bodyPr wrap="non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[CLIENT NAME] — Talent Challenges Identified</a:t>
            </a:r>
            <a:endParaRPr lang="en-US" sz="1200"/>
          </a:p>
        </p:txBody>
      </p:sp>
      <p:sp>
        <p:nvSpPr>
          <p:cNvPr id="23" name="Text 17"/>
          <p:cNvSpPr txBox="1"/>
          <p:nvPr/>
        </p:nvSpPr>
        <p:spPr>
          <a:xfrm>
            <a:off x="819302" y="1079906"/>
            <a:ext cx="8097012" cy="152705"/>
          </a:xfrm>
          <a:prstGeom prst="rect">
            <a:avLst/>
          </a:prstGeom>
          <a:noFill/>
          <a:ln/>
        </p:spPr>
        <p:txBody>
          <a:bodyPr wrap="none" lIns="0" tIns="0" rIns="0" bIns="0" rtlCol="0" anchor="ctr"/>
          <a:lstStyle/>
          <a:p>
            <a:pPr marL="0" indent="0" algn="l">
              <a:buNone/>
            </a:pPr>
            <a:r>
              <a:rPr lang="en-US" sz="1000" b="1">
                <a:solidFill>
                  <a:srgbClr val="4B5563"/>
                </a:solidFill>
                <a:latin typeface="Raleway" pitchFamily="34" charset="0"/>
                <a:ea typeface="Raleway" pitchFamily="34" charset="-122"/>
                <a:cs typeface="Raleway" pitchFamily="34" charset="-120"/>
              </a:rPr>
              <a:t>Identified during discovery session — [DATE]</a:t>
            </a:r>
            <a:endParaRPr lang="en-US" sz="1000"/>
          </a:p>
        </p:txBody>
      </p:sp>
      <p:pic>
        <p:nvPicPr>
          <p:cNvPr id="24" name="Image 4" descr="gen-dedup-d103097e730368316f78abf5dde7d335.png"/>
          <p:cNvPicPr>
            <a:picLocks noChangeAspect="1"/>
          </p:cNvPicPr>
          <p:nvPr/>
        </p:nvPicPr>
        <p:blipFill>
          <a:blip r:embed="rId7"/>
          <a:srcRect t="-16800" b="-16800"/>
          <a:stretch/>
        </p:blipFill>
        <p:spPr>
          <a:xfrm>
            <a:off x="819302" y="1695298"/>
            <a:ext cx="114300" cy="152705"/>
          </a:xfrm>
          <a:prstGeom prst="rect">
            <a:avLst/>
          </a:prstGeom>
        </p:spPr>
      </p:pic>
      <p:sp>
        <p:nvSpPr>
          <p:cNvPr id="25" name="Text 18"/>
          <p:cNvSpPr txBox="1"/>
          <p:nvPr/>
        </p:nvSpPr>
        <p:spPr>
          <a:xfrm>
            <a:off x="1067105" y="1666951"/>
            <a:ext cx="2211019" cy="210312"/>
          </a:xfrm>
          <a:prstGeom prst="rect">
            <a:avLst/>
          </a:prstGeom>
          <a:noFill/>
          <a:ln/>
        </p:spPr>
        <p:txBody>
          <a:bodyPr wrap="none" lIns="0" tIns="0" rIns="0" bIns="0" rtlCol="0" anchor="ctr"/>
          <a:lstStyle/>
          <a:p>
            <a:pPr marL="0" indent="0" algn="l">
              <a:buNone/>
            </a:pPr>
            <a:r>
              <a:rPr lang="en-US" sz="1600" b="1">
                <a:solidFill>
                  <a:srgbClr val="D62839"/>
                </a:solidFill>
                <a:latin typeface="Oswald" pitchFamily="34" charset="0"/>
                <a:ea typeface="Oswald" pitchFamily="34" charset="-122"/>
                <a:cs typeface="Oswald" pitchFamily="34" charset="-120"/>
              </a:rPr>
              <a:t>[X]% Offer Drop Rate</a:t>
            </a:r>
            <a:endParaRPr lang="en-US" sz="1600"/>
          </a:p>
        </p:txBody>
      </p:sp>
      <p:sp>
        <p:nvSpPr>
          <p:cNvPr id="26" name="Text 19"/>
          <p:cNvSpPr txBox="1"/>
          <p:nvPr/>
        </p:nvSpPr>
        <p:spPr>
          <a:xfrm>
            <a:off x="838505" y="2476195"/>
            <a:ext cx="306324" cy="267005"/>
          </a:xfrm>
          <a:prstGeom prst="rect">
            <a:avLst/>
          </a:prstGeom>
          <a:noFill/>
          <a:ln/>
        </p:spPr>
        <p:txBody>
          <a:bodyPr wrap="none" lIns="0" tIns="0" rIns="0" bIns="0" rtlCol="0" anchor="ctr"/>
          <a:lstStyle/>
          <a:p>
            <a:pPr marL="0" indent="0" algn="l">
              <a:buNone/>
            </a:pPr>
            <a:r>
              <a:rPr lang="en-US" sz="2100" b="1">
                <a:solidFill>
                  <a:srgbClr val="2A9D8F"/>
                </a:solidFill>
                <a:latin typeface="Oswald" pitchFamily="34" charset="0"/>
                <a:ea typeface="Oswald" pitchFamily="34" charset="-122"/>
                <a:cs typeface="Oswald" pitchFamily="34" charset="-120"/>
              </a:rPr>
              <a:t>01</a:t>
            </a:r>
            <a:endParaRPr lang="en-US" sz="2100"/>
          </a:p>
        </p:txBody>
      </p:sp>
      <p:sp>
        <p:nvSpPr>
          <p:cNvPr id="27" name="Text 20"/>
          <p:cNvSpPr txBox="1"/>
          <p:nvPr/>
        </p:nvSpPr>
        <p:spPr>
          <a:xfrm>
            <a:off x="1201522" y="2495398"/>
            <a:ext cx="1848002"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[Challenge 1 Title]</a:t>
            </a:r>
            <a:endParaRPr lang="en-US" sz="1500"/>
          </a:p>
        </p:txBody>
      </p:sp>
      <p:sp>
        <p:nvSpPr>
          <p:cNvPr id="28" name="Text 21"/>
          <p:cNvSpPr txBox="1"/>
          <p:nvPr/>
        </p:nvSpPr>
        <p:spPr>
          <a:xfrm>
            <a:off x="838505" y="2895905"/>
            <a:ext cx="4877410" cy="4288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90-Day Notice Period — Extended windows enable offer shopping, joining-day dropouts and wasted recruitment effort.</a:t>
            </a:r>
            <a:endParaRPr lang="en-US" sz="1100"/>
          </a:p>
        </p:txBody>
      </p:sp>
      <p:sp>
        <p:nvSpPr>
          <p:cNvPr id="29" name="Text 22"/>
          <p:cNvSpPr txBox="1"/>
          <p:nvPr/>
        </p:nvSpPr>
        <p:spPr>
          <a:xfrm>
            <a:off x="6476695" y="2476195"/>
            <a:ext cx="340157" cy="267005"/>
          </a:xfrm>
          <a:prstGeom prst="rect">
            <a:avLst/>
          </a:prstGeom>
          <a:noFill/>
          <a:ln/>
        </p:spPr>
        <p:txBody>
          <a:bodyPr wrap="none" lIns="0" tIns="0" rIns="0" bIns="0" rtlCol="0" anchor="ctr"/>
          <a:lstStyle/>
          <a:p>
            <a:pPr marL="0" indent="0" algn="l">
              <a:buNone/>
            </a:pPr>
            <a:r>
              <a:rPr lang="en-US" sz="2100" b="1">
                <a:solidFill>
                  <a:srgbClr val="D62839"/>
                </a:solidFill>
                <a:latin typeface="Oswald" pitchFamily="34" charset="0"/>
                <a:ea typeface="Oswald" pitchFamily="34" charset="-122"/>
                <a:cs typeface="Oswald" pitchFamily="34" charset="-120"/>
              </a:rPr>
              <a:t>02</a:t>
            </a:r>
            <a:endParaRPr lang="en-US" sz="2100"/>
          </a:p>
        </p:txBody>
      </p:sp>
      <p:sp>
        <p:nvSpPr>
          <p:cNvPr id="30" name="Text 23"/>
          <p:cNvSpPr txBox="1"/>
          <p:nvPr/>
        </p:nvSpPr>
        <p:spPr>
          <a:xfrm>
            <a:off x="6875374" y="2495398"/>
            <a:ext cx="1881835"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[Challenge 2 Title]</a:t>
            </a:r>
            <a:endParaRPr lang="en-US" sz="1500"/>
          </a:p>
        </p:txBody>
      </p:sp>
      <p:sp>
        <p:nvSpPr>
          <p:cNvPr id="31" name="Text 24"/>
          <p:cNvSpPr txBox="1"/>
          <p:nvPr/>
        </p:nvSpPr>
        <p:spPr>
          <a:xfrm>
            <a:off x="6476695" y="2895905"/>
            <a:ext cx="4877410" cy="4288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5-Day WFO Resistance — Post-COVID candidates resist full office return; qualified talent pool shrinks for mandatory in-office roles.</a:t>
            </a:r>
            <a:endParaRPr lang="en-US" sz="1100"/>
          </a:p>
        </p:txBody>
      </p:sp>
      <p:sp>
        <p:nvSpPr>
          <p:cNvPr id="32" name="Text 25"/>
          <p:cNvSpPr txBox="1"/>
          <p:nvPr/>
        </p:nvSpPr>
        <p:spPr>
          <a:xfrm>
            <a:off x="838505" y="4143146"/>
            <a:ext cx="340157" cy="267005"/>
          </a:xfrm>
          <a:prstGeom prst="rect">
            <a:avLst/>
          </a:prstGeom>
          <a:noFill/>
          <a:ln/>
        </p:spPr>
        <p:txBody>
          <a:bodyPr wrap="none" lIns="0" tIns="0" rIns="0" bIns="0" rtlCol="0" anchor="ctr"/>
          <a:lstStyle/>
          <a:p>
            <a:pPr marL="0" indent="0" algn="l">
              <a:buNone/>
            </a:pPr>
            <a:r>
              <a:rPr lang="en-US" sz="2100" b="1">
                <a:solidFill>
                  <a:srgbClr val="D62839"/>
                </a:solidFill>
                <a:latin typeface="Oswald" pitchFamily="34" charset="0"/>
                <a:ea typeface="Oswald" pitchFamily="34" charset="-122"/>
                <a:cs typeface="Oswald" pitchFamily="34" charset="-120"/>
              </a:rPr>
              <a:t>03</a:t>
            </a:r>
            <a:endParaRPr lang="en-US" sz="2100"/>
          </a:p>
        </p:txBody>
      </p:sp>
      <p:sp>
        <p:nvSpPr>
          <p:cNvPr id="33" name="Text 26"/>
          <p:cNvSpPr txBox="1"/>
          <p:nvPr/>
        </p:nvSpPr>
        <p:spPr>
          <a:xfrm>
            <a:off x="1236269" y="4162349"/>
            <a:ext cx="1881835"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[Challenge 3 Title]</a:t>
            </a:r>
            <a:endParaRPr lang="en-US" sz="1500"/>
          </a:p>
        </p:txBody>
      </p:sp>
      <p:sp>
        <p:nvSpPr>
          <p:cNvPr id="34" name="Text 27"/>
          <p:cNvSpPr txBox="1"/>
          <p:nvPr/>
        </p:nvSpPr>
        <p:spPr>
          <a:xfrm>
            <a:off x="838505" y="4562856"/>
            <a:ext cx="4877410" cy="4288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Niche Skill Pool — 50% of hires are CAs (≤5 yrs exp). Intense competition from Big 4s and other captives for limited talent.</a:t>
            </a:r>
            <a:endParaRPr lang="en-US" sz="1100"/>
          </a:p>
        </p:txBody>
      </p:sp>
      <p:sp>
        <p:nvSpPr>
          <p:cNvPr id="35" name="Text 28"/>
          <p:cNvSpPr txBox="1"/>
          <p:nvPr/>
        </p:nvSpPr>
        <p:spPr>
          <a:xfrm>
            <a:off x="6476695" y="4143146"/>
            <a:ext cx="342900" cy="267005"/>
          </a:xfrm>
          <a:prstGeom prst="rect">
            <a:avLst/>
          </a:prstGeom>
          <a:noFill/>
          <a:ln/>
        </p:spPr>
        <p:txBody>
          <a:bodyPr wrap="none" lIns="0" tIns="0" rIns="0" bIns="0" rtlCol="0" anchor="ctr"/>
          <a:lstStyle/>
          <a:p>
            <a:pPr marL="0" indent="0" algn="l">
              <a:buNone/>
            </a:pPr>
            <a:r>
              <a:rPr lang="en-US" sz="2100" b="1">
                <a:solidFill>
                  <a:srgbClr val="2A9D8F"/>
                </a:solidFill>
                <a:latin typeface="Oswald" pitchFamily="34" charset="0"/>
                <a:ea typeface="Oswald" pitchFamily="34" charset="-122"/>
                <a:cs typeface="Oswald" pitchFamily="34" charset="-120"/>
              </a:rPr>
              <a:t>04</a:t>
            </a:r>
            <a:endParaRPr lang="en-US" sz="2100"/>
          </a:p>
        </p:txBody>
      </p:sp>
      <p:sp>
        <p:nvSpPr>
          <p:cNvPr id="36" name="Text 29"/>
          <p:cNvSpPr txBox="1"/>
          <p:nvPr/>
        </p:nvSpPr>
        <p:spPr>
          <a:xfrm>
            <a:off x="6878117" y="4162349"/>
            <a:ext cx="1881835"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[Challenge 4 Title]</a:t>
            </a:r>
            <a:endParaRPr lang="en-US" sz="1500"/>
          </a:p>
        </p:txBody>
      </p:sp>
      <p:sp>
        <p:nvSpPr>
          <p:cNvPr id="37" name="Text 30"/>
          <p:cNvSpPr txBox="1"/>
          <p:nvPr/>
        </p:nvSpPr>
        <p:spPr>
          <a:xfrm>
            <a:off x="6476695" y="4562856"/>
            <a:ext cx="4877410" cy="4288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Sporadic Demand — 8–10 roles max per BU creates unpredictable, low-volume patterns. Hard to maintain dedicated pipeline.</a:t>
            </a:r>
            <a:endParaRPr lang="en-US" sz="1100"/>
          </a:p>
        </p:txBody>
      </p:sp>
      <p:sp>
        <p:nvSpPr>
          <p:cNvPr id="38" name="Text 31"/>
          <p:cNvSpPr txBox="1"/>
          <p:nvPr/>
        </p:nvSpPr>
        <p:spPr>
          <a:xfrm>
            <a:off x="972007" y="5857646"/>
            <a:ext cx="2553005" cy="257861"/>
          </a:xfrm>
          <a:prstGeom prst="rect">
            <a:avLst/>
          </a:prstGeom>
          <a:noFill/>
          <a:ln/>
        </p:spPr>
        <p:txBody>
          <a:bodyPr wrap="none" lIns="0" tIns="0" rIns="0" bIns="0" rtlCol="0" anchor="ctr"/>
          <a:lstStyle/>
          <a:p>
            <a:pPr marL="0" indent="0" algn="l">
              <a:buNone/>
            </a:pPr>
            <a:r>
              <a:rPr lang="en-US" sz="1600" b="1">
                <a:solidFill>
                  <a:srgbClr val="2A9D8F"/>
                </a:solidFill>
                <a:latin typeface="Oswald" pitchFamily="34" charset="0"/>
                <a:ea typeface="Oswald" pitchFamily="34" charset="-122"/>
                <a:cs typeface="Oswald" pitchFamily="34" charset="-120"/>
              </a:rPr>
              <a:t>[X] people strong</a:t>
            </a:r>
            <a:endParaRPr lang="en-US" sz="1600"/>
          </a:p>
        </p:txBody>
      </p:sp>
      <p:sp>
        <p:nvSpPr>
          <p:cNvPr id="39" name="Text 32"/>
          <p:cNvSpPr txBox="1"/>
          <p:nvPr/>
        </p:nvSpPr>
        <p:spPr>
          <a:xfrm>
            <a:off x="972007" y="6147511"/>
            <a:ext cx="2553005" cy="181051"/>
          </a:xfrm>
          <a:prstGeom prst="rect">
            <a:avLst/>
          </a:prstGeom>
          <a:noFill/>
          <a:ln/>
        </p:spPr>
        <p:txBody>
          <a:bodyPr wrap="none" lIns="0" tIns="0" rIns="0" bIns="0" rtlCol="0" anchor="ctr"/>
          <a:lstStyle/>
          <a:p>
            <a:pPr marL="0" indent="0" algn="l">
              <a:buNone/>
            </a:pPr>
            <a:r>
              <a:rPr lang="en-US" sz="1000">
                <a:solidFill>
                  <a:srgbClr val="E5E7EB"/>
                </a:solidFill>
                <a:latin typeface="Raleway" pitchFamily="34" charset="0"/>
                <a:ea typeface="Raleway" pitchFamily="34" charset="-122"/>
                <a:cs typeface="Raleway" pitchFamily="34" charset="-120"/>
              </a:rPr>
              <a:t>Org size</a:t>
            </a:r>
            <a:endParaRPr lang="en-US" sz="1000"/>
          </a:p>
        </p:txBody>
      </p:sp>
      <p:sp>
        <p:nvSpPr>
          <p:cNvPr id="40" name="Text 33"/>
          <p:cNvSpPr txBox="1"/>
          <p:nvPr/>
        </p:nvSpPr>
        <p:spPr>
          <a:xfrm>
            <a:off x="3638398" y="5857646"/>
            <a:ext cx="2830982" cy="257861"/>
          </a:xfrm>
          <a:prstGeom prst="rect">
            <a:avLst/>
          </a:prstGeom>
          <a:noFill/>
          <a:ln/>
        </p:spPr>
        <p:txBody>
          <a:bodyPr wrap="none" lIns="0" tIns="0" rIns="0" bIns="0" rtlCol="0" anchor="ctr"/>
          <a:lstStyle/>
          <a:p>
            <a:pPr marL="0" indent="0" algn="l">
              <a:buNone/>
            </a:pPr>
            <a:r>
              <a:rPr lang="en-US" sz="1600" b="1">
                <a:solidFill>
                  <a:srgbClr val="D62839"/>
                </a:solidFill>
                <a:latin typeface="Oswald" pitchFamily="34" charset="0"/>
                <a:ea typeface="Oswald" pitchFamily="34" charset="-122"/>
                <a:cs typeface="Oswald" pitchFamily="34" charset="-120"/>
              </a:rPr>
              <a:t>[X–X] hires in [YEAR]</a:t>
            </a:r>
            <a:endParaRPr lang="en-US" sz="1600"/>
          </a:p>
        </p:txBody>
      </p:sp>
      <p:sp>
        <p:nvSpPr>
          <p:cNvPr id="41" name="Text 34"/>
          <p:cNvSpPr txBox="1"/>
          <p:nvPr/>
        </p:nvSpPr>
        <p:spPr>
          <a:xfrm>
            <a:off x="3638398" y="6147511"/>
            <a:ext cx="2553005" cy="181051"/>
          </a:xfrm>
          <a:prstGeom prst="rect">
            <a:avLst/>
          </a:prstGeom>
          <a:noFill/>
          <a:ln/>
        </p:spPr>
        <p:txBody>
          <a:bodyPr wrap="none" lIns="0" tIns="0" rIns="0" bIns="0" rtlCol="0" anchor="ctr"/>
          <a:lstStyle/>
          <a:p>
            <a:pPr marL="0" indent="0" algn="l">
              <a:buNone/>
            </a:pPr>
            <a:r>
              <a:rPr lang="en-US" sz="1000">
                <a:solidFill>
                  <a:srgbClr val="E5E7EB"/>
                </a:solidFill>
                <a:latin typeface="Raleway" pitchFamily="34" charset="0"/>
                <a:ea typeface="Raleway" pitchFamily="34" charset="-122"/>
                <a:cs typeface="Raleway" pitchFamily="34" charset="-120"/>
              </a:rPr>
              <a:t>Hiring target</a:t>
            </a:r>
            <a:endParaRPr lang="en-US" sz="1000"/>
          </a:p>
        </p:txBody>
      </p:sp>
      <p:sp>
        <p:nvSpPr>
          <p:cNvPr id="42" name="Text 35"/>
          <p:cNvSpPr txBox="1"/>
          <p:nvPr/>
        </p:nvSpPr>
        <p:spPr>
          <a:xfrm>
            <a:off x="6305702" y="5857646"/>
            <a:ext cx="2830982" cy="257861"/>
          </a:xfrm>
          <a:prstGeom prst="rect">
            <a:avLst/>
          </a:prstGeom>
          <a:noFill/>
          <a:ln/>
        </p:spPr>
        <p:txBody>
          <a:bodyPr wrap="none" lIns="0" tIns="0" rIns="0" bIns="0" rtlCol="0" anchor="ctr"/>
          <a:lstStyle/>
          <a:p>
            <a:pPr marL="0" indent="0" algn="l">
              <a:buNone/>
            </a:pPr>
            <a:r>
              <a:rPr lang="en-US" sz="1600" b="1">
                <a:solidFill>
                  <a:srgbClr val="2A9D8F"/>
                </a:solidFill>
                <a:latin typeface="Oswald" pitchFamily="34" charset="0"/>
                <a:ea typeface="Oswald" pitchFamily="34" charset="-122"/>
                <a:cs typeface="Oswald" pitchFamily="34" charset="-120"/>
              </a:rPr>
              <a:t>[X]% junior workforce</a:t>
            </a:r>
            <a:endParaRPr lang="en-US" sz="1600"/>
          </a:p>
        </p:txBody>
      </p:sp>
      <p:sp>
        <p:nvSpPr>
          <p:cNvPr id="43" name="Text 36"/>
          <p:cNvSpPr txBox="1"/>
          <p:nvPr/>
        </p:nvSpPr>
        <p:spPr>
          <a:xfrm>
            <a:off x="6305702" y="6147511"/>
            <a:ext cx="2553005" cy="181051"/>
          </a:xfrm>
          <a:prstGeom prst="rect">
            <a:avLst/>
          </a:prstGeom>
          <a:noFill/>
          <a:ln/>
        </p:spPr>
        <p:txBody>
          <a:bodyPr wrap="none" lIns="0" tIns="0" rIns="0" bIns="0" rtlCol="0" anchor="ctr"/>
          <a:lstStyle/>
          <a:p>
            <a:pPr marL="0" indent="0" algn="l">
              <a:buNone/>
            </a:pPr>
            <a:r>
              <a:rPr lang="en-US" sz="1000">
                <a:solidFill>
                  <a:srgbClr val="E5E7EB"/>
                </a:solidFill>
                <a:latin typeface="Raleway" pitchFamily="34" charset="0"/>
                <a:ea typeface="Raleway" pitchFamily="34" charset="-122"/>
                <a:cs typeface="Raleway" pitchFamily="34" charset="-120"/>
              </a:rPr>
              <a:t>Level mix</a:t>
            </a:r>
            <a:endParaRPr lang="en-US" sz="1000"/>
          </a:p>
        </p:txBody>
      </p:sp>
      <p:sp>
        <p:nvSpPr>
          <p:cNvPr id="44" name="Text 37"/>
          <p:cNvSpPr txBox="1"/>
          <p:nvPr/>
        </p:nvSpPr>
        <p:spPr>
          <a:xfrm>
            <a:off x="8973007" y="5857646"/>
            <a:ext cx="3038551" cy="257861"/>
          </a:xfrm>
          <a:prstGeom prst="rect">
            <a:avLst/>
          </a:prstGeom>
          <a:noFill/>
          <a:ln/>
        </p:spPr>
        <p:txBody>
          <a:bodyPr wrap="none" lIns="0" tIns="0" rIns="0" bIns="0" rtlCol="0" anchor="ctr"/>
          <a:lstStyle/>
          <a:p>
            <a:pPr marL="0" indent="0" algn="l">
              <a:buNone/>
            </a:pPr>
            <a:r>
              <a:rPr lang="en-US" sz="1600" b="1">
                <a:solidFill>
                  <a:srgbClr val="D62839"/>
                </a:solidFill>
                <a:latin typeface="Oswald" pitchFamily="34" charset="0"/>
                <a:ea typeface="Oswald" pitchFamily="34" charset="-122"/>
                <a:cs typeface="Oswald" pitchFamily="34" charset="-120"/>
              </a:rPr>
              <a:t>[City] extension of [HQ]</a:t>
            </a:r>
            <a:endParaRPr lang="en-US" sz="1600"/>
          </a:p>
        </p:txBody>
      </p:sp>
      <p:sp>
        <p:nvSpPr>
          <p:cNvPr id="45" name="Text 38"/>
          <p:cNvSpPr txBox="1"/>
          <p:nvPr/>
        </p:nvSpPr>
        <p:spPr>
          <a:xfrm>
            <a:off x="8973007" y="6147511"/>
            <a:ext cx="2553005" cy="181051"/>
          </a:xfrm>
          <a:prstGeom prst="rect">
            <a:avLst/>
          </a:prstGeom>
          <a:noFill/>
          <a:ln/>
        </p:spPr>
        <p:txBody>
          <a:bodyPr wrap="none" lIns="0" tIns="0" rIns="0" bIns="0" rtlCol="0" anchor="ctr"/>
          <a:lstStyle/>
          <a:p>
            <a:pPr marL="0" indent="0" algn="l">
              <a:buNone/>
            </a:pPr>
            <a:r>
              <a:rPr lang="en-US" sz="1000">
                <a:solidFill>
                  <a:srgbClr val="E5E7EB"/>
                </a:solidFill>
                <a:latin typeface="Raleway" pitchFamily="34" charset="0"/>
                <a:ea typeface="Raleway" pitchFamily="34" charset="-122"/>
                <a:cs typeface="Raleway" pitchFamily="34" charset="-120"/>
              </a:rPr>
              <a:t>GCC mandate</a:t>
            </a:r>
            <a:endParaRPr lang="en-US" sz="100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334195" y="-476402"/>
            <a:ext cx="3333902" cy="3333902"/>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16b8f91e6d72561d8e86691bd4589640.svg"/>
          <p:cNvPicPr>
            <a:picLocks noChangeAspect="1"/>
          </p:cNvPicPr>
          <p:nvPr/>
        </p:nvPicPr>
        <p:blipFill>
          <a:blip>
            <a:extLst>
              <a:ext uri="{96DAC541-7B7A-43D3-8B79-37D633B846F1}">
                <asvg:svgBlip xmlns:asvg="http://schemas.microsoft.com/office/drawing/2016/SVG/main" r:embed="rId3"/>
              </a:ext>
            </a:extLst>
          </a:blip>
          <a:srcRect/>
          <a:stretch/>
        </p:blipFill>
        <p:spPr>
          <a:xfrm>
            <a:off x="381305" y="4572000"/>
            <a:ext cx="1904695" cy="1904695"/>
          </a:xfrm>
          <a:prstGeom prst="rect">
            <a:avLst/>
          </a:prstGeom>
        </p:spPr>
      </p:pic>
      <p:pic>
        <p:nvPicPr>
          <p:cNvPr id="6" name="Image 1" descr="gen-dedup-c43d37ec6b749a14b46300e23657ecc9.png"/>
          <p:cNvPicPr>
            <a:picLocks noChangeAspect="1"/>
          </p:cNvPicPr>
          <p:nvPr/>
        </p:nvPicPr>
        <p:blipFill>
          <a:blip r:embed="rId4"/>
          <a:srcRect l="-2" r="-2"/>
          <a:stretch/>
        </p:blipFill>
        <p:spPr>
          <a:xfrm>
            <a:off x="0" y="6743700"/>
            <a:ext cx="8128102" cy="114300"/>
          </a:xfrm>
          <a:prstGeom prst="rect">
            <a:avLst/>
          </a:prstGeom>
        </p:spPr>
      </p:pic>
      <p:pic>
        <p:nvPicPr>
          <p:cNvPr id="7" name="Image 2" descr="gen-dedup-ccb3fbefd7198ae67d29d234b7ba9a3d.png"/>
          <p:cNvPicPr>
            <a:picLocks noChangeAspect="1"/>
          </p:cNvPicPr>
          <p:nvPr/>
        </p:nvPicPr>
        <p:blipFill>
          <a:blip r:embed="rId5"/>
          <a:srcRect t="-4" b="-4"/>
          <a:stretch/>
        </p:blipFill>
        <p:spPr>
          <a:xfrm>
            <a:off x="8128102" y="6743700"/>
            <a:ext cx="4063594" cy="114300"/>
          </a:xfrm>
          <a:prstGeom prst="rect">
            <a:avLst/>
          </a:prstGeom>
        </p:spPr>
      </p:pic>
      <p:pic>
        <p:nvPicPr>
          <p:cNvPr id="8" name="Image 3" descr="gen-dedup-c72c85b07e3f177762516dd89615ea68.png"/>
          <p:cNvPicPr>
            <a:picLocks noChangeAspect="1"/>
          </p:cNvPicPr>
          <p:nvPr/>
        </p:nvPicPr>
        <p:blipFill>
          <a:blip r:embed="rId6"/>
          <a:srcRect t="-217" b="-217"/>
          <a:stretch/>
        </p:blipFill>
        <p:spPr>
          <a:xfrm>
            <a:off x="457200" y="439826"/>
            <a:ext cx="75895" cy="476402"/>
          </a:xfrm>
          <a:prstGeom prst="rect">
            <a:avLst/>
          </a:prstGeom>
        </p:spPr>
      </p:pic>
      <p:sp>
        <p:nvSpPr>
          <p:cNvPr id="9" name="Text 3"/>
          <p:cNvSpPr txBox="1"/>
          <p:nvPr/>
        </p:nvSpPr>
        <p:spPr>
          <a:xfrm>
            <a:off x="724205" y="286207"/>
            <a:ext cx="5162702" cy="419710"/>
          </a:xfrm>
          <a:prstGeom prst="rect">
            <a:avLst/>
          </a:prstGeom>
          <a:noFill/>
          <a:ln/>
        </p:spPr>
        <p:txBody>
          <a:bodyPr wrap="none" lIns="0" tIns="0" rIns="0" bIns="0" rtlCol="0" anchor="ctr"/>
          <a:lstStyle/>
          <a:p>
            <a:pPr marL="0" indent="0" algn="l">
              <a:buNone/>
            </a:pPr>
            <a:r>
              <a:rPr lang="en-US" sz="3300" b="1" kern="0" spc="-82">
                <a:solidFill>
                  <a:srgbClr val="111827"/>
                </a:solidFill>
                <a:latin typeface="Oswald" pitchFamily="34" charset="0"/>
                <a:ea typeface="Oswald" pitchFamily="34" charset="-122"/>
                <a:cs typeface="Oswald" pitchFamily="34" charset="-120"/>
              </a:rPr>
              <a:t>TAILORED APPROACH</a:t>
            </a:r>
            <a:endParaRPr lang="en-US" sz="3300"/>
          </a:p>
        </p:txBody>
      </p:sp>
      <p:sp>
        <p:nvSpPr>
          <p:cNvPr id="10" name="Text 4"/>
          <p:cNvSpPr txBox="1"/>
          <p:nvPr/>
        </p:nvSpPr>
        <p:spPr>
          <a:xfrm>
            <a:off x="724205" y="761695"/>
            <a:ext cx="5848502" cy="314554"/>
          </a:xfrm>
          <a:prstGeom prst="rect">
            <a:avLst/>
          </a:prstGeom>
          <a:noFill/>
          <a:ln/>
        </p:spPr>
        <p:txBody>
          <a:bodyPr wrap="none" lIns="0" tIns="0" rIns="0" bIns="0" rtlCol="0" anchor="ctr"/>
          <a:lstStyle/>
          <a:p>
            <a:pPr marL="0" indent="0" algn="l">
              <a:buNone/>
            </a:pPr>
            <a:r>
              <a:rPr lang="en-US" sz="1600" b="1" kern="0" spc="81">
                <a:solidFill>
                  <a:srgbClr val="2A9D8F"/>
                </a:solidFill>
                <a:latin typeface="Roboto Condensed" pitchFamily="34" charset="0"/>
                <a:ea typeface="Roboto Condensed" pitchFamily="34" charset="-122"/>
                <a:cs typeface="Roboto Condensed" pitchFamily="34" charset="-120"/>
              </a:rPr>
              <a:t>JOULESTOWATTS — TAILORED APPROACH FOR [CLIENT]</a:t>
            </a:r>
            <a:endParaRPr lang="en-US" sz="1600"/>
          </a:p>
        </p:txBody>
      </p:sp>
      <p:sp>
        <p:nvSpPr>
          <p:cNvPr id="11" name="Shape 5"/>
          <p:cNvSpPr/>
          <p:nvPr/>
        </p:nvSpPr>
        <p:spPr>
          <a:xfrm>
            <a:off x="724205" y="1185062"/>
            <a:ext cx="19202" cy="267005"/>
          </a:xfrm>
          <a:prstGeom prst="rect">
            <a:avLst/>
          </a:prstGeom>
          <a:solidFill>
            <a:srgbClr val="E5E7EB"/>
          </a:solidFill>
          <a:ln w="12700">
            <a:solidFill>
              <a:srgbClr val="E5E7EB">
                <a:alpha val="0"/>
              </a:srgbClr>
            </a:solidFill>
            <a:prstDash val="solid"/>
          </a:ln>
        </p:spPr>
        <p:txBody>
          <a:bodyPr/>
          <a:lstStyle/>
          <a:p>
            <a:endParaRPr lang="en-US"/>
          </a:p>
        </p:txBody>
      </p:sp>
      <p:sp>
        <p:nvSpPr>
          <p:cNvPr id="12" name="Text 6"/>
          <p:cNvSpPr txBox="1"/>
          <p:nvPr/>
        </p:nvSpPr>
        <p:spPr>
          <a:xfrm>
            <a:off x="857707" y="1185062"/>
            <a:ext cx="8172907" cy="267005"/>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Addressing [CLIENT]'s talent challenges with precision.</a:t>
            </a:r>
            <a:endParaRPr lang="en-US" sz="1300"/>
          </a:p>
        </p:txBody>
      </p:sp>
      <p:sp>
        <p:nvSpPr>
          <p:cNvPr id="13" name="Shape 7"/>
          <p:cNvSpPr/>
          <p:nvPr/>
        </p:nvSpPr>
        <p:spPr>
          <a:xfrm>
            <a:off x="9286646" y="381305"/>
            <a:ext cx="2447849" cy="485546"/>
          </a:xfrm>
          <a:prstGeom prst="roundRect">
            <a:avLst>
              <a:gd name="adj" fmla="val 50094"/>
            </a:avLst>
          </a:prstGeom>
          <a:solidFill>
            <a:srgbClr val="2A9D8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14" name="Text 8"/>
          <p:cNvSpPr txBox="1"/>
          <p:nvPr/>
        </p:nvSpPr>
        <p:spPr>
          <a:xfrm>
            <a:off x="9408262" y="495605"/>
            <a:ext cx="2205533" cy="257861"/>
          </a:xfrm>
          <a:prstGeom prst="rect">
            <a:avLst/>
          </a:prstGeom>
          <a:noFill/>
          <a:ln/>
        </p:spPr>
        <p:txBody>
          <a:bodyPr wrap="none" lIns="0" tIns="0" rIns="0" bIns="0" rtlCol="0" anchor="ctr"/>
          <a:lstStyle/>
          <a:p>
            <a:pPr marL="0" indent="0" algn="ctr">
              <a:buNone/>
            </a:pPr>
            <a:r>
              <a:rPr lang="en-US" sz="1300" b="1" kern="0" spc="66">
                <a:solidFill>
                  <a:srgbClr val="FFFFFF"/>
                </a:solidFill>
                <a:latin typeface="Oswald" pitchFamily="34" charset="0"/>
                <a:ea typeface="Oswald" pitchFamily="34" charset="-122"/>
                <a:cs typeface="Oswald" pitchFamily="34" charset="-120"/>
              </a:rPr>
              <a:t>WORKFORCE SOLUTIONS</a:t>
            </a:r>
            <a:endParaRPr lang="en-US" sz="1300"/>
          </a:p>
        </p:txBody>
      </p:sp>
      <p:pic>
        <p:nvPicPr>
          <p:cNvPr id="15" name="Image 4" descr="gen-dedup-95d112f40cf296f81bdd24a7d4987a4a.png"/>
          <p:cNvPicPr>
            <a:picLocks noChangeAspect="1"/>
          </p:cNvPicPr>
          <p:nvPr/>
        </p:nvPicPr>
        <p:blipFill>
          <a:blip r:embed="rId7"/>
          <a:srcRect l="-7" r="-7"/>
          <a:stretch/>
        </p:blipFill>
        <p:spPr>
          <a:xfrm>
            <a:off x="457200" y="1571854"/>
            <a:ext cx="5524805" cy="2428646"/>
          </a:xfrm>
          <a:prstGeom prst="rect">
            <a:avLst/>
          </a:prstGeom>
        </p:spPr>
      </p:pic>
      <p:sp>
        <p:nvSpPr>
          <p:cNvPr id="16" name="Shape 9"/>
          <p:cNvSpPr/>
          <p:nvPr/>
        </p:nvSpPr>
        <p:spPr>
          <a:xfrm>
            <a:off x="5219395" y="1571854"/>
            <a:ext cx="761695" cy="761695"/>
          </a:xfrm>
          <a:prstGeom prst="rect">
            <a:avLst/>
          </a:prstGeom>
          <a:solidFill>
            <a:srgbClr val="000000">
              <a:alpha val="2000"/>
            </a:srgbClr>
          </a:solidFill>
          <a:ln w="12700">
            <a:solidFill>
              <a:srgbClr val="FFFFFF">
                <a:alpha val="0"/>
              </a:srgbClr>
            </a:solidFill>
            <a:prstDash val="solid"/>
          </a:ln>
        </p:spPr>
        <p:txBody>
          <a:bodyPr/>
          <a:lstStyle/>
          <a:p>
            <a:endParaRPr lang="en-US"/>
          </a:p>
        </p:txBody>
      </p:sp>
      <p:sp>
        <p:nvSpPr>
          <p:cNvPr id="17" name="Shape 10"/>
          <p:cNvSpPr/>
          <p:nvPr/>
        </p:nvSpPr>
        <p:spPr>
          <a:xfrm>
            <a:off x="685800" y="1848002"/>
            <a:ext cx="428854" cy="428854"/>
          </a:xfrm>
          <a:prstGeom prst="roundRect">
            <a:avLst>
              <a:gd name="adj" fmla="val 22175"/>
            </a:avLst>
          </a:prstGeom>
          <a:solidFill>
            <a:srgbClr val="2A9D8F">
              <a:alpha val="8000"/>
            </a:srgbClr>
          </a:solidFill>
          <a:ln w="12700">
            <a:solidFill>
              <a:srgbClr val="FFFFFF">
                <a:alpha val="0"/>
              </a:srgbClr>
            </a:solidFill>
            <a:prstDash val="solid"/>
          </a:ln>
        </p:spPr>
        <p:txBody>
          <a:bodyPr/>
          <a:lstStyle/>
          <a:p>
            <a:endParaRPr lang="en-US"/>
          </a:p>
        </p:txBody>
      </p:sp>
      <p:pic>
        <p:nvPicPr>
          <p:cNvPr id="18" name="Image 5" descr="gen-dedup-05ba22bc3988e5bbe03600cefb5c4c1e.png"/>
          <p:cNvPicPr>
            <a:picLocks noChangeAspect="1"/>
          </p:cNvPicPr>
          <p:nvPr/>
        </p:nvPicPr>
        <p:blipFill>
          <a:blip r:embed="rId8"/>
          <a:srcRect t="-13131" b="-13131"/>
          <a:stretch/>
        </p:blipFill>
        <p:spPr>
          <a:xfrm>
            <a:off x="809244" y="1947672"/>
            <a:ext cx="181051" cy="228600"/>
          </a:xfrm>
          <a:prstGeom prst="rect">
            <a:avLst/>
          </a:prstGeom>
        </p:spPr>
      </p:pic>
      <p:sp>
        <p:nvSpPr>
          <p:cNvPr id="19" name="Text 11"/>
          <p:cNvSpPr txBox="1"/>
          <p:nvPr/>
        </p:nvSpPr>
        <p:spPr>
          <a:xfrm>
            <a:off x="5508346" y="1772107"/>
            <a:ext cx="451714" cy="514807"/>
          </a:xfrm>
          <a:prstGeom prst="rect">
            <a:avLst/>
          </a:prstGeom>
          <a:noFill/>
          <a:ln/>
        </p:spPr>
        <p:txBody>
          <a:bodyPr wrap="none" lIns="0" tIns="0" rIns="0" bIns="0" rtlCol="0" anchor="ctr"/>
          <a:lstStyle/>
          <a:p>
            <a:pPr marL="0" indent="0" algn="l">
              <a:buNone/>
            </a:pPr>
            <a:r>
              <a:rPr lang="en-US" sz="2700" b="1">
                <a:solidFill>
                  <a:srgbClr val="F3F4F6"/>
                </a:solidFill>
                <a:latin typeface="Oswald" pitchFamily="34" charset="0"/>
                <a:ea typeface="Oswald" pitchFamily="34" charset="-122"/>
                <a:cs typeface="Oswald" pitchFamily="34" charset="-120"/>
              </a:rPr>
              <a:t>01</a:t>
            </a:r>
            <a:endParaRPr lang="en-US" sz="2700"/>
          </a:p>
        </p:txBody>
      </p:sp>
      <p:sp>
        <p:nvSpPr>
          <p:cNvPr id="20" name="Text 12"/>
          <p:cNvSpPr txBox="1"/>
          <p:nvPr/>
        </p:nvSpPr>
        <p:spPr>
          <a:xfrm>
            <a:off x="685800" y="2391156"/>
            <a:ext cx="5067605" cy="277063"/>
          </a:xfrm>
          <a:prstGeom prst="rect">
            <a:avLst/>
          </a:prstGeom>
          <a:noFill/>
          <a:ln/>
        </p:spPr>
        <p:txBody>
          <a:bodyPr wrap="non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[Solution 1 Title]</a:t>
            </a:r>
            <a:endParaRPr lang="en-US" sz="1800"/>
          </a:p>
        </p:txBody>
      </p:sp>
      <p:sp>
        <p:nvSpPr>
          <p:cNvPr id="21" name="Text 13"/>
          <p:cNvSpPr txBox="1"/>
          <p:nvPr/>
        </p:nvSpPr>
        <p:spPr>
          <a:xfrm>
            <a:off x="685800" y="2779776"/>
            <a:ext cx="5067605" cy="609905"/>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Dedicated CA Talent Pipeline — Pre-mapped, warm bench of Chartered Accountants across PE, renewables, infra. Proactive sourcing from campus, Big 4, competitor pools — ready before demand hits.</a:t>
            </a:r>
            <a:endParaRPr lang="en-US" sz="1100"/>
          </a:p>
        </p:txBody>
      </p:sp>
      <p:sp>
        <p:nvSpPr>
          <p:cNvPr id="22" name="Shape 14"/>
          <p:cNvSpPr/>
          <p:nvPr/>
        </p:nvSpPr>
        <p:spPr>
          <a:xfrm>
            <a:off x="685800" y="3387852"/>
            <a:ext cx="5067605" cy="437998"/>
          </a:xfrm>
          <a:prstGeom prst="roundRect">
            <a:avLst>
              <a:gd name="adj" fmla="val 17328"/>
            </a:avLst>
          </a:prstGeom>
          <a:solidFill>
            <a:srgbClr val="F9FAFB"/>
          </a:solidFill>
          <a:ln/>
        </p:spPr>
        <p:txBody>
          <a:bodyPr/>
          <a:lstStyle/>
          <a:p>
            <a:endParaRPr lang="en-US"/>
          </a:p>
        </p:txBody>
      </p:sp>
      <p:sp>
        <p:nvSpPr>
          <p:cNvPr id="23" name="Shape 15"/>
          <p:cNvSpPr/>
          <p:nvPr/>
        </p:nvSpPr>
        <p:spPr>
          <a:xfrm>
            <a:off x="685800" y="3387852"/>
            <a:ext cx="38405" cy="437998"/>
          </a:xfrm>
          <a:prstGeom prst="roundRect">
            <a:avLst>
              <a:gd name="adj" fmla="val 197618"/>
            </a:avLst>
          </a:prstGeom>
          <a:solidFill>
            <a:srgbClr val="000000"/>
          </a:solidFill>
          <a:ln w="12700">
            <a:solidFill>
              <a:srgbClr val="000000">
                <a:alpha val="0"/>
              </a:srgbClr>
            </a:solidFill>
            <a:prstDash val="solid"/>
          </a:ln>
        </p:spPr>
        <p:txBody>
          <a:bodyPr/>
          <a:lstStyle/>
          <a:p>
            <a:endParaRPr lang="en-US"/>
          </a:p>
        </p:txBody>
      </p:sp>
      <p:sp>
        <p:nvSpPr>
          <p:cNvPr id="24" name="Text 16"/>
          <p:cNvSpPr txBox="1"/>
          <p:nvPr/>
        </p:nvSpPr>
        <p:spPr>
          <a:xfrm>
            <a:off x="1057046" y="3502152"/>
            <a:ext cx="4543654" cy="210312"/>
          </a:xfrm>
          <a:prstGeom prst="rect">
            <a:avLst/>
          </a:prstGeom>
          <a:noFill/>
          <a:ln/>
        </p:spPr>
        <p:txBody>
          <a:bodyPr wrap="non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Solves: Niche Talent + Sporadic Demand</a:t>
            </a:r>
            <a:endParaRPr lang="en-US" sz="1000"/>
          </a:p>
        </p:txBody>
      </p:sp>
      <p:pic>
        <p:nvPicPr>
          <p:cNvPr id="25" name="Image 6" descr="gen-dedup-b5a86b1bccfd13e1ee7bd0a5c9907751.png"/>
          <p:cNvPicPr>
            <a:picLocks noChangeAspect="1"/>
          </p:cNvPicPr>
          <p:nvPr/>
        </p:nvPicPr>
        <p:blipFill>
          <a:blip r:embed="rId9"/>
          <a:srcRect t="-13478" b="-13478"/>
          <a:stretch/>
        </p:blipFill>
        <p:spPr>
          <a:xfrm>
            <a:off x="875995" y="3537814"/>
            <a:ext cx="105156" cy="133502"/>
          </a:xfrm>
          <a:prstGeom prst="rect">
            <a:avLst/>
          </a:prstGeom>
        </p:spPr>
      </p:pic>
      <p:pic>
        <p:nvPicPr>
          <p:cNvPr id="26" name="Image 7" descr="gen-dedup-95d112f40cf296f81bdd24a7d4987a4a.png"/>
          <p:cNvPicPr>
            <a:picLocks noChangeAspect="1"/>
          </p:cNvPicPr>
          <p:nvPr/>
        </p:nvPicPr>
        <p:blipFill>
          <a:blip r:embed="rId7"/>
          <a:srcRect l="-7" r="-7"/>
          <a:stretch/>
        </p:blipFill>
        <p:spPr>
          <a:xfrm>
            <a:off x="6210605" y="1571854"/>
            <a:ext cx="5524805" cy="2428646"/>
          </a:xfrm>
          <a:prstGeom prst="rect">
            <a:avLst/>
          </a:prstGeom>
        </p:spPr>
      </p:pic>
      <p:sp>
        <p:nvSpPr>
          <p:cNvPr id="27" name="Shape 17"/>
          <p:cNvSpPr/>
          <p:nvPr/>
        </p:nvSpPr>
        <p:spPr>
          <a:xfrm>
            <a:off x="10972800" y="1571854"/>
            <a:ext cx="761695" cy="761695"/>
          </a:xfrm>
          <a:prstGeom prst="rect">
            <a:avLst/>
          </a:prstGeom>
          <a:solidFill>
            <a:srgbClr val="000000">
              <a:alpha val="2000"/>
            </a:srgbClr>
          </a:solidFill>
          <a:ln w="12700">
            <a:solidFill>
              <a:srgbClr val="FFFFFF">
                <a:alpha val="0"/>
              </a:srgbClr>
            </a:solidFill>
            <a:prstDash val="solid"/>
          </a:ln>
        </p:spPr>
        <p:txBody>
          <a:bodyPr/>
          <a:lstStyle/>
          <a:p>
            <a:endParaRPr lang="en-US"/>
          </a:p>
        </p:txBody>
      </p:sp>
      <p:sp>
        <p:nvSpPr>
          <p:cNvPr id="28" name="Shape 18"/>
          <p:cNvSpPr/>
          <p:nvPr/>
        </p:nvSpPr>
        <p:spPr>
          <a:xfrm>
            <a:off x="6439205" y="1848002"/>
            <a:ext cx="428854" cy="428854"/>
          </a:xfrm>
          <a:prstGeom prst="roundRect">
            <a:avLst>
              <a:gd name="adj" fmla="val 22175"/>
            </a:avLst>
          </a:prstGeom>
          <a:solidFill>
            <a:srgbClr val="D62839">
              <a:alpha val="5000"/>
            </a:srgbClr>
          </a:solidFill>
          <a:ln w="12700">
            <a:solidFill>
              <a:srgbClr val="FFFFFF">
                <a:alpha val="0"/>
              </a:srgbClr>
            </a:solidFill>
            <a:prstDash val="solid"/>
          </a:ln>
        </p:spPr>
        <p:txBody>
          <a:bodyPr/>
          <a:lstStyle/>
          <a:p>
            <a:endParaRPr lang="en-US"/>
          </a:p>
        </p:txBody>
      </p:sp>
      <p:pic>
        <p:nvPicPr>
          <p:cNvPr id="29" name="Image 8" descr="gen-dedup-bcfe80973f057fc6d9d91d2ed63b3815.png"/>
          <p:cNvPicPr>
            <a:picLocks noChangeAspect="1"/>
          </p:cNvPicPr>
          <p:nvPr/>
        </p:nvPicPr>
        <p:blipFill>
          <a:blip r:embed="rId10"/>
          <a:srcRect t="-28914" b="-28914"/>
          <a:stretch/>
        </p:blipFill>
        <p:spPr>
          <a:xfrm>
            <a:off x="6562649" y="1947672"/>
            <a:ext cx="181051" cy="228600"/>
          </a:xfrm>
          <a:prstGeom prst="rect">
            <a:avLst/>
          </a:prstGeom>
        </p:spPr>
      </p:pic>
      <p:sp>
        <p:nvSpPr>
          <p:cNvPr id="30" name="Text 19"/>
          <p:cNvSpPr txBox="1"/>
          <p:nvPr/>
        </p:nvSpPr>
        <p:spPr>
          <a:xfrm>
            <a:off x="11217859" y="1772107"/>
            <a:ext cx="455371" cy="514807"/>
          </a:xfrm>
          <a:prstGeom prst="rect">
            <a:avLst/>
          </a:prstGeom>
          <a:noFill/>
          <a:ln/>
        </p:spPr>
        <p:txBody>
          <a:bodyPr wrap="none" lIns="0" tIns="0" rIns="0" bIns="0" rtlCol="0" anchor="ctr"/>
          <a:lstStyle/>
          <a:p>
            <a:pPr marL="0" indent="0" algn="l">
              <a:buNone/>
            </a:pPr>
            <a:r>
              <a:rPr lang="en-US" sz="2700" b="1">
                <a:solidFill>
                  <a:srgbClr val="F3F4F6"/>
                </a:solidFill>
                <a:latin typeface="Oswald" pitchFamily="34" charset="0"/>
                <a:ea typeface="Oswald" pitchFamily="34" charset="-122"/>
                <a:cs typeface="Oswald" pitchFamily="34" charset="-120"/>
              </a:rPr>
              <a:t>02</a:t>
            </a:r>
            <a:endParaRPr lang="en-US" sz="2700"/>
          </a:p>
        </p:txBody>
      </p:sp>
      <p:sp>
        <p:nvSpPr>
          <p:cNvPr id="31" name="Text 20"/>
          <p:cNvSpPr txBox="1"/>
          <p:nvPr/>
        </p:nvSpPr>
        <p:spPr>
          <a:xfrm>
            <a:off x="6439205" y="2391156"/>
            <a:ext cx="5067605" cy="277063"/>
          </a:xfrm>
          <a:prstGeom prst="rect">
            <a:avLst/>
          </a:prstGeom>
          <a:noFill/>
          <a:ln/>
        </p:spPr>
        <p:txBody>
          <a:bodyPr wrap="non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[Solution 2 Title]</a:t>
            </a:r>
            <a:endParaRPr lang="en-US" sz="1800"/>
          </a:p>
        </p:txBody>
      </p:sp>
      <p:sp>
        <p:nvSpPr>
          <p:cNvPr id="32" name="Text 21"/>
          <p:cNvSpPr txBox="1"/>
          <p:nvPr/>
        </p:nvSpPr>
        <p:spPr>
          <a:xfrm>
            <a:off x="6439205" y="2779776"/>
            <a:ext cx="5067605" cy="609905"/>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Candidate Commitment Engine — Structured 90-day POFU: milestone touchpoints, early virtual onboarding, manager connects, counter-offer inoculation. Reduces offer drop from [X]% to single digits.</a:t>
            </a:r>
            <a:endParaRPr lang="en-US" sz="1100"/>
          </a:p>
        </p:txBody>
      </p:sp>
      <p:sp>
        <p:nvSpPr>
          <p:cNvPr id="33" name="Shape 22"/>
          <p:cNvSpPr/>
          <p:nvPr/>
        </p:nvSpPr>
        <p:spPr>
          <a:xfrm>
            <a:off x="6439205" y="3387852"/>
            <a:ext cx="5067605" cy="437998"/>
          </a:xfrm>
          <a:prstGeom prst="roundRect">
            <a:avLst>
              <a:gd name="adj" fmla="val 17328"/>
            </a:avLst>
          </a:prstGeom>
          <a:solidFill>
            <a:srgbClr val="F9FAFB"/>
          </a:solidFill>
          <a:ln/>
        </p:spPr>
        <p:txBody>
          <a:bodyPr/>
          <a:lstStyle/>
          <a:p>
            <a:endParaRPr lang="en-US"/>
          </a:p>
        </p:txBody>
      </p:sp>
      <p:sp>
        <p:nvSpPr>
          <p:cNvPr id="34" name="Shape 23"/>
          <p:cNvSpPr/>
          <p:nvPr/>
        </p:nvSpPr>
        <p:spPr>
          <a:xfrm>
            <a:off x="6439205" y="3387852"/>
            <a:ext cx="38405" cy="437998"/>
          </a:xfrm>
          <a:prstGeom prst="roundRect">
            <a:avLst>
              <a:gd name="adj" fmla="val 197618"/>
            </a:avLst>
          </a:prstGeom>
          <a:solidFill>
            <a:srgbClr val="000000"/>
          </a:solidFill>
          <a:ln w="12700">
            <a:solidFill>
              <a:srgbClr val="000000">
                <a:alpha val="0"/>
              </a:srgbClr>
            </a:solidFill>
            <a:prstDash val="solid"/>
          </a:ln>
        </p:spPr>
        <p:txBody>
          <a:bodyPr/>
          <a:lstStyle/>
          <a:p>
            <a:endParaRPr lang="en-US"/>
          </a:p>
        </p:txBody>
      </p:sp>
      <p:sp>
        <p:nvSpPr>
          <p:cNvPr id="35" name="Text 24"/>
          <p:cNvSpPr txBox="1"/>
          <p:nvPr/>
        </p:nvSpPr>
        <p:spPr>
          <a:xfrm>
            <a:off x="6810451" y="3502152"/>
            <a:ext cx="4543654" cy="210312"/>
          </a:xfrm>
          <a:prstGeom prst="rect">
            <a:avLst/>
          </a:prstGeom>
          <a:noFill/>
          <a:ln/>
        </p:spPr>
        <p:txBody>
          <a:bodyPr wrap="non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Solves: Offer Dropouts + Notice Period</a:t>
            </a:r>
            <a:endParaRPr lang="en-US" sz="1000"/>
          </a:p>
        </p:txBody>
      </p:sp>
      <p:pic>
        <p:nvPicPr>
          <p:cNvPr id="36" name="Image 9" descr="gen-dedup-812f619697984955bda52af315dc5a08.png"/>
          <p:cNvPicPr>
            <a:picLocks noChangeAspect="1"/>
          </p:cNvPicPr>
          <p:nvPr/>
        </p:nvPicPr>
        <p:blipFill>
          <a:blip r:embed="rId11"/>
          <a:srcRect t="-13478" b="-13478"/>
          <a:stretch/>
        </p:blipFill>
        <p:spPr>
          <a:xfrm>
            <a:off x="6629400" y="3537814"/>
            <a:ext cx="105156" cy="133502"/>
          </a:xfrm>
          <a:prstGeom prst="rect">
            <a:avLst/>
          </a:prstGeom>
        </p:spPr>
      </p:pic>
      <p:pic>
        <p:nvPicPr>
          <p:cNvPr id="37" name="Image 10" descr="gen-dedup-95d112f40cf296f81bdd24a7d4987a4a.png"/>
          <p:cNvPicPr>
            <a:picLocks noChangeAspect="1"/>
          </p:cNvPicPr>
          <p:nvPr/>
        </p:nvPicPr>
        <p:blipFill>
          <a:blip r:embed="rId7"/>
          <a:srcRect l="-7" r="-7"/>
          <a:stretch/>
        </p:blipFill>
        <p:spPr>
          <a:xfrm>
            <a:off x="457200" y="4143146"/>
            <a:ext cx="5524805" cy="2428646"/>
          </a:xfrm>
          <a:prstGeom prst="rect">
            <a:avLst/>
          </a:prstGeom>
        </p:spPr>
      </p:pic>
      <p:sp>
        <p:nvSpPr>
          <p:cNvPr id="38" name="Shape 25"/>
          <p:cNvSpPr/>
          <p:nvPr/>
        </p:nvSpPr>
        <p:spPr>
          <a:xfrm>
            <a:off x="5219395" y="4143146"/>
            <a:ext cx="761695" cy="761695"/>
          </a:xfrm>
          <a:prstGeom prst="rect">
            <a:avLst/>
          </a:prstGeom>
          <a:solidFill>
            <a:srgbClr val="000000">
              <a:alpha val="2000"/>
            </a:srgbClr>
          </a:solidFill>
          <a:ln w="12700">
            <a:solidFill>
              <a:srgbClr val="FFFFFF">
                <a:alpha val="0"/>
              </a:srgbClr>
            </a:solidFill>
            <a:prstDash val="solid"/>
          </a:ln>
        </p:spPr>
        <p:txBody>
          <a:bodyPr/>
          <a:lstStyle/>
          <a:p>
            <a:endParaRPr lang="en-US"/>
          </a:p>
        </p:txBody>
      </p:sp>
      <p:sp>
        <p:nvSpPr>
          <p:cNvPr id="39" name="Shape 26"/>
          <p:cNvSpPr/>
          <p:nvPr/>
        </p:nvSpPr>
        <p:spPr>
          <a:xfrm>
            <a:off x="685800" y="4419295"/>
            <a:ext cx="428854" cy="428854"/>
          </a:xfrm>
          <a:prstGeom prst="roundRect">
            <a:avLst>
              <a:gd name="adj" fmla="val 22175"/>
            </a:avLst>
          </a:prstGeom>
          <a:solidFill>
            <a:srgbClr val="2A9D8F">
              <a:alpha val="8000"/>
            </a:srgbClr>
          </a:solidFill>
          <a:ln w="12700">
            <a:solidFill>
              <a:srgbClr val="FFFFFF">
                <a:alpha val="0"/>
              </a:srgbClr>
            </a:solidFill>
            <a:prstDash val="solid"/>
          </a:ln>
        </p:spPr>
        <p:txBody>
          <a:bodyPr/>
          <a:lstStyle/>
          <a:p>
            <a:endParaRPr lang="en-US"/>
          </a:p>
        </p:txBody>
      </p:sp>
      <p:pic>
        <p:nvPicPr>
          <p:cNvPr id="40" name="Image 11" descr="gen-dedup-6476ff3035aeb0817ff39e799f5ab604.png"/>
          <p:cNvPicPr>
            <a:picLocks noChangeAspect="1"/>
          </p:cNvPicPr>
          <p:nvPr/>
        </p:nvPicPr>
        <p:blipFill>
          <a:blip r:embed="rId12"/>
          <a:srcRect l="-2800" r="-2800"/>
          <a:stretch/>
        </p:blipFill>
        <p:spPr>
          <a:xfrm>
            <a:off x="809244" y="4519879"/>
            <a:ext cx="181051" cy="228600"/>
          </a:xfrm>
          <a:prstGeom prst="rect">
            <a:avLst/>
          </a:prstGeom>
        </p:spPr>
      </p:pic>
      <p:sp>
        <p:nvSpPr>
          <p:cNvPr id="41" name="Text 27"/>
          <p:cNvSpPr txBox="1"/>
          <p:nvPr/>
        </p:nvSpPr>
        <p:spPr>
          <a:xfrm>
            <a:off x="5464454" y="4343400"/>
            <a:ext cx="455371" cy="514807"/>
          </a:xfrm>
          <a:prstGeom prst="rect">
            <a:avLst/>
          </a:prstGeom>
          <a:noFill/>
          <a:ln/>
        </p:spPr>
        <p:txBody>
          <a:bodyPr wrap="none" lIns="0" tIns="0" rIns="0" bIns="0" rtlCol="0" anchor="ctr"/>
          <a:lstStyle/>
          <a:p>
            <a:pPr marL="0" indent="0" algn="l">
              <a:buNone/>
            </a:pPr>
            <a:r>
              <a:rPr lang="en-US" sz="2700" b="1">
                <a:solidFill>
                  <a:srgbClr val="F3F4F6"/>
                </a:solidFill>
                <a:latin typeface="Oswald" pitchFamily="34" charset="0"/>
                <a:ea typeface="Oswald" pitchFamily="34" charset="-122"/>
                <a:cs typeface="Oswald" pitchFamily="34" charset="-120"/>
              </a:rPr>
              <a:t>03</a:t>
            </a:r>
            <a:endParaRPr lang="en-US" sz="2700"/>
          </a:p>
        </p:txBody>
      </p:sp>
      <p:sp>
        <p:nvSpPr>
          <p:cNvPr id="42" name="Text 28"/>
          <p:cNvSpPr txBox="1"/>
          <p:nvPr/>
        </p:nvSpPr>
        <p:spPr>
          <a:xfrm>
            <a:off x="685800" y="4962449"/>
            <a:ext cx="5067605" cy="277063"/>
          </a:xfrm>
          <a:prstGeom prst="rect">
            <a:avLst/>
          </a:prstGeom>
          <a:noFill/>
          <a:ln/>
        </p:spPr>
        <p:txBody>
          <a:bodyPr wrap="non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[Solution 3 Title]</a:t>
            </a:r>
            <a:endParaRPr lang="en-US" sz="1800"/>
          </a:p>
        </p:txBody>
      </p:sp>
      <p:sp>
        <p:nvSpPr>
          <p:cNvPr id="43" name="Text 29"/>
          <p:cNvSpPr txBox="1"/>
          <p:nvPr/>
        </p:nvSpPr>
        <p:spPr>
          <a:xfrm>
            <a:off x="685800" y="5351069"/>
            <a:ext cx="5067605" cy="609905"/>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WFO Employer Brand Strategy — Position 5-day WFO as a career accelerator: same role as HQ, in-person mentorship, global parity. Target candidates already in-office or returning.</a:t>
            </a:r>
            <a:endParaRPr lang="en-US" sz="1100"/>
          </a:p>
        </p:txBody>
      </p:sp>
      <p:sp>
        <p:nvSpPr>
          <p:cNvPr id="44" name="Shape 30"/>
          <p:cNvSpPr/>
          <p:nvPr/>
        </p:nvSpPr>
        <p:spPr>
          <a:xfrm>
            <a:off x="685800" y="5959145"/>
            <a:ext cx="5067605" cy="437998"/>
          </a:xfrm>
          <a:prstGeom prst="roundRect">
            <a:avLst>
              <a:gd name="adj" fmla="val 17328"/>
            </a:avLst>
          </a:prstGeom>
          <a:solidFill>
            <a:srgbClr val="F9FAFB"/>
          </a:solidFill>
          <a:ln/>
        </p:spPr>
        <p:txBody>
          <a:bodyPr/>
          <a:lstStyle/>
          <a:p>
            <a:endParaRPr lang="en-US"/>
          </a:p>
        </p:txBody>
      </p:sp>
      <p:sp>
        <p:nvSpPr>
          <p:cNvPr id="45" name="Shape 31"/>
          <p:cNvSpPr/>
          <p:nvPr/>
        </p:nvSpPr>
        <p:spPr>
          <a:xfrm>
            <a:off x="685800" y="5959145"/>
            <a:ext cx="38405" cy="437998"/>
          </a:xfrm>
          <a:prstGeom prst="roundRect">
            <a:avLst>
              <a:gd name="adj" fmla="val 197618"/>
            </a:avLst>
          </a:prstGeom>
          <a:solidFill>
            <a:srgbClr val="000000"/>
          </a:solidFill>
          <a:ln w="12700">
            <a:solidFill>
              <a:srgbClr val="000000">
                <a:alpha val="0"/>
              </a:srgbClr>
            </a:solidFill>
            <a:prstDash val="solid"/>
          </a:ln>
        </p:spPr>
        <p:txBody>
          <a:bodyPr/>
          <a:lstStyle/>
          <a:p>
            <a:endParaRPr lang="en-US"/>
          </a:p>
        </p:txBody>
      </p:sp>
      <p:sp>
        <p:nvSpPr>
          <p:cNvPr id="46" name="Text 32"/>
          <p:cNvSpPr txBox="1"/>
          <p:nvPr/>
        </p:nvSpPr>
        <p:spPr>
          <a:xfrm>
            <a:off x="1057046" y="6073445"/>
            <a:ext cx="4543654" cy="210312"/>
          </a:xfrm>
          <a:prstGeom prst="rect">
            <a:avLst/>
          </a:prstGeom>
          <a:noFill/>
          <a:ln/>
        </p:spPr>
        <p:txBody>
          <a:bodyPr wrap="non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Solves: WFO Resistance + Brand</a:t>
            </a:r>
            <a:endParaRPr lang="en-US" sz="1000"/>
          </a:p>
        </p:txBody>
      </p:sp>
      <p:pic>
        <p:nvPicPr>
          <p:cNvPr id="47" name="Image 12" descr="gen-dedup-b5a86b1bccfd13e1ee7bd0a5c9907751.png"/>
          <p:cNvPicPr>
            <a:picLocks noChangeAspect="1"/>
          </p:cNvPicPr>
          <p:nvPr/>
        </p:nvPicPr>
        <p:blipFill>
          <a:blip r:embed="rId9"/>
          <a:srcRect t="-13478" b="-13478"/>
          <a:stretch/>
        </p:blipFill>
        <p:spPr>
          <a:xfrm>
            <a:off x="875995" y="6110021"/>
            <a:ext cx="105156" cy="133502"/>
          </a:xfrm>
          <a:prstGeom prst="rect">
            <a:avLst/>
          </a:prstGeom>
        </p:spPr>
      </p:pic>
      <p:pic>
        <p:nvPicPr>
          <p:cNvPr id="48" name="Image 13" descr="gen-dedup-95d112f40cf296f81bdd24a7d4987a4a.png"/>
          <p:cNvPicPr>
            <a:picLocks noChangeAspect="1"/>
          </p:cNvPicPr>
          <p:nvPr/>
        </p:nvPicPr>
        <p:blipFill>
          <a:blip r:embed="rId7"/>
          <a:srcRect l="-7" r="-7"/>
          <a:stretch/>
        </p:blipFill>
        <p:spPr>
          <a:xfrm>
            <a:off x="6210605" y="4143146"/>
            <a:ext cx="5524805" cy="2428646"/>
          </a:xfrm>
          <a:prstGeom prst="rect">
            <a:avLst/>
          </a:prstGeom>
        </p:spPr>
      </p:pic>
      <p:sp>
        <p:nvSpPr>
          <p:cNvPr id="49" name="Shape 33"/>
          <p:cNvSpPr/>
          <p:nvPr/>
        </p:nvSpPr>
        <p:spPr>
          <a:xfrm>
            <a:off x="10972800" y="4143146"/>
            <a:ext cx="761695" cy="761695"/>
          </a:xfrm>
          <a:prstGeom prst="rect">
            <a:avLst/>
          </a:prstGeom>
          <a:solidFill>
            <a:srgbClr val="000000">
              <a:alpha val="2000"/>
            </a:srgbClr>
          </a:solidFill>
          <a:ln w="12700">
            <a:solidFill>
              <a:srgbClr val="FFFFFF">
                <a:alpha val="0"/>
              </a:srgbClr>
            </a:solidFill>
            <a:prstDash val="solid"/>
          </a:ln>
        </p:spPr>
        <p:txBody>
          <a:bodyPr/>
          <a:lstStyle/>
          <a:p>
            <a:endParaRPr lang="en-US"/>
          </a:p>
        </p:txBody>
      </p:sp>
      <p:sp>
        <p:nvSpPr>
          <p:cNvPr id="50" name="Shape 34"/>
          <p:cNvSpPr/>
          <p:nvPr/>
        </p:nvSpPr>
        <p:spPr>
          <a:xfrm>
            <a:off x="6439205" y="4419295"/>
            <a:ext cx="428854" cy="428854"/>
          </a:xfrm>
          <a:prstGeom prst="roundRect">
            <a:avLst>
              <a:gd name="adj" fmla="val 22175"/>
            </a:avLst>
          </a:prstGeom>
          <a:solidFill>
            <a:srgbClr val="D62839">
              <a:alpha val="5000"/>
            </a:srgbClr>
          </a:solidFill>
          <a:ln w="12700">
            <a:solidFill>
              <a:srgbClr val="FFFFFF">
                <a:alpha val="0"/>
              </a:srgbClr>
            </a:solidFill>
            <a:prstDash val="solid"/>
          </a:ln>
        </p:spPr>
        <p:txBody>
          <a:bodyPr/>
          <a:lstStyle/>
          <a:p>
            <a:endParaRPr lang="en-US"/>
          </a:p>
        </p:txBody>
      </p:sp>
      <p:pic>
        <p:nvPicPr>
          <p:cNvPr id="51" name="Image 14" descr="gen-dedup-83b2b39c1654ef06d127da6f7bb8f2a0.png"/>
          <p:cNvPicPr>
            <a:picLocks noChangeAspect="1"/>
          </p:cNvPicPr>
          <p:nvPr/>
        </p:nvPicPr>
        <p:blipFill>
          <a:blip r:embed="rId13"/>
          <a:srcRect t="-28914" b="-28914"/>
          <a:stretch/>
        </p:blipFill>
        <p:spPr>
          <a:xfrm>
            <a:off x="6562649" y="4519879"/>
            <a:ext cx="181051" cy="228600"/>
          </a:xfrm>
          <a:prstGeom prst="rect">
            <a:avLst/>
          </a:prstGeom>
        </p:spPr>
      </p:pic>
      <p:sp>
        <p:nvSpPr>
          <p:cNvPr id="52" name="Text 35"/>
          <p:cNvSpPr txBox="1"/>
          <p:nvPr/>
        </p:nvSpPr>
        <p:spPr>
          <a:xfrm>
            <a:off x="11214202" y="4343400"/>
            <a:ext cx="455371" cy="514807"/>
          </a:xfrm>
          <a:prstGeom prst="rect">
            <a:avLst/>
          </a:prstGeom>
          <a:noFill/>
          <a:ln/>
        </p:spPr>
        <p:txBody>
          <a:bodyPr wrap="none" lIns="0" tIns="0" rIns="0" bIns="0" rtlCol="0" anchor="ctr"/>
          <a:lstStyle/>
          <a:p>
            <a:pPr marL="0" indent="0" algn="l">
              <a:buNone/>
            </a:pPr>
            <a:r>
              <a:rPr lang="en-US" sz="2700" b="1">
                <a:solidFill>
                  <a:srgbClr val="F3F4F6"/>
                </a:solidFill>
                <a:latin typeface="Oswald" pitchFamily="34" charset="0"/>
                <a:ea typeface="Oswald" pitchFamily="34" charset="-122"/>
                <a:cs typeface="Oswald" pitchFamily="34" charset="-120"/>
              </a:rPr>
              <a:t>04</a:t>
            </a:r>
            <a:endParaRPr lang="en-US" sz="2700"/>
          </a:p>
        </p:txBody>
      </p:sp>
      <p:sp>
        <p:nvSpPr>
          <p:cNvPr id="53" name="Text 36"/>
          <p:cNvSpPr txBox="1"/>
          <p:nvPr/>
        </p:nvSpPr>
        <p:spPr>
          <a:xfrm>
            <a:off x="6439205" y="4962449"/>
            <a:ext cx="5067605" cy="277063"/>
          </a:xfrm>
          <a:prstGeom prst="rect">
            <a:avLst/>
          </a:prstGeom>
          <a:noFill/>
          <a:ln/>
        </p:spPr>
        <p:txBody>
          <a:bodyPr wrap="non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[Solution 4 Title]</a:t>
            </a:r>
            <a:endParaRPr lang="en-US" sz="1800"/>
          </a:p>
        </p:txBody>
      </p:sp>
      <p:sp>
        <p:nvSpPr>
          <p:cNvPr id="54" name="Text 37"/>
          <p:cNvSpPr txBox="1"/>
          <p:nvPr/>
        </p:nvSpPr>
        <p:spPr>
          <a:xfrm>
            <a:off x="6439205" y="5351069"/>
            <a:ext cx="5067605" cy="609905"/>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Managed RPO Partnership — Consolidated recruitment ops across all BUs with a dedicated team. Eliminates vendor fragmentation. Data-driven hiring intelligence for workforce planning.</a:t>
            </a:r>
            <a:endParaRPr lang="en-US" sz="1100"/>
          </a:p>
        </p:txBody>
      </p:sp>
      <p:sp>
        <p:nvSpPr>
          <p:cNvPr id="55" name="Shape 38"/>
          <p:cNvSpPr/>
          <p:nvPr/>
        </p:nvSpPr>
        <p:spPr>
          <a:xfrm>
            <a:off x="6439205" y="5959145"/>
            <a:ext cx="5067605" cy="437998"/>
          </a:xfrm>
          <a:prstGeom prst="roundRect">
            <a:avLst>
              <a:gd name="adj" fmla="val 17328"/>
            </a:avLst>
          </a:prstGeom>
          <a:solidFill>
            <a:srgbClr val="F9FAFB"/>
          </a:solidFill>
          <a:ln/>
        </p:spPr>
        <p:txBody>
          <a:bodyPr/>
          <a:lstStyle/>
          <a:p>
            <a:endParaRPr lang="en-US"/>
          </a:p>
        </p:txBody>
      </p:sp>
      <p:sp>
        <p:nvSpPr>
          <p:cNvPr id="56" name="Shape 39"/>
          <p:cNvSpPr/>
          <p:nvPr/>
        </p:nvSpPr>
        <p:spPr>
          <a:xfrm>
            <a:off x="6439205" y="5959145"/>
            <a:ext cx="38405" cy="437998"/>
          </a:xfrm>
          <a:prstGeom prst="roundRect">
            <a:avLst>
              <a:gd name="adj" fmla="val 197618"/>
            </a:avLst>
          </a:prstGeom>
          <a:solidFill>
            <a:srgbClr val="000000"/>
          </a:solidFill>
          <a:ln w="12700">
            <a:solidFill>
              <a:srgbClr val="000000">
                <a:alpha val="0"/>
              </a:srgbClr>
            </a:solidFill>
            <a:prstDash val="solid"/>
          </a:ln>
        </p:spPr>
        <p:txBody>
          <a:bodyPr/>
          <a:lstStyle/>
          <a:p>
            <a:endParaRPr lang="en-US"/>
          </a:p>
        </p:txBody>
      </p:sp>
      <p:sp>
        <p:nvSpPr>
          <p:cNvPr id="57" name="Text 40"/>
          <p:cNvSpPr txBox="1"/>
          <p:nvPr/>
        </p:nvSpPr>
        <p:spPr>
          <a:xfrm>
            <a:off x="6810451" y="6073445"/>
            <a:ext cx="4543654" cy="210312"/>
          </a:xfrm>
          <a:prstGeom prst="rect">
            <a:avLst/>
          </a:prstGeom>
          <a:noFill/>
          <a:ln/>
        </p:spPr>
        <p:txBody>
          <a:bodyPr wrap="non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Solves: Fragmented Hiring + Scale</a:t>
            </a:r>
            <a:endParaRPr lang="en-US" sz="1000"/>
          </a:p>
        </p:txBody>
      </p:sp>
      <p:pic>
        <p:nvPicPr>
          <p:cNvPr id="58" name="Image 15" descr="gen-dedup-812f619697984955bda52af315dc5a08.png"/>
          <p:cNvPicPr>
            <a:picLocks noChangeAspect="1"/>
          </p:cNvPicPr>
          <p:nvPr/>
        </p:nvPicPr>
        <p:blipFill>
          <a:blip r:embed="rId11"/>
          <a:srcRect t="-13478" b="-13478"/>
          <a:stretch/>
        </p:blipFill>
        <p:spPr>
          <a:xfrm>
            <a:off x="6629400" y="6110021"/>
            <a:ext cx="105156" cy="133502"/>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382305" y="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sp>
        <p:nvSpPr>
          <p:cNvPr id="5" name="Shape 3"/>
          <p:cNvSpPr/>
          <p:nvPr/>
        </p:nvSpPr>
        <p:spPr>
          <a:xfrm>
            <a:off x="-476402" y="3524098"/>
            <a:ext cx="2381098" cy="2381098"/>
          </a:xfrm>
          <a:prstGeom prst="ellipse">
            <a:avLst/>
          </a:prstGeom>
          <a:solidFill>
            <a:srgbClr val="D62839">
              <a:alpha val="2000"/>
            </a:srgbClr>
          </a:solidFill>
          <a:ln w="12700">
            <a:solidFill>
              <a:srgbClr val="FFFFFF">
                <a:alpha val="0"/>
              </a:srgbClr>
            </a:solidFill>
            <a:prstDash val="solid"/>
          </a:ln>
        </p:spPr>
        <p:txBody>
          <a:bodyPr/>
          <a:lstStyle/>
          <a:p>
            <a:endParaRPr lang="en-US"/>
          </a:p>
        </p:txBody>
      </p:sp>
      <p:pic>
        <p:nvPicPr>
          <p:cNvPr id="6" name="Image 0" descr="gen-dedup-37abb9d8cc081a24feb608c288538026.png"/>
          <p:cNvPicPr>
            <a:picLocks noChangeAspect="1"/>
          </p:cNvPicPr>
          <p:nvPr/>
        </p:nvPicPr>
        <p:blipFill>
          <a:blip r:embed="rId3"/>
          <a:srcRect l="-198" r="-198"/>
          <a:stretch/>
        </p:blipFill>
        <p:spPr>
          <a:xfrm>
            <a:off x="0" y="0"/>
            <a:ext cx="8124444" cy="75895"/>
          </a:xfrm>
          <a:prstGeom prst="rect">
            <a:avLst/>
          </a:prstGeom>
        </p:spPr>
      </p:pic>
      <p:pic>
        <p:nvPicPr>
          <p:cNvPr id="7" name="Image 1" descr="gen-dedup-c2c9136402f20c216bf7cbcc052ad1a0.png"/>
          <p:cNvPicPr>
            <a:picLocks noChangeAspect="1"/>
          </p:cNvPicPr>
          <p:nvPr/>
        </p:nvPicPr>
        <p:blipFill>
          <a:blip r:embed="rId4"/>
          <a:srcRect l="-202" r="-202"/>
          <a:stretch/>
        </p:blipFill>
        <p:spPr>
          <a:xfrm>
            <a:off x="8124444" y="0"/>
            <a:ext cx="4067251" cy="75895"/>
          </a:xfrm>
          <a:prstGeom prst="rect">
            <a:avLst/>
          </a:prstGeom>
        </p:spPr>
      </p:pic>
      <p:pic>
        <p:nvPicPr>
          <p:cNvPr id="8" name="Image 2" descr="gen-dedup-50f81f9bdcb5400074144f35c0ecb91c.png"/>
          <p:cNvPicPr>
            <a:picLocks noChangeAspect="1"/>
          </p:cNvPicPr>
          <p:nvPr/>
        </p:nvPicPr>
        <p:blipFill>
          <a:blip r:embed="rId5"/>
          <a:srcRect l="-7" r="-7"/>
          <a:stretch/>
        </p:blipFill>
        <p:spPr>
          <a:xfrm>
            <a:off x="2704795" y="1238098"/>
            <a:ext cx="3143707" cy="4457700"/>
          </a:xfrm>
          <a:prstGeom prst="rect">
            <a:avLst/>
          </a:prstGeom>
        </p:spPr>
      </p:pic>
      <p:sp>
        <p:nvSpPr>
          <p:cNvPr id="9" name="Shape 4"/>
          <p:cNvSpPr/>
          <p:nvPr/>
        </p:nvSpPr>
        <p:spPr>
          <a:xfrm>
            <a:off x="609905" y="5762549"/>
            <a:ext cx="10992002" cy="847649"/>
          </a:xfrm>
          <a:prstGeom prst="roundRect">
            <a:avLst>
              <a:gd name="adj" fmla="val 19393"/>
            </a:avLst>
          </a:prstGeom>
          <a:solidFill>
            <a:srgbClr val="F8FAFC"/>
          </a:solidFill>
          <a:ln w="12700">
            <a:solidFill>
              <a:srgbClr val="E2E8F0"/>
            </a:solidFill>
            <a:prstDash val="solid"/>
          </a:ln>
          <a:effectLst>
            <a:outerShdw blurRad="63500" dist="38100" dir="16200000" algn="bl" rotWithShape="0">
              <a:srgbClr val="000000">
                <a:alpha val="2000"/>
              </a:srgbClr>
            </a:outerShdw>
          </a:effectLst>
        </p:spPr>
        <p:txBody>
          <a:bodyPr/>
          <a:lstStyle/>
          <a:p>
            <a:endParaRPr lang="en-US"/>
          </a:p>
        </p:txBody>
      </p:sp>
      <p:pic>
        <p:nvPicPr>
          <p:cNvPr id="10" name="Image 3" descr="gen-dedup-1004aa64a550a79a04cd74d7f57c96c1.png"/>
          <p:cNvPicPr>
            <a:picLocks noChangeAspect="1"/>
          </p:cNvPicPr>
          <p:nvPr/>
        </p:nvPicPr>
        <p:blipFill>
          <a:blip r:embed="rId6"/>
          <a:srcRect l="-2083" r="-2083"/>
          <a:stretch/>
        </p:blipFill>
        <p:spPr>
          <a:xfrm>
            <a:off x="609905" y="2467051"/>
            <a:ext cx="10972800" cy="9144"/>
          </a:xfrm>
          <a:prstGeom prst="rect">
            <a:avLst/>
          </a:prstGeom>
        </p:spPr>
      </p:pic>
      <p:pic>
        <p:nvPicPr>
          <p:cNvPr id="11" name="Image 4" descr="gen-dedup-1004aa64a550a79a04cd74d7f57c96c1.png"/>
          <p:cNvPicPr>
            <a:picLocks noChangeAspect="1"/>
          </p:cNvPicPr>
          <p:nvPr/>
        </p:nvPicPr>
        <p:blipFill>
          <a:blip r:embed="rId6"/>
          <a:srcRect l="-2083" r="-2083"/>
          <a:stretch/>
        </p:blipFill>
        <p:spPr>
          <a:xfrm>
            <a:off x="609905" y="3267151"/>
            <a:ext cx="10972800" cy="9144"/>
          </a:xfrm>
          <a:prstGeom prst="rect">
            <a:avLst/>
          </a:prstGeom>
        </p:spPr>
      </p:pic>
      <p:pic>
        <p:nvPicPr>
          <p:cNvPr id="12" name="Image 5" descr="gen-dedup-1004aa64a550a79a04cd74d7f57c96c1.png"/>
          <p:cNvPicPr>
            <a:picLocks noChangeAspect="1"/>
          </p:cNvPicPr>
          <p:nvPr/>
        </p:nvPicPr>
        <p:blipFill>
          <a:blip r:embed="rId6"/>
          <a:srcRect l="-2083" r="-2083"/>
          <a:stretch/>
        </p:blipFill>
        <p:spPr>
          <a:xfrm>
            <a:off x="609905" y="4067251"/>
            <a:ext cx="10972800" cy="9144"/>
          </a:xfrm>
          <a:prstGeom prst="rect">
            <a:avLst/>
          </a:prstGeom>
        </p:spPr>
      </p:pic>
      <p:pic>
        <p:nvPicPr>
          <p:cNvPr id="13" name="Image 6" descr="gen-dedup-1004aa64a550a79a04cd74d7f57c96c1.png"/>
          <p:cNvPicPr>
            <a:picLocks noChangeAspect="1"/>
          </p:cNvPicPr>
          <p:nvPr/>
        </p:nvPicPr>
        <p:blipFill>
          <a:blip r:embed="rId6"/>
          <a:srcRect l="-2083" r="-2083"/>
          <a:stretch/>
        </p:blipFill>
        <p:spPr>
          <a:xfrm>
            <a:off x="609905" y="4867351"/>
            <a:ext cx="10972800" cy="9144"/>
          </a:xfrm>
          <a:prstGeom prst="rect">
            <a:avLst/>
          </a:prstGeom>
        </p:spPr>
      </p:pic>
      <p:pic>
        <p:nvPicPr>
          <p:cNvPr id="14" name="Image 7" descr="gen-dedup-06e3d16aa0e9246458a784af17ea21a8.png"/>
          <p:cNvPicPr>
            <a:picLocks noChangeAspect="1"/>
          </p:cNvPicPr>
          <p:nvPr/>
        </p:nvPicPr>
        <p:blipFill>
          <a:blip r:embed="rId7"/>
          <a:srcRect l="-437" r="-437"/>
          <a:stretch/>
        </p:blipFill>
        <p:spPr>
          <a:xfrm>
            <a:off x="609905" y="390449"/>
            <a:ext cx="57607" cy="418795"/>
          </a:xfrm>
          <a:prstGeom prst="rect">
            <a:avLst/>
          </a:prstGeom>
        </p:spPr>
      </p:pic>
      <p:sp>
        <p:nvSpPr>
          <p:cNvPr id="15" name="Text 5"/>
          <p:cNvSpPr txBox="1"/>
          <p:nvPr/>
        </p:nvSpPr>
        <p:spPr>
          <a:xfrm>
            <a:off x="819302" y="390449"/>
            <a:ext cx="10478110" cy="381305"/>
          </a:xfrm>
          <a:prstGeom prst="rect">
            <a:avLst/>
          </a:prstGeom>
          <a:noFill/>
          <a:ln/>
        </p:spPr>
        <p:txBody>
          <a:bodyPr wrap="square" lIns="0" tIns="0" rIns="0" bIns="0" rtlCol="0" anchor="ctr"/>
          <a:lstStyle/>
          <a:p>
            <a:pPr marL="0" indent="0" algn="l">
              <a:buNone/>
            </a:pPr>
            <a:r>
              <a:rPr lang="en-US" sz="2700" b="1">
                <a:solidFill>
                  <a:srgbClr val="111827"/>
                </a:solidFill>
                <a:latin typeface="Oswald" pitchFamily="34" charset="0"/>
                <a:ea typeface="Oswald" pitchFamily="34" charset="-122"/>
                <a:cs typeface="Oswald" pitchFamily="34" charset="-120"/>
              </a:rPr>
              <a:t>WHY J2W - NOT THE BIG 4 OR LARGE SIs</a:t>
            </a:r>
            <a:endParaRPr lang="en-US" sz="2700"/>
          </a:p>
        </p:txBody>
      </p:sp>
      <p:sp>
        <p:nvSpPr>
          <p:cNvPr id="16" name="Text 6"/>
          <p:cNvSpPr txBox="1"/>
          <p:nvPr/>
        </p:nvSpPr>
        <p:spPr>
          <a:xfrm>
            <a:off x="819302" y="824789"/>
            <a:ext cx="10478110" cy="181051"/>
          </a:xfrm>
          <a:prstGeom prst="rect">
            <a:avLst/>
          </a:prstGeom>
          <a:noFill/>
          <a:ln/>
        </p:spPr>
        <p:txBody>
          <a:bodyPr wrap="squar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THE SMARTER CHOICE FOR AI &amp; DIGITAL TRANSFORMATION AT SCALE</a:t>
            </a:r>
            <a:endParaRPr lang="en-US" sz="1200"/>
          </a:p>
        </p:txBody>
      </p:sp>
      <p:sp>
        <p:nvSpPr>
          <p:cNvPr id="17" name="Text 7"/>
          <p:cNvSpPr txBox="1"/>
          <p:nvPr/>
        </p:nvSpPr>
        <p:spPr>
          <a:xfrm>
            <a:off x="2704795" y="1333195"/>
            <a:ext cx="3143707" cy="286207"/>
          </a:xfrm>
          <a:prstGeom prst="rect">
            <a:avLst/>
          </a:prstGeom>
          <a:noFill/>
          <a:ln/>
        </p:spPr>
        <p:txBody>
          <a:bodyPr wrap="square" lIns="0" tIns="0" rIns="0" bIns="0" rtlCol="0" anchor="ctr"/>
          <a:lstStyle/>
          <a:p>
            <a:pPr marL="0" indent="0" algn="ctr">
              <a:buNone/>
            </a:pPr>
            <a:r>
              <a:rPr lang="en-US" sz="1500" b="1">
                <a:solidFill>
                  <a:srgbClr val="111827"/>
                </a:solidFill>
                <a:latin typeface="Oswald" pitchFamily="34" charset="0"/>
                <a:ea typeface="Oswald" pitchFamily="34" charset="-122"/>
                <a:cs typeface="Oswald" pitchFamily="34" charset="-120"/>
              </a:rPr>
              <a:t>JoulesToWatts + J2W</a:t>
            </a:r>
            <a:endParaRPr lang="en-US" sz="1500"/>
          </a:p>
        </p:txBody>
      </p:sp>
      <p:sp>
        <p:nvSpPr>
          <p:cNvPr id="18" name="Text 8"/>
          <p:cNvSpPr txBox="1"/>
          <p:nvPr/>
        </p:nvSpPr>
        <p:spPr>
          <a:xfrm>
            <a:off x="5848502" y="1333195"/>
            <a:ext cx="2857500" cy="286207"/>
          </a:xfrm>
          <a:prstGeom prst="rect">
            <a:avLst/>
          </a:prstGeom>
          <a:noFill/>
          <a:ln/>
        </p:spPr>
        <p:txBody>
          <a:bodyPr wrap="square" lIns="0" tIns="0" rIns="0" bIns="0" rtlCol="0" anchor="ctr"/>
          <a:lstStyle/>
          <a:p>
            <a:pPr marL="0" indent="0" algn="ctr">
              <a:buNone/>
            </a:pPr>
            <a:r>
              <a:rPr lang="en-US" sz="1500" b="1">
                <a:solidFill>
                  <a:srgbClr val="64748B"/>
                </a:solidFill>
                <a:latin typeface="Oswald" pitchFamily="34" charset="0"/>
                <a:ea typeface="Oswald" pitchFamily="34" charset="-122"/>
                <a:cs typeface="Oswald" pitchFamily="34" charset="-120"/>
              </a:rPr>
              <a:t>Big 4 / Top IT SIs</a:t>
            </a:r>
            <a:endParaRPr lang="en-US" sz="1500"/>
          </a:p>
        </p:txBody>
      </p:sp>
      <p:sp>
        <p:nvSpPr>
          <p:cNvPr id="19" name="Text 9"/>
          <p:cNvSpPr txBox="1"/>
          <p:nvPr/>
        </p:nvSpPr>
        <p:spPr>
          <a:xfrm>
            <a:off x="8706002" y="1333195"/>
            <a:ext cx="2876702" cy="286207"/>
          </a:xfrm>
          <a:prstGeom prst="rect">
            <a:avLst/>
          </a:prstGeom>
          <a:noFill/>
          <a:ln/>
        </p:spPr>
        <p:txBody>
          <a:bodyPr wrap="square" lIns="0" tIns="0" rIns="0" bIns="0" rtlCol="0" anchor="ctr"/>
          <a:lstStyle/>
          <a:p>
            <a:pPr marL="0" indent="0" algn="ctr">
              <a:buNone/>
            </a:pPr>
            <a:r>
              <a:rPr lang="en-US" sz="1500" b="1">
                <a:solidFill>
                  <a:srgbClr val="64748B"/>
                </a:solidFill>
                <a:latin typeface="Oswald" pitchFamily="34" charset="0"/>
                <a:ea typeface="Oswald" pitchFamily="34" charset="-122"/>
                <a:cs typeface="Oswald" pitchFamily="34" charset="-120"/>
              </a:rPr>
              <a:t>Staffing Agencies</a:t>
            </a:r>
            <a:endParaRPr lang="en-US" sz="1500"/>
          </a:p>
        </p:txBody>
      </p:sp>
      <p:sp>
        <p:nvSpPr>
          <p:cNvPr id="20" name="Text 10"/>
          <p:cNvSpPr txBox="1"/>
          <p:nvPr/>
        </p:nvSpPr>
        <p:spPr>
          <a:xfrm>
            <a:off x="609905" y="19906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ROI &amp; Outcome Model</a:t>
            </a:r>
            <a:endParaRPr lang="en-US" sz="1000"/>
          </a:p>
        </p:txBody>
      </p:sp>
      <p:sp>
        <p:nvSpPr>
          <p:cNvPr id="21" name="Text 11"/>
          <p:cNvSpPr txBox="1"/>
          <p:nvPr/>
        </p:nvSpPr>
        <p:spPr>
          <a:xfrm>
            <a:off x="2895905" y="18068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Outcome-driven from Day 1 - aligned to your milestones, CXO ROI expectations &amp; project KPIs</a:t>
            </a:r>
            <a:endParaRPr lang="en-US" sz="1000"/>
          </a:p>
        </p:txBody>
      </p:sp>
      <p:sp>
        <p:nvSpPr>
          <p:cNvPr id="22" name="Text 12"/>
          <p:cNvSpPr txBox="1"/>
          <p:nvPr/>
        </p:nvSpPr>
        <p:spPr>
          <a:xfrm>
            <a:off x="6038698" y="18068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Heavy retainers + longer payback cycles. High technical debt risk on failed transformations</a:t>
            </a:r>
            <a:endParaRPr lang="en-US" sz="1000"/>
          </a:p>
        </p:txBody>
      </p:sp>
      <p:sp>
        <p:nvSpPr>
          <p:cNvPr id="23" name="Text 13"/>
          <p:cNvSpPr txBox="1"/>
          <p:nvPr/>
        </p:nvSpPr>
        <p:spPr>
          <a:xfrm>
            <a:off x="8896198" y="1893722"/>
            <a:ext cx="2496312"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Headcount model only. Zero delivery ownership or outcome accountability</a:t>
            </a:r>
            <a:endParaRPr lang="en-US" sz="1000"/>
          </a:p>
        </p:txBody>
      </p:sp>
      <p:sp>
        <p:nvSpPr>
          <p:cNvPr id="24" name="Text 14"/>
          <p:cNvSpPr txBox="1"/>
          <p:nvPr/>
        </p:nvSpPr>
        <p:spPr>
          <a:xfrm>
            <a:off x="609905" y="27907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Time-To-Value</a:t>
            </a:r>
            <a:endParaRPr lang="en-US" sz="1000"/>
          </a:p>
        </p:txBody>
      </p:sp>
      <p:sp>
        <p:nvSpPr>
          <p:cNvPr id="25" name="Text 15"/>
          <p:cNvSpPr txBox="1"/>
          <p:nvPr/>
        </p:nvSpPr>
        <p:spPr>
          <a:xfrm>
            <a:off x="2895905" y="26069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Production-ready Gen &amp; Agentic AI PoCs in weeks via 50+ accelerators across SAP, Oracle, ServiceNow &amp; more</a:t>
            </a:r>
            <a:endParaRPr lang="en-US" sz="1000"/>
          </a:p>
        </p:txBody>
      </p:sp>
      <p:sp>
        <p:nvSpPr>
          <p:cNvPr id="26" name="Text 16"/>
          <p:cNvSpPr txBox="1"/>
          <p:nvPr/>
        </p:nvSpPr>
        <p:spPr>
          <a:xfrm>
            <a:off x="6038698" y="26069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Lengthy consulting cycles with SI-driven models - higher costs &amp; slower results</a:t>
            </a:r>
            <a:endParaRPr lang="en-US" sz="1000"/>
          </a:p>
        </p:txBody>
      </p:sp>
      <p:sp>
        <p:nvSpPr>
          <p:cNvPr id="27" name="Text 17"/>
          <p:cNvSpPr txBox="1"/>
          <p:nvPr/>
        </p:nvSpPr>
        <p:spPr>
          <a:xfrm>
            <a:off x="8896198" y="27806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28" name="Text 18"/>
          <p:cNvSpPr txBox="1"/>
          <p:nvPr/>
        </p:nvSpPr>
        <p:spPr>
          <a:xfrm>
            <a:off x="609905" y="35908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AI / Data Governance</a:t>
            </a:r>
            <a:endParaRPr lang="en-US" sz="1000"/>
          </a:p>
        </p:txBody>
      </p:sp>
      <p:sp>
        <p:nvSpPr>
          <p:cNvPr id="29" name="Text 19"/>
          <p:cNvSpPr txBox="1"/>
          <p:nvPr/>
        </p:nvSpPr>
        <p:spPr>
          <a:xfrm>
            <a:off x="2895905" y="3321101"/>
            <a:ext cx="2762402" cy="6958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Pre-built guardrails. Mission-critical delivery in regulated industries (Fortune 500 MedTech). Data stays in your environment</a:t>
            </a:r>
            <a:endParaRPr lang="en-US" sz="1000"/>
          </a:p>
        </p:txBody>
      </p:sp>
      <p:sp>
        <p:nvSpPr>
          <p:cNvPr id="30" name="Text 20"/>
          <p:cNvSpPr txBox="1"/>
          <p:nvPr/>
        </p:nvSpPr>
        <p:spPr>
          <a:xfrm>
            <a:off x="6038698" y="34070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Claims excellence, but multiple public incidents (e.g. Deloitte AU govt penalties) undermine credibility</a:t>
            </a:r>
            <a:endParaRPr lang="en-US" sz="1000"/>
          </a:p>
        </p:txBody>
      </p:sp>
      <p:sp>
        <p:nvSpPr>
          <p:cNvPr id="31" name="Text 21"/>
          <p:cNvSpPr txBox="1"/>
          <p:nvPr/>
        </p:nvSpPr>
        <p:spPr>
          <a:xfrm>
            <a:off x="8896198" y="35807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32" name="Text 22"/>
          <p:cNvSpPr txBox="1"/>
          <p:nvPr/>
        </p:nvSpPr>
        <p:spPr>
          <a:xfrm>
            <a:off x="609905" y="43909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AI OPEX Optimisation</a:t>
            </a:r>
            <a:endParaRPr lang="en-US" sz="1000"/>
          </a:p>
        </p:txBody>
      </p:sp>
      <p:sp>
        <p:nvSpPr>
          <p:cNvPr id="33" name="Text 23"/>
          <p:cNvSpPr txBox="1"/>
          <p:nvPr/>
        </p:nvSpPr>
        <p:spPr>
          <a:xfrm>
            <a:off x="2895905" y="42071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30-40% reduction in AI OPEX via Query Routing, Semantic Caching, Precision RAG &amp; in-house SLMs</a:t>
            </a:r>
            <a:endParaRPr lang="en-US" sz="1000"/>
          </a:p>
        </p:txBody>
      </p:sp>
      <p:sp>
        <p:nvSpPr>
          <p:cNvPr id="34" name="Text 24"/>
          <p:cNvSpPr txBox="1"/>
          <p:nvPr/>
        </p:nvSpPr>
        <p:spPr>
          <a:xfrm>
            <a:off x="6038698" y="4294022"/>
            <a:ext cx="2477110"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SI </a:t>
            </a:r>
            <a:r>
              <a:rPr lang="en-US" sz="1000" err="1">
                <a:solidFill>
                  <a:srgbClr val="475569"/>
                </a:solidFill>
                <a:latin typeface="Raleway" pitchFamily="34" charset="0"/>
                <a:ea typeface="Raleway" pitchFamily="34" charset="-122"/>
                <a:cs typeface="Raleway" pitchFamily="34" charset="-120"/>
              </a:rPr>
              <a:t>incentivised</a:t>
            </a:r>
            <a:r>
              <a:rPr lang="en-US" sz="1000">
                <a:solidFill>
                  <a:srgbClr val="475569"/>
                </a:solidFill>
                <a:latin typeface="Raleway" pitchFamily="34" charset="0"/>
                <a:ea typeface="Raleway" pitchFamily="34" charset="-122"/>
                <a:cs typeface="Raleway" pitchFamily="34" charset="-120"/>
              </a:rPr>
              <a:t> to </a:t>
            </a:r>
            <a:r>
              <a:rPr lang="en-US" sz="1000" err="1">
                <a:solidFill>
                  <a:srgbClr val="475569"/>
                </a:solidFill>
                <a:latin typeface="Raleway" pitchFamily="34" charset="0"/>
                <a:ea typeface="Raleway" pitchFamily="34" charset="-122"/>
                <a:cs typeface="Raleway" pitchFamily="34" charset="-120"/>
              </a:rPr>
              <a:t>maximise</a:t>
            </a:r>
            <a:r>
              <a:rPr lang="en-US" sz="1000">
                <a:solidFill>
                  <a:srgbClr val="475569"/>
                </a:solidFill>
                <a:latin typeface="Raleway" pitchFamily="34" charset="0"/>
                <a:ea typeface="Raleway" pitchFamily="34" charset="-122"/>
                <a:cs typeface="Raleway" pitchFamily="34" charset="-120"/>
              </a:rPr>
              <a:t> </a:t>
            </a:r>
            <a:r>
              <a:rPr lang="en-US" sz="1000" err="1">
                <a:solidFill>
                  <a:srgbClr val="475569"/>
                </a:solidFill>
                <a:latin typeface="Raleway" pitchFamily="34" charset="0"/>
                <a:ea typeface="Raleway" pitchFamily="34" charset="-122"/>
                <a:cs typeface="Raleway" pitchFamily="34" charset="-120"/>
              </a:rPr>
              <a:t>licences</a:t>
            </a:r>
            <a:r>
              <a:rPr lang="en-US" sz="1000">
                <a:solidFill>
                  <a:srgbClr val="475569"/>
                </a:solidFill>
                <a:latin typeface="Raleway" pitchFamily="34" charset="0"/>
                <a:ea typeface="Raleway" pitchFamily="34" charset="-122"/>
                <a:cs typeface="Raleway" pitchFamily="34" charset="-120"/>
              </a:rPr>
              <a:t> &amp; tokens - not to </a:t>
            </a:r>
            <a:r>
              <a:rPr lang="en-US" sz="1000" err="1">
                <a:solidFill>
                  <a:srgbClr val="475569"/>
                </a:solidFill>
                <a:latin typeface="Raleway" pitchFamily="34" charset="0"/>
                <a:ea typeface="Raleway" pitchFamily="34" charset="-122"/>
                <a:cs typeface="Raleway" pitchFamily="34" charset="-120"/>
              </a:rPr>
              <a:t>optimise</a:t>
            </a:r>
            <a:r>
              <a:rPr lang="en-US" sz="1000">
                <a:solidFill>
                  <a:srgbClr val="475569"/>
                </a:solidFill>
                <a:latin typeface="Raleway" pitchFamily="34" charset="0"/>
                <a:ea typeface="Raleway" pitchFamily="34" charset="-122"/>
                <a:cs typeface="Raleway" pitchFamily="34" charset="-120"/>
              </a:rPr>
              <a:t> your cost</a:t>
            </a:r>
            <a:endParaRPr lang="en-US" sz="1000"/>
          </a:p>
        </p:txBody>
      </p:sp>
      <p:sp>
        <p:nvSpPr>
          <p:cNvPr id="35" name="Text 25"/>
          <p:cNvSpPr txBox="1"/>
          <p:nvPr/>
        </p:nvSpPr>
        <p:spPr>
          <a:xfrm>
            <a:off x="8896198" y="43808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36" name="Text 26"/>
          <p:cNvSpPr txBox="1"/>
          <p:nvPr/>
        </p:nvSpPr>
        <p:spPr>
          <a:xfrm>
            <a:off x="609905" y="5191049"/>
            <a:ext cx="2143354"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Talent &amp; Managed Services</a:t>
            </a:r>
            <a:endParaRPr lang="en-US" sz="1000"/>
          </a:p>
        </p:txBody>
      </p:sp>
      <p:sp>
        <p:nvSpPr>
          <p:cNvPr id="37" name="Text 27"/>
          <p:cNvSpPr txBox="1"/>
          <p:nvPr/>
        </p:nvSpPr>
        <p:spPr>
          <a:xfrm>
            <a:off x="2895905" y="50072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7,200+ in-house consultants · 300+ recruiters · 2 proprietary hiring platforms · No subcontracting</a:t>
            </a:r>
            <a:endParaRPr lang="en-US" sz="1000"/>
          </a:p>
        </p:txBody>
      </p:sp>
      <p:sp>
        <p:nvSpPr>
          <p:cNvPr id="38" name="Text 28"/>
          <p:cNvSpPr txBox="1"/>
          <p:nvPr/>
        </p:nvSpPr>
        <p:spPr>
          <a:xfrm>
            <a:off x="6038698" y="5094122"/>
            <a:ext cx="2477110"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Frequently subcontract. No proprietary hiring platforms</a:t>
            </a:r>
            <a:endParaRPr lang="en-US" sz="1000"/>
          </a:p>
        </p:txBody>
      </p:sp>
      <p:sp>
        <p:nvSpPr>
          <p:cNvPr id="39" name="Text 29"/>
          <p:cNvSpPr txBox="1"/>
          <p:nvPr/>
        </p:nvSpPr>
        <p:spPr>
          <a:xfrm>
            <a:off x="8896198" y="5094122"/>
            <a:ext cx="2496312"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Lacks SME depth &amp; governance. Outcome ownership absent</a:t>
            </a:r>
            <a:endParaRPr lang="en-US" sz="1000"/>
          </a:p>
        </p:txBody>
      </p:sp>
      <p:sp>
        <p:nvSpPr>
          <p:cNvPr id="40" name="Shape 30"/>
          <p:cNvSpPr/>
          <p:nvPr/>
        </p:nvSpPr>
        <p:spPr>
          <a:xfrm>
            <a:off x="2315261" y="5762549"/>
            <a:ext cx="9144" cy="828446"/>
          </a:xfrm>
          <a:prstGeom prst="rect">
            <a:avLst/>
          </a:prstGeom>
          <a:solidFill>
            <a:srgbClr val="E2E8F0"/>
          </a:solidFill>
          <a:ln w="12700">
            <a:solidFill>
              <a:srgbClr val="E2E8F0">
                <a:alpha val="0"/>
              </a:srgbClr>
            </a:solidFill>
            <a:prstDash val="solid"/>
          </a:ln>
        </p:spPr>
        <p:txBody>
          <a:bodyPr/>
          <a:lstStyle/>
          <a:p>
            <a:endParaRPr lang="en-US"/>
          </a:p>
        </p:txBody>
      </p:sp>
      <p:sp>
        <p:nvSpPr>
          <p:cNvPr id="41" name="Text 31"/>
          <p:cNvSpPr txBox="1"/>
          <p:nvPr/>
        </p:nvSpPr>
        <p:spPr>
          <a:xfrm>
            <a:off x="1185062" y="6072530"/>
            <a:ext cx="1043330" cy="210312"/>
          </a:xfrm>
          <a:prstGeom prst="rect">
            <a:avLst/>
          </a:prstGeom>
          <a:noFill/>
          <a:ln/>
        </p:spPr>
        <p:txBody>
          <a:bodyPr wrap="square" lIns="0" tIns="0" rIns="0" bIns="0" rtlCol="0" anchor="ctr"/>
          <a:lstStyle/>
          <a:p>
            <a:pPr marL="0" indent="0" algn="l">
              <a:buNone/>
            </a:pPr>
            <a:r>
              <a:rPr lang="en-US" sz="1100" b="1" kern="0" spc="56">
                <a:solidFill>
                  <a:srgbClr val="64748B"/>
                </a:solidFill>
                <a:latin typeface="Oswald" pitchFamily="34" charset="0"/>
                <a:ea typeface="Oswald" pitchFamily="34" charset="-122"/>
                <a:cs typeface="Oswald" pitchFamily="34" charset="-120"/>
              </a:rPr>
              <a:t> KEY METRICS</a:t>
            </a:r>
            <a:endParaRPr lang="en-US" sz="1100"/>
          </a:p>
        </p:txBody>
      </p:sp>
      <p:pic>
        <p:nvPicPr>
          <p:cNvPr id="42" name="Image 8" descr="gen-dedup-0bed6a635fcb1d23b7a23c5aaedf5133.png"/>
          <p:cNvPicPr>
            <a:picLocks noChangeAspect="1"/>
          </p:cNvPicPr>
          <p:nvPr/>
        </p:nvPicPr>
        <p:blipFill>
          <a:blip r:embed="rId8"/>
          <a:srcRect l="-3526" r="-3526"/>
          <a:stretch/>
        </p:blipFill>
        <p:spPr>
          <a:xfrm>
            <a:off x="913486" y="6118250"/>
            <a:ext cx="152705" cy="142646"/>
          </a:xfrm>
          <a:prstGeom prst="rect">
            <a:avLst/>
          </a:prstGeom>
        </p:spPr>
      </p:pic>
      <p:sp>
        <p:nvSpPr>
          <p:cNvPr id="43" name="Text 32"/>
          <p:cNvSpPr txBox="1"/>
          <p:nvPr/>
        </p:nvSpPr>
        <p:spPr>
          <a:xfrm>
            <a:off x="2506370"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5,500</a:t>
            </a:r>
            <a:endParaRPr lang="en-US" sz="1800"/>
          </a:p>
        </p:txBody>
      </p:sp>
      <p:sp>
        <p:nvSpPr>
          <p:cNvPr id="44" name="Text 33"/>
          <p:cNvSpPr txBox="1"/>
          <p:nvPr/>
        </p:nvSpPr>
        <p:spPr>
          <a:xfrm>
            <a:off x="2506370"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In-house Consultants</a:t>
            </a:r>
            <a:endParaRPr lang="en-US" sz="800"/>
          </a:p>
        </p:txBody>
      </p:sp>
      <p:pic>
        <p:nvPicPr>
          <p:cNvPr id="45" name="Image 9" descr="gen-dedup-bc499f386c10f37c45470adccc65c0cd.png"/>
          <p:cNvPicPr>
            <a:picLocks noChangeAspect="1"/>
          </p:cNvPicPr>
          <p:nvPr/>
        </p:nvPicPr>
        <p:blipFill>
          <a:blip r:embed="rId9"/>
          <a:srcRect t="-2165" b="-2165"/>
          <a:stretch/>
        </p:blipFill>
        <p:spPr>
          <a:xfrm>
            <a:off x="4225442" y="6034126"/>
            <a:ext cx="9144" cy="286207"/>
          </a:xfrm>
          <a:prstGeom prst="rect">
            <a:avLst/>
          </a:prstGeom>
        </p:spPr>
      </p:pic>
      <p:sp>
        <p:nvSpPr>
          <p:cNvPr id="46" name="Text 34"/>
          <p:cNvSpPr txBox="1"/>
          <p:nvPr/>
        </p:nvSpPr>
        <p:spPr>
          <a:xfrm>
            <a:off x="4321454" y="5981090"/>
            <a:ext cx="1638605" cy="228600"/>
          </a:xfrm>
          <a:prstGeom prst="rect">
            <a:avLst/>
          </a:prstGeom>
          <a:noFill/>
          <a:ln/>
        </p:spPr>
        <p:txBody>
          <a:bodyPr wrap="square" lIns="0" tIns="0" rIns="0" bIns="0" rtlCol="0" anchor="ctr"/>
          <a:lstStyle/>
          <a:p>
            <a:pPr marL="0" indent="0" algn="ctr">
              <a:buNone/>
            </a:pPr>
            <a:r>
              <a:rPr lang="en-US" b="1">
                <a:solidFill>
                  <a:srgbClr val="2A9D8F"/>
                </a:solidFill>
                <a:latin typeface="Oswald" pitchFamily="34" charset="0"/>
                <a:ea typeface="Oswald" pitchFamily="34" charset="-122"/>
                <a:cs typeface="Oswald" pitchFamily="34" charset="-120"/>
              </a:rPr>
              <a:t>6</a:t>
            </a:r>
            <a:r>
              <a:rPr lang="en-US" sz="1800" b="1">
                <a:solidFill>
                  <a:srgbClr val="2A9D8F"/>
                </a:solidFill>
                <a:latin typeface="Oswald" pitchFamily="34" charset="0"/>
                <a:ea typeface="Oswald" pitchFamily="34" charset="-122"/>
                <a:cs typeface="Oswald" pitchFamily="34" charset="-120"/>
              </a:rPr>
              <a:t>0+</a:t>
            </a:r>
            <a:endParaRPr lang="en-US" sz="1800"/>
          </a:p>
        </p:txBody>
      </p:sp>
      <p:sp>
        <p:nvSpPr>
          <p:cNvPr id="47" name="Text 35"/>
          <p:cNvSpPr txBox="1"/>
          <p:nvPr/>
        </p:nvSpPr>
        <p:spPr>
          <a:xfrm>
            <a:off x="4321454"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AI Accelerators</a:t>
            </a:r>
            <a:endParaRPr lang="en-US" sz="800"/>
          </a:p>
        </p:txBody>
      </p:sp>
      <p:pic>
        <p:nvPicPr>
          <p:cNvPr id="48" name="Image 10" descr="gen-dedup-bc499f386c10f37c45470adccc65c0cd.png"/>
          <p:cNvPicPr>
            <a:picLocks noChangeAspect="1"/>
          </p:cNvPicPr>
          <p:nvPr/>
        </p:nvPicPr>
        <p:blipFill>
          <a:blip r:embed="rId9"/>
          <a:srcRect t="-2165" b="-2165"/>
          <a:stretch/>
        </p:blipFill>
        <p:spPr>
          <a:xfrm>
            <a:off x="6040526" y="6034126"/>
            <a:ext cx="9144" cy="286207"/>
          </a:xfrm>
          <a:prstGeom prst="rect">
            <a:avLst/>
          </a:prstGeom>
        </p:spPr>
      </p:pic>
      <p:sp>
        <p:nvSpPr>
          <p:cNvPr id="49" name="Text 36"/>
          <p:cNvSpPr txBox="1"/>
          <p:nvPr/>
        </p:nvSpPr>
        <p:spPr>
          <a:xfrm>
            <a:off x="6137453"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30-40%</a:t>
            </a:r>
            <a:endParaRPr lang="en-US" sz="1800"/>
          </a:p>
        </p:txBody>
      </p:sp>
      <p:sp>
        <p:nvSpPr>
          <p:cNvPr id="50" name="Text 37"/>
          <p:cNvSpPr txBox="1"/>
          <p:nvPr/>
        </p:nvSpPr>
        <p:spPr>
          <a:xfrm>
            <a:off x="6137453"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AI OPEX Reduction</a:t>
            </a:r>
            <a:endParaRPr lang="en-US" sz="800"/>
          </a:p>
        </p:txBody>
      </p:sp>
      <p:pic>
        <p:nvPicPr>
          <p:cNvPr id="51" name="Image 11" descr="gen-dedup-bc499f386c10f37c45470adccc65c0cd.png"/>
          <p:cNvPicPr>
            <a:picLocks noChangeAspect="1"/>
          </p:cNvPicPr>
          <p:nvPr/>
        </p:nvPicPr>
        <p:blipFill>
          <a:blip r:embed="rId9"/>
          <a:srcRect t="-2165" b="-2165"/>
          <a:stretch/>
        </p:blipFill>
        <p:spPr>
          <a:xfrm>
            <a:off x="7856525" y="6034126"/>
            <a:ext cx="9144" cy="286207"/>
          </a:xfrm>
          <a:prstGeom prst="rect">
            <a:avLst/>
          </a:prstGeom>
        </p:spPr>
      </p:pic>
      <p:sp>
        <p:nvSpPr>
          <p:cNvPr id="52" name="Text 38"/>
          <p:cNvSpPr txBox="1"/>
          <p:nvPr/>
        </p:nvSpPr>
        <p:spPr>
          <a:xfrm>
            <a:off x="7952537" y="5981090"/>
            <a:ext cx="1638605" cy="228600"/>
          </a:xfrm>
          <a:prstGeom prst="rect">
            <a:avLst/>
          </a:prstGeom>
          <a:noFill/>
          <a:ln/>
        </p:spPr>
        <p:txBody>
          <a:bodyPr wrap="square" lIns="0" tIns="0" rIns="0" bIns="0" rtlCol="0" anchor="ctr"/>
          <a:lstStyle/>
          <a:p>
            <a:pPr marL="0" indent="0" algn="ctr">
              <a:buNone/>
            </a:pPr>
            <a:r>
              <a:rPr lang="en-US" sz="1800" b="1">
                <a:solidFill>
                  <a:srgbClr val="2A9D8F"/>
                </a:solidFill>
                <a:latin typeface="Oswald" pitchFamily="34" charset="0"/>
                <a:ea typeface="Oswald" pitchFamily="34" charset="-122"/>
                <a:cs typeface="Oswald" pitchFamily="34" charset="-120"/>
              </a:rPr>
              <a:t>Weeks</a:t>
            </a:r>
            <a:endParaRPr lang="en-US" sz="1800"/>
          </a:p>
        </p:txBody>
      </p:sp>
      <p:sp>
        <p:nvSpPr>
          <p:cNvPr id="53" name="Text 39"/>
          <p:cNvSpPr txBox="1"/>
          <p:nvPr/>
        </p:nvSpPr>
        <p:spPr>
          <a:xfrm>
            <a:off x="7952537"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PoC to Production</a:t>
            </a:r>
            <a:endParaRPr lang="en-US" sz="800"/>
          </a:p>
        </p:txBody>
      </p:sp>
      <p:pic>
        <p:nvPicPr>
          <p:cNvPr id="54" name="Image 12" descr="gen-dedup-bc499f386c10f37c45470adccc65c0cd.png"/>
          <p:cNvPicPr>
            <a:picLocks noChangeAspect="1"/>
          </p:cNvPicPr>
          <p:nvPr/>
        </p:nvPicPr>
        <p:blipFill>
          <a:blip r:embed="rId9"/>
          <a:srcRect t="-2165" b="-2165"/>
          <a:stretch/>
        </p:blipFill>
        <p:spPr>
          <a:xfrm>
            <a:off x="9671609" y="6034126"/>
            <a:ext cx="9144" cy="286207"/>
          </a:xfrm>
          <a:prstGeom prst="rect">
            <a:avLst/>
          </a:prstGeom>
        </p:spPr>
      </p:pic>
      <p:sp>
        <p:nvSpPr>
          <p:cNvPr id="55" name="Text 40"/>
          <p:cNvSpPr txBox="1"/>
          <p:nvPr/>
        </p:nvSpPr>
        <p:spPr>
          <a:xfrm>
            <a:off x="9767621"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0</a:t>
            </a:r>
            <a:endParaRPr lang="en-US" sz="1800"/>
          </a:p>
        </p:txBody>
      </p:sp>
      <p:sp>
        <p:nvSpPr>
          <p:cNvPr id="56" name="Text 41"/>
          <p:cNvSpPr txBox="1"/>
          <p:nvPr/>
        </p:nvSpPr>
        <p:spPr>
          <a:xfrm>
            <a:off x="9767621"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Subcontracting</a:t>
            </a:r>
            <a:endParaRPr lang="en-US" sz="800"/>
          </a:p>
        </p:txBody>
      </p:sp>
    </p:spTree>
    <p:extLst>
      <p:ext uri="{BB962C8B-B14F-4D97-AF65-F5344CB8AC3E}">
        <p14:creationId xmlns:p14="http://schemas.microsoft.com/office/powerpoint/2010/main" val="393132479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4ab2116e971fbb9400d0e99205bd0390.png"/>
          <p:cNvPicPr>
            <a:picLocks noChangeAspect="1"/>
          </p:cNvPicPr>
          <p:nvPr/>
        </p:nvPicPr>
        <p:blipFill>
          <a:blip r:embed="rId3">
            <a:alphaModFix amt="5000"/>
          </a:blip>
          <a:srcRect/>
          <a:stretch/>
        </p:blipFill>
        <p:spPr>
          <a:xfrm>
            <a:off x="-381305" y="4190695"/>
            <a:ext cx="1904695" cy="1904695"/>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806ddcf4485dfb282961f80f6430c89d.png"/>
          <p:cNvPicPr>
            <a:picLocks noChangeAspect="1"/>
          </p:cNvPicPr>
          <p:nvPr/>
        </p:nvPicPr>
        <p:blipFill>
          <a:blip r:embed="rId6"/>
          <a:srcRect l="-424" r="-424"/>
          <a:stretch/>
        </p:blipFill>
        <p:spPr>
          <a:xfrm>
            <a:off x="609905" y="533095"/>
            <a:ext cx="57607" cy="809244"/>
          </a:xfrm>
          <a:prstGeom prst="rect">
            <a:avLst/>
          </a:prstGeom>
        </p:spPr>
      </p:pic>
      <p:sp>
        <p:nvSpPr>
          <p:cNvPr id="9" name="Shape 3"/>
          <p:cNvSpPr/>
          <p:nvPr/>
        </p:nvSpPr>
        <p:spPr>
          <a:xfrm>
            <a:off x="609905" y="1657807"/>
            <a:ext cx="3543300" cy="1809598"/>
          </a:xfrm>
          <a:prstGeom prst="roundRect">
            <a:avLst>
              <a:gd name="adj" fmla="val 2122"/>
            </a:avLst>
          </a:prstGeom>
          <a:solidFill>
            <a:srgbClr val="F8FAFC"/>
          </a:solidFill>
          <a:ln w="12700">
            <a:solidFill>
              <a:srgbClr val="E2E8F0"/>
            </a:solidFill>
            <a:prstDash val="solid"/>
          </a:ln>
        </p:spPr>
        <p:txBody>
          <a:bodyPr/>
          <a:lstStyle/>
          <a:p>
            <a:endParaRPr lang="en-US"/>
          </a:p>
        </p:txBody>
      </p:sp>
      <p:sp>
        <p:nvSpPr>
          <p:cNvPr id="10" name="Shape 4"/>
          <p:cNvSpPr/>
          <p:nvPr/>
        </p:nvSpPr>
        <p:spPr>
          <a:xfrm>
            <a:off x="609905" y="1657807"/>
            <a:ext cx="3543300" cy="38405"/>
          </a:xfrm>
          <a:prstGeom prst="roundRect">
            <a:avLst>
              <a:gd name="adj" fmla="val 99999"/>
            </a:avLst>
          </a:prstGeom>
          <a:solidFill>
            <a:srgbClr val="111827"/>
          </a:solidFill>
          <a:ln w="12700">
            <a:solidFill>
              <a:srgbClr val="111827">
                <a:alpha val="0"/>
              </a:srgbClr>
            </a:solidFill>
            <a:prstDash val="solid"/>
          </a:ln>
        </p:spPr>
        <p:txBody>
          <a:bodyPr/>
          <a:lstStyle/>
          <a:p>
            <a:endParaRPr lang="en-US"/>
          </a:p>
        </p:txBody>
      </p:sp>
      <p:sp>
        <p:nvSpPr>
          <p:cNvPr id="11" name="Shape 5"/>
          <p:cNvSpPr/>
          <p:nvPr/>
        </p:nvSpPr>
        <p:spPr>
          <a:xfrm>
            <a:off x="4343400" y="1657807"/>
            <a:ext cx="3543300" cy="1809598"/>
          </a:xfrm>
          <a:prstGeom prst="roundRect">
            <a:avLst>
              <a:gd name="adj" fmla="val 2122"/>
            </a:avLst>
          </a:prstGeom>
          <a:solidFill>
            <a:srgbClr val="F8FAFC"/>
          </a:solidFill>
          <a:ln w="12700">
            <a:solidFill>
              <a:srgbClr val="E2E8F0"/>
            </a:solidFill>
            <a:prstDash val="solid"/>
          </a:ln>
        </p:spPr>
        <p:txBody>
          <a:bodyPr/>
          <a:lstStyle/>
          <a:p>
            <a:endParaRPr lang="en-US"/>
          </a:p>
        </p:txBody>
      </p:sp>
      <p:sp>
        <p:nvSpPr>
          <p:cNvPr id="12" name="Shape 6"/>
          <p:cNvSpPr/>
          <p:nvPr/>
        </p:nvSpPr>
        <p:spPr>
          <a:xfrm>
            <a:off x="4343400" y="1657807"/>
            <a:ext cx="3543300" cy="38405"/>
          </a:xfrm>
          <a:prstGeom prst="roundRect">
            <a:avLst>
              <a:gd name="adj" fmla="val 99999"/>
            </a:avLst>
          </a:prstGeom>
          <a:solidFill>
            <a:srgbClr val="2A9D8F"/>
          </a:solidFill>
          <a:ln w="12700">
            <a:solidFill>
              <a:srgbClr val="2A9D8F">
                <a:alpha val="0"/>
              </a:srgbClr>
            </a:solidFill>
            <a:prstDash val="solid"/>
          </a:ln>
        </p:spPr>
        <p:txBody>
          <a:bodyPr/>
          <a:lstStyle/>
          <a:p>
            <a:endParaRPr lang="en-US"/>
          </a:p>
        </p:txBody>
      </p:sp>
      <p:sp>
        <p:nvSpPr>
          <p:cNvPr id="13" name="Shape 7"/>
          <p:cNvSpPr/>
          <p:nvPr/>
        </p:nvSpPr>
        <p:spPr>
          <a:xfrm>
            <a:off x="8076895" y="1657807"/>
            <a:ext cx="3543300" cy="1809598"/>
          </a:xfrm>
          <a:prstGeom prst="roundRect">
            <a:avLst>
              <a:gd name="adj" fmla="val 2122"/>
            </a:avLst>
          </a:prstGeom>
          <a:solidFill>
            <a:srgbClr val="F8FAFC"/>
          </a:solidFill>
          <a:ln w="12700">
            <a:solidFill>
              <a:srgbClr val="E2E8F0"/>
            </a:solidFill>
            <a:prstDash val="solid"/>
          </a:ln>
        </p:spPr>
        <p:txBody>
          <a:bodyPr/>
          <a:lstStyle/>
          <a:p>
            <a:endParaRPr lang="en-US"/>
          </a:p>
        </p:txBody>
      </p:sp>
      <p:sp>
        <p:nvSpPr>
          <p:cNvPr id="14" name="Shape 8"/>
          <p:cNvSpPr/>
          <p:nvPr/>
        </p:nvSpPr>
        <p:spPr>
          <a:xfrm>
            <a:off x="8076895" y="1657807"/>
            <a:ext cx="3543300" cy="38405"/>
          </a:xfrm>
          <a:prstGeom prst="roundRect">
            <a:avLst>
              <a:gd name="adj" fmla="val 99999"/>
            </a:avLst>
          </a:prstGeom>
          <a:solidFill>
            <a:srgbClr val="D62839"/>
          </a:solidFill>
          <a:ln w="12700">
            <a:solidFill>
              <a:srgbClr val="D62839">
                <a:alpha val="0"/>
              </a:srgbClr>
            </a:solidFill>
            <a:prstDash val="solid"/>
          </a:ln>
        </p:spPr>
        <p:txBody>
          <a:bodyPr/>
          <a:lstStyle/>
          <a:p>
            <a:endParaRPr lang="en-US"/>
          </a:p>
        </p:txBody>
      </p:sp>
      <p:sp>
        <p:nvSpPr>
          <p:cNvPr id="15" name="Shape 9"/>
          <p:cNvSpPr/>
          <p:nvPr/>
        </p:nvSpPr>
        <p:spPr>
          <a:xfrm>
            <a:off x="609905" y="3571646"/>
            <a:ext cx="3543300" cy="1809598"/>
          </a:xfrm>
          <a:prstGeom prst="roundRect">
            <a:avLst>
              <a:gd name="adj" fmla="val 2122"/>
            </a:avLst>
          </a:prstGeom>
          <a:solidFill>
            <a:srgbClr val="F8FAFC"/>
          </a:solidFill>
          <a:ln w="12700">
            <a:solidFill>
              <a:srgbClr val="E2E8F0"/>
            </a:solidFill>
            <a:prstDash val="solid"/>
          </a:ln>
        </p:spPr>
        <p:txBody>
          <a:bodyPr/>
          <a:lstStyle/>
          <a:p>
            <a:endParaRPr lang="en-US"/>
          </a:p>
        </p:txBody>
      </p:sp>
      <p:sp>
        <p:nvSpPr>
          <p:cNvPr id="16" name="Shape 10"/>
          <p:cNvSpPr/>
          <p:nvPr/>
        </p:nvSpPr>
        <p:spPr>
          <a:xfrm>
            <a:off x="609905" y="3571646"/>
            <a:ext cx="3543300" cy="38405"/>
          </a:xfrm>
          <a:prstGeom prst="roundRect">
            <a:avLst>
              <a:gd name="adj" fmla="val 99999"/>
            </a:avLst>
          </a:prstGeom>
          <a:solidFill>
            <a:srgbClr val="111827"/>
          </a:solidFill>
          <a:ln w="12700">
            <a:solidFill>
              <a:srgbClr val="111827">
                <a:alpha val="0"/>
              </a:srgbClr>
            </a:solidFill>
            <a:prstDash val="solid"/>
          </a:ln>
        </p:spPr>
        <p:txBody>
          <a:bodyPr/>
          <a:lstStyle/>
          <a:p>
            <a:endParaRPr lang="en-US"/>
          </a:p>
        </p:txBody>
      </p:sp>
      <p:sp>
        <p:nvSpPr>
          <p:cNvPr id="17" name="Shape 11"/>
          <p:cNvSpPr/>
          <p:nvPr/>
        </p:nvSpPr>
        <p:spPr>
          <a:xfrm>
            <a:off x="4343400" y="3571646"/>
            <a:ext cx="3543300" cy="1809598"/>
          </a:xfrm>
          <a:prstGeom prst="roundRect">
            <a:avLst>
              <a:gd name="adj" fmla="val 2122"/>
            </a:avLst>
          </a:prstGeom>
          <a:solidFill>
            <a:srgbClr val="F8FAFC"/>
          </a:solidFill>
          <a:ln w="12700">
            <a:solidFill>
              <a:srgbClr val="E2E8F0"/>
            </a:solidFill>
            <a:prstDash val="solid"/>
          </a:ln>
        </p:spPr>
        <p:txBody>
          <a:bodyPr/>
          <a:lstStyle/>
          <a:p>
            <a:endParaRPr lang="en-US"/>
          </a:p>
        </p:txBody>
      </p:sp>
      <p:sp>
        <p:nvSpPr>
          <p:cNvPr id="18" name="Shape 12"/>
          <p:cNvSpPr/>
          <p:nvPr/>
        </p:nvSpPr>
        <p:spPr>
          <a:xfrm>
            <a:off x="4343400" y="3571646"/>
            <a:ext cx="3543300" cy="38405"/>
          </a:xfrm>
          <a:prstGeom prst="roundRect">
            <a:avLst>
              <a:gd name="adj" fmla="val 99999"/>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8076895" y="3571646"/>
            <a:ext cx="3543300" cy="1809598"/>
          </a:xfrm>
          <a:prstGeom prst="roundRect">
            <a:avLst>
              <a:gd name="adj" fmla="val 2122"/>
            </a:avLst>
          </a:prstGeom>
          <a:solidFill>
            <a:srgbClr val="F8FAFC"/>
          </a:solidFill>
          <a:ln w="12700">
            <a:solidFill>
              <a:srgbClr val="E2E8F0"/>
            </a:solidFill>
            <a:prstDash val="solid"/>
          </a:ln>
        </p:spPr>
        <p:txBody>
          <a:bodyPr/>
          <a:lstStyle/>
          <a:p>
            <a:endParaRPr lang="en-US"/>
          </a:p>
        </p:txBody>
      </p:sp>
      <p:sp>
        <p:nvSpPr>
          <p:cNvPr id="20" name="Shape 14"/>
          <p:cNvSpPr/>
          <p:nvPr/>
        </p:nvSpPr>
        <p:spPr>
          <a:xfrm>
            <a:off x="8076895" y="3571646"/>
            <a:ext cx="3543300" cy="38405"/>
          </a:xfrm>
          <a:prstGeom prst="roundRect">
            <a:avLst>
              <a:gd name="adj" fmla="val 99999"/>
            </a:avLst>
          </a:prstGeom>
          <a:solidFill>
            <a:srgbClr val="D62839"/>
          </a:solidFill>
          <a:ln w="12700">
            <a:solidFill>
              <a:srgbClr val="D62839">
                <a:alpha val="0"/>
              </a:srgbClr>
            </a:solidFill>
            <a:prstDash val="solid"/>
          </a:ln>
        </p:spPr>
        <p:txBody>
          <a:bodyPr/>
          <a:lstStyle/>
          <a:p>
            <a:endParaRPr lang="en-US"/>
          </a:p>
        </p:txBody>
      </p:sp>
      <p:sp>
        <p:nvSpPr>
          <p:cNvPr id="21" name="Shape 15"/>
          <p:cNvSpPr/>
          <p:nvPr/>
        </p:nvSpPr>
        <p:spPr>
          <a:xfrm>
            <a:off x="609905" y="5619902"/>
            <a:ext cx="10972800" cy="761695"/>
          </a:xfrm>
          <a:prstGeom prst="roundRect">
            <a:avLst>
              <a:gd name="adj" fmla="val 5042"/>
            </a:avLst>
          </a:prstGeom>
          <a:solidFill>
            <a:srgbClr val="111827"/>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22" name="Shape 16"/>
          <p:cNvSpPr/>
          <p:nvPr/>
        </p:nvSpPr>
        <p:spPr>
          <a:xfrm>
            <a:off x="10096805" y="381305"/>
            <a:ext cx="1524305" cy="342900"/>
          </a:xfrm>
          <a:prstGeom prst="roundRect">
            <a:avLst>
              <a:gd name="adj" fmla="val 50133"/>
            </a:avLst>
          </a:prstGeom>
          <a:solidFill>
            <a:srgbClr val="2A9D8F"/>
          </a:solidFill>
          <a:ln w="12700">
            <a:solidFill>
              <a:srgbClr val="FFFFFF">
                <a:alpha val="0"/>
              </a:srgbClr>
            </a:solidFill>
            <a:prstDash val="solid"/>
          </a:ln>
        </p:spPr>
        <p:txBody>
          <a:bodyPr/>
          <a:lstStyle/>
          <a:p>
            <a:endParaRPr lang="en-US"/>
          </a:p>
        </p:txBody>
      </p:sp>
      <p:sp>
        <p:nvSpPr>
          <p:cNvPr id="23" name="Text 17"/>
          <p:cNvSpPr txBox="1"/>
          <p:nvPr/>
        </p:nvSpPr>
        <p:spPr>
          <a:xfrm>
            <a:off x="819302" y="514807"/>
            <a:ext cx="8572500" cy="152705"/>
          </a:xfrm>
          <a:prstGeom prst="rect">
            <a:avLst/>
          </a:prstGeom>
          <a:noFill/>
          <a:ln/>
        </p:spPr>
        <p:txBody>
          <a:bodyPr wrap="non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AI POD</a:t>
            </a:r>
            <a:endParaRPr lang="en-US" sz="1000"/>
          </a:p>
        </p:txBody>
      </p:sp>
      <p:sp>
        <p:nvSpPr>
          <p:cNvPr id="24" name="Text 18"/>
          <p:cNvSpPr txBox="1"/>
          <p:nvPr/>
        </p:nvSpPr>
        <p:spPr>
          <a:xfrm>
            <a:off x="819302" y="705002"/>
            <a:ext cx="8572500" cy="372161"/>
          </a:xfrm>
          <a:prstGeom prst="rect">
            <a:avLst/>
          </a:prstGeom>
          <a:noFill/>
          <a:ln/>
        </p:spPr>
        <p:txBody>
          <a:bodyPr wrap="none" lIns="0" tIns="0" rIns="0" bIns="0" rtlCol="0" anchor="ctr"/>
          <a:lstStyle/>
          <a:p>
            <a:pPr marL="0" indent="0" algn="l">
              <a:buNone/>
            </a:pPr>
            <a:r>
              <a:rPr lang="en-US" sz="2400" b="1">
                <a:solidFill>
                  <a:srgbClr val="111827"/>
                </a:solidFill>
                <a:latin typeface="Oswald" pitchFamily="34" charset="0"/>
                <a:ea typeface="Oswald" pitchFamily="34" charset="-122"/>
                <a:cs typeface="Oswald" pitchFamily="34" charset="-120"/>
              </a:rPr>
              <a:t>What We Hold Ourselves Accountable To</a:t>
            </a:r>
            <a:endParaRPr lang="en-US" sz="2400"/>
          </a:p>
        </p:txBody>
      </p:sp>
      <p:sp>
        <p:nvSpPr>
          <p:cNvPr id="25" name="Text 19"/>
          <p:cNvSpPr txBox="1"/>
          <p:nvPr/>
        </p:nvSpPr>
        <p:spPr>
          <a:xfrm>
            <a:off x="819302" y="1146658"/>
            <a:ext cx="8572500" cy="219456"/>
          </a:xfrm>
          <a:prstGeom prst="rect">
            <a:avLst/>
          </a:prstGeom>
          <a:noFill/>
          <a:ln/>
        </p:spPr>
        <p:txBody>
          <a:bodyPr wrap="none" lIns="0" tIns="0" rIns="0" bIns="0" rtlCol="0" anchor="ctr"/>
          <a:lstStyle/>
          <a:p>
            <a:pPr marL="0" indent="0" algn="l">
              <a:buNone/>
            </a:pPr>
            <a:r>
              <a:rPr lang="en-US" sz="1200">
                <a:solidFill>
                  <a:srgbClr val="4B5563"/>
                </a:solidFill>
                <a:latin typeface="Raleway" pitchFamily="34" charset="0"/>
                <a:ea typeface="Raleway" pitchFamily="34" charset="-122"/>
                <a:cs typeface="Raleway" pitchFamily="34" charset="-120"/>
              </a:rPr>
              <a:t>Measured monthly, governed weekly, escalated immediately.</a:t>
            </a:r>
            <a:endParaRPr lang="en-US" sz="1200"/>
          </a:p>
        </p:txBody>
      </p:sp>
      <p:sp>
        <p:nvSpPr>
          <p:cNvPr id="26" name="Text 20"/>
          <p:cNvSpPr txBox="1"/>
          <p:nvPr/>
        </p:nvSpPr>
        <p:spPr>
          <a:xfrm>
            <a:off x="761695" y="1772107"/>
            <a:ext cx="3200400" cy="381305"/>
          </a:xfrm>
          <a:prstGeom prst="rect">
            <a:avLst/>
          </a:prstGeom>
          <a:noFill/>
          <a:ln/>
        </p:spPr>
        <p:txBody>
          <a:bodyPr wrap="none" lIns="0" tIns="0" rIns="0" bIns="0" rtlCol="0" anchor="ctr"/>
          <a:lstStyle/>
          <a:p>
            <a:pPr marL="0" indent="0" algn="l">
              <a:buNone/>
            </a:pPr>
            <a:r>
              <a:rPr lang="en-US" sz="2700" b="1">
                <a:solidFill>
                  <a:srgbClr val="111827"/>
                </a:solidFill>
                <a:latin typeface="Oswald" pitchFamily="34" charset="0"/>
                <a:ea typeface="Oswald" pitchFamily="34" charset="-122"/>
                <a:cs typeface="Oswald" pitchFamily="34" charset="-120"/>
              </a:rPr>
              <a:t>85%+</a:t>
            </a:r>
            <a:endParaRPr lang="en-US" sz="2700"/>
          </a:p>
        </p:txBody>
      </p:sp>
      <p:sp>
        <p:nvSpPr>
          <p:cNvPr id="27" name="Text 21"/>
          <p:cNvSpPr txBox="1"/>
          <p:nvPr/>
        </p:nvSpPr>
        <p:spPr>
          <a:xfrm>
            <a:off x="761695" y="2187245"/>
            <a:ext cx="3200400" cy="152705"/>
          </a:xfrm>
          <a:prstGeom prst="rect">
            <a:avLst/>
          </a:prstGeom>
          <a:noFill/>
          <a:ln/>
        </p:spPr>
        <p:txBody>
          <a:bodyPr wrap="none" lIns="0" tIns="0" rIns="0" bIns="0" rtlCol="0" anchor="ctr"/>
          <a:lstStyle/>
          <a:p>
            <a:pPr marL="0" indent="0" algn="l">
              <a:buNone/>
            </a:pPr>
            <a:r>
              <a:rPr lang="en-US" sz="1000" b="1">
                <a:solidFill>
                  <a:srgbClr val="2A9D8F"/>
                </a:solidFill>
                <a:latin typeface="Roboto Condensed" pitchFamily="34" charset="0"/>
                <a:ea typeface="Roboto Condensed" pitchFamily="34" charset="-122"/>
                <a:cs typeface="Roboto Condensed" pitchFamily="34" charset="-120"/>
              </a:rPr>
              <a:t>Sprint Completion</a:t>
            </a:r>
            <a:endParaRPr lang="en-US" sz="1000"/>
          </a:p>
        </p:txBody>
      </p:sp>
      <p:sp>
        <p:nvSpPr>
          <p:cNvPr id="28" name="Text 22"/>
          <p:cNvSpPr txBox="1"/>
          <p:nvPr/>
        </p:nvSpPr>
        <p:spPr>
          <a:xfrm>
            <a:off x="761695" y="2415845"/>
            <a:ext cx="3200400" cy="352958"/>
          </a:xfrm>
          <a:prstGeom prst="rect">
            <a:avLst/>
          </a:prstGeom>
          <a:noFill/>
          <a:ln/>
        </p:spPr>
        <p:txBody>
          <a:bodyPr wrap="square" lIns="0" tIns="0" rIns="0" bIns="0" rtlCol="0" anchor="ctr"/>
          <a:lstStyle/>
          <a:p>
            <a:pPr marL="0" indent="0" algn="l">
              <a:buNone/>
            </a:pPr>
            <a:r>
              <a:rPr lang="en-US" sz="900">
                <a:solidFill>
                  <a:srgbClr val="4B5563"/>
                </a:solidFill>
                <a:latin typeface="Raleway" pitchFamily="34" charset="0"/>
                <a:ea typeface="Raleway" pitchFamily="34" charset="-122"/>
                <a:cs typeface="Raleway" pitchFamily="34" charset="-120"/>
              </a:rPr>
              <a:t>Tracked weekly. Below 80% triggers immediate escalation to Practice Head.</a:t>
            </a:r>
            <a:endParaRPr lang="en-US" sz="900"/>
          </a:p>
        </p:txBody>
      </p:sp>
      <p:sp>
        <p:nvSpPr>
          <p:cNvPr id="29" name="Text 23"/>
          <p:cNvSpPr txBox="1"/>
          <p:nvPr/>
        </p:nvSpPr>
        <p:spPr>
          <a:xfrm>
            <a:off x="4496105" y="1772107"/>
            <a:ext cx="3200400" cy="381305"/>
          </a:xfrm>
          <a:prstGeom prst="rect">
            <a:avLst/>
          </a:prstGeom>
          <a:noFill/>
          <a:ln/>
        </p:spPr>
        <p:txBody>
          <a:bodyPr wrap="none" lIns="0" tIns="0" rIns="0" bIns="0" rtlCol="0" anchor="ctr"/>
          <a:lstStyle/>
          <a:p>
            <a:pPr marL="0" indent="0" algn="l">
              <a:buNone/>
            </a:pPr>
            <a:r>
              <a:rPr lang="en-US" sz="2700" b="1">
                <a:solidFill>
                  <a:srgbClr val="2A9D8F"/>
                </a:solidFill>
                <a:latin typeface="Oswald" pitchFamily="34" charset="0"/>
                <a:ea typeface="Oswald" pitchFamily="34" charset="-122"/>
                <a:cs typeface="Oswald" pitchFamily="34" charset="-120"/>
              </a:rPr>
              <a:t>&lt;=0.5</a:t>
            </a:r>
            <a:endParaRPr lang="en-US" sz="2700"/>
          </a:p>
        </p:txBody>
      </p:sp>
      <p:sp>
        <p:nvSpPr>
          <p:cNvPr id="30" name="Text 24"/>
          <p:cNvSpPr txBox="1"/>
          <p:nvPr/>
        </p:nvSpPr>
        <p:spPr>
          <a:xfrm>
            <a:off x="4496105" y="2187245"/>
            <a:ext cx="3200400" cy="152705"/>
          </a:xfrm>
          <a:prstGeom prst="rect">
            <a:avLst/>
          </a:prstGeom>
          <a:noFill/>
          <a:ln/>
        </p:spPr>
        <p:txBody>
          <a:bodyPr wrap="none" lIns="0" tIns="0" rIns="0" bIns="0" rtlCol="0" anchor="ctr"/>
          <a:lstStyle/>
          <a:p>
            <a:pPr marL="0" indent="0" algn="l">
              <a:buNone/>
            </a:pPr>
            <a:r>
              <a:rPr lang="en-US" sz="1000" b="1">
                <a:solidFill>
                  <a:srgbClr val="111827"/>
                </a:solidFill>
                <a:latin typeface="Roboto Condensed" pitchFamily="34" charset="0"/>
                <a:ea typeface="Roboto Condensed" pitchFamily="34" charset="-122"/>
                <a:cs typeface="Roboto Condensed" pitchFamily="34" charset="-120"/>
              </a:rPr>
              <a:t>Defect Density</a:t>
            </a:r>
            <a:endParaRPr lang="en-US" sz="1000"/>
          </a:p>
        </p:txBody>
      </p:sp>
      <p:sp>
        <p:nvSpPr>
          <p:cNvPr id="31" name="Text 25"/>
          <p:cNvSpPr txBox="1"/>
          <p:nvPr/>
        </p:nvSpPr>
        <p:spPr>
          <a:xfrm>
            <a:off x="4496105" y="2415845"/>
            <a:ext cx="3200400" cy="352958"/>
          </a:xfrm>
          <a:prstGeom prst="rect">
            <a:avLst/>
          </a:prstGeom>
          <a:noFill/>
          <a:ln/>
        </p:spPr>
        <p:txBody>
          <a:bodyPr wrap="square" lIns="0" tIns="0" rIns="0" bIns="0" rtlCol="0" anchor="ctr"/>
          <a:lstStyle/>
          <a:p>
            <a:pPr marL="0" indent="0" algn="l">
              <a:buNone/>
            </a:pPr>
            <a:r>
              <a:rPr lang="en-US" sz="900">
                <a:solidFill>
                  <a:srgbClr val="4B5563"/>
                </a:solidFill>
                <a:latin typeface="Raleway" pitchFamily="34" charset="0"/>
                <a:ea typeface="Raleway" pitchFamily="34" charset="-122"/>
                <a:cs typeface="Raleway" pitchFamily="34" charset="-120"/>
              </a:rPr>
              <a:t>Code quality benchmark (per KLOC). Reviewed at monthly performance scorecard.</a:t>
            </a:r>
            <a:endParaRPr lang="en-US" sz="900"/>
          </a:p>
        </p:txBody>
      </p:sp>
      <p:sp>
        <p:nvSpPr>
          <p:cNvPr id="32" name="Text 26"/>
          <p:cNvSpPr txBox="1"/>
          <p:nvPr/>
        </p:nvSpPr>
        <p:spPr>
          <a:xfrm>
            <a:off x="8229600" y="1772107"/>
            <a:ext cx="3200400" cy="381305"/>
          </a:xfrm>
          <a:prstGeom prst="rect">
            <a:avLst/>
          </a:prstGeom>
          <a:noFill/>
          <a:ln/>
        </p:spPr>
        <p:txBody>
          <a:bodyPr wrap="none" lIns="0" tIns="0" rIns="0" bIns="0" rtlCol="0" anchor="ctr"/>
          <a:lstStyle/>
          <a:p>
            <a:pPr marL="0" indent="0" algn="l">
              <a:buNone/>
            </a:pPr>
            <a:r>
              <a:rPr lang="en-US" sz="2700" b="1">
                <a:solidFill>
                  <a:srgbClr val="D62839"/>
                </a:solidFill>
                <a:latin typeface="Oswald" pitchFamily="34" charset="0"/>
                <a:ea typeface="Oswald" pitchFamily="34" charset="-122"/>
                <a:cs typeface="Oswald" pitchFamily="34" charset="-120"/>
              </a:rPr>
              <a:t>10-Day</a:t>
            </a:r>
            <a:endParaRPr lang="en-US" sz="2700"/>
          </a:p>
        </p:txBody>
      </p:sp>
      <p:sp>
        <p:nvSpPr>
          <p:cNvPr id="33" name="Text 27"/>
          <p:cNvSpPr txBox="1"/>
          <p:nvPr/>
        </p:nvSpPr>
        <p:spPr>
          <a:xfrm>
            <a:off x="8229600" y="2187245"/>
            <a:ext cx="3200400" cy="152705"/>
          </a:xfrm>
          <a:prstGeom prst="rect">
            <a:avLst/>
          </a:prstGeom>
          <a:noFill/>
          <a:ln/>
        </p:spPr>
        <p:txBody>
          <a:bodyPr wrap="none" lIns="0" tIns="0" rIns="0" bIns="0" rtlCol="0" anchor="ctr"/>
          <a:lstStyle/>
          <a:p>
            <a:pPr marL="0" indent="0" algn="l">
              <a:buNone/>
            </a:pPr>
            <a:r>
              <a:rPr lang="en-US" sz="1000" b="1">
                <a:solidFill>
                  <a:srgbClr val="111827"/>
                </a:solidFill>
                <a:latin typeface="Roboto Condensed" pitchFamily="34" charset="0"/>
                <a:ea typeface="Roboto Condensed" pitchFamily="34" charset="-122"/>
                <a:cs typeface="Roboto Condensed" pitchFamily="34" charset="-120"/>
              </a:rPr>
              <a:t>Onboarding</a:t>
            </a:r>
            <a:endParaRPr lang="en-US" sz="1000"/>
          </a:p>
        </p:txBody>
      </p:sp>
      <p:sp>
        <p:nvSpPr>
          <p:cNvPr id="34" name="Text 28"/>
          <p:cNvSpPr txBox="1"/>
          <p:nvPr/>
        </p:nvSpPr>
        <p:spPr>
          <a:xfrm>
            <a:off x="8229600" y="2415845"/>
            <a:ext cx="3200400" cy="352958"/>
          </a:xfrm>
          <a:prstGeom prst="rect">
            <a:avLst/>
          </a:prstGeom>
          <a:noFill/>
          <a:ln/>
        </p:spPr>
        <p:txBody>
          <a:bodyPr wrap="square" lIns="0" tIns="0" rIns="0" bIns="0" rtlCol="0" anchor="ctr"/>
          <a:lstStyle/>
          <a:p>
            <a:pPr marL="0" indent="0" algn="l">
              <a:buNone/>
            </a:pPr>
            <a:r>
              <a:rPr lang="en-US" sz="900">
                <a:solidFill>
                  <a:srgbClr val="4B5563"/>
                </a:solidFill>
                <a:latin typeface="Raleway" pitchFamily="34" charset="0"/>
                <a:ea typeface="Raleway" pitchFamily="34" charset="-122"/>
                <a:cs typeface="Raleway" pitchFamily="34" charset="-120"/>
              </a:rPr>
              <a:t>New engineers contributing to sprint by Day 10 via GenAI knowledge repo.</a:t>
            </a:r>
            <a:endParaRPr lang="en-US" sz="900"/>
          </a:p>
        </p:txBody>
      </p:sp>
      <p:sp>
        <p:nvSpPr>
          <p:cNvPr id="35" name="Text 29"/>
          <p:cNvSpPr txBox="1"/>
          <p:nvPr/>
        </p:nvSpPr>
        <p:spPr>
          <a:xfrm>
            <a:off x="761695" y="3685946"/>
            <a:ext cx="3200400" cy="381305"/>
          </a:xfrm>
          <a:prstGeom prst="rect">
            <a:avLst/>
          </a:prstGeom>
          <a:noFill/>
          <a:ln/>
        </p:spPr>
        <p:txBody>
          <a:bodyPr wrap="none" lIns="0" tIns="0" rIns="0" bIns="0" rtlCol="0" anchor="ctr"/>
          <a:lstStyle/>
          <a:p>
            <a:pPr marL="0" indent="0" algn="l">
              <a:buNone/>
            </a:pPr>
            <a:r>
              <a:rPr lang="en-US" sz="2700" b="1">
                <a:solidFill>
                  <a:srgbClr val="111827"/>
                </a:solidFill>
                <a:latin typeface="Oswald" pitchFamily="34" charset="0"/>
                <a:ea typeface="Oswald" pitchFamily="34" charset="-122"/>
                <a:cs typeface="Oswald" pitchFamily="34" charset="-120"/>
              </a:rPr>
              <a:t>90-Day</a:t>
            </a:r>
            <a:endParaRPr lang="en-US" sz="2700"/>
          </a:p>
        </p:txBody>
      </p:sp>
      <p:sp>
        <p:nvSpPr>
          <p:cNvPr id="36" name="Text 30"/>
          <p:cNvSpPr txBox="1"/>
          <p:nvPr/>
        </p:nvSpPr>
        <p:spPr>
          <a:xfrm>
            <a:off x="761695" y="4101084"/>
            <a:ext cx="3200400" cy="152705"/>
          </a:xfrm>
          <a:prstGeom prst="rect">
            <a:avLst/>
          </a:prstGeom>
          <a:noFill/>
          <a:ln/>
        </p:spPr>
        <p:txBody>
          <a:bodyPr wrap="none" lIns="0" tIns="0" rIns="0" bIns="0" rtlCol="0" anchor="ctr"/>
          <a:lstStyle/>
          <a:p>
            <a:pPr marL="0" indent="0" algn="l">
              <a:buNone/>
            </a:pPr>
            <a:r>
              <a:rPr lang="en-US" sz="1000" b="1">
                <a:solidFill>
                  <a:srgbClr val="2A9D8F"/>
                </a:solidFill>
                <a:latin typeface="Roboto Condensed" pitchFamily="34" charset="0"/>
                <a:ea typeface="Roboto Condensed" pitchFamily="34" charset="-122"/>
                <a:cs typeface="Roboto Condensed" pitchFamily="34" charset="-120"/>
              </a:rPr>
              <a:t>POFU</a:t>
            </a:r>
            <a:endParaRPr lang="en-US" sz="1000"/>
          </a:p>
        </p:txBody>
      </p:sp>
      <p:sp>
        <p:nvSpPr>
          <p:cNvPr id="37" name="Text 31"/>
          <p:cNvSpPr txBox="1"/>
          <p:nvPr/>
        </p:nvSpPr>
        <p:spPr>
          <a:xfrm>
            <a:off x="761695" y="4329684"/>
            <a:ext cx="3200400" cy="352958"/>
          </a:xfrm>
          <a:prstGeom prst="rect">
            <a:avLst/>
          </a:prstGeom>
          <a:noFill/>
          <a:ln/>
        </p:spPr>
        <p:txBody>
          <a:bodyPr wrap="square" lIns="0" tIns="0" rIns="0" bIns="0" rtlCol="0" anchor="ctr"/>
          <a:lstStyle/>
          <a:p>
            <a:pPr marL="0" indent="0" algn="l">
              <a:buNone/>
            </a:pPr>
            <a:r>
              <a:rPr lang="en-US" sz="900">
                <a:solidFill>
                  <a:srgbClr val="4B5563"/>
                </a:solidFill>
                <a:latin typeface="Raleway" pitchFamily="34" charset="0"/>
                <a:ea typeface="Raleway" pitchFamily="34" charset="-122"/>
                <a:cs typeface="Raleway" pitchFamily="34" charset="-120"/>
              </a:rPr>
              <a:t>Post-Offer Follow-Up management. Milestone touchpoints ensure offer dropout stays in single digits.</a:t>
            </a:r>
            <a:endParaRPr lang="en-US" sz="900"/>
          </a:p>
        </p:txBody>
      </p:sp>
      <p:sp>
        <p:nvSpPr>
          <p:cNvPr id="38" name="Text 32"/>
          <p:cNvSpPr txBox="1"/>
          <p:nvPr/>
        </p:nvSpPr>
        <p:spPr>
          <a:xfrm>
            <a:off x="4496105" y="3685946"/>
            <a:ext cx="3200400" cy="381305"/>
          </a:xfrm>
          <a:prstGeom prst="rect">
            <a:avLst/>
          </a:prstGeom>
          <a:noFill/>
          <a:ln/>
        </p:spPr>
        <p:txBody>
          <a:bodyPr wrap="none" lIns="0" tIns="0" rIns="0" bIns="0" rtlCol="0" anchor="ctr"/>
          <a:lstStyle/>
          <a:p>
            <a:pPr marL="0" indent="0" algn="l">
              <a:buNone/>
            </a:pPr>
            <a:r>
              <a:rPr lang="en-US" sz="2700" b="1">
                <a:solidFill>
                  <a:srgbClr val="2A9D8F"/>
                </a:solidFill>
                <a:latin typeface="Oswald" pitchFamily="34" charset="0"/>
                <a:ea typeface="Oswald" pitchFamily="34" charset="-122"/>
                <a:cs typeface="Oswald" pitchFamily="34" charset="-120"/>
              </a:rPr>
              <a:t>&lt;5%</a:t>
            </a:r>
            <a:endParaRPr lang="en-US" sz="2700"/>
          </a:p>
        </p:txBody>
      </p:sp>
      <p:sp>
        <p:nvSpPr>
          <p:cNvPr id="39" name="Text 33"/>
          <p:cNvSpPr txBox="1"/>
          <p:nvPr/>
        </p:nvSpPr>
        <p:spPr>
          <a:xfrm>
            <a:off x="4496105" y="4101084"/>
            <a:ext cx="3200400" cy="152705"/>
          </a:xfrm>
          <a:prstGeom prst="rect">
            <a:avLst/>
          </a:prstGeom>
          <a:noFill/>
          <a:ln/>
        </p:spPr>
        <p:txBody>
          <a:bodyPr wrap="none" lIns="0" tIns="0" rIns="0" bIns="0" rtlCol="0" anchor="ctr"/>
          <a:lstStyle/>
          <a:p>
            <a:pPr marL="0" indent="0" algn="l">
              <a:buNone/>
            </a:pPr>
            <a:r>
              <a:rPr lang="en-US" sz="1000" b="1">
                <a:solidFill>
                  <a:srgbClr val="111827"/>
                </a:solidFill>
                <a:latin typeface="Roboto Condensed" pitchFamily="34" charset="0"/>
                <a:ea typeface="Roboto Condensed" pitchFamily="34" charset="-122"/>
                <a:cs typeface="Roboto Condensed" pitchFamily="34" charset="-120"/>
              </a:rPr>
              <a:t>Unplanned Carryover</a:t>
            </a:r>
            <a:endParaRPr lang="en-US" sz="1000"/>
          </a:p>
        </p:txBody>
      </p:sp>
      <p:sp>
        <p:nvSpPr>
          <p:cNvPr id="40" name="Text 34"/>
          <p:cNvSpPr txBox="1"/>
          <p:nvPr/>
        </p:nvSpPr>
        <p:spPr>
          <a:xfrm>
            <a:off x="4496105" y="4329684"/>
            <a:ext cx="3200400" cy="352958"/>
          </a:xfrm>
          <a:prstGeom prst="rect">
            <a:avLst/>
          </a:prstGeom>
          <a:noFill/>
          <a:ln/>
        </p:spPr>
        <p:txBody>
          <a:bodyPr wrap="square" lIns="0" tIns="0" rIns="0" bIns="0" rtlCol="0" anchor="ctr"/>
          <a:lstStyle/>
          <a:p>
            <a:pPr marL="0" indent="0" algn="l">
              <a:buNone/>
            </a:pPr>
            <a:r>
              <a:rPr lang="en-US" sz="900">
                <a:solidFill>
                  <a:srgbClr val="4B5563"/>
                </a:solidFill>
                <a:latin typeface="Raleway" pitchFamily="34" charset="0"/>
                <a:ea typeface="Raleway" pitchFamily="34" charset="-122"/>
                <a:cs typeface="Raleway" pitchFamily="34" charset="-120"/>
              </a:rPr>
              <a:t>Strict backlog management to ensure sprint commitments are reliably met.</a:t>
            </a:r>
            <a:endParaRPr lang="en-US" sz="900"/>
          </a:p>
        </p:txBody>
      </p:sp>
      <p:sp>
        <p:nvSpPr>
          <p:cNvPr id="41" name="Text 35"/>
          <p:cNvSpPr txBox="1"/>
          <p:nvPr/>
        </p:nvSpPr>
        <p:spPr>
          <a:xfrm>
            <a:off x="8229600" y="3685946"/>
            <a:ext cx="3200400" cy="381305"/>
          </a:xfrm>
          <a:prstGeom prst="rect">
            <a:avLst/>
          </a:prstGeom>
          <a:noFill/>
          <a:ln/>
        </p:spPr>
        <p:txBody>
          <a:bodyPr wrap="none" lIns="0" tIns="0" rIns="0" bIns="0" rtlCol="0" anchor="ctr"/>
          <a:lstStyle/>
          <a:p>
            <a:pPr marL="0" indent="0" algn="l">
              <a:buNone/>
            </a:pPr>
            <a:r>
              <a:rPr lang="en-US" sz="2700" b="1">
                <a:solidFill>
                  <a:srgbClr val="D62839"/>
                </a:solidFill>
                <a:latin typeface="Oswald" pitchFamily="34" charset="0"/>
                <a:ea typeface="Oswald" pitchFamily="34" charset="-122"/>
                <a:cs typeface="Oswald" pitchFamily="34" charset="-120"/>
              </a:rPr>
              <a:t>100%</a:t>
            </a:r>
            <a:endParaRPr lang="en-US" sz="2700"/>
          </a:p>
        </p:txBody>
      </p:sp>
      <p:sp>
        <p:nvSpPr>
          <p:cNvPr id="42" name="Text 36"/>
          <p:cNvSpPr txBox="1"/>
          <p:nvPr/>
        </p:nvSpPr>
        <p:spPr>
          <a:xfrm>
            <a:off x="8229600" y="4101084"/>
            <a:ext cx="3200400" cy="152705"/>
          </a:xfrm>
          <a:prstGeom prst="rect">
            <a:avLst/>
          </a:prstGeom>
          <a:noFill/>
          <a:ln/>
        </p:spPr>
        <p:txBody>
          <a:bodyPr wrap="none" lIns="0" tIns="0" rIns="0" bIns="0" rtlCol="0" anchor="ctr"/>
          <a:lstStyle/>
          <a:p>
            <a:pPr marL="0" indent="0" algn="l">
              <a:buNone/>
            </a:pPr>
            <a:r>
              <a:rPr lang="en-US" sz="1000" b="1">
                <a:solidFill>
                  <a:srgbClr val="111827"/>
                </a:solidFill>
                <a:latin typeface="Roboto Condensed" pitchFamily="34" charset="0"/>
                <a:ea typeface="Roboto Condensed" pitchFamily="34" charset="-122"/>
                <a:cs typeface="Roboto Condensed" pitchFamily="34" charset="-120"/>
              </a:rPr>
              <a:t>Governance Cadence Adherence</a:t>
            </a:r>
            <a:endParaRPr lang="en-US" sz="1000"/>
          </a:p>
        </p:txBody>
      </p:sp>
      <p:sp>
        <p:nvSpPr>
          <p:cNvPr id="43" name="Text 37"/>
          <p:cNvSpPr txBox="1"/>
          <p:nvPr/>
        </p:nvSpPr>
        <p:spPr>
          <a:xfrm>
            <a:off x="8229600" y="4329684"/>
            <a:ext cx="3200400" cy="352958"/>
          </a:xfrm>
          <a:prstGeom prst="rect">
            <a:avLst/>
          </a:prstGeom>
          <a:noFill/>
          <a:ln/>
        </p:spPr>
        <p:txBody>
          <a:bodyPr wrap="square" lIns="0" tIns="0" rIns="0" bIns="0" rtlCol="0" anchor="ctr"/>
          <a:lstStyle/>
          <a:p>
            <a:pPr marL="0" indent="0" algn="l">
              <a:buNone/>
            </a:pPr>
            <a:r>
              <a:rPr lang="en-US" sz="900">
                <a:solidFill>
                  <a:srgbClr val="4B5563"/>
                </a:solidFill>
                <a:latin typeface="Raleway" pitchFamily="34" charset="0"/>
                <a:ea typeface="Raleway" pitchFamily="34" charset="-122"/>
                <a:cs typeface="Raleway" pitchFamily="34" charset="-120"/>
              </a:rPr>
              <a:t>Mandatory participation in standups, sprint reviews, and quarterly ROI QBRs.</a:t>
            </a:r>
            <a:endParaRPr lang="en-US" sz="900"/>
          </a:p>
        </p:txBody>
      </p:sp>
      <p:sp>
        <p:nvSpPr>
          <p:cNvPr id="44" name="Text 38"/>
          <p:cNvSpPr txBox="1"/>
          <p:nvPr/>
        </p:nvSpPr>
        <p:spPr>
          <a:xfrm>
            <a:off x="2202790" y="5880506"/>
            <a:ext cx="7791602" cy="247802"/>
          </a:xfrm>
          <a:prstGeom prst="rect">
            <a:avLst/>
          </a:prstGeom>
          <a:noFill/>
          <a:ln/>
        </p:spPr>
        <p:txBody>
          <a:bodyPr wrap="none" lIns="0" tIns="0" rIns="0" bIns="0" rtlCol="0" anchor="ctr"/>
          <a:lstStyle/>
          <a:p>
            <a:pPr marL="0" indent="0" algn="ctr">
              <a:buNone/>
            </a:pPr>
            <a:r>
              <a:rPr lang="en-US" sz="1300" b="1">
                <a:solidFill>
                  <a:srgbClr val="FFFFFF"/>
                </a:solidFill>
                <a:latin typeface="Raleway" pitchFamily="34" charset="0"/>
                <a:ea typeface="Raleway" pitchFamily="34" charset="-122"/>
                <a:cs typeface="Raleway" pitchFamily="34" charset="-120"/>
              </a:rPr>
              <a:t>These metrics convert pods from staffing cost centers into predictable delivery engines.</a:t>
            </a:r>
            <a:endParaRPr lang="en-US" sz="1300"/>
          </a:p>
        </p:txBody>
      </p:sp>
      <p:sp>
        <p:nvSpPr>
          <p:cNvPr id="45" name="Text 39"/>
          <p:cNvSpPr txBox="1"/>
          <p:nvPr/>
        </p:nvSpPr>
        <p:spPr>
          <a:xfrm>
            <a:off x="10515600" y="485546"/>
            <a:ext cx="694944" cy="133502"/>
          </a:xfrm>
          <a:prstGeom prst="rect">
            <a:avLst/>
          </a:prstGeom>
          <a:noFill/>
          <a:ln/>
        </p:spPr>
        <p:txBody>
          <a:bodyPr wrap="none" lIns="0" tIns="0" rIns="0" bIns="0" rtlCol="0" anchor="ctr"/>
          <a:lstStyle/>
          <a:p>
            <a:pPr marL="0" indent="0" algn="ctr">
              <a:buNone/>
            </a:pPr>
            <a:r>
              <a:rPr lang="en-US" sz="1000" b="1" kern="0" spc="52">
                <a:solidFill>
                  <a:srgbClr val="FFFFFF"/>
                </a:solidFill>
                <a:latin typeface="Roboto Condensed" pitchFamily="34" charset="0"/>
                <a:ea typeface="Roboto Condensed" pitchFamily="34" charset="-122"/>
                <a:cs typeface="Roboto Condensed" pitchFamily="34" charset="-120"/>
              </a:rPr>
              <a:t>AI Pods</a:t>
            </a:r>
            <a:endParaRPr lang="en-US" sz="1000"/>
          </a:p>
        </p:txBody>
      </p:sp>
    </p:spTree>
    <p:extLst>
      <p:ext uri="{BB962C8B-B14F-4D97-AF65-F5344CB8AC3E}">
        <p14:creationId xmlns:p14="http://schemas.microsoft.com/office/powerpoint/2010/main" val="1815870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12309</Words>
  <Application>Microsoft Office PowerPoint</Application>
  <PresentationFormat>Widescreen</PresentationFormat>
  <Paragraphs>1435</Paragraphs>
  <Slides>68</Slides>
  <Notes>68</Notes>
  <HiddenSlides>0</HiddenSlides>
  <MMClips>0</MMClips>
  <ScaleCrop>false</ScaleCrop>
  <HeadingPairs>
    <vt:vector size="4" baseType="variant">
      <vt:variant>
        <vt:lpstr>Theme</vt:lpstr>
      </vt:variant>
      <vt:variant>
        <vt:i4>1</vt:i4>
      </vt:variant>
      <vt:variant>
        <vt:lpstr>Slide Titles</vt:lpstr>
      </vt:variant>
      <vt:variant>
        <vt:i4>68</vt:i4>
      </vt:variant>
    </vt:vector>
  </HeadingPairs>
  <TitlesOfParts>
    <vt:vector size="6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Case Study Portfolio</dc:title>
  <dc:subject>PptxGenJS Presentation</dc:subject>
  <dc:creator>J2W</dc:creator>
  <cp:lastModifiedBy>Athithia Krishna</cp:lastModifiedBy>
  <cp:revision>3</cp:revision>
  <dcterms:created xsi:type="dcterms:W3CDTF">2026-06-22T10:46:20Z</dcterms:created>
  <dcterms:modified xsi:type="dcterms:W3CDTF">2026-06-22T11:17:35Z</dcterms:modified>
</cp:coreProperties>
</file>