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skill_deepdive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industry_strength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company_footprint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target_skill_profile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four_box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roadmap_board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box_grid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pillar_deepdive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scored_list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stat_overview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data_table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9016" cy="75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9016" y="0"/>
            <a:ext cx="4059935" cy="7589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Oswald"/>
              </a:rPr>
              <a:t>WHERE J2W HAS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Roboto Condensed"/>
              </a:rPr>
              <a:t>SKILLS DEPLOYED:  {{SKILLS_HEADER}}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5074920" cy="5394959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07008"/>
            <a:ext cx="54864" cy="5394959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3" y="1353312"/>
            <a:ext cx="4782312" cy="256032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  <a:latin typeface="Raleway"/>
              </a:rPr>
              <a:t>DEPLOYMENT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" y="1627632"/>
            <a:ext cx="4782312" cy="201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1755648"/>
            <a:ext cx="4782312" cy="477316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300" b="0" i="0">
                <a:solidFill>
                  <a:srgbClr val="3E3E3E"/>
                </a:solidFill>
                <a:latin typeface="Raleway"/>
              </a:rPr>
              <a:t>{{SKILL_SUMMARY}}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68696" y="1207008"/>
            <a:ext cx="6345936" cy="5394959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68696" y="1207008"/>
            <a:ext cx="6345936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1353312"/>
            <a:ext cx="6053328" cy="256032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  <a:latin typeface="Raleway"/>
              </a:rPr>
              <a:t>SKILL DISTRIBUTION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627632"/>
            <a:ext cx="6053328" cy="201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1755648"/>
            <a:ext cx="6053328" cy="477316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 i="0">
                <a:solidFill>
                  <a:srgbClr val="6E6E69"/>
                </a:solidFill>
                <a:latin typeface="Raleway"/>
              </a:rPr>
              <a:t>{{CHART}}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9016" cy="75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9016" y="0"/>
            <a:ext cx="4059935" cy="7589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Oswald"/>
              </a:rPr>
              <a:t>OUR DELIVERY FOOTPRINT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Roboto Condensed"/>
              </a:rPr>
              <a:t>INDUSTRY:  {{INDUSTRY_NAME}}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786634" cy="45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2A9D8F"/>
                </a:solidFill>
                <a:latin typeface="Raleway"/>
              </a:rPr>
              <a:t>{{TOTAL_CONSULTANTS}}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Raleway"/>
              </a:rPr>
              <a:t>Consultants deployed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5546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5546" y="1188720"/>
            <a:ext cx="2786634" cy="45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8698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2A9D8F"/>
                </a:solidFill>
                <a:latin typeface="Raleway"/>
              </a:rPr>
              <a:t>{{NUM_COMPANIES}}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8698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Raleway"/>
              </a:rPr>
              <a:t>Companies served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6772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772" y="1188720"/>
            <a:ext cx="2786634" cy="45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9924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2A9D8F"/>
                </a:solidFill>
                <a:latin typeface="Raleway"/>
              </a:rPr>
              <a:t>{{NUM_FUNCTIONS}}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9924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Raleway"/>
              </a:rPr>
              <a:t>Functions delivered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27998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7998" y="1188720"/>
            <a:ext cx="2786634" cy="45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1150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2A9D8F"/>
                </a:solidFill>
                <a:latin typeface="Raleway"/>
              </a:rPr>
              <a:t>{{NUM_SKILLS}}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1150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Raleway"/>
              </a:rPr>
              <a:t>Distinct skills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560320"/>
            <a:ext cx="5074920" cy="4041647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560320"/>
            <a:ext cx="54864" cy="4041647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3" y="2706624"/>
            <a:ext cx="4782312" cy="256032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  <a:latin typeface="Raleway"/>
              </a:rPr>
              <a:t>TOP HIRED SKILLS - BY COMPANIES SERVED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3" y="2980944"/>
            <a:ext cx="4782312" cy="201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3" y="3127248"/>
            <a:ext cx="4782312" cy="1072895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3" y="3127248"/>
            <a:ext cx="420624" cy="1072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3" y="3127248"/>
            <a:ext cx="420624" cy="1072895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Raleway"/>
              </a:rPr>
              <a:t>#1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3182112"/>
            <a:ext cx="4197096" cy="963167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l"/>
            <a:r>
              <a:rPr sz="1300" b="0" i="0">
                <a:solidFill>
                  <a:srgbClr val="3E3E3E"/>
                </a:solidFill>
                <a:latin typeface="Raleway"/>
              </a:rPr>
              <a:t>{{TOP_SKILL_1}}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3" y="4291584"/>
            <a:ext cx="4782312" cy="1072895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0623" y="4291584"/>
            <a:ext cx="420624" cy="1072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3" y="4291584"/>
            <a:ext cx="420624" cy="1072895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Raleway"/>
              </a:rPr>
              <a:t>#2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" y="4346448"/>
            <a:ext cx="4197096" cy="963167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l"/>
            <a:r>
              <a:rPr sz="1300" b="0" i="0">
                <a:solidFill>
                  <a:srgbClr val="3E3E3E"/>
                </a:solidFill>
                <a:latin typeface="Raleway"/>
              </a:rPr>
              <a:t>{{TOP_SKILL_2}}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3" y="5455920"/>
            <a:ext cx="4782312" cy="1072895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0623" y="5455920"/>
            <a:ext cx="420624" cy="1072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3" y="5455920"/>
            <a:ext cx="420624" cy="1072895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Raleway"/>
              </a:rPr>
              <a:t>#3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" y="5510784"/>
            <a:ext cx="4197096" cy="963167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l"/>
            <a:r>
              <a:rPr sz="1300" b="0" i="0">
                <a:solidFill>
                  <a:srgbClr val="3E3E3E"/>
                </a:solidFill>
                <a:latin typeface="Raleway"/>
              </a:rPr>
              <a:t>{{TOP_SKILL_3}}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68696" y="2560320"/>
            <a:ext cx="6345936" cy="4041647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68696" y="2560320"/>
            <a:ext cx="6345936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2706624"/>
            <a:ext cx="6053328" cy="256032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  <a:latin typeface="Raleway"/>
              </a:rPr>
              <a:t>FUNCTION DISTRIBUTION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0" y="2980944"/>
            <a:ext cx="6053328" cy="201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3108960"/>
            <a:ext cx="6053328" cy="3419855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 i="0">
                <a:solidFill>
                  <a:srgbClr val="6E6E69"/>
                </a:solidFill>
                <a:latin typeface="Raleway"/>
              </a:rPr>
              <a:t>{{CHART}}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9016" cy="75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9016" y="0"/>
            <a:ext cx="4059935" cy="7589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Oswald"/>
              </a:rPr>
              <a:t>OUR PARTNERSHIP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Roboto Condensed"/>
              </a:rPr>
              <a:t>CLIENT:  {{COMPANY_NAME}}   |   EXISTING J2W RELATIONSHIP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786634" cy="45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2A9D8F"/>
                </a:solidFill>
                <a:latin typeface="Raleway"/>
              </a:rPr>
              <a:t>{{TOTAL_DEPLOYED}}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Raleway"/>
              </a:rPr>
              <a:t>Consultants deployed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5546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5546" y="1188720"/>
            <a:ext cx="2786634" cy="45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8698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2A9D8F"/>
                </a:solidFill>
                <a:latin typeface="Raleway"/>
              </a:rPr>
              <a:t>{{NUM_FUNCTIONS_CO}}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8698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Raleway"/>
              </a:rPr>
              <a:t>Functions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6772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772" y="1188720"/>
            <a:ext cx="2786634" cy="45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9924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2A9D8F"/>
                </a:solidFill>
                <a:latin typeface="Raleway"/>
              </a:rPr>
              <a:t>{{NUM_SKILLS_CO}}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9924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Raleway"/>
              </a:rPr>
              <a:t>Distinct skills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27998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7998" y="1188720"/>
            <a:ext cx="2786634" cy="457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1150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2A9D8F"/>
                </a:solidFill>
                <a:latin typeface="Raleway"/>
              </a:rPr>
              <a:t>{{ENGAGEMENT_TYPE}}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1150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Raleway"/>
              </a:rPr>
              <a:t>Engagement 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560320"/>
            <a:ext cx="5074920" cy="4041647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560320"/>
            <a:ext cx="54864" cy="4041647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3" y="2706624"/>
            <a:ext cx="4782312" cy="256032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  <a:latin typeface="Raleway"/>
              </a:rPr>
              <a:t>FUNCTION BREAKDOWN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3" y="2980944"/>
            <a:ext cx="4782312" cy="201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3" y="3108960"/>
            <a:ext cx="4782312" cy="3419855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300" b="0" i="0">
                <a:solidFill>
                  <a:srgbClr val="3E3E3E"/>
                </a:solidFill>
                <a:latin typeface="Raleway"/>
              </a:rPr>
              <a:t>{{FUNCTION_BREAKDOWN}}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68696" y="2560320"/>
            <a:ext cx="6345936" cy="4041647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68696" y="2560320"/>
            <a:ext cx="6345936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2706624"/>
            <a:ext cx="6053328" cy="256032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  <a:latin typeface="Raleway"/>
              </a:rPr>
              <a:t>FUNCTION DISTRIBUTION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2980944"/>
            <a:ext cx="6053328" cy="2011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3108960"/>
            <a:ext cx="6053328" cy="3419855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 i="0">
                <a:solidFill>
                  <a:srgbClr val="6E6E69"/>
                </a:solidFill>
                <a:latin typeface="Raleway"/>
              </a:rPr>
              <a:t>{{CHART}}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9016" cy="75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9016" y="0"/>
            <a:ext cx="4059935" cy="7589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Oswald"/>
              </a:rPr>
              <a:t>TARGET SKILL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Roboto Condensed"/>
              </a:rPr>
              <a:t>Domain Knowledge, Technical Stack And Background We're Hiring Against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758184" cy="4389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34440"/>
            <a:ext cx="3758184" cy="438912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Raleway"/>
              </a:rPr>
              <a:t>DOMAIN EXPERTISE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3758184" cy="737615"/>
          </a:xfrm>
          <a:prstGeom prst="rect">
            <a:avLst/>
          </a:prstGeom>
          <a:solidFill>
            <a:srgbClr val="E9F4F2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874520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Raleway"/>
              </a:rPr>
              <a:t>{{DOM_1_T}}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170176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{{DOM_1_D}}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21280"/>
            <a:ext cx="3758184" cy="737615"/>
          </a:xfrm>
          <a:prstGeom prst="rect">
            <a:avLst/>
          </a:prstGeom>
          <a:solidFill>
            <a:srgbClr val="E9F4F2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2694432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Raleway"/>
              </a:rPr>
              <a:t>{{DOM_2_T}}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2990088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{{DOM_2_D}}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41192"/>
            <a:ext cx="3758184" cy="737615"/>
          </a:xfrm>
          <a:prstGeom prst="rect">
            <a:avLst/>
          </a:prstGeom>
          <a:solidFill>
            <a:srgbClr val="E9F4F2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514344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Raleway"/>
              </a:rPr>
              <a:t>{{DOM_3_T}}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" y="3809999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{{DOM_3_D}}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61104"/>
            <a:ext cx="3758184" cy="737615"/>
          </a:xfrm>
          <a:prstGeom prst="rect">
            <a:avLst/>
          </a:prstGeom>
          <a:solidFill>
            <a:srgbClr val="E9F4F2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4334256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Raleway"/>
              </a:rPr>
              <a:t>{{DOM_4_T}}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4629912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{{DOM_4_D}}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081016"/>
            <a:ext cx="3758184" cy="737615"/>
          </a:xfrm>
          <a:prstGeom prst="rect">
            <a:avLst/>
          </a:prstGeom>
          <a:solidFill>
            <a:srgbClr val="E9F4F2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5154168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Raleway"/>
              </a:rPr>
              <a:t>{{DOM_5_T}}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5449824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{{DOM_5_D}}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900928"/>
            <a:ext cx="3758184" cy="737615"/>
          </a:xfrm>
          <a:prstGeom prst="rect">
            <a:avLst/>
          </a:prstGeom>
          <a:solidFill>
            <a:srgbClr val="E9F4F2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" y="5974080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Raleway"/>
              </a:rPr>
              <a:t>{{DOM_6_T}}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" y="6269736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{{DOM_6_D}}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15384" y="1234440"/>
            <a:ext cx="3758184" cy="438912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15384" y="1234440"/>
            <a:ext cx="3758184" cy="438912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Raleway"/>
              </a:rPr>
              <a:t>TECHNICAL STACK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4" y="1801368"/>
            <a:ext cx="3758184" cy="737615"/>
          </a:xfrm>
          <a:prstGeom prst="rect">
            <a:avLst/>
          </a:prstGeom>
          <a:solidFill>
            <a:srgbClr val="FCEFE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1874520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D62839"/>
                </a:solidFill>
                <a:latin typeface="Raleway"/>
              </a:rPr>
              <a:t>{{TEC_1_T}}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2170176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{{TEC_1_D}}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15384" y="2621280"/>
            <a:ext cx="3758184" cy="737615"/>
          </a:xfrm>
          <a:prstGeom prst="rect">
            <a:avLst/>
          </a:prstGeom>
          <a:solidFill>
            <a:srgbClr val="FCEFE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2694432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D62839"/>
                </a:solidFill>
                <a:latin typeface="Raleway"/>
              </a:rPr>
              <a:t>{{TEC_2_T}}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2990088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{{TEC_2_D}}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15384" y="3441192"/>
            <a:ext cx="3758184" cy="737615"/>
          </a:xfrm>
          <a:prstGeom prst="rect">
            <a:avLst/>
          </a:prstGeom>
          <a:solidFill>
            <a:srgbClr val="FCEFE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3514344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D62839"/>
                </a:solidFill>
                <a:latin typeface="Raleway"/>
              </a:rPr>
              <a:t>{{TEC_3_T}}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3809999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{{TEC_3_D}}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5384" y="4261104"/>
            <a:ext cx="3758184" cy="737615"/>
          </a:xfrm>
          <a:prstGeom prst="rect">
            <a:avLst/>
          </a:prstGeom>
          <a:solidFill>
            <a:srgbClr val="FCEFE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4334256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D62839"/>
                </a:solidFill>
                <a:latin typeface="Raleway"/>
              </a:rPr>
              <a:t>{{TEC_4_T}}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4629912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{{TEC_4_D}}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15384" y="5081016"/>
            <a:ext cx="3758184" cy="737615"/>
          </a:xfrm>
          <a:prstGeom prst="rect">
            <a:avLst/>
          </a:prstGeom>
          <a:solidFill>
            <a:srgbClr val="FCEFE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5154168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D62839"/>
                </a:solidFill>
                <a:latin typeface="Raleway"/>
              </a:rPr>
              <a:t>{{TEC_5_T}}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5449824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{{TEC_5_D}}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15384" y="5900928"/>
            <a:ext cx="3758184" cy="737615"/>
          </a:xfrm>
          <a:prstGeom prst="rect">
            <a:avLst/>
          </a:prstGeom>
          <a:solidFill>
            <a:srgbClr val="FCEFEF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400" y="5974080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D62839"/>
                </a:solidFill>
                <a:latin typeface="Raleway"/>
              </a:rPr>
              <a:t>{{TEC_6_T}}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269736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{{TEC_6_D}}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56448" y="1234440"/>
            <a:ext cx="3758184" cy="438912"/>
          </a:xfrm>
          <a:prstGeom prst="rect">
            <a:avLst/>
          </a:prstGeom>
          <a:solidFill>
            <a:srgbClr val="6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56448" y="1234440"/>
            <a:ext cx="3758184" cy="438912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Raleway"/>
              </a:rPr>
              <a:t>ACADEMIC &amp; PROFESSIONAL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56448" y="1801368"/>
            <a:ext cx="3758184" cy="737615"/>
          </a:xfrm>
          <a:prstGeom prst="rect">
            <a:avLst/>
          </a:prstGeom>
          <a:solidFill>
            <a:srgbClr val="F2F2F1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84464" y="1874520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111110"/>
                </a:solidFill>
                <a:latin typeface="Raleway"/>
              </a:rPr>
              <a:t>{{ACA_1_T}}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4464" y="2170176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{{ACA_1_D}}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56448" y="2621280"/>
            <a:ext cx="3758184" cy="737615"/>
          </a:xfrm>
          <a:prstGeom prst="rect">
            <a:avLst/>
          </a:prstGeom>
          <a:solidFill>
            <a:srgbClr val="F2F2F1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4464" y="2694432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111110"/>
                </a:solidFill>
                <a:latin typeface="Raleway"/>
              </a:rPr>
              <a:t>{{ACA_2_T}}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4464" y="2990088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{{ACA_2_D}}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56448" y="3441192"/>
            <a:ext cx="3758184" cy="737615"/>
          </a:xfrm>
          <a:prstGeom prst="rect">
            <a:avLst/>
          </a:prstGeom>
          <a:solidFill>
            <a:srgbClr val="F2F2F1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84464" y="3514344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111110"/>
                </a:solidFill>
                <a:latin typeface="Raleway"/>
              </a:rPr>
              <a:t>{{ACA_3_T}}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4464" y="3809999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{{ACA_3_D}}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56448" y="4261104"/>
            <a:ext cx="3758184" cy="737615"/>
          </a:xfrm>
          <a:prstGeom prst="rect">
            <a:avLst/>
          </a:prstGeom>
          <a:solidFill>
            <a:srgbClr val="F2F2F1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84464" y="4334256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111110"/>
                </a:solidFill>
                <a:latin typeface="Raleway"/>
              </a:rPr>
              <a:t>{{ACA_4_T}}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84464" y="4629912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{{ACA_4_D}}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56448" y="5081016"/>
            <a:ext cx="3758184" cy="737615"/>
          </a:xfrm>
          <a:prstGeom prst="rect">
            <a:avLst/>
          </a:prstGeom>
          <a:solidFill>
            <a:srgbClr val="F2F2F1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84464" y="5154168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111110"/>
                </a:solidFill>
                <a:latin typeface="Raleway"/>
              </a:rPr>
              <a:t>{{ACA_5_T}}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84464" y="5449824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{{ACA_5_D}}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56448" y="5900928"/>
            <a:ext cx="3758184" cy="737615"/>
          </a:xfrm>
          <a:prstGeom prst="rect">
            <a:avLst/>
          </a:prstGeom>
          <a:solidFill>
            <a:srgbClr val="F2F2F1"/>
          </a:solidFill>
          <a:ln w="635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84464" y="5974080"/>
            <a:ext cx="3502152" cy="36880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200" b="1" i="0">
                <a:solidFill>
                  <a:srgbClr val="111110"/>
                </a:solidFill>
                <a:latin typeface="Raleway"/>
              </a:rPr>
              <a:t>{{ACA_6_T}}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84464" y="6269736"/>
            <a:ext cx="3502152" cy="295655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200" b="0" i="0">
                <a:solidFill>
                  <a:srgbClr val="6E6E69"/>
                </a:solidFill>
                <a:latin typeface="Raleway"/>
              </a:rPr>
              <a:t>{{ACA_6_D}}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9016" cy="75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9016" y="0"/>
            <a:ext cx="4059935" cy="7589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Oswald"/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Roboto Condensed"/>
              </a:rPr>
              <a:t>{{SUBHEAD}}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682996" cy="2564892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3" y="1380744"/>
            <a:ext cx="54864" cy="310896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380744"/>
            <a:ext cx="5244083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1" i="0">
                <a:solidFill>
                  <a:srgbClr val="111110"/>
                </a:solidFill>
                <a:latin typeface="Raleway"/>
              </a:rPr>
              <a:t>{{BOX1_HEAD}}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" y="1783080"/>
            <a:ext cx="5390388" cy="1869948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300" b="0" i="0">
                <a:solidFill>
                  <a:srgbClr val="3E3E3E"/>
                </a:solidFill>
                <a:latin typeface="Raleway"/>
              </a:rPr>
              <a:t>{{BOX1_BODY}}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234440"/>
            <a:ext cx="5682996" cy="2564892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7940" y="1380744"/>
            <a:ext cx="54864" cy="310896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4244" y="1380744"/>
            <a:ext cx="5244083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1" i="0">
                <a:solidFill>
                  <a:srgbClr val="111110"/>
                </a:solidFill>
                <a:latin typeface="Raleway"/>
              </a:rPr>
              <a:t>{{BOX2_HEAD}}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7940" y="1783080"/>
            <a:ext cx="5390388" cy="1869948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300" b="0" i="0">
                <a:solidFill>
                  <a:srgbClr val="3E3E3E"/>
                </a:solidFill>
                <a:latin typeface="Raleway"/>
              </a:rPr>
              <a:t>{{BOX2_BODY}}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73652"/>
            <a:ext cx="5682996" cy="2564892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3" y="4219956"/>
            <a:ext cx="54864" cy="310896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219956"/>
            <a:ext cx="5244083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1" i="0">
                <a:solidFill>
                  <a:srgbClr val="111110"/>
                </a:solidFill>
                <a:latin typeface="Raleway"/>
              </a:rPr>
              <a:t>{{BOX3_HEAD}}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3" y="4622292"/>
            <a:ext cx="5390388" cy="1869948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300" b="0" i="0">
                <a:solidFill>
                  <a:srgbClr val="3E3E3E"/>
                </a:solidFill>
                <a:latin typeface="Raleway"/>
              </a:rPr>
              <a:t>{{BOX3_BODY}}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073652"/>
            <a:ext cx="5682996" cy="2564892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77940" y="4219956"/>
            <a:ext cx="54864" cy="310896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4244" y="4219956"/>
            <a:ext cx="5244083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1" i="0">
                <a:solidFill>
                  <a:srgbClr val="111110"/>
                </a:solidFill>
                <a:latin typeface="Raleway"/>
              </a:rPr>
              <a:t>{{BOX4_HEAD}}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7940" y="4622292"/>
            <a:ext cx="5390388" cy="1869948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300" b="0" i="0">
                <a:solidFill>
                  <a:srgbClr val="3E3E3E"/>
                </a:solidFill>
                <a:latin typeface="Raleway"/>
              </a:rPr>
              <a:t>{{BOX4_BODY}}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9016" cy="75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9016" y="0"/>
            <a:ext cx="4059935" cy="7589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Oswald"/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Roboto Condensed"/>
              </a:rPr>
              <a:t>{{SUBHEAD}}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11640312" cy="420624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100" b="0" i="0">
                <a:solidFill>
                  <a:srgbClr val="3E3E3E"/>
                </a:solidFill>
                <a:latin typeface="Raleway"/>
              </a:rPr>
              <a:t>{{INTRO}}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9016" cy="75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9016" y="0"/>
            <a:ext cx="4059935" cy="7589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Oswald"/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Roboto Condensed"/>
              </a:rPr>
              <a:t>{{SUBHEAD}}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9016" cy="75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9016" y="0"/>
            <a:ext cx="4059935" cy="7589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Oswald"/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Roboto Condensed"/>
              </a:rPr>
              <a:t>{{SUBHEAD}}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9016" cy="75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9016" y="0"/>
            <a:ext cx="4059935" cy="7589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Oswald"/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Roboto Condensed"/>
              </a:rPr>
              <a:t>{{SUBHEAD}}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9016" cy="75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9016" y="0"/>
            <a:ext cx="4059935" cy="7589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Oswald"/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Roboto Condensed"/>
              </a:rPr>
              <a:t>{{SUBHEAD}}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11640312" cy="420624"/>
          </a:xfrm>
          <a:prstGeom prst="rect">
            <a:avLst/>
          </a:prstGeom>
          <a:noFill/>
        </p:spPr>
        <p:txBody>
          <a:bodyPr wrap="square" anchor="t" tIns="0" bIns="0">
            <a:normAutofit/>
          </a:bodyPr>
          <a:lstStyle/>
          <a:p>
            <a:pPr algn="l"/>
            <a:r>
              <a:rPr sz="1100" b="0" i="0">
                <a:solidFill>
                  <a:srgbClr val="3E3E3E"/>
                </a:solidFill>
                <a:latin typeface="Raleway"/>
              </a:rPr>
              <a:t>{{INTRO}}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9016" cy="75895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9016" y="0"/>
            <a:ext cx="4059935" cy="7589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Oswald"/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  <a:latin typeface="Roboto Condensed"/>
              </a:rPr>
              <a:t>{{SUBHEAD}}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