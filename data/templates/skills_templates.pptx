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skill_deepdive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industry_strength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company_footprint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target_skill_profile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Calibri"/>
              </a:rPr>
              <a:t>WHERE J2W HAS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3A8B82"/>
                </a:solidFill>
                <a:latin typeface="Calibri"/>
              </a:rPr>
              <a:t>SKILLS DEPLOYED:  {{SKILLS_HEADER}}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5074920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07008"/>
            <a:ext cx="54864" cy="5394959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3" y="1353312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DEPLOYMENT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" y="1627632"/>
            <a:ext cx="4782312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3" y="1755648"/>
            <a:ext cx="4782312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3E3E3E"/>
                </a:solidFill>
                <a:latin typeface="Calibri"/>
              </a:rPr>
              <a:t>{{SKILL_SUMMARY}}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68696" y="1207008"/>
            <a:ext cx="6345936" cy="5394959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68696" y="1207008"/>
            <a:ext cx="6345936" cy="54864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353312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SKILL DISTRIBUTION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0" y="1627632"/>
            <a:ext cx="6053328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0" y="1755648"/>
            <a:ext cx="6053328" cy="477316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Calibri"/>
              </a:rPr>
              <a:t>{{CHART}}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Calibri"/>
              </a:rPr>
              <a:t>OUR DELIVERY FOOTPRINT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3A8B82"/>
                </a:solidFill>
                <a:latin typeface="Calibri"/>
              </a:rPr>
              <a:t>INDUSTRY:  {{INDUSTRY_NAME}}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{{TOTAL_CONSULTANTS}}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{{NUM_COMPANIES}}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Companies 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{{NUM_FUNCTIONS}}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Functions 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{{NUM_SKILLS}}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Distinct skills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TOP HIRED SKILLS - BY COMPANIES SERVED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3" y="3127248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3" y="3127248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3182112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Calibri"/>
              </a:rPr>
              <a:t>{{TOP_SKILL_1}}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3" y="4291584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3" y="4291584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" y="4346448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Calibri"/>
              </a:rPr>
              <a:t>{{TOP_SKILL_2}}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3" y="5455920"/>
            <a:ext cx="4782312" cy="1072895"/>
          </a:xfrm>
          <a:prstGeom prst="rect">
            <a:avLst/>
          </a:prstGeom>
          <a:solidFill>
            <a:srgbClr val="F5F5F5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3" y="5455920"/>
            <a:ext cx="420624" cy="1072895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#3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" y="5510784"/>
            <a:ext cx="4197096" cy="963167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/>
            <a:r>
              <a:rPr sz="1100" b="0" i="0">
                <a:solidFill>
                  <a:srgbClr val="3E3E3E"/>
                </a:solidFill>
                <a:latin typeface="Calibri"/>
              </a:rPr>
              <a:t>{{TOP_SKILL_3}}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FUNCTION DISTRIBUTION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Calibri"/>
              </a:rPr>
              <a:t>{{CHART}}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Calibri"/>
              </a:rPr>
              <a:t>OUR PARTNERSHIP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400" b="1" i="0">
                <a:solidFill>
                  <a:srgbClr val="3A8B82"/>
                </a:solidFill>
                <a:latin typeface="Calibri"/>
              </a:rPr>
              <a:t>CLIENT:  {{COMPANY_NAME}}   |   EXISTING J2W RELATIONSHIP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{{TOTAL_DEPLOYED}}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Consultants deployed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5546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5546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8698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{{NUM_FUNCTIONS_CO}}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8698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Functions delivered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6772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9924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{{NUM_SKILLS_CO}}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9924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Distinct skills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7998" y="1188720"/>
            <a:ext cx="278663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7998" y="1188720"/>
            <a:ext cx="2786634" cy="4572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1150" y="1371600"/>
            <a:ext cx="2640330" cy="603504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2700" b="1" i="0">
                <a:solidFill>
                  <a:srgbClr val="3A8B82"/>
                </a:solidFill>
                <a:latin typeface="Calibri"/>
              </a:rPr>
              <a:t>{{ENGAGEMENT_TYPE}}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1150" y="2011680"/>
            <a:ext cx="2640330" cy="29260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/>
            <a:r>
              <a:rPr sz="900" b="0" i="0">
                <a:solidFill>
                  <a:srgbClr val="6E6E69"/>
                </a:solidFill>
                <a:latin typeface="Calibri"/>
              </a:rPr>
              <a:t>Engagement 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74920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560320"/>
            <a:ext cx="54864" cy="4041647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3" y="2706624"/>
            <a:ext cx="47823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FUNCTION BREAKDOWN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3" y="2980944"/>
            <a:ext cx="4782312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3" y="3108960"/>
            <a:ext cx="4782312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3E3E3E"/>
                </a:solidFill>
                <a:latin typeface="Calibri"/>
              </a:rPr>
              <a:t>{{FUNCTION_BREAKDOWN}}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68696" y="2560320"/>
            <a:ext cx="6345936" cy="4041647"/>
          </a:xfrm>
          <a:prstGeom prst="rect">
            <a:avLst/>
          </a:prstGeom>
          <a:solidFill>
            <a:srgbClr val="FFFFFF"/>
          </a:solidFill>
          <a:ln w="952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68696" y="2560320"/>
            <a:ext cx="6345936" cy="54864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2706624"/>
            <a:ext cx="6053328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100" b="1" i="0">
                <a:solidFill>
                  <a:srgbClr val="3A8B82"/>
                </a:solidFill>
                <a:latin typeface="Calibri"/>
              </a:rPr>
              <a:t>FUNCTION DISTRIBUTION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0" y="2980944"/>
            <a:ext cx="6053328" cy="20116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3108960"/>
            <a:ext cx="6053328" cy="3419855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000" b="0" i="0">
                <a:solidFill>
                  <a:srgbClr val="6E6E69"/>
                </a:solidFill>
                <a:latin typeface="Calibri"/>
              </a:rPr>
              <a:t>{{CHART}}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52160" cy="91440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633679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" y="274320"/>
            <a:ext cx="59436" cy="475488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237744"/>
            <a:ext cx="11338560" cy="475488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2400" b="1" i="0">
                <a:solidFill>
                  <a:srgbClr val="111110"/>
                </a:solidFill>
                <a:latin typeface="Oswald"/>
              </a:rPr>
              <a:t>TARGET SKILL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731520"/>
            <a:ext cx="11521440" cy="310896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500" b="1" i="0">
                <a:solidFill>
                  <a:srgbClr val="3A8B82"/>
                </a:solidFill>
                <a:latin typeface="Roboto Condensed"/>
              </a:rPr>
              <a:t>Domain Knowledge, Technical Stack And Background We're Hiring Against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solidFill>
            <a:srgbClr val="3A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DOMAIN EXPERTISE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0136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3A8B82"/>
                </a:solidFill>
                <a:latin typeface="Raleway"/>
              </a:rPr>
              <a:t>{{DOM_1_T}}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{{DOM_1_D}}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621280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3A8B82"/>
                </a:solidFill>
                <a:latin typeface="Raleway"/>
              </a:rPr>
              <a:t>{{DOM_2_T}}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{{DOM_2_D}}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441192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3A8B82"/>
                </a:solidFill>
                <a:latin typeface="Raleway"/>
              </a:rPr>
              <a:t>{{DOM_3_T}}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{{DOM_3_D}}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61104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3A8B82"/>
                </a:solidFill>
                <a:latin typeface="Raleway"/>
              </a:rPr>
              <a:t>{{DOM_4_T}}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{{DOM_4_D}}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081016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3A8B82"/>
                </a:solidFill>
                <a:latin typeface="Raleway"/>
              </a:rPr>
              <a:t>{{DOM_5_T}}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{{DOM_5_D}}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900928"/>
            <a:ext cx="3758184" cy="737615"/>
          </a:xfrm>
          <a:prstGeom prst="rect">
            <a:avLst/>
          </a:prstGeom>
          <a:solidFill>
            <a:srgbClr val="E9F4F2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3A8B82"/>
                </a:solidFill>
                <a:latin typeface="Raleway"/>
              </a:rPr>
              <a:t>{{DOM_6_T}}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{{DOM_6_D}}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solidFill>
            <a:srgbClr val="C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15384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TECHNICAL STACK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15384" y="180136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3400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C02026"/>
                </a:solidFill>
                <a:latin typeface="Raleway"/>
              </a:rPr>
              <a:t>{{TEC_1_T}}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{{TEC_1_D}}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5384" y="2621280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C02026"/>
                </a:solidFill>
                <a:latin typeface="Raleway"/>
              </a:rPr>
              <a:t>{{TEC_2_T}}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{{TEC_2_D}}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15384" y="3441192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43400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C02026"/>
                </a:solidFill>
                <a:latin typeface="Raleway"/>
              </a:rPr>
              <a:t>{{TEC_3_T}}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{{TEC_3_D}}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5384" y="4261104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C02026"/>
                </a:solidFill>
                <a:latin typeface="Raleway"/>
              </a:rPr>
              <a:t>{{TEC_4_T}}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{{TEC_4_D}}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15384" y="5081016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43400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C02026"/>
                </a:solidFill>
                <a:latin typeface="Raleway"/>
              </a:rPr>
              <a:t>{{TEC_5_T}}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{{TEC_5_D}}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5384" y="5900928"/>
            <a:ext cx="3758184" cy="737615"/>
          </a:xfrm>
          <a:prstGeom prst="rect">
            <a:avLst/>
          </a:prstGeom>
          <a:solidFill>
            <a:srgbClr val="FCEFEF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43400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C02026"/>
                </a:solidFill>
                <a:latin typeface="Raleway"/>
              </a:rPr>
              <a:t>{{TEC_6_T}}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{{TEC_6_D}}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solidFill>
            <a:srgbClr val="6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56448" y="1234440"/>
            <a:ext cx="3758184" cy="438912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ACADEMIC &amp; PROFESSIONAL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56448" y="180136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187452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{{ACA_1_T}}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4464" y="217017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{{ACA_1_D}}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56448" y="2621280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4464" y="2694432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{{ACA_2_T}}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84464" y="2990088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{{ACA_2_D}}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56448" y="3441192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3514344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{{ACA_3_T}}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4464" y="3809999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{{ACA_3_D}}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56448" y="4261104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84464" y="4334256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{{ACA_4_T}}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84464" y="4629912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{{ACA_4_D}}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56448" y="5081016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84464" y="5154168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{{ACA_5_T}}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84464" y="5449824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{{ACA_5_D}}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56448" y="5900928"/>
            <a:ext cx="3758184" cy="737615"/>
          </a:xfrm>
          <a:prstGeom prst="rect">
            <a:avLst/>
          </a:prstGeom>
          <a:solidFill>
            <a:srgbClr val="F2F2F1"/>
          </a:solidFill>
          <a:ln w="635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5974080"/>
            <a:ext cx="3502152" cy="368807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/>
            <a:r>
              <a:rPr sz="1200" b="1" i="0">
                <a:solidFill>
                  <a:srgbClr val="111110"/>
                </a:solidFill>
                <a:latin typeface="Raleway"/>
              </a:rPr>
              <a:t>{{ACA_6_T}}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84464" y="6269736"/>
            <a:ext cx="3502152" cy="295655"/>
          </a:xfrm>
          <a:prstGeom prst="rect">
            <a:avLst/>
          </a:prstGeom>
          <a:noFill/>
        </p:spPr>
        <p:txBody>
          <a:bodyPr wrap="square" anchor="t" tIns="0" bIns="0">
            <a:normAutofit/>
          </a:bodyPr>
          <a:lstStyle/>
          <a:p>
            <a:pPr algn="l"/>
            <a:r>
              <a:rPr sz="1200" b="0" i="0">
                <a:solidFill>
                  <a:srgbClr val="6E6E69"/>
                </a:solidFill>
                <a:latin typeface="Raleway"/>
              </a:rPr>
              <a:t>{{ACA_6_D}}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