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25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41"/>
  </p:notesMasterIdLst>
  <p:sldIdLst>
    <p:sldId id="2147483328" r:id="rId2"/>
    <p:sldId id="2147483329" r:id="rId3"/>
    <p:sldId id="2147483452" r:id="rId4"/>
    <p:sldId id="2147483451" r:id="rId5"/>
    <p:sldId id="2147483330" r:id="rId6"/>
    <p:sldId id="2147483433" r:id="rId7"/>
    <p:sldId id="2147483434" r:id="rId8"/>
    <p:sldId id="2147483327" r:id="rId9"/>
    <p:sldId id="2147483331" r:id="rId10"/>
    <p:sldId id="320" r:id="rId11"/>
    <p:sldId id="260" r:id="rId12"/>
    <p:sldId id="2147483426" r:id="rId13"/>
    <p:sldId id="2147483332" r:id="rId14"/>
    <p:sldId id="2147483323" r:id="rId15"/>
    <p:sldId id="2147483416" r:id="rId16"/>
    <p:sldId id="2147483418" r:id="rId17"/>
    <p:sldId id="2147483449" r:id="rId18"/>
    <p:sldId id="2147483448" r:id="rId19"/>
    <p:sldId id="2147483447" r:id="rId20"/>
    <p:sldId id="2147483320" r:id="rId21"/>
    <p:sldId id="272" r:id="rId22"/>
    <p:sldId id="2147483343" r:id="rId23"/>
    <p:sldId id="2147483446" r:id="rId24"/>
    <p:sldId id="317" r:id="rId25"/>
    <p:sldId id="2147483344" r:id="rId26"/>
    <p:sldId id="268" r:id="rId27"/>
    <p:sldId id="2147483427" r:id="rId28"/>
    <p:sldId id="2147483428" r:id="rId29"/>
    <p:sldId id="2147483429" r:id="rId30"/>
    <p:sldId id="273" r:id="rId31"/>
    <p:sldId id="2147483423" r:id="rId32"/>
    <p:sldId id="2147483430" r:id="rId33"/>
    <p:sldId id="2147483431" r:id="rId34"/>
    <p:sldId id="2147483432" r:id="rId35"/>
    <p:sldId id="2147483444" r:id="rId36"/>
    <p:sldId id="2147483305" r:id="rId37"/>
    <p:sldId id="266" r:id="rId38"/>
    <p:sldId id="299" r:id="rId39"/>
    <p:sldId id="2147483445" r:id="rId40"/>
  </p:sldIdLst>
  <p:sldSz cx="12192000" cy="6858000"/>
  <p:notesSz cx="6858000" cy="9144000"/>
  <p:defaultTextStyle>
    <a:defPPr>
      <a:defRPr lang="en-GB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A9D8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9972" autoAdjust="0"/>
    <p:restoredTop sz="94660"/>
  </p:normalViewPr>
  <p:slideViewPr>
    <p:cSldViewPr snapToGrid="0">
      <p:cViewPr varScale="1">
        <p:scale>
          <a:sx n="63" d="100"/>
          <a:sy n="63" d="100"/>
        </p:scale>
        <p:origin x="612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notesMaster" Target="notesMasters/notesMaster1.xml"/><Relationship Id="rId42" Type="http://schemas.openxmlformats.org/officeDocument/2006/relationships/presProps" Target="presProps.xml"/><Relationship Id="rId43" Type="http://schemas.openxmlformats.org/officeDocument/2006/relationships/viewProps" Target="viewProps.xml"/><Relationship Id="rId44" Type="http://schemas.openxmlformats.org/officeDocument/2006/relationships/theme" Target="theme/theme1.xml"/><Relationship Id="rId45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7FAE9F7-9452-4374-B978-FE6603E0B5F3}" type="datetimeFigureOut">
              <a:t>7/6/2026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30FB33C-7C9E-4B02-AA78-CF059E19D148}" type="slidenum"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426435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J2W_ID: CS01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J2W_ID: CS02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J2W_ID: CS02B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J2W_ID: CS137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J2W_ID: CS03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J2W_ID: CS61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E3759F-D684-2B53-71A3-1873919979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2B25E1F-F7FC-A264-368E-2EA22A4D6B1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2B15D19-27F9-D83D-845C-8CB0D0D3F63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J2W_ID: CS62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AC283EC-4EEC-FDF0-9715-A2D0D76EEB5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970873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J2W_ID: CS04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J2W_ID: CS06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101155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J2W_ID: CS139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905057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739C72-50B3-E3AF-D46A-682D935D8A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530CD18-B2E7-2213-3ADC-CC79A8BDC63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3C5F7EF-8EE2-A756-31A6-FE6C1D6C1B5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J2W_ID: CS09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488B3FC-01B1-6FC7-0489-6B130E9F03D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650722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J2W_ID: CS05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35380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J2W_ID: CS10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J2W_ID: CS11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J2W_ID: CS12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FD86C0-AD46-EC4B-79D9-AEE72304EE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CC7AAD1-CA6D-9293-72A0-309B9066870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2A076AA-23DD-F8A5-C2E5-3CCEF96F760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J2W_ID: CS63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972F1CE-2E64-05CF-A3EB-E46AE3C4009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888836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D083C3-033A-38F9-9ED1-6CB54ABF16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96D686B-41F6-7B9E-FE96-E5605D31A83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F610103-2C13-4357-EBA2-746614E6B1E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J2W_ID: CS65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A60070C-B650-0ADD-4F79-E128A4AEFC6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076736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3EAC2A-AFE3-3AD3-EA69-EDF5A23455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E481DAE-A0BC-5424-8E02-2248C3631C5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1B070DB-DE8B-5ECB-28C7-E87B7CB5B65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J2W_ID: CS66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19901B6-9345-5574-0EEA-A330B26F180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3776215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J2W_ID: CS13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3587185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J2W_ID: CS140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236549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J2W_ID: CS141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J2W_ID: CS142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J2W_ID: CS144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J2W_ID: CS145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19096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J2W_ID: CS14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6902000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J2W_ID: CS15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J2W_ID: CS16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J2W_ID: CS146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5022635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J2W_ID: CS68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4000428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082EEA-3085-13E8-584F-9DB1BB1C51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6BD695A-8813-98FA-0375-DA314DBB607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5137F7E-9DAC-DD80-84EA-6F843A2F33F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J2W_ID: CS17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80812CB-0C05-4306-1A51-5CD003DFFE6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5477193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J2W_ID: CS18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3389972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J2W_ID: CS19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34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22900972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J2W_ID: CS147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J2W_ID: CS07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J2W_ID: CS148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3516268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J2W_ID: CS08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38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869551862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J2W_ID: CS149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J2W_ID: CS138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J2W_ID: CS143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06/07/2026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853878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06/07/2026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491384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06/07/2026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915245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06/07/2026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030920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06/07/2026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331723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06/07/2026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103125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06/07/2026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463889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06/07/2026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7184145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/>
              <a:t>Click icon to add picture</a:t>
            </a:r>
            <a:endParaRPr lang="en-GB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06/07/2026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189582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06/07/2026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029054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06/07/2026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7944565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5421383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46CE7D5-CF57-46EF-B807-FDD0502418D4}" type="datetimeFigureOut">
              <a:rPr lang="en-GB" smtClean="0"/>
              <a:t>06/07/2026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609540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GB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png"/><Relationship Id="rId8" Type="http://schemas.openxmlformats.org/officeDocument/2006/relationships/image" Target="../media/image6.png"/><Relationship Id="rId9" Type="http://schemas.openxmlformats.org/officeDocument/2006/relationships/image" Target="../media/image7.png"/><Relationship Id="rId10" Type="http://schemas.openxmlformats.org/officeDocument/2006/relationships/image" Target="../media/image8.png"/><Relationship Id="rId11" Type="http://schemas.openxmlformats.org/officeDocument/2006/relationships/image" Target="../media/image9.png"/><Relationship Id="rId12" Type="http://schemas.openxmlformats.org/officeDocument/2006/relationships/image" Target="../media/image10.png"/><Relationship Id="rId13" Type="http://schemas.openxmlformats.org/officeDocument/2006/relationships/image" Target="../media/image11.png"/><Relationship Id="rId14" Type="http://schemas.openxmlformats.org/officeDocument/2006/relationships/image" Target="../media/image12.png"/><Relationship Id="rId15" Type="http://schemas.openxmlformats.org/officeDocument/2006/relationships/image" Target="../media/image13.png"/><Relationship Id="rId16" Type="http://schemas.openxmlformats.org/officeDocument/2006/relationships/image" Target="../media/image14.png"/><Relationship Id="rId17" Type="http://schemas.openxmlformats.org/officeDocument/2006/relationships/image" Target="../media/image15.png"/><Relationship Id="rId18" Type="http://schemas.openxmlformats.org/officeDocument/2006/relationships/image" Target="../media/image16.png"/><Relationship Id="rId19" Type="http://schemas.openxmlformats.org/officeDocument/2006/relationships/image" Target="../media/image17.png"/><Relationship Id="rId20" Type="http://schemas.openxmlformats.org/officeDocument/2006/relationships/image" Target="../media/image18.jpeg"/><Relationship Id="rId21" Type="http://schemas.openxmlformats.org/officeDocument/2006/relationships/image" Target="../media/image19.jpeg"/><Relationship Id="rId22" Type="http://schemas.openxmlformats.org/officeDocument/2006/relationships/image" Target="../media/image20.png"/><Relationship Id="rId23" Type="http://schemas.openxmlformats.org/officeDocument/2006/relationships/image" Target="../media/image21.png"/><Relationship Id="rId24" Type="http://schemas.openxmlformats.org/officeDocument/2006/relationships/image" Target="../media/image2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3.png"/><Relationship Id="rId4" Type="http://schemas.openxmlformats.org/officeDocument/2006/relationships/image" Target="../media/image24.png"/><Relationship Id="rId5" Type="http://schemas.openxmlformats.org/officeDocument/2006/relationships/image" Target="../media/image25.png"/><Relationship Id="rId6" Type="http://schemas.openxmlformats.org/officeDocument/2006/relationships/image" Target="../media/image26.png"/><Relationship Id="rId7" Type="http://schemas.openxmlformats.org/officeDocument/2006/relationships/image" Target="../media/image27.png"/><Relationship Id="rId8" Type="http://schemas.openxmlformats.org/officeDocument/2006/relationships/image" Target="../media/image28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3.png"/><Relationship Id="rId4" Type="http://schemas.openxmlformats.org/officeDocument/2006/relationships/image" Target="../media/image24.png"/><Relationship Id="rId5" Type="http://schemas.openxmlformats.org/officeDocument/2006/relationships/image" Target="../media/image25.png"/><Relationship Id="rId6" Type="http://schemas.openxmlformats.org/officeDocument/2006/relationships/image" Target="../media/image26.png"/><Relationship Id="rId7" Type="http://schemas.openxmlformats.org/officeDocument/2006/relationships/image" Target="../media/image27.png"/><Relationship Id="rId8" Type="http://schemas.openxmlformats.org/officeDocument/2006/relationships/image" Target="../media/image28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9.png"/><Relationship Id="rId4" Type="http://schemas.openxmlformats.org/officeDocument/2006/relationships/image" Target="../media/image30.png"/><Relationship Id="rId5" Type="http://schemas.openxmlformats.org/officeDocument/2006/relationships/image" Target="../media/image31.png"/><Relationship Id="rId6" Type="http://schemas.openxmlformats.org/officeDocument/2006/relationships/image" Target="../media/image32.png"/><Relationship Id="rId7" Type="http://schemas.openxmlformats.org/officeDocument/2006/relationships/image" Target="../media/image33.png"/><Relationship Id="rId8" Type="http://schemas.openxmlformats.org/officeDocument/2006/relationships/image" Target="../media/image34.png"/><Relationship Id="rId9" Type="http://schemas.openxmlformats.org/officeDocument/2006/relationships/image" Target="../media/image35.png"/><Relationship Id="rId10" Type="http://schemas.openxmlformats.org/officeDocument/2006/relationships/image" Target="../media/image36.png"/><Relationship Id="rId11" Type="http://schemas.openxmlformats.org/officeDocument/2006/relationships/image" Target="../media/image37.png"/><Relationship Id="rId12" Type="http://schemas.openxmlformats.org/officeDocument/2006/relationships/image" Target="../media/image38.png"/><Relationship Id="rId13" Type="http://schemas.openxmlformats.org/officeDocument/2006/relationships/image" Target="../media/image39.png"/><Relationship Id="rId14" Type="http://schemas.openxmlformats.org/officeDocument/2006/relationships/image" Target="../media/image40.png"/><Relationship Id="rId15" Type="http://schemas.openxmlformats.org/officeDocument/2006/relationships/image" Target="../media/image41.png"/><Relationship Id="rId16" Type="http://schemas.openxmlformats.org/officeDocument/2006/relationships/image" Target="../media/image42.png"/><Relationship Id="rId17" Type="http://schemas.openxmlformats.org/officeDocument/2006/relationships/image" Target="../media/image43.png"/><Relationship Id="rId18" Type="http://schemas.openxmlformats.org/officeDocument/2006/relationships/image" Target="../media/image44.png"/><Relationship Id="rId19" Type="http://schemas.openxmlformats.org/officeDocument/2006/relationships/image" Target="../media/image45.png"/><Relationship Id="rId20" Type="http://schemas.openxmlformats.org/officeDocument/2006/relationships/image" Target="../media/image4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7.png"/><Relationship Id="rId4" Type="http://schemas.openxmlformats.org/officeDocument/2006/relationships/image" Target="../media/image48.png"/><Relationship Id="rId5" Type="http://schemas.openxmlformats.org/officeDocument/2006/relationships/image" Target="../media/image49.jpeg"/><Relationship Id="rId6" Type="http://schemas.openxmlformats.org/officeDocument/2006/relationships/image" Target="../media/image50.png"/><Relationship Id="rId7" Type="http://schemas.openxmlformats.org/officeDocument/2006/relationships/image" Target="../media/image51.jpeg"/><Relationship Id="rId8" Type="http://schemas.openxmlformats.org/officeDocument/2006/relationships/image" Target="../media/image52.png"/><Relationship Id="rId9" Type="http://schemas.openxmlformats.org/officeDocument/2006/relationships/image" Target="../media/image5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4.png"/><Relationship Id="rId4" Type="http://schemas.openxmlformats.org/officeDocument/2006/relationships/image" Target="../media/image26.png"/><Relationship Id="rId5" Type="http://schemas.openxmlformats.org/officeDocument/2006/relationships/image" Target="../media/image51.jpeg"/><Relationship Id="rId6" Type="http://schemas.openxmlformats.org/officeDocument/2006/relationships/image" Target="../media/image49.jpeg"/><Relationship Id="rId7" Type="http://schemas.openxmlformats.org/officeDocument/2006/relationships/image" Target="../media/image55.jpeg"/><Relationship Id="rId8" Type="http://schemas.openxmlformats.org/officeDocument/2006/relationships/image" Target="../media/image56.jpeg"/><Relationship Id="rId9" Type="http://schemas.openxmlformats.org/officeDocument/2006/relationships/image" Target="../media/image57.jpe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4.png"/><Relationship Id="rId4" Type="http://schemas.openxmlformats.org/officeDocument/2006/relationships/image" Target="../media/image26.png"/><Relationship Id="rId5" Type="http://schemas.openxmlformats.org/officeDocument/2006/relationships/image" Target="../media/image51.jpeg"/><Relationship Id="rId6" Type="http://schemas.openxmlformats.org/officeDocument/2006/relationships/image" Target="../media/image49.jpeg"/><Relationship Id="rId7" Type="http://schemas.openxmlformats.org/officeDocument/2006/relationships/image" Target="../media/image55.jpeg"/><Relationship Id="rId8" Type="http://schemas.openxmlformats.org/officeDocument/2006/relationships/image" Target="../media/image56.jpeg"/><Relationship Id="rId9" Type="http://schemas.openxmlformats.org/officeDocument/2006/relationships/image" Target="../media/image58.jpeg"/><Relationship Id="rId10" Type="http://schemas.openxmlformats.org/officeDocument/2006/relationships/image" Target="../media/image59.jpe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60.png"/><Relationship Id="rId4" Type="http://schemas.openxmlformats.org/officeDocument/2006/relationships/image" Target="../media/image61.png"/><Relationship Id="rId5" Type="http://schemas.openxmlformats.org/officeDocument/2006/relationships/image" Target="../media/image62.png"/><Relationship Id="rId6" Type="http://schemas.openxmlformats.org/officeDocument/2006/relationships/image" Target="../media/image6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3.png"/><Relationship Id="rId4" Type="http://schemas.openxmlformats.org/officeDocument/2006/relationships/image" Target="../media/image24.png"/><Relationship Id="rId5" Type="http://schemas.openxmlformats.org/officeDocument/2006/relationships/image" Target="../media/image25.png"/><Relationship Id="rId6" Type="http://schemas.openxmlformats.org/officeDocument/2006/relationships/image" Target="../media/image26.png"/><Relationship Id="rId7" Type="http://schemas.openxmlformats.org/officeDocument/2006/relationships/image" Target="../media/image64.png"/><Relationship Id="rId8" Type="http://schemas.openxmlformats.org/officeDocument/2006/relationships/image" Target="../media/image65.png"/><Relationship Id="rId9" Type="http://schemas.openxmlformats.org/officeDocument/2006/relationships/image" Target="../media/image66.png"/><Relationship Id="rId10" Type="http://schemas.openxmlformats.org/officeDocument/2006/relationships/image" Target="../media/image67.png"/><Relationship Id="rId11" Type="http://schemas.openxmlformats.org/officeDocument/2006/relationships/image" Target="../media/image68.png"/><Relationship Id="rId12" Type="http://schemas.openxmlformats.org/officeDocument/2006/relationships/image" Target="../media/image6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70.png"/><Relationship Id="rId3" Type="http://schemas.openxmlformats.org/officeDocument/2006/relationships/image" Target="../media/image71.png"/><Relationship Id="rId4" Type="http://schemas.openxmlformats.org/officeDocument/2006/relationships/image" Target="../media/image72.png"/><Relationship Id="rId5" Type="http://schemas.openxmlformats.org/officeDocument/2006/relationships/image" Target="../media/image73.png"/><Relationship Id="rId6" Type="http://schemas.openxmlformats.org/officeDocument/2006/relationships/image" Target="../media/image74.png"/><Relationship Id="rId7" Type="http://schemas.openxmlformats.org/officeDocument/2006/relationships/image" Target="../media/image75.png"/><Relationship Id="rId8" Type="http://schemas.openxmlformats.org/officeDocument/2006/relationships/image" Target="../media/image76.jpeg"/><Relationship Id="rId9" Type="http://schemas.openxmlformats.org/officeDocument/2006/relationships/image" Target="../media/image77.png"/><Relationship Id="rId10" Type="http://schemas.openxmlformats.org/officeDocument/2006/relationships/notesSlide" Target="../notesSlides/notesSlide3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0.png"/><Relationship Id="rId4" Type="http://schemas.openxmlformats.org/officeDocument/2006/relationships/image" Target="../media/image31.png"/><Relationship Id="rId5" Type="http://schemas.openxmlformats.org/officeDocument/2006/relationships/image" Target="../media/image78.png"/><Relationship Id="rId6" Type="http://schemas.openxmlformats.org/officeDocument/2006/relationships/image" Target="../media/image79.png"/><Relationship Id="rId7" Type="http://schemas.openxmlformats.org/officeDocument/2006/relationships/image" Target="../media/image80.png"/><Relationship Id="rId8" Type="http://schemas.openxmlformats.org/officeDocument/2006/relationships/image" Target="../media/image81.png"/><Relationship Id="rId9" Type="http://schemas.openxmlformats.org/officeDocument/2006/relationships/image" Target="../media/image82.png"/><Relationship Id="rId10" Type="http://schemas.openxmlformats.org/officeDocument/2006/relationships/image" Target="../media/image8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84.png"/><Relationship Id="rId4" Type="http://schemas.openxmlformats.org/officeDocument/2006/relationships/image" Target="../media/image24.png"/><Relationship Id="rId5" Type="http://schemas.openxmlformats.org/officeDocument/2006/relationships/image" Target="../media/image25.png"/><Relationship Id="rId6" Type="http://schemas.openxmlformats.org/officeDocument/2006/relationships/image" Target="../media/image85.png"/><Relationship Id="rId7" Type="http://schemas.openxmlformats.org/officeDocument/2006/relationships/image" Target="../media/image86.png"/><Relationship Id="rId8" Type="http://schemas.openxmlformats.org/officeDocument/2006/relationships/image" Target="../media/image87.png"/><Relationship Id="rId9" Type="http://schemas.openxmlformats.org/officeDocument/2006/relationships/image" Target="../media/image88.png"/><Relationship Id="rId10" Type="http://schemas.openxmlformats.org/officeDocument/2006/relationships/image" Target="../media/image89.png"/><Relationship Id="rId11" Type="http://schemas.openxmlformats.org/officeDocument/2006/relationships/image" Target="../media/image90.png"/><Relationship Id="rId12" Type="http://schemas.openxmlformats.org/officeDocument/2006/relationships/image" Target="../media/image91.png"/><Relationship Id="rId13" Type="http://schemas.openxmlformats.org/officeDocument/2006/relationships/image" Target="../media/image92.png"/><Relationship Id="rId14" Type="http://schemas.openxmlformats.org/officeDocument/2006/relationships/image" Target="../media/image9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4.png"/><Relationship Id="rId4" Type="http://schemas.openxmlformats.org/officeDocument/2006/relationships/image" Target="../media/image25.png"/><Relationship Id="rId5" Type="http://schemas.openxmlformats.org/officeDocument/2006/relationships/image" Target="../media/image63.png"/><Relationship Id="rId6" Type="http://schemas.openxmlformats.org/officeDocument/2006/relationships/image" Target="../media/image94.png"/><Relationship Id="rId7" Type="http://schemas.openxmlformats.org/officeDocument/2006/relationships/image" Target="../media/image95.png"/><Relationship Id="rId8" Type="http://schemas.openxmlformats.org/officeDocument/2006/relationships/image" Target="../media/image96.png"/><Relationship Id="rId9" Type="http://schemas.openxmlformats.org/officeDocument/2006/relationships/image" Target="../media/image97.png"/><Relationship Id="rId10" Type="http://schemas.openxmlformats.org/officeDocument/2006/relationships/image" Target="../media/image98.png"/><Relationship Id="rId11" Type="http://schemas.openxmlformats.org/officeDocument/2006/relationships/image" Target="../media/image99.png"/><Relationship Id="rId12" Type="http://schemas.openxmlformats.org/officeDocument/2006/relationships/image" Target="../media/image10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01.png"/><Relationship Id="rId4" Type="http://schemas.openxmlformats.org/officeDocument/2006/relationships/image" Target="../media/image102.png"/><Relationship Id="rId5" Type="http://schemas.openxmlformats.org/officeDocument/2006/relationships/image" Target="../media/image103.png"/><Relationship Id="rId6" Type="http://schemas.openxmlformats.org/officeDocument/2006/relationships/image" Target="../media/image104.png"/><Relationship Id="rId7" Type="http://schemas.openxmlformats.org/officeDocument/2006/relationships/image" Target="../media/image105.png"/><Relationship Id="rId8" Type="http://schemas.openxmlformats.org/officeDocument/2006/relationships/image" Target="../media/image106.png"/><Relationship Id="rId9" Type="http://schemas.openxmlformats.org/officeDocument/2006/relationships/image" Target="../media/image107.png"/><Relationship Id="rId10" Type="http://schemas.openxmlformats.org/officeDocument/2006/relationships/image" Target="../media/image10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54.png"/><Relationship Id="rId4" Type="http://schemas.openxmlformats.org/officeDocument/2006/relationships/image" Target="../media/image24.png"/><Relationship Id="rId5" Type="http://schemas.openxmlformats.org/officeDocument/2006/relationships/image" Target="../media/image25.png"/><Relationship Id="rId6" Type="http://schemas.openxmlformats.org/officeDocument/2006/relationships/image" Target="../media/image109.png"/><Relationship Id="rId7" Type="http://schemas.openxmlformats.org/officeDocument/2006/relationships/image" Target="../media/image110.png"/><Relationship Id="rId8" Type="http://schemas.openxmlformats.org/officeDocument/2006/relationships/image" Target="../media/image11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60.png"/><Relationship Id="rId4" Type="http://schemas.openxmlformats.org/officeDocument/2006/relationships/image" Target="../media/image61.png"/><Relationship Id="rId5" Type="http://schemas.openxmlformats.org/officeDocument/2006/relationships/image" Target="../media/image84.png"/><Relationship Id="rId6" Type="http://schemas.openxmlformats.org/officeDocument/2006/relationships/image" Target="../media/image112.png"/><Relationship Id="rId7" Type="http://schemas.openxmlformats.org/officeDocument/2006/relationships/image" Target="../media/image113.png"/><Relationship Id="rId8" Type="http://schemas.openxmlformats.org/officeDocument/2006/relationships/image" Target="../media/image114.png"/><Relationship Id="rId9" Type="http://schemas.openxmlformats.org/officeDocument/2006/relationships/image" Target="../media/image115.png"/><Relationship Id="rId10" Type="http://schemas.openxmlformats.org/officeDocument/2006/relationships/image" Target="../media/image116.png"/><Relationship Id="rId11" Type="http://schemas.openxmlformats.org/officeDocument/2006/relationships/image" Target="../media/image117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30.png"/><Relationship Id="rId4" Type="http://schemas.openxmlformats.org/officeDocument/2006/relationships/image" Target="../media/image31.png"/><Relationship Id="rId5" Type="http://schemas.openxmlformats.org/officeDocument/2006/relationships/image" Target="../media/image85.png"/><Relationship Id="rId6" Type="http://schemas.openxmlformats.org/officeDocument/2006/relationships/image" Target="../media/image118.png"/><Relationship Id="rId7" Type="http://schemas.openxmlformats.org/officeDocument/2006/relationships/image" Target="../media/image119.png"/><Relationship Id="rId8" Type="http://schemas.openxmlformats.org/officeDocument/2006/relationships/image" Target="../media/image120.png"/><Relationship Id="rId9" Type="http://schemas.openxmlformats.org/officeDocument/2006/relationships/image" Target="../media/image121.png"/><Relationship Id="rId10" Type="http://schemas.openxmlformats.org/officeDocument/2006/relationships/image" Target="../media/image122.png"/><Relationship Id="rId11" Type="http://schemas.openxmlformats.org/officeDocument/2006/relationships/image" Target="../media/image12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4.png"/><Relationship Id="rId4" Type="http://schemas.openxmlformats.org/officeDocument/2006/relationships/image" Target="../media/image24.png"/><Relationship Id="rId5" Type="http://schemas.openxmlformats.org/officeDocument/2006/relationships/image" Target="../media/image25.png"/><Relationship Id="rId6" Type="http://schemas.openxmlformats.org/officeDocument/2006/relationships/image" Target="../media/image109.png"/><Relationship Id="rId7" Type="http://schemas.openxmlformats.org/officeDocument/2006/relationships/image" Target="../media/image124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25.svg"/><Relationship Id="rId4" Type="http://schemas.openxmlformats.org/officeDocument/2006/relationships/image" Target="../media/image126.png"/><Relationship Id="rId5" Type="http://schemas.openxmlformats.org/officeDocument/2006/relationships/image" Target="../media/image127.png"/><Relationship Id="rId6" Type="http://schemas.openxmlformats.org/officeDocument/2006/relationships/image" Target="../media/image128.png"/><Relationship Id="rId7" Type="http://schemas.openxmlformats.org/officeDocument/2006/relationships/image" Target="../media/image129.png"/><Relationship Id="rId8" Type="http://schemas.openxmlformats.org/officeDocument/2006/relationships/image" Target="../media/image130.png"/><Relationship Id="rId9" Type="http://schemas.openxmlformats.org/officeDocument/2006/relationships/image" Target="../media/image131.png"/><Relationship Id="rId10" Type="http://schemas.openxmlformats.org/officeDocument/2006/relationships/image" Target="../media/image132.png"/><Relationship Id="rId11" Type="http://schemas.openxmlformats.org/officeDocument/2006/relationships/image" Target="../media/image133.png"/><Relationship Id="rId12" Type="http://schemas.openxmlformats.org/officeDocument/2006/relationships/image" Target="../media/image134.png"/><Relationship Id="rId13" Type="http://schemas.openxmlformats.org/officeDocument/2006/relationships/image" Target="../media/image135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30.png"/><Relationship Id="rId4" Type="http://schemas.openxmlformats.org/officeDocument/2006/relationships/image" Target="../media/image31.png"/><Relationship Id="rId5" Type="http://schemas.openxmlformats.org/officeDocument/2006/relationships/image" Target="../media/image136.png"/><Relationship Id="rId6" Type="http://schemas.openxmlformats.org/officeDocument/2006/relationships/image" Target="../media/image137.png"/><Relationship Id="rId7" Type="http://schemas.openxmlformats.org/officeDocument/2006/relationships/image" Target="../media/image138.png"/><Relationship Id="rId8" Type="http://schemas.openxmlformats.org/officeDocument/2006/relationships/image" Target="../media/image139.png"/><Relationship Id="rId9" Type="http://schemas.openxmlformats.org/officeDocument/2006/relationships/image" Target="../media/image14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41.png"/><Relationship Id="rId4" Type="http://schemas.openxmlformats.org/officeDocument/2006/relationships/image" Target="../media/image142.png"/><Relationship Id="rId5" Type="http://schemas.openxmlformats.org/officeDocument/2006/relationships/image" Target="../media/image143.png"/><Relationship Id="rId6" Type="http://schemas.openxmlformats.org/officeDocument/2006/relationships/image" Target="../media/image26.png"/><Relationship Id="rId7" Type="http://schemas.openxmlformats.org/officeDocument/2006/relationships/image" Target="../media/image24.png"/><Relationship Id="rId8" Type="http://schemas.openxmlformats.org/officeDocument/2006/relationships/image" Target="../media/image25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44.png"/><Relationship Id="rId4" Type="http://schemas.openxmlformats.org/officeDocument/2006/relationships/image" Target="../media/image145.png"/><Relationship Id="rId5" Type="http://schemas.openxmlformats.org/officeDocument/2006/relationships/image" Target="../media/image146.png"/><Relationship Id="rId6" Type="http://schemas.openxmlformats.org/officeDocument/2006/relationships/image" Target="../media/image147.png"/><Relationship Id="rId7" Type="http://schemas.openxmlformats.org/officeDocument/2006/relationships/image" Target="../media/image148.png"/><Relationship Id="rId8" Type="http://schemas.openxmlformats.org/officeDocument/2006/relationships/image" Target="../media/image149.png"/><Relationship Id="rId9" Type="http://schemas.openxmlformats.org/officeDocument/2006/relationships/image" Target="../media/image150.png"/><Relationship Id="rId10" Type="http://schemas.openxmlformats.org/officeDocument/2006/relationships/image" Target="../media/image151.png"/><Relationship Id="rId11" Type="http://schemas.openxmlformats.org/officeDocument/2006/relationships/image" Target="../media/image152.png"/><Relationship Id="rId12" Type="http://schemas.openxmlformats.org/officeDocument/2006/relationships/image" Target="../media/image153.png"/><Relationship Id="rId13" Type="http://schemas.openxmlformats.org/officeDocument/2006/relationships/image" Target="../media/image154.png"/><Relationship Id="rId14" Type="http://schemas.openxmlformats.org/officeDocument/2006/relationships/image" Target="../media/image155.png"/><Relationship Id="rId15" Type="http://schemas.openxmlformats.org/officeDocument/2006/relationships/image" Target="../media/image156.png"/><Relationship Id="rId16" Type="http://schemas.openxmlformats.org/officeDocument/2006/relationships/image" Target="../media/image157.png"/><Relationship Id="rId17" Type="http://schemas.openxmlformats.org/officeDocument/2006/relationships/image" Target="../media/image158.png"/><Relationship Id="rId18" Type="http://schemas.openxmlformats.org/officeDocument/2006/relationships/image" Target="../media/image159.png"/><Relationship Id="rId19" Type="http://schemas.openxmlformats.org/officeDocument/2006/relationships/image" Target="../media/image160.png"/><Relationship Id="rId20" Type="http://schemas.openxmlformats.org/officeDocument/2006/relationships/image" Target="../media/image161.png"/><Relationship Id="rId21" Type="http://schemas.openxmlformats.org/officeDocument/2006/relationships/image" Target="../media/image16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63.png"/><Relationship Id="rId4" Type="http://schemas.openxmlformats.org/officeDocument/2006/relationships/image" Target="../media/image164.png"/><Relationship Id="rId5" Type="http://schemas.openxmlformats.org/officeDocument/2006/relationships/image" Target="../media/image165.png"/><Relationship Id="rId6" Type="http://schemas.openxmlformats.org/officeDocument/2006/relationships/image" Target="../media/image166.png"/><Relationship Id="rId7" Type="http://schemas.openxmlformats.org/officeDocument/2006/relationships/image" Target="../media/image167.png"/><Relationship Id="rId8" Type="http://schemas.openxmlformats.org/officeDocument/2006/relationships/image" Target="../media/image168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4.png"/><Relationship Id="rId3" Type="http://schemas.openxmlformats.org/officeDocument/2006/relationships/image" Target="../media/image25.png"/><Relationship Id="rId4" Type="http://schemas.openxmlformats.org/officeDocument/2006/relationships/image" Target="../media/image26.png"/><Relationship Id="rId5" Type="http://schemas.openxmlformats.org/officeDocument/2006/relationships/notesSlide" Target="../notesSlides/notesSlide39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69.png"/><Relationship Id="rId4" Type="http://schemas.openxmlformats.org/officeDocument/2006/relationships/image" Target="../media/image170.png"/><Relationship Id="rId5" Type="http://schemas.openxmlformats.org/officeDocument/2006/relationships/image" Target="../media/image171.png"/><Relationship Id="rId6" Type="http://schemas.openxmlformats.org/officeDocument/2006/relationships/image" Target="../media/image172.png"/><Relationship Id="rId7" Type="http://schemas.openxmlformats.org/officeDocument/2006/relationships/image" Target="../media/image173.png"/><Relationship Id="rId8" Type="http://schemas.openxmlformats.org/officeDocument/2006/relationships/image" Target="../media/image174.png"/><Relationship Id="rId9" Type="http://schemas.openxmlformats.org/officeDocument/2006/relationships/image" Target="../media/image175.png"/><Relationship Id="rId10" Type="http://schemas.openxmlformats.org/officeDocument/2006/relationships/image" Target="../media/image176.png"/><Relationship Id="rId11" Type="http://schemas.openxmlformats.org/officeDocument/2006/relationships/image" Target="../media/image177.png"/><Relationship Id="rId12" Type="http://schemas.openxmlformats.org/officeDocument/2006/relationships/image" Target="../media/image178.png"/><Relationship Id="rId13" Type="http://schemas.openxmlformats.org/officeDocument/2006/relationships/image" Target="../media/image179.png"/><Relationship Id="rId14" Type="http://schemas.openxmlformats.org/officeDocument/2006/relationships/image" Target="../media/image180.png"/><Relationship Id="rId15" Type="http://schemas.openxmlformats.org/officeDocument/2006/relationships/image" Target="../media/image18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60.png"/><Relationship Id="rId4" Type="http://schemas.openxmlformats.org/officeDocument/2006/relationships/image" Target="../media/image61.png"/><Relationship Id="rId5" Type="http://schemas.openxmlformats.org/officeDocument/2006/relationships/image" Target="../media/image62.png"/><Relationship Id="rId6" Type="http://schemas.openxmlformats.org/officeDocument/2006/relationships/image" Target="../media/image182.png"/><Relationship Id="rId7" Type="http://schemas.openxmlformats.org/officeDocument/2006/relationships/image" Target="../media/image183.png"/><Relationship Id="rId8" Type="http://schemas.openxmlformats.org/officeDocument/2006/relationships/image" Target="../media/image184.png"/><Relationship Id="rId9" Type="http://schemas.openxmlformats.org/officeDocument/2006/relationships/image" Target="../media/image185.png"/><Relationship Id="rId10" Type="http://schemas.openxmlformats.org/officeDocument/2006/relationships/image" Target="../media/image186.png"/><Relationship Id="rId11" Type="http://schemas.openxmlformats.org/officeDocument/2006/relationships/image" Target="../media/image187.png"/><Relationship Id="rId12" Type="http://schemas.openxmlformats.org/officeDocument/2006/relationships/image" Target="../media/image188.png"/><Relationship Id="rId13" Type="http://schemas.openxmlformats.org/officeDocument/2006/relationships/image" Target="../media/image189.png"/><Relationship Id="rId14" Type="http://schemas.openxmlformats.org/officeDocument/2006/relationships/image" Target="../media/image190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84.png"/><Relationship Id="rId4" Type="http://schemas.openxmlformats.org/officeDocument/2006/relationships/image" Target="../media/image24.png"/><Relationship Id="rId5" Type="http://schemas.openxmlformats.org/officeDocument/2006/relationships/image" Target="../media/image25.png"/><Relationship Id="rId6" Type="http://schemas.openxmlformats.org/officeDocument/2006/relationships/image" Target="../media/image85.png"/><Relationship Id="rId7" Type="http://schemas.openxmlformats.org/officeDocument/2006/relationships/image" Target="../media/image86.png"/><Relationship Id="rId8" Type="http://schemas.openxmlformats.org/officeDocument/2006/relationships/image" Target="../media/image87.png"/><Relationship Id="rId9" Type="http://schemas.openxmlformats.org/officeDocument/2006/relationships/image" Target="../media/image88.png"/><Relationship Id="rId10" Type="http://schemas.openxmlformats.org/officeDocument/2006/relationships/image" Target="../media/image89.png"/><Relationship Id="rId11" Type="http://schemas.openxmlformats.org/officeDocument/2006/relationships/image" Target="../media/image90.png"/><Relationship Id="rId12" Type="http://schemas.openxmlformats.org/officeDocument/2006/relationships/image" Target="../media/image91.png"/><Relationship Id="rId13" Type="http://schemas.openxmlformats.org/officeDocument/2006/relationships/image" Target="../media/image92.png"/><Relationship Id="rId14" Type="http://schemas.openxmlformats.org/officeDocument/2006/relationships/image" Target="../media/image93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106.png"/><Relationship Id="rId4" Type="http://schemas.openxmlformats.org/officeDocument/2006/relationships/image" Target="../media/image107.png"/><Relationship Id="rId5" Type="http://schemas.openxmlformats.org/officeDocument/2006/relationships/image" Target="../media/image191.png"/><Relationship Id="rId6" Type="http://schemas.openxmlformats.org/officeDocument/2006/relationships/image" Target="../media/image192.png"/><Relationship Id="rId7" Type="http://schemas.openxmlformats.org/officeDocument/2006/relationships/image" Target="../media/image193.png"/><Relationship Id="rId8" Type="http://schemas.openxmlformats.org/officeDocument/2006/relationships/image" Target="../media/image194.png"/><Relationship Id="rId9" Type="http://schemas.openxmlformats.org/officeDocument/2006/relationships/image" Target="../media/image195.png"/><Relationship Id="rId10" Type="http://schemas.openxmlformats.org/officeDocument/2006/relationships/image" Target="../media/image196.png"/><Relationship Id="rId11" Type="http://schemas.openxmlformats.org/officeDocument/2006/relationships/image" Target="../media/image197.png"/><Relationship Id="rId12" Type="http://schemas.openxmlformats.org/officeDocument/2006/relationships/image" Target="../media/image198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99.png"/><Relationship Id="rId4" Type="http://schemas.openxmlformats.org/officeDocument/2006/relationships/image" Target="../media/image200.png"/><Relationship Id="rId5" Type="http://schemas.openxmlformats.org/officeDocument/2006/relationships/image" Target="../media/image201.png"/><Relationship Id="rId6" Type="http://schemas.openxmlformats.org/officeDocument/2006/relationships/image" Target="../media/image202.png"/><Relationship Id="rId7" Type="http://schemas.openxmlformats.org/officeDocument/2006/relationships/image" Target="../media/image203.png"/><Relationship Id="rId8" Type="http://schemas.openxmlformats.org/officeDocument/2006/relationships/image" Target="../media/image204.png"/><Relationship Id="rId9" Type="http://schemas.openxmlformats.org/officeDocument/2006/relationships/image" Target="../media/image205.png"/><Relationship Id="rId10" Type="http://schemas.openxmlformats.org/officeDocument/2006/relationships/image" Target="../media/image206.png"/><Relationship Id="rId11" Type="http://schemas.openxmlformats.org/officeDocument/2006/relationships/image" Target="../media/image207.png"/><Relationship Id="rId12" Type="http://schemas.openxmlformats.org/officeDocument/2006/relationships/image" Target="../media/image208.png"/><Relationship Id="rId13" Type="http://schemas.openxmlformats.org/officeDocument/2006/relationships/image" Target="../media/image209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210.png"/><Relationship Id="rId4" Type="http://schemas.openxmlformats.org/officeDocument/2006/relationships/image" Target="../media/image211.png"/><Relationship Id="rId5" Type="http://schemas.openxmlformats.org/officeDocument/2006/relationships/image" Target="../media/image212.png"/><Relationship Id="rId6" Type="http://schemas.openxmlformats.org/officeDocument/2006/relationships/image" Target="../media/image138.png"/><Relationship Id="rId7" Type="http://schemas.openxmlformats.org/officeDocument/2006/relationships/image" Target="../media/image24.png"/><Relationship Id="rId8" Type="http://schemas.openxmlformats.org/officeDocument/2006/relationships/image" Target="../media/image25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84.png"/><Relationship Id="rId4" Type="http://schemas.openxmlformats.org/officeDocument/2006/relationships/image" Target="../media/image24.png"/><Relationship Id="rId5" Type="http://schemas.openxmlformats.org/officeDocument/2006/relationships/image" Target="../media/image25.png"/><Relationship Id="rId6" Type="http://schemas.openxmlformats.org/officeDocument/2006/relationships/image" Target="../media/image213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84.png"/><Relationship Id="rId4" Type="http://schemas.openxmlformats.org/officeDocument/2006/relationships/image" Target="../media/image24.png"/><Relationship Id="rId5" Type="http://schemas.openxmlformats.org/officeDocument/2006/relationships/image" Target="../media/image25.png"/><Relationship Id="rId6" Type="http://schemas.openxmlformats.org/officeDocument/2006/relationships/image" Target="../media/image85.png"/><Relationship Id="rId7" Type="http://schemas.openxmlformats.org/officeDocument/2006/relationships/image" Target="../media/image86.png"/><Relationship Id="rId8" Type="http://schemas.openxmlformats.org/officeDocument/2006/relationships/image" Target="../media/image87.png"/><Relationship Id="rId9" Type="http://schemas.openxmlformats.org/officeDocument/2006/relationships/image" Target="../media/image88.png"/><Relationship Id="rId10" Type="http://schemas.openxmlformats.org/officeDocument/2006/relationships/image" Target="../media/image89.png"/><Relationship Id="rId11" Type="http://schemas.openxmlformats.org/officeDocument/2006/relationships/image" Target="../media/image90.png"/><Relationship Id="rId12" Type="http://schemas.openxmlformats.org/officeDocument/2006/relationships/image" Target="../media/image91.png"/><Relationship Id="rId13" Type="http://schemas.openxmlformats.org/officeDocument/2006/relationships/image" Target="../media/image92.png"/><Relationship Id="rId14" Type="http://schemas.openxmlformats.org/officeDocument/2006/relationships/image" Target="../media/image93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24.png"/><Relationship Id="rId4" Type="http://schemas.openxmlformats.org/officeDocument/2006/relationships/image" Target="../media/image61.png"/><Relationship Id="rId5" Type="http://schemas.openxmlformats.org/officeDocument/2006/relationships/image" Target="../media/image62.png"/><Relationship Id="rId6" Type="http://schemas.openxmlformats.org/officeDocument/2006/relationships/image" Target="../media/image128.png"/><Relationship Id="rId7" Type="http://schemas.openxmlformats.org/officeDocument/2006/relationships/image" Target="../media/image214.png"/><Relationship Id="rId8" Type="http://schemas.openxmlformats.org/officeDocument/2006/relationships/image" Target="../media/image215.png"/><Relationship Id="rId9" Type="http://schemas.openxmlformats.org/officeDocument/2006/relationships/image" Target="../media/image216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image47.png"/><Relationship Id="rId4" Type="http://schemas.openxmlformats.org/officeDocument/2006/relationships/image" Target="../media/image217.png"/><Relationship Id="rId5" Type="http://schemas.openxmlformats.org/officeDocument/2006/relationships/image" Target="../media/image218.png"/><Relationship Id="rId6" Type="http://schemas.openxmlformats.org/officeDocument/2006/relationships/image" Target="../media/image219.png"/><Relationship Id="rId7" Type="http://schemas.openxmlformats.org/officeDocument/2006/relationships/image" Target="../media/image220.png"/><Relationship Id="rId8" Type="http://schemas.openxmlformats.org/officeDocument/2006/relationships/image" Target="../media/image221.png"/><Relationship Id="rId9" Type="http://schemas.openxmlformats.org/officeDocument/2006/relationships/image" Target="../media/image222.png"/><Relationship Id="rId10" Type="http://schemas.openxmlformats.org/officeDocument/2006/relationships/image" Target="../media/image223.png"/><Relationship Id="rId11" Type="http://schemas.openxmlformats.org/officeDocument/2006/relationships/image" Target="../media/image224.png"/><Relationship Id="rId12" Type="http://schemas.openxmlformats.org/officeDocument/2006/relationships/image" Target="../media/image225.png"/><Relationship Id="rId13" Type="http://schemas.openxmlformats.org/officeDocument/2006/relationships/image" Target="../media/image226.png"/><Relationship Id="rId14" Type="http://schemas.openxmlformats.org/officeDocument/2006/relationships/image" Target="../media/image52.png"/><Relationship Id="rId15" Type="http://schemas.openxmlformats.org/officeDocument/2006/relationships/image" Target="../media/image53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3.xml"/><Relationship Id="rId3" Type="http://schemas.openxmlformats.org/officeDocument/2006/relationships/image" Target="../media/image227.png"/><Relationship Id="rId4" Type="http://schemas.openxmlformats.org/officeDocument/2006/relationships/image" Target="../media/image228.png"/><Relationship Id="rId5" Type="http://schemas.openxmlformats.org/officeDocument/2006/relationships/image" Target="../media/image229.png"/><Relationship Id="rId6" Type="http://schemas.openxmlformats.org/officeDocument/2006/relationships/image" Target="../media/image230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4.xml"/><Relationship Id="rId3" Type="http://schemas.openxmlformats.org/officeDocument/2006/relationships/image" Target="../media/image25.png"/><Relationship Id="rId4" Type="http://schemas.openxmlformats.org/officeDocument/2006/relationships/image" Target="../media/image24.png"/><Relationship Id="rId5" Type="http://schemas.openxmlformats.org/officeDocument/2006/relationships/image" Target="../media/image138.png"/><Relationship Id="rId6" Type="http://schemas.openxmlformats.org/officeDocument/2006/relationships/image" Target="../media/image231.png"/><Relationship Id="rId7" Type="http://schemas.openxmlformats.org/officeDocument/2006/relationships/image" Target="../media/image232.png"/><Relationship Id="rId8" Type="http://schemas.openxmlformats.org/officeDocument/2006/relationships/image" Target="../media/image233.png"/><Relationship Id="rId9" Type="http://schemas.openxmlformats.org/officeDocument/2006/relationships/image" Target="../media/image234.png"/><Relationship Id="rId10" Type="http://schemas.openxmlformats.org/officeDocument/2006/relationships/image" Target="../media/image235.png"/><Relationship Id="rId11" Type="http://schemas.openxmlformats.org/officeDocument/2006/relationships/image" Target="../media/image236.png"/><Relationship Id="rId12" Type="http://schemas.openxmlformats.org/officeDocument/2006/relationships/image" Target="../media/image237.png"/><Relationship Id="rId13" Type="http://schemas.openxmlformats.org/officeDocument/2006/relationships/image" Target="../media/image238.png"/><Relationship Id="rId14" Type="http://schemas.openxmlformats.org/officeDocument/2006/relationships/image" Target="../media/image239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5.xml"/><Relationship Id="rId3" Type="http://schemas.openxmlformats.org/officeDocument/2006/relationships/image" Target="../media/image47.png"/><Relationship Id="rId4" Type="http://schemas.openxmlformats.org/officeDocument/2006/relationships/image" Target="../media/image240.png"/><Relationship Id="rId5" Type="http://schemas.openxmlformats.org/officeDocument/2006/relationships/image" Target="../media/image241.png"/><Relationship Id="rId6" Type="http://schemas.openxmlformats.org/officeDocument/2006/relationships/image" Target="../media/image242.png"/><Relationship Id="rId7" Type="http://schemas.openxmlformats.org/officeDocument/2006/relationships/image" Target="../media/image243.png"/><Relationship Id="rId8" Type="http://schemas.openxmlformats.org/officeDocument/2006/relationships/image" Target="../media/image244.png"/><Relationship Id="rId9" Type="http://schemas.openxmlformats.org/officeDocument/2006/relationships/image" Target="../media/image245.png"/><Relationship Id="rId10" Type="http://schemas.openxmlformats.org/officeDocument/2006/relationships/image" Target="../media/image246.png"/><Relationship Id="rId11" Type="http://schemas.openxmlformats.org/officeDocument/2006/relationships/image" Target="../media/image247.png"/><Relationship Id="rId12" Type="http://schemas.openxmlformats.org/officeDocument/2006/relationships/image" Target="../media/image248.png"/><Relationship Id="rId13" Type="http://schemas.openxmlformats.org/officeDocument/2006/relationships/image" Target="../media/image249.png"/><Relationship Id="rId14" Type="http://schemas.openxmlformats.org/officeDocument/2006/relationships/image" Target="../media/image52.png"/><Relationship Id="rId15" Type="http://schemas.openxmlformats.org/officeDocument/2006/relationships/image" Target="../media/image53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6.xml"/><Relationship Id="rId3" Type="http://schemas.openxmlformats.org/officeDocument/2006/relationships/image" Target="../media/image52.png"/><Relationship Id="rId4" Type="http://schemas.openxmlformats.org/officeDocument/2006/relationships/image" Target="../media/image53.png"/><Relationship Id="rId5" Type="http://schemas.openxmlformats.org/officeDocument/2006/relationships/image" Target="../media/image4.png"/><Relationship Id="rId6" Type="http://schemas.openxmlformats.org/officeDocument/2006/relationships/image" Target="../media/image250.png"/><Relationship Id="rId7" Type="http://schemas.openxmlformats.org/officeDocument/2006/relationships/image" Target="../media/image251.jpeg"/><Relationship Id="rId8" Type="http://schemas.openxmlformats.org/officeDocument/2006/relationships/image" Target="../media/image252.jpeg"/><Relationship Id="rId9" Type="http://schemas.openxmlformats.org/officeDocument/2006/relationships/image" Target="../media/image253.jpeg"/><Relationship Id="rId10" Type="http://schemas.openxmlformats.org/officeDocument/2006/relationships/image" Target="../media/image254.jpeg"/><Relationship Id="rId11" Type="http://schemas.openxmlformats.org/officeDocument/2006/relationships/image" Target="../media/image255.jpe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30.png"/><Relationship Id="rId4" Type="http://schemas.openxmlformats.org/officeDocument/2006/relationships/image" Target="../media/image31.png"/><Relationship Id="rId5" Type="http://schemas.openxmlformats.org/officeDocument/2006/relationships/image" Target="../media/image25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0F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pPr algn="ctr"/>
            <a:endParaRPr lang="en-US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9334195" y="0"/>
            <a:ext cx="2857500" cy="28575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5905195"/>
            <a:ext cx="3810305" cy="952805"/>
          </a:xfrm>
          <a:custGeom>
            <a:avLst/>
            <a:gdLst/>
            <a:ahLst/>
            <a:cxnLst/>
            <a:rect l="l" t="t" r="r" b="b"/>
            <a:pathLst>
              <a:path w="3810305" h="952805">
                <a:moveTo>
                  <a:pt x="0" y="952805"/>
                </a:moveTo>
                <a:lnTo>
                  <a:pt x="3810305" y="952805"/>
                </a:lnTo>
                <a:lnTo>
                  <a:pt x="0" y="0"/>
                </a:lnTo>
                <a:close/>
              </a:path>
            </a:pathLst>
          </a:custGeom>
          <a:solidFill>
            <a:srgbClr val="D62839">
              <a:alpha val="3000"/>
            </a:srgbClr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rcRect l="-202" r="-202"/>
          <a:stretch/>
        </p:blipFill>
        <p:spPr>
          <a:xfrm>
            <a:off x="0" y="0"/>
            <a:ext cx="8128102" cy="75895"/>
          </a:xfrm>
          <a:prstGeom prst="rect">
            <a:avLst/>
          </a:prstGeom>
        </p:spPr>
      </p:pic>
      <p:pic>
        <p:nvPicPr>
          <p:cNvPr id="7" name="Image 2" descr="preencoded.png"/>
          <p:cNvPicPr>
            <a:picLocks noChangeAspect="1"/>
          </p:cNvPicPr>
          <p:nvPr/>
        </p:nvPicPr>
        <p:blipFill>
          <a:blip r:embed="rId5"/>
          <a:srcRect l="-197" r="-197"/>
          <a:stretch/>
        </p:blipFill>
        <p:spPr>
          <a:xfrm>
            <a:off x="8128102" y="0"/>
            <a:ext cx="4063594" cy="75895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2774290" y="3881628"/>
            <a:ext cx="6648602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>
                <a:solidFill>
                  <a:srgbClr val="4B5563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BUSINESS DRIVERS</a:t>
            </a:r>
            <a:r>
              <a:rPr lang="en-US" sz="1200" b="1">
                <a:solidFill>
                  <a:srgbClr val="D628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|</a:t>
            </a:r>
            <a:r>
              <a:rPr lang="en-US" sz="1500" b="1">
                <a:solidFill>
                  <a:srgbClr val="4B5563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 TECHNOLOGY ACCELERATORS </a:t>
            </a:r>
            <a:r>
              <a:rPr lang="en-US" sz="1200" b="1">
                <a:solidFill>
                  <a:srgbClr val="D628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|</a:t>
            </a:r>
            <a:r>
              <a:rPr lang="en-US" sz="1500" b="1">
                <a:solidFill>
                  <a:srgbClr val="4B5563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 GAME CHANGERS </a:t>
            </a:r>
            <a:endParaRPr lang="en-US" sz="1200"/>
          </a:p>
        </p:txBody>
      </p:sp>
      <p:sp>
        <p:nvSpPr>
          <p:cNvPr id="9" name="Text 4"/>
          <p:cNvSpPr txBox="1"/>
          <p:nvPr/>
        </p:nvSpPr>
        <p:spPr>
          <a:xfrm>
            <a:off x="4153205" y="4262933"/>
            <a:ext cx="3893515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i="1">
                <a:solidFill>
                  <a:srgbClr val="D628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Energy. Excellence. Innovation.</a:t>
            </a:r>
            <a:endParaRPr lang="en-US" sz="1800"/>
          </a:p>
        </p:txBody>
      </p:sp>
      <p:pic>
        <p:nvPicPr>
          <p:cNvPr id="10" name="Image 3" descr="preencoded.png"/>
          <p:cNvPicPr>
            <a:picLocks noChangeAspect="1"/>
          </p:cNvPicPr>
          <p:nvPr/>
        </p:nvPicPr>
        <p:blipFill>
          <a:blip r:embed="rId6"/>
          <a:srcRect l="141" r="141"/>
          <a:stretch/>
        </p:blipFill>
        <p:spPr>
          <a:xfrm>
            <a:off x="4629607" y="447142"/>
            <a:ext cx="2933395" cy="1419149"/>
          </a:xfrm>
          <a:prstGeom prst="rect">
            <a:avLst/>
          </a:prstGeom>
        </p:spPr>
      </p:pic>
      <p:sp>
        <p:nvSpPr>
          <p:cNvPr id="11" name="Text 5"/>
          <p:cNvSpPr txBox="1"/>
          <p:nvPr/>
        </p:nvSpPr>
        <p:spPr>
          <a:xfrm>
            <a:off x="1287018" y="2262226"/>
            <a:ext cx="9475927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1F293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 Building the Enterprise Operating Model​</a:t>
            </a:r>
          </a:p>
          <a:p>
            <a:pPr marL="0" indent="0" algn="ctr">
              <a:buNone/>
            </a:pPr>
            <a:r>
              <a:rPr lang="en-US" sz="3600" b="1" dirty="0">
                <a:solidFill>
                  <a:srgbClr val="1F293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for the Next Decade​</a:t>
            </a:r>
          </a:p>
        </p:txBody>
      </p:sp>
      <p:pic>
        <p:nvPicPr>
          <p:cNvPr id="12" name="Image 4" descr="preencoded.png"/>
          <p:cNvPicPr>
            <a:picLocks noChangeAspect="1"/>
          </p:cNvPicPr>
          <p:nvPr/>
        </p:nvPicPr>
        <p:blipFill>
          <a:blip r:embed="rId7"/>
          <a:srcRect t="-400" b="-400"/>
          <a:stretch/>
        </p:blipFill>
        <p:spPr>
          <a:xfrm>
            <a:off x="5639105" y="3596335"/>
            <a:ext cx="914400" cy="57607"/>
          </a:xfrm>
          <a:prstGeom prst="rect">
            <a:avLst/>
          </a:prstGeom>
        </p:spPr>
      </p:pic>
      <p:sp>
        <p:nvSpPr>
          <p:cNvPr id="13" name="Shape 6"/>
          <p:cNvSpPr/>
          <p:nvPr/>
        </p:nvSpPr>
        <p:spPr>
          <a:xfrm>
            <a:off x="0" y="5238598"/>
            <a:ext cx="12191695" cy="1619402"/>
          </a:xfrm>
          <a:prstGeom prst="rect">
            <a:avLst/>
          </a:prstGeom>
          <a:solidFill>
            <a:srgbClr val="F9FAF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Shape 7"/>
          <p:cNvSpPr/>
          <p:nvPr/>
        </p:nvSpPr>
        <p:spPr>
          <a:xfrm>
            <a:off x="0" y="5238598"/>
            <a:ext cx="12191695" cy="914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8"/>
          <p:cNvSpPr/>
          <p:nvPr/>
        </p:nvSpPr>
        <p:spPr>
          <a:xfrm>
            <a:off x="10201961" y="5362956"/>
            <a:ext cx="9144" cy="1380744"/>
          </a:xfrm>
          <a:prstGeom prst="rect">
            <a:avLst/>
          </a:prstGeom>
          <a:solidFill>
            <a:srgbClr val="D1D5DB"/>
          </a:solidFill>
          <a:ln w="12700">
            <a:solidFill>
              <a:srgbClr val="D1D5D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9"/>
          <p:cNvSpPr txBox="1"/>
          <p:nvPr/>
        </p:nvSpPr>
        <p:spPr>
          <a:xfrm>
            <a:off x="457200" y="5362956"/>
            <a:ext cx="9630461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52">
                <a:solidFill>
                  <a:srgbClr val="2A9D8F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Trusted by:</a:t>
            </a:r>
            <a:endParaRPr lang="en-US" sz="1000"/>
          </a:p>
        </p:txBody>
      </p:sp>
      <p:sp>
        <p:nvSpPr>
          <p:cNvPr id="17" name="Shape 10"/>
          <p:cNvSpPr/>
          <p:nvPr/>
        </p:nvSpPr>
        <p:spPr>
          <a:xfrm>
            <a:off x="10362895" y="5605272"/>
            <a:ext cx="1371600" cy="247802"/>
          </a:xfrm>
          <a:prstGeom prst="roundRect">
            <a:avLst>
              <a:gd name="adj" fmla="val 369004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8" name="Image 5" descr="preencoded.png"/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10577779" y="5672023"/>
            <a:ext cx="114300" cy="114300"/>
          </a:xfrm>
          <a:prstGeom prst="rect">
            <a:avLst/>
          </a:prstGeom>
        </p:spPr>
      </p:pic>
      <p:sp>
        <p:nvSpPr>
          <p:cNvPr id="19" name="Text 11"/>
          <p:cNvSpPr txBox="1"/>
          <p:nvPr/>
        </p:nvSpPr>
        <p:spPr>
          <a:xfrm>
            <a:off x="10767974" y="5605272"/>
            <a:ext cx="810158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ISO 9001:2015</a:t>
            </a:r>
            <a:endParaRPr lang="en-US" sz="900"/>
          </a:p>
        </p:txBody>
      </p:sp>
      <p:sp>
        <p:nvSpPr>
          <p:cNvPr id="20" name="Shape 12"/>
          <p:cNvSpPr/>
          <p:nvPr/>
        </p:nvSpPr>
        <p:spPr>
          <a:xfrm>
            <a:off x="10362895" y="5928970"/>
            <a:ext cx="1371600" cy="247802"/>
          </a:xfrm>
          <a:prstGeom prst="roundRect">
            <a:avLst>
              <a:gd name="adj" fmla="val 369004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1" name="Image 6" descr="preencoded.png"/>
          <p:cNvPicPr>
            <a:picLocks noChangeAspect="1"/>
          </p:cNvPicPr>
          <p:nvPr/>
        </p:nvPicPr>
        <p:blipFill>
          <a:blip r:embed="rId9"/>
          <a:srcRect/>
          <a:stretch/>
        </p:blipFill>
        <p:spPr>
          <a:xfrm>
            <a:off x="10554919" y="5995721"/>
            <a:ext cx="114300" cy="114300"/>
          </a:xfrm>
          <a:prstGeom prst="rect">
            <a:avLst/>
          </a:prstGeom>
        </p:spPr>
      </p:pic>
      <p:sp>
        <p:nvSpPr>
          <p:cNvPr id="22" name="Text 13"/>
          <p:cNvSpPr txBox="1"/>
          <p:nvPr/>
        </p:nvSpPr>
        <p:spPr>
          <a:xfrm>
            <a:off x="10745114" y="5928970"/>
            <a:ext cx="857707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CMMI Certified</a:t>
            </a:r>
            <a:endParaRPr lang="en-US" sz="900"/>
          </a:p>
        </p:txBody>
      </p:sp>
      <p:sp>
        <p:nvSpPr>
          <p:cNvPr id="23" name="Shape 14"/>
          <p:cNvSpPr/>
          <p:nvPr/>
        </p:nvSpPr>
        <p:spPr>
          <a:xfrm>
            <a:off x="10362895" y="6253582"/>
            <a:ext cx="1371600" cy="247802"/>
          </a:xfrm>
          <a:prstGeom prst="roundRect">
            <a:avLst>
              <a:gd name="adj" fmla="val 369004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4" name="Image 7" descr="preencoded.png"/>
          <p:cNvPicPr>
            <a:picLocks noChangeAspect="1"/>
          </p:cNvPicPr>
          <p:nvPr/>
        </p:nvPicPr>
        <p:blipFill>
          <a:blip r:embed="rId10"/>
          <a:srcRect l="-133" r="-133"/>
          <a:stretch/>
        </p:blipFill>
        <p:spPr>
          <a:xfrm>
            <a:off x="10537546" y="6319418"/>
            <a:ext cx="85954" cy="114300"/>
          </a:xfrm>
          <a:prstGeom prst="rect">
            <a:avLst/>
          </a:prstGeom>
        </p:spPr>
      </p:pic>
      <p:sp>
        <p:nvSpPr>
          <p:cNvPr id="25" name="Text 15"/>
          <p:cNvSpPr txBox="1"/>
          <p:nvPr/>
        </p:nvSpPr>
        <p:spPr>
          <a:xfrm>
            <a:off x="10699394" y="6253582"/>
            <a:ext cx="924458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Women-Owned</a:t>
            </a:r>
            <a:endParaRPr lang="en-US" sz="900"/>
          </a:p>
        </p:txBody>
      </p:sp>
      <p:pic>
        <p:nvPicPr>
          <p:cNvPr id="26" name="Image 8" descr="preencoded.png"/>
          <p:cNvPicPr>
            <a:picLocks noChangeAspect="1"/>
          </p:cNvPicPr>
          <p:nvPr/>
        </p:nvPicPr>
        <p:blipFill>
          <a:blip r:embed="rId11">
            <a:alphaModFix amt="90000"/>
          </a:blip>
          <a:srcRect/>
          <a:stretch/>
        </p:blipFill>
        <p:spPr>
          <a:xfrm>
            <a:off x="457200" y="5700370"/>
            <a:ext cx="428854" cy="428854"/>
          </a:xfrm>
          <a:prstGeom prst="rect">
            <a:avLst/>
          </a:prstGeom>
        </p:spPr>
      </p:pic>
      <p:pic>
        <p:nvPicPr>
          <p:cNvPr id="27" name="Image 9" descr="preencoded.png"/>
          <p:cNvPicPr>
            <a:picLocks noChangeAspect="1"/>
          </p:cNvPicPr>
          <p:nvPr/>
        </p:nvPicPr>
        <p:blipFill>
          <a:blip r:embed="rId12">
            <a:alphaModFix amt="90000"/>
          </a:blip>
          <a:srcRect l="2016" r="2016"/>
          <a:stretch/>
        </p:blipFill>
        <p:spPr>
          <a:xfrm>
            <a:off x="1578254" y="5805526"/>
            <a:ext cx="1143000" cy="228600"/>
          </a:xfrm>
          <a:prstGeom prst="rect">
            <a:avLst/>
          </a:prstGeom>
        </p:spPr>
      </p:pic>
      <p:pic>
        <p:nvPicPr>
          <p:cNvPr id="28" name="Image 10" descr="preencoded.png"/>
          <p:cNvPicPr>
            <a:picLocks noChangeAspect="1"/>
          </p:cNvPicPr>
          <p:nvPr/>
        </p:nvPicPr>
        <p:blipFill>
          <a:blip r:embed="rId13">
            <a:alphaModFix amt="90000"/>
          </a:blip>
          <a:srcRect t="569" b="569"/>
          <a:stretch/>
        </p:blipFill>
        <p:spPr>
          <a:xfrm>
            <a:off x="3413455" y="5639105"/>
            <a:ext cx="838505" cy="552298"/>
          </a:xfrm>
          <a:prstGeom prst="rect">
            <a:avLst/>
          </a:prstGeom>
        </p:spPr>
      </p:pic>
      <p:pic>
        <p:nvPicPr>
          <p:cNvPr id="29" name="Image 11" descr="preencoded.png"/>
          <p:cNvPicPr>
            <a:picLocks noChangeAspect="1"/>
          </p:cNvPicPr>
          <p:nvPr/>
        </p:nvPicPr>
        <p:blipFill>
          <a:blip r:embed="rId14">
            <a:alphaModFix amt="90000"/>
          </a:blip>
          <a:srcRect t="563" b="563"/>
          <a:stretch/>
        </p:blipFill>
        <p:spPr>
          <a:xfrm>
            <a:off x="4935017" y="5648249"/>
            <a:ext cx="809244" cy="533095"/>
          </a:xfrm>
          <a:prstGeom prst="rect">
            <a:avLst/>
          </a:prstGeom>
        </p:spPr>
      </p:pic>
      <p:pic>
        <p:nvPicPr>
          <p:cNvPr id="30" name="Image 12" descr="preencoded.png"/>
          <p:cNvPicPr>
            <a:picLocks noChangeAspect="1"/>
          </p:cNvPicPr>
          <p:nvPr/>
        </p:nvPicPr>
        <p:blipFill>
          <a:blip r:embed="rId15">
            <a:alphaModFix amt="90000"/>
          </a:blip>
          <a:srcRect t="267" b="267"/>
          <a:stretch/>
        </p:blipFill>
        <p:spPr>
          <a:xfrm>
            <a:off x="6427318" y="5648249"/>
            <a:ext cx="952805" cy="533095"/>
          </a:xfrm>
          <a:prstGeom prst="rect">
            <a:avLst/>
          </a:prstGeom>
        </p:spPr>
      </p:pic>
      <p:pic>
        <p:nvPicPr>
          <p:cNvPr id="31" name="Image 13" descr="preencoded.png"/>
          <p:cNvPicPr>
            <a:picLocks noChangeAspect="1"/>
          </p:cNvPicPr>
          <p:nvPr/>
        </p:nvPicPr>
        <p:blipFill>
          <a:blip r:embed="rId16">
            <a:alphaModFix amt="90000"/>
          </a:blip>
          <a:srcRect/>
          <a:stretch/>
        </p:blipFill>
        <p:spPr>
          <a:xfrm>
            <a:off x="8067751" y="5662879"/>
            <a:ext cx="504749" cy="504749"/>
          </a:xfrm>
          <a:prstGeom prst="rect">
            <a:avLst/>
          </a:prstGeom>
        </p:spPr>
      </p:pic>
      <p:pic>
        <p:nvPicPr>
          <p:cNvPr id="32" name="Image 14" descr="preencoded.png"/>
          <p:cNvPicPr>
            <a:picLocks noChangeAspect="1"/>
          </p:cNvPicPr>
          <p:nvPr/>
        </p:nvPicPr>
        <p:blipFill>
          <a:blip r:embed="rId17">
            <a:alphaModFix amt="90000"/>
          </a:blip>
          <a:srcRect t="525" b="525"/>
          <a:stretch/>
        </p:blipFill>
        <p:spPr>
          <a:xfrm>
            <a:off x="9265615" y="5662879"/>
            <a:ext cx="714146" cy="504749"/>
          </a:xfrm>
          <a:prstGeom prst="rect">
            <a:avLst/>
          </a:prstGeom>
        </p:spPr>
      </p:pic>
      <p:pic>
        <p:nvPicPr>
          <p:cNvPr id="33" name="Image 15" descr="preencoded.png"/>
          <p:cNvPicPr>
            <a:picLocks noChangeAspect="1"/>
          </p:cNvPicPr>
          <p:nvPr/>
        </p:nvPicPr>
        <p:blipFill>
          <a:blip r:embed="rId18">
            <a:alphaModFix amt="90000"/>
          </a:blip>
          <a:srcRect l="688" r="688"/>
          <a:stretch/>
        </p:blipFill>
        <p:spPr>
          <a:xfrm>
            <a:off x="457200" y="6445606"/>
            <a:ext cx="1067105" cy="190195"/>
          </a:xfrm>
          <a:prstGeom prst="rect">
            <a:avLst/>
          </a:prstGeom>
        </p:spPr>
      </p:pic>
      <p:pic>
        <p:nvPicPr>
          <p:cNvPr id="34" name="Image 16" descr="preencoded.png"/>
          <p:cNvPicPr>
            <a:picLocks noChangeAspect="1"/>
          </p:cNvPicPr>
          <p:nvPr/>
        </p:nvPicPr>
        <p:blipFill>
          <a:blip r:embed="rId19">
            <a:alphaModFix amt="90000"/>
          </a:blip>
          <a:srcRect l="960" r="960"/>
          <a:stretch/>
        </p:blipFill>
        <p:spPr>
          <a:xfrm>
            <a:off x="2056486" y="6390742"/>
            <a:ext cx="1466698" cy="304495"/>
          </a:xfrm>
          <a:prstGeom prst="rect">
            <a:avLst/>
          </a:prstGeom>
        </p:spPr>
      </p:pic>
      <p:pic>
        <p:nvPicPr>
          <p:cNvPr id="35" name="Image 17" descr="preencoded.png"/>
          <p:cNvPicPr>
            <a:picLocks noChangeAspect="1"/>
          </p:cNvPicPr>
          <p:nvPr/>
        </p:nvPicPr>
        <p:blipFill>
          <a:blip r:embed="rId20">
            <a:alphaModFix amt="90000"/>
          </a:blip>
          <a:srcRect t="311" b="311"/>
          <a:stretch/>
        </p:blipFill>
        <p:spPr>
          <a:xfrm>
            <a:off x="4055364" y="6325819"/>
            <a:ext cx="828446" cy="428854"/>
          </a:xfrm>
          <a:prstGeom prst="rect">
            <a:avLst/>
          </a:prstGeom>
        </p:spPr>
      </p:pic>
      <p:pic>
        <p:nvPicPr>
          <p:cNvPr id="36" name="Image 18" descr="preencoded.png"/>
          <p:cNvPicPr>
            <a:picLocks noChangeAspect="1"/>
          </p:cNvPicPr>
          <p:nvPr/>
        </p:nvPicPr>
        <p:blipFill>
          <a:blip r:embed="rId21">
            <a:alphaModFix amt="90000"/>
          </a:blip>
          <a:srcRect t="385" b="385"/>
          <a:stretch/>
        </p:blipFill>
        <p:spPr>
          <a:xfrm>
            <a:off x="5410505" y="6325819"/>
            <a:ext cx="771754" cy="428854"/>
          </a:xfrm>
          <a:prstGeom prst="rect">
            <a:avLst/>
          </a:prstGeom>
        </p:spPr>
      </p:pic>
      <p:pic>
        <p:nvPicPr>
          <p:cNvPr id="37" name="Image 19" descr="preencoded.png"/>
          <p:cNvPicPr>
            <a:picLocks noChangeAspect="1"/>
          </p:cNvPicPr>
          <p:nvPr/>
        </p:nvPicPr>
        <p:blipFill>
          <a:blip r:embed="rId22">
            <a:alphaModFix amt="90000"/>
          </a:blip>
          <a:srcRect/>
          <a:stretch/>
        </p:blipFill>
        <p:spPr>
          <a:xfrm>
            <a:off x="6708038" y="6325819"/>
            <a:ext cx="428854" cy="428854"/>
          </a:xfrm>
          <a:prstGeom prst="rect">
            <a:avLst/>
          </a:prstGeom>
        </p:spPr>
      </p:pic>
      <p:pic>
        <p:nvPicPr>
          <p:cNvPr id="38" name="Image 20" descr="preencoded.png"/>
          <p:cNvPicPr>
            <a:picLocks noChangeAspect="1"/>
          </p:cNvPicPr>
          <p:nvPr/>
        </p:nvPicPr>
        <p:blipFill>
          <a:blip r:embed="rId23">
            <a:alphaModFix amt="90000"/>
          </a:blip>
          <a:srcRect t="77" b="77"/>
          <a:stretch/>
        </p:blipFill>
        <p:spPr>
          <a:xfrm>
            <a:off x="7669073" y="6368796"/>
            <a:ext cx="629107" cy="342900"/>
          </a:xfrm>
          <a:prstGeom prst="rect">
            <a:avLst/>
          </a:prstGeom>
        </p:spPr>
      </p:pic>
      <p:pic>
        <p:nvPicPr>
          <p:cNvPr id="39" name="Image 21" descr="preencoded.png"/>
          <p:cNvPicPr>
            <a:picLocks noChangeAspect="1"/>
          </p:cNvPicPr>
          <p:nvPr/>
        </p:nvPicPr>
        <p:blipFill>
          <a:blip r:embed="rId24">
            <a:alphaModFix amt="90000"/>
          </a:blip>
          <a:srcRect l="1712" r="1712"/>
          <a:stretch/>
        </p:blipFill>
        <p:spPr>
          <a:xfrm>
            <a:off x="8829446" y="6420002"/>
            <a:ext cx="1143000" cy="24780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8953805" y="-571500"/>
            <a:ext cx="3810305" cy="3810305"/>
          </a:xfrm>
          <a:prstGeom prst="ellipse">
            <a:avLst/>
          </a:prstGeom>
          <a:solidFill>
            <a:srgbClr val="2A9D8F">
              <a:alpha val="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5" name="Image 0" descr="gen-dedup-5e765734fa6996e94526269805e72083.png"/>
          <p:cNvPicPr>
            <a:picLocks noChangeAspect="1"/>
          </p:cNvPicPr>
          <p:nvPr/>
        </p:nvPicPr>
        <p:blipFill>
          <a:blip r:embed="rId3">
            <a:alphaModFix amt="8000"/>
          </a:blip>
          <a:srcRect/>
          <a:stretch/>
        </p:blipFill>
        <p:spPr>
          <a:xfrm>
            <a:off x="-381305" y="3715207"/>
            <a:ext cx="2381098" cy="2381098"/>
          </a:xfrm>
          <a:prstGeom prst="rect">
            <a:avLst/>
          </a:prstGeom>
        </p:spPr>
      </p:pic>
      <p:pic>
        <p:nvPicPr>
          <p:cNvPr id="6" name="Image 1" descr="gen-dedup-323228122ff92d2332e711a84ca3b40c.png"/>
          <p:cNvPicPr>
            <a:picLocks noChangeAspect="1"/>
          </p:cNvPicPr>
          <p:nvPr/>
        </p:nvPicPr>
        <p:blipFill>
          <a:blip r:embed="rId4"/>
          <a:srcRect l="-198" r="-198"/>
          <a:stretch/>
        </p:blipFill>
        <p:spPr>
          <a:xfrm>
            <a:off x="0" y="0"/>
            <a:ext cx="8124444" cy="75895"/>
          </a:xfrm>
          <a:prstGeom prst="rect">
            <a:avLst/>
          </a:prstGeom>
        </p:spPr>
      </p:pic>
      <p:pic>
        <p:nvPicPr>
          <p:cNvPr id="7" name="Image 2" descr="gen-dedup-9663ecf744b06e35d4c2cebaab92a2ea.png"/>
          <p:cNvPicPr>
            <a:picLocks noChangeAspect="1"/>
          </p:cNvPicPr>
          <p:nvPr/>
        </p:nvPicPr>
        <p:blipFill>
          <a:blip r:embed="rId5"/>
          <a:srcRect l="-202" r="-202"/>
          <a:stretch/>
        </p:blipFill>
        <p:spPr>
          <a:xfrm>
            <a:off x="8124444" y="0"/>
            <a:ext cx="4067251" cy="75895"/>
          </a:xfrm>
          <a:prstGeom prst="rect">
            <a:avLst/>
          </a:prstGeom>
        </p:spPr>
      </p:pic>
      <p:pic>
        <p:nvPicPr>
          <p:cNvPr id="8" name="Image 3" descr="gen-dedup-ef527bea2207a14ec6e8d4c8ae9cdc45.png"/>
          <p:cNvPicPr>
            <a:picLocks noChangeAspect="1"/>
          </p:cNvPicPr>
          <p:nvPr/>
        </p:nvPicPr>
        <p:blipFill>
          <a:blip r:embed="rId6"/>
          <a:srcRect l="-384" r="-384"/>
          <a:stretch/>
        </p:blipFill>
        <p:spPr>
          <a:xfrm>
            <a:off x="609905" y="513893"/>
            <a:ext cx="57607" cy="476402"/>
          </a:xfrm>
          <a:prstGeom prst="rect">
            <a:avLst/>
          </a:prstGeom>
        </p:spPr>
      </p:pic>
      <p:sp>
        <p:nvSpPr>
          <p:cNvPr id="9" name="Shape 3"/>
          <p:cNvSpPr/>
          <p:nvPr/>
        </p:nvSpPr>
        <p:spPr>
          <a:xfrm>
            <a:off x="609905" y="1387090"/>
            <a:ext cx="10972190" cy="1450129"/>
          </a:xfrm>
          <a:prstGeom prst="roundRect">
            <a:avLst>
              <a:gd name="adj" fmla="val 285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38100" dir="16200000" algn="bl" rotWithShape="0">
              <a:srgbClr val="000000">
                <a:alpha val="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4"/>
          <p:cNvSpPr/>
          <p:nvPr/>
        </p:nvSpPr>
        <p:spPr>
          <a:xfrm>
            <a:off x="609905" y="1387090"/>
            <a:ext cx="47549" cy="1450129"/>
          </a:xfrm>
          <a:prstGeom prst="roundRect">
            <a:avLst>
              <a:gd name="adj" fmla="val 132625"/>
            </a:avLst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5"/>
          <p:cNvSpPr/>
          <p:nvPr/>
        </p:nvSpPr>
        <p:spPr>
          <a:xfrm>
            <a:off x="609905" y="3238805"/>
            <a:ext cx="3448202" cy="1447495"/>
          </a:xfrm>
          <a:prstGeom prst="roundRect">
            <a:avLst>
              <a:gd name="adj" fmla="val 4987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6"/>
          <p:cNvSpPr/>
          <p:nvPr/>
        </p:nvSpPr>
        <p:spPr>
          <a:xfrm>
            <a:off x="4343400" y="3238805"/>
            <a:ext cx="3448202" cy="1447495"/>
          </a:xfrm>
          <a:prstGeom prst="roundRect">
            <a:avLst>
              <a:gd name="adj" fmla="val 4987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7"/>
          <p:cNvSpPr/>
          <p:nvPr/>
        </p:nvSpPr>
        <p:spPr>
          <a:xfrm>
            <a:off x="8076895" y="3238805"/>
            <a:ext cx="3524098" cy="1447495"/>
          </a:xfrm>
          <a:prstGeom prst="roundRect">
            <a:avLst>
              <a:gd name="adj" fmla="val 4987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8"/>
          <p:cNvSpPr/>
          <p:nvPr/>
        </p:nvSpPr>
        <p:spPr>
          <a:xfrm>
            <a:off x="609905" y="4953305"/>
            <a:ext cx="3448202" cy="1447495"/>
          </a:xfrm>
          <a:prstGeom prst="roundRect">
            <a:avLst>
              <a:gd name="adj" fmla="val 4987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9"/>
          <p:cNvSpPr/>
          <p:nvPr/>
        </p:nvSpPr>
        <p:spPr>
          <a:xfrm>
            <a:off x="4343400" y="4953305"/>
            <a:ext cx="3448202" cy="1447495"/>
          </a:xfrm>
          <a:prstGeom prst="roundRect">
            <a:avLst>
              <a:gd name="adj" fmla="val 4987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0"/>
          <p:cNvSpPr/>
          <p:nvPr/>
        </p:nvSpPr>
        <p:spPr>
          <a:xfrm>
            <a:off x="8076895" y="4953305"/>
            <a:ext cx="3524098" cy="1447495"/>
          </a:xfrm>
          <a:prstGeom prst="roundRect">
            <a:avLst>
              <a:gd name="adj" fmla="val 4987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1"/>
          <p:cNvSpPr txBox="1"/>
          <p:nvPr/>
        </p:nvSpPr>
        <p:spPr>
          <a:xfrm>
            <a:off x="819302" y="466344"/>
            <a:ext cx="3810305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11182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WHO WE ARE</a:t>
            </a:r>
            <a:endParaRPr lang="en-US" sz="2400" dirty="0"/>
          </a:p>
        </p:txBody>
      </p:sp>
      <p:sp>
        <p:nvSpPr>
          <p:cNvPr id="18" name="Text 12"/>
          <p:cNvSpPr txBox="1"/>
          <p:nvPr/>
        </p:nvSpPr>
        <p:spPr>
          <a:xfrm>
            <a:off x="819302" y="858622"/>
            <a:ext cx="4496105" cy="1527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kern="0" spc="52" dirty="0">
                <a:solidFill>
                  <a:srgbClr val="2A9D8F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The AI-native GCC platform - a decade in the making</a:t>
            </a:r>
            <a:endParaRPr lang="en-US" sz="1500" dirty="0"/>
          </a:p>
        </p:txBody>
      </p:sp>
      <p:sp>
        <p:nvSpPr>
          <p:cNvPr id="19" name="Text 13"/>
          <p:cNvSpPr txBox="1"/>
          <p:nvPr/>
        </p:nvSpPr>
        <p:spPr>
          <a:xfrm>
            <a:off x="990295" y="1465380"/>
            <a:ext cx="6967162" cy="648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900" b="1" dirty="0">
                <a:solidFill>
                  <a:srgbClr val="11182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J2W is the AI-native GCC platform for the Fortune 1000 and beyond.</a:t>
            </a:r>
            <a:endParaRPr lang="en-US" sz="1900" dirty="0"/>
          </a:p>
        </p:txBody>
      </p:sp>
      <p:sp>
        <p:nvSpPr>
          <p:cNvPr id="20" name="Text 14"/>
          <p:cNvSpPr txBox="1"/>
          <p:nvPr/>
        </p:nvSpPr>
        <p:spPr>
          <a:xfrm>
            <a:off x="990294" y="1977901"/>
            <a:ext cx="91449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Ten years building nothing but GCCs - so we solve the next problem before it shows up, deliver ROI in weeks where the industry takes quarters, and turn the GCC from a cost line into an innovation engine.</a:t>
            </a:r>
            <a:endParaRPr lang="en-US" sz="1100" dirty="0"/>
          </a:p>
        </p:txBody>
      </p:sp>
      <p:pic>
        <p:nvPicPr>
          <p:cNvPr id="21" name="Image 4" descr="gen-dedup-3d17221e8cd76f10a3e0815681bf2023.png"/>
          <p:cNvPicPr>
            <a:picLocks noChangeAspect="1"/>
          </p:cNvPicPr>
          <p:nvPr/>
        </p:nvPicPr>
        <p:blipFill>
          <a:blip r:embed="rId7"/>
          <a:srcRect l="-400" r="-400"/>
          <a:stretch/>
        </p:blipFill>
        <p:spPr>
          <a:xfrm>
            <a:off x="800100" y="3476549"/>
            <a:ext cx="38405" cy="571500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990295" y="3476549"/>
            <a:ext cx="1552651" cy="4480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100" b="1" dirty="0">
                <a:solidFill>
                  <a:srgbClr val="2A9D8F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10+</a:t>
            </a:r>
            <a:endParaRPr lang="en-US" sz="3100" dirty="0"/>
          </a:p>
        </p:txBody>
      </p:sp>
      <p:sp>
        <p:nvSpPr>
          <p:cNvPr id="23" name="Text 16"/>
          <p:cNvSpPr txBox="1"/>
          <p:nvPr/>
        </p:nvSpPr>
        <p:spPr>
          <a:xfrm>
            <a:off x="990295" y="3993185"/>
            <a:ext cx="1848002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E293B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Years GCC leadership</a:t>
            </a:r>
            <a:endParaRPr lang="en-US" sz="1200" dirty="0"/>
          </a:p>
        </p:txBody>
      </p:sp>
      <p:pic>
        <p:nvPicPr>
          <p:cNvPr id="24" name="Image 5" descr="gen-dedup-32cd67bc95385c5507b78533d3bab6e6.png"/>
          <p:cNvPicPr>
            <a:picLocks noChangeAspect="1"/>
          </p:cNvPicPr>
          <p:nvPr/>
        </p:nvPicPr>
        <p:blipFill>
          <a:blip r:embed="rId8"/>
          <a:srcRect l="-400" r="-400"/>
          <a:stretch/>
        </p:blipFill>
        <p:spPr>
          <a:xfrm>
            <a:off x="4533595" y="3476549"/>
            <a:ext cx="38405" cy="571500"/>
          </a:xfrm>
          <a:prstGeom prst="rect">
            <a:avLst/>
          </a:prstGeom>
        </p:spPr>
      </p:pic>
      <p:sp>
        <p:nvSpPr>
          <p:cNvPr id="25" name="Text 17"/>
          <p:cNvSpPr txBox="1"/>
          <p:nvPr/>
        </p:nvSpPr>
        <p:spPr>
          <a:xfrm>
            <a:off x="4724705" y="3476549"/>
            <a:ext cx="1791310" cy="4480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100" b="1" dirty="0">
                <a:solidFill>
                  <a:srgbClr val="D62839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320+</a:t>
            </a:r>
            <a:endParaRPr lang="en-US" sz="3100" dirty="0"/>
          </a:p>
        </p:txBody>
      </p:sp>
      <p:sp>
        <p:nvSpPr>
          <p:cNvPr id="26" name="Text 18"/>
          <p:cNvSpPr txBox="1"/>
          <p:nvPr/>
        </p:nvSpPr>
        <p:spPr>
          <a:xfrm>
            <a:off x="4724705" y="3993185"/>
            <a:ext cx="2131466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E293B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Enterprise clients served</a:t>
            </a:r>
            <a:endParaRPr lang="en-US" sz="1200" dirty="0"/>
          </a:p>
        </p:txBody>
      </p:sp>
      <p:pic>
        <p:nvPicPr>
          <p:cNvPr id="27" name="Image 6" descr="gen-dedup-3d17221e8cd76f10a3e0815681bf2023.png"/>
          <p:cNvPicPr>
            <a:picLocks noChangeAspect="1"/>
          </p:cNvPicPr>
          <p:nvPr/>
        </p:nvPicPr>
        <p:blipFill>
          <a:blip r:embed="rId7"/>
          <a:srcRect l="-400" r="-400"/>
          <a:stretch/>
        </p:blipFill>
        <p:spPr>
          <a:xfrm>
            <a:off x="8268005" y="3476549"/>
            <a:ext cx="38405" cy="571500"/>
          </a:xfrm>
          <a:prstGeom prst="rect">
            <a:avLst/>
          </a:prstGeom>
        </p:spPr>
      </p:pic>
      <p:sp>
        <p:nvSpPr>
          <p:cNvPr id="28" name="Text 19"/>
          <p:cNvSpPr txBox="1"/>
          <p:nvPr/>
        </p:nvSpPr>
        <p:spPr>
          <a:xfrm>
            <a:off x="8458200" y="3476549"/>
            <a:ext cx="2524658" cy="4480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100" b="1" dirty="0">
                <a:solidFill>
                  <a:srgbClr val="2A9D8F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300+</a:t>
            </a:r>
            <a:endParaRPr lang="en-US" sz="3100" dirty="0"/>
          </a:p>
        </p:txBody>
      </p:sp>
      <p:sp>
        <p:nvSpPr>
          <p:cNvPr id="29" name="Text 20"/>
          <p:cNvSpPr txBox="1"/>
          <p:nvPr/>
        </p:nvSpPr>
        <p:spPr>
          <a:xfrm>
            <a:off x="8458200" y="3993185"/>
            <a:ext cx="3003804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E293B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GCCs built: greenfield &amp; brownfield</a:t>
            </a:r>
            <a:endParaRPr lang="en-US" sz="1200" dirty="0"/>
          </a:p>
        </p:txBody>
      </p:sp>
      <p:pic>
        <p:nvPicPr>
          <p:cNvPr id="30" name="Image 7" descr="gen-dedup-32cd67bc95385c5507b78533d3bab6e6.png"/>
          <p:cNvPicPr>
            <a:picLocks noChangeAspect="1"/>
          </p:cNvPicPr>
          <p:nvPr/>
        </p:nvPicPr>
        <p:blipFill>
          <a:blip r:embed="rId8"/>
          <a:srcRect l="-400" r="-400"/>
          <a:stretch/>
        </p:blipFill>
        <p:spPr>
          <a:xfrm>
            <a:off x="800100" y="5191049"/>
            <a:ext cx="38405" cy="571500"/>
          </a:xfrm>
          <a:prstGeom prst="rect">
            <a:avLst/>
          </a:prstGeom>
        </p:spPr>
      </p:pic>
      <p:sp>
        <p:nvSpPr>
          <p:cNvPr id="31" name="Text 21"/>
          <p:cNvSpPr txBox="1"/>
          <p:nvPr/>
        </p:nvSpPr>
        <p:spPr>
          <a:xfrm>
            <a:off x="990295" y="5191049"/>
            <a:ext cx="1677010" cy="4480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100" b="1" dirty="0">
                <a:solidFill>
                  <a:srgbClr val="D62839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5,500+</a:t>
            </a:r>
            <a:endParaRPr lang="en-US" sz="3100" dirty="0"/>
          </a:p>
        </p:txBody>
      </p:sp>
      <p:sp>
        <p:nvSpPr>
          <p:cNvPr id="32" name="Text 22"/>
          <p:cNvSpPr txBox="1"/>
          <p:nvPr/>
        </p:nvSpPr>
        <p:spPr>
          <a:xfrm>
            <a:off x="990295" y="5707685"/>
            <a:ext cx="1995221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E293B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Industry &amp; tech experts</a:t>
            </a:r>
            <a:endParaRPr lang="en-US" sz="1200" dirty="0"/>
          </a:p>
        </p:txBody>
      </p:sp>
      <p:pic>
        <p:nvPicPr>
          <p:cNvPr id="33" name="Image 8" descr="gen-dedup-3d17221e8cd76f10a3e0815681bf2023.png"/>
          <p:cNvPicPr>
            <a:picLocks noChangeAspect="1"/>
          </p:cNvPicPr>
          <p:nvPr/>
        </p:nvPicPr>
        <p:blipFill>
          <a:blip r:embed="rId7"/>
          <a:srcRect l="-400" r="-400"/>
          <a:stretch/>
        </p:blipFill>
        <p:spPr>
          <a:xfrm>
            <a:off x="4533595" y="5191049"/>
            <a:ext cx="38405" cy="571500"/>
          </a:xfrm>
          <a:prstGeom prst="rect">
            <a:avLst/>
          </a:prstGeom>
        </p:spPr>
      </p:pic>
      <p:sp>
        <p:nvSpPr>
          <p:cNvPr id="34" name="Text 23"/>
          <p:cNvSpPr txBox="1"/>
          <p:nvPr/>
        </p:nvSpPr>
        <p:spPr>
          <a:xfrm>
            <a:off x="4724705" y="5191049"/>
            <a:ext cx="1705356" cy="4480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100" b="1" dirty="0">
                <a:solidFill>
                  <a:srgbClr val="2A9D8F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8</a:t>
            </a:r>
            <a:endParaRPr lang="en-US" sz="3100" dirty="0"/>
          </a:p>
        </p:txBody>
      </p:sp>
      <p:sp>
        <p:nvSpPr>
          <p:cNvPr id="35" name="Text 24"/>
          <p:cNvSpPr txBox="1"/>
          <p:nvPr/>
        </p:nvSpPr>
        <p:spPr>
          <a:xfrm>
            <a:off x="4724705" y="5707685"/>
            <a:ext cx="2029054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E293B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Countries with footprint</a:t>
            </a:r>
            <a:endParaRPr lang="en-US" sz="1200" dirty="0"/>
          </a:p>
        </p:txBody>
      </p:sp>
      <p:pic>
        <p:nvPicPr>
          <p:cNvPr id="36" name="Image 9" descr="gen-dedup-32cd67bc95385c5507b78533d3bab6e6.png"/>
          <p:cNvPicPr>
            <a:picLocks noChangeAspect="1"/>
          </p:cNvPicPr>
          <p:nvPr/>
        </p:nvPicPr>
        <p:blipFill>
          <a:blip r:embed="rId8"/>
          <a:srcRect l="-400" r="-400"/>
          <a:stretch/>
        </p:blipFill>
        <p:spPr>
          <a:xfrm>
            <a:off x="8268005" y="5191049"/>
            <a:ext cx="38405" cy="571500"/>
          </a:xfrm>
          <a:prstGeom prst="rect">
            <a:avLst/>
          </a:prstGeom>
        </p:spPr>
      </p:pic>
      <p:sp>
        <p:nvSpPr>
          <p:cNvPr id="37" name="Text 25"/>
          <p:cNvSpPr txBox="1"/>
          <p:nvPr/>
        </p:nvSpPr>
        <p:spPr>
          <a:xfrm>
            <a:off x="8458200" y="5191049"/>
            <a:ext cx="1677010" cy="4480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100" b="1" dirty="0">
                <a:solidFill>
                  <a:srgbClr val="D62839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60+</a:t>
            </a:r>
            <a:endParaRPr lang="en-US" sz="3100" dirty="0"/>
          </a:p>
        </p:txBody>
      </p:sp>
      <p:sp>
        <p:nvSpPr>
          <p:cNvPr id="38" name="Text 26"/>
          <p:cNvSpPr txBox="1"/>
          <p:nvPr/>
        </p:nvSpPr>
        <p:spPr>
          <a:xfrm>
            <a:off x="8458200" y="5707685"/>
            <a:ext cx="1995221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E293B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AI-enabled capabilities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6">
            <a:extLst>
              <a:ext uri="{FF2B5EF4-FFF2-40B4-BE49-F238E27FC236}">
                <a16:creationId xmlns:a16="http://schemas.microsoft.com/office/drawing/2014/main" id="{BC38BC13-DFC1-F89E-0089-AA5AA093AE76}"/>
              </a:ext>
            </a:extLst>
          </p:cNvPr>
          <p:cNvSpPr/>
          <p:nvPr/>
        </p:nvSpPr>
        <p:spPr>
          <a:xfrm>
            <a:off x="609595" y="3248406"/>
            <a:ext cx="5295445" cy="1447495"/>
          </a:xfrm>
          <a:prstGeom prst="roundRect">
            <a:avLst>
              <a:gd name="adj" fmla="val 4987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8953805" y="-571500"/>
            <a:ext cx="3810305" cy="3810305"/>
          </a:xfrm>
          <a:prstGeom prst="ellipse">
            <a:avLst/>
          </a:prstGeom>
          <a:solidFill>
            <a:srgbClr val="2A9D8F">
              <a:alpha val="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5" name="Image 0" descr="gen-dedup-5e765734fa6996e94526269805e72083.png"/>
          <p:cNvPicPr>
            <a:picLocks noChangeAspect="1"/>
          </p:cNvPicPr>
          <p:nvPr/>
        </p:nvPicPr>
        <p:blipFill>
          <a:blip r:embed="rId3">
            <a:alphaModFix amt="8000"/>
          </a:blip>
          <a:srcRect/>
          <a:stretch/>
        </p:blipFill>
        <p:spPr>
          <a:xfrm>
            <a:off x="-381305" y="3715207"/>
            <a:ext cx="2381098" cy="2381098"/>
          </a:xfrm>
          <a:prstGeom prst="rect">
            <a:avLst/>
          </a:prstGeom>
        </p:spPr>
      </p:pic>
      <p:pic>
        <p:nvPicPr>
          <p:cNvPr id="6" name="Image 1" descr="gen-dedup-323228122ff92d2332e711a84ca3b40c.png"/>
          <p:cNvPicPr>
            <a:picLocks noChangeAspect="1"/>
          </p:cNvPicPr>
          <p:nvPr/>
        </p:nvPicPr>
        <p:blipFill>
          <a:blip r:embed="rId4"/>
          <a:srcRect l="-198" r="-198"/>
          <a:stretch/>
        </p:blipFill>
        <p:spPr>
          <a:xfrm>
            <a:off x="0" y="0"/>
            <a:ext cx="8124444" cy="75895"/>
          </a:xfrm>
          <a:prstGeom prst="rect">
            <a:avLst/>
          </a:prstGeom>
        </p:spPr>
      </p:pic>
      <p:pic>
        <p:nvPicPr>
          <p:cNvPr id="7" name="Image 2" descr="gen-dedup-9663ecf744b06e35d4c2cebaab92a2ea.png"/>
          <p:cNvPicPr>
            <a:picLocks noChangeAspect="1"/>
          </p:cNvPicPr>
          <p:nvPr/>
        </p:nvPicPr>
        <p:blipFill>
          <a:blip r:embed="rId5"/>
          <a:srcRect l="-202" r="-202"/>
          <a:stretch/>
        </p:blipFill>
        <p:spPr>
          <a:xfrm>
            <a:off x="8124444" y="0"/>
            <a:ext cx="4067251" cy="75895"/>
          </a:xfrm>
          <a:prstGeom prst="rect">
            <a:avLst/>
          </a:prstGeom>
        </p:spPr>
      </p:pic>
      <p:pic>
        <p:nvPicPr>
          <p:cNvPr id="8" name="Image 3" descr="gen-dedup-ef527bea2207a14ec6e8d4c8ae9cdc45.png"/>
          <p:cNvPicPr>
            <a:picLocks noChangeAspect="1"/>
          </p:cNvPicPr>
          <p:nvPr/>
        </p:nvPicPr>
        <p:blipFill>
          <a:blip r:embed="rId6"/>
          <a:srcRect l="-384" r="-384"/>
          <a:stretch/>
        </p:blipFill>
        <p:spPr>
          <a:xfrm>
            <a:off x="609905" y="513893"/>
            <a:ext cx="57607" cy="476402"/>
          </a:xfrm>
          <a:prstGeom prst="rect">
            <a:avLst/>
          </a:prstGeom>
        </p:spPr>
      </p:pic>
      <p:sp>
        <p:nvSpPr>
          <p:cNvPr id="9" name="Shape 3"/>
          <p:cNvSpPr/>
          <p:nvPr/>
        </p:nvSpPr>
        <p:spPr>
          <a:xfrm>
            <a:off x="609905" y="1387090"/>
            <a:ext cx="10972190" cy="1450129"/>
          </a:xfrm>
          <a:prstGeom prst="roundRect">
            <a:avLst>
              <a:gd name="adj" fmla="val 285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38100" dir="16200000" algn="bl" rotWithShape="0">
              <a:srgbClr val="000000">
                <a:alpha val="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4"/>
          <p:cNvSpPr/>
          <p:nvPr/>
        </p:nvSpPr>
        <p:spPr>
          <a:xfrm>
            <a:off x="609905" y="1387090"/>
            <a:ext cx="47549" cy="1450129"/>
          </a:xfrm>
          <a:prstGeom prst="roundRect">
            <a:avLst>
              <a:gd name="adj" fmla="val 132625"/>
            </a:avLst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6"/>
          <p:cNvSpPr/>
          <p:nvPr/>
        </p:nvSpPr>
        <p:spPr>
          <a:xfrm>
            <a:off x="6057745" y="3238805"/>
            <a:ext cx="5543248" cy="1447495"/>
          </a:xfrm>
          <a:prstGeom prst="roundRect">
            <a:avLst>
              <a:gd name="adj" fmla="val 4987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9"/>
          <p:cNvSpPr/>
          <p:nvPr/>
        </p:nvSpPr>
        <p:spPr>
          <a:xfrm>
            <a:off x="609594" y="4953305"/>
            <a:ext cx="5295445" cy="1447495"/>
          </a:xfrm>
          <a:prstGeom prst="roundRect">
            <a:avLst>
              <a:gd name="adj" fmla="val 4987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0"/>
          <p:cNvSpPr/>
          <p:nvPr/>
        </p:nvSpPr>
        <p:spPr>
          <a:xfrm>
            <a:off x="6057745" y="4953305"/>
            <a:ext cx="5543248" cy="1447495"/>
          </a:xfrm>
          <a:prstGeom prst="roundRect">
            <a:avLst>
              <a:gd name="adj" fmla="val 4987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1"/>
          <p:cNvSpPr txBox="1"/>
          <p:nvPr/>
        </p:nvSpPr>
        <p:spPr>
          <a:xfrm>
            <a:off x="819302" y="466344"/>
            <a:ext cx="3810305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11182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WHO WE ARE</a:t>
            </a:r>
            <a:endParaRPr lang="en-US" sz="2400" dirty="0"/>
          </a:p>
        </p:txBody>
      </p:sp>
      <p:sp>
        <p:nvSpPr>
          <p:cNvPr id="18" name="Text 12"/>
          <p:cNvSpPr txBox="1"/>
          <p:nvPr/>
        </p:nvSpPr>
        <p:spPr>
          <a:xfrm>
            <a:off x="819302" y="858622"/>
            <a:ext cx="4496105" cy="1527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kern="0" spc="52" dirty="0">
                <a:solidFill>
                  <a:srgbClr val="2A9D8F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The AI-native GCC platform - a decade in the making</a:t>
            </a:r>
            <a:endParaRPr lang="en-US" sz="1500" dirty="0"/>
          </a:p>
        </p:txBody>
      </p:sp>
      <p:sp>
        <p:nvSpPr>
          <p:cNvPr id="19" name="Text 13"/>
          <p:cNvSpPr txBox="1"/>
          <p:nvPr/>
        </p:nvSpPr>
        <p:spPr>
          <a:xfrm>
            <a:off x="990295" y="1465380"/>
            <a:ext cx="6967162" cy="648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900" b="1" dirty="0">
                <a:solidFill>
                  <a:srgbClr val="11182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J2W is the AI-native GCC platform for the Fortune 1000 and beyond.</a:t>
            </a:r>
            <a:endParaRPr lang="en-US" sz="1900" dirty="0"/>
          </a:p>
        </p:txBody>
      </p:sp>
      <p:sp>
        <p:nvSpPr>
          <p:cNvPr id="20" name="Text 14"/>
          <p:cNvSpPr txBox="1"/>
          <p:nvPr/>
        </p:nvSpPr>
        <p:spPr>
          <a:xfrm>
            <a:off x="990294" y="1977901"/>
            <a:ext cx="91449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Ten years building nothing but GCCs - so we solve the next problem before it shows up, deliver ROI in weeks where the industry takes quarters, and turn the GCC from a cost line into an innovation engine.</a:t>
            </a:r>
            <a:endParaRPr lang="en-US" sz="1100" dirty="0"/>
          </a:p>
        </p:txBody>
      </p:sp>
      <p:pic>
        <p:nvPicPr>
          <p:cNvPr id="21" name="Image 4" descr="gen-dedup-3d17221e8cd76f10a3e0815681bf2023.png"/>
          <p:cNvPicPr>
            <a:picLocks noChangeAspect="1"/>
          </p:cNvPicPr>
          <p:nvPr/>
        </p:nvPicPr>
        <p:blipFill>
          <a:blip r:embed="rId7"/>
          <a:srcRect l="-400" r="-400"/>
          <a:stretch/>
        </p:blipFill>
        <p:spPr>
          <a:xfrm>
            <a:off x="800100" y="3476549"/>
            <a:ext cx="38405" cy="571500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990295" y="3476549"/>
            <a:ext cx="1552651" cy="4480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100" b="1" dirty="0">
                <a:solidFill>
                  <a:srgbClr val="2A9D8F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10+</a:t>
            </a:r>
            <a:endParaRPr lang="en-US" sz="3100" dirty="0"/>
          </a:p>
        </p:txBody>
      </p:sp>
      <p:sp>
        <p:nvSpPr>
          <p:cNvPr id="23" name="Text 16"/>
          <p:cNvSpPr txBox="1"/>
          <p:nvPr/>
        </p:nvSpPr>
        <p:spPr>
          <a:xfrm>
            <a:off x="990295" y="3993185"/>
            <a:ext cx="1848002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E293B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Years GCC leadership</a:t>
            </a:r>
            <a:endParaRPr lang="en-US" sz="1200" dirty="0"/>
          </a:p>
        </p:txBody>
      </p:sp>
      <p:pic>
        <p:nvPicPr>
          <p:cNvPr id="24" name="Image 5" descr="gen-dedup-32cd67bc95385c5507b78533d3bab6e6.png"/>
          <p:cNvPicPr>
            <a:picLocks noChangeAspect="1"/>
          </p:cNvPicPr>
          <p:nvPr/>
        </p:nvPicPr>
        <p:blipFill>
          <a:blip r:embed="rId8"/>
          <a:srcRect l="-400" r="-400"/>
          <a:stretch/>
        </p:blipFill>
        <p:spPr>
          <a:xfrm>
            <a:off x="6247941" y="3476549"/>
            <a:ext cx="38405" cy="571500"/>
          </a:xfrm>
          <a:prstGeom prst="rect">
            <a:avLst/>
          </a:prstGeom>
        </p:spPr>
      </p:pic>
      <p:sp>
        <p:nvSpPr>
          <p:cNvPr id="25" name="Text 17"/>
          <p:cNvSpPr txBox="1"/>
          <p:nvPr/>
        </p:nvSpPr>
        <p:spPr>
          <a:xfrm>
            <a:off x="6439051" y="3476549"/>
            <a:ext cx="1791310" cy="4480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100" b="1" dirty="0">
                <a:solidFill>
                  <a:srgbClr val="D62839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320+</a:t>
            </a:r>
            <a:endParaRPr lang="en-US" sz="3100" dirty="0"/>
          </a:p>
        </p:txBody>
      </p:sp>
      <p:sp>
        <p:nvSpPr>
          <p:cNvPr id="26" name="Text 18"/>
          <p:cNvSpPr txBox="1"/>
          <p:nvPr/>
        </p:nvSpPr>
        <p:spPr>
          <a:xfrm>
            <a:off x="6439051" y="3993185"/>
            <a:ext cx="2131466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E293B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Enterprise clients served</a:t>
            </a:r>
            <a:endParaRPr lang="en-US" sz="1200" dirty="0"/>
          </a:p>
        </p:txBody>
      </p:sp>
      <p:pic>
        <p:nvPicPr>
          <p:cNvPr id="33" name="Image 8" descr="gen-dedup-3d17221e8cd76f10a3e0815681bf2023.png"/>
          <p:cNvPicPr>
            <a:picLocks noChangeAspect="1"/>
          </p:cNvPicPr>
          <p:nvPr/>
        </p:nvPicPr>
        <p:blipFill>
          <a:blip r:embed="rId7"/>
          <a:srcRect l="-400" r="-400"/>
          <a:stretch/>
        </p:blipFill>
        <p:spPr>
          <a:xfrm>
            <a:off x="799790" y="5191049"/>
            <a:ext cx="38405" cy="571500"/>
          </a:xfrm>
          <a:prstGeom prst="rect">
            <a:avLst/>
          </a:prstGeom>
        </p:spPr>
      </p:pic>
      <p:sp>
        <p:nvSpPr>
          <p:cNvPr id="34" name="Text 23"/>
          <p:cNvSpPr txBox="1"/>
          <p:nvPr/>
        </p:nvSpPr>
        <p:spPr>
          <a:xfrm>
            <a:off x="990900" y="5191049"/>
            <a:ext cx="1705356" cy="4480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100" b="1" dirty="0">
                <a:solidFill>
                  <a:srgbClr val="2A9D8F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8</a:t>
            </a:r>
            <a:endParaRPr lang="en-US" sz="3100" dirty="0"/>
          </a:p>
        </p:txBody>
      </p:sp>
      <p:sp>
        <p:nvSpPr>
          <p:cNvPr id="35" name="Text 24"/>
          <p:cNvSpPr txBox="1"/>
          <p:nvPr/>
        </p:nvSpPr>
        <p:spPr>
          <a:xfrm>
            <a:off x="990900" y="5707685"/>
            <a:ext cx="2029054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E293B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Countries with footprint</a:t>
            </a:r>
            <a:endParaRPr lang="en-US" sz="1200" dirty="0"/>
          </a:p>
        </p:txBody>
      </p:sp>
      <p:pic>
        <p:nvPicPr>
          <p:cNvPr id="36" name="Image 9" descr="gen-dedup-32cd67bc95385c5507b78533d3bab6e6.png"/>
          <p:cNvPicPr>
            <a:picLocks noChangeAspect="1"/>
          </p:cNvPicPr>
          <p:nvPr/>
        </p:nvPicPr>
        <p:blipFill>
          <a:blip r:embed="rId8"/>
          <a:srcRect l="-400" r="-400"/>
          <a:stretch/>
        </p:blipFill>
        <p:spPr>
          <a:xfrm>
            <a:off x="6248855" y="5191049"/>
            <a:ext cx="38405" cy="571500"/>
          </a:xfrm>
          <a:prstGeom prst="rect">
            <a:avLst/>
          </a:prstGeom>
        </p:spPr>
      </p:pic>
      <p:sp>
        <p:nvSpPr>
          <p:cNvPr id="37" name="Text 25"/>
          <p:cNvSpPr txBox="1"/>
          <p:nvPr/>
        </p:nvSpPr>
        <p:spPr>
          <a:xfrm>
            <a:off x="6439050" y="5191049"/>
            <a:ext cx="1677010" cy="4480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100" b="1" dirty="0">
                <a:solidFill>
                  <a:srgbClr val="D62839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60+</a:t>
            </a:r>
            <a:endParaRPr lang="en-US" sz="3100" dirty="0"/>
          </a:p>
        </p:txBody>
      </p:sp>
      <p:sp>
        <p:nvSpPr>
          <p:cNvPr id="38" name="Text 26"/>
          <p:cNvSpPr txBox="1"/>
          <p:nvPr/>
        </p:nvSpPr>
        <p:spPr>
          <a:xfrm>
            <a:off x="6439050" y="5707685"/>
            <a:ext cx="1995221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E293B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AI-enabled capabilities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gen-dedup-eae513f7589b684705cecd0a1fd419bd.png"/>
          <p:cNvPicPr>
            <a:picLocks noChangeAspect="1"/>
          </p:cNvPicPr>
          <p:nvPr/>
        </p:nvPicPr>
        <p:blipFill>
          <a:blip r:embed="rId3">
            <a:alphaModFix amt="15000"/>
          </a:blip>
          <a:srcRect l="-38540" r="-38540"/>
          <a:stretch/>
        </p:blipFill>
        <p:spPr>
          <a:xfrm>
            <a:off x="286207" y="1143000"/>
            <a:ext cx="8096098" cy="4572000"/>
          </a:xfrm>
          <a:prstGeom prst="rect">
            <a:avLst/>
          </a:prstGeom>
        </p:spPr>
      </p:pic>
      <p:pic>
        <p:nvPicPr>
          <p:cNvPr id="3" name="Image 1" descr="gen-dedup-37abb9d8cc081a24feb608c288538026.png"/>
          <p:cNvPicPr>
            <a:picLocks noChangeAspect="1"/>
          </p:cNvPicPr>
          <p:nvPr/>
        </p:nvPicPr>
        <p:blipFill>
          <a:blip r:embed="rId4"/>
          <a:srcRect l="-198" r="-198"/>
          <a:stretch/>
        </p:blipFill>
        <p:spPr>
          <a:xfrm>
            <a:off x="0" y="0"/>
            <a:ext cx="8124444" cy="75895"/>
          </a:xfrm>
          <a:prstGeom prst="rect">
            <a:avLst/>
          </a:prstGeom>
        </p:spPr>
      </p:pic>
      <p:pic>
        <p:nvPicPr>
          <p:cNvPr id="4" name="Image 2" descr="gen-dedup-c2c9136402f20c216bf7cbcc052ad1a0.png"/>
          <p:cNvPicPr>
            <a:picLocks noChangeAspect="1"/>
          </p:cNvPicPr>
          <p:nvPr/>
        </p:nvPicPr>
        <p:blipFill>
          <a:blip r:embed="rId5"/>
          <a:srcRect l="-202" r="-202"/>
          <a:stretch/>
        </p:blipFill>
        <p:spPr>
          <a:xfrm>
            <a:off x="8124444" y="0"/>
            <a:ext cx="4067251" cy="75895"/>
          </a:xfrm>
          <a:prstGeom prst="rect">
            <a:avLst/>
          </a:prstGeom>
        </p:spPr>
      </p:pic>
      <p:pic>
        <p:nvPicPr>
          <p:cNvPr id="5" name="Image 3" descr="gen-dedup-c8fa2eb184fc8de7f554dc71374b921a.png"/>
          <p:cNvPicPr>
            <a:picLocks noChangeAspect="1"/>
          </p:cNvPicPr>
          <p:nvPr/>
        </p:nvPicPr>
        <p:blipFill>
          <a:blip r:embed="rId6"/>
          <a:srcRect t="-1" b="-1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Shape 0"/>
          <p:cNvSpPr/>
          <p:nvPr/>
        </p:nvSpPr>
        <p:spPr>
          <a:xfrm>
            <a:off x="8715146" y="1333195"/>
            <a:ext cx="2924251" cy="4781398"/>
          </a:xfrm>
          <a:prstGeom prst="roundRect">
            <a:avLst>
              <a:gd name="adj" fmla="val 259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381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1"/>
          <p:cNvSpPr/>
          <p:nvPr/>
        </p:nvSpPr>
        <p:spPr>
          <a:xfrm>
            <a:off x="609905" y="6286500"/>
            <a:ext cx="10992002" cy="400507"/>
          </a:xfrm>
          <a:prstGeom prst="roundRect">
            <a:avLst>
              <a:gd name="adj" fmla="val 14384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2"/>
          <p:cNvSpPr/>
          <p:nvPr/>
        </p:nvSpPr>
        <p:spPr>
          <a:xfrm>
            <a:off x="1714500" y="3000146"/>
            <a:ext cx="95098" cy="95098"/>
          </a:xfrm>
          <a:prstGeom prst="ellipse">
            <a:avLst/>
          </a:prstGeom>
          <a:solidFill>
            <a:srgbClr val="2A9D8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3"/>
          <p:cNvSpPr/>
          <p:nvPr/>
        </p:nvSpPr>
        <p:spPr>
          <a:xfrm>
            <a:off x="4190695" y="2238451"/>
            <a:ext cx="95098" cy="95098"/>
          </a:xfrm>
          <a:prstGeom prst="ellipse">
            <a:avLst/>
          </a:prstGeom>
          <a:solidFill>
            <a:srgbClr val="2A9D8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4"/>
          <p:cNvSpPr/>
          <p:nvPr/>
        </p:nvSpPr>
        <p:spPr>
          <a:xfrm>
            <a:off x="4762195" y="2333549"/>
            <a:ext cx="95098" cy="95098"/>
          </a:xfrm>
          <a:prstGeom prst="ellipse">
            <a:avLst/>
          </a:prstGeom>
          <a:solidFill>
            <a:srgbClr val="2A9D8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5"/>
          <p:cNvSpPr/>
          <p:nvPr/>
        </p:nvSpPr>
        <p:spPr>
          <a:xfrm>
            <a:off x="5524805" y="3191256"/>
            <a:ext cx="95098" cy="95098"/>
          </a:xfrm>
          <a:prstGeom prst="ellipse">
            <a:avLst/>
          </a:prstGeom>
          <a:solidFill>
            <a:srgbClr val="2A9D8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6"/>
          <p:cNvSpPr/>
          <p:nvPr/>
        </p:nvSpPr>
        <p:spPr>
          <a:xfrm>
            <a:off x="7810805" y="3666744"/>
            <a:ext cx="95098" cy="95098"/>
          </a:xfrm>
          <a:prstGeom prst="ellipse">
            <a:avLst/>
          </a:prstGeom>
          <a:solidFill>
            <a:srgbClr val="2A9D8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7"/>
          <p:cNvSpPr/>
          <p:nvPr/>
        </p:nvSpPr>
        <p:spPr>
          <a:xfrm>
            <a:off x="6858000" y="4143146"/>
            <a:ext cx="95098" cy="95098"/>
          </a:xfrm>
          <a:prstGeom prst="ellipse">
            <a:avLst/>
          </a:prstGeom>
          <a:solidFill>
            <a:srgbClr val="2A9D8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8"/>
          <p:cNvSpPr/>
          <p:nvPr/>
        </p:nvSpPr>
        <p:spPr>
          <a:xfrm>
            <a:off x="6953098" y="4429354"/>
            <a:ext cx="95098" cy="95098"/>
          </a:xfrm>
          <a:prstGeom prst="ellipse">
            <a:avLst/>
          </a:prstGeom>
          <a:solidFill>
            <a:srgbClr val="2A9D8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5" name="Image 4" descr="gen-dedup-f6de3db2c0e3a0458fdfe03bdecc5f42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6163056" y="3400654"/>
            <a:ext cx="209398" cy="209398"/>
          </a:xfrm>
          <a:prstGeom prst="rect">
            <a:avLst/>
          </a:prstGeom>
        </p:spPr>
      </p:pic>
      <p:pic>
        <p:nvPicPr>
          <p:cNvPr id="16" name="Image 5" descr="gen-dedup-c86e8c174ca8fa1030f905d340dc1437.png"/>
          <p:cNvPicPr>
            <a:picLocks noChangeAspect="1"/>
          </p:cNvPicPr>
          <p:nvPr/>
        </p:nvPicPr>
        <p:blipFill>
          <a:blip r:embed="rId8"/>
          <a:srcRect l="-400" r="-400"/>
          <a:stretch/>
        </p:blipFill>
        <p:spPr>
          <a:xfrm>
            <a:off x="609905" y="685800"/>
            <a:ext cx="57607" cy="571500"/>
          </a:xfrm>
          <a:prstGeom prst="rect">
            <a:avLst/>
          </a:prstGeom>
        </p:spPr>
      </p:pic>
      <p:sp>
        <p:nvSpPr>
          <p:cNvPr id="17" name="Text 9"/>
          <p:cNvSpPr txBox="1"/>
          <p:nvPr/>
        </p:nvSpPr>
        <p:spPr>
          <a:xfrm>
            <a:off x="819302" y="647395"/>
            <a:ext cx="9525305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11182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GLOBAL FOOTPRINT &amp; INDUSTRIES WE SERVE</a:t>
            </a:r>
            <a:endParaRPr lang="en-US" sz="2400" dirty="0"/>
          </a:p>
        </p:txBody>
      </p:sp>
      <p:sp>
        <p:nvSpPr>
          <p:cNvPr id="18" name="Text 10"/>
          <p:cNvSpPr txBox="1"/>
          <p:nvPr/>
        </p:nvSpPr>
        <p:spPr>
          <a:xfrm>
            <a:off x="819302" y="1039673"/>
            <a:ext cx="9525305" cy="1810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kern="0" spc="60" dirty="0">
                <a:solidFill>
                  <a:srgbClr val="2A9D8F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8 Global Locations | 8 Core Industries</a:t>
            </a:r>
            <a:endParaRPr lang="en-US" sz="1500" dirty="0"/>
          </a:p>
        </p:txBody>
      </p:sp>
      <p:sp>
        <p:nvSpPr>
          <p:cNvPr id="19" name="Shape 11"/>
          <p:cNvSpPr/>
          <p:nvPr/>
        </p:nvSpPr>
        <p:spPr>
          <a:xfrm>
            <a:off x="1538935" y="3143707"/>
            <a:ext cx="448056" cy="286207"/>
          </a:xfrm>
          <a:prstGeom prst="roundRect">
            <a:avLst>
              <a:gd name="adj" fmla="val 13419"/>
            </a:avLst>
          </a:prstGeom>
          <a:solidFill>
            <a:srgbClr val="FFFFFF"/>
          </a:solidFill>
          <a:ln w="12700">
            <a:solidFill>
              <a:srgbClr val="2A9D8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2"/>
          <p:cNvSpPr txBox="1"/>
          <p:nvPr/>
        </p:nvSpPr>
        <p:spPr>
          <a:xfrm>
            <a:off x="1538935" y="3143707"/>
            <a:ext cx="448056" cy="286207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63500" tIns="25400" rIns="63500" bIns="2540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2A9D8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Dallas</a:t>
            </a:r>
            <a:endParaRPr lang="en-US" sz="800" dirty="0"/>
          </a:p>
        </p:txBody>
      </p:sp>
      <p:sp>
        <p:nvSpPr>
          <p:cNvPr id="21" name="Shape 13"/>
          <p:cNvSpPr/>
          <p:nvPr/>
        </p:nvSpPr>
        <p:spPr>
          <a:xfrm>
            <a:off x="4097426" y="2000707"/>
            <a:ext cx="286207" cy="286207"/>
          </a:xfrm>
          <a:prstGeom prst="roundRect">
            <a:avLst>
              <a:gd name="adj" fmla="val 13419"/>
            </a:avLst>
          </a:prstGeom>
          <a:solidFill>
            <a:srgbClr val="FFFFFF"/>
          </a:solidFill>
          <a:ln w="12700">
            <a:solidFill>
              <a:srgbClr val="2A9D8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14"/>
          <p:cNvSpPr txBox="1"/>
          <p:nvPr/>
        </p:nvSpPr>
        <p:spPr>
          <a:xfrm>
            <a:off x="4097426" y="2000707"/>
            <a:ext cx="286207" cy="286207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63500" tIns="25400" rIns="63500" bIns="2540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2A9D8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UK</a:t>
            </a:r>
            <a:endParaRPr lang="en-US" sz="800" dirty="0"/>
          </a:p>
        </p:txBody>
      </p:sp>
      <p:sp>
        <p:nvSpPr>
          <p:cNvPr id="23" name="Shape 15"/>
          <p:cNvSpPr/>
          <p:nvPr/>
        </p:nvSpPr>
        <p:spPr>
          <a:xfrm>
            <a:off x="4567428" y="2095805"/>
            <a:ext cx="485546" cy="286207"/>
          </a:xfrm>
          <a:prstGeom prst="roundRect">
            <a:avLst>
              <a:gd name="adj" fmla="val 13419"/>
            </a:avLst>
          </a:prstGeom>
          <a:solidFill>
            <a:srgbClr val="FFFFFF"/>
          </a:solidFill>
          <a:ln w="12700">
            <a:solidFill>
              <a:srgbClr val="2A9D8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16"/>
          <p:cNvSpPr txBox="1"/>
          <p:nvPr/>
        </p:nvSpPr>
        <p:spPr>
          <a:xfrm>
            <a:off x="4567428" y="2095805"/>
            <a:ext cx="486461" cy="286207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63500" tIns="25400" rIns="63500" bIns="2540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2A9D8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Poland</a:t>
            </a:r>
            <a:endParaRPr lang="en-US" sz="800" dirty="0"/>
          </a:p>
        </p:txBody>
      </p:sp>
      <p:sp>
        <p:nvSpPr>
          <p:cNvPr id="25" name="Shape 17"/>
          <p:cNvSpPr/>
          <p:nvPr/>
        </p:nvSpPr>
        <p:spPr>
          <a:xfrm>
            <a:off x="5400446" y="3333902"/>
            <a:ext cx="342900" cy="286207"/>
          </a:xfrm>
          <a:prstGeom prst="roundRect">
            <a:avLst>
              <a:gd name="adj" fmla="val 13419"/>
            </a:avLst>
          </a:prstGeom>
          <a:solidFill>
            <a:srgbClr val="FFFFFF"/>
          </a:solidFill>
          <a:ln w="12700">
            <a:solidFill>
              <a:srgbClr val="2A9D8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18"/>
          <p:cNvSpPr txBox="1"/>
          <p:nvPr/>
        </p:nvSpPr>
        <p:spPr>
          <a:xfrm>
            <a:off x="5400446" y="3333902"/>
            <a:ext cx="342900" cy="286207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63500" tIns="25400" rIns="63500" bIns="2540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2A9D8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UAE</a:t>
            </a:r>
            <a:endParaRPr lang="en-US" sz="800" dirty="0"/>
          </a:p>
        </p:txBody>
      </p:sp>
      <p:sp>
        <p:nvSpPr>
          <p:cNvPr id="27" name="Shape 19"/>
          <p:cNvSpPr/>
          <p:nvPr/>
        </p:nvSpPr>
        <p:spPr>
          <a:xfrm>
            <a:off x="7467905" y="3810305"/>
            <a:ext cx="694944" cy="286207"/>
          </a:xfrm>
          <a:prstGeom prst="roundRect">
            <a:avLst>
              <a:gd name="adj" fmla="val 13419"/>
            </a:avLst>
          </a:prstGeom>
          <a:solidFill>
            <a:srgbClr val="FFFFFF"/>
          </a:solidFill>
          <a:ln w="12700">
            <a:solidFill>
              <a:srgbClr val="2A9D8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0"/>
          <p:cNvSpPr txBox="1"/>
          <p:nvPr/>
        </p:nvSpPr>
        <p:spPr>
          <a:xfrm>
            <a:off x="7467905" y="3810305"/>
            <a:ext cx="695858" cy="286207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63500" tIns="25400" rIns="63500" bIns="2540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2A9D8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Philippines</a:t>
            </a:r>
            <a:endParaRPr lang="en-US" sz="800" dirty="0"/>
          </a:p>
        </p:txBody>
      </p:sp>
      <p:sp>
        <p:nvSpPr>
          <p:cNvPr id="29" name="Shape 21"/>
          <p:cNvSpPr/>
          <p:nvPr/>
        </p:nvSpPr>
        <p:spPr>
          <a:xfrm>
            <a:off x="6477610" y="4286707"/>
            <a:ext cx="571500" cy="286207"/>
          </a:xfrm>
          <a:prstGeom prst="roundRect">
            <a:avLst>
              <a:gd name="adj" fmla="val 13419"/>
            </a:avLst>
          </a:prstGeom>
          <a:solidFill>
            <a:srgbClr val="FFFFFF"/>
          </a:solidFill>
          <a:ln w="12700">
            <a:solidFill>
              <a:srgbClr val="2A9D8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2"/>
          <p:cNvSpPr txBox="1"/>
          <p:nvPr/>
        </p:nvSpPr>
        <p:spPr>
          <a:xfrm>
            <a:off x="6477610" y="4286707"/>
            <a:ext cx="571500" cy="286207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63500" tIns="25400" rIns="63500" bIns="2540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2A9D8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Malaysia</a:t>
            </a:r>
            <a:endParaRPr lang="en-US" sz="800" dirty="0"/>
          </a:p>
        </p:txBody>
      </p:sp>
      <p:sp>
        <p:nvSpPr>
          <p:cNvPr id="31" name="Shape 23"/>
          <p:cNvSpPr/>
          <p:nvPr/>
        </p:nvSpPr>
        <p:spPr>
          <a:xfrm>
            <a:off x="6725412" y="4572000"/>
            <a:ext cx="647395" cy="286207"/>
          </a:xfrm>
          <a:prstGeom prst="roundRect">
            <a:avLst>
              <a:gd name="adj" fmla="val 13419"/>
            </a:avLst>
          </a:prstGeom>
          <a:solidFill>
            <a:srgbClr val="FFFFFF"/>
          </a:solidFill>
          <a:ln w="12700">
            <a:solidFill>
              <a:srgbClr val="2A9D8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24"/>
          <p:cNvSpPr txBox="1"/>
          <p:nvPr/>
        </p:nvSpPr>
        <p:spPr>
          <a:xfrm>
            <a:off x="6725412" y="4572000"/>
            <a:ext cx="648310" cy="286207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63500" tIns="25400" rIns="63500" bIns="2540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2A9D8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Singapore</a:t>
            </a:r>
            <a:endParaRPr lang="en-US" sz="800" dirty="0"/>
          </a:p>
        </p:txBody>
      </p:sp>
      <p:sp>
        <p:nvSpPr>
          <p:cNvPr id="33" name="Shape 25"/>
          <p:cNvSpPr/>
          <p:nvPr/>
        </p:nvSpPr>
        <p:spPr>
          <a:xfrm>
            <a:off x="5898794" y="3619195"/>
            <a:ext cx="685800" cy="333756"/>
          </a:xfrm>
          <a:prstGeom prst="roundRect">
            <a:avLst>
              <a:gd name="adj" fmla="val 11507"/>
            </a:avLst>
          </a:prstGeom>
          <a:solidFill>
            <a:srgbClr val="D62839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Text 26"/>
          <p:cNvSpPr txBox="1"/>
          <p:nvPr/>
        </p:nvSpPr>
        <p:spPr>
          <a:xfrm>
            <a:off x="5898794" y="3619195"/>
            <a:ext cx="685800" cy="333756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01600" tIns="38100" rIns="101600" bIns="3810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India Hub</a:t>
            </a:r>
            <a:endParaRPr lang="en-US" sz="800" dirty="0"/>
          </a:p>
        </p:txBody>
      </p:sp>
      <p:sp>
        <p:nvSpPr>
          <p:cNvPr id="35" name="Shape 27"/>
          <p:cNvSpPr/>
          <p:nvPr/>
        </p:nvSpPr>
        <p:spPr>
          <a:xfrm>
            <a:off x="8906256" y="1867205"/>
            <a:ext cx="2523744" cy="9144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Text 28"/>
          <p:cNvSpPr txBox="1"/>
          <p:nvPr/>
        </p:nvSpPr>
        <p:spPr>
          <a:xfrm>
            <a:off x="9158630" y="1524305"/>
            <a:ext cx="2272284" cy="248717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1182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INDUSTRIES WE SERVE</a:t>
            </a:r>
            <a:endParaRPr lang="en-US" sz="1300" dirty="0"/>
          </a:p>
        </p:txBody>
      </p:sp>
      <p:pic>
        <p:nvPicPr>
          <p:cNvPr id="37" name="Image 6" descr="gen-dedup-a3ba9c707eb1f0939238c0b2ee690b47.png"/>
          <p:cNvPicPr>
            <a:picLocks noChangeAspect="1"/>
          </p:cNvPicPr>
          <p:nvPr/>
        </p:nvPicPr>
        <p:blipFill>
          <a:blip r:embed="rId9"/>
          <a:srcRect t="-20" b="-20"/>
          <a:stretch/>
        </p:blipFill>
        <p:spPr>
          <a:xfrm>
            <a:off x="8906256" y="2018995"/>
            <a:ext cx="2523744" cy="295351"/>
          </a:xfrm>
          <a:prstGeom prst="rect">
            <a:avLst/>
          </a:prstGeom>
        </p:spPr>
      </p:pic>
      <p:pic>
        <p:nvPicPr>
          <p:cNvPr id="38" name="Image 7" descr="gen-dedup-2bd0b0fa7484346ccc3fd816b7451a75.png"/>
          <p:cNvPicPr>
            <a:picLocks noChangeAspect="1"/>
          </p:cNvPicPr>
          <p:nvPr/>
        </p:nvPicPr>
        <p:blipFill>
          <a:blip r:embed="rId10"/>
          <a:srcRect l="-21233" r="-21233"/>
          <a:stretch/>
        </p:blipFill>
        <p:spPr>
          <a:xfrm>
            <a:off x="9048902" y="2100377"/>
            <a:ext cx="190195" cy="133502"/>
          </a:xfrm>
          <a:prstGeom prst="rect">
            <a:avLst/>
          </a:prstGeom>
        </p:spPr>
      </p:pic>
      <p:sp>
        <p:nvSpPr>
          <p:cNvPr id="39" name="Text 29"/>
          <p:cNvSpPr txBox="1"/>
          <p:nvPr/>
        </p:nvSpPr>
        <p:spPr>
          <a:xfrm>
            <a:off x="9353398" y="2018995"/>
            <a:ext cx="267005" cy="2953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1118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BFSI</a:t>
            </a:r>
            <a:endParaRPr lang="en-US" sz="900" dirty="0"/>
          </a:p>
        </p:txBody>
      </p:sp>
      <p:pic>
        <p:nvPicPr>
          <p:cNvPr id="40" name="Image 8" descr="gen-dedup-a3ba9c707eb1f0939238c0b2ee690b47.png"/>
          <p:cNvPicPr>
            <a:picLocks noChangeAspect="1"/>
          </p:cNvPicPr>
          <p:nvPr/>
        </p:nvPicPr>
        <p:blipFill>
          <a:blip r:embed="rId9"/>
          <a:srcRect t="-20" b="-20"/>
          <a:stretch/>
        </p:blipFill>
        <p:spPr>
          <a:xfrm>
            <a:off x="8906256" y="2391156"/>
            <a:ext cx="2523744" cy="295351"/>
          </a:xfrm>
          <a:prstGeom prst="rect">
            <a:avLst/>
          </a:prstGeom>
        </p:spPr>
      </p:pic>
      <p:pic>
        <p:nvPicPr>
          <p:cNvPr id="41" name="Image 9" descr="gen-dedup-87254bd47463b9ac5fc2428135379ff4.png"/>
          <p:cNvPicPr>
            <a:picLocks noChangeAspect="1"/>
          </p:cNvPicPr>
          <p:nvPr/>
        </p:nvPicPr>
        <p:blipFill>
          <a:blip r:embed="rId11"/>
          <a:srcRect l="-21233" r="-21233"/>
          <a:stretch/>
        </p:blipFill>
        <p:spPr>
          <a:xfrm>
            <a:off x="9048902" y="2471623"/>
            <a:ext cx="190195" cy="133502"/>
          </a:xfrm>
          <a:prstGeom prst="rect">
            <a:avLst/>
          </a:prstGeom>
        </p:spPr>
      </p:pic>
      <p:sp>
        <p:nvSpPr>
          <p:cNvPr id="42" name="Text 30"/>
          <p:cNvSpPr txBox="1"/>
          <p:nvPr/>
        </p:nvSpPr>
        <p:spPr>
          <a:xfrm>
            <a:off x="9353398" y="2391156"/>
            <a:ext cx="1515161" cy="2953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1118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Healthcare &amp; Life Science</a:t>
            </a:r>
            <a:endParaRPr lang="en-US" sz="900" dirty="0"/>
          </a:p>
        </p:txBody>
      </p:sp>
      <p:pic>
        <p:nvPicPr>
          <p:cNvPr id="43" name="Image 10" descr="gen-dedup-a3ba9c707eb1f0939238c0b2ee690b47.png"/>
          <p:cNvPicPr>
            <a:picLocks noChangeAspect="1"/>
          </p:cNvPicPr>
          <p:nvPr/>
        </p:nvPicPr>
        <p:blipFill>
          <a:blip r:embed="rId9"/>
          <a:srcRect t="-20" b="-20"/>
          <a:stretch/>
        </p:blipFill>
        <p:spPr>
          <a:xfrm>
            <a:off x="8906256" y="2762402"/>
            <a:ext cx="2523744" cy="295351"/>
          </a:xfrm>
          <a:prstGeom prst="rect">
            <a:avLst/>
          </a:prstGeom>
        </p:spPr>
      </p:pic>
      <p:pic>
        <p:nvPicPr>
          <p:cNvPr id="44" name="Image 11" descr="gen-dedup-6a9e002375939ddd6a79ac98f2a4d902.png"/>
          <p:cNvPicPr>
            <a:picLocks noChangeAspect="1"/>
          </p:cNvPicPr>
          <p:nvPr/>
        </p:nvPicPr>
        <p:blipFill>
          <a:blip r:embed="rId12"/>
          <a:srcRect l="-13318" r="-13318"/>
          <a:stretch/>
        </p:blipFill>
        <p:spPr>
          <a:xfrm>
            <a:off x="9048902" y="2842870"/>
            <a:ext cx="190195" cy="133502"/>
          </a:xfrm>
          <a:prstGeom prst="rect">
            <a:avLst/>
          </a:prstGeom>
        </p:spPr>
      </p:pic>
      <p:sp>
        <p:nvSpPr>
          <p:cNvPr id="45" name="Text 31"/>
          <p:cNvSpPr txBox="1"/>
          <p:nvPr/>
        </p:nvSpPr>
        <p:spPr>
          <a:xfrm>
            <a:off x="9353398" y="2762402"/>
            <a:ext cx="1086307" cy="2953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1118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Retail &amp; Consumer</a:t>
            </a:r>
            <a:endParaRPr lang="en-US" sz="900" dirty="0"/>
          </a:p>
        </p:txBody>
      </p:sp>
      <p:pic>
        <p:nvPicPr>
          <p:cNvPr id="46" name="Image 12" descr="gen-dedup-a3ba9c707eb1f0939238c0b2ee690b47.png"/>
          <p:cNvPicPr>
            <a:picLocks noChangeAspect="1"/>
          </p:cNvPicPr>
          <p:nvPr/>
        </p:nvPicPr>
        <p:blipFill>
          <a:blip r:embed="rId9"/>
          <a:srcRect t="-20" b="-20"/>
          <a:stretch/>
        </p:blipFill>
        <p:spPr>
          <a:xfrm>
            <a:off x="8906256" y="3133649"/>
            <a:ext cx="2523744" cy="295351"/>
          </a:xfrm>
          <a:prstGeom prst="rect">
            <a:avLst/>
          </a:prstGeom>
        </p:spPr>
      </p:pic>
      <p:pic>
        <p:nvPicPr>
          <p:cNvPr id="47" name="Image 13" descr="gen-dedup-1ac84738dfd443b955249e948e0d73ca.png"/>
          <p:cNvPicPr>
            <a:picLocks noChangeAspect="1"/>
          </p:cNvPicPr>
          <p:nvPr/>
        </p:nvPicPr>
        <p:blipFill>
          <a:blip r:embed="rId13"/>
          <a:srcRect l="-21233" r="-21233"/>
          <a:stretch/>
        </p:blipFill>
        <p:spPr>
          <a:xfrm>
            <a:off x="9048902" y="3215030"/>
            <a:ext cx="190195" cy="133502"/>
          </a:xfrm>
          <a:prstGeom prst="rect">
            <a:avLst/>
          </a:prstGeom>
        </p:spPr>
      </p:pic>
      <p:sp>
        <p:nvSpPr>
          <p:cNvPr id="48" name="Text 32"/>
          <p:cNvSpPr txBox="1"/>
          <p:nvPr/>
        </p:nvSpPr>
        <p:spPr>
          <a:xfrm>
            <a:off x="9353398" y="3133649"/>
            <a:ext cx="1686154" cy="2953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1118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Automotive &amp; Manufacturing</a:t>
            </a:r>
            <a:endParaRPr lang="en-US" sz="900" dirty="0"/>
          </a:p>
        </p:txBody>
      </p:sp>
      <p:pic>
        <p:nvPicPr>
          <p:cNvPr id="49" name="Image 14" descr="gen-dedup-a3ba9c707eb1f0939238c0b2ee690b47.png"/>
          <p:cNvPicPr>
            <a:picLocks noChangeAspect="1"/>
          </p:cNvPicPr>
          <p:nvPr/>
        </p:nvPicPr>
        <p:blipFill>
          <a:blip r:embed="rId9"/>
          <a:srcRect t="-20" b="-20"/>
          <a:stretch/>
        </p:blipFill>
        <p:spPr>
          <a:xfrm>
            <a:off x="8906256" y="3504895"/>
            <a:ext cx="2523744" cy="295351"/>
          </a:xfrm>
          <a:prstGeom prst="rect">
            <a:avLst/>
          </a:prstGeom>
        </p:spPr>
      </p:pic>
      <p:pic>
        <p:nvPicPr>
          <p:cNvPr id="50" name="Image 15" descr="gen-dedup-a6d5727770eb2c467ca0fcfb922fbe99.png"/>
          <p:cNvPicPr>
            <a:picLocks noChangeAspect="1"/>
          </p:cNvPicPr>
          <p:nvPr/>
        </p:nvPicPr>
        <p:blipFill>
          <a:blip r:embed="rId14"/>
          <a:srcRect l="-6986" r="-6986"/>
          <a:stretch/>
        </p:blipFill>
        <p:spPr>
          <a:xfrm>
            <a:off x="9048902" y="3586277"/>
            <a:ext cx="190195" cy="133502"/>
          </a:xfrm>
          <a:prstGeom prst="rect">
            <a:avLst/>
          </a:prstGeom>
        </p:spPr>
      </p:pic>
      <p:sp>
        <p:nvSpPr>
          <p:cNvPr id="51" name="Text 33"/>
          <p:cNvSpPr txBox="1"/>
          <p:nvPr/>
        </p:nvSpPr>
        <p:spPr>
          <a:xfrm>
            <a:off x="9353398" y="3504895"/>
            <a:ext cx="1124712" cy="2953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1118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Technology &amp; SaaS</a:t>
            </a:r>
            <a:endParaRPr lang="en-US" sz="900" dirty="0"/>
          </a:p>
        </p:txBody>
      </p:sp>
      <p:pic>
        <p:nvPicPr>
          <p:cNvPr id="52" name="Image 16" descr="gen-dedup-a3ba9c707eb1f0939238c0b2ee690b47.png"/>
          <p:cNvPicPr>
            <a:picLocks noChangeAspect="1"/>
          </p:cNvPicPr>
          <p:nvPr/>
        </p:nvPicPr>
        <p:blipFill>
          <a:blip r:embed="rId9"/>
          <a:srcRect t="-20" b="-20"/>
          <a:stretch/>
        </p:blipFill>
        <p:spPr>
          <a:xfrm>
            <a:off x="8906256" y="3877056"/>
            <a:ext cx="2523744" cy="295351"/>
          </a:xfrm>
          <a:prstGeom prst="rect">
            <a:avLst/>
          </a:prstGeom>
        </p:spPr>
      </p:pic>
      <p:pic>
        <p:nvPicPr>
          <p:cNvPr id="53" name="Image 17" descr="gen-dedup-f9e079124fd14560a869c5b2316619e3.png"/>
          <p:cNvPicPr>
            <a:picLocks noChangeAspect="1"/>
          </p:cNvPicPr>
          <p:nvPr/>
        </p:nvPicPr>
        <p:blipFill>
          <a:blip r:embed="rId15"/>
          <a:srcRect l="-13318" r="-13318"/>
          <a:stretch/>
        </p:blipFill>
        <p:spPr>
          <a:xfrm>
            <a:off x="9048902" y="3957523"/>
            <a:ext cx="190195" cy="133502"/>
          </a:xfrm>
          <a:prstGeom prst="rect">
            <a:avLst/>
          </a:prstGeom>
        </p:spPr>
      </p:pic>
      <p:sp>
        <p:nvSpPr>
          <p:cNvPr id="54" name="Text 34"/>
          <p:cNvSpPr txBox="1"/>
          <p:nvPr/>
        </p:nvSpPr>
        <p:spPr>
          <a:xfrm>
            <a:off x="9353398" y="3877056"/>
            <a:ext cx="1228954" cy="2953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1118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Telecommunications</a:t>
            </a:r>
            <a:endParaRPr lang="en-US" sz="900" dirty="0"/>
          </a:p>
        </p:txBody>
      </p:sp>
      <p:pic>
        <p:nvPicPr>
          <p:cNvPr id="55" name="Image 18" descr="gen-dedup-a3ba9c707eb1f0939238c0b2ee690b47.png"/>
          <p:cNvPicPr>
            <a:picLocks noChangeAspect="1"/>
          </p:cNvPicPr>
          <p:nvPr/>
        </p:nvPicPr>
        <p:blipFill>
          <a:blip r:embed="rId9"/>
          <a:srcRect t="-20" b="-20"/>
          <a:stretch/>
        </p:blipFill>
        <p:spPr>
          <a:xfrm>
            <a:off x="8906256" y="4248302"/>
            <a:ext cx="2523744" cy="295351"/>
          </a:xfrm>
          <a:prstGeom prst="rect">
            <a:avLst/>
          </a:prstGeom>
        </p:spPr>
      </p:pic>
      <p:pic>
        <p:nvPicPr>
          <p:cNvPr id="56" name="Image 19" descr="gen-dedup-451e9eae7293a4bc33edf7b5ccafce38.png"/>
          <p:cNvPicPr>
            <a:picLocks noChangeAspect="1"/>
          </p:cNvPicPr>
          <p:nvPr/>
        </p:nvPicPr>
        <p:blipFill>
          <a:blip r:embed="rId16"/>
          <a:srcRect l="-31409" r="-31409"/>
          <a:stretch/>
        </p:blipFill>
        <p:spPr>
          <a:xfrm>
            <a:off x="9048902" y="4328770"/>
            <a:ext cx="190195" cy="133502"/>
          </a:xfrm>
          <a:prstGeom prst="rect">
            <a:avLst/>
          </a:prstGeom>
        </p:spPr>
      </p:pic>
      <p:sp>
        <p:nvSpPr>
          <p:cNvPr id="57" name="Text 35"/>
          <p:cNvSpPr txBox="1"/>
          <p:nvPr/>
        </p:nvSpPr>
        <p:spPr>
          <a:xfrm>
            <a:off x="9353398" y="4248302"/>
            <a:ext cx="1105510" cy="2953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1118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Energies &amp; Utilities</a:t>
            </a:r>
            <a:endParaRPr lang="en-US" sz="900" dirty="0"/>
          </a:p>
        </p:txBody>
      </p:sp>
      <p:pic>
        <p:nvPicPr>
          <p:cNvPr id="58" name="Image 20" descr="gen-dedup-a3ba9c707eb1f0939238c0b2ee690b47.png"/>
          <p:cNvPicPr>
            <a:picLocks noChangeAspect="1"/>
          </p:cNvPicPr>
          <p:nvPr/>
        </p:nvPicPr>
        <p:blipFill>
          <a:blip r:embed="rId9"/>
          <a:srcRect t="-20" b="-20"/>
          <a:stretch/>
        </p:blipFill>
        <p:spPr>
          <a:xfrm>
            <a:off x="8906256" y="4619549"/>
            <a:ext cx="2523744" cy="295351"/>
          </a:xfrm>
          <a:prstGeom prst="rect">
            <a:avLst/>
          </a:prstGeom>
        </p:spPr>
      </p:pic>
      <p:pic>
        <p:nvPicPr>
          <p:cNvPr id="59" name="Image 21" descr="gen-dedup-40abce9d65960ad896b885d7512e550b.png"/>
          <p:cNvPicPr>
            <a:picLocks noChangeAspect="1"/>
          </p:cNvPicPr>
          <p:nvPr/>
        </p:nvPicPr>
        <p:blipFill>
          <a:blip r:embed="rId17"/>
          <a:srcRect l="-21233" r="-21233"/>
          <a:stretch/>
        </p:blipFill>
        <p:spPr>
          <a:xfrm>
            <a:off x="9048902" y="4700930"/>
            <a:ext cx="190195" cy="133502"/>
          </a:xfrm>
          <a:prstGeom prst="rect">
            <a:avLst/>
          </a:prstGeom>
        </p:spPr>
      </p:pic>
      <p:sp>
        <p:nvSpPr>
          <p:cNvPr id="60" name="Text 36"/>
          <p:cNvSpPr txBox="1"/>
          <p:nvPr/>
        </p:nvSpPr>
        <p:spPr>
          <a:xfrm>
            <a:off x="9353398" y="4619549"/>
            <a:ext cx="1248156" cy="2953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1118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Professional Services</a:t>
            </a:r>
            <a:endParaRPr lang="en-US" sz="900" dirty="0"/>
          </a:p>
        </p:txBody>
      </p:sp>
      <p:pic>
        <p:nvPicPr>
          <p:cNvPr id="61" name="Image 22" descr="gen-dedup-a24ca5efa244217182f79dc248b17d8b.png"/>
          <p:cNvPicPr>
            <a:picLocks noChangeAspect="1"/>
          </p:cNvPicPr>
          <p:nvPr/>
        </p:nvPicPr>
        <p:blipFill>
          <a:blip r:embed="rId18"/>
          <a:srcRect t="-22432" b="-22432"/>
          <a:stretch/>
        </p:blipFill>
        <p:spPr>
          <a:xfrm>
            <a:off x="8906256" y="1573682"/>
            <a:ext cx="133502" cy="171907"/>
          </a:xfrm>
          <a:prstGeom prst="rect">
            <a:avLst/>
          </a:prstGeom>
        </p:spPr>
      </p:pic>
      <p:sp>
        <p:nvSpPr>
          <p:cNvPr id="62" name="Text 37"/>
          <p:cNvSpPr txBox="1"/>
          <p:nvPr/>
        </p:nvSpPr>
        <p:spPr>
          <a:xfrm>
            <a:off x="942746" y="6362395"/>
            <a:ext cx="3224174" cy="1243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64748B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Connecting global expertise with the India Delivery Hub</a:t>
            </a:r>
            <a:endParaRPr lang="en-US" sz="800" dirty="0"/>
          </a:p>
        </p:txBody>
      </p:sp>
      <p:sp>
        <p:nvSpPr>
          <p:cNvPr id="63" name="Text 38"/>
          <p:cNvSpPr txBox="1"/>
          <p:nvPr/>
        </p:nvSpPr>
        <p:spPr>
          <a:xfrm>
            <a:off x="9831629" y="6362395"/>
            <a:ext cx="1886407" cy="1243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64748B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Proven cross-industry scalability</a:t>
            </a:r>
            <a:endParaRPr lang="en-US" sz="800" dirty="0"/>
          </a:p>
        </p:txBody>
      </p:sp>
      <p:pic>
        <p:nvPicPr>
          <p:cNvPr id="64" name="Image 23" descr="gen-dedup-1a59845541d7fd4fb2a1972088c3d49f.png"/>
          <p:cNvPicPr>
            <a:picLocks noChangeAspect="1"/>
          </p:cNvPicPr>
          <p:nvPr/>
        </p:nvPicPr>
        <p:blipFill>
          <a:blip r:embed="rId19"/>
          <a:srcRect t="-11170" b="-11170"/>
          <a:stretch/>
        </p:blipFill>
        <p:spPr>
          <a:xfrm>
            <a:off x="800100" y="6366053"/>
            <a:ext cx="85954" cy="105156"/>
          </a:xfrm>
          <a:prstGeom prst="rect">
            <a:avLst/>
          </a:prstGeom>
        </p:spPr>
      </p:pic>
      <p:pic>
        <p:nvPicPr>
          <p:cNvPr id="65" name="Image 24" descr="gen-dedup-d522b7b7ebdde5571aa98d9631dd96ee.png"/>
          <p:cNvPicPr>
            <a:picLocks noChangeAspect="1"/>
          </p:cNvPicPr>
          <p:nvPr/>
        </p:nvPicPr>
        <p:blipFill>
          <a:blip r:embed="rId20"/>
          <a:srcRect t="-11170" b="-11170"/>
          <a:stretch/>
        </p:blipFill>
        <p:spPr>
          <a:xfrm>
            <a:off x="9688982" y="6366053"/>
            <a:ext cx="85954" cy="10515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9430207" y="-571500"/>
            <a:ext cx="3333902" cy="3333902"/>
          </a:xfrm>
          <a:prstGeom prst="ellipse">
            <a:avLst/>
          </a:prstGeom>
          <a:solidFill>
            <a:srgbClr val="2A9D8F">
              <a:alpha val="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rcRect l="-360" r="-360"/>
          <a:stretch/>
        </p:blipFill>
        <p:spPr>
          <a:xfrm>
            <a:off x="609905" y="485546"/>
            <a:ext cx="57607" cy="38130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19302" y="342900"/>
            <a:ext cx="5912510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kern="0" spc="-67">
                <a:solidFill>
                  <a:srgbClr val="11182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Architects of Transformation</a:t>
            </a:r>
            <a:endParaRPr lang="en-US" sz="2700"/>
          </a:p>
        </p:txBody>
      </p:sp>
      <p:sp>
        <p:nvSpPr>
          <p:cNvPr id="7" name="Text 4"/>
          <p:cNvSpPr txBox="1"/>
          <p:nvPr/>
        </p:nvSpPr>
        <p:spPr>
          <a:xfrm>
            <a:off x="819302" y="743407"/>
            <a:ext cx="5811012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kern="0" spc="75" dirty="0">
                <a:solidFill>
                  <a:srgbClr val="2A9D8F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Visionary Leadership Driving Enterprise Excellence</a:t>
            </a:r>
            <a:endParaRPr lang="en-US" sz="1500" dirty="0"/>
          </a:p>
        </p:txBody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4"/>
          <a:srcRect t="-6" b="-6"/>
          <a:stretch/>
        </p:blipFill>
        <p:spPr>
          <a:xfrm>
            <a:off x="609905" y="1123798"/>
            <a:ext cx="5372100" cy="3715207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919886" y="1339596"/>
            <a:ext cx="809244" cy="809244"/>
          </a:xfrm>
          <a:prstGeom prst="ellipse">
            <a:avLst/>
          </a:prstGeom>
          <a:noFill/>
          <a:ln w="38100">
            <a:solidFill>
              <a:srgbClr val="FFFFFF"/>
            </a:solidFill>
            <a:prstDash val="solid"/>
          </a:ln>
          <a:effectLst>
            <a:outerShdw blurRad="101600" dist="38100" dir="162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0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948233" y="1367942"/>
            <a:ext cx="752551" cy="752551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817474" y="2224735"/>
            <a:ext cx="102047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>
                <a:solidFill>
                  <a:srgbClr val="1F293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Priti Sawant</a:t>
            </a:r>
            <a:endParaRPr lang="en-US" sz="1300"/>
          </a:p>
        </p:txBody>
      </p:sp>
      <p:sp>
        <p:nvSpPr>
          <p:cNvPr id="12" name="Text 7"/>
          <p:cNvSpPr txBox="1"/>
          <p:nvPr/>
        </p:nvSpPr>
        <p:spPr>
          <a:xfrm>
            <a:off x="789127" y="2457907"/>
            <a:ext cx="1074420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22" dirty="0">
                <a:solidFill>
                  <a:srgbClr val="2A9D8F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Founder &amp; CEO</a:t>
            </a:r>
            <a:endParaRPr lang="en-US" sz="900" dirty="0"/>
          </a:p>
        </p:txBody>
      </p:sp>
      <p:sp>
        <p:nvSpPr>
          <p:cNvPr id="13" name="Text 8"/>
          <p:cNvSpPr txBox="1"/>
          <p:nvPr/>
        </p:nvSpPr>
        <p:spPr>
          <a:xfrm>
            <a:off x="2025396" y="1557311"/>
            <a:ext cx="3867912" cy="15526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just">
              <a:buNone/>
            </a:pPr>
            <a:r>
              <a:rPr lang="en-US" sz="1100" dirty="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Priti Sawant is a serial entrepreneur, category creator, and a pioneer of India’s Global Capability Center (GCC) ecosystem. With 20+ years of experience, she has built and scaled businesses at the intersection of technology and enterprise transformation. She began her journey at Accenture and later led Magna Infotech-scaling it from pre-revenue to a market leader, creating India’s first GCC-focused model, and delivering a successful exit and public listing (IPO). She is a 2-time entrepreneur, having built two successful, leading companies solving for GCCs in India.</a:t>
            </a:r>
            <a:endParaRPr lang="en-US" sz="1100" dirty="0"/>
          </a:p>
        </p:txBody>
      </p:sp>
      <p:sp>
        <p:nvSpPr>
          <p:cNvPr id="14" name="Text 9"/>
          <p:cNvSpPr txBox="1"/>
          <p:nvPr/>
        </p:nvSpPr>
        <p:spPr>
          <a:xfrm>
            <a:off x="2025396" y="3527888"/>
            <a:ext cx="3867912" cy="1381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just">
              <a:buNone/>
            </a:pPr>
            <a:r>
              <a:rPr lang="en-US" sz="110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She founded JoulestoWatts, backed by Manipal Global Education Services. Today, J2W operates across 8 countries, enabling 300+ GCCs, deploying 5,200+ professionals, and building 4 in-house products, with strong Fortune 500 partnerships. Recognised by Forbes Japan, she is also a TiE Charter Member, startup mentor, and a strong advocate of gender diversity, having built organisations with 40%+ women representation and 50% women-led leadership roles.</a:t>
            </a:r>
            <a:endParaRPr lang="en-US" sz="1100"/>
          </a:p>
        </p:txBody>
      </p:sp>
      <p:pic>
        <p:nvPicPr>
          <p:cNvPr id="15" name="Image 3" descr="preencoded.png"/>
          <p:cNvPicPr>
            <a:picLocks noChangeAspect="1"/>
          </p:cNvPicPr>
          <p:nvPr/>
        </p:nvPicPr>
        <p:blipFill>
          <a:blip r:embed="rId6"/>
          <a:srcRect t="-6" b="-6"/>
          <a:stretch/>
        </p:blipFill>
        <p:spPr>
          <a:xfrm>
            <a:off x="6210605" y="1123798"/>
            <a:ext cx="5372100" cy="3715207"/>
          </a:xfrm>
          <a:prstGeom prst="rect">
            <a:avLst/>
          </a:prstGeom>
        </p:spPr>
      </p:pic>
      <p:sp>
        <p:nvSpPr>
          <p:cNvPr id="16" name="Shape 10"/>
          <p:cNvSpPr/>
          <p:nvPr/>
        </p:nvSpPr>
        <p:spPr>
          <a:xfrm>
            <a:off x="6520586" y="1339596"/>
            <a:ext cx="809244" cy="809244"/>
          </a:xfrm>
          <a:prstGeom prst="ellipse">
            <a:avLst/>
          </a:prstGeom>
          <a:noFill/>
          <a:ln w="38100">
            <a:solidFill>
              <a:srgbClr val="FFFFFF"/>
            </a:solidFill>
            <a:prstDash val="solid"/>
          </a:ln>
          <a:effectLst>
            <a:outerShdw blurRad="101600" dist="38100" dir="162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7" name="Image 4" descr="preencoded.png"/>
          <p:cNvPicPr>
            <a:picLocks noChangeAspect="1"/>
          </p:cNvPicPr>
          <p:nvPr/>
        </p:nvPicPr>
        <p:blipFill>
          <a:blip r:embed="rId7"/>
          <a:srcRect b="1042"/>
          <a:stretch/>
        </p:blipFill>
        <p:spPr>
          <a:xfrm>
            <a:off x="6548933" y="1367942"/>
            <a:ext cx="752551" cy="752551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6411773" y="2224735"/>
            <a:ext cx="103235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>
                <a:solidFill>
                  <a:srgbClr val="1F293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Priya Mohan</a:t>
            </a:r>
            <a:endParaRPr lang="en-US" sz="1300"/>
          </a:p>
        </p:txBody>
      </p:sp>
      <p:sp>
        <p:nvSpPr>
          <p:cNvPr id="19" name="Text 12"/>
          <p:cNvSpPr txBox="1"/>
          <p:nvPr/>
        </p:nvSpPr>
        <p:spPr>
          <a:xfrm>
            <a:off x="6781190" y="2457907"/>
            <a:ext cx="295351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22" dirty="0">
                <a:solidFill>
                  <a:srgbClr val="D62839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coo</a:t>
            </a:r>
            <a:endParaRPr lang="en-US" sz="1100" dirty="0"/>
          </a:p>
        </p:txBody>
      </p:sp>
      <p:sp>
        <p:nvSpPr>
          <p:cNvPr id="20" name="Text 13"/>
          <p:cNvSpPr txBox="1"/>
          <p:nvPr/>
        </p:nvSpPr>
        <p:spPr>
          <a:xfrm>
            <a:off x="7626096" y="1557311"/>
            <a:ext cx="3867912" cy="15526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just">
              <a:buNone/>
            </a:pPr>
            <a:r>
              <a:rPr lang="en-US" sz="110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Priya Mohan is a seasoned operator, investor, and entrepreneur with 20+ years spanning venture capital, high-growth startups, and investment banking. She was most recently a Partner at General Catalyst India, where she led India investments and co-creation opportunities across transformative, economy-shaping companies. Previously, as Managing Partner at Venture Highway, she held board seats across marquee portfolio companies in multiple sectors. Before investing, she co-founded Vidyartha, an EdTech platform which she successfully exited to Byju's.</a:t>
            </a:r>
            <a:endParaRPr lang="en-US" sz="1100"/>
          </a:p>
        </p:txBody>
      </p:sp>
      <p:sp>
        <p:nvSpPr>
          <p:cNvPr id="21" name="Text 14"/>
          <p:cNvSpPr txBox="1"/>
          <p:nvPr/>
        </p:nvSpPr>
        <p:spPr>
          <a:xfrm>
            <a:off x="7626096" y="3527888"/>
            <a:ext cx="3867912" cy="12097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just">
              <a:buNone/>
            </a:pPr>
            <a:r>
              <a:rPr lang="en-US" sz="1100" dirty="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Her earlier career included 9 years in investment banking and equity research - structuring and executing complex transactions across private equity raises, secondary sales, and buyouts. A Chartered Accountant and Management Graduate from the Indian School of Business (ISB), Priya was a state guest of the United States under the IVLP program and is a member of the Kamalnayan Bajaj Aspen Fellowship (Cohort X).</a:t>
            </a:r>
            <a:endParaRPr lang="en-US" sz="1100" dirty="0"/>
          </a:p>
        </p:txBody>
      </p:sp>
      <p:pic>
        <p:nvPicPr>
          <p:cNvPr id="54" name="Image 15" descr="preencoded.png"/>
          <p:cNvPicPr>
            <a:picLocks noChangeAspect="1"/>
          </p:cNvPicPr>
          <p:nvPr/>
        </p:nvPicPr>
        <p:blipFill>
          <a:blip r:embed="rId8"/>
          <a:srcRect l="-202" r="-202"/>
          <a:stretch/>
        </p:blipFill>
        <p:spPr>
          <a:xfrm>
            <a:off x="0" y="0"/>
            <a:ext cx="8128102" cy="75895"/>
          </a:xfrm>
          <a:prstGeom prst="rect">
            <a:avLst/>
          </a:prstGeom>
        </p:spPr>
      </p:pic>
      <p:pic>
        <p:nvPicPr>
          <p:cNvPr id="55" name="Image 16" descr="preencoded.png"/>
          <p:cNvPicPr>
            <a:picLocks noChangeAspect="1"/>
          </p:cNvPicPr>
          <p:nvPr/>
        </p:nvPicPr>
        <p:blipFill>
          <a:blip r:embed="rId9"/>
          <a:srcRect l="-197" r="-197"/>
          <a:stretch/>
        </p:blipFill>
        <p:spPr>
          <a:xfrm>
            <a:off x="8128102" y="0"/>
            <a:ext cx="4063594" cy="75895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8667598" y="-751535"/>
            <a:ext cx="4286707" cy="4286707"/>
          </a:xfrm>
          <a:prstGeom prst="ellipse">
            <a:avLst/>
          </a:prstGeom>
          <a:solidFill>
            <a:srgbClr val="2A9D8F">
              <a:alpha val="3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5" name="Image 0" descr="gen-dedup-debd4e3596836e8640379be3057665ef.png"/>
          <p:cNvPicPr>
            <a:picLocks noChangeAspect="1"/>
          </p:cNvPicPr>
          <p:nvPr/>
        </p:nvPicPr>
        <p:blipFill>
          <a:blip r:embed="rId3">
            <a:alphaModFix amt="5000"/>
          </a:blip>
          <a:srcRect/>
          <a:stretch/>
        </p:blipFill>
        <p:spPr>
          <a:xfrm>
            <a:off x="-476402" y="3047695"/>
            <a:ext cx="2857500" cy="2857500"/>
          </a:xfrm>
          <a:prstGeom prst="rect">
            <a:avLst/>
          </a:prstGeom>
        </p:spPr>
      </p:pic>
      <p:pic>
        <p:nvPicPr>
          <p:cNvPr id="6" name="Image 1" descr="gen-dedup-ef527bea2207a14ec6e8d4c8ae9cdc45.png"/>
          <p:cNvPicPr>
            <a:picLocks noChangeAspect="1"/>
          </p:cNvPicPr>
          <p:nvPr/>
        </p:nvPicPr>
        <p:blipFill>
          <a:blip r:embed="rId4"/>
          <a:srcRect l="-384" r="-384"/>
          <a:stretch/>
        </p:blipFill>
        <p:spPr>
          <a:xfrm>
            <a:off x="609905" y="457200"/>
            <a:ext cx="57607" cy="476402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1714500" y="1285646"/>
            <a:ext cx="4304995" cy="2667305"/>
          </a:xfrm>
          <a:prstGeom prst="roundRect">
            <a:avLst>
              <a:gd name="adj" fmla="val 1959"/>
            </a:avLst>
          </a:prstGeom>
          <a:solidFill>
            <a:srgbClr val="FFFFFF"/>
          </a:solidFill>
          <a:ln w="12700">
            <a:solidFill>
              <a:srgbClr val="F3F4F6"/>
            </a:solidFill>
            <a:prstDash val="solid"/>
          </a:ln>
          <a:effectLst>
            <a:outerShdw blurRad="114300" dist="38100" dir="16200000" algn="bl" rotWithShape="0">
              <a:srgbClr val="000000">
                <a:alpha val="4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Shape 4"/>
          <p:cNvSpPr/>
          <p:nvPr/>
        </p:nvSpPr>
        <p:spPr>
          <a:xfrm>
            <a:off x="1714500" y="1285646"/>
            <a:ext cx="4304995" cy="38405"/>
          </a:xfrm>
          <a:prstGeom prst="roundRect">
            <a:avLst>
              <a:gd name="adj" fmla="val 136054"/>
            </a:avLst>
          </a:prstGeom>
          <a:solidFill>
            <a:srgbClr val="2A9D8F"/>
          </a:solidFill>
          <a:ln w="12700">
            <a:solidFill>
              <a:srgbClr val="2A9D8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5"/>
          <p:cNvSpPr/>
          <p:nvPr/>
        </p:nvSpPr>
        <p:spPr>
          <a:xfrm>
            <a:off x="6191402" y="1285646"/>
            <a:ext cx="4304995" cy="2667305"/>
          </a:xfrm>
          <a:prstGeom prst="roundRect">
            <a:avLst>
              <a:gd name="adj" fmla="val 1959"/>
            </a:avLst>
          </a:prstGeom>
          <a:solidFill>
            <a:srgbClr val="FFFFFF"/>
          </a:solidFill>
          <a:ln w="12700">
            <a:solidFill>
              <a:srgbClr val="F3F4F6"/>
            </a:solidFill>
            <a:prstDash val="solid"/>
          </a:ln>
          <a:effectLst>
            <a:outerShdw blurRad="114300" dist="38100" dir="16200000" algn="bl" rotWithShape="0">
              <a:srgbClr val="000000">
                <a:alpha val="4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6"/>
          <p:cNvSpPr/>
          <p:nvPr/>
        </p:nvSpPr>
        <p:spPr>
          <a:xfrm>
            <a:off x="6191402" y="1285646"/>
            <a:ext cx="4304995" cy="38405"/>
          </a:xfrm>
          <a:prstGeom prst="roundRect">
            <a:avLst>
              <a:gd name="adj" fmla="val 136054"/>
            </a:avLst>
          </a:prstGeom>
          <a:solidFill>
            <a:srgbClr val="D62839"/>
          </a:solidFill>
          <a:ln w="12700">
            <a:solidFill>
              <a:srgbClr val="D62839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7"/>
          <p:cNvSpPr/>
          <p:nvPr/>
        </p:nvSpPr>
        <p:spPr>
          <a:xfrm>
            <a:off x="609905" y="4095598"/>
            <a:ext cx="3590849" cy="2523744"/>
          </a:xfrm>
          <a:prstGeom prst="roundRect">
            <a:avLst>
              <a:gd name="adj" fmla="val 2188"/>
            </a:avLst>
          </a:prstGeom>
          <a:solidFill>
            <a:srgbClr val="FFFFFF"/>
          </a:solidFill>
          <a:ln w="12700">
            <a:solidFill>
              <a:srgbClr val="F3F4F6"/>
            </a:solidFill>
            <a:prstDash val="solid"/>
          </a:ln>
          <a:effectLst>
            <a:outerShdw blurRad="114300" dist="38100" dir="16200000" algn="bl" rotWithShape="0">
              <a:srgbClr val="000000">
                <a:alpha val="4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8"/>
          <p:cNvSpPr/>
          <p:nvPr/>
        </p:nvSpPr>
        <p:spPr>
          <a:xfrm>
            <a:off x="609905" y="4095598"/>
            <a:ext cx="3590849" cy="38405"/>
          </a:xfrm>
          <a:prstGeom prst="roundRect">
            <a:avLst>
              <a:gd name="adj" fmla="val 143755"/>
            </a:avLst>
          </a:prstGeom>
          <a:solidFill>
            <a:srgbClr val="2A9D8F"/>
          </a:solidFill>
          <a:ln w="12700">
            <a:solidFill>
              <a:srgbClr val="2A9D8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9"/>
          <p:cNvSpPr/>
          <p:nvPr/>
        </p:nvSpPr>
        <p:spPr>
          <a:xfrm>
            <a:off x="4304995" y="4095598"/>
            <a:ext cx="3590849" cy="2523744"/>
          </a:xfrm>
          <a:prstGeom prst="roundRect">
            <a:avLst>
              <a:gd name="adj" fmla="val 2188"/>
            </a:avLst>
          </a:prstGeom>
          <a:solidFill>
            <a:srgbClr val="FFFFFF"/>
          </a:solidFill>
          <a:ln w="12700">
            <a:solidFill>
              <a:srgbClr val="F3F4F6"/>
            </a:solidFill>
            <a:prstDash val="solid"/>
          </a:ln>
          <a:effectLst>
            <a:outerShdw blurRad="114300" dist="38100" dir="16200000" algn="bl" rotWithShape="0">
              <a:srgbClr val="000000">
                <a:alpha val="4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Shape 10"/>
          <p:cNvSpPr/>
          <p:nvPr/>
        </p:nvSpPr>
        <p:spPr>
          <a:xfrm>
            <a:off x="4304995" y="4095598"/>
            <a:ext cx="3590849" cy="38405"/>
          </a:xfrm>
          <a:prstGeom prst="roundRect">
            <a:avLst>
              <a:gd name="adj" fmla="val 143755"/>
            </a:avLst>
          </a:prstGeom>
          <a:solidFill>
            <a:srgbClr val="D62839"/>
          </a:solidFill>
          <a:ln w="12700">
            <a:solidFill>
              <a:srgbClr val="D62839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1"/>
          <p:cNvSpPr/>
          <p:nvPr/>
        </p:nvSpPr>
        <p:spPr>
          <a:xfrm>
            <a:off x="8001000" y="4095598"/>
            <a:ext cx="3590849" cy="2523744"/>
          </a:xfrm>
          <a:prstGeom prst="roundRect">
            <a:avLst>
              <a:gd name="adj" fmla="val 2188"/>
            </a:avLst>
          </a:prstGeom>
          <a:solidFill>
            <a:srgbClr val="FFFFFF"/>
          </a:solidFill>
          <a:ln w="12700">
            <a:solidFill>
              <a:srgbClr val="F3F4F6"/>
            </a:solidFill>
            <a:prstDash val="solid"/>
          </a:ln>
          <a:effectLst>
            <a:outerShdw blurRad="114300" dist="38100" dir="16200000" algn="bl" rotWithShape="0">
              <a:srgbClr val="000000">
                <a:alpha val="4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2"/>
          <p:cNvSpPr/>
          <p:nvPr/>
        </p:nvSpPr>
        <p:spPr>
          <a:xfrm>
            <a:off x="8001000" y="4095598"/>
            <a:ext cx="3590849" cy="38405"/>
          </a:xfrm>
          <a:prstGeom prst="roundRect">
            <a:avLst>
              <a:gd name="adj" fmla="val 143755"/>
            </a:avLst>
          </a:prstGeom>
          <a:solidFill>
            <a:srgbClr val="2A9D8F"/>
          </a:solidFill>
          <a:ln w="12700">
            <a:solidFill>
              <a:srgbClr val="2A9D8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 txBox="1"/>
          <p:nvPr/>
        </p:nvSpPr>
        <p:spPr>
          <a:xfrm>
            <a:off x="819302" y="381305"/>
            <a:ext cx="10478110" cy="3621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500" b="1" kern="0" spc="-25">
                <a:solidFill>
                  <a:srgbClr val="11182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ARCHITECTS OF TRANSFORMATION</a:t>
            </a:r>
            <a:endParaRPr lang="en-US" sz="2500"/>
          </a:p>
        </p:txBody>
      </p:sp>
      <p:sp>
        <p:nvSpPr>
          <p:cNvPr id="18" name="Text 14"/>
          <p:cNvSpPr txBox="1"/>
          <p:nvPr/>
        </p:nvSpPr>
        <p:spPr>
          <a:xfrm>
            <a:off x="819302" y="794614"/>
            <a:ext cx="10478110" cy="1810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60" dirty="0">
                <a:solidFill>
                  <a:srgbClr val="2A9D8F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A Seasoned Team Uniting Technology, Strategy, And Workforce Excellence</a:t>
            </a:r>
            <a:endParaRPr lang="en-US" sz="1200" dirty="0"/>
          </a:p>
        </p:txBody>
      </p:sp>
      <p:sp>
        <p:nvSpPr>
          <p:cNvPr id="19" name="Shape 15"/>
          <p:cNvSpPr/>
          <p:nvPr/>
        </p:nvSpPr>
        <p:spPr>
          <a:xfrm>
            <a:off x="3476549" y="1429207"/>
            <a:ext cx="761695" cy="761695"/>
          </a:xfrm>
          <a:prstGeom prst="ellipse">
            <a:avLst/>
          </a:prstGeom>
          <a:solidFill>
            <a:srgbClr val="F3F4F6"/>
          </a:solidFill>
          <a:ln w="254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6"/>
          <p:cNvSpPr/>
          <p:nvPr/>
        </p:nvSpPr>
        <p:spPr>
          <a:xfrm>
            <a:off x="3476549" y="1429207"/>
            <a:ext cx="762610" cy="7626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000" b="1">
                <a:solidFill>
                  <a:srgbClr val="9CA3A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Photo</a:t>
            </a:r>
            <a:endParaRPr lang="en-US" sz="1000"/>
          </a:p>
        </p:txBody>
      </p:sp>
      <p:sp>
        <p:nvSpPr>
          <p:cNvPr id="21" name="Text 17"/>
          <p:cNvSpPr txBox="1"/>
          <p:nvPr/>
        </p:nvSpPr>
        <p:spPr>
          <a:xfrm>
            <a:off x="3294583" y="2266798"/>
            <a:ext cx="1133856" cy="2862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>
                <a:solidFill>
                  <a:srgbClr val="11182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Priti Sawant</a:t>
            </a:r>
            <a:endParaRPr lang="en-US" sz="1500"/>
          </a:p>
        </p:txBody>
      </p:sp>
      <p:sp>
        <p:nvSpPr>
          <p:cNvPr id="22" name="Text 18"/>
          <p:cNvSpPr txBox="1"/>
          <p:nvPr/>
        </p:nvSpPr>
        <p:spPr>
          <a:xfrm>
            <a:off x="3254350" y="2572207"/>
            <a:ext cx="1207008" cy="1435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49">
                <a:solidFill>
                  <a:srgbClr val="2A9D8F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FOUNDER &amp; CEO</a:t>
            </a:r>
            <a:endParaRPr lang="en-US" sz="900"/>
          </a:p>
        </p:txBody>
      </p:sp>
      <p:sp>
        <p:nvSpPr>
          <p:cNvPr id="23" name="Text 19"/>
          <p:cNvSpPr txBox="1"/>
          <p:nvPr/>
        </p:nvSpPr>
        <p:spPr>
          <a:xfrm>
            <a:off x="1857146" y="2790749"/>
            <a:ext cx="4000500" cy="8769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Serial entrepreneur and pioneer of India's GCC ecosystem. 20+ years building businesses at the intersection of technology and enterprise transformation. Founded J2W, operating across 8 countries, 300+ GCCs, 5,200+ professionals. Forbes Japan featured. TiE Charter Member.</a:t>
            </a:r>
            <a:endParaRPr lang="en-US" sz="1000"/>
          </a:p>
        </p:txBody>
      </p:sp>
      <p:sp>
        <p:nvSpPr>
          <p:cNvPr id="24" name="Shape 20"/>
          <p:cNvSpPr/>
          <p:nvPr/>
        </p:nvSpPr>
        <p:spPr>
          <a:xfrm>
            <a:off x="7953451" y="1429207"/>
            <a:ext cx="761695" cy="761695"/>
          </a:xfrm>
          <a:prstGeom prst="ellipse">
            <a:avLst/>
          </a:prstGeom>
          <a:solidFill>
            <a:srgbClr val="F3F4F6"/>
          </a:solidFill>
          <a:ln w="254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1"/>
          <p:cNvSpPr/>
          <p:nvPr/>
        </p:nvSpPr>
        <p:spPr>
          <a:xfrm>
            <a:off x="7953451" y="1429207"/>
            <a:ext cx="762610" cy="7626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000" b="1">
                <a:solidFill>
                  <a:srgbClr val="9CA3A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Photo</a:t>
            </a:r>
            <a:endParaRPr lang="en-US" sz="1000"/>
          </a:p>
        </p:txBody>
      </p:sp>
      <p:sp>
        <p:nvSpPr>
          <p:cNvPr id="26" name="Text 22"/>
          <p:cNvSpPr txBox="1"/>
          <p:nvPr/>
        </p:nvSpPr>
        <p:spPr>
          <a:xfrm>
            <a:off x="7764170" y="2266798"/>
            <a:ext cx="1144829" cy="2862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>
                <a:solidFill>
                  <a:srgbClr val="11182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Priya Mohan</a:t>
            </a:r>
            <a:endParaRPr lang="en-US" sz="1500"/>
          </a:p>
        </p:txBody>
      </p:sp>
      <p:sp>
        <p:nvSpPr>
          <p:cNvPr id="27" name="Text 23"/>
          <p:cNvSpPr txBox="1"/>
          <p:nvPr/>
        </p:nvSpPr>
        <p:spPr>
          <a:xfrm>
            <a:off x="8214970" y="2572207"/>
            <a:ext cx="247802" cy="1435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49">
                <a:solidFill>
                  <a:srgbClr val="D62839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COO</a:t>
            </a:r>
            <a:endParaRPr lang="en-US" sz="900"/>
          </a:p>
        </p:txBody>
      </p:sp>
      <p:sp>
        <p:nvSpPr>
          <p:cNvPr id="28" name="Text 24"/>
          <p:cNvSpPr txBox="1"/>
          <p:nvPr/>
        </p:nvSpPr>
        <p:spPr>
          <a:xfrm>
            <a:off x="6334049" y="2790749"/>
            <a:ext cx="4000500" cy="6958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Seasoned operator, investor, and entrepreneur with 20+ years in venture capital and investment banking. Ex-General Catalyst &amp; Venture Highway. Co-founded Vidyartha, exited to BYJU'S. CA &amp; ISB alumna. Kamalnayan Bajaj Aspen Fellow.</a:t>
            </a:r>
            <a:endParaRPr lang="en-US" sz="1000"/>
          </a:p>
        </p:txBody>
      </p:sp>
      <p:sp>
        <p:nvSpPr>
          <p:cNvPr id="31" name="Text 27"/>
          <p:cNvSpPr txBox="1"/>
          <p:nvPr/>
        </p:nvSpPr>
        <p:spPr>
          <a:xfrm>
            <a:off x="1821485" y="5178349"/>
            <a:ext cx="1156716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300" b="1">
                <a:solidFill>
                  <a:srgbClr val="11182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Vineet Shukla</a:t>
            </a:r>
            <a:endParaRPr lang="en-US" sz="1300"/>
          </a:p>
        </p:txBody>
      </p:sp>
      <p:sp>
        <p:nvSpPr>
          <p:cNvPr id="32" name="Text 28"/>
          <p:cNvSpPr txBox="1"/>
          <p:nvPr/>
        </p:nvSpPr>
        <p:spPr>
          <a:xfrm>
            <a:off x="1503274" y="5445354"/>
            <a:ext cx="1791310" cy="1335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45">
                <a:solidFill>
                  <a:srgbClr val="2A9D8F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CHIEF TECHNOLOGY OFFICER</a:t>
            </a:r>
            <a:endParaRPr lang="en-US" sz="900"/>
          </a:p>
        </p:txBody>
      </p:sp>
      <p:sp>
        <p:nvSpPr>
          <p:cNvPr id="33" name="Text 29"/>
          <p:cNvSpPr txBox="1"/>
          <p:nvPr/>
        </p:nvSpPr>
        <p:spPr>
          <a:xfrm>
            <a:off x="904646" y="5688076"/>
            <a:ext cx="3286354" cy="4864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20+ years experience, 15 in financial services. AI, data science &amp; ML leader. Patent holder. Scales enterprise AI transformations. IIM Bangalore MBA.</a:t>
            </a:r>
            <a:endParaRPr lang="en-US" sz="900"/>
          </a:p>
        </p:txBody>
      </p:sp>
      <p:sp>
        <p:nvSpPr>
          <p:cNvPr id="34" name="Shape 30"/>
          <p:cNvSpPr/>
          <p:nvPr/>
        </p:nvSpPr>
        <p:spPr>
          <a:xfrm>
            <a:off x="5710428" y="4339844"/>
            <a:ext cx="761695" cy="761695"/>
          </a:xfrm>
          <a:prstGeom prst="ellipse">
            <a:avLst/>
          </a:prstGeom>
          <a:solidFill>
            <a:srgbClr val="F3F4F6"/>
          </a:solidFill>
          <a:ln w="254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1"/>
          <p:cNvSpPr/>
          <p:nvPr/>
        </p:nvSpPr>
        <p:spPr>
          <a:xfrm>
            <a:off x="5710428" y="4339844"/>
            <a:ext cx="762610" cy="7626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000" b="1">
                <a:solidFill>
                  <a:srgbClr val="9CA3A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Photo</a:t>
            </a:r>
            <a:endParaRPr lang="en-US" sz="1000"/>
          </a:p>
        </p:txBody>
      </p:sp>
      <p:sp>
        <p:nvSpPr>
          <p:cNvPr id="36" name="Text 32"/>
          <p:cNvSpPr txBox="1"/>
          <p:nvPr/>
        </p:nvSpPr>
        <p:spPr>
          <a:xfrm>
            <a:off x="5512003" y="5178349"/>
            <a:ext cx="1167689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300" b="1">
                <a:solidFill>
                  <a:srgbClr val="11182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Daniel Dsouza</a:t>
            </a:r>
            <a:endParaRPr lang="en-US" sz="1300"/>
          </a:p>
        </p:txBody>
      </p:sp>
      <p:sp>
        <p:nvSpPr>
          <p:cNvPr id="37" name="Text 33"/>
          <p:cNvSpPr txBox="1"/>
          <p:nvPr/>
        </p:nvSpPr>
        <p:spPr>
          <a:xfrm>
            <a:off x="4998110" y="5445354"/>
            <a:ext cx="2188159" cy="1335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45">
                <a:solidFill>
                  <a:srgbClr val="D62839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HEAD OF ARTIFICIAL INTELLIGENCE</a:t>
            </a:r>
            <a:endParaRPr lang="en-US" sz="900"/>
          </a:p>
        </p:txBody>
      </p:sp>
      <p:sp>
        <p:nvSpPr>
          <p:cNvPr id="38" name="Text 34"/>
          <p:cNvSpPr txBox="1"/>
          <p:nvPr/>
        </p:nvSpPr>
        <p:spPr>
          <a:xfrm>
            <a:off x="4600651" y="5688076"/>
            <a:ext cx="3286354" cy="4864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Enterprise AI transformation leader. INSEAD MBA. AWS Certified Architect &amp; PMP. Expertise in AI strategy, architecture and cross-geography team leadership.</a:t>
            </a:r>
            <a:endParaRPr lang="en-US" sz="900"/>
          </a:p>
        </p:txBody>
      </p:sp>
      <p:sp>
        <p:nvSpPr>
          <p:cNvPr id="39" name="Shape 35"/>
          <p:cNvSpPr/>
          <p:nvPr/>
        </p:nvSpPr>
        <p:spPr>
          <a:xfrm>
            <a:off x="9405518" y="4339844"/>
            <a:ext cx="761695" cy="761695"/>
          </a:xfrm>
          <a:prstGeom prst="ellipse">
            <a:avLst/>
          </a:prstGeom>
          <a:solidFill>
            <a:srgbClr val="F3F4F6"/>
          </a:solidFill>
          <a:ln w="254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Text 36"/>
          <p:cNvSpPr/>
          <p:nvPr/>
        </p:nvSpPr>
        <p:spPr>
          <a:xfrm>
            <a:off x="9405518" y="4339844"/>
            <a:ext cx="762610" cy="7626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000" b="1">
                <a:solidFill>
                  <a:srgbClr val="9CA3A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Photo</a:t>
            </a:r>
            <a:endParaRPr lang="en-US" sz="1000"/>
          </a:p>
        </p:txBody>
      </p:sp>
      <p:sp>
        <p:nvSpPr>
          <p:cNvPr id="41" name="Text 37"/>
          <p:cNvSpPr txBox="1"/>
          <p:nvPr/>
        </p:nvSpPr>
        <p:spPr>
          <a:xfrm>
            <a:off x="9322308" y="5178349"/>
            <a:ext cx="929945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300" b="1">
                <a:solidFill>
                  <a:srgbClr val="11182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Kunal Shah</a:t>
            </a:r>
            <a:endParaRPr lang="en-US" sz="1300"/>
          </a:p>
        </p:txBody>
      </p:sp>
      <p:sp>
        <p:nvSpPr>
          <p:cNvPr id="42" name="Text 38"/>
          <p:cNvSpPr txBox="1"/>
          <p:nvPr/>
        </p:nvSpPr>
        <p:spPr>
          <a:xfrm>
            <a:off x="8810244" y="5445354"/>
            <a:ext cx="1961388" cy="1335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45">
                <a:solidFill>
                  <a:srgbClr val="2A9D8F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HEAD - GLOBAL BFSI STRATEGY</a:t>
            </a:r>
            <a:endParaRPr lang="en-US" sz="900"/>
          </a:p>
        </p:txBody>
      </p:sp>
      <p:sp>
        <p:nvSpPr>
          <p:cNvPr id="43" name="Text 39"/>
          <p:cNvSpPr txBox="1"/>
          <p:nvPr/>
        </p:nvSpPr>
        <p:spPr>
          <a:xfrm>
            <a:off x="8295741" y="5644997"/>
            <a:ext cx="3146959" cy="648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Industry-recognized AI, data science &amp; ML leader. 20+ years in BFSI. Ex JP Morgan &amp; CLSA. Scales enterprise AI transformations. Drives measurable ROI for banks &amp; fintechs.</a:t>
            </a:r>
            <a:endParaRPr lang="en-US" sz="900"/>
          </a:p>
        </p:txBody>
      </p:sp>
      <p:pic>
        <p:nvPicPr>
          <p:cNvPr id="46" name="Image 4" descr="preencoded.png">
            <a:extLst>
              <a:ext uri="{FF2B5EF4-FFF2-40B4-BE49-F238E27FC236}">
                <a16:creationId xmlns:a16="http://schemas.microsoft.com/office/drawing/2014/main" id="{C6614DD8-D2D3-3E59-136C-61594D6E82DB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b="1042"/>
          <a:stretch/>
        </p:blipFill>
        <p:spPr>
          <a:xfrm>
            <a:off x="7895844" y="1398828"/>
            <a:ext cx="857707" cy="857707"/>
          </a:xfrm>
          <a:prstGeom prst="rect">
            <a:avLst/>
          </a:prstGeom>
        </p:spPr>
      </p:pic>
      <p:pic>
        <p:nvPicPr>
          <p:cNvPr id="48" name="Image 2" descr="preencoded.png">
            <a:extLst>
              <a:ext uri="{FF2B5EF4-FFF2-40B4-BE49-F238E27FC236}">
                <a16:creationId xmlns:a16="http://schemas.microsoft.com/office/drawing/2014/main" id="{3C07FD42-E1E3-E85C-D27C-13F1FA4C86FB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3472994" y="1429207"/>
            <a:ext cx="783996" cy="783996"/>
          </a:xfrm>
          <a:prstGeom prst="rect">
            <a:avLst/>
          </a:prstGeom>
        </p:spPr>
      </p:pic>
      <p:pic>
        <p:nvPicPr>
          <p:cNvPr id="49" name="Picture 48">
            <a:extLst>
              <a:ext uri="{FF2B5EF4-FFF2-40B4-BE49-F238E27FC236}">
                <a16:creationId xmlns:a16="http://schemas.microsoft.com/office/drawing/2014/main" id="{21381C72-F8AC-4843-BD6E-BF232846357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949958" y="4383736"/>
            <a:ext cx="761695" cy="761695"/>
          </a:xfrm>
          <a:prstGeom prst="ellipse">
            <a:avLst/>
          </a:prstGeom>
          <a:ln>
            <a:solidFill>
              <a:schemeClr val="bg2">
                <a:lumMod val="50000"/>
              </a:schemeClr>
            </a:solidFill>
          </a:ln>
        </p:spPr>
      </p:pic>
      <p:pic>
        <p:nvPicPr>
          <p:cNvPr id="51" name="Picture 50">
            <a:extLst>
              <a:ext uri="{FF2B5EF4-FFF2-40B4-BE49-F238E27FC236}">
                <a16:creationId xmlns:a16="http://schemas.microsoft.com/office/drawing/2014/main" id="{1E4787F7-0E35-B225-403B-21A9F0D68FCA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710428" y="4311358"/>
            <a:ext cx="791235" cy="791235"/>
          </a:xfrm>
          <a:prstGeom prst="ellipse">
            <a:avLst/>
          </a:prstGeom>
          <a:ln>
            <a:solidFill>
              <a:schemeClr val="bg2">
                <a:lumMod val="75000"/>
              </a:schemeClr>
            </a:solidFill>
          </a:ln>
        </p:spPr>
      </p:pic>
      <p:pic>
        <p:nvPicPr>
          <p:cNvPr id="52" name="Picture 51">
            <a:extLst>
              <a:ext uri="{FF2B5EF4-FFF2-40B4-BE49-F238E27FC236}">
                <a16:creationId xmlns:a16="http://schemas.microsoft.com/office/drawing/2014/main" id="{EFE56F8F-09ED-BCC5-7551-0F240ACC8FD8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408768" y="4336643"/>
            <a:ext cx="792836" cy="792836"/>
          </a:xfrm>
          <a:prstGeom prst="ellipse">
            <a:avLst/>
          </a:prstGeom>
          <a:ln>
            <a:solidFill>
              <a:schemeClr val="bg2">
                <a:lumMod val="7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215227022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64918E-CA58-E5F4-F9F4-9F82CB89CE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80EFF5F3-4DDA-24A6-E4D8-A4A3C70A9235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1E78A4C1-42F3-11EA-B71C-5C5DA0E2DB61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5EEB366C-A762-A317-6EC4-B4CB5906CB0C}"/>
              </a:ext>
            </a:extLst>
          </p:cNvPr>
          <p:cNvSpPr/>
          <p:nvPr/>
        </p:nvSpPr>
        <p:spPr>
          <a:xfrm>
            <a:off x="8667598" y="-761695"/>
            <a:ext cx="4286707" cy="4286707"/>
          </a:xfrm>
          <a:prstGeom prst="ellipse">
            <a:avLst/>
          </a:prstGeom>
          <a:solidFill>
            <a:srgbClr val="2A9D8F">
              <a:alpha val="3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5" name="Image 0" descr="gen-dedup-debd4e3596836e8640379be3057665ef.png">
            <a:extLst>
              <a:ext uri="{FF2B5EF4-FFF2-40B4-BE49-F238E27FC236}">
                <a16:creationId xmlns:a16="http://schemas.microsoft.com/office/drawing/2014/main" id="{1CB91D49-ED4B-44E1-D2BD-99A7301EF327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5000"/>
          </a:blip>
          <a:srcRect/>
          <a:stretch/>
        </p:blipFill>
        <p:spPr>
          <a:xfrm>
            <a:off x="-476402" y="3047695"/>
            <a:ext cx="2857500" cy="2857500"/>
          </a:xfrm>
          <a:prstGeom prst="rect">
            <a:avLst/>
          </a:prstGeom>
        </p:spPr>
      </p:pic>
      <p:pic>
        <p:nvPicPr>
          <p:cNvPr id="6" name="Image 1" descr="gen-dedup-ef527bea2207a14ec6e8d4c8ae9cdc45.png">
            <a:extLst>
              <a:ext uri="{FF2B5EF4-FFF2-40B4-BE49-F238E27FC236}">
                <a16:creationId xmlns:a16="http://schemas.microsoft.com/office/drawing/2014/main" id="{CFAD2321-944A-2D5D-9226-C340246D345F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-384" r="-384"/>
          <a:stretch/>
        </p:blipFill>
        <p:spPr>
          <a:xfrm>
            <a:off x="609905" y="457200"/>
            <a:ext cx="57607" cy="476402"/>
          </a:xfrm>
          <a:prstGeom prst="rect">
            <a:avLst/>
          </a:prstGeom>
        </p:spPr>
      </p:pic>
      <p:sp>
        <p:nvSpPr>
          <p:cNvPr id="11" name="Shape 7">
            <a:extLst>
              <a:ext uri="{FF2B5EF4-FFF2-40B4-BE49-F238E27FC236}">
                <a16:creationId xmlns:a16="http://schemas.microsoft.com/office/drawing/2014/main" id="{44747A4E-921A-5EDB-FAC9-CD0C2B5E6FE6}"/>
              </a:ext>
            </a:extLst>
          </p:cNvPr>
          <p:cNvSpPr/>
          <p:nvPr/>
        </p:nvSpPr>
        <p:spPr>
          <a:xfrm>
            <a:off x="609905" y="4095598"/>
            <a:ext cx="3590849" cy="2523744"/>
          </a:xfrm>
          <a:prstGeom prst="roundRect">
            <a:avLst>
              <a:gd name="adj" fmla="val 2188"/>
            </a:avLst>
          </a:prstGeom>
          <a:solidFill>
            <a:srgbClr val="FFFFFF"/>
          </a:solidFill>
          <a:ln w="12700">
            <a:solidFill>
              <a:srgbClr val="F3F4F6"/>
            </a:solidFill>
            <a:prstDash val="solid"/>
          </a:ln>
          <a:effectLst>
            <a:outerShdw blurRad="114300" dist="38100" dir="16200000" algn="bl" rotWithShape="0">
              <a:srgbClr val="000000">
                <a:alpha val="4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8">
            <a:extLst>
              <a:ext uri="{FF2B5EF4-FFF2-40B4-BE49-F238E27FC236}">
                <a16:creationId xmlns:a16="http://schemas.microsoft.com/office/drawing/2014/main" id="{62D325F3-E949-BD67-D77F-B841EA2FFC98}"/>
              </a:ext>
            </a:extLst>
          </p:cNvPr>
          <p:cNvSpPr/>
          <p:nvPr/>
        </p:nvSpPr>
        <p:spPr>
          <a:xfrm>
            <a:off x="609905" y="4095598"/>
            <a:ext cx="3590849" cy="38405"/>
          </a:xfrm>
          <a:prstGeom prst="roundRect">
            <a:avLst>
              <a:gd name="adj" fmla="val 143755"/>
            </a:avLst>
          </a:prstGeom>
          <a:solidFill>
            <a:srgbClr val="2A9D8F"/>
          </a:solidFill>
          <a:ln w="12700">
            <a:solidFill>
              <a:srgbClr val="2A9D8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9">
            <a:extLst>
              <a:ext uri="{FF2B5EF4-FFF2-40B4-BE49-F238E27FC236}">
                <a16:creationId xmlns:a16="http://schemas.microsoft.com/office/drawing/2014/main" id="{CF7BBC12-BA96-1390-E4D1-18008A972E35}"/>
              </a:ext>
            </a:extLst>
          </p:cNvPr>
          <p:cNvSpPr/>
          <p:nvPr/>
        </p:nvSpPr>
        <p:spPr>
          <a:xfrm>
            <a:off x="4304995" y="4095598"/>
            <a:ext cx="3590849" cy="2523744"/>
          </a:xfrm>
          <a:prstGeom prst="roundRect">
            <a:avLst>
              <a:gd name="adj" fmla="val 2188"/>
            </a:avLst>
          </a:prstGeom>
          <a:solidFill>
            <a:srgbClr val="FFFFFF"/>
          </a:solidFill>
          <a:ln w="12700">
            <a:solidFill>
              <a:srgbClr val="F3F4F6"/>
            </a:solidFill>
            <a:prstDash val="solid"/>
          </a:ln>
          <a:effectLst>
            <a:outerShdw blurRad="114300" dist="38100" dir="16200000" algn="bl" rotWithShape="0">
              <a:srgbClr val="000000">
                <a:alpha val="4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Shape 10">
            <a:extLst>
              <a:ext uri="{FF2B5EF4-FFF2-40B4-BE49-F238E27FC236}">
                <a16:creationId xmlns:a16="http://schemas.microsoft.com/office/drawing/2014/main" id="{B449B8BA-5A3A-4443-904B-545B45C085D1}"/>
              </a:ext>
            </a:extLst>
          </p:cNvPr>
          <p:cNvSpPr/>
          <p:nvPr/>
        </p:nvSpPr>
        <p:spPr>
          <a:xfrm>
            <a:off x="4304995" y="4095598"/>
            <a:ext cx="3590849" cy="38405"/>
          </a:xfrm>
          <a:prstGeom prst="roundRect">
            <a:avLst>
              <a:gd name="adj" fmla="val 143755"/>
            </a:avLst>
          </a:prstGeom>
          <a:solidFill>
            <a:srgbClr val="D62839"/>
          </a:solidFill>
          <a:ln w="12700">
            <a:solidFill>
              <a:srgbClr val="D62839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1">
            <a:extLst>
              <a:ext uri="{FF2B5EF4-FFF2-40B4-BE49-F238E27FC236}">
                <a16:creationId xmlns:a16="http://schemas.microsoft.com/office/drawing/2014/main" id="{020476DD-27A6-B949-7BAB-B7EDC28ED23E}"/>
              </a:ext>
            </a:extLst>
          </p:cNvPr>
          <p:cNvSpPr/>
          <p:nvPr/>
        </p:nvSpPr>
        <p:spPr>
          <a:xfrm>
            <a:off x="8001000" y="4095598"/>
            <a:ext cx="3590849" cy="2523744"/>
          </a:xfrm>
          <a:prstGeom prst="roundRect">
            <a:avLst>
              <a:gd name="adj" fmla="val 2188"/>
            </a:avLst>
          </a:prstGeom>
          <a:solidFill>
            <a:srgbClr val="FFFFFF"/>
          </a:solidFill>
          <a:ln w="12700">
            <a:solidFill>
              <a:srgbClr val="F3F4F6"/>
            </a:solidFill>
            <a:prstDash val="solid"/>
          </a:ln>
          <a:effectLst>
            <a:outerShdw blurRad="114300" dist="38100" dir="16200000" algn="bl" rotWithShape="0">
              <a:srgbClr val="000000">
                <a:alpha val="4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2">
            <a:extLst>
              <a:ext uri="{FF2B5EF4-FFF2-40B4-BE49-F238E27FC236}">
                <a16:creationId xmlns:a16="http://schemas.microsoft.com/office/drawing/2014/main" id="{1127C0E3-8A1A-1DCC-1A8D-1D4C70CB7928}"/>
              </a:ext>
            </a:extLst>
          </p:cNvPr>
          <p:cNvSpPr/>
          <p:nvPr/>
        </p:nvSpPr>
        <p:spPr>
          <a:xfrm>
            <a:off x="8001000" y="4095598"/>
            <a:ext cx="3590849" cy="38405"/>
          </a:xfrm>
          <a:prstGeom prst="roundRect">
            <a:avLst>
              <a:gd name="adj" fmla="val 143755"/>
            </a:avLst>
          </a:prstGeom>
          <a:solidFill>
            <a:srgbClr val="2A9D8F"/>
          </a:solidFill>
          <a:ln w="12700">
            <a:solidFill>
              <a:srgbClr val="2A9D8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>
            <a:extLst>
              <a:ext uri="{FF2B5EF4-FFF2-40B4-BE49-F238E27FC236}">
                <a16:creationId xmlns:a16="http://schemas.microsoft.com/office/drawing/2014/main" id="{E5123C06-1736-AA5E-4B57-DA609F852FBF}"/>
              </a:ext>
            </a:extLst>
          </p:cNvPr>
          <p:cNvSpPr txBox="1"/>
          <p:nvPr/>
        </p:nvSpPr>
        <p:spPr>
          <a:xfrm>
            <a:off x="819302" y="381305"/>
            <a:ext cx="10478110" cy="3621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500" b="1" kern="0" spc="-25">
                <a:solidFill>
                  <a:srgbClr val="11182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THE J2W SQUAD</a:t>
            </a:r>
          </a:p>
        </p:txBody>
      </p:sp>
      <p:sp>
        <p:nvSpPr>
          <p:cNvPr id="18" name="Text 14">
            <a:extLst>
              <a:ext uri="{FF2B5EF4-FFF2-40B4-BE49-F238E27FC236}">
                <a16:creationId xmlns:a16="http://schemas.microsoft.com/office/drawing/2014/main" id="{C0F8F398-50F2-62AE-E4A6-521DD9C62CAE}"/>
              </a:ext>
            </a:extLst>
          </p:cNvPr>
          <p:cNvSpPr txBox="1"/>
          <p:nvPr/>
        </p:nvSpPr>
        <p:spPr>
          <a:xfrm>
            <a:off x="819302" y="794614"/>
            <a:ext cx="10478110" cy="1810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60" dirty="0">
                <a:solidFill>
                  <a:srgbClr val="2A9D8F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Senior Leadership That Architects Every GCC We Build — From Category-creating Founders To Deep LLM And Aerospace Engineering Pedigree.</a:t>
            </a:r>
          </a:p>
        </p:txBody>
      </p:sp>
      <p:sp>
        <p:nvSpPr>
          <p:cNvPr id="36" name="Text 32">
            <a:extLst>
              <a:ext uri="{FF2B5EF4-FFF2-40B4-BE49-F238E27FC236}">
                <a16:creationId xmlns:a16="http://schemas.microsoft.com/office/drawing/2014/main" id="{167190F1-E999-2077-D39E-1D1D1144962B}"/>
              </a:ext>
            </a:extLst>
          </p:cNvPr>
          <p:cNvSpPr txBox="1"/>
          <p:nvPr/>
        </p:nvSpPr>
        <p:spPr>
          <a:xfrm>
            <a:off x="5512003" y="5203749"/>
            <a:ext cx="1167689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300" b="1">
                <a:solidFill>
                  <a:srgbClr val="11182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Deepak Desai</a:t>
            </a:r>
          </a:p>
        </p:txBody>
      </p:sp>
      <p:sp>
        <p:nvSpPr>
          <p:cNvPr id="37" name="Text 33">
            <a:extLst>
              <a:ext uri="{FF2B5EF4-FFF2-40B4-BE49-F238E27FC236}">
                <a16:creationId xmlns:a16="http://schemas.microsoft.com/office/drawing/2014/main" id="{8B384D12-7A64-640E-7F5B-8B89D4A842BE}"/>
              </a:ext>
            </a:extLst>
          </p:cNvPr>
          <p:cNvSpPr txBox="1"/>
          <p:nvPr/>
        </p:nvSpPr>
        <p:spPr>
          <a:xfrm>
            <a:off x="4998110" y="5483454"/>
            <a:ext cx="2188159" cy="1335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45">
                <a:solidFill>
                  <a:srgbClr val="D62839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TECHNOLOGY ADVISOR &amp; LLM SPECIALIST</a:t>
            </a:r>
          </a:p>
        </p:txBody>
      </p:sp>
      <p:sp>
        <p:nvSpPr>
          <p:cNvPr id="38" name="Text 34">
            <a:extLst>
              <a:ext uri="{FF2B5EF4-FFF2-40B4-BE49-F238E27FC236}">
                <a16:creationId xmlns:a16="http://schemas.microsoft.com/office/drawing/2014/main" id="{3D859B5E-A79A-62A8-39BA-AC8B1D8A7A5E}"/>
              </a:ext>
            </a:extLst>
          </p:cNvPr>
          <p:cNvSpPr txBox="1"/>
          <p:nvPr/>
        </p:nvSpPr>
        <p:spPr>
          <a:xfrm>
            <a:off x="4600651" y="5688076"/>
            <a:ext cx="3286354" cy="4864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Ex-IBM Senior Partner (APAC &amp; US). 30+ yrs; deep NLP, LLM &amp; GenAI </a:t>
            </a:r>
            <a:r>
              <a:rPr lang="en-US" sz="900" err="1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specialisation</a:t>
            </a:r>
            <a:r>
              <a:rPr lang="en-US" sz="90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.</a:t>
            </a:r>
          </a:p>
        </p:txBody>
      </p:sp>
      <p:sp>
        <p:nvSpPr>
          <p:cNvPr id="41" name="Text 37">
            <a:extLst>
              <a:ext uri="{FF2B5EF4-FFF2-40B4-BE49-F238E27FC236}">
                <a16:creationId xmlns:a16="http://schemas.microsoft.com/office/drawing/2014/main" id="{E9E23B86-AFDA-FBE0-A66D-169B980A5221}"/>
              </a:ext>
            </a:extLst>
          </p:cNvPr>
          <p:cNvSpPr txBox="1"/>
          <p:nvPr/>
        </p:nvSpPr>
        <p:spPr>
          <a:xfrm>
            <a:off x="9369908" y="5241849"/>
            <a:ext cx="929945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300" b="1">
                <a:solidFill>
                  <a:srgbClr val="11182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Alok Raj</a:t>
            </a:r>
          </a:p>
        </p:txBody>
      </p:sp>
      <p:sp>
        <p:nvSpPr>
          <p:cNvPr id="42" name="Text 38">
            <a:extLst>
              <a:ext uri="{FF2B5EF4-FFF2-40B4-BE49-F238E27FC236}">
                <a16:creationId xmlns:a16="http://schemas.microsoft.com/office/drawing/2014/main" id="{EB1414D0-7C7E-984D-8097-5F5882853D37}"/>
              </a:ext>
            </a:extLst>
          </p:cNvPr>
          <p:cNvSpPr txBox="1"/>
          <p:nvPr/>
        </p:nvSpPr>
        <p:spPr>
          <a:xfrm>
            <a:off x="8857844" y="5521554"/>
            <a:ext cx="1961388" cy="1335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45">
                <a:solidFill>
                  <a:srgbClr val="2A9D8F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HEAD — TECH ASSESSMENTS &amp; AI ENGINEERING</a:t>
            </a:r>
          </a:p>
        </p:txBody>
      </p:sp>
      <p:sp>
        <p:nvSpPr>
          <p:cNvPr id="43" name="Text 39">
            <a:extLst>
              <a:ext uri="{FF2B5EF4-FFF2-40B4-BE49-F238E27FC236}">
                <a16:creationId xmlns:a16="http://schemas.microsoft.com/office/drawing/2014/main" id="{F00AEF2F-F343-5140-DAE4-D166B891E453}"/>
              </a:ext>
            </a:extLst>
          </p:cNvPr>
          <p:cNvSpPr txBox="1"/>
          <p:nvPr/>
        </p:nvSpPr>
        <p:spPr>
          <a:xfrm>
            <a:off x="8295741" y="5634075"/>
            <a:ext cx="3146959" cy="648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Ex-Airbus. Leads technical screening, upskilling &amp; AI platform work.</a:t>
            </a:r>
          </a:p>
        </p:txBody>
      </p:sp>
      <p:sp>
        <p:nvSpPr>
          <p:cNvPr id="29" name="Shape 7">
            <a:extLst>
              <a:ext uri="{FF2B5EF4-FFF2-40B4-BE49-F238E27FC236}">
                <a16:creationId xmlns:a16="http://schemas.microsoft.com/office/drawing/2014/main" id="{E2F5F6E6-811A-BEBD-EA4F-AB0A72E09B96}"/>
              </a:ext>
            </a:extLst>
          </p:cNvPr>
          <p:cNvSpPr/>
          <p:nvPr/>
        </p:nvSpPr>
        <p:spPr>
          <a:xfrm>
            <a:off x="609905" y="1351230"/>
            <a:ext cx="3590849" cy="2523744"/>
          </a:xfrm>
          <a:prstGeom prst="roundRect">
            <a:avLst>
              <a:gd name="adj" fmla="val 2188"/>
            </a:avLst>
          </a:prstGeom>
          <a:solidFill>
            <a:srgbClr val="FFFFFF"/>
          </a:solidFill>
          <a:ln w="12700">
            <a:solidFill>
              <a:srgbClr val="F3F4F6"/>
            </a:solidFill>
            <a:prstDash val="solid"/>
          </a:ln>
          <a:effectLst>
            <a:outerShdw blurRad="114300" dist="38100" dir="16200000" algn="bl" rotWithShape="0">
              <a:srgbClr val="000000">
                <a:alpha val="4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0" name="Shape 8">
            <a:extLst>
              <a:ext uri="{FF2B5EF4-FFF2-40B4-BE49-F238E27FC236}">
                <a16:creationId xmlns:a16="http://schemas.microsoft.com/office/drawing/2014/main" id="{E8E625C5-6C60-4C0D-D5E0-531142AB8043}"/>
              </a:ext>
            </a:extLst>
          </p:cNvPr>
          <p:cNvSpPr/>
          <p:nvPr/>
        </p:nvSpPr>
        <p:spPr>
          <a:xfrm>
            <a:off x="609905" y="1351230"/>
            <a:ext cx="3590849" cy="38405"/>
          </a:xfrm>
          <a:prstGeom prst="roundRect">
            <a:avLst>
              <a:gd name="adj" fmla="val 143755"/>
            </a:avLst>
          </a:prstGeom>
          <a:solidFill>
            <a:srgbClr val="2A9D8F"/>
          </a:solidFill>
          <a:ln w="12700">
            <a:solidFill>
              <a:srgbClr val="2A9D8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" name="Shape 9">
            <a:extLst>
              <a:ext uri="{FF2B5EF4-FFF2-40B4-BE49-F238E27FC236}">
                <a16:creationId xmlns:a16="http://schemas.microsoft.com/office/drawing/2014/main" id="{BC0FA406-4AA6-F67C-DDFE-B58975E86601}"/>
              </a:ext>
            </a:extLst>
          </p:cNvPr>
          <p:cNvSpPr/>
          <p:nvPr/>
        </p:nvSpPr>
        <p:spPr>
          <a:xfrm>
            <a:off x="4304995" y="1351230"/>
            <a:ext cx="3590849" cy="2523744"/>
          </a:xfrm>
          <a:prstGeom prst="roundRect">
            <a:avLst>
              <a:gd name="adj" fmla="val 2188"/>
            </a:avLst>
          </a:prstGeom>
          <a:solidFill>
            <a:srgbClr val="FFFFFF"/>
          </a:solidFill>
          <a:ln w="12700">
            <a:solidFill>
              <a:srgbClr val="F3F4F6"/>
            </a:solidFill>
            <a:prstDash val="solid"/>
          </a:ln>
          <a:effectLst>
            <a:outerShdw blurRad="114300" dist="38100" dir="16200000" algn="bl" rotWithShape="0">
              <a:srgbClr val="000000">
                <a:alpha val="4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5" name="Shape 10">
            <a:extLst>
              <a:ext uri="{FF2B5EF4-FFF2-40B4-BE49-F238E27FC236}">
                <a16:creationId xmlns:a16="http://schemas.microsoft.com/office/drawing/2014/main" id="{3A05880F-C31C-8F78-1AAB-02143D86C584}"/>
              </a:ext>
            </a:extLst>
          </p:cNvPr>
          <p:cNvSpPr/>
          <p:nvPr/>
        </p:nvSpPr>
        <p:spPr>
          <a:xfrm>
            <a:off x="4304995" y="1351230"/>
            <a:ext cx="3590849" cy="38405"/>
          </a:xfrm>
          <a:prstGeom prst="roundRect">
            <a:avLst>
              <a:gd name="adj" fmla="val 143755"/>
            </a:avLst>
          </a:prstGeom>
          <a:solidFill>
            <a:srgbClr val="D62839"/>
          </a:solidFill>
          <a:ln w="12700">
            <a:solidFill>
              <a:srgbClr val="D62839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" name="Shape 11">
            <a:extLst>
              <a:ext uri="{FF2B5EF4-FFF2-40B4-BE49-F238E27FC236}">
                <a16:creationId xmlns:a16="http://schemas.microsoft.com/office/drawing/2014/main" id="{08B807FE-1B80-6A6E-1103-88480D41A8CB}"/>
              </a:ext>
            </a:extLst>
          </p:cNvPr>
          <p:cNvSpPr/>
          <p:nvPr/>
        </p:nvSpPr>
        <p:spPr>
          <a:xfrm>
            <a:off x="8001000" y="1351230"/>
            <a:ext cx="3590849" cy="2523744"/>
          </a:xfrm>
          <a:prstGeom prst="roundRect">
            <a:avLst>
              <a:gd name="adj" fmla="val 2188"/>
            </a:avLst>
          </a:prstGeom>
          <a:solidFill>
            <a:srgbClr val="FFFFFF"/>
          </a:solidFill>
          <a:ln w="12700">
            <a:solidFill>
              <a:srgbClr val="F3F4F6"/>
            </a:solidFill>
            <a:prstDash val="solid"/>
          </a:ln>
          <a:effectLst>
            <a:outerShdw blurRad="114300" dist="38100" dir="16200000" algn="bl" rotWithShape="0">
              <a:srgbClr val="000000">
                <a:alpha val="4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0" name="Shape 12">
            <a:extLst>
              <a:ext uri="{FF2B5EF4-FFF2-40B4-BE49-F238E27FC236}">
                <a16:creationId xmlns:a16="http://schemas.microsoft.com/office/drawing/2014/main" id="{46EF62F7-B6FE-4656-C8B8-B8BB21513E63}"/>
              </a:ext>
            </a:extLst>
          </p:cNvPr>
          <p:cNvSpPr/>
          <p:nvPr/>
        </p:nvSpPr>
        <p:spPr>
          <a:xfrm>
            <a:off x="8001000" y="1351230"/>
            <a:ext cx="3590849" cy="38405"/>
          </a:xfrm>
          <a:prstGeom prst="roundRect">
            <a:avLst>
              <a:gd name="adj" fmla="val 143755"/>
            </a:avLst>
          </a:prstGeom>
          <a:solidFill>
            <a:srgbClr val="2A9D8F"/>
          </a:solidFill>
          <a:ln w="12700">
            <a:solidFill>
              <a:srgbClr val="2A9D8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3" name="Text 27">
            <a:extLst>
              <a:ext uri="{FF2B5EF4-FFF2-40B4-BE49-F238E27FC236}">
                <a16:creationId xmlns:a16="http://schemas.microsoft.com/office/drawing/2014/main" id="{09B7B038-1011-2FD6-B6CF-97CD0771FA43}"/>
              </a:ext>
            </a:extLst>
          </p:cNvPr>
          <p:cNvSpPr txBox="1"/>
          <p:nvPr/>
        </p:nvSpPr>
        <p:spPr>
          <a:xfrm>
            <a:off x="1821485" y="2433981"/>
            <a:ext cx="1156716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300" b="1">
                <a:solidFill>
                  <a:srgbClr val="11182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Priti Sawant</a:t>
            </a:r>
          </a:p>
        </p:txBody>
      </p:sp>
      <p:sp>
        <p:nvSpPr>
          <p:cNvPr id="54" name="Text 28">
            <a:extLst>
              <a:ext uri="{FF2B5EF4-FFF2-40B4-BE49-F238E27FC236}">
                <a16:creationId xmlns:a16="http://schemas.microsoft.com/office/drawing/2014/main" id="{7113E0F9-68A9-7E68-2727-3FBEDDAB0956}"/>
              </a:ext>
            </a:extLst>
          </p:cNvPr>
          <p:cNvSpPr txBox="1"/>
          <p:nvPr/>
        </p:nvSpPr>
        <p:spPr>
          <a:xfrm>
            <a:off x="1503274" y="2700986"/>
            <a:ext cx="1791310" cy="1335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45">
                <a:solidFill>
                  <a:srgbClr val="2A9D8F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FOUNDER &amp; CEO</a:t>
            </a:r>
          </a:p>
        </p:txBody>
      </p:sp>
      <p:sp>
        <p:nvSpPr>
          <p:cNvPr id="55" name="Text 29">
            <a:extLst>
              <a:ext uri="{FF2B5EF4-FFF2-40B4-BE49-F238E27FC236}">
                <a16:creationId xmlns:a16="http://schemas.microsoft.com/office/drawing/2014/main" id="{48BE7424-2C1C-ABB5-7637-F221420FFB43}"/>
              </a:ext>
            </a:extLst>
          </p:cNvPr>
          <p:cNvSpPr txBox="1"/>
          <p:nvPr/>
        </p:nvSpPr>
        <p:spPr>
          <a:xfrm>
            <a:off x="904646" y="2943708"/>
            <a:ext cx="3286354" cy="4864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Pioneer of India's GCC ecosystem; built &amp; </a:t>
            </a:r>
            <a:r>
              <a:rPr lang="en-US" sz="900" err="1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IPO'd</a:t>
            </a:r>
            <a:r>
              <a:rPr lang="en-US" sz="90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India's first GCC-focused model. 20+ yrs · Forbes Japan.</a:t>
            </a:r>
          </a:p>
        </p:txBody>
      </p:sp>
      <p:sp>
        <p:nvSpPr>
          <p:cNvPr id="58" name="Text 32">
            <a:extLst>
              <a:ext uri="{FF2B5EF4-FFF2-40B4-BE49-F238E27FC236}">
                <a16:creationId xmlns:a16="http://schemas.microsoft.com/office/drawing/2014/main" id="{D6A207EA-7DC5-1085-2F92-ECCBA22ABD4C}"/>
              </a:ext>
            </a:extLst>
          </p:cNvPr>
          <p:cNvSpPr txBox="1"/>
          <p:nvPr/>
        </p:nvSpPr>
        <p:spPr>
          <a:xfrm>
            <a:off x="5512003" y="2433981"/>
            <a:ext cx="1167689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300" b="1">
                <a:solidFill>
                  <a:srgbClr val="11182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Priya Mohan</a:t>
            </a:r>
          </a:p>
        </p:txBody>
      </p:sp>
      <p:sp>
        <p:nvSpPr>
          <p:cNvPr id="59" name="Text 33">
            <a:extLst>
              <a:ext uri="{FF2B5EF4-FFF2-40B4-BE49-F238E27FC236}">
                <a16:creationId xmlns:a16="http://schemas.microsoft.com/office/drawing/2014/main" id="{A8488A79-ED28-6B95-20FA-980EF1D07CF8}"/>
              </a:ext>
            </a:extLst>
          </p:cNvPr>
          <p:cNvSpPr txBox="1"/>
          <p:nvPr/>
        </p:nvSpPr>
        <p:spPr>
          <a:xfrm>
            <a:off x="4998110" y="2700986"/>
            <a:ext cx="2188159" cy="1335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45">
                <a:solidFill>
                  <a:srgbClr val="D62839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COO</a:t>
            </a:r>
          </a:p>
        </p:txBody>
      </p:sp>
      <p:sp>
        <p:nvSpPr>
          <p:cNvPr id="60" name="Text 34">
            <a:extLst>
              <a:ext uri="{FF2B5EF4-FFF2-40B4-BE49-F238E27FC236}">
                <a16:creationId xmlns:a16="http://schemas.microsoft.com/office/drawing/2014/main" id="{B7486E20-6348-0E06-FAD5-6B07D847F523}"/>
              </a:ext>
            </a:extLst>
          </p:cNvPr>
          <p:cNvSpPr txBox="1"/>
          <p:nvPr/>
        </p:nvSpPr>
        <p:spPr>
          <a:xfrm>
            <a:off x="4600651" y="2943708"/>
            <a:ext cx="3286354" cy="4864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Ex-General Catalyst Partner &amp; Venture Highway MP. CA + ISB. Leads the full AI implementation lifecycle.</a:t>
            </a:r>
          </a:p>
        </p:txBody>
      </p:sp>
      <p:sp>
        <p:nvSpPr>
          <p:cNvPr id="70" name="Text 17">
            <a:extLst>
              <a:ext uri="{FF2B5EF4-FFF2-40B4-BE49-F238E27FC236}">
                <a16:creationId xmlns:a16="http://schemas.microsoft.com/office/drawing/2014/main" id="{1FB4B21B-03F9-D4C5-6FB9-8113E17E8C4F}"/>
              </a:ext>
            </a:extLst>
          </p:cNvPr>
          <p:cNvSpPr txBox="1"/>
          <p:nvPr/>
        </p:nvSpPr>
        <p:spPr>
          <a:xfrm>
            <a:off x="3153308" y="2381404"/>
            <a:ext cx="1133856" cy="2862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endParaRPr lang="en-US" sz="1500"/>
          </a:p>
        </p:txBody>
      </p:sp>
      <p:sp>
        <p:nvSpPr>
          <p:cNvPr id="72" name="Text 18">
            <a:extLst>
              <a:ext uri="{FF2B5EF4-FFF2-40B4-BE49-F238E27FC236}">
                <a16:creationId xmlns:a16="http://schemas.microsoft.com/office/drawing/2014/main" id="{9FDC9E99-482C-3F4A-E3D9-BB9B4D52CF45}"/>
              </a:ext>
            </a:extLst>
          </p:cNvPr>
          <p:cNvSpPr txBox="1"/>
          <p:nvPr/>
        </p:nvSpPr>
        <p:spPr>
          <a:xfrm>
            <a:off x="3113075" y="2686813"/>
            <a:ext cx="1207008" cy="1435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endParaRPr lang="en-US" sz="900"/>
          </a:p>
        </p:txBody>
      </p:sp>
      <p:pic>
        <p:nvPicPr>
          <p:cNvPr id="78" name="Image 4" descr="preencoded.png">
            <a:extLst>
              <a:ext uri="{FF2B5EF4-FFF2-40B4-BE49-F238E27FC236}">
                <a16:creationId xmlns:a16="http://schemas.microsoft.com/office/drawing/2014/main" id="{A2ED01AD-6CA0-176F-9158-B666E1FEF16C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b="1042"/>
          <a:stretch/>
        </p:blipFill>
        <p:spPr>
          <a:xfrm>
            <a:off x="5643956" y="1498143"/>
            <a:ext cx="857707" cy="857707"/>
          </a:xfrm>
          <a:prstGeom prst="rect">
            <a:avLst/>
          </a:prstGeom>
        </p:spPr>
      </p:pic>
      <p:pic>
        <p:nvPicPr>
          <p:cNvPr id="80" name="Image 2" descr="preencoded.png">
            <a:extLst>
              <a:ext uri="{FF2B5EF4-FFF2-40B4-BE49-F238E27FC236}">
                <a16:creationId xmlns:a16="http://schemas.microsoft.com/office/drawing/2014/main" id="{76AF17EC-A631-46EC-EE69-CA4956C54455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1989100" y="1540410"/>
            <a:ext cx="783996" cy="783996"/>
          </a:xfrm>
          <a:prstGeom prst="rect">
            <a:avLst/>
          </a:prstGeom>
        </p:spPr>
      </p:pic>
      <p:sp>
        <p:nvSpPr>
          <p:cNvPr id="81" name="Text 27">
            <a:extLst>
              <a:ext uri="{FF2B5EF4-FFF2-40B4-BE49-F238E27FC236}">
                <a16:creationId xmlns:a16="http://schemas.microsoft.com/office/drawing/2014/main" id="{B381CD11-E268-2372-4D99-32B247B0C995}"/>
              </a:ext>
            </a:extLst>
          </p:cNvPr>
          <p:cNvSpPr txBox="1"/>
          <p:nvPr/>
        </p:nvSpPr>
        <p:spPr>
          <a:xfrm>
            <a:off x="9240521" y="2460703"/>
            <a:ext cx="1156716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300" b="1">
                <a:solidFill>
                  <a:srgbClr val="11182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Vineet Shukla</a:t>
            </a:r>
            <a:endParaRPr lang="en-US" sz="1300"/>
          </a:p>
        </p:txBody>
      </p:sp>
      <p:sp>
        <p:nvSpPr>
          <p:cNvPr id="82" name="Text 28">
            <a:extLst>
              <a:ext uri="{FF2B5EF4-FFF2-40B4-BE49-F238E27FC236}">
                <a16:creationId xmlns:a16="http://schemas.microsoft.com/office/drawing/2014/main" id="{5E7655ED-600E-B7B1-5E25-9C0CD529FC89}"/>
              </a:ext>
            </a:extLst>
          </p:cNvPr>
          <p:cNvSpPr txBox="1"/>
          <p:nvPr/>
        </p:nvSpPr>
        <p:spPr>
          <a:xfrm>
            <a:off x="8923224" y="2727708"/>
            <a:ext cx="1791310" cy="1335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45">
                <a:solidFill>
                  <a:srgbClr val="2A9D8F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CHIEF TECHNOLOGY OFFICER</a:t>
            </a:r>
            <a:endParaRPr lang="en-US" sz="900"/>
          </a:p>
        </p:txBody>
      </p:sp>
      <p:sp>
        <p:nvSpPr>
          <p:cNvPr id="83" name="Text 29">
            <a:extLst>
              <a:ext uri="{FF2B5EF4-FFF2-40B4-BE49-F238E27FC236}">
                <a16:creationId xmlns:a16="http://schemas.microsoft.com/office/drawing/2014/main" id="{65C84447-29D7-83F1-7E2D-21FC86F81B79}"/>
              </a:ext>
            </a:extLst>
          </p:cNvPr>
          <p:cNvSpPr txBox="1"/>
          <p:nvPr/>
        </p:nvSpPr>
        <p:spPr>
          <a:xfrm>
            <a:off x="8324596" y="2970430"/>
            <a:ext cx="3286354" cy="4864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20+ yrs scaling AI/ML at enterprise scale; built UnitedHealth Group's AI/ML practice ground-up.</a:t>
            </a:r>
          </a:p>
        </p:txBody>
      </p:sp>
      <p:pic>
        <p:nvPicPr>
          <p:cNvPr id="84" name="Picture 83">
            <a:extLst>
              <a:ext uri="{FF2B5EF4-FFF2-40B4-BE49-F238E27FC236}">
                <a16:creationId xmlns:a16="http://schemas.microsoft.com/office/drawing/2014/main" id="{51689ACD-6133-3D2C-FB65-00805A1BA9B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369908" y="1565302"/>
            <a:ext cx="797305" cy="797305"/>
          </a:xfrm>
          <a:prstGeom prst="ellipse">
            <a:avLst/>
          </a:prstGeom>
          <a:ln>
            <a:solidFill>
              <a:schemeClr val="bg2">
                <a:lumMod val="50000"/>
              </a:schemeClr>
            </a:solidFill>
          </a:ln>
        </p:spPr>
      </p:pic>
      <p:sp>
        <p:nvSpPr>
          <p:cNvPr id="85" name="Text 32">
            <a:extLst>
              <a:ext uri="{FF2B5EF4-FFF2-40B4-BE49-F238E27FC236}">
                <a16:creationId xmlns:a16="http://schemas.microsoft.com/office/drawing/2014/main" id="{3D99FB26-2BB6-A39C-43E5-EBC5369FDE30}"/>
              </a:ext>
            </a:extLst>
          </p:cNvPr>
          <p:cNvSpPr txBox="1"/>
          <p:nvPr/>
        </p:nvSpPr>
        <p:spPr>
          <a:xfrm>
            <a:off x="1661923" y="5203228"/>
            <a:ext cx="1167689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300" b="1">
                <a:solidFill>
                  <a:srgbClr val="11182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Daniel Dsouza</a:t>
            </a:r>
            <a:endParaRPr lang="en-US" sz="1300"/>
          </a:p>
        </p:txBody>
      </p:sp>
      <p:sp>
        <p:nvSpPr>
          <p:cNvPr id="86" name="Text 33">
            <a:extLst>
              <a:ext uri="{FF2B5EF4-FFF2-40B4-BE49-F238E27FC236}">
                <a16:creationId xmlns:a16="http://schemas.microsoft.com/office/drawing/2014/main" id="{D659C513-FD23-4690-80EB-2002DECA9008}"/>
              </a:ext>
            </a:extLst>
          </p:cNvPr>
          <p:cNvSpPr txBox="1"/>
          <p:nvPr/>
        </p:nvSpPr>
        <p:spPr>
          <a:xfrm>
            <a:off x="1148030" y="5470233"/>
            <a:ext cx="2188159" cy="1335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45">
                <a:solidFill>
                  <a:srgbClr val="2A9D8F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HEAD OF ARTIFICIAL INTELLIGENCE</a:t>
            </a:r>
            <a:endParaRPr lang="en-US" sz="900">
              <a:solidFill>
                <a:srgbClr val="2A9D8F"/>
              </a:solidFill>
            </a:endParaRPr>
          </a:p>
        </p:txBody>
      </p:sp>
      <p:sp>
        <p:nvSpPr>
          <p:cNvPr id="87" name="Text 34">
            <a:extLst>
              <a:ext uri="{FF2B5EF4-FFF2-40B4-BE49-F238E27FC236}">
                <a16:creationId xmlns:a16="http://schemas.microsoft.com/office/drawing/2014/main" id="{79B11D3C-42A6-79D9-601B-161AC7C56371}"/>
              </a:ext>
            </a:extLst>
          </p:cNvPr>
          <p:cNvSpPr txBox="1"/>
          <p:nvPr/>
        </p:nvSpPr>
        <p:spPr>
          <a:xfrm>
            <a:off x="750571" y="5712955"/>
            <a:ext cx="3286354" cy="4864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Enterprise AI strategy &amp; LLM deployment. Owns GCC AI accelerators. INSEAD.</a:t>
            </a:r>
          </a:p>
        </p:txBody>
      </p:sp>
      <p:pic>
        <p:nvPicPr>
          <p:cNvPr id="88" name="Picture 87">
            <a:extLst>
              <a:ext uri="{FF2B5EF4-FFF2-40B4-BE49-F238E27FC236}">
                <a16:creationId xmlns:a16="http://schemas.microsoft.com/office/drawing/2014/main" id="{8A886F30-D801-727B-D49A-08BE134763BC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860348" y="4336237"/>
            <a:ext cx="791235" cy="791235"/>
          </a:xfrm>
          <a:prstGeom prst="ellipse">
            <a:avLst/>
          </a:prstGeom>
          <a:ln>
            <a:solidFill>
              <a:schemeClr val="bg2">
                <a:lumMod val="75000"/>
              </a:schemeClr>
            </a:solidFill>
          </a:ln>
        </p:spPr>
      </p:pic>
      <p:pic>
        <p:nvPicPr>
          <p:cNvPr id="89" name="Picture 88">
            <a:extLst>
              <a:ext uri="{FF2B5EF4-FFF2-40B4-BE49-F238E27FC236}">
                <a16:creationId xmlns:a16="http://schemas.microsoft.com/office/drawing/2014/main" id="{7FE7B978-BC8D-A9AE-DDD9-3536B965D593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496742" y="4308997"/>
            <a:ext cx="834910" cy="834910"/>
          </a:xfrm>
          <a:prstGeom prst="ellipse">
            <a:avLst/>
          </a:prstGeom>
          <a:ln>
            <a:solidFill>
              <a:schemeClr val="bg2">
                <a:lumMod val="75000"/>
              </a:schemeClr>
            </a:solidFill>
          </a:ln>
        </p:spPr>
      </p:pic>
      <p:pic>
        <p:nvPicPr>
          <p:cNvPr id="90" name="Picture 89">
            <a:extLst>
              <a:ext uri="{FF2B5EF4-FFF2-40B4-BE49-F238E27FC236}">
                <a16:creationId xmlns:a16="http://schemas.microsoft.com/office/drawing/2014/main" id="{B07CD8E2-0147-7DFF-D0E3-F8BDD9DC4480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693619" y="4336236"/>
            <a:ext cx="835609" cy="835609"/>
          </a:xfrm>
          <a:prstGeom prst="ellipse">
            <a:avLst/>
          </a:prstGeom>
          <a:ln>
            <a:solidFill>
              <a:schemeClr val="bg2">
                <a:lumMod val="7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400846382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4" name="Image 0" descr="gen-dedup-cad3a534ee2971c6a497c9faf59fb5cd.png"/>
          <p:cNvPicPr>
            <a:picLocks noChangeAspect="1"/>
          </p:cNvPicPr>
          <p:nvPr/>
        </p:nvPicPr>
        <p:blipFill>
          <a:blip r:embed="rId3"/>
          <a:srcRect l="-202" r="-202"/>
          <a:stretch/>
        </p:blipFill>
        <p:spPr>
          <a:xfrm>
            <a:off x="0" y="0"/>
            <a:ext cx="8128102" cy="75895"/>
          </a:xfrm>
          <a:prstGeom prst="rect">
            <a:avLst/>
          </a:prstGeom>
        </p:spPr>
      </p:pic>
      <p:pic>
        <p:nvPicPr>
          <p:cNvPr id="5" name="Image 1" descr="gen-dedup-64882feb7a832238af77b962fc7a8538.png"/>
          <p:cNvPicPr>
            <a:picLocks noChangeAspect="1"/>
          </p:cNvPicPr>
          <p:nvPr/>
        </p:nvPicPr>
        <p:blipFill>
          <a:blip r:embed="rId4"/>
          <a:srcRect l="-197" r="-197"/>
          <a:stretch/>
        </p:blipFill>
        <p:spPr>
          <a:xfrm>
            <a:off x="8128102" y="0"/>
            <a:ext cx="4063594" cy="75895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9905695" y="-571500"/>
            <a:ext cx="2857500" cy="2857500"/>
          </a:xfrm>
          <a:prstGeom prst="ellipse">
            <a:avLst/>
          </a:prstGeom>
          <a:solidFill>
            <a:srgbClr val="2A9D8F">
              <a:alpha val="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7" name="Image 2" descr="gen-dedup-6da70c599291e253314366a10c094ffa.png"/>
          <p:cNvPicPr>
            <a:picLocks noChangeAspect="1"/>
          </p:cNvPicPr>
          <p:nvPr/>
        </p:nvPicPr>
        <p:blipFill>
          <a:blip r:embed="rId5">
            <a:alphaModFix amt="15000"/>
          </a:blip>
          <a:srcRect/>
          <a:stretch/>
        </p:blipFill>
        <p:spPr>
          <a:xfrm>
            <a:off x="381305" y="1143000"/>
            <a:ext cx="1429207" cy="1429207"/>
          </a:xfrm>
          <a:prstGeom prst="rect">
            <a:avLst/>
          </a:prstGeom>
        </p:spPr>
      </p:pic>
      <p:pic>
        <p:nvPicPr>
          <p:cNvPr id="8" name="Image 3" descr="gen-dedup-b81d2082573e6d8de64df87af639bbf0.png"/>
          <p:cNvPicPr>
            <a:picLocks noChangeAspect="1"/>
          </p:cNvPicPr>
          <p:nvPr/>
        </p:nvPicPr>
        <p:blipFill>
          <a:blip r:embed="rId6"/>
          <a:srcRect l="-360" r="-360"/>
          <a:stretch/>
        </p:blipFill>
        <p:spPr>
          <a:xfrm>
            <a:off x="609905" y="533095"/>
            <a:ext cx="57607" cy="381305"/>
          </a:xfrm>
          <a:prstGeom prst="rect">
            <a:avLst/>
          </a:prstGeom>
        </p:spPr>
      </p:pic>
      <p:sp>
        <p:nvSpPr>
          <p:cNvPr id="9" name="Text 3"/>
          <p:cNvSpPr txBox="1"/>
          <p:nvPr/>
        </p:nvSpPr>
        <p:spPr>
          <a:xfrm>
            <a:off x="819302" y="381305"/>
            <a:ext cx="3871570" cy="381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700" b="1" kern="0" spc="-67" dirty="0">
                <a:solidFill>
                  <a:srgbClr val="11182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WHAT WE OFFER</a:t>
            </a:r>
            <a:endParaRPr lang="en-US" sz="2700" dirty="0"/>
          </a:p>
        </p:txBody>
      </p:sp>
      <p:sp>
        <p:nvSpPr>
          <p:cNvPr id="10" name="Text 4"/>
          <p:cNvSpPr txBox="1"/>
          <p:nvPr/>
        </p:nvSpPr>
        <p:spPr>
          <a:xfrm>
            <a:off x="819302" y="800100"/>
            <a:ext cx="4189781" cy="2670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kern="0" spc="75" dirty="0">
                <a:solidFill>
                  <a:srgbClr val="2A9D8F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Three Interlocking Revenue Engines</a:t>
            </a:r>
            <a:endParaRPr lang="en-US" sz="1500" dirty="0"/>
          </a:p>
        </p:txBody>
      </p:sp>
      <p:sp>
        <p:nvSpPr>
          <p:cNvPr id="11" name="Shape 5"/>
          <p:cNvSpPr/>
          <p:nvPr/>
        </p:nvSpPr>
        <p:spPr>
          <a:xfrm>
            <a:off x="609905" y="1524305"/>
            <a:ext cx="3333902" cy="4952390"/>
          </a:xfrm>
          <a:prstGeom prst="roundRect">
            <a:avLst>
              <a:gd name="adj" fmla="val 1254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63500" dist="381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12" name="Shape 6"/>
          <p:cNvSpPr/>
          <p:nvPr/>
        </p:nvSpPr>
        <p:spPr>
          <a:xfrm>
            <a:off x="619049" y="1533449"/>
            <a:ext cx="3314700" cy="1047902"/>
          </a:xfrm>
          <a:prstGeom prst="rect">
            <a:avLst/>
          </a:prstGeom>
          <a:solidFill>
            <a:srgbClr val="2A9D8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7"/>
          <p:cNvSpPr txBox="1"/>
          <p:nvPr/>
        </p:nvSpPr>
        <p:spPr>
          <a:xfrm>
            <a:off x="1411834" y="2033626"/>
            <a:ext cx="1734617" cy="2386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Workforce Solutions</a:t>
            </a:r>
            <a:endParaRPr lang="en-US" sz="1500" dirty="0"/>
          </a:p>
        </p:txBody>
      </p:sp>
      <p:sp>
        <p:nvSpPr>
          <p:cNvPr id="14" name="Text 8"/>
          <p:cNvSpPr txBox="1"/>
          <p:nvPr/>
        </p:nvSpPr>
        <p:spPr>
          <a:xfrm>
            <a:off x="819302" y="2691079"/>
            <a:ext cx="2934310" cy="30010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Domain-deep engineers - not generic coders</a:t>
            </a:r>
          </a:p>
          <a:p>
            <a:pPr algn="l"/>
            <a:endParaRPr lang="en-US" sz="1400" dirty="0">
              <a:solidFill>
                <a:srgbClr val="4B5563"/>
              </a:solidFill>
              <a:latin typeface="Raleway" pitchFamily="34" charset="0"/>
              <a:ea typeface="Raleway" pitchFamily="34" charset="-122"/>
              <a:cs typeface="Raleway" pitchFamily="34" charset="-120"/>
            </a:endParaRP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Verticals: IT and Cloud Computing · BFSI · more </a:t>
            </a:r>
          </a:p>
          <a:p>
            <a:pPr algn="l"/>
            <a:endParaRPr lang="en-US" sz="1400" dirty="0">
              <a:solidFill>
                <a:srgbClr val="4B5563"/>
              </a:solidFill>
              <a:latin typeface="Raleway" pitchFamily="34" charset="0"/>
              <a:ea typeface="Raleway" pitchFamily="34" charset="-122"/>
              <a:cs typeface="Raleway" pitchFamily="34" charset="-120"/>
            </a:endParaRP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Deployed in 10 days or less </a:t>
            </a:r>
          </a:p>
          <a:p>
            <a:pPr marL="171450" indent="-171450" algn="l">
              <a:buFont typeface="Arial" panose="020B0604020202020204" pitchFamily="34" charset="0"/>
              <a:buChar char="•"/>
            </a:pPr>
            <a:endParaRPr lang="en-US" sz="1400" dirty="0">
              <a:solidFill>
                <a:srgbClr val="4B5563"/>
              </a:solidFill>
              <a:latin typeface="Raleway" pitchFamily="34" charset="0"/>
              <a:ea typeface="Raleway" pitchFamily="34" charset="-122"/>
              <a:cs typeface="Raleway" pitchFamily="34" charset="-120"/>
            </a:endParaRP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Pod governance + sprint accountability</a:t>
            </a:r>
          </a:p>
          <a:p>
            <a:pPr algn="l"/>
            <a:endParaRPr lang="en-US" sz="1400" dirty="0">
              <a:solidFill>
                <a:srgbClr val="4B5563"/>
              </a:solidFill>
              <a:latin typeface="Raleway" pitchFamily="34" charset="0"/>
              <a:ea typeface="Raleway" pitchFamily="34" charset="-122"/>
              <a:cs typeface="Raleway" pitchFamily="34" charset="-120"/>
            </a:endParaRP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Contract-to-hire flexibility</a:t>
            </a:r>
            <a:endParaRPr lang="en-US" sz="1400" dirty="0"/>
          </a:p>
        </p:txBody>
      </p:sp>
      <p:sp>
        <p:nvSpPr>
          <p:cNvPr id="21" name="Text 15"/>
          <p:cNvSpPr txBox="1"/>
          <p:nvPr/>
        </p:nvSpPr>
        <p:spPr>
          <a:xfrm>
            <a:off x="2116836" y="1652321"/>
            <a:ext cx="329184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>
                    <a:alpha val="90000"/>
                  </a:srgbClr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01</a:t>
            </a:r>
            <a:endParaRPr lang="en-US" sz="2200" dirty="0"/>
          </a:p>
        </p:txBody>
      </p:sp>
      <p:sp>
        <p:nvSpPr>
          <p:cNvPr id="22" name="Text 16"/>
          <p:cNvSpPr txBox="1"/>
          <p:nvPr/>
        </p:nvSpPr>
        <p:spPr>
          <a:xfrm>
            <a:off x="1570025" y="2309774"/>
            <a:ext cx="1420978" cy="1527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00" kern="0" spc="45" dirty="0">
                <a:solidFill>
                  <a:srgbClr val="FFFFFF">
                    <a:alpha val="90000"/>
                  </a:srgbClr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The Volume Engine</a:t>
            </a:r>
            <a:endParaRPr lang="en-US" sz="900" dirty="0"/>
          </a:p>
        </p:txBody>
      </p:sp>
      <p:sp>
        <p:nvSpPr>
          <p:cNvPr id="23" name="Shape 17"/>
          <p:cNvSpPr/>
          <p:nvPr/>
        </p:nvSpPr>
        <p:spPr>
          <a:xfrm>
            <a:off x="4419295" y="1524305"/>
            <a:ext cx="3333902" cy="4952390"/>
          </a:xfrm>
          <a:prstGeom prst="roundRect">
            <a:avLst>
              <a:gd name="adj" fmla="val 1254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63500" dist="381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4" name="Shape 18"/>
          <p:cNvSpPr/>
          <p:nvPr/>
        </p:nvSpPr>
        <p:spPr>
          <a:xfrm>
            <a:off x="4429354" y="1533449"/>
            <a:ext cx="3314700" cy="1047902"/>
          </a:xfrm>
          <a:prstGeom prst="rect">
            <a:avLst/>
          </a:prstGeom>
          <a:solidFill>
            <a:srgbClr val="D62839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19"/>
          <p:cNvSpPr txBox="1"/>
          <p:nvPr/>
        </p:nvSpPr>
        <p:spPr>
          <a:xfrm>
            <a:off x="5386730" y="2033626"/>
            <a:ext cx="1406347" cy="2386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AI Pods</a:t>
            </a:r>
            <a:endParaRPr lang="en-US" sz="1500" dirty="0"/>
          </a:p>
        </p:txBody>
      </p:sp>
      <p:sp>
        <p:nvSpPr>
          <p:cNvPr id="26" name="Text 20"/>
          <p:cNvSpPr txBox="1"/>
          <p:nvPr/>
        </p:nvSpPr>
        <p:spPr>
          <a:xfrm>
            <a:off x="4619549" y="4204760"/>
            <a:ext cx="2934310" cy="4096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AI-first engineering pods, embedded tech lead</a:t>
            </a:r>
          </a:p>
          <a:p>
            <a:pPr algn="l"/>
            <a:endParaRPr lang="en-US" sz="1400" dirty="0">
              <a:solidFill>
                <a:srgbClr val="4B5563"/>
              </a:solidFill>
              <a:latin typeface="Raleway" pitchFamily="34" charset="0"/>
              <a:ea typeface="Raleway" pitchFamily="34" charset="-122"/>
              <a:cs typeface="Raleway" pitchFamily="34" charset="-120"/>
            </a:endParaRP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Every engineer AI-certified before Day 1</a:t>
            </a:r>
          </a:p>
          <a:p>
            <a:pPr marL="171450" indent="-171450" algn="l">
              <a:buFont typeface="Arial" panose="020B0604020202020204" pitchFamily="34" charset="0"/>
              <a:buChar char="•"/>
            </a:pPr>
            <a:endParaRPr lang="en-US" sz="1400" dirty="0">
              <a:solidFill>
                <a:srgbClr val="4B5563"/>
              </a:solidFill>
              <a:latin typeface="Raleway" pitchFamily="34" charset="0"/>
              <a:ea typeface="Raleway" pitchFamily="34" charset="-122"/>
              <a:cs typeface="Raleway" pitchFamily="34" charset="-120"/>
            </a:endParaRP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J2W AI Labs - continuous monthly upskilling</a:t>
            </a:r>
          </a:p>
          <a:p>
            <a:pPr marL="171450" indent="-171450" algn="l">
              <a:buFont typeface="Arial" panose="020B0604020202020204" pitchFamily="34" charset="0"/>
              <a:buChar char="•"/>
            </a:pPr>
            <a:endParaRPr lang="en-US" sz="1400" dirty="0">
              <a:solidFill>
                <a:srgbClr val="4B5563"/>
              </a:solidFill>
              <a:latin typeface="Raleway" pitchFamily="34" charset="0"/>
              <a:ea typeface="Raleway" pitchFamily="34" charset="-122"/>
              <a:cs typeface="Raleway" pitchFamily="34" charset="-120"/>
            </a:endParaRP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AI-assisted code, test &amp; docs from Day 1</a:t>
            </a:r>
          </a:p>
          <a:p>
            <a:pPr marL="171450" indent="-171450" algn="l">
              <a:buFont typeface="Arial" panose="020B0604020202020204" pitchFamily="34" charset="0"/>
              <a:buChar char="•"/>
            </a:pPr>
            <a:endParaRPr lang="en-US" sz="1400" dirty="0">
              <a:solidFill>
                <a:srgbClr val="4B5563"/>
              </a:solidFill>
              <a:latin typeface="Raleway" pitchFamily="34" charset="0"/>
              <a:ea typeface="Raleway" pitchFamily="34" charset="-122"/>
              <a:cs typeface="Raleway" pitchFamily="34" charset="-120"/>
            </a:endParaRP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Compounding productivity, not static seats</a:t>
            </a:r>
            <a:endParaRPr lang="en-US" sz="1400" dirty="0"/>
          </a:p>
        </p:txBody>
      </p:sp>
      <p:sp>
        <p:nvSpPr>
          <p:cNvPr id="33" name="Text 27"/>
          <p:cNvSpPr txBox="1"/>
          <p:nvPr/>
        </p:nvSpPr>
        <p:spPr>
          <a:xfrm>
            <a:off x="5905195" y="1652321"/>
            <a:ext cx="363017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>
                    <a:alpha val="90000"/>
                  </a:srgbClr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02</a:t>
            </a:r>
            <a:endParaRPr lang="en-US" sz="2200" dirty="0"/>
          </a:p>
        </p:txBody>
      </p:sp>
      <p:sp>
        <p:nvSpPr>
          <p:cNvPr id="34" name="Text 28"/>
          <p:cNvSpPr txBox="1"/>
          <p:nvPr/>
        </p:nvSpPr>
        <p:spPr>
          <a:xfrm>
            <a:off x="5079492" y="2309774"/>
            <a:ext cx="2018081" cy="1527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00" kern="0" spc="45" dirty="0">
                <a:solidFill>
                  <a:srgbClr val="FFFFFF">
                    <a:alpha val="90000"/>
                  </a:srgbClr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The Margin Expansion Engine</a:t>
            </a:r>
            <a:endParaRPr lang="en-US" sz="900" dirty="0"/>
          </a:p>
        </p:txBody>
      </p:sp>
      <p:sp>
        <p:nvSpPr>
          <p:cNvPr id="35" name="Shape 29"/>
          <p:cNvSpPr/>
          <p:nvPr/>
        </p:nvSpPr>
        <p:spPr>
          <a:xfrm>
            <a:off x="8229600" y="1524305"/>
            <a:ext cx="3333902" cy="4952390"/>
          </a:xfrm>
          <a:prstGeom prst="roundRect">
            <a:avLst>
              <a:gd name="adj" fmla="val 1254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63500" dist="381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6" name="Shape 30"/>
          <p:cNvSpPr/>
          <p:nvPr/>
        </p:nvSpPr>
        <p:spPr>
          <a:xfrm>
            <a:off x="8238744" y="1533449"/>
            <a:ext cx="3314700" cy="1047902"/>
          </a:xfrm>
          <a:prstGeom prst="rect">
            <a:avLst/>
          </a:prstGeom>
          <a:solidFill>
            <a:srgbClr val="2A9D8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Text 31"/>
          <p:cNvSpPr txBox="1"/>
          <p:nvPr/>
        </p:nvSpPr>
        <p:spPr>
          <a:xfrm>
            <a:off x="8685886" y="2033626"/>
            <a:ext cx="2425903" cy="2386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Managed Service Solutions</a:t>
            </a:r>
            <a:endParaRPr lang="en-US" sz="1500" dirty="0"/>
          </a:p>
        </p:txBody>
      </p:sp>
      <p:sp>
        <p:nvSpPr>
          <p:cNvPr id="38" name="Text 32"/>
          <p:cNvSpPr txBox="1"/>
          <p:nvPr/>
        </p:nvSpPr>
        <p:spPr>
          <a:xfrm>
            <a:off x="8429854" y="4158691"/>
            <a:ext cx="2934310" cy="4096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Dedicated pods owning outcomes, not tasks</a:t>
            </a:r>
          </a:p>
          <a:p>
            <a:pPr marL="171450" indent="-171450" algn="l">
              <a:buFont typeface="Arial" panose="020B0604020202020204" pitchFamily="34" charset="0"/>
              <a:buChar char="•"/>
            </a:pPr>
            <a:endParaRPr lang="en-US" sz="1400" dirty="0">
              <a:solidFill>
                <a:srgbClr val="4B5563"/>
              </a:solidFill>
              <a:latin typeface="Raleway" pitchFamily="34" charset="0"/>
              <a:ea typeface="Raleway" pitchFamily="34" charset="-122"/>
              <a:cs typeface="Raleway" pitchFamily="34" charset="-120"/>
            </a:endParaRP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Operate to outcome-bound SLOs</a:t>
            </a:r>
          </a:p>
          <a:p>
            <a:pPr marL="171450" indent="-171450" algn="l">
              <a:buFont typeface="Arial" panose="020B0604020202020204" pitchFamily="34" charset="0"/>
              <a:buChar char="•"/>
            </a:pPr>
            <a:endParaRPr lang="en-US" sz="1400" dirty="0">
              <a:solidFill>
                <a:srgbClr val="4B5563"/>
              </a:solidFill>
              <a:latin typeface="Raleway" pitchFamily="34" charset="0"/>
              <a:ea typeface="Raleway" pitchFamily="34" charset="-122"/>
              <a:cs typeface="Raleway" pitchFamily="34" charset="-120"/>
            </a:endParaRP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60+ pre-built solution accelerators</a:t>
            </a:r>
          </a:p>
          <a:p>
            <a:pPr marL="171450" indent="-171450" algn="l">
              <a:buFont typeface="Arial" panose="020B0604020202020204" pitchFamily="34" charset="0"/>
              <a:buChar char="•"/>
            </a:pPr>
            <a:endParaRPr lang="en-US" sz="1400" dirty="0">
              <a:solidFill>
                <a:srgbClr val="4B5563"/>
              </a:solidFill>
              <a:latin typeface="Raleway" pitchFamily="34" charset="0"/>
              <a:ea typeface="Raleway" pitchFamily="34" charset="-122"/>
              <a:cs typeface="Raleway" pitchFamily="34" charset="-120"/>
            </a:endParaRP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On SAP, ServiceNow &amp; industry stacks</a:t>
            </a:r>
          </a:p>
          <a:p>
            <a:pPr algn="l"/>
            <a:endParaRPr lang="en-US" sz="1400" dirty="0">
              <a:solidFill>
                <a:srgbClr val="4B5563"/>
              </a:solidFill>
              <a:latin typeface="Raleway" pitchFamily="34" charset="0"/>
              <a:ea typeface="Raleway" pitchFamily="34" charset="-122"/>
              <a:cs typeface="Raleway" pitchFamily="34" charset="-120"/>
            </a:endParaRP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40% improvement threshold - our standard</a:t>
            </a:r>
            <a:endParaRPr lang="en-US" sz="1400" dirty="0"/>
          </a:p>
        </p:txBody>
      </p:sp>
      <p:sp>
        <p:nvSpPr>
          <p:cNvPr id="45" name="Text 39"/>
          <p:cNvSpPr txBox="1"/>
          <p:nvPr/>
        </p:nvSpPr>
        <p:spPr>
          <a:xfrm>
            <a:off x="9715500" y="1652321"/>
            <a:ext cx="363017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>
                    <a:alpha val="90000"/>
                  </a:srgbClr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03</a:t>
            </a:r>
            <a:endParaRPr lang="en-US" sz="2200" dirty="0"/>
          </a:p>
        </p:txBody>
      </p:sp>
      <p:sp>
        <p:nvSpPr>
          <p:cNvPr id="46" name="Text 40"/>
          <p:cNvSpPr txBox="1"/>
          <p:nvPr/>
        </p:nvSpPr>
        <p:spPr>
          <a:xfrm>
            <a:off x="8956548" y="2309774"/>
            <a:ext cx="1881835" cy="1527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00" kern="0" spc="45" dirty="0">
                <a:solidFill>
                  <a:srgbClr val="FFFFFF">
                    <a:alpha val="90000"/>
                  </a:srgbClr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The Strategic Value Engine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8953805" y="-571500"/>
            <a:ext cx="3810305" cy="3810305"/>
          </a:xfrm>
          <a:prstGeom prst="ellipse">
            <a:avLst/>
          </a:prstGeom>
          <a:solidFill>
            <a:srgbClr val="2A9D8F">
              <a:alpha val="3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5" name="Image 0" descr="gen-dedup-5e765734fa6996e94526269805e72083.png"/>
          <p:cNvPicPr>
            <a:picLocks noChangeAspect="1"/>
          </p:cNvPicPr>
          <p:nvPr/>
        </p:nvPicPr>
        <p:blipFill>
          <a:blip r:embed="rId3">
            <a:alphaModFix amt="5000"/>
          </a:blip>
          <a:srcRect/>
          <a:stretch/>
        </p:blipFill>
        <p:spPr>
          <a:xfrm>
            <a:off x="-381305" y="4095598"/>
            <a:ext cx="2381098" cy="2381098"/>
          </a:xfrm>
          <a:prstGeom prst="rect">
            <a:avLst/>
          </a:prstGeom>
        </p:spPr>
      </p:pic>
      <p:pic>
        <p:nvPicPr>
          <p:cNvPr id="6" name="Image 1" descr="gen-dedup-323228122ff92d2332e711a84ca3b40c.png"/>
          <p:cNvPicPr>
            <a:picLocks noChangeAspect="1"/>
          </p:cNvPicPr>
          <p:nvPr/>
        </p:nvPicPr>
        <p:blipFill>
          <a:blip r:embed="rId4"/>
          <a:srcRect l="-198" r="-198"/>
          <a:stretch/>
        </p:blipFill>
        <p:spPr>
          <a:xfrm>
            <a:off x="0" y="0"/>
            <a:ext cx="8124444" cy="75895"/>
          </a:xfrm>
          <a:prstGeom prst="rect">
            <a:avLst/>
          </a:prstGeom>
        </p:spPr>
      </p:pic>
      <p:pic>
        <p:nvPicPr>
          <p:cNvPr id="7" name="Image 2" descr="gen-dedup-9663ecf744b06e35d4c2cebaab92a2ea.png"/>
          <p:cNvPicPr>
            <a:picLocks noChangeAspect="1"/>
          </p:cNvPicPr>
          <p:nvPr/>
        </p:nvPicPr>
        <p:blipFill>
          <a:blip r:embed="rId5"/>
          <a:srcRect l="-202" r="-202"/>
          <a:stretch/>
        </p:blipFill>
        <p:spPr>
          <a:xfrm>
            <a:off x="8124444" y="0"/>
            <a:ext cx="4067251" cy="75895"/>
          </a:xfrm>
          <a:prstGeom prst="rect">
            <a:avLst/>
          </a:prstGeom>
        </p:spPr>
      </p:pic>
      <p:pic>
        <p:nvPicPr>
          <p:cNvPr id="8" name="Image 3" descr="gen-dedup-ef527bea2207a14ec6e8d4c8ae9cdc45.png"/>
          <p:cNvPicPr>
            <a:picLocks noChangeAspect="1"/>
          </p:cNvPicPr>
          <p:nvPr/>
        </p:nvPicPr>
        <p:blipFill>
          <a:blip r:embed="rId6"/>
          <a:srcRect l="-384" r="-384"/>
          <a:stretch/>
        </p:blipFill>
        <p:spPr>
          <a:xfrm>
            <a:off x="609905" y="743407"/>
            <a:ext cx="57607" cy="476402"/>
          </a:xfrm>
          <a:prstGeom prst="rect">
            <a:avLst/>
          </a:prstGeom>
        </p:spPr>
      </p:pic>
      <p:sp>
        <p:nvSpPr>
          <p:cNvPr id="9" name="Shape 3"/>
          <p:cNvSpPr/>
          <p:nvPr/>
        </p:nvSpPr>
        <p:spPr>
          <a:xfrm>
            <a:off x="609905" y="1714500"/>
            <a:ext cx="3448202" cy="1772107"/>
          </a:xfrm>
          <a:prstGeom prst="roundRect">
            <a:avLst>
              <a:gd name="adj" fmla="val 443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38100" dir="16200000" algn="bl" rotWithShape="0">
              <a:srgbClr val="000000">
                <a:alpha val="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4"/>
          <p:cNvSpPr/>
          <p:nvPr/>
        </p:nvSpPr>
        <p:spPr>
          <a:xfrm>
            <a:off x="609905" y="1714500"/>
            <a:ext cx="3448202" cy="47549"/>
          </a:xfrm>
          <a:prstGeom prst="roundRect">
            <a:avLst>
              <a:gd name="adj" fmla="val 165425"/>
            </a:avLst>
          </a:prstGeom>
          <a:solidFill>
            <a:srgbClr val="2A9D8F"/>
          </a:solidFill>
          <a:ln w="12700">
            <a:solidFill>
              <a:srgbClr val="2A9D8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5"/>
          <p:cNvSpPr/>
          <p:nvPr/>
        </p:nvSpPr>
        <p:spPr>
          <a:xfrm>
            <a:off x="4381805" y="1714500"/>
            <a:ext cx="3448202" cy="1772107"/>
          </a:xfrm>
          <a:prstGeom prst="roundRect">
            <a:avLst>
              <a:gd name="adj" fmla="val 443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38100" dir="16200000" algn="bl" rotWithShape="0">
              <a:srgbClr val="000000">
                <a:alpha val="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6"/>
          <p:cNvSpPr/>
          <p:nvPr/>
        </p:nvSpPr>
        <p:spPr>
          <a:xfrm>
            <a:off x="4381805" y="1714500"/>
            <a:ext cx="3448202" cy="47549"/>
          </a:xfrm>
          <a:prstGeom prst="roundRect">
            <a:avLst>
              <a:gd name="adj" fmla="val 165425"/>
            </a:avLst>
          </a:prstGeom>
          <a:solidFill>
            <a:srgbClr val="D62839"/>
          </a:solidFill>
          <a:ln w="12700">
            <a:solidFill>
              <a:srgbClr val="D62839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7"/>
          <p:cNvSpPr/>
          <p:nvPr/>
        </p:nvSpPr>
        <p:spPr>
          <a:xfrm>
            <a:off x="8153705" y="1714500"/>
            <a:ext cx="3448202" cy="1772107"/>
          </a:xfrm>
          <a:prstGeom prst="roundRect">
            <a:avLst>
              <a:gd name="adj" fmla="val 443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38100" dir="16200000" algn="bl" rotWithShape="0">
              <a:srgbClr val="000000">
                <a:alpha val="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Shape 8"/>
          <p:cNvSpPr/>
          <p:nvPr/>
        </p:nvSpPr>
        <p:spPr>
          <a:xfrm>
            <a:off x="8153705" y="1714500"/>
            <a:ext cx="3448202" cy="47549"/>
          </a:xfrm>
          <a:prstGeom prst="roundRect">
            <a:avLst>
              <a:gd name="adj" fmla="val 165425"/>
            </a:avLst>
          </a:prstGeom>
          <a:solidFill>
            <a:srgbClr val="2A9D8F"/>
          </a:solidFill>
          <a:ln w="12700">
            <a:solidFill>
              <a:srgbClr val="2A9D8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9"/>
          <p:cNvSpPr/>
          <p:nvPr/>
        </p:nvSpPr>
        <p:spPr>
          <a:xfrm>
            <a:off x="2495398" y="3619195"/>
            <a:ext cx="3448202" cy="1772107"/>
          </a:xfrm>
          <a:prstGeom prst="roundRect">
            <a:avLst>
              <a:gd name="adj" fmla="val 443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38100" dir="16200000" algn="bl" rotWithShape="0">
              <a:srgbClr val="000000">
                <a:alpha val="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0"/>
          <p:cNvSpPr/>
          <p:nvPr/>
        </p:nvSpPr>
        <p:spPr>
          <a:xfrm>
            <a:off x="2495398" y="3619195"/>
            <a:ext cx="3448202" cy="47549"/>
          </a:xfrm>
          <a:prstGeom prst="roundRect">
            <a:avLst>
              <a:gd name="adj" fmla="val 165425"/>
            </a:avLst>
          </a:prstGeom>
          <a:solidFill>
            <a:srgbClr val="D62839"/>
          </a:solidFill>
          <a:ln w="12700">
            <a:solidFill>
              <a:srgbClr val="D62839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1"/>
          <p:cNvSpPr/>
          <p:nvPr/>
        </p:nvSpPr>
        <p:spPr>
          <a:xfrm>
            <a:off x="6267298" y="3619195"/>
            <a:ext cx="3448202" cy="1772107"/>
          </a:xfrm>
          <a:prstGeom prst="roundRect">
            <a:avLst>
              <a:gd name="adj" fmla="val 443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38100" dir="16200000" algn="bl" rotWithShape="0">
              <a:srgbClr val="000000">
                <a:alpha val="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Shape 12"/>
          <p:cNvSpPr/>
          <p:nvPr/>
        </p:nvSpPr>
        <p:spPr>
          <a:xfrm>
            <a:off x="6267298" y="3619195"/>
            <a:ext cx="3448202" cy="47549"/>
          </a:xfrm>
          <a:prstGeom prst="roundRect">
            <a:avLst>
              <a:gd name="adj" fmla="val 165425"/>
            </a:avLst>
          </a:prstGeom>
          <a:solidFill>
            <a:srgbClr val="2A9D8F"/>
          </a:solidFill>
          <a:ln w="12700">
            <a:solidFill>
              <a:srgbClr val="2A9D8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3"/>
          <p:cNvSpPr/>
          <p:nvPr/>
        </p:nvSpPr>
        <p:spPr>
          <a:xfrm>
            <a:off x="609905" y="5572354"/>
            <a:ext cx="10972800" cy="571500"/>
          </a:xfrm>
          <a:prstGeom prst="roundRect">
            <a:avLst>
              <a:gd name="adj" fmla="val 42667"/>
            </a:avLst>
          </a:prstGeom>
          <a:solidFill>
            <a:srgbClr val="111827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63500" dist="38100" dir="162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20" name="Image 4" descr="gen-dedup-fcfcca745fa5c1c832fd66175382f504.png"/>
          <p:cNvPicPr>
            <a:picLocks noChangeAspect="1"/>
          </p:cNvPicPr>
          <p:nvPr/>
        </p:nvPicPr>
        <p:blipFill>
          <a:blip r:embed="rId7"/>
          <a:srcRect l="-2083" r="-2083"/>
          <a:stretch/>
        </p:blipFill>
        <p:spPr>
          <a:xfrm>
            <a:off x="609905" y="6286500"/>
            <a:ext cx="10972800" cy="9144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819302" y="666598"/>
            <a:ext cx="5715000" cy="381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11182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WHAT WE OWN</a:t>
            </a:r>
            <a:endParaRPr lang="en-US" sz="2700" dirty="0"/>
          </a:p>
        </p:txBody>
      </p:sp>
      <p:sp>
        <p:nvSpPr>
          <p:cNvPr id="22" name="Text 15"/>
          <p:cNvSpPr txBox="1"/>
          <p:nvPr/>
        </p:nvSpPr>
        <p:spPr>
          <a:xfrm>
            <a:off x="819302" y="1100938"/>
            <a:ext cx="5715000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00" b="1" kern="0" spc="68" dirty="0">
                <a:solidFill>
                  <a:srgbClr val="2A9D8F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The Proprietary Stack - Our Moat</a:t>
            </a:r>
            <a:endParaRPr lang="en-US" sz="1300" dirty="0"/>
          </a:p>
        </p:txBody>
      </p:sp>
      <p:sp>
        <p:nvSpPr>
          <p:cNvPr id="23" name="Shape 16"/>
          <p:cNvSpPr/>
          <p:nvPr/>
        </p:nvSpPr>
        <p:spPr>
          <a:xfrm>
            <a:off x="800100" y="1952244"/>
            <a:ext cx="304495" cy="304495"/>
          </a:xfrm>
          <a:prstGeom prst="roundRect">
            <a:avLst>
              <a:gd name="adj" fmla="val 112613"/>
            </a:avLst>
          </a:prstGeom>
          <a:solidFill>
            <a:srgbClr val="F0FD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4" name="Image 5" descr="gen-dedup-354148c7dfe2ece024d9587c6b984377.png"/>
          <p:cNvPicPr>
            <a:picLocks noChangeAspect="1"/>
          </p:cNvPicPr>
          <p:nvPr/>
        </p:nvPicPr>
        <p:blipFill>
          <a:blip r:embed="rId8"/>
          <a:srcRect t="-16800" b="-16800"/>
          <a:stretch/>
        </p:blipFill>
        <p:spPr>
          <a:xfrm>
            <a:off x="895198" y="2029054"/>
            <a:ext cx="114300" cy="152705"/>
          </a:xfrm>
          <a:prstGeom prst="rect">
            <a:avLst/>
          </a:prstGeom>
        </p:spPr>
      </p:pic>
      <p:sp>
        <p:nvSpPr>
          <p:cNvPr id="25" name="Text 17"/>
          <p:cNvSpPr txBox="1"/>
          <p:nvPr/>
        </p:nvSpPr>
        <p:spPr>
          <a:xfrm>
            <a:off x="1238098" y="1952244"/>
            <a:ext cx="2572207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1182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J2W Premier Lounge</a:t>
            </a:r>
            <a:endParaRPr lang="en-US" sz="1500" dirty="0"/>
          </a:p>
        </p:txBody>
      </p:sp>
      <p:sp>
        <p:nvSpPr>
          <p:cNvPr id="26" name="Text 18"/>
          <p:cNvSpPr txBox="1"/>
          <p:nvPr/>
        </p:nvSpPr>
        <p:spPr>
          <a:xfrm>
            <a:off x="800100" y="2428646"/>
            <a:ext cx="304861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Curated network of vetted experts - instant access to scarce skills.</a:t>
            </a:r>
            <a:endParaRPr lang="en-US" sz="1200" dirty="0"/>
          </a:p>
        </p:txBody>
      </p:sp>
      <p:sp>
        <p:nvSpPr>
          <p:cNvPr id="27" name="Shape 19"/>
          <p:cNvSpPr/>
          <p:nvPr/>
        </p:nvSpPr>
        <p:spPr>
          <a:xfrm>
            <a:off x="4572000" y="1952244"/>
            <a:ext cx="304495" cy="304495"/>
          </a:xfrm>
          <a:prstGeom prst="roundRect">
            <a:avLst>
              <a:gd name="adj" fmla="val 112613"/>
            </a:avLst>
          </a:prstGeom>
          <a:solidFill>
            <a:srgbClr val="FEF2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8" name="Image 6" descr="gen-dedup-8653d22c8fc2d1668da8a16f36629000.png"/>
          <p:cNvPicPr>
            <a:picLocks noChangeAspect="1"/>
          </p:cNvPicPr>
          <p:nvPr/>
        </p:nvPicPr>
        <p:blipFill>
          <a:blip r:embed="rId9"/>
          <a:srcRect t="-25150" b="-25150"/>
          <a:stretch/>
        </p:blipFill>
        <p:spPr>
          <a:xfrm>
            <a:off x="4667098" y="2029054"/>
            <a:ext cx="114300" cy="152705"/>
          </a:xfrm>
          <a:prstGeom prst="rect">
            <a:avLst/>
          </a:prstGeom>
        </p:spPr>
      </p:pic>
      <p:sp>
        <p:nvSpPr>
          <p:cNvPr id="29" name="Text 20"/>
          <p:cNvSpPr txBox="1"/>
          <p:nvPr/>
        </p:nvSpPr>
        <p:spPr>
          <a:xfrm>
            <a:off x="5009998" y="1952244"/>
            <a:ext cx="2572207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1182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J2W OfferLetter</a:t>
            </a:r>
            <a:endParaRPr lang="en-US" sz="1500" dirty="0"/>
          </a:p>
        </p:txBody>
      </p:sp>
      <p:sp>
        <p:nvSpPr>
          <p:cNvPr id="30" name="Text 21"/>
          <p:cNvSpPr txBox="1"/>
          <p:nvPr/>
        </p:nvSpPr>
        <p:spPr>
          <a:xfrm>
            <a:off x="4572000" y="2428646"/>
            <a:ext cx="304861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AI-driven sourcing &amp; resume parsing - onboard one engineer an hour.</a:t>
            </a:r>
            <a:endParaRPr lang="en-US" sz="1200" dirty="0"/>
          </a:p>
        </p:txBody>
      </p:sp>
      <p:sp>
        <p:nvSpPr>
          <p:cNvPr id="31" name="Shape 22"/>
          <p:cNvSpPr/>
          <p:nvPr/>
        </p:nvSpPr>
        <p:spPr>
          <a:xfrm>
            <a:off x="8343900" y="1952244"/>
            <a:ext cx="304495" cy="304495"/>
          </a:xfrm>
          <a:prstGeom prst="roundRect">
            <a:avLst>
              <a:gd name="adj" fmla="val 112613"/>
            </a:avLst>
          </a:prstGeom>
          <a:solidFill>
            <a:srgbClr val="F0FD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2" name="Image 7" descr="gen-dedup-fe8b3fc2b54c6cb2835c9e1123b7a343.png"/>
          <p:cNvPicPr>
            <a:picLocks noChangeAspect="1"/>
          </p:cNvPicPr>
          <p:nvPr/>
        </p:nvPicPr>
        <p:blipFill>
          <a:blip r:embed="rId10"/>
          <a:srcRect t="-25150" b="-25150"/>
          <a:stretch/>
        </p:blipFill>
        <p:spPr>
          <a:xfrm>
            <a:off x="8438998" y="2029054"/>
            <a:ext cx="114300" cy="152705"/>
          </a:xfrm>
          <a:prstGeom prst="rect">
            <a:avLst/>
          </a:prstGeom>
        </p:spPr>
      </p:pic>
      <p:sp>
        <p:nvSpPr>
          <p:cNvPr id="33" name="Text 23"/>
          <p:cNvSpPr txBox="1"/>
          <p:nvPr/>
        </p:nvSpPr>
        <p:spPr>
          <a:xfrm>
            <a:off x="8781898" y="1952244"/>
            <a:ext cx="2702052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1182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Data Abstraction Layer</a:t>
            </a:r>
            <a:endParaRPr lang="en-US" sz="1500" dirty="0"/>
          </a:p>
        </p:txBody>
      </p:sp>
      <p:sp>
        <p:nvSpPr>
          <p:cNvPr id="34" name="Text 24"/>
          <p:cNvSpPr txBox="1"/>
          <p:nvPr/>
        </p:nvSpPr>
        <p:spPr>
          <a:xfrm>
            <a:off x="8343900" y="2428646"/>
            <a:ext cx="304861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Unified API gateway + real-time ETL - a single pane of glass.</a:t>
            </a:r>
            <a:endParaRPr lang="en-US" sz="1200" dirty="0"/>
          </a:p>
        </p:txBody>
      </p:sp>
      <p:sp>
        <p:nvSpPr>
          <p:cNvPr id="35" name="Shape 25"/>
          <p:cNvSpPr/>
          <p:nvPr/>
        </p:nvSpPr>
        <p:spPr>
          <a:xfrm>
            <a:off x="2686507" y="3857854"/>
            <a:ext cx="304495" cy="304495"/>
          </a:xfrm>
          <a:prstGeom prst="roundRect">
            <a:avLst>
              <a:gd name="adj" fmla="val 112613"/>
            </a:avLst>
          </a:prstGeom>
          <a:solidFill>
            <a:srgbClr val="FEF2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6" name="Image 8" descr="gen-dedup-e7d7166718140d8159b1663599725aa5.png"/>
          <p:cNvPicPr>
            <a:picLocks noChangeAspect="1"/>
          </p:cNvPicPr>
          <p:nvPr/>
        </p:nvPicPr>
        <p:blipFill>
          <a:blip r:embed="rId11"/>
          <a:srcRect t="-8450" b="-8450"/>
          <a:stretch/>
        </p:blipFill>
        <p:spPr>
          <a:xfrm>
            <a:off x="2781605" y="3933749"/>
            <a:ext cx="114300" cy="152705"/>
          </a:xfrm>
          <a:prstGeom prst="rect">
            <a:avLst/>
          </a:prstGeom>
        </p:spPr>
      </p:pic>
      <p:sp>
        <p:nvSpPr>
          <p:cNvPr id="37" name="Text 26"/>
          <p:cNvSpPr txBox="1"/>
          <p:nvPr/>
        </p:nvSpPr>
        <p:spPr>
          <a:xfrm>
            <a:off x="3124505" y="3857854"/>
            <a:ext cx="2572207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1182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J2W AI Labs</a:t>
            </a:r>
            <a:endParaRPr lang="en-US" sz="1500" dirty="0"/>
          </a:p>
        </p:txBody>
      </p:sp>
      <p:sp>
        <p:nvSpPr>
          <p:cNvPr id="38" name="Text 27"/>
          <p:cNvSpPr txBox="1"/>
          <p:nvPr/>
        </p:nvSpPr>
        <p:spPr>
          <a:xfrm>
            <a:off x="2686507" y="4334256"/>
            <a:ext cx="304861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Internal AI engine - every engineer AI-certified before Day 1.</a:t>
            </a:r>
            <a:endParaRPr lang="en-US" sz="1200" dirty="0"/>
          </a:p>
        </p:txBody>
      </p:sp>
      <p:sp>
        <p:nvSpPr>
          <p:cNvPr id="39" name="Shape 28"/>
          <p:cNvSpPr/>
          <p:nvPr/>
        </p:nvSpPr>
        <p:spPr>
          <a:xfrm>
            <a:off x="6458407" y="3857854"/>
            <a:ext cx="304495" cy="304495"/>
          </a:xfrm>
          <a:prstGeom prst="roundRect">
            <a:avLst>
              <a:gd name="adj" fmla="val 112613"/>
            </a:avLst>
          </a:prstGeom>
          <a:solidFill>
            <a:srgbClr val="F0FD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40" name="Image 9" descr="gen-dedup-a3d9bb31ae14fa9101e3246a3a64819e.png"/>
          <p:cNvPicPr>
            <a:picLocks noChangeAspect="1"/>
          </p:cNvPicPr>
          <p:nvPr/>
        </p:nvPicPr>
        <p:blipFill>
          <a:blip r:embed="rId12"/>
          <a:srcRect t="-8450" b="-8450"/>
          <a:stretch/>
        </p:blipFill>
        <p:spPr>
          <a:xfrm>
            <a:off x="6553505" y="3933749"/>
            <a:ext cx="114300" cy="152705"/>
          </a:xfrm>
          <a:prstGeom prst="rect">
            <a:avLst/>
          </a:prstGeom>
        </p:spPr>
      </p:pic>
      <p:sp>
        <p:nvSpPr>
          <p:cNvPr id="41" name="Text 29"/>
          <p:cNvSpPr txBox="1"/>
          <p:nvPr/>
        </p:nvSpPr>
        <p:spPr>
          <a:xfrm>
            <a:off x="6896405" y="3857854"/>
            <a:ext cx="2572207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1182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60+ Accelerators</a:t>
            </a:r>
            <a:endParaRPr lang="en-US" sz="1500" dirty="0"/>
          </a:p>
        </p:txBody>
      </p:sp>
      <p:sp>
        <p:nvSpPr>
          <p:cNvPr id="42" name="Text 30"/>
          <p:cNvSpPr txBox="1"/>
          <p:nvPr/>
        </p:nvSpPr>
        <p:spPr>
          <a:xfrm>
            <a:off x="6458407" y="4334256"/>
            <a:ext cx="304861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Pre-built solutions on SAP, ServiceNow &amp; industry stacks.</a:t>
            </a:r>
            <a:endParaRPr lang="en-US" sz="1200" dirty="0"/>
          </a:p>
        </p:txBody>
      </p:sp>
      <p:sp>
        <p:nvSpPr>
          <p:cNvPr id="43" name="Text 31"/>
          <p:cNvSpPr txBox="1"/>
          <p:nvPr/>
        </p:nvSpPr>
        <p:spPr>
          <a:xfrm>
            <a:off x="800100" y="5715000"/>
            <a:ext cx="10592410" cy="2862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kern="0" spc="75" dirty="0">
                <a:solidFill>
                  <a:srgbClr val="9CA3AF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THE ARC FRAMEWORK</a:t>
            </a:r>
            <a:r>
              <a:rPr lang="en-US" sz="1500" b="1" kern="0" spc="75" dirty="0">
                <a:solidFill>
                  <a:srgbClr val="2A9D8F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Adaptive</a:t>
            </a:r>
            <a:r>
              <a:rPr lang="en-US" sz="1200" b="1" kern="0" spc="75" dirty="0">
                <a:solidFill>
                  <a:srgbClr val="CBD5E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(Grow)</a:t>
            </a:r>
            <a:r>
              <a:rPr lang="en-US" sz="1500" b="1" kern="0" spc="75" dirty="0">
                <a:solidFill>
                  <a:srgbClr val="6B7280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→</a:t>
            </a:r>
            <a:r>
              <a:rPr lang="en-US" sz="1500" b="1" kern="0" spc="75" dirty="0">
                <a:solidFill>
                  <a:srgbClr val="D62839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Resilient</a:t>
            </a:r>
            <a:r>
              <a:rPr lang="en-US" sz="1200" b="1" kern="0" spc="75" dirty="0">
                <a:solidFill>
                  <a:srgbClr val="CBD5E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(Mature)</a:t>
            </a:r>
            <a:r>
              <a:rPr lang="en-US" sz="1500" b="1" kern="0" spc="75" dirty="0">
                <a:solidFill>
                  <a:srgbClr val="6B7280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→</a:t>
            </a:r>
            <a:r>
              <a:rPr lang="en-US" sz="1500" b="1" kern="0" spc="75" dirty="0">
                <a:solidFill>
                  <a:srgbClr val="2A9D8F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Cognitive</a:t>
            </a:r>
            <a:r>
              <a:rPr lang="en-US" sz="1200" b="1" kern="0" spc="75" dirty="0">
                <a:solidFill>
                  <a:srgbClr val="CBD5E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(Transform)</a:t>
            </a:r>
            <a:endParaRPr lang="en-US" sz="1500" dirty="0"/>
          </a:p>
        </p:txBody>
      </p:sp>
      <p:sp>
        <p:nvSpPr>
          <p:cNvPr id="44" name="Text 32"/>
          <p:cNvSpPr txBox="1"/>
          <p:nvPr/>
        </p:nvSpPr>
        <p:spPr>
          <a:xfrm>
            <a:off x="609905" y="6429146"/>
            <a:ext cx="10972800" cy="1810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37415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Transparent, scalable, and owned by us - </a:t>
            </a:r>
            <a:r>
              <a:rPr lang="en-US" sz="1200" b="1" dirty="0">
                <a:solidFill>
                  <a:srgbClr val="2A9D8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your competitive moat, not a black box.</a:t>
            </a:r>
            <a:endParaRPr lang="en-US" sz="1200" dirty="0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25DD6EC7-8F41-58C5-8FE6-D76C9E660C2A}"/>
              </a:ext>
            </a:extLst>
          </p:cNvPr>
          <p:cNvSpPr txBox="1"/>
          <p:nvPr/>
        </p:nvSpPr>
        <p:spPr>
          <a:xfrm>
            <a:off x="3048000" y="3429000"/>
            <a:ext cx="609600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123996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>
            <a:extLst>
              <a:ext uri="{FF2B5EF4-FFF2-40B4-BE49-F238E27FC236}">
                <a16:creationId xmlns:a16="http://schemas.microsoft.com/office/drawing/2014/main" id="{F9F6EB1A-5FD2-665F-5EE8-C4B8D6498CF8}"/>
              </a:ext>
            </a:extLst>
          </p:cNvPr>
          <p:cNvSpPr/>
          <p:nvPr/>
        </p:nvSpPr>
        <p:spPr>
          <a:xfrm>
            <a:off x="840648" y="107471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2311"/>
              </a:lnSpc>
            </a:pPr>
            <a:r>
              <a:rPr lang="en-US" sz="2933" b="1" dirty="0">
                <a:solidFill>
                  <a:srgbClr val="1B2A4A"/>
                </a:solidFill>
                <a:latin typeface="Oswald" panose="00000500000000000000" pitchFamily="2" charset="0"/>
                <a:ea typeface="Calibri Light"/>
                <a:cs typeface="Calibri Light"/>
              </a:rPr>
              <a:t>END TO END GCC BUILD OFFERINGS</a:t>
            </a:r>
          </a:p>
        </p:txBody>
      </p:sp>
      <p:sp>
        <p:nvSpPr>
          <p:cNvPr id="5" name="Shape 1">
            <a:extLst>
              <a:ext uri="{FF2B5EF4-FFF2-40B4-BE49-F238E27FC236}">
                <a16:creationId xmlns:a16="http://schemas.microsoft.com/office/drawing/2014/main" id="{A24FAB32-955D-AD73-0047-05FB50424916}"/>
              </a:ext>
            </a:extLst>
          </p:cNvPr>
          <p:cNvSpPr/>
          <p:nvPr/>
        </p:nvSpPr>
        <p:spPr>
          <a:xfrm>
            <a:off x="8286474" y="2494799"/>
            <a:ext cx="3589767" cy="763744"/>
          </a:xfrm>
          <a:prstGeom prst="rect">
            <a:avLst/>
          </a:prstGeom>
          <a:solidFill>
            <a:srgbClr val="F4F6FA"/>
          </a:solidFill>
          <a:ln/>
        </p:spPr>
        <p:txBody>
          <a:bodyPr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IN" sz="1351">
              <a:latin typeface="Raleway" pitchFamily="2" charset="0"/>
            </a:endParaRPr>
          </a:p>
        </p:txBody>
      </p:sp>
      <p:sp>
        <p:nvSpPr>
          <p:cNvPr id="7" name="Shape 1">
            <a:extLst>
              <a:ext uri="{FF2B5EF4-FFF2-40B4-BE49-F238E27FC236}">
                <a16:creationId xmlns:a16="http://schemas.microsoft.com/office/drawing/2014/main" id="{C2B3F627-1A4C-A8C3-3D3B-3199B41148B7}"/>
              </a:ext>
            </a:extLst>
          </p:cNvPr>
          <p:cNvSpPr/>
          <p:nvPr/>
        </p:nvSpPr>
        <p:spPr>
          <a:xfrm>
            <a:off x="4423923" y="2475093"/>
            <a:ext cx="3694869" cy="757175"/>
          </a:xfrm>
          <a:prstGeom prst="rect">
            <a:avLst/>
          </a:prstGeom>
          <a:solidFill>
            <a:srgbClr val="F4F6FA"/>
          </a:solidFill>
          <a:ln/>
        </p:spPr>
        <p:txBody>
          <a:bodyPr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IN" sz="1351">
              <a:latin typeface="Raleway" pitchFamily="2" charset="0"/>
            </a:endParaRPr>
          </a:p>
        </p:txBody>
      </p:sp>
      <p:sp>
        <p:nvSpPr>
          <p:cNvPr id="9" name="Shape 1">
            <a:extLst>
              <a:ext uri="{FF2B5EF4-FFF2-40B4-BE49-F238E27FC236}">
                <a16:creationId xmlns:a16="http://schemas.microsoft.com/office/drawing/2014/main" id="{6B86DAEF-B005-1BA9-95B2-0DB17919DFFB}"/>
              </a:ext>
            </a:extLst>
          </p:cNvPr>
          <p:cNvSpPr/>
          <p:nvPr/>
        </p:nvSpPr>
        <p:spPr>
          <a:xfrm>
            <a:off x="515390" y="2475091"/>
            <a:ext cx="3596335" cy="776884"/>
          </a:xfrm>
          <a:prstGeom prst="rect">
            <a:avLst/>
          </a:prstGeom>
          <a:solidFill>
            <a:srgbClr val="F4F6FA"/>
          </a:solidFill>
          <a:ln/>
        </p:spPr>
        <p:txBody>
          <a:bodyPr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IN" sz="1351">
              <a:latin typeface="Raleway" pitchFamily="2" charset="0"/>
            </a:endParaRPr>
          </a:p>
        </p:txBody>
      </p:sp>
      <p:sp>
        <p:nvSpPr>
          <p:cNvPr id="11" name="Shape 1">
            <a:extLst>
              <a:ext uri="{FF2B5EF4-FFF2-40B4-BE49-F238E27FC236}">
                <a16:creationId xmlns:a16="http://schemas.microsoft.com/office/drawing/2014/main" id="{63E328A8-286C-CAE0-37BC-C9EBD605D0D9}"/>
              </a:ext>
            </a:extLst>
          </p:cNvPr>
          <p:cNvSpPr/>
          <p:nvPr/>
        </p:nvSpPr>
        <p:spPr>
          <a:xfrm>
            <a:off x="8293042" y="1332093"/>
            <a:ext cx="3583199" cy="763745"/>
          </a:xfrm>
          <a:prstGeom prst="rect">
            <a:avLst/>
          </a:prstGeom>
          <a:solidFill>
            <a:srgbClr val="F4F6FA"/>
          </a:solidFill>
          <a:ln/>
        </p:spPr>
        <p:txBody>
          <a:bodyPr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IN" sz="1351">
              <a:latin typeface="Raleway" pitchFamily="2" charset="0"/>
            </a:endParaRPr>
          </a:p>
        </p:txBody>
      </p:sp>
      <p:sp>
        <p:nvSpPr>
          <p:cNvPr id="13" name="Shape 1">
            <a:extLst>
              <a:ext uri="{FF2B5EF4-FFF2-40B4-BE49-F238E27FC236}">
                <a16:creationId xmlns:a16="http://schemas.microsoft.com/office/drawing/2014/main" id="{FD7AEA01-BA51-2676-ABCA-D51578AB2D7E}"/>
              </a:ext>
            </a:extLst>
          </p:cNvPr>
          <p:cNvSpPr/>
          <p:nvPr/>
        </p:nvSpPr>
        <p:spPr>
          <a:xfrm>
            <a:off x="4415697" y="1337832"/>
            <a:ext cx="3701439" cy="770315"/>
          </a:xfrm>
          <a:prstGeom prst="rect">
            <a:avLst/>
          </a:prstGeom>
          <a:solidFill>
            <a:srgbClr val="F4F6FA"/>
          </a:solidFill>
          <a:ln/>
        </p:spPr>
        <p:txBody>
          <a:bodyPr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IN" sz="1351">
              <a:latin typeface="Raleway" pitchFamily="2" charset="0"/>
            </a:endParaRPr>
          </a:p>
        </p:txBody>
      </p:sp>
      <p:sp>
        <p:nvSpPr>
          <p:cNvPr id="15" name="Shape 1">
            <a:extLst>
              <a:ext uri="{FF2B5EF4-FFF2-40B4-BE49-F238E27FC236}">
                <a16:creationId xmlns:a16="http://schemas.microsoft.com/office/drawing/2014/main" id="{5A5C8905-BACE-7255-BC59-F4886AC07E06}"/>
              </a:ext>
            </a:extLst>
          </p:cNvPr>
          <p:cNvSpPr/>
          <p:nvPr/>
        </p:nvSpPr>
        <p:spPr>
          <a:xfrm>
            <a:off x="518451" y="1338662"/>
            <a:ext cx="3589767" cy="790020"/>
          </a:xfrm>
          <a:prstGeom prst="rect">
            <a:avLst/>
          </a:prstGeom>
          <a:solidFill>
            <a:srgbClr val="F4F6FA"/>
          </a:solidFill>
          <a:ln/>
        </p:spPr>
        <p:txBody>
          <a:bodyPr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IN" sz="1351">
              <a:latin typeface="Raleway" pitchFamily="2" charset="0"/>
            </a:endParaRPr>
          </a:p>
        </p:txBody>
      </p:sp>
      <p:sp>
        <p:nvSpPr>
          <p:cNvPr id="17" name="Text 35">
            <a:extLst>
              <a:ext uri="{FF2B5EF4-FFF2-40B4-BE49-F238E27FC236}">
                <a16:creationId xmlns:a16="http://schemas.microsoft.com/office/drawing/2014/main" id="{1D2B7726-1808-85B4-0B23-22D0C401EC11}"/>
              </a:ext>
            </a:extLst>
          </p:cNvPr>
          <p:cNvSpPr/>
          <p:nvPr/>
        </p:nvSpPr>
        <p:spPr>
          <a:xfrm>
            <a:off x="10369811" y="2794457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00">
                <a:solidFill>
                  <a:srgbClr val="5B6B86"/>
                </a:solidFill>
                <a:latin typeface="Raleway" pitchFamily="2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>
              <a:latin typeface="Raleway" pitchFamily="2" charset="0"/>
            </a:endParaRPr>
          </a:p>
        </p:txBody>
      </p:sp>
      <p:pic>
        <p:nvPicPr>
          <p:cNvPr id="19" name="Image 0">
            <a:extLst>
              <a:ext uri="{FF2B5EF4-FFF2-40B4-BE49-F238E27FC236}">
                <a16:creationId xmlns:a16="http://schemas.microsoft.com/office/drawing/2014/main" id="{317DB878-83B1-D693-E671-7B52AACB7F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9103" y="1518075"/>
            <a:ext cx="256032" cy="256032"/>
          </a:xfrm>
          <a:prstGeom prst="rect">
            <a:avLst/>
          </a:prstGeom>
        </p:spPr>
      </p:pic>
      <p:sp>
        <p:nvSpPr>
          <p:cNvPr id="21" name="Text 20">
            <a:extLst>
              <a:ext uri="{FF2B5EF4-FFF2-40B4-BE49-F238E27FC236}">
                <a16:creationId xmlns:a16="http://schemas.microsoft.com/office/drawing/2014/main" id="{E2E9505C-F1EF-799A-9BCC-134811764AE4}"/>
              </a:ext>
            </a:extLst>
          </p:cNvPr>
          <p:cNvSpPr/>
          <p:nvPr/>
        </p:nvSpPr>
        <p:spPr>
          <a:xfrm>
            <a:off x="1399455" y="1369577"/>
            <a:ext cx="25694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1251"/>
              </a:lnSpc>
            </a:pPr>
            <a:r>
              <a:rPr lang="en-US" sz="1100" b="1" dirty="0" err="1">
                <a:solidFill>
                  <a:srgbClr val="1B2A4A"/>
                </a:solidFill>
                <a:latin typeface="Raleway" pitchFamily="2" charset="0"/>
                <a:ea typeface="Calibri"/>
                <a:cs typeface="Calibri"/>
              </a:rPr>
              <a:t>CoE</a:t>
            </a:r>
            <a:r>
              <a:rPr lang="en-US" sz="1100" b="1" dirty="0">
                <a:solidFill>
                  <a:srgbClr val="1B2A4A"/>
                </a:solidFill>
                <a:latin typeface="Raleway" pitchFamily="2" charset="0"/>
                <a:ea typeface="Calibri"/>
                <a:cs typeface="Calibri"/>
              </a:rPr>
              <a:t> Design &amp; Planning</a:t>
            </a:r>
          </a:p>
          <a:p>
            <a:pPr>
              <a:lnSpc>
                <a:spcPts val="1251"/>
              </a:lnSpc>
            </a:pPr>
            <a:endParaRPr lang="en-US" sz="1100" dirty="0">
              <a:latin typeface="Raleway" pitchFamily="2" charset="0"/>
              <a:ea typeface="Calibri Light"/>
              <a:cs typeface="Calibri Light"/>
            </a:endParaRPr>
          </a:p>
          <a:p>
            <a:pPr>
              <a:lnSpc>
                <a:spcPts val="1251"/>
              </a:lnSpc>
            </a:pPr>
            <a:r>
              <a:rPr lang="en-US" sz="1100" dirty="0">
                <a:solidFill>
                  <a:srgbClr val="5B6B86"/>
                </a:solidFill>
                <a:latin typeface="Raleway" pitchFamily="2" charset="0"/>
                <a:ea typeface="Calibri" pitchFamily="34" charset="-122"/>
                <a:cs typeface="Calibri" pitchFamily="34" charset="-120"/>
              </a:rPr>
              <a:t>Operating model, governance, KPI architecture</a:t>
            </a:r>
            <a:endParaRPr lang="en-US" sz="1100" dirty="0">
              <a:latin typeface="Raleway" pitchFamily="2" charset="0"/>
            </a:endParaRPr>
          </a:p>
        </p:txBody>
      </p:sp>
      <p:pic>
        <p:nvPicPr>
          <p:cNvPr id="23" name="Image 1">
            <a:extLst>
              <a:ext uri="{FF2B5EF4-FFF2-40B4-BE49-F238E27FC236}">
                <a16:creationId xmlns:a16="http://schemas.microsoft.com/office/drawing/2014/main" id="{B185FF42-C80C-AE3C-2856-DDE98BF5125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99855" y="1518075"/>
            <a:ext cx="256032" cy="256032"/>
          </a:xfrm>
          <a:prstGeom prst="rect">
            <a:avLst/>
          </a:prstGeom>
        </p:spPr>
      </p:pic>
      <p:sp>
        <p:nvSpPr>
          <p:cNvPr id="25" name="Text 23">
            <a:extLst>
              <a:ext uri="{FF2B5EF4-FFF2-40B4-BE49-F238E27FC236}">
                <a16:creationId xmlns:a16="http://schemas.microsoft.com/office/drawing/2014/main" id="{111B3A20-E4E7-A990-F757-38316B876A62}"/>
              </a:ext>
            </a:extLst>
          </p:cNvPr>
          <p:cNvSpPr/>
          <p:nvPr/>
        </p:nvSpPr>
        <p:spPr>
          <a:xfrm>
            <a:off x="5130207" y="1369577"/>
            <a:ext cx="25694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1251"/>
              </a:lnSpc>
            </a:pPr>
            <a:r>
              <a:rPr lang="en-US" sz="1100" b="1" dirty="0">
                <a:solidFill>
                  <a:srgbClr val="1B2A4A"/>
                </a:solidFill>
                <a:latin typeface="Raleway" pitchFamily="2" charset="0"/>
                <a:ea typeface="Calibri" pitchFamily="34" charset="-122"/>
                <a:cs typeface="Calibri" pitchFamily="34" charset="-120"/>
              </a:rPr>
              <a:t>Location Advisory</a:t>
            </a:r>
          </a:p>
          <a:p>
            <a:pPr>
              <a:lnSpc>
                <a:spcPts val="1251"/>
              </a:lnSpc>
            </a:pPr>
            <a:endParaRPr lang="en-US" sz="1100" dirty="0">
              <a:latin typeface="Raleway" pitchFamily="2" charset="0"/>
            </a:endParaRPr>
          </a:p>
          <a:p>
            <a:pPr>
              <a:lnSpc>
                <a:spcPts val="1251"/>
              </a:lnSpc>
            </a:pPr>
            <a:r>
              <a:rPr lang="en-US" sz="1100" dirty="0">
                <a:solidFill>
                  <a:srgbClr val="5B6B86"/>
                </a:solidFill>
                <a:latin typeface="Raleway" pitchFamily="2" charset="0"/>
                <a:ea typeface="Calibri" pitchFamily="34" charset="-122"/>
                <a:cs typeface="Calibri" pitchFamily="34" charset="-120"/>
              </a:rPr>
              <a:t>Intelligence from active deployments across 8 metros</a:t>
            </a:r>
            <a:endParaRPr lang="en-US" sz="1100" dirty="0">
              <a:latin typeface="Raleway" pitchFamily="2" charset="0"/>
            </a:endParaRPr>
          </a:p>
        </p:txBody>
      </p:sp>
      <p:pic>
        <p:nvPicPr>
          <p:cNvPr id="27" name="Image 2">
            <a:extLst>
              <a:ext uri="{FF2B5EF4-FFF2-40B4-BE49-F238E27FC236}">
                <a16:creationId xmlns:a16="http://schemas.microsoft.com/office/drawing/2014/main" id="{E5A63AD7-E3B9-D79E-2CB3-0061F536398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22572" y="1518075"/>
            <a:ext cx="256032" cy="256032"/>
          </a:xfrm>
          <a:prstGeom prst="rect">
            <a:avLst/>
          </a:prstGeom>
        </p:spPr>
      </p:pic>
      <p:sp>
        <p:nvSpPr>
          <p:cNvPr id="29" name="Text 26">
            <a:extLst>
              <a:ext uri="{FF2B5EF4-FFF2-40B4-BE49-F238E27FC236}">
                <a16:creationId xmlns:a16="http://schemas.microsoft.com/office/drawing/2014/main" id="{66822201-13C7-2C29-FE88-30AB0E1ED7E3}"/>
              </a:ext>
            </a:extLst>
          </p:cNvPr>
          <p:cNvSpPr/>
          <p:nvPr/>
        </p:nvSpPr>
        <p:spPr>
          <a:xfrm>
            <a:off x="8952924" y="1369577"/>
            <a:ext cx="25694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1251"/>
              </a:lnSpc>
            </a:pPr>
            <a:r>
              <a:rPr lang="en-US" sz="1100" b="1" dirty="0">
                <a:solidFill>
                  <a:srgbClr val="1B2A4A"/>
                </a:solidFill>
                <a:latin typeface="Raleway" pitchFamily="2" charset="0"/>
                <a:ea typeface="Calibri" pitchFamily="34" charset="-122"/>
                <a:cs typeface="Calibri" pitchFamily="34" charset="-120"/>
              </a:rPr>
              <a:t>Employer Branding</a:t>
            </a:r>
          </a:p>
          <a:p>
            <a:pPr>
              <a:lnSpc>
                <a:spcPts val="1251"/>
              </a:lnSpc>
            </a:pPr>
            <a:endParaRPr lang="en-US" sz="1100" dirty="0">
              <a:latin typeface="Raleway" pitchFamily="2" charset="0"/>
            </a:endParaRPr>
          </a:p>
          <a:p>
            <a:pPr>
              <a:lnSpc>
                <a:spcPts val="1251"/>
              </a:lnSpc>
            </a:pPr>
            <a:r>
              <a:rPr lang="en-US" sz="1100" dirty="0">
                <a:solidFill>
                  <a:srgbClr val="5B6B86"/>
                </a:solidFill>
                <a:latin typeface="Raleway" pitchFamily="2" charset="0"/>
                <a:ea typeface="Calibri" pitchFamily="34" charset="-122"/>
                <a:cs typeface="Calibri" pitchFamily="34" charset="-120"/>
              </a:rPr>
              <a:t>Position the hub to attract architect-grade talent</a:t>
            </a:r>
            <a:endParaRPr lang="en-US" sz="1100" dirty="0">
              <a:latin typeface="Raleway" pitchFamily="2" charset="0"/>
            </a:endParaRPr>
          </a:p>
        </p:txBody>
      </p:sp>
      <p:pic>
        <p:nvPicPr>
          <p:cNvPr id="31" name="Image 3">
            <a:extLst>
              <a:ext uri="{FF2B5EF4-FFF2-40B4-BE49-F238E27FC236}">
                <a16:creationId xmlns:a16="http://schemas.microsoft.com/office/drawing/2014/main" id="{5416860F-CB36-1578-BCC0-4DBCF8DC0BD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9103" y="2642787"/>
            <a:ext cx="256032" cy="256032"/>
          </a:xfrm>
          <a:prstGeom prst="rect">
            <a:avLst/>
          </a:prstGeom>
        </p:spPr>
      </p:pic>
      <p:sp>
        <p:nvSpPr>
          <p:cNvPr id="33" name="Text 29">
            <a:extLst>
              <a:ext uri="{FF2B5EF4-FFF2-40B4-BE49-F238E27FC236}">
                <a16:creationId xmlns:a16="http://schemas.microsoft.com/office/drawing/2014/main" id="{0CDB8E21-2566-4255-EA6E-D261734326BC}"/>
              </a:ext>
            </a:extLst>
          </p:cNvPr>
          <p:cNvSpPr/>
          <p:nvPr/>
        </p:nvSpPr>
        <p:spPr>
          <a:xfrm>
            <a:off x="1399455" y="2494289"/>
            <a:ext cx="25694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1251"/>
              </a:lnSpc>
            </a:pPr>
            <a:r>
              <a:rPr lang="en-US" sz="1100" b="1" dirty="0">
                <a:solidFill>
                  <a:srgbClr val="1B2A4A"/>
                </a:solidFill>
                <a:latin typeface="Raleway" pitchFamily="2" charset="0"/>
                <a:ea typeface="Calibri" pitchFamily="34" charset="-122"/>
                <a:cs typeface="Calibri" pitchFamily="34" charset="-120"/>
              </a:rPr>
              <a:t>Talent Strategy</a:t>
            </a:r>
          </a:p>
          <a:p>
            <a:pPr>
              <a:lnSpc>
                <a:spcPts val="1251"/>
              </a:lnSpc>
            </a:pPr>
            <a:endParaRPr lang="en-US" sz="1100" dirty="0">
              <a:latin typeface="Raleway" pitchFamily="2" charset="0"/>
            </a:endParaRPr>
          </a:p>
          <a:p>
            <a:pPr>
              <a:lnSpc>
                <a:spcPts val="1251"/>
              </a:lnSpc>
            </a:pPr>
            <a:r>
              <a:rPr lang="en-US" sz="1100" dirty="0">
                <a:solidFill>
                  <a:srgbClr val="5B6B86"/>
                </a:solidFill>
                <a:latin typeface="Raleway" pitchFamily="2" charset="0"/>
                <a:ea typeface="Calibri" pitchFamily="34" charset="-122"/>
                <a:cs typeface="Calibri" pitchFamily="34" charset="-120"/>
              </a:rPr>
              <a:t>Workforce pyramid aligned to the AI &amp; innovation mandate</a:t>
            </a:r>
            <a:endParaRPr lang="en-US" sz="1100" dirty="0">
              <a:latin typeface="Raleway" pitchFamily="2" charset="0"/>
            </a:endParaRPr>
          </a:p>
        </p:txBody>
      </p:sp>
      <p:pic>
        <p:nvPicPr>
          <p:cNvPr id="35" name="Image 4">
            <a:extLst>
              <a:ext uri="{FF2B5EF4-FFF2-40B4-BE49-F238E27FC236}">
                <a16:creationId xmlns:a16="http://schemas.microsoft.com/office/drawing/2014/main" id="{B9E8AB31-35BA-3AD8-9024-64C34E7A322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99855" y="2642787"/>
            <a:ext cx="256032" cy="256032"/>
          </a:xfrm>
          <a:prstGeom prst="rect">
            <a:avLst/>
          </a:prstGeom>
        </p:spPr>
      </p:pic>
      <p:sp>
        <p:nvSpPr>
          <p:cNvPr id="37" name="Text 32">
            <a:extLst>
              <a:ext uri="{FF2B5EF4-FFF2-40B4-BE49-F238E27FC236}">
                <a16:creationId xmlns:a16="http://schemas.microsoft.com/office/drawing/2014/main" id="{9919EDE5-7E3B-6A85-983B-F892F7361379}"/>
              </a:ext>
            </a:extLst>
          </p:cNvPr>
          <p:cNvSpPr/>
          <p:nvPr/>
        </p:nvSpPr>
        <p:spPr>
          <a:xfrm>
            <a:off x="5130207" y="2494289"/>
            <a:ext cx="25694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1251"/>
              </a:lnSpc>
            </a:pPr>
            <a:r>
              <a:rPr lang="en-US" sz="1100" b="1" dirty="0">
                <a:solidFill>
                  <a:srgbClr val="1B2A4A"/>
                </a:solidFill>
                <a:latin typeface="Raleway" pitchFamily="2" charset="0"/>
                <a:ea typeface="Calibri" pitchFamily="34" charset="-122"/>
                <a:cs typeface="Calibri" pitchFamily="34" charset="-120"/>
              </a:rPr>
              <a:t>Technology &amp; IT Advisory</a:t>
            </a:r>
          </a:p>
          <a:p>
            <a:pPr>
              <a:lnSpc>
                <a:spcPts val="1251"/>
              </a:lnSpc>
            </a:pPr>
            <a:endParaRPr lang="en-US" sz="1100" dirty="0">
              <a:latin typeface="Raleway" pitchFamily="2" charset="0"/>
            </a:endParaRPr>
          </a:p>
          <a:p>
            <a:pPr>
              <a:lnSpc>
                <a:spcPts val="1251"/>
              </a:lnSpc>
            </a:pPr>
            <a:r>
              <a:rPr lang="en-US" sz="1100" dirty="0">
                <a:solidFill>
                  <a:srgbClr val="5B6B86"/>
                </a:solidFill>
                <a:latin typeface="Raleway" pitchFamily="2" charset="0"/>
                <a:ea typeface="Calibri" pitchFamily="34" charset="-122"/>
                <a:cs typeface="Calibri" pitchFamily="34" charset="-120"/>
              </a:rPr>
              <a:t>Infrastructure, security, and platform choices</a:t>
            </a:r>
            <a:endParaRPr lang="en-US" sz="1100" dirty="0">
              <a:latin typeface="Raleway" pitchFamily="2" charset="0"/>
            </a:endParaRPr>
          </a:p>
        </p:txBody>
      </p:sp>
      <p:pic>
        <p:nvPicPr>
          <p:cNvPr id="39" name="Image 5" descr="A blue shield with black background&#10;&#10;AI-generated content may be incorrect.">
            <a:extLst>
              <a:ext uri="{FF2B5EF4-FFF2-40B4-BE49-F238E27FC236}">
                <a16:creationId xmlns:a16="http://schemas.microsoft.com/office/drawing/2014/main" id="{1C34CD28-2BF3-1ADD-D4F5-94D1B7E9BCA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35711" y="2642787"/>
            <a:ext cx="256032" cy="256032"/>
          </a:xfrm>
          <a:prstGeom prst="rect">
            <a:avLst/>
          </a:prstGeom>
        </p:spPr>
      </p:pic>
      <p:sp>
        <p:nvSpPr>
          <p:cNvPr id="41" name="Text 35">
            <a:extLst>
              <a:ext uri="{FF2B5EF4-FFF2-40B4-BE49-F238E27FC236}">
                <a16:creationId xmlns:a16="http://schemas.microsoft.com/office/drawing/2014/main" id="{28686CFF-924D-945C-CEE4-09E4103C2E0E}"/>
              </a:ext>
            </a:extLst>
          </p:cNvPr>
          <p:cNvSpPr/>
          <p:nvPr/>
        </p:nvSpPr>
        <p:spPr>
          <a:xfrm>
            <a:off x="8966063" y="2494289"/>
            <a:ext cx="25694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1251"/>
              </a:lnSpc>
            </a:pPr>
            <a:r>
              <a:rPr lang="en-US" sz="1100" b="1" dirty="0">
                <a:solidFill>
                  <a:srgbClr val="1B2A4A"/>
                </a:solidFill>
                <a:latin typeface="Raleway" pitchFamily="2" charset="0"/>
                <a:ea typeface="Calibri" pitchFamily="34" charset="-122"/>
                <a:cs typeface="Calibri" pitchFamily="34" charset="-120"/>
              </a:rPr>
              <a:t>Regulatory &amp; Compliance</a:t>
            </a:r>
          </a:p>
          <a:p>
            <a:pPr>
              <a:lnSpc>
                <a:spcPts val="1251"/>
              </a:lnSpc>
            </a:pPr>
            <a:endParaRPr lang="en-US" sz="1100" dirty="0">
              <a:latin typeface="Raleway" pitchFamily="2" charset="0"/>
            </a:endParaRPr>
          </a:p>
          <a:p>
            <a:pPr>
              <a:lnSpc>
                <a:spcPts val="1251"/>
              </a:lnSpc>
            </a:pPr>
            <a:r>
              <a:rPr lang="en-US" sz="1100" dirty="0">
                <a:solidFill>
                  <a:srgbClr val="5B6B86"/>
                </a:solidFill>
                <a:latin typeface="Raleway" pitchFamily="2" charset="0"/>
                <a:ea typeface="Calibri" pitchFamily="34" charset="-122"/>
                <a:cs typeface="Calibri" pitchFamily="34" charset="-120"/>
              </a:rPr>
              <a:t>Setup requirements incl. cross-border complexity</a:t>
            </a:r>
            <a:endParaRPr lang="en-US" sz="1100" dirty="0">
              <a:latin typeface="Raleway" pitchFamily="2" charset="0"/>
            </a:endParaRPr>
          </a:p>
        </p:txBody>
      </p:sp>
      <p:sp>
        <p:nvSpPr>
          <p:cNvPr id="43" name="Shape 5">
            <a:extLst>
              <a:ext uri="{FF2B5EF4-FFF2-40B4-BE49-F238E27FC236}">
                <a16:creationId xmlns:a16="http://schemas.microsoft.com/office/drawing/2014/main" id="{CDFD70AB-6CFD-3D32-EA6A-88ACCEF64380}"/>
              </a:ext>
            </a:extLst>
          </p:cNvPr>
          <p:cNvSpPr/>
          <p:nvPr/>
        </p:nvSpPr>
        <p:spPr>
          <a:xfrm>
            <a:off x="545527" y="1386821"/>
            <a:ext cx="64008" cy="749808"/>
          </a:xfrm>
          <a:prstGeom prst="rect">
            <a:avLst/>
          </a:prstGeom>
          <a:solidFill>
            <a:srgbClr val="1A9E8F"/>
          </a:solidFill>
          <a:ln/>
        </p:spPr>
        <p:txBody>
          <a:bodyPr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IN" sz="1351">
              <a:latin typeface="Raleway" pitchFamily="2" charset="0"/>
            </a:endParaRPr>
          </a:p>
        </p:txBody>
      </p:sp>
      <p:sp>
        <p:nvSpPr>
          <p:cNvPr id="45" name="Shape 5">
            <a:extLst>
              <a:ext uri="{FF2B5EF4-FFF2-40B4-BE49-F238E27FC236}">
                <a16:creationId xmlns:a16="http://schemas.microsoft.com/office/drawing/2014/main" id="{9961EDFA-D25E-79FD-23FF-3E5462317B5A}"/>
              </a:ext>
            </a:extLst>
          </p:cNvPr>
          <p:cNvSpPr/>
          <p:nvPr/>
        </p:nvSpPr>
        <p:spPr>
          <a:xfrm>
            <a:off x="545527" y="2483839"/>
            <a:ext cx="64008" cy="749808"/>
          </a:xfrm>
          <a:prstGeom prst="rect">
            <a:avLst/>
          </a:prstGeom>
          <a:solidFill>
            <a:srgbClr val="1A9E8F"/>
          </a:solidFill>
          <a:ln/>
        </p:spPr>
        <p:txBody>
          <a:bodyPr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IN" sz="1351">
              <a:latin typeface="Raleway" pitchFamily="2" charset="0"/>
            </a:endParaRPr>
          </a:p>
        </p:txBody>
      </p:sp>
      <p:sp>
        <p:nvSpPr>
          <p:cNvPr id="47" name="Shape 5">
            <a:extLst>
              <a:ext uri="{FF2B5EF4-FFF2-40B4-BE49-F238E27FC236}">
                <a16:creationId xmlns:a16="http://schemas.microsoft.com/office/drawing/2014/main" id="{1292AB2C-0644-8588-6340-5CB0D174661B}"/>
              </a:ext>
            </a:extLst>
          </p:cNvPr>
          <p:cNvSpPr/>
          <p:nvPr/>
        </p:nvSpPr>
        <p:spPr>
          <a:xfrm>
            <a:off x="4421215" y="1360545"/>
            <a:ext cx="64008" cy="749808"/>
          </a:xfrm>
          <a:prstGeom prst="rect">
            <a:avLst/>
          </a:prstGeom>
          <a:solidFill>
            <a:srgbClr val="1A9E8F"/>
          </a:solidFill>
          <a:ln/>
        </p:spPr>
        <p:txBody>
          <a:bodyPr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IN" sz="1351">
              <a:latin typeface="Raleway" pitchFamily="2" charset="0"/>
            </a:endParaRPr>
          </a:p>
        </p:txBody>
      </p:sp>
      <p:sp>
        <p:nvSpPr>
          <p:cNvPr id="49" name="Shape 5">
            <a:extLst>
              <a:ext uri="{FF2B5EF4-FFF2-40B4-BE49-F238E27FC236}">
                <a16:creationId xmlns:a16="http://schemas.microsoft.com/office/drawing/2014/main" id="{AE7A3464-AABE-F751-9125-47299A9668B5}"/>
              </a:ext>
            </a:extLst>
          </p:cNvPr>
          <p:cNvSpPr/>
          <p:nvPr/>
        </p:nvSpPr>
        <p:spPr>
          <a:xfrm>
            <a:off x="4421215" y="2503545"/>
            <a:ext cx="64008" cy="749808"/>
          </a:xfrm>
          <a:prstGeom prst="rect">
            <a:avLst/>
          </a:prstGeom>
          <a:solidFill>
            <a:srgbClr val="1A9E8F"/>
          </a:solidFill>
          <a:ln/>
        </p:spPr>
        <p:txBody>
          <a:bodyPr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IN" sz="1351">
              <a:latin typeface="Raleway" pitchFamily="2" charset="0"/>
            </a:endParaRPr>
          </a:p>
        </p:txBody>
      </p:sp>
      <p:sp>
        <p:nvSpPr>
          <p:cNvPr id="51" name="Shape 5">
            <a:extLst>
              <a:ext uri="{FF2B5EF4-FFF2-40B4-BE49-F238E27FC236}">
                <a16:creationId xmlns:a16="http://schemas.microsoft.com/office/drawing/2014/main" id="{05A2FD1F-29F0-3B70-3714-38018E14DC7A}"/>
              </a:ext>
            </a:extLst>
          </p:cNvPr>
          <p:cNvSpPr/>
          <p:nvPr/>
        </p:nvSpPr>
        <p:spPr>
          <a:xfrm>
            <a:off x="8310043" y="1334269"/>
            <a:ext cx="64008" cy="749808"/>
          </a:xfrm>
          <a:prstGeom prst="rect">
            <a:avLst/>
          </a:prstGeom>
          <a:solidFill>
            <a:srgbClr val="1A9E8F"/>
          </a:solidFill>
          <a:ln/>
        </p:spPr>
        <p:txBody>
          <a:bodyPr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IN" sz="1351">
              <a:latin typeface="Raleway" pitchFamily="2" charset="0"/>
            </a:endParaRPr>
          </a:p>
        </p:txBody>
      </p:sp>
      <p:sp>
        <p:nvSpPr>
          <p:cNvPr id="53" name="Shape 5">
            <a:extLst>
              <a:ext uri="{FF2B5EF4-FFF2-40B4-BE49-F238E27FC236}">
                <a16:creationId xmlns:a16="http://schemas.microsoft.com/office/drawing/2014/main" id="{871C464D-666F-0EA6-2ED0-D84D28529855}"/>
              </a:ext>
            </a:extLst>
          </p:cNvPr>
          <p:cNvSpPr/>
          <p:nvPr/>
        </p:nvSpPr>
        <p:spPr>
          <a:xfrm>
            <a:off x="8310043" y="2523253"/>
            <a:ext cx="64008" cy="749808"/>
          </a:xfrm>
          <a:prstGeom prst="rect">
            <a:avLst/>
          </a:prstGeom>
          <a:solidFill>
            <a:srgbClr val="1A9E8F"/>
          </a:solidFill>
          <a:ln/>
        </p:spPr>
        <p:txBody>
          <a:bodyPr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IN" sz="1351">
              <a:latin typeface="Raleway" pitchFamily="2" charset="0"/>
            </a:endParaRPr>
          </a:p>
        </p:txBody>
      </p:sp>
      <p:sp>
        <p:nvSpPr>
          <p:cNvPr id="55" name="Text 3">
            <a:extLst>
              <a:ext uri="{FF2B5EF4-FFF2-40B4-BE49-F238E27FC236}">
                <a16:creationId xmlns:a16="http://schemas.microsoft.com/office/drawing/2014/main" id="{09F889FB-3341-BF6B-DBB5-39B953E2C185}"/>
              </a:ext>
            </a:extLst>
          </p:cNvPr>
          <p:cNvSpPr/>
          <p:nvPr/>
        </p:nvSpPr>
        <p:spPr>
          <a:xfrm>
            <a:off x="898899" y="737164"/>
            <a:ext cx="10881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sz="1500" dirty="0">
              <a:latin typeface="Oswald" panose="00000500000000000000" pitchFamily="2" charset="0"/>
            </a:endParaRPr>
          </a:p>
        </p:txBody>
      </p:sp>
      <p:pic>
        <p:nvPicPr>
          <p:cNvPr id="57" name="Picture 56" descr="A screenshot of a computer&#10;&#10;AI-generated content may be incorrect.">
            <a:extLst>
              <a:ext uri="{FF2B5EF4-FFF2-40B4-BE49-F238E27FC236}">
                <a16:creationId xmlns:a16="http://schemas.microsoft.com/office/drawing/2014/main" id="{3F923F85-373A-773B-6CF5-E336710B3B18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r="-51" b="494"/>
          <a:stretch>
            <a:fillRect/>
          </a:stretch>
        </p:blipFill>
        <p:spPr>
          <a:xfrm>
            <a:off x="381000" y="3963672"/>
            <a:ext cx="11435781" cy="2337897"/>
          </a:xfrm>
          <a:prstGeom prst="rect">
            <a:avLst/>
          </a:prstGeom>
        </p:spPr>
      </p:pic>
      <p:sp>
        <p:nvSpPr>
          <p:cNvPr id="58" name="Text 3">
            <a:extLst>
              <a:ext uri="{FF2B5EF4-FFF2-40B4-BE49-F238E27FC236}">
                <a16:creationId xmlns:a16="http://schemas.microsoft.com/office/drawing/2014/main" id="{9975DB06-9287-12C5-1354-E3D7B352D11D}"/>
              </a:ext>
            </a:extLst>
          </p:cNvPr>
          <p:cNvSpPr/>
          <p:nvPr/>
        </p:nvSpPr>
        <p:spPr>
          <a:xfrm>
            <a:off x="543299" y="3539937"/>
            <a:ext cx="10881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200" b="1" kern="0" spc="151">
                <a:solidFill>
                  <a:srgbClr val="147A6F"/>
                </a:solidFill>
                <a:latin typeface="Raleway" pitchFamily="2" charset="0"/>
                <a:ea typeface="Calibri"/>
                <a:cs typeface="Calibri"/>
              </a:rPr>
              <a:t>ENGAGEMENT MODELS</a:t>
            </a:r>
            <a:endParaRPr lang="en-US" sz="1200" b="1" kern="0" spc="151" dirty="0">
              <a:solidFill>
                <a:srgbClr val="147A6F"/>
              </a:solidFill>
              <a:latin typeface="Raleway" pitchFamily="2" charset="0"/>
              <a:ea typeface="Calibri"/>
              <a:cs typeface="Calibri"/>
            </a:endParaRPr>
          </a:p>
        </p:txBody>
      </p:sp>
      <p:pic>
        <p:nvPicPr>
          <p:cNvPr id="4" name="Image 2" descr="gen-dedup-fa42f52387628f3d1450b94c6ddb571f.png">
            <a:extLst>
              <a:ext uri="{FF2B5EF4-FFF2-40B4-BE49-F238E27FC236}">
                <a16:creationId xmlns:a16="http://schemas.microsoft.com/office/drawing/2014/main" id="{14A324AB-509B-CFB1-6000-F44EE7DA217B}"/>
              </a:ext>
            </a:extLst>
          </p:cNvPr>
          <p:cNvPicPr>
            <a:picLocks noChangeAspect="1"/>
          </p:cNvPicPr>
          <p:nvPr/>
        </p:nvPicPr>
        <p:blipFill>
          <a:blip r:embed="rId9"/>
          <a:srcRect l="-406" r="-406"/>
          <a:stretch/>
        </p:blipFill>
        <p:spPr>
          <a:xfrm>
            <a:off x="560571" y="249821"/>
            <a:ext cx="57607" cy="6190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3316495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8858707" y="-952805"/>
            <a:ext cx="3810305" cy="3810305"/>
          </a:xfrm>
          <a:prstGeom prst="ellipse">
            <a:avLst/>
          </a:prstGeom>
          <a:solidFill>
            <a:srgbClr val="2A9D8F">
              <a:alpha val="3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-476402" y="4000500"/>
            <a:ext cx="2381098" cy="2381098"/>
          </a:xfrm>
          <a:prstGeom prst="ellipse">
            <a:avLst/>
          </a:prstGeom>
          <a:solidFill>
            <a:srgbClr val="D62839">
              <a:alpha val="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6" name="Image 0" descr="gen-dedup-37abb9d8cc081a24feb608c288538026.png"/>
          <p:cNvPicPr>
            <a:picLocks noChangeAspect="1"/>
          </p:cNvPicPr>
          <p:nvPr/>
        </p:nvPicPr>
        <p:blipFill>
          <a:blip r:embed="rId3"/>
          <a:srcRect l="-198" r="-198"/>
          <a:stretch/>
        </p:blipFill>
        <p:spPr>
          <a:xfrm>
            <a:off x="0" y="0"/>
            <a:ext cx="8124444" cy="75895"/>
          </a:xfrm>
          <a:prstGeom prst="rect">
            <a:avLst/>
          </a:prstGeom>
        </p:spPr>
      </p:pic>
      <p:pic>
        <p:nvPicPr>
          <p:cNvPr id="7" name="Image 1" descr="gen-dedup-c2c9136402f20c216bf7cbcc052ad1a0.png"/>
          <p:cNvPicPr>
            <a:picLocks noChangeAspect="1"/>
          </p:cNvPicPr>
          <p:nvPr/>
        </p:nvPicPr>
        <p:blipFill>
          <a:blip r:embed="rId4"/>
          <a:srcRect l="-202" r="-202"/>
          <a:stretch/>
        </p:blipFill>
        <p:spPr>
          <a:xfrm>
            <a:off x="8124444" y="0"/>
            <a:ext cx="4067251" cy="75895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609905" y="1238098"/>
            <a:ext cx="5257800" cy="5381244"/>
          </a:xfrm>
          <a:prstGeom prst="roundRect">
            <a:avLst>
              <a:gd name="adj" fmla="val 1443"/>
            </a:avLst>
          </a:prstGeom>
          <a:solidFill>
            <a:srgbClr val="F0FDFA"/>
          </a:solidFill>
          <a:ln w="12700">
            <a:solidFill>
              <a:srgbClr val="CCFBF1"/>
            </a:solidFill>
            <a:prstDash val="solid"/>
          </a:ln>
          <a:effectLst>
            <a:outerShdw blurRad="63500" dist="38100" dir="16200000" algn="bl" rotWithShape="0">
              <a:srgbClr val="000000">
                <a:alpha val="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5"/>
          <p:cNvSpPr/>
          <p:nvPr/>
        </p:nvSpPr>
        <p:spPr>
          <a:xfrm>
            <a:off x="609905" y="1238098"/>
            <a:ext cx="5257800" cy="38405"/>
          </a:xfrm>
          <a:prstGeom prst="roundRect">
            <a:avLst>
              <a:gd name="adj" fmla="val 197618"/>
            </a:avLst>
          </a:prstGeom>
          <a:solidFill>
            <a:srgbClr val="2A9D8F"/>
          </a:solidFill>
          <a:ln w="12700">
            <a:solidFill>
              <a:srgbClr val="2A9D8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6"/>
          <p:cNvSpPr/>
          <p:nvPr/>
        </p:nvSpPr>
        <p:spPr>
          <a:xfrm>
            <a:off x="6191402" y="1238098"/>
            <a:ext cx="5410505" cy="5381244"/>
          </a:xfrm>
          <a:prstGeom prst="roundRect">
            <a:avLst>
              <a:gd name="adj" fmla="val 1410"/>
            </a:avLst>
          </a:prstGeom>
          <a:solidFill>
            <a:srgbClr val="FFF1F2"/>
          </a:solidFill>
          <a:ln w="12700">
            <a:solidFill>
              <a:srgbClr val="FFE4E6"/>
            </a:solidFill>
            <a:prstDash val="solid"/>
          </a:ln>
          <a:effectLst>
            <a:outerShdw blurRad="63500" dist="38100" dir="16200000" algn="bl" rotWithShape="0">
              <a:srgbClr val="000000">
                <a:alpha val="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7"/>
          <p:cNvSpPr/>
          <p:nvPr/>
        </p:nvSpPr>
        <p:spPr>
          <a:xfrm>
            <a:off x="6191402" y="1238098"/>
            <a:ext cx="5410505" cy="38405"/>
          </a:xfrm>
          <a:prstGeom prst="roundRect">
            <a:avLst>
              <a:gd name="adj" fmla="val 197618"/>
            </a:avLst>
          </a:prstGeom>
          <a:solidFill>
            <a:srgbClr val="D62839"/>
          </a:solidFill>
          <a:ln w="12700">
            <a:solidFill>
              <a:srgbClr val="D62839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8"/>
          <p:cNvSpPr/>
          <p:nvPr/>
        </p:nvSpPr>
        <p:spPr>
          <a:xfrm>
            <a:off x="800100" y="2095805"/>
            <a:ext cx="4895698" cy="1304849"/>
          </a:xfrm>
          <a:prstGeom prst="roundRect">
            <a:avLst>
              <a:gd name="adj" fmla="val 441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9"/>
          <p:cNvSpPr/>
          <p:nvPr/>
        </p:nvSpPr>
        <p:spPr>
          <a:xfrm>
            <a:off x="800100" y="2095805"/>
            <a:ext cx="28346" cy="1304849"/>
          </a:xfrm>
          <a:prstGeom prst="roundRect">
            <a:avLst>
              <a:gd name="adj" fmla="val 203229"/>
            </a:avLst>
          </a:prstGeom>
          <a:solidFill>
            <a:srgbClr val="2A9D8F"/>
          </a:solidFill>
          <a:ln w="12700">
            <a:solidFill>
              <a:srgbClr val="2A9D8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0"/>
          <p:cNvSpPr/>
          <p:nvPr/>
        </p:nvSpPr>
        <p:spPr>
          <a:xfrm>
            <a:off x="800100" y="3524098"/>
            <a:ext cx="4895698" cy="1304849"/>
          </a:xfrm>
          <a:prstGeom prst="roundRect">
            <a:avLst>
              <a:gd name="adj" fmla="val 441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1"/>
          <p:cNvSpPr/>
          <p:nvPr/>
        </p:nvSpPr>
        <p:spPr>
          <a:xfrm>
            <a:off x="800100" y="3524098"/>
            <a:ext cx="28346" cy="1304849"/>
          </a:xfrm>
          <a:prstGeom prst="roundRect">
            <a:avLst>
              <a:gd name="adj" fmla="val 203229"/>
            </a:avLst>
          </a:prstGeom>
          <a:solidFill>
            <a:srgbClr val="2A9D8F"/>
          </a:solidFill>
          <a:ln w="12700">
            <a:solidFill>
              <a:srgbClr val="2A9D8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2"/>
          <p:cNvSpPr/>
          <p:nvPr/>
        </p:nvSpPr>
        <p:spPr>
          <a:xfrm>
            <a:off x="800100" y="4953305"/>
            <a:ext cx="4895698" cy="1304849"/>
          </a:xfrm>
          <a:prstGeom prst="roundRect">
            <a:avLst>
              <a:gd name="adj" fmla="val 441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3"/>
          <p:cNvSpPr/>
          <p:nvPr/>
        </p:nvSpPr>
        <p:spPr>
          <a:xfrm>
            <a:off x="800100" y="4953305"/>
            <a:ext cx="28346" cy="1304849"/>
          </a:xfrm>
          <a:prstGeom prst="roundRect">
            <a:avLst>
              <a:gd name="adj" fmla="val 203229"/>
            </a:avLst>
          </a:prstGeom>
          <a:solidFill>
            <a:srgbClr val="2A9D8F"/>
          </a:solidFill>
          <a:ln w="12700">
            <a:solidFill>
              <a:srgbClr val="2A9D8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4"/>
          <p:cNvSpPr/>
          <p:nvPr/>
        </p:nvSpPr>
        <p:spPr>
          <a:xfrm>
            <a:off x="6381598" y="2048256"/>
            <a:ext cx="5048402" cy="685800"/>
          </a:xfrm>
          <a:prstGeom prst="roundRect">
            <a:avLst>
              <a:gd name="adj" fmla="val 84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5"/>
          <p:cNvSpPr/>
          <p:nvPr/>
        </p:nvSpPr>
        <p:spPr>
          <a:xfrm>
            <a:off x="6381598" y="2048256"/>
            <a:ext cx="28346" cy="685800"/>
          </a:xfrm>
          <a:prstGeom prst="roundRect">
            <a:avLst>
              <a:gd name="adj" fmla="val 203229"/>
            </a:avLst>
          </a:prstGeom>
          <a:solidFill>
            <a:srgbClr val="D62839"/>
          </a:solidFill>
          <a:ln w="12700">
            <a:solidFill>
              <a:srgbClr val="D62839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6"/>
          <p:cNvSpPr/>
          <p:nvPr/>
        </p:nvSpPr>
        <p:spPr>
          <a:xfrm>
            <a:off x="6381598" y="2809951"/>
            <a:ext cx="5048402" cy="685800"/>
          </a:xfrm>
          <a:prstGeom prst="roundRect">
            <a:avLst>
              <a:gd name="adj" fmla="val 84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7"/>
          <p:cNvSpPr/>
          <p:nvPr/>
        </p:nvSpPr>
        <p:spPr>
          <a:xfrm>
            <a:off x="6381598" y="2809951"/>
            <a:ext cx="28346" cy="685800"/>
          </a:xfrm>
          <a:prstGeom prst="roundRect">
            <a:avLst>
              <a:gd name="adj" fmla="val 203229"/>
            </a:avLst>
          </a:prstGeom>
          <a:solidFill>
            <a:srgbClr val="D62839"/>
          </a:solidFill>
          <a:ln w="12700">
            <a:solidFill>
              <a:srgbClr val="D62839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18"/>
          <p:cNvSpPr/>
          <p:nvPr/>
        </p:nvSpPr>
        <p:spPr>
          <a:xfrm>
            <a:off x="6381598" y="3571646"/>
            <a:ext cx="5048402" cy="685800"/>
          </a:xfrm>
          <a:prstGeom prst="roundRect">
            <a:avLst>
              <a:gd name="adj" fmla="val 84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Shape 19"/>
          <p:cNvSpPr/>
          <p:nvPr/>
        </p:nvSpPr>
        <p:spPr>
          <a:xfrm>
            <a:off x="6381598" y="3571646"/>
            <a:ext cx="28346" cy="685800"/>
          </a:xfrm>
          <a:prstGeom prst="roundRect">
            <a:avLst>
              <a:gd name="adj" fmla="val 203229"/>
            </a:avLst>
          </a:prstGeom>
          <a:solidFill>
            <a:srgbClr val="D62839"/>
          </a:solidFill>
          <a:ln w="12700">
            <a:solidFill>
              <a:srgbClr val="D62839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0"/>
          <p:cNvSpPr/>
          <p:nvPr/>
        </p:nvSpPr>
        <p:spPr>
          <a:xfrm>
            <a:off x="6381598" y="4334256"/>
            <a:ext cx="5048402" cy="685800"/>
          </a:xfrm>
          <a:prstGeom prst="roundRect">
            <a:avLst>
              <a:gd name="adj" fmla="val 84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Shape 21"/>
          <p:cNvSpPr/>
          <p:nvPr/>
        </p:nvSpPr>
        <p:spPr>
          <a:xfrm>
            <a:off x="6381598" y="4334256"/>
            <a:ext cx="28346" cy="685800"/>
          </a:xfrm>
          <a:prstGeom prst="roundRect">
            <a:avLst>
              <a:gd name="adj" fmla="val 203229"/>
            </a:avLst>
          </a:prstGeom>
          <a:solidFill>
            <a:srgbClr val="D62839"/>
          </a:solidFill>
          <a:ln w="12700">
            <a:solidFill>
              <a:srgbClr val="D62839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Shape 22"/>
          <p:cNvSpPr/>
          <p:nvPr/>
        </p:nvSpPr>
        <p:spPr>
          <a:xfrm>
            <a:off x="6381598" y="5095951"/>
            <a:ext cx="5048402" cy="685800"/>
          </a:xfrm>
          <a:prstGeom prst="roundRect">
            <a:avLst>
              <a:gd name="adj" fmla="val 84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Shape 23"/>
          <p:cNvSpPr/>
          <p:nvPr/>
        </p:nvSpPr>
        <p:spPr>
          <a:xfrm>
            <a:off x="6381598" y="5095951"/>
            <a:ext cx="28346" cy="685800"/>
          </a:xfrm>
          <a:prstGeom prst="roundRect">
            <a:avLst>
              <a:gd name="adj" fmla="val 203229"/>
            </a:avLst>
          </a:prstGeom>
          <a:solidFill>
            <a:srgbClr val="D62839"/>
          </a:solidFill>
          <a:ln w="12700">
            <a:solidFill>
              <a:srgbClr val="D62839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Shape 24"/>
          <p:cNvSpPr/>
          <p:nvPr/>
        </p:nvSpPr>
        <p:spPr>
          <a:xfrm>
            <a:off x="6381598" y="5857646"/>
            <a:ext cx="5048402" cy="685800"/>
          </a:xfrm>
          <a:prstGeom prst="roundRect">
            <a:avLst>
              <a:gd name="adj" fmla="val 84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Shape 25"/>
          <p:cNvSpPr/>
          <p:nvPr/>
        </p:nvSpPr>
        <p:spPr>
          <a:xfrm>
            <a:off x="6381598" y="5857646"/>
            <a:ext cx="28346" cy="685800"/>
          </a:xfrm>
          <a:prstGeom prst="roundRect">
            <a:avLst>
              <a:gd name="adj" fmla="val 203229"/>
            </a:avLst>
          </a:prstGeom>
          <a:solidFill>
            <a:srgbClr val="D62839"/>
          </a:solidFill>
          <a:ln w="12700">
            <a:solidFill>
              <a:srgbClr val="D62839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0" name="Image 2" descr="gen-dedup-6bfc16d6ff4fed65d6f2f0ea4f4ba268.png"/>
          <p:cNvPicPr>
            <a:picLocks noChangeAspect="1"/>
          </p:cNvPicPr>
          <p:nvPr/>
        </p:nvPicPr>
        <p:blipFill>
          <a:blip r:embed="rId5"/>
          <a:srcRect l="-437" r="-437"/>
          <a:stretch/>
        </p:blipFill>
        <p:spPr>
          <a:xfrm>
            <a:off x="609905" y="390449"/>
            <a:ext cx="57607" cy="418795"/>
          </a:xfrm>
          <a:prstGeom prst="rect">
            <a:avLst/>
          </a:prstGeom>
        </p:spPr>
      </p:pic>
      <p:sp>
        <p:nvSpPr>
          <p:cNvPr id="31" name="Text 26"/>
          <p:cNvSpPr txBox="1"/>
          <p:nvPr/>
        </p:nvSpPr>
        <p:spPr>
          <a:xfrm>
            <a:off x="819302" y="390449"/>
            <a:ext cx="10478110" cy="3621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500" b="1">
                <a:solidFill>
                  <a:srgbClr val="11182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GREENFIELD &amp; BROWNFIELD USE CASES</a:t>
            </a:r>
            <a:endParaRPr lang="en-US" sz="2500"/>
          </a:p>
        </p:txBody>
      </p:sp>
      <p:sp>
        <p:nvSpPr>
          <p:cNvPr id="32" name="Text 27"/>
          <p:cNvSpPr txBox="1"/>
          <p:nvPr/>
        </p:nvSpPr>
        <p:spPr>
          <a:xfrm>
            <a:off x="819302" y="784555"/>
            <a:ext cx="10478110" cy="1719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kern="0" spc="56" dirty="0" err="1">
                <a:solidFill>
                  <a:srgbClr val="2A9D8F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Gcc</a:t>
            </a:r>
            <a:r>
              <a:rPr lang="en-US" sz="1500" b="1" kern="0" spc="56" dirty="0">
                <a:solidFill>
                  <a:srgbClr val="2A9D8F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 Strategy &amp; Transformation Pathways</a:t>
            </a:r>
            <a:endParaRPr lang="en-US" sz="1500" dirty="0">
              <a:solidFill>
                <a:srgbClr val="2A9D8F"/>
              </a:solidFill>
            </a:endParaRPr>
          </a:p>
        </p:txBody>
      </p:sp>
      <p:sp>
        <p:nvSpPr>
          <p:cNvPr id="33" name="Text 28"/>
          <p:cNvSpPr txBox="1"/>
          <p:nvPr/>
        </p:nvSpPr>
        <p:spPr>
          <a:xfrm>
            <a:off x="1104595" y="1380744"/>
            <a:ext cx="4553712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b="1">
                <a:solidFill>
                  <a:srgbClr val="11182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GREENFIELD</a:t>
            </a:r>
            <a:endParaRPr lang="en-US" sz="1800"/>
          </a:p>
        </p:txBody>
      </p:sp>
      <p:pic>
        <p:nvPicPr>
          <p:cNvPr id="34" name="Image 3" descr="gen-dedup-3063db8b8b54f844b0a7dab11828a6a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800100" y="1457554"/>
            <a:ext cx="190195" cy="190195"/>
          </a:xfrm>
          <a:prstGeom prst="rect">
            <a:avLst/>
          </a:prstGeom>
        </p:spPr>
      </p:pic>
      <p:sp>
        <p:nvSpPr>
          <p:cNvPr id="35" name="Text 29"/>
          <p:cNvSpPr txBox="1"/>
          <p:nvPr/>
        </p:nvSpPr>
        <p:spPr>
          <a:xfrm>
            <a:off x="1104595" y="1762049"/>
            <a:ext cx="4553712" cy="1527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 b="1" i="1">
                <a:solidFill>
                  <a:srgbClr val="47556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Building a new GCC from the ground up</a:t>
            </a:r>
            <a:endParaRPr lang="en-US" sz="1000"/>
          </a:p>
        </p:txBody>
      </p:sp>
      <p:sp>
        <p:nvSpPr>
          <p:cNvPr id="36" name="Shape 30"/>
          <p:cNvSpPr/>
          <p:nvPr/>
        </p:nvSpPr>
        <p:spPr>
          <a:xfrm>
            <a:off x="990295" y="2238451"/>
            <a:ext cx="228600" cy="22860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Text 31"/>
          <p:cNvSpPr/>
          <p:nvPr/>
        </p:nvSpPr>
        <p:spPr>
          <a:xfrm>
            <a:off x="990295" y="2238451"/>
            <a:ext cx="228600" cy="22860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00" b="1">
                <a:solidFill>
                  <a:srgbClr val="FFFFFF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1</a:t>
            </a:r>
            <a:endParaRPr lang="en-US" sz="900"/>
          </a:p>
        </p:txBody>
      </p:sp>
      <p:sp>
        <p:nvSpPr>
          <p:cNvPr id="38" name="Text 32"/>
          <p:cNvSpPr txBox="1"/>
          <p:nvPr/>
        </p:nvSpPr>
        <p:spPr>
          <a:xfrm>
            <a:off x="1333195" y="2238451"/>
            <a:ext cx="4321454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>
                <a:solidFill>
                  <a:srgbClr val="1F293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Establish a new GCC that is AI-native from day one</a:t>
            </a:r>
            <a:endParaRPr lang="en-US" sz="1200"/>
          </a:p>
        </p:txBody>
      </p:sp>
      <p:sp>
        <p:nvSpPr>
          <p:cNvPr id="39" name="Shape 33"/>
          <p:cNvSpPr/>
          <p:nvPr/>
        </p:nvSpPr>
        <p:spPr>
          <a:xfrm>
            <a:off x="1333195" y="2581351"/>
            <a:ext cx="4134002" cy="342900"/>
          </a:xfrm>
          <a:prstGeom prst="roundRect">
            <a:avLst>
              <a:gd name="adj" fmla="val 11200"/>
            </a:avLst>
          </a:prstGeom>
          <a:solidFill>
            <a:srgbClr val="F8FA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0" name="Shape 34"/>
          <p:cNvSpPr/>
          <p:nvPr/>
        </p:nvSpPr>
        <p:spPr>
          <a:xfrm>
            <a:off x="1333195" y="2581351"/>
            <a:ext cx="19202" cy="342900"/>
          </a:xfrm>
          <a:prstGeom prst="roundRect">
            <a:avLst>
              <a:gd name="adj" fmla="val 200004"/>
            </a:avLst>
          </a:prstGeom>
          <a:solidFill>
            <a:srgbClr val="94A3B8"/>
          </a:solidFill>
          <a:ln w="12700">
            <a:solidFill>
              <a:srgbClr val="94A3B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Text 35"/>
          <p:cNvSpPr txBox="1"/>
          <p:nvPr/>
        </p:nvSpPr>
        <p:spPr>
          <a:xfrm>
            <a:off x="1719072" y="2676449"/>
            <a:ext cx="3615538" cy="1527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52">
                <a:solidFill>
                  <a:srgbClr val="2A9D8F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Time to first value</a:t>
            </a:r>
            <a:endParaRPr lang="en-US" sz="1000"/>
          </a:p>
        </p:txBody>
      </p:sp>
      <p:pic>
        <p:nvPicPr>
          <p:cNvPr id="42" name="Image 4" descr="gen-dedup-51560749890e099b4f0b94d98ab81c97.png"/>
          <p:cNvPicPr>
            <a:picLocks noChangeAspect="1"/>
          </p:cNvPicPr>
          <p:nvPr/>
        </p:nvPicPr>
        <p:blipFill>
          <a:blip r:embed="rId7"/>
          <a:srcRect l="-3425" r="-3425"/>
          <a:stretch/>
        </p:blipFill>
        <p:spPr>
          <a:xfrm>
            <a:off x="1485900" y="2683764"/>
            <a:ext cx="142646" cy="133502"/>
          </a:xfrm>
          <a:prstGeom prst="rect">
            <a:avLst/>
          </a:prstGeom>
        </p:spPr>
      </p:pic>
      <p:sp>
        <p:nvSpPr>
          <p:cNvPr id="43" name="Shape 36"/>
          <p:cNvSpPr/>
          <p:nvPr/>
        </p:nvSpPr>
        <p:spPr>
          <a:xfrm>
            <a:off x="990295" y="3666744"/>
            <a:ext cx="228600" cy="22860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" name="Text 37"/>
          <p:cNvSpPr/>
          <p:nvPr/>
        </p:nvSpPr>
        <p:spPr>
          <a:xfrm>
            <a:off x="990295" y="3666744"/>
            <a:ext cx="228600" cy="22860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00" b="1">
                <a:solidFill>
                  <a:srgbClr val="FFFFFF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2</a:t>
            </a:r>
            <a:endParaRPr lang="en-US" sz="900"/>
          </a:p>
        </p:txBody>
      </p:sp>
      <p:sp>
        <p:nvSpPr>
          <p:cNvPr id="45" name="Text 38"/>
          <p:cNvSpPr txBox="1"/>
          <p:nvPr/>
        </p:nvSpPr>
        <p:spPr>
          <a:xfrm>
            <a:off x="1333195" y="3666744"/>
            <a:ext cx="4648810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>
                <a:solidFill>
                  <a:srgbClr val="1F293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Stand up a capability or engineering function at speed</a:t>
            </a:r>
            <a:endParaRPr lang="en-US" sz="1200"/>
          </a:p>
        </p:txBody>
      </p:sp>
      <p:sp>
        <p:nvSpPr>
          <p:cNvPr id="46" name="Shape 39"/>
          <p:cNvSpPr/>
          <p:nvPr/>
        </p:nvSpPr>
        <p:spPr>
          <a:xfrm>
            <a:off x="1333195" y="4009644"/>
            <a:ext cx="4134002" cy="342900"/>
          </a:xfrm>
          <a:prstGeom prst="roundRect">
            <a:avLst>
              <a:gd name="adj" fmla="val 11200"/>
            </a:avLst>
          </a:prstGeom>
          <a:solidFill>
            <a:srgbClr val="F8FA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7" name="Shape 40"/>
          <p:cNvSpPr/>
          <p:nvPr/>
        </p:nvSpPr>
        <p:spPr>
          <a:xfrm>
            <a:off x="1333195" y="4009644"/>
            <a:ext cx="19202" cy="342900"/>
          </a:xfrm>
          <a:prstGeom prst="roundRect">
            <a:avLst>
              <a:gd name="adj" fmla="val 200004"/>
            </a:avLst>
          </a:prstGeom>
          <a:solidFill>
            <a:srgbClr val="94A3B8"/>
          </a:solidFill>
          <a:ln w="12700">
            <a:solidFill>
              <a:srgbClr val="94A3B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8" name="Text 41"/>
          <p:cNvSpPr txBox="1"/>
          <p:nvPr/>
        </p:nvSpPr>
        <p:spPr>
          <a:xfrm>
            <a:off x="1751990" y="4105656"/>
            <a:ext cx="3582619" cy="1527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52">
                <a:solidFill>
                  <a:srgbClr val="2A9D8F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300 engineers in 60 days, 0% attrition</a:t>
            </a:r>
            <a:endParaRPr lang="en-US" sz="1000"/>
          </a:p>
        </p:txBody>
      </p:sp>
      <p:pic>
        <p:nvPicPr>
          <p:cNvPr id="49" name="Image 5" descr="gen-dedup-2884c36795c02f4b5ed120dc5847c6b9.png"/>
          <p:cNvPicPr>
            <a:picLocks noChangeAspect="1"/>
          </p:cNvPicPr>
          <p:nvPr/>
        </p:nvPicPr>
        <p:blipFill>
          <a:blip r:embed="rId8"/>
          <a:srcRect l="-1507" r="-1507"/>
          <a:stretch/>
        </p:blipFill>
        <p:spPr>
          <a:xfrm>
            <a:off x="1485900" y="4112057"/>
            <a:ext cx="171907" cy="133502"/>
          </a:xfrm>
          <a:prstGeom prst="rect">
            <a:avLst/>
          </a:prstGeom>
        </p:spPr>
      </p:pic>
      <p:sp>
        <p:nvSpPr>
          <p:cNvPr id="50" name="Shape 42"/>
          <p:cNvSpPr/>
          <p:nvPr/>
        </p:nvSpPr>
        <p:spPr>
          <a:xfrm>
            <a:off x="990295" y="5095951"/>
            <a:ext cx="228600" cy="22860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1" name="Text 43"/>
          <p:cNvSpPr/>
          <p:nvPr/>
        </p:nvSpPr>
        <p:spPr>
          <a:xfrm>
            <a:off x="990295" y="5095951"/>
            <a:ext cx="228600" cy="22860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00" b="1">
                <a:solidFill>
                  <a:srgbClr val="FFFFFF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3</a:t>
            </a:r>
            <a:endParaRPr lang="en-US" sz="900"/>
          </a:p>
        </p:txBody>
      </p:sp>
      <p:sp>
        <p:nvSpPr>
          <p:cNvPr id="52" name="Text 44"/>
          <p:cNvSpPr txBox="1"/>
          <p:nvPr/>
        </p:nvSpPr>
        <p:spPr>
          <a:xfrm>
            <a:off x="1333195" y="5095951"/>
            <a:ext cx="4134002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>
                <a:solidFill>
                  <a:srgbClr val="1F293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Establish a function-specific capability centre as AI-native</a:t>
            </a:r>
            <a:endParaRPr lang="en-US" sz="1200"/>
          </a:p>
        </p:txBody>
      </p:sp>
      <p:sp>
        <p:nvSpPr>
          <p:cNvPr id="53" name="Shape 45"/>
          <p:cNvSpPr/>
          <p:nvPr/>
        </p:nvSpPr>
        <p:spPr>
          <a:xfrm>
            <a:off x="1333195" y="5606186"/>
            <a:ext cx="4134002" cy="342900"/>
          </a:xfrm>
          <a:prstGeom prst="roundRect">
            <a:avLst>
              <a:gd name="adj" fmla="val 11200"/>
            </a:avLst>
          </a:prstGeom>
          <a:solidFill>
            <a:srgbClr val="F8FA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4" name="Shape 46"/>
          <p:cNvSpPr/>
          <p:nvPr/>
        </p:nvSpPr>
        <p:spPr>
          <a:xfrm>
            <a:off x="1333195" y="5606186"/>
            <a:ext cx="19202" cy="342900"/>
          </a:xfrm>
          <a:prstGeom prst="roundRect">
            <a:avLst>
              <a:gd name="adj" fmla="val 200004"/>
            </a:avLst>
          </a:prstGeom>
          <a:solidFill>
            <a:srgbClr val="94A3B8"/>
          </a:solidFill>
          <a:ln w="12700">
            <a:solidFill>
              <a:srgbClr val="94A3B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5" name="Text 47"/>
          <p:cNvSpPr txBox="1"/>
          <p:nvPr/>
        </p:nvSpPr>
        <p:spPr>
          <a:xfrm>
            <a:off x="1723644" y="5701284"/>
            <a:ext cx="3610966" cy="1527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52">
                <a:solidFill>
                  <a:srgbClr val="2A9D8F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23% lead time reduction</a:t>
            </a:r>
            <a:endParaRPr lang="en-US" sz="1000"/>
          </a:p>
        </p:txBody>
      </p:sp>
      <p:pic>
        <p:nvPicPr>
          <p:cNvPr id="56" name="Image 6" descr="gen-dedup-2036ae2e9c63f2cd93ec60dae03cb4ac.png"/>
          <p:cNvPicPr>
            <a:picLocks noChangeAspect="1"/>
          </p:cNvPicPr>
          <p:nvPr/>
        </p:nvPicPr>
        <p:blipFill>
          <a:blip r:embed="rId9"/>
          <a:srcRect l="-3425" r="-3425"/>
          <a:stretch/>
        </p:blipFill>
        <p:spPr>
          <a:xfrm>
            <a:off x="1485900" y="5708599"/>
            <a:ext cx="142646" cy="133502"/>
          </a:xfrm>
          <a:prstGeom prst="rect">
            <a:avLst/>
          </a:prstGeom>
        </p:spPr>
      </p:pic>
      <p:sp>
        <p:nvSpPr>
          <p:cNvPr id="57" name="Text 48"/>
          <p:cNvSpPr txBox="1"/>
          <p:nvPr/>
        </p:nvSpPr>
        <p:spPr>
          <a:xfrm>
            <a:off x="6733642" y="1380744"/>
            <a:ext cx="4658868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b="1">
                <a:solidFill>
                  <a:srgbClr val="11182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BROWNFIELD</a:t>
            </a:r>
            <a:endParaRPr lang="en-US" sz="1800"/>
          </a:p>
        </p:txBody>
      </p:sp>
      <p:pic>
        <p:nvPicPr>
          <p:cNvPr id="58" name="Image 7" descr="gen-dedup-82a1fdef16b450831e091d4acdf0fd27.png"/>
          <p:cNvPicPr>
            <a:picLocks noChangeAspect="1"/>
          </p:cNvPicPr>
          <p:nvPr/>
        </p:nvPicPr>
        <p:blipFill>
          <a:blip r:embed="rId10"/>
          <a:srcRect/>
          <a:stretch/>
        </p:blipFill>
        <p:spPr>
          <a:xfrm>
            <a:off x="6381598" y="1457554"/>
            <a:ext cx="237744" cy="190195"/>
          </a:xfrm>
          <a:prstGeom prst="rect">
            <a:avLst/>
          </a:prstGeom>
        </p:spPr>
      </p:pic>
      <p:sp>
        <p:nvSpPr>
          <p:cNvPr id="59" name="Text 49"/>
          <p:cNvSpPr txBox="1"/>
          <p:nvPr/>
        </p:nvSpPr>
        <p:spPr>
          <a:xfrm>
            <a:off x="6687007" y="1762049"/>
            <a:ext cx="4705502" cy="1527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 b="1" i="1">
                <a:solidFill>
                  <a:srgbClr val="47556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For enterprises whose GCC already runs</a:t>
            </a:r>
            <a:endParaRPr lang="en-US" sz="1000"/>
          </a:p>
        </p:txBody>
      </p:sp>
      <p:sp>
        <p:nvSpPr>
          <p:cNvPr id="60" name="Shape 50"/>
          <p:cNvSpPr/>
          <p:nvPr/>
        </p:nvSpPr>
        <p:spPr>
          <a:xfrm>
            <a:off x="6524244" y="2239366"/>
            <a:ext cx="190195" cy="190195"/>
          </a:xfrm>
          <a:prstGeom prst="ellipse">
            <a:avLst/>
          </a:prstGeom>
          <a:solidFill>
            <a:srgbClr val="D62839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1" name="Text 51"/>
          <p:cNvSpPr/>
          <p:nvPr/>
        </p:nvSpPr>
        <p:spPr>
          <a:xfrm>
            <a:off x="6524244" y="2239366"/>
            <a:ext cx="191110" cy="1911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 b="1">
                <a:solidFill>
                  <a:srgbClr val="FFFFFF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1</a:t>
            </a:r>
            <a:endParaRPr lang="en-US" sz="800"/>
          </a:p>
        </p:txBody>
      </p:sp>
      <p:sp>
        <p:nvSpPr>
          <p:cNvPr id="62" name="Text 52"/>
          <p:cNvSpPr txBox="1"/>
          <p:nvPr/>
        </p:nvSpPr>
        <p:spPr>
          <a:xfrm>
            <a:off x="6829654" y="2220163"/>
            <a:ext cx="2791663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>
                <a:solidFill>
                  <a:srgbClr val="1F293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Shift the GCC operating model from delivery to AI-native ownership</a:t>
            </a:r>
            <a:endParaRPr lang="en-US" sz="900"/>
          </a:p>
        </p:txBody>
      </p:sp>
      <p:sp>
        <p:nvSpPr>
          <p:cNvPr id="63" name="Shape 53"/>
          <p:cNvSpPr/>
          <p:nvPr/>
        </p:nvSpPr>
        <p:spPr>
          <a:xfrm>
            <a:off x="9763049" y="2257654"/>
            <a:ext cx="1524305" cy="247802"/>
          </a:xfrm>
          <a:prstGeom prst="roundRect">
            <a:avLst>
              <a:gd name="adj" fmla="val 15498"/>
            </a:avLst>
          </a:prstGeom>
          <a:solidFill>
            <a:srgbClr val="FFF1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4" name="Text 54"/>
          <p:cNvSpPr txBox="1"/>
          <p:nvPr/>
        </p:nvSpPr>
        <p:spPr>
          <a:xfrm>
            <a:off x="9583826" y="2314346"/>
            <a:ext cx="1608430" cy="1335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lang="en-US" sz="900" b="1">
                <a:solidFill>
                  <a:srgbClr val="D62839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99.8% SLA compliance</a:t>
            </a:r>
            <a:endParaRPr lang="en-US" sz="900"/>
          </a:p>
        </p:txBody>
      </p:sp>
      <p:sp>
        <p:nvSpPr>
          <p:cNvPr id="65" name="Shape 55"/>
          <p:cNvSpPr/>
          <p:nvPr/>
        </p:nvSpPr>
        <p:spPr>
          <a:xfrm>
            <a:off x="6524244" y="3057754"/>
            <a:ext cx="190195" cy="190195"/>
          </a:xfrm>
          <a:prstGeom prst="ellipse">
            <a:avLst/>
          </a:prstGeom>
          <a:solidFill>
            <a:srgbClr val="D62839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6" name="Text 56"/>
          <p:cNvSpPr/>
          <p:nvPr/>
        </p:nvSpPr>
        <p:spPr>
          <a:xfrm>
            <a:off x="6524244" y="3057754"/>
            <a:ext cx="191110" cy="1911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 b="1">
                <a:solidFill>
                  <a:srgbClr val="FFFFFF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2</a:t>
            </a:r>
            <a:endParaRPr lang="en-US" sz="800"/>
          </a:p>
        </p:txBody>
      </p:sp>
      <p:sp>
        <p:nvSpPr>
          <p:cNvPr id="67" name="Text 57"/>
          <p:cNvSpPr txBox="1"/>
          <p:nvPr/>
        </p:nvSpPr>
        <p:spPr>
          <a:xfrm>
            <a:off x="6829654" y="3038551"/>
            <a:ext cx="2595982" cy="1627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>
                <a:solidFill>
                  <a:srgbClr val="1F293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Move stalled AI pilots into production</a:t>
            </a:r>
            <a:endParaRPr lang="en-US" sz="900"/>
          </a:p>
        </p:txBody>
      </p:sp>
      <p:sp>
        <p:nvSpPr>
          <p:cNvPr id="68" name="Shape 58"/>
          <p:cNvSpPr/>
          <p:nvPr/>
        </p:nvSpPr>
        <p:spPr>
          <a:xfrm>
            <a:off x="9763049" y="3019349"/>
            <a:ext cx="1524305" cy="247802"/>
          </a:xfrm>
          <a:prstGeom prst="roundRect">
            <a:avLst>
              <a:gd name="adj" fmla="val 15498"/>
            </a:avLst>
          </a:prstGeom>
          <a:solidFill>
            <a:srgbClr val="FFF1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9" name="Text 59"/>
          <p:cNvSpPr txBox="1"/>
          <p:nvPr/>
        </p:nvSpPr>
        <p:spPr>
          <a:xfrm>
            <a:off x="9858146" y="3076956"/>
            <a:ext cx="1334110" cy="1335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lang="en-US" sz="900" b="1">
                <a:solidFill>
                  <a:srgbClr val="D62839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Time to production</a:t>
            </a:r>
            <a:endParaRPr lang="en-US" sz="900"/>
          </a:p>
        </p:txBody>
      </p:sp>
      <p:sp>
        <p:nvSpPr>
          <p:cNvPr id="70" name="Shape 60"/>
          <p:cNvSpPr/>
          <p:nvPr/>
        </p:nvSpPr>
        <p:spPr>
          <a:xfrm>
            <a:off x="6524244" y="3763670"/>
            <a:ext cx="190195" cy="190195"/>
          </a:xfrm>
          <a:prstGeom prst="ellipse">
            <a:avLst/>
          </a:prstGeom>
          <a:solidFill>
            <a:srgbClr val="D62839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1" name="Text 61"/>
          <p:cNvSpPr/>
          <p:nvPr/>
        </p:nvSpPr>
        <p:spPr>
          <a:xfrm>
            <a:off x="6524244" y="3763670"/>
            <a:ext cx="191110" cy="1911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 b="1">
                <a:solidFill>
                  <a:srgbClr val="FFFFFF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3</a:t>
            </a:r>
            <a:endParaRPr lang="en-US" sz="800"/>
          </a:p>
        </p:txBody>
      </p:sp>
      <p:sp>
        <p:nvSpPr>
          <p:cNvPr id="72" name="Text 62"/>
          <p:cNvSpPr txBox="1"/>
          <p:nvPr/>
        </p:nvSpPr>
        <p:spPr>
          <a:xfrm>
            <a:off x="6829654" y="3744468"/>
            <a:ext cx="2791663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>
                <a:solidFill>
                  <a:srgbClr val="1F293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Embed AI into a function to lift output and decisions without adding headcount</a:t>
            </a:r>
            <a:endParaRPr lang="en-US" sz="900"/>
          </a:p>
        </p:txBody>
      </p:sp>
      <p:sp>
        <p:nvSpPr>
          <p:cNvPr id="73" name="Shape 63"/>
          <p:cNvSpPr/>
          <p:nvPr/>
        </p:nvSpPr>
        <p:spPr>
          <a:xfrm>
            <a:off x="9660636" y="3781044"/>
            <a:ext cx="1628546" cy="247802"/>
          </a:xfrm>
          <a:prstGeom prst="roundRect">
            <a:avLst>
              <a:gd name="adj" fmla="val 15498"/>
            </a:avLst>
          </a:prstGeom>
          <a:solidFill>
            <a:srgbClr val="FFF1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4" name="Text 64"/>
          <p:cNvSpPr txBox="1"/>
          <p:nvPr/>
        </p:nvSpPr>
        <p:spPr>
          <a:xfrm>
            <a:off x="9482328" y="3838651"/>
            <a:ext cx="1711757" cy="1335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lang="en-US" sz="900" b="1">
                <a:solidFill>
                  <a:srgbClr val="D62839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300 engineers/60d, 0% attr.</a:t>
            </a:r>
            <a:endParaRPr lang="en-US" sz="900"/>
          </a:p>
        </p:txBody>
      </p:sp>
      <p:sp>
        <p:nvSpPr>
          <p:cNvPr id="75" name="Shape 65"/>
          <p:cNvSpPr/>
          <p:nvPr/>
        </p:nvSpPr>
        <p:spPr>
          <a:xfrm>
            <a:off x="6524244" y="4525366"/>
            <a:ext cx="190195" cy="190195"/>
          </a:xfrm>
          <a:prstGeom prst="ellipse">
            <a:avLst/>
          </a:prstGeom>
          <a:solidFill>
            <a:srgbClr val="D62839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6" name="Text 66"/>
          <p:cNvSpPr/>
          <p:nvPr/>
        </p:nvSpPr>
        <p:spPr>
          <a:xfrm>
            <a:off x="6524244" y="4525366"/>
            <a:ext cx="191110" cy="1911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 b="1">
                <a:solidFill>
                  <a:srgbClr val="FFFFFF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4</a:t>
            </a:r>
            <a:endParaRPr lang="en-US" sz="800"/>
          </a:p>
        </p:txBody>
      </p:sp>
      <p:sp>
        <p:nvSpPr>
          <p:cNvPr id="77" name="Text 67"/>
          <p:cNvSpPr txBox="1"/>
          <p:nvPr/>
        </p:nvSpPr>
        <p:spPr>
          <a:xfrm>
            <a:off x="6829654" y="4506163"/>
            <a:ext cx="2791663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>
                <a:solidFill>
                  <a:srgbClr val="1F293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Unify fragmented and mainframe data into one AI-ready layer</a:t>
            </a:r>
            <a:endParaRPr lang="en-US" sz="900"/>
          </a:p>
        </p:txBody>
      </p:sp>
      <p:sp>
        <p:nvSpPr>
          <p:cNvPr id="78" name="Shape 68"/>
          <p:cNvSpPr/>
          <p:nvPr/>
        </p:nvSpPr>
        <p:spPr>
          <a:xfrm>
            <a:off x="9763049" y="4543654"/>
            <a:ext cx="1524305" cy="247802"/>
          </a:xfrm>
          <a:prstGeom prst="roundRect">
            <a:avLst>
              <a:gd name="adj" fmla="val 15498"/>
            </a:avLst>
          </a:prstGeom>
          <a:solidFill>
            <a:srgbClr val="FFF1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9" name="Text 69"/>
          <p:cNvSpPr txBox="1"/>
          <p:nvPr/>
        </p:nvSpPr>
        <p:spPr>
          <a:xfrm>
            <a:off x="9604858" y="4600346"/>
            <a:ext cx="1587398" cy="1335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lang="en-US" sz="900" b="1">
                <a:solidFill>
                  <a:srgbClr val="D62839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$15M savings, 30% uplift</a:t>
            </a:r>
            <a:endParaRPr lang="en-US" sz="900"/>
          </a:p>
        </p:txBody>
      </p:sp>
      <p:sp>
        <p:nvSpPr>
          <p:cNvPr id="80" name="Shape 70"/>
          <p:cNvSpPr/>
          <p:nvPr/>
        </p:nvSpPr>
        <p:spPr>
          <a:xfrm>
            <a:off x="6524244" y="5343754"/>
            <a:ext cx="190195" cy="190195"/>
          </a:xfrm>
          <a:prstGeom prst="ellipse">
            <a:avLst/>
          </a:prstGeom>
          <a:solidFill>
            <a:srgbClr val="D62839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1" name="Text 71"/>
          <p:cNvSpPr/>
          <p:nvPr/>
        </p:nvSpPr>
        <p:spPr>
          <a:xfrm>
            <a:off x="6524244" y="5343754"/>
            <a:ext cx="191110" cy="1911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 b="1">
                <a:solidFill>
                  <a:srgbClr val="FFFFFF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5</a:t>
            </a:r>
            <a:endParaRPr lang="en-US" sz="800"/>
          </a:p>
        </p:txBody>
      </p:sp>
      <p:sp>
        <p:nvSpPr>
          <p:cNvPr id="82" name="Text 72"/>
          <p:cNvSpPr txBox="1"/>
          <p:nvPr/>
        </p:nvSpPr>
        <p:spPr>
          <a:xfrm>
            <a:off x="6829654" y="5324551"/>
            <a:ext cx="3242462" cy="1627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>
                <a:solidFill>
                  <a:srgbClr val="1F293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Re-engineer a core process with embedded AI</a:t>
            </a:r>
            <a:endParaRPr lang="en-US" sz="900"/>
          </a:p>
        </p:txBody>
      </p:sp>
      <p:sp>
        <p:nvSpPr>
          <p:cNvPr id="83" name="Shape 73"/>
          <p:cNvSpPr/>
          <p:nvPr/>
        </p:nvSpPr>
        <p:spPr>
          <a:xfrm>
            <a:off x="9763049" y="5305349"/>
            <a:ext cx="1524305" cy="247802"/>
          </a:xfrm>
          <a:prstGeom prst="roundRect">
            <a:avLst>
              <a:gd name="adj" fmla="val 15498"/>
            </a:avLst>
          </a:prstGeom>
          <a:solidFill>
            <a:srgbClr val="FFF1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4" name="Text 74"/>
          <p:cNvSpPr txBox="1"/>
          <p:nvPr/>
        </p:nvSpPr>
        <p:spPr>
          <a:xfrm>
            <a:off x="9604858" y="5362956"/>
            <a:ext cx="1587398" cy="1335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lang="en-US" sz="900" b="1">
                <a:solidFill>
                  <a:srgbClr val="D62839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42% TAT ↓, 23% lead time ↓</a:t>
            </a:r>
            <a:endParaRPr lang="en-US" sz="900"/>
          </a:p>
        </p:txBody>
      </p:sp>
      <p:sp>
        <p:nvSpPr>
          <p:cNvPr id="85" name="Shape 75"/>
          <p:cNvSpPr/>
          <p:nvPr/>
        </p:nvSpPr>
        <p:spPr>
          <a:xfrm>
            <a:off x="6524244" y="6105449"/>
            <a:ext cx="190195" cy="190195"/>
          </a:xfrm>
          <a:prstGeom prst="ellipse">
            <a:avLst/>
          </a:prstGeom>
          <a:solidFill>
            <a:srgbClr val="D62839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6" name="Text 76"/>
          <p:cNvSpPr/>
          <p:nvPr/>
        </p:nvSpPr>
        <p:spPr>
          <a:xfrm>
            <a:off x="6524244" y="6105449"/>
            <a:ext cx="191110" cy="1911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 b="1">
                <a:solidFill>
                  <a:srgbClr val="FFFFFF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6</a:t>
            </a:r>
            <a:endParaRPr lang="en-US" sz="800"/>
          </a:p>
        </p:txBody>
      </p:sp>
      <p:sp>
        <p:nvSpPr>
          <p:cNvPr id="87" name="Text 77"/>
          <p:cNvSpPr txBox="1"/>
          <p:nvPr/>
        </p:nvSpPr>
        <p:spPr>
          <a:xfrm>
            <a:off x="6829654" y="6086246"/>
            <a:ext cx="3185770" cy="1627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>
                <a:solidFill>
                  <a:srgbClr val="1F293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Govern and de-risk sprawling AI deployments</a:t>
            </a:r>
            <a:endParaRPr lang="en-US" sz="900"/>
          </a:p>
        </p:txBody>
      </p:sp>
      <p:sp>
        <p:nvSpPr>
          <p:cNvPr id="88" name="Shape 78"/>
          <p:cNvSpPr/>
          <p:nvPr/>
        </p:nvSpPr>
        <p:spPr>
          <a:xfrm>
            <a:off x="9724644" y="6067044"/>
            <a:ext cx="1571854" cy="247802"/>
          </a:xfrm>
          <a:prstGeom prst="roundRect">
            <a:avLst>
              <a:gd name="adj" fmla="val 15498"/>
            </a:avLst>
          </a:prstGeom>
          <a:solidFill>
            <a:srgbClr val="FFF1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9" name="Text 79"/>
          <p:cNvSpPr txBox="1"/>
          <p:nvPr/>
        </p:nvSpPr>
        <p:spPr>
          <a:xfrm>
            <a:off x="9557309" y="6124651"/>
            <a:ext cx="1644091" cy="1335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lang="en-US" sz="900" b="1">
                <a:solidFill>
                  <a:srgbClr val="D62839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2M+ users, 35% adherence</a:t>
            </a:r>
            <a:endParaRPr lang="en-US" sz="900"/>
          </a:p>
        </p:txBody>
      </p:sp>
    </p:spTree>
    <p:extLst>
      <p:ext uri="{BB962C8B-B14F-4D97-AF65-F5344CB8AC3E}">
        <p14:creationId xmlns:p14="http://schemas.microsoft.com/office/powerpoint/2010/main" val="222055731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6856D4-134A-581B-EC5E-520C5A5375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>
            <a:extLst>
              <a:ext uri="{FF2B5EF4-FFF2-40B4-BE49-F238E27FC236}">
                <a16:creationId xmlns:a16="http://schemas.microsoft.com/office/drawing/2014/main" id="{8A530831-F204-5E89-7B5A-76B52BF25A35}"/>
              </a:ext>
            </a:extLst>
          </p:cNvPr>
          <p:cNvSpPr/>
          <p:nvPr/>
        </p:nvSpPr>
        <p:spPr>
          <a:xfrm>
            <a:off x="9334195" y="-952805"/>
            <a:ext cx="3810305" cy="3810305"/>
          </a:xfrm>
          <a:prstGeom prst="ellipse">
            <a:avLst/>
          </a:prstGeom>
          <a:solidFill>
            <a:srgbClr val="2A9D8F">
              <a:alpha val="3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5" name="Image 0" descr="gen-dedup-4ab2116e971fbb9400d0e99205bd0390.png">
            <a:extLst>
              <a:ext uri="{FF2B5EF4-FFF2-40B4-BE49-F238E27FC236}">
                <a16:creationId xmlns:a16="http://schemas.microsoft.com/office/drawing/2014/main" id="{9C2AF6D8-5D7F-C534-E8E4-DA00D9002C87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5000"/>
          </a:blip>
          <a:srcRect/>
          <a:stretch/>
        </p:blipFill>
        <p:spPr>
          <a:xfrm>
            <a:off x="10001707" y="5238598"/>
            <a:ext cx="1904695" cy="1904695"/>
          </a:xfrm>
          <a:prstGeom prst="rect">
            <a:avLst/>
          </a:prstGeom>
        </p:spPr>
      </p:pic>
      <p:pic>
        <p:nvPicPr>
          <p:cNvPr id="6" name="Image 1" descr="gen-dedup-323228122ff92d2332e711a84ca3b40c.png">
            <a:extLst>
              <a:ext uri="{FF2B5EF4-FFF2-40B4-BE49-F238E27FC236}">
                <a16:creationId xmlns:a16="http://schemas.microsoft.com/office/drawing/2014/main" id="{BCEA5056-2FC8-FBB4-C394-8A4C143CC07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-198" r="-198"/>
          <a:stretch/>
        </p:blipFill>
        <p:spPr>
          <a:xfrm>
            <a:off x="0" y="0"/>
            <a:ext cx="8124444" cy="75895"/>
          </a:xfrm>
          <a:prstGeom prst="rect">
            <a:avLst/>
          </a:prstGeom>
        </p:spPr>
      </p:pic>
      <p:pic>
        <p:nvPicPr>
          <p:cNvPr id="7" name="Image 2" descr="gen-dedup-9663ecf744b06e35d4c2cebaab92a2ea.png">
            <a:extLst>
              <a:ext uri="{FF2B5EF4-FFF2-40B4-BE49-F238E27FC236}">
                <a16:creationId xmlns:a16="http://schemas.microsoft.com/office/drawing/2014/main" id="{5A98248E-EE1B-23EF-94BB-766E2BC3FDC3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-202" r="-202"/>
          <a:stretch/>
        </p:blipFill>
        <p:spPr>
          <a:xfrm>
            <a:off x="8124444" y="0"/>
            <a:ext cx="4067251" cy="75895"/>
          </a:xfrm>
          <a:prstGeom prst="rect">
            <a:avLst/>
          </a:prstGeom>
        </p:spPr>
      </p:pic>
      <p:sp>
        <p:nvSpPr>
          <p:cNvPr id="8" name="Text 3">
            <a:extLst>
              <a:ext uri="{FF2B5EF4-FFF2-40B4-BE49-F238E27FC236}">
                <a16:creationId xmlns:a16="http://schemas.microsoft.com/office/drawing/2014/main" id="{3618C317-4414-EB34-2C38-0AC5944E1004}"/>
              </a:ext>
            </a:extLst>
          </p:cNvPr>
          <p:cNvSpPr txBox="1"/>
          <p:nvPr/>
        </p:nvSpPr>
        <p:spPr>
          <a:xfrm>
            <a:off x="381305" y="1143000"/>
            <a:ext cx="2382012" cy="152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0" b="1">
                <a:solidFill>
                  <a:srgbClr val="F3F4F6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01</a:t>
            </a:r>
            <a:endParaRPr lang="en-US" sz="12000"/>
          </a:p>
        </p:txBody>
      </p:sp>
      <p:pic>
        <p:nvPicPr>
          <p:cNvPr id="11" name="Image 3" descr="gen-dedup-90395934058aa4b7c1bff00d7e70c0a4.png">
            <a:extLst>
              <a:ext uri="{FF2B5EF4-FFF2-40B4-BE49-F238E27FC236}">
                <a16:creationId xmlns:a16="http://schemas.microsoft.com/office/drawing/2014/main" id="{F31C911D-F040-F235-7735-291225B14DAB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-416" r="-416"/>
          <a:stretch/>
        </p:blipFill>
        <p:spPr>
          <a:xfrm>
            <a:off x="1143000" y="2428646"/>
            <a:ext cx="57607" cy="714146"/>
          </a:xfrm>
          <a:prstGeom prst="rect">
            <a:avLst/>
          </a:prstGeom>
        </p:spPr>
      </p:pic>
      <p:sp>
        <p:nvSpPr>
          <p:cNvPr id="12" name="Text 6">
            <a:extLst>
              <a:ext uri="{FF2B5EF4-FFF2-40B4-BE49-F238E27FC236}">
                <a16:creationId xmlns:a16="http://schemas.microsoft.com/office/drawing/2014/main" id="{832DFE89-9B52-C7A9-8829-A59C6834021E}"/>
              </a:ext>
            </a:extLst>
          </p:cNvPr>
          <p:cNvSpPr txBox="1"/>
          <p:nvPr/>
        </p:nvSpPr>
        <p:spPr>
          <a:xfrm>
            <a:off x="1429207" y="2333549"/>
            <a:ext cx="9525305" cy="7626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5400" b="1" kern="0" spc="108">
                <a:solidFill>
                  <a:srgbClr val="11182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WORKFORCE SOLUTIONS</a:t>
            </a:r>
          </a:p>
        </p:txBody>
      </p:sp>
      <p:sp>
        <p:nvSpPr>
          <p:cNvPr id="13" name="Text 7">
            <a:extLst>
              <a:ext uri="{FF2B5EF4-FFF2-40B4-BE49-F238E27FC236}">
                <a16:creationId xmlns:a16="http://schemas.microsoft.com/office/drawing/2014/main" id="{A9806661-5DF1-05EF-1477-AF6345A7FD0F}"/>
              </a:ext>
            </a:extLst>
          </p:cNvPr>
          <p:cNvSpPr txBox="1"/>
          <p:nvPr/>
        </p:nvSpPr>
        <p:spPr>
          <a:xfrm>
            <a:off x="1429207" y="3333902"/>
            <a:ext cx="10687507" cy="3529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100">
                <a:solidFill>
                  <a:srgbClr val="2A9D8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Domain-deep engineering talent - deployed, governed, and continuously upskilled</a:t>
            </a:r>
          </a:p>
        </p:txBody>
      </p:sp>
      <p:sp>
        <p:nvSpPr>
          <p:cNvPr id="14" name="Text 8">
            <a:extLst>
              <a:ext uri="{FF2B5EF4-FFF2-40B4-BE49-F238E27FC236}">
                <a16:creationId xmlns:a16="http://schemas.microsoft.com/office/drawing/2014/main" id="{3AA6F4EC-9880-9FAB-4776-CB7EC6C7DD60}"/>
              </a:ext>
            </a:extLst>
          </p:cNvPr>
          <p:cNvSpPr txBox="1"/>
          <p:nvPr/>
        </p:nvSpPr>
        <p:spPr>
          <a:xfrm>
            <a:off x="1429207" y="4143146"/>
            <a:ext cx="9335110" cy="5532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We don't place people. We deploy domain-certified engineers into governed pods - with sprint accountability, AI-powered sourcing, and a contract-to-hire model that keeps your risk low and your velocity high</a:t>
            </a:r>
            <a:endParaRPr lang="en-US" sz="1300"/>
          </a:p>
        </p:txBody>
      </p:sp>
      <p:pic>
        <p:nvPicPr>
          <p:cNvPr id="15" name="Image 4" descr="gen-dedup-818c62191cf4a66fb5704c7f87e3fedf.png">
            <a:extLst>
              <a:ext uri="{FF2B5EF4-FFF2-40B4-BE49-F238E27FC236}">
                <a16:creationId xmlns:a16="http://schemas.microsoft.com/office/drawing/2014/main" id="{3BE14DA7-645C-95C9-5C91-F96EFC962D61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-166" r="-166"/>
          <a:stretch/>
        </p:blipFill>
        <p:spPr>
          <a:xfrm>
            <a:off x="1429207" y="5143500"/>
            <a:ext cx="1933956" cy="418795"/>
          </a:xfrm>
          <a:prstGeom prst="rect">
            <a:avLst/>
          </a:prstGeom>
        </p:spPr>
      </p:pic>
      <p:sp>
        <p:nvSpPr>
          <p:cNvPr id="16" name="Shape 9">
            <a:extLst>
              <a:ext uri="{FF2B5EF4-FFF2-40B4-BE49-F238E27FC236}">
                <a16:creationId xmlns:a16="http://schemas.microsoft.com/office/drawing/2014/main" id="{9F4FE693-DA3B-61CF-1215-7B57E8924352}"/>
              </a:ext>
            </a:extLst>
          </p:cNvPr>
          <p:cNvSpPr/>
          <p:nvPr/>
        </p:nvSpPr>
        <p:spPr>
          <a:xfrm>
            <a:off x="1429207" y="5143500"/>
            <a:ext cx="1933956" cy="418795"/>
          </a:xfrm>
          <a:prstGeom prst="roundRect">
            <a:avLst>
              <a:gd name="adj" fmla="val 13755"/>
            </a:avLst>
          </a:prstGeom>
          <a:noFill/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0">
            <a:extLst>
              <a:ext uri="{FF2B5EF4-FFF2-40B4-BE49-F238E27FC236}">
                <a16:creationId xmlns:a16="http://schemas.microsoft.com/office/drawing/2014/main" id="{442C24B0-8636-74A4-4FC8-8DBDB08299C1}"/>
              </a:ext>
            </a:extLst>
          </p:cNvPr>
          <p:cNvSpPr txBox="1"/>
          <p:nvPr/>
        </p:nvSpPr>
        <p:spPr>
          <a:xfrm>
            <a:off x="1653845" y="5143500"/>
            <a:ext cx="1495958" cy="4197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90500" tIns="114300" rIns="190500" bIns="114300" rtlCol="0" anchor="ctr"/>
          <a:lstStyle/>
          <a:p>
            <a:pPr marL="0" indent="0" algn="l">
              <a:buNone/>
            </a:pPr>
            <a:r>
              <a:rPr lang="en-US" sz="1100" b="1">
                <a:solidFill>
                  <a:srgbClr val="37415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 days or less to </a:t>
            </a:r>
          </a:p>
          <a:p>
            <a:pPr marL="0" indent="0" algn="l">
              <a:buNone/>
            </a:pPr>
            <a:r>
              <a:rPr lang="en-US" sz="1100" b="1">
                <a:solidFill>
                  <a:srgbClr val="37415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deploy</a:t>
            </a:r>
            <a:endParaRPr lang="en-US" sz="1100"/>
          </a:p>
        </p:txBody>
      </p:sp>
      <p:pic>
        <p:nvPicPr>
          <p:cNvPr id="18" name="Image 5" descr="gen-dedup-a287ae7abd092c83dc5f899415c51d00.png">
            <a:extLst>
              <a:ext uri="{FF2B5EF4-FFF2-40B4-BE49-F238E27FC236}">
                <a16:creationId xmlns:a16="http://schemas.microsoft.com/office/drawing/2014/main" id="{717DBA06-294F-AFD6-F4A3-E3BB6A843F09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t="-16800" b="-16800"/>
          <a:stretch/>
        </p:blipFill>
        <p:spPr>
          <a:xfrm>
            <a:off x="1657807" y="5277002"/>
            <a:ext cx="114300" cy="152705"/>
          </a:xfrm>
          <a:prstGeom prst="rect">
            <a:avLst/>
          </a:prstGeom>
        </p:spPr>
      </p:pic>
      <p:pic>
        <p:nvPicPr>
          <p:cNvPr id="19" name="Image 6" descr="gen-dedup-0363cb9fbb55bfd8aa96459f99cffd70.png">
            <a:extLst>
              <a:ext uri="{FF2B5EF4-FFF2-40B4-BE49-F238E27FC236}">
                <a16:creationId xmlns:a16="http://schemas.microsoft.com/office/drawing/2014/main" id="{19292444-1F09-6360-0F68-8AD41048A7D3}"/>
              </a:ext>
            </a:extLst>
          </p:cNvPr>
          <p:cNvPicPr>
            <a:picLocks noChangeAspect="1"/>
          </p:cNvPicPr>
          <p:nvPr/>
        </p:nvPicPr>
        <p:blipFill>
          <a:blip r:embed="rId9"/>
          <a:srcRect l="-260" r="-260"/>
          <a:stretch/>
        </p:blipFill>
        <p:spPr>
          <a:xfrm>
            <a:off x="3510382" y="5143500"/>
            <a:ext cx="2300935" cy="418795"/>
          </a:xfrm>
          <a:prstGeom prst="rect">
            <a:avLst/>
          </a:prstGeom>
        </p:spPr>
      </p:pic>
      <p:sp>
        <p:nvSpPr>
          <p:cNvPr id="20" name="Shape 11">
            <a:extLst>
              <a:ext uri="{FF2B5EF4-FFF2-40B4-BE49-F238E27FC236}">
                <a16:creationId xmlns:a16="http://schemas.microsoft.com/office/drawing/2014/main" id="{0A4FE0DB-0E00-A4E0-D0F5-5DA20E53E7F3}"/>
              </a:ext>
            </a:extLst>
          </p:cNvPr>
          <p:cNvSpPr/>
          <p:nvPr/>
        </p:nvSpPr>
        <p:spPr>
          <a:xfrm>
            <a:off x="3510382" y="5143500"/>
            <a:ext cx="2300935" cy="418795"/>
          </a:xfrm>
          <a:prstGeom prst="roundRect">
            <a:avLst>
              <a:gd name="adj" fmla="val 13755"/>
            </a:avLst>
          </a:prstGeom>
          <a:noFill/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2">
            <a:extLst>
              <a:ext uri="{FF2B5EF4-FFF2-40B4-BE49-F238E27FC236}">
                <a16:creationId xmlns:a16="http://schemas.microsoft.com/office/drawing/2014/main" id="{F5640A7D-F0E3-6BED-EEA7-16F614B5632E}"/>
              </a:ext>
            </a:extLst>
          </p:cNvPr>
          <p:cNvSpPr txBox="1"/>
          <p:nvPr/>
        </p:nvSpPr>
        <p:spPr>
          <a:xfrm>
            <a:off x="3735018" y="5143500"/>
            <a:ext cx="1648005" cy="4197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90500" tIns="114300" rIns="190500" bIns="114300" rtlCol="0" anchor="ctr"/>
          <a:lstStyle/>
          <a:p>
            <a:pPr marL="0" indent="0" algn="l">
              <a:buNone/>
            </a:pPr>
            <a:r>
              <a:rPr lang="en-US" sz="1100" b="1">
                <a:solidFill>
                  <a:srgbClr val="37415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300+ in-house recruiters, </a:t>
            </a:r>
          </a:p>
          <a:p>
            <a:pPr marL="0" indent="0" algn="l">
              <a:buNone/>
            </a:pPr>
            <a:r>
              <a:rPr lang="en-US" sz="1100" b="1">
                <a:solidFill>
                  <a:srgbClr val="37415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zero subcontracting</a:t>
            </a:r>
            <a:endParaRPr lang="en-US" sz="1100"/>
          </a:p>
        </p:txBody>
      </p:sp>
      <p:pic>
        <p:nvPicPr>
          <p:cNvPr id="22" name="Image 7" descr="gen-dedup-c395ac9c840728d6470a4a8b33662e6e.png">
            <a:extLst>
              <a:ext uri="{FF2B5EF4-FFF2-40B4-BE49-F238E27FC236}">
                <a16:creationId xmlns:a16="http://schemas.microsoft.com/office/drawing/2014/main" id="{93207DB2-729B-AE24-7E77-6519958DE5C8}"/>
              </a:ext>
            </a:extLst>
          </p:cNvPr>
          <p:cNvPicPr>
            <a:picLocks noChangeAspect="1"/>
          </p:cNvPicPr>
          <p:nvPr/>
        </p:nvPicPr>
        <p:blipFill>
          <a:blip r:embed="rId10"/>
          <a:srcRect t="-16800" b="-16800"/>
          <a:stretch/>
        </p:blipFill>
        <p:spPr>
          <a:xfrm>
            <a:off x="3738981" y="5277002"/>
            <a:ext cx="170389" cy="152705"/>
          </a:xfrm>
          <a:prstGeom prst="rect">
            <a:avLst/>
          </a:prstGeom>
        </p:spPr>
      </p:pic>
      <p:pic>
        <p:nvPicPr>
          <p:cNvPr id="23" name="Image 8" descr="gen-dedup-fe10f786880821f62e6e2a70ff719369.png">
            <a:extLst>
              <a:ext uri="{FF2B5EF4-FFF2-40B4-BE49-F238E27FC236}">
                <a16:creationId xmlns:a16="http://schemas.microsoft.com/office/drawing/2014/main" id="{E0CA82C4-F034-80D0-F825-1B18CD990C55}"/>
              </a:ext>
            </a:extLst>
          </p:cNvPr>
          <p:cNvPicPr>
            <a:picLocks noChangeAspect="1"/>
          </p:cNvPicPr>
          <p:nvPr/>
        </p:nvPicPr>
        <p:blipFill>
          <a:blip r:embed="rId11"/>
          <a:srcRect l="-58" r="-58"/>
          <a:stretch/>
        </p:blipFill>
        <p:spPr>
          <a:xfrm>
            <a:off x="6080150" y="5143500"/>
            <a:ext cx="2619756" cy="418795"/>
          </a:xfrm>
          <a:prstGeom prst="rect">
            <a:avLst/>
          </a:prstGeom>
        </p:spPr>
      </p:pic>
      <p:sp>
        <p:nvSpPr>
          <p:cNvPr id="24" name="Shape 13">
            <a:extLst>
              <a:ext uri="{FF2B5EF4-FFF2-40B4-BE49-F238E27FC236}">
                <a16:creationId xmlns:a16="http://schemas.microsoft.com/office/drawing/2014/main" id="{2266D092-185E-2198-BDD3-B88FC8175BF2}"/>
              </a:ext>
            </a:extLst>
          </p:cNvPr>
          <p:cNvSpPr/>
          <p:nvPr/>
        </p:nvSpPr>
        <p:spPr>
          <a:xfrm>
            <a:off x="6080150" y="5143500"/>
            <a:ext cx="2619756" cy="418795"/>
          </a:xfrm>
          <a:prstGeom prst="roundRect">
            <a:avLst>
              <a:gd name="adj" fmla="val 13755"/>
            </a:avLst>
          </a:prstGeom>
          <a:noFill/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14">
            <a:extLst>
              <a:ext uri="{FF2B5EF4-FFF2-40B4-BE49-F238E27FC236}">
                <a16:creationId xmlns:a16="http://schemas.microsoft.com/office/drawing/2014/main" id="{ED31349B-331C-666B-1026-10D8E100F4F3}"/>
              </a:ext>
            </a:extLst>
          </p:cNvPr>
          <p:cNvSpPr txBox="1"/>
          <p:nvPr/>
        </p:nvSpPr>
        <p:spPr>
          <a:xfrm>
            <a:off x="6304788" y="5143500"/>
            <a:ext cx="2181758" cy="4197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90500" tIns="114300" rIns="190500" bIns="114300" rtlCol="0" anchor="ctr"/>
          <a:lstStyle/>
          <a:p>
            <a:pPr marL="0" indent="0" algn="l">
              <a:buNone/>
            </a:pPr>
            <a:r>
              <a:rPr lang="en-US" sz="1100" b="1">
                <a:solidFill>
                  <a:srgbClr val="37415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Contract-to-hire flexibility </a:t>
            </a:r>
          </a:p>
          <a:p>
            <a:pPr marL="0" indent="0" algn="l">
              <a:buNone/>
            </a:pPr>
            <a:r>
              <a:rPr lang="en-US" sz="1100" b="1">
                <a:solidFill>
                  <a:srgbClr val="37415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built in</a:t>
            </a:r>
            <a:endParaRPr lang="en-US" sz="1100"/>
          </a:p>
        </p:txBody>
      </p:sp>
      <p:pic>
        <p:nvPicPr>
          <p:cNvPr id="26" name="Image 9" descr="gen-dedup-7637b076e607f7218cdb4973c81f38e6.png">
            <a:extLst>
              <a:ext uri="{FF2B5EF4-FFF2-40B4-BE49-F238E27FC236}">
                <a16:creationId xmlns:a16="http://schemas.microsoft.com/office/drawing/2014/main" id="{205FF807-74F6-4E07-EE11-D8132CD5F0CD}"/>
              </a:ext>
            </a:extLst>
          </p:cNvPr>
          <p:cNvPicPr>
            <a:picLocks noChangeAspect="1"/>
          </p:cNvPicPr>
          <p:nvPr/>
        </p:nvPicPr>
        <p:blipFill>
          <a:blip r:embed="rId12"/>
          <a:srcRect t="-8450" b="-8450"/>
          <a:stretch/>
        </p:blipFill>
        <p:spPr>
          <a:xfrm>
            <a:off x="6308750" y="5277002"/>
            <a:ext cx="114300" cy="152705"/>
          </a:xfrm>
          <a:prstGeom prst="rect">
            <a:avLst/>
          </a:prstGeom>
        </p:spPr>
      </p:pic>
      <p:pic>
        <p:nvPicPr>
          <p:cNvPr id="27" name="Image 10" descr="gen-dedup-4b04481605890cd5e2948f325621428b.png">
            <a:extLst>
              <a:ext uri="{FF2B5EF4-FFF2-40B4-BE49-F238E27FC236}">
                <a16:creationId xmlns:a16="http://schemas.microsoft.com/office/drawing/2014/main" id="{FB78842A-22DE-1C9A-4EE2-D07FD5A3BBDC}"/>
              </a:ext>
            </a:extLst>
          </p:cNvPr>
          <p:cNvPicPr>
            <a:picLocks noChangeAspect="1"/>
          </p:cNvPicPr>
          <p:nvPr/>
        </p:nvPicPr>
        <p:blipFill>
          <a:blip r:embed="rId13"/>
          <a:srcRect l="-216" r="-216"/>
          <a:stretch/>
        </p:blipFill>
        <p:spPr>
          <a:xfrm>
            <a:off x="8850782" y="5143500"/>
            <a:ext cx="2562149" cy="418795"/>
          </a:xfrm>
          <a:prstGeom prst="rect">
            <a:avLst/>
          </a:prstGeom>
        </p:spPr>
      </p:pic>
      <p:sp>
        <p:nvSpPr>
          <p:cNvPr id="28" name="Shape 15">
            <a:extLst>
              <a:ext uri="{FF2B5EF4-FFF2-40B4-BE49-F238E27FC236}">
                <a16:creationId xmlns:a16="http://schemas.microsoft.com/office/drawing/2014/main" id="{34AB57F4-B2CA-C3A2-0103-9F6A8E9AFA38}"/>
              </a:ext>
            </a:extLst>
          </p:cNvPr>
          <p:cNvSpPr/>
          <p:nvPr/>
        </p:nvSpPr>
        <p:spPr>
          <a:xfrm>
            <a:off x="8850782" y="5143500"/>
            <a:ext cx="2562149" cy="418795"/>
          </a:xfrm>
          <a:prstGeom prst="roundRect">
            <a:avLst>
              <a:gd name="adj" fmla="val 13755"/>
            </a:avLst>
          </a:prstGeom>
          <a:noFill/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16">
            <a:extLst>
              <a:ext uri="{FF2B5EF4-FFF2-40B4-BE49-F238E27FC236}">
                <a16:creationId xmlns:a16="http://schemas.microsoft.com/office/drawing/2014/main" id="{5B673A20-4A15-839A-EE62-676A6C5F3333}"/>
              </a:ext>
            </a:extLst>
          </p:cNvPr>
          <p:cNvSpPr txBox="1"/>
          <p:nvPr/>
        </p:nvSpPr>
        <p:spPr>
          <a:xfrm>
            <a:off x="9075420" y="5143500"/>
            <a:ext cx="2125066" cy="4197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90500" tIns="114300" rIns="190500" bIns="114300" rtlCol="0" anchor="ctr"/>
          <a:lstStyle/>
          <a:p>
            <a:pPr marL="0" indent="0" algn="l">
              <a:buNone/>
            </a:pPr>
            <a:r>
              <a:rPr lang="en-US" sz="1100" b="1">
                <a:solidFill>
                  <a:srgbClr val="37415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Pod governance + sprint </a:t>
            </a:r>
          </a:p>
          <a:p>
            <a:pPr marL="0" indent="0" algn="l">
              <a:buNone/>
            </a:pPr>
            <a:r>
              <a:rPr lang="en-US" sz="1100" b="1">
                <a:solidFill>
                  <a:srgbClr val="37415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accountability from Day 1</a:t>
            </a:r>
            <a:endParaRPr lang="en-US" sz="1100"/>
          </a:p>
        </p:txBody>
      </p:sp>
      <p:pic>
        <p:nvPicPr>
          <p:cNvPr id="30" name="Image 11" descr="gen-dedup-de4cb59b8211160ed90cebf7a454cebf.png">
            <a:extLst>
              <a:ext uri="{FF2B5EF4-FFF2-40B4-BE49-F238E27FC236}">
                <a16:creationId xmlns:a16="http://schemas.microsoft.com/office/drawing/2014/main" id="{93529912-BB1C-C574-75A1-3D8ECD602D40}"/>
              </a:ext>
            </a:extLst>
          </p:cNvPr>
          <p:cNvPicPr>
            <a:picLocks noChangeAspect="1"/>
          </p:cNvPicPr>
          <p:nvPr/>
        </p:nvPicPr>
        <p:blipFill>
          <a:blip r:embed="rId14"/>
          <a:srcRect t="-16800" b="-16800"/>
          <a:stretch/>
        </p:blipFill>
        <p:spPr>
          <a:xfrm>
            <a:off x="9079382" y="5277002"/>
            <a:ext cx="114300" cy="152705"/>
          </a:xfrm>
          <a:prstGeom prst="rect">
            <a:avLst/>
          </a:prstGeom>
        </p:spPr>
      </p:pic>
      <p:sp>
        <p:nvSpPr>
          <p:cNvPr id="31" name="Shape 17">
            <a:extLst>
              <a:ext uri="{FF2B5EF4-FFF2-40B4-BE49-F238E27FC236}">
                <a16:creationId xmlns:a16="http://schemas.microsoft.com/office/drawing/2014/main" id="{99FB5298-5A36-5FFC-CC7E-17E7D43B7AAD}"/>
              </a:ext>
            </a:extLst>
          </p:cNvPr>
          <p:cNvSpPr/>
          <p:nvPr/>
        </p:nvSpPr>
        <p:spPr>
          <a:xfrm>
            <a:off x="1143000" y="6096305"/>
            <a:ext cx="9905695" cy="914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18">
            <a:extLst>
              <a:ext uri="{FF2B5EF4-FFF2-40B4-BE49-F238E27FC236}">
                <a16:creationId xmlns:a16="http://schemas.microsoft.com/office/drawing/2014/main" id="{ED705767-82C0-1D2C-EADE-B791EDD5E9F6}"/>
              </a:ext>
            </a:extLst>
          </p:cNvPr>
          <p:cNvSpPr txBox="1"/>
          <p:nvPr/>
        </p:nvSpPr>
        <p:spPr>
          <a:xfrm>
            <a:off x="1143000" y="6258154"/>
            <a:ext cx="9906610" cy="1810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24">
                <a:solidFill>
                  <a:srgbClr val="6B72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Scale your engineering capacity with domain depth and delivery accountability.</a:t>
            </a:r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417067975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4" name="Image 0" descr="gen-dedup-323228122ff92d2332e711a84ca3b40c.png"/>
          <p:cNvPicPr>
            <a:picLocks noChangeAspect="1"/>
          </p:cNvPicPr>
          <p:nvPr/>
        </p:nvPicPr>
        <p:blipFill>
          <a:blip r:embed="rId3"/>
          <a:srcRect l="-198" r="-198"/>
          <a:stretch/>
        </p:blipFill>
        <p:spPr>
          <a:xfrm>
            <a:off x="0" y="0"/>
            <a:ext cx="8124444" cy="75895"/>
          </a:xfrm>
          <a:prstGeom prst="rect">
            <a:avLst/>
          </a:prstGeom>
        </p:spPr>
      </p:pic>
      <p:pic>
        <p:nvPicPr>
          <p:cNvPr id="5" name="Image 1" descr="gen-dedup-9663ecf744b06e35d4c2cebaab92a2ea.png"/>
          <p:cNvPicPr>
            <a:picLocks noChangeAspect="1"/>
          </p:cNvPicPr>
          <p:nvPr/>
        </p:nvPicPr>
        <p:blipFill>
          <a:blip r:embed="rId4"/>
          <a:srcRect l="-202" r="-202"/>
          <a:stretch/>
        </p:blipFill>
        <p:spPr>
          <a:xfrm>
            <a:off x="8124444" y="0"/>
            <a:ext cx="4067251" cy="75895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9525305" y="4762195"/>
            <a:ext cx="3810305" cy="3810305"/>
          </a:xfrm>
          <a:prstGeom prst="ellipse">
            <a:avLst/>
          </a:prstGeom>
          <a:noFill/>
          <a:ln w="508000">
            <a:solidFill>
              <a:srgbClr val="D62839">
                <a:alpha val="3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7" name="Image 2" descr="gen-dedup-b81d2082573e6d8de64df87af639bbf0.png"/>
          <p:cNvPicPr>
            <a:picLocks noChangeAspect="1"/>
          </p:cNvPicPr>
          <p:nvPr/>
        </p:nvPicPr>
        <p:blipFill>
          <a:blip r:embed="rId5"/>
          <a:srcRect l="-360" r="-360"/>
          <a:stretch/>
        </p:blipFill>
        <p:spPr>
          <a:xfrm>
            <a:off x="609905" y="381305"/>
            <a:ext cx="57607" cy="381305"/>
          </a:xfrm>
          <a:prstGeom prst="rect">
            <a:avLst/>
          </a:prstGeom>
        </p:spPr>
      </p:pic>
      <p:sp>
        <p:nvSpPr>
          <p:cNvPr id="8" name="Shape 3"/>
          <p:cNvSpPr/>
          <p:nvPr/>
        </p:nvSpPr>
        <p:spPr>
          <a:xfrm>
            <a:off x="609905" y="1524305"/>
            <a:ext cx="2609698" cy="3877056"/>
          </a:xfrm>
          <a:prstGeom prst="roundRect">
            <a:avLst>
              <a:gd name="adj" fmla="val 3069"/>
            </a:avLst>
          </a:prstGeom>
          <a:solidFill>
            <a:srgbClr val="FFFFFF"/>
          </a:solidFill>
          <a:ln w="12700">
            <a:solidFill>
              <a:srgbClr val="F3F4F6"/>
            </a:solidFill>
            <a:prstDash val="solid"/>
          </a:ln>
          <a:effectLst>
            <a:outerShdw blurRad="63500" dist="381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4"/>
          <p:cNvSpPr/>
          <p:nvPr/>
        </p:nvSpPr>
        <p:spPr>
          <a:xfrm>
            <a:off x="609905" y="1524305"/>
            <a:ext cx="2609698" cy="57607"/>
          </a:xfrm>
          <a:prstGeom prst="roundRect">
            <a:avLst>
              <a:gd name="adj" fmla="val 139034"/>
            </a:avLst>
          </a:prstGeom>
          <a:solidFill>
            <a:srgbClr val="2A9D8F"/>
          </a:solidFill>
          <a:ln w="12700">
            <a:solidFill>
              <a:srgbClr val="2A9D8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5"/>
          <p:cNvSpPr/>
          <p:nvPr/>
        </p:nvSpPr>
        <p:spPr>
          <a:xfrm>
            <a:off x="3429000" y="1524305"/>
            <a:ext cx="2609698" cy="3877056"/>
          </a:xfrm>
          <a:prstGeom prst="roundRect">
            <a:avLst>
              <a:gd name="adj" fmla="val 3069"/>
            </a:avLst>
          </a:prstGeom>
          <a:solidFill>
            <a:srgbClr val="FFFFFF"/>
          </a:solidFill>
          <a:ln w="12700">
            <a:solidFill>
              <a:srgbClr val="F3F4F6"/>
            </a:solidFill>
            <a:prstDash val="solid"/>
          </a:ln>
          <a:effectLst>
            <a:outerShdw blurRad="63500" dist="381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6"/>
          <p:cNvSpPr/>
          <p:nvPr/>
        </p:nvSpPr>
        <p:spPr>
          <a:xfrm>
            <a:off x="3429000" y="1524305"/>
            <a:ext cx="2609698" cy="57607"/>
          </a:xfrm>
          <a:prstGeom prst="roundRect">
            <a:avLst>
              <a:gd name="adj" fmla="val 139034"/>
            </a:avLst>
          </a:prstGeom>
          <a:solidFill>
            <a:srgbClr val="D62839"/>
          </a:solidFill>
          <a:ln w="12700">
            <a:solidFill>
              <a:srgbClr val="D62839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7"/>
          <p:cNvSpPr/>
          <p:nvPr/>
        </p:nvSpPr>
        <p:spPr>
          <a:xfrm>
            <a:off x="6248095" y="1524305"/>
            <a:ext cx="2609698" cy="3877056"/>
          </a:xfrm>
          <a:prstGeom prst="roundRect">
            <a:avLst>
              <a:gd name="adj" fmla="val 3069"/>
            </a:avLst>
          </a:prstGeom>
          <a:solidFill>
            <a:srgbClr val="FFFFFF"/>
          </a:solidFill>
          <a:ln w="12700">
            <a:solidFill>
              <a:srgbClr val="F3F4F6"/>
            </a:solidFill>
            <a:prstDash val="solid"/>
          </a:ln>
          <a:effectLst>
            <a:outerShdw blurRad="63500" dist="381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8"/>
          <p:cNvSpPr/>
          <p:nvPr/>
        </p:nvSpPr>
        <p:spPr>
          <a:xfrm>
            <a:off x="6248095" y="1524305"/>
            <a:ext cx="2609698" cy="57607"/>
          </a:xfrm>
          <a:prstGeom prst="roundRect">
            <a:avLst>
              <a:gd name="adj" fmla="val 139034"/>
            </a:avLst>
          </a:prstGeom>
          <a:solidFill>
            <a:srgbClr val="2A9D8F"/>
          </a:solidFill>
          <a:ln w="12700">
            <a:solidFill>
              <a:srgbClr val="2A9D8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9"/>
          <p:cNvSpPr/>
          <p:nvPr/>
        </p:nvSpPr>
        <p:spPr>
          <a:xfrm>
            <a:off x="9068105" y="1524305"/>
            <a:ext cx="2609698" cy="3877056"/>
          </a:xfrm>
          <a:prstGeom prst="roundRect">
            <a:avLst>
              <a:gd name="adj" fmla="val 3069"/>
            </a:avLst>
          </a:prstGeom>
          <a:solidFill>
            <a:srgbClr val="FFFFFF"/>
          </a:solidFill>
          <a:ln w="12700">
            <a:solidFill>
              <a:srgbClr val="F3F4F6"/>
            </a:solidFill>
            <a:prstDash val="solid"/>
          </a:ln>
          <a:effectLst>
            <a:outerShdw blurRad="63500" dist="381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0"/>
          <p:cNvSpPr/>
          <p:nvPr/>
        </p:nvSpPr>
        <p:spPr>
          <a:xfrm>
            <a:off x="9068105" y="1524305"/>
            <a:ext cx="2609698" cy="57607"/>
          </a:xfrm>
          <a:prstGeom prst="roundRect">
            <a:avLst>
              <a:gd name="adj" fmla="val 139034"/>
            </a:avLst>
          </a:prstGeom>
          <a:solidFill>
            <a:srgbClr val="D62839"/>
          </a:solidFill>
          <a:ln w="12700">
            <a:solidFill>
              <a:srgbClr val="D62839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6" name="Image 3" descr="gen-dedup-c79c8869390c39dd2ec5734755e72ead.png"/>
          <p:cNvPicPr>
            <a:picLocks noChangeAspect="1"/>
          </p:cNvPicPr>
          <p:nvPr/>
        </p:nvPicPr>
        <p:blipFill>
          <a:blip r:embed="rId6"/>
          <a:srcRect l="-2083" r="-2083"/>
          <a:stretch/>
        </p:blipFill>
        <p:spPr>
          <a:xfrm>
            <a:off x="609905" y="5715000"/>
            <a:ext cx="11011205" cy="9144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609905" y="5905195"/>
            <a:ext cx="11058754" cy="685800"/>
          </a:xfrm>
          <a:prstGeom prst="roundRect">
            <a:avLst>
              <a:gd name="adj" fmla="val 29630"/>
            </a:avLst>
          </a:prstGeom>
          <a:solidFill>
            <a:srgbClr val="2A9D8F">
              <a:alpha val="5000"/>
            </a:srgbClr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2"/>
          <p:cNvSpPr/>
          <p:nvPr/>
        </p:nvSpPr>
        <p:spPr>
          <a:xfrm>
            <a:off x="609905" y="5905195"/>
            <a:ext cx="38405" cy="685800"/>
          </a:xfrm>
          <a:prstGeom prst="roundRect">
            <a:avLst>
              <a:gd name="adj" fmla="val 529098"/>
            </a:avLst>
          </a:prstGeom>
          <a:solidFill>
            <a:srgbClr val="2A9D8F"/>
          </a:solidFill>
          <a:ln w="12700">
            <a:solidFill>
              <a:srgbClr val="2A9D8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9" name="Image 4" descr="gen-dedup-1bf8b7c2ed0132a588bc6493359d36f7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3157460" y="3543605"/>
            <a:ext cx="323698" cy="323698"/>
          </a:xfrm>
          <a:prstGeom prst="rect">
            <a:avLst/>
          </a:prstGeom>
        </p:spPr>
      </p:pic>
      <p:pic>
        <p:nvPicPr>
          <p:cNvPr id="20" name="Image 5" descr="gen-dedup-4f3b576989a6b43ea9ecd09ca0f289b1.png"/>
          <p:cNvPicPr>
            <a:picLocks noChangeAspect="1"/>
          </p:cNvPicPr>
          <p:nvPr/>
        </p:nvPicPr>
        <p:blipFill>
          <a:blip r:embed="rId8"/>
          <a:srcRect t="-5544" b="-5544"/>
          <a:stretch/>
        </p:blipFill>
        <p:spPr>
          <a:xfrm>
            <a:off x="3266274" y="3638702"/>
            <a:ext cx="105156" cy="133502"/>
          </a:xfrm>
          <a:prstGeom prst="rect">
            <a:avLst/>
          </a:prstGeom>
        </p:spPr>
      </p:pic>
      <p:pic>
        <p:nvPicPr>
          <p:cNvPr id="21" name="Image 6" descr="gen-dedup-1bf8b7c2ed0132a588bc6493359d36f7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5976555" y="3543605"/>
            <a:ext cx="323698" cy="323698"/>
          </a:xfrm>
          <a:prstGeom prst="rect">
            <a:avLst/>
          </a:prstGeom>
        </p:spPr>
      </p:pic>
      <p:pic>
        <p:nvPicPr>
          <p:cNvPr id="22" name="Image 7" descr="gen-dedup-4f3b576989a6b43ea9ecd09ca0f289b1.png"/>
          <p:cNvPicPr>
            <a:picLocks noChangeAspect="1"/>
          </p:cNvPicPr>
          <p:nvPr/>
        </p:nvPicPr>
        <p:blipFill>
          <a:blip r:embed="rId8"/>
          <a:srcRect t="-5544" b="-5544"/>
          <a:stretch/>
        </p:blipFill>
        <p:spPr>
          <a:xfrm>
            <a:off x="6086283" y="3638702"/>
            <a:ext cx="105156" cy="133502"/>
          </a:xfrm>
          <a:prstGeom prst="rect">
            <a:avLst/>
          </a:prstGeom>
        </p:spPr>
      </p:pic>
      <p:pic>
        <p:nvPicPr>
          <p:cNvPr id="23" name="Image 8" descr="gen-dedup-1bf8b7c2ed0132a588bc6493359d36f7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8795651" y="3543605"/>
            <a:ext cx="323698" cy="323698"/>
          </a:xfrm>
          <a:prstGeom prst="rect">
            <a:avLst/>
          </a:prstGeom>
        </p:spPr>
      </p:pic>
      <p:pic>
        <p:nvPicPr>
          <p:cNvPr id="24" name="Image 9" descr="gen-dedup-4f3b576989a6b43ea9ecd09ca0f289b1.png"/>
          <p:cNvPicPr>
            <a:picLocks noChangeAspect="1"/>
          </p:cNvPicPr>
          <p:nvPr/>
        </p:nvPicPr>
        <p:blipFill>
          <a:blip r:embed="rId8"/>
          <a:srcRect t="-5544" b="-5544"/>
          <a:stretch/>
        </p:blipFill>
        <p:spPr>
          <a:xfrm>
            <a:off x="8905379" y="3638702"/>
            <a:ext cx="105156" cy="133502"/>
          </a:xfrm>
          <a:prstGeom prst="rect">
            <a:avLst/>
          </a:prstGeom>
        </p:spPr>
      </p:pic>
      <p:sp>
        <p:nvSpPr>
          <p:cNvPr id="25" name="Text 13"/>
          <p:cNvSpPr txBox="1"/>
          <p:nvPr/>
        </p:nvSpPr>
        <p:spPr>
          <a:xfrm>
            <a:off x="819302" y="304495"/>
            <a:ext cx="10478110" cy="4197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11182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THE J2W OPERATING MODEL</a:t>
            </a:r>
            <a:endParaRPr lang="en-US" sz="2700" dirty="0"/>
          </a:p>
        </p:txBody>
      </p:sp>
      <p:sp>
        <p:nvSpPr>
          <p:cNvPr id="26" name="Text 14"/>
          <p:cNvSpPr txBox="1"/>
          <p:nvPr/>
        </p:nvSpPr>
        <p:spPr>
          <a:xfrm>
            <a:off x="819302" y="792785"/>
            <a:ext cx="10478110" cy="1810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2A9D8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We Don't Just Deploy - We Embed, Align, And Deliver Measurable Outcomes.</a:t>
            </a:r>
            <a:endParaRPr lang="en-US" sz="1500" b="1" dirty="0">
              <a:solidFill>
                <a:srgbClr val="2A9D8F"/>
              </a:solidFill>
            </a:endParaRPr>
          </a:p>
        </p:txBody>
      </p:sp>
      <p:sp>
        <p:nvSpPr>
          <p:cNvPr id="27" name="Shape 15"/>
          <p:cNvSpPr/>
          <p:nvPr/>
        </p:nvSpPr>
        <p:spPr>
          <a:xfrm>
            <a:off x="1638605" y="1819656"/>
            <a:ext cx="533095" cy="533095"/>
          </a:xfrm>
          <a:prstGeom prst="ellipse">
            <a:avLst/>
          </a:prstGeom>
          <a:solidFill>
            <a:srgbClr val="2A9D8F">
              <a:alpha val="1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8" name="Image 10" descr="gen-dedup-ac1977dfe20a87d93b03eab8a85600aa.png"/>
          <p:cNvPicPr>
            <a:picLocks noChangeAspect="1"/>
          </p:cNvPicPr>
          <p:nvPr/>
        </p:nvPicPr>
        <p:blipFill>
          <a:blip r:embed="rId9"/>
          <a:srcRect t="-13131" b="-13131"/>
          <a:stretch/>
        </p:blipFill>
        <p:spPr>
          <a:xfrm>
            <a:off x="1814170" y="1971446"/>
            <a:ext cx="181051" cy="228600"/>
          </a:xfrm>
          <a:prstGeom prst="rect">
            <a:avLst/>
          </a:prstGeom>
        </p:spPr>
      </p:pic>
      <p:sp>
        <p:nvSpPr>
          <p:cNvPr id="29" name="Text 16"/>
          <p:cNvSpPr txBox="1"/>
          <p:nvPr/>
        </p:nvSpPr>
        <p:spPr>
          <a:xfrm>
            <a:off x="705002" y="2505456"/>
            <a:ext cx="2400300" cy="2862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F293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Embed.</a:t>
            </a:r>
            <a:endParaRPr lang="en-US" sz="2000" dirty="0"/>
          </a:p>
        </p:txBody>
      </p:sp>
      <p:sp>
        <p:nvSpPr>
          <p:cNvPr id="30" name="Text 17"/>
          <p:cNvSpPr txBox="1"/>
          <p:nvPr/>
        </p:nvSpPr>
        <p:spPr>
          <a:xfrm>
            <a:off x="705002" y="2968854"/>
            <a:ext cx="2400300" cy="1527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A9D8F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Days 1–14</a:t>
            </a:r>
            <a:endParaRPr lang="en-US" sz="1300" dirty="0"/>
          </a:p>
        </p:txBody>
      </p:sp>
      <p:sp>
        <p:nvSpPr>
          <p:cNvPr id="31" name="Text 18"/>
          <p:cNvSpPr txBox="1"/>
          <p:nvPr/>
        </p:nvSpPr>
        <p:spPr>
          <a:xfrm>
            <a:off x="705002" y="3018434"/>
            <a:ext cx="2309775" cy="17437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We map your stakeholder reality before touching a single workflow — identifying the 80% we move within and the 20% that unlocks transformation.</a:t>
            </a:r>
            <a:endParaRPr lang="en-US" sz="1200" dirty="0"/>
          </a:p>
        </p:txBody>
      </p:sp>
      <p:sp>
        <p:nvSpPr>
          <p:cNvPr id="32" name="Text 19"/>
          <p:cNvSpPr txBox="1"/>
          <p:nvPr/>
        </p:nvSpPr>
        <p:spPr>
          <a:xfrm>
            <a:off x="2409444" y="1687137"/>
            <a:ext cx="601675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lang="en-US" sz="3600" b="1" dirty="0">
                <a:solidFill>
                  <a:srgbClr val="2A9D8F">
                    <a:alpha val="8000"/>
                  </a:srgbClr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01</a:t>
            </a:r>
            <a:endParaRPr lang="en-US" sz="3600" dirty="0"/>
          </a:p>
        </p:txBody>
      </p:sp>
      <p:sp>
        <p:nvSpPr>
          <p:cNvPr id="33" name="Shape 20"/>
          <p:cNvSpPr/>
          <p:nvPr/>
        </p:nvSpPr>
        <p:spPr>
          <a:xfrm>
            <a:off x="4457700" y="1819656"/>
            <a:ext cx="533095" cy="533095"/>
          </a:xfrm>
          <a:prstGeom prst="ellipse">
            <a:avLst/>
          </a:prstGeom>
          <a:solidFill>
            <a:srgbClr val="D62839">
              <a:alpha val="1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4" name="Image 11" descr="gen-dedup-bb65f8a83efde23cd45884ce4e632f2a.png"/>
          <p:cNvPicPr>
            <a:picLocks noChangeAspect="1"/>
          </p:cNvPicPr>
          <p:nvPr/>
        </p:nvPicPr>
        <p:blipFill>
          <a:blip r:embed="rId10"/>
          <a:srcRect t="-13131" b="-13131"/>
          <a:stretch/>
        </p:blipFill>
        <p:spPr>
          <a:xfrm>
            <a:off x="4634179" y="1971446"/>
            <a:ext cx="181051" cy="228600"/>
          </a:xfrm>
          <a:prstGeom prst="rect">
            <a:avLst/>
          </a:prstGeom>
        </p:spPr>
      </p:pic>
      <p:sp>
        <p:nvSpPr>
          <p:cNvPr id="35" name="Text 21"/>
          <p:cNvSpPr txBox="1"/>
          <p:nvPr/>
        </p:nvSpPr>
        <p:spPr>
          <a:xfrm>
            <a:off x="3524098" y="2505456"/>
            <a:ext cx="2400300" cy="2862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F293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Build.</a:t>
            </a:r>
            <a:endParaRPr lang="en-US" sz="2000" dirty="0"/>
          </a:p>
        </p:txBody>
      </p:sp>
      <p:sp>
        <p:nvSpPr>
          <p:cNvPr id="36" name="Text 22"/>
          <p:cNvSpPr txBox="1"/>
          <p:nvPr/>
        </p:nvSpPr>
        <p:spPr>
          <a:xfrm>
            <a:off x="3524098" y="2968854"/>
            <a:ext cx="2400300" cy="1527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D62839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Weeks 2–6</a:t>
            </a:r>
            <a:endParaRPr lang="en-US" sz="1300" dirty="0"/>
          </a:p>
        </p:txBody>
      </p:sp>
      <p:sp>
        <p:nvSpPr>
          <p:cNvPr id="37" name="Text 23"/>
          <p:cNvSpPr txBox="1"/>
          <p:nvPr/>
        </p:nvSpPr>
        <p:spPr>
          <a:xfrm>
            <a:off x="3524098" y="3297935"/>
            <a:ext cx="2309775" cy="1390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We deploy the closest-fit accelerator and customize where needed. Hundreds of prior engagements mean you inherit a head start, not a blank slate.</a:t>
            </a:r>
            <a:endParaRPr lang="en-US" sz="1200" dirty="0"/>
          </a:p>
        </p:txBody>
      </p:sp>
      <p:sp>
        <p:nvSpPr>
          <p:cNvPr id="38" name="Text 24"/>
          <p:cNvSpPr txBox="1"/>
          <p:nvPr/>
        </p:nvSpPr>
        <p:spPr>
          <a:xfrm>
            <a:off x="5231282" y="1687137"/>
            <a:ext cx="607162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lang="en-US" sz="3600" b="1" dirty="0">
                <a:solidFill>
                  <a:srgbClr val="D62839">
                    <a:alpha val="8000"/>
                  </a:srgbClr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02</a:t>
            </a:r>
            <a:endParaRPr lang="en-US" sz="3600" dirty="0"/>
          </a:p>
        </p:txBody>
      </p:sp>
      <p:sp>
        <p:nvSpPr>
          <p:cNvPr id="39" name="Shape 25"/>
          <p:cNvSpPr/>
          <p:nvPr/>
        </p:nvSpPr>
        <p:spPr>
          <a:xfrm>
            <a:off x="7276795" y="1819656"/>
            <a:ext cx="533095" cy="533095"/>
          </a:xfrm>
          <a:prstGeom prst="ellipse">
            <a:avLst/>
          </a:prstGeom>
          <a:solidFill>
            <a:srgbClr val="2A9D8F">
              <a:alpha val="1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40" name="Image 12" descr="gen-dedup-ec7913c77fa2db42f3e898c22d604bf4.png"/>
          <p:cNvPicPr>
            <a:picLocks noChangeAspect="1"/>
          </p:cNvPicPr>
          <p:nvPr/>
        </p:nvPicPr>
        <p:blipFill>
          <a:blip r:embed="rId11"/>
          <a:srcRect t="-28914" b="-28914"/>
          <a:stretch/>
        </p:blipFill>
        <p:spPr>
          <a:xfrm>
            <a:off x="7398844" y="1895244"/>
            <a:ext cx="289681" cy="365760"/>
          </a:xfrm>
          <a:prstGeom prst="rect">
            <a:avLst/>
          </a:prstGeom>
        </p:spPr>
      </p:pic>
      <p:sp>
        <p:nvSpPr>
          <p:cNvPr id="41" name="Text 26"/>
          <p:cNvSpPr txBox="1"/>
          <p:nvPr/>
        </p:nvSpPr>
        <p:spPr>
          <a:xfrm>
            <a:off x="6344107" y="2505456"/>
            <a:ext cx="2400300" cy="2862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F293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Operate.</a:t>
            </a:r>
            <a:endParaRPr lang="en-US" sz="2000" dirty="0"/>
          </a:p>
        </p:txBody>
      </p:sp>
      <p:sp>
        <p:nvSpPr>
          <p:cNvPr id="42" name="Text 27"/>
          <p:cNvSpPr txBox="1"/>
          <p:nvPr/>
        </p:nvSpPr>
        <p:spPr>
          <a:xfrm>
            <a:off x="6344107" y="2968854"/>
            <a:ext cx="2400300" cy="1527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A9D8F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Month 2 onward</a:t>
            </a:r>
            <a:endParaRPr lang="en-US" sz="1300" dirty="0"/>
          </a:p>
        </p:txBody>
      </p:sp>
      <p:sp>
        <p:nvSpPr>
          <p:cNvPr id="43" name="Text 28"/>
          <p:cNvSpPr txBox="1"/>
          <p:nvPr/>
        </p:nvSpPr>
        <p:spPr>
          <a:xfrm>
            <a:off x="6344107" y="3195725"/>
            <a:ext cx="2309775" cy="1390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Forward-deployed engineers run AI inside your enterprise and don't rotate off. The context, accountability, and institutional memory stay with you.</a:t>
            </a:r>
            <a:endParaRPr lang="en-US" sz="1200" dirty="0"/>
          </a:p>
        </p:txBody>
      </p:sp>
      <p:sp>
        <p:nvSpPr>
          <p:cNvPr id="44" name="Text 29"/>
          <p:cNvSpPr txBox="1"/>
          <p:nvPr/>
        </p:nvSpPr>
        <p:spPr>
          <a:xfrm>
            <a:off x="8051292" y="1687137"/>
            <a:ext cx="607162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lang="en-US" sz="3600" b="1" dirty="0">
                <a:solidFill>
                  <a:srgbClr val="2A9D8F">
                    <a:alpha val="8000"/>
                  </a:srgbClr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03</a:t>
            </a:r>
            <a:endParaRPr lang="en-US" sz="3600" dirty="0"/>
          </a:p>
        </p:txBody>
      </p:sp>
      <p:sp>
        <p:nvSpPr>
          <p:cNvPr id="45" name="Shape 30"/>
          <p:cNvSpPr/>
          <p:nvPr/>
        </p:nvSpPr>
        <p:spPr>
          <a:xfrm>
            <a:off x="10096805" y="1819656"/>
            <a:ext cx="533095" cy="533095"/>
          </a:xfrm>
          <a:prstGeom prst="ellipse">
            <a:avLst/>
          </a:prstGeom>
          <a:solidFill>
            <a:srgbClr val="D62839">
              <a:alpha val="1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46" name="Image 13" descr="gen-dedup-9fd551ffaf14ed4b68fb6cf808d818cf.png"/>
          <p:cNvPicPr>
            <a:picLocks noChangeAspect="1"/>
          </p:cNvPicPr>
          <p:nvPr/>
        </p:nvPicPr>
        <p:blipFill>
          <a:blip r:embed="rId12"/>
          <a:srcRect t="-13131" b="-13131"/>
          <a:stretch/>
        </p:blipFill>
        <p:spPr>
          <a:xfrm>
            <a:off x="10272370" y="1971446"/>
            <a:ext cx="181051" cy="228600"/>
          </a:xfrm>
          <a:prstGeom prst="rect">
            <a:avLst/>
          </a:prstGeom>
        </p:spPr>
      </p:pic>
      <p:sp>
        <p:nvSpPr>
          <p:cNvPr id="47" name="Text 31"/>
          <p:cNvSpPr txBox="1"/>
          <p:nvPr/>
        </p:nvSpPr>
        <p:spPr>
          <a:xfrm>
            <a:off x="9163202" y="2505456"/>
            <a:ext cx="2400300" cy="2862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F293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Compound.</a:t>
            </a:r>
            <a:endParaRPr lang="en-US" sz="2000" dirty="0"/>
          </a:p>
        </p:txBody>
      </p:sp>
      <p:sp>
        <p:nvSpPr>
          <p:cNvPr id="48" name="Text 32"/>
          <p:cNvSpPr txBox="1"/>
          <p:nvPr/>
        </p:nvSpPr>
        <p:spPr>
          <a:xfrm>
            <a:off x="9163202" y="2968854"/>
            <a:ext cx="2400300" cy="1527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D62839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Year one &amp; beyond</a:t>
            </a:r>
            <a:endParaRPr lang="en-US" sz="1300" dirty="0"/>
          </a:p>
        </p:txBody>
      </p:sp>
      <p:sp>
        <p:nvSpPr>
          <p:cNvPr id="49" name="Text 33"/>
          <p:cNvSpPr txBox="1"/>
          <p:nvPr/>
        </p:nvSpPr>
        <p:spPr>
          <a:xfrm>
            <a:off x="9163202" y="3285235"/>
            <a:ext cx="2309775" cy="1219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Every problem solved sharpens the platform. The system gets smarter as you scale — outcomes that compound while you sleep.</a:t>
            </a:r>
            <a:endParaRPr lang="en-US" sz="1200" dirty="0"/>
          </a:p>
        </p:txBody>
      </p:sp>
      <p:sp>
        <p:nvSpPr>
          <p:cNvPr id="50" name="Text 34"/>
          <p:cNvSpPr txBox="1"/>
          <p:nvPr/>
        </p:nvSpPr>
        <p:spPr>
          <a:xfrm>
            <a:off x="10865815" y="1687137"/>
            <a:ext cx="607162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lang="en-US" sz="3600" b="1" dirty="0">
                <a:solidFill>
                  <a:srgbClr val="D62839">
                    <a:alpha val="8000"/>
                  </a:srgbClr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04</a:t>
            </a:r>
            <a:endParaRPr lang="en-US" sz="3600" dirty="0"/>
          </a:p>
        </p:txBody>
      </p:sp>
      <p:sp>
        <p:nvSpPr>
          <p:cNvPr id="51" name="Text 35"/>
          <p:cNvSpPr txBox="1"/>
          <p:nvPr/>
        </p:nvSpPr>
        <p:spPr>
          <a:xfrm>
            <a:off x="914400" y="6048756"/>
            <a:ext cx="10401300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A9D8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Your business is our GTM.</a:t>
            </a:r>
            <a:r>
              <a:rPr lang="en-US" sz="1300" b="1" dirty="0">
                <a:solidFill>
                  <a:srgbClr val="1F293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We build with you, so your teams actually adopt, use, and grow everything we create together - not just receive it.</a:t>
            </a:r>
            <a:endParaRPr lang="en-US" sz="1300" dirty="0"/>
          </a:p>
        </p:txBody>
      </p:sp>
    </p:spTree>
    <p:extLst>
      <p:ext uri="{BB962C8B-B14F-4D97-AF65-F5344CB8AC3E}">
        <p14:creationId xmlns:p14="http://schemas.microsoft.com/office/powerpoint/2010/main" val="296851350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hape 4"/>
          <p:cNvSpPr/>
          <p:nvPr/>
        </p:nvSpPr>
        <p:spPr>
          <a:xfrm>
            <a:off x="219456" y="1182624"/>
            <a:ext cx="2779776" cy="6096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7" name="Shape 5"/>
          <p:cNvSpPr/>
          <p:nvPr/>
        </p:nvSpPr>
        <p:spPr>
          <a:xfrm>
            <a:off x="219456" y="1243584"/>
            <a:ext cx="2779776" cy="1889760"/>
          </a:xfrm>
          <a:prstGeom prst="rect">
            <a:avLst/>
          </a:prstGeom>
          <a:solidFill>
            <a:srgbClr val="F9FFFE"/>
          </a:solidFill>
          <a:ln w="6350">
            <a:solidFill>
              <a:srgbClr val="D0ECEA"/>
            </a:solidFill>
            <a:prstDash val="solid"/>
          </a:ln>
          <a:effectLst>
            <a:outerShdw blurRad="635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0144" y="1341120"/>
            <a:ext cx="414528" cy="41452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341376" y="1840992"/>
            <a:ext cx="25359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67" b="1">
                <a:solidFill>
                  <a:srgbClr val="1A1A2E"/>
                </a:solidFill>
                <a:latin typeface="Oswald" panose="00000500000000000000" pitchFamily="2" charset="0"/>
                <a:ea typeface="Calibri" pitchFamily="34" charset="-122"/>
                <a:cs typeface="Calibri" pitchFamily="34" charset="-120"/>
              </a:rPr>
              <a:t>Sourcing Engine</a:t>
            </a:r>
            <a:endParaRPr lang="en-US" sz="1467">
              <a:latin typeface="Oswald" panose="00000500000000000000" pitchFamily="2" charset="0"/>
            </a:endParaRPr>
          </a:p>
        </p:txBody>
      </p:sp>
      <p:sp>
        <p:nvSpPr>
          <p:cNvPr id="10" name="Text 7"/>
          <p:cNvSpPr/>
          <p:nvPr/>
        </p:nvSpPr>
        <p:spPr>
          <a:xfrm>
            <a:off x="341376" y="2182368"/>
            <a:ext cx="2535936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5000"/>
              </a:lnSpc>
            </a:pPr>
            <a:r>
              <a:rPr lang="en-US" sz="1133">
                <a:solidFill>
                  <a:srgbClr val="555555"/>
                </a:solidFill>
                <a:latin typeface="Raleway" pitchFamily="2" charset="0"/>
                <a:ea typeface="Calibri" pitchFamily="34" charset="-122"/>
                <a:cs typeface="Calibri" pitchFamily="34" charset="-120"/>
              </a:rPr>
              <a:t>AI-driven talent matching across 8,500+ active consultants and 1,250+ skills - niche to mainstream.</a:t>
            </a:r>
            <a:endParaRPr lang="en-US" sz="1133">
              <a:latin typeface="Raleway" pitchFamily="2" charset="0"/>
            </a:endParaRPr>
          </a:p>
        </p:txBody>
      </p:sp>
      <p:sp>
        <p:nvSpPr>
          <p:cNvPr id="11" name="Shape 8"/>
          <p:cNvSpPr/>
          <p:nvPr/>
        </p:nvSpPr>
        <p:spPr>
          <a:xfrm>
            <a:off x="3108960" y="1182624"/>
            <a:ext cx="2779776" cy="6096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12" name="Shape 9"/>
          <p:cNvSpPr/>
          <p:nvPr/>
        </p:nvSpPr>
        <p:spPr>
          <a:xfrm>
            <a:off x="3108960" y="1243584"/>
            <a:ext cx="2779776" cy="1889760"/>
          </a:xfrm>
          <a:prstGeom prst="rect">
            <a:avLst/>
          </a:prstGeom>
          <a:solidFill>
            <a:srgbClr val="F9FFFE"/>
          </a:solidFill>
          <a:ln w="6350">
            <a:solidFill>
              <a:srgbClr val="D0ECEA"/>
            </a:solidFill>
            <a:prstDash val="solid"/>
          </a:ln>
          <a:effectLst>
            <a:outerShdw blurRad="635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79648" y="1341120"/>
            <a:ext cx="414528" cy="41452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3230880" y="1840992"/>
            <a:ext cx="25359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67" b="1">
                <a:solidFill>
                  <a:srgbClr val="1A1A2E"/>
                </a:solidFill>
                <a:latin typeface="Oswald" panose="00000500000000000000" pitchFamily="2" charset="0"/>
                <a:ea typeface="Calibri" pitchFamily="34" charset="-122"/>
                <a:cs typeface="Calibri" pitchFamily="34" charset="-120"/>
              </a:rPr>
              <a:t>Human + AI Teams</a:t>
            </a:r>
            <a:endParaRPr lang="en-US" sz="1467">
              <a:latin typeface="Oswald" panose="00000500000000000000" pitchFamily="2" charset="0"/>
            </a:endParaRPr>
          </a:p>
        </p:txBody>
      </p:sp>
      <p:sp>
        <p:nvSpPr>
          <p:cNvPr id="15" name="Text 11"/>
          <p:cNvSpPr/>
          <p:nvPr/>
        </p:nvSpPr>
        <p:spPr>
          <a:xfrm>
            <a:off x="3230880" y="2182368"/>
            <a:ext cx="2535936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5000"/>
              </a:lnSpc>
            </a:pPr>
            <a:r>
              <a:rPr lang="en-US" sz="1133">
                <a:solidFill>
                  <a:srgbClr val="555555"/>
                </a:solidFill>
                <a:latin typeface="Raleway" pitchFamily="2" charset="0"/>
                <a:ea typeface="Calibri" pitchFamily="34" charset="-122"/>
                <a:cs typeface="Calibri" pitchFamily="34" charset="-120"/>
              </a:rPr>
              <a:t>Blended delivery with AI productivity tools embedded from Day 1. Capability stacks over role pyramids.</a:t>
            </a:r>
            <a:endParaRPr lang="en-US" sz="1133">
              <a:latin typeface="Raleway" pitchFamily="2" charset="0"/>
            </a:endParaRPr>
          </a:p>
        </p:txBody>
      </p:sp>
      <p:sp>
        <p:nvSpPr>
          <p:cNvPr id="16" name="Shape 12"/>
          <p:cNvSpPr/>
          <p:nvPr/>
        </p:nvSpPr>
        <p:spPr>
          <a:xfrm>
            <a:off x="5998464" y="1182624"/>
            <a:ext cx="2779776" cy="6096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17" name="Shape 13"/>
          <p:cNvSpPr/>
          <p:nvPr/>
        </p:nvSpPr>
        <p:spPr>
          <a:xfrm>
            <a:off x="5998464" y="1243584"/>
            <a:ext cx="2779776" cy="1889760"/>
          </a:xfrm>
          <a:prstGeom prst="rect">
            <a:avLst/>
          </a:prstGeom>
          <a:solidFill>
            <a:srgbClr val="F9FFFE"/>
          </a:solidFill>
          <a:ln w="6350">
            <a:solidFill>
              <a:srgbClr val="D0ECEA"/>
            </a:solidFill>
            <a:prstDash val="solid"/>
          </a:ln>
          <a:effectLst>
            <a:outerShdw blurRad="635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69152" y="1341120"/>
            <a:ext cx="414528" cy="41452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6120384" y="1840992"/>
            <a:ext cx="25359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67" b="1">
                <a:solidFill>
                  <a:srgbClr val="1A1A2E"/>
                </a:solidFill>
                <a:latin typeface="Oswald" panose="00000500000000000000" pitchFamily="2" charset="0"/>
                <a:ea typeface="Calibri" pitchFamily="34" charset="-122"/>
                <a:cs typeface="Calibri" pitchFamily="34" charset="-120"/>
              </a:rPr>
              <a:t>Fully Managed</a:t>
            </a:r>
            <a:endParaRPr lang="en-US" sz="1467">
              <a:latin typeface="Oswald" panose="00000500000000000000" pitchFamily="2" charset="0"/>
            </a:endParaRPr>
          </a:p>
        </p:txBody>
      </p:sp>
      <p:sp>
        <p:nvSpPr>
          <p:cNvPr id="20" name="Text 15"/>
          <p:cNvSpPr/>
          <p:nvPr/>
        </p:nvSpPr>
        <p:spPr>
          <a:xfrm>
            <a:off x="6120384" y="2182368"/>
            <a:ext cx="2535936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5000"/>
              </a:lnSpc>
            </a:pPr>
            <a:r>
              <a:rPr lang="en-US" sz="1133">
                <a:solidFill>
                  <a:srgbClr val="555555"/>
                </a:solidFill>
                <a:latin typeface="Raleway" pitchFamily="2" charset="0"/>
                <a:ea typeface="Calibri" pitchFamily="34" charset="-122"/>
                <a:cs typeface="Calibri" pitchFamily="34" charset="-120"/>
              </a:rPr>
              <a:t>J2W owns payroll, compliance, onboarding and HR. Zero admin burden on the client side.</a:t>
            </a:r>
            <a:endParaRPr lang="en-US" sz="1133">
              <a:latin typeface="Raleway" pitchFamily="2" charset="0"/>
            </a:endParaRPr>
          </a:p>
        </p:txBody>
      </p:sp>
      <p:sp>
        <p:nvSpPr>
          <p:cNvPr id="21" name="Shape 16"/>
          <p:cNvSpPr/>
          <p:nvPr/>
        </p:nvSpPr>
        <p:spPr>
          <a:xfrm>
            <a:off x="8887968" y="1182624"/>
            <a:ext cx="2779776" cy="6096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22" name="Shape 17"/>
          <p:cNvSpPr/>
          <p:nvPr/>
        </p:nvSpPr>
        <p:spPr>
          <a:xfrm>
            <a:off x="8887968" y="1243584"/>
            <a:ext cx="2779776" cy="1889760"/>
          </a:xfrm>
          <a:prstGeom prst="rect">
            <a:avLst/>
          </a:prstGeom>
          <a:solidFill>
            <a:srgbClr val="F9FFFE"/>
          </a:solidFill>
          <a:ln w="6350">
            <a:solidFill>
              <a:srgbClr val="D0ECEA"/>
            </a:solidFill>
            <a:prstDash val="solid"/>
          </a:ln>
          <a:effectLst>
            <a:outerShdw blurRad="635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pic>
        <p:nvPicPr>
          <p:cNvPr id="2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58656" y="1341120"/>
            <a:ext cx="414528" cy="414528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9009888" y="1840992"/>
            <a:ext cx="25359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67" b="1">
                <a:solidFill>
                  <a:srgbClr val="1A1A2E"/>
                </a:solidFill>
                <a:latin typeface="Oswald" panose="00000500000000000000" pitchFamily="2" charset="0"/>
                <a:ea typeface="Calibri" pitchFamily="34" charset="-122"/>
                <a:cs typeface="Calibri" pitchFamily="34" charset="-120"/>
              </a:rPr>
              <a:t>AI-First L&amp;D</a:t>
            </a:r>
            <a:endParaRPr lang="en-US" sz="1467">
              <a:latin typeface="Oswald" panose="00000500000000000000" pitchFamily="2" charset="0"/>
            </a:endParaRPr>
          </a:p>
        </p:txBody>
      </p:sp>
      <p:sp>
        <p:nvSpPr>
          <p:cNvPr id="25" name="Text 19"/>
          <p:cNvSpPr/>
          <p:nvPr/>
        </p:nvSpPr>
        <p:spPr>
          <a:xfrm>
            <a:off x="9009888" y="2182368"/>
            <a:ext cx="2535936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5000"/>
              </a:lnSpc>
            </a:pPr>
            <a:r>
              <a:rPr lang="en-US" sz="1133">
                <a:solidFill>
                  <a:srgbClr val="555555"/>
                </a:solidFill>
                <a:latin typeface="Raleway" pitchFamily="2" charset="0"/>
                <a:ea typeface="Calibri" pitchFamily="34" charset="-122"/>
                <a:cs typeface="Calibri" pitchFamily="34" charset="-120"/>
              </a:rPr>
              <a:t>Continuous upskilling via J2W </a:t>
            </a:r>
            <a:r>
              <a:rPr lang="en-US" sz="1133" err="1">
                <a:solidFill>
                  <a:srgbClr val="555555"/>
                </a:solidFill>
                <a:latin typeface="Raleway" pitchFamily="2" charset="0"/>
                <a:ea typeface="Calibri" pitchFamily="34" charset="-122"/>
                <a:cs typeface="Calibri" pitchFamily="34" charset="-120"/>
              </a:rPr>
              <a:t>CoE</a:t>
            </a:r>
            <a:r>
              <a:rPr lang="en-US" sz="1133">
                <a:solidFill>
                  <a:srgbClr val="555555"/>
                </a:solidFill>
                <a:latin typeface="Raleway" pitchFamily="2" charset="0"/>
                <a:ea typeface="Calibri" pitchFamily="34" charset="-122"/>
                <a:cs typeface="Calibri" pitchFamily="34" charset="-120"/>
              </a:rPr>
              <a:t> - contextual, hands-on AI training powered by Research Wing.</a:t>
            </a:r>
            <a:endParaRPr lang="en-US" sz="1133">
              <a:latin typeface="Raleway" pitchFamily="2" charset="0"/>
            </a:endParaRPr>
          </a:p>
        </p:txBody>
      </p:sp>
      <p:sp>
        <p:nvSpPr>
          <p:cNvPr id="26" name="Text 20"/>
          <p:cNvSpPr/>
          <p:nvPr/>
        </p:nvSpPr>
        <p:spPr>
          <a:xfrm>
            <a:off x="341376" y="3291840"/>
            <a:ext cx="2560320" cy="390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67" b="1">
                <a:solidFill>
                  <a:srgbClr val="0D9488"/>
                </a:solidFill>
                <a:latin typeface="Raleway" pitchFamily="2" charset="0"/>
                <a:ea typeface="Calibri" pitchFamily="34" charset="-122"/>
                <a:cs typeface="Calibri" pitchFamily="34" charset="-120"/>
              </a:rPr>
              <a:t>Dimension</a:t>
            </a:r>
            <a:endParaRPr lang="en-US" sz="1267">
              <a:latin typeface="Raleway" pitchFamily="2" charset="0"/>
            </a:endParaRPr>
          </a:p>
        </p:txBody>
      </p:sp>
      <p:sp>
        <p:nvSpPr>
          <p:cNvPr id="27" name="Text 21"/>
          <p:cNvSpPr/>
          <p:nvPr/>
        </p:nvSpPr>
        <p:spPr>
          <a:xfrm>
            <a:off x="2901696" y="3291840"/>
            <a:ext cx="4023360" cy="390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67" b="1">
                <a:solidFill>
                  <a:srgbClr val="0D9488"/>
                </a:solidFill>
                <a:latin typeface="Raleway" pitchFamily="2" charset="0"/>
                <a:ea typeface="Calibri" pitchFamily="34" charset="-122"/>
                <a:cs typeface="Calibri" pitchFamily="34" charset="-120"/>
              </a:rPr>
              <a:t>Traditional Staffing</a:t>
            </a:r>
            <a:endParaRPr lang="en-US" sz="1267">
              <a:latin typeface="Raleway" pitchFamily="2" charset="0"/>
            </a:endParaRPr>
          </a:p>
        </p:txBody>
      </p:sp>
      <p:sp>
        <p:nvSpPr>
          <p:cNvPr id="28" name="Text 22"/>
          <p:cNvSpPr/>
          <p:nvPr/>
        </p:nvSpPr>
        <p:spPr>
          <a:xfrm>
            <a:off x="6925056" y="3291840"/>
            <a:ext cx="4949952" cy="390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67" b="1">
                <a:solidFill>
                  <a:srgbClr val="0D9488"/>
                </a:solidFill>
                <a:latin typeface="Raleway" pitchFamily="2" charset="0"/>
                <a:ea typeface="Calibri" pitchFamily="34" charset="-122"/>
                <a:cs typeface="Calibri" pitchFamily="34" charset="-120"/>
              </a:rPr>
              <a:t>J2W Workforce</a:t>
            </a:r>
            <a:endParaRPr lang="en-US" sz="1267">
              <a:latin typeface="Raleway" pitchFamily="2" charset="0"/>
            </a:endParaRPr>
          </a:p>
        </p:txBody>
      </p:sp>
      <p:sp>
        <p:nvSpPr>
          <p:cNvPr id="29" name="Shape 23"/>
          <p:cNvSpPr/>
          <p:nvPr/>
        </p:nvSpPr>
        <p:spPr>
          <a:xfrm>
            <a:off x="219456" y="3681984"/>
            <a:ext cx="11533632" cy="0"/>
          </a:xfrm>
          <a:prstGeom prst="line">
            <a:avLst/>
          </a:prstGeom>
          <a:noFill/>
          <a:ln w="9525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30" name="Shape 24"/>
          <p:cNvSpPr/>
          <p:nvPr/>
        </p:nvSpPr>
        <p:spPr>
          <a:xfrm>
            <a:off x="219456" y="3681984"/>
            <a:ext cx="11533632" cy="432816"/>
          </a:xfrm>
          <a:prstGeom prst="rect">
            <a:avLst/>
          </a:prstGeom>
          <a:solidFill>
            <a:srgbClr val="FFFFFF"/>
          </a:solidFill>
          <a:ln w="6350">
            <a:solidFill>
              <a:srgbClr val="E2F0EF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31" name="Text 25"/>
          <p:cNvSpPr/>
          <p:nvPr/>
        </p:nvSpPr>
        <p:spPr>
          <a:xfrm>
            <a:off x="341376" y="3730752"/>
            <a:ext cx="237744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67" b="1">
                <a:solidFill>
                  <a:srgbClr val="1A1A2E"/>
                </a:solidFill>
                <a:latin typeface="Raleway" pitchFamily="2" charset="0"/>
                <a:ea typeface="Calibri" pitchFamily="34" charset="-122"/>
                <a:cs typeface="Calibri" pitchFamily="34" charset="-120"/>
              </a:rPr>
              <a:t>Speed to Deploy</a:t>
            </a:r>
            <a:endParaRPr lang="en-US" sz="1267">
              <a:latin typeface="Raleway" pitchFamily="2" charset="0"/>
            </a:endParaRPr>
          </a:p>
        </p:txBody>
      </p:sp>
      <p:sp>
        <p:nvSpPr>
          <p:cNvPr id="32" name="Text 26"/>
          <p:cNvSpPr/>
          <p:nvPr/>
        </p:nvSpPr>
        <p:spPr>
          <a:xfrm>
            <a:off x="2901696" y="3730752"/>
            <a:ext cx="38404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67">
                <a:solidFill>
                  <a:srgbClr val="888888"/>
                </a:solidFill>
                <a:latin typeface="Raleway" pitchFamily="2" charset="0"/>
                <a:ea typeface="Calibri" pitchFamily="34" charset="-122"/>
                <a:cs typeface="Calibri" pitchFamily="34" charset="-120"/>
              </a:rPr>
              <a:t>Weeks to months</a:t>
            </a:r>
            <a:endParaRPr lang="en-US" sz="1267">
              <a:latin typeface="Raleway" pitchFamily="2" charset="0"/>
            </a:endParaRPr>
          </a:p>
        </p:txBody>
      </p:sp>
      <p:pic>
        <p:nvPicPr>
          <p:cNvPr id="33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00672" y="3791712"/>
            <a:ext cx="219456" cy="219456"/>
          </a:xfrm>
          <a:prstGeom prst="rect">
            <a:avLst/>
          </a:prstGeom>
        </p:spPr>
      </p:pic>
      <p:sp>
        <p:nvSpPr>
          <p:cNvPr id="34" name="Text 27"/>
          <p:cNvSpPr/>
          <p:nvPr/>
        </p:nvSpPr>
        <p:spPr>
          <a:xfrm>
            <a:off x="7193280" y="3730752"/>
            <a:ext cx="4437888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67" b="1">
                <a:solidFill>
                  <a:srgbClr val="0D9488"/>
                </a:solidFill>
                <a:latin typeface="Raleway" pitchFamily="2" charset="0"/>
                <a:ea typeface="Calibri" pitchFamily="34" charset="-122"/>
                <a:cs typeface="Calibri" pitchFamily="34" charset="-120"/>
              </a:rPr>
              <a:t>1 engineer onboarded per hour</a:t>
            </a:r>
            <a:endParaRPr lang="en-US" sz="1267">
              <a:latin typeface="Raleway" pitchFamily="2" charset="0"/>
            </a:endParaRPr>
          </a:p>
        </p:txBody>
      </p:sp>
      <p:sp>
        <p:nvSpPr>
          <p:cNvPr id="35" name="Shape 28"/>
          <p:cNvSpPr/>
          <p:nvPr/>
        </p:nvSpPr>
        <p:spPr>
          <a:xfrm>
            <a:off x="219456" y="4114800"/>
            <a:ext cx="11533632" cy="432816"/>
          </a:xfrm>
          <a:prstGeom prst="rect">
            <a:avLst/>
          </a:prstGeom>
          <a:solidFill>
            <a:srgbClr val="F0FAFA"/>
          </a:solidFill>
          <a:ln w="6350">
            <a:solidFill>
              <a:srgbClr val="E2F0EF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36" name="Text 29"/>
          <p:cNvSpPr/>
          <p:nvPr/>
        </p:nvSpPr>
        <p:spPr>
          <a:xfrm>
            <a:off x="341376" y="4163568"/>
            <a:ext cx="237744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67" b="1">
                <a:solidFill>
                  <a:srgbClr val="1A1A2E"/>
                </a:solidFill>
                <a:latin typeface="Raleway" pitchFamily="2" charset="0"/>
                <a:ea typeface="Calibri" pitchFamily="34" charset="-122"/>
                <a:cs typeface="Calibri" pitchFamily="34" charset="-120"/>
              </a:rPr>
              <a:t>Team Composition</a:t>
            </a:r>
            <a:endParaRPr lang="en-US" sz="1267">
              <a:latin typeface="Raleway" pitchFamily="2" charset="0"/>
            </a:endParaRPr>
          </a:p>
        </p:txBody>
      </p:sp>
      <p:sp>
        <p:nvSpPr>
          <p:cNvPr id="37" name="Text 30"/>
          <p:cNvSpPr/>
          <p:nvPr/>
        </p:nvSpPr>
        <p:spPr>
          <a:xfrm>
            <a:off x="2901696" y="4163568"/>
            <a:ext cx="38404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67">
                <a:solidFill>
                  <a:srgbClr val="888888"/>
                </a:solidFill>
                <a:latin typeface="Raleway" pitchFamily="2" charset="0"/>
                <a:ea typeface="Calibri" pitchFamily="34" charset="-122"/>
                <a:cs typeface="Calibri" pitchFamily="34" charset="-120"/>
              </a:rPr>
              <a:t>Single-role profile deployments</a:t>
            </a:r>
            <a:endParaRPr lang="en-US" sz="1267">
              <a:latin typeface="Raleway" pitchFamily="2" charset="0"/>
            </a:endParaRPr>
          </a:p>
        </p:txBody>
      </p:sp>
      <p:pic>
        <p:nvPicPr>
          <p:cNvPr id="38" name="Image 5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00672" y="4224528"/>
            <a:ext cx="219456" cy="219456"/>
          </a:xfrm>
          <a:prstGeom prst="rect">
            <a:avLst/>
          </a:prstGeom>
        </p:spPr>
      </p:pic>
      <p:sp>
        <p:nvSpPr>
          <p:cNvPr id="39" name="Text 31"/>
          <p:cNvSpPr/>
          <p:nvPr/>
        </p:nvSpPr>
        <p:spPr>
          <a:xfrm>
            <a:off x="7193280" y="4163568"/>
            <a:ext cx="4437888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67" b="1">
                <a:solidFill>
                  <a:srgbClr val="0D9488"/>
                </a:solidFill>
                <a:latin typeface="Raleway" pitchFamily="2" charset="0"/>
                <a:ea typeface="Calibri" pitchFamily="34" charset="-122"/>
                <a:cs typeface="Calibri" pitchFamily="34" charset="-120"/>
              </a:rPr>
              <a:t>Human + AI blended capability stacks</a:t>
            </a:r>
            <a:endParaRPr lang="en-US" sz="1267">
              <a:latin typeface="Raleway" pitchFamily="2" charset="0"/>
            </a:endParaRPr>
          </a:p>
        </p:txBody>
      </p:sp>
      <p:sp>
        <p:nvSpPr>
          <p:cNvPr id="40" name="Shape 32"/>
          <p:cNvSpPr/>
          <p:nvPr/>
        </p:nvSpPr>
        <p:spPr>
          <a:xfrm>
            <a:off x="219456" y="4547616"/>
            <a:ext cx="11533632" cy="432816"/>
          </a:xfrm>
          <a:prstGeom prst="rect">
            <a:avLst/>
          </a:prstGeom>
          <a:solidFill>
            <a:srgbClr val="FFFFFF"/>
          </a:solidFill>
          <a:ln w="6350">
            <a:solidFill>
              <a:srgbClr val="E2F0EF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41" name="Text 33"/>
          <p:cNvSpPr/>
          <p:nvPr/>
        </p:nvSpPr>
        <p:spPr>
          <a:xfrm>
            <a:off x="341376" y="4596384"/>
            <a:ext cx="237744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67" b="1">
                <a:solidFill>
                  <a:srgbClr val="1A1A2E"/>
                </a:solidFill>
                <a:latin typeface="Raleway" pitchFamily="2" charset="0"/>
                <a:ea typeface="Calibri" pitchFamily="34" charset="-122"/>
                <a:cs typeface="Calibri" pitchFamily="34" charset="-120"/>
              </a:rPr>
              <a:t>Governance</a:t>
            </a:r>
            <a:endParaRPr lang="en-US" sz="1267">
              <a:latin typeface="Raleway" pitchFamily="2" charset="0"/>
            </a:endParaRPr>
          </a:p>
        </p:txBody>
      </p:sp>
      <p:sp>
        <p:nvSpPr>
          <p:cNvPr id="42" name="Text 34"/>
          <p:cNvSpPr/>
          <p:nvPr/>
        </p:nvSpPr>
        <p:spPr>
          <a:xfrm>
            <a:off x="2901696" y="4596384"/>
            <a:ext cx="38404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67">
                <a:solidFill>
                  <a:srgbClr val="888888"/>
                </a:solidFill>
                <a:latin typeface="Raleway" pitchFamily="2" charset="0"/>
                <a:ea typeface="Calibri" pitchFamily="34" charset="-122"/>
                <a:cs typeface="Calibri" pitchFamily="34" charset="-120"/>
              </a:rPr>
              <a:t>Client's burden</a:t>
            </a:r>
            <a:endParaRPr lang="en-US" sz="1267">
              <a:latin typeface="Raleway" pitchFamily="2" charset="0"/>
            </a:endParaRPr>
          </a:p>
        </p:txBody>
      </p:sp>
      <p:pic>
        <p:nvPicPr>
          <p:cNvPr id="43" name="Image 6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00672" y="4657344"/>
            <a:ext cx="219456" cy="219456"/>
          </a:xfrm>
          <a:prstGeom prst="rect">
            <a:avLst/>
          </a:prstGeom>
        </p:spPr>
      </p:pic>
      <p:sp>
        <p:nvSpPr>
          <p:cNvPr id="44" name="Text 35"/>
          <p:cNvSpPr/>
          <p:nvPr/>
        </p:nvSpPr>
        <p:spPr>
          <a:xfrm>
            <a:off x="7193280" y="4596384"/>
            <a:ext cx="4437888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67" b="1">
                <a:solidFill>
                  <a:srgbClr val="0D9488"/>
                </a:solidFill>
                <a:latin typeface="Raleway" pitchFamily="2" charset="0"/>
                <a:ea typeface="Calibri" pitchFamily="34" charset="-122"/>
                <a:cs typeface="Calibri" pitchFamily="34" charset="-120"/>
              </a:rPr>
              <a:t>J2W-owned - HRBP implant at every site</a:t>
            </a:r>
            <a:endParaRPr lang="en-US" sz="1267">
              <a:latin typeface="Raleway" pitchFamily="2" charset="0"/>
            </a:endParaRPr>
          </a:p>
        </p:txBody>
      </p:sp>
      <p:sp>
        <p:nvSpPr>
          <p:cNvPr id="45" name="Shape 36"/>
          <p:cNvSpPr/>
          <p:nvPr/>
        </p:nvSpPr>
        <p:spPr>
          <a:xfrm>
            <a:off x="219456" y="4980432"/>
            <a:ext cx="11533632" cy="432816"/>
          </a:xfrm>
          <a:prstGeom prst="rect">
            <a:avLst/>
          </a:prstGeom>
          <a:solidFill>
            <a:srgbClr val="F0FAFA"/>
          </a:solidFill>
          <a:ln w="6350">
            <a:solidFill>
              <a:srgbClr val="E2F0EF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46" name="Text 37"/>
          <p:cNvSpPr/>
          <p:nvPr/>
        </p:nvSpPr>
        <p:spPr>
          <a:xfrm>
            <a:off x="341376" y="5029200"/>
            <a:ext cx="237744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67" b="1">
                <a:solidFill>
                  <a:srgbClr val="1A1A2E"/>
                </a:solidFill>
                <a:latin typeface="Raleway" pitchFamily="2" charset="0"/>
                <a:ea typeface="Calibri" pitchFamily="34" charset="-122"/>
                <a:cs typeface="Calibri" pitchFamily="34" charset="-120"/>
              </a:rPr>
              <a:t>Performance Issues</a:t>
            </a:r>
            <a:endParaRPr lang="en-US" sz="1267">
              <a:latin typeface="Raleway" pitchFamily="2" charset="0"/>
            </a:endParaRPr>
          </a:p>
        </p:txBody>
      </p:sp>
      <p:sp>
        <p:nvSpPr>
          <p:cNvPr id="47" name="Text 38"/>
          <p:cNvSpPr/>
          <p:nvPr/>
        </p:nvSpPr>
        <p:spPr>
          <a:xfrm>
            <a:off x="2901696" y="5029200"/>
            <a:ext cx="38404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67">
                <a:solidFill>
                  <a:srgbClr val="888888"/>
                </a:solidFill>
                <a:latin typeface="Raleway" pitchFamily="2" charset="0"/>
                <a:ea typeface="Calibri" pitchFamily="34" charset="-122"/>
                <a:cs typeface="Calibri" pitchFamily="34" charset="-120"/>
              </a:rPr>
              <a:t>Escalation after the fact</a:t>
            </a:r>
            <a:endParaRPr lang="en-US" sz="1267">
              <a:latin typeface="Raleway" pitchFamily="2" charset="0"/>
            </a:endParaRPr>
          </a:p>
        </p:txBody>
      </p:sp>
      <p:pic>
        <p:nvPicPr>
          <p:cNvPr id="48" name="Image 7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00672" y="5090160"/>
            <a:ext cx="219456" cy="219456"/>
          </a:xfrm>
          <a:prstGeom prst="rect">
            <a:avLst/>
          </a:prstGeom>
        </p:spPr>
      </p:pic>
      <p:sp>
        <p:nvSpPr>
          <p:cNvPr id="49" name="Text 39"/>
          <p:cNvSpPr/>
          <p:nvPr/>
        </p:nvSpPr>
        <p:spPr>
          <a:xfrm>
            <a:off x="7193280" y="5029200"/>
            <a:ext cx="4437888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67" b="1">
                <a:solidFill>
                  <a:srgbClr val="0D9488"/>
                </a:solidFill>
                <a:latin typeface="Raleway" pitchFamily="2" charset="0"/>
                <a:ea typeface="Calibri" pitchFamily="34" charset="-122"/>
                <a:cs typeface="Calibri" pitchFamily="34" charset="-120"/>
              </a:rPr>
              <a:t>Proactive monitoring &amp; intervention</a:t>
            </a:r>
            <a:endParaRPr lang="en-US" sz="1267">
              <a:latin typeface="Raleway" pitchFamily="2" charset="0"/>
            </a:endParaRPr>
          </a:p>
        </p:txBody>
      </p:sp>
      <p:sp>
        <p:nvSpPr>
          <p:cNvPr id="50" name="Shape 40"/>
          <p:cNvSpPr/>
          <p:nvPr/>
        </p:nvSpPr>
        <p:spPr>
          <a:xfrm>
            <a:off x="219456" y="5413248"/>
            <a:ext cx="11533632" cy="432816"/>
          </a:xfrm>
          <a:prstGeom prst="rect">
            <a:avLst/>
          </a:prstGeom>
          <a:solidFill>
            <a:srgbClr val="FFFFFF"/>
          </a:solidFill>
          <a:ln w="6350">
            <a:solidFill>
              <a:srgbClr val="E2F0EF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51" name="Text 41"/>
          <p:cNvSpPr/>
          <p:nvPr/>
        </p:nvSpPr>
        <p:spPr>
          <a:xfrm>
            <a:off x="341376" y="5462016"/>
            <a:ext cx="237744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67" b="1">
                <a:solidFill>
                  <a:srgbClr val="1A1A2E"/>
                </a:solidFill>
                <a:latin typeface="Raleway" pitchFamily="2" charset="0"/>
                <a:ea typeface="Calibri" pitchFamily="34" charset="-122"/>
                <a:cs typeface="Calibri" pitchFamily="34" charset="-120"/>
              </a:rPr>
              <a:t>Knowledge Retention</a:t>
            </a:r>
            <a:endParaRPr lang="en-US" sz="1267">
              <a:latin typeface="Raleway" pitchFamily="2" charset="0"/>
            </a:endParaRPr>
          </a:p>
        </p:txBody>
      </p:sp>
      <p:sp>
        <p:nvSpPr>
          <p:cNvPr id="52" name="Text 42"/>
          <p:cNvSpPr/>
          <p:nvPr/>
        </p:nvSpPr>
        <p:spPr>
          <a:xfrm>
            <a:off x="2901696" y="5462016"/>
            <a:ext cx="38404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67">
                <a:solidFill>
                  <a:srgbClr val="888888"/>
                </a:solidFill>
                <a:latin typeface="Raleway" pitchFamily="2" charset="0"/>
                <a:ea typeface="Calibri" pitchFamily="34" charset="-122"/>
                <a:cs typeface="Calibri" pitchFamily="34" charset="-120"/>
              </a:rPr>
              <a:t>Lost with attrition</a:t>
            </a:r>
            <a:endParaRPr lang="en-US" sz="1267">
              <a:latin typeface="Raleway" pitchFamily="2" charset="0"/>
            </a:endParaRPr>
          </a:p>
        </p:txBody>
      </p:sp>
      <p:pic>
        <p:nvPicPr>
          <p:cNvPr id="53" name="Image 8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00672" y="5522976"/>
            <a:ext cx="219456" cy="219456"/>
          </a:xfrm>
          <a:prstGeom prst="rect">
            <a:avLst/>
          </a:prstGeom>
        </p:spPr>
      </p:pic>
      <p:sp>
        <p:nvSpPr>
          <p:cNvPr id="54" name="Text 43"/>
          <p:cNvSpPr/>
          <p:nvPr/>
        </p:nvSpPr>
        <p:spPr>
          <a:xfrm>
            <a:off x="7193280" y="5462016"/>
            <a:ext cx="4437888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67" b="1">
                <a:solidFill>
                  <a:srgbClr val="0D9488"/>
                </a:solidFill>
                <a:latin typeface="Raleway" pitchFamily="2" charset="0"/>
                <a:ea typeface="Calibri" pitchFamily="34" charset="-122"/>
                <a:cs typeface="Calibri" pitchFamily="34" charset="-120"/>
              </a:rPr>
              <a:t>Captured in J2W Knowledge Repository</a:t>
            </a:r>
            <a:endParaRPr lang="en-US" sz="1267">
              <a:latin typeface="Raleway" pitchFamily="2" charset="0"/>
            </a:endParaRPr>
          </a:p>
        </p:txBody>
      </p:sp>
      <p:sp>
        <p:nvSpPr>
          <p:cNvPr id="55" name="Shape 44"/>
          <p:cNvSpPr/>
          <p:nvPr/>
        </p:nvSpPr>
        <p:spPr>
          <a:xfrm>
            <a:off x="219456" y="5846064"/>
            <a:ext cx="11533632" cy="432816"/>
          </a:xfrm>
          <a:prstGeom prst="rect">
            <a:avLst/>
          </a:prstGeom>
          <a:solidFill>
            <a:srgbClr val="F0FAFA"/>
          </a:solidFill>
          <a:ln w="6350">
            <a:solidFill>
              <a:srgbClr val="E2F0EF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56" name="Text 45"/>
          <p:cNvSpPr/>
          <p:nvPr/>
        </p:nvSpPr>
        <p:spPr>
          <a:xfrm>
            <a:off x="341376" y="5894832"/>
            <a:ext cx="237744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67" b="1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Readiness</a:t>
            </a:r>
            <a:endParaRPr lang="en-US" sz="1267"/>
          </a:p>
        </p:txBody>
      </p:sp>
      <p:sp>
        <p:nvSpPr>
          <p:cNvPr id="57" name="Text 46"/>
          <p:cNvSpPr/>
          <p:nvPr/>
        </p:nvSpPr>
        <p:spPr>
          <a:xfrm>
            <a:off x="2901696" y="5894832"/>
            <a:ext cx="38404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67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 hoc</a:t>
            </a:r>
            <a:endParaRPr lang="en-US" sz="1267"/>
          </a:p>
        </p:txBody>
      </p:sp>
      <p:pic>
        <p:nvPicPr>
          <p:cNvPr id="58" name="Image 9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00672" y="5955792"/>
            <a:ext cx="219456" cy="219456"/>
          </a:xfrm>
          <a:prstGeom prst="rect">
            <a:avLst/>
          </a:prstGeom>
        </p:spPr>
      </p:pic>
      <p:sp>
        <p:nvSpPr>
          <p:cNvPr id="59" name="Text 47"/>
          <p:cNvSpPr/>
          <p:nvPr/>
        </p:nvSpPr>
        <p:spPr>
          <a:xfrm>
            <a:off x="7193280" y="5894832"/>
            <a:ext cx="4437888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67" b="1">
                <a:solidFill>
                  <a:srgbClr val="C0392B"/>
                </a:solidFill>
                <a:latin typeface="Raleway" pitchFamily="2" charset="0"/>
                <a:ea typeface="Calibri" pitchFamily="34" charset="-122"/>
                <a:cs typeface="Calibri" pitchFamily="34" charset="-120"/>
              </a:rPr>
              <a:t>Embedded from Day 1</a:t>
            </a:r>
            <a:endParaRPr lang="en-US" sz="1267">
              <a:latin typeface="Raleway" pitchFamily="2" charset="0"/>
            </a:endParaRPr>
          </a:p>
        </p:txBody>
      </p:sp>
      <p:sp>
        <p:nvSpPr>
          <p:cNvPr id="60" name="Shape 48"/>
          <p:cNvSpPr/>
          <p:nvPr/>
        </p:nvSpPr>
        <p:spPr>
          <a:xfrm>
            <a:off x="0" y="6352032"/>
            <a:ext cx="12192000" cy="50596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61" name="Text 49"/>
          <p:cNvSpPr/>
          <p:nvPr/>
        </p:nvSpPr>
        <p:spPr>
          <a:xfrm>
            <a:off x="60960" y="6364224"/>
            <a:ext cx="2316480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6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5,500+</a:t>
            </a:r>
            <a:endParaRPr lang="en-US" sz="1600"/>
          </a:p>
        </p:txBody>
      </p:sp>
      <p:sp>
        <p:nvSpPr>
          <p:cNvPr id="62" name="Text 50"/>
          <p:cNvSpPr/>
          <p:nvPr/>
        </p:nvSpPr>
        <p:spPr>
          <a:xfrm>
            <a:off x="60960" y="6620256"/>
            <a:ext cx="2316480" cy="207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000">
                <a:solidFill>
                  <a:srgbClr val="D0F5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Consultants</a:t>
            </a:r>
            <a:endParaRPr lang="en-US" sz="1000"/>
          </a:p>
        </p:txBody>
      </p:sp>
      <p:sp>
        <p:nvSpPr>
          <p:cNvPr id="63" name="Shape 51"/>
          <p:cNvSpPr/>
          <p:nvPr/>
        </p:nvSpPr>
        <p:spPr>
          <a:xfrm>
            <a:off x="2438400" y="6400800"/>
            <a:ext cx="0" cy="402336"/>
          </a:xfrm>
          <a:prstGeom prst="line">
            <a:avLst/>
          </a:prstGeom>
          <a:noFill/>
          <a:ln w="6350">
            <a:solidFill>
              <a:srgbClr val="FFFFFF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64" name="Text 52"/>
          <p:cNvSpPr/>
          <p:nvPr/>
        </p:nvSpPr>
        <p:spPr>
          <a:xfrm>
            <a:off x="2499360" y="6364224"/>
            <a:ext cx="2316480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6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1,250+</a:t>
            </a:r>
            <a:endParaRPr lang="en-US" sz="1600"/>
          </a:p>
        </p:txBody>
      </p:sp>
      <p:sp>
        <p:nvSpPr>
          <p:cNvPr id="65" name="Text 53"/>
          <p:cNvSpPr/>
          <p:nvPr/>
        </p:nvSpPr>
        <p:spPr>
          <a:xfrm>
            <a:off x="2499360" y="6620256"/>
            <a:ext cx="2316480" cy="207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000">
                <a:solidFill>
                  <a:srgbClr val="D0F5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Skills Covered</a:t>
            </a:r>
            <a:endParaRPr lang="en-US" sz="1000"/>
          </a:p>
        </p:txBody>
      </p:sp>
      <p:sp>
        <p:nvSpPr>
          <p:cNvPr id="66" name="Shape 54"/>
          <p:cNvSpPr/>
          <p:nvPr/>
        </p:nvSpPr>
        <p:spPr>
          <a:xfrm>
            <a:off x="4876800" y="6400800"/>
            <a:ext cx="0" cy="402336"/>
          </a:xfrm>
          <a:prstGeom prst="line">
            <a:avLst/>
          </a:prstGeom>
          <a:noFill/>
          <a:ln w="6350">
            <a:solidFill>
              <a:srgbClr val="FFFFFF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67" name="Text 55"/>
          <p:cNvSpPr/>
          <p:nvPr/>
        </p:nvSpPr>
        <p:spPr>
          <a:xfrm>
            <a:off x="4937760" y="6364224"/>
            <a:ext cx="2316480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6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320+</a:t>
            </a:r>
            <a:endParaRPr lang="en-US" sz="1600"/>
          </a:p>
        </p:txBody>
      </p:sp>
      <p:sp>
        <p:nvSpPr>
          <p:cNvPr id="68" name="Text 56"/>
          <p:cNvSpPr/>
          <p:nvPr/>
        </p:nvSpPr>
        <p:spPr>
          <a:xfrm>
            <a:off x="4937760" y="6620256"/>
            <a:ext cx="2316480" cy="207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000">
                <a:solidFill>
                  <a:srgbClr val="D0F5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Clients</a:t>
            </a:r>
            <a:endParaRPr lang="en-US" sz="1000"/>
          </a:p>
        </p:txBody>
      </p:sp>
      <p:sp>
        <p:nvSpPr>
          <p:cNvPr id="69" name="Shape 57"/>
          <p:cNvSpPr/>
          <p:nvPr/>
        </p:nvSpPr>
        <p:spPr>
          <a:xfrm>
            <a:off x="7315200" y="6400800"/>
            <a:ext cx="0" cy="402336"/>
          </a:xfrm>
          <a:prstGeom prst="line">
            <a:avLst/>
          </a:prstGeom>
          <a:noFill/>
          <a:ln w="6350">
            <a:solidFill>
              <a:srgbClr val="FFFFFF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70" name="Text 58"/>
          <p:cNvSpPr/>
          <p:nvPr/>
        </p:nvSpPr>
        <p:spPr>
          <a:xfrm>
            <a:off x="7376160" y="6364224"/>
            <a:ext cx="2316480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6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0%</a:t>
            </a:r>
            <a:endParaRPr lang="en-US" sz="1600"/>
          </a:p>
        </p:txBody>
      </p:sp>
      <p:sp>
        <p:nvSpPr>
          <p:cNvPr id="71" name="Text 59"/>
          <p:cNvSpPr/>
          <p:nvPr/>
        </p:nvSpPr>
        <p:spPr>
          <a:xfrm>
            <a:off x="7376160" y="6620256"/>
            <a:ext cx="2316480" cy="207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000">
                <a:solidFill>
                  <a:srgbClr val="D0F5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Attrition (6-Mo Pilot)</a:t>
            </a:r>
            <a:endParaRPr lang="en-US" sz="1000"/>
          </a:p>
        </p:txBody>
      </p:sp>
      <p:sp>
        <p:nvSpPr>
          <p:cNvPr id="72" name="Shape 60"/>
          <p:cNvSpPr/>
          <p:nvPr/>
        </p:nvSpPr>
        <p:spPr>
          <a:xfrm>
            <a:off x="9753600" y="6400800"/>
            <a:ext cx="0" cy="402336"/>
          </a:xfrm>
          <a:prstGeom prst="line">
            <a:avLst/>
          </a:prstGeom>
          <a:noFill/>
          <a:ln w="6350">
            <a:solidFill>
              <a:srgbClr val="FFFFFF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73" name="Text 61"/>
          <p:cNvSpPr/>
          <p:nvPr/>
        </p:nvSpPr>
        <p:spPr>
          <a:xfrm>
            <a:off x="9814560" y="6364224"/>
            <a:ext cx="2316480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6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1/hr</a:t>
            </a:r>
            <a:endParaRPr lang="en-US" sz="1600"/>
          </a:p>
        </p:txBody>
      </p:sp>
      <p:sp>
        <p:nvSpPr>
          <p:cNvPr id="74" name="Text 62"/>
          <p:cNvSpPr/>
          <p:nvPr/>
        </p:nvSpPr>
        <p:spPr>
          <a:xfrm>
            <a:off x="9814560" y="6620256"/>
            <a:ext cx="2316480" cy="207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000">
                <a:solidFill>
                  <a:srgbClr val="D0F5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Engineers Onboarded</a:t>
            </a:r>
            <a:endParaRPr lang="en-US" sz="1000"/>
          </a:p>
        </p:txBody>
      </p:sp>
      <p:pic>
        <p:nvPicPr>
          <p:cNvPr id="75" name="Image 0" descr="preencoded.png">
            <a:extLst>
              <a:ext uri="{FF2B5EF4-FFF2-40B4-BE49-F238E27FC236}">
                <a16:creationId xmlns:a16="http://schemas.microsoft.com/office/drawing/2014/main" id="{FAFFF64B-DC76-00D4-DDA1-C18459247824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l="-207" r="-207"/>
          <a:stretch/>
        </p:blipFill>
        <p:spPr>
          <a:xfrm>
            <a:off x="0" y="0"/>
            <a:ext cx="4058107" cy="75895"/>
          </a:xfrm>
          <a:prstGeom prst="rect">
            <a:avLst/>
          </a:prstGeom>
        </p:spPr>
      </p:pic>
      <p:pic>
        <p:nvPicPr>
          <p:cNvPr id="76" name="Image 1" descr="preencoded.png">
            <a:extLst>
              <a:ext uri="{FF2B5EF4-FFF2-40B4-BE49-F238E27FC236}">
                <a16:creationId xmlns:a16="http://schemas.microsoft.com/office/drawing/2014/main" id="{F02F145E-4174-DB5B-12FC-B946B2BEFC21}"/>
              </a:ext>
            </a:extLst>
          </p:cNvPr>
          <p:cNvPicPr>
            <a:picLocks noChangeAspect="1"/>
          </p:cNvPicPr>
          <p:nvPr/>
        </p:nvPicPr>
        <p:blipFill>
          <a:blip r:embed="rId9"/>
          <a:srcRect l="-202" r="-202"/>
          <a:stretch/>
        </p:blipFill>
        <p:spPr>
          <a:xfrm>
            <a:off x="4058107" y="0"/>
            <a:ext cx="8134502" cy="75895"/>
          </a:xfrm>
          <a:prstGeom prst="rect">
            <a:avLst/>
          </a:prstGeom>
        </p:spPr>
      </p:pic>
      <p:sp>
        <p:nvSpPr>
          <p:cNvPr id="77" name="Shape 2">
            <a:extLst>
              <a:ext uri="{FF2B5EF4-FFF2-40B4-BE49-F238E27FC236}">
                <a16:creationId xmlns:a16="http://schemas.microsoft.com/office/drawing/2014/main" id="{C1C503D5-DE04-F879-CDE8-91C26E3173B8}"/>
              </a:ext>
            </a:extLst>
          </p:cNvPr>
          <p:cNvSpPr/>
          <p:nvPr/>
        </p:nvSpPr>
        <p:spPr>
          <a:xfrm>
            <a:off x="-1380897" y="-1256081"/>
            <a:ext cx="3810305" cy="3810305"/>
          </a:xfrm>
          <a:prstGeom prst="ellipse">
            <a:avLst/>
          </a:prstGeom>
          <a:solidFill>
            <a:srgbClr val="2A9D8F">
              <a:alpha val="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78" name="Image 4" descr="preencoded.png">
            <a:extLst>
              <a:ext uri="{FF2B5EF4-FFF2-40B4-BE49-F238E27FC236}">
                <a16:creationId xmlns:a16="http://schemas.microsoft.com/office/drawing/2014/main" id="{3FB3B60C-A4FF-CE53-9131-90677B3706CF}"/>
              </a:ext>
            </a:extLst>
          </p:cNvPr>
          <p:cNvPicPr>
            <a:picLocks noChangeAspect="1"/>
          </p:cNvPicPr>
          <p:nvPr/>
        </p:nvPicPr>
        <p:blipFill>
          <a:blip r:embed="rId10"/>
          <a:srcRect l="-400" r="-400"/>
          <a:stretch/>
        </p:blipFill>
        <p:spPr>
          <a:xfrm>
            <a:off x="609905" y="457200"/>
            <a:ext cx="57607" cy="457200"/>
          </a:xfrm>
          <a:prstGeom prst="rect">
            <a:avLst/>
          </a:prstGeom>
        </p:spPr>
      </p:pic>
      <p:sp>
        <p:nvSpPr>
          <p:cNvPr id="79" name="Text 11">
            <a:extLst>
              <a:ext uri="{FF2B5EF4-FFF2-40B4-BE49-F238E27FC236}">
                <a16:creationId xmlns:a16="http://schemas.microsoft.com/office/drawing/2014/main" id="{65F3FFE0-7460-C049-BC83-7BC32616A4C0}"/>
              </a:ext>
            </a:extLst>
          </p:cNvPr>
          <p:cNvSpPr txBox="1"/>
          <p:nvPr/>
        </p:nvSpPr>
        <p:spPr>
          <a:xfrm>
            <a:off x="819302" y="228600"/>
            <a:ext cx="9715500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200" b="1">
                <a:solidFill>
                  <a:srgbClr val="1A1A2E"/>
                </a:solidFill>
                <a:latin typeface="Oswald" panose="00000500000000000000" pitchFamily="2" charset="0"/>
                <a:ea typeface="Calibri" pitchFamily="34" charset="-122"/>
                <a:cs typeface="Calibri" pitchFamily="34" charset="-120"/>
              </a:rPr>
              <a:t>Workforce &amp; Talent Solutions</a:t>
            </a:r>
            <a:endParaRPr lang="en-US" sz="3200">
              <a:latin typeface="Oswald" panose="00000500000000000000" pitchFamily="2" charset="0"/>
            </a:endParaRPr>
          </a:p>
        </p:txBody>
      </p:sp>
      <p:sp>
        <p:nvSpPr>
          <p:cNvPr id="80" name="Text 12">
            <a:extLst>
              <a:ext uri="{FF2B5EF4-FFF2-40B4-BE49-F238E27FC236}">
                <a16:creationId xmlns:a16="http://schemas.microsoft.com/office/drawing/2014/main" id="{830CE162-47E2-FB62-8B99-806E90C454F1}"/>
              </a:ext>
            </a:extLst>
          </p:cNvPr>
          <p:cNvSpPr txBox="1"/>
          <p:nvPr/>
        </p:nvSpPr>
        <p:spPr>
          <a:xfrm>
            <a:off x="819302" y="758952"/>
            <a:ext cx="9639605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kern="0" spc="68">
                <a:solidFill>
                  <a:srgbClr val="2A9D8F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A MANAGED, AI-DRIVEN WORKFORCE UNIT - NOT JUST STAFFING WITH A WRAPPER.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8858707" y="-952805"/>
            <a:ext cx="3810305" cy="3810305"/>
          </a:xfrm>
          <a:prstGeom prst="ellipse">
            <a:avLst/>
          </a:prstGeom>
          <a:solidFill>
            <a:srgbClr val="2A9D8F">
              <a:alpha val="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5" name="Image 0" descr="gen-dedup-debd4e3596836e8640379be3057665ef.png"/>
          <p:cNvPicPr>
            <a:picLocks noChangeAspect="1"/>
          </p:cNvPicPr>
          <p:nvPr/>
        </p:nvPicPr>
        <p:blipFill>
          <a:blip r:embed="rId3">
            <a:alphaModFix amt="6000"/>
          </a:blip>
          <a:srcRect/>
          <a:stretch/>
        </p:blipFill>
        <p:spPr>
          <a:xfrm>
            <a:off x="-761695" y="4762195"/>
            <a:ext cx="2857500" cy="2857500"/>
          </a:xfrm>
          <a:prstGeom prst="rect">
            <a:avLst/>
          </a:prstGeom>
        </p:spPr>
      </p:pic>
      <p:pic>
        <p:nvPicPr>
          <p:cNvPr id="6" name="Image 1" descr="gen-dedup-323228122ff92d2332e711a84ca3b40c.png"/>
          <p:cNvPicPr>
            <a:picLocks noChangeAspect="1"/>
          </p:cNvPicPr>
          <p:nvPr/>
        </p:nvPicPr>
        <p:blipFill>
          <a:blip r:embed="rId4"/>
          <a:srcRect l="-198" r="-198"/>
          <a:stretch/>
        </p:blipFill>
        <p:spPr>
          <a:xfrm>
            <a:off x="0" y="0"/>
            <a:ext cx="8124444" cy="75895"/>
          </a:xfrm>
          <a:prstGeom prst="rect">
            <a:avLst/>
          </a:prstGeom>
        </p:spPr>
      </p:pic>
      <p:pic>
        <p:nvPicPr>
          <p:cNvPr id="7" name="Image 2" descr="gen-dedup-9663ecf744b06e35d4c2cebaab92a2ea.png"/>
          <p:cNvPicPr>
            <a:picLocks noChangeAspect="1"/>
          </p:cNvPicPr>
          <p:nvPr/>
        </p:nvPicPr>
        <p:blipFill>
          <a:blip r:embed="rId5"/>
          <a:srcRect l="-202" r="-202"/>
          <a:stretch/>
        </p:blipFill>
        <p:spPr>
          <a:xfrm>
            <a:off x="8124444" y="0"/>
            <a:ext cx="4067251" cy="75895"/>
          </a:xfrm>
          <a:prstGeom prst="rect">
            <a:avLst/>
          </a:prstGeom>
        </p:spPr>
      </p:pic>
      <p:pic>
        <p:nvPicPr>
          <p:cNvPr id="8" name="Image 3" descr="gen-dedup-b359e3fa59182a7dfb1cf9bffd3421a2.png"/>
          <p:cNvPicPr>
            <a:picLocks noChangeAspect="1"/>
          </p:cNvPicPr>
          <p:nvPr/>
        </p:nvPicPr>
        <p:blipFill>
          <a:blip r:embed="rId6"/>
          <a:srcRect l="-375" r="-375"/>
          <a:stretch/>
        </p:blipFill>
        <p:spPr>
          <a:xfrm>
            <a:off x="609905" y="457200"/>
            <a:ext cx="57607" cy="609905"/>
          </a:xfrm>
          <a:prstGeom prst="rect">
            <a:avLst/>
          </a:prstGeom>
        </p:spPr>
      </p:pic>
      <p:sp>
        <p:nvSpPr>
          <p:cNvPr id="9" name="Shape 3"/>
          <p:cNvSpPr/>
          <p:nvPr/>
        </p:nvSpPr>
        <p:spPr>
          <a:xfrm>
            <a:off x="609905" y="1714500"/>
            <a:ext cx="3258007" cy="2143354"/>
          </a:xfrm>
          <a:prstGeom prst="roundRect">
            <a:avLst>
              <a:gd name="adj" fmla="val 354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381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4"/>
          <p:cNvSpPr/>
          <p:nvPr/>
        </p:nvSpPr>
        <p:spPr>
          <a:xfrm>
            <a:off x="609905" y="1714500"/>
            <a:ext cx="3258007" cy="38405"/>
          </a:xfrm>
          <a:prstGeom prst="roundRect">
            <a:avLst>
              <a:gd name="adj" fmla="val 197618"/>
            </a:avLst>
          </a:prstGeom>
          <a:solidFill>
            <a:srgbClr val="2A9D8F"/>
          </a:solidFill>
          <a:ln w="12700">
            <a:solidFill>
              <a:srgbClr val="2A9D8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5"/>
          <p:cNvSpPr/>
          <p:nvPr/>
        </p:nvSpPr>
        <p:spPr>
          <a:xfrm>
            <a:off x="4476902" y="1714500"/>
            <a:ext cx="3258007" cy="2143354"/>
          </a:xfrm>
          <a:prstGeom prst="roundRect">
            <a:avLst>
              <a:gd name="adj" fmla="val 354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381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6"/>
          <p:cNvSpPr/>
          <p:nvPr/>
        </p:nvSpPr>
        <p:spPr>
          <a:xfrm>
            <a:off x="4476902" y="1714500"/>
            <a:ext cx="3258007" cy="38405"/>
          </a:xfrm>
          <a:prstGeom prst="roundRect">
            <a:avLst>
              <a:gd name="adj" fmla="val 197618"/>
            </a:avLst>
          </a:prstGeom>
          <a:solidFill>
            <a:srgbClr val="D62839"/>
          </a:solidFill>
          <a:ln w="12700">
            <a:solidFill>
              <a:srgbClr val="D62839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7"/>
          <p:cNvSpPr/>
          <p:nvPr/>
        </p:nvSpPr>
        <p:spPr>
          <a:xfrm>
            <a:off x="8343900" y="1714500"/>
            <a:ext cx="3258007" cy="2143354"/>
          </a:xfrm>
          <a:prstGeom prst="roundRect">
            <a:avLst>
              <a:gd name="adj" fmla="val 354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381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Shape 8"/>
          <p:cNvSpPr/>
          <p:nvPr/>
        </p:nvSpPr>
        <p:spPr>
          <a:xfrm>
            <a:off x="8343900" y="1714500"/>
            <a:ext cx="3258007" cy="38405"/>
          </a:xfrm>
          <a:prstGeom prst="roundRect">
            <a:avLst>
              <a:gd name="adj" fmla="val 197618"/>
            </a:avLst>
          </a:prstGeom>
          <a:solidFill>
            <a:srgbClr val="2A9D8F"/>
          </a:solidFill>
          <a:ln w="12700">
            <a:solidFill>
              <a:srgbClr val="2A9D8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9"/>
          <p:cNvSpPr/>
          <p:nvPr/>
        </p:nvSpPr>
        <p:spPr>
          <a:xfrm>
            <a:off x="609905" y="4190695"/>
            <a:ext cx="3258007" cy="2143354"/>
          </a:xfrm>
          <a:prstGeom prst="roundRect">
            <a:avLst>
              <a:gd name="adj" fmla="val 354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381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0"/>
          <p:cNvSpPr/>
          <p:nvPr/>
        </p:nvSpPr>
        <p:spPr>
          <a:xfrm>
            <a:off x="609905" y="4190695"/>
            <a:ext cx="3258007" cy="38405"/>
          </a:xfrm>
          <a:prstGeom prst="roundRect">
            <a:avLst>
              <a:gd name="adj" fmla="val 197618"/>
            </a:avLst>
          </a:prstGeom>
          <a:solidFill>
            <a:srgbClr val="D62839"/>
          </a:solidFill>
          <a:ln w="12700">
            <a:solidFill>
              <a:srgbClr val="D62839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1"/>
          <p:cNvSpPr/>
          <p:nvPr/>
        </p:nvSpPr>
        <p:spPr>
          <a:xfrm>
            <a:off x="4476902" y="4190695"/>
            <a:ext cx="3258007" cy="2143354"/>
          </a:xfrm>
          <a:prstGeom prst="roundRect">
            <a:avLst>
              <a:gd name="adj" fmla="val 354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381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Shape 12"/>
          <p:cNvSpPr/>
          <p:nvPr/>
        </p:nvSpPr>
        <p:spPr>
          <a:xfrm>
            <a:off x="4476902" y="4190695"/>
            <a:ext cx="3258007" cy="38405"/>
          </a:xfrm>
          <a:prstGeom prst="roundRect">
            <a:avLst>
              <a:gd name="adj" fmla="val 197618"/>
            </a:avLst>
          </a:prstGeom>
          <a:solidFill>
            <a:srgbClr val="2A9D8F"/>
          </a:solidFill>
          <a:ln w="12700">
            <a:solidFill>
              <a:srgbClr val="2A9D8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3"/>
          <p:cNvSpPr/>
          <p:nvPr/>
        </p:nvSpPr>
        <p:spPr>
          <a:xfrm>
            <a:off x="8343900" y="4190695"/>
            <a:ext cx="3258007" cy="2143354"/>
          </a:xfrm>
          <a:prstGeom prst="roundRect">
            <a:avLst>
              <a:gd name="adj" fmla="val 354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381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4"/>
          <p:cNvSpPr/>
          <p:nvPr/>
        </p:nvSpPr>
        <p:spPr>
          <a:xfrm>
            <a:off x="8343900" y="4190695"/>
            <a:ext cx="3258007" cy="38405"/>
          </a:xfrm>
          <a:prstGeom prst="roundRect">
            <a:avLst>
              <a:gd name="adj" fmla="val 197618"/>
            </a:avLst>
          </a:prstGeom>
          <a:solidFill>
            <a:srgbClr val="D62839"/>
          </a:solidFill>
          <a:ln w="12700">
            <a:solidFill>
              <a:srgbClr val="D62839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17"/>
          <p:cNvSpPr txBox="1"/>
          <p:nvPr/>
        </p:nvSpPr>
        <p:spPr>
          <a:xfrm>
            <a:off x="760780" y="577088"/>
            <a:ext cx="8438998" cy="4096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500" b="1">
                <a:solidFill>
                  <a:srgbClr val="11182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WORKFORCE SOLUTIONS - HOW WE DELIVER</a:t>
            </a:r>
          </a:p>
          <a:p>
            <a:pPr marL="0" indent="0" algn="l">
              <a:buNone/>
            </a:pPr>
            <a:endParaRPr lang="en-US" sz="2500"/>
          </a:p>
        </p:txBody>
      </p:sp>
      <p:sp>
        <p:nvSpPr>
          <p:cNvPr id="24" name="Text 18"/>
          <p:cNvSpPr txBox="1"/>
          <p:nvPr/>
        </p:nvSpPr>
        <p:spPr>
          <a:xfrm>
            <a:off x="819302" y="822960"/>
            <a:ext cx="8097012" cy="1810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kern="0" spc="60" dirty="0">
                <a:solidFill>
                  <a:srgbClr val="2A9D8F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From Sourcing To Sprint Governance - A Structured Operating Model, Not A Staffing Drop.</a:t>
            </a:r>
          </a:p>
        </p:txBody>
      </p:sp>
      <p:sp>
        <p:nvSpPr>
          <p:cNvPr id="25" name="Text 19"/>
          <p:cNvSpPr txBox="1"/>
          <p:nvPr/>
        </p:nvSpPr>
        <p:spPr>
          <a:xfrm>
            <a:off x="819302" y="1079906"/>
            <a:ext cx="8097012" cy="1527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endParaRPr lang="en-US" sz="1000"/>
          </a:p>
        </p:txBody>
      </p:sp>
      <p:sp>
        <p:nvSpPr>
          <p:cNvPr id="26" name="Text 20"/>
          <p:cNvSpPr txBox="1"/>
          <p:nvPr/>
        </p:nvSpPr>
        <p:spPr>
          <a:xfrm>
            <a:off x="838505" y="1981505"/>
            <a:ext cx="340157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400" b="1">
                <a:solidFill>
                  <a:srgbClr val="2A9D8F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01</a:t>
            </a:r>
            <a:endParaRPr lang="en-US" sz="2400"/>
          </a:p>
        </p:txBody>
      </p:sp>
      <p:sp>
        <p:nvSpPr>
          <p:cNvPr id="27" name="Text 21"/>
          <p:cNvSpPr txBox="1"/>
          <p:nvPr/>
        </p:nvSpPr>
        <p:spPr>
          <a:xfrm>
            <a:off x="1237183" y="1995424"/>
            <a:ext cx="1417320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00" b="1">
                <a:solidFill>
                  <a:srgbClr val="11182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Scope &amp; Source</a:t>
            </a:r>
            <a:endParaRPr lang="en-US" sz="1600"/>
          </a:p>
        </p:txBody>
      </p:sp>
      <p:sp>
        <p:nvSpPr>
          <p:cNvPr id="28" name="Text 22"/>
          <p:cNvSpPr txBox="1"/>
          <p:nvPr/>
        </p:nvSpPr>
        <p:spPr>
          <a:xfrm>
            <a:off x="838505" y="2428646"/>
            <a:ext cx="2781605" cy="6007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Role definition + domain-specific talent pool activation. TalentAI matching + voice-agent pre-screen. Shortlist in 72 hrs.</a:t>
            </a:r>
            <a:endParaRPr lang="en-US" sz="1000"/>
          </a:p>
        </p:txBody>
      </p:sp>
      <p:pic>
        <p:nvPicPr>
          <p:cNvPr id="29" name="Image 4" descr="gen-dedup-68afaceb726e7c14c8688760b973252d.png"/>
          <p:cNvPicPr>
            <a:picLocks noChangeAspect="1"/>
          </p:cNvPicPr>
          <p:nvPr/>
        </p:nvPicPr>
        <p:blipFill>
          <a:blip r:embed="rId7"/>
          <a:srcRect l="-13360" r="-13360"/>
          <a:stretch/>
        </p:blipFill>
        <p:spPr>
          <a:xfrm>
            <a:off x="4062679" y="2648102"/>
            <a:ext cx="181051" cy="228600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4705502" y="1981505"/>
            <a:ext cx="391363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400" b="1">
                <a:solidFill>
                  <a:srgbClr val="D62839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02</a:t>
            </a:r>
            <a:endParaRPr lang="en-US" sz="2400"/>
          </a:p>
        </p:txBody>
      </p:sp>
      <p:sp>
        <p:nvSpPr>
          <p:cNvPr id="31" name="Text 24"/>
          <p:cNvSpPr txBox="1"/>
          <p:nvPr/>
        </p:nvSpPr>
        <p:spPr>
          <a:xfrm>
            <a:off x="5144414" y="1995424"/>
            <a:ext cx="839419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00" b="1">
                <a:solidFill>
                  <a:srgbClr val="11182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AI-Assess</a:t>
            </a:r>
            <a:endParaRPr lang="en-US" sz="1600"/>
          </a:p>
        </p:txBody>
      </p:sp>
      <p:sp>
        <p:nvSpPr>
          <p:cNvPr id="32" name="Text 25"/>
          <p:cNvSpPr txBox="1"/>
          <p:nvPr/>
        </p:nvSpPr>
        <p:spPr>
          <a:xfrm>
            <a:off x="4705502" y="2428646"/>
            <a:ext cx="2781605" cy="6007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Live coding + domain scenario assessment via TalentSphere. Technical bar validated by J2W before client interview.</a:t>
            </a:r>
            <a:endParaRPr lang="en-US" sz="1000"/>
          </a:p>
        </p:txBody>
      </p:sp>
      <p:pic>
        <p:nvPicPr>
          <p:cNvPr id="33" name="Image 5" descr="gen-dedup-68afaceb726e7c14c8688760b973252d.png"/>
          <p:cNvPicPr>
            <a:picLocks noChangeAspect="1"/>
          </p:cNvPicPr>
          <p:nvPr/>
        </p:nvPicPr>
        <p:blipFill>
          <a:blip r:embed="rId7"/>
          <a:srcRect l="-13360" r="-13360"/>
          <a:stretch/>
        </p:blipFill>
        <p:spPr>
          <a:xfrm>
            <a:off x="7929677" y="2648102"/>
            <a:ext cx="181051" cy="228600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8572500" y="1981505"/>
            <a:ext cx="391363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400" b="1">
                <a:solidFill>
                  <a:srgbClr val="2A9D8F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03</a:t>
            </a:r>
            <a:endParaRPr lang="en-US" sz="2400"/>
          </a:p>
        </p:txBody>
      </p:sp>
      <p:sp>
        <p:nvSpPr>
          <p:cNvPr id="35" name="Text 27"/>
          <p:cNvSpPr txBox="1"/>
          <p:nvPr/>
        </p:nvSpPr>
        <p:spPr>
          <a:xfrm>
            <a:off x="9011412" y="1995424"/>
            <a:ext cx="1553566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00" b="1">
                <a:solidFill>
                  <a:srgbClr val="11182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Deploy in 10 Days</a:t>
            </a:r>
            <a:endParaRPr lang="en-US" sz="1600"/>
          </a:p>
        </p:txBody>
      </p:sp>
      <p:sp>
        <p:nvSpPr>
          <p:cNvPr id="36" name="Text 28"/>
          <p:cNvSpPr txBox="1"/>
          <p:nvPr/>
        </p:nvSpPr>
        <p:spPr>
          <a:xfrm>
            <a:off x="8572500" y="2428646"/>
            <a:ext cx="2781605" cy="6007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Offer → onboarding → Day-1 productivity. J2W payroll, compliance, IT provisioning - fully managed.</a:t>
            </a:r>
            <a:endParaRPr lang="en-US" sz="1000"/>
          </a:p>
        </p:txBody>
      </p:sp>
      <p:pic>
        <p:nvPicPr>
          <p:cNvPr id="37" name="Image 6" descr="gen-dedup-ff9a716cc6b1850cd75acb20aeb0dc17.png"/>
          <p:cNvPicPr>
            <a:picLocks noChangeAspect="1"/>
          </p:cNvPicPr>
          <p:nvPr/>
        </p:nvPicPr>
        <p:blipFill>
          <a:blip r:embed="rId8"/>
          <a:srcRect t="-13131" b="-13131"/>
          <a:stretch/>
        </p:blipFill>
        <p:spPr>
          <a:xfrm>
            <a:off x="9872777" y="3895344"/>
            <a:ext cx="181051" cy="228600"/>
          </a:xfrm>
          <a:prstGeom prst="rect">
            <a:avLst/>
          </a:prstGeom>
        </p:spPr>
      </p:pic>
      <p:sp>
        <p:nvSpPr>
          <p:cNvPr id="38" name="Text 29"/>
          <p:cNvSpPr txBox="1"/>
          <p:nvPr/>
        </p:nvSpPr>
        <p:spPr>
          <a:xfrm>
            <a:off x="838505" y="4457700"/>
            <a:ext cx="391363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400" b="1">
                <a:solidFill>
                  <a:srgbClr val="D62839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04</a:t>
            </a:r>
            <a:endParaRPr lang="en-US" sz="2400"/>
          </a:p>
        </p:txBody>
      </p:sp>
      <p:sp>
        <p:nvSpPr>
          <p:cNvPr id="39" name="Text 30"/>
          <p:cNvSpPr txBox="1"/>
          <p:nvPr/>
        </p:nvSpPr>
        <p:spPr>
          <a:xfrm>
            <a:off x="1280160" y="4472534"/>
            <a:ext cx="1564538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00" b="1">
                <a:solidFill>
                  <a:srgbClr val="11182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Govern &amp; Upskill</a:t>
            </a:r>
            <a:endParaRPr lang="en-US" sz="1600"/>
          </a:p>
        </p:txBody>
      </p:sp>
      <p:sp>
        <p:nvSpPr>
          <p:cNvPr id="40" name="Text 31"/>
          <p:cNvSpPr txBox="1"/>
          <p:nvPr/>
        </p:nvSpPr>
        <p:spPr>
          <a:xfrm>
            <a:off x="838505" y="4905756"/>
            <a:ext cx="2781605" cy="6007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Sprint accountability via Pod Manager. Monthly AI upskilling in J2W Labs. Weekly performance telemetry.</a:t>
            </a:r>
            <a:endParaRPr lang="en-US" sz="1000"/>
          </a:p>
        </p:txBody>
      </p:sp>
      <p:pic>
        <p:nvPicPr>
          <p:cNvPr id="41" name="Image 7" descr="gen-dedup-68afaceb726e7c14c8688760b973252d.png"/>
          <p:cNvPicPr>
            <a:picLocks noChangeAspect="1"/>
          </p:cNvPicPr>
          <p:nvPr/>
        </p:nvPicPr>
        <p:blipFill>
          <a:blip r:embed="rId7"/>
          <a:srcRect l="-13360" r="-13360"/>
          <a:stretch/>
        </p:blipFill>
        <p:spPr>
          <a:xfrm>
            <a:off x="4062679" y="5124298"/>
            <a:ext cx="181051" cy="228600"/>
          </a:xfrm>
          <a:prstGeom prst="rect">
            <a:avLst/>
          </a:prstGeom>
        </p:spPr>
      </p:pic>
      <p:sp>
        <p:nvSpPr>
          <p:cNvPr id="42" name="Text 32"/>
          <p:cNvSpPr txBox="1"/>
          <p:nvPr/>
        </p:nvSpPr>
        <p:spPr>
          <a:xfrm>
            <a:off x="4705502" y="4457700"/>
            <a:ext cx="385877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400" b="1">
                <a:solidFill>
                  <a:srgbClr val="2A9D8F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05</a:t>
            </a:r>
            <a:endParaRPr lang="en-US" sz="2400"/>
          </a:p>
        </p:txBody>
      </p:sp>
      <p:sp>
        <p:nvSpPr>
          <p:cNvPr id="43" name="Text 33"/>
          <p:cNvSpPr txBox="1"/>
          <p:nvPr/>
        </p:nvSpPr>
        <p:spPr>
          <a:xfrm>
            <a:off x="5142586" y="4472534"/>
            <a:ext cx="2018081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00" b="1">
                <a:solidFill>
                  <a:srgbClr val="11182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POFU - 90-Day Funnel</a:t>
            </a:r>
            <a:endParaRPr lang="en-US" sz="1600"/>
          </a:p>
        </p:txBody>
      </p:sp>
      <p:sp>
        <p:nvSpPr>
          <p:cNvPr id="44" name="Text 34"/>
          <p:cNvSpPr txBox="1"/>
          <p:nvPr/>
        </p:nvSpPr>
        <p:spPr>
          <a:xfrm>
            <a:off x="4705502" y="4905756"/>
            <a:ext cx="2781605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Post-Offer Follow-Up: milestone touchpoints, counter-offer inoculation, manager connects. Dropout rate → single digits.</a:t>
            </a:r>
            <a:endParaRPr lang="en-US" sz="1000"/>
          </a:p>
        </p:txBody>
      </p:sp>
      <p:pic>
        <p:nvPicPr>
          <p:cNvPr id="45" name="Image 8" descr="gen-dedup-68afaceb726e7c14c8688760b973252d.png"/>
          <p:cNvPicPr>
            <a:picLocks noChangeAspect="1"/>
          </p:cNvPicPr>
          <p:nvPr/>
        </p:nvPicPr>
        <p:blipFill>
          <a:blip r:embed="rId7"/>
          <a:srcRect l="-13360" r="-13360"/>
          <a:stretch/>
        </p:blipFill>
        <p:spPr>
          <a:xfrm>
            <a:off x="7929677" y="5124298"/>
            <a:ext cx="181051" cy="228600"/>
          </a:xfrm>
          <a:prstGeom prst="rect">
            <a:avLst/>
          </a:prstGeom>
        </p:spPr>
      </p:pic>
      <p:sp>
        <p:nvSpPr>
          <p:cNvPr id="46" name="Text 35"/>
          <p:cNvSpPr txBox="1"/>
          <p:nvPr/>
        </p:nvSpPr>
        <p:spPr>
          <a:xfrm>
            <a:off x="8572500" y="4457700"/>
            <a:ext cx="391363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400" b="1">
                <a:solidFill>
                  <a:srgbClr val="D62839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06</a:t>
            </a:r>
            <a:endParaRPr lang="en-US" sz="2400"/>
          </a:p>
        </p:txBody>
      </p:sp>
      <p:sp>
        <p:nvSpPr>
          <p:cNvPr id="47" name="Text 36"/>
          <p:cNvSpPr txBox="1"/>
          <p:nvPr/>
        </p:nvSpPr>
        <p:spPr>
          <a:xfrm>
            <a:off x="9018727" y="4472534"/>
            <a:ext cx="1598371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00" b="1">
                <a:solidFill>
                  <a:srgbClr val="11182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Scale or Convert</a:t>
            </a:r>
            <a:endParaRPr lang="en-US" sz="1600"/>
          </a:p>
        </p:txBody>
      </p:sp>
      <p:sp>
        <p:nvSpPr>
          <p:cNvPr id="48" name="Text 37"/>
          <p:cNvSpPr txBox="1"/>
          <p:nvPr/>
        </p:nvSpPr>
        <p:spPr>
          <a:xfrm>
            <a:off x="8572500" y="4905756"/>
            <a:ext cx="2781605" cy="6007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C2H → permanent conversion on Day 91. Scale the pod up or down. Quarterly Business Review with ROI data.</a:t>
            </a:r>
            <a:endParaRPr lang="en-US" sz="1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4" name="Image 0" descr="gen-dedup-cad3a534ee2971c6a497c9faf59fb5cd.png"/>
          <p:cNvPicPr>
            <a:picLocks noChangeAspect="1"/>
          </p:cNvPicPr>
          <p:nvPr/>
        </p:nvPicPr>
        <p:blipFill>
          <a:blip r:embed="rId3"/>
          <a:srcRect l="-202" r="-202"/>
          <a:stretch/>
        </p:blipFill>
        <p:spPr>
          <a:xfrm>
            <a:off x="0" y="0"/>
            <a:ext cx="8128102" cy="75895"/>
          </a:xfrm>
          <a:prstGeom prst="rect">
            <a:avLst/>
          </a:prstGeom>
        </p:spPr>
      </p:pic>
      <p:pic>
        <p:nvPicPr>
          <p:cNvPr id="5" name="Image 1" descr="gen-dedup-64882feb7a832238af77b962fc7a8538.png"/>
          <p:cNvPicPr>
            <a:picLocks noChangeAspect="1"/>
          </p:cNvPicPr>
          <p:nvPr/>
        </p:nvPicPr>
        <p:blipFill>
          <a:blip r:embed="rId4"/>
          <a:srcRect l="-197" r="-197"/>
          <a:stretch/>
        </p:blipFill>
        <p:spPr>
          <a:xfrm>
            <a:off x="8128102" y="0"/>
            <a:ext cx="4063594" cy="75895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9905695" y="-571500"/>
            <a:ext cx="2857500" cy="2857500"/>
          </a:xfrm>
          <a:prstGeom prst="ellipse">
            <a:avLst/>
          </a:prstGeom>
          <a:solidFill>
            <a:srgbClr val="2A9D8F">
              <a:alpha val="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7" name="Image 2" descr="gen-dedup-4ab2116e971fbb9400d0e99205bd0390.png"/>
          <p:cNvPicPr>
            <a:picLocks noChangeAspect="1"/>
          </p:cNvPicPr>
          <p:nvPr/>
        </p:nvPicPr>
        <p:blipFill>
          <a:blip r:embed="rId5">
            <a:alphaModFix amt="8000"/>
          </a:blip>
          <a:srcRect/>
          <a:stretch/>
        </p:blipFill>
        <p:spPr>
          <a:xfrm>
            <a:off x="-381305" y="4190695"/>
            <a:ext cx="1904695" cy="1904695"/>
          </a:xfrm>
          <a:prstGeom prst="rect">
            <a:avLst/>
          </a:prstGeom>
        </p:spPr>
      </p:pic>
      <p:sp>
        <p:nvSpPr>
          <p:cNvPr id="8" name="Shape 3"/>
          <p:cNvSpPr/>
          <p:nvPr/>
        </p:nvSpPr>
        <p:spPr>
          <a:xfrm>
            <a:off x="609905" y="2000707"/>
            <a:ext cx="11030407" cy="857707"/>
          </a:xfrm>
          <a:prstGeom prst="roundRect">
            <a:avLst>
              <a:gd name="adj" fmla="val 4478"/>
            </a:avLst>
          </a:prstGeom>
          <a:solidFill>
            <a:srgbClr val="FFFFFF"/>
          </a:solidFill>
          <a:ln/>
          <a:effectLst>
            <a:outerShdw blurRad="76200" dist="25400" dir="162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4"/>
          <p:cNvSpPr/>
          <p:nvPr/>
        </p:nvSpPr>
        <p:spPr>
          <a:xfrm>
            <a:off x="609905" y="2000707"/>
            <a:ext cx="57607" cy="857707"/>
          </a:xfrm>
          <a:prstGeom prst="roundRect">
            <a:avLst>
              <a:gd name="adj" fmla="val 66667"/>
            </a:avLst>
          </a:prstGeom>
          <a:solidFill>
            <a:srgbClr val="2A9D8F"/>
          </a:solidFill>
          <a:ln w="12700">
            <a:solidFill>
              <a:srgbClr val="2A9D8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5"/>
          <p:cNvSpPr/>
          <p:nvPr/>
        </p:nvSpPr>
        <p:spPr>
          <a:xfrm>
            <a:off x="609905" y="2952598"/>
            <a:ext cx="11030407" cy="857707"/>
          </a:xfrm>
          <a:prstGeom prst="roundRect">
            <a:avLst>
              <a:gd name="adj" fmla="val 4478"/>
            </a:avLst>
          </a:prstGeom>
          <a:solidFill>
            <a:srgbClr val="FFFFFF"/>
          </a:solidFill>
          <a:ln/>
          <a:effectLst>
            <a:outerShdw blurRad="76200" dist="25400" dir="162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6"/>
          <p:cNvSpPr/>
          <p:nvPr/>
        </p:nvSpPr>
        <p:spPr>
          <a:xfrm>
            <a:off x="609905" y="2952598"/>
            <a:ext cx="57607" cy="857707"/>
          </a:xfrm>
          <a:prstGeom prst="roundRect">
            <a:avLst>
              <a:gd name="adj" fmla="val 66667"/>
            </a:avLst>
          </a:prstGeom>
          <a:solidFill>
            <a:srgbClr val="D62839"/>
          </a:solidFill>
          <a:ln w="12700">
            <a:solidFill>
              <a:srgbClr val="D62839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7"/>
          <p:cNvSpPr/>
          <p:nvPr/>
        </p:nvSpPr>
        <p:spPr>
          <a:xfrm>
            <a:off x="609905" y="3905402"/>
            <a:ext cx="11030407" cy="857707"/>
          </a:xfrm>
          <a:prstGeom prst="roundRect">
            <a:avLst>
              <a:gd name="adj" fmla="val 4478"/>
            </a:avLst>
          </a:prstGeom>
          <a:solidFill>
            <a:srgbClr val="FFFFFF"/>
          </a:solidFill>
          <a:ln/>
          <a:effectLst>
            <a:outerShdw blurRad="76200" dist="25400" dir="162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8"/>
          <p:cNvSpPr/>
          <p:nvPr/>
        </p:nvSpPr>
        <p:spPr>
          <a:xfrm>
            <a:off x="609905" y="3905402"/>
            <a:ext cx="57607" cy="857707"/>
          </a:xfrm>
          <a:prstGeom prst="roundRect">
            <a:avLst>
              <a:gd name="adj" fmla="val 66667"/>
            </a:avLst>
          </a:prstGeom>
          <a:solidFill>
            <a:srgbClr val="2A9D8F"/>
          </a:solidFill>
          <a:ln w="12700">
            <a:solidFill>
              <a:srgbClr val="2A9D8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9"/>
          <p:cNvSpPr/>
          <p:nvPr/>
        </p:nvSpPr>
        <p:spPr>
          <a:xfrm>
            <a:off x="609905" y="4858207"/>
            <a:ext cx="11030407" cy="857707"/>
          </a:xfrm>
          <a:prstGeom prst="roundRect">
            <a:avLst>
              <a:gd name="adj" fmla="val 4478"/>
            </a:avLst>
          </a:prstGeom>
          <a:solidFill>
            <a:srgbClr val="FFFFFF"/>
          </a:solidFill>
          <a:ln/>
          <a:effectLst>
            <a:outerShdw blurRad="76200" dist="25400" dir="162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0"/>
          <p:cNvSpPr/>
          <p:nvPr/>
        </p:nvSpPr>
        <p:spPr>
          <a:xfrm>
            <a:off x="609905" y="4858207"/>
            <a:ext cx="57607" cy="857707"/>
          </a:xfrm>
          <a:prstGeom prst="roundRect">
            <a:avLst>
              <a:gd name="adj" fmla="val 66667"/>
            </a:avLst>
          </a:prstGeom>
          <a:solidFill>
            <a:srgbClr val="D62839"/>
          </a:solidFill>
          <a:ln w="12700">
            <a:solidFill>
              <a:srgbClr val="D62839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1"/>
          <p:cNvSpPr/>
          <p:nvPr/>
        </p:nvSpPr>
        <p:spPr>
          <a:xfrm>
            <a:off x="609905" y="5810098"/>
            <a:ext cx="11030407" cy="857707"/>
          </a:xfrm>
          <a:prstGeom prst="roundRect">
            <a:avLst>
              <a:gd name="adj" fmla="val 4478"/>
            </a:avLst>
          </a:prstGeom>
          <a:solidFill>
            <a:srgbClr val="FFFFFF"/>
          </a:solidFill>
          <a:ln/>
          <a:effectLst>
            <a:outerShdw blurRad="76200" dist="25400" dir="162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2"/>
          <p:cNvSpPr/>
          <p:nvPr/>
        </p:nvSpPr>
        <p:spPr>
          <a:xfrm>
            <a:off x="609905" y="5810098"/>
            <a:ext cx="57607" cy="857707"/>
          </a:xfrm>
          <a:prstGeom prst="roundRect">
            <a:avLst>
              <a:gd name="adj" fmla="val 66667"/>
            </a:avLst>
          </a:prstGeom>
          <a:solidFill>
            <a:srgbClr val="2A9D8F"/>
          </a:solidFill>
          <a:ln w="12700">
            <a:solidFill>
              <a:srgbClr val="2A9D8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0" name="Image 3" descr="gen-dedup-f40e183725d285eac3acdddf8d8f823b.png"/>
          <p:cNvPicPr>
            <a:picLocks noChangeAspect="1"/>
          </p:cNvPicPr>
          <p:nvPr/>
        </p:nvPicPr>
        <p:blipFill>
          <a:blip r:embed="rId6"/>
          <a:srcRect l="-369" r="-369"/>
          <a:stretch/>
        </p:blipFill>
        <p:spPr>
          <a:xfrm>
            <a:off x="609905" y="448970"/>
            <a:ext cx="57607" cy="495605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819302" y="381305"/>
            <a:ext cx="4499762" cy="4096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800" b="1">
                <a:solidFill>
                  <a:srgbClr val="11182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STRUCTURAL DIFFERENTIATION</a:t>
            </a:r>
            <a:endParaRPr lang="en-US" sz="2800"/>
          </a:p>
        </p:txBody>
      </p:sp>
      <p:sp>
        <p:nvSpPr>
          <p:cNvPr id="22" name="Text 16"/>
          <p:cNvSpPr txBox="1"/>
          <p:nvPr/>
        </p:nvSpPr>
        <p:spPr>
          <a:xfrm>
            <a:off x="819302" y="821131"/>
            <a:ext cx="3610051" cy="1911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kern="0" spc="66" dirty="0">
                <a:solidFill>
                  <a:srgbClr val="2A9D8F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Workforce Solutions</a:t>
            </a:r>
          </a:p>
        </p:txBody>
      </p:sp>
      <p:sp>
        <p:nvSpPr>
          <p:cNvPr id="23" name="Text 17"/>
          <p:cNvSpPr txBox="1"/>
          <p:nvPr/>
        </p:nvSpPr>
        <p:spPr>
          <a:xfrm>
            <a:off x="609905" y="1380744"/>
            <a:ext cx="10972800" cy="2670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>
                <a:solidFill>
                  <a:srgbClr val="D628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Five structural differences that change the engagement from transactional to transformational.</a:t>
            </a:r>
            <a:endParaRPr lang="en-US" sz="1500"/>
          </a:p>
        </p:txBody>
      </p:sp>
      <p:sp>
        <p:nvSpPr>
          <p:cNvPr id="24" name="Text 18"/>
          <p:cNvSpPr txBox="1"/>
          <p:nvPr/>
        </p:nvSpPr>
        <p:spPr>
          <a:xfrm>
            <a:off x="1037844" y="2148840"/>
            <a:ext cx="1904695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400" b="1">
                <a:solidFill>
                  <a:srgbClr val="2A9D8F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No Subcontracting</a:t>
            </a:r>
            <a:endParaRPr lang="en-US" sz="1400"/>
          </a:p>
        </p:txBody>
      </p:sp>
      <p:sp>
        <p:nvSpPr>
          <p:cNvPr id="25" name="Text 19"/>
          <p:cNvSpPr txBox="1"/>
          <p:nvPr/>
        </p:nvSpPr>
        <p:spPr>
          <a:xfrm>
            <a:off x="800100" y="2491740"/>
            <a:ext cx="1127821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0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300+ in-house recruiters. 7,200+ professionals on J2W payroll. Zero subcontracting layer diluting quality, speed, or accountability.</a:t>
            </a:r>
            <a:endParaRPr lang="en-US" sz="1300"/>
          </a:p>
        </p:txBody>
      </p:sp>
      <p:pic>
        <p:nvPicPr>
          <p:cNvPr id="26" name="Image 4" descr="gen-dedup-928b248bf773cd1fca0141b5a5721735.png"/>
          <p:cNvPicPr>
            <a:picLocks noChangeAspect="1"/>
          </p:cNvPicPr>
          <p:nvPr/>
        </p:nvPicPr>
        <p:blipFill>
          <a:blip r:embed="rId7"/>
          <a:srcRect t="-6603" b="-6603"/>
          <a:stretch/>
        </p:blipFill>
        <p:spPr>
          <a:xfrm>
            <a:off x="800100" y="2211934"/>
            <a:ext cx="161849" cy="209398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1037844" y="2991917"/>
            <a:ext cx="2414930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400" b="1">
                <a:solidFill>
                  <a:srgbClr val="D62839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GCC-Native Intelligence</a:t>
            </a:r>
            <a:endParaRPr lang="en-US" sz="1400"/>
          </a:p>
        </p:txBody>
      </p:sp>
      <p:sp>
        <p:nvSpPr>
          <p:cNvPr id="28" name="Text 21"/>
          <p:cNvSpPr txBox="1"/>
          <p:nvPr/>
        </p:nvSpPr>
        <p:spPr>
          <a:xfrm>
            <a:off x="800100" y="3334817"/>
            <a:ext cx="1059241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Forged through 300+ active GCC deployments. We see the next problem before it shows up because we have already solved it somewhere else.</a:t>
            </a:r>
            <a:endParaRPr lang="en-US" sz="1300"/>
          </a:p>
        </p:txBody>
      </p:sp>
      <p:pic>
        <p:nvPicPr>
          <p:cNvPr id="29" name="Image 5" descr="gen-dedup-0c58ce2f3d3941653435c84e3cc91c65.png"/>
          <p:cNvPicPr>
            <a:picLocks noChangeAspect="1"/>
          </p:cNvPicPr>
          <p:nvPr/>
        </p:nvPicPr>
        <p:blipFill>
          <a:blip r:embed="rId8"/>
          <a:srcRect t="-14689" b="-14689"/>
          <a:stretch/>
        </p:blipFill>
        <p:spPr>
          <a:xfrm>
            <a:off x="800100" y="3055925"/>
            <a:ext cx="161849" cy="209398"/>
          </a:xfrm>
          <a:prstGeom prst="rect">
            <a:avLst/>
          </a:prstGeom>
        </p:spPr>
      </p:pic>
      <p:sp>
        <p:nvSpPr>
          <p:cNvPr id="30" name="Text 22"/>
          <p:cNvSpPr txBox="1"/>
          <p:nvPr/>
        </p:nvSpPr>
        <p:spPr>
          <a:xfrm>
            <a:off x="1037844" y="3944722"/>
            <a:ext cx="1633118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400" b="1">
                <a:solidFill>
                  <a:srgbClr val="2A9D8F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AI at Every Step</a:t>
            </a:r>
            <a:endParaRPr lang="en-US" sz="1400"/>
          </a:p>
        </p:txBody>
      </p:sp>
      <p:sp>
        <p:nvSpPr>
          <p:cNvPr id="31" name="Text 23"/>
          <p:cNvSpPr txBox="1"/>
          <p:nvPr/>
        </p:nvSpPr>
        <p:spPr>
          <a:xfrm>
            <a:off x="800100" y="4287622"/>
            <a:ext cx="1059241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TalentAI + TalentSphere: AI-ranked pools, voice-agent screening, skill graphs, predictive placement. Every tool passed our 40% improvement gate internally.</a:t>
            </a:r>
            <a:endParaRPr lang="en-US" sz="1300"/>
          </a:p>
        </p:txBody>
      </p:sp>
      <p:pic>
        <p:nvPicPr>
          <p:cNvPr id="32" name="Image 6" descr="gen-dedup-da669e206ac26c7983b1f8612c832ea6.png"/>
          <p:cNvPicPr>
            <a:picLocks noChangeAspect="1"/>
          </p:cNvPicPr>
          <p:nvPr/>
        </p:nvPicPr>
        <p:blipFill>
          <a:blip r:embed="rId9"/>
          <a:srcRect t="-30861" b="-30861"/>
          <a:stretch/>
        </p:blipFill>
        <p:spPr>
          <a:xfrm>
            <a:off x="800100" y="4008730"/>
            <a:ext cx="161849" cy="209398"/>
          </a:xfrm>
          <a:prstGeom prst="rect">
            <a:avLst/>
          </a:prstGeom>
        </p:spPr>
      </p:pic>
      <p:sp>
        <p:nvSpPr>
          <p:cNvPr id="33" name="Text 24"/>
          <p:cNvSpPr txBox="1"/>
          <p:nvPr/>
        </p:nvSpPr>
        <p:spPr>
          <a:xfrm>
            <a:off x="1037844" y="4897526"/>
            <a:ext cx="2460650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400" b="1">
                <a:solidFill>
                  <a:srgbClr val="D62839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Pod Governance Built In</a:t>
            </a:r>
            <a:endParaRPr lang="en-US" sz="1400"/>
          </a:p>
        </p:txBody>
      </p:sp>
      <p:sp>
        <p:nvSpPr>
          <p:cNvPr id="34" name="Text 25"/>
          <p:cNvSpPr txBox="1"/>
          <p:nvPr/>
        </p:nvSpPr>
        <p:spPr>
          <a:xfrm>
            <a:off x="800100" y="5240426"/>
            <a:ext cx="1059241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 dedicated Pod Manager - not billed to client - owns sprint governance, performance tracking, and L&amp;D coordination. This is a pod, not a staffing drop.</a:t>
            </a:r>
            <a:endParaRPr lang="en-US" sz="1300"/>
          </a:p>
        </p:txBody>
      </p:sp>
      <p:pic>
        <p:nvPicPr>
          <p:cNvPr id="35" name="Image 7" descr="gen-dedup-5d8964838ee5ef7b6e1692b5297312cd.png"/>
          <p:cNvPicPr>
            <a:picLocks noChangeAspect="1"/>
          </p:cNvPicPr>
          <p:nvPr/>
        </p:nvPicPr>
        <p:blipFill>
          <a:blip r:embed="rId10"/>
          <a:srcRect t="-30861" b="-30861"/>
          <a:stretch/>
        </p:blipFill>
        <p:spPr>
          <a:xfrm>
            <a:off x="800100" y="4960620"/>
            <a:ext cx="161849" cy="209398"/>
          </a:xfrm>
          <a:prstGeom prst="rect">
            <a:avLst/>
          </a:prstGeom>
        </p:spPr>
      </p:pic>
      <p:sp>
        <p:nvSpPr>
          <p:cNvPr id="36" name="Text 26"/>
          <p:cNvSpPr txBox="1"/>
          <p:nvPr/>
        </p:nvSpPr>
        <p:spPr>
          <a:xfrm>
            <a:off x="1037844" y="5849417"/>
            <a:ext cx="2051914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400" b="1">
                <a:solidFill>
                  <a:srgbClr val="2A9D8F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Validated Playbooks</a:t>
            </a:r>
            <a:endParaRPr lang="en-US" sz="1400"/>
          </a:p>
        </p:txBody>
      </p:sp>
      <p:sp>
        <p:nvSpPr>
          <p:cNvPr id="37" name="Text 27"/>
          <p:cNvSpPr txBox="1"/>
          <p:nvPr/>
        </p:nvSpPr>
        <p:spPr>
          <a:xfrm>
            <a:off x="800100" y="6192317"/>
            <a:ext cx="1059241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Every tool, process, and accelerator has passed our internal 40% improvement gate. Clients benefit from completed learning - not our experimentation.</a:t>
            </a:r>
            <a:endParaRPr lang="en-US" sz="1300"/>
          </a:p>
        </p:txBody>
      </p:sp>
      <p:pic>
        <p:nvPicPr>
          <p:cNvPr id="38" name="Image 8" descr="gen-dedup-001fb79ce367df5df5f79805d3e188cd.png"/>
          <p:cNvPicPr>
            <a:picLocks noChangeAspect="1"/>
          </p:cNvPicPr>
          <p:nvPr/>
        </p:nvPicPr>
        <p:blipFill>
          <a:blip r:embed="rId11"/>
          <a:srcRect t="-22775" b="-22775"/>
          <a:stretch/>
        </p:blipFill>
        <p:spPr>
          <a:xfrm>
            <a:off x="800100" y="5913425"/>
            <a:ext cx="161849" cy="209398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996E55-B4F8-57F1-D146-B4C78675B2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0" descr="gen-dedup-37abb9d8cc081a24feb608c288538026.png">
            <a:extLst>
              <a:ext uri="{FF2B5EF4-FFF2-40B4-BE49-F238E27FC236}">
                <a16:creationId xmlns:a16="http://schemas.microsoft.com/office/drawing/2014/main" id="{71330D75-D19F-98CB-DFD6-89655DE4CA9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-198" r="-198"/>
          <a:stretch/>
        </p:blipFill>
        <p:spPr>
          <a:xfrm>
            <a:off x="0" y="0"/>
            <a:ext cx="8124444" cy="75895"/>
          </a:xfrm>
          <a:prstGeom prst="rect">
            <a:avLst/>
          </a:prstGeom>
        </p:spPr>
      </p:pic>
      <p:pic>
        <p:nvPicPr>
          <p:cNvPr id="5" name="Image 1" descr="gen-dedup-c2c9136402f20c216bf7cbcc052ad1a0.png">
            <a:extLst>
              <a:ext uri="{FF2B5EF4-FFF2-40B4-BE49-F238E27FC236}">
                <a16:creationId xmlns:a16="http://schemas.microsoft.com/office/drawing/2014/main" id="{4467D959-2368-EB24-595D-171CC1B504B8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-202" r="-202"/>
          <a:stretch/>
        </p:blipFill>
        <p:spPr>
          <a:xfrm>
            <a:off x="8124444" y="0"/>
            <a:ext cx="4067251" cy="75895"/>
          </a:xfrm>
          <a:prstGeom prst="rect">
            <a:avLst/>
          </a:prstGeom>
        </p:spPr>
      </p:pic>
      <p:sp>
        <p:nvSpPr>
          <p:cNvPr id="6" name="Shape 2">
            <a:extLst>
              <a:ext uri="{FF2B5EF4-FFF2-40B4-BE49-F238E27FC236}">
                <a16:creationId xmlns:a16="http://schemas.microsoft.com/office/drawing/2014/main" id="{184EBFC8-10E0-38E8-2A1B-471CD2171E3B}"/>
              </a:ext>
            </a:extLst>
          </p:cNvPr>
          <p:cNvSpPr/>
          <p:nvPr/>
        </p:nvSpPr>
        <p:spPr>
          <a:xfrm>
            <a:off x="8858707" y="-952805"/>
            <a:ext cx="3810305" cy="3810305"/>
          </a:xfrm>
          <a:prstGeom prst="ellipse">
            <a:avLst/>
          </a:prstGeom>
          <a:solidFill>
            <a:srgbClr val="2A9D8F">
              <a:alpha val="3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3">
            <a:extLst>
              <a:ext uri="{FF2B5EF4-FFF2-40B4-BE49-F238E27FC236}">
                <a16:creationId xmlns:a16="http://schemas.microsoft.com/office/drawing/2014/main" id="{1E36FF24-EF82-BF6E-F421-8A9645DDA417}"/>
              </a:ext>
            </a:extLst>
          </p:cNvPr>
          <p:cNvSpPr/>
          <p:nvPr/>
        </p:nvSpPr>
        <p:spPr>
          <a:xfrm>
            <a:off x="-476402" y="4476902"/>
            <a:ext cx="3333902" cy="3333902"/>
          </a:xfrm>
          <a:prstGeom prst="ellipse">
            <a:avLst/>
          </a:prstGeom>
          <a:solidFill>
            <a:srgbClr val="D62839">
              <a:alpha val="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4">
            <a:extLst>
              <a:ext uri="{FF2B5EF4-FFF2-40B4-BE49-F238E27FC236}">
                <a16:creationId xmlns:a16="http://schemas.microsoft.com/office/drawing/2014/main" id="{BDD638F0-1657-224A-7F7D-AF6756114563}"/>
              </a:ext>
            </a:extLst>
          </p:cNvPr>
          <p:cNvSpPr/>
          <p:nvPr/>
        </p:nvSpPr>
        <p:spPr>
          <a:xfrm>
            <a:off x="609905" y="1714500"/>
            <a:ext cx="3448202" cy="2286000"/>
          </a:xfrm>
          <a:prstGeom prst="roundRect">
            <a:avLst>
              <a:gd name="adj" fmla="val 332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76200" dist="25400" dir="16200000" algn="bl" rotWithShape="0">
              <a:srgbClr val="000000">
                <a:alpha val="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5">
            <a:extLst>
              <a:ext uri="{FF2B5EF4-FFF2-40B4-BE49-F238E27FC236}">
                <a16:creationId xmlns:a16="http://schemas.microsoft.com/office/drawing/2014/main" id="{32042F7A-0CD5-7D23-E552-52F1274EC5FE}"/>
              </a:ext>
            </a:extLst>
          </p:cNvPr>
          <p:cNvSpPr/>
          <p:nvPr/>
        </p:nvSpPr>
        <p:spPr>
          <a:xfrm>
            <a:off x="609905" y="1714500"/>
            <a:ext cx="3448202" cy="38405"/>
          </a:xfrm>
          <a:prstGeom prst="roundRect">
            <a:avLst>
              <a:gd name="adj" fmla="val 197618"/>
            </a:avLst>
          </a:prstGeom>
          <a:solidFill>
            <a:srgbClr val="2A9D8F"/>
          </a:solidFill>
          <a:ln w="12700">
            <a:solidFill>
              <a:srgbClr val="2A9D8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6">
            <a:extLst>
              <a:ext uri="{FF2B5EF4-FFF2-40B4-BE49-F238E27FC236}">
                <a16:creationId xmlns:a16="http://schemas.microsoft.com/office/drawing/2014/main" id="{4CEB462E-7AF1-D56B-469F-75B14B3A70E4}"/>
              </a:ext>
            </a:extLst>
          </p:cNvPr>
          <p:cNvSpPr/>
          <p:nvPr/>
        </p:nvSpPr>
        <p:spPr>
          <a:xfrm>
            <a:off x="4381805" y="1714500"/>
            <a:ext cx="3448202" cy="2286000"/>
          </a:xfrm>
          <a:prstGeom prst="roundRect">
            <a:avLst>
              <a:gd name="adj" fmla="val 332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76200" dist="25400" dir="16200000" algn="bl" rotWithShape="0">
              <a:srgbClr val="000000">
                <a:alpha val="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7">
            <a:extLst>
              <a:ext uri="{FF2B5EF4-FFF2-40B4-BE49-F238E27FC236}">
                <a16:creationId xmlns:a16="http://schemas.microsoft.com/office/drawing/2014/main" id="{2992DEEC-A49E-A20E-175E-A95136E84033}"/>
              </a:ext>
            </a:extLst>
          </p:cNvPr>
          <p:cNvSpPr/>
          <p:nvPr/>
        </p:nvSpPr>
        <p:spPr>
          <a:xfrm>
            <a:off x="4381805" y="1714500"/>
            <a:ext cx="3448202" cy="38405"/>
          </a:xfrm>
          <a:prstGeom prst="roundRect">
            <a:avLst>
              <a:gd name="adj" fmla="val 197618"/>
            </a:avLst>
          </a:prstGeom>
          <a:solidFill>
            <a:srgbClr val="D62839"/>
          </a:solidFill>
          <a:ln w="12700">
            <a:solidFill>
              <a:srgbClr val="D62839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8">
            <a:extLst>
              <a:ext uri="{FF2B5EF4-FFF2-40B4-BE49-F238E27FC236}">
                <a16:creationId xmlns:a16="http://schemas.microsoft.com/office/drawing/2014/main" id="{14879945-2ED5-E94F-55B4-C01FDCC3B015}"/>
              </a:ext>
            </a:extLst>
          </p:cNvPr>
          <p:cNvSpPr/>
          <p:nvPr/>
        </p:nvSpPr>
        <p:spPr>
          <a:xfrm>
            <a:off x="8153705" y="1714500"/>
            <a:ext cx="3448202" cy="2286000"/>
          </a:xfrm>
          <a:prstGeom prst="roundRect">
            <a:avLst>
              <a:gd name="adj" fmla="val 332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76200" dist="25400" dir="16200000" algn="bl" rotWithShape="0">
              <a:srgbClr val="000000">
                <a:alpha val="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9">
            <a:extLst>
              <a:ext uri="{FF2B5EF4-FFF2-40B4-BE49-F238E27FC236}">
                <a16:creationId xmlns:a16="http://schemas.microsoft.com/office/drawing/2014/main" id="{9B311B25-F892-71FA-CCA7-08D7E2BE4BA9}"/>
              </a:ext>
            </a:extLst>
          </p:cNvPr>
          <p:cNvSpPr/>
          <p:nvPr/>
        </p:nvSpPr>
        <p:spPr>
          <a:xfrm>
            <a:off x="8153705" y="1714500"/>
            <a:ext cx="3448202" cy="38405"/>
          </a:xfrm>
          <a:prstGeom prst="roundRect">
            <a:avLst>
              <a:gd name="adj" fmla="val 197618"/>
            </a:avLst>
          </a:prstGeom>
          <a:solidFill>
            <a:srgbClr val="2A9D8F"/>
          </a:solidFill>
          <a:ln w="12700">
            <a:solidFill>
              <a:srgbClr val="2A9D8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0">
            <a:extLst>
              <a:ext uri="{FF2B5EF4-FFF2-40B4-BE49-F238E27FC236}">
                <a16:creationId xmlns:a16="http://schemas.microsoft.com/office/drawing/2014/main" id="{2FA2CEBE-DD26-0A26-DB7F-B41B97B75C84}"/>
              </a:ext>
            </a:extLst>
          </p:cNvPr>
          <p:cNvSpPr/>
          <p:nvPr/>
        </p:nvSpPr>
        <p:spPr>
          <a:xfrm>
            <a:off x="609905" y="4238244"/>
            <a:ext cx="3448202" cy="2286000"/>
          </a:xfrm>
          <a:prstGeom prst="roundRect">
            <a:avLst>
              <a:gd name="adj" fmla="val 332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76200" dist="25400" dir="16200000" algn="bl" rotWithShape="0">
              <a:srgbClr val="000000">
                <a:alpha val="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1">
            <a:extLst>
              <a:ext uri="{FF2B5EF4-FFF2-40B4-BE49-F238E27FC236}">
                <a16:creationId xmlns:a16="http://schemas.microsoft.com/office/drawing/2014/main" id="{B73B4A1D-D8A7-8665-6E79-DA08E8148C8A}"/>
              </a:ext>
            </a:extLst>
          </p:cNvPr>
          <p:cNvSpPr/>
          <p:nvPr/>
        </p:nvSpPr>
        <p:spPr>
          <a:xfrm>
            <a:off x="609905" y="4238244"/>
            <a:ext cx="3448202" cy="38405"/>
          </a:xfrm>
          <a:prstGeom prst="roundRect">
            <a:avLst>
              <a:gd name="adj" fmla="val 197618"/>
            </a:avLst>
          </a:prstGeom>
          <a:solidFill>
            <a:srgbClr val="D62839"/>
          </a:solidFill>
          <a:ln w="12700">
            <a:solidFill>
              <a:srgbClr val="D62839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2">
            <a:extLst>
              <a:ext uri="{FF2B5EF4-FFF2-40B4-BE49-F238E27FC236}">
                <a16:creationId xmlns:a16="http://schemas.microsoft.com/office/drawing/2014/main" id="{C7E1619A-A8B3-11EF-357F-D07768F07213}"/>
              </a:ext>
            </a:extLst>
          </p:cNvPr>
          <p:cNvSpPr/>
          <p:nvPr/>
        </p:nvSpPr>
        <p:spPr>
          <a:xfrm>
            <a:off x="4381805" y="4238244"/>
            <a:ext cx="3448202" cy="2286000"/>
          </a:xfrm>
          <a:prstGeom prst="roundRect">
            <a:avLst>
              <a:gd name="adj" fmla="val 332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76200" dist="25400" dir="16200000" algn="bl" rotWithShape="0">
              <a:srgbClr val="000000">
                <a:alpha val="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3">
            <a:extLst>
              <a:ext uri="{FF2B5EF4-FFF2-40B4-BE49-F238E27FC236}">
                <a16:creationId xmlns:a16="http://schemas.microsoft.com/office/drawing/2014/main" id="{A3CDDA62-D7CA-9480-68AA-9B5E163731DB}"/>
              </a:ext>
            </a:extLst>
          </p:cNvPr>
          <p:cNvSpPr/>
          <p:nvPr/>
        </p:nvSpPr>
        <p:spPr>
          <a:xfrm>
            <a:off x="4381805" y="4238244"/>
            <a:ext cx="3448202" cy="38405"/>
          </a:xfrm>
          <a:prstGeom prst="roundRect">
            <a:avLst>
              <a:gd name="adj" fmla="val 197618"/>
            </a:avLst>
          </a:prstGeom>
          <a:solidFill>
            <a:srgbClr val="2A9D8F"/>
          </a:solidFill>
          <a:ln w="12700">
            <a:solidFill>
              <a:srgbClr val="2A9D8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4">
            <a:extLst>
              <a:ext uri="{FF2B5EF4-FFF2-40B4-BE49-F238E27FC236}">
                <a16:creationId xmlns:a16="http://schemas.microsoft.com/office/drawing/2014/main" id="{2FCBBAC9-285A-6FE7-B237-C7F6034B907E}"/>
              </a:ext>
            </a:extLst>
          </p:cNvPr>
          <p:cNvSpPr/>
          <p:nvPr/>
        </p:nvSpPr>
        <p:spPr>
          <a:xfrm>
            <a:off x="8153705" y="4238244"/>
            <a:ext cx="3448202" cy="2286000"/>
          </a:xfrm>
          <a:prstGeom prst="roundRect">
            <a:avLst>
              <a:gd name="adj" fmla="val 332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76200" dist="25400" dir="16200000" algn="bl" rotWithShape="0">
              <a:srgbClr val="000000">
                <a:alpha val="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Shape 15">
            <a:extLst>
              <a:ext uri="{FF2B5EF4-FFF2-40B4-BE49-F238E27FC236}">
                <a16:creationId xmlns:a16="http://schemas.microsoft.com/office/drawing/2014/main" id="{3EC8321E-5F0A-BC79-9C80-2E70374B3F81}"/>
              </a:ext>
            </a:extLst>
          </p:cNvPr>
          <p:cNvSpPr/>
          <p:nvPr/>
        </p:nvSpPr>
        <p:spPr>
          <a:xfrm>
            <a:off x="8153705" y="4238244"/>
            <a:ext cx="3448202" cy="38405"/>
          </a:xfrm>
          <a:prstGeom prst="roundRect">
            <a:avLst>
              <a:gd name="adj" fmla="val 197618"/>
            </a:avLst>
          </a:prstGeom>
          <a:solidFill>
            <a:srgbClr val="D62839"/>
          </a:solidFill>
          <a:ln w="12700">
            <a:solidFill>
              <a:srgbClr val="D62839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0" name="Image 2" descr="gen-dedup-90395934058aa4b7c1bff00d7e70c0a4.png">
            <a:extLst>
              <a:ext uri="{FF2B5EF4-FFF2-40B4-BE49-F238E27FC236}">
                <a16:creationId xmlns:a16="http://schemas.microsoft.com/office/drawing/2014/main" id="{8C8BA362-8E89-BBFE-8E8E-F4E802E4B22C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-416" r="-416"/>
          <a:stretch/>
        </p:blipFill>
        <p:spPr>
          <a:xfrm>
            <a:off x="609905" y="533095"/>
            <a:ext cx="57607" cy="714146"/>
          </a:xfrm>
          <a:prstGeom prst="rect">
            <a:avLst/>
          </a:prstGeom>
        </p:spPr>
      </p:pic>
      <p:sp>
        <p:nvSpPr>
          <p:cNvPr id="21" name="Text 16">
            <a:extLst>
              <a:ext uri="{FF2B5EF4-FFF2-40B4-BE49-F238E27FC236}">
                <a16:creationId xmlns:a16="http://schemas.microsoft.com/office/drawing/2014/main" id="{8EB383D4-5792-E9E4-2123-C6277DE06A69}"/>
              </a:ext>
            </a:extLst>
          </p:cNvPr>
          <p:cNvSpPr txBox="1"/>
          <p:nvPr/>
        </p:nvSpPr>
        <p:spPr>
          <a:xfrm>
            <a:off x="819302" y="495605"/>
            <a:ext cx="8572500" cy="3621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500" b="1" dirty="0">
                <a:solidFill>
                  <a:srgbClr val="11182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WORKFORCE SOLUTIONS – WHAT WE DEPLOY</a:t>
            </a:r>
            <a:endParaRPr lang="en-US" sz="2500" dirty="0"/>
          </a:p>
        </p:txBody>
      </p:sp>
      <p:sp>
        <p:nvSpPr>
          <p:cNvPr id="22" name="Text 17">
            <a:extLst>
              <a:ext uri="{FF2B5EF4-FFF2-40B4-BE49-F238E27FC236}">
                <a16:creationId xmlns:a16="http://schemas.microsoft.com/office/drawing/2014/main" id="{9DD1BE38-7275-9217-C711-87525DAC2EF2}"/>
              </a:ext>
            </a:extLst>
          </p:cNvPr>
          <p:cNvSpPr txBox="1"/>
          <p:nvPr/>
        </p:nvSpPr>
        <p:spPr>
          <a:xfrm>
            <a:off x="819302" y="908914"/>
            <a:ext cx="857250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kern="0" spc="68" dirty="0">
                <a:solidFill>
                  <a:srgbClr val="2A9D8F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Not Just Tech Stacks — Domain-certified Engineers Who Understand Product Liability, Safety Standards, And Engineering Constraints.</a:t>
            </a:r>
            <a:endParaRPr lang="en-US" sz="1300" dirty="0"/>
          </a:p>
        </p:txBody>
      </p:sp>
      <p:sp>
        <p:nvSpPr>
          <p:cNvPr id="25" name="Text 20">
            <a:extLst>
              <a:ext uri="{FF2B5EF4-FFF2-40B4-BE49-F238E27FC236}">
                <a16:creationId xmlns:a16="http://schemas.microsoft.com/office/drawing/2014/main" id="{E38B7257-75FC-2044-C776-C636205E2D15}"/>
              </a:ext>
            </a:extLst>
          </p:cNvPr>
          <p:cNvSpPr txBox="1"/>
          <p:nvPr/>
        </p:nvSpPr>
        <p:spPr>
          <a:xfrm>
            <a:off x="1028700" y="1904695"/>
            <a:ext cx="2820010" cy="2862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>
                <a:solidFill>
                  <a:srgbClr val="11182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BFSI</a:t>
            </a:r>
            <a:endParaRPr lang="en-US" sz="1500"/>
          </a:p>
        </p:txBody>
      </p:sp>
      <p:sp>
        <p:nvSpPr>
          <p:cNvPr id="26" name="Text 21">
            <a:extLst>
              <a:ext uri="{FF2B5EF4-FFF2-40B4-BE49-F238E27FC236}">
                <a16:creationId xmlns:a16="http://schemas.microsoft.com/office/drawing/2014/main" id="{A6D0032F-CF94-9C5F-2D5E-28FB3ED09235}"/>
              </a:ext>
            </a:extLst>
          </p:cNvPr>
          <p:cNvSpPr txBox="1"/>
          <p:nvPr/>
        </p:nvSpPr>
        <p:spPr>
          <a:xfrm>
            <a:off x="990295" y="2305202"/>
            <a:ext cx="2857500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>
                <a:solidFill>
                  <a:srgbClr val="47556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Java / Python / Angular</a:t>
            </a:r>
            <a:endParaRPr lang="en-US" sz="1000"/>
          </a:p>
        </p:txBody>
      </p:sp>
      <p:sp>
        <p:nvSpPr>
          <p:cNvPr id="27" name="Text 22">
            <a:extLst>
              <a:ext uri="{FF2B5EF4-FFF2-40B4-BE49-F238E27FC236}">
                <a16:creationId xmlns:a16="http://schemas.microsoft.com/office/drawing/2014/main" id="{8E6B47E1-1FC5-6C74-EA6D-0E67B8B328A2}"/>
              </a:ext>
            </a:extLst>
          </p:cNvPr>
          <p:cNvSpPr txBox="1"/>
          <p:nvPr/>
        </p:nvSpPr>
        <p:spPr>
          <a:xfrm>
            <a:off x="990295" y="2544775"/>
            <a:ext cx="2857500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>
                <a:solidFill>
                  <a:srgbClr val="47556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Banking APIs · SWIFT · Finacle</a:t>
            </a:r>
            <a:endParaRPr lang="en-US" sz="1000"/>
          </a:p>
        </p:txBody>
      </p:sp>
      <p:sp>
        <p:nvSpPr>
          <p:cNvPr id="28" name="Text 23">
            <a:extLst>
              <a:ext uri="{FF2B5EF4-FFF2-40B4-BE49-F238E27FC236}">
                <a16:creationId xmlns:a16="http://schemas.microsoft.com/office/drawing/2014/main" id="{A3F71330-6FAC-938F-94DA-C428AA5E4F51}"/>
              </a:ext>
            </a:extLst>
          </p:cNvPr>
          <p:cNvSpPr txBox="1"/>
          <p:nvPr/>
        </p:nvSpPr>
        <p:spPr>
          <a:xfrm>
            <a:off x="990295" y="2785262"/>
            <a:ext cx="2857500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>
                <a:solidFill>
                  <a:srgbClr val="47556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Salesforce FSC · SAP FICO</a:t>
            </a:r>
            <a:endParaRPr lang="en-US" sz="1000"/>
          </a:p>
        </p:txBody>
      </p:sp>
      <p:sp>
        <p:nvSpPr>
          <p:cNvPr id="29" name="Text 24">
            <a:extLst>
              <a:ext uri="{FF2B5EF4-FFF2-40B4-BE49-F238E27FC236}">
                <a16:creationId xmlns:a16="http://schemas.microsoft.com/office/drawing/2014/main" id="{44547BD8-4321-655C-34E5-836B73A0C6D1}"/>
              </a:ext>
            </a:extLst>
          </p:cNvPr>
          <p:cNvSpPr txBox="1"/>
          <p:nvPr/>
        </p:nvSpPr>
        <p:spPr>
          <a:xfrm>
            <a:off x="990295" y="3024835"/>
            <a:ext cx="2857500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>
                <a:solidFill>
                  <a:srgbClr val="47556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PCI-DSS compliance</a:t>
            </a:r>
            <a:endParaRPr lang="en-US" sz="1000"/>
          </a:p>
        </p:txBody>
      </p:sp>
      <p:pic>
        <p:nvPicPr>
          <p:cNvPr id="30" name="Image 3" descr="gen-dedup-2aa19c82c71fd240e470708f6dffe216.png">
            <a:extLst>
              <a:ext uri="{FF2B5EF4-FFF2-40B4-BE49-F238E27FC236}">
                <a16:creationId xmlns:a16="http://schemas.microsoft.com/office/drawing/2014/main" id="{A5EB5580-0C25-D9AC-42C7-6E24AB045CC7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t="-12275" b="-12275"/>
          <a:stretch/>
        </p:blipFill>
        <p:spPr>
          <a:xfrm>
            <a:off x="800100" y="1966874"/>
            <a:ext cx="152705" cy="190195"/>
          </a:xfrm>
          <a:prstGeom prst="rect">
            <a:avLst/>
          </a:prstGeom>
        </p:spPr>
      </p:pic>
      <p:sp>
        <p:nvSpPr>
          <p:cNvPr id="31" name="Text 25">
            <a:extLst>
              <a:ext uri="{FF2B5EF4-FFF2-40B4-BE49-F238E27FC236}">
                <a16:creationId xmlns:a16="http://schemas.microsoft.com/office/drawing/2014/main" id="{1CC8784E-3D4F-B065-B604-950E131714BF}"/>
              </a:ext>
            </a:extLst>
          </p:cNvPr>
          <p:cNvSpPr txBox="1"/>
          <p:nvPr/>
        </p:nvSpPr>
        <p:spPr>
          <a:xfrm>
            <a:off x="4800600" y="1904695"/>
            <a:ext cx="2820010" cy="2862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>
                <a:solidFill>
                  <a:srgbClr val="11182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Healthcare &amp; MedTech</a:t>
            </a:r>
            <a:endParaRPr lang="en-US" sz="1500"/>
          </a:p>
        </p:txBody>
      </p:sp>
      <p:sp>
        <p:nvSpPr>
          <p:cNvPr id="32" name="Text 26">
            <a:extLst>
              <a:ext uri="{FF2B5EF4-FFF2-40B4-BE49-F238E27FC236}">
                <a16:creationId xmlns:a16="http://schemas.microsoft.com/office/drawing/2014/main" id="{73CACED0-50CE-96FF-A54A-D2E18DC15C00}"/>
              </a:ext>
            </a:extLst>
          </p:cNvPr>
          <p:cNvSpPr txBox="1"/>
          <p:nvPr/>
        </p:nvSpPr>
        <p:spPr>
          <a:xfrm>
            <a:off x="4762195" y="2305202"/>
            <a:ext cx="2857500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>
                <a:solidFill>
                  <a:srgbClr val="47556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HL7 / FHIR / DICOM</a:t>
            </a:r>
            <a:endParaRPr lang="en-US" sz="1000"/>
          </a:p>
        </p:txBody>
      </p:sp>
      <p:sp>
        <p:nvSpPr>
          <p:cNvPr id="33" name="Text 27">
            <a:extLst>
              <a:ext uri="{FF2B5EF4-FFF2-40B4-BE49-F238E27FC236}">
                <a16:creationId xmlns:a16="http://schemas.microsoft.com/office/drawing/2014/main" id="{30981E60-DEE5-1205-826E-FAFBC89F2D66}"/>
              </a:ext>
            </a:extLst>
          </p:cNvPr>
          <p:cNvSpPr txBox="1"/>
          <p:nvPr/>
        </p:nvSpPr>
        <p:spPr>
          <a:xfrm>
            <a:off x="4762195" y="2544775"/>
            <a:ext cx="2857500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>
                <a:solidFill>
                  <a:srgbClr val="47556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AWS HealthLake · Epic</a:t>
            </a:r>
            <a:endParaRPr lang="en-US" sz="1000"/>
          </a:p>
        </p:txBody>
      </p:sp>
      <p:sp>
        <p:nvSpPr>
          <p:cNvPr id="34" name="Text 28">
            <a:extLst>
              <a:ext uri="{FF2B5EF4-FFF2-40B4-BE49-F238E27FC236}">
                <a16:creationId xmlns:a16="http://schemas.microsoft.com/office/drawing/2014/main" id="{58F7F289-B8D1-C1D0-00A3-7C6A65CEF319}"/>
              </a:ext>
            </a:extLst>
          </p:cNvPr>
          <p:cNvSpPr txBox="1"/>
          <p:nvPr/>
        </p:nvSpPr>
        <p:spPr>
          <a:xfrm>
            <a:off x="4762195" y="2785262"/>
            <a:ext cx="2857500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>
                <a:solidFill>
                  <a:srgbClr val="47556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MLOps for medical imaging</a:t>
            </a:r>
            <a:endParaRPr lang="en-US" sz="1000"/>
          </a:p>
        </p:txBody>
      </p:sp>
      <p:sp>
        <p:nvSpPr>
          <p:cNvPr id="35" name="Text 29">
            <a:extLst>
              <a:ext uri="{FF2B5EF4-FFF2-40B4-BE49-F238E27FC236}">
                <a16:creationId xmlns:a16="http://schemas.microsoft.com/office/drawing/2014/main" id="{C9E3CF73-C89D-4E5C-54D1-9FF96F72EC94}"/>
              </a:ext>
            </a:extLst>
          </p:cNvPr>
          <p:cNvSpPr txBox="1"/>
          <p:nvPr/>
        </p:nvSpPr>
        <p:spPr>
          <a:xfrm>
            <a:off x="4762195" y="3024835"/>
            <a:ext cx="2857500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>
                <a:solidFill>
                  <a:srgbClr val="47556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HIPAA / FDA 21 CFR</a:t>
            </a:r>
            <a:endParaRPr lang="en-US" sz="1000"/>
          </a:p>
        </p:txBody>
      </p:sp>
      <p:pic>
        <p:nvPicPr>
          <p:cNvPr id="36" name="Image 4" descr="gen-dedup-b8cc7496714d41e2a07586de42649107.png">
            <a:extLst>
              <a:ext uri="{FF2B5EF4-FFF2-40B4-BE49-F238E27FC236}">
                <a16:creationId xmlns:a16="http://schemas.microsoft.com/office/drawing/2014/main" id="{0C21CFD1-D935-B571-88B5-C804FA531FFD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t="-12275" b="-12275"/>
          <a:stretch/>
        </p:blipFill>
        <p:spPr>
          <a:xfrm>
            <a:off x="4572000" y="1966874"/>
            <a:ext cx="152705" cy="190195"/>
          </a:xfrm>
          <a:prstGeom prst="rect">
            <a:avLst/>
          </a:prstGeom>
        </p:spPr>
      </p:pic>
      <p:sp>
        <p:nvSpPr>
          <p:cNvPr id="37" name="Text 30">
            <a:extLst>
              <a:ext uri="{FF2B5EF4-FFF2-40B4-BE49-F238E27FC236}">
                <a16:creationId xmlns:a16="http://schemas.microsoft.com/office/drawing/2014/main" id="{67CDB4A6-0DD4-4891-C898-20433C8A21F9}"/>
              </a:ext>
            </a:extLst>
          </p:cNvPr>
          <p:cNvSpPr txBox="1"/>
          <p:nvPr/>
        </p:nvSpPr>
        <p:spPr>
          <a:xfrm>
            <a:off x="8572500" y="1904695"/>
            <a:ext cx="3185770" cy="2862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>
                <a:solidFill>
                  <a:srgbClr val="11182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Automotive &amp; Manufacturing</a:t>
            </a:r>
            <a:endParaRPr lang="en-US" sz="1500"/>
          </a:p>
        </p:txBody>
      </p:sp>
      <p:sp>
        <p:nvSpPr>
          <p:cNvPr id="38" name="Text 31">
            <a:extLst>
              <a:ext uri="{FF2B5EF4-FFF2-40B4-BE49-F238E27FC236}">
                <a16:creationId xmlns:a16="http://schemas.microsoft.com/office/drawing/2014/main" id="{6E901505-82C4-0BEE-CD5F-7D88BB8142A1}"/>
              </a:ext>
            </a:extLst>
          </p:cNvPr>
          <p:cNvSpPr txBox="1"/>
          <p:nvPr/>
        </p:nvSpPr>
        <p:spPr>
          <a:xfrm>
            <a:off x="8534095" y="2305202"/>
            <a:ext cx="2857500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>
                <a:solidFill>
                  <a:srgbClr val="47556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Embedded C/C++ · AUTOSAR</a:t>
            </a:r>
            <a:endParaRPr lang="en-US" sz="1000"/>
          </a:p>
        </p:txBody>
      </p:sp>
      <p:sp>
        <p:nvSpPr>
          <p:cNvPr id="39" name="Text 32">
            <a:extLst>
              <a:ext uri="{FF2B5EF4-FFF2-40B4-BE49-F238E27FC236}">
                <a16:creationId xmlns:a16="http://schemas.microsoft.com/office/drawing/2014/main" id="{7A51DDC1-4E34-6408-DB1A-5AC11DE169EE}"/>
              </a:ext>
            </a:extLst>
          </p:cNvPr>
          <p:cNvSpPr txBox="1"/>
          <p:nvPr/>
        </p:nvSpPr>
        <p:spPr>
          <a:xfrm>
            <a:off x="8534095" y="2544775"/>
            <a:ext cx="2857500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>
                <a:solidFill>
                  <a:srgbClr val="47556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CAN / LIN · SCADA / MES</a:t>
            </a:r>
            <a:endParaRPr lang="en-US" sz="1000"/>
          </a:p>
        </p:txBody>
      </p:sp>
      <p:sp>
        <p:nvSpPr>
          <p:cNvPr id="40" name="Text 33">
            <a:extLst>
              <a:ext uri="{FF2B5EF4-FFF2-40B4-BE49-F238E27FC236}">
                <a16:creationId xmlns:a16="http://schemas.microsoft.com/office/drawing/2014/main" id="{E18DFEA5-B799-AD91-6217-283FD483A501}"/>
              </a:ext>
            </a:extLst>
          </p:cNvPr>
          <p:cNvSpPr txBox="1"/>
          <p:nvPr/>
        </p:nvSpPr>
        <p:spPr>
          <a:xfrm>
            <a:off x="8534095" y="2785262"/>
            <a:ext cx="2857500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>
                <a:solidFill>
                  <a:srgbClr val="47556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Siemens Teamcenter PLM</a:t>
            </a:r>
            <a:endParaRPr lang="en-US" sz="1000"/>
          </a:p>
        </p:txBody>
      </p:sp>
      <p:sp>
        <p:nvSpPr>
          <p:cNvPr id="41" name="Text 34">
            <a:extLst>
              <a:ext uri="{FF2B5EF4-FFF2-40B4-BE49-F238E27FC236}">
                <a16:creationId xmlns:a16="http://schemas.microsoft.com/office/drawing/2014/main" id="{0EC24B56-647F-479D-3C61-E3B981514F68}"/>
              </a:ext>
            </a:extLst>
          </p:cNvPr>
          <p:cNvSpPr txBox="1"/>
          <p:nvPr/>
        </p:nvSpPr>
        <p:spPr>
          <a:xfrm>
            <a:off x="8534095" y="3024835"/>
            <a:ext cx="2857500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>
                <a:solidFill>
                  <a:srgbClr val="47556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ISO 26262 / MISRA</a:t>
            </a:r>
            <a:endParaRPr lang="en-US" sz="1000"/>
          </a:p>
        </p:txBody>
      </p:sp>
      <p:pic>
        <p:nvPicPr>
          <p:cNvPr id="42" name="Image 5" descr="gen-dedup-55f61aa4f889b7525dd1b3da0df44f38.png">
            <a:extLst>
              <a:ext uri="{FF2B5EF4-FFF2-40B4-BE49-F238E27FC236}">
                <a16:creationId xmlns:a16="http://schemas.microsoft.com/office/drawing/2014/main" id="{1B099F92-EB26-716F-2CFE-7A3F106F3024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t="-12275" b="-12275"/>
          <a:stretch/>
        </p:blipFill>
        <p:spPr>
          <a:xfrm>
            <a:off x="8343900" y="1966874"/>
            <a:ext cx="152705" cy="190195"/>
          </a:xfrm>
          <a:prstGeom prst="rect">
            <a:avLst/>
          </a:prstGeom>
        </p:spPr>
      </p:pic>
      <p:sp>
        <p:nvSpPr>
          <p:cNvPr id="43" name="Text 35">
            <a:extLst>
              <a:ext uri="{FF2B5EF4-FFF2-40B4-BE49-F238E27FC236}">
                <a16:creationId xmlns:a16="http://schemas.microsoft.com/office/drawing/2014/main" id="{FCCA6029-85C4-B874-33DD-4B3159C1D5E3}"/>
              </a:ext>
            </a:extLst>
          </p:cNvPr>
          <p:cNvSpPr txBox="1"/>
          <p:nvPr/>
        </p:nvSpPr>
        <p:spPr>
          <a:xfrm>
            <a:off x="1028700" y="4429354"/>
            <a:ext cx="2820010" cy="2862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>
                <a:solidFill>
                  <a:srgbClr val="11182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Technology / SaaS</a:t>
            </a:r>
            <a:endParaRPr lang="en-US" sz="1500"/>
          </a:p>
        </p:txBody>
      </p:sp>
      <p:sp>
        <p:nvSpPr>
          <p:cNvPr id="44" name="Text 36">
            <a:extLst>
              <a:ext uri="{FF2B5EF4-FFF2-40B4-BE49-F238E27FC236}">
                <a16:creationId xmlns:a16="http://schemas.microsoft.com/office/drawing/2014/main" id="{381D4F6B-F0BC-D281-692B-E94956421435}"/>
              </a:ext>
            </a:extLst>
          </p:cNvPr>
          <p:cNvSpPr txBox="1"/>
          <p:nvPr/>
        </p:nvSpPr>
        <p:spPr>
          <a:xfrm>
            <a:off x="990295" y="4828946"/>
            <a:ext cx="2857500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>
                <a:solidFill>
                  <a:srgbClr val="47556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Full-stack (React/Node/Java)</a:t>
            </a:r>
            <a:endParaRPr lang="en-US" sz="1000"/>
          </a:p>
        </p:txBody>
      </p:sp>
      <p:sp>
        <p:nvSpPr>
          <p:cNvPr id="45" name="Text 37">
            <a:extLst>
              <a:ext uri="{FF2B5EF4-FFF2-40B4-BE49-F238E27FC236}">
                <a16:creationId xmlns:a16="http://schemas.microsoft.com/office/drawing/2014/main" id="{E8C4BC21-8642-863C-4221-5E2315340885}"/>
              </a:ext>
            </a:extLst>
          </p:cNvPr>
          <p:cNvSpPr txBox="1"/>
          <p:nvPr/>
        </p:nvSpPr>
        <p:spPr>
          <a:xfrm>
            <a:off x="990295" y="5069434"/>
            <a:ext cx="2857500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>
                <a:solidFill>
                  <a:srgbClr val="47556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Cloud-native AWS / Azure / GCP</a:t>
            </a:r>
            <a:endParaRPr lang="en-US" sz="1000"/>
          </a:p>
        </p:txBody>
      </p:sp>
      <p:sp>
        <p:nvSpPr>
          <p:cNvPr id="46" name="Text 38">
            <a:extLst>
              <a:ext uri="{FF2B5EF4-FFF2-40B4-BE49-F238E27FC236}">
                <a16:creationId xmlns:a16="http://schemas.microsoft.com/office/drawing/2014/main" id="{756A643C-98EF-53B5-4A6D-BB60453CA0D2}"/>
              </a:ext>
            </a:extLst>
          </p:cNvPr>
          <p:cNvSpPr txBox="1"/>
          <p:nvPr/>
        </p:nvSpPr>
        <p:spPr>
          <a:xfrm>
            <a:off x="990295" y="5309006"/>
            <a:ext cx="2857500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>
                <a:solidFill>
                  <a:srgbClr val="47556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DevSecOps / CI-CD / K8s</a:t>
            </a:r>
            <a:endParaRPr lang="en-US" sz="1000"/>
          </a:p>
        </p:txBody>
      </p:sp>
      <p:sp>
        <p:nvSpPr>
          <p:cNvPr id="47" name="Text 39">
            <a:extLst>
              <a:ext uri="{FF2B5EF4-FFF2-40B4-BE49-F238E27FC236}">
                <a16:creationId xmlns:a16="http://schemas.microsoft.com/office/drawing/2014/main" id="{6DD64503-782C-709F-52F8-F70C73CF36E6}"/>
              </a:ext>
            </a:extLst>
          </p:cNvPr>
          <p:cNvSpPr txBox="1"/>
          <p:nvPr/>
        </p:nvSpPr>
        <p:spPr>
          <a:xfrm>
            <a:off x="990295" y="5549494"/>
            <a:ext cx="2857500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>
                <a:solidFill>
                  <a:srgbClr val="47556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AI/ML &amp; GenAI pipelines</a:t>
            </a:r>
            <a:endParaRPr lang="en-US" sz="1000"/>
          </a:p>
        </p:txBody>
      </p:sp>
      <p:pic>
        <p:nvPicPr>
          <p:cNvPr id="48" name="Image 6" descr="gen-dedup-68421e7391c70a5aa3cb0ca89cfbd556.png">
            <a:extLst>
              <a:ext uri="{FF2B5EF4-FFF2-40B4-BE49-F238E27FC236}">
                <a16:creationId xmlns:a16="http://schemas.microsoft.com/office/drawing/2014/main" id="{81A42AC8-690C-E751-CA51-D879F2E5CCF5}"/>
              </a:ext>
            </a:extLst>
          </p:cNvPr>
          <p:cNvPicPr>
            <a:picLocks noChangeAspect="1"/>
          </p:cNvPicPr>
          <p:nvPr/>
        </p:nvPicPr>
        <p:blipFill>
          <a:blip r:embed="rId9"/>
          <a:srcRect t="-27844" b="-27844"/>
          <a:stretch/>
        </p:blipFill>
        <p:spPr>
          <a:xfrm>
            <a:off x="800100" y="4490618"/>
            <a:ext cx="152705" cy="190195"/>
          </a:xfrm>
          <a:prstGeom prst="rect">
            <a:avLst/>
          </a:prstGeom>
        </p:spPr>
      </p:pic>
      <p:sp>
        <p:nvSpPr>
          <p:cNvPr id="49" name="Text 40">
            <a:extLst>
              <a:ext uri="{FF2B5EF4-FFF2-40B4-BE49-F238E27FC236}">
                <a16:creationId xmlns:a16="http://schemas.microsoft.com/office/drawing/2014/main" id="{2B958B8C-5597-489C-25CE-073392EE3467}"/>
              </a:ext>
            </a:extLst>
          </p:cNvPr>
          <p:cNvSpPr txBox="1"/>
          <p:nvPr/>
        </p:nvSpPr>
        <p:spPr>
          <a:xfrm>
            <a:off x="4800600" y="4429354"/>
            <a:ext cx="2820010" cy="2862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>
                <a:solidFill>
                  <a:srgbClr val="11182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Pharma &amp; Life Sciences</a:t>
            </a:r>
            <a:endParaRPr lang="en-US" sz="1500"/>
          </a:p>
        </p:txBody>
      </p:sp>
      <p:sp>
        <p:nvSpPr>
          <p:cNvPr id="50" name="Text 41">
            <a:extLst>
              <a:ext uri="{FF2B5EF4-FFF2-40B4-BE49-F238E27FC236}">
                <a16:creationId xmlns:a16="http://schemas.microsoft.com/office/drawing/2014/main" id="{BDCEDFBD-D1A8-D5F7-3E35-5D4B11D64033}"/>
              </a:ext>
            </a:extLst>
          </p:cNvPr>
          <p:cNvSpPr txBox="1"/>
          <p:nvPr/>
        </p:nvSpPr>
        <p:spPr>
          <a:xfrm>
            <a:off x="4762195" y="4828946"/>
            <a:ext cx="2857500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>
                <a:solidFill>
                  <a:srgbClr val="47556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SAS · R · Python · Power BI</a:t>
            </a:r>
            <a:endParaRPr lang="en-US" sz="1000"/>
          </a:p>
        </p:txBody>
      </p:sp>
      <p:sp>
        <p:nvSpPr>
          <p:cNvPr id="51" name="Text 42">
            <a:extLst>
              <a:ext uri="{FF2B5EF4-FFF2-40B4-BE49-F238E27FC236}">
                <a16:creationId xmlns:a16="http://schemas.microsoft.com/office/drawing/2014/main" id="{EA5A88B7-EF04-11F3-A0EE-D103D1D420F5}"/>
              </a:ext>
            </a:extLst>
          </p:cNvPr>
          <p:cNvSpPr txBox="1"/>
          <p:nvPr/>
        </p:nvSpPr>
        <p:spPr>
          <a:xfrm>
            <a:off x="4762195" y="5069434"/>
            <a:ext cx="2857500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>
                <a:solidFill>
                  <a:srgbClr val="47556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Clinical data analytics</a:t>
            </a:r>
            <a:endParaRPr lang="en-US" sz="1000"/>
          </a:p>
        </p:txBody>
      </p:sp>
      <p:sp>
        <p:nvSpPr>
          <p:cNvPr id="52" name="Text 43">
            <a:extLst>
              <a:ext uri="{FF2B5EF4-FFF2-40B4-BE49-F238E27FC236}">
                <a16:creationId xmlns:a16="http://schemas.microsoft.com/office/drawing/2014/main" id="{1AD8570B-E932-0196-BDF2-6BFD1C80910C}"/>
              </a:ext>
            </a:extLst>
          </p:cNvPr>
          <p:cNvSpPr txBox="1"/>
          <p:nvPr/>
        </p:nvSpPr>
        <p:spPr>
          <a:xfrm>
            <a:off x="4762195" y="5309006"/>
            <a:ext cx="2857500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>
                <a:solidFill>
                  <a:srgbClr val="47556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BPMN 2.0 process mapping</a:t>
            </a:r>
            <a:endParaRPr lang="en-US" sz="1000"/>
          </a:p>
        </p:txBody>
      </p:sp>
      <p:sp>
        <p:nvSpPr>
          <p:cNvPr id="53" name="Text 44">
            <a:extLst>
              <a:ext uri="{FF2B5EF4-FFF2-40B4-BE49-F238E27FC236}">
                <a16:creationId xmlns:a16="http://schemas.microsoft.com/office/drawing/2014/main" id="{560FDBFC-6AC1-986D-CE58-AD28A1502613}"/>
              </a:ext>
            </a:extLst>
          </p:cNvPr>
          <p:cNvSpPr txBox="1"/>
          <p:nvPr/>
        </p:nvSpPr>
        <p:spPr>
          <a:xfrm>
            <a:off x="4762195" y="5549494"/>
            <a:ext cx="2857500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>
                <a:solidFill>
                  <a:srgbClr val="47556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GxP / FDA / EMA compliance</a:t>
            </a:r>
            <a:endParaRPr lang="en-US" sz="1000"/>
          </a:p>
        </p:txBody>
      </p:sp>
      <p:pic>
        <p:nvPicPr>
          <p:cNvPr id="54" name="Image 7" descr="gen-dedup-231d573942f103a3d6cb03e0f4d8280b.png">
            <a:extLst>
              <a:ext uri="{FF2B5EF4-FFF2-40B4-BE49-F238E27FC236}">
                <a16:creationId xmlns:a16="http://schemas.microsoft.com/office/drawing/2014/main" id="{E9AD1FA7-CF7D-FDFD-B8AC-5FCD7108B93A}"/>
              </a:ext>
            </a:extLst>
          </p:cNvPr>
          <p:cNvPicPr>
            <a:picLocks noChangeAspect="1"/>
          </p:cNvPicPr>
          <p:nvPr/>
        </p:nvPicPr>
        <p:blipFill>
          <a:blip r:embed="rId10"/>
          <a:srcRect t="-4491" b="-4491"/>
          <a:stretch/>
        </p:blipFill>
        <p:spPr>
          <a:xfrm>
            <a:off x="4572000" y="4490618"/>
            <a:ext cx="152705" cy="190195"/>
          </a:xfrm>
          <a:prstGeom prst="rect">
            <a:avLst/>
          </a:prstGeom>
        </p:spPr>
      </p:pic>
      <p:sp>
        <p:nvSpPr>
          <p:cNvPr id="55" name="Text 45">
            <a:extLst>
              <a:ext uri="{FF2B5EF4-FFF2-40B4-BE49-F238E27FC236}">
                <a16:creationId xmlns:a16="http://schemas.microsoft.com/office/drawing/2014/main" id="{7A8BCFB2-98AA-BA48-A144-28DC52ED84A6}"/>
              </a:ext>
            </a:extLst>
          </p:cNvPr>
          <p:cNvSpPr txBox="1"/>
          <p:nvPr/>
        </p:nvSpPr>
        <p:spPr>
          <a:xfrm>
            <a:off x="8572500" y="4429354"/>
            <a:ext cx="2820010" cy="2862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>
                <a:solidFill>
                  <a:srgbClr val="11182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Retail &amp; E-commerce</a:t>
            </a:r>
            <a:endParaRPr lang="en-US" sz="1500"/>
          </a:p>
        </p:txBody>
      </p:sp>
      <p:sp>
        <p:nvSpPr>
          <p:cNvPr id="56" name="Text 46">
            <a:extLst>
              <a:ext uri="{FF2B5EF4-FFF2-40B4-BE49-F238E27FC236}">
                <a16:creationId xmlns:a16="http://schemas.microsoft.com/office/drawing/2014/main" id="{8B26216A-CE47-96C3-CA4B-AB9882895ECC}"/>
              </a:ext>
            </a:extLst>
          </p:cNvPr>
          <p:cNvSpPr txBox="1"/>
          <p:nvPr/>
        </p:nvSpPr>
        <p:spPr>
          <a:xfrm>
            <a:off x="8534095" y="4828946"/>
            <a:ext cx="2857500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>
                <a:solidFill>
                  <a:srgbClr val="47556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SAP Hybris · Salesforce</a:t>
            </a:r>
            <a:endParaRPr lang="en-US" sz="1000"/>
          </a:p>
        </p:txBody>
      </p:sp>
      <p:sp>
        <p:nvSpPr>
          <p:cNvPr id="57" name="Text 47">
            <a:extLst>
              <a:ext uri="{FF2B5EF4-FFF2-40B4-BE49-F238E27FC236}">
                <a16:creationId xmlns:a16="http://schemas.microsoft.com/office/drawing/2014/main" id="{64971ECB-FEED-CFCD-D22C-A2AF913100B2}"/>
              </a:ext>
            </a:extLst>
          </p:cNvPr>
          <p:cNvSpPr txBox="1"/>
          <p:nvPr/>
        </p:nvSpPr>
        <p:spPr>
          <a:xfrm>
            <a:off x="8534095" y="5069434"/>
            <a:ext cx="2857500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>
                <a:solidFill>
                  <a:srgbClr val="47556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Java / MySQL / Splunk</a:t>
            </a:r>
            <a:endParaRPr lang="en-US" sz="1000"/>
          </a:p>
        </p:txBody>
      </p:sp>
      <p:sp>
        <p:nvSpPr>
          <p:cNvPr id="58" name="Text 48">
            <a:extLst>
              <a:ext uri="{FF2B5EF4-FFF2-40B4-BE49-F238E27FC236}">
                <a16:creationId xmlns:a16="http://schemas.microsoft.com/office/drawing/2014/main" id="{14A831B4-C16E-143D-CD77-6B05FD232745}"/>
              </a:ext>
            </a:extLst>
          </p:cNvPr>
          <p:cNvSpPr txBox="1"/>
          <p:nvPr/>
        </p:nvSpPr>
        <p:spPr>
          <a:xfrm>
            <a:off x="8534095" y="5309006"/>
            <a:ext cx="2857500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>
                <a:solidFill>
                  <a:srgbClr val="47556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App support (L1–L3)</a:t>
            </a:r>
            <a:endParaRPr lang="en-US" sz="1000"/>
          </a:p>
        </p:txBody>
      </p:sp>
      <p:sp>
        <p:nvSpPr>
          <p:cNvPr id="59" name="Text 49">
            <a:extLst>
              <a:ext uri="{FF2B5EF4-FFF2-40B4-BE49-F238E27FC236}">
                <a16:creationId xmlns:a16="http://schemas.microsoft.com/office/drawing/2014/main" id="{E39D26A1-4BD2-8861-D3A0-400CFE2EEACD}"/>
              </a:ext>
            </a:extLst>
          </p:cNvPr>
          <p:cNvSpPr txBox="1"/>
          <p:nvPr/>
        </p:nvSpPr>
        <p:spPr>
          <a:xfrm>
            <a:off x="8534095" y="5549494"/>
            <a:ext cx="2857500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>
                <a:solidFill>
                  <a:srgbClr val="47556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Peak-season scale ops</a:t>
            </a:r>
            <a:endParaRPr lang="en-US" sz="1000"/>
          </a:p>
        </p:txBody>
      </p:sp>
      <p:pic>
        <p:nvPicPr>
          <p:cNvPr id="60" name="Image 8" descr="gen-dedup-e1ac69483d10434729f72c129465ac9b.png">
            <a:extLst>
              <a:ext uri="{FF2B5EF4-FFF2-40B4-BE49-F238E27FC236}">
                <a16:creationId xmlns:a16="http://schemas.microsoft.com/office/drawing/2014/main" id="{73D0861B-D964-9178-7170-1B171AB5C8A3}"/>
              </a:ext>
            </a:extLst>
          </p:cNvPr>
          <p:cNvPicPr>
            <a:picLocks noChangeAspect="1"/>
          </p:cNvPicPr>
          <p:nvPr/>
        </p:nvPicPr>
        <p:blipFill>
          <a:blip r:embed="rId11"/>
          <a:srcRect t="-20060" b="-20060"/>
          <a:stretch/>
        </p:blipFill>
        <p:spPr>
          <a:xfrm>
            <a:off x="8343900" y="4490618"/>
            <a:ext cx="152705" cy="1901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012096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840496-E8FA-94F6-5A41-AF435DB100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4A1A74A0-A7C4-B906-AA44-2D96F74F4485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0F5C2B6C-C64D-7B38-691E-478EA3AD03F9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893B86C2-018F-68D0-BACE-33455FA6A33C}"/>
              </a:ext>
            </a:extLst>
          </p:cNvPr>
          <p:cNvSpPr/>
          <p:nvPr/>
        </p:nvSpPr>
        <p:spPr>
          <a:xfrm>
            <a:off x="8858707" y="-952805"/>
            <a:ext cx="3810305" cy="3810305"/>
          </a:xfrm>
          <a:prstGeom prst="ellipse">
            <a:avLst/>
          </a:prstGeom>
          <a:solidFill>
            <a:srgbClr val="2A9D8F">
              <a:alpha val="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5" name="Image 0" descr="gen-dedup-debd4e3596836e8640379be3057665ef.png">
            <a:extLst>
              <a:ext uri="{FF2B5EF4-FFF2-40B4-BE49-F238E27FC236}">
                <a16:creationId xmlns:a16="http://schemas.microsoft.com/office/drawing/2014/main" id="{C1647C25-D6F9-E15F-9C33-982F20A47B99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5000"/>
          </a:blip>
          <a:srcRect/>
          <a:stretch/>
        </p:blipFill>
        <p:spPr>
          <a:xfrm>
            <a:off x="-761695" y="3238805"/>
            <a:ext cx="2857500" cy="2857500"/>
          </a:xfrm>
          <a:prstGeom prst="rect">
            <a:avLst/>
          </a:prstGeom>
        </p:spPr>
      </p:pic>
      <p:pic>
        <p:nvPicPr>
          <p:cNvPr id="6" name="Image 1" descr="gen-dedup-323228122ff92d2332e711a84ca3b40c.png">
            <a:extLst>
              <a:ext uri="{FF2B5EF4-FFF2-40B4-BE49-F238E27FC236}">
                <a16:creationId xmlns:a16="http://schemas.microsoft.com/office/drawing/2014/main" id="{ECB5D70D-324B-40EB-440A-C8DCF474BD8B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-198" r="-198"/>
          <a:stretch/>
        </p:blipFill>
        <p:spPr>
          <a:xfrm>
            <a:off x="0" y="0"/>
            <a:ext cx="8124444" cy="75895"/>
          </a:xfrm>
          <a:prstGeom prst="rect">
            <a:avLst/>
          </a:prstGeom>
        </p:spPr>
      </p:pic>
      <p:pic>
        <p:nvPicPr>
          <p:cNvPr id="7" name="Image 2" descr="gen-dedup-9663ecf744b06e35d4c2cebaab92a2ea.png">
            <a:extLst>
              <a:ext uri="{FF2B5EF4-FFF2-40B4-BE49-F238E27FC236}">
                <a16:creationId xmlns:a16="http://schemas.microsoft.com/office/drawing/2014/main" id="{A11CAB48-904C-3F73-EF50-02B2E641811D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-202" r="-202"/>
          <a:stretch/>
        </p:blipFill>
        <p:spPr>
          <a:xfrm>
            <a:off x="8124444" y="0"/>
            <a:ext cx="4067251" cy="75895"/>
          </a:xfrm>
          <a:prstGeom prst="rect">
            <a:avLst/>
          </a:prstGeom>
        </p:spPr>
      </p:pic>
      <p:pic>
        <p:nvPicPr>
          <p:cNvPr id="8" name="Image 3" descr="gen-dedup-b359e3fa59182a7dfb1cf9bffd3421a2.png">
            <a:extLst>
              <a:ext uri="{FF2B5EF4-FFF2-40B4-BE49-F238E27FC236}">
                <a16:creationId xmlns:a16="http://schemas.microsoft.com/office/drawing/2014/main" id="{1D1FD2F1-F193-35BD-0FED-3A6050806541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-375" r="-375"/>
          <a:stretch/>
        </p:blipFill>
        <p:spPr>
          <a:xfrm>
            <a:off x="609905" y="457200"/>
            <a:ext cx="57607" cy="609905"/>
          </a:xfrm>
          <a:prstGeom prst="rect">
            <a:avLst/>
          </a:prstGeom>
        </p:spPr>
      </p:pic>
      <p:sp>
        <p:nvSpPr>
          <p:cNvPr id="9" name="Shape 3">
            <a:extLst>
              <a:ext uri="{FF2B5EF4-FFF2-40B4-BE49-F238E27FC236}">
                <a16:creationId xmlns:a16="http://schemas.microsoft.com/office/drawing/2014/main" id="{6D59B055-6705-6691-7F37-1D6EDDD728BD}"/>
              </a:ext>
            </a:extLst>
          </p:cNvPr>
          <p:cNvSpPr/>
          <p:nvPr/>
        </p:nvSpPr>
        <p:spPr>
          <a:xfrm>
            <a:off x="609905" y="1524305"/>
            <a:ext cx="2704795" cy="514807"/>
          </a:xfrm>
          <a:prstGeom prst="roundRect">
            <a:avLst>
              <a:gd name="adj" fmla="val 14742"/>
            </a:avLst>
          </a:prstGeom>
          <a:solidFill>
            <a:srgbClr val="FEF2F2"/>
          </a:solidFill>
          <a:ln w="12700">
            <a:solidFill>
              <a:srgbClr val="FCA5A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4">
            <a:extLst>
              <a:ext uri="{FF2B5EF4-FFF2-40B4-BE49-F238E27FC236}">
                <a16:creationId xmlns:a16="http://schemas.microsoft.com/office/drawing/2014/main" id="{6C20B249-757D-552B-C99C-ED95D32236A4}"/>
              </a:ext>
            </a:extLst>
          </p:cNvPr>
          <p:cNvSpPr/>
          <p:nvPr/>
        </p:nvSpPr>
        <p:spPr>
          <a:xfrm>
            <a:off x="609905" y="2286000"/>
            <a:ext cx="5352898" cy="1524305"/>
          </a:xfrm>
          <a:prstGeom prst="roundRect">
            <a:avLst>
              <a:gd name="adj" fmla="val 497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381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5">
            <a:extLst>
              <a:ext uri="{FF2B5EF4-FFF2-40B4-BE49-F238E27FC236}">
                <a16:creationId xmlns:a16="http://schemas.microsoft.com/office/drawing/2014/main" id="{2C98150B-0B1D-40B1-8321-BABFBB47FE82}"/>
              </a:ext>
            </a:extLst>
          </p:cNvPr>
          <p:cNvSpPr/>
          <p:nvPr/>
        </p:nvSpPr>
        <p:spPr>
          <a:xfrm>
            <a:off x="609905" y="2286000"/>
            <a:ext cx="5352898" cy="38405"/>
          </a:xfrm>
          <a:prstGeom prst="roundRect">
            <a:avLst>
              <a:gd name="adj" fmla="val 197618"/>
            </a:avLst>
          </a:prstGeom>
          <a:solidFill>
            <a:srgbClr val="2A9D8F"/>
          </a:solidFill>
          <a:ln w="12700">
            <a:solidFill>
              <a:srgbClr val="2A9D8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6">
            <a:extLst>
              <a:ext uri="{FF2B5EF4-FFF2-40B4-BE49-F238E27FC236}">
                <a16:creationId xmlns:a16="http://schemas.microsoft.com/office/drawing/2014/main" id="{9A67B0C9-9FCE-C9FB-F571-D1FC48CEE047}"/>
              </a:ext>
            </a:extLst>
          </p:cNvPr>
          <p:cNvSpPr/>
          <p:nvPr/>
        </p:nvSpPr>
        <p:spPr>
          <a:xfrm>
            <a:off x="6248095" y="2286000"/>
            <a:ext cx="5352898" cy="1524305"/>
          </a:xfrm>
          <a:prstGeom prst="roundRect">
            <a:avLst>
              <a:gd name="adj" fmla="val 497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381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7">
            <a:extLst>
              <a:ext uri="{FF2B5EF4-FFF2-40B4-BE49-F238E27FC236}">
                <a16:creationId xmlns:a16="http://schemas.microsoft.com/office/drawing/2014/main" id="{223A277F-D2B2-0BCC-890D-DFF2AAC6AA20}"/>
              </a:ext>
            </a:extLst>
          </p:cNvPr>
          <p:cNvSpPr/>
          <p:nvPr/>
        </p:nvSpPr>
        <p:spPr>
          <a:xfrm>
            <a:off x="6248095" y="2286000"/>
            <a:ext cx="5352898" cy="38405"/>
          </a:xfrm>
          <a:prstGeom prst="roundRect">
            <a:avLst>
              <a:gd name="adj" fmla="val 197618"/>
            </a:avLst>
          </a:prstGeom>
          <a:solidFill>
            <a:srgbClr val="D62839"/>
          </a:solidFill>
          <a:ln w="12700">
            <a:solidFill>
              <a:srgbClr val="D62839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8">
            <a:extLst>
              <a:ext uri="{FF2B5EF4-FFF2-40B4-BE49-F238E27FC236}">
                <a16:creationId xmlns:a16="http://schemas.microsoft.com/office/drawing/2014/main" id="{65BE715C-CABA-9751-9DC5-7D8052D7DE8D}"/>
              </a:ext>
            </a:extLst>
          </p:cNvPr>
          <p:cNvSpPr/>
          <p:nvPr/>
        </p:nvSpPr>
        <p:spPr>
          <a:xfrm>
            <a:off x="609905" y="3952951"/>
            <a:ext cx="5352898" cy="1524305"/>
          </a:xfrm>
          <a:prstGeom prst="roundRect">
            <a:avLst>
              <a:gd name="adj" fmla="val 497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381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9">
            <a:extLst>
              <a:ext uri="{FF2B5EF4-FFF2-40B4-BE49-F238E27FC236}">
                <a16:creationId xmlns:a16="http://schemas.microsoft.com/office/drawing/2014/main" id="{5F140F71-7243-385E-BF34-10764518F348}"/>
              </a:ext>
            </a:extLst>
          </p:cNvPr>
          <p:cNvSpPr/>
          <p:nvPr/>
        </p:nvSpPr>
        <p:spPr>
          <a:xfrm>
            <a:off x="609905" y="3952951"/>
            <a:ext cx="5352898" cy="38405"/>
          </a:xfrm>
          <a:prstGeom prst="roundRect">
            <a:avLst>
              <a:gd name="adj" fmla="val 197618"/>
            </a:avLst>
          </a:prstGeom>
          <a:solidFill>
            <a:srgbClr val="D62839"/>
          </a:solidFill>
          <a:ln w="12700">
            <a:solidFill>
              <a:srgbClr val="D62839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0">
            <a:extLst>
              <a:ext uri="{FF2B5EF4-FFF2-40B4-BE49-F238E27FC236}">
                <a16:creationId xmlns:a16="http://schemas.microsoft.com/office/drawing/2014/main" id="{85F4A12B-379C-4B00-B1A4-8D51CC174B61}"/>
              </a:ext>
            </a:extLst>
          </p:cNvPr>
          <p:cNvSpPr/>
          <p:nvPr/>
        </p:nvSpPr>
        <p:spPr>
          <a:xfrm>
            <a:off x="6248095" y="3952951"/>
            <a:ext cx="5352898" cy="1524305"/>
          </a:xfrm>
          <a:prstGeom prst="roundRect">
            <a:avLst>
              <a:gd name="adj" fmla="val 497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381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1">
            <a:extLst>
              <a:ext uri="{FF2B5EF4-FFF2-40B4-BE49-F238E27FC236}">
                <a16:creationId xmlns:a16="http://schemas.microsoft.com/office/drawing/2014/main" id="{A611CCBC-DC83-9A32-4DBF-C0D053E8D715}"/>
              </a:ext>
            </a:extLst>
          </p:cNvPr>
          <p:cNvSpPr/>
          <p:nvPr/>
        </p:nvSpPr>
        <p:spPr>
          <a:xfrm>
            <a:off x="6248095" y="3952951"/>
            <a:ext cx="5352898" cy="38405"/>
          </a:xfrm>
          <a:prstGeom prst="roundRect">
            <a:avLst>
              <a:gd name="adj" fmla="val 197618"/>
            </a:avLst>
          </a:prstGeom>
          <a:solidFill>
            <a:srgbClr val="2A9D8F"/>
          </a:solidFill>
          <a:ln w="12700">
            <a:solidFill>
              <a:srgbClr val="2A9D8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2">
            <a:extLst>
              <a:ext uri="{FF2B5EF4-FFF2-40B4-BE49-F238E27FC236}">
                <a16:creationId xmlns:a16="http://schemas.microsoft.com/office/drawing/2014/main" id="{FC84BC8D-EB38-4B9D-CAF0-414123B7DD8B}"/>
              </a:ext>
            </a:extLst>
          </p:cNvPr>
          <p:cNvSpPr/>
          <p:nvPr/>
        </p:nvSpPr>
        <p:spPr>
          <a:xfrm>
            <a:off x="609905" y="5715000"/>
            <a:ext cx="10972800" cy="857707"/>
          </a:xfrm>
          <a:prstGeom prst="roundRect">
            <a:avLst>
              <a:gd name="adj" fmla="val 8849"/>
            </a:avLst>
          </a:prstGeom>
          <a:solidFill>
            <a:srgbClr val="111827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63500" dist="38100" dir="162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Text 15">
            <a:extLst>
              <a:ext uri="{FF2B5EF4-FFF2-40B4-BE49-F238E27FC236}">
                <a16:creationId xmlns:a16="http://schemas.microsoft.com/office/drawing/2014/main" id="{96242951-3034-1954-84A0-A10FBA070A7C}"/>
              </a:ext>
            </a:extLst>
          </p:cNvPr>
          <p:cNvSpPr txBox="1"/>
          <p:nvPr/>
        </p:nvSpPr>
        <p:spPr>
          <a:xfrm>
            <a:off x="819302" y="381305"/>
            <a:ext cx="8097012" cy="4096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500" b="1">
                <a:solidFill>
                  <a:srgbClr val="11182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CLIENT CONTEXT</a:t>
            </a:r>
            <a:endParaRPr lang="en-US" sz="2500"/>
          </a:p>
        </p:txBody>
      </p:sp>
      <p:sp>
        <p:nvSpPr>
          <p:cNvPr id="22" name="Text 16">
            <a:extLst>
              <a:ext uri="{FF2B5EF4-FFF2-40B4-BE49-F238E27FC236}">
                <a16:creationId xmlns:a16="http://schemas.microsoft.com/office/drawing/2014/main" id="{8AD78B51-01AE-A81F-718B-4AB2BD51EE3B}"/>
              </a:ext>
            </a:extLst>
          </p:cNvPr>
          <p:cNvSpPr txBox="1"/>
          <p:nvPr/>
        </p:nvSpPr>
        <p:spPr>
          <a:xfrm>
            <a:off x="819302" y="822960"/>
            <a:ext cx="8097012" cy="1810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60">
                <a:solidFill>
                  <a:srgbClr val="2A9D8F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[CLIENT NAME] — Talent Challenges Identified</a:t>
            </a:r>
            <a:endParaRPr lang="en-US" sz="1200"/>
          </a:p>
        </p:txBody>
      </p:sp>
      <p:sp>
        <p:nvSpPr>
          <p:cNvPr id="23" name="Text 17">
            <a:extLst>
              <a:ext uri="{FF2B5EF4-FFF2-40B4-BE49-F238E27FC236}">
                <a16:creationId xmlns:a16="http://schemas.microsoft.com/office/drawing/2014/main" id="{7955B252-AF10-E49D-C035-04FD30D4885A}"/>
              </a:ext>
            </a:extLst>
          </p:cNvPr>
          <p:cNvSpPr txBox="1"/>
          <p:nvPr/>
        </p:nvSpPr>
        <p:spPr>
          <a:xfrm>
            <a:off x="819302" y="1079906"/>
            <a:ext cx="8097012" cy="1527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 b="1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Identified during discovery session — [DATE]</a:t>
            </a:r>
            <a:endParaRPr lang="en-US" sz="1000"/>
          </a:p>
        </p:txBody>
      </p:sp>
      <p:pic>
        <p:nvPicPr>
          <p:cNvPr id="24" name="Image 4" descr="gen-dedup-d103097e730368316f78abf5dde7d335.png">
            <a:extLst>
              <a:ext uri="{FF2B5EF4-FFF2-40B4-BE49-F238E27FC236}">
                <a16:creationId xmlns:a16="http://schemas.microsoft.com/office/drawing/2014/main" id="{D7085508-4B8C-E229-EF1F-9ABE92708D41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t="-16800" b="-16800"/>
          <a:stretch/>
        </p:blipFill>
        <p:spPr>
          <a:xfrm>
            <a:off x="819302" y="1695298"/>
            <a:ext cx="114300" cy="152705"/>
          </a:xfrm>
          <a:prstGeom prst="rect">
            <a:avLst/>
          </a:prstGeom>
        </p:spPr>
      </p:pic>
      <p:sp>
        <p:nvSpPr>
          <p:cNvPr id="25" name="Text 18">
            <a:extLst>
              <a:ext uri="{FF2B5EF4-FFF2-40B4-BE49-F238E27FC236}">
                <a16:creationId xmlns:a16="http://schemas.microsoft.com/office/drawing/2014/main" id="{CF51D9BC-6155-2E49-4BCB-FD65ECDE3723}"/>
              </a:ext>
            </a:extLst>
          </p:cNvPr>
          <p:cNvSpPr txBox="1"/>
          <p:nvPr/>
        </p:nvSpPr>
        <p:spPr>
          <a:xfrm>
            <a:off x="1067105" y="1666951"/>
            <a:ext cx="2211019" cy="2103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00" b="1">
                <a:solidFill>
                  <a:srgbClr val="D62839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[X]% Offer Drop Rate</a:t>
            </a:r>
            <a:endParaRPr lang="en-US" sz="1600"/>
          </a:p>
        </p:txBody>
      </p:sp>
      <p:sp>
        <p:nvSpPr>
          <p:cNvPr id="26" name="Text 19">
            <a:extLst>
              <a:ext uri="{FF2B5EF4-FFF2-40B4-BE49-F238E27FC236}">
                <a16:creationId xmlns:a16="http://schemas.microsoft.com/office/drawing/2014/main" id="{E03686CD-E1F9-CFBD-C015-D780C9A5D4CF}"/>
              </a:ext>
            </a:extLst>
          </p:cNvPr>
          <p:cNvSpPr txBox="1"/>
          <p:nvPr/>
        </p:nvSpPr>
        <p:spPr>
          <a:xfrm>
            <a:off x="838505" y="2476195"/>
            <a:ext cx="306324" cy="2670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100" b="1">
                <a:solidFill>
                  <a:srgbClr val="2A9D8F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01</a:t>
            </a:r>
            <a:endParaRPr lang="en-US" sz="2100"/>
          </a:p>
        </p:txBody>
      </p:sp>
      <p:sp>
        <p:nvSpPr>
          <p:cNvPr id="27" name="Text 20">
            <a:extLst>
              <a:ext uri="{FF2B5EF4-FFF2-40B4-BE49-F238E27FC236}">
                <a16:creationId xmlns:a16="http://schemas.microsoft.com/office/drawing/2014/main" id="{1469E30B-EB0F-18DA-4B6D-BF75C7688EA2}"/>
              </a:ext>
            </a:extLst>
          </p:cNvPr>
          <p:cNvSpPr txBox="1"/>
          <p:nvPr/>
        </p:nvSpPr>
        <p:spPr>
          <a:xfrm>
            <a:off x="1201522" y="2495398"/>
            <a:ext cx="1848002" cy="2862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>
                <a:solidFill>
                  <a:srgbClr val="11182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[Challenge 1 Title]</a:t>
            </a:r>
            <a:endParaRPr lang="en-US" sz="1500"/>
          </a:p>
        </p:txBody>
      </p:sp>
      <p:sp>
        <p:nvSpPr>
          <p:cNvPr id="28" name="Text 21">
            <a:extLst>
              <a:ext uri="{FF2B5EF4-FFF2-40B4-BE49-F238E27FC236}">
                <a16:creationId xmlns:a16="http://schemas.microsoft.com/office/drawing/2014/main" id="{436730F5-092B-0761-E7C4-730CDC80E5F1}"/>
              </a:ext>
            </a:extLst>
          </p:cNvPr>
          <p:cNvSpPr txBox="1"/>
          <p:nvPr/>
        </p:nvSpPr>
        <p:spPr>
          <a:xfrm>
            <a:off x="838505" y="2895905"/>
            <a:ext cx="4877410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e.g. 90-Day Notice Period — Extended windows enable offer shopping, joining-day dropouts and wasted recruitment effort.</a:t>
            </a:r>
            <a:endParaRPr lang="en-US" sz="1100"/>
          </a:p>
        </p:txBody>
      </p:sp>
      <p:sp>
        <p:nvSpPr>
          <p:cNvPr id="29" name="Text 22">
            <a:extLst>
              <a:ext uri="{FF2B5EF4-FFF2-40B4-BE49-F238E27FC236}">
                <a16:creationId xmlns:a16="http://schemas.microsoft.com/office/drawing/2014/main" id="{95865E34-69BD-20A8-8151-F62AC71D4F58}"/>
              </a:ext>
            </a:extLst>
          </p:cNvPr>
          <p:cNvSpPr txBox="1"/>
          <p:nvPr/>
        </p:nvSpPr>
        <p:spPr>
          <a:xfrm>
            <a:off x="6476695" y="2476195"/>
            <a:ext cx="340157" cy="2670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100" b="1">
                <a:solidFill>
                  <a:srgbClr val="D62839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02</a:t>
            </a:r>
            <a:endParaRPr lang="en-US" sz="2100"/>
          </a:p>
        </p:txBody>
      </p:sp>
      <p:sp>
        <p:nvSpPr>
          <p:cNvPr id="30" name="Text 23">
            <a:extLst>
              <a:ext uri="{FF2B5EF4-FFF2-40B4-BE49-F238E27FC236}">
                <a16:creationId xmlns:a16="http://schemas.microsoft.com/office/drawing/2014/main" id="{6882D94C-6A81-5E13-FBA6-AB4B1849AF98}"/>
              </a:ext>
            </a:extLst>
          </p:cNvPr>
          <p:cNvSpPr txBox="1"/>
          <p:nvPr/>
        </p:nvSpPr>
        <p:spPr>
          <a:xfrm>
            <a:off x="6875374" y="2495398"/>
            <a:ext cx="1881835" cy="2862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>
                <a:solidFill>
                  <a:srgbClr val="11182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[Challenge 2 Title]</a:t>
            </a:r>
            <a:endParaRPr lang="en-US" sz="1500"/>
          </a:p>
        </p:txBody>
      </p:sp>
      <p:sp>
        <p:nvSpPr>
          <p:cNvPr id="31" name="Text 24">
            <a:extLst>
              <a:ext uri="{FF2B5EF4-FFF2-40B4-BE49-F238E27FC236}">
                <a16:creationId xmlns:a16="http://schemas.microsoft.com/office/drawing/2014/main" id="{C5441E10-CADF-4B10-2761-499C5F9A01BE}"/>
              </a:ext>
            </a:extLst>
          </p:cNvPr>
          <p:cNvSpPr txBox="1"/>
          <p:nvPr/>
        </p:nvSpPr>
        <p:spPr>
          <a:xfrm>
            <a:off x="6476695" y="2895905"/>
            <a:ext cx="4877410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e.g. 5-Day WFO Resistance — Post-COVID candidates resist full office return; qualified talent pool shrinks for mandatory in-office roles.</a:t>
            </a:r>
            <a:endParaRPr lang="en-US" sz="1100"/>
          </a:p>
        </p:txBody>
      </p:sp>
      <p:sp>
        <p:nvSpPr>
          <p:cNvPr id="32" name="Text 25">
            <a:extLst>
              <a:ext uri="{FF2B5EF4-FFF2-40B4-BE49-F238E27FC236}">
                <a16:creationId xmlns:a16="http://schemas.microsoft.com/office/drawing/2014/main" id="{E6D8B6CA-D62D-02E0-163A-AC7F845F4194}"/>
              </a:ext>
            </a:extLst>
          </p:cNvPr>
          <p:cNvSpPr txBox="1"/>
          <p:nvPr/>
        </p:nvSpPr>
        <p:spPr>
          <a:xfrm>
            <a:off x="838505" y="4143146"/>
            <a:ext cx="340157" cy="2670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100" b="1">
                <a:solidFill>
                  <a:srgbClr val="D62839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03</a:t>
            </a:r>
            <a:endParaRPr lang="en-US" sz="2100"/>
          </a:p>
        </p:txBody>
      </p:sp>
      <p:sp>
        <p:nvSpPr>
          <p:cNvPr id="33" name="Text 26">
            <a:extLst>
              <a:ext uri="{FF2B5EF4-FFF2-40B4-BE49-F238E27FC236}">
                <a16:creationId xmlns:a16="http://schemas.microsoft.com/office/drawing/2014/main" id="{C2C216A8-96F5-A7FC-C9A7-44ACB776AC2D}"/>
              </a:ext>
            </a:extLst>
          </p:cNvPr>
          <p:cNvSpPr txBox="1"/>
          <p:nvPr/>
        </p:nvSpPr>
        <p:spPr>
          <a:xfrm>
            <a:off x="1236269" y="4162349"/>
            <a:ext cx="1881835" cy="2862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>
                <a:solidFill>
                  <a:srgbClr val="11182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[Challenge 3 Title]</a:t>
            </a:r>
            <a:endParaRPr lang="en-US" sz="1500"/>
          </a:p>
        </p:txBody>
      </p:sp>
      <p:sp>
        <p:nvSpPr>
          <p:cNvPr id="34" name="Text 27">
            <a:extLst>
              <a:ext uri="{FF2B5EF4-FFF2-40B4-BE49-F238E27FC236}">
                <a16:creationId xmlns:a16="http://schemas.microsoft.com/office/drawing/2014/main" id="{86900820-89F2-D72F-29D7-39F328CD9491}"/>
              </a:ext>
            </a:extLst>
          </p:cNvPr>
          <p:cNvSpPr txBox="1"/>
          <p:nvPr/>
        </p:nvSpPr>
        <p:spPr>
          <a:xfrm>
            <a:off x="838505" y="4562856"/>
            <a:ext cx="4877410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e.g. Niche Skill Pool — 50% of hires are CAs (≤5 yrs exp). Intense competition from Big 4s and other captives for limited talent.</a:t>
            </a:r>
            <a:endParaRPr lang="en-US" sz="1100"/>
          </a:p>
        </p:txBody>
      </p:sp>
      <p:sp>
        <p:nvSpPr>
          <p:cNvPr id="35" name="Text 28">
            <a:extLst>
              <a:ext uri="{FF2B5EF4-FFF2-40B4-BE49-F238E27FC236}">
                <a16:creationId xmlns:a16="http://schemas.microsoft.com/office/drawing/2014/main" id="{4EE1B485-5C1B-9046-DA53-C78DFF78B888}"/>
              </a:ext>
            </a:extLst>
          </p:cNvPr>
          <p:cNvSpPr txBox="1"/>
          <p:nvPr/>
        </p:nvSpPr>
        <p:spPr>
          <a:xfrm>
            <a:off x="6476695" y="4143146"/>
            <a:ext cx="342900" cy="2670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100" b="1">
                <a:solidFill>
                  <a:srgbClr val="2A9D8F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04</a:t>
            </a:r>
            <a:endParaRPr lang="en-US" sz="2100"/>
          </a:p>
        </p:txBody>
      </p:sp>
      <p:sp>
        <p:nvSpPr>
          <p:cNvPr id="36" name="Text 29">
            <a:extLst>
              <a:ext uri="{FF2B5EF4-FFF2-40B4-BE49-F238E27FC236}">
                <a16:creationId xmlns:a16="http://schemas.microsoft.com/office/drawing/2014/main" id="{D7C0D921-403B-9A10-F944-DB9BD69AD35A}"/>
              </a:ext>
            </a:extLst>
          </p:cNvPr>
          <p:cNvSpPr txBox="1"/>
          <p:nvPr/>
        </p:nvSpPr>
        <p:spPr>
          <a:xfrm>
            <a:off x="6878117" y="4162349"/>
            <a:ext cx="1881835" cy="2862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>
                <a:solidFill>
                  <a:srgbClr val="11182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[Challenge 4 Title]</a:t>
            </a:r>
            <a:endParaRPr lang="en-US" sz="1500"/>
          </a:p>
        </p:txBody>
      </p:sp>
      <p:sp>
        <p:nvSpPr>
          <p:cNvPr id="37" name="Text 30">
            <a:extLst>
              <a:ext uri="{FF2B5EF4-FFF2-40B4-BE49-F238E27FC236}">
                <a16:creationId xmlns:a16="http://schemas.microsoft.com/office/drawing/2014/main" id="{503548BD-771C-288E-A61A-80EE65897C33}"/>
              </a:ext>
            </a:extLst>
          </p:cNvPr>
          <p:cNvSpPr txBox="1"/>
          <p:nvPr/>
        </p:nvSpPr>
        <p:spPr>
          <a:xfrm>
            <a:off x="6476695" y="4562856"/>
            <a:ext cx="4877410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e.g. Sporadic Demand — 8–10 roles max per BU creates unpredictable, low-volume patterns. Hard to maintain dedicated pipeline.</a:t>
            </a:r>
            <a:endParaRPr lang="en-US" sz="1100"/>
          </a:p>
        </p:txBody>
      </p:sp>
      <p:sp>
        <p:nvSpPr>
          <p:cNvPr id="38" name="Text 31">
            <a:extLst>
              <a:ext uri="{FF2B5EF4-FFF2-40B4-BE49-F238E27FC236}">
                <a16:creationId xmlns:a16="http://schemas.microsoft.com/office/drawing/2014/main" id="{BFD1044B-AF7C-29D6-9D49-92FC4101D780}"/>
              </a:ext>
            </a:extLst>
          </p:cNvPr>
          <p:cNvSpPr txBox="1"/>
          <p:nvPr/>
        </p:nvSpPr>
        <p:spPr>
          <a:xfrm>
            <a:off x="972007" y="5857646"/>
            <a:ext cx="2553005" cy="2578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00" b="1">
                <a:solidFill>
                  <a:srgbClr val="2A9D8F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[X] people strong</a:t>
            </a:r>
            <a:endParaRPr lang="en-US" sz="1600"/>
          </a:p>
        </p:txBody>
      </p:sp>
      <p:sp>
        <p:nvSpPr>
          <p:cNvPr id="39" name="Text 32">
            <a:extLst>
              <a:ext uri="{FF2B5EF4-FFF2-40B4-BE49-F238E27FC236}">
                <a16:creationId xmlns:a16="http://schemas.microsoft.com/office/drawing/2014/main" id="{F752953E-9C91-76AF-8997-77F80270438D}"/>
              </a:ext>
            </a:extLst>
          </p:cNvPr>
          <p:cNvSpPr txBox="1"/>
          <p:nvPr/>
        </p:nvSpPr>
        <p:spPr>
          <a:xfrm>
            <a:off x="972007" y="6147511"/>
            <a:ext cx="2553005" cy="1810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>
                <a:solidFill>
                  <a:srgbClr val="E5E7EB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Org size</a:t>
            </a:r>
            <a:endParaRPr lang="en-US" sz="1000"/>
          </a:p>
        </p:txBody>
      </p:sp>
      <p:sp>
        <p:nvSpPr>
          <p:cNvPr id="40" name="Text 33">
            <a:extLst>
              <a:ext uri="{FF2B5EF4-FFF2-40B4-BE49-F238E27FC236}">
                <a16:creationId xmlns:a16="http://schemas.microsoft.com/office/drawing/2014/main" id="{52F0515C-5D54-0F4E-E602-55BD8F123E74}"/>
              </a:ext>
            </a:extLst>
          </p:cNvPr>
          <p:cNvSpPr txBox="1"/>
          <p:nvPr/>
        </p:nvSpPr>
        <p:spPr>
          <a:xfrm>
            <a:off x="3638398" y="5857646"/>
            <a:ext cx="2830982" cy="2578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00" b="1">
                <a:solidFill>
                  <a:srgbClr val="D62839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[X–X] hires in [YEAR]</a:t>
            </a:r>
            <a:endParaRPr lang="en-US" sz="1600"/>
          </a:p>
        </p:txBody>
      </p:sp>
      <p:sp>
        <p:nvSpPr>
          <p:cNvPr id="41" name="Text 34">
            <a:extLst>
              <a:ext uri="{FF2B5EF4-FFF2-40B4-BE49-F238E27FC236}">
                <a16:creationId xmlns:a16="http://schemas.microsoft.com/office/drawing/2014/main" id="{BD6E3207-CDF6-22BC-ED87-28A6D5EB1362}"/>
              </a:ext>
            </a:extLst>
          </p:cNvPr>
          <p:cNvSpPr txBox="1"/>
          <p:nvPr/>
        </p:nvSpPr>
        <p:spPr>
          <a:xfrm>
            <a:off x="3638398" y="6147511"/>
            <a:ext cx="2553005" cy="1810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>
                <a:solidFill>
                  <a:srgbClr val="E5E7EB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Hiring target</a:t>
            </a:r>
            <a:endParaRPr lang="en-US" sz="1000"/>
          </a:p>
        </p:txBody>
      </p:sp>
      <p:sp>
        <p:nvSpPr>
          <p:cNvPr id="42" name="Text 35">
            <a:extLst>
              <a:ext uri="{FF2B5EF4-FFF2-40B4-BE49-F238E27FC236}">
                <a16:creationId xmlns:a16="http://schemas.microsoft.com/office/drawing/2014/main" id="{90C151A5-5398-CFF6-21BB-9B74144D15B7}"/>
              </a:ext>
            </a:extLst>
          </p:cNvPr>
          <p:cNvSpPr txBox="1"/>
          <p:nvPr/>
        </p:nvSpPr>
        <p:spPr>
          <a:xfrm>
            <a:off x="6305702" y="5857646"/>
            <a:ext cx="2830982" cy="2578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00" b="1">
                <a:solidFill>
                  <a:srgbClr val="2A9D8F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[X]% junior workforce</a:t>
            </a:r>
            <a:endParaRPr lang="en-US" sz="1600"/>
          </a:p>
        </p:txBody>
      </p:sp>
      <p:sp>
        <p:nvSpPr>
          <p:cNvPr id="43" name="Text 36">
            <a:extLst>
              <a:ext uri="{FF2B5EF4-FFF2-40B4-BE49-F238E27FC236}">
                <a16:creationId xmlns:a16="http://schemas.microsoft.com/office/drawing/2014/main" id="{01F18857-4EE3-FC89-750D-B7FF1BFF20C0}"/>
              </a:ext>
            </a:extLst>
          </p:cNvPr>
          <p:cNvSpPr txBox="1"/>
          <p:nvPr/>
        </p:nvSpPr>
        <p:spPr>
          <a:xfrm>
            <a:off x="6305702" y="6147511"/>
            <a:ext cx="2553005" cy="1810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>
                <a:solidFill>
                  <a:srgbClr val="E5E7EB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Level mix</a:t>
            </a:r>
            <a:endParaRPr lang="en-US" sz="1000"/>
          </a:p>
        </p:txBody>
      </p:sp>
      <p:sp>
        <p:nvSpPr>
          <p:cNvPr id="44" name="Text 37">
            <a:extLst>
              <a:ext uri="{FF2B5EF4-FFF2-40B4-BE49-F238E27FC236}">
                <a16:creationId xmlns:a16="http://schemas.microsoft.com/office/drawing/2014/main" id="{201C60D3-E6FD-737E-B1AD-3D48A0052972}"/>
              </a:ext>
            </a:extLst>
          </p:cNvPr>
          <p:cNvSpPr txBox="1"/>
          <p:nvPr/>
        </p:nvSpPr>
        <p:spPr>
          <a:xfrm>
            <a:off x="8973007" y="5857646"/>
            <a:ext cx="3038551" cy="2578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00" b="1">
                <a:solidFill>
                  <a:srgbClr val="D62839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[City] extension of [HQ]</a:t>
            </a:r>
            <a:endParaRPr lang="en-US" sz="1600"/>
          </a:p>
        </p:txBody>
      </p:sp>
      <p:sp>
        <p:nvSpPr>
          <p:cNvPr id="45" name="Text 38">
            <a:extLst>
              <a:ext uri="{FF2B5EF4-FFF2-40B4-BE49-F238E27FC236}">
                <a16:creationId xmlns:a16="http://schemas.microsoft.com/office/drawing/2014/main" id="{C01B6739-62F3-695B-659F-779A403E97F6}"/>
              </a:ext>
            </a:extLst>
          </p:cNvPr>
          <p:cNvSpPr txBox="1"/>
          <p:nvPr/>
        </p:nvSpPr>
        <p:spPr>
          <a:xfrm>
            <a:off x="8973007" y="6147511"/>
            <a:ext cx="2553005" cy="1810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>
                <a:solidFill>
                  <a:srgbClr val="E5E7EB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GCC mandate</a:t>
            </a:r>
            <a:endParaRPr lang="en-US" sz="1000"/>
          </a:p>
        </p:txBody>
      </p:sp>
    </p:spTree>
    <p:extLst>
      <p:ext uri="{BB962C8B-B14F-4D97-AF65-F5344CB8AC3E}">
        <p14:creationId xmlns:p14="http://schemas.microsoft.com/office/powerpoint/2010/main" val="88197124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615142-E6EF-BA67-50C5-BEE670AE89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309BB6A9-53AC-0120-3CEF-05E25FFC92F1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682EBB72-A6BF-5CEB-4F2C-B1542E62424C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6C715D4C-1AF4-E120-D15D-EA2316DEC404}"/>
              </a:ext>
            </a:extLst>
          </p:cNvPr>
          <p:cNvSpPr/>
          <p:nvPr/>
        </p:nvSpPr>
        <p:spPr>
          <a:xfrm>
            <a:off x="9334195" y="-476402"/>
            <a:ext cx="3333902" cy="3333902"/>
          </a:xfrm>
          <a:prstGeom prst="ellipse">
            <a:avLst/>
          </a:prstGeom>
          <a:solidFill>
            <a:srgbClr val="2A9D8F">
              <a:alpha val="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5" name="Image 0" descr="gen-dedup-16b8f91e6d72561d8e86691bd4589640.svg">
            <a:extLst>
              <a:ext uri="{FF2B5EF4-FFF2-40B4-BE49-F238E27FC236}">
                <a16:creationId xmlns:a16="http://schemas.microsoft.com/office/drawing/2014/main" id="{10665FFC-7191-3EE9-E262-A0EE2B1630B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381305" y="4572000"/>
            <a:ext cx="1904695" cy="1904695"/>
          </a:xfrm>
          <a:prstGeom prst="rect">
            <a:avLst/>
          </a:prstGeom>
        </p:spPr>
      </p:pic>
      <p:pic>
        <p:nvPicPr>
          <p:cNvPr id="6" name="Image 1" descr="gen-dedup-c43d37ec6b749a14b46300e23657ecc9.png">
            <a:extLst>
              <a:ext uri="{FF2B5EF4-FFF2-40B4-BE49-F238E27FC236}">
                <a16:creationId xmlns:a16="http://schemas.microsoft.com/office/drawing/2014/main" id="{350E297F-CAF1-4144-06DE-2E7C7E9C5BE2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-2" r="-2"/>
          <a:stretch/>
        </p:blipFill>
        <p:spPr>
          <a:xfrm>
            <a:off x="0" y="6743700"/>
            <a:ext cx="8128102" cy="114300"/>
          </a:xfrm>
          <a:prstGeom prst="rect">
            <a:avLst/>
          </a:prstGeom>
        </p:spPr>
      </p:pic>
      <p:pic>
        <p:nvPicPr>
          <p:cNvPr id="7" name="Image 2" descr="gen-dedup-ccb3fbefd7198ae67d29d234b7ba9a3d.png">
            <a:extLst>
              <a:ext uri="{FF2B5EF4-FFF2-40B4-BE49-F238E27FC236}">
                <a16:creationId xmlns:a16="http://schemas.microsoft.com/office/drawing/2014/main" id="{5FEA7D47-47C8-A1C7-8C9B-341CBB70B236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-4" b="-4"/>
          <a:stretch/>
        </p:blipFill>
        <p:spPr>
          <a:xfrm>
            <a:off x="8128102" y="6743700"/>
            <a:ext cx="4063594" cy="114300"/>
          </a:xfrm>
          <a:prstGeom prst="rect">
            <a:avLst/>
          </a:prstGeom>
        </p:spPr>
      </p:pic>
      <p:pic>
        <p:nvPicPr>
          <p:cNvPr id="8" name="Image 3" descr="gen-dedup-c72c85b07e3f177762516dd89615ea68.png">
            <a:extLst>
              <a:ext uri="{FF2B5EF4-FFF2-40B4-BE49-F238E27FC236}">
                <a16:creationId xmlns:a16="http://schemas.microsoft.com/office/drawing/2014/main" id="{DBB914E7-7CAC-44B2-57A7-E24AA3243054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t="-217" b="-217"/>
          <a:stretch/>
        </p:blipFill>
        <p:spPr>
          <a:xfrm>
            <a:off x="457200" y="439826"/>
            <a:ext cx="75895" cy="476402"/>
          </a:xfrm>
          <a:prstGeom prst="rect">
            <a:avLst/>
          </a:prstGeom>
        </p:spPr>
      </p:pic>
      <p:sp>
        <p:nvSpPr>
          <p:cNvPr id="9" name="Text 3">
            <a:extLst>
              <a:ext uri="{FF2B5EF4-FFF2-40B4-BE49-F238E27FC236}">
                <a16:creationId xmlns:a16="http://schemas.microsoft.com/office/drawing/2014/main" id="{1C51DAEE-6AF9-9607-3EE6-CAEBF6FCD705}"/>
              </a:ext>
            </a:extLst>
          </p:cNvPr>
          <p:cNvSpPr txBox="1"/>
          <p:nvPr/>
        </p:nvSpPr>
        <p:spPr>
          <a:xfrm>
            <a:off x="724205" y="286207"/>
            <a:ext cx="5162702" cy="4197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300" b="1" kern="0" spc="-82">
                <a:solidFill>
                  <a:srgbClr val="11182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TAILORED APPROACH</a:t>
            </a:r>
            <a:endParaRPr lang="en-US" sz="3300"/>
          </a:p>
        </p:txBody>
      </p:sp>
      <p:sp>
        <p:nvSpPr>
          <p:cNvPr id="10" name="Text 4">
            <a:extLst>
              <a:ext uri="{FF2B5EF4-FFF2-40B4-BE49-F238E27FC236}">
                <a16:creationId xmlns:a16="http://schemas.microsoft.com/office/drawing/2014/main" id="{46C6FDC3-1406-99B3-22CD-791C2A6B0DD2}"/>
              </a:ext>
            </a:extLst>
          </p:cNvPr>
          <p:cNvSpPr txBox="1"/>
          <p:nvPr/>
        </p:nvSpPr>
        <p:spPr>
          <a:xfrm>
            <a:off x="724205" y="761695"/>
            <a:ext cx="5848502" cy="3145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00" b="1" kern="0" spc="81" dirty="0" err="1">
                <a:solidFill>
                  <a:srgbClr val="2A9D8F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JoulestoWatts</a:t>
            </a:r>
            <a:r>
              <a:rPr lang="en-US" sz="1600" b="1" kern="0" spc="81" dirty="0">
                <a:solidFill>
                  <a:srgbClr val="2A9D8F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 — Tailored Approach For [Client]</a:t>
            </a:r>
            <a:endParaRPr lang="en-US" sz="1600" dirty="0"/>
          </a:p>
        </p:txBody>
      </p:sp>
      <p:sp>
        <p:nvSpPr>
          <p:cNvPr id="11" name="Shape 5">
            <a:extLst>
              <a:ext uri="{FF2B5EF4-FFF2-40B4-BE49-F238E27FC236}">
                <a16:creationId xmlns:a16="http://schemas.microsoft.com/office/drawing/2014/main" id="{1DF6EAD2-5567-3E85-2BB2-10F941B5BE5C}"/>
              </a:ext>
            </a:extLst>
          </p:cNvPr>
          <p:cNvSpPr/>
          <p:nvPr/>
        </p:nvSpPr>
        <p:spPr>
          <a:xfrm>
            <a:off x="724205" y="1185062"/>
            <a:ext cx="19202" cy="267005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6">
            <a:extLst>
              <a:ext uri="{FF2B5EF4-FFF2-40B4-BE49-F238E27FC236}">
                <a16:creationId xmlns:a16="http://schemas.microsoft.com/office/drawing/2014/main" id="{06C39EE7-0BFF-562D-E09A-AE50EF2C38F7}"/>
              </a:ext>
            </a:extLst>
          </p:cNvPr>
          <p:cNvSpPr txBox="1"/>
          <p:nvPr/>
        </p:nvSpPr>
        <p:spPr>
          <a:xfrm>
            <a:off x="857707" y="1185062"/>
            <a:ext cx="8172907" cy="267005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0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Addressing [CLIENT]'s talent challenges with precision.</a:t>
            </a:r>
            <a:endParaRPr lang="en-US" sz="1300"/>
          </a:p>
        </p:txBody>
      </p:sp>
      <p:pic>
        <p:nvPicPr>
          <p:cNvPr id="15" name="Image 4" descr="gen-dedup-95d112f40cf296f81bdd24a7d4987a4a.png">
            <a:extLst>
              <a:ext uri="{FF2B5EF4-FFF2-40B4-BE49-F238E27FC236}">
                <a16:creationId xmlns:a16="http://schemas.microsoft.com/office/drawing/2014/main" id="{6D5E7822-1699-930D-7FA1-07E94783FC62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-7" r="-7"/>
          <a:stretch/>
        </p:blipFill>
        <p:spPr>
          <a:xfrm>
            <a:off x="457200" y="1571854"/>
            <a:ext cx="5524805" cy="2428646"/>
          </a:xfrm>
          <a:prstGeom prst="rect">
            <a:avLst/>
          </a:prstGeom>
        </p:spPr>
      </p:pic>
      <p:sp>
        <p:nvSpPr>
          <p:cNvPr id="16" name="Shape 9">
            <a:extLst>
              <a:ext uri="{FF2B5EF4-FFF2-40B4-BE49-F238E27FC236}">
                <a16:creationId xmlns:a16="http://schemas.microsoft.com/office/drawing/2014/main" id="{23DFA1FD-6024-96F8-30D8-5F2F1DCEFBB2}"/>
              </a:ext>
            </a:extLst>
          </p:cNvPr>
          <p:cNvSpPr/>
          <p:nvPr/>
        </p:nvSpPr>
        <p:spPr>
          <a:xfrm>
            <a:off x="5219395" y="1571854"/>
            <a:ext cx="761695" cy="761695"/>
          </a:xfrm>
          <a:prstGeom prst="rect">
            <a:avLst/>
          </a:prstGeom>
          <a:solidFill>
            <a:srgbClr val="000000">
              <a:alpha val="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0">
            <a:extLst>
              <a:ext uri="{FF2B5EF4-FFF2-40B4-BE49-F238E27FC236}">
                <a16:creationId xmlns:a16="http://schemas.microsoft.com/office/drawing/2014/main" id="{A863C90A-CE16-12AA-698C-0AF334F0C167}"/>
              </a:ext>
            </a:extLst>
          </p:cNvPr>
          <p:cNvSpPr/>
          <p:nvPr/>
        </p:nvSpPr>
        <p:spPr>
          <a:xfrm>
            <a:off x="685800" y="1848002"/>
            <a:ext cx="428854" cy="428854"/>
          </a:xfrm>
          <a:prstGeom prst="roundRect">
            <a:avLst>
              <a:gd name="adj" fmla="val 22175"/>
            </a:avLst>
          </a:prstGeom>
          <a:solidFill>
            <a:srgbClr val="2A9D8F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8" name="Image 5" descr="gen-dedup-05ba22bc3988e5bbe03600cefb5c4c1e.png">
            <a:extLst>
              <a:ext uri="{FF2B5EF4-FFF2-40B4-BE49-F238E27FC236}">
                <a16:creationId xmlns:a16="http://schemas.microsoft.com/office/drawing/2014/main" id="{E41CE03E-C47D-C9A0-A6FB-C97036914D01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t="-13131" b="-13131"/>
          <a:stretch/>
        </p:blipFill>
        <p:spPr>
          <a:xfrm>
            <a:off x="809244" y="1947672"/>
            <a:ext cx="181051" cy="228600"/>
          </a:xfrm>
          <a:prstGeom prst="rect">
            <a:avLst/>
          </a:prstGeom>
        </p:spPr>
      </p:pic>
      <p:sp>
        <p:nvSpPr>
          <p:cNvPr id="19" name="Text 11">
            <a:extLst>
              <a:ext uri="{FF2B5EF4-FFF2-40B4-BE49-F238E27FC236}">
                <a16:creationId xmlns:a16="http://schemas.microsoft.com/office/drawing/2014/main" id="{3B0171A3-2D1D-15A0-A793-09400DC0C07F}"/>
              </a:ext>
            </a:extLst>
          </p:cNvPr>
          <p:cNvSpPr txBox="1"/>
          <p:nvPr/>
        </p:nvSpPr>
        <p:spPr>
          <a:xfrm>
            <a:off x="5508346" y="1772107"/>
            <a:ext cx="451714" cy="5148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700" b="1">
                <a:solidFill>
                  <a:srgbClr val="F3F4F6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01</a:t>
            </a:r>
            <a:endParaRPr lang="en-US" sz="2700"/>
          </a:p>
        </p:txBody>
      </p:sp>
      <p:sp>
        <p:nvSpPr>
          <p:cNvPr id="20" name="Text 12">
            <a:extLst>
              <a:ext uri="{FF2B5EF4-FFF2-40B4-BE49-F238E27FC236}">
                <a16:creationId xmlns:a16="http://schemas.microsoft.com/office/drawing/2014/main" id="{3DC7178B-0677-F7E2-9E49-2B4844FE134F}"/>
              </a:ext>
            </a:extLst>
          </p:cNvPr>
          <p:cNvSpPr txBox="1"/>
          <p:nvPr/>
        </p:nvSpPr>
        <p:spPr>
          <a:xfrm>
            <a:off x="685800" y="2391156"/>
            <a:ext cx="5067605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b="1">
                <a:solidFill>
                  <a:srgbClr val="1F293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[Solution 1 Title]</a:t>
            </a:r>
            <a:endParaRPr lang="en-US" sz="1800"/>
          </a:p>
        </p:txBody>
      </p:sp>
      <p:sp>
        <p:nvSpPr>
          <p:cNvPr id="21" name="Text 13">
            <a:extLst>
              <a:ext uri="{FF2B5EF4-FFF2-40B4-BE49-F238E27FC236}">
                <a16:creationId xmlns:a16="http://schemas.microsoft.com/office/drawing/2014/main" id="{EEA57806-EC40-49D0-D6C2-2D98B4DFBEDC}"/>
              </a:ext>
            </a:extLst>
          </p:cNvPr>
          <p:cNvSpPr txBox="1"/>
          <p:nvPr/>
        </p:nvSpPr>
        <p:spPr>
          <a:xfrm>
            <a:off x="685800" y="2779776"/>
            <a:ext cx="5067605" cy="6099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e.g. Dedicated CA Talent Pipeline — Pre-mapped, warm bench of Chartered Accountants across PE, renewables, infra. Proactive sourcing from campus, Big 4, competitor pools — ready before demand hits.</a:t>
            </a:r>
            <a:endParaRPr lang="en-US" sz="1100"/>
          </a:p>
        </p:txBody>
      </p:sp>
      <p:sp>
        <p:nvSpPr>
          <p:cNvPr id="22" name="Shape 14">
            <a:extLst>
              <a:ext uri="{FF2B5EF4-FFF2-40B4-BE49-F238E27FC236}">
                <a16:creationId xmlns:a16="http://schemas.microsoft.com/office/drawing/2014/main" id="{2A23ACFE-017B-B89F-192A-C2CE4BE601FC}"/>
              </a:ext>
            </a:extLst>
          </p:cNvPr>
          <p:cNvSpPr/>
          <p:nvPr/>
        </p:nvSpPr>
        <p:spPr>
          <a:xfrm>
            <a:off x="685800" y="3387852"/>
            <a:ext cx="5067605" cy="437998"/>
          </a:xfrm>
          <a:prstGeom prst="roundRect">
            <a:avLst>
              <a:gd name="adj" fmla="val 17328"/>
            </a:avLst>
          </a:prstGeom>
          <a:solidFill>
            <a:srgbClr val="F9FAF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Shape 15">
            <a:extLst>
              <a:ext uri="{FF2B5EF4-FFF2-40B4-BE49-F238E27FC236}">
                <a16:creationId xmlns:a16="http://schemas.microsoft.com/office/drawing/2014/main" id="{E5DAC0CC-8B22-00B0-D00C-BD9FC8CEF060}"/>
              </a:ext>
            </a:extLst>
          </p:cNvPr>
          <p:cNvSpPr/>
          <p:nvPr/>
        </p:nvSpPr>
        <p:spPr>
          <a:xfrm>
            <a:off x="685800" y="3387852"/>
            <a:ext cx="38405" cy="437998"/>
          </a:xfrm>
          <a:prstGeom prst="roundRect">
            <a:avLst>
              <a:gd name="adj" fmla="val 197618"/>
            </a:avLst>
          </a:prstGeom>
          <a:solidFill>
            <a:srgbClr val="000000"/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16">
            <a:extLst>
              <a:ext uri="{FF2B5EF4-FFF2-40B4-BE49-F238E27FC236}">
                <a16:creationId xmlns:a16="http://schemas.microsoft.com/office/drawing/2014/main" id="{CBFA6F2A-4AA8-1C83-3E75-78E595CCE462}"/>
              </a:ext>
            </a:extLst>
          </p:cNvPr>
          <p:cNvSpPr txBox="1"/>
          <p:nvPr/>
        </p:nvSpPr>
        <p:spPr>
          <a:xfrm>
            <a:off x="1057046" y="3502152"/>
            <a:ext cx="4543654" cy="2103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 b="1">
                <a:solidFill>
                  <a:srgbClr val="37415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Solves: Niche Talent + Sporadic Demand</a:t>
            </a:r>
            <a:endParaRPr lang="en-US" sz="1000"/>
          </a:p>
        </p:txBody>
      </p:sp>
      <p:pic>
        <p:nvPicPr>
          <p:cNvPr id="25" name="Image 6" descr="gen-dedup-b5a86b1bccfd13e1ee7bd0a5c9907751.png">
            <a:extLst>
              <a:ext uri="{FF2B5EF4-FFF2-40B4-BE49-F238E27FC236}">
                <a16:creationId xmlns:a16="http://schemas.microsoft.com/office/drawing/2014/main" id="{9D83D374-D078-A731-7447-EAC7EC744FEE}"/>
              </a:ext>
            </a:extLst>
          </p:cNvPr>
          <p:cNvPicPr>
            <a:picLocks noChangeAspect="1"/>
          </p:cNvPicPr>
          <p:nvPr/>
        </p:nvPicPr>
        <p:blipFill>
          <a:blip r:embed="rId9"/>
          <a:srcRect t="-13478" b="-13478"/>
          <a:stretch/>
        </p:blipFill>
        <p:spPr>
          <a:xfrm>
            <a:off x="875995" y="3537814"/>
            <a:ext cx="105156" cy="133502"/>
          </a:xfrm>
          <a:prstGeom prst="rect">
            <a:avLst/>
          </a:prstGeom>
        </p:spPr>
      </p:pic>
      <p:pic>
        <p:nvPicPr>
          <p:cNvPr id="26" name="Image 7" descr="gen-dedup-95d112f40cf296f81bdd24a7d4987a4a.png">
            <a:extLst>
              <a:ext uri="{FF2B5EF4-FFF2-40B4-BE49-F238E27FC236}">
                <a16:creationId xmlns:a16="http://schemas.microsoft.com/office/drawing/2014/main" id="{98F42680-DF22-8FF5-A7B8-81C23A5BF5F6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-7" r="-7"/>
          <a:stretch/>
        </p:blipFill>
        <p:spPr>
          <a:xfrm>
            <a:off x="6210605" y="1571854"/>
            <a:ext cx="5524805" cy="2428646"/>
          </a:xfrm>
          <a:prstGeom prst="rect">
            <a:avLst/>
          </a:prstGeom>
        </p:spPr>
      </p:pic>
      <p:sp>
        <p:nvSpPr>
          <p:cNvPr id="27" name="Shape 17">
            <a:extLst>
              <a:ext uri="{FF2B5EF4-FFF2-40B4-BE49-F238E27FC236}">
                <a16:creationId xmlns:a16="http://schemas.microsoft.com/office/drawing/2014/main" id="{59CDE63D-E081-7A87-608B-EE7D13539150}"/>
              </a:ext>
            </a:extLst>
          </p:cNvPr>
          <p:cNvSpPr/>
          <p:nvPr/>
        </p:nvSpPr>
        <p:spPr>
          <a:xfrm>
            <a:off x="10972800" y="1571854"/>
            <a:ext cx="761695" cy="761695"/>
          </a:xfrm>
          <a:prstGeom prst="rect">
            <a:avLst/>
          </a:prstGeom>
          <a:solidFill>
            <a:srgbClr val="000000">
              <a:alpha val="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Shape 18">
            <a:extLst>
              <a:ext uri="{FF2B5EF4-FFF2-40B4-BE49-F238E27FC236}">
                <a16:creationId xmlns:a16="http://schemas.microsoft.com/office/drawing/2014/main" id="{1D219710-C70F-7BF9-DC5C-EC4178B5A333}"/>
              </a:ext>
            </a:extLst>
          </p:cNvPr>
          <p:cNvSpPr/>
          <p:nvPr/>
        </p:nvSpPr>
        <p:spPr>
          <a:xfrm>
            <a:off x="6439205" y="1848002"/>
            <a:ext cx="428854" cy="428854"/>
          </a:xfrm>
          <a:prstGeom prst="roundRect">
            <a:avLst>
              <a:gd name="adj" fmla="val 22175"/>
            </a:avLst>
          </a:prstGeom>
          <a:solidFill>
            <a:srgbClr val="D62839">
              <a:alpha val="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9" name="Image 8" descr="gen-dedup-bcfe80973f057fc6d9d91d2ed63b3815.png">
            <a:extLst>
              <a:ext uri="{FF2B5EF4-FFF2-40B4-BE49-F238E27FC236}">
                <a16:creationId xmlns:a16="http://schemas.microsoft.com/office/drawing/2014/main" id="{CB0C3DF3-A0E0-B95D-E139-66C6063BB6FE}"/>
              </a:ext>
            </a:extLst>
          </p:cNvPr>
          <p:cNvPicPr>
            <a:picLocks noChangeAspect="1"/>
          </p:cNvPicPr>
          <p:nvPr/>
        </p:nvPicPr>
        <p:blipFill>
          <a:blip r:embed="rId10"/>
          <a:srcRect t="-28914" b="-28914"/>
          <a:stretch/>
        </p:blipFill>
        <p:spPr>
          <a:xfrm>
            <a:off x="6562649" y="1947672"/>
            <a:ext cx="181051" cy="228600"/>
          </a:xfrm>
          <a:prstGeom prst="rect">
            <a:avLst/>
          </a:prstGeom>
        </p:spPr>
      </p:pic>
      <p:sp>
        <p:nvSpPr>
          <p:cNvPr id="30" name="Text 19">
            <a:extLst>
              <a:ext uri="{FF2B5EF4-FFF2-40B4-BE49-F238E27FC236}">
                <a16:creationId xmlns:a16="http://schemas.microsoft.com/office/drawing/2014/main" id="{50F73662-D535-3E4F-31AE-AED70562AA01}"/>
              </a:ext>
            </a:extLst>
          </p:cNvPr>
          <p:cNvSpPr txBox="1"/>
          <p:nvPr/>
        </p:nvSpPr>
        <p:spPr>
          <a:xfrm>
            <a:off x="11217859" y="1772107"/>
            <a:ext cx="455371" cy="5148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700" b="1">
                <a:solidFill>
                  <a:srgbClr val="F3F4F6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02</a:t>
            </a:r>
            <a:endParaRPr lang="en-US" sz="2700"/>
          </a:p>
        </p:txBody>
      </p:sp>
      <p:sp>
        <p:nvSpPr>
          <p:cNvPr id="31" name="Text 20">
            <a:extLst>
              <a:ext uri="{FF2B5EF4-FFF2-40B4-BE49-F238E27FC236}">
                <a16:creationId xmlns:a16="http://schemas.microsoft.com/office/drawing/2014/main" id="{292A9FFF-87CF-1B1D-FC17-31866FCBA553}"/>
              </a:ext>
            </a:extLst>
          </p:cNvPr>
          <p:cNvSpPr txBox="1"/>
          <p:nvPr/>
        </p:nvSpPr>
        <p:spPr>
          <a:xfrm>
            <a:off x="6439205" y="2391156"/>
            <a:ext cx="5067605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b="1">
                <a:solidFill>
                  <a:srgbClr val="1F293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[Solution 2 Title]</a:t>
            </a:r>
            <a:endParaRPr lang="en-US" sz="1800"/>
          </a:p>
        </p:txBody>
      </p:sp>
      <p:sp>
        <p:nvSpPr>
          <p:cNvPr id="32" name="Text 21">
            <a:extLst>
              <a:ext uri="{FF2B5EF4-FFF2-40B4-BE49-F238E27FC236}">
                <a16:creationId xmlns:a16="http://schemas.microsoft.com/office/drawing/2014/main" id="{0BAC202A-C17A-A1FE-2AC8-3C6C6DA3D4A4}"/>
              </a:ext>
            </a:extLst>
          </p:cNvPr>
          <p:cNvSpPr txBox="1"/>
          <p:nvPr/>
        </p:nvSpPr>
        <p:spPr>
          <a:xfrm>
            <a:off x="6439205" y="2779776"/>
            <a:ext cx="5067605" cy="6099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e.g. Candidate Commitment Engine — Structured 90-day POFU: milestone touchpoints, early virtual onboarding, manager connects, counter-offer inoculation. Reduces offer drop from [X]% to single digits.</a:t>
            </a:r>
            <a:endParaRPr lang="en-US" sz="1100"/>
          </a:p>
        </p:txBody>
      </p:sp>
      <p:sp>
        <p:nvSpPr>
          <p:cNvPr id="33" name="Shape 22">
            <a:extLst>
              <a:ext uri="{FF2B5EF4-FFF2-40B4-BE49-F238E27FC236}">
                <a16:creationId xmlns:a16="http://schemas.microsoft.com/office/drawing/2014/main" id="{5459C077-7B78-8C9B-7A44-1674B605D3A6}"/>
              </a:ext>
            </a:extLst>
          </p:cNvPr>
          <p:cNvSpPr/>
          <p:nvPr/>
        </p:nvSpPr>
        <p:spPr>
          <a:xfrm>
            <a:off x="6439205" y="3387852"/>
            <a:ext cx="5067605" cy="437998"/>
          </a:xfrm>
          <a:prstGeom prst="roundRect">
            <a:avLst>
              <a:gd name="adj" fmla="val 17328"/>
            </a:avLst>
          </a:prstGeom>
          <a:solidFill>
            <a:srgbClr val="F9FAF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4" name="Shape 23">
            <a:extLst>
              <a:ext uri="{FF2B5EF4-FFF2-40B4-BE49-F238E27FC236}">
                <a16:creationId xmlns:a16="http://schemas.microsoft.com/office/drawing/2014/main" id="{CB5721C4-BD6C-56E8-C256-8CCAB4DDA64F}"/>
              </a:ext>
            </a:extLst>
          </p:cNvPr>
          <p:cNvSpPr/>
          <p:nvPr/>
        </p:nvSpPr>
        <p:spPr>
          <a:xfrm>
            <a:off x="6439205" y="3387852"/>
            <a:ext cx="38405" cy="437998"/>
          </a:xfrm>
          <a:prstGeom prst="roundRect">
            <a:avLst>
              <a:gd name="adj" fmla="val 197618"/>
            </a:avLst>
          </a:prstGeom>
          <a:solidFill>
            <a:srgbClr val="000000"/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24">
            <a:extLst>
              <a:ext uri="{FF2B5EF4-FFF2-40B4-BE49-F238E27FC236}">
                <a16:creationId xmlns:a16="http://schemas.microsoft.com/office/drawing/2014/main" id="{5FA5C261-AD36-C711-6311-0EC1AB750CB0}"/>
              </a:ext>
            </a:extLst>
          </p:cNvPr>
          <p:cNvSpPr txBox="1"/>
          <p:nvPr/>
        </p:nvSpPr>
        <p:spPr>
          <a:xfrm>
            <a:off x="6810451" y="3502152"/>
            <a:ext cx="4543654" cy="2103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 b="1">
                <a:solidFill>
                  <a:srgbClr val="37415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Solves: Offer Dropouts + Notice Period</a:t>
            </a:r>
            <a:endParaRPr lang="en-US" sz="1000"/>
          </a:p>
        </p:txBody>
      </p:sp>
      <p:pic>
        <p:nvPicPr>
          <p:cNvPr id="36" name="Image 9" descr="gen-dedup-812f619697984955bda52af315dc5a08.png">
            <a:extLst>
              <a:ext uri="{FF2B5EF4-FFF2-40B4-BE49-F238E27FC236}">
                <a16:creationId xmlns:a16="http://schemas.microsoft.com/office/drawing/2014/main" id="{D7BD82F6-F3AF-8D2E-0017-6772B8E7489B}"/>
              </a:ext>
            </a:extLst>
          </p:cNvPr>
          <p:cNvPicPr>
            <a:picLocks noChangeAspect="1"/>
          </p:cNvPicPr>
          <p:nvPr/>
        </p:nvPicPr>
        <p:blipFill>
          <a:blip r:embed="rId11"/>
          <a:srcRect t="-13478" b="-13478"/>
          <a:stretch/>
        </p:blipFill>
        <p:spPr>
          <a:xfrm>
            <a:off x="6629400" y="3537814"/>
            <a:ext cx="105156" cy="133502"/>
          </a:xfrm>
          <a:prstGeom prst="rect">
            <a:avLst/>
          </a:prstGeom>
        </p:spPr>
      </p:pic>
      <p:pic>
        <p:nvPicPr>
          <p:cNvPr id="37" name="Image 10" descr="gen-dedup-95d112f40cf296f81bdd24a7d4987a4a.png">
            <a:extLst>
              <a:ext uri="{FF2B5EF4-FFF2-40B4-BE49-F238E27FC236}">
                <a16:creationId xmlns:a16="http://schemas.microsoft.com/office/drawing/2014/main" id="{ED999605-4D8E-47E0-5669-A0F7FB4A65BB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-7" r="-7"/>
          <a:stretch/>
        </p:blipFill>
        <p:spPr>
          <a:xfrm>
            <a:off x="457200" y="4143146"/>
            <a:ext cx="5524805" cy="2428646"/>
          </a:xfrm>
          <a:prstGeom prst="rect">
            <a:avLst/>
          </a:prstGeom>
        </p:spPr>
      </p:pic>
      <p:sp>
        <p:nvSpPr>
          <p:cNvPr id="38" name="Shape 25">
            <a:extLst>
              <a:ext uri="{FF2B5EF4-FFF2-40B4-BE49-F238E27FC236}">
                <a16:creationId xmlns:a16="http://schemas.microsoft.com/office/drawing/2014/main" id="{04E5F171-17C4-C41D-C603-F306BD353213}"/>
              </a:ext>
            </a:extLst>
          </p:cNvPr>
          <p:cNvSpPr/>
          <p:nvPr/>
        </p:nvSpPr>
        <p:spPr>
          <a:xfrm>
            <a:off x="5219395" y="4143146"/>
            <a:ext cx="761695" cy="761695"/>
          </a:xfrm>
          <a:prstGeom prst="rect">
            <a:avLst/>
          </a:prstGeom>
          <a:solidFill>
            <a:srgbClr val="000000">
              <a:alpha val="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Shape 26">
            <a:extLst>
              <a:ext uri="{FF2B5EF4-FFF2-40B4-BE49-F238E27FC236}">
                <a16:creationId xmlns:a16="http://schemas.microsoft.com/office/drawing/2014/main" id="{3236BBC6-8CCE-3A62-7D50-01D8D8825E6A}"/>
              </a:ext>
            </a:extLst>
          </p:cNvPr>
          <p:cNvSpPr/>
          <p:nvPr/>
        </p:nvSpPr>
        <p:spPr>
          <a:xfrm>
            <a:off x="685800" y="4419295"/>
            <a:ext cx="428854" cy="428854"/>
          </a:xfrm>
          <a:prstGeom prst="roundRect">
            <a:avLst>
              <a:gd name="adj" fmla="val 22175"/>
            </a:avLst>
          </a:prstGeom>
          <a:solidFill>
            <a:srgbClr val="2A9D8F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40" name="Image 11" descr="gen-dedup-6476ff3035aeb0817ff39e799f5ab604.png">
            <a:extLst>
              <a:ext uri="{FF2B5EF4-FFF2-40B4-BE49-F238E27FC236}">
                <a16:creationId xmlns:a16="http://schemas.microsoft.com/office/drawing/2014/main" id="{E8542DFA-293A-43A8-033E-527EAFB96873}"/>
              </a:ext>
            </a:extLst>
          </p:cNvPr>
          <p:cNvPicPr>
            <a:picLocks noChangeAspect="1"/>
          </p:cNvPicPr>
          <p:nvPr/>
        </p:nvPicPr>
        <p:blipFill>
          <a:blip r:embed="rId12"/>
          <a:srcRect l="-2800" r="-2800"/>
          <a:stretch/>
        </p:blipFill>
        <p:spPr>
          <a:xfrm>
            <a:off x="809244" y="4519879"/>
            <a:ext cx="181051" cy="228600"/>
          </a:xfrm>
          <a:prstGeom prst="rect">
            <a:avLst/>
          </a:prstGeom>
        </p:spPr>
      </p:pic>
      <p:sp>
        <p:nvSpPr>
          <p:cNvPr id="41" name="Text 27">
            <a:extLst>
              <a:ext uri="{FF2B5EF4-FFF2-40B4-BE49-F238E27FC236}">
                <a16:creationId xmlns:a16="http://schemas.microsoft.com/office/drawing/2014/main" id="{DCDD8D0E-1DCB-CFBB-394F-9D749F1C9303}"/>
              </a:ext>
            </a:extLst>
          </p:cNvPr>
          <p:cNvSpPr txBox="1"/>
          <p:nvPr/>
        </p:nvSpPr>
        <p:spPr>
          <a:xfrm>
            <a:off x="5464454" y="4343400"/>
            <a:ext cx="455371" cy="5148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700" b="1">
                <a:solidFill>
                  <a:srgbClr val="F3F4F6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03</a:t>
            </a:r>
            <a:endParaRPr lang="en-US" sz="2700"/>
          </a:p>
        </p:txBody>
      </p:sp>
      <p:sp>
        <p:nvSpPr>
          <p:cNvPr id="42" name="Text 28">
            <a:extLst>
              <a:ext uri="{FF2B5EF4-FFF2-40B4-BE49-F238E27FC236}">
                <a16:creationId xmlns:a16="http://schemas.microsoft.com/office/drawing/2014/main" id="{772B34FD-8E6A-DE99-F5BF-DB1A68F0D2BD}"/>
              </a:ext>
            </a:extLst>
          </p:cNvPr>
          <p:cNvSpPr txBox="1"/>
          <p:nvPr/>
        </p:nvSpPr>
        <p:spPr>
          <a:xfrm>
            <a:off x="685800" y="4962449"/>
            <a:ext cx="5067605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b="1">
                <a:solidFill>
                  <a:srgbClr val="1F293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[Solution 3 Title]</a:t>
            </a:r>
            <a:endParaRPr lang="en-US" sz="1800"/>
          </a:p>
        </p:txBody>
      </p:sp>
      <p:sp>
        <p:nvSpPr>
          <p:cNvPr id="43" name="Text 29">
            <a:extLst>
              <a:ext uri="{FF2B5EF4-FFF2-40B4-BE49-F238E27FC236}">
                <a16:creationId xmlns:a16="http://schemas.microsoft.com/office/drawing/2014/main" id="{3C115CE9-6CE6-0BC8-CD3C-556ABEB1ADB4}"/>
              </a:ext>
            </a:extLst>
          </p:cNvPr>
          <p:cNvSpPr txBox="1"/>
          <p:nvPr/>
        </p:nvSpPr>
        <p:spPr>
          <a:xfrm>
            <a:off x="685800" y="5351069"/>
            <a:ext cx="5067605" cy="6099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e.g. WFO Employer Brand Strategy — Position 5-day WFO as a career accelerator: same role as HQ, in-person mentorship, global parity. Target candidates already in-office or returning.</a:t>
            </a:r>
            <a:endParaRPr lang="en-US" sz="1100"/>
          </a:p>
        </p:txBody>
      </p:sp>
      <p:sp>
        <p:nvSpPr>
          <p:cNvPr id="44" name="Shape 30">
            <a:extLst>
              <a:ext uri="{FF2B5EF4-FFF2-40B4-BE49-F238E27FC236}">
                <a16:creationId xmlns:a16="http://schemas.microsoft.com/office/drawing/2014/main" id="{9524A817-F417-8272-6809-00D1F5C25D02}"/>
              </a:ext>
            </a:extLst>
          </p:cNvPr>
          <p:cNvSpPr/>
          <p:nvPr/>
        </p:nvSpPr>
        <p:spPr>
          <a:xfrm>
            <a:off x="685800" y="5959145"/>
            <a:ext cx="5067605" cy="437998"/>
          </a:xfrm>
          <a:prstGeom prst="roundRect">
            <a:avLst>
              <a:gd name="adj" fmla="val 17328"/>
            </a:avLst>
          </a:prstGeom>
          <a:solidFill>
            <a:srgbClr val="F9FAF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5" name="Shape 31">
            <a:extLst>
              <a:ext uri="{FF2B5EF4-FFF2-40B4-BE49-F238E27FC236}">
                <a16:creationId xmlns:a16="http://schemas.microsoft.com/office/drawing/2014/main" id="{904F1079-FEBE-EF19-4690-40B4F5A173EF}"/>
              </a:ext>
            </a:extLst>
          </p:cNvPr>
          <p:cNvSpPr/>
          <p:nvPr/>
        </p:nvSpPr>
        <p:spPr>
          <a:xfrm>
            <a:off x="685800" y="5959145"/>
            <a:ext cx="38405" cy="437998"/>
          </a:xfrm>
          <a:prstGeom prst="roundRect">
            <a:avLst>
              <a:gd name="adj" fmla="val 197618"/>
            </a:avLst>
          </a:prstGeom>
          <a:solidFill>
            <a:srgbClr val="000000"/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" name="Text 32">
            <a:extLst>
              <a:ext uri="{FF2B5EF4-FFF2-40B4-BE49-F238E27FC236}">
                <a16:creationId xmlns:a16="http://schemas.microsoft.com/office/drawing/2014/main" id="{E2B87D99-E6F8-0914-F5C9-E8CC69EF06C5}"/>
              </a:ext>
            </a:extLst>
          </p:cNvPr>
          <p:cNvSpPr txBox="1"/>
          <p:nvPr/>
        </p:nvSpPr>
        <p:spPr>
          <a:xfrm>
            <a:off x="1057046" y="6073445"/>
            <a:ext cx="4543654" cy="2103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 b="1">
                <a:solidFill>
                  <a:srgbClr val="37415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Solves: WFO Resistance + Brand</a:t>
            </a:r>
            <a:endParaRPr lang="en-US" sz="1000"/>
          </a:p>
        </p:txBody>
      </p:sp>
      <p:pic>
        <p:nvPicPr>
          <p:cNvPr id="47" name="Image 12" descr="gen-dedup-b5a86b1bccfd13e1ee7bd0a5c9907751.png">
            <a:extLst>
              <a:ext uri="{FF2B5EF4-FFF2-40B4-BE49-F238E27FC236}">
                <a16:creationId xmlns:a16="http://schemas.microsoft.com/office/drawing/2014/main" id="{A0B42826-7149-A73B-9986-E5DE1C5E20E9}"/>
              </a:ext>
            </a:extLst>
          </p:cNvPr>
          <p:cNvPicPr>
            <a:picLocks noChangeAspect="1"/>
          </p:cNvPicPr>
          <p:nvPr/>
        </p:nvPicPr>
        <p:blipFill>
          <a:blip r:embed="rId9"/>
          <a:srcRect t="-13478" b="-13478"/>
          <a:stretch/>
        </p:blipFill>
        <p:spPr>
          <a:xfrm>
            <a:off x="875995" y="6110021"/>
            <a:ext cx="105156" cy="133502"/>
          </a:xfrm>
          <a:prstGeom prst="rect">
            <a:avLst/>
          </a:prstGeom>
        </p:spPr>
      </p:pic>
      <p:pic>
        <p:nvPicPr>
          <p:cNvPr id="48" name="Image 13" descr="gen-dedup-95d112f40cf296f81bdd24a7d4987a4a.png">
            <a:extLst>
              <a:ext uri="{FF2B5EF4-FFF2-40B4-BE49-F238E27FC236}">
                <a16:creationId xmlns:a16="http://schemas.microsoft.com/office/drawing/2014/main" id="{7A904E7A-9A23-65C5-498D-68299034FF87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-7" r="-7"/>
          <a:stretch/>
        </p:blipFill>
        <p:spPr>
          <a:xfrm>
            <a:off x="6210605" y="4143146"/>
            <a:ext cx="5524805" cy="2428646"/>
          </a:xfrm>
          <a:prstGeom prst="rect">
            <a:avLst/>
          </a:prstGeom>
        </p:spPr>
      </p:pic>
      <p:sp>
        <p:nvSpPr>
          <p:cNvPr id="49" name="Shape 33">
            <a:extLst>
              <a:ext uri="{FF2B5EF4-FFF2-40B4-BE49-F238E27FC236}">
                <a16:creationId xmlns:a16="http://schemas.microsoft.com/office/drawing/2014/main" id="{51B6378F-2579-2A16-7897-FD0342764BEA}"/>
              </a:ext>
            </a:extLst>
          </p:cNvPr>
          <p:cNvSpPr/>
          <p:nvPr/>
        </p:nvSpPr>
        <p:spPr>
          <a:xfrm>
            <a:off x="10972800" y="4143146"/>
            <a:ext cx="761695" cy="761695"/>
          </a:xfrm>
          <a:prstGeom prst="rect">
            <a:avLst/>
          </a:prstGeom>
          <a:solidFill>
            <a:srgbClr val="000000">
              <a:alpha val="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0" name="Shape 34">
            <a:extLst>
              <a:ext uri="{FF2B5EF4-FFF2-40B4-BE49-F238E27FC236}">
                <a16:creationId xmlns:a16="http://schemas.microsoft.com/office/drawing/2014/main" id="{D16B82CB-8454-3B5A-BDB9-41F1EF0AA131}"/>
              </a:ext>
            </a:extLst>
          </p:cNvPr>
          <p:cNvSpPr/>
          <p:nvPr/>
        </p:nvSpPr>
        <p:spPr>
          <a:xfrm>
            <a:off x="6439205" y="4419295"/>
            <a:ext cx="428854" cy="428854"/>
          </a:xfrm>
          <a:prstGeom prst="roundRect">
            <a:avLst>
              <a:gd name="adj" fmla="val 22175"/>
            </a:avLst>
          </a:prstGeom>
          <a:solidFill>
            <a:srgbClr val="D62839">
              <a:alpha val="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51" name="Image 14" descr="gen-dedup-83b2b39c1654ef06d127da6f7bb8f2a0.png">
            <a:extLst>
              <a:ext uri="{FF2B5EF4-FFF2-40B4-BE49-F238E27FC236}">
                <a16:creationId xmlns:a16="http://schemas.microsoft.com/office/drawing/2014/main" id="{4003C448-05B3-A10E-95D9-DAF2F9652DC0}"/>
              </a:ext>
            </a:extLst>
          </p:cNvPr>
          <p:cNvPicPr>
            <a:picLocks noChangeAspect="1"/>
          </p:cNvPicPr>
          <p:nvPr/>
        </p:nvPicPr>
        <p:blipFill>
          <a:blip r:embed="rId13"/>
          <a:srcRect t="-28914" b="-28914"/>
          <a:stretch/>
        </p:blipFill>
        <p:spPr>
          <a:xfrm>
            <a:off x="6562649" y="4519879"/>
            <a:ext cx="181051" cy="228600"/>
          </a:xfrm>
          <a:prstGeom prst="rect">
            <a:avLst/>
          </a:prstGeom>
        </p:spPr>
      </p:pic>
      <p:sp>
        <p:nvSpPr>
          <p:cNvPr id="52" name="Text 35">
            <a:extLst>
              <a:ext uri="{FF2B5EF4-FFF2-40B4-BE49-F238E27FC236}">
                <a16:creationId xmlns:a16="http://schemas.microsoft.com/office/drawing/2014/main" id="{D6E237A9-70E6-29E9-E8EE-2BAB92F3E57D}"/>
              </a:ext>
            </a:extLst>
          </p:cNvPr>
          <p:cNvSpPr txBox="1"/>
          <p:nvPr/>
        </p:nvSpPr>
        <p:spPr>
          <a:xfrm>
            <a:off x="11214202" y="4343400"/>
            <a:ext cx="455371" cy="5148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700" b="1">
                <a:solidFill>
                  <a:srgbClr val="F3F4F6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04</a:t>
            </a:r>
            <a:endParaRPr lang="en-US" sz="2700"/>
          </a:p>
        </p:txBody>
      </p:sp>
      <p:sp>
        <p:nvSpPr>
          <p:cNvPr id="53" name="Text 36">
            <a:extLst>
              <a:ext uri="{FF2B5EF4-FFF2-40B4-BE49-F238E27FC236}">
                <a16:creationId xmlns:a16="http://schemas.microsoft.com/office/drawing/2014/main" id="{4896BADA-0F0A-2623-6DAC-682DCB3687AF}"/>
              </a:ext>
            </a:extLst>
          </p:cNvPr>
          <p:cNvSpPr txBox="1"/>
          <p:nvPr/>
        </p:nvSpPr>
        <p:spPr>
          <a:xfrm>
            <a:off x="6439205" y="4962449"/>
            <a:ext cx="5067605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b="1">
                <a:solidFill>
                  <a:srgbClr val="1F293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[Solution 4 Title]</a:t>
            </a:r>
            <a:endParaRPr lang="en-US" sz="1800"/>
          </a:p>
        </p:txBody>
      </p:sp>
      <p:sp>
        <p:nvSpPr>
          <p:cNvPr id="54" name="Text 37">
            <a:extLst>
              <a:ext uri="{FF2B5EF4-FFF2-40B4-BE49-F238E27FC236}">
                <a16:creationId xmlns:a16="http://schemas.microsoft.com/office/drawing/2014/main" id="{E758BCE9-FA0C-67DE-7E9C-7A6AA3E11566}"/>
              </a:ext>
            </a:extLst>
          </p:cNvPr>
          <p:cNvSpPr txBox="1"/>
          <p:nvPr/>
        </p:nvSpPr>
        <p:spPr>
          <a:xfrm>
            <a:off x="6439205" y="5351069"/>
            <a:ext cx="5067605" cy="6099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e.g. Managed RPO Partnership — Consolidated recruitment ops across all BUs with a dedicated team. Eliminates vendor fragmentation. Data-driven hiring intelligence for workforce planning.</a:t>
            </a:r>
            <a:endParaRPr lang="en-US" sz="1100"/>
          </a:p>
        </p:txBody>
      </p:sp>
      <p:sp>
        <p:nvSpPr>
          <p:cNvPr id="55" name="Shape 38">
            <a:extLst>
              <a:ext uri="{FF2B5EF4-FFF2-40B4-BE49-F238E27FC236}">
                <a16:creationId xmlns:a16="http://schemas.microsoft.com/office/drawing/2014/main" id="{CEE8A453-7A9D-4360-D21A-37F7F6790338}"/>
              </a:ext>
            </a:extLst>
          </p:cNvPr>
          <p:cNvSpPr/>
          <p:nvPr/>
        </p:nvSpPr>
        <p:spPr>
          <a:xfrm>
            <a:off x="6439205" y="5959145"/>
            <a:ext cx="5067605" cy="437998"/>
          </a:xfrm>
          <a:prstGeom prst="roundRect">
            <a:avLst>
              <a:gd name="adj" fmla="val 17328"/>
            </a:avLst>
          </a:prstGeom>
          <a:solidFill>
            <a:srgbClr val="F9FAF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6" name="Shape 39">
            <a:extLst>
              <a:ext uri="{FF2B5EF4-FFF2-40B4-BE49-F238E27FC236}">
                <a16:creationId xmlns:a16="http://schemas.microsoft.com/office/drawing/2014/main" id="{056F5FE7-9A03-08BC-0EA2-89258EB24EF2}"/>
              </a:ext>
            </a:extLst>
          </p:cNvPr>
          <p:cNvSpPr/>
          <p:nvPr/>
        </p:nvSpPr>
        <p:spPr>
          <a:xfrm>
            <a:off x="6439205" y="5959145"/>
            <a:ext cx="38405" cy="437998"/>
          </a:xfrm>
          <a:prstGeom prst="roundRect">
            <a:avLst>
              <a:gd name="adj" fmla="val 197618"/>
            </a:avLst>
          </a:prstGeom>
          <a:solidFill>
            <a:srgbClr val="000000"/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7" name="Text 40">
            <a:extLst>
              <a:ext uri="{FF2B5EF4-FFF2-40B4-BE49-F238E27FC236}">
                <a16:creationId xmlns:a16="http://schemas.microsoft.com/office/drawing/2014/main" id="{FA686457-4C60-0C95-3625-41D6DE551183}"/>
              </a:ext>
            </a:extLst>
          </p:cNvPr>
          <p:cNvSpPr txBox="1"/>
          <p:nvPr/>
        </p:nvSpPr>
        <p:spPr>
          <a:xfrm>
            <a:off x="6810451" y="6073445"/>
            <a:ext cx="4543654" cy="2103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 b="1">
                <a:solidFill>
                  <a:srgbClr val="37415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Solves: Fragmented Hiring + Scale</a:t>
            </a:r>
            <a:endParaRPr lang="en-US" sz="1000"/>
          </a:p>
        </p:txBody>
      </p:sp>
      <p:pic>
        <p:nvPicPr>
          <p:cNvPr id="58" name="Image 15" descr="gen-dedup-812f619697984955bda52af315dc5a08.png">
            <a:extLst>
              <a:ext uri="{FF2B5EF4-FFF2-40B4-BE49-F238E27FC236}">
                <a16:creationId xmlns:a16="http://schemas.microsoft.com/office/drawing/2014/main" id="{6286225A-5A1D-45A0-AD82-F2C525D188BB}"/>
              </a:ext>
            </a:extLst>
          </p:cNvPr>
          <p:cNvPicPr>
            <a:picLocks noChangeAspect="1"/>
          </p:cNvPicPr>
          <p:nvPr/>
        </p:nvPicPr>
        <p:blipFill>
          <a:blip r:embed="rId11"/>
          <a:srcRect t="-13478" b="-13478"/>
          <a:stretch/>
        </p:blipFill>
        <p:spPr>
          <a:xfrm>
            <a:off x="6629400" y="6110021"/>
            <a:ext cx="105156" cy="1335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706162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8382305" y="0"/>
            <a:ext cx="3810305" cy="3810305"/>
          </a:xfrm>
          <a:prstGeom prst="ellipse">
            <a:avLst/>
          </a:prstGeom>
          <a:solidFill>
            <a:srgbClr val="2A9D8F">
              <a:alpha val="3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-476402" y="3524098"/>
            <a:ext cx="2381098" cy="2381098"/>
          </a:xfrm>
          <a:prstGeom prst="ellipse">
            <a:avLst/>
          </a:prstGeom>
          <a:solidFill>
            <a:srgbClr val="D62839">
              <a:alpha val="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6" name="Image 0" descr="gen-dedup-37abb9d8cc081a24feb608c288538026.png"/>
          <p:cNvPicPr>
            <a:picLocks noChangeAspect="1"/>
          </p:cNvPicPr>
          <p:nvPr/>
        </p:nvPicPr>
        <p:blipFill>
          <a:blip r:embed="rId3"/>
          <a:srcRect l="-198" r="-198"/>
          <a:stretch/>
        </p:blipFill>
        <p:spPr>
          <a:xfrm>
            <a:off x="0" y="0"/>
            <a:ext cx="8124444" cy="75895"/>
          </a:xfrm>
          <a:prstGeom prst="rect">
            <a:avLst/>
          </a:prstGeom>
        </p:spPr>
      </p:pic>
      <p:pic>
        <p:nvPicPr>
          <p:cNvPr id="7" name="Image 1" descr="gen-dedup-c2c9136402f20c216bf7cbcc052ad1a0.png"/>
          <p:cNvPicPr>
            <a:picLocks noChangeAspect="1"/>
          </p:cNvPicPr>
          <p:nvPr/>
        </p:nvPicPr>
        <p:blipFill>
          <a:blip r:embed="rId4"/>
          <a:srcRect l="-202" r="-202"/>
          <a:stretch/>
        </p:blipFill>
        <p:spPr>
          <a:xfrm>
            <a:off x="8124444" y="0"/>
            <a:ext cx="4067251" cy="75895"/>
          </a:xfrm>
          <a:prstGeom prst="rect">
            <a:avLst/>
          </a:prstGeom>
        </p:spPr>
      </p:pic>
      <p:pic>
        <p:nvPicPr>
          <p:cNvPr id="8" name="Image 2" descr="gen-dedup-50f81f9bdcb5400074144f35c0ecb91c.png"/>
          <p:cNvPicPr>
            <a:picLocks noChangeAspect="1"/>
          </p:cNvPicPr>
          <p:nvPr/>
        </p:nvPicPr>
        <p:blipFill>
          <a:blip r:embed="rId5"/>
          <a:srcRect l="-7" r="-7"/>
          <a:stretch/>
        </p:blipFill>
        <p:spPr>
          <a:xfrm>
            <a:off x="2704795" y="1238098"/>
            <a:ext cx="3143707" cy="4457700"/>
          </a:xfrm>
          <a:prstGeom prst="rect">
            <a:avLst/>
          </a:prstGeom>
        </p:spPr>
      </p:pic>
      <p:sp>
        <p:nvSpPr>
          <p:cNvPr id="9" name="Shape 4"/>
          <p:cNvSpPr/>
          <p:nvPr/>
        </p:nvSpPr>
        <p:spPr>
          <a:xfrm>
            <a:off x="609905" y="5762549"/>
            <a:ext cx="10992002" cy="847649"/>
          </a:xfrm>
          <a:prstGeom prst="roundRect">
            <a:avLst>
              <a:gd name="adj" fmla="val 1939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blurRad="63500" dist="38100" dir="16200000" algn="bl" rotWithShape="0">
              <a:srgbClr val="000000">
                <a:alpha val="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0" name="Image 3" descr="gen-dedup-1004aa64a550a79a04cd74d7f57c96c1.png"/>
          <p:cNvPicPr>
            <a:picLocks noChangeAspect="1"/>
          </p:cNvPicPr>
          <p:nvPr/>
        </p:nvPicPr>
        <p:blipFill>
          <a:blip r:embed="rId6"/>
          <a:srcRect l="-2083" r="-2083"/>
          <a:stretch/>
        </p:blipFill>
        <p:spPr>
          <a:xfrm>
            <a:off x="609905" y="2467051"/>
            <a:ext cx="10972800" cy="9144"/>
          </a:xfrm>
          <a:prstGeom prst="rect">
            <a:avLst/>
          </a:prstGeom>
        </p:spPr>
      </p:pic>
      <p:pic>
        <p:nvPicPr>
          <p:cNvPr id="11" name="Image 4" descr="gen-dedup-1004aa64a550a79a04cd74d7f57c96c1.png"/>
          <p:cNvPicPr>
            <a:picLocks noChangeAspect="1"/>
          </p:cNvPicPr>
          <p:nvPr/>
        </p:nvPicPr>
        <p:blipFill>
          <a:blip r:embed="rId6"/>
          <a:srcRect l="-2083" r="-2083"/>
          <a:stretch/>
        </p:blipFill>
        <p:spPr>
          <a:xfrm>
            <a:off x="609905" y="3267151"/>
            <a:ext cx="10972800" cy="9144"/>
          </a:xfrm>
          <a:prstGeom prst="rect">
            <a:avLst/>
          </a:prstGeom>
        </p:spPr>
      </p:pic>
      <p:pic>
        <p:nvPicPr>
          <p:cNvPr id="12" name="Image 5" descr="gen-dedup-1004aa64a550a79a04cd74d7f57c96c1.png"/>
          <p:cNvPicPr>
            <a:picLocks noChangeAspect="1"/>
          </p:cNvPicPr>
          <p:nvPr/>
        </p:nvPicPr>
        <p:blipFill>
          <a:blip r:embed="rId6"/>
          <a:srcRect l="-2083" r="-2083"/>
          <a:stretch/>
        </p:blipFill>
        <p:spPr>
          <a:xfrm>
            <a:off x="609905" y="4067251"/>
            <a:ext cx="10972800" cy="9144"/>
          </a:xfrm>
          <a:prstGeom prst="rect">
            <a:avLst/>
          </a:prstGeom>
        </p:spPr>
      </p:pic>
      <p:pic>
        <p:nvPicPr>
          <p:cNvPr id="13" name="Image 6" descr="gen-dedup-1004aa64a550a79a04cd74d7f57c96c1.png"/>
          <p:cNvPicPr>
            <a:picLocks noChangeAspect="1"/>
          </p:cNvPicPr>
          <p:nvPr/>
        </p:nvPicPr>
        <p:blipFill>
          <a:blip r:embed="rId6"/>
          <a:srcRect l="-2083" r="-2083"/>
          <a:stretch/>
        </p:blipFill>
        <p:spPr>
          <a:xfrm>
            <a:off x="609905" y="4867351"/>
            <a:ext cx="10972800" cy="9144"/>
          </a:xfrm>
          <a:prstGeom prst="rect">
            <a:avLst/>
          </a:prstGeom>
        </p:spPr>
      </p:pic>
      <p:pic>
        <p:nvPicPr>
          <p:cNvPr id="14" name="Image 7" descr="gen-dedup-06e3d16aa0e9246458a784af17ea21a8.png"/>
          <p:cNvPicPr>
            <a:picLocks noChangeAspect="1"/>
          </p:cNvPicPr>
          <p:nvPr/>
        </p:nvPicPr>
        <p:blipFill>
          <a:blip r:embed="rId7"/>
          <a:srcRect l="-437" r="-437"/>
          <a:stretch/>
        </p:blipFill>
        <p:spPr>
          <a:xfrm>
            <a:off x="609905" y="390449"/>
            <a:ext cx="57607" cy="418795"/>
          </a:xfrm>
          <a:prstGeom prst="rect">
            <a:avLst/>
          </a:prstGeom>
        </p:spPr>
      </p:pic>
      <p:sp>
        <p:nvSpPr>
          <p:cNvPr id="15" name="Text 5"/>
          <p:cNvSpPr txBox="1"/>
          <p:nvPr/>
        </p:nvSpPr>
        <p:spPr>
          <a:xfrm>
            <a:off x="819302" y="390449"/>
            <a:ext cx="10478110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>
                <a:solidFill>
                  <a:srgbClr val="11182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WHY J2W - NOT THE BIG 4 OR LARGE SIs</a:t>
            </a:r>
            <a:endParaRPr lang="en-US" sz="2700"/>
          </a:p>
        </p:txBody>
      </p:sp>
      <p:sp>
        <p:nvSpPr>
          <p:cNvPr id="16" name="Text 6"/>
          <p:cNvSpPr txBox="1"/>
          <p:nvPr/>
        </p:nvSpPr>
        <p:spPr>
          <a:xfrm>
            <a:off x="819302" y="824789"/>
            <a:ext cx="10478110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60">
                <a:solidFill>
                  <a:srgbClr val="2A9D8F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THE SMARTER CHOICE FOR AI &amp; DIGITAL TRANSFORMATION AT SCALE</a:t>
            </a:r>
            <a:endParaRPr lang="en-US" sz="1200"/>
          </a:p>
        </p:txBody>
      </p:sp>
      <p:sp>
        <p:nvSpPr>
          <p:cNvPr id="17" name="Text 7"/>
          <p:cNvSpPr txBox="1"/>
          <p:nvPr/>
        </p:nvSpPr>
        <p:spPr>
          <a:xfrm>
            <a:off x="2704795" y="1333195"/>
            <a:ext cx="3143707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>
                <a:solidFill>
                  <a:srgbClr val="11182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JoulesToWatts + J2W</a:t>
            </a:r>
            <a:endParaRPr lang="en-US" sz="1500"/>
          </a:p>
        </p:txBody>
      </p:sp>
      <p:sp>
        <p:nvSpPr>
          <p:cNvPr id="18" name="Text 8"/>
          <p:cNvSpPr txBox="1"/>
          <p:nvPr/>
        </p:nvSpPr>
        <p:spPr>
          <a:xfrm>
            <a:off x="5848502" y="1333195"/>
            <a:ext cx="2857500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>
                <a:solidFill>
                  <a:srgbClr val="64748B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Big 4 / Top IT SIs</a:t>
            </a:r>
            <a:endParaRPr lang="en-US" sz="1500"/>
          </a:p>
        </p:txBody>
      </p:sp>
      <p:sp>
        <p:nvSpPr>
          <p:cNvPr id="19" name="Text 9"/>
          <p:cNvSpPr txBox="1"/>
          <p:nvPr/>
        </p:nvSpPr>
        <p:spPr>
          <a:xfrm>
            <a:off x="8706002" y="1333195"/>
            <a:ext cx="2876702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>
                <a:solidFill>
                  <a:srgbClr val="64748B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Staffing Agencies</a:t>
            </a:r>
            <a:endParaRPr lang="en-US" sz="1500"/>
          </a:p>
        </p:txBody>
      </p:sp>
      <p:sp>
        <p:nvSpPr>
          <p:cNvPr id="20" name="Text 10"/>
          <p:cNvSpPr txBox="1"/>
          <p:nvPr/>
        </p:nvSpPr>
        <p:spPr>
          <a:xfrm>
            <a:off x="609905" y="1990649"/>
            <a:ext cx="1905610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>
                <a:solidFill>
                  <a:srgbClr val="334155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ROI &amp; Outcome Model</a:t>
            </a:r>
            <a:endParaRPr lang="en-US" sz="1000"/>
          </a:p>
        </p:txBody>
      </p:sp>
      <p:sp>
        <p:nvSpPr>
          <p:cNvPr id="21" name="Text 11"/>
          <p:cNvSpPr txBox="1"/>
          <p:nvPr/>
        </p:nvSpPr>
        <p:spPr>
          <a:xfrm>
            <a:off x="2895905" y="1806854"/>
            <a:ext cx="2762402" cy="5239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>
                <a:solidFill>
                  <a:srgbClr val="1118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Outcome-driven from Day 1 - aligned to your milestones, CXO ROI expectations &amp; project KPIs</a:t>
            </a:r>
            <a:endParaRPr lang="en-US" sz="1000"/>
          </a:p>
        </p:txBody>
      </p:sp>
      <p:sp>
        <p:nvSpPr>
          <p:cNvPr id="22" name="Text 12"/>
          <p:cNvSpPr txBox="1"/>
          <p:nvPr/>
        </p:nvSpPr>
        <p:spPr>
          <a:xfrm>
            <a:off x="6038698" y="1806854"/>
            <a:ext cx="2477110" cy="5239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>
                <a:solidFill>
                  <a:srgbClr val="47556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Heavy retainers + longer payback cycles. High technical debt risk on failed transformations</a:t>
            </a:r>
            <a:endParaRPr lang="en-US" sz="1000"/>
          </a:p>
        </p:txBody>
      </p:sp>
      <p:sp>
        <p:nvSpPr>
          <p:cNvPr id="23" name="Text 13"/>
          <p:cNvSpPr txBox="1"/>
          <p:nvPr/>
        </p:nvSpPr>
        <p:spPr>
          <a:xfrm>
            <a:off x="8896198" y="1893722"/>
            <a:ext cx="2496312" cy="3529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>
                <a:solidFill>
                  <a:srgbClr val="47556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Headcount model only. Zero delivery ownership or outcome accountability</a:t>
            </a:r>
            <a:endParaRPr lang="en-US" sz="1000"/>
          </a:p>
        </p:txBody>
      </p:sp>
      <p:sp>
        <p:nvSpPr>
          <p:cNvPr id="24" name="Text 14"/>
          <p:cNvSpPr txBox="1"/>
          <p:nvPr/>
        </p:nvSpPr>
        <p:spPr>
          <a:xfrm>
            <a:off x="609905" y="2790749"/>
            <a:ext cx="1905610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>
                <a:solidFill>
                  <a:srgbClr val="334155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Time-To-Value</a:t>
            </a:r>
            <a:endParaRPr lang="en-US" sz="1000"/>
          </a:p>
        </p:txBody>
      </p:sp>
      <p:sp>
        <p:nvSpPr>
          <p:cNvPr id="25" name="Text 15"/>
          <p:cNvSpPr txBox="1"/>
          <p:nvPr/>
        </p:nvSpPr>
        <p:spPr>
          <a:xfrm>
            <a:off x="2895905" y="2606954"/>
            <a:ext cx="2762402" cy="5239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>
                <a:solidFill>
                  <a:srgbClr val="1118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Production-ready Gen &amp; Agentic AI PoCs in weeks via 50+ accelerators across SAP, Oracle, ServiceNow &amp; more</a:t>
            </a:r>
            <a:endParaRPr lang="en-US" sz="1000"/>
          </a:p>
        </p:txBody>
      </p:sp>
      <p:sp>
        <p:nvSpPr>
          <p:cNvPr id="26" name="Text 16"/>
          <p:cNvSpPr txBox="1"/>
          <p:nvPr/>
        </p:nvSpPr>
        <p:spPr>
          <a:xfrm>
            <a:off x="6038698" y="2606954"/>
            <a:ext cx="2477110" cy="5239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>
                <a:solidFill>
                  <a:srgbClr val="47556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Lengthy consulting cycles with SI-driven models - higher costs &amp; slower results</a:t>
            </a:r>
            <a:endParaRPr lang="en-US" sz="1000"/>
          </a:p>
        </p:txBody>
      </p:sp>
      <p:sp>
        <p:nvSpPr>
          <p:cNvPr id="27" name="Text 17"/>
          <p:cNvSpPr txBox="1"/>
          <p:nvPr/>
        </p:nvSpPr>
        <p:spPr>
          <a:xfrm>
            <a:off x="8896198" y="2780690"/>
            <a:ext cx="2496312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i="1">
                <a:solidFill>
                  <a:srgbClr val="94A3B8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Not offered</a:t>
            </a:r>
            <a:endParaRPr lang="en-US" sz="1000"/>
          </a:p>
        </p:txBody>
      </p:sp>
      <p:sp>
        <p:nvSpPr>
          <p:cNvPr id="28" name="Text 18"/>
          <p:cNvSpPr txBox="1"/>
          <p:nvPr/>
        </p:nvSpPr>
        <p:spPr>
          <a:xfrm>
            <a:off x="609905" y="3590849"/>
            <a:ext cx="1905610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>
                <a:solidFill>
                  <a:srgbClr val="334155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AI / Data Governance</a:t>
            </a:r>
            <a:endParaRPr lang="en-US" sz="1000"/>
          </a:p>
        </p:txBody>
      </p:sp>
      <p:sp>
        <p:nvSpPr>
          <p:cNvPr id="29" name="Text 19"/>
          <p:cNvSpPr txBox="1"/>
          <p:nvPr/>
        </p:nvSpPr>
        <p:spPr>
          <a:xfrm>
            <a:off x="2895905" y="3321101"/>
            <a:ext cx="2762402" cy="6958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>
                <a:solidFill>
                  <a:srgbClr val="1118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Pre-built guardrails. Mission-critical delivery in regulated industries (Fortune 500 MedTech). Data stays in your environment</a:t>
            </a:r>
            <a:endParaRPr lang="en-US" sz="1000"/>
          </a:p>
        </p:txBody>
      </p:sp>
      <p:sp>
        <p:nvSpPr>
          <p:cNvPr id="30" name="Text 20"/>
          <p:cNvSpPr txBox="1"/>
          <p:nvPr/>
        </p:nvSpPr>
        <p:spPr>
          <a:xfrm>
            <a:off x="6038698" y="3407054"/>
            <a:ext cx="2477110" cy="5239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>
                <a:solidFill>
                  <a:srgbClr val="47556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Claims excellence, but multiple public incidents (e.g. Deloitte AU govt penalties) undermine credibility</a:t>
            </a:r>
            <a:endParaRPr lang="en-US" sz="1000"/>
          </a:p>
        </p:txBody>
      </p:sp>
      <p:sp>
        <p:nvSpPr>
          <p:cNvPr id="31" name="Text 21"/>
          <p:cNvSpPr txBox="1"/>
          <p:nvPr/>
        </p:nvSpPr>
        <p:spPr>
          <a:xfrm>
            <a:off x="8896198" y="3580790"/>
            <a:ext cx="2496312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i="1">
                <a:solidFill>
                  <a:srgbClr val="94A3B8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Not offered</a:t>
            </a:r>
            <a:endParaRPr lang="en-US" sz="1000"/>
          </a:p>
        </p:txBody>
      </p:sp>
      <p:sp>
        <p:nvSpPr>
          <p:cNvPr id="32" name="Text 22"/>
          <p:cNvSpPr txBox="1"/>
          <p:nvPr/>
        </p:nvSpPr>
        <p:spPr>
          <a:xfrm>
            <a:off x="609905" y="4390949"/>
            <a:ext cx="1905610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>
                <a:solidFill>
                  <a:srgbClr val="334155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AI OPEX Optimisation</a:t>
            </a:r>
            <a:endParaRPr lang="en-US" sz="1000"/>
          </a:p>
        </p:txBody>
      </p:sp>
      <p:sp>
        <p:nvSpPr>
          <p:cNvPr id="33" name="Text 23"/>
          <p:cNvSpPr txBox="1"/>
          <p:nvPr/>
        </p:nvSpPr>
        <p:spPr>
          <a:xfrm>
            <a:off x="2895905" y="4207154"/>
            <a:ext cx="2762402" cy="5239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>
                <a:solidFill>
                  <a:srgbClr val="1118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30-40% reduction in AI OPEX via Query Routing, Semantic Caching, Precision RAG &amp; in-house SLMs</a:t>
            </a:r>
            <a:endParaRPr lang="en-US" sz="1000"/>
          </a:p>
        </p:txBody>
      </p:sp>
      <p:sp>
        <p:nvSpPr>
          <p:cNvPr id="34" name="Text 24"/>
          <p:cNvSpPr txBox="1"/>
          <p:nvPr/>
        </p:nvSpPr>
        <p:spPr>
          <a:xfrm>
            <a:off x="6038698" y="4294022"/>
            <a:ext cx="2477110" cy="3529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>
                <a:solidFill>
                  <a:srgbClr val="47556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SI </a:t>
            </a:r>
            <a:r>
              <a:rPr lang="en-US" sz="1000" err="1">
                <a:solidFill>
                  <a:srgbClr val="47556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incentivised</a:t>
            </a:r>
            <a:r>
              <a:rPr lang="en-US" sz="1000">
                <a:solidFill>
                  <a:srgbClr val="47556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to </a:t>
            </a:r>
            <a:r>
              <a:rPr lang="en-US" sz="1000" err="1">
                <a:solidFill>
                  <a:srgbClr val="47556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maximise</a:t>
            </a:r>
            <a:r>
              <a:rPr lang="en-US" sz="1000">
                <a:solidFill>
                  <a:srgbClr val="47556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</a:t>
            </a:r>
            <a:r>
              <a:rPr lang="en-US" sz="1000" err="1">
                <a:solidFill>
                  <a:srgbClr val="47556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licences</a:t>
            </a:r>
            <a:r>
              <a:rPr lang="en-US" sz="1000">
                <a:solidFill>
                  <a:srgbClr val="47556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&amp; tokens - not to </a:t>
            </a:r>
            <a:r>
              <a:rPr lang="en-US" sz="1000" err="1">
                <a:solidFill>
                  <a:srgbClr val="47556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optimise</a:t>
            </a:r>
            <a:r>
              <a:rPr lang="en-US" sz="1000">
                <a:solidFill>
                  <a:srgbClr val="47556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your cost</a:t>
            </a:r>
            <a:endParaRPr lang="en-US" sz="1000"/>
          </a:p>
        </p:txBody>
      </p:sp>
      <p:sp>
        <p:nvSpPr>
          <p:cNvPr id="35" name="Text 25"/>
          <p:cNvSpPr txBox="1"/>
          <p:nvPr/>
        </p:nvSpPr>
        <p:spPr>
          <a:xfrm>
            <a:off x="8896198" y="4380890"/>
            <a:ext cx="2496312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i="1">
                <a:solidFill>
                  <a:srgbClr val="94A3B8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Not offered</a:t>
            </a:r>
            <a:endParaRPr lang="en-US" sz="1000"/>
          </a:p>
        </p:txBody>
      </p:sp>
      <p:sp>
        <p:nvSpPr>
          <p:cNvPr id="36" name="Text 26"/>
          <p:cNvSpPr txBox="1"/>
          <p:nvPr/>
        </p:nvSpPr>
        <p:spPr>
          <a:xfrm>
            <a:off x="609905" y="5191049"/>
            <a:ext cx="2143354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>
                <a:solidFill>
                  <a:srgbClr val="334155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Talent &amp; Managed Services</a:t>
            </a:r>
            <a:endParaRPr lang="en-US" sz="1000"/>
          </a:p>
        </p:txBody>
      </p:sp>
      <p:sp>
        <p:nvSpPr>
          <p:cNvPr id="37" name="Text 27"/>
          <p:cNvSpPr txBox="1"/>
          <p:nvPr/>
        </p:nvSpPr>
        <p:spPr>
          <a:xfrm>
            <a:off x="2895905" y="5007254"/>
            <a:ext cx="2762402" cy="5239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>
                <a:solidFill>
                  <a:srgbClr val="1118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7,200+ in-house consultants · 300+ recruiters · 2 proprietary hiring platforms · No subcontracting</a:t>
            </a:r>
            <a:endParaRPr lang="en-US" sz="1000"/>
          </a:p>
        </p:txBody>
      </p:sp>
      <p:sp>
        <p:nvSpPr>
          <p:cNvPr id="38" name="Text 28"/>
          <p:cNvSpPr txBox="1"/>
          <p:nvPr/>
        </p:nvSpPr>
        <p:spPr>
          <a:xfrm>
            <a:off x="6038698" y="5094122"/>
            <a:ext cx="2477110" cy="3529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>
                <a:solidFill>
                  <a:srgbClr val="47556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Frequently subcontract. No proprietary hiring platforms</a:t>
            </a:r>
            <a:endParaRPr lang="en-US" sz="1000"/>
          </a:p>
        </p:txBody>
      </p:sp>
      <p:sp>
        <p:nvSpPr>
          <p:cNvPr id="39" name="Text 29"/>
          <p:cNvSpPr txBox="1"/>
          <p:nvPr/>
        </p:nvSpPr>
        <p:spPr>
          <a:xfrm>
            <a:off x="8896198" y="5094122"/>
            <a:ext cx="2496312" cy="3529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>
                <a:solidFill>
                  <a:srgbClr val="47556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Lacks SME depth &amp; governance. Outcome ownership absent</a:t>
            </a:r>
            <a:endParaRPr lang="en-US" sz="1000"/>
          </a:p>
        </p:txBody>
      </p:sp>
      <p:sp>
        <p:nvSpPr>
          <p:cNvPr id="40" name="Shape 30"/>
          <p:cNvSpPr/>
          <p:nvPr/>
        </p:nvSpPr>
        <p:spPr>
          <a:xfrm>
            <a:off x="2315261" y="5762549"/>
            <a:ext cx="9144" cy="828446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Text 31"/>
          <p:cNvSpPr txBox="1"/>
          <p:nvPr/>
        </p:nvSpPr>
        <p:spPr>
          <a:xfrm>
            <a:off x="1185062" y="6072530"/>
            <a:ext cx="104333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56">
                <a:solidFill>
                  <a:srgbClr val="64748B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 KEY METRICS</a:t>
            </a:r>
            <a:endParaRPr lang="en-US" sz="1100"/>
          </a:p>
        </p:txBody>
      </p:sp>
      <p:pic>
        <p:nvPicPr>
          <p:cNvPr id="42" name="Image 8" descr="gen-dedup-0bed6a635fcb1d23b7a23c5aaedf5133.png"/>
          <p:cNvPicPr>
            <a:picLocks noChangeAspect="1"/>
          </p:cNvPicPr>
          <p:nvPr/>
        </p:nvPicPr>
        <p:blipFill>
          <a:blip r:embed="rId8"/>
          <a:srcRect l="-3526" r="-3526"/>
          <a:stretch/>
        </p:blipFill>
        <p:spPr>
          <a:xfrm>
            <a:off x="913486" y="6118250"/>
            <a:ext cx="152705" cy="142646"/>
          </a:xfrm>
          <a:prstGeom prst="rect">
            <a:avLst/>
          </a:prstGeom>
        </p:spPr>
      </p:pic>
      <p:sp>
        <p:nvSpPr>
          <p:cNvPr id="43" name="Text 32"/>
          <p:cNvSpPr txBox="1"/>
          <p:nvPr/>
        </p:nvSpPr>
        <p:spPr>
          <a:xfrm>
            <a:off x="2506370" y="5981090"/>
            <a:ext cx="163860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>
                <a:solidFill>
                  <a:srgbClr val="D62839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5,500</a:t>
            </a:r>
            <a:endParaRPr lang="en-US" sz="1800"/>
          </a:p>
        </p:txBody>
      </p:sp>
      <p:sp>
        <p:nvSpPr>
          <p:cNvPr id="44" name="Text 33"/>
          <p:cNvSpPr txBox="1"/>
          <p:nvPr/>
        </p:nvSpPr>
        <p:spPr>
          <a:xfrm>
            <a:off x="2506370" y="6247181"/>
            <a:ext cx="1638605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>
                <a:solidFill>
                  <a:srgbClr val="47556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In-house Consultants</a:t>
            </a:r>
            <a:endParaRPr lang="en-US" sz="800"/>
          </a:p>
        </p:txBody>
      </p:sp>
      <p:pic>
        <p:nvPicPr>
          <p:cNvPr id="45" name="Image 9" descr="gen-dedup-bc499f386c10f37c45470adccc65c0cd.png"/>
          <p:cNvPicPr>
            <a:picLocks noChangeAspect="1"/>
          </p:cNvPicPr>
          <p:nvPr/>
        </p:nvPicPr>
        <p:blipFill>
          <a:blip r:embed="rId9"/>
          <a:srcRect t="-2165" b="-2165"/>
          <a:stretch/>
        </p:blipFill>
        <p:spPr>
          <a:xfrm>
            <a:off x="4225442" y="6034126"/>
            <a:ext cx="9144" cy="286207"/>
          </a:xfrm>
          <a:prstGeom prst="rect">
            <a:avLst/>
          </a:prstGeom>
        </p:spPr>
      </p:pic>
      <p:sp>
        <p:nvSpPr>
          <p:cNvPr id="46" name="Text 34"/>
          <p:cNvSpPr txBox="1"/>
          <p:nvPr/>
        </p:nvSpPr>
        <p:spPr>
          <a:xfrm>
            <a:off x="4321454" y="5981090"/>
            <a:ext cx="163860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>
                <a:solidFill>
                  <a:srgbClr val="2A9D8F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6</a:t>
            </a:r>
            <a:r>
              <a:rPr lang="en-US" sz="1800" b="1">
                <a:solidFill>
                  <a:srgbClr val="2A9D8F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0+</a:t>
            </a:r>
            <a:endParaRPr lang="en-US" sz="1800"/>
          </a:p>
        </p:txBody>
      </p:sp>
      <p:sp>
        <p:nvSpPr>
          <p:cNvPr id="47" name="Text 35"/>
          <p:cNvSpPr txBox="1"/>
          <p:nvPr/>
        </p:nvSpPr>
        <p:spPr>
          <a:xfrm>
            <a:off x="4321454" y="6247181"/>
            <a:ext cx="1638605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>
                <a:solidFill>
                  <a:srgbClr val="47556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AI Accelerators</a:t>
            </a:r>
            <a:endParaRPr lang="en-US" sz="800"/>
          </a:p>
        </p:txBody>
      </p:sp>
      <p:pic>
        <p:nvPicPr>
          <p:cNvPr id="48" name="Image 10" descr="gen-dedup-bc499f386c10f37c45470adccc65c0cd.png"/>
          <p:cNvPicPr>
            <a:picLocks noChangeAspect="1"/>
          </p:cNvPicPr>
          <p:nvPr/>
        </p:nvPicPr>
        <p:blipFill>
          <a:blip r:embed="rId9"/>
          <a:srcRect t="-2165" b="-2165"/>
          <a:stretch/>
        </p:blipFill>
        <p:spPr>
          <a:xfrm>
            <a:off x="6040526" y="6034126"/>
            <a:ext cx="9144" cy="286207"/>
          </a:xfrm>
          <a:prstGeom prst="rect">
            <a:avLst/>
          </a:prstGeom>
        </p:spPr>
      </p:pic>
      <p:sp>
        <p:nvSpPr>
          <p:cNvPr id="49" name="Text 36"/>
          <p:cNvSpPr txBox="1"/>
          <p:nvPr/>
        </p:nvSpPr>
        <p:spPr>
          <a:xfrm>
            <a:off x="6137453" y="5981090"/>
            <a:ext cx="163860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>
                <a:solidFill>
                  <a:srgbClr val="D62839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30-40%</a:t>
            </a:r>
            <a:endParaRPr lang="en-US" sz="1800"/>
          </a:p>
        </p:txBody>
      </p:sp>
      <p:sp>
        <p:nvSpPr>
          <p:cNvPr id="50" name="Text 37"/>
          <p:cNvSpPr txBox="1"/>
          <p:nvPr/>
        </p:nvSpPr>
        <p:spPr>
          <a:xfrm>
            <a:off x="6137453" y="6247181"/>
            <a:ext cx="1638605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>
                <a:solidFill>
                  <a:srgbClr val="47556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AI OPEX Reduction</a:t>
            </a:r>
            <a:endParaRPr lang="en-US" sz="800"/>
          </a:p>
        </p:txBody>
      </p:sp>
      <p:pic>
        <p:nvPicPr>
          <p:cNvPr id="51" name="Image 11" descr="gen-dedup-bc499f386c10f37c45470adccc65c0cd.png"/>
          <p:cNvPicPr>
            <a:picLocks noChangeAspect="1"/>
          </p:cNvPicPr>
          <p:nvPr/>
        </p:nvPicPr>
        <p:blipFill>
          <a:blip r:embed="rId9"/>
          <a:srcRect t="-2165" b="-2165"/>
          <a:stretch/>
        </p:blipFill>
        <p:spPr>
          <a:xfrm>
            <a:off x="7856525" y="6034126"/>
            <a:ext cx="9144" cy="286207"/>
          </a:xfrm>
          <a:prstGeom prst="rect">
            <a:avLst/>
          </a:prstGeom>
        </p:spPr>
      </p:pic>
      <p:sp>
        <p:nvSpPr>
          <p:cNvPr id="52" name="Text 38"/>
          <p:cNvSpPr txBox="1"/>
          <p:nvPr/>
        </p:nvSpPr>
        <p:spPr>
          <a:xfrm>
            <a:off x="7952537" y="5981090"/>
            <a:ext cx="163860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>
                <a:solidFill>
                  <a:srgbClr val="2A9D8F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Weeks</a:t>
            </a:r>
            <a:endParaRPr lang="en-US" sz="1800"/>
          </a:p>
        </p:txBody>
      </p:sp>
      <p:sp>
        <p:nvSpPr>
          <p:cNvPr id="53" name="Text 39"/>
          <p:cNvSpPr txBox="1"/>
          <p:nvPr/>
        </p:nvSpPr>
        <p:spPr>
          <a:xfrm>
            <a:off x="7952537" y="6247181"/>
            <a:ext cx="1638605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>
                <a:solidFill>
                  <a:srgbClr val="47556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PoC to Production</a:t>
            </a:r>
            <a:endParaRPr lang="en-US" sz="800"/>
          </a:p>
        </p:txBody>
      </p:sp>
      <p:pic>
        <p:nvPicPr>
          <p:cNvPr id="54" name="Image 12" descr="gen-dedup-bc499f386c10f37c45470adccc65c0cd.png"/>
          <p:cNvPicPr>
            <a:picLocks noChangeAspect="1"/>
          </p:cNvPicPr>
          <p:nvPr/>
        </p:nvPicPr>
        <p:blipFill>
          <a:blip r:embed="rId9"/>
          <a:srcRect t="-2165" b="-2165"/>
          <a:stretch/>
        </p:blipFill>
        <p:spPr>
          <a:xfrm>
            <a:off x="9671609" y="6034126"/>
            <a:ext cx="9144" cy="286207"/>
          </a:xfrm>
          <a:prstGeom prst="rect">
            <a:avLst/>
          </a:prstGeom>
        </p:spPr>
      </p:pic>
      <p:sp>
        <p:nvSpPr>
          <p:cNvPr id="55" name="Text 40"/>
          <p:cNvSpPr txBox="1"/>
          <p:nvPr/>
        </p:nvSpPr>
        <p:spPr>
          <a:xfrm>
            <a:off x="9767621" y="5981090"/>
            <a:ext cx="163860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>
                <a:solidFill>
                  <a:srgbClr val="D62839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0</a:t>
            </a:r>
            <a:endParaRPr lang="en-US" sz="1800"/>
          </a:p>
        </p:txBody>
      </p:sp>
      <p:sp>
        <p:nvSpPr>
          <p:cNvPr id="56" name="Text 41"/>
          <p:cNvSpPr txBox="1"/>
          <p:nvPr/>
        </p:nvSpPr>
        <p:spPr>
          <a:xfrm>
            <a:off x="9767621" y="6247181"/>
            <a:ext cx="1638605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>
                <a:solidFill>
                  <a:srgbClr val="47556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Subcontracting</a:t>
            </a:r>
            <a:endParaRPr lang="en-US" sz="800"/>
          </a:p>
        </p:txBody>
      </p:sp>
    </p:spTree>
    <p:extLst>
      <p:ext uri="{BB962C8B-B14F-4D97-AF65-F5344CB8AC3E}">
        <p14:creationId xmlns:p14="http://schemas.microsoft.com/office/powerpoint/2010/main" val="307276881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32585" y="232488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ts val="2940"/>
              </a:lnSpc>
            </a:pPr>
            <a:r>
              <a:rPr lang="en-US" sz="2400" b="1" dirty="0">
                <a:solidFill>
                  <a:srgbClr val="1B2A4A"/>
                </a:solidFill>
                <a:latin typeface="Oswald" panose="00000500000000000000" pitchFamily="2" charset="0"/>
                <a:ea typeface="Georgia" pitchFamily="34" charset="-122"/>
                <a:cs typeface="Georgia" pitchFamily="34" charset="-120"/>
              </a:rPr>
              <a:t>OUR ENGAGEMENT MODEL</a:t>
            </a:r>
            <a:endParaRPr lang="en-US" sz="2400" dirty="0">
              <a:latin typeface="Oswald" panose="00000500000000000000" pitchFamily="2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832585" y="81576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500" b="1" dirty="0">
                <a:solidFill>
                  <a:srgbClr val="2A9D8F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Three Ways To Engage - Each Built Around How The Workforce Is Hired, Held And Transitioned To You.</a:t>
            </a:r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3529584" cy="2286000"/>
          </a:xfrm>
          <a:prstGeom prst="rect">
            <a:avLst/>
          </a:prstGeom>
          <a:solidFill>
            <a:srgbClr val="F4F6FA"/>
          </a:solidFill>
          <a:ln/>
          <a:effectLst>
            <a:outerShdw blurRad="889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>
              <a:latin typeface="Raleway" pitchFamily="2" charset="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914400" y="2148840"/>
            <a:ext cx="603504" cy="603504"/>
          </a:xfrm>
          <a:prstGeom prst="ellipse">
            <a:avLst/>
          </a:prstGeom>
          <a:solidFill>
            <a:srgbClr val="E9EEF6"/>
          </a:solidFill>
          <a:ln/>
        </p:spPr>
        <p:txBody>
          <a:bodyPr/>
          <a:lstStyle/>
          <a:p>
            <a:endParaRPr lang="en-IN">
              <a:latin typeface="Raleway" pitchFamily="2" charset="0"/>
            </a:endParaRPr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9848" y="2304288"/>
            <a:ext cx="292608" cy="29260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627632" y="2148840"/>
            <a:ext cx="2432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200" b="1">
                <a:solidFill>
                  <a:srgbClr val="1B2A4A"/>
                </a:solidFill>
                <a:latin typeface="Raleway" pitchFamily="2" charset="0"/>
                <a:ea typeface="Georgia" pitchFamily="34" charset="-122"/>
                <a:cs typeface="Georgia" pitchFamily="34" charset="-120"/>
              </a:rPr>
              <a:t>BOT</a:t>
            </a:r>
            <a:endParaRPr lang="en-US" sz="2200">
              <a:latin typeface="Raleway" pitchFamily="2" charset="0"/>
            </a:endParaRPr>
          </a:p>
        </p:txBody>
      </p:sp>
      <p:sp>
        <p:nvSpPr>
          <p:cNvPr id="9" name="Text 6"/>
          <p:cNvSpPr/>
          <p:nvPr/>
        </p:nvSpPr>
        <p:spPr>
          <a:xfrm>
            <a:off x="1627632" y="2532888"/>
            <a:ext cx="2432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00" b="1">
                <a:solidFill>
                  <a:srgbClr val="147A6F"/>
                </a:solidFill>
                <a:latin typeface="Raleway" pitchFamily="2" charset="0"/>
                <a:ea typeface="Calibri" pitchFamily="34" charset="-122"/>
                <a:cs typeface="Calibri" pitchFamily="34" charset="-120"/>
              </a:rPr>
              <a:t>Build–Operate–Transfer</a:t>
            </a:r>
            <a:endParaRPr lang="en-US" sz="1000">
              <a:latin typeface="Raleway" pitchFamily="2" charset="0"/>
            </a:endParaRPr>
          </a:p>
        </p:txBody>
      </p:sp>
      <p:sp>
        <p:nvSpPr>
          <p:cNvPr id="10" name="Text 7"/>
          <p:cNvSpPr/>
          <p:nvPr/>
        </p:nvSpPr>
        <p:spPr>
          <a:xfrm>
            <a:off x="914400" y="2898648"/>
            <a:ext cx="302666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ts val="1300"/>
              </a:lnSpc>
            </a:pPr>
            <a:r>
              <a:rPr lang="en-US" sz="1031" dirty="0">
                <a:solidFill>
                  <a:srgbClr val="16203A"/>
                </a:solidFill>
                <a:latin typeface="Raleway" pitchFamily="2" charset="0"/>
                <a:ea typeface="Calibri" pitchFamily="34" charset="-122"/>
                <a:cs typeface="Calibri" pitchFamily="34" charset="-120"/>
              </a:rPr>
              <a:t>We hire, build and run the team, then transfer the workforce to your payroll on a defined timeline. Clean, de-risked path - ideal for Southwest's phased scale to 1,000+.</a:t>
            </a:r>
            <a:endParaRPr lang="en-US" sz="1031" dirty="0">
              <a:latin typeface="Raleway" pitchFamily="2" charset="0"/>
            </a:endParaRPr>
          </a:p>
        </p:txBody>
      </p:sp>
      <p:sp>
        <p:nvSpPr>
          <p:cNvPr id="11" name="Shape 8"/>
          <p:cNvSpPr/>
          <p:nvPr/>
        </p:nvSpPr>
        <p:spPr>
          <a:xfrm>
            <a:off x="4370832" y="1874520"/>
            <a:ext cx="3529584" cy="2286000"/>
          </a:xfrm>
          <a:prstGeom prst="rect">
            <a:avLst/>
          </a:prstGeom>
          <a:solidFill>
            <a:srgbClr val="F4F6FA"/>
          </a:solidFill>
          <a:ln/>
          <a:effectLst>
            <a:outerShdw blurRad="889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>
              <a:latin typeface="Raleway" pitchFamily="2" charset="0"/>
            </a:endParaRPr>
          </a:p>
        </p:txBody>
      </p:sp>
      <p:sp>
        <p:nvSpPr>
          <p:cNvPr id="13" name="Shape 10"/>
          <p:cNvSpPr/>
          <p:nvPr/>
        </p:nvSpPr>
        <p:spPr>
          <a:xfrm>
            <a:off x="4645152" y="2148840"/>
            <a:ext cx="603504" cy="603504"/>
          </a:xfrm>
          <a:prstGeom prst="ellipse">
            <a:avLst/>
          </a:prstGeom>
          <a:solidFill>
            <a:srgbClr val="E9EEF6"/>
          </a:solidFill>
          <a:ln/>
        </p:spPr>
        <p:txBody>
          <a:bodyPr/>
          <a:lstStyle/>
          <a:p>
            <a:endParaRPr lang="en-IN">
              <a:latin typeface="Raleway" pitchFamily="2" charset="0"/>
            </a:endParaRPr>
          </a:p>
        </p:txBody>
      </p:sp>
      <p:pic>
        <p:nvPicPr>
          <p:cNvPr id="1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00600" y="2304288"/>
            <a:ext cx="292608" cy="292608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5358384" y="2148840"/>
            <a:ext cx="2432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200" b="1">
                <a:solidFill>
                  <a:srgbClr val="1B2A4A"/>
                </a:solidFill>
                <a:latin typeface="Raleway" pitchFamily="2" charset="0"/>
                <a:ea typeface="Georgia" pitchFamily="34" charset="-122"/>
                <a:cs typeface="Georgia" pitchFamily="34" charset="-120"/>
              </a:rPr>
              <a:t>CaaS</a:t>
            </a:r>
            <a:endParaRPr lang="en-US" sz="2200">
              <a:latin typeface="Raleway" pitchFamily="2" charset="0"/>
            </a:endParaRPr>
          </a:p>
        </p:txBody>
      </p:sp>
      <p:sp>
        <p:nvSpPr>
          <p:cNvPr id="16" name="Text 12"/>
          <p:cNvSpPr/>
          <p:nvPr/>
        </p:nvSpPr>
        <p:spPr>
          <a:xfrm>
            <a:off x="5358384" y="2532888"/>
            <a:ext cx="2432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00" b="1">
                <a:solidFill>
                  <a:srgbClr val="147A6F"/>
                </a:solidFill>
                <a:latin typeface="Raleway" pitchFamily="2" charset="0"/>
                <a:ea typeface="Calibri" pitchFamily="34" charset="-122"/>
                <a:cs typeface="Calibri" pitchFamily="34" charset="-120"/>
              </a:rPr>
              <a:t>Captive-as-a-Service</a:t>
            </a:r>
            <a:endParaRPr lang="en-US" sz="1000">
              <a:latin typeface="Raleway" pitchFamily="2" charset="0"/>
            </a:endParaRPr>
          </a:p>
        </p:txBody>
      </p:sp>
      <p:sp>
        <p:nvSpPr>
          <p:cNvPr id="17" name="Text 13"/>
          <p:cNvSpPr/>
          <p:nvPr/>
        </p:nvSpPr>
        <p:spPr>
          <a:xfrm>
            <a:off x="4645152" y="2898648"/>
            <a:ext cx="302666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ts val="1300"/>
              </a:lnSpc>
            </a:pPr>
            <a:r>
              <a:rPr lang="en-US" sz="1031">
                <a:solidFill>
                  <a:srgbClr val="16203A"/>
                </a:solidFill>
                <a:latin typeface="Raleway" pitchFamily="2" charset="0"/>
                <a:ea typeface="Calibri" pitchFamily="34" charset="-122"/>
                <a:cs typeface="Calibri" pitchFamily="34" charset="-120"/>
              </a:rPr>
              <a:t>We hold the employment and operating layer; you direct the work. Zero-capex, variable workforce that flexes with demand.</a:t>
            </a:r>
            <a:endParaRPr lang="en-US" sz="1031">
              <a:latin typeface="Raleway" pitchFamily="2" charset="0"/>
            </a:endParaRPr>
          </a:p>
        </p:txBody>
      </p:sp>
      <p:sp>
        <p:nvSpPr>
          <p:cNvPr id="18" name="Shape 14"/>
          <p:cNvSpPr/>
          <p:nvPr/>
        </p:nvSpPr>
        <p:spPr>
          <a:xfrm>
            <a:off x="8101584" y="1874520"/>
            <a:ext cx="3529584" cy="2286000"/>
          </a:xfrm>
          <a:prstGeom prst="rect">
            <a:avLst/>
          </a:prstGeom>
          <a:solidFill>
            <a:srgbClr val="F4F6FA"/>
          </a:solidFill>
          <a:ln/>
          <a:effectLst>
            <a:outerShdw blurRad="889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>
              <a:latin typeface="Raleway" pitchFamily="2" charset="0"/>
            </a:endParaRPr>
          </a:p>
        </p:txBody>
      </p:sp>
      <p:sp>
        <p:nvSpPr>
          <p:cNvPr id="20" name="Shape 16"/>
          <p:cNvSpPr/>
          <p:nvPr/>
        </p:nvSpPr>
        <p:spPr>
          <a:xfrm>
            <a:off x="8375904" y="2148840"/>
            <a:ext cx="603504" cy="603504"/>
          </a:xfrm>
          <a:prstGeom prst="ellipse">
            <a:avLst/>
          </a:prstGeom>
          <a:solidFill>
            <a:srgbClr val="E9EEF6"/>
          </a:solidFill>
          <a:ln/>
        </p:spPr>
        <p:txBody>
          <a:bodyPr/>
          <a:lstStyle/>
          <a:p>
            <a:endParaRPr lang="en-IN">
              <a:latin typeface="Raleway" pitchFamily="2" charset="0"/>
            </a:endParaRPr>
          </a:p>
        </p:txBody>
      </p:sp>
      <p:pic>
        <p:nvPicPr>
          <p:cNvPr id="2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31352" y="2304288"/>
            <a:ext cx="292608" cy="292608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9089136" y="2148840"/>
            <a:ext cx="2432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200" b="1">
                <a:solidFill>
                  <a:srgbClr val="1B2A4A"/>
                </a:solidFill>
                <a:latin typeface="Raleway" pitchFamily="2" charset="0"/>
                <a:ea typeface="Georgia" pitchFamily="34" charset="-122"/>
                <a:cs typeface="Georgia" pitchFamily="34" charset="-120"/>
              </a:rPr>
              <a:t>HYBRID</a:t>
            </a:r>
            <a:endParaRPr lang="en-US" sz="2200">
              <a:latin typeface="Raleway" pitchFamily="2" charset="0"/>
            </a:endParaRPr>
          </a:p>
        </p:txBody>
      </p:sp>
      <p:sp>
        <p:nvSpPr>
          <p:cNvPr id="23" name="Text 18"/>
          <p:cNvSpPr/>
          <p:nvPr/>
        </p:nvSpPr>
        <p:spPr>
          <a:xfrm>
            <a:off x="9089136" y="2532888"/>
            <a:ext cx="2432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00" b="1">
                <a:solidFill>
                  <a:srgbClr val="147A6F"/>
                </a:solidFill>
                <a:latin typeface="Raleway" pitchFamily="2" charset="0"/>
                <a:ea typeface="Calibri" pitchFamily="34" charset="-122"/>
                <a:cs typeface="Calibri" pitchFamily="34" charset="-120"/>
              </a:rPr>
              <a:t>Calibrated to mandate</a:t>
            </a:r>
            <a:endParaRPr lang="en-US" sz="1000">
              <a:latin typeface="Raleway" pitchFamily="2" charset="0"/>
            </a:endParaRPr>
          </a:p>
        </p:txBody>
      </p:sp>
      <p:sp>
        <p:nvSpPr>
          <p:cNvPr id="24" name="Text 19"/>
          <p:cNvSpPr/>
          <p:nvPr/>
        </p:nvSpPr>
        <p:spPr>
          <a:xfrm>
            <a:off x="8375904" y="2898648"/>
            <a:ext cx="302666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ts val="1300"/>
              </a:lnSpc>
            </a:pPr>
            <a:r>
              <a:rPr lang="en-US" sz="1031">
                <a:solidFill>
                  <a:srgbClr val="16203A"/>
                </a:solidFill>
                <a:latin typeface="Raleway" pitchFamily="2" charset="0"/>
                <a:ea typeface="Calibri" pitchFamily="34" charset="-122"/>
                <a:cs typeface="Calibri" pitchFamily="34" charset="-120"/>
              </a:rPr>
              <a:t>Core IP and leadership hired direct to you; scale roles stay on our books and transition on a ~3-month cadence. Most common for AI-first hubs.</a:t>
            </a:r>
            <a:endParaRPr lang="en-US" sz="1031">
              <a:latin typeface="Raleway" pitchFamily="2" charset="0"/>
            </a:endParaRPr>
          </a:p>
        </p:txBody>
      </p:sp>
      <p:sp>
        <p:nvSpPr>
          <p:cNvPr id="25" name="Shape 20"/>
          <p:cNvSpPr/>
          <p:nvPr/>
        </p:nvSpPr>
        <p:spPr>
          <a:xfrm>
            <a:off x="640082" y="4434839"/>
            <a:ext cx="10911535" cy="1715703"/>
          </a:xfrm>
          <a:prstGeom prst="rect">
            <a:avLst/>
          </a:prstGeom>
          <a:solidFill>
            <a:schemeClr val="bg1">
              <a:lumMod val="95000"/>
            </a:schemeClr>
          </a:solidFill>
          <a:ln/>
          <a:effectLst>
            <a:outerShdw blurRad="114300" dist="38100" dir="81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en-IN">
              <a:latin typeface="Raleway" pitchFamily="2" charset="0"/>
            </a:endParaRPr>
          </a:p>
        </p:txBody>
      </p:sp>
      <p:sp>
        <p:nvSpPr>
          <p:cNvPr id="27" name="Text 22"/>
          <p:cNvSpPr/>
          <p:nvPr/>
        </p:nvSpPr>
        <p:spPr>
          <a:xfrm>
            <a:off x="960120" y="4608576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b="1" kern="0" spc="151" dirty="0">
                <a:solidFill>
                  <a:srgbClr val="2A9D8F"/>
                </a:solidFill>
                <a:latin typeface="Raleway" pitchFamily="2" charset="0"/>
                <a:ea typeface="Calibri" pitchFamily="34" charset="-122"/>
                <a:cs typeface="Calibri" pitchFamily="34" charset="-120"/>
              </a:rPr>
              <a:t>HOW WE POSITION THE PARTNERSHIP</a:t>
            </a:r>
            <a:endParaRPr lang="en-US" sz="1100" dirty="0">
              <a:solidFill>
                <a:srgbClr val="2A9D8F"/>
              </a:solidFill>
              <a:latin typeface="Raleway" pitchFamily="2" charset="0"/>
            </a:endParaRPr>
          </a:p>
        </p:txBody>
      </p:sp>
      <p:sp>
        <p:nvSpPr>
          <p:cNvPr id="28" name="Text 23"/>
          <p:cNvSpPr/>
          <p:nvPr/>
        </p:nvSpPr>
        <p:spPr>
          <a:xfrm>
            <a:off x="960120" y="4901184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00" b="1" i="1">
                <a:latin typeface="Raleway" pitchFamily="2" charset="0"/>
                <a:ea typeface="Georgia" pitchFamily="34" charset="-122"/>
                <a:cs typeface="Georgia" pitchFamily="34" charset="-120"/>
              </a:rPr>
              <a:t>“We set up the GCC, build the culture, build the pods, and find your leaders.”</a:t>
            </a:r>
            <a:endParaRPr lang="en-US" sz="1600">
              <a:latin typeface="Raleway" pitchFamily="2" charset="0"/>
            </a:endParaRPr>
          </a:p>
        </p:txBody>
      </p:sp>
      <p:sp>
        <p:nvSpPr>
          <p:cNvPr id="29" name="Text 24"/>
          <p:cNvSpPr/>
          <p:nvPr/>
        </p:nvSpPr>
        <p:spPr>
          <a:xfrm>
            <a:off x="1005840" y="5321808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65096" indent="-165096">
              <a:lnSpc>
                <a:spcPts val="1300"/>
              </a:lnSpc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latin typeface="Raleway" pitchFamily="2" charset="0"/>
                <a:ea typeface="Calibri" pitchFamily="34" charset="-122"/>
                <a:cs typeface="Calibri" pitchFamily="34" charset="-120"/>
              </a:rPr>
              <a:t>Core IP &amp; leadership roles are yours - placed full-time, not contract-to-hire</a:t>
            </a:r>
            <a:endParaRPr lang="en-US" sz="1100" dirty="0">
              <a:latin typeface="Raleway" pitchFamily="2" charset="0"/>
            </a:endParaRPr>
          </a:p>
          <a:p>
            <a:pPr marL="165096" indent="-165096">
              <a:lnSpc>
                <a:spcPts val="1300"/>
              </a:lnSpc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latin typeface="Raleway" pitchFamily="2" charset="0"/>
                <a:ea typeface="Calibri" pitchFamily="34" charset="-122"/>
                <a:cs typeface="Calibri" pitchFamily="34" charset="-120"/>
              </a:rPr>
              <a:t>Scale roles flex on our books; transition on a ~3-month cadence as demand matures</a:t>
            </a:r>
            <a:endParaRPr lang="en-US" sz="1100" dirty="0">
              <a:latin typeface="Raleway" pitchFamily="2" charset="0"/>
            </a:endParaRPr>
          </a:p>
          <a:p>
            <a:pPr marL="165096" indent="-165096">
              <a:lnSpc>
                <a:spcPts val="1300"/>
              </a:lnSpc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latin typeface="Raleway" pitchFamily="2" charset="0"/>
                <a:ea typeface="Calibri" pitchFamily="34" charset="-122"/>
                <a:cs typeface="Calibri" pitchFamily="34" charset="-120"/>
              </a:rPr>
              <a:t>One integrated partner across advisory, talent, AI engineering &amp; operations</a:t>
            </a:r>
            <a:endParaRPr lang="en-US" sz="1100" dirty="0">
              <a:latin typeface="Raleway" pitchFamily="2" charset="0"/>
            </a:endParaRPr>
          </a:p>
        </p:txBody>
      </p:sp>
      <p:pic>
        <p:nvPicPr>
          <p:cNvPr id="34" name="Image 3" descr="gen-dedup-ef527bea2207a14ec6e8d4c8ae9cdc45.png">
            <a:extLst>
              <a:ext uri="{FF2B5EF4-FFF2-40B4-BE49-F238E27FC236}">
                <a16:creationId xmlns:a16="http://schemas.microsoft.com/office/drawing/2014/main" id="{5A7B537F-DECD-1F9B-8D25-05DE49759328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-384" r="-384"/>
          <a:stretch/>
        </p:blipFill>
        <p:spPr>
          <a:xfrm>
            <a:off x="609905" y="513893"/>
            <a:ext cx="57607" cy="476402"/>
          </a:xfrm>
          <a:prstGeom prst="rect">
            <a:avLst/>
          </a:prstGeom>
        </p:spPr>
      </p:pic>
      <p:pic>
        <p:nvPicPr>
          <p:cNvPr id="36" name="Image 1" descr="gen-dedup-323228122ff92d2332e711a84ca3b40c.png">
            <a:extLst>
              <a:ext uri="{FF2B5EF4-FFF2-40B4-BE49-F238E27FC236}">
                <a16:creationId xmlns:a16="http://schemas.microsoft.com/office/drawing/2014/main" id="{7BDFB49D-4770-417A-3427-BB22271B7916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-198" r="-198"/>
          <a:stretch/>
        </p:blipFill>
        <p:spPr>
          <a:xfrm>
            <a:off x="0" y="0"/>
            <a:ext cx="8124444" cy="75895"/>
          </a:xfrm>
          <a:prstGeom prst="rect">
            <a:avLst/>
          </a:prstGeom>
        </p:spPr>
      </p:pic>
      <p:pic>
        <p:nvPicPr>
          <p:cNvPr id="38" name="Image 2" descr="gen-dedup-9663ecf744b06e35d4c2cebaab92a2ea.png">
            <a:extLst>
              <a:ext uri="{FF2B5EF4-FFF2-40B4-BE49-F238E27FC236}">
                <a16:creationId xmlns:a16="http://schemas.microsoft.com/office/drawing/2014/main" id="{D30CF95D-69D2-B95B-602B-F363E8DFCCDD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l="-202" r="-202"/>
          <a:stretch/>
        </p:blipFill>
        <p:spPr>
          <a:xfrm>
            <a:off x="8124444" y="0"/>
            <a:ext cx="4067251" cy="75895"/>
          </a:xfrm>
          <a:prstGeom prst="rect">
            <a:avLst/>
          </a:prstGeom>
        </p:spPr>
      </p:pic>
      <p:sp>
        <p:nvSpPr>
          <p:cNvPr id="31" name="Shape 4">
            <a:extLst>
              <a:ext uri="{FF2B5EF4-FFF2-40B4-BE49-F238E27FC236}">
                <a16:creationId xmlns:a16="http://schemas.microsoft.com/office/drawing/2014/main" id="{BBCDDA5B-D44E-C7DB-0F83-785E756E9C1B}"/>
              </a:ext>
            </a:extLst>
          </p:cNvPr>
          <p:cNvSpPr/>
          <p:nvPr/>
        </p:nvSpPr>
        <p:spPr>
          <a:xfrm>
            <a:off x="609904" y="1821171"/>
            <a:ext cx="3529583" cy="70121"/>
          </a:xfrm>
          <a:prstGeom prst="roundRect">
            <a:avLst>
              <a:gd name="adj" fmla="val 139034"/>
            </a:avLst>
          </a:prstGeom>
          <a:solidFill>
            <a:srgbClr val="2A9D8F"/>
          </a:solidFill>
          <a:ln w="12700">
            <a:solidFill>
              <a:srgbClr val="2A9D8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Shape 4">
            <a:extLst>
              <a:ext uri="{FF2B5EF4-FFF2-40B4-BE49-F238E27FC236}">
                <a16:creationId xmlns:a16="http://schemas.microsoft.com/office/drawing/2014/main" id="{3E4CD662-29F3-F704-F276-7809D2AFD6D9}"/>
              </a:ext>
            </a:extLst>
          </p:cNvPr>
          <p:cNvSpPr/>
          <p:nvPr/>
        </p:nvSpPr>
        <p:spPr>
          <a:xfrm>
            <a:off x="4350815" y="1830316"/>
            <a:ext cx="3529583" cy="70121"/>
          </a:xfrm>
          <a:prstGeom prst="roundRect">
            <a:avLst>
              <a:gd name="adj" fmla="val 139034"/>
            </a:avLst>
          </a:prstGeom>
          <a:solidFill>
            <a:srgbClr val="2A9D8F"/>
          </a:solidFill>
          <a:ln w="12700">
            <a:solidFill>
              <a:srgbClr val="2A9D8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Shape 4">
            <a:extLst>
              <a:ext uri="{FF2B5EF4-FFF2-40B4-BE49-F238E27FC236}">
                <a16:creationId xmlns:a16="http://schemas.microsoft.com/office/drawing/2014/main" id="{9075DFCB-AF89-7D04-C4FC-01891F6C3BB0}"/>
              </a:ext>
            </a:extLst>
          </p:cNvPr>
          <p:cNvSpPr/>
          <p:nvPr/>
        </p:nvSpPr>
        <p:spPr>
          <a:xfrm>
            <a:off x="8091726" y="1839461"/>
            <a:ext cx="3529583" cy="70121"/>
          </a:xfrm>
          <a:prstGeom prst="roundRect">
            <a:avLst>
              <a:gd name="adj" fmla="val 139034"/>
            </a:avLst>
          </a:prstGeom>
          <a:solidFill>
            <a:srgbClr val="2A9D8F"/>
          </a:solidFill>
          <a:ln w="12700">
            <a:solidFill>
              <a:srgbClr val="2A9D8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Shape 4">
            <a:extLst>
              <a:ext uri="{FF2B5EF4-FFF2-40B4-BE49-F238E27FC236}">
                <a16:creationId xmlns:a16="http://schemas.microsoft.com/office/drawing/2014/main" id="{A97E8DC9-4566-74DF-15C9-E0059E5C68E7}"/>
              </a:ext>
            </a:extLst>
          </p:cNvPr>
          <p:cNvSpPr/>
          <p:nvPr/>
        </p:nvSpPr>
        <p:spPr>
          <a:xfrm rot="5400000" flipV="1">
            <a:off x="-207001" y="5258484"/>
            <a:ext cx="1715701" cy="57605"/>
          </a:xfrm>
          <a:prstGeom prst="roundRect">
            <a:avLst>
              <a:gd name="adj" fmla="val 139034"/>
            </a:avLst>
          </a:prstGeom>
          <a:solidFill>
            <a:srgbClr val="2A9D8F"/>
          </a:solidFill>
          <a:ln w="12700">
            <a:solidFill>
              <a:srgbClr val="2A9D8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371274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810598" y="-952805"/>
            <a:ext cx="2857500" cy="2857500"/>
          </a:xfrm>
          <a:prstGeom prst="ellipse">
            <a:avLst/>
          </a:prstGeom>
          <a:solidFill>
            <a:srgbClr val="2A9D8F">
              <a:alpha val="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-952805" y="3810305"/>
            <a:ext cx="3810305" cy="3810305"/>
          </a:xfrm>
          <a:prstGeom prst="ellipse">
            <a:avLst/>
          </a:prstGeom>
          <a:solidFill>
            <a:srgbClr val="D62839">
              <a:alpha val="3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4" name="Image 0" descr="gen-dedup-34c26b4c5ec9888af3384e8d3541bb01.png"/>
          <p:cNvPicPr>
            <a:picLocks noChangeAspect="1"/>
          </p:cNvPicPr>
          <p:nvPr/>
        </p:nvPicPr>
        <p:blipFill>
          <a:blip r:embed="rId3"/>
          <a:srcRect t="-403" b="-403"/>
          <a:stretch/>
        </p:blipFill>
        <p:spPr>
          <a:xfrm>
            <a:off x="0" y="0"/>
            <a:ext cx="4876495" cy="57607"/>
          </a:xfrm>
          <a:prstGeom prst="rect">
            <a:avLst/>
          </a:prstGeom>
        </p:spPr>
      </p:pic>
      <p:pic>
        <p:nvPicPr>
          <p:cNvPr id="5" name="Image 1" descr="gen-dedup-4fa3233eeced3efae942f87c3fec22ca.png"/>
          <p:cNvPicPr>
            <a:picLocks noChangeAspect="1"/>
          </p:cNvPicPr>
          <p:nvPr/>
        </p:nvPicPr>
        <p:blipFill>
          <a:blip r:embed="rId4"/>
          <a:srcRect t="-400" b="-400"/>
          <a:stretch/>
        </p:blipFill>
        <p:spPr>
          <a:xfrm>
            <a:off x="4876495" y="0"/>
            <a:ext cx="7315200" cy="57607"/>
          </a:xfrm>
          <a:prstGeom prst="rect">
            <a:avLst/>
          </a:prstGeom>
        </p:spPr>
      </p:pic>
      <p:pic>
        <p:nvPicPr>
          <p:cNvPr id="6" name="Image 2" descr="gen-dedup-75d82f7445d1942c6539817bc8ac9cde.png"/>
          <p:cNvPicPr>
            <a:picLocks noChangeAspect="1"/>
          </p:cNvPicPr>
          <p:nvPr/>
        </p:nvPicPr>
        <p:blipFill>
          <a:blip r:embed="rId5"/>
          <a:srcRect l="-360" r="-360"/>
          <a:stretch/>
        </p:blipFill>
        <p:spPr>
          <a:xfrm>
            <a:off x="381305" y="437998"/>
            <a:ext cx="38405" cy="381305"/>
          </a:xfrm>
          <a:prstGeom prst="rect">
            <a:avLst/>
          </a:prstGeom>
        </p:spPr>
      </p:pic>
      <p:pic>
        <p:nvPicPr>
          <p:cNvPr id="7" name="Image 3" descr="gen-dedup-7f61158598543fc796bb3c2c27f958a4.png"/>
          <p:cNvPicPr>
            <a:picLocks noChangeAspect="1"/>
          </p:cNvPicPr>
          <p:nvPr/>
        </p:nvPicPr>
        <p:blipFill>
          <a:blip r:embed="rId6"/>
          <a:srcRect t="-388" b="-388"/>
          <a:stretch/>
        </p:blipFill>
        <p:spPr>
          <a:xfrm>
            <a:off x="1548555" y="1437870"/>
            <a:ext cx="1295705" cy="19202"/>
          </a:xfrm>
          <a:prstGeom prst="rect">
            <a:avLst/>
          </a:prstGeom>
        </p:spPr>
      </p:pic>
      <p:pic>
        <p:nvPicPr>
          <p:cNvPr id="8" name="Image 4" descr="gen-dedup-7f61158598543fc796bb3c2c27f958a4.png"/>
          <p:cNvPicPr>
            <a:picLocks noChangeAspect="1"/>
          </p:cNvPicPr>
          <p:nvPr/>
        </p:nvPicPr>
        <p:blipFill>
          <a:blip r:embed="rId6"/>
          <a:srcRect t="-388" b="-388"/>
          <a:stretch/>
        </p:blipFill>
        <p:spPr>
          <a:xfrm>
            <a:off x="3454165" y="1437870"/>
            <a:ext cx="1295705" cy="19202"/>
          </a:xfrm>
          <a:prstGeom prst="rect">
            <a:avLst/>
          </a:prstGeom>
        </p:spPr>
      </p:pic>
      <p:pic>
        <p:nvPicPr>
          <p:cNvPr id="9" name="Image 5" descr="gen-dedup-7f61158598543fc796bb3c2c27f958a4.png"/>
          <p:cNvPicPr>
            <a:picLocks noChangeAspect="1"/>
          </p:cNvPicPr>
          <p:nvPr/>
        </p:nvPicPr>
        <p:blipFill>
          <a:blip r:embed="rId6"/>
          <a:srcRect t="-388" b="-388"/>
          <a:stretch/>
        </p:blipFill>
        <p:spPr>
          <a:xfrm>
            <a:off x="5358860" y="1437870"/>
            <a:ext cx="1295705" cy="19202"/>
          </a:xfrm>
          <a:prstGeom prst="rect">
            <a:avLst/>
          </a:prstGeom>
        </p:spPr>
      </p:pic>
      <p:pic>
        <p:nvPicPr>
          <p:cNvPr id="10" name="Image 6" descr="gen-dedup-7f61158598543fc796bb3c2c27f958a4.png"/>
          <p:cNvPicPr>
            <a:picLocks noChangeAspect="1"/>
          </p:cNvPicPr>
          <p:nvPr/>
        </p:nvPicPr>
        <p:blipFill>
          <a:blip r:embed="rId6"/>
          <a:srcRect t="-388" b="-388"/>
          <a:stretch/>
        </p:blipFill>
        <p:spPr>
          <a:xfrm>
            <a:off x="7263555" y="1437870"/>
            <a:ext cx="1295705" cy="19202"/>
          </a:xfrm>
          <a:prstGeom prst="rect">
            <a:avLst/>
          </a:prstGeom>
        </p:spPr>
      </p:pic>
      <p:pic>
        <p:nvPicPr>
          <p:cNvPr id="11" name="Image 7" descr="gen-dedup-7f61158598543fc796bb3c2c27f958a4.png"/>
          <p:cNvPicPr>
            <a:picLocks noChangeAspect="1"/>
          </p:cNvPicPr>
          <p:nvPr/>
        </p:nvPicPr>
        <p:blipFill>
          <a:blip r:embed="rId6"/>
          <a:srcRect t="-388" b="-388"/>
          <a:stretch/>
        </p:blipFill>
        <p:spPr>
          <a:xfrm>
            <a:off x="9169165" y="1437870"/>
            <a:ext cx="1295705" cy="19202"/>
          </a:xfrm>
          <a:prstGeom prst="rect">
            <a:avLst/>
          </a:prstGeom>
        </p:spPr>
      </p:pic>
      <p:sp>
        <p:nvSpPr>
          <p:cNvPr id="12" name="Shape 2"/>
          <p:cNvSpPr/>
          <p:nvPr/>
        </p:nvSpPr>
        <p:spPr>
          <a:xfrm>
            <a:off x="381305" y="4858207"/>
            <a:ext cx="11449202" cy="1666951"/>
          </a:xfrm>
          <a:prstGeom prst="roundRect">
            <a:avLst>
              <a:gd name="adj" fmla="val 4553"/>
            </a:avLst>
          </a:prstGeom>
          <a:solidFill>
            <a:srgbClr val="FFFFFF"/>
          </a:solidFill>
          <a:ln w="12700">
            <a:solidFill>
              <a:srgbClr val="E5E8EE"/>
            </a:solidFill>
            <a:prstDash val="solid"/>
          </a:ln>
          <a:effectLst>
            <a:outerShdw blurRad="114300" dist="38100" dir="16200000" algn="bl" rotWithShape="0">
              <a:srgbClr val="000000">
                <a:alpha val="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3"/>
          <p:cNvSpPr/>
          <p:nvPr/>
        </p:nvSpPr>
        <p:spPr>
          <a:xfrm>
            <a:off x="381305" y="4858207"/>
            <a:ext cx="11449202" cy="38405"/>
          </a:xfrm>
          <a:prstGeom prst="roundRect">
            <a:avLst>
              <a:gd name="adj" fmla="val 197618"/>
            </a:avLst>
          </a:prstGeom>
          <a:solidFill>
            <a:srgbClr val="1F2A44"/>
          </a:solidFill>
          <a:ln w="12700">
            <a:solidFill>
              <a:srgbClr val="1F2A44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>
              <a:latin typeface="Raleway" pitchFamily="2" charset="0"/>
            </a:endParaRPr>
          </a:p>
        </p:txBody>
      </p:sp>
      <p:pic>
        <p:nvPicPr>
          <p:cNvPr id="14" name="Image 8" descr="gen-dedup-ab1146f3f355eca22c0d9b03e8fdfd45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939565" y="1133375"/>
            <a:ext cx="647395" cy="647395"/>
          </a:xfrm>
          <a:prstGeom prst="rect">
            <a:avLst/>
          </a:prstGeom>
        </p:spPr>
      </p:pic>
      <p:sp>
        <p:nvSpPr>
          <p:cNvPr id="15" name="Shape 4"/>
          <p:cNvSpPr/>
          <p:nvPr/>
        </p:nvSpPr>
        <p:spPr>
          <a:xfrm>
            <a:off x="381305" y="2020197"/>
            <a:ext cx="1714500" cy="342900"/>
          </a:xfrm>
          <a:prstGeom prst="roundRect">
            <a:avLst>
              <a:gd name="adj" fmla="val 16800"/>
            </a:avLst>
          </a:prstGeom>
          <a:solidFill>
            <a:srgbClr val="2A9D8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>
              <a:latin typeface="Raleway" pitchFamily="2" charset="0"/>
            </a:endParaRPr>
          </a:p>
        </p:txBody>
      </p:sp>
      <p:pic>
        <p:nvPicPr>
          <p:cNvPr id="16" name="Image 9" descr="gen-dedup-751f54efc8996aa3b67bfa9254252285.png"/>
          <p:cNvPicPr>
            <a:picLocks noChangeAspect="1"/>
          </p:cNvPicPr>
          <p:nvPr/>
        </p:nvPicPr>
        <p:blipFill>
          <a:blip r:embed="rId8"/>
          <a:srcRect l="-13014" r="-13014"/>
          <a:stretch/>
        </p:blipFill>
        <p:spPr>
          <a:xfrm>
            <a:off x="2634862" y="1381279"/>
            <a:ext cx="105156" cy="133502"/>
          </a:xfrm>
          <a:prstGeom prst="rect">
            <a:avLst/>
          </a:prstGeom>
        </p:spPr>
      </p:pic>
      <p:pic>
        <p:nvPicPr>
          <p:cNvPr id="17" name="Image 10" descr="gen-dedup-084ed169e39c505ee56d1059d1e7f5e0.png"/>
          <p:cNvPicPr>
            <a:picLocks noChangeAspect="1"/>
          </p:cNvPicPr>
          <p:nvPr/>
        </p:nvPicPr>
        <p:blipFill>
          <a:blip r:embed="rId9"/>
          <a:srcRect/>
          <a:stretch/>
        </p:blipFill>
        <p:spPr>
          <a:xfrm>
            <a:off x="2844260" y="1133375"/>
            <a:ext cx="647395" cy="647395"/>
          </a:xfrm>
          <a:prstGeom prst="rect">
            <a:avLst/>
          </a:prstGeom>
        </p:spPr>
      </p:pic>
      <p:sp>
        <p:nvSpPr>
          <p:cNvPr id="18" name="Shape 5"/>
          <p:cNvSpPr/>
          <p:nvPr/>
        </p:nvSpPr>
        <p:spPr>
          <a:xfrm>
            <a:off x="2286000" y="2020197"/>
            <a:ext cx="1714500" cy="342900"/>
          </a:xfrm>
          <a:prstGeom prst="roundRect">
            <a:avLst>
              <a:gd name="adj" fmla="val 16800"/>
            </a:avLst>
          </a:prstGeom>
          <a:solidFill>
            <a:schemeClr val="bg1">
              <a:lumMod val="50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>
              <a:latin typeface="Raleway" pitchFamily="2" charset="0"/>
            </a:endParaRPr>
          </a:p>
        </p:txBody>
      </p:sp>
      <p:pic>
        <p:nvPicPr>
          <p:cNvPr id="19" name="Image 11" descr="gen-dedup-751f54efc8996aa3b67bfa9254252285.png"/>
          <p:cNvPicPr>
            <a:picLocks noChangeAspect="1"/>
          </p:cNvPicPr>
          <p:nvPr/>
        </p:nvPicPr>
        <p:blipFill>
          <a:blip r:embed="rId8"/>
          <a:srcRect l="-13014" r="-13014"/>
          <a:stretch/>
        </p:blipFill>
        <p:spPr>
          <a:xfrm>
            <a:off x="4539558" y="1381279"/>
            <a:ext cx="105156" cy="133502"/>
          </a:xfrm>
          <a:prstGeom prst="rect">
            <a:avLst/>
          </a:prstGeom>
        </p:spPr>
      </p:pic>
      <p:pic>
        <p:nvPicPr>
          <p:cNvPr id="20" name="Image 12" descr="gen-dedup-f03bd5e991a1e95ba5f86664ffaf90b6.png"/>
          <p:cNvPicPr>
            <a:picLocks noChangeAspect="1"/>
          </p:cNvPicPr>
          <p:nvPr/>
        </p:nvPicPr>
        <p:blipFill>
          <a:blip r:embed="rId10"/>
          <a:srcRect/>
          <a:stretch/>
        </p:blipFill>
        <p:spPr>
          <a:xfrm>
            <a:off x="4748955" y="1133375"/>
            <a:ext cx="647395" cy="647395"/>
          </a:xfrm>
          <a:prstGeom prst="rect">
            <a:avLst/>
          </a:prstGeom>
        </p:spPr>
      </p:pic>
      <p:sp>
        <p:nvSpPr>
          <p:cNvPr id="21" name="Shape 6"/>
          <p:cNvSpPr/>
          <p:nvPr/>
        </p:nvSpPr>
        <p:spPr>
          <a:xfrm>
            <a:off x="4190695" y="2020197"/>
            <a:ext cx="1714500" cy="342900"/>
          </a:xfrm>
          <a:prstGeom prst="roundRect">
            <a:avLst>
              <a:gd name="adj" fmla="val 16800"/>
            </a:avLst>
          </a:prstGeom>
          <a:solidFill>
            <a:srgbClr val="2A9D8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>
              <a:latin typeface="Raleway" pitchFamily="2" charset="0"/>
            </a:endParaRPr>
          </a:p>
        </p:txBody>
      </p:sp>
      <p:pic>
        <p:nvPicPr>
          <p:cNvPr id="22" name="Image 13" descr="gen-dedup-751f54efc8996aa3b67bfa9254252285.png"/>
          <p:cNvPicPr>
            <a:picLocks noChangeAspect="1"/>
          </p:cNvPicPr>
          <p:nvPr/>
        </p:nvPicPr>
        <p:blipFill>
          <a:blip r:embed="rId8"/>
          <a:srcRect l="-13014" r="-13014"/>
          <a:stretch/>
        </p:blipFill>
        <p:spPr>
          <a:xfrm>
            <a:off x="6445167" y="1381279"/>
            <a:ext cx="105156" cy="133502"/>
          </a:xfrm>
          <a:prstGeom prst="rect">
            <a:avLst/>
          </a:prstGeom>
        </p:spPr>
      </p:pic>
      <p:pic>
        <p:nvPicPr>
          <p:cNvPr id="23" name="Image 14" descr="gen-dedup-806dc9e2e0ee6d295653696f70b9366b.png"/>
          <p:cNvPicPr>
            <a:picLocks noChangeAspect="1"/>
          </p:cNvPicPr>
          <p:nvPr/>
        </p:nvPicPr>
        <p:blipFill>
          <a:blip r:embed="rId11"/>
          <a:srcRect/>
          <a:stretch/>
        </p:blipFill>
        <p:spPr>
          <a:xfrm>
            <a:off x="6654565" y="1133375"/>
            <a:ext cx="647395" cy="647395"/>
          </a:xfrm>
          <a:prstGeom prst="rect">
            <a:avLst/>
          </a:prstGeom>
        </p:spPr>
      </p:pic>
      <p:sp>
        <p:nvSpPr>
          <p:cNvPr id="24" name="Shape 7"/>
          <p:cNvSpPr/>
          <p:nvPr/>
        </p:nvSpPr>
        <p:spPr>
          <a:xfrm>
            <a:off x="6096305" y="2020197"/>
            <a:ext cx="1714500" cy="342900"/>
          </a:xfrm>
          <a:prstGeom prst="roundRect">
            <a:avLst>
              <a:gd name="adj" fmla="val 16800"/>
            </a:avLst>
          </a:prstGeom>
          <a:solidFill>
            <a:schemeClr val="bg1">
              <a:lumMod val="50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>
              <a:latin typeface="Raleway" pitchFamily="2" charset="0"/>
            </a:endParaRPr>
          </a:p>
        </p:txBody>
      </p:sp>
      <p:pic>
        <p:nvPicPr>
          <p:cNvPr id="25" name="Image 15" descr="gen-dedup-751f54efc8996aa3b67bfa9254252285.png"/>
          <p:cNvPicPr>
            <a:picLocks noChangeAspect="1"/>
          </p:cNvPicPr>
          <p:nvPr/>
        </p:nvPicPr>
        <p:blipFill>
          <a:blip r:embed="rId8"/>
          <a:srcRect l="-13014" r="-13014"/>
          <a:stretch/>
        </p:blipFill>
        <p:spPr>
          <a:xfrm>
            <a:off x="8349862" y="1381279"/>
            <a:ext cx="105156" cy="133502"/>
          </a:xfrm>
          <a:prstGeom prst="rect">
            <a:avLst/>
          </a:prstGeom>
        </p:spPr>
      </p:pic>
      <p:pic>
        <p:nvPicPr>
          <p:cNvPr id="26" name="Image 16" descr="gen-dedup-ad6b9b0bf83ce2bd5a7c7b4006cbbe94.png"/>
          <p:cNvPicPr>
            <a:picLocks noChangeAspect="1"/>
          </p:cNvPicPr>
          <p:nvPr/>
        </p:nvPicPr>
        <p:blipFill>
          <a:blip r:embed="rId12"/>
          <a:srcRect/>
          <a:stretch/>
        </p:blipFill>
        <p:spPr>
          <a:xfrm>
            <a:off x="8559260" y="1133375"/>
            <a:ext cx="647395" cy="647395"/>
          </a:xfrm>
          <a:prstGeom prst="rect">
            <a:avLst/>
          </a:prstGeom>
        </p:spPr>
      </p:pic>
      <p:sp>
        <p:nvSpPr>
          <p:cNvPr id="27" name="Shape 8"/>
          <p:cNvSpPr/>
          <p:nvPr/>
        </p:nvSpPr>
        <p:spPr>
          <a:xfrm>
            <a:off x="8001000" y="2020197"/>
            <a:ext cx="1714500" cy="342900"/>
          </a:xfrm>
          <a:prstGeom prst="roundRect">
            <a:avLst>
              <a:gd name="adj" fmla="val 16800"/>
            </a:avLst>
          </a:prstGeom>
          <a:solidFill>
            <a:srgbClr val="2A9D8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>
              <a:latin typeface="Raleway" pitchFamily="2" charset="0"/>
            </a:endParaRPr>
          </a:p>
        </p:txBody>
      </p:sp>
      <p:pic>
        <p:nvPicPr>
          <p:cNvPr id="28" name="Image 17" descr="gen-dedup-751f54efc8996aa3b67bfa9254252285.png"/>
          <p:cNvPicPr>
            <a:picLocks noChangeAspect="1"/>
          </p:cNvPicPr>
          <p:nvPr/>
        </p:nvPicPr>
        <p:blipFill>
          <a:blip r:embed="rId8"/>
          <a:srcRect l="-13014" r="-13014"/>
          <a:stretch/>
        </p:blipFill>
        <p:spPr>
          <a:xfrm>
            <a:off x="10254558" y="1381279"/>
            <a:ext cx="105156" cy="133502"/>
          </a:xfrm>
          <a:prstGeom prst="rect">
            <a:avLst/>
          </a:prstGeom>
        </p:spPr>
      </p:pic>
      <p:pic>
        <p:nvPicPr>
          <p:cNvPr id="29" name="Image 18" descr="gen-dedup-b46550ae4e6ed9a58f8d7957a285dc33.png"/>
          <p:cNvPicPr>
            <a:picLocks noChangeAspect="1"/>
          </p:cNvPicPr>
          <p:nvPr/>
        </p:nvPicPr>
        <p:blipFill>
          <a:blip r:embed="rId13"/>
          <a:srcRect/>
          <a:stretch/>
        </p:blipFill>
        <p:spPr>
          <a:xfrm>
            <a:off x="10463955" y="1133375"/>
            <a:ext cx="647395" cy="647395"/>
          </a:xfrm>
          <a:prstGeom prst="rect">
            <a:avLst/>
          </a:prstGeom>
        </p:spPr>
      </p:pic>
      <p:sp>
        <p:nvSpPr>
          <p:cNvPr id="30" name="Shape 9"/>
          <p:cNvSpPr/>
          <p:nvPr/>
        </p:nvSpPr>
        <p:spPr>
          <a:xfrm>
            <a:off x="9905695" y="2020197"/>
            <a:ext cx="1714500" cy="342900"/>
          </a:xfrm>
          <a:prstGeom prst="roundRect">
            <a:avLst>
              <a:gd name="adj" fmla="val 16800"/>
            </a:avLst>
          </a:prstGeom>
          <a:solidFill>
            <a:schemeClr val="bg1">
              <a:lumMod val="50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>
              <a:latin typeface="Raleway" pitchFamily="2" charset="0"/>
            </a:endParaRPr>
          </a:p>
        </p:txBody>
      </p:sp>
      <p:sp>
        <p:nvSpPr>
          <p:cNvPr id="31" name="Text 10"/>
          <p:cNvSpPr txBox="1"/>
          <p:nvPr/>
        </p:nvSpPr>
        <p:spPr>
          <a:xfrm>
            <a:off x="533095" y="381305"/>
            <a:ext cx="7620610" cy="4864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1F2A44"/>
                </a:solidFill>
                <a:latin typeface="Oswald" panose="00000500000000000000" pitchFamily="2" charset="0"/>
                <a:ea typeface="Fraunces" pitchFamily="34" charset="-122"/>
                <a:cs typeface="Fraunces" pitchFamily="34" charset="-120"/>
              </a:rPr>
              <a:t>CONTRACT PROCESS OUTSOURCING OPERATING MODEL</a:t>
            </a:r>
            <a:endParaRPr lang="en-US" sz="2400" dirty="0">
              <a:latin typeface="Oswald" panose="00000500000000000000" pitchFamily="2" charset="0"/>
            </a:endParaRPr>
          </a:p>
        </p:txBody>
      </p:sp>
      <p:pic>
        <p:nvPicPr>
          <p:cNvPr id="32" name="Image 19" descr="gen-dedup-4a6b4084955cbd0659fccb83d04c1ff8.png"/>
          <p:cNvPicPr>
            <a:picLocks noChangeAspect="1"/>
          </p:cNvPicPr>
          <p:nvPr/>
        </p:nvPicPr>
        <p:blipFill>
          <a:blip r:embed="rId14"/>
          <a:srcRect l="-2283" r="-2283"/>
          <a:stretch/>
        </p:blipFill>
        <p:spPr>
          <a:xfrm>
            <a:off x="1138904" y="1305282"/>
            <a:ext cx="209398" cy="267005"/>
          </a:xfrm>
          <a:prstGeom prst="rect">
            <a:avLst/>
          </a:prstGeom>
        </p:spPr>
      </p:pic>
      <p:sp>
        <p:nvSpPr>
          <p:cNvPr id="33" name="Text 11"/>
          <p:cNvSpPr txBox="1"/>
          <p:nvPr/>
        </p:nvSpPr>
        <p:spPr>
          <a:xfrm>
            <a:off x="381305" y="2116209"/>
            <a:ext cx="1714500" cy="1527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Raleway" pitchFamily="2" charset="0"/>
                <a:ea typeface="Inter" pitchFamily="34" charset="-122"/>
                <a:cs typeface="Inter" pitchFamily="34" charset="-120"/>
              </a:rPr>
              <a:t>Demand Planning</a:t>
            </a:r>
            <a:endParaRPr lang="en-US" sz="1300" dirty="0">
              <a:latin typeface="Raleway" pitchFamily="2" charset="0"/>
            </a:endParaRPr>
          </a:p>
        </p:txBody>
      </p:sp>
      <p:sp>
        <p:nvSpPr>
          <p:cNvPr id="34" name="Text 12"/>
          <p:cNvSpPr txBox="1"/>
          <p:nvPr/>
        </p:nvSpPr>
        <p:spPr>
          <a:xfrm>
            <a:off x="431800" y="2581539"/>
            <a:ext cx="1664005" cy="11283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39700" indent="-139700" algn="l">
              <a:lnSpc>
                <a:spcPts val="126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4B5563"/>
                </a:solidFill>
                <a:latin typeface="Raleway" pitchFamily="2" charset="0"/>
                <a:ea typeface="Inter" pitchFamily="34" charset="-122"/>
                <a:cs typeface="Inter" pitchFamily="34" charset="-120"/>
              </a:rPr>
              <a:t>​Receive hiring forecast and quarterly demand.</a:t>
            </a:r>
            <a:endParaRPr lang="en-US" sz="1150" dirty="0">
              <a:latin typeface="Raleway" pitchFamily="2" charset="0"/>
            </a:endParaRPr>
          </a:p>
          <a:p>
            <a:pPr marL="139700" indent="-139700" algn="l">
              <a:lnSpc>
                <a:spcPts val="126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4B5563"/>
                </a:solidFill>
                <a:latin typeface="Raleway" pitchFamily="2" charset="0"/>
                <a:ea typeface="Inter" pitchFamily="34" charset="-122"/>
                <a:cs typeface="Inter" pitchFamily="34" charset="-120"/>
              </a:rPr>
              <a:t>​Finalize role requirements, SLAs, and timelines.</a:t>
            </a:r>
            <a:endParaRPr lang="en-US" sz="1150" dirty="0">
              <a:latin typeface="Raleway" pitchFamily="2" charset="0"/>
            </a:endParaRPr>
          </a:p>
          <a:p>
            <a:pPr marL="139700" indent="-139700" algn="l">
              <a:lnSpc>
                <a:spcPts val="126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4B5563"/>
                </a:solidFill>
                <a:latin typeface="Raleway" pitchFamily="2" charset="0"/>
                <a:ea typeface="Inter" pitchFamily="34" charset="-122"/>
                <a:cs typeface="Inter" pitchFamily="34" charset="-120"/>
              </a:rPr>
              <a:t>​Allocate dedicated recruitment teams.</a:t>
            </a:r>
            <a:endParaRPr lang="en-US" sz="1150" dirty="0">
              <a:latin typeface="Raleway" pitchFamily="2" charset="0"/>
            </a:endParaRPr>
          </a:p>
        </p:txBody>
      </p:sp>
      <p:pic>
        <p:nvPicPr>
          <p:cNvPr id="35" name="Image 20" descr="gen-dedup-583ddbce9aa1176519b3ebf713c30048.png"/>
          <p:cNvPicPr>
            <a:picLocks noChangeAspect="1"/>
          </p:cNvPicPr>
          <p:nvPr/>
        </p:nvPicPr>
        <p:blipFill>
          <a:blip r:embed="rId15"/>
          <a:srcRect t="-29694" b="-29694"/>
          <a:stretch/>
        </p:blipFill>
        <p:spPr>
          <a:xfrm>
            <a:off x="2967514" y="1276407"/>
            <a:ext cx="365760" cy="365760"/>
          </a:xfrm>
          <a:prstGeom prst="rect">
            <a:avLst/>
          </a:prstGeom>
        </p:spPr>
      </p:pic>
      <p:sp>
        <p:nvSpPr>
          <p:cNvPr id="36" name="Text 13"/>
          <p:cNvSpPr txBox="1"/>
          <p:nvPr/>
        </p:nvSpPr>
        <p:spPr>
          <a:xfrm>
            <a:off x="2286000" y="2116209"/>
            <a:ext cx="1714500" cy="1527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Raleway" pitchFamily="2" charset="0"/>
                <a:ea typeface="Inter" pitchFamily="34" charset="-122"/>
                <a:cs typeface="Inter" pitchFamily="34" charset="-120"/>
              </a:rPr>
              <a:t>Talent Sourcing</a:t>
            </a:r>
            <a:endParaRPr lang="en-US" sz="1300" dirty="0">
              <a:latin typeface="Raleway" pitchFamily="2" charset="0"/>
            </a:endParaRPr>
          </a:p>
        </p:txBody>
      </p:sp>
      <p:sp>
        <p:nvSpPr>
          <p:cNvPr id="37" name="Text 14"/>
          <p:cNvSpPr txBox="1"/>
          <p:nvPr/>
        </p:nvSpPr>
        <p:spPr>
          <a:xfrm>
            <a:off x="2336495" y="2581539"/>
            <a:ext cx="1664005" cy="1515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39700" indent="-139700" algn="l">
              <a:lnSpc>
                <a:spcPts val="126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4B5563"/>
                </a:solidFill>
                <a:latin typeface="Raleway" pitchFamily="2" charset="0"/>
                <a:ea typeface="Inter" pitchFamily="34" charset="-122"/>
                <a:cs typeface="Inter" pitchFamily="34" charset="-120"/>
              </a:rPr>
              <a:t>​Target pool for voice roles</a:t>
            </a:r>
            <a:endParaRPr lang="en-US" sz="1150" dirty="0">
              <a:latin typeface="Raleway" pitchFamily="2" charset="0"/>
            </a:endParaRPr>
          </a:p>
          <a:p>
            <a:pPr marL="139700" indent="-139700" algn="l">
              <a:lnSpc>
                <a:spcPts val="126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4B5563"/>
                </a:solidFill>
                <a:latin typeface="Raleway" pitchFamily="2" charset="0"/>
                <a:ea typeface="Inter" pitchFamily="34" charset="-122"/>
                <a:cs typeface="Inter" pitchFamily="34" charset="-120"/>
              </a:rPr>
              <a:t>​Top 20 partner colleges</a:t>
            </a:r>
            <a:endParaRPr lang="en-US" sz="1150" dirty="0">
              <a:latin typeface="Raleway" pitchFamily="2" charset="0"/>
            </a:endParaRPr>
          </a:p>
          <a:p>
            <a:pPr marL="139700" indent="-139700" algn="l">
              <a:lnSpc>
                <a:spcPts val="126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4B5563"/>
                </a:solidFill>
                <a:latin typeface="Raleway" pitchFamily="2" charset="0"/>
                <a:ea typeface="Inter" pitchFamily="34" charset="-122"/>
                <a:cs typeface="Inter" pitchFamily="34" charset="-120"/>
              </a:rPr>
              <a:t>​10,000+ candidate database</a:t>
            </a:r>
            <a:endParaRPr lang="en-US" sz="1150" dirty="0">
              <a:latin typeface="Raleway" pitchFamily="2" charset="0"/>
            </a:endParaRPr>
          </a:p>
          <a:p>
            <a:pPr marL="139700" indent="-139700" algn="l">
              <a:lnSpc>
                <a:spcPts val="126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4B5563"/>
                </a:solidFill>
                <a:latin typeface="Raleway" pitchFamily="2" charset="0"/>
                <a:ea typeface="Inter" pitchFamily="34" charset="-122"/>
                <a:cs typeface="Inter" pitchFamily="34" charset="-120"/>
              </a:rPr>
              <a:t>​Employee referrals</a:t>
            </a:r>
            <a:endParaRPr lang="en-US" sz="1150" dirty="0">
              <a:latin typeface="Raleway" pitchFamily="2" charset="0"/>
            </a:endParaRPr>
          </a:p>
          <a:p>
            <a:pPr marL="139700" indent="-139700" algn="l">
              <a:lnSpc>
                <a:spcPts val="126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4B5563"/>
                </a:solidFill>
                <a:latin typeface="Raleway" pitchFamily="2" charset="0"/>
                <a:ea typeface="Inter" pitchFamily="34" charset="-122"/>
                <a:cs typeface="Inter" pitchFamily="34" charset="-120"/>
              </a:rPr>
              <a:t>​Job portals &amp; social media</a:t>
            </a:r>
            <a:endParaRPr lang="en-US" sz="1150" dirty="0">
              <a:latin typeface="Raleway" pitchFamily="2" charset="0"/>
            </a:endParaRPr>
          </a:p>
          <a:p>
            <a:pPr marL="139700" indent="-139700" algn="l">
              <a:lnSpc>
                <a:spcPts val="126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4B5563"/>
                </a:solidFill>
                <a:latin typeface="Raleway" pitchFamily="2" charset="0"/>
                <a:ea typeface="Inter" pitchFamily="34" charset="-122"/>
                <a:cs typeface="Inter" pitchFamily="34" charset="-120"/>
              </a:rPr>
              <a:t>​3 weekly walk-in drives</a:t>
            </a:r>
            <a:endParaRPr lang="en-US" sz="1150" dirty="0">
              <a:latin typeface="Raleway" pitchFamily="2" charset="0"/>
            </a:endParaRPr>
          </a:p>
        </p:txBody>
      </p:sp>
      <p:pic>
        <p:nvPicPr>
          <p:cNvPr id="38" name="Image 21" descr="gen-dedup-b0e128b88bfd559ead5e7a3c3bdc5cee.png"/>
          <p:cNvPicPr>
            <a:picLocks noChangeAspect="1"/>
          </p:cNvPicPr>
          <p:nvPr/>
        </p:nvPicPr>
        <p:blipFill>
          <a:blip r:embed="rId16"/>
          <a:srcRect t="-31430" b="-31430"/>
          <a:stretch/>
        </p:blipFill>
        <p:spPr>
          <a:xfrm>
            <a:off x="4843767" y="1237426"/>
            <a:ext cx="457200" cy="457200"/>
          </a:xfrm>
          <a:prstGeom prst="rect">
            <a:avLst/>
          </a:prstGeom>
        </p:spPr>
      </p:pic>
      <p:sp>
        <p:nvSpPr>
          <p:cNvPr id="39" name="Text 15"/>
          <p:cNvSpPr txBox="1"/>
          <p:nvPr/>
        </p:nvSpPr>
        <p:spPr>
          <a:xfrm>
            <a:off x="4190695" y="2116209"/>
            <a:ext cx="1714500" cy="1527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Raleway" pitchFamily="2" charset="0"/>
                <a:ea typeface="Inter" pitchFamily="34" charset="-122"/>
                <a:cs typeface="Inter" pitchFamily="34" charset="-120"/>
              </a:rPr>
              <a:t>Screening &amp; Assess</a:t>
            </a:r>
            <a:endParaRPr lang="en-US" sz="1300" dirty="0">
              <a:latin typeface="Raleway" pitchFamily="2" charset="0"/>
            </a:endParaRPr>
          </a:p>
        </p:txBody>
      </p:sp>
      <p:sp>
        <p:nvSpPr>
          <p:cNvPr id="40" name="Text 16"/>
          <p:cNvSpPr txBox="1"/>
          <p:nvPr/>
        </p:nvSpPr>
        <p:spPr>
          <a:xfrm>
            <a:off x="4242105" y="2581539"/>
            <a:ext cx="1664005" cy="12792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39700" indent="-139700" algn="l">
              <a:lnSpc>
                <a:spcPts val="126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4B5563"/>
                </a:solidFill>
                <a:latin typeface="Raleway" pitchFamily="2" charset="0"/>
                <a:ea typeface="Inter" pitchFamily="34" charset="-122"/>
                <a:cs typeface="Inter" pitchFamily="34" charset="-120"/>
              </a:rPr>
              <a:t>​AI-powered screening</a:t>
            </a:r>
            <a:endParaRPr lang="en-US" sz="1150" dirty="0">
              <a:latin typeface="Raleway" pitchFamily="2" charset="0"/>
            </a:endParaRPr>
          </a:p>
          <a:p>
            <a:pPr marL="139700" indent="-139700" algn="l">
              <a:lnSpc>
                <a:spcPts val="126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4B5563"/>
                </a:solidFill>
                <a:latin typeface="Raleway" pitchFamily="2" charset="0"/>
                <a:ea typeface="Inter" pitchFamily="34" charset="-122"/>
                <a:cs typeface="Inter" pitchFamily="34" charset="-120"/>
              </a:rPr>
              <a:t>​HR screening</a:t>
            </a:r>
            <a:endParaRPr lang="en-US" sz="1150" dirty="0">
              <a:latin typeface="Raleway" pitchFamily="2" charset="0"/>
            </a:endParaRPr>
          </a:p>
          <a:p>
            <a:pPr marL="139700" indent="-139700" algn="l">
              <a:lnSpc>
                <a:spcPts val="126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4B5563"/>
                </a:solidFill>
                <a:latin typeface="Raleway" pitchFamily="2" charset="0"/>
                <a:ea typeface="Inter" pitchFamily="34" charset="-122"/>
                <a:cs typeface="Inter" pitchFamily="34" charset="-120"/>
              </a:rPr>
              <a:t>​Communication and aptitude assessment</a:t>
            </a:r>
            <a:endParaRPr lang="en-US" sz="1150" dirty="0">
              <a:latin typeface="Raleway" pitchFamily="2" charset="0"/>
            </a:endParaRPr>
          </a:p>
          <a:p>
            <a:pPr marL="139700" indent="-139700" algn="l">
              <a:lnSpc>
                <a:spcPts val="126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4B5563"/>
                </a:solidFill>
                <a:latin typeface="Raleway" pitchFamily="2" charset="0"/>
                <a:ea typeface="Inter" pitchFamily="34" charset="-122"/>
                <a:cs typeface="Inter" pitchFamily="34" charset="-120"/>
              </a:rPr>
              <a:t>​Role-specific evaluation</a:t>
            </a:r>
            <a:endParaRPr lang="en-US" sz="1150" dirty="0">
              <a:latin typeface="Raleway" pitchFamily="2" charset="0"/>
            </a:endParaRPr>
          </a:p>
          <a:p>
            <a:pPr marL="139700" indent="-139700" algn="l">
              <a:lnSpc>
                <a:spcPts val="126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4B5563"/>
                </a:solidFill>
                <a:latin typeface="Raleway" pitchFamily="2" charset="0"/>
                <a:ea typeface="Inter" pitchFamily="34" charset="-122"/>
                <a:cs typeface="Inter" pitchFamily="34" charset="-120"/>
              </a:rPr>
              <a:t>​Candidate shortlisting</a:t>
            </a:r>
            <a:endParaRPr lang="en-US" sz="1150" dirty="0">
              <a:latin typeface="Raleway" pitchFamily="2" charset="0"/>
            </a:endParaRPr>
          </a:p>
        </p:txBody>
      </p:sp>
      <p:pic>
        <p:nvPicPr>
          <p:cNvPr id="41" name="Image 22" descr="gen-dedup-c0e8b97501f6f827e5c293fa34a7379c.png"/>
          <p:cNvPicPr>
            <a:picLocks noChangeAspect="1"/>
          </p:cNvPicPr>
          <p:nvPr/>
        </p:nvPicPr>
        <p:blipFill>
          <a:blip r:embed="rId17"/>
          <a:srcRect t="-29694" b="-29694"/>
          <a:stretch/>
        </p:blipFill>
        <p:spPr>
          <a:xfrm>
            <a:off x="6738404" y="1228282"/>
            <a:ext cx="457200" cy="457200"/>
          </a:xfrm>
          <a:prstGeom prst="rect">
            <a:avLst/>
          </a:prstGeom>
        </p:spPr>
      </p:pic>
      <p:sp>
        <p:nvSpPr>
          <p:cNvPr id="42" name="Text 17"/>
          <p:cNvSpPr txBox="1"/>
          <p:nvPr/>
        </p:nvSpPr>
        <p:spPr>
          <a:xfrm>
            <a:off x="6096305" y="2116209"/>
            <a:ext cx="1714500" cy="1527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Raleway" pitchFamily="2" charset="0"/>
                <a:ea typeface="Inter" pitchFamily="34" charset="-122"/>
                <a:cs typeface="Inter" pitchFamily="34" charset="-120"/>
              </a:rPr>
              <a:t>Client Selection</a:t>
            </a:r>
            <a:endParaRPr lang="en-US" sz="1300" dirty="0">
              <a:latin typeface="Raleway" pitchFamily="2" charset="0"/>
            </a:endParaRPr>
          </a:p>
        </p:txBody>
      </p:sp>
      <p:sp>
        <p:nvSpPr>
          <p:cNvPr id="43" name="Text 18"/>
          <p:cNvSpPr txBox="1"/>
          <p:nvPr/>
        </p:nvSpPr>
        <p:spPr>
          <a:xfrm>
            <a:off x="6146800" y="2581539"/>
            <a:ext cx="1664005" cy="13651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39700" indent="-139700" algn="l">
              <a:lnSpc>
                <a:spcPts val="126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4B5563"/>
                </a:solidFill>
                <a:latin typeface="Raleway" pitchFamily="2" charset="0"/>
                <a:ea typeface="Inter" pitchFamily="34" charset="-122"/>
                <a:cs typeface="Inter" pitchFamily="34" charset="-120"/>
              </a:rPr>
              <a:t>​Schedule client interviews</a:t>
            </a:r>
            <a:endParaRPr lang="en-US" sz="1150" dirty="0">
              <a:latin typeface="Raleway" pitchFamily="2" charset="0"/>
            </a:endParaRPr>
          </a:p>
          <a:p>
            <a:pPr marL="139700" indent="-139700" algn="l">
              <a:lnSpc>
                <a:spcPts val="126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4B5563"/>
                </a:solidFill>
                <a:latin typeface="Raleway" pitchFamily="2" charset="0"/>
                <a:ea typeface="Inter" pitchFamily="34" charset="-122"/>
                <a:cs typeface="Inter" pitchFamily="34" charset="-120"/>
              </a:rPr>
              <a:t>​Coordinate interview feedback</a:t>
            </a:r>
            <a:endParaRPr lang="en-US" sz="1150" dirty="0">
              <a:latin typeface="Raleway" pitchFamily="2" charset="0"/>
            </a:endParaRPr>
          </a:p>
          <a:p>
            <a:pPr marL="139700" indent="-139700" algn="l">
              <a:lnSpc>
                <a:spcPts val="126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4B5563"/>
                </a:solidFill>
                <a:latin typeface="Raleway" pitchFamily="2" charset="0"/>
                <a:ea typeface="Inter" pitchFamily="34" charset="-122"/>
                <a:cs typeface="Inter" pitchFamily="34" charset="-120"/>
              </a:rPr>
              <a:t>​Manage candidate engagement</a:t>
            </a:r>
            <a:endParaRPr lang="en-US" sz="1150" dirty="0">
              <a:latin typeface="Raleway" pitchFamily="2" charset="0"/>
            </a:endParaRPr>
          </a:p>
          <a:p>
            <a:pPr marL="139700" indent="-139700" algn="l">
              <a:lnSpc>
                <a:spcPts val="126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4B5563"/>
                </a:solidFill>
                <a:latin typeface="Raleway" pitchFamily="2" charset="0"/>
                <a:ea typeface="Inter" pitchFamily="34" charset="-122"/>
                <a:cs typeface="Inter" pitchFamily="34" charset="-120"/>
              </a:rPr>
              <a:t>​Release offers through AI-enabled platform</a:t>
            </a:r>
            <a:endParaRPr lang="en-US" sz="1150" dirty="0">
              <a:latin typeface="Raleway" pitchFamily="2" charset="0"/>
            </a:endParaRPr>
          </a:p>
        </p:txBody>
      </p:sp>
      <p:pic>
        <p:nvPicPr>
          <p:cNvPr id="44" name="Image 23" descr="gen-dedup-ac53abe7c25d3e6867ea233df4b39080.png"/>
          <p:cNvPicPr>
            <a:picLocks noChangeAspect="1"/>
          </p:cNvPicPr>
          <p:nvPr/>
        </p:nvPicPr>
        <p:blipFill>
          <a:blip r:embed="rId18"/>
          <a:srcRect t="-23287" b="-23287"/>
          <a:stretch/>
        </p:blipFill>
        <p:spPr>
          <a:xfrm>
            <a:off x="8691658" y="1285551"/>
            <a:ext cx="365760" cy="365760"/>
          </a:xfrm>
          <a:prstGeom prst="rect">
            <a:avLst/>
          </a:prstGeom>
        </p:spPr>
      </p:pic>
      <p:sp>
        <p:nvSpPr>
          <p:cNvPr id="45" name="Text 19"/>
          <p:cNvSpPr txBox="1"/>
          <p:nvPr/>
        </p:nvSpPr>
        <p:spPr>
          <a:xfrm>
            <a:off x="8001000" y="2116209"/>
            <a:ext cx="1714500" cy="1527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Raleway" pitchFamily="2" charset="0"/>
                <a:ea typeface="Inter" pitchFamily="34" charset="-122"/>
                <a:cs typeface="Inter" pitchFamily="34" charset="-120"/>
              </a:rPr>
              <a:t>Offer to Joining</a:t>
            </a:r>
            <a:endParaRPr lang="en-US" sz="1300" dirty="0">
              <a:latin typeface="Raleway" pitchFamily="2" charset="0"/>
            </a:endParaRPr>
          </a:p>
        </p:txBody>
      </p:sp>
      <p:sp>
        <p:nvSpPr>
          <p:cNvPr id="46" name="Text 20"/>
          <p:cNvSpPr txBox="1"/>
          <p:nvPr/>
        </p:nvSpPr>
        <p:spPr>
          <a:xfrm>
            <a:off x="8051495" y="2581539"/>
            <a:ext cx="1664005" cy="11192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39700" indent="-139700" algn="l">
              <a:lnSpc>
                <a:spcPts val="126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4B5563"/>
                </a:solidFill>
                <a:latin typeface="Raleway" pitchFamily="2" charset="0"/>
                <a:ea typeface="Inter" pitchFamily="34" charset="-122"/>
                <a:cs typeface="Inter" pitchFamily="34" charset="-120"/>
              </a:rPr>
              <a:t>​Offer acceptance tracking</a:t>
            </a:r>
            <a:endParaRPr lang="en-US" sz="1150" dirty="0">
              <a:latin typeface="Raleway" pitchFamily="2" charset="0"/>
            </a:endParaRPr>
          </a:p>
          <a:p>
            <a:pPr marL="139700" indent="-139700" algn="l">
              <a:lnSpc>
                <a:spcPts val="126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4B5563"/>
                </a:solidFill>
                <a:latin typeface="Raleway" pitchFamily="2" charset="0"/>
                <a:ea typeface="Inter" pitchFamily="34" charset="-122"/>
                <a:cs typeface="Inter" pitchFamily="34" charset="-120"/>
              </a:rPr>
              <a:t>​Background verification</a:t>
            </a:r>
            <a:endParaRPr lang="en-US" sz="1150" dirty="0">
              <a:latin typeface="Raleway" pitchFamily="2" charset="0"/>
            </a:endParaRPr>
          </a:p>
          <a:p>
            <a:pPr marL="139700" indent="-139700" algn="l">
              <a:lnSpc>
                <a:spcPts val="126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4B5563"/>
                </a:solidFill>
                <a:latin typeface="Raleway" pitchFamily="2" charset="0"/>
                <a:ea typeface="Inter" pitchFamily="34" charset="-122"/>
                <a:cs typeface="Inter" pitchFamily="34" charset="-120"/>
              </a:rPr>
              <a:t>​Documentation</a:t>
            </a:r>
            <a:endParaRPr lang="en-US" sz="1150" dirty="0">
              <a:latin typeface="Raleway" pitchFamily="2" charset="0"/>
            </a:endParaRPr>
          </a:p>
          <a:p>
            <a:pPr marL="139700" indent="-139700" algn="l">
              <a:lnSpc>
                <a:spcPts val="126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4B5563"/>
                </a:solidFill>
                <a:latin typeface="Raleway" pitchFamily="2" charset="0"/>
                <a:ea typeface="Inter" pitchFamily="34" charset="-122"/>
                <a:cs typeface="Inter" pitchFamily="34" charset="-120"/>
              </a:rPr>
              <a:t>​Pre-joining engagement</a:t>
            </a:r>
            <a:endParaRPr lang="en-US" sz="1150" dirty="0">
              <a:latin typeface="Raleway" pitchFamily="2" charset="0"/>
            </a:endParaRPr>
          </a:p>
          <a:p>
            <a:pPr marL="139700" indent="-139700" algn="l">
              <a:lnSpc>
                <a:spcPts val="126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4B5563"/>
                </a:solidFill>
                <a:latin typeface="Raleway" pitchFamily="2" charset="0"/>
                <a:ea typeface="Inter" pitchFamily="34" charset="-122"/>
                <a:cs typeface="Inter" pitchFamily="34" charset="-120"/>
              </a:rPr>
              <a:t>​Joining confirmation</a:t>
            </a:r>
            <a:endParaRPr lang="en-US" sz="1150" dirty="0">
              <a:latin typeface="Raleway" pitchFamily="2" charset="0"/>
            </a:endParaRPr>
          </a:p>
        </p:txBody>
      </p:sp>
      <p:pic>
        <p:nvPicPr>
          <p:cNvPr id="47" name="Image 24" descr="gen-dedup-a43375c774087ebf05bf08d5bb813ef2.png"/>
          <p:cNvPicPr>
            <a:picLocks noChangeAspect="1"/>
          </p:cNvPicPr>
          <p:nvPr/>
        </p:nvPicPr>
        <p:blipFill>
          <a:blip r:embed="rId19"/>
          <a:srcRect t="-15144" b="-15144"/>
          <a:stretch/>
        </p:blipFill>
        <p:spPr>
          <a:xfrm>
            <a:off x="10597267" y="1285551"/>
            <a:ext cx="365760" cy="365760"/>
          </a:xfrm>
          <a:prstGeom prst="rect">
            <a:avLst/>
          </a:prstGeom>
        </p:spPr>
      </p:pic>
      <p:sp>
        <p:nvSpPr>
          <p:cNvPr id="48" name="Text 21"/>
          <p:cNvSpPr txBox="1"/>
          <p:nvPr/>
        </p:nvSpPr>
        <p:spPr>
          <a:xfrm>
            <a:off x="9905695" y="2116209"/>
            <a:ext cx="1714500" cy="1527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Raleway" pitchFamily="2" charset="0"/>
                <a:ea typeface="Inter" pitchFamily="34" charset="-122"/>
                <a:cs typeface="Inter" pitchFamily="34" charset="-120"/>
              </a:rPr>
              <a:t>Deployment</a:t>
            </a:r>
            <a:endParaRPr lang="en-US" sz="1300" dirty="0">
              <a:latin typeface="Raleway" pitchFamily="2" charset="0"/>
            </a:endParaRPr>
          </a:p>
        </p:txBody>
      </p:sp>
      <p:sp>
        <p:nvSpPr>
          <p:cNvPr id="49" name="Text 22"/>
          <p:cNvSpPr txBox="1"/>
          <p:nvPr/>
        </p:nvSpPr>
        <p:spPr>
          <a:xfrm>
            <a:off x="9957105" y="2581539"/>
            <a:ext cx="1664005" cy="12051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39700" indent="-139700" algn="l">
              <a:lnSpc>
                <a:spcPts val="126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4B5563"/>
                </a:solidFill>
                <a:latin typeface="Raleway" pitchFamily="2" charset="0"/>
                <a:ea typeface="Inter" pitchFamily="34" charset="-122"/>
                <a:cs typeface="Inter" pitchFamily="34" charset="-120"/>
              </a:rPr>
              <a:t>​Onboard candidates at BLR/HYD</a:t>
            </a:r>
            <a:endParaRPr lang="en-US" sz="1150" dirty="0">
              <a:latin typeface="Raleway" pitchFamily="2" charset="0"/>
            </a:endParaRPr>
          </a:p>
          <a:p>
            <a:pPr marL="139700" indent="-139700" algn="l">
              <a:lnSpc>
                <a:spcPts val="126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4B5563"/>
                </a:solidFill>
                <a:latin typeface="Raleway" pitchFamily="2" charset="0"/>
                <a:ea typeface="Inter" pitchFamily="34" charset="-122"/>
                <a:cs typeface="Inter" pitchFamily="34" charset="-120"/>
              </a:rPr>
              <a:t>​Track joining ratio and SLA</a:t>
            </a:r>
            <a:endParaRPr lang="en-US" sz="1150" dirty="0">
              <a:latin typeface="Raleway" pitchFamily="2" charset="0"/>
            </a:endParaRPr>
          </a:p>
          <a:p>
            <a:pPr marL="139700" indent="-139700" algn="l">
              <a:lnSpc>
                <a:spcPts val="126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4B5563"/>
                </a:solidFill>
                <a:latin typeface="Raleway" pitchFamily="2" charset="0"/>
                <a:ea typeface="Inter" pitchFamily="34" charset="-122"/>
                <a:cs typeface="Inter" pitchFamily="34" charset="-120"/>
              </a:rPr>
              <a:t>​Weekly governance reviews</a:t>
            </a:r>
            <a:endParaRPr lang="en-US" sz="1150" dirty="0">
              <a:latin typeface="Raleway" pitchFamily="2" charset="0"/>
            </a:endParaRPr>
          </a:p>
          <a:p>
            <a:pPr marL="139700" indent="-139700" algn="l">
              <a:lnSpc>
                <a:spcPts val="126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4B5563"/>
                </a:solidFill>
                <a:latin typeface="Raleway" pitchFamily="2" charset="0"/>
                <a:ea typeface="Inter" pitchFamily="34" charset="-122"/>
                <a:cs typeface="Inter" pitchFamily="34" charset="-120"/>
              </a:rPr>
              <a:t>​Continuous pipeline replenishment</a:t>
            </a:r>
            <a:endParaRPr lang="en-US" sz="1150" dirty="0">
              <a:latin typeface="Raleway" pitchFamily="2" charset="0"/>
            </a:endParaRPr>
          </a:p>
        </p:txBody>
      </p:sp>
      <p:sp>
        <p:nvSpPr>
          <p:cNvPr id="50" name="Shape 23"/>
          <p:cNvSpPr/>
          <p:nvPr/>
        </p:nvSpPr>
        <p:spPr>
          <a:xfrm>
            <a:off x="571500" y="5048402"/>
            <a:ext cx="304495" cy="304495"/>
          </a:xfrm>
          <a:prstGeom prst="roundRect">
            <a:avLst>
              <a:gd name="adj" fmla="val 18919"/>
            </a:avLst>
          </a:prstGeom>
          <a:solidFill>
            <a:srgbClr val="E0F0E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>
              <a:latin typeface="Raleway" pitchFamily="2" charset="0"/>
            </a:endParaRPr>
          </a:p>
        </p:txBody>
      </p:sp>
      <p:pic>
        <p:nvPicPr>
          <p:cNvPr id="51" name="Image 25" descr="gen-dedup-7e358a94e44e4fa43a54aae5ce00aa47.png"/>
          <p:cNvPicPr>
            <a:picLocks noChangeAspect="1"/>
          </p:cNvPicPr>
          <p:nvPr/>
        </p:nvPicPr>
        <p:blipFill>
          <a:blip r:embed="rId20"/>
          <a:srcRect t="-100" b="-100"/>
          <a:stretch/>
        </p:blipFill>
        <p:spPr>
          <a:xfrm>
            <a:off x="666598" y="5124298"/>
            <a:ext cx="114300" cy="152705"/>
          </a:xfrm>
          <a:prstGeom prst="rect">
            <a:avLst/>
          </a:prstGeom>
        </p:spPr>
      </p:pic>
      <p:sp>
        <p:nvSpPr>
          <p:cNvPr id="52" name="Text 24"/>
          <p:cNvSpPr txBox="1"/>
          <p:nvPr/>
        </p:nvSpPr>
        <p:spPr>
          <a:xfrm>
            <a:off x="990295" y="5086807"/>
            <a:ext cx="285750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F2A44"/>
                </a:solidFill>
                <a:latin typeface="Raleway" pitchFamily="2" charset="0"/>
                <a:ea typeface="Fraunces" pitchFamily="34" charset="-122"/>
                <a:cs typeface="Fraunces" pitchFamily="34" charset="-120"/>
              </a:rPr>
              <a:t>Delivery Strengths</a:t>
            </a:r>
            <a:endParaRPr lang="en-US" sz="1300" dirty="0">
              <a:latin typeface="Raleway" pitchFamily="2" charset="0"/>
            </a:endParaRPr>
          </a:p>
        </p:txBody>
      </p:sp>
      <p:pic>
        <p:nvPicPr>
          <p:cNvPr id="53" name="Image 26" descr="gen-dedup-564235ad4609c9efa5814b009357ec1f.png"/>
          <p:cNvPicPr>
            <a:picLocks noChangeAspect="1"/>
          </p:cNvPicPr>
          <p:nvPr/>
        </p:nvPicPr>
        <p:blipFill>
          <a:blip r:embed="rId21"/>
          <a:srcRect t="-12275" b="-12275"/>
          <a:stretch/>
        </p:blipFill>
        <p:spPr>
          <a:xfrm>
            <a:off x="571500" y="5649354"/>
            <a:ext cx="152705" cy="190195"/>
          </a:xfrm>
          <a:prstGeom prst="rect">
            <a:avLst/>
          </a:prstGeom>
        </p:spPr>
      </p:pic>
      <p:sp>
        <p:nvSpPr>
          <p:cNvPr id="54" name="Text 25"/>
          <p:cNvSpPr txBox="1"/>
          <p:nvPr/>
        </p:nvSpPr>
        <p:spPr>
          <a:xfrm>
            <a:off x="895198" y="5649354"/>
            <a:ext cx="1810512" cy="3529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2A3346"/>
                </a:solidFill>
                <a:latin typeface="Raleway" pitchFamily="2" charset="0"/>
                <a:ea typeface="Inter" pitchFamily="34" charset="-122"/>
                <a:cs typeface="Inter" pitchFamily="34" charset="-120"/>
              </a:rPr>
              <a:t>Partnerships with Top 20 colleges.</a:t>
            </a:r>
            <a:endParaRPr lang="en-US" sz="1100" dirty="0">
              <a:latin typeface="Raleway" pitchFamily="2" charset="0"/>
            </a:endParaRPr>
          </a:p>
        </p:txBody>
      </p:sp>
      <p:pic>
        <p:nvPicPr>
          <p:cNvPr id="55" name="Image 27" descr="gen-dedup-564235ad4609c9efa5814b009357ec1f.png"/>
          <p:cNvPicPr>
            <a:picLocks noChangeAspect="1"/>
          </p:cNvPicPr>
          <p:nvPr/>
        </p:nvPicPr>
        <p:blipFill>
          <a:blip r:embed="rId21"/>
          <a:srcRect t="-12275" b="-12275"/>
          <a:stretch/>
        </p:blipFill>
        <p:spPr>
          <a:xfrm>
            <a:off x="2800807" y="5649354"/>
            <a:ext cx="152705" cy="190195"/>
          </a:xfrm>
          <a:prstGeom prst="rect">
            <a:avLst/>
          </a:prstGeom>
        </p:spPr>
      </p:pic>
      <p:sp>
        <p:nvSpPr>
          <p:cNvPr id="56" name="Text 26"/>
          <p:cNvSpPr txBox="1"/>
          <p:nvPr/>
        </p:nvSpPr>
        <p:spPr>
          <a:xfrm>
            <a:off x="3124505" y="5649354"/>
            <a:ext cx="1810512" cy="3529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2A3346"/>
                </a:solidFill>
                <a:latin typeface="Raleway" pitchFamily="2" charset="0"/>
                <a:ea typeface="Inter" pitchFamily="34" charset="-122"/>
                <a:cs typeface="Inter" pitchFamily="34" charset="-120"/>
              </a:rPr>
              <a:t>10,000+ active candidate database.</a:t>
            </a:r>
            <a:endParaRPr lang="en-US" sz="1100" dirty="0">
              <a:latin typeface="Raleway" pitchFamily="2" charset="0"/>
            </a:endParaRPr>
          </a:p>
        </p:txBody>
      </p:sp>
      <p:pic>
        <p:nvPicPr>
          <p:cNvPr id="57" name="Image 28" descr="gen-dedup-564235ad4609c9efa5814b009357ec1f.png"/>
          <p:cNvPicPr>
            <a:picLocks noChangeAspect="1"/>
          </p:cNvPicPr>
          <p:nvPr/>
        </p:nvPicPr>
        <p:blipFill>
          <a:blip r:embed="rId21"/>
          <a:srcRect t="-12275" b="-12275"/>
          <a:stretch/>
        </p:blipFill>
        <p:spPr>
          <a:xfrm>
            <a:off x="5029200" y="5649354"/>
            <a:ext cx="152705" cy="190195"/>
          </a:xfrm>
          <a:prstGeom prst="rect">
            <a:avLst/>
          </a:prstGeom>
        </p:spPr>
      </p:pic>
      <p:sp>
        <p:nvSpPr>
          <p:cNvPr id="58" name="Text 27"/>
          <p:cNvSpPr txBox="1"/>
          <p:nvPr/>
        </p:nvSpPr>
        <p:spPr>
          <a:xfrm>
            <a:off x="5352898" y="5649354"/>
            <a:ext cx="1905610" cy="5239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2A3346"/>
                </a:solidFill>
                <a:latin typeface="Raleway" pitchFamily="2" charset="0"/>
                <a:ea typeface="Inter" pitchFamily="34" charset="-122"/>
                <a:cs typeface="Inter" pitchFamily="34" charset="-120"/>
              </a:rPr>
              <a:t>Proven five-year delivery experience in Customer Support hiring.</a:t>
            </a:r>
            <a:endParaRPr lang="en-US" sz="1100" dirty="0">
              <a:latin typeface="Raleway" pitchFamily="2" charset="0"/>
            </a:endParaRPr>
          </a:p>
        </p:txBody>
      </p:sp>
      <p:pic>
        <p:nvPicPr>
          <p:cNvPr id="59" name="Image 29" descr="gen-dedup-564235ad4609c9efa5814b009357ec1f.png"/>
          <p:cNvPicPr>
            <a:picLocks noChangeAspect="1"/>
          </p:cNvPicPr>
          <p:nvPr/>
        </p:nvPicPr>
        <p:blipFill>
          <a:blip r:embed="rId21"/>
          <a:srcRect t="-12275" b="-12275"/>
          <a:stretch/>
        </p:blipFill>
        <p:spPr>
          <a:xfrm>
            <a:off x="7448702" y="5649354"/>
            <a:ext cx="152705" cy="190195"/>
          </a:xfrm>
          <a:prstGeom prst="rect">
            <a:avLst/>
          </a:prstGeom>
        </p:spPr>
      </p:pic>
      <p:sp>
        <p:nvSpPr>
          <p:cNvPr id="60" name="Text 28"/>
          <p:cNvSpPr txBox="1"/>
          <p:nvPr/>
        </p:nvSpPr>
        <p:spPr>
          <a:xfrm>
            <a:off x="7772400" y="5649354"/>
            <a:ext cx="1619402" cy="3529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2A3346"/>
                </a:solidFill>
                <a:latin typeface="Raleway" pitchFamily="2" charset="0"/>
                <a:ea typeface="Inter" pitchFamily="34" charset="-122"/>
                <a:cs typeface="Inter" pitchFamily="34" charset="-120"/>
              </a:rPr>
              <a:t>Capacity to deliver 300 CPO hires per quarter.</a:t>
            </a:r>
            <a:endParaRPr lang="en-US" sz="1100" dirty="0">
              <a:latin typeface="Raleway" pitchFamily="2" charset="0"/>
            </a:endParaRPr>
          </a:p>
        </p:txBody>
      </p:sp>
      <p:pic>
        <p:nvPicPr>
          <p:cNvPr id="61" name="Image 30" descr="gen-dedup-564235ad4609c9efa5814b009357ec1f.png"/>
          <p:cNvPicPr>
            <a:picLocks noChangeAspect="1"/>
          </p:cNvPicPr>
          <p:nvPr/>
        </p:nvPicPr>
        <p:blipFill>
          <a:blip r:embed="rId21"/>
          <a:srcRect t="-12275" b="-12275"/>
          <a:stretch/>
        </p:blipFill>
        <p:spPr>
          <a:xfrm>
            <a:off x="9581998" y="5649354"/>
            <a:ext cx="152705" cy="190195"/>
          </a:xfrm>
          <a:prstGeom prst="rect">
            <a:avLst/>
          </a:prstGeom>
        </p:spPr>
      </p:pic>
      <p:sp>
        <p:nvSpPr>
          <p:cNvPr id="62" name="Text 29"/>
          <p:cNvSpPr txBox="1"/>
          <p:nvPr/>
        </p:nvSpPr>
        <p:spPr>
          <a:xfrm>
            <a:off x="9905695" y="5649354"/>
            <a:ext cx="1666951" cy="3529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2A3346"/>
                </a:solidFill>
                <a:latin typeface="Raleway" pitchFamily="2" charset="0"/>
                <a:ea typeface="Inter" pitchFamily="34" charset="-122"/>
                <a:cs typeface="Inter" pitchFamily="34" charset="-120"/>
              </a:rPr>
              <a:t>Three walk-in drives every week.</a:t>
            </a:r>
            <a:endParaRPr lang="en-US" sz="1100" dirty="0">
              <a:latin typeface="Raleway" pitchFamily="2" charset="0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gen-dedup-52a6aed37365ba1b37d9c18af825b761.png"/>
          <p:cNvPicPr>
            <a:picLocks noChangeAspect="1"/>
          </p:cNvPicPr>
          <p:nvPr/>
        </p:nvPicPr>
        <p:blipFill>
          <a:blip r:embed="rId3"/>
          <a:srcRect l="-198" r="-198"/>
          <a:stretch/>
        </p:blipFill>
        <p:spPr>
          <a:xfrm>
            <a:off x="0" y="0"/>
            <a:ext cx="4876495" cy="75895"/>
          </a:xfrm>
          <a:prstGeom prst="rect">
            <a:avLst/>
          </a:prstGeom>
        </p:spPr>
      </p:pic>
      <p:pic>
        <p:nvPicPr>
          <p:cNvPr id="3" name="Image 1" descr="gen-dedup-b6bc99787a821c9ace348c3d347c76b2.png"/>
          <p:cNvPicPr>
            <a:picLocks noChangeAspect="1"/>
          </p:cNvPicPr>
          <p:nvPr/>
        </p:nvPicPr>
        <p:blipFill>
          <a:blip r:embed="rId4"/>
          <a:srcRect l="-201" r="-201"/>
          <a:stretch/>
        </p:blipFill>
        <p:spPr>
          <a:xfrm>
            <a:off x="4876495" y="0"/>
            <a:ext cx="7315200" cy="75895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9334195" y="-1429207"/>
            <a:ext cx="3810305" cy="3810305"/>
          </a:xfrm>
          <a:prstGeom prst="ellipse">
            <a:avLst/>
          </a:prstGeom>
          <a:solidFill>
            <a:srgbClr val="2A9D8F">
              <a:alpha val="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5" name="Image 2" descr="gen-dedup-db50b546e9bae7cd91e656957d1236d6.png"/>
          <p:cNvPicPr>
            <a:picLocks noChangeAspect="1"/>
          </p:cNvPicPr>
          <p:nvPr/>
        </p:nvPicPr>
        <p:blipFill>
          <a:blip r:embed="rId5"/>
          <a:srcRect l="-384" r="-384"/>
          <a:stretch/>
        </p:blipFill>
        <p:spPr>
          <a:xfrm>
            <a:off x="381305" y="381305"/>
            <a:ext cx="38405" cy="476402"/>
          </a:xfrm>
          <a:prstGeom prst="rect">
            <a:avLst/>
          </a:prstGeom>
        </p:spPr>
      </p:pic>
      <p:sp>
        <p:nvSpPr>
          <p:cNvPr id="6" name="Shape 1"/>
          <p:cNvSpPr/>
          <p:nvPr/>
        </p:nvSpPr>
        <p:spPr>
          <a:xfrm>
            <a:off x="381305" y="1143000"/>
            <a:ext cx="11449202" cy="3353105"/>
          </a:xfrm>
          <a:prstGeom prst="roundRect">
            <a:avLst>
              <a:gd name="adj" fmla="val 2263"/>
            </a:avLst>
          </a:prstGeom>
          <a:solidFill>
            <a:srgbClr val="FFFFFF"/>
          </a:solidFill>
          <a:ln w="12700">
            <a:solidFill>
              <a:srgbClr val="E5E8EE"/>
            </a:solidFill>
            <a:prstDash val="solid"/>
          </a:ln>
          <a:effectLst>
            <a:outerShdw blurRad="114300" dist="38100" dir="16200000" algn="bl" rotWithShape="0">
              <a:srgbClr val="000000">
                <a:alpha val="3000"/>
              </a:srgbClr>
            </a:outerShdw>
          </a:effectLst>
        </p:spPr>
        <p:txBody>
          <a:bodyPr/>
          <a:lstStyle/>
          <a:p>
            <a:endParaRPr lang="en-US">
              <a:latin typeface="Raleway" pitchFamily="2" charset="0"/>
            </a:endParaRPr>
          </a:p>
        </p:txBody>
      </p:sp>
      <p:sp>
        <p:nvSpPr>
          <p:cNvPr id="7" name="Shape 2"/>
          <p:cNvSpPr/>
          <p:nvPr/>
        </p:nvSpPr>
        <p:spPr>
          <a:xfrm>
            <a:off x="381305" y="4667098"/>
            <a:ext cx="11430000" cy="1238098"/>
          </a:xfrm>
          <a:prstGeom prst="roundRect">
            <a:avLst>
              <a:gd name="adj" fmla="val 6130"/>
            </a:avLst>
          </a:prstGeom>
          <a:solidFill>
            <a:srgbClr val="2A9D8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>
              <a:latin typeface="Raleway" pitchFamily="2" charset="0"/>
            </a:endParaRPr>
          </a:p>
        </p:txBody>
      </p:sp>
      <p:pic>
        <p:nvPicPr>
          <p:cNvPr id="8" name="Image 3" descr="gen-dedup-585cde59db80495211d9f9275819a0e9.png"/>
          <p:cNvPicPr>
            <a:picLocks noChangeAspect="1"/>
          </p:cNvPicPr>
          <p:nvPr/>
        </p:nvPicPr>
        <p:blipFill>
          <a:blip r:embed="rId6"/>
          <a:srcRect l="-2" r="-2"/>
          <a:stretch/>
        </p:blipFill>
        <p:spPr>
          <a:xfrm>
            <a:off x="381305" y="6096305"/>
            <a:ext cx="11487607" cy="571500"/>
          </a:xfrm>
          <a:prstGeom prst="rect">
            <a:avLst/>
          </a:prstGeom>
        </p:spPr>
      </p:pic>
      <p:pic>
        <p:nvPicPr>
          <p:cNvPr id="9" name="Image 4" descr="gen-dedup-76e37ab332a35b71054b9cd9efd3a7f3.png"/>
          <p:cNvPicPr>
            <a:picLocks noChangeAspect="1"/>
          </p:cNvPicPr>
          <p:nvPr/>
        </p:nvPicPr>
        <p:blipFill>
          <a:blip r:embed="rId7"/>
          <a:srcRect t="-73" b="-73"/>
          <a:stretch/>
        </p:blipFill>
        <p:spPr>
          <a:xfrm>
            <a:off x="381305" y="4524451"/>
            <a:ext cx="2095805" cy="286207"/>
          </a:xfrm>
          <a:prstGeom prst="rect">
            <a:avLst/>
          </a:prstGeom>
        </p:spPr>
      </p:pic>
      <p:pic>
        <p:nvPicPr>
          <p:cNvPr id="10" name="Image 5" descr="gen-dedup-1299df1a9106269eceef43134d53c151.png"/>
          <p:cNvPicPr>
            <a:picLocks noChangeAspect="1"/>
          </p:cNvPicPr>
          <p:nvPr/>
        </p:nvPicPr>
        <p:blipFill>
          <a:blip r:embed="rId8"/>
          <a:srcRect t="-2083" b="-2083"/>
          <a:stretch/>
        </p:blipFill>
        <p:spPr>
          <a:xfrm>
            <a:off x="4000500" y="5000854"/>
            <a:ext cx="9144" cy="571500"/>
          </a:xfrm>
          <a:prstGeom prst="rect">
            <a:avLst/>
          </a:prstGeom>
        </p:spPr>
      </p:pic>
      <p:pic>
        <p:nvPicPr>
          <p:cNvPr id="11" name="Image 6" descr="gen-dedup-1299df1a9106269eceef43134d53c151.png"/>
          <p:cNvPicPr>
            <a:picLocks noChangeAspect="1"/>
          </p:cNvPicPr>
          <p:nvPr/>
        </p:nvPicPr>
        <p:blipFill>
          <a:blip r:embed="rId8"/>
          <a:srcRect t="-2083" b="-2083"/>
          <a:stretch/>
        </p:blipFill>
        <p:spPr>
          <a:xfrm>
            <a:off x="7715707" y="5000854"/>
            <a:ext cx="9144" cy="571500"/>
          </a:xfrm>
          <a:prstGeom prst="rect">
            <a:avLst/>
          </a:prstGeom>
        </p:spPr>
      </p:pic>
      <p:sp>
        <p:nvSpPr>
          <p:cNvPr id="12" name="Text 3"/>
          <p:cNvSpPr txBox="1"/>
          <p:nvPr/>
        </p:nvSpPr>
        <p:spPr>
          <a:xfrm>
            <a:off x="11182198" y="228600"/>
            <a:ext cx="476402" cy="1435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94A0B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39</a:t>
            </a:r>
            <a:endParaRPr lang="en-US" sz="900" dirty="0"/>
          </a:p>
        </p:txBody>
      </p:sp>
      <p:sp>
        <p:nvSpPr>
          <p:cNvPr id="13" name="Text 4"/>
          <p:cNvSpPr txBox="1"/>
          <p:nvPr/>
        </p:nvSpPr>
        <p:spPr>
          <a:xfrm>
            <a:off x="533095" y="362102"/>
            <a:ext cx="11163910" cy="3246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1F2A44"/>
                </a:solidFill>
                <a:latin typeface="Oswald" panose="00000500000000000000" pitchFamily="2" charset="0"/>
                <a:ea typeface="Fraunces" pitchFamily="34" charset="-122"/>
                <a:cs typeface="Fraunces" pitchFamily="34" charset="-120"/>
              </a:rPr>
              <a:t>The Strategic Hiring Imperative </a:t>
            </a:r>
            <a:r>
              <a:rPr lang="en-US" sz="2400" b="1" dirty="0">
                <a:solidFill>
                  <a:srgbClr val="64738A"/>
                </a:solidFill>
                <a:latin typeface="Oswald" panose="00000500000000000000" pitchFamily="2" charset="0"/>
                <a:ea typeface="Fraunces" pitchFamily="34" charset="-122"/>
                <a:cs typeface="Fraunces" pitchFamily="34" charset="-120"/>
              </a:rPr>
              <a:t>– Risk Mitigation &amp; Performance Assurance</a:t>
            </a:r>
            <a:endParaRPr lang="en-US" sz="2400" dirty="0">
              <a:latin typeface="Oswald" panose="00000500000000000000" pitchFamily="2" charset="0"/>
            </a:endParaRPr>
          </a:p>
        </p:txBody>
      </p:sp>
      <p:sp>
        <p:nvSpPr>
          <p:cNvPr id="14" name="Text 5"/>
          <p:cNvSpPr txBox="1"/>
          <p:nvPr/>
        </p:nvSpPr>
        <p:spPr>
          <a:xfrm>
            <a:off x="533095" y="724205"/>
            <a:ext cx="10478110" cy="1810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kern="0" spc="38" dirty="0">
                <a:solidFill>
                  <a:srgbClr val="2A9D8F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Strategic Hiring: Transformational Flexibility Meets Execution Certainty</a:t>
            </a:r>
            <a:endParaRPr lang="en-US" sz="1500" dirty="0">
              <a:latin typeface="Roboto Condensed" panose="02000000000000000000" pitchFamily="2" charset="0"/>
              <a:ea typeface="Roboto Condensed" panose="02000000000000000000" pitchFamily="2" charset="0"/>
              <a:cs typeface="Roboto Condensed" panose="02000000000000000000" pitchFamily="2" charset="0"/>
            </a:endParaRPr>
          </a:p>
        </p:txBody>
      </p:sp>
      <p:graphicFrame>
        <p:nvGraphicFramePr>
          <p:cNvPr id="15" name="Table 0"/>
          <p:cNvGraphicFramePr>
            <a:graphicFrameLocks noGrp="1"/>
          </p:cNvGraphicFramePr>
          <p:nvPr/>
        </p:nvGraphicFramePr>
        <p:xfrm>
          <a:off x="381305" y="1143000"/>
          <a:ext cx="11430000" cy="3487670"/>
        </p:xfrm>
        <a:graphic>
          <a:graphicData uri="http://schemas.openxmlformats.org/drawingml/2006/table">
            <a:tbl>
              <a:tblPr/>
              <a:tblGrid>
                <a:gridCol w="235275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575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575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36224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7625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Raleway" pitchFamily="2" charset="0"/>
                          <a:ea typeface="Inter" pitchFamily="34" charset="-122"/>
                          <a:cs typeface="Inter" pitchFamily="34" charset="-120"/>
                        </a:rPr>
                        <a:t>DIMENSION</a:t>
                      </a:r>
                      <a:endParaRPr lang="en-US" sz="1100" dirty="0">
                        <a:latin typeface="Raleway" pitchFamily="2" charset="0"/>
                        <a:ea typeface="Inter" charset="0"/>
                        <a:cs typeface="Inter" charset="0"/>
                      </a:endParaRPr>
                    </a:p>
                  </a:txBody>
                  <a:tcPr marL="190195" marR="190195" marT="133502" marB="133502" anchor="ctr">
                    <a:lnL w="0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Raleway" pitchFamily="2" charset="0"/>
                          <a:ea typeface="Inter" pitchFamily="34" charset="-122"/>
                          <a:cs typeface="Inter" pitchFamily="34" charset="-120"/>
                        </a:rPr>
                        <a:t>FULL-TIME DIRECT HIRE</a:t>
                      </a:r>
                      <a:endParaRPr lang="en-US" sz="1100" dirty="0">
                        <a:latin typeface="Raleway" pitchFamily="2" charset="0"/>
                        <a:ea typeface="Inter" charset="0"/>
                        <a:cs typeface="Inter" charset="0"/>
                      </a:endParaRPr>
                    </a:p>
                  </a:txBody>
                  <a:tcPr marL="190195" marR="190195" marT="133502" marB="133502" anchor="ctr">
                    <a:lnL w="0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Raleway" pitchFamily="2" charset="0"/>
                          <a:ea typeface="Inter" pitchFamily="34" charset="-122"/>
                          <a:cs typeface="Inter" pitchFamily="34" charset="-120"/>
                        </a:rPr>
                        <a:t>STRATEGIC HIRING MODEL</a:t>
                      </a:r>
                      <a:endParaRPr lang="en-US" sz="1100" dirty="0">
                        <a:latin typeface="Raleway" pitchFamily="2" charset="0"/>
                        <a:ea typeface="Inter" charset="0"/>
                        <a:cs typeface="Inter" charset="0"/>
                      </a:endParaRPr>
                    </a:p>
                  </a:txBody>
                  <a:tcPr marL="190195" marR="190195" marT="133502" marB="133502" anchor="ctr">
                    <a:lnL w="0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Raleway" pitchFamily="2" charset="0"/>
                          <a:ea typeface="Inter" pitchFamily="34" charset="-122"/>
                          <a:cs typeface="Inter" pitchFamily="34" charset="-120"/>
                        </a:rPr>
                        <a:t>J2W ADVANTAGE</a:t>
                      </a:r>
                      <a:endParaRPr lang="en-US" sz="1100" dirty="0">
                        <a:latin typeface="Raleway" pitchFamily="2" charset="0"/>
                        <a:ea typeface="Inter" charset="0"/>
                        <a:cs typeface="Inter" charset="0"/>
                      </a:endParaRPr>
                    </a:p>
                  </a:txBody>
                  <a:tcPr marL="190195" marR="190195" marT="133502" marB="133502" anchor="ctr">
                    <a:lnL w="0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625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1F2A44"/>
                          </a:solidFill>
                          <a:latin typeface="Raleway" pitchFamily="2" charset="0"/>
                          <a:ea typeface="Inter" pitchFamily="34" charset="-122"/>
                          <a:cs typeface="Inter" pitchFamily="34" charset="-120"/>
                        </a:rPr>
                        <a:t>Time-to-Productivity</a:t>
                      </a:r>
                      <a:endParaRPr lang="en-US" sz="1100" dirty="0">
                        <a:latin typeface="Raleway" pitchFamily="2" charset="0"/>
                        <a:ea typeface="Inter" charset="0"/>
                        <a:cs typeface="Inter" charset="0"/>
                      </a:endParaRPr>
                    </a:p>
                  </a:txBody>
                  <a:tcPr marL="190195" marR="190195" marT="133502" marB="133502" anchor="ctr">
                    <a:lnL w="0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2A3346"/>
                          </a:solidFill>
                          <a:latin typeface="Raleway" pitchFamily="2" charset="0"/>
                          <a:ea typeface="Inter" pitchFamily="34" charset="-122"/>
                          <a:cs typeface="Inter" pitchFamily="34" charset="-120"/>
                        </a:rPr>
                        <a:t>60–90 days (typical India ramp)</a:t>
                      </a:r>
                      <a:endParaRPr lang="en-US" sz="1100" dirty="0">
                        <a:latin typeface="Raleway" pitchFamily="2" charset="0"/>
                        <a:ea typeface="Inter" charset="0"/>
                        <a:cs typeface="Inter" charset="0"/>
                      </a:endParaRPr>
                    </a:p>
                  </a:txBody>
                  <a:tcPr marL="190195" marR="190195" marT="133502" marB="133502" anchor="ctr">
                    <a:lnL w="0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2A3346"/>
                          </a:solidFill>
                          <a:latin typeface="Raleway" pitchFamily="2" charset="0"/>
                          <a:ea typeface="Inter" pitchFamily="34" charset="-122"/>
                          <a:cs typeface="Inter" pitchFamily="34" charset="-120"/>
                        </a:rPr>
                        <a:t>30–45 days (proven track record)</a:t>
                      </a:r>
                      <a:endParaRPr lang="en-US" sz="1100" dirty="0">
                        <a:latin typeface="Raleway" pitchFamily="2" charset="0"/>
                        <a:ea typeface="Inter" charset="0"/>
                        <a:cs typeface="Inter" charset="0"/>
                      </a:endParaRPr>
                    </a:p>
                  </a:txBody>
                  <a:tcPr marL="190195" marR="190195" marT="133502" marB="133502" anchor="ctr">
                    <a:lnL w="0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1F2A44"/>
                          </a:solidFill>
                          <a:latin typeface="Raleway" pitchFamily="2" charset="0"/>
                          <a:ea typeface="Inter" pitchFamily="34" charset="-122"/>
                          <a:cs typeface="Inter" pitchFamily="34" charset="-120"/>
                        </a:rPr>
                        <a:t>J2W payroll covers cost, risk absorption model</a:t>
                      </a:r>
                      <a:endParaRPr lang="en-US" sz="1100" dirty="0">
                        <a:latin typeface="Raleway" pitchFamily="2" charset="0"/>
                        <a:ea typeface="Inter" charset="0"/>
                        <a:cs typeface="Inter" charset="0"/>
                      </a:endParaRPr>
                    </a:p>
                  </a:txBody>
                  <a:tcPr marL="190195" marR="190195" marT="133502" marB="133502" anchor="ctr">
                    <a:lnL w="0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>
                        <a:alpha val="4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625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1F2A44"/>
                          </a:solidFill>
                          <a:latin typeface="Raleway" pitchFamily="2" charset="0"/>
                          <a:ea typeface="Inter" pitchFamily="34" charset="-122"/>
                          <a:cs typeface="Inter" pitchFamily="34" charset="-120"/>
                        </a:rPr>
                        <a:t>Cultural Alignment Risk</a:t>
                      </a:r>
                      <a:endParaRPr lang="en-US" sz="1100" dirty="0">
                        <a:latin typeface="Raleway" pitchFamily="2" charset="0"/>
                        <a:ea typeface="Inter" charset="0"/>
                        <a:cs typeface="Inter" charset="0"/>
                      </a:endParaRPr>
                    </a:p>
                  </a:txBody>
                  <a:tcPr marL="190195" marR="190195" marT="133502" marB="133502" anchor="ctr">
                    <a:lnL w="0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2A3346"/>
                          </a:solidFill>
                          <a:latin typeface="Raleway" pitchFamily="2" charset="0"/>
                          <a:ea typeface="Inter" pitchFamily="34" charset="-122"/>
                          <a:cs typeface="Inter" pitchFamily="34" charset="-120"/>
                        </a:rPr>
                        <a:t>High; irreversible 30-day notice penalty</a:t>
                      </a:r>
                      <a:endParaRPr lang="en-US" sz="1100" dirty="0">
                        <a:latin typeface="Raleway" pitchFamily="2" charset="0"/>
                        <a:ea typeface="Inter" charset="0"/>
                        <a:cs typeface="Inter" charset="0"/>
                      </a:endParaRPr>
                    </a:p>
                  </a:txBody>
                  <a:tcPr marL="190195" marR="190195" marT="133502" marB="133502" anchor="ctr">
                    <a:lnL w="0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2A3346"/>
                          </a:solidFill>
                          <a:latin typeface="Raleway" pitchFamily="2" charset="0"/>
                          <a:ea typeface="Inter" pitchFamily="34" charset="-122"/>
                          <a:cs typeface="Inter" pitchFamily="34" charset="-120"/>
                        </a:rPr>
                        <a:t>Mitigated; 90-day validation window</a:t>
                      </a:r>
                      <a:endParaRPr lang="en-US" sz="1100" dirty="0">
                        <a:latin typeface="Raleway" pitchFamily="2" charset="0"/>
                        <a:ea typeface="Inter" charset="0"/>
                        <a:cs typeface="Inter" charset="0"/>
                      </a:endParaRPr>
                    </a:p>
                  </a:txBody>
                  <a:tcPr marL="190195" marR="190195" marT="133502" marB="133502" anchor="ctr">
                    <a:lnL w="0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1F2A44"/>
                          </a:solidFill>
                          <a:latin typeface="Raleway" pitchFamily="2" charset="0"/>
                          <a:ea typeface="Inter" pitchFamily="34" charset="-122"/>
                          <a:cs typeface="Inter" pitchFamily="34" charset="-120"/>
                        </a:rPr>
                        <a:t>Continuous feedback loops; replacement guarantee</a:t>
                      </a:r>
                      <a:endParaRPr lang="en-US" sz="1100" dirty="0">
                        <a:latin typeface="Raleway" pitchFamily="2" charset="0"/>
                        <a:ea typeface="Inter" charset="0"/>
                        <a:cs typeface="Inter" charset="0"/>
                      </a:endParaRPr>
                    </a:p>
                  </a:txBody>
                  <a:tcPr marL="190195" marR="190195" marT="133502" marB="133502" anchor="ctr">
                    <a:lnL w="0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>
                        <a:alpha val="4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625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1F2A44"/>
                          </a:solidFill>
                          <a:latin typeface="Raleway" pitchFamily="2" charset="0"/>
                          <a:ea typeface="Inter" pitchFamily="34" charset="-122"/>
                          <a:cs typeface="Inter" pitchFamily="34" charset="-120"/>
                        </a:rPr>
                        <a:t>Skill Verification</a:t>
                      </a:r>
                      <a:endParaRPr lang="en-US" sz="1100" dirty="0">
                        <a:latin typeface="Raleway" pitchFamily="2" charset="0"/>
                        <a:ea typeface="Inter" charset="0"/>
                        <a:cs typeface="Inter" charset="0"/>
                      </a:endParaRPr>
                    </a:p>
                  </a:txBody>
                  <a:tcPr marL="190195" marR="190195" marT="133502" marB="133502" anchor="ctr">
                    <a:lnL w="0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2A3346"/>
                          </a:solidFill>
                          <a:latin typeface="Raleway" pitchFamily="2" charset="0"/>
                          <a:ea typeface="Inter" pitchFamily="34" charset="-122"/>
                          <a:cs typeface="Inter" pitchFamily="34" charset="-120"/>
                        </a:rPr>
                        <a:t>Resume-based assessment</a:t>
                      </a:r>
                      <a:endParaRPr lang="en-US" sz="1100" dirty="0">
                        <a:latin typeface="Raleway" pitchFamily="2" charset="0"/>
                        <a:ea typeface="Inter" charset="0"/>
                        <a:cs typeface="Inter" charset="0"/>
                      </a:endParaRPr>
                    </a:p>
                  </a:txBody>
                  <a:tcPr marL="190195" marR="190195" marT="133502" marB="133502" anchor="ctr">
                    <a:lnL w="0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2A3346"/>
                          </a:solidFill>
                          <a:latin typeface="Raleway" pitchFamily="2" charset="0"/>
                          <a:ea typeface="Inter" pitchFamily="34" charset="-122"/>
                          <a:cs typeface="Inter" pitchFamily="34" charset="-120"/>
                        </a:rPr>
                        <a:t>Real-world project performance</a:t>
                      </a:r>
                      <a:endParaRPr lang="en-US" sz="1100" dirty="0">
                        <a:latin typeface="Raleway" pitchFamily="2" charset="0"/>
                        <a:ea typeface="Inter" charset="0"/>
                        <a:cs typeface="Inter" charset="0"/>
                      </a:endParaRPr>
                    </a:p>
                  </a:txBody>
                  <a:tcPr marL="190195" marR="190195" marT="133502" marB="133502" anchor="ctr">
                    <a:lnL w="0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1F2A44"/>
                          </a:solidFill>
                          <a:latin typeface="Raleway" pitchFamily="2" charset="0"/>
                          <a:ea typeface="Inter" pitchFamily="34" charset="-122"/>
                          <a:cs typeface="Inter" pitchFamily="34" charset="-120"/>
                        </a:rPr>
                        <a:t>Demonstrated competency in banking context</a:t>
                      </a:r>
                      <a:endParaRPr lang="en-US" sz="1100" dirty="0">
                        <a:latin typeface="Raleway" pitchFamily="2" charset="0"/>
                        <a:ea typeface="Inter" charset="0"/>
                        <a:cs typeface="Inter" charset="0"/>
                      </a:endParaRPr>
                    </a:p>
                  </a:txBody>
                  <a:tcPr marL="190195" marR="190195" marT="133502" marB="133502" anchor="ctr">
                    <a:lnL w="0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>
                        <a:alpha val="4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625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1F2A44"/>
                          </a:solidFill>
                          <a:latin typeface="Raleway" pitchFamily="2" charset="0"/>
                          <a:ea typeface="Inter" pitchFamily="34" charset="-122"/>
                          <a:cs typeface="Inter" pitchFamily="34" charset="-120"/>
                        </a:rPr>
                        <a:t>Market Rate Volatility</a:t>
                      </a:r>
                      <a:endParaRPr lang="en-US" sz="1100" dirty="0">
                        <a:latin typeface="Raleway" pitchFamily="2" charset="0"/>
                        <a:ea typeface="Inter" charset="0"/>
                        <a:cs typeface="Inter" charset="0"/>
                      </a:endParaRPr>
                    </a:p>
                  </a:txBody>
                  <a:tcPr marL="190195" marR="190195" marT="133502" marB="133502" anchor="ctr">
                    <a:lnL w="0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2A3346"/>
                          </a:solidFill>
                          <a:latin typeface="Raleway" pitchFamily="2" charset="0"/>
                          <a:ea typeface="Inter" pitchFamily="34" charset="-122"/>
                          <a:cs typeface="Inter" pitchFamily="34" charset="-120"/>
                        </a:rPr>
                        <a:t>Locked at day-1 salary; long-term inflation exposure</a:t>
                      </a:r>
                      <a:endParaRPr lang="en-US" sz="1100" dirty="0">
                        <a:latin typeface="Raleway" pitchFamily="2" charset="0"/>
                        <a:ea typeface="Inter" charset="0"/>
                        <a:cs typeface="Inter" charset="0"/>
                      </a:endParaRPr>
                    </a:p>
                  </a:txBody>
                  <a:tcPr marL="190195" marR="190195" marT="133502" marB="133502" anchor="ctr">
                    <a:lnL w="0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2A3346"/>
                          </a:solidFill>
                          <a:latin typeface="Raleway" pitchFamily="2" charset="0"/>
                          <a:ea typeface="Inter" pitchFamily="34" charset="-122"/>
                          <a:cs typeface="Inter" pitchFamily="34" charset="-120"/>
                        </a:rPr>
                        <a:t>Flexible; 90-day market reset</a:t>
                      </a:r>
                      <a:endParaRPr lang="en-US" sz="1100" dirty="0">
                        <a:latin typeface="Raleway" pitchFamily="2" charset="0"/>
                        <a:ea typeface="Inter" charset="0"/>
                        <a:cs typeface="Inter" charset="0"/>
                      </a:endParaRPr>
                    </a:p>
                  </a:txBody>
                  <a:tcPr marL="190195" marR="190195" marT="133502" marB="133502" anchor="ctr">
                    <a:lnL w="0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1F2A44"/>
                          </a:solidFill>
                          <a:latin typeface="Raleway" pitchFamily="2" charset="0"/>
                          <a:ea typeface="Inter" pitchFamily="34" charset="-122"/>
                          <a:cs typeface="Inter" pitchFamily="34" charset="-120"/>
                        </a:rPr>
                        <a:t>J2W absorbs rate fluctuations during contract phase</a:t>
                      </a:r>
                      <a:endParaRPr lang="en-US" sz="1100" dirty="0">
                        <a:latin typeface="Raleway" pitchFamily="2" charset="0"/>
                        <a:ea typeface="Inter" charset="0"/>
                        <a:cs typeface="Inter" charset="0"/>
                      </a:endParaRPr>
                    </a:p>
                  </a:txBody>
                  <a:tcPr marL="190195" marR="190195" marT="133502" marB="133502" anchor="ctr">
                    <a:lnL w="0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>
                        <a:alpha val="4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625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1F2A44"/>
                          </a:solidFill>
                          <a:latin typeface="Raleway" pitchFamily="2" charset="0"/>
                          <a:ea typeface="Inter" pitchFamily="34" charset="-122"/>
                          <a:cs typeface="Inter" pitchFamily="34" charset="-120"/>
                        </a:rPr>
                        <a:t>Regulatory Compliance</a:t>
                      </a:r>
                      <a:endParaRPr lang="en-US" sz="1100" dirty="0">
                        <a:latin typeface="Raleway" pitchFamily="2" charset="0"/>
                        <a:ea typeface="Inter" charset="0"/>
                        <a:cs typeface="Inter" charset="0"/>
                      </a:endParaRPr>
                    </a:p>
                  </a:txBody>
                  <a:tcPr marL="190195" marR="190195" marT="133502" marB="133502" anchor="ctr">
                    <a:lnL w="0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2A3346"/>
                          </a:solidFill>
                          <a:latin typeface="Raleway" pitchFamily="2" charset="0"/>
                          <a:ea typeface="Inter" pitchFamily="34" charset="-122"/>
                          <a:cs typeface="Inter" pitchFamily="34" charset="-120"/>
                        </a:rPr>
                        <a:t>Full statutory obligation immediately</a:t>
                      </a:r>
                      <a:endParaRPr lang="en-US" sz="1100" dirty="0">
                        <a:latin typeface="Raleway" pitchFamily="2" charset="0"/>
                        <a:ea typeface="Inter" charset="0"/>
                        <a:cs typeface="Inter" charset="0"/>
                      </a:endParaRPr>
                    </a:p>
                  </a:txBody>
                  <a:tcPr marL="190195" marR="190195" marT="133502" marB="133502" anchor="ctr">
                    <a:lnL w="0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2A3346"/>
                          </a:solidFill>
                          <a:latin typeface="Raleway" pitchFamily="2" charset="0"/>
                          <a:ea typeface="Inter" pitchFamily="34" charset="-122"/>
                          <a:cs typeface="Inter" pitchFamily="34" charset="-120"/>
                        </a:rPr>
                        <a:t>Managed by J2W as primary employer</a:t>
                      </a:r>
                      <a:endParaRPr lang="en-US" sz="1100" dirty="0">
                        <a:latin typeface="Raleway" pitchFamily="2" charset="0"/>
                        <a:ea typeface="Inter" charset="0"/>
                        <a:cs typeface="Inter" charset="0"/>
                      </a:endParaRPr>
                    </a:p>
                  </a:txBody>
                  <a:tcPr marL="190195" marR="190195" marT="133502" marB="133502" anchor="ctr">
                    <a:lnL w="0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1F2A44"/>
                          </a:solidFill>
                          <a:latin typeface="Raleway" pitchFamily="2" charset="0"/>
                          <a:ea typeface="Inter" pitchFamily="34" charset="-122"/>
                          <a:cs typeface="Inter" pitchFamily="34" charset="-120"/>
                        </a:rPr>
                        <a:t>Simplified transition; legal risk eliminated</a:t>
                      </a:r>
                      <a:endParaRPr lang="en-US" sz="1100" dirty="0">
                        <a:latin typeface="Raleway" pitchFamily="2" charset="0"/>
                        <a:ea typeface="Inter" charset="0"/>
                        <a:cs typeface="Inter" charset="0"/>
                      </a:endParaRPr>
                    </a:p>
                  </a:txBody>
                  <a:tcPr marL="190195" marR="190195" marT="133502" marB="133502" anchor="ctr">
                    <a:lnL w="0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>
                        <a:alpha val="4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6" name="Text 6"/>
          <p:cNvSpPr txBox="1"/>
          <p:nvPr/>
        </p:nvSpPr>
        <p:spPr>
          <a:xfrm>
            <a:off x="803758" y="4595774"/>
            <a:ext cx="1465783" cy="1435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75" dirty="0">
                <a:solidFill>
                  <a:srgbClr val="FFFFFF"/>
                </a:solidFill>
                <a:latin typeface="Raleway" pitchFamily="2" charset="0"/>
                <a:ea typeface="Inter" pitchFamily="34" charset="-122"/>
                <a:cs typeface="Inter" pitchFamily="34" charset="-120"/>
              </a:rPr>
              <a:t>Financial Impact</a:t>
            </a:r>
            <a:endParaRPr lang="en-US" sz="900" dirty="0">
              <a:latin typeface="Raleway" pitchFamily="2" charset="0"/>
            </a:endParaRPr>
          </a:p>
        </p:txBody>
      </p:sp>
      <p:sp>
        <p:nvSpPr>
          <p:cNvPr id="17" name="Text 7"/>
          <p:cNvSpPr txBox="1"/>
          <p:nvPr/>
        </p:nvSpPr>
        <p:spPr>
          <a:xfrm>
            <a:off x="666598" y="4898875"/>
            <a:ext cx="3143707" cy="381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bg1"/>
                </a:solidFill>
                <a:latin typeface="Raleway" pitchFamily="2" charset="0"/>
                <a:ea typeface="Fraunces" pitchFamily="34" charset="-122"/>
                <a:cs typeface="Fraunces" pitchFamily="34" charset="-120"/>
              </a:rPr>
              <a:t>45–50%</a:t>
            </a:r>
            <a:endParaRPr lang="en-US" sz="3000" dirty="0">
              <a:solidFill>
                <a:schemeClr val="bg1"/>
              </a:solidFill>
              <a:latin typeface="Raleway" pitchFamily="2" charset="0"/>
            </a:endParaRPr>
          </a:p>
        </p:txBody>
      </p:sp>
      <p:sp>
        <p:nvSpPr>
          <p:cNvPr id="18" name="Text 8"/>
          <p:cNvSpPr txBox="1"/>
          <p:nvPr/>
        </p:nvSpPr>
        <p:spPr>
          <a:xfrm>
            <a:off x="666598" y="5359298"/>
            <a:ext cx="314370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65"/>
              </a:lnSpc>
              <a:buNone/>
            </a:pPr>
            <a:r>
              <a:rPr lang="en-US" sz="1100" b="1" dirty="0">
                <a:solidFill>
                  <a:schemeClr val="bg1"/>
                </a:solidFill>
                <a:latin typeface="Raleway" pitchFamily="2" charset="0"/>
                <a:ea typeface="Inter" pitchFamily="34" charset="-122"/>
                <a:cs typeface="Inter" pitchFamily="34" charset="-120"/>
              </a:rPr>
              <a:t>of permanent year-1 compensation</a:t>
            </a:r>
            <a:endParaRPr lang="en-US" sz="1100" dirty="0">
              <a:solidFill>
                <a:schemeClr val="bg1"/>
              </a:solidFill>
              <a:latin typeface="Raleway" pitchFamily="2" charset="0"/>
            </a:endParaRPr>
          </a:p>
          <a:p>
            <a:pPr marL="0" indent="0" algn="l">
              <a:lnSpc>
                <a:spcPts val="1365"/>
              </a:lnSpc>
              <a:buNone/>
            </a:pPr>
            <a:r>
              <a:rPr lang="en-US" sz="1100" dirty="0">
                <a:solidFill>
                  <a:schemeClr val="bg1"/>
                </a:solidFill>
                <a:latin typeface="Raleway" pitchFamily="2" charset="0"/>
                <a:ea typeface="Inter" pitchFamily="34" charset="-122"/>
                <a:cs typeface="Inter" pitchFamily="34" charset="-120"/>
              </a:rPr>
              <a:t>(J2W absorbs employment overhead)</a:t>
            </a:r>
            <a:endParaRPr lang="en-US" sz="1100" dirty="0">
              <a:solidFill>
                <a:schemeClr val="bg1"/>
              </a:solidFill>
              <a:latin typeface="Raleway" pitchFamily="2" charset="0"/>
            </a:endParaRPr>
          </a:p>
        </p:txBody>
      </p:sp>
      <p:sp>
        <p:nvSpPr>
          <p:cNvPr id="19" name="Text 9"/>
          <p:cNvSpPr txBox="1"/>
          <p:nvPr/>
        </p:nvSpPr>
        <p:spPr>
          <a:xfrm>
            <a:off x="4381805" y="4898875"/>
            <a:ext cx="3143707" cy="381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bg1"/>
                </a:solidFill>
                <a:latin typeface="Raleway" pitchFamily="2" charset="0"/>
                <a:ea typeface="Fraunces" pitchFamily="34" charset="-122"/>
                <a:cs typeface="Fraunces" pitchFamily="34" charset="-120"/>
              </a:rPr>
              <a:t>85%</a:t>
            </a:r>
            <a:endParaRPr lang="en-US" sz="3000" dirty="0">
              <a:solidFill>
                <a:schemeClr val="bg1"/>
              </a:solidFill>
              <a:latin typeface="Raleway" pitchFamily="2" charset="0"/>
            </a:endParaRPr>
          </a:p>
        </p:txBody>
      </p:sp>
      <p:sp>
        <p:nvSpPr>
          <p:cNvPr id="20" name="Text 10"/>
          <p:cNvSpPr txBox="1"/>
          <p:nvPr/>
        </p:nvSpPr>
        <p:spPr>
          <a:xfrm>
            <a:off x="4381805" y="5359298"/>
            <a:ext cx="314370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65"/>
              </a:lnSpc>
              <a:buNone/>
            </a:pPr>
            <a:r>
              <a:rPr lang="en-US" sz="1100" b="1" dirty="0">
                <a:solidFill>
                  <a:schemeClr val="bg1"/>
                </a:solidFill>
                <a:latin typeface="Raleway" pitchFamily="2" charset="0"/>
                <a:ea typeface="Inter" pitchFamily="34" charset="-122"/>
                <a:cs typeface="Inter" pitchFamily="34" charset="-120"/>
              </a:rPr>
              <a:t>reduction in mis-hire risk</a:t>
            </a:r>
            <a:endParaRPr lang="en-US" sz="1100" dirty="0">
              <a:solidFill>
                <a:schemeClr val="bg1"/>
              </a:solidFill>
              <a:latin typeface="Raleway" pitchFamily="2" charset="0"/>
            </a:endParaRPr>
          </a:p>
          <a:p>
            <a:pPr marL="0" indent="0" algn="l">
              <a:lnSpc>
                <a:spcPts val="1365"/>
              </a:lnSpc>
              <a:buNone/>
            </a:pPr>
            <a:r>
              <a:rPr lang="en-US" sz="1100" dirty="0">
                <a:solidFill>
                  <a:schemeClr val="bg1"/>
                </a:solidFill>
                <a:latin typeface="Raleway" pitchFamily="2" charset="0"/>
                <a:ea typeface="Inter" pitchFamily="34" charset="-122"/>
                <a:cs typeface="Inter" pitchFamily="34" charset="-120"/>
              </a:rPr>
              <a:t>(J2W internal data across 250+ placements)</a:t>
            </a:r>
            <a:endParaRPr lang="en-US" sz="1100" dirty="0">
              <a:solidFill>
                <a:schemeClr val="bg1"/>
              </a:solidFill>
              <a:latin typeface="Raleway" pitchFamily="2" charset="0"/>
            </a:endParaRPr>
          </a:p>
        </p:txBody>
      </p:sp>
      <p:sp>
        <p:nvSpPr>
          <p:cNvPr id="21" name="Text 11"/>
          <p:cNvSpPr txBox="1"/>
          <p:nvPr/>
        </p:nvSpPr>
        <p:spPr>
          <a:xfrm>
            <a:off x="8096098" y="4898875"/>
            <a:ext cx="3143707" cy="381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bg1"/>
                </a:solidFill>
                <a:latin typeface="Raleway" pitchFamily="2" charset="0"/>
                <a:ea typeface="Fraunces" pitchFamily="34" charset="-122"/>
                <a:cs typeface="Fraunces" pitchFamily="34" charset="-120"/>
              </a:rPr>
              <a:t>8–12%</a:t>
            </a:r>
            <a:endParaRPr lang="en-US" sz="3000" dirty="0">
              <a:solidFill>
                <a:schemeClr val="bg1"/>
              </a:solidFill>
              <a:latin typeface="Raleway" pitchFamily="2" charset="0"/>
            </a:endParaRPr>
          </a:p>
        </p:txBody>
      </p:sp>
      <p:sp>
        <p:nvSpPr>
          <p:cNvPr id="22" name="Text 12"/>
          <p:cNvSpPr txBox="1"/>
          <p:nvPr/>
        </p:nvSpPr>
        <p:spPr>
          <a:xfrm>
            <a:off x="8096098" y="5359298"/>
            <a:ext cx="314370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65"/>
              </a:lnSpc>
              <a:buNone/>
            </a:pPr>
            <a:r>
              <a:rPr lang="en-US" sz="1100" b="1" dirty="0">
                <a:solidFill>
                  <a:schemeClr val="bg1"/>
                </a:solidFill>
                <a:latin typeface="Raleway" pitchFamily="2" charset="0"/>
                <a:ea typeface="Inter" pitchFamily="34" charset="-122"/>
                <a:cs typeface="Inter" pitchFamily="34" charset="-120"/>
              </a:rPr>
              <a:t>total 12-month cost reduction</a:t>
            </a:r>
            <a:endParaRPr lang="en-US" sz="1100" dirty="0">
              <a:solidFill>
                <a:schemeClr val="bg1"/>
              </a:solidFill>
              <a:latin typeface="Raleway" pitchFamily="2" charset="0"/>
            </a:endParaRPr>
          </a:p>
          <a:p>
            <a:pPr marL="0" indent="0" algn="l">
              <a:lnSpc>
                <a:spcPts val="1365"/>
              </a:lnSpc>
              <a:buNone/>
            </a:pPr>
            <a:r>
              <a:rPr lang="en-US" sz="1100" dirty="0">
                <a:solidFill>
                  <a:schemeClr val="bg1"/>
                </a:solidFill>
                <a:latin typeface="Raleway" pitchFamily="2" charset="0"/>
                <a:ea typeface="Inter" pitchFamily="34" charset="-122"/>
                <a:cs typeface="Inter" pitchFamily="34" charset="-120"/>
              </a:rPr>
              <a:t>(Day-366 conversion vs. direct hire)</a:t>
            </a:r>
            <a:endParaRPr lang="en-US" sz="1100" dirty="0">
              <a:solidFill>
                <a:schemeClr val="bg1"/>
              </a:solidFill>
              <a:latin typeface="Raleway" pitchFamily="2" charset="0"/>
            </a:endParaRPr>
          </a:p>
        </p:txBody>
      </p:sp>
      <p:sp>
        <p:nvSpPr>
          <p:cNvPr id="23" name="Text 13"/>
          <p:cNvSpPr txBox="1"/>
          <p:nvPr/>
        </p:nvSpPr>
        <p:spPr>
          <a:xfrm>
            <a:off x="619049" y="6174943"/>
            <a:ext cx="10954512" cy="4197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F2A44"/>
                </a:solidFill>
                <a:latin typeface="Raleway" pitchFamily="2" charset="0"/>
                <a:ea typeface="Inter" pitchFamily="34" charset="-122"/>
                <a:cs typeface="Inter" pitchFamily="34" charset="-120"/>
              </a:rPr>
              <a:t>Strategic Hiring is not compromise; it is strategic optionality</a:t>
            </a:r>
            <a:r>
              <a:rPr lang="en-US" sz="1200" dirty="0">
                <a:solidFill>
                  <a:srgbClr val="1F2A44"/>
                </a:solidFill>
                <a:latin typeface="Raleway" pitchFamily="2" charset="0"/>
                <a:ea typeface="Inter" pitchFamily="34" charset="-122"/>
                <a:cs typeface="Inter" pitchFamily="34" charset="-120"/>
              </a:rPr>
              <a:t> – allowing client to acquire transformational talent with performance certainty, while J2W's operational infrastructure absorbs execution risk.</a:t>
            </a:r>
            <a:endParaRPr lang="en-US" sz="1200" dirty="0">
              <a:latin typeface="Raleway" pitchFamily="2" charset="0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97A9A2-3F80-FB51-FBFF-C64E567053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1167;p28">
            <a:extLst>
              <a:ext uri="{FF2B5EF4-FFF2-40B4-BE49-F238E27FC236}">
                <a16:creationId xmlns:a16="http://schemas.microsoft.com/office/drawing/2014/main" id="{716471D0-FF9C-103A-34D0-08F23B2D1462}"/>
              </a:ext>
            </a:extLst>
          </p:cNvPr>
          <p:cNvSpPr/>
          <p:nvPr/>
        </p:nvSpPr>
        <p:spPr>
          <a:xfrm>
            <a:off x="2440104" y="2160244"/>
            <a:ext cx="11477" cy="704858"/>
          </a:xfrm>
          <a:custGeom>
            <a:avLst/>
            <a:gdLst/>
            <a:ahLst/>
            <a:cxnLst/>
            <a:rect l="l" t="t" r="r" b="b"/>
            <a:pathLst>
              <a:path w="323" h="19837" extrusionOk="0">
                <a:moveTo>
                  <a:pt x="156" y="1"/>
                </a:moveTo>
                <a:cubicBezTo>
                  <a:pt x="72" y="1"/>
                  <a:pt x="1" y="72"/>
                  <a:pt x="1" y="156"/>
                </a:cubicBezTo>
                <a:lnTo>
                  <a:pt x="1" y="19682"/>
                </a:lnTo>
                <a:cubicBezTo>
                  <a:pt x="1" y="19765"/>
                  <a:pt x="72" y="19837"/>
                  <a:pt x="156" y="19837"/>
                </a:cubicBezTo>
                <a:cubicBezTo>
                  <a:pt x="251" y="19837"/>
                  <a:pt x="322" y="19765"/>
                  <a:pt x="322" y="19682"/>
                </a:cubicBezTo>
                <a:lnTo>
                  <a:pt x="322" y="156"/>
                </a:lnTo>
                <a:cubicBezTo>
                  <a:pt x="322" y="72"/>
                  <a:pt x="251" y="1"/>
                  <a:pt x="156" y="1"/>
                </a:cubicBezTo>
                <a:close/>
              </a:path>
            </a:pathLst>
          </a:cu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>
              <a:buClr>
                <a:srgbClr val="000000"/>
              </a:buClr>
              <a:buFont typeface="Arial"/>
              <a:buNone/>
            </a:pPr>
            <a:endParaRPr sz="1400" kern="0">
              <a:solidFill>
                <a:srgbClr val="000000"/>
              </a:solidFill>
              <a:latin typeface="Oswald" panose="00000500000000000000" pitchFamily="2" charset="0"/>
              <a:cs typeface="Arial"/>
              <a:sym typeface="Arial"/>
            </a:endParaRPr>
          </a:p>
        </p:txBody>
      </p:sp>
      <p:grpSp>
        <p:nvGrpSpPr>
          <p:cNvPr id="85" name="Google Shape;1169;p28">
            <a:extLst>
              <a:ext uri="{FF2B5EF4-FFF2-40B4-BE49-F238E27FC236}">
                <a16:creationId xmlns:a16="http://schemas.microsoft.com/office/drawing/2014/main" id="{8A541D6C-1626-CF66-4AE8-55E6D3A00B4B}"/>
              </a:ext>
            </a:extLst>
          </p:cNvPr>
          <p:cNvGrpSpPr/>
          <p:nvPr/>
        </p:nvGrpSpPr>
        <p:grpSpPr>
          <a:xfrm>
            <a:off x="4138719" y="969718"/>
            <a:ext cx="1291642" cy="2101441"/>
            <a:chOff x="4509810" y="1070674"/>
            <a:chExt cx="1291642" cy="2101441"/>
          </a:xfrm>
        </p:grpSpPr>
        <p:sp>
          <p:nvSpPr>
            <p:cNvPr id="86" name="Google Shape;1170;p28">
              <a:extLst>
                <a:ext uri="{FF2B5EF4-FFF2-40B4-BE49-F238E27FC236}">
                  <a16:creationId xmlns:a16="http://schemas.microsoft.com/office/drawing/2014/main" id="{399D75F4-7A53-9473-FBEF-A2EE2F18D56C}"/>
                </a:ext>
              </a:extLst>
            </p:cNvPr>
            <p:cNvSpPr/>
            <p:nvPr/>
          </p:nvSpPr>
          <p:spPr>
            <a:xfrm>
              <a:off x="5146097" y="2261200"/>
              <a:ext cx="11441" cy="704858"/>
            </a:xfrm>
            <a:custGeom>
              <a:avLst/>
              <a:gdLst/>
              <a:ahLst/>
              <a:cxnLst/>
              <a:rect l="l" t="t" r="r" b="b"/>
              <a:pathLst>
                <a:path w="322" h="19837" extrusionOk="0">
                  <a:moveTo>
                    <a:pt x="155" y="1"/>
                  </a:moveTo>
                  <a:cubicBezTo>
                    <a:pt x="72" y="1"/>
                    <a:pt x="1" y="72"/>
                    <a:pt x="1" y="156"/>
                  </a:cubicBezTo>
                  <a:lnTo>
                    <a:pt x="1" y="19682"/>
                  </a:lnTo>
                  <a:cubicBezTo>
                    <a:pt x="1" y="19765"/>
                    <a:pt x="72" y="19837"/>
                    <a:pt x="155" y="19837"/>
                  </a:cubicBezTo>
                  <a:cubicBezTo>
                    <a:pt x="251" y="19837"/>
                    <a:pt x="322" y="19765"/>
                    <a:pt x="322" y="19682"/>
                  </a:cubicBezTo>
                  <a:lnTo>
                    <a:pt x="322" y="156"/>
                  </a:lnTo>
                  <a:cubicBezTo>
                    <a:pt x="322" y="72"/>
                    <a:pt x="251" y="1"/>
                    <a:pt x="155" y="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>
                <a:buClr>
                  <a:srgbClr val="000000"/>
                </a:buClr>
                <a:buFont typeface="Arial"/>
                <a:buNone/>
              </a:pPr>
              <a:endParaRPr sz="1400" kern="0">
                <a:solidFill>
                  <a:srgbClr val="000000"/>
                </a:solidFill>
                <a:latin typeface="Oswald" panose="00000500000000000000" pitchFamily="2" charset="0"/>
                <a:cs typeface="Arial"/>
                <a:sym typeface="Arial"/>
              </a:endParaRPr>
            </a:p>
          </p:txBody>
        </p:sp>
        <p:grpSp>
          <p:nvGrpSpPr>
            <p:cNvPr id="87" name="Google Shape;1171;p28">
              <a:extLst>
                <a:ext uri="{FF2B5EF4-FFF2-40B4-BE49-F238E27FC236}">
                  <a16:creationId xmlns:a16="http://schemas.microsoft.com/office/drawing/2014/main" id="{34468A44-505F-2527-2E43-6ADCB8F47E51}"/>
                </a:ext>
              </a:extLst>
            </p:cNvPr>
            <p:cNvGrpSpPr/>
            <p:nvPr/>
          </p:nvGrpSpPr>
          <p:grpSpPr>
            <a:xfrm>
              <a:off x="4989575" y="1647760"/>
              <a:ext cx="332122" cy="501793"/>
              <a:chOff x="4989575" y="1647760"/>
              <a:chExt cx="332122" cy="501793"/>
            </a:xfrm>
          </p:grpSpPr>
          <p:sp>
            <p:nvSpPr>
              <p:cNvPr id="91" name="Google Shape;1172;p28">
                <a:extLst>
                  <a:ext uri="{FF2B5EF4-FFF2-40B4-BE49-F238E27FC236}">
                    <a16:creationId xmlns:a16="http://schemas.microsoft.com/office/drawing/2014/main" id="{52E165A7-C1D7-660D-F7DB-7CEEA3FF8367}"/>
                  </a:ext>
                </a:extLst>
              </p:cNvPr>
              <p:cNvSpPr/>
              <p:nvPr/>
            </p:nvSpPr>
            <p:spPr>
              <a:xfrm>
                <a:off x="4989575" y="1836476"/>
                <a:ext cx="332122" cy="313077"/>
              </a:xfrm>
              <a:custGeom>
                <a:avLst/>
                <a:gdLst/>
                <a:ahLst/>
                <a:cxnLst/>
                <a:rect l="l" t="t" r="r" b="b"/>
                <a:pathLst>
                  <a:path w="9347" h="8811" extrusionOk="0">
                    <a:moveTo>
                      <a:pt x="8096" y="214"/>
                    </a:moveTo>
                    <a:cubicBezTo>
                      <a:pt x="8668" y="214"/>
                      <a:pt x="9132" y="679"/>
                      <a:pt x="9132" y="1238"/>
                    </a:cubicBezTo>
                    <a:lnTo>
                      <a:pt x="9132" y="7561"/>
                    </a:lnTo>
                    <a:cubicBezTo>
                      <a:pt x="9132" y="8132"/>
                      <a:pt x="8668" y="8596"/>
                      <a:pt x="8096" y="8596"/>
                    </a:cubicBezTo>
                    <a:lnTo>
                      <a:pt x="1250" y="8596"/>
                    </a:lnTo>
                    <a:cubicBezTo>
                      <a:pt x="679" y="8596"/>
                      <a:pt x="226" y="8132"/>
                      <a:pt x="226" y="7561"/>
                    </a:cubicBezTo>
                    <a:lnTo>
                      <a:pt x="226" y="1238"/>
                    </a:lnTo>
                    <a:cubicBezTo>
                      <a:pt x="226" y="679"/>
                      <a:pt x="679" y="214"/>
                      <a:pt x="1250" y="214"/>
                    </a:cubicBezTo>
                    <a:close/>
                    <a:moveTo>
                      <a:pt x="1250" y="0"/>
                    </a:moveTo>
                    <a:cubicBezTo>
                      <a:pt x="560" y="0"/>
                      <a:pt x="0" y="560"/>
                      <a:pt x="0" y="1238"/>
                    </a:cubicBezTo>
                    <a:lnTo>
                      <a:pt x="0" y="7561"/>
                    </a:lnTo>
                    <a:cubicBezTo>
                      <a:pt x="0" y="8251"/>
                      <a:pt x="560" y="8811"/>
                      <a:pt x="1250" y="8811"/>
                    </a:cubicBezTo>
                    <a:lnTo>
                      <a:pt x="8096" y="8811"/>
                    </a:lnTo>
                    <a:cubicBezTo>
                      <a:pt x="8787" y="8811"/>
                      <a:pt x="9347" y="8251"/>
                      <a:pt x="9347" y="7561"/>
                    </a:cubicBezTo>
                    <a:lnTo>
                      <a:pt x="9347" y="1238"/>
                    </a:lnTo>
                    <a:cubicBezTo>
                      <a:pt x="9347" y="560"/>
                      <a:pt x="8787" y="0"/>
                      <a:pt x="8096" y="0"/>
                    </a:cubicBezTo>
                    <a:close/>
                  </a:path>
                </a:pathLst>
              </a:custGeom>
              <a:solidFill>
                <a:srgbClr val="4949E7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>
                  <a:buClr>
                    <a:srgbClr val="000000"/>
                  </a:buClr>
                  <a:buFont typeface="Arial"/>
                  <a:buNone/>
                </a:pPr>
                <a:endParaRPr sz="1400" kern="0">
                  <a:solidFill>
                    <a:srgbClr val="000000"/>
                  </a:solidFill>
                  <a:latin typeface="Oswald" panose="00000500000000000000" pitchFamily="2" charset="0"/>
                  <a:cs typeface="Arial"/>
                  <a:sym typeface="Arial"/>
                </a:endParaRPr>
              </a:p>
            </p:txBody>
          </p:sp>
          <p:sp>
            <p:nvSpPr>
              <p:cNvPr id="92" name="Google Shape;1173;p28">
                <a:extLst>
                  <a:ext uri="{FF2B5EF4-FFF2-40B4-BE49-F238E27FC236}">
                    <a16:creationId xmlns:a16="http://schemas.microsoft.com/office/drawing/2014/main" id="{C339217B-76D8-33B2-225D-BCB57B79E556}"/>
                  </a:ext>
                </a:extLst>
              </p:cNvPr>
              <p:cNvSpPr/>
              <p:nvPr/>
            </p:nvSpPr>
            <p:spPr>
              <a:xfrm>
                <a:off x="5137214" y="1879186"/>
                <a:ext cx="143018" cy="189566"/>
              </a:xfrm>
              <a:custGeom>
                <a:avLst/>
                <a:gdLst/>
                <a:ahLst/>
                <a:cxnLst/>
                <a:rect l="l" t="t" r="r" b="b"/>
                <a:pathLst>
                  <a:path w="4025" h="5335" extrusionOk="0">
                    <a:moveTo>
                      <a:pt x="108" y="1"/>
                    </a:moveTo>
                    <a:cubicBezTo>
                      <a:pt x="48" y="1"/>
                      <a:pt x="1" y="48"/>
                      <a:pt x="1" y="108"/>
                    </a:cubicBezTo>
                    <a:cubicBezTo>
                      <a:pt x="1" y="167"/>
                      <a:pt x="48" y="227"/>
                      <a:pt x="108" y="227"/>
                    </a:cubicBezTo>
                    <a:lnTo>
                      <a:pt x="3168" y="227"/>
                    </a:lnTo>
                    <a:cubicBezTo>
                      <a:pt x="3513" y="227"/>
                      <a:pt x="3799" y="513"/>
                      <a:pt x="3799" y="858"/>
                    </a:cubicBezTo>
                    <a:lnTo>
                      <a:pt x="3799" y="5227"/>
                    </a:lnTo>
                    <a:cubicBezTo>
                      <a:pt x="3799" y="5287"/>
                      <a:pt x="3846" y="5335"/>
                      <a:pt x="3906" y="5335"/>
                    </a:cubicBezTo>
                    <a:cubicBezTo>
                      <a:pt x="3977" y="5335"/>
                      <a:pt x="4025" y="5287"/>
                      <a:pt x="4025" y="5227"/>
                    </a:cubicBezTo>
                    <a:lnTo>
                      <a:pt x="4025" y="858"/>
                    </a:lnTo>
                    <a:cubicBezTo>
                      <a:pt x="4025" y="382"/>
                      <a:pt x="3632" y="1"/>
                      <a:pt x="3168" y="1"/>
                    </a:cubicBezTo>
                    <a:close/>
                  </a:path>
                </a:pathLst>
              </a:custGeom>
              <a:solidFill>
                <a:srgbClr val="4949E7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>
                  <a:buClr>
                    <a:srgbClr val="000000"/>
                  </a:buClr>
                  <a:buFont typeface="Arial"/>
                  <a:buNone/>
                </a:pPr>
                <a:endParaRPr sz="1400" kern="0">
                  <a:solidFill>
                    <a:srgbClr val="000000"/>
                  </a:solidFill>
                  <a:latin typeface="Oswald" panose="00000500000000000000" pitchFamily="2" charset="0"/>
                  <a:cs typeface="Arial"/>
                  <a:sym typeface="Arial"/>
                </a:endParaRPr>
              </a:p>
            </p:txBody>
          </p:sp>
          <p:sp>
            <p:nvSpPr>
              <p:cNvPr id="93" name="Google Shape;1174;p28">
                <a:extLst>
                  <a:ext uri="{FF2B5EF4-FFF2-40B4-BE49-F238E27FC236}">
                    <a16:creationId xmlns:a16="http://schemas.microsoft.com/office/drawing/2014/main" id="{EABA45A2-47DB-D472-A97E-8D9D3FB7B98F}"/>
                  </a:ext>
                </a:extLst>
              </p:cNvPr>
              <p:cNvSpPr/>
              <p:nvPr/>
            </p:nvSpPr>
            <p:spPr>
              <a:xfrm>
                <a:off x="5043727" y="1647760"/>
                <a:ext cx="224246" cy="196353"/>
              </a:xfrm>
              <a:custGeom>
                <a:avLst/>
                <a:gdLst/>
                <a:ahLst/>
                <a:cxnLst/>
                <a:rect l="l" t="t" r="r" b="b"/>
                <a:pathLst>
                  <a:path w="6311" h="5526" extrusionOk="0">
                    <a:moveTo>
                      <a:pt x="3346" y="215"/>
                    </a:moveTo>
                    <a:cubicBezTo>
                      <a:pt x="4858" y="215"/>
                      <a:pt x="6084" y="1454"/>
                      <a:pt x="6084" y="2954"/>
                    </a:cubicBezTo>
                    <a:lnTo>
                      <a:pt x="6084" y="5311"/>
                    </a:lnTo>
                    <a:lnTo>
                      <a:pt x="215" y="5311"/>
                    </a:lnTo>
                    <a:lnTo>
                      <a:pt x="215" y="2954"/>
                    </a:lnTo>
                    <a:cubicBezTo>
                      <a:pt x="215" y="1454"/>
                      <a:pt x="1441" y="215"/>
                      <a:pt x="2953" y="215"/>
                    </a:cubicBezTo>
                    <a:close/>
                    <a:moveTo>
                      <a:pt x="2953" y="1"/>
                    </a:moveTo>
                    <a:cubicBezTo>
                      <a:pt x="1322" y="1"/>
                      <a:pt x="0" y="1323"/>
                      <a:pt x="0" y="2954"/>
                    </a:cubicBezTo>
                    <a:lnTo>
                      <a:pt x="0" y="5525"/>
                    </a:lnTo>
                    <a:lnTo>
                      <a:pt x="6311" y="5525"/>
                    </a:lnTo>
                    <a:lnTo>
                      <a:pt x="6311" y="2954"/>
                    </a:lnTo>
                    <a:cubicBezTo>
                      <a:pt x="6311" y="1323"/>
                      <a:pt x="4977" y="1"/>
                      <a:pt x="3346" y="1"/>
                    </a:cubicBezTo>
                    <a:close/>
                  </a:path>
                </a:pathLst>
              </a:custGeom>
              <a:solidFill>
                <a:srgbClr val="4949E7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>
                  <a:buClr>
                    <a:srgbClr val="000000"/>
                  </a:buClr>
                  <a:buFont typeface="Arial"/>
                  <a:buNone/>
                </a:pPr>
                <a:endParaRPr sz="1400" kern="0">
                  <a:solidFill>
                    <a:srgbClr val="000000"/>
                  </a:solidFill>
                  <a:latin typeface="Oswald" panose="00000500000000000000" pitchFamily="2" charset="0"/>
                  <a:cs typeface="Arial"/>
                  <a:sym typeface="Arial"/>
                </a:endParaRPr>
              </a:p>
            </p:txBody>
          </p:sp>
          <p:sp>
            <p:nvSpPr>
              <p:cNvPr id="94" name="Google Shape;1175;p28">
                <a:extLst>
                  <a:ext uri="{FF2B5EF4-FFF2-40B4-BE49-F238E27FC236}">
                    <a16:creationId xmlns:a16="http://schemas.microsoft.com/office/drawing/2014/main" id="{9533EEE9-9EFA-7A6B-FDC5-46443D3DDF9F}"/>
                  </a:ext>
                </a:extLst>
              </p:cNvPr>
              <p:cNvSpPr/>
              <p:nvPr/>
            </p:nvSpPr>
            <p:spPr>
              <a:xfrm>
                <a:off x="5068245" y="1676542"/>
                <a:ext cx="175175" cy="167571"/>
              </a:xfrm>
              <a:custGeom>
                <a:avLst/>
                <a:gdLst/>
                <a:ahLst/>
                <a:cxnLst/>
                <a:rect l="l" t="t" r="r" b="b"/>
                <a:pathLst>
                  <a:path w="4930" h="4716" extrusionOk="0">
                    <a:moveTo>
                      <a:pt x="2620" y="215"/>
                    </a:moveTo>
                    <a:cubicBezTo>
                      <a:pt x="3775" y="215"/>
                      <a:pt x="4716" y="1155"/>
                      <a:pt x="4716" y="2310"/>
                    </a:cubicBezTo>
                    <a:lnTo>
                      <a:pt x="4716" y="4501"/>
                    </a:lnTo>
                    <a:lnTo>
                      <a:pt x="215" y="4501"/>
                    </a:lnTo>
                    <a:lnTo>
                      <a:pt x="215" y="2310"/>
                    </a:lnTo>
                    <a:cubicBezTo>
                      <a:pt x="215" y="1155"/>
                      <a:pt x="1156" y="215"/>
                      <a:pt x="2311" y="215"/>
                    </a:cubicBezTo>
                    <a:close/>
                    <a:moveTo>
                      <a:pt x="2311" y="1"/>
                    </a:moveTo>
                    <a:cubicBezTo>
                      <a:pt x="1037" y="1"/>
                      <a:pt x="1" y="1036"/>
                      <a:pt x="1" y="2310"/>
                    </a:cubicBezTo>
                    <a:lnTo>
                      <a:pt x="1" y="4715"/>
                    </a:lnTo>
                    <a:lnTo>
                      <a:pt x="4930" y="4715"/>
                    </a:lnTo>
                    <a:lnTo>
                      <a:pt x="4930" y="2310"/>
                    </a:lnTo>
                    <a:cubicBezTo>
                      <a:pt x="4930" y="1036"/>
                      <a:pt x="3894" y="1"/>
                      <a:pt x="2620" y="1"/>
                    </a:cubicBezTo>
                    <a:close/>
                  </a:path>
                </a:pathLst>
              </a:custGeom>
              <a:solidFill>
                <a:srgbClr val="4949E7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>
                  <a:buClr>
                    <a:srgbClr val="000000"/>
                  </a:buClr>
                  <a:buFont typeface="Arial"/>
                  <a:buNone/>
                </a:pPr>
                <a:endParaRPr sz="1400" kern="0">
                  <a:solidFill>
                    <a:srgbClr val="000000"/>
                  </a:solidFill>
                  <a:latin typeface="Oswald" panose="00000500000000000000" pitchFamily="2" charset="0"/>
                  <a:cs typeface="Arial"/>
                  <a:sym typeface="Arial"/>
                </a:endParaRPr>
              </a:p>
            </p:txBody>
          </p:sp>
        </p:grpSp>
        <p:sp>
          <p:nvSpPr>
            <p:cNvPr id="88" name="Google Shape;1176;p28">
              <a:extLst>
                <a:ext uri="{FF2B5EF4-FFF2-40B4-BE49-F238E27FC236}">
                  <a16:creationId xmlns:a16="http://schemas.microsoft.com/office/drawing/2014/main" id="{FC9A0794-6D05-4A9F-77EC-859EA4A2F9CB}"/>
                </a:ext>
              </a:extLst>
            </p:cNvPr>
            <p:cNvSpPr/>
            <p:nvPr/>
          </p:nvSpPr>
          <p:spPr>
            <a:xfrm>
              <a:off x="4509810" y="2732081"/>
              <a:ext cx="1291642" cy="440034"/>
            </a:xfrm>
            <a:custGeom>
              <a:avLst/>
              <a:gdLst/>
              <a:ahLst/>
              <a:cxnLst/>
              <a:rect l="l" t="t" r="r" b="b"/>
              <a:pathLst>
                <a:path w="36351" h="12384" extrusionOk="0">
                  <a:moveTo>
                    <a:pt x="1" y="1"/>
                  </a:moveTo>
                  <a:lnTo>
                    <a:pt x="1" y="1358"/>
                  </a:lnTo>
                  <a:cubicBezTo>
                    <a:pt x="2429" y="1644"/>
                    <a:pt x="4311" y="3692"/>
                    <a:pt x="4311" y="6192"/>
                  </a:cubicBezTo>
                  <a:cubicBezTo>
                    <a:pt x="4311" y="8692"/>
                    <a:pt x="2429" y="10752"/>
                    <a:pt x="1" y="11038"/>
                  </a:cubicBezTo>
                  <a:lnTo>
                    <a:pt x="1" y="12383"/>
                  </a:lnTo>
                  <a:lnTo>
                    <a:pt x="32040" y="12383"/>
                  </a:lnTo>
                  <a:lnTo>
                    <a:pt x="32040" y="10502"/>
                  </a:lnTo>
                  <a:cubicBezTo>
                    <a:pt x="34422" y="10502"/>
                    <a:pt x="36350" y="8573"/>
                    <a:pt x="36350" y="6192"/>
                  </a:cubicBezTo>
                  <a:cubicBezTo>
                    <a:pt x="36350" y="3823"/>
                    <a:pt x="34422" y="1894"/>
                    <a:pt x="32040" y="1894"/>
                  </a:cubicBezTo>
                  <a:lnTo>
                    <a:pt x="3204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algn="ctr">
                <a:buClr>
                  <a:srgbClr val="000000"/>
                </a:buClr>
                <a:buFont typeface="Arial"/>
                <a:buNone/>
              </a:pPr>
              <a:r>
                <a:rPr lang="en" sz="1400" kern="0">
                  <a:solidFill>
                    <a:srgbClr val="FFFFFF"/>
                  </a:solidFill>
                  <a:latin typeface="Oswald" panose="00000500000000000000" pitchFamily="2" charset="0"/>
                  <a:ea typeface="Fira Sans Extra Condensed Medium"/>
                  <a:cs typeface="Fira Sans Extra Condensed Medium"/>
                  <a:sym typeface="Fira Sans Extra Condensed Medium"/>
                </a:rPr>
                <a:t>Phase 4</a:t>
              </a:r>
              <a:endParaRPr sz="1400" kern="0">
                <a:solidFill>
                  <a:srgbClr val="FFFFFF"/>
                </a:solidFill>
                <a:latin typeface="Oswald" panose="00000500000000000000" pitchFamily="2" charset="0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89" name="Google Shape;1177;p28">
              <a:extLst>
                <a:ext uri="{FF2B5EF4-FFF2-40B4-BE49-F238E27FC236}">
                  <a16:creationId xmlns:a16="http://schemas.microsoft.com/office/drawing/2014/main" id="{373F2C13-5F7E-7D5B-C108-440C87EF50C3}"/>
                </a:ext>
              </a:extLst>
            </p:cNvPr>
            <p:cNvSpPr/>
            <p:nvPr/>
          </p:nvSpPr>
          <p:spPr>
            <a:xfrm>
              <a:off x="5120300" y="2235403"/>
              <a:ext cx="63070" cy="63070"/>
            </a:xfrm>
            <a:custGeom>
              <a:avLst/>
              <a:gdLst/>
              <a:ahLst/>
              <a:cxnLst/>
              <a:rect l="l" t="t" r="r" b="b"/>
              <a:pathLst>
                <a:path w="1775" h="1775" extrusionOk="0">
                  <a:moveTo>
                    <a:pt x="881" y="1"/>
                  </a:moveTo>
                  <a:cubicBezTo>
                    <a:pt x="393" y="1"/>
                    <a:pt x="0" y="394"/>
                    <a:pt x="0" y="882"/>
                  </a:cubicBezTo>
                  <a:cubicBezTo>
                    <a:pt x="0" y="1382"/>
                    <a:pt x="393" y="1775"/>
                    <a:pt x="881" y="1775"/>
                  </a:cubicBezTo>
                  <a:cubicBezTo>
                    <a:pt x="1381" y="1775"/>
                    <a:pt x="1774" y="1382"/>
                    <a:pt x="1774" y="882"/>
                  </a:cubicBezTo>
                  <a:cubicBezTo>
                    <a:pt x="1774" y="394"/>
                    <a:pt x="1381" y="1"/>
                    <a:pt x="881" y="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>
                <a:buClr>
                  <a:srgbClr val="000000"/>
                </a:buClr>
                <a:buFont typeface="Arial"/>
                <a:buNone/>
              </a:pPr>
              <a:endParaRPr sz="1400" kern="0">
                <a:solidFill>
                  <a:srgbClr val="000000"/>
                </a:solidFill>
                <a:latin typeface="Oswald" panose="00000500000000000000" pitchFamily="2" charset="0"/>
                <a:cs typeface="Arial"/>
                <a:sym typeface="Arial"/>
              </a:endParaRPr>
            </a:p>
          </p:txBody>
        </p:sp>
        <p:sp>
          <p:nvSpPr>
            <p:cNvPr id="90" name="Google Shape;1178;p28">
              <a:extLst>
                <a:ext uri="{FF2B5EF4-FFF2-40B4-BE49-F238E27FC236}">
                  <a16:creationId xmlns:a16="http://schemas.microsoft.com/office/drawing/2014/main" id="{14687F98-091A-C7F3-3D07-F2C41B196118}"/>
                </a:ext>
              </a:extLst>
            </p:cNvPr>
            <p:cNvSpPr txBox="1"/>
            <p:nvPr/>
          </p:nvSpPr>
          <p:spPr>
            <a:xfrm>
              <a:off x="4599720" y="1070674"/>
              <a:ext cx="1167300" cy="534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algn="ctr">
                <a:buClr>
                  <a:srgbClr val="000000"/>
                </a:buClr>
                <a:buFont typeface="Arial"/>
                <a:buNone/>
              </a:pPr>
              <a:r>
                <a:rPr lang="en" sz="1500" kern="0">
                  <a:solidFill>
                    <a:srgbClr val="434343"/>
                  </a:solidFill>
                  <a:latin typeface="Oswald" panose="00000500000000000000" pitchFamily="2" charset="0"/>
                  <a:ea typeface="Roboto"/>
                  <a:cs typeface="Roboto"/>
                  <a:sym typeface="Roboto"/>
                </a:rPr>
                <a:t>BGV Initiation</a:t>
              </a:r>
              <a:endParaRPr sz="1500" kern="0">
                <a:solidFill>
                  <a:srgbClr val="434343"/>
                </a:solidFill>
                <a:latin typeface="Oswald" panose="00000500000000000000" pitchFamily="2" charset="0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95" name="Google Shape;1179;p28">
            <a:extLst>
              <a:ext uri="{FF2B5EF4-FFF2-40B4-BE49-F238E27FC236}">
                <a16:creationId xmlns:a16="http://schemas.microsoft.com/office/drawing/2014/main" id="{A3BB47C8-D0E8-D9C2-29C7-A00A40917F36}"/>
              </a:ext>
            </a:extLst>
          </p:cNvPr>
          <p:cNvGrpSpPr/>
          <p:nvPr/>
        </p:nvGrpSpPr>
        <p:grpSpPr>
          <a:xfrm>
            <a:off x="5285232" y="969718"/>
            <a:ext cx="1355430" cy="2101441"/>
            <a:chOff x="5656323" y="1070674"/>
            <a:chExt cx="1355430" cy="2101441"/>
          </a:xfrm>
        </p:grpSpPr>
        <p:sp>
          <p:nvSpPr>
            <p:cNvPr id="96" name="Google Shape;1180;p28">
              <a:extLst>
                <a:ext uri="{FF2B5EF4-FFF2-40B4-BE49-F238E27FC236}">
                  <a16:creationId xmlns:a16="http://schemas.microsoft.com/office/drawing/2014/main" id="{D526E92E-4508-31E0-93DD-75CF9142BD08}"/>
                </a:ext>
              </a:extLst>
            </p:cNvPr>
            <p:cNvSpPr/>
            <p:nvPr/>
          </p:nvSpPr>
          <p:spPr>
            <a:xfrm>
              <a:off x="6313317" y="2261200"/>
              <a:ext cx="11477" cy="704858"/>
            </a:xfrm>
            <a:custGeom>
              <a:avLst/>
              <a:gdLst/>
              <a:ahLst/>
              <a:cxnLst/>
              <a:rect l="l" t="t" r="r" b="b"/>
              <a:pathLst>
                <a:path w="323" h="19837" extrusionOk="0">
                  <a:moveTo>
                    <a:pt x="168" y="1"/>
                  </a:moveTo>
                  <a:cubicBezTo>
                    <a:pt x="72" y="1"/>
                    <a:pt x="1" y="72"/>
                    <a:pt x="1" y="156"/>
                  </a:cubicBezTo>
                  <a:lnTo>
                    <a:pt x="1" y="19682"/>
                  </a:lnTo>
                  <a:cubicBezTo>
                    <a:pt x="1" y="19765"/>
                    <a:pt x="72" y="19837"/>
                    <a:pt x="168" y="19837"/>
                  </a:cubicBezTo>
                  <a:cubicBezTo>
                    <a:pt x="251" y="19837"/>
                    <a:pt x="322" y="19765"/>
                    <a:pt x="322" y="19682"/>
                  </a:cubicBezTo>
                  <a:lnTo>
                    <a:pt x="322" y="156"/>
                  </a:lnTo>
                  <a:cubicBezTo>
                    <a:pt x="322" y="72"/>
                    <a:pt x="251" y="1"/>
                    <a:pt x="168" y="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>
                <a:buClr>
                  <a:srgbClr val="000000"/>
                </a:buClr>
                <a:buFont typeface="Arial"/>
                <a:buNone/>
              </a:pPr>
              <a:endParaRPr sz="1400" kern="0">
                <a:solidFill>
                  <a:srgbClr val="000000"/>
                </a:solidFill>
                <a:latin typeface="Oswald" panose="00000500000000000000" pitchFamily="2" charset="0"/>
                <a:cs typeface="Arial"/>
                <a:sym typeface="Arial"/>
              </a:endParaRPr>
            </a:p>
          </p:txBody>
        </p:sp>
        <p:grpSp>
          <p:nvGrpSpPr>
            <p:cNvPr id="97" name="Google Shape;1181;p28">
              <a:extLst>
                <a:ext uri="{FF2B5EF4-FFF2-40B4-BE49-F238E27FC236}">
                  <a16:creationId xmlns:a16="http://schemas.microsoft.com/office/drawing/2014/main" id="{4D1CBBC3-6EC6-39B5-9116-967996FCB4F7}"/>
                </a:ext>
              </a:extLst>
            </p:cNvPr>
            <p:cNvGrpSpPr/>
            <p:nvPr/>
          </p:nvGrpSpPr>
          <p:grpSpPr>
            <a:xfrm>
              <a:off x="6086582" y="1676116"/>
              <a:ext cx="337630" cy="473435"/>
              <a:chOff x="6086582" y="1676116"/>
              <a:chExt cx="337630" cy="473435"/>
            </a:xfrm>
          </p:grpSpPr>
          <p:sp>
            <p:nvSpPr>
              <p:cNvPr id="101" name="Google Shape;1182;p28">
                <a:extLst>
                  <a:ext uri="{FF2B5EF4-FFF2-40B4-BE49-F238E27FC236}">
                    <a16:creationId xmlns:a16="http://schemas.microsoft.com/office/drawing/2014/main" id="{07AFAA24-89E9-29B3-B55B-37B214D1C1C0}"/>
                  </a:ext>
                </a:extLst>
              </p:cNvPr>
              <p:cNvSpPr/>
              <p:nvPr/>
            </p:nvSpPr>
            <p:spPr>
              <a:xfrm>
                <a:off x="6248185" y="1819526"/>
                <a:ext cx="63923" cy="111750"/>
              </a:xfrm>
              <a:custGeom>
                <a:avLst/>
                <a:gdLst/>
                <a:ahLst/>
                <a:cxnLst/>
                <a:rect l="l" t="t" r="r" b="b"/>
                <a:pathLst>
                  <a:path w="1799" h="3145" extrusionOk="0">
                    <a:moveTo>
                      <a:pt x="841" y="1"/>
                    </a:moveTo>
                    <a:cubicBezTo>
                      <a:pt x="574" y="1"/>
                      <a:pt x="127" y="12"/>
                      <a:pt x="12" y="632"/>
                    </a:cubicBezTo>
                    <a:cubicBezTo>
                      <a:pt x="0" y="691"/>
                      <a:pt x="36" y="751"/>
                      <a:pt x="96" y="763"/>
                    </a:cubicBezTo>
                    <a:cubicBezTo>
                      <a:pt x="103" y="764"/>
                      <a:pt x="111" y="765"/>
                      <a:pt x="119" y="765"/>
                    </a:cubicBezTo>
                    <a:cubicBezTo>
                      <a:pt x="170" y="765"/>
                      <a:pt x="216" y="731"/>
                      <a:pt x="227" y="680"/>
                    </a:cubicBezTo>
                    <a:cubicBezTo>
                      <a:pt x="310" y="215"/>
                      <a:pt x="596" y="215"/>
                      <a:pt x="858" y="215"/>
                    </a:cubicBezTo>
                    <a:lnTo>
                      <a:pt x="929" y="215"/>
                    </a:lnTo>
                    <a:cubicBezTo>
                      <a:pt x="1108" y="215"/>
                      <a:pt x="1584" y="322"/>
                      <a:pt x="1584" y="799"/>
                    </a:cubicBezTo>
                    <a:lnTo>
                      <a:pt x="1584" y="3037"/>
                    </a:lnTo>
                    <a:cubicBezTo>
                      <a:pt x="1584" y="3097"/>
                      <a:pt x="1631" y="3144"/>
                      <a:pt x="1691" y="3144"/>
                    </a:cubicBezTo>
                    <a:cubicBezTo>
                      <a:pt x="1751" y="3144"/>
                      <a:pt x="1798" y="3097"/>
                      <a:pt x="1798" y="3037"/>
                    </a:cubicBezTo>
                    <a:lnTo>
                      <a:pt x="1798" y="799"/>
                    </a:lnTo>
                    <a:cubicBezTo>
                      <a:pt x="1798" y="215"/>
                      <a:pt x="1262" y="1"/>
                      <a:pt x="929" y="1"/>
                    </a:cubicBezTo>
                    <a:lnTo>
                      <a:pt x="869" y="1"/>
                    </a:lnTo>
                    <a:cubicBezTo>
                      <a:pt x="860" y="1"/>
                      <a:pt x="850" y="1"/>
                      <a:pt x="841" y="1"/>
                    </a:cubicBezTo>
                    <a:close/>
                  </a:path>
                </a:pathLst>
              </a:custGeom>
              <a:solidFill>
                <a:srgbClr val="EC3A3B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>
                  <a:buClr>
                    <a:srgbClr val="000000"/>
                  </a:buClr>
                  <a:buFont typeface="Arial"/>
                  <a:buNone/>
                </a:pPr>
                <a:endParaRPr sz="1400" kern="0">
                  <a:solidFill>
                    <a:srgbClr val="000000"/>
                  </a:solidFill>
                  <a:latin typeface="Oswald" panose="00000500000000000000" pitchFamily="2" charset="0"/>
                  <a:cs typeface="Arial"/>
                  <a:sym typeface="Arial"/>
                </a:endParaRPr>
              </a:p>
            </p:txBody>
          </p:sp>
          <p:sp>
            <p:nvSpPr>
              <p:cNvPr id="102" name="Google Shape;1183;p28">
                <a:extLst>
                  <a:ext uri="{FF2B5EF4-FFF2-40B4-BE49-F238E27FC236}">
                    <a16:creationId xmlns:a16="http://schemas.microsoft.com/office/drawing/2014/main" id="{ECB7326C-28AB-D4D6-E474-602D018B6A99}"/>
                  </a:ext>
                </a:extLst>
              </p:cNvPr>
              <p:cNvSpPr/>
              <p:nvPr/>
            </p:nvSpPr>
            <p:spPr>
              <a:xfrm>
                <a:off x="6304008" y="1819526"/>
                <a:ext cx="63923" cy="111750"/>
              </a:xfrm>
              <a:custGeom>
                <a:avLst/>
                <a:gdLst/>
                <a:ahLst/>
                <a:cxnLst/>
                <a:rect l="l" t="t" r="r" b="b"/>
                <a:pathLst>
                  <a:path w="1799" h="3145" extrusionOk="0">
                    <a:moveTo>
                      <a:pt x="841" y="1"/>
                    </a:moveTo>
                    <a:cubicBezTo>
                      <a:pt x="575" y="1"/>
                      <a:pt x="128" y="12"/>
                      <a:pt x="13" y="632"/>
                    </a:cubicBezTo>
                    <a:cubicBezTo>
                      <a:pt x="1" y="691"/>
                      <a:pt x="37" y="751"/>
                      <a:pt x="96" y="763"/>
                    </a:cubicBezTo>
                    <a:cubicBezTo>
                      <a:pt x="104" y="764"/>
                      <a:pt x="112" y="765"/>
                      <a:pt x="119" y="765"/>
                    </a:cubicBezTo>
                    <a:cubicBezTo>
                      <a:pt x="170" y="765"/>
                      <a:pt x="217" y="731"/>
                      <a:pt x="227" y="680"/>
                    </a:cubicBezTo>
                    <a:cubicBezTo>
                      <a:pt x="311" y="215"/>
                      <a:pt x="596" y="215"/>
                      <a:pt x="870" y="215"/>
                    </a:cubicBezTo>
                    <a:lnTo>
                      <a:pt x="930" y="215"/>
                    </a:lnTo>
                    <a:cubicBezTo>
                      <a:pt x="1108" y="215"/>
                      <a:pt x="1584" y="322"/>
                      <a:pt x="1584" y="799"/>
                    </a:cubicBezTo>
                    <a:lnTo>
                      <a:pt x="1584" y="3037"/>
                    </a:lnTo>
                    <a:cubicBezTo>
                      <a:pt x="1584" y="3097"/>
                      <a:pt x="1632" y="3144"/>
                      <a:pt x="1692" y="3144"/>
                    </a:cubicBezTo>
                    <a:cubicBezTo>
                      <a:pt x="1751" y="3144"/>
                      <a:pt x="1799" y="3097"/>
                      <a:pt x="1799" y="3037"/>
                    </a:cubicBezTo>
                    <a:lnTo>
                      <a:pt x="1799" y="799"/>
                    </a:lnTo>
                    <a:cubicBezTo>
                      <a:pt x="1799" y="215"/>
                      <a:pt x="1263" y="1"/>
                      <a:pt x="930" y="1"/>
                    </a:cubicBezTo>
                    <a:lnTo>
                      <a:pt x="870" y="1"/>
                    </a:lnTo>
                    <a:cubicBezTo>
                      <a:pt x="861" y="1"/>
                      <a:pt x="851" y="1"/>
                      <a:pt x="841" y="1"/>
                    </a:cubicBezTo>
                    <a:close/>
                  </a:path>
                </a:pathLst>
              </a:custGeom>
              <a:solidFill>
                <a:srgbClr val="EC3A3B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>
                  <a:buClr>
                    <a:srgbClr val="000000"/>
                  </a:buClr>
                  <a:buFont typeface="Arial"/>
                  <a:buNone/>
                </a:pPr>
                <a:endParaRPr sz="1400" kern="0">
                  <a:solidFill>
                    <a:srgbClr val="000000"/>
                  </a:solidFill>
                  <a:latin typeface="Oswald" panose="00000500000000000000" pitchFamily="2" charset="0"/>
                  <a:cs typeface="Arial"/>
                  <a:sym typeface="Arial"/>
                </a:endParaRPr>
              </a:p>
            </p:txBody>
          </p:sp>
          <p:sp>
            <p:nvSpPr>
              <p:cNvPr id="103" name="Google Shape;1184;p28">
                <a:extLst>
                  <a:ext uri="{FF2B5EF4-FFF2-40B4-BE49-F238E27FC236}">
                    <a16:creationId xmlns:a16="http://schemas.microsoft.com/office/drawing/2014/main" id="{22C28AFD-BACD-C7EA-24CD-30BF02E0BA72}"/>
                  </a:ext>
                </a:extLst>
              </p:cNvPr>
              <p:cNvSpPr/>
              <p:nvPr/>
            </p:nvSpPr>
            <p:spPr>
              <a:xfrm>
                <a:off x="6086582" y="1676116"/>
                <a:ext cx="337630" cy="473435"/>
              </a:xfrm>
              <a:custGeom>
                <a:avLst/>
                <a:gdLst/>
                <a:ahLst/>
                <a:cxnLst/>
                <a:rect l="l" t="t" r="r" b="b"/>
                <a:pathLst>
                  <a:path w="9502" h="13324" extrusionOk="0">
                    <a:moveTo>
                      <a:pt x="3846" y="1"/>
                    </a:moveTo>
                    <a:cubicBezTo>
                      <a:pt x="3274" y="1"/>
                      <a:pt x="2941" y="382"/>
                      <a:pt x="2941" y="1025"/>
                    </a:cubicBezTo>
                    <a:lnTo>
                      <a:pt x="2941" y="8180"/>
                    </a:lnTo>
                    <a:cubicBezTo>
                      <a:pt x="2631" y="7883"/>
                      <a:pt x="1977" y="7252"/>
                      <a:pt x="1500" y="6859"/>
                    </a:cubicBezTo>
                    <a:cubicBezTo>
                      <a:pt x="1375" y="6754"/>
                      <a:pt x="1227" y="6702"/>
                      <a:pt x="1073" y="6702"/>
                    </a:cubicBezTo>
                    <a:cubicBezTo>
                      <a:pt x="878" y="6702"/>
                      <a:pt x="674" y="6787"/>
                      <a:pt x="500" y="6954"/>
                    </a:cubicBezTo>
                    <a:cubicBezTo>
                      <a:pt x="179" y="7263"/>
                      <a:pt x="0" y="7823"/>
                      <a:pt x="381" y="8371"/>
                    </a:cubicBezTo>
                    <a:cubicBezTo>
                      <a:pt x="1012" y="9240"/>
                      <a:pt x="3882" y="12395"/>
                      <a:pt x="4013" y="12526"/>
                    </a:cubicBezTo>
                    <a:cubicBezTo>
                      <a:pt x="4548" y="13098"/>
                      <a:pt x="5417" y="13324"/>
                      <a:pt x="6239" y="13324"/>
                    </a:cubicBezTo>
                    <a:cubicBezTo>
                      <a:pt x="6858" y="13324"/>
                      <a:pt x="7442" y="13205"/>
                      <a:pt x="7858" y="13002"/>
                    </a:cubicBezTo>
                    <a:cubicBezTo>
                      <a:pt x="8727" y="12574"/>
                      <a:pt x="9501" y="11240"/>
                      <a:pt x="9501" y="10133"/>
                    </a:cubicBezTo>
                    <a:lnTo>
                      <a:pt x="9501" y="5382"/>
                    </a:lnTo>
                    <a:cubicBezTo>
                      <a:pt x="9501" y="4799"/>
                      <a:pt x="8954" y="4585"/>
                      <a:pt x="8620" y="4585"/>
                    </a:cubicBezTo>
                    <a:lnTo>
                      <a:pt x="8561" y="4585"/>
                    </a:lnTo>
                    <a:cubicBezTo>
                      <a:pt x="8551" y="4585"/>
                      <a:pt x="8542" y="4585"/>
                      <a:pt x="8532" y="4585"/>
                    </a:cubicBezTo>
                    <a:cubicBezTo>
                      <a:pt x="8265" y="4585"/>
                      <a:pt x="7818" y="4596"/>
                      <a:pt x="7703" y="5216"/>
                    </a:cubicBezTo>
                    <a:cubicBezTo>
                      <a:pt x="7692" y="5275"/>
                      <a:pt x="7739" y="5335"/>
                      <a:pt x="7799" y="5347"/>
                    </a:cubicBezTo>
                    <a:cubicBezTo>
                      <a:pt x="7805" y="5348"/>
                      <a:pt x="7811" y="5349"/>
                      <a:pt x="7818" y="5349"/>
                    </a:cubicBezTo>
                    <a:cubicBezTo>
                      <a:pt x="7861" y="5349"/>
                      <a:pt x="7907" y="5315"/>
                      <a:pt x="7918" y="5263"/>
                    </a:cubicBezTo>
                    <a:cubicBezTo>
                      <a:pt x="8013" y="4799"/>
                      <a:pt x="8287" y="4799"/>
                      <a:pt x="8561" y="4799"/>
                    </a:cubicBezTo>
                    <a:lnTo>
                      <a:pt x="8620" y="4799"/>
                    </a:lnTo>
                    <a:cubicBezTo>
                      <a:pt x="8799" y="4799"/>
                      <a:pt x="9275" y="4906"/>
                      <a:pt x="9275" y="5382"/>
                    </a:cubicBezTo>
                    <a:lnTo>
                      <a:pt x="9275" y="10133"/>
                    </a:lnTo>
                    <a:cubicBezTo>
                      <a:pt x="9275" y="11169"/>
                      <a:pt x="8573" y="12407"/>
                      <a:pt x="7763" y="12800"/>
                    </a:cubicBezTo>
                    <a:cubicBezTo>
                      <a:pt x="7380" y="12989"/>
                      <a:pt x="6821" y="13106"/>
                      <a:pt x="6240" y="13106"/>
                    </a:cubicBezTo>
                    <a:cubicBezTo>
                      <a:pt x="5468" y="13106"/>
                      <a:pt x="4657" y="12900"/>
                      <a:pt x="4167" y="12383"/>
                    </a:cubicBezTo>
                    <a:cubicBezTo>
                      <a:pt x="4144" y="12347"/>
                      <a:pt x="1191" y="9109"/>
                      <a:pt x="560" y="8240"/>
                    </a:cubicBezTo>
                    <a:cubicBezTo>
                      <a:pt x="250" y="7811"/>
                      <a:pt x="381" y="7359"/>
                      <a:pt x="643" y="7109"/>
                    </a:cubicBezTo>
                    <a:cubicBezTo>
                      <a:pt x="758" y="7001"/>
                      <a:pt x="912" y="6924"/>
                      <a:pt x="1068" y="6924"/>
                    </a:cubicBezTo>
                    <a:cubicBezTo>
                      <a:pt x="1171" y="6924"/>
                      <a:pt x="1275" y="6957"/>
                      <a:pt x="1369" y="7037"/>
                    </a:cubicBezTo>
                    <a:cubicBezTo>
                      <a:pt x="1988" y="7549"/>
                      <a:pt x="2965" y="8514"/>
                      <a:pt x="2977" y="8526"/>
                    </a:cubicBezTo>
                    <a:lnTo>
                      <a:pt x="3167" y="8704"/>
                    </a:lnTo>
                    <a:lnTo>
                      <a:pt x="3167" y="1025"/>
                    </a:lnTo>
                    <a:cubicBezTo>
                      <a:pt x="3167" y="501"/>
                      <a:pt x="3405" y="215"/>
                      <a:pt x="3846" y="215"/>
                    </a:cubicBezTo>
                    <a:cubicBezTo>
                      <a:pt x="4060" y="215"/>
                      <a:pt x="4251" y="286"/>
                      <a:pt x="4382" y="417"/>
                    </a:cubicBezTo>
                    <a:cubicBezTo>
                      <a:pt x="4489" y="536"/>
                      <a:pt x="4560" y="691"/>
                      <a:pt x="4560" y="858"/>
                    </a:cubicBezTo>
                    <a:lnTo>
                      <a:pt x="4560" y="7168"/>
                    </a:lnTo>
                    <a:cubicBezTo>
                      <a:pt x="4560" y="7228"/>
                      <a:pt x="4608" y="7275"/>
                      <a:pt x="4667" y="7275"/>
                    </a:cubicBezTo>
                    <a:cubicBezTo>
                      <a:pt x="4727" y="7275"/>
                      <a:pt x="4775" y="7228"/>
                      <a:pt x="4775" y="7168"/>
                    </a:cubicBezTo>
                    <a:lnTo>
                      <a:pt x="4775" y="858"/>
                    </a:lnTo>
                    <a:cubicBezTo>
                      <a:pt x="4775" y="632"/>
                      <a:pt x="4691" y="417"/>
                      <a:pt x="4536" y="263"/>
                    </a:cubicBezTo>
                    <a:cubicBezTo>
                      <a:pt x="4358" y="96"/>
                      <a:pt x="4120" y="1"/>
                      <a:pt x="3846" y="1"/>
                    </a:cubicBezTo>
                    <a:close/>
                  </a:path>
                </a:pathLst>
              </a:custGeom>
              <a:solidFill>
                <a:srgbClr val="EC3A3B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>
                  <a:buClr>
                    <a:srgbClr val="000000"/>
                  </a:buClr>
                  <a:buFont typeface="Arial"/>
                  <a:buNone/>
                </a:pPr>
                <a:endParaRPr sz="1400" kern="0">
                  <a:solidFill>
                    <a:srgbClr val="000000"/>
                  </a:solidFill>
                  <a:latin typeface="Oswald" panose="00000500000000000000" pitchFamily="2" charset="0"/>
                  <a:cs typeface="Arial"/>
                  <a:sym typeface="Arial"/>
                </a:endParaRPr>
              </a:p>
            </p:txBody>
          </p:sp>
          <p:sp>
            <p:nvSpPr>
              <p:cNvPr id="104" name="Google Shape;1185;p28">
                <a:extLst>
                  <a:ext uri="{FF2B5EF4-FFF2-40B4-BE49-F238E27FC236}">
                    <a16:creationId xmlns:a16="http://schemas.microsoft.com/office/drawing/2014/main" id="{1BF60D97-4BD8-7E0D-9142-CAA1D9FC919E}"/>
                  </a:ext>
                </a:extLst>
              </p:cNvPr>
              <p:cNvSpPr/>
              <p:nvPr/>
            </p:nvSpPr>
            <p:spPr>
              <a:xfrm>
                <a:off x="6331936" y="1996302"/>
                <a:ext cx="74085" cy="122374"/>
              </a:xfrm>
              <a:custGeom>
                <a:avLst/>
                <a:gdLst/>
                <a:ahLst/>
                <a:cxnLst/>
                <a:rect l="l" t="t" r="r" b="b"/>
                <a:pathLst>
                  <a:path w="2085" h="3444" extrusionOk="0">
                    <a:moveTo>
                      <a:pt x="1710" y="1"/>
                    </a:moveTo>
                    <a:cubicBezTo>
                      <a:pt x="1704" y="1"/>
                      <a:pt x="1698" y="1"/>
                      <a:pt x="1691" y="3"/>
                    </a:cubicBezTo>
                    <a:cubicBezTo>
                      <a:pt x="1632" y="3"/>
                      <a:pt x="1584" y="62"/>
                      <a:pt x="1596" y="122"/>
                    </a:cubicBezTo>
                    <a:cubicBezTo>
                      <a:pt x="1596" y="146"/>
                      <a:pt x="1846" y="2539"/>
                      <a:pt x="84" y="3229"/>
                    </a:cubicBezTo>
                    <a:cubicBezTo>
                      <a:pt x="25" y="3253"/>
                      <a:pt x="1" y="3313"/>
                      <a:pt x="25" y="3372"/>
                    </a:cubicBezTo>
                    <a:cubicBezTo>
                      <a:pt x="36" y="3408"/>
                      <a:pt x="72" y="3444"/>
                      <a:pt x="120" y="3444"/>
                    </a:cubicBezTo>
                    <a:cubicBezTo>
                      <a:pt x="132" y="3444"/>
                      <a:pt x="144" y="3432"/>
                      <a:pt x="156" y="3432"/>
                    </a:cubicBezTo>
                    <a:cubicBezTo>
                      <a:pt x="2084" y="2682"/>
                      <a:pt x="1811" y="122"/>
                      <a:pt x="1811" y="98"/>
                    </a:cubicBezTo>
                    <a:cubicBezTo>
                      <a:pt x="1800" y="45"/>
                      <a:pt x="1761" y="1"/>
                      <a:pt x="1710" y="1"/>
                    </a:cubicBezTo>
                    <a:close/>
                  </a:path>
                </a:pathLst>
              </a:custGeom>
              <a:solidFill>
                <a:srgbClr val="EC3A3B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>
                  <a:buClr>
                    <a:srgbClr val="000000"/>
                  </a:buClr>
                  <a:buFont typeface="Arial"/>
                  <a:buNone/>
                </a:pPr>
                <a:endParaRPr sz="1400" kern="0">
                  <a:solidFill>
                    <a:srgbClr val="000000"/>
                  </a:solidFill>
                  <a:latin typeface="Oswald" panose="00000500000000000000" pitchFamily="2" charset="0"/>
                  <a:cs typeface="Arial"/>
                  <a:sym typeface="Arial"/>
                </a:endParaRPr>
              </a:p>
            </p:txBody>
          </p:sp>
        </p:grpSp>
        <p:sp>
          <p:nvSpPr>
            <p:cNvPr id="98" name="Google Shape;1186;p28">
              <a:extLst>
                <a:ext uri="{FF2B5EF4-FFF2-40B4-BE49-F238E27FC236}">
                  <a16:creationId xmlns:a16="http://schemas.microsoft.com/office/drawing/2014/main" id="{A3585137-67E6-5535-AEFA-907D745D14CA}"/>
                </a:ext>
              </a:extLst>
            </p:cNvPr>
            <p:cNvSpPr/>
            <p:nvPr/>
          </p:nvSpPr>
          <p:spPr>
            <a:xfrm>
              <a:off x="5677456" y="2732081"/>
              <a:ext cx="1291216" cy="440034"/>
            </a:xfrm>
            <a:custGeom>
              <a:avLst/>
              <a:gdLst/>
              <a:ahLst/>
              <a:cxnLst/>
              <a:rect l="l" t="t" r="r" b="b"/>
              <a:pathLst>
                <a:path w="36339" h="12384" extrusionOk="0">
                  <a:moveTo>
                    <a:pt x="1" y="1"/>
                  </a:moveTo>
                  <a:lnTo>
                    <a:pt x="1" y="1358"/>
                  </a:lnTo>
                  <a:cubicBezTo>
                    <a:pt x="2418" y="1644"/>
                    <a:pt x="4299" y="3692"/>
                    <a:pt x="4299" y="6192"/>
                  </a:cubicBezTo>
                  <a:cubicBezTo>
                    <a:pt x="4299" y="8692"/>
                    <a:pt x="2418" y="10752"/>
                    <a:pt x="1" y="11038"/>
                  </a:cubicBezTo>
                  <a:lnTo>
                    <a:pt x="1" y="12383"/>
                  </a:lnTo>
                  <a:lnTo>
                    <a:pt x="32041" y="12383"/>
                  </a:lnTo>
                  <a:lnTo>
                    <a:pt x="32041" y="10502"/>
                  </a:lnTo>
                  <a:cubicBezTo>
                    <a:pt x="34422" y="10502"/>
                    <a:pt x="36339" y="8573"/>
                    <a:pt x="36339" y="6192"/>
                  </a:cubicBezTo>
                  <a:cubicBezTo>
                    <a:pt x="36339" y="3823"/>
                    <a:pt x="34422" y="1894"/>
                    <a:pt x="32041" y="1894"/>
                  </a:cubicBezTo>
                  <a:lnTo>
                    <a:pt x="32041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algn="ctr">
                <a:buClr>
                  <a:srgbClr val="000000"/>
                </a:buClr>
                <a:buFont typeface="Arial"/>
                <a:buNone/>
              </a:pPr>
              <a:r>
                <a:rPr lang="en" sz="1400" kern="0">
                  <a:solidFill>
                    <a:srgbClr val="FFFFFF"/>
                  </a:solidFill>
                  <a:latin typeface="Oswald" panose="00000500000000000000" pitchFamily="2" charset="0"/>
                  <a:ea typeface="Fira Sans Extra Condensed Medium"/>
                  <a:cs typeface="Fira Sans Extra Condensed Medium"/>
                  <a:sym typeface="Fira Sans Extra Condensed Medium"/>
                </a:rPr>
                <a:t>Phase 5</a:t>
              </a:r>
              <a:endParaRPr sz="1400" kern="0">
                <a:solidFill>
                  <a:srgbClr val="FFFFFF"/>
                </a:solidFill>
                <a:latin typeface="Oswald" panose="00000500000000000000" pitchFamily="2" charset="0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99" name="Google Shape;1187;p28">
              <a:extLst>
                <a:ext uri="{FF2B5EF4-FFF2-40B4-BE49-F238E27FC236}">
                  <a16:creationId xmlns:a16="http://schemas.microsoft.com/office/drawing/2014/main" id="{97F43694-0890-C155-45AB-2019188B526D}"/>
                </a:ext>
              </a:extLst>
            </p:cNvPr>
            <p:cNvSpPr/>
            <p:nvPr/>
          </p:nvSpPr>
          <p:spPr>
            <a:xfrm>
              <a:off x="6287520" y="2235403"/>
              <a:ext cx="63497" cy="63070"/>
            </a:xfrm>
            <a:custGeom>
              <a:avLst/>
              <a:gdLst/>
              <a:ahLst/>
              <a:cxnLst/>
              <a:rect l="l" t="t" r="r" b="b"/>
              <a:pathLst>
                <a:path w="1787" h="1775" extrusionOk="0">
                  <a:moveTo>
                    <a:pt x="894" y="1"/>
                  </a:moveTo>
                  <a:cubicBezTo>
                    <a:pt x="405" y="1"/>
                    <a:pt x="1" y="394"/>
                    <a:pt x="1" y="882"/>
                  </a:cubicBezTo>
                  <a:cubicBezTo>
                    <a:pt x="1" y="1382"/>
                    <a:pt x="405" y="1775"/>
                    <a:pt x="894" y="1775"/>
                  </a:cubicBezTo>
                  <a:cubicBezTo>
                    <a:pt x="1382" y="1775"/>
                    <a:pt x="1787" y="1382"/>
                    <a:pt x="1787" y="882"/>
                  </a:cubicBezTo>
                  <a:cubicBezTo>
                    <a:pt x="1787" y="394"/>
                    <a:pt x="1382" y="1"/>
                    <a:pt x="894" y="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>
                <a:buClr>
                  <a:srgbClr val="000000"/>
                </a:buClr>
                <a:buFont typeface="Arial"/>
                <a:buNone/>
              </a:pPr>
              <a:endParaRPr sz="1400" kern="0">
                <a:solidFill>
                  <a:srgbClr val="000000"/>
                </a:solidFill>
                <a:latin typeface="Oswald" panose="00000500000000000000" pitchFamily="2" charset="0"/>
                <a:cs typeface="Arial"/>
                <a:sym typeface="Arial"/>
              </a:endParaRPr>
            </a:p>
          </p:txBody>
        </p:sp>
        <p:sp>
          <p:nvSpPr>
            <p:cNvPr id="100" name="Google Shape;1188;p28">
              <a:extLst>
                <a:ext uri="{FF2B5EF4-FFF2-40B4-BE49-F238E27FC236}">
                  <a16:creationId xmlns:a16="http://schemas.microsoft.com/office/drawing/2014/main" id="{87791E86-D3DA-0DD6-EE7C-4FAD9E33066C}"/>
                </a:ext>
              </a:extLst>
            </p:cNvPr>
            <p:cNvSpPr txBox="1"/>
            <p:nvPr/>
          </p:nvSpPr>
          <p:spPr>
            <a:xfrm>
              <a:off x="5656323" y="1070674"/>
              <a:ext cx="1355430" cy="534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algn="ctr">
                <a:buClr>
                  <a:srgbClr val="000000"/>
                </a:buClr>
                <a:buFont typeface="Arial"/>
                <a:buNone/>
              </a:pPr>
              <a:r>
                <a:rPr lang="en" sz="1500" kern="0">
                  <a:solidFill>
                    <a:srgbClr val="434343"/>
                  </a:solidFill>
                  <a:latin typeface="Oswald" panose="00000500000000000000" pitchFamily="2" charset="0"/>
                  <a:ea typeface="Roboto"/>
                  <a:cs typeface="Roboto"/>
                  <a:sym typeface="Roboto"/>
                </a:rPr>
                <a:t>Employee Engagement</a:t>
              </a:r>
              <a:endParaRPr sz="1500" kern="0">
                <a:solidFill>
                  <a:srgbClr val="434343"/>
                </a:solidFill>
                <a:latin typeface="Oswald" panose="00000500000000000000" pitchFamily="2" charset="0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05" name="Google Shape;1189;p28">
            <a:extLst>
              <a:ext uri="{FF2B5EF4-FFF2-40B4-BE49-F238E27FC236}">
                <a16:creationId xmlns:a16="http://schemas.microsoft.com/office/drawing/2014/main" id="{3A9C801D-9595-2D1E-2FA0-D61396213E25}"/>
              </a:ext>
            </a:extLst>
          </p:cNvPr>
          <p:cNvGrpSpPr/>
          <p:nvPr/>
        </p:nvGrpSpPr>
        <p:grpSpPr>
          <a:xfrm>
            <a:off x="6474047" y="998770"/>
            <a:ext cx="1318849" cy="2072389"/>
            <a:chOff x="6845138" y="1099726"/>
            <a:chExt cx="1318849" cy="2072389"/>
          </a:xfrm>
        </p:grpSpPr>
        <p:sp>
          <p:nvSpPr>
            <p:cNvPr id="106" name="Google Shape;1190;p28">
              <a:extLst>
                <a:ext uri="{FF2B5EF4-FFF2-40B4-BE49-F238E27FC236}">
                  <a16:creationId xmlns:a16="http://schemas.microsoft.com/office/drawing/2014/main" id="{FB6D0D85-D9EC-1A06-FBDF-0446DD88558D}"/>
                </a:ext>
              </a:extLst>
            </p:cNvPr>
            <p:cNvSpPr/>
            <p:nvPr/>
          </p:nvSpPr>
          <p:spPr>
            <a:xfrm>
              <a:off x="7480999" y="2261200"/>
              <a:ext cx="11441" cy="704858"/>
            </a:xfrm>
            <a:custGeom>
              <a:avLst/>
              <a:gdLst/>
              <a:ahLst/>
              <a:cxnLst/>
              <a:rect l="l" t="t" r="r" b="b"/>
              <a:pathLst>
                <a:path w="322" h="19837" extrusionOk="0">
                  <a:moveTo>
                    <a:pt x="155" y="1"/>
                  </a:moveTo>
                  <a:cubicBezTo>
                    <a:pt x="72" y="1"/>
                    <a:pt x="0" y="72"/>
                    <a:pt x="0" y="156"/>
                  </a:cubicBezTo>
                  <a:lnTo>
                    <a:pt x="0" y="19682"/>
                  </a:lnTo>
                  <a:cubicBezTo>
                    <a:pt x="0" y="19765"/>
                    <a:pt x="72" y="19837"/>
                    <a:pt x="155" y="19837"/>
                  </a:cubicBezTo>
                  <a:cubicBezTo>
                    <a:pt x="250" y="19837"/>
                    <a:pt x="322" y="19765"/>
                    <a:pt x="322" y="19682"/>
                  </a:cubicBezTo>
                  <a:lnTo>
                    <a:pt x="322" y="156"/>
                  </a:lnTo>
                  <a:cubicBezTo>
                    <a:pt x="322" y="72"/>
                    <a:pt x="250" y="1"/>
                    <a:pt x="155" y="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>
                <a:buClr>
                  <a:srgbClr val="000000"/>
                </a:buClr>
                <a:buFont typeface="Arial"/>
                <a:buNone/>
              </a:pPr>
              <a:endParaRPr sz="1400" kern="0">
                <a:solidFill>
                  <a:srgbClr val="000000"/>
                </a:solidFill>
                <a:latin typeface="Oswald" panose="00000500000000000000" pitchFamily="2" charset="0"/>
                <a:cs typeface="Arial"/>
                <a:sym typeface="Arial"/>
              </a:endParaRPr>
            </a:p>
          </p:txBody>
        </p:sp>
        <p:grpSp>
          <p:nvGrpSpPr>
            <p:cNvPr id="107" name="Google Shape;1191;p28">
              <a:extLst>
                <a:ext uri="{FF2B5EF4-FFF2-40B4-BE49-F238E27FC236}">
                  <a16:creationId xmlns:a16="http://schemas.microsoft.com/office/drawing/2014/main" id="{E24BB692-ABAC-0026-5997-D1C5BC423CDF}"/>
                </a:ext>
              </a:extLst>
            </p:cNvPr>
            <p:cNvGrpSpPr/>
            <p:nvPr/>
          </p:nvGrpSpPr>
          <p:grpSpPr>
            <a:xfrm>
              <a:off x="7307954" y="1698963"/>
              <a:ext cx="365560" cy="450589"/>
              <a:chOff x="7307954" y="1698963"/>
              <a:chExt cx="365560" cy="450589"/>
            </a:xfrm>
          </p:grpSpPr>
          <p:sp>
            <p:nvSpPr>
              <p:cNvPr id="111" name="Google Shape;1192;p28">
                <a:extLst>
                  <a:ext uri="{FF2B5EF4-FFF2-40B4-BE49-F238E27FC236}">
                    <a16:creationId xmlns:a16="http://schemas.microsoft.com/office/drawing/2014/main" id="{4D4540B5-DF73-D250-1D59-71043298944A}"/>
                  </a:ext>
                </a:extLst>
              </p:cNvPr>
              <p:cNvSpPr/>
              <p:nvPr/>
            </p:nvSpPr>
            <p:spPr>
              <a:xfrm>
                <a:off x="7432319" y="1819526"/>
                <a:ext cx="241195" cy="330026"/>
              </a:xfrm>
              <a:custGeom>
                <a:avLst/>
                <a:gdLst/>
                <a:ahLst/>
                <a:cxnLst/>
                <a:rect l="l" t="t" r="r" b="b"/>
                <a:pathLst>
                  <a:path w="6788" h="9288" extrusionOk="0">
                    <a:moveTo>
                      <a:pt x="3609" y="1"/>
                    </a:moveTo>
                    <a:cubicBezTo>
                      <a:pt x="3549" y="1"/>
                      <a:pt x="3501" y="49"/>
                      <a:pt x="3501" y="120"/>
                    </a:cubicBezTo>
                    <a:cubicBezTo>
                      <a:pt x="3501" y="179"/>
                      <a:pt x="3549" y="227"/>
                      <a:pt x="3609" y="227"/>
                    </a:cubicBezTo>
                    <a:lnTo>
                      <a:pt x="6561" y="227"/>
                    </a:lnTo>
                    <a:lnTo>
                      <a:pt x="6561" y="9073"/>
                    </a:lnTo>
                    <a:lnTo>
                      <a:pt x="215" y="9073"/>
                    </a:lnTo>
                    <a:lnTo>
                      <a:pt x="215" y="7383"/>
                    </a:lnTo>
                    <a:cubicBezTo>
                      <a:pt x="215" y="7323"/>
                      <a:pt x="168" y="7276"/>
                      <a:pt x="108" y="7276"/>
                    </a:cubicBezTo>
                    <a:cubicBezTo>
                      <a:pt x="49" y="7276"/>
                      <a:pt x="1" y="7323"/>
                      <a:pt x="1" y="7383"/>
                    </a:cubicBezTo>
                    <a:lnTo>
                      <a:pt x="1" y="9288"/>
                    </a:lnTo>
                    <a:lnTo>
                      <a:pt x="6787" y="9288"/>
                    </a:lnTo>
                    <a:lnTo>
                      <a:pt x="6787" y="1"/>
                    </a:lnTo>
                    <a:close/>
                  </a:path>
                </a:pathLst>
              </a:custGeom>
              <a:solidFill>
                <a:srgbClr val="5EB2FC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>
                  <a:buClr>
                    <a:srgbClr val="000000"/>
                  </a:buClr>
                  <a:buFont typeface="Arial"/>
                  <a:buNone/>
                </a:pPr>
                <a:endParaRPr sz="1400" kern="0">
                  <a:solidFill>
                    <a:srgbClr val="000000"/>
                  </a:solidFill>
                  <a:latin typeface="Oswald" panose="00000500000000000000" pitchFamily="2" charset="0"/>
                  <a:cs typeface="Arial"/>
                  <a:sym typeface="Arial"/>
                </a:endParaRPr>
              </a:p>
            </p:txBody>
          </p:sp>
          <p:sp>
            <p:nvSpPr>
              <p:cNvPr id="112" name="Google Shape;1193;p28">
                <a:extLst>
                  <a:ext uri="{FF2B5EF4-FFF2-40B4-BE49-F238E27FC236}">
                    <a16:creationId xmlns:a16="http://schemas.microsoft.com/office/drawing/2014/main" id="{67C3277B-9E77-9CCC-239E-AF96A4AA9EF1}"/>
                  </a:ext>
                </a:extLst>
              </p:cNvPr>
              <p:cNvSpPr/>
              <p:nvPr/>
            </p:nvSpPr>
            <p:spPr>
              <a:xfrm>
                <a:off x="7307954" y="1698963"/>
                <a:ext cx="256403" cy="387127"/>
              </a:xfrm>
              <a:custGeom>
                <a:avLst/>
                <a:gdLst/>
                <a:ahLst/>
                <a:cxnLst/>
                <a:rect l="l" t="t" r="r" b="b"/>
                <a:pathLst>
                  <a:path w="7216" h="10895" extrusionOk="0">
                    <a:moveTo>
                      <a:pt x="7001" y="215"/>
                    </a:moveTo>
                    <a:lnTo>
                      <a:pt x="7001" y="10669"/>
                    </a:lnTo>
                    <a:lnTo>
                      <a:pt x="215" y="10669"/>
                    </a:lnTo>
                    <a:lnTo>
                      <a:pt x="215" y="215"/>
                    </a:lnTo>
                    <a:close/>
                    <a:moveTo>
                      <a:pt x="0" y="1"/>
                    </a:moveTo>
                    <a:lnTo>
                      <a:pt x="0" y="10895"/>
                    </a:lnTo>
                    <a:lnTo>
                      <a:pt x="7216" y="10895"/>
                    </a:lnTo>
                    <a:lnTo>
                      <a:pt x="7216" y="1"/>
                    </a:lnTo>
                    <a:close/>
                  </a:path>
                </a:pathLst>
              </a:custGeom>
              <a:solidFill>
                <a:srgbClr val="5EB2FC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>
                  <a:buClr>
                    <a:srgbClr val="000000"/>
                  </a:buClr>
                  <a:buFont typeface="Arial"/>
                  <a:buNone/>
                </a:pPr>
                <a:endParaRPr sz="1400" kern="0">
                  <a:solidFill>
                    <a:srgbClr val="000000"/>
                  </a:solidFill>
                  <a:latin typeface="Oswald" panose="00000500000000000000" pitchFamily="2" charset="0"/>
                  <a:cs typeface="Arial"/>
                  <a:sym typeface="Arial"/>
                </a:endParaRPr>
              </a:p>
            </p:txBody>
          </p:sp>
          <p:sp>
            <p:nvSpPr>
              <p:cNvPr id="113" name="Google Shape;1194;p28">
                <a:extLst>
                  <a:ext uri="{FF2B5EF4-FFF2-40B4-BE49-F238E27FC236}">
                    <a16:creationId xmlns:a16="http://schemas.microsoft.com/office/drawing/2014/main" id="{DC89F1EE-43AD-820E-6AFD-275385905905}"/>
                  </a:ext>
                </a:extLst>
              </p:cNvPr>
              <p:cNvSpPr/>
              <p:nvPr/>
            </p:nvSpPr>
            <p:spPr>
              <a:xfrm>
                <a:off x="7343487" y="1739577"/>
                <a:ext cx="185338" cy="7639"/>
              </a:xfrm>
              <a:custGeom>
                <a:avLst/>
                <a:gdLst/>
                <a:ahLst/>
                <a:cxnLst/>
                <a:rect l="l" t="t" r="r" b="b"/>
                <a:pathLst>
                  <a:path w="5216" h="215" extrusionOk="0">
                    <a:moveTo>
                      <a:pt x="108" y="1"/>
                    </a:moveTo>
                    <a:cubicBezTo>
                      <a:pt x="48" y="1"/>
                      <a:pt x="1" y="48"/>
                      <a:pt x="1" y="108"/>
                    </a:cubicBezTo>
                    <a:cubicBezTo>
                      <a:pt x="1" y="167"/>
                      <a:pt x="48" y="215"/>
                      <a:pt x="108" y="215"/>
                    </a:cubicBezTo>
                    <a:lnTo>
                      <a:pt x="5096" y="215"/>
                    </a:lnTo>
                    <a:cubicBezTo>
                      <a:pt x="5168" y="215"/>
                      <a:pt x="5216" y="167"/>
                      <a:pt x="5216" y="108"/>
                    </a:cubicBezTo>
                    <a:cubicBezTo>
                      <a:pt x="5216" y="48"/>
                      <a:pt x="5168" y="1"/>
                      <a:pt x="5096" y="1"/>
                    </a:cubicBezTo>
                    <a:close/>
                  </a:path>
                </a:pathLst>
              </a:custGeom>
              <a:solidFill>
                <a:srgbClr val="5EB2FC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>
                  <a:buClr>
                    <a:srgbClr val="000000"/>
                  </a:buClr>
                  <a:buFont typeface="Arial"/>
                  <a:buNone/>
                </a:pPr>
                <a:endParaRPr sz="1400" kern="0">
                  <a:solidFill>
                    <a:srgbClr val="000000"/>
                  </a:solidFill>
                  <a:latin typeface="Oswald" panose="00000500000000000000" pitchFamily="2" charset="0"/>
                  <a:cs typeface="Arial"/>
                  <a:sym typeface="Arial"/>
                </a:endParaRPr>
              </a:p>
            </p:txBody>
          </p:sp>
          <p:sp>
            <p:nvSpPr>
              <p:cNvPr id="114" name="Google Shape;1195;p28">
                <a:extLst>
                  <a:ext uri="{FF2B5EF4-FFF2-40B4-BE49-F238E27FC236}">
                    <a16:creationId xmlns:a16="http://schemas.microsoft.com/office/drawing/2014/main" id="{0130EE85-89ED-FC67-CB3D-1087A7872EFF}"/>
                  </a:ext>
                </a:extLst>
              </p:cNvPr>
              <p:cNvSpPr/>
              <p:nvPr/>
            </p:nvSpPr>
            <p:spPr>
              <a:xfrm>
                <a:off x="7343487" y="1775963"/>
                <a:ext cx="185338" cy="7639"/>
              </a:xfrm>
              <a:custGeom>
                <a:avLst/>
                <a:gdLst/>
                <a:ahLst/>
                <a:cxnLst/>
                <a:rect l="l" t="t" r="r" b="b"/>
                <a:pathLst>
                  <a:path w="5216" h="215" extrusionOk="0">
                    <a:moveTo>
                      <a:pt x="108" y="1"/>
                    </a:moveTo>
                    <a:cubicBezTo>
                      <a:pt x="48" y="1"/>
                      <a:pt x="1" y="48"/>
                      <a:pt x="1" y="108"/>
                    </a:cubicBezTo>
                    <a:cubicBezTo>
                      <a:pt x="1" y="167"/>
                      <a:pt x="48" y="215"/>
                      <a:pt x="108" y="215"/>
                    </a:cubicBezTo>
                    <a:lnTo>
                      <a:pt x="5096" y="215"/>
                    </a:lnTo>
                    <a:cubicBezTo>
                      <a:pt x="5168" y="215"/>
                      <a:pt x="5216" y="167"/>
                      <a:pt x="5216" y="108"/>
                    </a:cubicBezTo>
                    <a:cubicBezTo>
                      <a:pt x="5216" y="48"/>
                      <a:pt x="5168" y="1"/>
                      <a:pt x="5096" y="1"/>
                    </a:cubicBezTo>
                    <a:close/>
                  </a:path>
                </a:pathLst>
              </a:custGeom>
              <a:solidFill>
                <a:srgbClr val="5EB2FC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>
                  <a:buClr>
                    <a:srgbClr val="000000"/>
                  </a:buClr>
                  <a:buFont typeface="Arial"/>
                  <a:buNone/>
                </a:pPr>
                <a:endParaRPr sz="1400" kern="0">
                  <a:solidFill>
                    <a:srgbClr val="000000"/>
                  </a:solidFill>
                  <a:latin typeface="Oswald" panose="00000500000000000000" pitchFamily="2" charset="0"/>
                  <a:cs typeface="Arial"/>
                  <a:sym typeface="Arial"/>
                </a:endParaRPr>
              </a:p>
            </p:txBody>
          </p:sp>
          <p:sp>
            <p:nvSpPr>
              <p:cNvPr id="115" name="Google Shape;1196;p28">
                <a:extLst>
                  <a:ext uri="{FF2B5EF4-FFF2-40B4-BE49-F238E27FC236}">
                    <a16:creationId xmlns:a16="http://schemas.microsoft.com/office/drawing/2014/main" id="{E4B53581-2DBB-A8CB-0381-AFC101758407}"/>
                  </a:ext>
                </a:extLst>
              </p:cNvPr>
              <p:cNvSpPr/>
              <p:nvPr/>
            </p:nvSpPr>
            <p:spPr>
              <a:xfrm>
                <a:off x="7343487" y="1812349"/>
                <a:ext cx="185338" cy="7639"/>
              </a:xfrm>
              <a:custGeom>
                <a:avLst/>
                <a:gdLst/>
                <a:ahLst/>
                <a:cxnLst/>
                <a:rect l="l" t="t" r="r" b="b"/>
                <a:pathLst>
                  <a:path w="5216" h="215" extrusionOk="0">
                    <a:moveTo>
                      <a:pt x="108" y="0"/>
                    </a:moveTo>
                    <a:cubicBezTo>
                      <a:pt x="48" y="0"/>
                      <a:pt x="1" y="48"/>
                      <a:pt x="1" y="108"/>
                    </a:cubicBezTo>
                    <a:cubicBezTo>
                      <a:pt x="1" y="167"/>
                      <a:pt x="48" y="215"/>
                      <a:pt x="108" y="215"/>
                    </a:cubicBezTo>
                    <a:lnTo>
                      <a:pt x="5096" y="215"/>
                    </a:lnTo>
                    <a:cubicBezTo>
                      <a:pt x="5168" y="215"/>
                      <a:pt x="5216" y="167"/>
                      <a:pt x="5216" y="108"/>
                    </a:cubicBezTo>
                    <a:cubicBezTo>
                      <a:pt x="5216" y="48"/>
                      <a:pt x="5168" y="0"/>
                      <a:pt x="5096" y="0"/>
                    </a:cubicBezTo>
                    <a:close/>
                  </a:path>
                </a:pathLst>
              </a:custGeom>
              <a:solidFill>
                <a:srgbClr val="5EB2FC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>
                  <a:buClr>
                    <a:srgbClr val="000000"/>
                  </a:buClr>
                  <a:buFont typeface="Arial"/>
                  <a:buNone/>
                </a:pPr>
                <a:endParaRPr sz="1400" kern="0">
                  <a:solidFill>
                    <a:srgbClr val="000000"/>
                  </a:solidFill>
                  <a:latin typeface="Oswald" panose="00000500000000000000" pitchFamily="2" charset="0"/>
                  <a:cs typeface="Arial"/>
                  <a:sym typeface="Arial"/>
                </a:endParaRPr>
              </a:p>
            </p:txBody>
          </p:sp>
          <p:sp>
            <p:nvSpPr>
              <p:cNvPr id="116" name="Google Shape;1197;p28">
                <a:extLst>
                  <a:ext uri="{FF2B5EF4-FFF2-40B4-BE49-F238E27FC236}">
                    <a16:creationId xmlns:a16="http://schemas.microsoft.com/office/drawing/2014/main" id="{4E745A48-9514-C2A9-C521-BE9EE6AB0D98}"/>
                  </a:ext>
                </a:extLst>
              </p:cNvPr>
              <p:cNvSpPr/>
              <p:nvPr/>
            </p:nvSpPr>
            <p:spPr>
              <a:xfrm>
                <a:off x="7343487" y="1848734"/>
                <a:ext cx="185338" cy="7639"/>
              </a:xfrm>
              <a:custGeom>
                <a:avLst/>
                <a:gdLst/>
                <a:ahLst/>
                <a:cxnLst/>
                <a:rect l="l" t="t" r="r" b="b"/>
                <a:pathLst>
                  <a:path w="5216" h="215" extrusionOk="0">
                    <a:moveTo>
                      <a:pt x="108" y="0"/>
                    </a:moveTo>
                    <a:cubicBezTo>
                      <a:pt x="48" y="0"/>
                      <a:pt x="1" y="48"/>
                      <a:pt x="1" y="108"/>
                    </a:cubicBezTo>
                    <a:cubicBezTo>
                      <a:pt x="1" y="167"/>
                      <a:pt x="48" y="215"/>
                      <a:pt x="108" y="215"/>
                    </a:cubicBezTo>
                    <a:lnTo>
                      <a:pt x="5096" y="215"/>
                    </a:lnTo>
                    <a:cubicBezTo>
                      <a:pt x="5168" y="215"/>
                      <a:pt x="5216" y="167"/>
                      <a:pt x="5216" y="108"/>
                    </a:cubicBezTo>
                    <a:cubicBezTo>
                      <a:pt x="5216" y="48"/>
                      <a:pt x="5168" y="0"/>
                      <a:pt x="5096" y="0"/>
                    </a:cubicBezTo>
                    <a:close/>
                  </a:path>
                </a:pathLst>
              </a:custGeom>
              <a:solidFill>
                <a:srgbClr val="5EB2FC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>
                  <a:buClr>
                    <a:srgbClr val="000000"/>
                  </a:buClr>
                  <a:buFont typeface="Arial"/>
                  <a:buNone/>
                </a:pPr>
                <a:endParaRPr sz="1400" kern="0">
                  <a:solidFill>
                    <a:srgbClr val="000000"/>
                  </a:solidFill>
                  <a:latin typeface="Oswald" panose="00000500000000000000" pitchFamily="2" charset="0"/>
                  <a:cs typeface="Arial"/>
                  <a:sym typeface="Arial"/>
                </a:endParaRPr>
              </a:p>
            </p:txBody>
          </p:sp>
          <p:sp>
            <p:nvSpPr>
              <p:cNvPr id="117" name="Google Shape;1198;p28">
                <a:extLst>
                  <a:ext uri="{FF2B5EF4-FFF2-40B4-BE49-F238E27FC236}">
                    <a16:creationId xmlns:a16="http://schemas.microsoft.com/office/drawing/2014/main" id="{7680EA58-6C02-8B80-ABFD-4EC3573AAABF}"/>
                  </a:ext>
                </a:extLst>
              </p:cNvPr>
              <p:cNvSpPr/>
              <p:nvPr/>
            </p:nvSpPr>
            <p:spPr>
              <a:xfrm>
                <a:off x="7343487" y="1885120"/>
                <a:ext cx="185338" cy="7639"/>
              </a:xfrm>
              <a:custGeom>
                <a:avLst/>
                <a:gdLst/>
                <a:ahLst/>
                <a:cxnLst/>
                <a:rect l="l" t="t" r="r" b="b"/>
                <a:pathLst>
                  <a:path w="5216" h="215" extrusionOk="0">
                    <a:moveTo>
                      <a:pt x="108" y="0"/>
                    </a:moveTo>
                    <a:cubicBezTo>
                      <a:pt x="48" y="0"/>
                      <a:pt x="1" y="48"/>
                      <a:pt x="1" y="108"/>
                    </a:cubicBezTo>
                    <a:cubicBezTo>
                      <a:pt x="1" y="167"/>
                      <a:pt x="48" y="215"/>
                      <a:pt x="108" y="215"/>
                    </a:cubicBezTo>
                    <a:lnTo>
                      <a:pt x="5096" y="215"/>
                    </a:lnTo>
                    <a:cubicBezTo>
                      <a:pt x="5168" y="215"/>
                      <a:pt x="5216" y="167"/>
                      <a:pt x="5216" y="108"/>
                    </a:cubicBezTo>
                    <a:cubicBezTo>
                      <a:pt x="5216" y="48"/>
                      <a:pt x="5168" y="0"/>
                      <a:pt x="5096" y="0"/>
                    </a:cubicBezTo>
                    <a:close/>
                  </a:path>
                </a:pathLst>
              </a:custGeom>
              <a:solidFill>
                <a:srgbClr val="5EB2FC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>
                  <a:buClr>
                    <a:srgbClr val="000000"/>
                  </a:buClr>
                  <a:buFont typeface="Arial"/>
                  <a:buNone/>
                </a:pPr>
                <a:endParaRPr sz="1400" kern="0">
                  <a:solidFill>
                    <a:srgbClr val="000000"/>
                  </a:solidFill>
                  <a:latin typeface="Oswald" panose="00000500000000000000" pitchFamily="2" charset="0"/>
                  <a:cs typeface="Arial"/>
                  <a:sym typeface="Arial"/>
                </a:endParaRPr>
              </a:p>
            </p:txBody>
          </p:sp>
          <p:sp>
            <p:nvSpPr>
              <p:cNvPr id="118" name="Google Shape;1199;p28">
                <a:extLst>
                  <a:ext uri="{FF2B5EF4-FFF2-40B4-BE49-F238E27FC236}">
                    <a16:creationId xmlns:a16="http://schemas.microsoft.com/office/drawing/2014/main" id="{72CCB8EF-64B5-4379-9184-CF95CA85A5F5}"/>
                  </a:ext>
                </a:extLst>
              </p:cNvPr>
              <p:cNvSpPr/>
              <p:nvPr/>
            </p:nvSpPr>
            <p:spPr>
              <a:xfrm>
                <a:off x="7343487" y="1921506"/>
                <a:ext cx="185338" cy="8066"/>
              </a:xfrm>
              <a:custGeom>
                <a:avLst/>
                <a:gdLst/>
                <a:ahLst/>
                <a:cxnLst/>
                <a:rect l="l" t="t" r="r" b="b"/>
                <a:pathLst>
                  <a:path w="5216" h="227" extrusionOk="0">
                    <a:moveTo>
                      <a:pt x="108" y="0"/>
                    </a:moveTo>
                    <a:cubicBezTo>
                      <a:pt x="48" y="0"/>
                      <a:pt x="1" y="48"/>
                      <a:pt x="1" y="107"/>
                    </a:cubicBezTo>
                    <a:cubicBezTo>
                      <a:pt x="1" y="179"/>
                      <a:pt x="48" y="227"/>
                      <a:pt x="108" y="227"/>
                    </a:cubicBezTo>
                    <a:lnTo>
                      <a:pt x="5096" y="227"/>
                    </a:lnTo>
                    <a:cubicBezTo>
                      <a:pt x="5168" y="227"/>
                      <a:pt x="5216" y="179"/>
                      <a:pt x="5216" y="107"/>
                    </a:cubicBezTo>
                    <a:cubicBezTo>
                      <a:pt x="5216" y="48"/>
                      <a:pt x="5168" y="0"/>
                      <a:pt x="5096" y="0"/>
                    </a:cubicBezTo>
                    <a:close/>
                  </a:path>
                </a:pathLst>
              </a:custGeom>
              <a:solidFill>
                <a:srgbClr val="5EB2FC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>
                  <a:buClr>
                    <a:srgbClr val="000000"/>
                  </a:buClr>
                  <a:buFont typeface="Arial"/>
                  <a:buNone/>
                </a:pPr>
                <a:endParaRPr sz="1400" kern="0">
                  <a:solidFill>
                    <a:srgbClr val="000000"/>
                  </a:solidFill>
                  <a:latin typeface="Oswald" panose="00000500000000000000" pitchFamily="2" charset="0"/>
                  <a:cs typeface="Arial"/>
                  <a:sym typeface="Arial"/>
                </a:endParaRPr>
              </a:p>
            </p:txBody>
          </p:sp>
          <p:sp>
            <p:nvSpPr>
              <p:cNvPr id="119" name="Google Shape;1200;p28">
                <a:extLst>
                  <a:ext uri="{FF2B5EF4-FFF2-40B4-BE49-F238E27FC236}">
                    <a16:creationId xmlns:a16="http://schemas.microsoft.com/office/drawing/2014/main" id="{917A3234-7418-CFD5-AC80-3A5EF96B4F56}"/>
                  </a:ext>
                </a:extLst>
              </p:cNvPr>
              <p:cNvSpPr/>
              <p:nvPr/>
            </p:nvSpPr>
            <p:spPr>
              <a:xfrm>
                <a:off x="7343487" y="1957891"/>
                <a:ext cx="185338" cy="8066"/>
              </a:xfrm>
              <a:custGeom>
                <a:avLst/>
                <a:gdLst/>
                <a:ahLst/>
                <a:cxnLst/>
                <a:rect l="l" t="t" r="r" b="b"/>
                <a:pathLst>
                  <a:path w="5216" h="227" extrusionOk="0">
                    <a:moveTo>
                      <a:pt x="108" y="0"/>
                    </a:moveTo>
                    <a:cubicBezTo>
                      <a:pt x="48" y="0"/>
                      <a:pt x="1" y="60"/>
                      <a:pt x="1" y="119"/>
                    </a:cubicBezTo>
                    <a:cubicBezTo>
                      <a:pt x="1" y="179"/>
                      <a:pt x="48" y="226"/>
                      <a:pt x="108" y="226"/>
                    </a:cubicBezTo>
                    <a:lnTo>
                      <a:pt x="5096" y="226"/>
                    </a:lnTo>
                    <a:cubicBezTo>
                      <a:pt x="5168" y="226"/>
                      <a:pt x="5216" y="179"/>
                      <a:pt x="5216" y="119"/>
                    </a:cubicBezTo>
                    <a:cubicBezTo>
                      <a:pt x="5216" y="60"/>
                      <a:pt x="5168" y="0"/>
                      <a:pt x="5096" y="0"/>
                    </a:cubicBezTo>
                    <a:close/>
                  </a:path>
                </a:pathLst>
              </a:custGeom>
              <a:solidFill>
                <a:srgbClr val="5EB2FC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>
                  <a:buClr>
                    <a:srgbClr val="000000"/>
                  </a:buClr>
                  <a:buFont typeface="Arial"/>
                  <a:buNone/>
                </a:pPr>
                <a:endParaRPr sz="1400" kern="0">
                  <a:solidFill>
                    <a:srgbClr val="000000"/>
                  </a:solidFill>
                  <a:latin typeface="Oswald" panose="00000500000000000000" pitchFamily="2" charset="0"/>
                  <a:cs typeface="Arial"/>
                  <a:sym typeface="Arial"/>
                </a:endParaRPr>
              </a:p>
            </p:txBody>
          </p:sp>
          <p:sp>
            <p:nvSpPr>
              <p:cNvPr id="120" name="Google Shape;1201;p28">
                <a:extLst>
                  <a:ext uri="{FF2B5EF4-FFF2-40B4-BE49-F238E27FC236}">
                    <a16:creationId xmlns:a16="http://schemas.microsoft.com/office/drawing/2014/main" id="{14951EEF-C771-295C-058F-0D90F1D6B217}"/>
                  </a:ext>
                </a:extLst>
              </p:cNvPr>
              <p:cNvSpPr/>
              <p:nvPr/>
            </p:nvSpPr>
            <p:spPr>
              <a:xfrm>
                <a:off x="7343487" y="1994703"/>
                <a:ext cx="185338" cy="7639"/>
              </a:xfrm>
              <a:custGeom>
                <a:avLst/>
                <a:gdLst/>
                <a:ahLst/>
                <a:cxnLst/>
                <a:rect l="l" t="t" r="r" b="b"/>
                <a:pathLst>
                  <a:path w="5216" h="215" extrusionOk="0">
                    <a:moveTo>
                      <a:pt x="108" y="0"/>
                    </a:moveTo>
                    <a:cubicBezTo>
                      <a:pt x="48" y="0"/>
                      <a:pt x="1" y="48"/>
                      <a:pt x="1" y="107"/>
                    </a:cubicBezTo>
                    <a:cubicBezTo>
                      <a:pt x="1" y="167"/>
                      <a:pt x="48" y="214"/>
                      <a:pt x="108" y="214"/>
                    </a:cubicBezTo>
                    <a:lnTo>
                      <a:pt x="5096" y="214"/>
                    </a:lnTo>
                    <a:cubicBezTo>
                      <a:pt x="5168" y="214"/>
                      <a:pt x="5216" y="167"/>
                      <a:pt x="5216" y="107"/>
                    </a:cubicBezTo>
                    <a:cubicBezTo>
                      <a:pt x="5216" y="48"/>
                      <a:pt x="5168" y="0"/>
                      <a:pt x="5096" y="0"/>
                    </a:cubicBezTo>
                    <a:close/>
                  </a:path>
                </a:pathLst>
              </a:custGeom>
              <a:solidFill>
                <a:srgbClr val="5EB2FC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>
                  <a:buClr>
                    <a:srgbClr val="000000"/>
                  </a:buClr>
                  <a:buFont typeface="Arial"/>
                  <a:buNone/>
                </a:pPr>
                <a:endParaRPr sz="1400" kern="0">
                  <a:solidFill>
                    <a:srgbClr val="000000"/>
                  </a:solidFill>
                  <a:latin typeface="Oswald" panose="00000500000000000000" pitchFamily="2" charset="0"/>
                  <a:cs typeface="Arial"/>
                  <a:sym typeface="Arial"/>
                </a:endParaRPr>
              </a:p>
            </p:txBody>
          </p:sp>
          <p:sp>
            <p:nvSpPr>
              <p:cNvPr id="121" name="Google Shape;1202;p28">
                <a:extLst>
                  <a:ext uri="{FF2B5EF4-FFF2-40B4-BE49-F238E27FC236}">
                    <a16:creationId xmlns:a16="http://schemas.microsoft.com/office/drawing/2014/main" id="{0A0CA42F-4F4C-C151-CF36-1CF53AD35F96}"/>
                  </a:ext>
                </a:extLst>
              </p:cNvPr>
              <p:cNvSpPr/>
              <p:nvPr/>
            </p:nvSpPr>
            <p:spPr>
              <a:xfrm>
                <a:off x="7343487" y="2031053"/>
                <a:ext cx="185338" cy="7675"/>
              </a:xfrm>
              <a:custGeom>
                <a:avLst/>
                <a:gdLst/>
                <a:ahLst/>
                <a:cxnLst/>
                <a:rect l="l" t="t" r="r" b="b"/>
                <a:pathLst>
                  <a:path w="5216" h="216" extrusionOk="0">
                    <a:moveTo>
                      <a:pt x="108" y="1"/>
                    </a:moveTo>
                    <a:cubicBezTo>
                      <a:pt x="48" y="1"/>
                      <a:pt x="1" y="49"/>
                      <a:pt x="1" y="108"/>
                    </a:cubicBezTo>
                    <a:cubicBezTo>
                      <a:pt x="1" y="168"/>
                      <a:pt x="48" y="215"/>
                      <a:pt x="108" y="215"/>
                    </a:cubicBezTo>
                    <a:lnTo>
                      <a:pt x="5096" y="215"/>
                    </a:lnTo>
                    <a:cubicBezTo>
                      <a:pt x="5168" y="215"/>
                      <a:pt x="5216" y="168"/>
                      <a:pt x="5216" y="108"/>
                    </a:cubicBezTo>
                    <a:cubicBezTo>
                      <a:pt x="5216" y="49"/>
                      <a:pt x="5168" y="1"/>
                      <a:pt x="5096" y="1"/>
                    </a:cubicBezTo>
                    <a:close/>
                  </a:path>
                </a:pathLst>
              </a:custGeom>
              <a:solidFill>
                <a:srgbClr val="5EB2FC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>
                  <a:buClr>
                    <a:srgbClr val="000000"/>
                  </a:buClr>
                  <a:buFont typeface="Arial"/>
                  <a:buNone/>
                </a:pPr>
                <a:endParaRPr sz="1400" kern="0">
                  <a:solidFill>
                    <a:srgbClr val="000000"/>
                  </a:solidFill>
                  <a:latin typeface="Oswald" panose="00000500000000000000" pitchFamily="2" charset="0"/>
                  <a:cs typeface="Arial"/>
                  <a:sym typeface="Arial"/>
                </a:endParaRPr>
              </a:p>
            </p:txBody>
          </p:sp>
        </p:grpSp>
        <p:sp>
          <p:nvSpPr>
            <p:cNvPr id="108" name="Google Shape;1203;p28">
              <a:extLst>
                <a:ext uri="{FF2B5EF4-FFF2-40B4-BE49-F238E27FC236}">
                  <a16:creationId xmlns:a16="http://schemas.microsoft.com/office/drawing/2014/main" id="{83A987A5-D40D-7A01-C7A5-D21B8AB0CE0E}"/>
                </a:ext>
              </a:extLst>
            </p:cNvPr>
            <p:cNvSpPr/>
            <p:nvPr/>
          </p:nvSpPr>
          <p:spPr>
            <a:xfrm>
              <a:off x="6845138" y="2732081"/>
              <a:ext cx="1291180" cy="440034"/>
            </a:xfrm>
            <a:custGeom>
              <a:avLst/>
              <a:gdLst/>
              <a:ahLst/>
              <a:cxnLst/>
              <a:rect l="l" t="t" r="r" b="b"/>
              <a:pathLst>
                <a:path w="36338" h="12384" extrusionOk="0">
                  <a:moveTo>
                    <a:pt x="0" y="1"/>
                  </a:moveTo>
                  <a:lnTo>
                    <a:pt x="0" y="1358"/>
                  </a:lnTo>
                  <a:cubicBezTo>
                    <a:pt x="2417" y="1644"/>
                    <a:pt x="4298" y="3692"/>
                    <a:pt x="4298" y="6192"/>
                  </a:cubicBezTo>
                  <a:cubicBezTo>
                    <a:pt x="4298" y="8692"/>
                    <a:pt x="2417" y="10752"/>
                    <a:pt x="0" y="11038"/>
                  </a:cubicBezTo>
                  <a:lnTo>
                    <a:pt x="0" y="12383"/>
                  </a:lnTo>
                  <a:lnTo>
                    <a:pt x="32040" y="12383"/>
                  </a:lnTo>
                  <a:lnTo>
                    <a:pt x="32040" y="10502"/>
                  </a:lnTo>
                  <a:cubicBezTo>
                    <a:pt x="34409" y="10502"/>
                    <a:pt x="36338" y="8573"/>
                    <a:pt x="36338" y="6192"/>
                  </a:cubicBezTo>
                  <a:cubicBezTo>
                    <a:pt x="36338" y="3823"/>
                    <a:pt x="34409" y="1894"/>
                    <a:pt x="32040" y="1894"/>
                  </a:cubicBezTo>
                  <a:lnTo>
                    <a:pt x="3204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algn="ctr">
                <a:buClr>
                  <a:srgbClr val="000000"/>
                </a:buClr>
                <a:buFont typeface="Arial"/>
                <a:buNone/>
              </a:pPr>
              <a:r>
                <a:rPr lang="en" sz="1400" kern="0">
                  <a:solidFill>
                    <a:srgbClr val="FFFFFF"/>
                  </a:solidFill>
                  <a:latin typeface="Oswald" panose="00000500000000000000" pitchFamily="2" charset="0"/>
                  <a:ea typeface="Fira Sans Extra Condensed Medium"/>
                  <a:cs typeface="Fira Sans Extra Condensed Medium"/>
                  <a:sym typeface="Fira Sans Extra Condensed Medium"/>
                </a:rPr>
                <a:t>Phase 6</a:t>
              </a:r>
              <a:endParaRPr sz="1400" kern="0">
                <a:solidFill>
                  <a:srgbClr val="FFFFFF"/>
                </a:solidFill>
                <a:latin typeface="Oswald" panose="00000500000000000000" pitchFamily="2" charset="0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109" name="Google Shape;1204;p28">
              <a:extLst>
                <a:ext uri="{FF2B5EF4-FFF2-40B4-BE49-F238E27FC236}">
                  <a16:creationId xmlns:a16="http://schemas.microsoft.com/office/drawing/2014/main" id="{CBF4B274-AB7B-3E9B-C224-EB6292378E3C}"/>
                </a:ext>
              </a:extLst>
            </p:cNvPr>
            <p:cNvSpPr/>
            <p:nvPr/>
          </p:nvSpPr>
          <p:spPr>
            <a:xfrm>
              <a:off x="7455167" y="2235403"/>
              <a:ext cx="63070" cy="63070"/>
            </a:xfrm>
            <a:custGeom>
              <a:avLst/>
              <a:gdLst/>
              <a:ahLst/>
              <a:cxnLst/>
              <a:rect l="l" t="t" r="r" b="b"/>
              <a:pathLst>
                <a:path w="1775" h="1775" extrusionOk="0">
                  <a:moveTo>
                    <a:pt x="882" y="1"/>
                  </a:moveTo>
                  <a:cubicBezTo>
                    <a:pt x="394" y="1"/>
                    <a:pt x="1" y="394"/>
                    <a:pt x="1" y="882"/>
                  </a:cubicBezTo>
                  <a:cubicBezTo>
                    <a:pt x="1" y="1382"/>
                    <a:pt x="394" y="1775"/>
                    <a:pt x="882" y="1775"/>
                  </a:cubicBezTo>
                  <a:cubicBezTo>
                    <a:pt x="1382" y="1775"/>
                    <a:pt x="1775" y="1382"/>
                    <a:pt x="1775" y="882"/>
                  </a:cubicBezTo>
                  <a:cubicBezTo>
                    <a:pt x="1775" y="394"/>
                    <a:pt x="1382" y="1"/>
                    <a:pt x="882" y="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>
                <a:buClr>
                  <a:srgbClr val="000000"/>
                </a:buClr>
                <a:buFont typeface="Arial"/>
                <a:buNone/>
              </a:pPr>
              <a:endParaRPr sz="1400" kern="0">
                <a:solidFill>
                  <a:srgbClr val="000000"/>
                </a:solidFill>
                <a:latin typeface="Oswald" panose="00000500000000000000" pitchFamily="2" charset="0"/>
                <a:cs typeface="Arial"/>
                <a:sym typeface="Arial"/>
              </a:endParaRPr>
            </a:p>
          </p:txBody>
        </p:sp>
        <p:sp>
          <p:nvSpPr>
            <p:cNvPr id="110" name="Google Shape;1205;p28">
              <a:extLst>
                <a:ext uri="{FF2B5EF4-FFF2-40B4-BE49-F238E27FC236}">
                  <a16:creationId xmlns:a16="http://schemas.microsoft.com/office/drawing/2014/main" id="{9BC774F1-119B-6F70-F432-181C4D80A201}"/>
                </a:ext>
              </a:extLst>
            </p:cNvPr>
            <p:cNvSpPr txBox="1"/>
            <p:nvPr/>
          </p:nvSpPr>
          <p:spPr>
            <a:xfrm>
              <a:off x="6872487" y="1099726"/>
              <a:ext cx="1291500" cy="534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algn="ctr">
                <a:buClr>
                  <a:srgbClr val="000000"/>
                </a:buClr>
                <a:buFont typeface="Arial"/>
                <a:buNone/>
              </a:pPr>
              <a:r>
                <a:rPr lang="en" sz="1500" kern="0">
                  <a:solidFill>
                    <a:srgbClr val="434343"/>
                  </a:solidFill>
                  <a:latin typeface="Oswald" panose="00000500000000000000" pitchFamily="2" charset="0"/>
                  <a:ea typeface="Roboto"/>
                  <a:cs typeface="Roboto"/>
                  <a:sym typeface="Roboto"/>
                </a:rPr>
                <a:t>Onboarding</a:t>
              </a:r>
              <a:endParaRPr sz="1500" kern="0">
                <a:solidFill>
                  <a:srgbClr val="434343"/>
                </a:solidFill>
                <a:latin typeface="Oswald" panose="00000500000000000000" pitchFamily="2" charset="0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22" name="Google Shape;1206;p28">
            <a:extLst>
              <a:ext uri="{FF2B5EF4-FFF2-40B4-BE49-F238E27FC236}">
                <a16:creationId xmlns:a16="http://schemas.microsoft.com/office/drawing/2014/main" id="{B2554248-DF1C-379B-EA12-9AD5870B36A4}"/>
              </a:ext>
            </a:extLst>
          </p:cNvPr>
          <p:cNvGrpSpPr/>
          <p:nvPr/>
        </p:nvGrpSpPr>
        <p:grpSpPr>
          <a:xfrm>
            <a:off x="636597" y="995664"/>
            <a:ext cx="1291216" cy="2075495"/>
            <a:chOff x="1007688" y="1096620"/>
            <a:chExt cx="1291216" cy="2075495"/>
          </a:xfrm>
        </p:grpSpPr>
        <p:sp>
          <p:nvSpPr>
            <p:cNvPr id="123" name="Google Shape;1207;p28">
              <a:extLst>
                <a:ext uri="{FF2B5EF4-FFF2-40B4-BE49-F238E27FC236}">
                  <a16:creationId xmlns:a16="http://schemas.microsoft.com/office/drawing/2014/main" id="{BD782012-A3FA-2281-775A-9A6AEB215088}"/>
                </a:ext>
              </a:extLst>
            </p:cNvPr>
            <p:cNvSpPr/>
            <p:nvPr/>
          </p:nvSpPr>
          <p:spPr>
            <a:xfrm>
              <a:off x="1643549" y="2261200"/>
              <a:ext cx="11477" cy="704858"/>
            </a:xfrm>
            <a:custGeom>
              <a:avLst/>
              <a:gdLst/>
              <a:ahLst/>
              <a:cxnLst/>
              <a:rect l="l" t="t" r="r" b="b"/>
              <a:pathLst>
                <a:path w="323" h="19837" extrusionOk="0">
                  <a:moveTo>
                    <a:pt x="167" y="1"/>
                  </a:moveTo>
                  <a:cubicBezTo>
                    <a:pt x="72" y="1"/>
                    <a:pt x="1" y="72"/>
                    <a:pt x="1" y="156"/>
                  </a:cubicBezTo>
                  <a:lnTo>
                    <a:pt x="1" y="19682"/>
                  </a:lnTo>
                  <a:cubicBezTo>
                    <a:pt x="1" y="19765"/>
                    <a:pt x="72" y="19837"/>
                    <a:pt x="167" y="19837"/>
                  </a:cubicBezTo>
                  <a:cubicBezTo>
                    <a:pt x="251" y="19837"/>
                    <a:pt x="322" y="19765"/>
                    <a:pt x="322" y="19682"/>
                  </a:cubicBezTo>
                  <a:lnTo>
                    <a:pt x="322" y="156"/>
                  </a:lnTo>
                  <a:cubicBezTo>
                    <a:pt x="322" y="72"/>
                    <a:pt x="251" y="1"/>
                    <a:pt x="167" y="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>
                <a:buClr>
                  <a:srgbClr val="000000"/>
                </a:buClr>
                <a:buFont typeface="Arial"/>
                <a:buNone/>
              </a:pPr>
              <a:endParaRPr sz="1400" kern="0">
                <a:solidFill>
                  <a:srgbClr val="000000"/>
                </a:solidFill>
                <a:latin typeface="Oswald" panose="00000500000000000000" pitchFamily="2" charset="0"/>
                <a:cs typeface="Arial"/>
                <a:sym typeface="Arial"/>
              </a:endParaRPr>
            </a:p>
          </p:txBody>
        </p:sp>
        <p:sp>
          <p:nvSpPr>
            <p:cNvPr id="124" name="Google Shape;1208;p28">
              <a:extLst>
                <a:ext uri="{FF2B5EF4-FFF2-40B4-BE49-F238E27FC236}">
                  <a16:creationId xmlns:a16="http://schemas.microsoft.com/office/drawing/2014/main" id="{B4808649-F3D9-640A-E517-1A6416430ACE}"/>
                </a:ext>
              </a:extLst>
            </p:cNvPr>
            <p:cNvSpPr/>
            <p:nvPr/>
          </p:nvSpPr>
          <p:spPr>
            <a:xfrm>
              <a:off x="1440905" y="1674446"/>
              <a:ext cx="426497" cy="222540"/>
            </a:xfrm>
            <a:custGeom>
              <a:avLst/>
              <a:gdLst/>
              <a:ahLst/>
              <a:cxnLst/>
              <a:rect l="l" t="t" r="r" b="b"/>
              <a:pathLst>
                <a:path w="12003" h="6263" extrusionOk="0">
                  <a:moveTo>
                    <a:pt x="5918" y="298"/>
                  </a:moveTo>
                  <a:lnTo>
                    <a:pt x="11645" y="5525"/>
                  </a:lnTo>
                  <a:cubicBezTo>
                    <a:pt x="11752" y="5632"/>
                    <a:pt x="11764" y="5810"/>
                    <a:pt x="11657" y="5929"/>
                  </a:cubicBezTo>
                  <a:cubicBezTo>
                    <a:pt x="11609" y="5989"/>
                    <a:pt x="11538" y="6025"/>
                    <a:pt x="11454" y="6025"/>
                  </a:cubicBezTo>
                  <a:cubicBezTo>
                    <a:pt x="11383" y="6025"/>
                    <a:pt x="11312" y="6001"/>
                    <a:pt x="11252" y="5953"/>
                  </a:cubicBezTo>
                  <a:lnTo>
                    <a:pt x="5918" y="1084"/>
                  </a:lnTo>
                  <a:lnTo>
                    <a:pt x="691" y="5965"/>
                  </a:lnTo>
                  <a:cubicBezTo>
                    <a:pt x="641" y="6016"/>
                    <a:pt x="574" y="6040"/>
                    <a:pt x="507" y="6040"/>
                  </a:cubicBezTo>
                  <a:cubicBezTo>
                    <a:pt x="431" y="6040"/>
                    <a:pt x="355" y="6010"/>
                    <a:pt x="298" y="5953"/>
                  </a:cubicBezTo>
                  <a:cubicBezTo>
                    <a:pt x="251" y="5906"/>
                    <a:pt x="215" y="5834"/>
                    <a:pt x="215" y="5751"/>
                  </a:cubicBezTo>
                  <a:cubicBezTo>
                    <a:pt x="215" y="5667"/>
                    <a:pt x="251" y="5596"/>
                    <a:pt x="310" y="5548"/>
                  </a:cubicBezTo>
                  <a:lnTo>
                    <a:pt x="5918" y="298"/>
                  </a:lnTo>
                  <a:close/>
                  <a:moveTo>
                    <a:pt x="5918" y="0"/>
                  </a:moveTo>
                  <a:lnTo>
                    <a:pt x="155" y="5394"/>
                  </a:lnTo>
                  <a:cubicBezTo>
                    <a:pt x="60" y="5477"/>
                    <a:pt x="1" y="5608"/>
                    <a:pt x="1" y="5751"/>
                  </a:cubicBezTo>
                  <a:cubicBezTo>
                    <a:pt x="1" y="5882"/>
                    <a:pt x="48" y="6013"/>
                    <a:pt x="143" y="6108"/>
                  </a:cubicBezTo>
                  <a:cubicBezTo>
                    <a:pt x="239" y="6215"/>
                    <a:pt x="370" y="6263"/>
                    <a:pt x="501" y="6263"/>
                  </a:cubicBezTo>
                  <a:cubicBezTo>
                    <a:pt x="620" y="6263"/>
                    <a:pt x="751" y="6215"/>
                    <a:pt x="846" y="6120"/>
                  </a:cubicBezTo>
                  <a:lnTo>
                    <a:pt x="5918" y="1381"/>
                  </a:lnTo>
                  <a:lnTo>
                    <a:pt x="11109" y="6108"/>
                  </a:lnTo>
                  <a:cubicBezTo>
                    <a:pt x="11195" y="6194"/>
                    <a:pt x="11309" y="6241"/>
                    <a:pt x="11427" y="6241"/>
                  </a:cubicBezTo>
                  <a:cubicBezTo>
                    <a:pt x="11440" y="6241"/>
                    <a:pt x="11453" y="6240"/>
                    <a:pt x="11466" y="6239"/>
                  </a:cubicBezTo>
                  <a:cubicBezTo>
                    <a:pt x="11609" y="6239"/>
                    <a:pt x="11728" y="6179"/>
                    <a:pt x="11824" y="6072"/>
                  </a:cubicBezTo>
                  <a:cubicBezTo>
                    <a:pt x="12002" y="5870"/>
                    <a:pt x="11990" y="5548"/>
                    <a:pt x="11788" y="5370"/>
                  </a:cubicBezTo>
                  <a:lnTo>
                    <a:pt x="5918" y="0"/>
                  </a:lnTo>
                  <a:close/>
                </a:path>
              </a:pathLst>
            </a:custGeom>
            <a:solidFill>
              <a:srgbClr val="FCBD2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>
                <a:buClr>
                  <a:srgbClr val="000000"/>
                </a:buClr>
                <a:buFont typeface="Arial"/>
                <a:buNone/>
              </a:pPr>
              <a:endParaRPr sz="1400" kern="0">
                <a:solidFill>
                  <a:srgbClr val="000000"/>
                </a:solidFill>
                <a:latin typeface="Oswald" panose="00000500000000000000" pitchFamily="2" charset="0"/>
                <a:cs typeface="Arial"/>
                <a:sym typeface="Arial"/>
              </a:endParaRPr>
            </a:p>
          </p:txBody>
        </p:sp>
        <p:sp>
          <p:nvSpPr>
            <p:cNvPr id="125" name="Google Shape;1209;p28">
              <a:extLst>
                <a:ext uri="{FF2B5EF4-FFF2-40B4-BE49-F238E27FC236}">
                  <a16:creationId xmlns:a16="http://schemas.microsoft.com/office/drawing/2014/main" id="{BFC693B5-6365-8068-76F9-D65CC8364606}"/>
                </a:ext>
              </a:extLst>
            </p:cNvPr>
            <p:cNvSpPr/>
            <p:nvPr/>
          </p:nvSpPr>
          <p:spPr>
            <a:xfrm>
              <a:off x="1498859" y="1712928"/>
              <a:ext cx="305082" cy="436623"/>
            </a:xfrm>
            <a:custGeom>
              <a:avLst/>
              <a:gdLst/>
              <a:ahLst/>
              <a:cxnLst/>
              <a:rect l="l" t="t" r="r" b="b"/>
              <a:pathLst>
                <a:path w="8586" h="12288" extrusionOk="0">
                  <a:moveTo>
                    <a:pt x="4287" y="298"/>
                  </a:moveTo>
                  <a:lnTo>
                    <a:pt x="8371" y="4132"/>
                  </a:lnTo>
                  <a:lnTo>
                    <a:pt x="8371" y="12073"/>
                  </a:lnTo>
                  <a:lnTo>
                    <a:pt x="6204" y="12073"/>
                  </a:lnTo>
                  <a:lnTo>
                    <a:pt x="6204" y="6989"/>
                  </a:lnTo>
                  <a:cubicBezTo>
                    <a:pt x="6204" y="5954"/>
                    <a:pt x="5370" y="5120"/>
                    <a:pt x="4347" y="5120"/>
                  </a:cubicBezTo>
                  <a:cubicBezTo>
                    <a:pt x="3323" y="5120"/>
                    <a:pt x="2477" y="5954"/>
                    <a:pt x="2477" y="6989"/>
                  </a:cubicBezTo>
                  <a:lnTo>
                    <a:pt x="2477" y="12073"/>
                  </a:lnTo>
                  <a:lnTo>
                    <a:pt x="215" y="12073"/>
                  </a:lnTo>
                  <a:lnTo>
                    <a:pt x="215" y="4132"/>
                  </a:lnTo>
                  <a:lnTo>
                    <a:pt x="4287" y="298"/>
                  </a:lnTo>
                  <a:close/>
                  <a:moveTo>
                    <a:pt x="4287" y="1"/>
                  </a:moveTo>
                  <a:lnTo>
                    <a:pt x="1" y="4037"/>
                  </a:lnTo>
                  <a:lnTo>
                    <a:pt x="1" y="12288"/>
                  </a:lnTo>
                  <a:lnTo>
                    <a:pt x="2703" y="12288"/>
                  </a:lnTo>
                  <a:lnTo>
                    <a:pt x="2703" y="6989"/>
                  </a:lnTo>
                  <a:cubicBezTo>
                    <a:pt x="2703" y="6085"/>
                    <a:pt x="3442" y="5346"/>
                    <a:pt x="4347" y="5346"/>
                  </a:cubicBezTo>
                  <a:cubicBezTo>
                    <a:pt x="5251" y="5346"/>
                    <a:pt x="5990" y="6085"/>
                    <a:pt x="5990" y="6989"/>
                  </a:cubicBezTo>
                  <a:lnTo>
                    <a:pt x="5990" y="12288"/>
                  </a:lnTo>
                  <a:lnTo>
                    <a:pt x="8585" y="12288"/>
                  </a:lnTo>
                  <a:lnTo>
                    <a:pt x="8585" y="4037"/>
                  </a:lnTo>
                  <a:lnTo>
                    <a:pt x="4287" y="1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>
                <a:buClr>
                  <a:srgbClr val="000000"/>
                </a:buClr>
                <a:buFont typeface="Arial"/>
                <a:buNone/>
              </a:pPr>
              <a:endParaRPr sz="1400" kern="0">
                <a:solidFill>
                  <a:srgbClr val="000000"/>
                </a:solidFill>
                <a:latin typeface="Oswald" panose="00000500000000000000" pitchFamily="2" charset="0"/>
                <a:cs typeface="Arial"/>
                <a:sym typeface="Arial"/>
              </a:endParaRPr>
            </a:p>
          </p:txBody>
        </p:sp>
        <p:sp>
          <p:nvSpPr>
            <p:cNvPr id="126" name="Google Shape;1210;p28">
              <a:extLst>
                <a:ext uri="{FF2B5EF4-FFF2-40B4-BE49-F238E27FC236}">
                  <a16:creationId xmlns:a16="http://schemas.microsoft.com/office/drawing/2014/main" id="{7779BF20-05FF-0052-74B8-7423A714ADAA}"/>
                </a:ext>
              </a:extLst>
            </p:cNvPr>
            <p:cNvSpPr/>
            <p:nvPr/>
          </p:nvSpPr>
          <p:spPr>
            <a:xfrm>
              <a:off x="1649056" y="1869876"/>
              <a:ext cx="93095" cy="192941"/>
            </a:xfrm>
            <a:custGeom>
              <a:avLst/>
              <a:gdLst/>
              <a:ahLst/>
              <a:cxnLst/>
              <a:rect l="l" t="t" r="r" b="b"/>
              <a:pathLst>
                <a:path w="2620" h="5430" extrusionOk="0">
                  <a:moveTo>
                    <a:pt x="120" y="1"/>
                  </a:moveTo>
                  <a:cubicBezTo>
                    <a:pt x="72" y="1"/>
                    <a:pt x="12" y="48"/>
                    <a:pt x="12" y="108"/>
                  </a:cubicBezTo>
                  <a:cubicBezTo>
                    <a:pt x="0" y="167"/>
                    <a:pt x="48" y="215"/>
                    <a:pt x="108" y="227"/>
                  </a:cubicBezTo>
                  <a:cubicBezTo>
                    <a:pt x="120" y="227"/>
                    <a:pt x="965" y="286"/>
                    <a:pt x="1620" y="846"/>
                  </a:cubicBezTo>
                  <a:cubicBezTo>
                    <a:pt x="2286" y="1406"/>
                    <a:pt x="2406" y="1953"/>
                    <a:pt x="2406" y="2834"/>
                  </a:cubicBezTo>
                  <a:lnTo>
                    <a:pt x="2406" y="5323"/>
                  </a:lnTo>
                  <a:cubicBezTo>
                    <a:pt x="2406" y="5382"/>
                    <a:pt x="2453" y="5430"/>
                    <a:pt x="2513" y="5430"/>
                  </a:cubicBezTo>
                  <a:cubicBezTo>
                    <a:pt x="2572" y="5430"/>
                    <a:pt x="2620" y="5382"/>
                    <a:pt x="2620" y="5323"/>
                  </a:cubicBezTo>
                  <a:lnTo>
                    <a:pt x="2620" y="2834"/>
                  </a:lnTo>
                  <a:cubicBezTo>
                    <a:pt x="2620" y="1906"/>
                    <a:pt x="2489" y="1287"/>
                    <a:pt x="1763" y="679"/>
                  </a:cubicBezTo>
                  <a:cubicBezTo>
                    <a:pt x="1060" y="84"/>
                    <a:pt x="167" y="13"/>
                    <a:pt x="120" y="1"/>
                  </a:cubicBezTo>
                  <a:close/>
                </a:path>
              </a:pathLst>
            </a:custGeom>
            <a:solidFill>
              <a:srgbClr val="FCBD2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>
                <a:buClr>
                  <a:srgbClr val="000000"/>
                </a:buClr>
                <a:buFont typeface="Arial"/>
                <a:buNone/>
              </a:pPr>
              <a:endParaRPr sz="1400" kern="0">
                <a:solidFill>
                  <a:srgbClr val="000000"/>
                </a:solidFill>
                <a:latin typeface="Oswald" panose="00000500000000000000" pitchFamily="2" charset="0"/>
                <a:cs typeface="Arial"/>
                <a:sym typeface="Arial"/>
              </a:endParaRPr>
            </a:p>
          </p:txBody>
        </p:sp>
        <p:sp>
          <p:nvSpPr>
            <p:cNvPr id="127" name="Google Shape;1211;p28">
              <a:extLst>
                <a:ext uri="{FF2B5EF4-FFF2-40B4-BE49-F238E27FC236}">
                  <a16:creationId xmlns:a16="http://schemas.microsoft.com/office/drawing/2014/main" id="{A8FC2BBA-78D1-5DCD-E247-C4511248F9EE}"/>
                </a:ext>
              </a:extLst>
            </p:cNvPr>
            <p:cNvSpPr/>
            <p:nvPr/>
          </p:nvSpPr>
          <p:spPr>
            <a:xfrm>
              <a:off x="1007688" y="2732081"/>
              <a:ext cx="1291216" cy="440034"/>
            </a:xfrm>
            <a:custGeom>
              <a:avLst/>
              <a:gdLst/>
              <a:ahLst/>
              <a:cxnLst/>
              <a:rect l="l" t="t" r="r" b="b"/>
              <a:pathLst>
                <a:path w="36339" h="12384" extrusionOk="0">
                  <a:moveTo>
                    <a:pt x="1" y="1"/>
                  </a:moveTo>
                  <a:lnTo>
                    <a:pt x="1" y="1358"/>
                  </a:lnTo>
                  <a:cubicBezTo>
                    <a:pt x="2418" y="1644"/>
                    <a:pt x="4299" y="3692"/>
                    <a:pt x="4299" y="6192"/>
                  </a:cubicBezTo>
                  <a:cubicBezTo>
                    <a:pt x="4299" y="8692"/>
                    <a:pt x="2418" y="10752"/>
                    <a:pt x="1" y="11038"/>
                  </a:cubicBezTo>
                  <a:lnTo>
                    <a:pt x="1" y="12383"/>
                  </a:lnTo>
                  <a:lnTo>
                    <a:pt x="32040" y="12383"/>
                  </a:lnTo>
                  <a:lnTo>
                    <a:pt x="32040" y="10502"/>
                  </a:lnTo>
                  <a:cubicBezTo>
                    <a:pt x="34410" y="10502"/>
                    <a:pt x="36338" y="8573"/>
                    <a:pt x="36338" y="6192"/>
                  </a:cubicBezTo>
                  <a:cubicBezTo>
                    <a:pt x="36338" y="3823"/>
                    <a:pt x="34410" y="1894"/>
                    <a:pt x="32040" y="1894"/>
                  </a:cubicBezTo>
                  <a:lnTo>
                    <a:pt x="3204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algn="ctr">
                <a:buClr>
                  <a:srgbClr val="000000"/>
                </a:buClr>
                <a:buFont typeface="Arial"/>
                <a:buNone/>
              </a:pPr>
              <a:r>
                <a:rPr lang="en" sz="1400" kern="0" dirty="0">
                  <a:solidFill>
                    <a:srgbClr val="FFFFFF"/>
                  </a:solidFill>
                  <a:latin typeface="Oswald" panose="00000500000000000000" pitchFamily="2" charset="0"/>
                  <a:ea typeface="Fira Sans Extra Condensed Medium"/>
                  <a:cs typeface="Fira Sans Extra Condensed Medium"/>
                  <a:sym typeface="Fira Sans Extra Condensed Medium"/>
                </a:rPr>
                <a:t>Phase 1</a:t>
              </a:r>
              <a:endParaRPr sz="1400" kern="0" dirty="0">
                <a:solidFill>
                  <a:srgbClr val="FFFFFF"/>
                </a:solidFill>
                <a:latin typeface="Oswald" panose="00000500000000000000" pitchFamily="2" charset="0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128" name="Google Shape;1212;p28">
              <a:extLst>
                <a:ext uri="{FF2B5EF4-FFF2-40B4-BE49-F238E27FC236}">
                  <a16:creationId xmlns:a16="http://schemas.microsoft.com/office/drawing/2014/main" id="{8122203B-067A-2960-B16C-E7760D2CBC30}"/>
                </a:ext>
              </a:extLst>
            </p:cNvPr>
            <p:cNvSpPr/>
            <p:nvPr/>
          </p:nvSpPr>
          <p:spPr>
            <a:xfrm>
              <a:off x="1617752" y="2235403"/>
              <a:ext cx="63070" cy="63070"/>
            </a:xfrm>
            <a:custGeom>
              <a:avLst/>
              <a:gdLst/>
              <a:ahLst/>
              <a:cxnLst/>
              <a:rect l="l" t="t" r="r" b="b"/>
              <a:pathLst>
                <a:path w="1775" h="1775" extrusionOk="0">
                  <a:moveTo>
                    <a:pt x="893" y="1"/>
                  </a:moveTo>
                  <a:cubicBezTo>
                    <a:pt x="393" y="1"/>
                    <a:pt x="0" y="394"/>
                    <a:pt x="0" y="882"/>
                  </a:cubicBezTo>
                  <a:cubicBezTo>
                    <a:pt x="0" y="1382"/>
                    <a:pt x="393" y="1775"/>
                    <a:pt x="893" y="1775"/>
                  </a:cubicBezTo>
                  <a:cubicBezTo>
                    <a:pt x="1382" y="1775"/>
                    <a:pt x="1774" y="1382"/>
                    <a:pt x="1774" y="882"/>
                  </a:cubicBezTo>
                  <a:cubicBezTo>
                    <a:pt x="1774" y="394"/>
                    <a:pt x="1382" y="1"/>
                    <a:pt x="893" y="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>
                <a:buClr>
                  <a:srgbClr val="000000"/>
                </a:buClr>
                <a:buFont typeface="Arial"/>
                <a:buNone/>
              </a:pPr>
              <a:endParaRPr sz="1400" kern="0">
                <a:solidFill>
                  <a:srgbClr val="000000"/>
                </a:solidFill>
                <a:latin typeface="Oswald" panose="00000500000000000000" pitchFamily="2" charset="0"/>
                <a:cs typeface="Arial"/>
                <a:sym typeface="Arial"/>
              </a:endParaRPr>
            </a:p>
          </p:txBody>
        </p:sp>
        <p:sp>
          <p:nvSpPr>
            <p:cNvPr id="129" name="Google Shape;1213;p28">
              <a:extLst>
                <a:ext uri="{FF2B5EF4-FFF2-40B4-BE49-F238E27FC236}">
                  <a16:creationId xmlns:a16="http://schemas.microsoft.com/office/drawing/2014/main" id="{98A37D5D-4C74-82FE-3933-8353A8B0E91C}"/>
                </a:ext>
              </a:extLst>
            </p:cNvPr>
            <p:cNvSpPr txBox="1"/>
            <p:nvPr/>
          </p:nvSpPr>
          <p:spPr>
            <a:xfrm>
              <a:off x="1111953" y="1096620"/>
              <a:ext cx="1167300" cy="534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algn="ctr">
                <a:buClr>
                  <a:srgbClr val="000000"/>
                </a:buClr>
                <a:buFont typeface="Arial"/>
                <a:buNone/>
              </a:pPr>
              <a:r>
                <a:rPr lang="en" sz="1500" kern="0">
                  <a:solidFill>
                    <a:srgbClr val="434343"/>
                  </a:solidFill>
                  <a:latin typeface="Oswald" panose="00000500000000000000" pitchFamily="2" charset="0"/>
                  <a:ea typeface="Roboto"/>
                  <a:cs typeface="Roboto"/>
                  <a:sym typeface="Roboto"/>
                </a:rPr>
                <a:t>Profile Screening</a:t>
              </a:r>
              <a:endParaRPr sz="1500" kern="0">
                <a:solidFill>
                  <a:srgbClr val="434343"/>
                </a:solidFill>
                <a:latin typeface="Oswald" panose="00000500000000000000" pitchFamily="2" charset="0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30" name="Google Shape;1214;p28">
            <a:extLst>
              <a:ext uri="{FF2B5EF4-FFF2-40B4-BE49-F238E27FC236}">
                <a16:creationId xmlns:a16="http://schemas.microsoft.com/office/drawing/2014/main" id="{6FAA4335-4B7A-1304-578E-0E702615CD76}"/>
              </a:ext>
            </a:extLst>
          </p:cNvPr>
          <p:cNvGrpSpPr/>
          <p:nvPr/>
        </p:nvGrpSpPr>
        <p:grpSpPr>
          <a:xfrm>
            <a:off x="1803817" y="971067"/>
            <a:ext cx="1291642" cy="2100092"/>
            <a:chOff x="2174908" y="1072023"/>
            <a:chExt cx="1291642" cy="2100092"/>
          </a:xfrm>
        </p:grpSpPr>
        <p:grpSp>
          <p:nvGrpSpPr>
            <p:cNvPr id="131" name="Google Shape;1215;p28">
              <a:extLst>
                <a:ext uri="{FF2B5EF4-FFF2-40B4-BE49-F238E27FC236}">
                  <a16:creationId xmlns:a16="http://schemas.microsoft.com/office/drawing/2014/main" id="{385FEA3F-10EB-B5FB-C333-4EB9AE32F0BA}"/>
                </a:ext>
              </a:extLst>
            </p:cNvPr>
            <p:cNvGrpSpPr/>
            <p:nvPr/>
          </p:nvGrpSpPr>
          <p:grpSpPr>
            <a:xfrm>
              <a:off x="2567937" y="1575025"/>
              <a:ext cx="505596" cy="574530"/>
              <a:chOff x="2567937" y="1575025"/>
              <a:chExt cx="505596" cy="574530"/>
            </a:xfrm>
          </p:grpSpPr>
          <p:sp>
            <p:nvSpPr>
              <p:cNvPr id="135" name="Google Shape;1216;p28">
                <a:extLst>
                  <a:ext uri="{FF2B5EF4-FFF2-40B4-BE49-F238E27FC236}">
                    <a16:creationId xmlns:a16="http://schemas.microsoft.com/office/drawing/2014/main" id="{6E7809C4-2F0E-8382-D044-A183FFB32EBF}"/>
                  </a:ext>
                </a:extLst>
              </p:cNvPr>
              <p:cNvSpPr/>
              <p:nvPr/>
            </p:nvSpPr>
            <p:spPr>
              <a:xfrm>
                <a:off x="2667358" y="1687344"/>
                <a:ext cx="302950" cy="396223"/>
              </a:xfrm>
              <a:custGeom>
                <a:avLst/>
                <a:gdLst/>
                <a:ahLst/>
                <a:cxnLst/>
                <a:rect l="l" t="t" r="r" b="b"/>
                <a:pathLst>
                  <a:path w="8526" h="11151" extrusionOk="0">
                    <a:moveTo>
                      <a:pt x="4326" y="218"/>
                    </a:moveTo>
                    <a:cubicBezTo>
                      <a:pt x="5309" y="218"/>
                      <a:pt x="6237" y="574"/>
                      <a:pt x="6978" y="1232"/>
                    </a:cubicBezTo>
                    <a:cubicBezTo>
                      <a:pt x="7823" y="1994"/>
                      <a:pt x="8299" y="3078"/>
                      <a:pt x="8299" y="4209"/>
                    </a:cubicBezTo>
                    <a:cubicBezTo>
                      <a:pt x="8299" y="5316"/>
                      <a:pt x="7859" y="6340"/>
                      <a:pt x="7061" y="7102"/>
                    </a:cubicBezTo>
                    <a:cubicBezTo>
                      <a:pt x="6299" y="7829"/>
                      <a:pt x="5871" y="8769"/>
                      <a:pt x="5871" y="9769"/>
                    </a:cubicBezTo>
                    <a:lnTo>
                      <a:pt x="5871" y="10924"/>
                    </a:lnTo>
                    <a:lnTo>
                      <a:pt x="2763" y="10924"/>
                    </a:lnTo>
                    <a:lnTo>
                      <a:pt x="2763" y="9734"/>
                    </a:lnTo>
                    <a:cubicBezTo>
                      <a:pt x="2763" y="8757"/>
                      <a:pt x="2346" y="7829"/>
                      <a:pt x="1584" y="7114"/>
                    </a:cubicBezTo>
                    <a:cubicBezTo>
                      <a:pt x="668" y="6257"/>
                      <a:pt x="227" y="5054"/>
                      <a:pt x="346" y="3804"/>
                    </a:cubicBezTo>
                    <a:cubicBezTo>
                      <a:pt x="537" y="1947"/>
                      <a:pt x="2013" y="447"/>
                      <a:pt x="3858" y="244"/>
                    </a:cubicBezTo>
                    <a:cubicBezTo>
                      <a:pt x="4015" y="226"/>
                      <a:pt x="4171" y="218"/>
                      <a:pt x="4326" y="218"/>
                    </a:cubicBezTo>
                    <a:close/>
                    <a:moveTo>
                      <a:pt x="4334" y="0"/>
                    </a:moveTo>
                    <a:cubicBezTo>
                      <a:pt x="4169" y="0"/>
                      <a:pt x="4002" y="10"/>
                      <a:pt x="3835" y="30"/>
                    </a:cubicBezTo>
                    <a:cubicBezTo>
                      <a:pt x="1882" y="244"/>
                      <a:pt x="322" y="1816"/>
                      <a:pt x="132" y="3780"/>
                    </a:cubicBezTo>
                    <a:cubicBezTo>
                      <a:pt x="1" y="5090"/>
                      <a:pt x="477" y="6364"/>
                      <a:pt x="1430" y="7269"/>
                    </a:cubicBezTo>
                    <a:cubicBezTo>
                      <a:pt x="2144" y="7936"/>
                      <a:pt x="2537" y="8817"/>
                      <a:pt x="2537" y="9734"/>
                    </a:cubicBezTo>
                    <a:lnTo>
                      <a:pt x="2537" y="11150"/>
                    </a:lnTo>
                    <a:lnTo>
                      <a:pt x="6097" y="11150"/>
                    </a:lnTo>
                    <a:lnTo>
                      <a:pt x="6097" y="9769"/>
                    </a:lnTo>
                    <a:cubicBezTo>
                      <a:pt x="6097" y="8829"/>
                      <a:pt x="6490" y="7948"/>
                      <a:pt x="7216" y="7257"/>
                    </a:cubicBezTo>
                    <a:cubicBezTo>
                      <a:pt x="8061" y="6459"/>
                      <a:pt x="8526" y="5376"/>
                      <a:pt x="8526" y="4209"/>
                    </a:cubicBezTo>
                    <a:cubicBezTo>
                      <a:pt x="8526" y="3018"/>
                      <a:pt x="8014" y="1875"/>
                      <a:pt x="7121" y="1078"/>
                    </a:cubicBezTo>
                    <a:cubicBezTo>
                      <a:pt x="6341" y="380"/>
                      <a:pt x="5366" y="0"/>
                      <a:pt x="4334" y="0"/>
                    </a:cubicBezTo>
                    <a:close/>
                  </a:path>
                </a:pathLst>
              </a:custGeom>
              <a:solidFill>
                <a:srgbClr val="69E78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>
                  <a:buClr>
                    <a:srgbClr val="000000"/>
                  </a:buClr>
                  <a:buFont typeface="Arial"/>
                  <a:buNone/>
                </a:pPr>
                <a:endParaRPr sz="1400" kern="0">
                  <a:solidFill>
                    <a:srgbClr val="000000"/>
                  </a:solidFill>
                  <a:latin typeface="Oswald" panose="00000500000000000000" pitchFamily="2" charset="0"/>
                  <a:cs typeface="Arial"/>
                  <a:sym typeface="Arial"/>
                </a:endParaRPr>
              </a:p>
            </p:txBody>
          </p:sp>
          <p:sp>
            <p:nvSpPr>
              <p:cNvPr id="136" name="Google Shape;1217;p28">
                <a:extLst>
                  <a:ext uri="{FF2B5EF4-FFF2-40B4-BE49-F238E27FC236}">
                    <a16:creationId xmlns:a16="http://schemas.microsoft.com/office/drawing/2014/main" id="{ABADEFD6-B62D-B1A1-C346-0ABB41DA906E}"/>
                  </a:ext>
                </a:extLst>
              </p:cNvPr>
              <p:cNvSpPr/>
              <p:nvPr/>
            </p:nvSpPr>
            <p:spPr>
              <a:xfrm>
                <a:off x="2766779" y="2075505"/>
                <a:ext cx="109191" cy="74050"/>
              </a:xfrm>
              <a:custGeom>
                <a:avLst/>
                <a:gdLst/>
                <a:ahLst/>
                <a:cxnLst/>
                <a:rect l="l" t="t" r="r" b="b"/>
                <a:pathLst>
                  <a:path w="3073" h="2084" extrusionOk="0">
                    <a:moveTo>
                      <a:pt x="2858" y="226"/>
                    </a:moveTo>
                    <a:lnTo>
                      <a:pt x="2858" y="1548"/>
                    </a:lnTo>
                    <a:cubicBezTo>
                      <a:pt x="2858" y="1727"/>
                      <a:pt x="2715" y="1869"/>
                      <a:pt x="2537" y="1869"/>
                    </a:cubicBezTo>
                    <a:lnTo>
                      <a:pt x="537" y="1869"/>
                    </a:lnTo>
                    <a:cubicBezTo>
                      <a:pt x="358" y="1869"/>
                      <a:pt x="215" y="1727"/>
                      <a:pt x="215" y="1548"/>
                    </a:cubicBezTo>
                    <a:lnTo>
                      <a:pt x="215" y="226"/>
                    </a:lnTo>
                    <a:close/>
                    <a:moveTo>
                      <a:pt x="1" y="0"/>
                    </a:moveTo>
                    <a:lnTo>
                      <a:pt x="1" y="1548"/>
                    </a:lnTo>
                    <a:cubicBezTo>
                      <a:pt x="1" y="1846"/>
                      <a:pt x="239" y="2084"/>
                      <a:pt x="537" y="2084"/>
                    </a:cubicBezTo>
                    <a:lnTo>
                      <a:pt x="2537" y="2084"/>
                    </a:lnTo>
                    <a:cubicBezTo>
                      <a:pt x="2834" y="2084"/>
                      <a:pt x="3073" y="1846"/>
                      <a:pt x="3073" y="1548"/>
                    </a:cubicBezTo>
                    <a:lnTo>
                      <a:pt x="3073" y="0"/>
                    </a:lnTo>
                    <a:close/>
                  </a:path>
                </a:pathLst>
              </a:custGeom>
              <a:solidFill>
                <a:srgbClr val="69E78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>
                  <a:buClr>
                    <a:srgbClr val="000000"/>
                  </a:buClr>
                  <a:buFont typeface="Arial"/>
                  <a:buNone/>
                </a:pPr>
                <a:endParaRPr sz="1400" kern="0">
                  <a:solidFill>
                    <a:srgbClr val="000000"/>
                  </a:solidFill>
                  <a:latin typeface="Oswald" panose="00000500000000000000" pitchFamily="2" charset="0"/>
                  <a:cs typeface="Arial"/>
                  <a:sym typeface="Arial"/>
                </a:endParaRPr>
              </a:p>
            </p:txBody>
          </p:sp>
          <p:sp>
            <p:nvSpPr>
              <p:cNvPr id="137" name="Google Shape;1218;p28">
                <a:extLst>
                  <a:ext uri="{FF2B5EF4-FFF2-40B4-BE49-F238E27FC236}">
                    <a16:creationId xmlns:a16="http://schemas.microsoft.com/office/drawing/2014/main" id="{291AA5F3-454C-92C3-05AB-D881B18DBF21}"/>
                  </a:ext>
                </a:extLst>
              </p:cNvPr>
              <p:cNvSpPr/>
              <p:nvPr/>
            </p:nvSpPr>
            <p:spPr>
              <a:xfrm>
                <a:off x="2770190" y="2084815"/>
                <a:ext cx="101978" cy="15243"/>
              </a:xfrm>
              <a:custGeom>
                <a:avLst/>
                <a:gdLst/>
                <a:ahLst/>
                <a:cxnLst/>
                <a:rect l="l" t="t" r="r" b="b"/>
                <a:pathLst>
                  <a:path w="2870" h="429" extrusionOk="0">
                    <a:moveTo>
                      <a:pt x="12" y="0"/>
                    </a:moveTo>
                    <a:lnTo>
                      <a:pt x="0" y="214"/>
                    </a:lnTo>
                    <a:lnTo>
                      <a:pt x="2846" y="429"/>
                    </a:lnTo>
                    <a:lnTo>
                      <a:pt x="2869" y="214"/>
                    </a:lnTo>
                    <a:lnTo>
                      <a:pt x="12" y="0"/>
                    </a:lnTo>
                    <a:close/>
                  </a:path>
                </a:pathLst>
              </a:custGeom>
              <a:solidFill>
                <a:srgbClr val="69E78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>
                  <a:buClr>
                    <a:srgbClr val="000000"/>
                  </a:buClr>
                  <a:buFont typeface="Arial"/>
                  <a:buNone/>
                </a:pPr>
                <a:endParaRPr sz="1400" kern="0">
                  <a:solidFill>
                    <a:srgbClr val="000000"/>
                  </a:solidFill>
                  <a:latin typeface="Oswald" panose="00000500000000000000" pitchFamily="2" charset="0"/>
                  <a:cs typeface="Arial"/>
                  <a:sym typeface="Arial"/>
                </a:endParaRPr>
              </a:p>
            </p:txBody>
          </p:sp>
          <p:sp>
            <p:nvSpPr>
              <p:cNvPr id="138" name="Google Shape;1219;p28">
                <a:extLst>
                  <a:ext uri="{FF2B5EF4-FFF2-40B4-BE49-F238E27FC236}">
                    <a16:creationId xmlns:a16="http://schemas.microsoft.com/office/drawing/2014/main" id="{BED2FA48-4A04-B793-1096-B3E9DBA8F4F7}"/>
                  </a:ext>
                </a:extLst>
              </p:cNvPr>
              <p:cNvSpPr/>
              <p:nvPr/>
            </p:nvSpPr>
            <p:spPr>
              <a:xfrm>
                <a:off x="2770190" y="2102581"/>
                <a:ext cx="101978" cy="15243"/>
              </a:xfrm>
              <a:custGeom>
                <a:avLst/>
                <a:gdLst/>
                <a:ahLst/>
                <a:cxnLst/>
                <a:rect l="l" t="t" r="r" b="b"/>
                <a:pathLst>
                  <a:path w="2870" h="429" extrusionOk="0">
                    <a:moveTo>
                      <a:pt x="12" y="0"/>
                    </a:moveTo>
                    <a:lnTo>
                      <a:pt x="0" y="214"/>
                    </a:lnTo>
                    <a:lnTo>
                      <a:pt x="2846" y="429"/>
                    </a:lnTo>
                    <a:lnTo>
                      <a:pt x="2869" y="214"/>
                    </a:lnTo>
                    <a:lnTo>
                      <a:pt x="12" y="0"/>
                    </a:lnTo>
                    <a:close/>
                  </a:path>
                </a:pathLst>
              </a:custGeom>
              <a:solidFill>
                <a:srgbClr val="69E78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>
                  <a:buClr>
                    <a:srgbClr val="000000"/>
                  </a:buClr>
                  <a:buFont typeface="Arial"/>
                  <a:buNone/>
                </a:pPr>
                <a:endParaRPr sz="1400" kern="0">
                  <a:solidFill>
                    <a:srgbClr val="000000"/>
                  </a:solidFill>
                  <a:latin typeface="Oswald" panose="00000500000000000000" pitchFamily="2" charset="0"/>
                  <a:cs typeface="Arial"/>
                  <a:sym typeface="Arial"/>
                </a:endParaRPr>
              </a:p>
            </p:txBody>
          </p:sp>
          <p:sp>
            <p:nvSpPr>
              <p:cNvPr id="139" name="Google Shape;1220;p28">
                <a:extLst>
                  <a:ext uri="{FF2B5EF4-FFF2-40B4-BE49-F238E27FC236}">
                    <a16:creationId xmlns:a16="http://schemas.microsoft.com/office/drawing/2014/main" id="{00DEA7E1-73FA-D39D-EBCD-EC047EFFBDE4}"/>
                  </a:ext>
                </a:extLst>
              </p:cNvPr>
              <p:cNvSpPr/>
              <p:nvPr/>
            </p:nvSpPr>
            <p:spPr>
              <a:xfrm>
                <a:off x="2770190" y="2120348"/>
                <a:ext cx="101978" cy="15670"/>
              </a:xfrm>
              <a:custGeom>
                <a:avLst/>
                <a:gdLst/>
                <a:ahLst/>
                <a:cxnLst/>
                <a:rect l="l" t="t" r="r" b="b"/>
                <a:pathLst>
                  <a:path w="2870" h="441" extrusionOk="0">
                    <a:moveTo>
                      <a:pt x="12" y="0"/>
                    </a:moveTo>
                    <a:lnTo>
                      <a:pt x="0" y="215"/>
                    </a:lnTo>
                    <a:lnTo>
                      <a:pt x="2846" y="441"/>
                    </a:lnTo>
                    <a:lnTo>
                      <a:pt x="2869" y="215"/>
                    </a:lnTo>
                    <a:lnTo>
                      <a:pt x="12" y="0"/>
                    </a:lnTo>
                    <a:close/>
                  </a:path>
                </a:pathLst>
              </a:custGeom>
              <a:solidFill>
                <a:srgbClr val="69E78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>
                  <a:buClr>
                    <a:srgbClr val="000000"/>
                  </a:buClr>
                  <a:buFont typeface="Arial"/>
                  <a:buNone/>
                </a:pPr>
                <a:endParaRPr sz="1400" kern="0">
                  <a:solidFill>
                    <a:srgbClr val="000000"/>
                  </a:solidFill>
                  <a:latin typeface="Oswald" panose="00000500000000000000" pitchFamily="2" charset="0"/>
                  <a:cs typeface="Arial"/>
                  <a:sym typeface="Arial"/>
                </a:endParaRPr>
              </a:p>
            </p:txBody>
          </p:sp>
          <p:sp>
            <p:nvSpPr>
              <p:cNvPr id="140" name="Google Shape;1221;p28">
                <a:extLst>
                  <a:ext uri="{FF2B5EF4-FFF2-40B4-BE49-F238E27FC236}">
                    <a16:creationId xmlns:a16="http://schemas.microsoft.com/office/drawing/2014/main" id="{C3A6C29F-9675-53EB-1E55-3FD90501166F}"/>
                  </a:ext>
                </a:extLst>
              </p:cNvPr>
              <p:cNvSpPr/>
              <p:nvPr/>
            </p:nvSpPr>
            <p:spPr>
              <a:xfrm>
                <a:off x="2795987" y="1817003"/>
                <a:ext cx="49106" cy="266565"/>
              </a:xfrm>
              <a:custGeom>
                <a:avLst/>
                <a:gdLst/>
                <a:ahLst/>
                <a:cxnLst/>
                <a:rect l="l" t="t" r="r" b="b"/>
                <a:pathLst>
                  <a:path w="1382" h="7502" extrusionOk="0">
                    <a:moveTo>
                      <a:pt x="691" y="215"/>
                    </a:moveTo>
                    <a:cubicBezTo>
                      <a:pt x="953" y="215"/>
                      <a:pt x="1167" y="429"/>
                      <a:pt x="1167" y="691"/>
                    </a:cubicBezTo>
                    <a:lnTo>
                      <a:pt x="1167" y="7275"/>
                    </a:lnTo>
                    <a:lnTo>
                      <a:pt x="227" y="7275"/>
                    </a:lnTo>
                    <a:lnTo>
                      <a:pt x="227" y="691"/>
                    </a:lnTo>
                    <a:cubicBezTo>
                      <a:pt x="227" y="429"/>
                      <a:pt x="429" y="215"/>
                      <a:pt x="691" y="215"/>
                    </a:cubicBezTo>
                    <a:close/>
                    <a:moveTo>
                      <a:pt x="691" y="0"/>
                    </a:moveTo>
                    <a:cubicBezTo>
                      <a:pt x="310" y="0"/>
                      <a:pt x="0" y="310"/>
                      <a:pt x="0" y="691"/>
                    </a:cubicBezTo>
                    <a:lnTo>
                      <a:pt x="0" y="7501"/>
                    </a:lnTo>
                    <a:lnTo>
                      <a:pt x="1381" y="7501"/>
                    </a:lnTo>
                    <a:lnTo>
                      <a:pt x="1381" y="691"/>
                    </a:lnTo>
                    <a:cubicBezTo>
                      <a:pt x="1381" y="310"/>
                      <a:pt x="1072" y="0"/>
                      <a:pt x="691" y="0"/>
                    </a:cubicBezTo>
                    <a:close/>
                  </a:path>
                </a:pathLst>
              </a:custGeom>
              <a:solidFill>
                <a:srgbClr val="69E78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>
                  <a:buClr>
                    <a:srgbClr val="000000"/>
                  </a:buClr>
                  <a:buFont typeface="Arial"/>
                  <a:buNone/>
                </a:pPr>
                <a:endParaRPr sz="1400" kern="0">
                  <a:solidFill>
                    <a:srgbClr val="000000"/>
                  </a:solidFill>
                  <a:latin typeface="Oswald" panose="00000500000000000000" pitchFamily="2" charset="0"/>
                  <a:cs typeface="Arial"/>
                  <a:sym typeface="Arial"/>
                </a:endParaRPr>
              </a:p>
            </p:txBody>
          </p:sp>
          <p:sp>
            <p:nvSpPr>
              <p:cNvPr id="141" name="Google Shape;1222;p28">
                <a:extLst>
                  <a:ext uri="{FF2B5EF4-FFF2-40B4-BE49-F238E27FC236}">
                    <a16:creationId xmlns:a16="http://schemas.microsoft.com/office/drawing/2014/main" id="{9200000B-E4B9-924F-6E5B-529B0435D03F}"/>
                  </a:ext>
                </a:extLst>
              </p:cNvPr>
              <p:cNvSpPr/>
              <p:nvPr/>
            </p:nvSpPr>
            <p:spPr>
              <a:xfrm>
                <a:off x="2567937" y="1823755"/>
                <a:ext cx="83395" cy="8101"/>
              </a:xfrm>
              <a:custGeom>
                <a:avLst/>
                <a:gdLst/>
                <a:ahLst/>
                <a:cxnLst/>
                <a:rect l="l" t="t" r="r" b="b"/>
                <a:pathLst>
                  <a:path w="2347" h="228" extrusionOk="0">
                    <a:moveTo>
                      <a:pt x="108" y="1"/>
                    </a:moveTo>
                    <a:cubicBezTo>
                      <a:pt x="48" y="1"/>
                      <a:pt x="1" y="49"/>
                      <a:pt x="1" y="120"/>
                    </a:cubicBezTo>
                    <a:cubicBezTo>
                      <a:pt x="1" y="180"/>
                      <a:pt x="48" y="227"/>
                      <a:pt x="108" y="227"/>
                    </a:cubicBezTo>
                    <a:lnTo>
                      <a:pt x="2239" y="227"/>
                    </a:lnTo>
                    <a:cubicBezTo>
                      <a:pt x="2299" y="227"/>
                      <a:pt x="2346" y="180"/>
                      <a:pt x="2346" y="120"/>
                    </a:cubicBezTo>
                    <a:cubicBezTo>
                      <a:pt x="2346" y="49"/>
                      <a:pt x="2299" y="1"/>
                      <a:pt x="2239" y="1"/>
                    </a:cubicBezTo>
                    <a:close/>
                  </a:path>
                </a:pathLst>
              </a:custGeom>
              <a:solidFill>
                <a:srgbClr val="69E78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>
                  <a:buClr>
                    <a:srgbClr val="000000"/>
                  </a:buClr>
                  <a:buFont typeface="Arial"/>
                  <a:buNone/>
                </a:pPr>
                <a:endParaRPr sz="1400" kern="0">
                  <a:solidFill>
                    <a:srgbClr val="000000"/>
                  </a:solidFill>
                  <a:latin typeface="Oswald" panose="00000500000000000000" pitchFamily="2" charset="0"/>
                  <a:cs typeface="Arial"/>
                  <a:sym typeface="Arial"/>
                </a:endParaRPr>
              </a:p>
            </p:txBody>
          </p:sp>
          <p:sp>
            <p:nvSpPr>
              <p:cNvPr id="142" name="Google Shape;1223;p28">
                <a:extLst>
                  <a:ext uri="{FF2B5EF4-FFF2-40B4-BE49-F238E27FC236}">
                    <a16:creationId xmlns:a16="http://schemas.microsoft.com/office/drawing/2014/main" id="{7D7197D7-C5E4-2088-EAD5-E1C4F0FBFDC2}"/>
                  </a:ext>
                </a:extLst>
              </p:cNvPr>
              <p:cNvSpPr/>
              <p:nvPr/>
            </p:nvSpPr>
            <p:spPr>
              <a:xfrm>
                <a:off x="2990174" y="1823755"/>
                <a:ext cx="83359" cy="8101"/>
              </a:xfrm>
              <a:custGeom>
                <a:avLst/>
                <a:gdLst/>
                <a:ahLst/>
                <a:cxnLst/>
                <a:rect l="l" t="t" r="r" b="b"/>
                <a:pathLst>
                  <a:path w="2346" h="228" extrusionOk="0">
                    <a:moveTo>
                      <a:pt x="107" y="1"/>
                    </a:moveTo>
                    <a:cubicBezTo>
                      <a:pt x="48" y="1"/>
                      <a:pt x="0" y="49"/>
                      <a:pt x="0" y="120"/>
                    </a:cubicBezTo>
                    <a:cubicBezTo>
                      <a:pt x="0" y="180"/>
                      <a:pt x="48" y="227"/>
                      <a:pt x="107" y="227"/>
                    </a:cubicBezTo>
                    <a:lnTo>
                      <a:pt x="2239" y="227"/>
                    </a:lnTo>
                    <a:cubicBezTo>
                      <a:pt x="2298" y="227"/>
                      <a:pt x="2346" y="180"/>
                      <a:pt x="2346" y="120"/>
                    </a:cubicBezTo>
                    <a:cubicBezTo>
                      <a:pt x="2346" y="49"/>
                      <a:pt x="2298" y="1"/>
                      <a:pt x="2239" y="1"/>
                    </a:cubicBezTo>
                    <a:close/>
                  </a:path>
                </a:pathLst>
              </a:custGeom>
              <a:solidFill>
                <a:srgbClr val="69E78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>
                  <a:buClr>
                    <a:srgbClr val="000000"/>
                  </a:buClr>
                  <a:buFont typeface="Arial"/>
                  <a:buNone/>
                </a:pPr>
                <a:endParaRPr sz="1400" kern="0">
                  <a:solidFill>
                    <a:srgbClr val="000000"/>
                  </a:solidFill>
                  <a:latin typeface="Oswald" panose="00000500000000000000" pitchFamily="2" charset="0"/>
                  <a:cs typeface="Arial"/>
                  <a:sym typeface="Arial"/>
                </a:endParaRPr>
              </a:p>
            </p:txBody>
          </p:sp>
          <p:sp>
            <p:nvSpPr>
              <p:cNvPr id="143" name="Google Shape;1224;p28">
                <a:extLst>
                  <a:ext uri="{FF2B5EF4-FFF2-40B4-BE49-F238E27FC236}">
                    <a16:creationId xmlns:a16="http://schemas.microsoft.com/office/drawing/2014/main" id="{7E71D27C-512E-13AB-2139-9826548B5FC6}"/>
                  </a:ext>
                </a:extLst>
              </p:cNvPr>
              <p:cNvSpPr/>
              <p:nvPr/>
            </p:nvSpPr>
            <p:spPr>
              <a:xfrm>
                <a:off x="2640282" y="1946450"/>
                <a:ext cx="62253" cy="61400"/>
              </a:xfrm>
              <a:custGeom>
                <a:avLst/>
                <a:gdLst/>
                <a:ahLst/>
                <a:cxnLst/>
                <a:rect l="l" t="t" r="r" b="b"/>
                <a:pathLst>
                  <a:path w="1752" h="1728" extrusionOk="0">
                    <a:moveTo>
                      <a:pt x="1630" y="1"/>
                    </a:moveTo>
                    <a:cubicBezTo>
                      <a:pt x="1602" y="1"/>
                      <a:pt x="1572" y="13"/>
                      <a:pt x="1549" y="36"/>
                    </a:cubicBezTo>
                    <a:lnTo>
                      <a:pt x="48" y="1537"/>
                    </a:lnTo>
                    <a:cubicBezTo>
                      <a:pt x="1" y="1584"/>
                      <a:pt x="1" y="1656"/>
                      <a:pt x="48" y="1691"/>
                    </a:cubicBezTo>
                    <a:cubicBezTo>
                      <a:pt x="60" y="1715"/>
                      <a:pt x="96" y="1727"/>
                      <a:pt x="120" y="1727"/>
                    </a:cubicBezTo>
                    <a:cubicBezTo>
                      <a:pt x="156" y="1727"/>
                      <a:pt x="179" y="1715"/>
                      <a:pt x="203" y="1691"/>
                    </a:cubicBezTo>
                    <a:lnTo>
                      <a:pt x="1703" y="191"/>
                    </a:lnTo>
                    <a:cubicBezTo>
                      <a:pt x="1751" y="144"/>
                      <a:pt x="1751" y="72"/>
                      <a:pt x="1703" y="36"/>
                    </a:cubicBezTo>
                    <a:cubicBezTo>
                      <a:pt x="1686" y="13"/>
                      <a:pt x="1659" y="1"/>
                      <a:pt x="1630" y="1"/>
                    </a:cubicBezTo>
                    <a:close/>
                  </a:path>
                </a:pathLst>
              </a:custGeom>
              <a:solidFill>
                <a:srgbClr val="69E78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>
                  <a:buClr>
                    <a:srgbClr val="000000"/>
                  </a:buClr>
                  <a:buFont typeface="Arial"/>
                  <a:buNone/>
                </a:pPr>
                <a:endParaRPr sz="1400" kern="0">
                  <a:solidFill>
                    <a:srgbClr val="000000"/>
                  </a:solidFill>
                  <a:latin typeface="Oswald" panose="00000500000000000000" pitchFamily="2" charset="0"/>
                  <a:cs typeface="Arial"/>
                  <a:sym typeface="Arial"/>
                </a:endParaRPr>
              </a:p>
            </p:txBody>
          </p:sp>
          <p:sp>
            <p:nvSpPr>
              <p:cNvPr id="144" name="Google Shape;1225;p28">
                <a:extLst>
                  <a:ext uri="{FF2B5EF4-FFF2-40B4-BE49-F238E27FC236}">
                    <a16:creationId xmlns:a16="http://schemas.microsoft.com/office/drawing/2014/main" id="{CCACFCA8-750E-1EE2-7EED-98DFF3B5A44A}"/>
                  </a:ext>
                </a:extLst>
              </p:cNvPr>
              <p:cNvSpPr/>
              <p:nvPr/>
            </p:nvSpPr>
            <p:spPr>
              <a:xfrm>
                <a:off x="2938971" y="1647760"/>
                <a:ext cx="62217" cy="61400"/>
              </a:xfrm>
              <a:custGeom>
                <a:avLst/>
                <a:gdLst/>
                <a:ahLst/>
                <a:cxnLst/>
                <a:rect l="l" t="t" r="r" b="b"/>
                <a:pathLst>
                  <a:path w="1751" h="1728" extrusionOk="0">
                    <a:moveTo>
                      <a:pt x="1626" y="1"/>
                    </a:moveTo>
                    <a:cubicBezTo>
                      <a:pt x="1599" y="1"/>
                      <a:pt x="1572" y="13"/>
                      <a:pt x="1548" y="37"/>
                    </a:cubicBezTo>
                    <a:lnTo>
                      <a:pt x="48" y="1537"/>
                    </a:lnTo>
                    <a:cubicBezTo>
                      <a:pt x="1" y="1584"/>
                      <a:pt x="1" y="1656"/>
                      <a:pt x="48" y="1692"/>
                    </a:cubicBezTo>
                    <a:cubicBezTo>
                      <a:pt x="60" y="1715"/>
                      <a:pt x="96" y="1727"/>
                      <a:pt x="120" y="1727"/>
                    </a:cubicBezTo>
                    <a:cubicBezTo>
                      <a:pt x="144" y="1727"/>
                      <a:pt x="179" y="1715"/>
                      <a:pt x="191" y="1692"/>
                    </a:cubicBezTo>
                    <a:lnTo>
                      <a:pt x="1703" y="191"/>
                    </a:lnTo>
                    <a:cubicBezTo>
                      <a:pt x="1751" y="144"/>
                      <a:pt x="1751" y="72"/>
                      <a:pt x="1703" y="37"/>
                    </a:cubicBezTo>
                    <a:cubicBezTo>
                      <a:pt x="1679" y="13"/>
                      <a:pt x="1653" y="1"/>
                      <a:pt x="1626" y="1"/>
                    </a:cubicBezTo>
                    <a:close/>
                  </a:path>
                </a:pathLst>
              </a:custGeom>
              <a:solidFill>
                <a:srgbClr val="69E78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>
                  <a:buClr>
                    <a:srgbClr val="000000"/>
                  </a:buClr>
                  <a:buFont typeface="Arial"/>
                  <a:buNone/>
                </a:pPr>
                <a:endParaRPr sz="1400" kern="0">
                  <a:solidFill>
                    <a:srgbClr val="000000"/>
                  </a:solidFill>
                  <a:latin typeface="Oswald" panose="00000500000000000000" pitchFamily="2" charset="0"/>
                  <a:cs typeface="Arial"/>
                  <a:sym typeface="Arial"/>
                </a:endParaRPr>
              </a:p>
            </p:txBody>
          </p:sp>
          <p:sp>
            <p:nvSpPr>
              <p:cNvPr id="145" name="Google Shape;1226;p28">
                <a:extLst>
                  <a:ext uri="{FF2B5EF4-FFF2-40B4-BE49-F238E27FC236}">
                    <a16:creationId xmlns:a16="http://schemas.microsoft.com/office/drawing/2014/main" id="{627D19A3-483B-7204-2CC8-08740FAB504A}"/>
                  </a:ext>
                </a:extLst>
              </p:cNvPr>
              <p:cNvSpPr/>
              <p:nvPr/>
            </p:nvSpPr>
            <p:spPr>
              <a:xfrm>
                <a:off x="2816703" y="1575025"/>
                <a:ext cx="8066" cy="83359"/>
              </a:xfrm>
              <a:custGeom>
                <a:avLst/>
                <a:gdLst/>
                <a:ahLst/>
                <a:cxnLst/>
                <a:rect l="l" t="t" r="r" b="b"/>
                <a:pathLst>
                  <a:path w="227" h="2346" extrusionOk="0">
                    <a:moveTo>
                      <a:pt x="108" y="0"/>
                    </a:moveTo>
                    <a:cubicBezTo>
                      <a:pt x="48" y="0"/>
                      <a:pt x="1" y="48"/>
                      <a:pt x="1" y="107"/>
                    </a:cubicBezTo>
                    <a:lnTo>
                      <a:pt x="1" y="2238"/>
                    </a:lnTo>
                    <a:cubicBezTo>
                      <a:pt x="1" y="2298"/>
                      <a:pt x="48" y="2346"/>
                      <a:pt x="108" y="2346"/>
                    </a:cubicBezTo>
                    <a:cubicBezTo>
                      <a:pt x="167" y="2346"/>
                      <a:pt x="227" y="2298"/>
                      <a:pt x="227" y="2238"/>
                    </a:cubicBezTo>
                    <a:lnTo>
                      <a:pt x="227" y="107"/>
                    </a:lnTo>
                    <a:cubicBezTo>
                      <a:pt x="227" y="48"/>
                      <a:pt x="167" y="0"/>
                      <a:pt x="108" y="0"/>
                    </a:cubicBezTo>
                    <a:close/>
                  </a:path>
                </a:pathLst>
              </a:custGeom>
              <a:solidFill>
                <a:srgbClr val="69E78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>
                  <a:buClr>
                    <a:srgbClr val="000000"/>
                  </a:buClr>
                  <a:buFont typeface="Arial"/>
                  <a:buNone/>
                </a:pPr>
                <a:endParaRPr sz="1400" kern="0">
                  <a:solidFill>
                    <a:srgbClr val="000000"/>
                  </a:solidFill>
                  <a:latin typeface="Oswald" panose="00000500000000000000" pitchFamily="2" charset="0"/>
                  <a:cs typeface="Arial"/>
                  <a:sym typeface="Arial"/>
                </a:endParaRPr>
              </a:p>
            </p:txBody>
          </p:sp>
          <p:sp>
            <p:nvSpPr>
              <p:cNvPr id="146" name="Google Shape;1227;p28">
                <a:extLst>
                  <a:ext uri="{FF2B5EF4-FFF2-40B4-BE49-F238E27FC236}">
                    <a16:creationId xmlns:a16="http://schemas.microsoft.com/office/drawing/2014/main" id="{C8E199C7-CC9F-96A4-F32B-3E93AFB4DC78}"/>
                  </a:ext>
                </a:extLst>
              </p:cNvPr>
              <p:cNvSpPr/>
              <p:nvPr/>
            </p:nvSpPr>
            <p:spPr>
              <a:xfrm>
                <a:off x="2938971" y="1946450"/>
                <a:ext cx="62217" cy="61400"/>
              </a:xfrm>
              <a:custGeom>
                <a:avLst/>
                <a:gdLst/>
                <a:ahLst/>
                <a:cxnLst/>
                <a:rect l="l" t="t" r="r" b="b"/>
                <a:pathLst>
                  <a:path w="1751" h="1728" extrusionOk="0">
                    <a:moveTo>
                      <a:pt x="120" y="1"/>
                    </a:moveTo>
                    <a:cubicBezTo>
                      <a:pt x="93" y="1"/>
                      <a:pt x="66" y="13"/>
                      <a:pt x="48" y="36"/>
                    </a:cubicBezTo>
                    <a:cubicBezTo>
                      <a:pt x="1" y="72"/>
                      <a:pt x="1" y="144"/>
                      <a:pt x="48" y="191"/>
                    </a:cubicBezTo>
                    <a:lnTo>
                      <a:pt x="1548" y="1691"/>
                    </a:lnTo>
                    <a:cubicBezTo>
                      <a:pt x="1572" y="1715"/>
                      <a:pt x="1596" y="1727"/>
                      <a:pt x="1632" y="1727"/>
                    </a:cubicBezTo>
                    <a:cubicBezTo>
                      <a:pt x="1656" y="1727"/>
                      <a:pt x="1679" y="1715"/>
                      <a:pt x="1703" y="1691"/>
                    </a:cubicBezTo>
                    <a:cubicBezTo>
                      <a:pt x="1751" y="1656"/>
                      <a:pt x="1751" y="1584"/>
                      <a:pt x="1703" y="1537"/>
                    </a:cubicBezTo>
                    <a:lnTo>
                      <a:pt x="191" y="36"/>
                    </a:lnTo>
                    <a:cubicBezTo>
                      <a:pt x="173" y="13"/>
                      <a:pt x="146" y="1"/>
                      <a:pt x="120" y="1"/>
                    </a:cubicBezTo>
                    <a:close/>
                  </a:path>
                </a:pathLst>
              </a:custGeom>
              <a:solidFill>
                <a:srgbClr val="69E78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>
                  <a:buClr>
                    <a:srgbClr val="000000"/>
                  </a:buClr>
                  <a:buFont typeface="Arial"/>
                  <a:buNone/>
                </a:pPr>
                <a:endParaRPr sz="1400" kern="0">
                  <a:solidFill>
                    <a:srgbClr val="000000"/>
                  </a:solidFill>
                  <a:latin typeface="Oswald" panose="00000500000000000000" pitchFamily="2" charset="0"/>
                  <a:cs typeface="Arial"/>
                  <a:sym typeface="Arial"/>
                </a:endParaRPr>
              </a:p>
            </p:txBody>
          </p:sp>
          <p:sp>
            <p:nvSpPr>
              <p:cNvPr id="147" name="Google Shape;1228;p28">
                <a:extLst>
                  <a:ext uri="{FF2B5EF4-FFF2-40B4-BE49-F238E27FC236}">
                    <a16:creationId xmlns:a16="http://schemas.microsoft.com/office/drawing/2014/main" id="{88440CCA-21CA-49C3-EFFD-ECE450B2E7B7}"/>
                  </a:ext>
                </a:extLst>
              </p:cNvPr>
              <p:cNvSpPr/>
              <p:nvPr/>
            </p:nvSpPr>
            <p:spPr>
              <a:xfrm>
                <a:off x="2640282" y="1647760"/>
                <a:ext cx="62253" cy="61400"/>
              </a:xfrm>
              <a:custGeom>
                <a:avLst/>
                <a:gdLst/>
                <a:ahLst/>
                <a:cxnLst/>
                <a:rect l="l" t="t" r="r" b="b"/>
                <a:pathLst>
                  <a:path w="1752" h="1728" extrusionOk="0">
                    <a:moveTo>
                      <a:pt x="121" y="1"/>
                    </a:moveTo>
                    <a:cubicBezTo>
                      <a:pt x="93" y="1"/>
                      <a:pt x="66" y="13"/>
                      <a:pt x="48" y="37"/>
                    </a:cubicBezTo>
                    <a:cubicBezTo>
                      <a:pt x="1" y="72"/>
                      <a:pt x="1" y="144"/>
                      <a:pt x="48" y="191"/>
                    </a:cubicBezTo>
                    <a:lnTo>
                      <a:pt x="1549" y="1692"/>
                    </a:lnTo>
                    <a:cubicBezTo>
                      <a:pt x="1572" y="1715"/>
                      <a:pt x="1596" y="1727"/>
                      <a:pt x="1632" y="1727"/>
                    </a:cubicBezTo>
                    <a:cubicBezTo>
                      <a:pt x="1656" y="1727"/>
                      <a:pt x="1680" y="1715"/>
                      <a:pt x="1703" y="1692"/>
                    </a:cubicBezTo>
                    <a:cubicBezTo>
                      <a:pt x="1751" y="1656"/>
                      <a:pt x="1751" y="1584"/>
                      <a:pt x="1703" y="1537"/>
                    </a:cubicBezTo>
                    <a:lnTo>
                      <a:pt x="203" y="37"/>
                    </a:lnTo>
                    <a:cubicBezTo>
                      <a:pt x="179" y="13"/>
                      <a:pt x="150" y="1"/>
                      <a:pt x="121" y="1"/>
                    </a:cubicBezTo>
                    <a:close/>
                  </a:path>
                </a:pathLst>
              </a:custGeom>
              <a:solidFill>
                <a:srgbClr val="69E78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>
                  <a:buClr>
                    <a:srgbClr val="000000"/>
                  </a:buClr>
                  <a:buFont typeface="Arial"/>
                  <a:buNone/>
                </a:pPr>
                <a:endParaRPr sz="1400" kern="0">
                  <a:solidFill>
                    <a:srgbClr val="000000"/>
                  </a:solidFill>
                  <a:latin typeface="Oswald" panose="00000500000000000000" pitchFamily="2" charset="0"/>
                  <a:cs typeface="Arial"/>
                  <a:sym typeface="Arial"/>
                </a:endParaRPr>
              </a:p>
            </p:txBody>
          </p:sp>
          <p:sp>
            <p:nvSpPr>
              <p:cNvPr id="148" name="Google Shape;1229;p28">
                <a:extLst>
                  <a:ext uri="{FF2B5EF4-FFF2-40B4-BE49-F238E27FC236}">
                    <a16:creationId xmlns:a16="http://schemas.microsoft.com/office/drawing/2014/main" id="{21C9B174-FE83-DFD6-0D00-6A4E1AD103AD}"/>
                  </a:ext>
                </a:extLst>
              </p:cNvPr>
              <p:cNvSpPr/>
              <p:nvPr/>
            </p:nvSpPr>
            <p:spPr>
              <a:xfrm>
                <a:off x="2853515" y="1726217"/>
                <a:ext cx="84638" cy="109440"/>
              </a:xfrm>
              <a:custGeom>
                <a:avLst/>
                <a:gdLst/>
                <a:ahLst/>
                <a:cxnLst/>
                <a:rect l="l" t="t" r="r" b="b"/>
                <a:pathLst>
                  <a:path w="2382" h="3080" extrusionOk="0">
                    <a:moveTo>
                      <a:pt x="118" y="0"/>
                    </a:moveTo>
                    <a:cubicBezTo>
                      <a:pt x="72" y="0"/>
                      <a:pt x="31" y="32"/>
                      <a:pt x="12" y="79"/>
                    </a:cubicBezTo>
                    <a:cubicBezTo>
                      <a:pt x="1" y="138"/>
                      <a:pt x="36" y="198"/>
                      <a:pt x="96" y="210"/>
                    </a:cubicBezTo>
                    <a:cubicBezTo>
                      <a:pt x="108" y="222"/>
                      <a:pt x="1894" y="734"/>
                      <a:pt x="2156" y="2984"/>
                    </a:cubicBezTo>
                    <a:cubicBezTo>
                      <a:pt x="2156" y="3032"/>
                      <a:pt x="2203" y="3079"/>
                      <a:pt x="2263" y="3079"/>
                    </a:cubicBezTo>
                    <a:lnTo>
                      <a:pt x="2275" y="3079"/>
                    </a:lnTo>
                    <a:cubicBezTo>
                      <a:pt x="2334" y="3067"/>
                      <a:pt x="2382" y="3020"/>
                      <a:pt x="2370" y="2960"/>
                    </a:cubicBezTo>
                    <a:cubicBezTo>
                      <a:pt x="2096" y="567"/>
                      <a:pt x="167" y="8"/>
                      <a:pt x="155" y="8"/>
                    </a:cubicBezTo>
                    <a:cubicBezTo>
                      <a:pt x="143" y="2"/>
                      <a:pt x="130" y="0"/>
                      <a:pt x="118" y="0"/>
                    </a:cubicBezTo>
                    <a:close/>
                  </a:path>
                </a:pathLst>
              </a:custGeom>
              <a:solidFill>
                <a:srgbClr val="69E78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>
                  <a:buClr>
                    <a:srgbClr val="000000"/>
                  </a:buClr>
                  <a:buFont typeface="Arial"/>
                  <a:buNone/>
                </a:pPr>
                <a:endParaRPr sz="1400" kern="0">
                  <a:solidFill>
                    <a:srgbClr val="000000"/>
                  </a:solidFill>
                  <a:latin typeface="Oswald" panose="00000500000000000000" pitchFamily="2" charset="0"/>
                  <a:cs typeface="Arial"/>
                  <a:sym typeface="Arial"/>
                </a:endParaRPr>
              </a:p>
            </p:txBody>
          </p:sp>
        </p:grpSp>
        <p:sp>
          <p:nvSpPr>
            <p:cNvPr id="132" name="Google Shape;1230;p28">
              <a:extLst>
                <a:ext uri="{FF2B5EF4-FFF2-40B4-BE49-F238E27FC236}">
                  <a16:creationId xmlns:a16="http://schemas.microsoft.com/office/drawing/2014/main" id="{4AB608ED-C160-6606-695C-CA0D0225554A}"/>
                </a:ext>
              </a:extLst>
            </p:cNvPr>
            <p:cNvSpPr/>
            <p:nvPr/>
          </p:nvSpPr>
          <p:spPr>
            <a:xfrm>
              <a:off x="2174908" y="2732081"/>
              <a:ext cx="1291642" cy="440034"/>
            </a:xfrm>
            <a:custGeom>
              <a:avLst/>
              <a:gdLst/>
              <a:ahLst/>
              <a:cxnLst/>
              <a:rect l="l" t="t" r="r" b="b"/>
              <a:pathLst>
                <a:path w="36351" h="12384" extrusionOk="0">
                  <a:moveTo>
                    <a:pt x="1" y="1"/>
                  </a:moveTo>
                  <a:lnTo>
                    <a:pt x="1" y="1358"/>
                  </a:lnTo>
                  <a:cubicBezTo>
                    <a:pt x="2430" y="1644"/>
                    <a:pt x="4311" y="3692"/>
                    <a:pt x="4311" y="6192"/>
                  </a:cubicBezTo>
                  <a:cubicBezTo>
                    <a:pt x="4311" y="8692"/>
                    <a:pt x="2430" y="10752"/>
                    <a:pt x="1" y="11038"/>
                  </a:cubicBezTo>
                  <a:lnTo>
                    <a:pt x="1" y="12383"/>
                  </a:lnTo>
                  <a:lnTo>
                    <a:pt x="32041" y="12383"/>
                  </a:lnTo>
                  <a:lnTo>
                    <a:pt x="32041" y="10502"/>
                  </a:lnTo>
                  <a:cubicBezTo>
                    <a:pt x="34422" y="10502"/>
                    <a:pt x="36351" y="8573"/>
                    <a:pt x="36351" y="6192"/>
                  </a:cubicBezTo>
                  <a:cubicBezTo>
                    <a:pt x="36351" y="3823"/>
                    <a:pt x="34422" y="1894"/>
                    <a:pt x="32041" y="1894"/>
                  </a:cubicBezTo>
                  <a:lnTo>
                    <a:pt x="32041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algn="ctr">
                <a:buClr>
                  <a:srgbClr val="000000"/>
                </a:buClr>
                <a:buFont typeface="Arial"/>
                <a:buNone/>
              </a:pPr>
              <a:r>
                <a:rPr lang="en" sz="1400" kern="0">
                  <a:solidFill>
                    <a:srgbClr val="FFFFFF"/>
                  </a:solidFill>
                  <a:latin typeface="Oswald" panose="00000500000000000000" pitchFamily="2" charset="0"/>
                  <a:ea typeface="Fira Sans Extra Condensed Medium"/>
                  <a:cs typeface="Fira Sans Extra Condensed Medium"/>
                  <a:sym typeface="Fira Sans Extra Condensed Medium"/>
                </a:rPr>
                <a:t>Phase 2</a:t>
              </a:r>
              <a:endParaRPr sz="1400" kern="0">
                <a:solidFill>
                  <a:srgbClr val="FFFFFF"/>
                </a:solidFill>
                <a:latin typeface="Oswald" panose="00000500000000000000" pitchFamily="2" charset="0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133" name="Google Shape;1231;p28">
              <a:extLst>
                <a:ext uri="{FF2B5EF4-FFF2-40B4-BE49-F238E27FC236}">
                  <a16:creationId xmlns:a16="http://schemas.microsoft.com/office/drawing/2014/main" id="{AD13FD47-7823-BC40-DE88-960FC0E94AAA}"/>
                </a:ext>
              </a:extLst>
            </p:cNvPr>
            <p:cNvSpPr/>
            <p:nvPr/>
          </p:nvSpPr>
          <p:spPr>
            <a:xfrm>
              <a:off x="2785398" y="2235403"/>
              <a:ext cx="63070" cy="63070"/>
            </a:xfrm>
            <a:custGeom>
              <a:avLst/>
              <a:gdLst/>
              <a:ahLst/>
              <a:cxnLst/>
              <a:rect l="l" t="t" r="r" b="b"/>
              <a:pathLst>
                <a:path w="1775" h="1775" extrusionOk="0">
                  <a:moveTo>
                    <a:pt x="882" y="1"/>
                  </a:moveTo>
                  <a:cubicBezTo>
                    <a:pt x="394" y="1"/>
                    <a:pt x="1" y="394"/>
                    <a:pt x="1" y="882"/>
                  </a:cubicBezTo>
                  <a:cubicBezTo>
                    <a:pt x="1" y="1382"/>
                    <a:pt x="394" y="1775"/>
                    <a:pt x="882" y="1775"/>
                  </a:cubicBezTo>
                  <a:cubicBezTo>
                    <a:pt x="1370" y="1775"/>
                    <a:pt x="1775" y="1382"/>
                    <a:pt x="1775" y="882"/>
                  </a:cubicBezTo>
                  <a:cubicBezTo>
                    <a:pt x="1775" y="394"/>
                    <a:pt x="1370" y="1"/>
                    <a:pt x="882" y="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>
                <a:buClr>
                  <a:srgbClr val="000000"/>
                </a:buClr>
                <a:buFont typeface="Arial"/>
                <a:buNone/>
              </a:pPr>
              <a:endParaRPr sz="1400" kern="0">
                <a:solidFill>
                  <a:srgbClr val="000000"/>
                </a:solidFill>
                <a:latin typeface="Oswald" panose="00000500000000000000" pitchFamily="2" charset="0"/>
                <a:cs typeface="Arial"/>
                <a:sym typeface="Arial"/>
              </a:endParaRPr>
            </a:p>
          </p:txBody>
        </p:sp>
        <p:sp>
          <p:nvSpPr>
            <p:cNvPr id="134" name="Google Shape;1232;p28">
              <a:extLst>
                <a:ext uri="{FF2B5EF4-FFF2-40B4-BE49-F238E27FC236}">
                  <a16:creationId xmlns:a16="http://schemas.microsoft.com/office/drawing/2014/main" id="{5BD2F1ED-D2A5-47E5-5938-0F18D7DB09E3}"/>
                </a:ext>
              </a:extLst>
            </p:cNvPr>
            <p:cNvSpPr txBox="1"/>
            <p:nvPr/>
          </p:nvSpPr>
          <p:spPr>
            <a:xfrm>
              <a:off x="2279253" y="1072023"/>
              <a:ext cx="1167300" cy="534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algn="ctr">
                <a:buClr>
                  <a:srgbClr val="000000"/>
                </a:buClr>
                <a:buFont typeface="Arial"/>
                <a:buNone/>
              </a:pPr>
              <a:r>
                <a:rPr lang="en" sz="1500" kern="0">
                  <a:solidFill>
                    <a:srgbClr val="434343"/>
                  </a:solidFill>
                  <a:latin typeface="Oswald" panose="00000500000000000000" pitchFamily="2" charset="0"/>
                  <a:ea typeface="Roboto"/>
                  <a:cs typeface="Roboto"/>
                  <a:sym typeface="Roboto"/>
                </a:rPr>
                <a:t>Interview Schudiling</a:t>
              </a:r>
              <a:endParaRPr sz="1500" kern="0">
                <a:solidFill>
                  <a:srgbClr val="434343"/>
                </a:solidFill>
                <a:latin typeface="Oswald" panose="00000500000000000000" pitchFamily="2" charset="0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49" name="Google Shape;1233;p28">
            <a:extLst>
              <a:ext uri="{FF2B5EF4-FFF2-40B4-BE49-F238E27FC236}">
                <a16:creationId xmlns:a16="http://schemas.microsoft.com/office/drawing/2014/main" id="{55E5F40E-773D-4BD2-0836-63033FADC633}"/>
              </a:ext>
            </a:extLst>
          </p:cNvPr>
          <p:cNvGrpSpPr/>
          <p:nvPr/>
        </p:nvGrpSpPr>
        <p:grpSpPr>
          <a:xfrm>
            <a:off x="2971499" y="1020364"/>
            <a:ext cx="1291216" cy="2050795"/>
            <a:chOff x="3342590" y="1121320"/>
            <a:chExt cx="1291216" cy="2050795"/>
          </a:xfrm>
        </p:grpSpPr>
        <p:sp>
          <p:nvSpPr>
            <p:cNvPr id="150" name="Google Shape;1234;p28">
              <a:extLst>
                <a:ext uri="{FF2B5EF4-FFF2-40B4-BE49-F238E27FC236}">
                  <a16:creationId xmlns:a16="http://schemas.microsoft.com/office/drawing/2014/main" id="{8F1AC92B-2F4B-82C4-CA4E-8B92DD6474BD}"/>
                </a:ext>
              </a:extLst>
            </p:cNvPr>
            <p:cNvSpPr/>
            <p:nvPr/>
          </p:nvSpPr>
          <p:spPr>
            <a:xfrm>
              <a:off x="3978451" y="2261200"/>
              <a:ext cx="11441" cy="704858"/>
            </a:xfrm>
            <a:custGeom>
              <a:avLst/>
              <a:gdLst/>
              <a:ahLst/>
              <a:cxnLst/>
              <a:rect l="l" t="t" r="r" b="b"/>
              <a:pathLst>
                <a:path w="322" h="19837" extrusionOk="0">
                  <a:moveTo>
                    <a:pt x="167" y="1"/>
                  </a:moveTo>
                  <a:cubicBezTo>
                    <a:pt x="72" y="1"/>
                    <a:pt x="0" y="72"/>
                    <a:pt x="0" y="156"/>
                  </a:cubicBezTo>
                  <a:lnTo>
                    <a:pt x="0" y="19682"/>
                  </a:lnTo>
                  <a:cubicBezTo>
                    <a:pt x="0" y="19765"/>
                    <a:pt x="72" y="19837"/>
                    <a:pt x="167" y="19837"/>
                  </a:cubicBezTo>
                  <a:cubicBezTo>
                    <a:pt x="250" y="19837"/>
                    <a:pt x="322" y="19765"/>
                    <a:pt x="322" y="19682"/>
                  </a:cubicBezTo>
                  <a:lnTo>
                    <a:pt x="322" y="156"/>
                  </a:lnTo>
                  <a:cubicBezTo>
                    <a:pt x="322" y="72"/>
                    <a:pt x="250" y="1"/>
                    <a:pt x="167" y="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>
                <a:buClr>
                  <a:srgbClr val="000000"/>
                </a:buClr>
                <a:buFont typeface="Arial"/>
                <a:buNone/>
              </a:pPr>
              <a:endParaRPr sz="1400" kern="0">
                <a:solidFill>
                  <a:srgbClr val="000000"/>
                </a:solidFill>
                <a:latin typeface="Oswald" panose="00000500000000000000" pitchFamily="2" charset="0"/>
                <a:cs typeface="Arial"/>
                <a:sym typeface="Arial"/>
              </a:endParaRPr>
            </a:p>
          </p:txBody>
        </p:sp>
        <p:grpSp>
          <p:nvGrpSpPr>
            <p:cNvPr id="151" name="Google Shape;1235;p28">
              <a:extLst>
                <a:ext uri="{FF2B5EF4-FFF2-40B4-BE49-F238E27FC236}">
                  <a16:creationId xmlns:a16="http://schemas.microsoft.com/office/drawing/2014/main" id="{50B345B6-E339-579D-C4FB-F7AF9129A03A}"/>
                </a:ext>
              </a:extLst>
            </p:cNvPr>
            <p:cNvGrpSpPr/>
            <p:nvPr/>
          </p:nvGrpSpPr>
          <p:grpSpPr>
            <a:xfrm>
              <a:off x="3826157" y="1650745"/>
              <a:ext cx="324092" cy="498805"/>
              <a:chOff x="3826157" y="1650745"/>
              <a:chExt cx="324092" cy="498805"/>
            </a:xfrm>
          </p:grpSpPr>
          <p:sp>
            <p:nvSpPr>
              <p:cNvPr id="155" name="Google Shape;1236;p28">
                <a:extLst>
                  <a:ext uri="{FF2B5EF4-FFF2-40B4-BE49-F238E27FC236}">
                    <a16:creationId xmlns:a16="http://schemas.microsoft.com/office/drawing/2014/main" id="{94E76AF2-1C26-5E85-CBCF-A75BCE3938D9}"/>
                  </a:ext>
                </a:extLst>
              </p:cNvPr>
              <p:cNvSpPr/>
              <p:nvPr/>
            </p:nvSpPr>
            <p:spPr>
              <a:xfrm>
                <a:off x="3850248" y="1674446"/>
                <a:ext cx="275874" cy="275839"/>
              </a:xfrm>
              <a:custGeom>
                <a:avLst/>
                <a:gdLst/>
                <a:ahLst/>
                <a:cxnLst/>
                <a:rect l="l" t="t" r="r" b="b"/>
                <a:pathLst>
                  <a:path w="7764" h="7763" extrusionOk="0">
                    <a:moveTo>
                      <a:pt x="3882" y="226"/>
                    </a:moveTo>
                    <a:cubicBezTo>
                      <a:pt x="5906" y="226"/>
                      <a:pt x="7549" y="1869"/>
                      <a:pt x="7549" y="3881"/>
                    </a:cubicBezTo>
                    <a:cubicBezTo>
                      <a:pt x="7549" y="5906"/>
                      <a:pt x="5906" y="7549"/>
                      <a:pt x="3882" y="7549"/>
                    </a:cubicBezTo>
                    <a:cubicBezTo>
                      <a:pt x="1858" y="7549"/>
                      <a:pt x="215" y="5906"/>
                      <a:pt x="215" y="3881"/>
                    </a:cubicBezTo>
                    <a:cubicBezTo>
                      <a:pt x="215" y="1869"/>
                      <a:pt x="1858" y="226"/>
                      <a:pt x="3882" y="226"/>
                    </a:cubicBezTo>
                    <a:close/>
                    <a:moveTo>
                      <a:pt x="3882" y="0"/>
                    </a:moveTo>
                    <a:cubicBezTo>
                      <a:pt x="1739" y="0"/>
                      <a:pt x="1" y="1750"/>
                      <a:pt x="1" y="3881"/>
                    </a:cubicBezTo>
                    <a:cubicBezTo>
                      <a:pt x="1" y="6025"/>
                      <a:pt x="1739" y="7763"/>
                      <a:pt x="3882" y="7763"/>
                    </a:cubicBezTo>
                    <a:cubicBezTo>
                      <a:pt x="6025" y="7763"/>
                      <a:pt x="7764" y="6025"/>
                      <a:pt x="7764" y="3881"/>
                    </a:cubicBezTo>
                    <a:cubicBezTo>
                      <a:pt x="7764" y="1750"/>
                      <a:pt x="6025" y="0"/>
                      <a:pt x="3882" y="0"/>
                    </a:cubicBezTo>
                    <a:close/>
                  </a:path>
                </a:pathLst>
              </a:custGeom>
              <a:solidFill>
                <a:srgbClr val="869FB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>
                  <a:buClr>
                    <a:srgbClr val="000000"/>
                  </a:buClr>
                  <a:buFont typeface="Arial"/>
                  <a:buNone/>
                </a:pPr>
                <a:endParaRPr sz="1400" kern="0">
                  <a:solidFill>
                    <a:srgbClr val="000000"/>
                  </a:solidFill>
                  <a:latin typeface="Oswald" panose="00000500000000000000" pitchFamily="2" charset="0"/>
                  <a:cs typeface="Arial"/>
                  <a:sym typeface="Arial"/>
                </a:endParaRPr>
              </a:p>
            </p:txBody>
          </p:sp>
          <p:sp>
            <p:nvSpPr>
              <p:cNvPr id="156" name="Google Shape;1237;p28">
                <a:extLst>
                  <a:ext uri="{FF2B5EF4-FFF2-40B4-BE49-F238E27FC236}">
                    <a16:creationId xmlns:a16="http://schemas.microsoft.com/office/drawing/2014/main" id="{D39CE082-70D2-ADAC-E2EA-6AB2F728304B}"/>
                  </a:ext>
                </a:extLst>
              </p:cNvPr>
              <p:cNvSpPr/>
              <p:nvPr/>
            </p:nvSpPr>
            <p:spPr>
              <a:xfrm>
                <a:off x="3826157" y="1650745"/>
                <a:ext cx="324092" cy="498805"/>
              </a:xfrm>
              <a:custGeom>
                <a:avLst/>
                <a:gdLst/>
                <a:ahLst/>
                <a:cxnLst/>
                <a:rect l="l" t="t" r="r" b="b"/>
                <a:pathLst>
                  <a:path w="9121" h="14038" extrusionOk="0">
                    <a:moveTo>
                      <a:pt x="4560" y="215"/>
                    </a:moveTo>
                    <a:cubicBezTo>
                      <a:pt x="6953" y="215"/>
                      <a:pt x="8894" y="2167"/>
                      <a:pt x="8894" y="4548"/>
                    </a:cubicBezTo>
                    <a:cubicBezTo>
                      <a:pt x="8894" y="6573"/>
                      <a:pt x="7501" y="8275"/>
                      <a:pt x="5620" y="8751"/>
                    </a:cubicBezTo>
                    <a:cubicBezTo>
                      <a:pt x="5548" y="8775"/>
                      <a:pt x="5477" y="8787"/>
                      <a:pt x="5405" y="8811"/>
                    </a:cubicBezTo>
                    <a:cubicBezTo>
                      <a:pt x="5132" y="8859"/>
                      <a:pt x="4846" y="8894"/>
                      <a:pt x="4560" y="8894"/>
                    </a:cubicBezTo>
                    <a:cubicBezTo>
                      <a:pt x="4274" y="8894"/>
                      <a:pt x="3989" y="8859"/>
                      <a:pt x="3715" y="8811"/>
                    </a:cubicBezTo>
                    <a:cubicBezTo>
                      <a:pt x="3643" y="8787"/>
                      <a:pt x="3572" y="8775"/>
                      <a:pt x="3489" y="8751"/>
                    </a:cubicBezTo>
                    <a:cubicBezTo>
                      <a:pt x="1619" y="8275"/>
                      <a:pt x="226" y="6573"/>
                      <a:pt x="226" y="4548"/>
                    </a:cubicBezTo>
                    <a:cubicBezTo>
                      <a:pt x="226" y="2167"/>
                      <a:pt x="2167" y="215"/>
                      <a:pt x="4560" y="215"/>
                    </a:cubicBezTo>
                    <a:close/>
                    <a:moveTo>
                      <a:pt x="5405" y="9025"/>
                    </a:moveTo>
                    <a:lnTo>
                      <a:pt x="5405" y="12978"/>
                    </a:lnTo>
                    <a:cubicBezTo>
                      <a:pt x="5405" y="13442"/>
                      <a:pt x="5024" y="13823"/>
                      <a:pt x="4560" y="13823"/>
                    </a:cubicBezTo>
                    <a:cubicBezTo>
                      <a:pt x="4096" y="13823"/>
                      <a:pt x="3715" y="13442"/>
                      <a:pt x="3715" y="12978"/>
                    </a:cubicBezTo>
                    <a:lnTo>
                      <a:pt x="3715" y="9025"/>
                    </a:lnTo>
                    <a:cubicBezTo>
                      <a:pt x="3989" y="9073"/>
                      <a:pt x="4274" y="9109"/>
                      <a:pt x="4560" y="9109"/>
                    </a:cubicBezTo>
                    <a:cubicBezTo>
                      <a:pt x="4846" y="9109"/>
                      <a:pt x="5132" y="9073"/>
                      <a:pt x="5405" y="9025"/>
                    </a:cubicBezTo>
                    <a:close/>
                    <a:moveTo>
                      <a:pt x="4560" y="0"/>
                    </a:moveTo>
                    <a:cubicBezTo>
                      <a:pt x="2048" y="0"/>
                      <a:pt x="0" y="2036"/>
                      <a:pt x="0" y="4548"/>
                    </a:cubicBezTo>
                    <a:cubicBezTo>
                      <a:pt x="0" y="6704"/>
                      <a:pt x="1500" y="8501"/>
                      <a:pt x="3489" y="8978"/>
                    </a:cubicBezTo>
                    <a:lnTo>
                      <a:pt x="3489" y="12978"/>
                    </a:lnTo>
                    <a:cubicBezTo>
                      <a:pt x="3489" y="13561"/>
                      <a:pt x="3977" y="14038"/>
                      <a:pt x="4560" y="14038"/>
                    </a:cubicBezTo>
                    <a:cubicBezTo>
                      <a:pt x="5144" y="14038"/>
                      <a:pt x="5620" y="13561"/>
                      <a:pt x="5620" y="12978"/>
                    </a:cubicBezTo>
                    <a:lnTo>
                      <a:pt x="5620" y="8978"/>
                    </a:lnTo>
                    <a:cubicBezTo>
                      <a:pt x="7620" y="8501"/>
                      <a:pt x="9120" y="6704"/>
                      <a:pt x="9120" y="4548"/>
                    </a:cubicBezTo>
                    <a:cubicBezTo>
                      <a:pt x="9120" y="2036"/>
                      <a:pt x="7072" y="0"/>
                      <a:pt x="4560" y="0"/>
                    </a:cubicBezTo>
                    <a:close/>
                  </a:path>
                </a:pathLst>
              </a:custGeom>
              <a:solidFill>
                <a:srgbClr val="869FB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>
                  <a:buClr>
                    <a:srgbClr val="000000"/>
                  </a:buClr>
                  <a:buFont typeface="Arial"/>
                  <a:buNone/>
                </a:pPr>
                <a:endParaRPr sz="1400" kern="0">
                  <a:solidFill>
                    <a:srgbClr val="000000"/>
                  </a:solidFill>
                  <a:latin typeface="Oswald" panose="00000500000000000000" pitchFamily="2" charset="0"/>
                  <a:cs typeface="Arial"/>
                  <a:sym typeface="Arial"/>
                </a:endParaRPr>
              </a:p>
            </p:txBody>
          </p:sp>
          <p:sp>
            <p:nvSpPr>
              <p:cNvPr id="157" name="Google Shape;1238;p28">
                <a:extLst>
                  <a:ext uri="{FF2B5EF4-FFF2-40B4-BE49-F238E27FC236}">
                    <a16:creationId xmlns:a16="http://schemas.microsoft.com/office/drawing/2014/main" id="{217ECB6E-337E-2B64-3C8B-4709887FC5E5}"/>
                  </a:ext>
                </a:extLst>
              </p:cNvPr>
              <p:cNvSpPr/>
              <p:nvPr/>
            </p:nvSpPr>
            <p:spPr>
              <a:xfrm>
                <a:off x="4003821" y="1713781"/>
                <a:ext cx="104110" cy="183206"/>
              </a:xfrm>
              <a:custGeom>
                <a:avLst/>
                <a:gdLst/>
                <a:ahLst/>
                <a:cxnLst/>
                <a:rect l="l" t="t" r="r" b="b"/>
                <a:pathLst>
                  <a:path w="2930" h="5156" extrusionOk="0">
                    <a:moveTo>
                      <a:pt x="108" y="0"/>
                    </a:moveTo>
                    <a:cubicBezTo>
                      <a:pt x="48" y="0"/>
                      <a:pt x="1" y="48"/>
                      <a:pt x="1" y="107"/>
                    </a:cubicBezTo>
                    <a:cubicBezTo>
                      <a:pt x="1" y="167"/>
                      <a:pt x="48" y="215"/>
                      <a:pt x="108" y="215"/>
                    </a:cubicBezTo>
                    <a:cubicBezTo>
                      <a:pt x="822" y="215"/>
                      <a:pt x="1989" y="834"/>
                      <a:pt x="2299" y="2001"/>
                    </a:cubicBezTo>
                    <a:cubicBezTo>
                      <a:pt x="2691" y="3501"/>
                      <a:pt x="1977" y="4572"/>
                      <a:pt x="1489" y="4965"/>
                    </a:cubicBezTo>
                    <a:cubicBezTo>
                      <a:pt x="1441" y="5001"/>
                      <a:pt x="1441" y="5072"/>
                      <a:pt x="1477" y="5120"/>
                    </a:cubicBezTo>
                    <a:cubicBezTo>
                      <a:pt x="1501" y="5144"/>
                      <a:pt x="1525" y="5156"/>
                      <a:pt x="1560" y="5156"/>
                    </a:cubicBezTo>
                    <a:cubicBezTo>
                      <a:pt x="1584" y="5156"/>
                      <a:pt x="1608" y="5156"/>
                      <a:pt x="1632" y="5132"/>
                    </a:cubicBezTo>
                    <a:cubicBezTo>
                      <a:pt x="2156" y="4703"/>
                      <a:pt x="2930" y="3548"/>
                      <a:pt x="2501" y="1953"/>
                    </a:cubicBezTo>
                    <a:cubicBezTo>
                      <a:pt x="2168" y="679"/>
                      <a:pt x="894" y="0"/>
                      <a:pt x="108" y="0"/>
                    </a:cubicBezTo>
                    <a:close/>
                  </a:path>
                </a:pathLst>
              </a:custGeom>
              <a:solidFill>
                <a:srgbClr val="869FB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>
                  <a:buClr>
                    <a:srgbClr val="000000"/>
                  </a:buClr>
                  <a:buFont typeface="Arial"/>
                  <a:buNone/>
                </a:pPr>
                <a:endParaRPr sz="1400" kern="0">
                  <a:solidFill>
                    <a:srgbClr val="000000"/>
                  </a:solidFill>
                  <a:latin typeface="Oswald" panose="00000500000000000000" pitchFamily="2" charset="0"/>
                  <a:cs typeface="Arial"/>
                  <a:sym typeface="Arial"/>
                </a:endParaRPr>
              </a:p>
            </p:txBody>
          </p:sp>
        </p:grpSp>
        <p:sp>
          <p:nvSpPr>
            <p:cNvPr id="152" name="Google Shape;1239;p28">
              <a:extLst>
                <a:ext uri="{FF2B5EF4-FFF2-40B4-BE49-F238E27FC236}">
                  <a16:creationId xmlns:a16="http://schemas.microsoft.com/office/drawing/2014/main" id="{6858F742-6140-2ABB-A784-D0808C0F9C7C}"/>
                </a:ext>
              </a:extLst>
            </p:cNvPr>
            <p:cNvSpPr/>
            <p:nvPr/>
          </p:nvSpPr>
          <p:spPr>
            <a:xfrm>
              <a:off x="3342590" y="2732081"/>
              <a:ext cx="1291216" cy="440034"/>
            </a:xfrm>
            <a:custGeom>
              <a:avLst/>
              <a:gdLst/>
              <a:ahLst/>
              <a:cxnLst/>
              <a:rect l="l" t="t" r="r" b="b"/>
              <a:pathLst>
                <a:path w="36339" h="12384" extrusionOk="0">
                  <a:moveTo>
                    <a:pt x="0" y="1"/>
                  </a:moveTo>
                  <a:lnTo>
                    <a:pt x="0" y="1358"/>
                  </a:lnTo>
                  <a:cubicBezTo>
                    <a:pt x="2417" y="1644"/>
                    <a:pt x="4298" y="3692"/>
                    <a:pt x="4298" y="6192"/>
                  </a:cubicBezTo>
                  <a:cubicBezTo>
                    <a:pt x="4298" y="8692"/>
                    <a:pt x="2417" y="10752"/>
                    <a:pt x="0" y="11038"/>
                  </a:cubicBezTo>
                  <a:lnTo>
                    <a:pt x="0" y="12383"/>
                  </a:lnTo>
                  <a:lnTo>
                    <a:pt x="32040" y="12383"/>
                  </a:lnTo>
                  <a:lnTo>
                    <a:pt x="32040" y="10502"/>
                  </a:lnTo>
                  <a:cubicBezTo>
                    <a:pt x="34409" y="10502"/>
                    <a:pt x="36338" y="8573"/>
                    <a:pt x="36338" y="6192"/>
                  </a:cubicBezTo>
                  <a:cubicBezTo>
                    <a:pt x="36338" y="3823"/>
                    <a:pt x="34409" y="1894"/>
                    <a:pt x="32040" y="1894"/>
                  </a:cubicBezTo>
                  <a:lnTo>
                    <a:pt x="3204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algn="ctr">
                <a:buClr>
                  <a:srgbClr val="000000"/>
                </a:buClr>
                <a:buFont typeface="Arial"/>
                <a:buNone/>
              </a:pPr>
              <a:r>
                <a:rPr lang="en" sz="1400" kern="0">
                  <a:solidFill>
                    <a:srgbClr val="FFFFFF"/>
                  </a:solidFill>
                  <a:latin typeface="Oswald" panose="00000500000000000000" pitchFamily="2" charset="0"/>
                  <a:ea typeface="Fira Sans Extra Condensed Medium"/>
                  <a:cs typeface="Fira Sans Extra Condensed Medium"/>
                  <a:sym typeface="Fira Sans Extra Condensed Medium"/>
                </a:rPr>
                <a:t>Phase 3</a:t>
              </a:r>
              <a:endParaRPr sz="1400" kern="0">
                <a:solidFill>
                  <a:srgbClr val="FFFFFF"/>
                </a:solidFill>
                <a:latin typeface="Oswald" panose="00000500000000000000" pitchFamily="2" charset="0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153" name="Google Shape;1240;p28">
              <a:extLst>
                <a:ext uri="{FF2B5EF4-FFF2-40B4-BE49-F238E27FC236}">
                  <a16:creationId xmlns:a16="http://schemas.microsoft.com/office/drawing/2014/main" id="{AC727B32-DEC6-CAFC-C98E-C640EB1BEDF1}"/>
                </a:ext>
              </a:extLst>
            </p:cNvPr>
            <p:cNvSpPr/>
            <p:nvPr/>
          </p:nvSpPr>
          <p:spPr>
            <a:xfrm>
              <a:off x="3952654" y="2235403"/>
              <a:ext cx="63070" cy="63070"/>
            </a:xfrm>
            <a:custGeom>
              <a:avLst/>
              <a:gdLst/>
              <a:ahLst/>
              <a:cxnLst/>
              <a:rect l="l" t="t" r="r" b="b"/>
              <a:pathLst>
                <a:path w="1775" h="1775" extrusionOk="0">
                  <a:moveTo>
                    <a:pt x="893" y="1"/>
                  </a:moveTo>
                  <a:cubicBezTo>
                    <a:pt x="405" y="1"/>
                    <a:pt x="0" y="394"/>
                    <a:pt x="0" y="882"/>
                  </a:cubicBezTo>
                  <a:cubicBezTo>
                    <a:pt x="0" y="1382"/>
                    <a:pt x="405" y="1775"/>
                    <a:pt x="893" y="1775"/>
                  </a:cubicBezTo>
                  <a:cubicBezTo>
                    <a:pt x="1381" y="1775"/>
                    <a:pt x="1774" y="1382"/>
                    <a:pt x="1774" y="882"/>
                  </a:cubicBezTo>
                  <a:cubicBezTo>
                    <a:pt x="1774" y="394"/>
                    <a:pt x="1381" y="1"/>
                    <a:pt x="893" y="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>
                <a:buClr>
                  <a:srgbClr val="000000"/>
                </a:buClr>
                <a:buFont typeface="Arial"/>
                <a:buNone/>
              </a:pPr>
              <a:endParaRPr sz="1400" kern="0">
                <a:solidFill>
                  <a:srgbClr val="000000"/>
                </a:solidFill>
                <a:latin typeface="Oswald" panose="00000500000000000000" pitchFamily="2" charset="0"/>
                <a:cs typeface="Arial"/>
                <a:sym typeface="Arial"/>
              </a:endParaRPr>
            </a:p>
          </p:txBody>
        </p:sp>
        <p:sp>
          <p:nvSpPr>
            <p:cNvPr id="154" name="Google Shape;1241;p28">
              <a:extLst>
                <a:ext uri="{FF2B5EF4-FFF2-40B4-BE49-F238E27FC236}">
                  <a16:creationId xmlns:a16="http://schemas.microsoft.com/office/drawing/2014/main" id="{8C9FF1E5-BA6C-7EC9-3B4B-82F9227D0145}"/>
                </a:ext>
              </a:extLst>
            </p:cNvPr>
            <p:cNvSpPr txBox="1"/>
            <p:nvPr/>
          </p:nvSpPr>
          <p:spPr>
            <a:xfrm>
              <a:off x="3432074" y="1121320"/>
              <a:ext cx="1167300" cy="534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algn="ctr">
                <a:buClr>
                  <a:srgbClr val="000000"/>
                </a:buClr>
                <a:buFont typeface="Arial"/>
                <a:buNone/>
              </a:pPr>
              <a:r>
                <a:rPr lang="en" sz="1500" kern="0">
                  <a:solidFill>
                    <a:srgbClr val="434343"/>
                  </a:solidFill>
                  <a:latin typeface="Oswald" panose="00000500000000000000" pitchFamily="2" charset="0"/>
                  <a:ea typeface="Roboto"/>
                  <a:cs typeface="Roboto"/>
                  <a:sym typeface="Roboto"/>
                </a:rPr>
                <a:t>Candidate</a:t>
              </a:r>
            </a:p>
            <a:p>
              <a:pPr algn="ctr">
                <a:buClr>
                  <a:srgbClr val="000000"/>
                </a:buClr>
                <a:buFont typeface="Arial"/>
                <a:buNone/>
              </a:pPr>
              <a:r>
                <a:rPr lang="en" sz="1500" kern="0">
                  <a:solidFill>
                    <a:srgbClr val="434343"/>
                  </a:solidFill>
                  <a:latin typeface="Oswald" panose="00000500000000000000" pitchFamily="2" charset="0"/>
                  <a:ea typeface="Roboto"/>
                  <a:cs typeface="Roboto"/>
                  <a:sym typeface="Roboto"/>
                </a:rPr>
                <a:t>Selection</a:t>
              </a:r>
              <a:endParaRPr sz="1500" kern="0">
                <a:solidFill>
                  <a:srgbClr val="434343"/>
                </a:solidFill>
                <a:latin typeface="Oswald" panose="00000500000000000000" pitchFamily="2" charset="0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58" name="Google Shape;1189;p28">
            <a:extLst>
              <a:ext uri="{FF2B5EF4-FFF2-40B4-BE49-F238E27FC236}">
                <a16:creationId xmlns:a16="http://schemas.microsoft.com/office/drawing/2014/main" id="{98C4F42F-6D82-A48E-86DF-33684BB9CEF1}"/>
              </a:ext>
            </a:extLst>
          </p:cNvPr>
          <p:cNvGrpSpPr/>
          <p:nvPr/>
        </p:nvGrpSpPr>
        <p:grpSpPr>
          <a:xfrm>
            <a:off x="7651891" y="1027822"/>
            <a:ext cx="1291500" cy="2049876"/>
            <a:chOff x="6844818" y="1122239"/>
            <a:chExt cx="1291500" cy="2049876"/>
          </a:xfrm>
        </p:grpSpPr>
        <p:sp>
          <p:nvSpPr>
            <p:cNvPr id="159" name="Google Shape;1190;p28">
              <a:extLst>
                <a:ext uri="{FF2B5EF4-FFF2-40B4-BE49-F238E27FC236}">
                  <a16:creationId xmlns:a16="http://schemas.microsoft.com/office/drawing/2014/main" id="{9B2F1AB9-EDE3-0C72-8135-DD5F1D0B71A3}"/>
                </a:ext>
              </a:extLst>
            </p:cNvPr>
            <p:cNvSpPr/>
            <p:nvPr/>
          </p:nvSpPr>
          <p:spPr>
            <a:xfrm>
              <a:off x="7480999" y="2261200"/>
              <a:ext cx="11441" cy="704858"/>
            </a:xfrm>
            <a:custGeom>
              <a:avLst/>
              <a:gdLst/>
              <a:ahLst/>
              <a:cxnLst/>
              <a:rect l="l" t="t" r="r" b="b"/>
              <a:pathLst>
                <a:path w="322" h="19837" extrusionOk="0">
                  <a:moveTo>
                    <a:pt x="155" y="1"/>
                  </a:moveTo>
                  <a:cubicBezTo>
                    <a:pt x="72" y="1"/>
                    <a:pt x="0" y="72"/>
                    <a:pt x="0" y="156"/>
                  </a:cubicBezTo>
                  <a:lnTo>
                    <a:pt x="0" y="19682"/>
                  </a:lnTo>
                  <a:cubicBezTo>
                    <a:pt x="0" y="19765"/>
                    <a:pt x="72" y="19837"/>
                    <a:pt x="155" y="19837"/>
                  </a:cubicBezTo>
                  <a:cubicBezTo>
                    <a:pt x="250" y="19837"/>
                    <a:pt x="322" y="19765"/>
                    <a:pt x="322" y="19682"/>
                  </a:cubicBezTo>
                  <a:lnTo>
                    <a:pt x="322" y="156"/>
                  </a:lnTo>
                  <a:cubicBezTo>
                    <a:pt x="322" y="72"/>
                    <a:pt x="250" y="1"/>
                    <a:pt x="155" y="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>
                <a:buClr>
                  <a:srgbClr val="000000"/>
                </a:buClr>
                <a:buFont typeface="Arial"/>
                <a:buNone/>
              </a:pPr>
              <a:endParaRPr sz="1400" kern="0">
                <a:solidFill>
                  <a:srgbClr val="000000"/>
                </a:solidFill>
                <a:latin typeface="Oswald" panose="00000500000000000000" pitchFamily="2" charset="0"/>
                <a:cs typeface="Arial"/>
                <a:sym typeface="Arial"/>
              </a:endParaRPr>
            </a:p>
          </p:txBody>
        </p:sp>
        <p:grpSp>
          <p:nvGrpSpPr>
            <p:cNvPr id="160" name="Google Shape;1191;p28">
              <a:extLst>
                <a:ext uri="{FF2B5EF4-FFF2-40B4-BE49-F238E27FC236}">
                  <a16:creationId xmlns:a16="http://schemas.microsoft.com/office/drawing/2014/main" id="{861BADA9-9485-9720-28D1-1D523A69360F}"/>
                </a:ext>
              </a:extLst>
            </p:cNvPr>
            <p:cNvGrpSpPr/>
            <p:nvPr/>
          </p:nvGrpSpPr>
          <p:grpSpPr>
            <a:xfrm>
              <a:off x="7307954" y="1698963"/>
              <a:ext cx="365560" cy="450589"/>
              <a:chOff x="7307954" y="1698963"/>
              <a:chExt cx="365560" cy="450589"/>
            </a:xfrm>
          </p:grpSpPr>
          <p:sp>
            <p:nvSpPr>
              <p:cNvPr id="164" name="Google Shape;1192;p28">
                <a:extLst>
                  <a:ext uri="{FF2B5EF4-FFF2-40B4-BE49-F238E27FC236}">
                    <a16:creationId xmlns:a16="http://schemas.microsoft.com/office/drawing/2014/main" id="{E7AE7FC5-D147-1219-F91A-373F2AF71DA7}"/>
                  </a:ext>
                </a:extLst>
              </p:cNvPr>
              <p:cNvSpPr/>
              <p:nvPr/>
            </p:nvSpPr>
            <p:spPr>
              <a:xfrm>
                <a:off x="7432319" y="1819526"/>
                <a:ext cx="241195" cy="330026"/>
              </a:xfrm>
              <a:custGeom>
                <a:avLst/>
                <a:gdLst/>
                <a:ahLst/>
                <a:cxnLst/>
                <a:rect l="l" t="t" r="r" b="b"/>
                <a:pathLst>
                  <a:path w="6788" h="9288" extrusionOk="0">
                    <a:moveTo>
                      <a:pt x="3609" y="1"/>
                    </a:moveTo>
                    <a:cubicBezTo>
                      <a:pt x="3549" y="1"/>
                      <a:pt x="3501" y="49"/>
                      <a:pt x="3501" y="120"/>
                    </a:cubicBezTo>
                    <a:cubicBezTo>
                      <a:pt x="3501" y="179"/>
                      <a:pt x="3549" y="227"/>
                      <a:pt x="3609" y="227"/>
                    </a:cubicBezTo>
                    <a:lnTo>
                      <a:pt x="6561" y="227"/>
                    </a:lnTo>
                    <a:lnTo>
                      <a:pt x="6561" y="9073"/>
                    </a:lnTo>
                    <a:lnTo>
                      <a:pt x="215" y="9073"/>
                    </a:lnTo>
                    <a:lnTo>
                      <a:pt x="215" y="7383"/>
                    </a:lnTo>
                    <a:cubicBezTo>
                      <a:pt x="215" y="7323"/>
                      <a:pt x="168" y="7276"/>
                      <a:pt x="108" y="7276"/>
                    </a:cubicBezTo>
                    <a:cubicBezTo>
                      <a:pt x="49" y="7276"/>
                      <a:pt x="1" y="7323"/>
                      <a:pt x="1" y="7383"/>
                    </a:cubicBezTo>
                    <a:lnTo>
                      <a:pt x="1" y="9288"/>
                    </a:lnTo>
                    <a:lnTo>
                      <a:pt x="6787" y="9288"/>
                    </a:lnTo>
                    <a:lnTo>
                      <a:pt x="6787" y="1"/>
                    </a:lnTo>
                    <a:close/>
                  </a:path>
                </a:pathLst>
              </a:custGeom>
              <a:solidFill>
                <a:srgbClr val="5EB2FC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>
                  <a:buClr>
                    <a:srgbClr val="000000"/>
                  </a:buClr>
                  <a:buFont typeface="Arial"/>
                  <a:buNone/>
                </a:pPr>
                <a:endParaRPr sz="1400" kern="0">
                  <a:solidFill>
                    <a:srgbClr val="000000"/>
                  </a:solidFill>
                  <a:latin typeface="Oswald" panose="00000500000000000000" pitchFamily="2" charset="0"/>
                  <a:cs typeface="Arial"/>
                  <a:sym typeface="Arial"/>
                </a:endParaRPr>
              </a:p>
            </p:txBody>
          </p:sp>
          <p:sp>
            <p:nvSpPr>
              <p:cNvPr id="165" name="Google Shape;1193;p28">
                <a:extLst>
                  <a:ext uri="{FF2B5EF4-FFF2-40B4-BE49-F238E27FC236}">
                    <a16:creationId xmlns:a16="http://schemas.microsoft.com/office/drawing/2014/main" id="{8028112C-D71C-CCA7-4EC6-44555A9F272B}"/>
                  </a:ext>
                </a:extLst>
              </p:cNvPr>
              <p:cNvSpPr/>
              <p:nvPr/>
            </p:nvSpPr>
            <p:spPr>
              <a:xfrm>
                <a:off x="7307954" y="1698963"/>
                <a:ext cx="256403" cy="387127"/>
              </a:xfrm>
              <a:custGeom>
                <a:avLst/>
                <a:gdLst/>
                <a:ahLst/>
                <a:cxnLst/>
                <a:rect l="l" t="t" r="r" b="b"/>
                <a:pathLst>
                  <a:path w="7216" h="10895" extrusionOk="0">
                    <a:moveTo>
                      <a:pt x="7001" y="215"/>
                    </a:moveTo>
                    <a:lnTo>
                      <a:pt x="7001" y="10669"/>
                    </a:lnTo>
                    <a:lnTo>
                      <a:pt x="215" y="10669"/>
                    </a:lnTo>
                    <a:lnTo>
                      <a:pt x="215" y="215"/>
                    </a:lnTo>
                    <a:close/>
                    <a:moveTo>
                      <a:pt x="0" y="1"/>
                    </a:moveTo>
                    <a:lnTo>
                      <a:pt x="0" y="10895"/>
                    </a:lnTo>
                    <a:lnTo>
                      <a:pt x="7216" y="10895"/>
                    </a:lnTo>
                    <a:lnTo>
                      <a:pt x="7216" y="1"/>
                    </a:lnTo>
                    <a:close/>
                  </a:path>
                </a:pathLst>
              </a:custGeom>
              <a:solidFill>
                <a:srgbClr val="5EB2FC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>
                  <a:buClr>
                    <a:srgbClr val="000000"/>
                  </a:buClr>
                  <a:buFont typeface="Arial"/>
                  <a:buNone/>
                </a:pPr>
                <a:endParaRPr sz="1400" kern="0">
                  <a:solidFill>
                    <a:srgbClr val="000000"/>
                  </a:solidFill>
                  <a:latin typeface="Oswald" panose="00000500000000000000" pitchFamily="2" charset="0"/>
                  <a:cs typeface="Arial"/>
                  <a:sym typeface="Arial"/>
                </a:endParaRPr>
              </a:p>
            </p:txBody>
          </p:sp>
          <p:sp>
            <p:nvSpPr>
              <p:cNvPr id="166" name="Google Shape;1194;p28">
                <a:extLst>
                  <a:ext uri="{FF2B5EF4-FFF2-40B4-BE49-F238E27FC236}">
                    <a16:creationId xmlns:a16="http://schemas.microsoft.com/office/drawing/2014/main" id="{AD150857-6F0C-7F74-F6D1-A8CE9895667E}"/>
                  </a:ext>
                </a:extLst>
              </p:cNvPr>
              <p:cNvSpPr/>
              <p:nvPr/>
            </p:nvSpPr>
            <p:spPr>
              <a:xfrm>
                <a:off x="7343487" y="1739577"/>
                <a:ext cx="185338" cy="7639"/>
              </a:xfrm>
              <a:custGeom>
                <a:avLst/>
                <a:gdLst/>
                <a:ahLst/>
                <a:cxnLst/>
                <a:rect l="l" t="t" r="r" b="b"/>
                <a:pathLst>
                  <a:path w="5216" h="215" extrusionOk="0">
                    <a:moveTo>
                      <a:pt x="108" y="1"/>
                    </a:moveTo>
                    <a:cubicBezTo>
                      <a:pt x="48" y="1"/>
                      <a:pt x="1" y="48"/>
                      <a:pt x="1" y="108"/>
                    </a:cubicBezTo>
                    <a:cubicBezTo>
                      <a:pt x="1" y="167"/>
                      <a:pt x="48" y="215"/>
                      <a:pt x="108" y="215"/>
                    </a:cubicBezTo>
                    <a:lnTo>
                      <a:pt x="5096" y="215"/>
                    </a:lnTo>
                    <a:cubicBezTo>
                      <a:pt x="5168" y="215"/>
                      <a:pt x="5216" y="167"/>
                      <a:pt x="5216" y="108"/>
                    </a:cubicBezTo>
                    <a:cubicBezTo>
                      <a:pt x="5216" y="48"/>
                      <a:pt x="5168" y="1"/>
                      <a:pt x="5096" y="1"/>
                    </a:cubicBezTo>
                    <a:close/>
                  </a:path>
                </a:pathLst>
              </a:custGeom>
              <a:solidFill>
                <a:srgbClr val="5EB2FC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>
                  <a:buClr>
                    <a:srgbClr val="000000"/>
                  </a:buClr>
                  <a:buFont typeface="Arial"/>
                  <a:buNone/>
                </a:pPr>
                <a:endParaRPr sz="1400" kern="0">
                  <a:solidFill>
                    <a:srgbClr val="000000"/>
                  </a:solidFill>
                  <a:latin typeface="Oswald" panose="00000500000000000000" pitchFamily="2" charset="0"/>
                  <a:cs typeface="Arial"/>
                  <a:sym typeface="Arial"/>
                </a:endParaRPr>
              </a:p>
            </p:txBody>
          </p:sp>
          <p:sp>
            <p:nvSpPr>
              <p:cNvPr id="167" name="Google Shape;1195;p28">
                <a:extLst>
                  <a:ext uri="{FF2B5EF4-FFF2-40B4-BE49-F238E27FC236}">
                    <a16:creationId xmlns:a16="http://schemas.microsoft.com/office/drawing/2014/main" id="{12E86D8F-E083-240B-C607-97B06FAB9A88}"/>
                  </a:ext>
                </a:extLst>
              </p:cNvPr>
              <p:cNvSpPr/>
              <p:nvPr/>
            </p:nvSpPr>
            <p:spPr>
              <a:xfrm>
                <a:off x="7343487" y="1775963"/>
                <a:ext cx="185338" cy="7639"/>
              </a:xfrm>
              <a:custGeom>
                <a:avLst/>
                <a:gdLst/>
                <a:ahLst/>
                <a:cxnLst/>
                <a:rect l="l" t="t" r="r" b="b"/>
                <a:pathLst>
                  <a:path w="5216" h="215" extrusionOk="0">
                    <a:moveTo>
                      <a:pt x="108" y="1"/>
                    </a:moveTo>
                    <a:cubicBezTo>
                      <a:pt x="48" y="1"/>
                      <a:pt x="1" y="48"/>
                      <a:pt x="1" y="108"/>
                    </a:cubicBezTo>
                    <a:cubicBezTo>
                      <a:pt x="1" y="167"/>
                      <a:pt x="48" y="215"/>
                      <a:pt x="108" y="215"/>
                    </a:cubicBezTo>
                    <a:lnTo>
                      <a:pt x="5096" y="215"/>
                    </a:lnTo>
                    <a:cubicBezTo>
                      <a:pt x="5168" y="215"/>
                      <a:pt x="5216" y="167"/>
                      <a:pt x="5216" y="108"/>
                    </a:cubicBezTo>
                    <a:cubicBezTo>
                      <a:pt x="5216" y="48"/>
                      <a:pt x="5168" y="1"/>
                      <a:pt x="5096" y="1"/>
                    </a:cubicBezTo>
                    <a:close/>
                  </a:path>
                </a:pathLst>
              </a:custGeom>
              <a:solidFill>
                <a:srgbClr val="5EB2FC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>
                  <a:buClr>
                    <a:srgbClr val="000000"/>
                  </a:buClr>
                  <a:buFont typeface="Arial"/>
                  <a:buNone/>
                </a:pPr>
                <a:endParaRPr sz="1400" kern="0">
                  <a:solidFill>
                    <a:srgbClr val="000000"/>
                  </a:solidFill>
                  <a:latin typeface="Oswald" panose="00000500000000000000" pitchFamily="2" charset="0"/>
                  <a:cs typeface="Arial"/>
                  <a:sym typeface="Arial"/>
                </a:endParaRPr>
              </a:p>
            </p:txBody>
          </p:sp>
          <p:sp>
            <p:nvSpPr>
              <p:cNvPr id="168" name="Google Shape;1196;p28">
                <a:extLst>
                  <a:ext uri="{FF2B5EF4-FFF2-40B4-BE49-F238E27FC236}">
                    <a16:creationId xmlns:a16="http://schemas.microsoft.com/office/drawing/2014/main" id="{17A05F95-871D-FBA0-8B56-4E0E3553098A}"/>
                  </a:ext>
                </a:extLst>
              </p:cNvPr>
              <p:cNvSpPr/>
              <p:nvPr/>
            </p:nvSpPr>
            <p:spPr>
              <a:xfrm>
                <a:off x="7343487" y="1812349"/>
                <a:ext cx="185338" cy="7639"/>
              </a:xfrm>
              <a:custGeom>
                <a:avLst/>
                <a:gdLst/>
                <a:ahLst/>
                <a:cxnLst/>
                <a:rect l="l" t="t" r="r" b="b"/>
                <a:pathLst>
                  <a:path w="5216" h="215" extrusionOk="0">
                    <a:moveTo>
                      <a:pt x="108" y="0"/>
                    </a:moveTo>
                    <a:cubicBezTo>
                      <a:pt x="48" y="0"/>
                      <a:pt x="1" y="48"/>
                      <a:pt x="1" y="108"/>
                    </a:cubicBezTo>
                    <a:cubicBezTo>
                      <a:pt x="1" y="167"/>
                      <a:pt x="48" y="215"/>
                      <a:pt x="108" y="215"/>
                    </a:cubicBezTo>
                    <a:lnTo>
                      <a:pt x="5096" y="215"/>
                    </a:lnTo>
                    <a:cubicBezTo>
                      <a:pt x="5168" y="215"/>
                      <a:pt x="5216" y="167"/>
                      <a:pt x="5216" y="108"/>
                    </a:cubicBezTo>
                    <a:cubicBezTo>
                      <a:pt x="5216" y="48"/>
                      <a:pt x="5168" y="0"/>
                      <a:pt x="5096" y="0"/>
                    </a:cubicBezTo>
                    <a:close/>
                  </a:path>
                </a:pathLst>
              </a:custGeom>
              <a:solidFill>
                <a:srgbClr val="5EB2FC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>
                  <a:buClr>
                    <a:srgbClr val="000000"/>
                  </a:buClr>
                  <a:buFont typeface="Arial"/>
                  <a:buNone/>
                </a:pPr>
                <a:endParaRPr sz="1400" kern="0">
                  <a:solidFill>
                    <a:srgbClr val="000000"/>
                  </a:solidFill>
                  <a:latin typeface="Oswald" panose="00000500000000000000" pitchFamily="2" charset="0"/>
                  <a:cs typeface="Arial"/>
                  <a:sym typeface="Arial"/>
                </a:endParaRPr>
              </a:p>
            </p:txBody>
          </p:sp>
          <p:sp>
            <p:nvSpPr>
              <p:cNvPr id="169" name="Google Shape;1197;p28">
                <a:extLst>
                  <a:ext uri="{FF2B5EF4-FFF2-40B4-BE49-F238E27FC236}">
                    <a16:creationId xmlns:a16="http://schemas.microsoft.com/office/drawing/2014/main" id="{7801B434-43AC-9C77-A2C3-DB882D4B5F39}"/>
                  </a:ext>
                </a:extLst>
              </p:cNvPr>
              <p:cNvSpPr/>
              <p:nvPr/>
            </p:nvSpPr>
            <p:spPr>
              <a:xfrm>
                <a:off x="7343487" y="1848734"/>
                <a:ext cx="185338" cy="7639"/>
              </a:xfrm>
              <a:custGeom>
                <a:avLst/>
                <a:gdLst/>
                <a:ahLst/>
                <a:cxnLst/>
                <a:rect l="l" t="t" r="r" b="b"/>
                <a:pathLst>
                  <a:path w="5216" h="215" extrusionOk="0">
                    <a:moveTo>
                      <a:pt x="108" y="0"/>
                    </a:moveTo>
                    <a:cubicBezTo>
                      <a:pt x="48" y="0"/>
                      <a:pt x="1" y="48"/>
                      <a:pt x="1" y="108"/>
                    </a:cubicBezTo>
                    <a:cubicBezTo>
                      <a:pt x="1" y="167"/>
                      <a:pt x="48" y="215"/>
                      <a:pt x="108" y="215"/>
                    </a:cubicBezTo>
                    <a:lnTo>
                      <a:pt x="5096" y="215"/>
                    </a:lnTo>
                    <a:cubicBezTo>
                      <a:pt x="5168" y="215"/>
                      <a:pt x="5216" y="167"/>
                      <a:pt x="5216" y="108"/>
                    </a:cubicBezTo>
                    <a:cubicBezTo>
                      <a:pt x="5216" y="48"/>
                      <a:pt x="5168" y="0"/>
                      <a:pt x="5096" y="0"/>
                    </a:cubicBezTo>
                    <a:close/>
                  </a:path>
                </a:pathLst>
              </a:custGeom>
              <a:solidFill>
                <a:srgbClr val="5EB2FC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>
                  <a:buClr>
                    <a:srgbClr val="000000"/>
                  </a:buClr>
                  <a:buFont typeface="Arial"/>
                  <a:buNone/>
                </a:pPr>
                <a:endParaRPr sz="1400" kern="0">
                  <a:solidFill>
                    <a:srgbClr val="000000"/>
                  </a:solidFill>
                  <a:latin typeface="Oswald" panose="00000500000000000000" pitchFamily="2" charset="0"/>
                  <a:cs typeface="Arial"/>
                  <a:sym typeface="Arial"/>
                </a:endParaRPr>
              </a:p>
            </p:txBody>
          </p:sp>
          <p:sp>
            <p:nvSpPr>
              <p:cNvPr id="170" name="Google Shape;1198;p28">
                <a:extLst>
                  <a:ext uri="{FF2B5EF4-FFF2-40B4-BE49-F238E27FC236}">
                    <a16:creationId xmlns:a16="http://schemas.microsoft.com/office/drawing/2014/main" id="{BEDBBA74-8480-7835-DABA-C035BF1788E2}"/>
                  </a:ext>
                </a:extLst>
              </p:cNvPr>
              <p:cNvSpPr/>
              <p:nvPr/>
            </p:nvSpPr>
            <p:spPr>
              <a:xfrm>
                <a:off x="7343487" y="1885120"/>
                <a:ext cx="185338" cy="7639"/>
              </a:xfrm>
              <a:custGeom>
                <a:avLst/>
                <a:gdLst/>
                <a:ahLst/>
                <a:cxnLst/>
                <a:rect l="l" t="t" r="r" b="b"/>
                <a:pathLst>
                  <a:path w="5216" h="215" extrusionOk="0">
                    <a:moveTo>
                      <a:pt x="108" y="0"/>
                    </a:moveTo>
                    <a:cubicBezTo>
                      <a:pt x="48" y="0"/>
                      <a:pt x="1" y="48"/>
                      <a:pt x="1" y="108"/>
                    </a:cubicBezTo>
                    <a:cubicBezTo>
                      <a:pt x="1" y="167"/>
                      <a:pt x="48" y="215"/>
                      <a:pt x="108" y="215"/>
                    </a:cubicBezTo>
                    <a:lnTo>
                      <a:pt x="5096" y="215"/>
                    </a:lnTo>
                    <a:cubicBezTo>
                      <a:pt x="5168" y="215"/>
                      <a:pt x="5216" y="167"/>
                      <a:pt x="5216" y="108"/>
                    </a:cubicBezTo>
                    <a:cubicBezTo>
                      <a:pt x="5216" y="48"/>
                      <a:pt x="5168" y="0"/>
                      <a:pt x="5096" y="0"/>
                    </a:cubicBezTo>
                    <a:close/>
                  </a:path>
                </a:pathLst>
              </a:custGeom>
              <a:solidFill>
                <a:srgbClr val="5EB2FC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>
                  <a:buClr>
                    <a:srgbClr val="000000"/>
                  </a:buClr>
                  <a:buFont typeface="Arial"/>
                  <a:buNone/>
                </a:pPr>
                <a:endParaRPr sz="1400" kern="0">
                  <a:solidFill>
                    <a:srgbClr val="000000"/>
                  </a:solidFill>
                  <a:latin typeface="Oswald" panose="00000500000000000000" pitchFamily="2" charset="0"/>
                  <a:cs typeface="Arial"/>
                  <a:sym typeface="Arial"/>
                </a:endParaRPr>
              </a:p>
            </p:txBody>
          </p:sp>
          <p:sp>
            <p:nvSpPr>
              <p:cNvPr id="171" name="Google Shape;1199;p28">
                <a:extLst>
                  <a:ext uri="{FF2B5EF4-FFF2-40B4-BE49-F238E27FC236}">
                    <a16:creationId xmlns:a16="http://schemas.microsoft.com/office/drawing/2014/main" id="{AAD5E79A-640F-761D-326B-A2450708D7B9}"/>
                  </a:ext>
                </a:extLst>
              </p:cNvPr>
              <p:cNvSpPr/>
              <p:nvPr/>
            </p:nvSpPr>
            <p:spPr>
              <a:xfrm>
                <a:off x="7343487" y="1921506"/>
                <a:ext cx="185338" cy="8066"/>
              </a:xfrm>
              <a:custGeom>
                <a:avLst/>
                <a:gdLst/>
                <a:ahLst/>
                <a:cxnLst/>
                <a:rect l="l" t="t" r="r" b="b"/>
                <a:pathLst>
                  <a:path w="5216" h="227" extrusionOk="0">
                    <a:moveTo>
                      <a:pt x="108" y="0"/>
                    </a:moveTo>
                    <a:cubicBezTo>
                      <a:pt x="48" y="0"/>
                      <a:pt x="1" y="48"/>
                      <a:pt x="1" y="107"/>
                    </a:cubicBezTo>
                    <a:cubicBezTo>
                      <a:pt x="1" y="179"/>
                      <a:pt x="48" y="227"/>
                      <a:pt x="108" y="227"/>
                    </a:cubicBezTo>
                    <a:lnTo>
                      <a:pt x="5096" y="227"/>
                    </a:lnTo>
                    <a:cubicBezTo>
                      <a:pt x="5168" y="227"/>
                      <a:pt x="5216" y="179"/>
                      <a:pt x="5216" y="107"/>
                    </a:cubicBezTo>
                    <a:cubicBezTo>
                      <a:pt x="5216" y="48"/>
                      <a:pt x="5168" y="0"/>
                      <a:pt x="5096" y="0"/>
                    </a:cubicBezTo>
                    <a:close/>
                  </a:path>
                </a:pathLst>
              </a:custGeom>
              <a:solidFill>
                <a:srgbClr val="5EB2FC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>
                  <a:buClr>
                    <a:srgbClr val="000000"/>
                  </a:buClr>
                  <a:buFont typeface="Arial"/>
                  <a:buNone/>
                </a:pPr>
                <a:endParaRPr sz="1400" kern="0">
                  <a:solidFill>
                    <a:srgbClr val="000000"/>
                  </a:solidFill>
                  <a:latin typeface="Oswald" panose="00000500000000000000" pitchFamily="2" charset="0"/>
                  <a:cs typeface="Arial"/>
                  <a:sym typeface="Arial"/>
                </a:endParaRPr>
              </a:p>
            </p:txBody>
          </p:sp>
          <p:sp>
            <p:nvSpPr>
              <p:cNvPr id="172" name="Google Shape;1200;p28">
                <a:extLst>
                  <a:ext uri="{FF2B5EF4-FFF2-40B4-BE49-F238E27FC236}">
                    <a16:creationId xmlns:a16="http://schemas.microsoft.com/office/drawing/2014/main" id="{435D180E-0806-94AC-263B-F6525EB551A8}"/>
                  </a:ext>
                </a:extLst>
              </p:cNvPr>
              <p:cNvSpPr/>
              <p:nvPr/>
            </p:nvSpPr>
            <p:spPr>
              <a:xfrm>
                <a:off x="7343487" y="1957891"/>
                <a:ext cx="185338" cy="8066"/>
              </a:xfrm>
              <a:custGeom>
                <a:avLst/>
                <a:gdLst/>
                <a:ahLst/>
                <a:cxnLst/>
                <a:rect l="l" t="t" r="r" b="b"/>
                <a:pathLst>
                  <a:path w="5216" h="227" extrusionOk="0">
                    <a:moveTo>
                      <a:pt x="108" y="0"/>
                    </a:moveTo>
                    <a:cubicBezTo>
                      <a:pt x="48" y="0"/>
                      <a:pt x="1" y="60"/>
                      <a:pt x="1" y="119"/>
                    </a:cubicBezTo>
                    <a:cubicBezTo>
                      <a:pt x="1" y="179"/>
                      <a:pt x="48" y="226"/>
                      <a:pt x="108" y="226"/>
                    </a:cubicBezTo>
                    <a:lnTo>
                      <a:pt x="5096" y="226"/>
                    </a:lnTo>
                    <a:cubicBezTo>
                      <a:pt x="5168" y="226"/>
                      <a:pt x="5216" y="179"/>
                      <a:pt x="5216" y="119"/>
                    </a:cubicBezTo>
                    <a:cubicBezTo>
                      <a:pt x="5216" y="60"/>
                      <a:pt x="5168" y="0"/>
                      <a:pt x="5096" y="0"/>
                    </a:cubicBezTo>
                    <a:close/>
                  </a:path>
                </a:pathLst>
              </a:custGeom>
              <a:solidFill>
                <a:srgbClr val="5EB2FC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>
                  <a:buClr>
                    <a:srgbClr val="000000"/>
                  </a:buClr>
                  <a:buFont typeface="Arial"/>
                  <a:buNone/>
                </a:pPr>
                <a:endParaRPr sz="1400" kern="0">
                  <a:solidFill>
                    <a:srgbClr val="000000"/>
                  </a:solidFill>
                  <a:latin typeface="Oswald" panose="00000500000000000000" pitchFamily="2" charset="0"/>
                  <a:cs typeface="Arial"/>
                  <a:sym typeface="Arial"/>
                </a:endParaRPr>
              </a:p>
            </p:txBody>
          </p:sp>
          <p:sp>
            <p:nvSpPr>
              <p:cNvPr id="173" name="Google Shape;1201;p28">
                <a:extLst>
                  <a:ext uri="{FF2B5EF4-FFF2-40B4-BE49-F238E27FC236}">
                    <a16:creationId xmlns:a16="http://schemas.microsoft.com/office/drawing/2014/main" id="{AB574B4B-8946-7C62-2AAE-8E5E92FD1713}"/>
                  </a:ext>
                </a:extLst>
              </p:cNvPr>
              <p:cNvSpPr/>
              <p:nvPr/>
            </p:nvSpPr>
            <p:spPr>
              <a:xfrm>
                <a:off x="7343487" y="1994703"/>
                <a:ext cx="185338" cy="7639"/>
              </a:xfrm>
              <a:custGeom>
                <a:avLst/>
                <a:gdLst/>
                <a:ahLst/>
                <a:cxnLst/>
                <a:rect l="l" t="t" r="r" b="b"/>
                <a:pathLst>
                  <a:path w="5216" h="215" extrusionOk="0">
                    <a:moveTo>
                      <a:pt x="108" y="0"/>
                    </a:moveTo>
                    <a:cubicBezTo>
                      <a:pt x="48" y="0"/>
                      <a:pt x="1" y="48"/>
                      <a:pt x="1" y="107"/>
                    </a:cubicBezTo>
                    <a:cubicBezTo>
                      <a:pt x="1" y="167"/>
                      <a:pt x="48" y="214"/>
                      <a:pt x="108" y="214"/>
                    </a:cubicBezTo>
                    <a:lnTo>
                      <a:pt x="5096" y="214"/>
                    </a:lnTo>
                    <a:cubicBezTo>
                      <a:pt x="5168" y="214"/>
                      <a:pt x="5216" y="167"/>
                      <a:pt x="5216" y="107"/>
                    </a:cubicBezTo>
                    <a:cubicBezTo>
                      <a:pt x="5216" y="48"/>
                      <a:pt x="5168" y="0"/>
                      <a:pt x="5096" y="0"/>
                    </a:cubicBezTo>
                    <a:close/>
                  </a:path>
                </a:pathLst>
              </a:custGeom>
              <a:solidFill>
                <a:srgbClr val="5EB2FC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>
                  <a:buClr>
                    <a:srgbClr val="000000"/>
                  </a:buClr>
                  <a:buFont typeface="Arial"/>
                  <a:buNone/>
                </a:pPr>
                <a:endParaRPr sz="1400" kern="0">
                  <a:solidFill>
                    <a:srgbClr val="000000"/>
                  </a:solidFill>
                  <a:latin typeface="Oswald" panose="00000500000000000000" pitchFamily="2" charset="0"/>
                  <a:cs typeface="Arial"/>
                  <a:sym typeface="Arial"/>
                </a:endParaRPr>
              </a:p>
            </p:txBody>
          </p:sp>
          <p:sp>
            <p:nvSpPr>
              <p:cNvPr id="174" name="Google Shape;1202;p28">
                <a:extLst>
                  <a:ext uri="{FF2B5EF4-FFF2-40B4-BE49-F238E27FC236}">
                    <a16:creationId xmlns:a16="http://schemas.microsoft.com/office/drawing/2014/main" id="{EE1F65A9-AC15-54CC-23C9-49896E1C9A0F}"/>
                  </a:ext>
                </a:extLst>
              </p:cNvPr>
              <p:cNvSpPr/>
              <p:nvPr/>
            </p:nvSpPr>
            <p:spPr>
              <a:xfrm>
                <a:off x="7343487" y="2031053"/>
                <a:ext cx="185338" cy="7675"/>
              </a:xfrm>
              <a:custGeom>
                <a:avLst/>
                <a:gdLst/>
                <a:ahLst/>
                <a:cxnLst/>
                <a:rect l="l" t="t" r="r" b="b"/>
                <a:pathLst>
                  <a:path w="5216" h="216" extrusionOk="0">
                    <a:moveTo>
                      <a:pt x="108" y="1"/>
                    </a:moveTo>
                    <a:cubicBezTo>
                      <a:pt x="48" y="1"/>
                      <a:pt x="1" y="49"/>
                      <a:pt x="1" y="108"/>
                    </a:cubicBezTo>
                    <a:cubicBezTo>
                      <a:pt x="1" y="168"/>
                      <a:pt x="48" y="215"/>
                      <a:pt x="108" y="215"/>
                    </a:cubicBezTo>
                    <a:lnTo>
                      <a:pt x="5096" y="215"/>
                    </a:lnTo>
                    <a:cubicBezTo>
                      <a:pt x="5168" y="215"/>
                      <a:pt x="5216" y="168"/>
                      <a:pt x="5216" y="108"/>
                    </a:cubicBezTo>
                    <a:cubicBezTo>
                      <a:pt x="5216" y="49"/>
                      <a:pt x="5168" y="1"/>
                      <a:pt x="5096" y="1"/>
                    </a:cubicBezTo>
                    <a:close/>
                  </a:path>
                </a:pathLst>
              </a:custGeom>
              <a:solidFill>
                <a:srgbClr val="5EB2FC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>
                  <a:buClr>
                    <a:srgbClr val="000000"/>
                  </a:buClr>
                  <a:buFont typeface="Arial"/>
                  <a:buNone/>
                </a:pPr>
                <a:endParaRPr sz="1400" kern="0">
                  <a:solidFill>
                    <a:srgbClr val="000000"/>
                  </a:solidFill>
                  <a:latin typeface="Oswald" panose="00000500000000000000" pitchFamily="2" charset="0"/>
                  <a:cs typeface="Arial"/>
                  <a:sym typeface="Arial"/>
                </a:endParaRPr>
              </a:p>
            </p:txBody>
          </p:sp>
        </p:grpSp>
        <p:sp>
          <p:nvSpPr>
            <p:cNvPr id="161" name="Google Shape;1203;p28">
              <a:extLst>
                <a:ext uri="{FF2B5EF4-FFF2-40B4-BE49-F238E27FC236}">
                  <a16:creationId xmlns:a16="http://schemas.microsoft.com/office/drawing/2014/main" id="{82D1B619-5F65-765C-6C93-B9944B919DFF}"/>
                </a:ext>
              </a:extLst>
            </p:cNvPr>
            <p:cNvSpPr/>
            <p:nvPr/>
          </p:nvSpPr>
          <p:spPr>
            <a:xfrm>
              <a:off x="6845138" y="2732081"/>
              <a:ext cx="1291180" cy="440034"/>
            </a:xfrm>
            <a:custGeom>
              <a:avLst/>
              <a:gdLst/>
              <a:ahLst/>
              <a:cxnLst/>
              <a:rect l="l" t="t" r="r" b="b"/>
              <a:pathLst>
                <a:path w="36338" h="12384" extrusionOk="0">
                  <a:moveTo>
                    <a:pt x="0" y="1"/>
                  </a:moveTo>
                  <a:lnTo>
                    <a:pt x="0" y="1358"/>
                  </a:lnTo>
                  <a:cubicBezTo>
                    <a:pt x="2417" y="1644"/>
                    <a:pt x="4298" y="3692"/>
                    <a:pt x="4298" y="6192"/>
                  </a:cubicBezTo>
                  <a:cubicBezTo>
                    <a:pt x="4298" y="8692"/>
                    <a:pt x="2417" y="10752"/>
                    <a:pt x="0" y="11038"/>
                  </a:cubicBezTo>
                  <a:lnTo>
                    <a:pt x="0" y="12383"/>
                  </a:lnTo>
                  <a:lnTo>
                    <a:pt x="32040" y="12383"/>
                  </a:lnTo>
                  <a:lnTo>
                    <a:pt x="32040" y="10502"/>
                  </a:lnTo>
                  <a:cubicBezTo>
                    <a:pt x="34409" y="10502"/>
                    <a:pt x="36338" y="8573"/>
                    <a:pt x="36338" y="6192"/>
                  </a:cubicBezTo>
                  <a:cubicBezTo>
                    <a:pt x="36338" y="3823"/>
                    <a:pt x="34409" y="1894"/>
                    <a:pt x="32040" y="1894"/>
                  </a:cubicBezTo>
                  <a:lnTo>
                    <a:pt x="3204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algn="ctr">
                <a:buClr>
                  <a:srgbClr val="000000"/>
                </a:buClr>
                <a:buFont typeface="Arial"/>
                <a:buNone/>
              </a:pPr>
              <a:r>
                <a:rPr lang="en" sz="1400" kern="0">
                  <a:solidFill>
                    <a:srgbClr val="FFFFFF"/>
                  </a:solidFill>
                  <a:latin typeface="Oswald" panose="00000500000000000000" pitchFamily="2" charset="0"/>
                  <a:ea typeface="Fira Sans Extra Condensed Medium"/>
                  <a:cs typeface="Fira Sans Extra Condensed Medium"/>
                  <a:sym typeface="Fira Sans Extra Condensed Medium"/>
                </a:rPr>
                <a:t>Phase 7</a:t>
              </a:r>
              <a:endParaRPr sz="1400" kern="0">
                <a:solidFill>
                  <a:srgbClr val="FFFFFF"/>
                </a:solidFill>
                <a:latin typeface="Oswald" panose="00000500000000000000" pitchFamily="2" charset="0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162" name="Google Shape;1204;p28">
              <a:extLst>
                <a:ext uri="{FF2B5EF4-FFF2-40B4-BE49-F238E27FC236}">
                  <a16:creationId xmlns:a16="http://schemas.microsoft.com/office/drawing/2014/main" id="{CA8E1562-EA24-166D-F10C-416C394EA8BC}"/>
                </a:ext>
              </a:extLst>
            </p:cNvPr>
            <p:cNvSpPr/>
            <p:nvPr/>
          </p:nvSpPr>
          <p:spPr>
            <a:xfrm>
              <a:off x="7455167" y="2235403"/>
              <a:ext cx="63070" cy="63070"/>
            </a:xfrm>
            <a:custGeom>
              <a:avLst/>
              <a:gdLst/>
              <a:ahLst/>
              <a:cxnLst/>
              <a:rect l="l" t="t" r="r" b="b"/>
              <a:pathLst>
                <a:path w="1775" h="1775" extrusionOk="0">
                  <a:moveTo>
                    <a:pt x="882" y="1"/>
                  </a:moveTo>
                  <a:cubicBezTo>
                    <a:pt x="394" y="1"/>
                    <a:pt x="1" y="394"/>
                    <a:pt x="1" y="882"/>
                  </a:cubicBezTo>
                  <a:cubicBezTo>
                    <a:pt x="1" y="1382"/>
                    <a:pt x="394" y="1775"/>
                    <a:pt x="882" y="1775"/>
                  </a:cubicBezTo>
                  <a:cubicBezTo>
                    <a:pt x="1382" y="1775"/>
                    <a:pt x="1775" y="1382"/>
                    <a:pt x="1775" y="882"/>
                  </a:cubicBezTo>
                  <a:cubicBezTo>
                    <a:pt x="1775" y="394"/>
                    <a:pt x="1382" y="1"/>
                    <a:pt x="882" y="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>
                <a:buClr>
                  <a:srgbClr val="000000"/>
                </a:buClr>
                <a:buFont typeface="Arial"/>
                <a:buNone/>
              </a:pPr>
              <a:endParaRPr sz="1400" kern="0">
                <a:solidFill>
                  <a:srgbClr val="000000"/>
                </a:solidFill>
                <a:latin typeface="Oswald" panose="00000500000000000000" pitchFamily="2" charset="0"/>
                <a:cs typeface="Arial"/>
                <a:sym typeface="Arial"/>
              </a:endParaRPr>
            </a:p>
          </p:txBody>
        </p:sp>
        <p:sp>
          <p:nvSpPr>
            <p:cNvPr id="163" name="Google Shape;1205;p28">
              <a:extLst>
                <a:ext uri="{FF2B5EF4-FFF2-40B4-BE49-F238E27FC236}">
                  <a16:creationId xmlns:a16="http://schemas.microsoft.com/office/drawing/2014/main" id="{9234B4A4-ADAC-ED44-7C47-492488E739CD}"/>
                </a:ext>
              </a:extLst>
            </p:cNvPr>
            <p:cNvSpPr txBox="1"/>
            <p:nvPr/>
          </p:nvSpPr>
          <p:spPr>
            <a:xfrm>
              <a:off x="6844818" y="1122239"/>
              <a:ext cx="1291500" cy="534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algn="ctr">
                <a:buClr>
                  <a:srgbClr val="000000"/>
                </a:buClr>
                <a:buFont typeface="Arial"/>
                <a:buNone/>
              </a:pPr>
              <a:r>
                <a:rPr lang="en" sz="1500" kern="0">
                  <a:solidFill>
                    <a:srgbClr val="434343"/>
                  </a:solidFill>
                  <a:latin typeface="Oswald" panose="00000500000000000000" pitchFamily="2" charset="0"/>
                  <a:ea typeface="Roboto"/>
                  <a:cs typeface="Roboto"/>
                  <a:sym typeface="Roboto"/>
                </a:rPr>
                <a:t>Induction</a:t>
              </a:r>
              <a:endParaRPr sz="1500" kern="0">
                <a:solidFill>
                  <a:srgbClr val="434343"/>
                </a:solidFill>
                <a:latin typeface="Oswald" panose="00000500000000000000" pitchFamily="2" charset="0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209" name="Google Shape;1189;p28">
            <a:extLst>
              <a:ext uri="{FF2B5EF4-FFF2-40B4-BE49-F238E27FC236}">
                <a16:creationId xmlns:a16="http://schemas.microsoft.com/office/drawing/2014/main" id="{FD24C92F-8C3D-68C9-30B4-B226EADF4CB4}"/>
              </a:ext>
            </a:extLst>
          </p:cNvPr>
          <p:cNvGrpSpPr/>
          <p:nvPr/>
        </p:nvGrpSpPr>
        <p:grpSpPr>
          <a:xfrm>
            <a:off x="8728789" y="1040360"/>
            <a:ext cx="1397312" cy="2035620"/>
            <a:chOff x="6739006" y="1136495"/>
            <a:chExt cx="1397312" cy="2035620"/>
          </a:xfrm>
        </p:grpSpPr>
        <p:sp>
          <p:nvSpPr>
            <p:cNvPr id="210" name="Google Shape;1190;p28">
              <a:extLst>
                <a:ext uri="{FF2B5EF4-FFF2-40B4-BE49-F238E27FC236}">
                  <a16:creationId xmlns:a16="http://schemas.microsoft.com/office/drawing/2014/main" id="{F3166A78-8782-5F2C-E67B-90167905DC9F}"/>
                </a:ext>
              </a:extLst>
            </p:cNvPr>
            <p:cNvSpPr/>
            <p:nvPr/>
          </p:nvSpPr>
          <p:spPr>
            <a:xfrm>
              <a:off x="7480999" y="2261200"/>
              <a:ext cx="11441" cy="704858"/>
            </a:xfrm>
            <a:custGeom>
              <a:avLst/>
              <a:gdLst/>
              <a:ahLst/>
              <a:cxnLst/>
              <a:rect l="l" t="t" r="r" b="b"/>
              <a:pathLst>
                <a:path w="322" h="19837" extrusionOk="0">
                  <a:moveTo>
                    <a:pt x="155" y="1"/>
                  </a:moveTo>
                  <a:cubicBezTo>
                    <a:pt x="72" y="1"/>
                    <a:pt x="0" y="72"/>
                    <a:pt x="0" y="156"/>
                  </a:cubicBezTo>
                  <a:lnTo>
                    <a:pt x="0" y="19682"/>
                  </a:lnTo>
                  <a:cubicBezTo>
                    <a:pt x="0" y="19765"/>
                    <a:pt x="72" y="19837"/>
                    <a:pt x="155" y="19837"/>
                  </a:cubicBezTo>
                  <a:cubicBezTo>
                    <a:pt x="250" y="19837"/>
                    <a:pt x="322" y="19765"/>
                    <a:pt x="322" y="19682"/>
                  </a:cubicBezTo>
                  <a:lnTo>
                    <a:pt x="322" y="156"/>
                  </a:lnTo>
                  <a:cubicBezTo>
                    <a:pt x="322" y="72"/>
                    <a:pt x="250" y="1"/>
                    <a:pt x="155" y="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>
                <a:buClr>
                  <a:srgbClr val="000000"/>
                </a:buClr>
                <a:buFont typeface="Arial"/>
                <a:buNone/>
              </a:pPr>
              <a:endParaRPr sz="1400" kern="0">
                <a:solidFill>
                  <a:srgbClr val="000000"/>
                </a:solidFill>
                <a:latin typeface="Oswald" panose="00000500000000000000" pitchFamily="2" charset="0"/>
                <a:cs typeface="Arial"/>
                <a:sym typeface="Arial"/>
              </a:endParaRPr>
            </a:p>
          </p:txBody>
        </p:sp>
        <p:grpSp>
          <p:nvGrpSpPr>
            <p:cNvPr id="211" name="Google Shape;1191;p28">
              <a:extLst>
                <a:ext uri="{FF2B5EF4-FFF2-40B4-BE49-F238E27FC236}">
                  <a16:creationId xmlns:a16="http://schemas.microsoft.com/office/drawing/2014/main" id="{1A76A9B5-4037-0C77-5D46-CA79EF9B6837}"/>
                </a:ext>
              </a:extLst>
            </p:cNvPr>
            <p:cNvGrpSpPr/>
            <p:nvPr/>
          </p:nvGrpSpPr>
          <p:grpSpPr>
            <a:xfrm>
              <a:off x="7307954" y="1698963"/>
              <a:ext cx="365560" cy="450589"/>
              <a:chOff x="7307954" y="1698963"/>
              <a:chExt cx="365560" cy="450589"/>
            </a:xfrm>
          </p:grpSpPr>
          <p:sp>
            <p:nvSpPr>
              <p:cNvPr id="215" name="Google Shape;1192;p28">
                <a:extLst>
                  <a:ext uri="{FF2B5EF4-FFF2-40B4-BE49-F238E27FC236}">
                    <a16:creationId xmlns:a16="http://schemas.microsoft.com/office/drawing/2014/main" id="{CC323FEA-7A96-944D-57A7-D43B2A1AA3C8}"/>
                  </a:ext>
                </a:extLst>
              </p:cNvPr>
              <p:cNvSpPr/>
              <p:nvPr/>
            </p:nvSpPr>
            <p:spPr>
              <a:xfrm>
                <a:off x="7432319" y="1819526"/>
                <a:ext cx="241195" cy="330026"/>
              </a:xfrm>
              <a:custGeom>
                <a:avLst/>
                <a:gdLst/>
                <a:ahLst/>
                <a:cxnLst/>
                <a:rect l="l" t="t" r="r" b="b"/>
                <a:pathLst>
                  <a:path w="6788" h="9288" extrusionOk="0">
                    <a:moveTo>
                      <a:pt x="3609" y="1"/>
                    </a:moveTo>
                    <a:cubicBezTo>
                      <a:pt x="3549" y="1"/>
                      <a:pt x="3501" y="49"/>
                      <a:pt x="3501" y="120"/>
                    </a:cubicBezTo>
                    <a:cubicBezTo>
                      <a:pt x="3501" y="179"/>
                      <a:pt x="3549" y="227"/>
                      <a:pt x="3609" y="227"/>
                    </a:cubicBezTo>
                    <a:lnTo>
                      <a:pt x="6561" y="227"/>
                    </a:lnTo>
                    <a:lnTo>
                      <a:pt x="6561" y="9073"/>
                    </a:lnTo>
                    <a:lnTo>
                      <a:pt x="215" y="9073"/>
                    </a:lnTo>
                    <a:lnTo>
                      <a:pt x="215" y="7383"/>
                    </a:lnTo>
                    <a:cubicBezTo>
                      <a:pt x="215" y="7323"/>
                      <a:pt x="168" y="7276"/>
                      <a:pt x="108" y="7276"/>
                    </a:cubicBezTo>
                    <a:cubicBezTo>
                      <a:pt x="49" y="7276"/>
                      <a:pt x="1" y="7323"/>
                      <a:pt x="1" y="7383"/>
                    </a:cubicBezTo>
                    <a:lnTo>
                      <a:pt x="1" y="9288"/>
                    </a:lnTo>
                    <a:lnTo>
                      <a:pt x="6787" y="9288"/>
                    </a:lnTo>
                    <a:lnTo>
                      <a:pt x="6787" y="1"/>
                    </a:lnTo>
                    <a:close/>
                  </a:path>
                </a:pathLst>
              </a:custGeom>
              <a:solidFill>
                <a:srgbClr val="5EB2FC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>
                  <a:buClr>
                    <a:srgbClr val="000000"/>
                  </a:buClr>
                  <a:buFont typeface="Arial"/>
                  <a:buNone/>
                </a:pPr>
                <a:endParaRPr sz="1400" kern="0">
                  <a:solidFill>
                    <a:srgbClr val="000000"/>
                  </a:solidFill>
                  <a:latin typeface="Oswald" panose="00000500000000000000" pitchFamily="2" charset="0"/>
                  <a:cs typeface="Arial"/>
                  <a:sym typeface="Arial"/>
                </a:endParaRPr>
              </a:p>
            </p:txBody>
          </p:sp>
          <p:sp>
            <p:nvSpPr>
              <p:cNvPr id="216" name="Google Shape;1193;p28">
                <a:extLst>
                  <a:ext uri="{FF2B5EF4-FFF2-40B4-BE49-F238E27FC236}">
                    <a16:creationId xmlns:a16="http://schemas.microsoft.com/office/drawing/2014/main" id="{E769DD15-D638-7D11-EBC9-F814A9C734C8}"/>
                  </a:ext>
                </a:extLst>
              </p:cNvPr>
              <p:cNvSpPr/>
              <p:nvPr/>
            </p:nvSpPr>
            <p:spPr>
              <a:xfrm>
                <a:off x="7307954" y="1698963"/>
                <a:ext cx="256403" cy="387127"/>
              </a:xfrm>
              <a:custGeom>
                <a:avLst/>
                <a:gdLst/>
                <a:ahLst/>
                <a:cxnLst/>
                <a:rect l="l" t="t" r="r" b="b"/>
                <a:pathLst>
                  <a:path w="7216" h="10895" extrusionOk="0">
                    <a:moveTo>
                      <a:pt x="7001" y="215"/>
                    </a:moveTo>
                    <a:lnTo>
                      <a:pt x="7001" y="10669"/>
                    </a:lnTo>
                    <a:lnTo>
                      <a:pt x="215" y="10669"/>
                    </a:lnTo>
                    <a:lnTo>
                      <a:pt x="215" y="215"/>
                    </a:lnTo>
                    <a:close/>
                    <a:moveTo>
                      <a:pt x="0" y="1"/>
                    </a:moveTo>
                    <a:lnTo>
                      <a:pt x="0" y="10895"/>
                    </a:lnTo>
                    <a:lnTo>
                      <a:pt x="7216" y="10895"/>
                    </a:lnTo>
                    <a:lnTo>
                      <a:pt x="7216" y="1"/>
                    </a:lnTo>
                    <a:close/>
                  </a:path>
                </a:pathLst>
              </a:custGeom>
              <a:solidFill>
                <a:srgbClr val="5EB2FC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>
                  <a:buClr>
                    <a:srgbClr val="000000"/>
                  </a:buClr>
                  <a:buFont typeface="Arial"/>
                  <a:buNone/>
                </a:pPr>
                <a:endParaRPr sz="1400" kern="0">
                  <a:solidFill>
                    <a:srgbClr val="000000"/>
                  </a:solidFill>
                  <a:latin typeface="Oswald" panose="00000500000000000000" pitchFamily="2" charset="0"/>
                  <a:cs typeface="Arial"/>
                  <a:sym typeface="Arial"/>
                </a:endParaRPr>
              </a:p>
            </p:txBody>
          </p:sp>
          <p:sp>
            <p:nvSpPr>
              <p:cNvPr id="217" name="Google Shape;1194;p28">
                <a:extLst>
                  <a:ext uri="{FF2B5EF4-FFF2-40B4-BE49-F238E27FC236}">
                    <a16:creationId xmlns:a16="http://schemas.microsoft.com/office/drawing/2014/main" id="{2B904047-EC6F-A433-C4D1-7E5CBB91DA59}"/>
                  </a:ext>
                </a:extLst>
              </p:cNvPr>
              <p:cNvSpPr/>
              <p:nvPr/>
            </p:nvSpPr>
            <p:spPr>
              <a:xfrm>
                <a:off x="7343487" y="1739577"/>
                <a:ext cx="185338" cy="7639"/>
              </a:xfrm>
              <a:custGeom>
                <a:avLst/>
                <a:gdLst/>
                <a:ahLst/>
                <a:cxnLst/>
                <a:rect l="l" t="t" r="r" b="b"/>
                <a:pathLst>
                  <a:path w="5216" h="215" extrusionOk="0">
                    <a:moveTo>
                      <a:pt x="108" y="1"/>
                    </a:moveTo>
                    <a:cubicBezTo>
                      <a:pt x="48" y="1"/>
                      <a:pt x="1" y="48"/>
                      <a:pt x="1" y="108"/>
                    </a:cubicBezTo>
                    <a:cubicBezTo>
                      <a:pt x="1" y="167"/>
                      <a:pt x="48" y="215"/>
                      <a:pt x="108" y="215"/>
                    </a:cubicBezTo>
                    <a:lnTo>
                      <a:pt x="5096" y="215"/>
                    </a:lnTo>
                    <a:cubicBezTo>
                      <a:pt x="5168" y="215"/>
                      <a:pt x="5216" y="167"/>
                      <a:pt x="5216" y="108"/>
                    </a:cubicBezTo>
                    <a:cubicBezTo>
                      <a:pt x="5216" y="48"/>
                      <a:pt x="5168" y="1"/>
                      <a:pt x="5096" y="1"/>
                    </a:cubicBezTo>
                    <a:close/>
                  </a:path>
                </a:pathLst>
              </a:custGeom>
              <a:solidFill>
                <a:srgbClr val="5EB2FC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>
                  <a:buClr>
                    <a:srgbClr val="000000"/>
                  </a:buClr>
                  <a:buFont typeface="Arial"/>
                  <a:buNone/>
                </a:pPr>
                <a:endParaRPr sz="1400" kern="0">
                  <a:solidFill>
                    <a:srgbClr val="000000"/>
                  </a:solidFill>
                  <a:latin typeface="Oswald" panose="00000500000000000000" pitchFamily="2" charset="0"/>
                  <a:cs typeface="Arial"/>
                  <a:sym typeface="Arial"/>
                </a:endParaRPr>
              </a:p>
            </p:txBody>
          </p:sp>
          <p:sp>
            <p:nvSpPr>
              <p:cNvPr id="218" name="Google Shape;1195;p28">
                <a:extLst>
                  <a:ext uri="{FF2B5EF4-FFF2-40B4-BE49-F238E27FC236}">
                    <a16:creationId xmlns:a16="http://schemas.microsoft.com/office/drawing/2014/main" id="{C78EE463-5B20-596C-591E-463163FEA272}"/>
                  </a:ext>
                </a:extLst>
              </p:cNvPr>
              <p:cNvSpPr/>
              <p:nvPr/>
            </p:nvSpPr>
            <p:spPr>
              <a:xfrm>
                <a:off x="7343487" y="1775963"/>
                <a:ext cx="185338" cy="7639"/>
              </a:xfrm>
              <a:custGeom>
                <a:avLst/>
                <a:gdLst/>
                <a:ahLst/>
                <a:cxnLst/>
                <a:rect l="l" t="t" r="r" b="b"/>
                <a:pathLst>
                  <a:path w="5216" h="215" extrusionOk="0">
                    <a:moveTo>
                      <a:pt x="108" y="1"/>
                    </a:moveTo>
                    <a:cubicBezTo>
                      <a:pt x="48" y="1"/>
                      <a:pt x="1" y="48"/>
                      <a:pt x="1" y="108"/>
                    </a:cubicBezTo>
                    <a:cubicBezTo>
                      <a:pt x="1" y="167"/>
                      <a:pt x="48" y="215"/>
                      <a:pt x="108" y="215"/>
                    </a:cubicBezTo>
                    <a:lnTo>
                      <a:pt x="5096" y="215"/>
                    </a:lnTo>
                    <a:cubicBezTo>
                      <a:pt x="5168" y="215"/>
                      <a:pt x="5216" y="167"/>
                      <a:pt x="5216" y="108"/>
                    </a:cubicBezTo>
                    <a:cubicBezTo>
                      <a:pt x="5216" y="48"/>
                      <a:pt x="5168" y="1"/>
                      <a:pt x="5096" y="1"/>
                    </a:cubicBezTo>
                    <a:close/>
                  </a:path>
                </a:pathLst>
              </a:custGeom>
              <a:solidFill>
                <a:srgbClr val="5EB2FC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>
                  <a:buClr>
                    <a:srgbClr val="000000"/>
                  </a:buClr>
                  <a:buFont typeface="Arial"/>
                  <a:buNone/>
                </a:pPr>
                <a:endParaRPr sz="1400" kern="0">
                  <a:solidFill>
                    <a:srgbClr val="000000"/>
                  </a:solidFill>
                  <a:latin typeface="Oswald" panose="00000500000000000000" pitchFamily="2" charset="0"/>
                  <a:cs typeface="Arial"/>
                  <a:sym typeface="Arial"/>
                </a:endParaRPr>
              </a:p>
            </p:txBody>
          </p:sp>
          <p:sp>
            <p:nvSpPr>
              <p:cNvPr id="219" name="Google Shape;1196;p28">
                <a:extLst>
                  <a:ext uri="{FF2B5EF4-FFF2-40B4-BE49-F238E27FC236}">
                    <a16:creationId xmlns:a16="http://schemas.microsoft.com/office/drawing/2014/main" id="{D8DE4272-CCF5-26C2-637D-F9B29E9D24D6}"/>
                  </a:ext>
                </a:extLst>
              </p:cNvPr>
              <p:cNvSpPr/>
              <p:nvPr/>
            </p:nvSpPr>
            <p:spPr>
              <a:xfrm>
                <a:off x="7343487" y="1812349"/>
                <a:ext cx="185338" cy="7639"/>
              </a:xfrm>
              <a:custGeom>
                <a:avLst/>
                <a:gdLst/>
                <a:ahLst/>
                <a:cxnLst/>
                <a:rect l="l" t="t" r="r" b="b"/>
                <a:pathLst>
                  <a:path w="5216" h="215" extrusionOk="0">
                    <a:moveTo>
                      <a:pt x="108" y="0"/>
                    </a:moveTo>
                    <a:cubicBezTo>
                      <a:pt x="48" y="0"/>
                      <a:pt x="1" y="48"/>
                      <a:pt x="1" y="108"/>
                    </a:cubicBezTo>
                    <a:cubicBezTo>
                      <a:pt x="1" y="167"/>
                      <a:pt x="48" y="215"/>
                      <a:pt x="108" y="215"/>
                    </a:cubicBezTo>
                    <a:lnTo>
                      <a:pt x="5096" y="215"/>
                    </a:lnTo>
                    <a:cubicBezTo>
                      <a:pt x="5168" y="215"/>
                      <a:pt x="5216" y="167"/>
                      <a:pt x="5216" y="108"/>
                    </a:cubicBezTo>
                    <a:cubicBezTo>
                      <a:pt x="5216" y="48"/>
                      <a:pt x="5168" y="0"/>
                      <a:pt x="5096" y="0"/>
                    </a:cubicBezTo>
                    <a:close/>
                  </a:path>
                </a:pathLst>
              </a:custGeom>
              <a:solidFill>
                <a:srgbClr val="5EB2FC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>
                  <a:buClr>
                    <a:srgbClr val="000000"/>
                  </a:buClr>
                  <a:buFont typeface="Arial"/>
                  <a:buNone/>
                </a:pPr>
                <a:endParaRPr sz="1400" kern="0">
                  <a:solidFill>
                    <a:srgbClr val="000000"/>
                  </a:solidFill>
                  <a:latin typeface="Oswald" panose="00000500000000000000" pitchFamily="2" charset="0"/>
                  <a:cs typeface="Arial"/>
                  <a:sym typeface="Arial"/>
                </a:endParaRPr>
              </a:p>
            </p:txBody>
          </p:sp>
          <p:sp>
            <p:nvSpPr>
              <p:cNvPr id="220" name="Google Shape;1197;p28">
                <a:extLst>
                  <a:ext uri="{FF2B5EF4-FFF2-40B4-BE49-F238E27FC236}">
                    <a16:creationId xmlns:a16="http://schemas.microsoft.com/office/drawing/2014/main" id="{55CFAC17-5016-FD3B-A07E-D82B46F4E490}"/>
                  </a:ext>
                </a:extLst>
              </p:cNvPr>
              <p:cNvSpPr/>
              <p:nvPr/>
            </p:nvSpPr>
            <p:spPr>
              <a:xfrm>
                <a:off x="7343487" y="1848734"/>
                <a:ext cx="185338" cy="7639"/>
              </a:xfrm>
              <a:custGeom>
                <a:avLst/>
                <a:gdLst/>
                <a:ahLst/>
                <a:cxnLst/>
                <a:rect l="l" t="t" r="r" b="b"/>
                <a:pathLst>
                  <a:path w="5216" h="215" extrusionOk="0">
                    <a:moveTo>
                      <a:pt x="108" y="0"/>
                    </a:moveTo>
                    <a:cubicBezTo>
                      <a:pt x="48" y="0"/>
                      <a:pt x="1" y="48"/>
                      <a:pt x="1" y="108"/>
                    </a:cubicBezTo>
                    <a:cubicBezTo>
                      <a:pt x="1" y="167"/>
                      <a:pt x="48" y="215"/>
                      <a:pt x="108" y="215"/>
                    </a:cubicBezTo>
                    <a:lnTo>
                      <a:pt x="5096" y="215"/>
                    </a:lnTo>
                    <a:cubicBezTo>
                      <a:pt x="5168" y="215"/>
                      <a:pt x="5216" y="167"/>
                      <a:pt x="5216" y="108"/>
                    </a:cubicBezTo>
                    <a:cubicBezTo>
                      <a:pt x="5216" y="48"/>
                      <a:pt x="5168" y="0"/>
                      <a:pt x="5096" y="0"/>
                    </a:cubicBezTo>
                    <a:close/>
                  </a:path>
                </a:pathLst>
              </a:custGeom>
              <a:solidFill>
                <a:srgbClr val="5EB2FC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>
                  <a:buClr>
                    <a:srgbClr val="000000"/>
                  </a:buClr>
                  <a:buFont typeface="Arial"/>
                  <a:buNone/>
                </a:pPr>
                <a:endParaRPr sz="1400" kern="0">
                  <a:solidFill>
                    <a:srgbClr val="000000"/>
                  </a:solidFill>
                  <a:latin typeface="Oswald" panose="00000500000000000000" pitchFamily="2" charset="0"/>
                  <a:cs typeface="Arial"/>
                  <a:sym typeface="Arial"/>
                </a:endParaRPr>
              </a:p>
            </p:txBody>
          </p:sp>
          <p:sp>
            <p:nvSpPr>
              <p:cNvPr id="221" name="Google Shape;1198;p28">
                <a:extLst>
                  <a:ext uri="{FF2B5EF4-FFF2-40B4-BE49-F238E27FC236}">
                    <a16:creationId xmlns:a16="http://schemas.microsoft.com/office/drawing/2014/main" id="{C9DDE432-9C9C-BFAF-EDB4-B4EBDA883801}"/>
                  </a:ext>
                </a:extLst>
              </p:cNvPr>
              <p:cNvSpPr/>
              <p:nvPr/>
            </p:nvSpPr>
            <p:spPr>
              <a:xfrm>
                <a:off x="7343487" y="1885120"/>
                <a:ext cx="185338" cy="7639"/>
              </a:xfrm>
              <a:custGeom>
                <a:avLst/>
                <a:gdLst/>
                <a:ahLst/>
                <a:cxnLst/>
                <a:rect l="l" t="t" r="r" b="b"/>
                <a:pathLst>
                  <a:path w="5216" h="215" extrusionOk="0">
                    <a:moveTo>
                      <a:pt x="108" y="0"/>
                    </a:moveTo>
                    <a:cubicBezTo>
                      <a:pt x="48" y="0"/>
                      <a:pt x="1" y="48"/>
                      <a:pt x="1" y="108"/>
                    </a:cubicBezTo>
                    <a:cubicBezTo>
                      <a:pt x="1" y="167"/>
                      <a:pt x="48" y="215"/>
                      <a:pt x="108" y="215"/>
                    </a:cubicBezTo>
                    <a:lnTo>
                      <a:pt x="5096" y="215"/>
                    </a:lnTo>
                    <a:cubicBezTo>
                      <a:pt x="5168" y="215"/>
                      <a:pt x="5216" y="167"/>
                      <a:pt x="5216" y="108"/>
                    </a:cubicBezTo>
                    <a:cubicBezTo>
                      <a:pt x="5216" y="48"/>
                      <a:pt x="5168" y="0"/>
                      <a:pt x="5096" y="0"/>
                    </a:cubicBezTo>
                    <a:close/>
                  </a:path>
                </a:pathLst>
              </a:custGeom>
              <a:solidFill>
                <a:srgbClr val="5EB2FC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>
                  <a:buClr>
                    <a:srgbClr val="000000"/>
                  </a:buClr>
                  <a:buFont typeface="Arial"/>
                  <a:buNone/>
                </a:pPr>
                <a:endParaRPr sz="1400" kern="0">
                  <a:solidFill>
                    <a:srgbClr val="000000"/>
                  </a:solidFill>
                  <a:latin typeface="Oswald" panose="00000500000000000000" pitchFamily="2" charset="0"/>
                  <a:cs typeface="Arial"/>
                  <a:sym typeface="Arial"/>
                </a:endParaRPr>
              </a:p>
            </p:txBody>
          </p:sp>
          <p:sp>
            <p:nvSpPr>
              <p:cNvPr id="222" name="Google Shape;1199;p28">
                <a:extLst>
                  <a:ext uri="{FF2B5EF4-FFF2-40B4-BE49-F238E27FC236}">
                    <a16:creationId xmlns:a16="http://schemas.microsoft.com/office/drawing/2014/main" id="{600D1562-51F5-72C1-B6BD-A29CC083CB0F}"/>
                  </a:ext>
                </a:extLst>
              </p:cNvPr>
              <p:cNvSpPr/>
              <p:nvPr/>
            </p:nvSpPr>
            <p:spPr>
              <a:xfrm>
                <a:off x="7343487" y="1921506"/>
                <a:ext cx="185338" cy="8066"/>
              </a:xfrm>
              <a:custGeom>
                <a:avLst/>
                <a:gdLst/>
                <a:ahLst/>
                <a:cxnLst/>
                <a:rect l="l" t="t" r="r" b="b"/>
                <a:pathLst>
                  <a:path w="5216" h="227" extrusionOk="0">
                    <a:moveTo>
                      <a:pt x="108" y="0"/>
                    </a:moveTo>
                    <a:cubicBezTo>
                      <a:pt x="48" y="0"/>
                      <a:pt x="1" y="48"/>
                      <a:pt x="1" y="107"/>
                    </a:cubicBezTo>
                    <a:cubicBezTo>
                      <a:pt x="1" y="179"/>
                      <a:pt x="48" y="227"/>
                      <a:pt x="108" y="227"/>
                    </a:cubicBezTo>
                    <a:lnTo>
                      <a:pt x="5096" y="227"/>
                    </a:lnTo>
                    <a:cubicBezTo>
                      <a:pt x="5168" y="227"/>
                      <a:pt x="5216" y="179"/>
                      <a:pt x="5216" y="107"/>
                    </a:cubicBezTo>
                    <a:cubicBezTo>
                      <a:pt x="5216" y="48"/>
                      <a:pt x="5168" y="0"/>
                      <a:pt x="5096" y="0"/>
                    </a:cubicBezTo>
                    <a:close/>
                  </a:path>
                </a:pathLst>
              </a:custGeom>
              <a:solidFill>
                <a:srgbClr val="5EB2FC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>
                  <a:buClr>
                    <a:srgbClr val="000000"/>
                  </a:buClr>
                  <a:buFont typeface="Arial"/>
                  <a:buNone/>
                </a:pPr>
                <a:endParaRPr sz="1400" kern="0">
                  <a:solidFill>
                    <a:srgbClr val="000000"/>
                  </a:solidFill>
                  <a:latin typeface="Oswald" panose="00000500000000000000" pitchFamily="2" charset="0"/>
                  <a:cs typeface="Arial"/>
                  <a:sym typeface="Arial"/>
                </a:endParaRPr>
              </a:p>
            </p:txBody>
          </p:sp>
          <p:sp>
            <p:nvSpPr>
              <p:cNvPr id="223" name="Google Shape;1200;p28">
                <a:extLst>
                  <a:ext uri="{FF2B5EF4-FFF2-40B4-BE49-F238E27FC236}">
                    <a16:creationId xmlns:a16="http://schemas.microsoft.com/office/drawing/2014/main" id="{C5B52FC9-D44E-428D-BE06-3FE5E9D8ABE1}"/>
                  </a:ext>
                </a:extLst>
              </p:cNvPr>
              <p:cNvSpPr/>
              <p:nvPr/>
            </p:nvSpPr>
            <p:spPr>
              <a:xfrm>
                <a:off x="7343487" y="1957891"/>
                <a:ext cx="185338" cy="8066"/>
              </a:xfrm>
              <a:custGeom>
                <a:avLst/>
                <a:gdLst/>
                <a:ahLst/>
                <a:cxnLst/>
                <a:rect l="l" t="t" r="r" b="b"/>
                <a:pathLst>
                  <a:path w="5216" h="227" extrusionOk="0">
                    <a:moveTo>
                      <a:pt x="108" y="0"/>
                    </a:moveTo>
                    <a:cubicBezTo>
                      <a:pt x="48" y="0"/>
                      <a:pt x="1" y="60"/>
                      <a:pt x="1" y="119"/>
                    </a:cubicBezTo>
                    <a:cubicBezTo>
                      <a:pt x="1" y="179"/>
                      <a:pt x="48" y="226"/>
                      <a:pt x="108" y="226"/>
                    </a:cubicBezTo>
                    <a:lnTo>
                      <a:pt x="5096" y="226"/>
                    </a:lnTo>
                    <a:cubicBezTo>
                      <a:pt x="5168" y="226"/>
                      <a:pt x="5216" y="179"/>
                      <a:pt x="5216" y="119"/>
                    </a:cubicBezTo>
                    <a:cubicBezTo>
                      <a:pt x="5216" y="60"/>
                      <a:pt x="5168" y="0"/>
                      <a:pt x="5096" y="0"/>
                    </a:cubicBezTo>
                    <a:close/>
                  </a:path>
                </a:pathLst>
              </a:custGeom>
              <a:solidFill>
                <a:srgbClr val="5EB2FC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>
                  <a:buClr>
                    <a:srgbClr val="000000"/>
                  </a:buClr>
                  <a:buFont typeface="Arial"/>
                  <a:buNone/>
                </a:pPr>
                <a:endParaRPr sz="1400" kern="0">
                  <a:solidFill>
                    <a:srgbClr val="000000"/>
                  </a:solidFill>
                  <a:latin typeface="Oswald" panose="00000500000000000000" pitchFamily="2" charset="0"/>
                  <a:cs typeface="Arial"/>
                  <a:sym typeface="Arial"/>
                </a:endParaRPr>
              </a:p>
            </p:txBody>
          </p:sp>
          <p:sp>
            <p:nvSpPr>
              <p:cNvPr id="224" name="Google Shape;1201;p28">
                <a:extLst>
                  <a:ext uri="{FF2B5EF4-FFF2-40B4-BE49-F238E27FC236}">
                    <a16:creationId xmlns:a16="http://schemas.microsoft.com/office/drawing/2014/main" id="{F848D5EB-42B1-02A9-6CED-006AB7C48F0B}"/>
                  </a:ext>
                </a:extLst>
              </p:cNvPr>
              <p:cNvSpPr/>
              <p:nvPr/>
            </p:nvSpPr>
            <p:spPr>
              <a:xfrm>
                <a:off x="7343487" y="1994703"/>
                <a:ext cx="185338" cy="7639"/>
              </a:xfrm>
              <a:custGeom>
                <a:avLst/>
                <a:gdLst/>
                <a:ahLst/>
                <a:cxnLst/>
                <a:rect l="l" t="t" r="r" b="b"/>
                <a:pathLst>
                  <a:path w="5216" h="215" extrusionOk="0">
                    <a:moveTo>
                      <a:pt x="108" y="0"/>
                    </a:moveTo>
                    <a:cubicBezTo>
                      <a:pt x="48" y="0"/>
                      <a:pt x="1" y="48"/>
                      <a:pt x="1" y="107"/>
                    </a:cubicBezTo>
                    <a:cubicBezTo>
                      <a:pt x="1" y="167"/>
                      <a:pt x="48" y="214"/>
                      <a:pt x="108" y="214"/>
                    </a:cubicBezTo>
                    <a:lnTo>
                      <a:pt x="5096" y="214"/>
                    </a:lnTo>
                    <a:cubicBezTo>
                      <a:pt x="5168" y="214"/>
                      <a:pt x="5216" y="167"/>
                      <a:pt x="5216" y="107"/>
                    </a:cubicBezTo>
                    <a:cubicBezTo>
                      <a:pt x="5216" y="48"/>
                      <a:pt x="5168" y="0"/>
                      <a:pt x="5096" y="0"/>
                    </a:cubicBezTo>
                    <a:close/>
                  </a:path>
                </a:pathLst>
              </a:custGeom>
              <a:solidFill>
                <a:srgbClr val="5EB2FC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>
                  <a:buClr>
                    <a:srgbClr val="000000"/>
                  </a:buClr>
                  <a:buFont typeface="Arial"/>
                  <a:buNone/>
                </a:pPr>
                <a:endParaRPr sz="1400" kern="0">
                  <a:solidFill>
                    <a:srgbClr val="000000"/>
                  </a:solidFill>
                  <a:latin typeface="Oswald" panose="00000500000000000000" pitchFamily="2" charset="0"/>
                  <a:cs typeface="Arial"/>
                  <a:sym typeface="Arial"/>
                </a:endParaRPr>
              </a:p>
            </p:txBody>
          </p:sp>
          <p:sp>
            <p:nvSpPr>
              <p:cNvPr id="225" name="Google Shape;1202;p28">
                <a:extLst>
                  <a:ext uri="{FF2B5EF4-FFF2-40B4-BE49-F238E27FC236}">
                    <a16:creationId xmlns:a16="http://schemas.microsoft.com/office/drawing/2014/main" id="{80C4AD59-9EFB-1D49-11E5-7672E5A98927}"/>
                  </a:ext>
                </a:extLst>
              </p:cNvPr>
              <p:cNvSpPr/>
              <p:nvPr/>
            </p:nvSpPr>
            <p:spPr>
              <a:xfrm>
                <a:off x="7343487" y="2031053"/>
                <a:ext cx="185338" cy="7675"/>
              </a:xfrm>
              <a:custGeom>
                <a:avLst/>
                <a:gdLst/>
                <a:ahLst/>
                <a:cxnLst/>
                <a:rect l="l" t="t" r="r" b="b"/>
                <a:pathLst>
                  <a:path w="5216" h="216" extrusionOk="0">
                    <a:moveTo>
                      <a:pt x="108" y="1"/>
                    </a:moveTo>
                    <a:cubicBezTo>
                      <a:pt x="48" y="1"/>
                      <a:pt x="1" y="49"/>
                      <a:pt x="1" y="108"/>
                    </a:cubicBezTo>
                    <a:cubicBezTo>
                      <a:pt x="1" y="168"/>
                      <a:pt x="48" y="215"/>
                      <a:pt x="108" y="215"/>
                    </a:cubicBezTo>
                    <a:lnTo>
                      <a:pt x="5096" y="215"/>
                    </a:lnTo>
                    <a:cubicBezTo>
                      <a:pt x="5168" y="215"/>
                      <a:pt x="5216" y="168"/>
                      <a:pt x="5216" y="108"/>
                    </a:cubicBezTo>
                    <a:cubicBezTo>
                      <a:pt x="5216" y="49"/>
                      <a:pt x="5168" y="1"/>
                      <a:pt x="5096" y="1"/>
                    </a:cubicBezTo>
                    <a:close/>
                  </a:path>
                </a:pathLst>
              </a:custGeom>
              <a:solidFill>
                <a:srgbClr val="5EB2FC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>
                  <a:buClr>
                    <a:srgbClr val="000000"/>
                  </a:buClr>
                  <a:buFont typeface="Arial"/>
                  <a:buNone/>
                </a:pPr>
                <a:endParaRPr sz="1400" kern="0">
                  <a:solidFill>
                    <a:srgbClr val="000000"/>
                  </a:solidFill>
                  <a:latin typeface="Oswald" panose="00000500000000000000" pitchFamily="2" charset="0"/>
                  <a:cs typeface="Arial"/>
                  <a:sym typeface="Arial"/>
                </a:endParaRPr>
              </a:p>
            </p:txBody>
          </p:sp>
        </p:grpSp>
        <p:sp>
          <p:nvSpPr>
            <p:cNvPr id="212" name="Google Shape;1203;p28">
              <a:extLst>
                <a:ext uri="{FF2B5EF4-FFF2-40B4-BE49-F238E27FC236}">
                  <a16:creationId xmlns:a16="http://schemas.microsoft.com/office/drawing/2014/main" id="{6DB132E0-6681-057D-A215-134A59F965E6}"/>
                </a:ext>
              </a:extLst>
            </p:cNvPr>
            <p:cNvSpPr/>
            <p:nvPr/>
          </p:nvSpPr>
          <p:spPr>
            <a:xfrm>
              <a:off x="6845138" y="2732081"/>
              <a:ext cx="1291180" cy="440034"/>
            </a:xfrm>
            <a:custGeom>
              <a:avLst/>
              <a:gdLst/>
              <a:ahLst/>
              <a:cxnLst/>
              <a:rect l="l" t="t" r="r" b="b"/>
              <a:pathLst>
                <a:path w="36338" h="12384" extrusionOk="0">
                  <a:moveTo>
                    <a:pt x="0" y="1"/>
                  </a:moveTo>
                  <a:lnTo>
                    <a:pt x="0" y="1358"/>
                  </a:lnTo>
                  <a:cubicBezTo>
                    <a:pt x="2417" y="1644"/>
                    <a:pt x="4298" y="3692"/>
                    <a:pt x="4298" y="6192"/>
                  </a:cubicBezTo>
                  <a:cubicBezTo>
                    <a:pt x="4298" y="8692"/>
                    <a:pt x="2417" y="10752"/>
                    <a:pt x="0" y="11038"/>
                  </a:cubicBezTo>
                  <a:lnTo>
                    <a:pt x="0" y="12383"/>
                  </a:lnTo>
                  <a:lnTo>
                    <a:pt x="32040" y="12383"/>
                  </a:lnTo>
                  <a:lnTo>
                    <a:pt x="32040" y="10502"/>
                  </a:lnTo>
                  <a:cubicBezTo>
                    <a:pt x="34409" y="10502"/>
                    <a:pt x="36338" y="8573"/>
                    <a:pt x="36338" y="6192"/>
                  </a:cubicBezTo>
                  <a:cubicBezTo>
                    <a:pt x="36338" y="3823"/>
                    <a:pt x="34409" y="1894"/>
                    <a:pt x="32040" y="1894"/>
                  </a:cubicBezTo>
                  <a:lnTo>
                    <a:pt x="3204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algn="ctr">
                <a:buClr>
                  <a:srgbClr val="000000"/>
                </a:buClr>
                <a:buFont typeface="Arial"/>
                <a:buNone/>
              </a:pPr>
              <a:r>
                <a:rPr lang="en" sz="1400" kern="0">
                  <a:solidFill>
                    <a:srgbClr val="FFFFFF"/>
                  </a:solidFill>
                  <a:latin typeface="Oswald" panose="00000500000000000000" pitchFamily="2" charset="0"/>
                  <a:ea typeface="Fira Sans Extra Condensed Medium"/>
                  <a:cs typeface="Fira Sans Extra Condensed Medium"/>
                  <a:sym typeface="Fira Sans Extra Condensed Medium"/>
                </a:rPr>
                <a:t>Phase 8</a:t>
              </a:r>
              <a:endParaRPr sz="1400" kern="0">
                <a:solidFill>
                  <a:srgbClr val="FFFFFF"/>
                </a:solidFill>
                <a:latin typeface="Oswald" panose="00000500000000000000" pitchFamily="2" charset="0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213" name="Google Shape;1204;p28">
              <a:extLst>
                <a:ext uri="{FF2B5EF4-FFF2-40B4-BE49-F238E27FC236}">
                  <a16:creationId xmlns:a16="http://schemas.microsoft.com/office/drawing/2014/main" id="{F5FF3D33-74FA-AF93-3EC6-AB8EE901510B}"/>
                </a:ext>
              </a:extLst>
            </p:cNvPr>
            <p:cNvSpPr/>
            <p:nvPr/>
          </p:nvSpPr>
          <p:spPr>
            <a:xfrm>
              <a:off x="7455167" y="2235403"/>
              <a:ext cx="63070" cy="63070"/>
            </a:xfrm>
            <a:custGeom>
              <a:avLst/>
              <a:gdLst/>
              <a:ahLst/>
              <a:cxnLst/>
              <a:rect l="l" t="t" r="r" b="b"/>
              <a:pathLst>
                <a:path w="1775" h="1775" extrusionOk="0">
                  <a:moveTo>
                    <a:pt x="882" y="1"/>
                  </a:moveTo>
                  <a:cubicBezTo>
                    <a:pt x="394" y="1"/>
                    <a:pt x="1" y="394"/>
                    <a:pt x="1" y="882"/>
                  </a:cubicBezTo>
                  <a:cubicBezTo>
                    <a:pt x="1" y="1382"/>
                    <a:pt x="394" y="1775"/>
                    <a:pt x="882" y="1775"/>
                  </a:cubicBezTo>
                  <a:cubicBezTo>
                    <a:pt x="1382" y="1775"/>
                    <a:pt x="1775" y="1382"/>
                    <a:pt x="1775" y="882"/>
                  </a:cubicBezTo>
                  <a:cubicBezTo>
                    <a:pt x="1775" y="394"/>
                    <a:pt x="1382" y="1"/>
                    <a:pt x="882" y="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>
                <a:buClr>
                  <a:srgbClr val="000000"/>
                </a:buClr>
                <a:buFont typeface="Arial"/>
                <a:buNone/>
              </a:pPr>
              <a:endParaRPr sz="1400" kern="0">
                <a:solidFill>
                  <a:srgbClr val="000000"/>
                </a:solidFill>
                <a:latin typeface="Oswald" panose="00000500000000000000" pitchFamily="2" charset="0"/>
                <a:cs typeface="Arial"/>
                <a:sym typeface="Arial"/>
              </a:endParaRPr>
            </a:p>
          </p:txBody>
        </p:sp>
        <p:sp>
          <p:nvSpPr>
            <p:cNvPr id="214" name="Google Shape;1205;p28">
              <a:extLst>
                <a:ext uri="{FF2B5EF4-FFF2-40B4-BE49-F238E27FC236}">
                  <a16:creationId xmlns:a16="http://schemas.microsoft.com/office/drawing/2014/main" id="{BDBE60E0-D28D-8F85-1389-37C5D8FA6512}"/>
                </a:ext>
              </a:extLst>
            </p:cNvPr>
            <p:cNvSpPr txBox="1"/>
            <p:nvPr/>
          </p:nvSpPr>
          <p:spPr>
            <a:xfrm>
              <a:off x="6739006" y="1136495"/>
              <a:ext cx="1291500" cy="534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algn="ctr">
                <a:buClr>
                  <a:srgbClr val="000000"/>
                </a:buClr>
                <a:buFont typeface="Arial"/>
                <a:buNone/>
              </a:pPr>
              <a:r>
                <a:rPr lang="en" sz="1500" kern="0">
                  <a:solidFill>
                    <a:srgbClr val="434343"/>
                  </a:solidFill>
                  <a:latin typeface="Oswald" panose="00000500000000000000" pitchFamily="2" charset="0"/>
                  <a:ea typeface="Roboto"/>
                  <a:cs typeface="Roboto"/>
                  <a:sym typeface="Roboto"/>
                </a:rPr>
                <a:t>Process Training</a:t>
              </a:r>
              <a:endParaRPr sz="1500" kern="0">
                <a:solidFill>
                  <a:srgbClr val="434343"/>
                </a:solidFill>
                <a:latin typeface="Oswald" panose="00000500000000000000" pitchFamily="2" charset="0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226" name="Google Shape;1189;p28">
            <a:extLst>
              <a:ext uri="{FF2B5EF4-FFF2-40B4-BE49-F238E27FC236}">
                <a16:creationId xmlns:a16="http://schemas.microsoft.com/office/drawing/2014/main" id="{DA197626-712E-D5E1-58E5-852BF9D14CCD}"/>
              </a:ext>
            </a:extLst>
          </p:cNvPr>
          <p:cNvGrpSpPr/>
          <p:nvPr/>
        </p:nvGrpSpPr>
        <p:grpSpPr>
          <a:xfrm>
            <a:off x="9910716" y="1042078"/>
            <a:ext cx="1397312" cy="2035620"/>
            <a:chOff x="6739006" y="1136495"/>
            <a:chExt cx="1397312" cy="2035620"/>
          </a:xfrm>
        </p:grpSpPr>
        <p:sp>
          <p:nvSpPr>
            <p:cNvPr id="227" name="Google Shape;1190;p28">
              <a:extLst>
                <a:ext uri="{FF2B5EF4-FFF2-40B4-BE49-F238E27FC236}">
                  <a16:creationId xmlns:a16="http://schemas.microsoft.com/office/drawing/2014/main" id="{7E525721-8335-C85D-2371-3A82DFCD597D}"/>
                </a:ext>
              </a:extLst>
            </p:cNvPr>
            <p:cNvSpPr/>
            <p:nvPr/>
          </p:nvSpPr>
          <p:spPr>
            <a:xfrm>
              <a:off x="7480999" y="2261200"/>
              <a:ext cx="11441" cy="704858"/>
            </a:xfrm>
            <a:custGeom>
              <a:avLst/>
              <a:gdLst/>
              <a:ahLst/>
              <a:cxnLst/>
              <a:rect l="l" t="t" r="r" b="b"/>
              <a:pathLst>
                <a:path w="322" h="19837" extrusionOk="0">
                  <a:moveTo>
                    <a:pt x="155" y="1"/>
                  </a:moveTo>
                  <a:cubicBezTo>
                    <a:pt x="72" y="1"/>
                    <a:pt x="0" y="72"/>
                    <a:pt x="0" y="156"/>
                  </a:cubicBezTo>
                  <a:lnTo>
                    <a:pt x="0" y="19682"/>
                  </a:lnTo>
                  <a:cubicBezTo>
                    <a:pt x="0" y="19765"/>
                    <a:pt x="72" y="19837"/>
                    <a:pt x="155" y="19837"/>
                  </a:cubicBezTo>
                  <a:cubicBezTo>
                    <a:pt x="250" y="19837"/>
                    <a:pt x="322" y="19765"/>
                    <a:pt x="322" y="19682"/>
                  </a:cubicBezTo>
                  <a:lnTo>
                    <a:pt x="322" y="156"/>
                  </a:lnTo>
                  <a:cubicBezTo>
                    <a:pt x="322" y="72"/>
                    <a:pt x="250" y="1"/>
                    <a:pt x="155" y="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>
                <a:buClr>
                  <a:srgbClr val="000000"/>
                </a:buClr>
                <a:buFont typeface="Arial"/>
                <a:buNone/>
              </a:pPr>
              <a:endParaRPr sz="1400" kern="0">
                <a:solidFill>
                  <a:srgbClr val="000000"/>
                </a:solidFill>
                <a:latin typeface="Oswald" panose="00000500000000000000" pitchFamily="2" charset="0"/>
                <a:cs typeface="Arial"/>
                <a:sym typeface="Arial"/>
              </a:endParaRPr>
            </a:p>
          </p:txBody>
        </p:sp>
        <p:grpSp>
          <p:nvGrpSpPr>
            <p:cNvPr id="228" name="Google Shape;1191;p28">
              <a:extLst>
                <a:ext uri="{FF2B5EF4-FFF2-40B4-BE49-F238E27FC236}">
                  <a16:creationId xmlns:a16="http://schemas.microsoft.com/office/drawing/2014/main" id="{D1208399-531F-38A5-1FCE-3FE271A37C50}"/>
                </a:ext>
              </a:extLst>
            </p:cNvPr>
            <p:cNvGrpSpPr/>
            <p:nvPr/>
          </p:nvGrpSpPr>
          <p:grpSpPr>
            <a:xfrm>
              <a:off x="7307954" y="1698963"/>
              <a:ext cx="365560" cy="450589"/>
              <a:chOff x="7307954" y="1698963"/>
              <a:chExt cx="365560" cy="450589"/>
            </a:xfrm>
          </p:grpSpPr>
          <p:sp>
            <p:nvSpPr>
              <p:cNvPr id="232" name="Google Shape;1192;p28">
                <a:extLst>
                  <a:ext uri="{FF2B5EF4-FFF2-40B4-BE49-F238E27FC236}">
                    <a16:creationId xmlns:a16="http://schemas.microsoft.com/office/drawing/2014/main" id="{631F29CF-A516-0B34-48AF-DB63D27AF3C9}"/>
                  </a:ext>
                </a:extLst>
              </p:cNvPr>
              <p:cNvSpPr/>
              <p:nvPr/>
            </p:nvSpPr>
            <p:spPr>
              <a:xfrm>
                <a:off x="7432319" y="1819526"/>
                <a:ext cx="241195" cy="330026"/>
              </a:xfrm>
              <a:custGeom>
                <a:avLst/>
                <a:gdLst/>
                <a:ahLst/>
                <a:cxnLst/>
                <a:rect l="l" t="t" r="r" b="b"/>
                <a:pathLst>
                  <a:path w="6788" h="9288" extrusionOk="0">
                    <a:moveTo>
                      <a:pt x="3609" y="1"/>
                    </a:moveTo>
                    <a:cubicBezTo>
                      <a:pt x="3549" y="1"/>
                      <a:pt x="3501" y="49"/>
                      <a:pt x="3501" y="120"/>
                    </a:cubicBezTo>
                    <a:cubicBezTo>
                      <a:pt x="3501" y="179"/>
                      <a:pt x="3549" y="227"/>
                      <a:pt x="3609" y="227"/>
                    </a:cubicBezTo>
                    <a:lnTo>
                      <a:pt x="6561" y="227"/>
                    </a:lnTo>
                    <a:lnTo>
                      <a:pt x="6561" y="9073"/>
                    </a:lnTo>
                    <a:lnTo>
                      <a:pt x="215" y="9073"/>
                    </a:lnTo>
                    <a:lnTo>
                      <a:pt x="215" y="7383"/>
                    </a:lnTo>
                    <a:cubicBezTo>
                      <a:pt x="215" y="7323"/>
                      <a:pt x="168" y="7276"/>
                      <a:pt x="108" y="7276"/>
                    </a:cubicBezTo>
                    <a:cubicBezTo>
                      <a:pt x="49" y="7276"/>
                      <a:pt x="1" y="7323"/>
                      <a:pt x="1" y="7383"/>
                    </a:cubicBezTo>
                    <a:lnTo>
                      <a:pt x="1" y="9288"/>
                    </a:lnTo>
                    <a:lnTo>
                      <a:pt x="6787" y="9288"/>
                    </a:lnTo>
                    <a:lnTo>
                      <a:pt x="6787" y="1"/>
                    </a:lnTo>
                    <a:close/>
                  </a:path>
                </a:pathLst>
              </a:custGeom>
              <a:solidFill>
                <a:srgbClr val="5EB2FC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>
                  <a:buClr>
                    <a:srgbClr val="000000"/>
                  </a:buClr>
                  <a:buFont typeface="Arial"/>
                  <a:buNone/>
                </a:pPr>
                <a:endParaRPr sz="1400" kern="0">
                  <a:solidFill>
                    <a:srgbClr val="000000"/>
                  </a:solidFill>
                  <a:latin typeface="Oswald" panose="00000500000000000000" pitchFamily="2" charset="0"/>
                  <a:cs typeface="Arial"/>
                  <a:sym typeface="Arial"/>
                </a:endParaRPr>
              </a:p>
            </p:txBody>
          </p:sp>
          <p:sp>
            <p:nvSpPr>
              <p:cNvPr id="233" name="Google Shape;1193;p28">
                <a:extLst>
                  <a:ext uri="{FF2B5EF4-FFF2-40B4-BE49-F238E27FC236}">
                    <a16:creationId xmlns:a16="http://schemas.microsoft.com/office/drawing/2014/main" id="{6DDB7ED4-3B4D-FE72-11B4-052B9DF7B160}"/>
                  </a:ext>
                </a:extLst>
              </p:cNvPr>
              <p:cNvSpPr/>
              <p:nvPr/>
            </p:nvSpPr>
            <p:spPr>
              <a:xfrm>
                <a:off x="7307954" y="1698963"/>
                <a:ext cx="256403" cy="387127"/>
              </a:xfrm>
              <a:custGeom>
                <a:avLst/>
                <a:gdLst/>
                <a:ahLst/>
                <a:cxnLst/>
                <a:rect l="l" t="t" r="r" b="b"/>
                <a:pathLst>
                  <a:path w="7216" h="10895" extrusionOk="0">
                    <a:moveTo>
                      <a:pt x="7001" y="215"/>
                    </a:moveTo>
                    <a:lnTo>
                      <a:pt x="7001" y="10669"/>
                    </a:lnTo>
                    <a:lnTo>
                      <a:pt x="215" y="10669"/>
                    </a:lnTo>
                    <a:lnTo>
                      <a:pt x="215" y="215"/>
                    </a:lnTo>
                    <a:close/>
                    <a:moveTo>
                      <a:pt x="0" y="1"/>
                    </a:moveTo>
                    <a:lnTo>
                      <a:pt x="0" y="10895"/>
                    </a:lnTo>
                    <a:lnTo>
                      <a:pt x="7216" y="10895"/>
                    </a:lnTo>
                    <a:lnTo>
                      <a:pt x="7216" y="1"/>
                    </a:lnTo>
                    <a:close/>
                  </a:path>
                </a:pathLst>
              </a:custGeom>
              <a:solidFill>
                <a:srgbClr val="5EB2FC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>
                  <a:buClr>
                    <a:srgbClr val="000000"/>
                  </a:buClr>
                  <a:buFont typeface="Arial"/>
                  <a:buNone/>
                </a:pPr>
                <a:endParaRPr sz="1400" kern="0">
                  <a:solidFill>
                    <a:srgbClr val="000000"/>
                  </a:solidFill>
                  <a:latin typeface="Oswald" panose="00000500000000000000" pitchFamily="2" charset="0"/>
                  <a:cs typeface="Arial"/>
                  <a:sym typeface="Arial"/>
                </a:endParaRPr>
              </a:p>
            </p:txBody>
          </p:sp>
          <p:sp>
            <p:nvSpPr>
              <p:cNvPr id="234" name="Google Shape;1194;p28">
                <a:extLst>
                  <a:ext uri="{FF2B5EF4-FFF2-40B4-BE49-F238E27FC236}">
                    <a16:creationId xmlns:a16="http://schemas.microsoft.com/office/drawing/2014/main" id="{3FAD3A8F-F89D-E5B7-6CD3-52B4319634A0}"/>
                  </a:ext>
                </a:extLst>
              </p:cNvPr>
              <p:cNvSpPr/>
              <p:nvPr/>
            </p:nvSpPr>
            <p:spPr>
              <a:xfrm>
                <a:off x="7343487" y="1739577"/>
                <a:ext cx="185338" cy="7639"/>
              </a:xfrm>
              <a:custGeom>
                <a:avLst/>
                <a:gdLst/>
                <a:ahLst/>
                <a:cxnLst/>
                <a:rect l="l" t="t" r="r" b="b"/>
                <a:pathLst>
                  <a:path w="5216" h="215" extrusionOk="0">
                    <a:moveTo>
                      <a:pt x="108" y="1"/>
                    </a:moveTo>
                    <a:cubicBezTo>
                      <a:pt x="48" y="1"/>
                      <a:pt x="1" y="48"/>
                      <a:pt x="1" y="108"/>
                    </a:cubicBezTo>
                    <a:cubicBezTo>
                      <a:pt x="1" y="167"/>
                      <a:pt x="48" y="215"/>
                      <a:pt x="108" y="215"/>
                    </a:cubicBezTo>
                    <a:lnTo>
                      <a:pt x="5096" y="215"/>
                    </a:lnTo>
                    <a:cubicBezTo>
                      <a:pt x="5168" y="215"/>
                      <a:pt x="5216" y="167"/>
                      <a:pt x="5216" y="108"/>
                    </a:cubicBezTo>
                    <a:cubicBezTo>
                      <a:pt x="5216" y="48"/>
                      <a:pt x="5168" y="1"/>
                      <a:pt x="5096" y="1"/>
                    </a:cubicBezTo>
                    <a:close/>
                  </a:path>
                </a:pathLst>
              </a:custGeom>
              <a:solidFill>
                <a:srgbClr val="5EB2FC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>
                  <a:buClr>
                    <a:srgbClr val="000000"/>
                  </a:buClr>
                  <a:buFont typeface="Arial"/>
                  <a:buNone/>
                </a:pPr>
                <a:endParaRPr sz="1400" kern="0">
                  <a:solidFill>
                    <a:srgbClr val="000000"/>
                  </a:solidFill>
                  <a:latin typeface="Oswald" panose="00000500000000000000" pitchFamily="2" charset="0"/>
                  <a:cs typeface="Arial"/>
                  <a:sym typeface="Arial"/>
                </a:endParaRPr>
              </a:p>
            </p:txBody>
          </p:sp>
          <p:sp>
            <p:nvSpPr>
              <p:cNvPr id="235" name="Google Shape;1195;p28">
                <a:extLst>
                  <a:ext uri="{FF2B5EF4-FFF2-40B4-BE49-F238E27FC236}">
                    <a16:creationId xmlns:a16="http://schemas.microsoft.com/office/drawing/2014/main" id="{3F876EB3-831F-89B5-5D10-60A0A1D0AF43}"/>
                  </a:ext>
                </a:extLst>
              </p:cNvPr>
              <p:cNvSpPr/>
              <p:nvPr/>
            </p:nvSpPr>
            <p:spPr>
              <a:xfrm>
                <a:off x="7343487" y="1775963"/>
                <a:ext cx="185338" cy="7639"/>
              </a:xfrm>
              <a:custGeom>
                <a:avLst/>
                <a:gdLst/>
                <a:ahLst/>
                <a:cxnLst/>
                <a:rect l="l" t="t" r="r" b="b"/>
                <a:pathLst>
                  <a:path w="5216" h="215" extrusionOk="0">
                    <a:moveTo>
                      <a:pt x="108" y="1"/>
                    </a:moveTo>
                    <a:cubicBezTo>
                      <a:pt x="48" y="1"/>
                      <a:pt x="1" y="48"/>
                      <a:pt x="1" y="108"/>
                    </a:cubicBezTo>
                    <a:cubicBezTo>
                      <a:pt x="1" y="167"/>
                      <a:pt x="48" y="215"/>
                      <a:pt x="108" y="215"/>
                    </a:cubicBezTo>
                    <a:lnTo>
                      <a:pt x="5096" y="215"/>
                    </a:lnTo>
                    <a:cubicBezTo>
                      <a:pt x="5168" y="215"/>
                      <a:pt x="5216" y="167"/>
                      <a:pt x="5216" y="108"/>
                    </a:cubicBezTo>
                    <a:cubicBezTo>
                      <a:pt x="5216" y="48"/>
                      <a:pt x="5168" y="1"/>
                      <a:pt x="5096" y="1"/>
                    </a:cubicBezTo>
                    <a:close/>
                  </a:path>
                </a:pathLst>
              </a:custGeom>
              <a:solidFill>
                <a:srgbClr val="5EB2FC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>
                  <a:buClr>
                    <a:srgbClr val="000000"/>
                  </a:buClr>
                  <a:buFont typeface="Arial"/>
                  <a:buNone/>
                </a:pPr>
                <a:endParaRPr sz="1400" kern="0">
                  <a:solidFill>
                    <a:srgbClr val="000000"/>
                  </a:solidFill>
                  <a:latin typeface="Oswald" panose="00000500000000000000" pitchFamily="2" charset="0"/>
                  <a:cs typeface="Arial"/>
                  <a:sym typeface="Arial"/>
                </a:endParaRPr>
              </a:p>
            </p:txBody>
          </p:sp>
          <p:sp>
            <p:nvSpPr>
              <p:cNvPr id="236" name="Google Shape;1196;p28">
                <a:extLst>
                  <a:ext uri="{FF2B5EF4-FFF2-40B4-BE49-F238E27FC236}">
                    <a16:creationId xmlns:a16="http://schemas.microsoft.com/office/drawing/2014/main" id="{FC94DCF4-5109-EC6C-ADFC-5B48991D996C}"/>
                  </a:ext>
                </a:extLst>
              </p:cNvPr>
              <p:cNvSpPr/>
              <p:nvPr/>
            </p:nvSpPr>
            <p:spPr>
              <a:xfrm>
                <a:off x="7343487" y="1812349"/>
                <a:ext cx="185338" cy="7639"/>
              </a:xfrm>
              <a:custGeom>
                <a:avLst/>
                <a:gdLst/>
                <a:ahLst/>
                <a:cxnLst/>
                <a:rect l="l" t="t" r="r" b="b"/>
                <a:pathLst>
                  <a:path w="5216" h="215" extrusionOk="0">
                    <a:moveTo>
                      <a:pt x="108" y="0"/>
                    </a:moveTo>
                    <a:cubicBezTo>
                      <a:pt x="48" y="0"/>
                      <a:pt x="1" y="48"/>
                      <a:pt x="1" y="108"/>
                    </a:cubicBezTo>
                    <a:cubicBezTo>
                      <a:pt x="1" y="167"/>
                      <a:pt x="48" y="215"/>
                      <a:pt x="108" y="215"/>
                    </a:cubicBezTo>
                    <a:lnTo>
                      <a:pt x="5096" y="215"/>
                    </a:lnTo>
                    <a:cubicBezTo>
                      <a:pt x="5168" y="215"/>
                      <a:pt x="5216" y="167"/>
                      <a:pt x="5216" y="108"/>
                    </a:cubicBezTo>
                    <a:cubicBezTo>
                      <a:pt x="5216" y="48"/>
                      <a:pt x="5168" y="0"/>
                      <a:pt x="5096" y="0"/>
                    </a:cubicBezTo>
                    <a:close/>
                  </a:path>
                </a:pathLst>
              </a:custGeom>
              <a:solidFill>
                <a:srgbClr val="5EB2FC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>
                  <a:buClr>
                    <a:srgbClr val="000000"/>
                  </a:buClr>
                  <a:buFont typeface="Arial"/>
                  <a:buNone/>
                </a:pPr>
                <a:endParaRPr sz="1400" kern="0">
                  <a:solidFill>
                    <a:srgbClr val="000000"/>
                  </a:solidFill>
                  <a:latin typeface="Oswald" panose="00000500000000000000" pitchFamily="2" charset="0"/>
                  <a:cs typeface="Arial"/>
                  <a:sym typeface="Arial"/>
                </a:endParaRPr>
              </a:p>
            </p:txBody>
          </p:sp>
          <p:sp>
            <p:nvSpPr>
              <p:cNvPr id="237" name="Google Shape;1197;p28">
                <a:extLst>
                  <a:ext uri="{FF2B5EF4-FFF2-40B4-BE49-F238E27FC236}">
                    <a16:creationId xmlns:a16="http://schemas.microsoft.com/office/drawing/2014/main" id="{12924D8E-1CE7-3ECB-3372-3C498803C9D2}"/>
                  </a:ext>
                </a:extLst>
              </p:cNvPr>
              <p:cNvSpPr/>
              <p:nvPr/>
            </p:nvSpPr>
            <p:spPr>
              <a:xfrm>
                <a:off x="7343487" y="1848734"/>
                <a:ext cx="185338" cy="7639"/>
              </a:xfrm>
              <a:custGeom>
                <a:avLst/>
                <a:gdLst/>
                <a:ahLst/>
                <a:cxnLst/>
                <a:rect l="l" t="t" r="r" b="b"/>
                <a:pathLst>
                  <a:path w="5216" h="215" extrusionOk="0">
                    <a:moveTo>
                      <a:pt x="108" y="0"/>
                    </a:moveTo>
                    <a:cubicBezTo>
                      <a:pt x="48" y="0"/>
                      <a:pt x="1" y="48"/>
                      <a:pt x="1" y="108"/>
                    </a:cubicBezTo>
                    <a:cubicBezTo>
                      <a:pt x="1" y="167"/>
                      <a:pt x="48" y="215"/>
                      <a:pt x="108" y="215"/>
                    </a:cubicBezTo>
                    <a:lnTo>
                      <a:pt x="5096" y="215"/>
                    </a:lnTo>
                    <a:cubicBezTo>
                      <a:pt x="5168" y="215"/>
                      <a:pt x="5216" y="167"/>
                      <a:pt x="5216" y="108"/>
                    </a:cubicBezTo>
                    <a:cubicBezTo>
                      <a:pt x="5216" y="48"/>
                      <a:pt x="5168" y="0"/>
                      <a:pt x="5096" y="0"/>
                    </a:cubicBezTo>
                    <a:close/>
                  </a:path>
                </a:pathLst>
              </a:custGeom>
              <a:solidFill>
                <a:srgbClr val="5EB2FC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>
                  <a:buClr>
                    <a:srgbClr val="000000"/>
                  </a:buClr>
                  <a:buFont typeface="Arial"/>
                  <a:buNone/>
                </a:pPr>
                <a:endParaRPr sz="1400" kern="0">
                  <a:solidFill>
                    <a:srgbClr val="000000"/>
                  </a:solidFill>
                  <a:latin typeface="Oswald" panose="00000500000000000000" pitchFamily="2" charset="0"/>
                  <a:cs typeface="Arial"/>
                  <a:sym typeface="Arial"/>
                </a:endParaRPr>
              </a:p>
            </p:txBody>
          </p:sp>
          <p:sp>
            <p:nvSpPr>
              <p:cNvPr id="238" name="Google Shape;1198;p28">
                <a:extLst>
                  <a:ext uri="{FF2B5EF4-FFF2-40B4-BE49-F238E27FC236}">
                    <a16:creationId xmlns:a16="http://schemas.microsoft.com/office/drawing/2014/main" id="{2164B9C4-75C7-63B2-F58F-E185A143C60B}"/>
                  </a:ext>
                </a:extLst>
              </p:cNvPr>
              <p:cNvSpPr/>
              <p:nvPr/>
            </p:nvSpPr>
            <p:spPr>
              <a:xfrm>
                <a:off x="7343487" y="1885120"/>
                <a:ext cx="185338" cy="7639"/>
              </a:xfrm>
              <a:custGeom>
                <a:avLst/>
                <a:gdLst/>
                <a:ahLst/>
                <a:cxnLst/>
                <a:rect l="l" t="t" r="r" b="b"/>
                <a:pathLst>
                  <a:path w="5216" h="215" extrusionOk="0">
                    <a:moveTo>
                      <a:pt x="108" y="0"/>
                    </a:moveTo>
                    <a:cubicBezTo>
                      <a:pt x="48" y="0"/>
                      <a:pt x="1" y="48"/>
                      <a:pt x="1" y="108"/>
                    </a:cubicBezTo>
                    <a:cubicBezTo>
                      <a:pt x="1" y="167"/>
                      <a:pt x="48" y="215"/>
                      <a:pt x="108" y="215"/>
                    </a:cubicBezTo>
                    <a:lnTo>
                      <a:pt x="5096" y="215"/>
                    </a:lnTo>
                    <a:cubicBezTo>
                      <a:pt x="5168" y="215"/>
                      <a:pt x="5216" y="167"/>
                      <a:pt x="5216" y="108"/>
                    </a:cubicBezTo>
                    <a:cubicBezTo>
                      <a:pt x="5216" y="48"/>
                      <a:pt x="5168" y="0"/>
                      <a:pt x="5096" y="0"/>
                    </a:cubicBezTo>
                    <a:close/>
                  </a:path>
                </a:pathLst>
              </a:custGeom>
              <a:solidFill>
                <a:srgbClr val="5EB2FC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>
                  <a:buClr>
                    <a:srgbClr val="000000"/>
                  </a:buClr>
                  <a:buFont typeface="Arial"/>
                  <a:buNone/>
                </a:pPr>
                <a:endParaRPr sz="1400" kern="0">
                  <a:solidFill>
                    <a:srgbClr val="000000"/>
                  </a:solidFill>
                  <a:latin typeface="Oswald" panose="00000500000000000000" pitchFamily="2" charset="0"/>
                  <a:cs typeface="Arial"/>
                  <a:sym typeface="Arial"/>
                </a:endParaRPr>
              </a:p>
            </p:txBody>
          </p:sp>
          <p:sp>
            <p:nvSpPr>
              <p:cNvPr id="239" name="Google Shape;1199;p28">
                <a:extLst>
                  <a:ext uri="{FF2B5EF4-FFF2-40B4-BE49-F238E27FC236}">
                    <a16:creationId xmlns:a16="http://schemas.microsoft.com/office/drawing/2014/main" id="{875A8EF2-3E64-03A0-E322-203AAEB8AE2D}"/>
                  </a:ext>
                </a:extLst>
              </p:cNvPr>
              <p:cNvSpPr/>
              <p:nvPr/>
            </p:nvSpPr>
            <p:spPr>
              <a:xfrm>
                <a:off x="7343487" y="1921506"/>
                <a:ext cx="185338" cy="8066"/>
              </a:xfrm>
              <a:custGeom>
                <a:avLst/>
                <a:gdLst/>
                <a:ahLst/>
                <a:cxnLst/>
                <a:rect l="l" t="t" r="r" b="b"/>
                <a:pathLst>
                  <a:path w="5216" h="227" extrusionOk="0">
                    <a:moveTo>
                      <a:pt x="108" y="0"/>
                    </a:moveTo>
                    <a:cubicBezTo>
                      <a:pt x="48" y="0"/>
                      <a:pt x="1" y="48"/>
                      <a:pt x="1" y="107"/>
                    </a:cubicBezTo>
                    <a:cubicBezTo>
                      <a:pt x="1" y="179"/>
                      <a:pt x="48" y="227"/>
                      <a:pt x="108" y="227"/>
                    </a:cubicBezTo>
                    <a:lnTo>
                      <a:pt x="5096" y="227"/>
                    </a:lnTo>
                    <a:cubicBezTo>
                      <a:pt x="5168" y="227"/>
                      <a:pt x="5216" y="179"/>
                      <a:pt x="5216" y="107"/>
                    </a:cubicBezTo>
                    <a:cubicBezTo>
                      <a:pt x="5216" y="48"/>
                      <a:pt x="5168" y="0"/>
                      <a:pt x="5096" y="0"/>
                    </a:cubicBezTo>
                    <a:close/>
                  </a:path>
                </a:pathLst>
              </a:custGeom>
              <a:solidFill>
                <a:srgbClr val="5EB2FC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>
                  <a:buClr>
                    <a:srgbClr val="000000"/>
                  </a:buClr>
                  <a:buFont typeface="Arial"/>
                  <a:buNone/>
                </a:pPr>
                <a:endParaRPr sz="1400" kern="0">
                  <a:solidFill>
                    <a:srgbClr val="000000"/>
                  </a:solidFill>
                  <a:latin typeface="Oswald" panose="00000500000000000000" pitchFamily="2" charset="0"/>
                  <a:cs typeface="Arial"/>
                  <a:sym typeface="Arial"/>
                </a:endParaRPr>
              </a:p>
            </p:txBody>
          </p:sp>
          <p:sp>
            <p:nvSpPr>
              <p:cNvPr id="240" name="Google Shape;1200;p28">
                <a:extLst>
                  <a:ext uri="{FF2B5EF4-FFF2-40B4-BE49-F238E27FC236}">
                    <a16:creationId xmlns:a16="http://schemas.microsoft.com/office/drawing/2014/main" id="{F44CCCFB-6BAB-33AF-2C47-D9416781FB1C}"/>
                  </a:ext>
                </a:extLst>
              </p:cNvPr>
              <p:cNvSpPr/>
              <p:nvPr/>
            </p:nvSpPr>
            <p:spPr>
              <a:xfrm>
                <a:off x="7343487" y="1957891"/>
                <a:ext cx="185338" cy="8066"/>
              </a:xfrm>
              <a:custGeom>
                <a:avLst/>
                <a:gdLst/>
                <a:ahLst/>
                <a:cxnLst/>
                <a:rect l="l" t="t" r="r" b="b"/>
                <a:pathLst>
                  <a:path w="5216" h="227" extrusionOk="0">
                    <a:moveTo>
                      <a:pt x="108" y="0"/>
                    </a:moveTo>
                    <a:cubicBezTo>
                      <a:pt x="48" y="0"/>
                      <a:pt x="1" y="60"/>
                      <a:pt x="1" y="119"/>
                    </a:cubicBezTo>
                    <a:cubicBezTo>
                      <a:pt x="1" y="179"/>
                      <a:pt x="48" y="226"/>
                      <a:pt x="108" y="226"/>
                    </a:cubicBezTo>
                    <a:lnTo>
                      <a:pt x="5096" y="226"/>
                    </a:lnTo>
                    <a:cubicBezTo>
                      <a:pt x="5168" y="226"/>
                      <a:pt x="5216" y="179"/>
                      <a:pt x="5216" y="119"/>
                    </a:cubicBezTo>
                    <a:cubicBezTo>
                      <a:pt x="5216" y="60"/>
                      <a:pt x="5168" y="0"/>
                      <a:pt x="5096" y="0"/>
                    </a:cubicBezTo>
                    <a:close/>
                  </a:path>
                </a:pathLst>
              </a:custGeom>
              <a:solidFill>
                <a:srgbClr val="5EB2FC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>
                  <a:buClr>
                    <a:srgbClr val="000000"/>
                  </a:buClr>
                  <a:buFont typeface="Arial"/>
                  <a:buNone/>
                </a:pPr>
                <a:endParaRPr sz="1400" kern="0">
                  <a:solidFill>
                    <a:srgbClr val="000000"/>
                  </a:solidFill>
                  <a:latin typeface="Oswald" panose="00000500000000000000" pitchFamily="2" charset="0"/>
                  <a:cs typeface="Arial"/>
                  <a:sym typeface="Arial"/>
                </a:endParaRPr>
              </a:p>
            </p:txBody>
          </p:sp>
          <p:sp>
            <p:nvSpPr>
              <p:cNvPr id="241" name="Google Shape;1201;p28">
                <a:extLst>
                  <a:ext uri="{FF2B5EF4-FFF2-40B4-BE49-F238E27FC236}">
                    <a16:creationId xmlns:a16="http://schemas.microsoft.com/office/drawing/2014/main" id="{DF0D9D1F-0C17-F634-548A-E3379AB24EEC}"/>
                  </a:ext>
                </a:extLst>
              </p:cNvPr>
              <p:cNvSpPr/>
              <p:nvPr/>
            </p:nvSpPr>
            <p:spPr>
              <a:xfrm>
                <a:off x="7343487" y="1994703"/>
                <a:ext cx="185338" cy="7639"/>
              </a:xfrm>
              <a:custGeom>
                <a:avLst/>
                <a:gdLst/>
                <a:ahLst/>
                <a:cxnLst/>
                <a:rect l="l" t="t" r="r" b="b"/>
                <a:pathLst>
                  <a:path w="5216" h="215" extrusionOk="0">
                    <a:moveTo>
                      <a:pt x="108" y="0"/>
                    </a:moveTo>
                    <a:cubicBezTo>
                      <a:pt x="48" y="0"/>
                      <a:pt x="1" y="48"/>
                      <a:pt x="1" y="107"/>
                    </a:cubicBezTo>
                    <a:cubicBezTo>
                      <a:pt x="1" y="167"/>
                      <a:pt x="48" y="214"/>
                      <a:pt x="108" y="214"/>
                    </a:cubicBezTo>
                    <a:lnTo>
                      <a:pt x="5096" y="214"/>
                    </a:lnTo>
                    <a:cubicBezTo>
                      <a:pt x="5168" y="214"/>
                      <a:pt x="5216" y="167"/>
                      <a:pt x="5216" y="107"/>
                    </a:cubicBezTo>
                    <a:cubicBezTo>
                      <a:pt x="5216" y="48"/>
                      <a:pt x="5168" y="0"/>
                      <a:pt x="5096" y="0"/>
                    </a:cubicBezTo>
                    <a:close/>
                  </a:path>
                </a:pathLst>
              </a:custGeom>
              <a:solidFill>
                <a:srgbClr val="5EB2FC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>
                  <a:buClr>
                    <a:srgbClr val="000000"/>
                  </a:buClr>
                  <a:buFont typeface="Arial"/>
                  <a:buNone/>
                </a:pPr>
                <a:endParaRPr sz="1400" kern="0">
                  <a:solidFill>
                    <a:srgbClr val="000000"/>
                  </a:solidFill>
                  <a:latin typeface="Oswald" panose="00000500000000000000" pitchFamily="2" charset="0"/>
                  <a:cs typeface="Arial"/>
                  <a:sym typeface="Arial"/>
                </a:endParaRPr>
              </a:p>
            </p:txBody>
          </p:sp>
          <p:sp>
            <p:nvSpPr>
              <p:cNvPr id="242" name="Google Shape;1202;p28">
                <a:extLst>
                  <a:ext uri="{FF2B5EF4-FFF2-40B4-BE49-F238E27FC236}">
                    <a16:creationId xmlns:a16="http://schemas.microsoft.com/office/drawing/2014/main" id="{36589A87-D79E-0EF4-9804-D023D6D47730}"/>
                  </a:ext>
                </a:extLst>
              </p:cNvPr>
              <p:cNvSpPr/>
              <p:nvPr/>
            </p:nvSpPr>
            <p:spPr>
              <a:xfrm>
                <a:off x="7343487" y="2031053"/>
                <a:ext cx="185338" cy="7675"/>
              </a:xfrm>
              <a:custGeom>
                <a:avLst/>
                <a:gdLst/>
                <a:ahLst/>
                <a:cxnLst/>
                <a:rect l="l" t="t" r="r" b="b"/>
                <a:pathLst>
                  <a:path w="5216" h="216" extrusionOk="0">
                    <a:moveTo>
                      <a:pt x="108" y="1"/>
                    </a:moveTo>
                    <a:cubicBezTo>
                      <a:pt x="48" y="1"/>
                      <a:pt x="1" y="49"/>
                      <a:pt x="1" y="108"/>
                    </a:cubicBezTo>
                    <a:cubicBezTo>
                      <a:pt x="1" y="168"/>
                      <a:pt x="48" y="215"/>
                      <a:pt x="108" y="215"/>
                    </a:cubicBezTo>
                    <a:lnTo>
                      <a:pt x="5096" y="215"/>
                    </a:lnTo>
                    <a:cubicBezTo>
                      <a:pt x="5168" y="215"/>
                      <a:pt x="5216" y="168"/>
                      <a:pt x="5216" y="108"/>
                    </a:cubicBezTo>
                    <a:cubicBezTo>
                      <a:pt x="5216" y="49"/>
                      <a:pt x="5168" y="1"/>
                      <a:pt x="5096" y="1"/>
                    </a:cubicBezTo>
                    <a:close/>
                  </a:path>
                </a:pathLst>
              </a:custGeom>
              <a:solidFill>
                <a:srgbClr val="5EB2FC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>
                  <a:buClr>
                    <a:srgbClr val="000000"/>
                  </a:buClr>
                  <a:buFont typeface="Arial"/>
                  <a:buNone/>
                </a:pPr>
                <a:endParaRPr sz="1400" kern="0">
                  <a:solidFill>
                    <a:srgbClr val="000000"/>
                  </a:solidFill>
                  <a:latin typeface="Oswald" panose="00000500000000000000" pitchFamily="2" charset="0"/>
                  <a:cs typeface="Arial"/>
                  <a:sym typeface="Arial"/>
                </a:endParaRPr>
              </a:p>
            </p:txBody>
          </p:sp>
        </p:grpSp>
        <p:sp>
          <p:nvSpPr>
            <p:cNvPr id="229" name="Google Shape;1203;p28">
              <a:extLst>
                <a:ext uri="{FF2B5EF4-FFF2-40B4-BE49-F238E27FC236}">
                  <a16:creationId xmlns:a16="http://schemas.microsoft.com/office/drawing/2014/main" id="{51857CE3-7CF9-37DC-4AD5-355273C403C5}"/>
                </a:ext>
              </a:extLst>
            </p:cNvPr>
            <p:cNvSpPr/>
            <p:nvPr/>
          </p:nvSpPr>
          <p:spPr>
            <a:xfrm>
              <a:off x="6845138" y="2732081"/>
              <a:ext cx="1291180" cy="440034"/>
            </a:xfrm>
            <a:custGeom>
              <a:avLst/>
              <a:gdLst/>
              <a:ahLst/>
              <a:cxnLst/>
              <a:rect l="l" t="t" r="r" b="b"/>
              <a:pathLst>
                <a:path w="36338" h="12384" extrusionOk="0">
                  <a:moveTo>
                    <a:pt x="0" y="1"/>
                  </a:moveTo>
                  <a:lnTo>
                    <a:pt x="0" y="1358"/>
                  </a:lnTo>
                  <a:cubicBezTo>
                    <a:pt x="2417" y="1644"/>
                    <a:pt x="4298" y="3692"/>
                    <a:pt x="4298" y="6192"/>
                  </a:cubicBezTo>
                  <a:cubicBezTo>
                    <a:pt x="4298" y="8692"/>
                    <a:pt x="2417" y="10752"/>
                    <a:pt x="0" y="11038"/>
                  </a:cubicBezTo>
                  <a:lnTo>
                    <a:pt x="0" y="12383"/>
                  </a:lnTo>
                  <a:lnTo>
                    <a:pt x="32040" y="12383"/>
                  </a:lnTo>
                  <a:lnTo>
                    <a:pt x="32040" y="10502"/>
                  </a:lnTo>
                  <a:cubicBezTo>
                    <a:pt x="34409" y="10502"/>
                    <a:pt x="36338" y="8573"/>
                    <a:pt x="36338" y="6192"/>
                  </a:cubicBezTo>
                  <a:cubicBezTo>
                    <a:pt x="36338" y="3823"/>
                    <a:pt x="34409" y="1894"/>
                    <a:pt x="32040" y="1894"/>
                  </a:cubicBezTo>
                  <a:lnTo>
                    <a:pt x="3204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algn="ctr">
                <a:buClr>
                  <a:srgbClr val="000000"/>
                </a:buClr>
                <a:buFont typeface="Arial"/>
                <a:buNone/>
              </a:pPr>
              <a:r>
                <a:rPr lang="en" sz="1400" kern="0">
                  <a:solidFill>
                    <a:srgbClr val="FFFFFF"/>
                  </a:solidFill>
                  <a:latin typeface="Oswald" panose="00000500000000000000" pitchFamily="2" charset="0"/>
                  <a:ea typeface="Fira Sans Extra Condensed Medium"/>
                  <a:cs typeface="Fira Sans Extra Condensed Medium"/>
                  <a:sym typeface="Fira Sans Extra Condensed Medium"/>
                </a:rPr>
                <a:t>Phase 9</a:t>
              </a:r>
              <a:endParaRPr sz="1400" kern="0">
                <a:solidFill>
                  <a:srgbClr val="FFFFFF"/>
                </a:solidFill>
                <a:latin typeface="Oswald" panose="00000500000000000000" pitchFamily="2" charset="0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230" name="Google Shape;1204;p28">
              <a:extLst>
                <a:ext uri="{FF2B5EF4-FFF2-40B4-BE49-F238E27FC236}">
                  <a16:creationId xmlns:a16="http://schemas.microsoft.com/office/drawing/2014/main" id="{18DF79D3-F65B-B191-BFD4-39DBC533BA87}"/>
                </a:ext>
              </a:extLst>
            </p:cNvPr>
            <p:cNvSpPr/>
            <p:nvPr/>
          </p:nvSpPr>
          <p:spPr>
            <a:xfrm>
              <a:off x="7455167" y="2235403"/>
              <a:ext cx="63070" cy="63070"/>
            </a:xfrm>
            <a:custGeom>
              <a:avLst/>
              <a:gdLst/>
              <a:ahLst/>
              <a:cxnLst/>
              <a:rect l="l" t="t" r="r" b="b"/>
              <a:pathLst>
                <a:path w="1775" h="1775" extrusionOk="0">
                  <a:moveTo>
                    <a:pt x="882" y="1"/>
                  </a:moveTo>
                  <a:cubicBezTo>
                    <a:pt x="394" y="1"/>
                    <a:pt x="1" y="394"/>
                    <a:pt x="1" y="882"/>
                  </a:cubicBezTo>
                  <a:cubicBezTo>
                    <a:pt x="1" y="1382"/>
                    <a:pt x="394" y="1775"/>
                    <a:pt x="882" y="1775"/>
                  </a:cubicBezTo>
                  <a:cubicBezTo>
                    <a:pt x="1382" y="1775"/>
                    <a:pt x="1775" y="1382"/>
                    <a:pt x="1775" y="882"/>
                  </a:cubicBezTo>
                  <a:cubicBezTo>
                    <a:pt x="1775" y="394"/>
                    <a:pt x="1382" y="1"/>
                    <a:pt x="882" y="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>
                <a:buClr>
                  <a:srgbClr val="000000"/>
                </a:buClr>
                <a:buFont typeface="Arial"/>
                <a:buNone/>
              </a:pPr>
              <a:endParaRPr sz="1400" kern="0">
                <a:solidFill>
                  <a:srgbClr val="000000"/>
                </a:solidFill>
                <a:latin typeface="Oswald" panose="00000500000000000000" pitchFamily="2" charset="0"/>
                <a:cs typeface="Arial"/>
                <a:sym typeface="Arial"/>
              </a:endParaRPr>
            </a:p>
          </p:txBody>
        </p:sp>
        <p:sp>
          <p:nvSpPr>
            <p:cNvPr id="231" name="Google Shape;1205;p28">
              <a:extLst>
                <a:ext uri="{FF2B5EF4-FFF2-40B4-BE49-F238E27FC236}">
                  <a16:creationId xmlns:a16="http://schemas.microsoft.com/office/drawing/2014/main" id="{EAC4B42D-1E06-2008-678E-2E28E8D3B3F2}"/>
                </a:ext>
              </a:extLst>
            </p:cNvPr>
            <p:cNvSpPr txBox="1"/>
            <p:nvPr/>
          </p:nvSpPr>
          <p:spPr>
            <a:xfrm>
              <a:off x="6739006" y="1136495"/>
              <a:ext cx="1291500" cy="534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algn="ctr">
                <a:buClr>
                  <a:srgbClr val="000000"/>
                </a:buClr>
                <a:buFont typeface="Arial"/>
                <a:buNone/>
              </a:pPr>
              <a:r>
                <a:rPr lang="en" sz="1500" kern="0">
                  <a:solidFill>
                    <a:srgbClr val="434343"/>
                  </a:solidFill>
                  <a:latin typeface="Oswald" panose="00000500000000000000" pitchFamily="2" charset="0"/>
                  <a:ea typeface="Roboto"/>
                  <a:cs typeface="Roboto"/>
                  <a:sym typeface="Roboto"/>
                </a:rPr>
                <a:t>Production</a:t>
              </a:r>
              <a:endParaRPr sz="1500" kern="0">
                <a:solidFill>
                  <a:srgbClr val="434343"/>
                </a:solidFill>
                <a:latin typeface="Oswald" panose="00000500000000000000" pitchFamily="2" charset="0"/>
                <a:ea typeface="Roboto"/>
                <a:cs typeface="Roboto"/>
                <a:sym typeface="Roboto"/>
              </a:endParaRPr>
            </a:p>
          </p:txBody>
        </p:sp>
      </p:grpSp>
      <p:sp>
        <p:nvSpPr>
          <p:cNvPr id="243" name="Text 2">
            <a:extLst>
              <a:ext uri="{FF2B5EF4-FFF2-40B4-BE49-F238E27FC236}">
                <a16:creationId xmlns:a16="http://schemas.microsoft.com/office/drawing/2014/main" id="{DCD7F7AC-B7BC-5CA0-6867-8FE5C9F4596F}"/>
              </a:ext>
            </a:extLst>
          </p:cNvPr>
          <p:cNvSpPr/>
          <p:nvPr/>
        </p:nvSpPr>
        <p:spPr>
          <a:xfrm>
            <a:off x="818696" y="117653"/>
            <a:ext cx="109728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IN" sz="2400" b="1" dirty="0">
                <a:latin typeface="Oswald" panose="00000500000000000000" pitchFamily="2" charset="0"/>
              </a:rPr>
              <a:t>LIFECYCLE FOR OPERATIONS</a:t>
            </a:r>
            <a:endParaRPr lang="en-US" sz="2400" b="1" dirty="0">
              <a:latin typeface="Oswald" panose="00000500000000000000" pitchFamily="2" charset="0"/>
            </a:endParaRP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278E79C9-75E1-A512-7D1F-86028DA75C7E}"/>
              </a:ext>
            </a:extLst>
          </p:cNvPr>
          <p:cNvGrpSpPr/>
          <p:nvPr/>
        </p:nvGrpSpPr>
        <p:grpSpPr>
          <a:xfrm>
            <a:off x="229416" y="3294972"/>
            <a:ext cx="11692000" cy="3480000"/>
            <a:chOff x="200000" y="690000"/>
            <a:chExt cx="11692000" cy="3480000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C1EE569C-5CB3-8F31-A87A-8EFBF6EF61B5}"/>
                </a:ext>
              </a:extLst>
            </p:cNvPr>
            <p:cNvSpPr/>
            <p:nvPr/>
          </p:nvSpPr>
          <p:spPr>
            <a:xfrm>
              <a:off x="200000" y="700000"/>
              <a:ext cx="3864000" cy="480000"/>
            </a:xfrm>
            <a:prstGeom prst="rect">
              <a:avLst/>
            </a:prstGeom>
            <a:solidFill>
              <a:srgbClr val="D62839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1200" dirty="0">
                <a:latin typeface="Raleway" pitchFamily="2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39FD9D7A-39C1-CE48-442E-E07DCC63C6B5}"/>
                </a:ext>
              </a:extLst>
            </p:cNvPr>
            <p:cNvSpPr txBox="1"/>
            <p:nvPr/>
          </p:nvSpPr>
          <p:spPr>
            <a:xfrm>
              <a:off x="260000" y="700000"/>
              <a:ext cx="3744000" cy="360000"/>
            </a:xfrm>
            <a:prstGeom prst="rect">
              <a:avLst/>
            </a:prstGeom>
            <a:noFill/>
          </p:spPr>
          <p:txBody>
            <a:bodyPr wrap="square"/>
            <a:lstStyle/>
            <a:p>
              <a:pPr algn="ctr"/>
              <a:r>
                <a:rPr sz="1200" b="1" i="0" dirty="0">
                  <a:solidFill>
                    <a:srgbClr val="FFFFFF"/>
                  </a:solidFill>
                  <a:latin typeface="Raleway" pitchFamily="2" charset="0"/>
                  <a:ea typeface="Calibri" panose="020F0502020204030204" pitchFamily="34" charset="0"/>
                  <a:cs typeface="Calibri" panose="020F0502020204030204" pitchFamily="34" charset="0"/>
                </a:rPr>
                <a:t>Stage 1
Capability Building</a:t>
              </a: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6873A8AA-646A-F455-41F4-3FC77FF86900}"/>
                </a:ext>
              </a:extLst>
            </p:cNvPr>
            <p:cNvSpPr/>
            <p:nvPr/>
          </p:nvSpPr>
          <p:spPr>
            <a:xfrm>
              <a:off x="200000" y="1200000"/>
              <a:ext cx="1932000" cy="220000"/>
            </a:xfrm>
            <a:prstGeom prst="rect">
              <a:avLst/>
            </a:prstGeom>
            <a:solidFill>
              <a:srgbClr val="ECF0F1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ctr"/>
              <a:r>
                <a:rPr sz="1200" b="1">
                  <a:solidFill>
                    <a:srgbClr val="0D4B6D"/>
                  </a:solidFill>
                  <a:latin typeface="Raleway" pitchFamily="2" charset="0"/>
                  <a:ea typeface="Calibri" panose="020F0502020204030204" pitchFamily="34" charset="0"/>
                  <a:cs typeface="Calibri" panose="020F0502020204030204" pitchFamily="34" charset="0"/>
                </a:rPr>
                <a:t>Deliverables</a:t>
              </a: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4CC01B1A-197E-4362-9368-4C6794C80BA2}"/>
                </a:ext>
              </a:extLst>
            </p:cNvPr>
            <p:cNvSpPr/>
            <p:nvPr/>
          </p:nvSpPr>
          <p:spPr>
            <a:xfrm>
              <a:off x="2132000" y="1200000"/>
              <a:ext cx="1932000" cy="220000"/>
            </a:xfrm>
            <a:prstGeom prst="rect">
              <a:avLst/>
            </a:prstGeom>
            <a:solidFill>
              <a:srgbClr val="ECF0F1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ctr"/>
              <a:r>
                <a:rPr sz="1200" b="1" dirty="0">
                  <a:solidFill>
                    <a:srgbClr val="0D4B6D"/>
                  </a:solidFill>
                  <a:latin typeface="Raleway" pitchFamily="2" charset="0"/>
                  <a:ea typeface="Calibri" panose="020F0502020204030204" pitchFamily="34" charset="0"/>
                  <a:cs typeface="Calibri" panose="020F0502020204030204" pitchFamily="34" charset="0"/>
                </a:rPr>
                <a:t>Ownership</a:t>
              </a:r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C2031A21-8333-829A-FD2F-E339F0DF507A}"/>
                </a:ext>
              </a:extLst>
            </p:cNvPr>
            <p:cNvSpPr/>
            <p:nvPr/>
          </p:nvSpPr>
          <p:spPr>
            <a:xfrm>
              <a:off x="200000" y="1420000"/>
              <a:ext cx="1932000" cy="25000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ECF0F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l"/>
              <a:r>
                <a:rPr sz="1200" b="0">
                  <a:solidFill>
                    <a:srgbClr val="0D4B6D"/>
                  </a:solidFill>
                  <a:latin typeface="Raleway" pitchFamily="2" charset="0"/>
                  <a:ea typeface="Calibri" panose="020F0502020204030204" pitchFamily="34" charset="0"/>
                  <a:cs typeface="Calibri" panose="020F0502020204030204" pitchFamily="34" charset="0"/>
                </a:rPr>
                <a:t>Requirement &amp; JD</a:t>
              </a:r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23E13ABF-1CB5-36EE-31CA-1428DAFA6FD3}"/>
                </a:ext>
              </a:extLst>
            </p:cNvPr>
            <p:cNvSpPr/>
            <p:nvPr/>
          </p:nvSpPr>
          <p:spPr>
            <a:xfrm>
              <a:off x="2132000" y="1420000"/>
              <a:ext cx="1932000" cy="25000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ECF0F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ctr"/>
              <a:r>
                <a:rPr lang="en-US" sz="1200" b="1" dirty="0">
                  <a:solidFill>
                    <a:srgbClr val="16A085"/>
                  </a:solidFill>
                  <a:latin typeface="Raleway" pitchFamily="2" charset="0"/>
                  <a:ea typeface="Calibri" panose="020F0502020204030204" pitchFamily="34" charset="0"/>
                  <a:cs typeface="Calibri" panose="020F0502020204030204" pitchFamily="34" charset="0"/>
                </a:rPr>
                <a:t>Client</a:t>
              </a:r>
              <a:endParaRPr sz="1200" b="1" dirty="0">
                <a:solidFill>
                  <a:srgbClr val="16A085"/>
                </a:solidFill>
                <a:latin typeface="Raleway" pitchFamily="2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0CB8E481-023D-85DC-05A0-1E434D131DF5}"/>
                </a:ext>
              </a:extLst>
            </p:cNvPr>
            <p:cNvSpPr/>
            <p:nvPr/>
          </p:nvSpPr>
          <p:spPr>
            <a:xfrm>
              <a:off x="200000" y="1670000"/>
              <a:ext cx="1932000" cy="250000"/>
            </a:xfrm>
            <a:prstGeom prst="rect">
              <a:avLst/>
            </a:prstGeom>
            <a:solidFill>
              <a:srgbClr val="ECF0F1"/>
            </a:solidFill>
            <a:ln w="12700">
              <a:solidFill>
                <a:srgbClr val="ECF0F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l"/>
              <a:r>
                <a:rPr sz="1200" b="0">
                  <a:solidFill>
                    <a:srgbClr val="0D4B6D"/>
                  </a:solidFill>
                  <a:latin typeface="Raleway" pitchFamily="2" charset="0"/>
                  <a:ea typeface="Calibri" panose="020F0502020204030204" pitchFamily="34" charset="0"/>
                  <a:cs typeface="Calibri" panose="020F0502020204030204" pitchFamily="34" charset="0"/>
                </a:rPr>
                <a:t>Hiring Plan</a:t>
              </a:r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7B7D2481-0B3B-35D6-64C4-CDC549080D67}"/>
                </a:ext>
              </a:extLst>
            </p:cNvPr>
            <p:cNvSpPr/>
            <p:nvPr/>
          </p:nvSpPr>
          <p:spPr>
            <a:xfrm>
              <a:off x="2132000" y="1670000"/>
              <a:ext cx="1932000" cy="250000"/>
            </a:xfrm>
            <a:prstGeom prst="rect">
              <a:avLst/>
            </a:prstGeom>
            <a:solidFill>
              <a:srgbClr val="ECF0F1"/>
            </a:solidFill>
            <a:ln w="12700">
              <a:solidFill>
                <a:srgbClr val="ECF0F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ctr"/>
              <a:r>
                <a:rPr sz="1200" b="1" dirty="0">
                  <a:solidFill>
                    <a:schemeClr val="tx1"/>
                  </a:solidFill>
                  <a:latin typeface="Raleway" pitchFamily="2" charset="0"/>
                  <a:ea typeface="Calibri" panose="020F0502020204030204" pitchFamily="34" charset="0"/>
                  <a:cs typeface="Calibri" panose="020F0502020204030204" pitchFamily="34" charset="0"/>
                </a:rPr>
                <a:t>J2W</a:t>
              </a:r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9FD1BF87-0287-4D10-265F-332AEADB989E}"/>
                </a:ext>
              </a:extLst>
            </p:cNvPr>
            <p:cNvSpPr/>
            <p:nvPr/>
          </p:nvSpPr>
          <p:spPr>
            <a:xfrm>
              <a:off x="200000" y="1920000"/>
              <a:ext cx="1932000" cy="25000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ECF0F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l"/>
              <a:r>
                <a:rPr sz="1200" b="0">
                  <a:solidFill>
                    <a:srgbClr val="0D4B6D"/>
                  </a:solidFill>
                  <a:latin typeface="Raleway" pitchFamily="2" charset="0"/>
                  <a:ea typeface="Calibri" panose="020F0502020204030204" pitchFamily="34" charset="0"/>
                  <a:cs typeface="Calibri" panose="020F0502020204030204" pitchFamily="34" charset="0"/>
                </a:rPr>
                <a:t>Sourcing</a:t>
              </a: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2B2E587F-8CB5-1EC1-9064-C02DABA082AD}"/>
                </a:ext>
              </a:extLst>
            </p:cNvPr>
            <p:cNvSpPr/>
            <p:nvPr/>
          </p:nvSpPr>
          <p:spPr>
            <a:xfrm>
              <a:off x="2132000" y="1920000"/>
              <a:ext cx="1932000" cy="25000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ECF0F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ctr"/>
              <a:r>
                <a:rPr sz="1200" b="1">
                  <a:solidFill>
                    <a:schemeClr val="tx1"/>
                  </a:solidFill>
                  <a:latin typeface="Raleway" pitchFamily="2" charset="0"/>
                  <a:ea typeface="Calibri" panose="020F0502020204030204" pitchFamily="34" charset="0"/>
                  <a:cs typeface="Calibri" panose="020F0502020204030204" pitchFamily="34" charset="0"/>
                </a:rPr>
                <a:t>J2W</a:t>
              </a:r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CAAAE071-89FC-AB21-A58B-5D6692DFAA59}"/>
                </a:ext>
              </a:extLst>
            </p:cNvPr>
            <p:cNvSpPr/>
            <p:nvPr/>
          </p:nvSpPr>
          <p:spPr>
            <a:xfrm>
              <a:off x="200000" y="2170000"/>
              <a:ext cx="1932000" cy="250000"/>
            </a:xfrm>
            <a:prstGeom prst="rect">
              <a:avLst/>
            </a:prstGeom>
            <a:solidFill>
              <a:srgbClr val="ECF0F1"/>
            </a:solidFill>
            <a:ln w="12700">
              <a:solidFill>
                <a:srgbClr val="ECF0F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l"/>
              <a:r>
                <a:rPr sz="1200" b="0">
                  <a:solidFill>
                    <a:srgbClr val="0D4B6D"/>
                  </a:solidFill>
                  <a:latin typeface="Raleway" pitchFamily="2" charset="0"/>
                  <a:ea typeface="Calibri" panose="020F0502020204030204" pitchFamily="34" charset="0"/>
                  <a:cs typeface="Calibri" panose="020F0502020204030204" pitchFamily="34" charset="0"/>
                </a:rPr>
                <a:t>Interviews &amp; Selections</a:t>
              </a:r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A300BE8D-74FD-E328-2128-92F7393A9B19}"/>
                </a:ext>
              </a:extLst>
            </p:cNvPr>
            <p:cNvSpPr/>
            <p:nvPr/>
          </p:nvSpPr>
          <p:spPr>
            <a:xfrm>
              <a:off x="2132000" y="2170000"/>
              <a:ext cx="1932000" cy="250000"/>
            </a:xfrm>
            <a:prstGeom prst="rect">
              <a:avLst/>
            </a:prstGeom>
            <a:solidFill>
              <a:srgbClr val="ECF0F1"/>
            </a:solidFill>
            <a:ln w="12700">
              <a:solidFill>
                <a:srgbClr val="ECF0F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ctr"/>
              <a:r>
                <a:rPr lang="en-US" sz="1200" b="1" dirty="0">
                  <a:solidFill>
                    <a:srgbClr val="16A085"/>
                  </a:solidFill>
                  <a:latin typeface="Raleway" pitchFamily="2" charset="0"/>
                  <a:ea typeface="Calibri" panose="020F0502020204030204" pitchFamily="34" charset="0"/>
                  <a:cs typeface="Calibri" panose="020F0502020204030204" pitchFamily="34" charset="0"/>
                </a:rPr>
                <a:t>Client</a:t>
              </a:r>
              <a:endParaRPr sz="1200" b="1" dirty="0">
                <a:solidFill>
                  <a:srgbClr val="16A085"/>
                </a:solidFill>
                <a:latin typeface="Raleway" pitchFamily="2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F1668957-6D95-2C8C-A16C-01607C6C10A9}"/>
                </a:ext>
              </a:extLst>
            </p:cNvPr>
            <p:cNvSpPr/>
            <p:nvPr/>
          </p:nvSpPr>
          <p:spPr>
            <a:xfrm>
              <a:off x="200000" y="2420000"/>
              <a:ext cx="1932000" cy="25000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ECF0F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l"/>
              <a:r>
                <a:rPr sz="1200" b="0">
                  <a:solidFill>
                    <a:srgbClr val="0D4B6D"/>
                  </a:solidFill>
                  <a:latin typeface="Raleway" pitchFamily="2" charset="0"/>
                  <a:ea typeface="Calibri" panose="020F0502020204030204" pitchFamily="34" charset="0"/>
                  <a:cs typeface="Calibri" panose="020F0502020204030204" pitchFamily="34" charset="0"/>
                </a:rPr>
                <a:t>Warm Calls</a:t>
              </a:r>
            </a:p>
          </p:txBody>
        </p: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C6FAA010-F37E-857B-1354-74D6FD0DFD91}"/>
                </a:ext>
              </a:extLst>
            </p:cNvPr>
            <p:cNvSpPr/>
            <p:nvPr/>
          </p:nvSpPr>
          <p:spPr>
            <a:xfrm>
              <a:off x="2132000" y="2420000"/>
              <a:ext cx="1932000" cy="25000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ECF0F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ctr"/>
              <a:r>
                <a:rPr sz="1200" b="1">
                  <a:solidFill>
                    <a:schemeClr val="tx1"/>
                  </a:solidFill>
                  <a:latin typeface="Raleway" pitchFamily="2" charset="0"/>
                  <a:ea typeface="Calibri" panose="020F0502020204030204" pitchFamily="34" charset="0"/>
                  <a:cs typeface="Calibri" panose="020F0502020204030204" pitchFamily="34" charset="0"/>
                </a:rPr>
                <a:t>J2W</a:t>
              </a:r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9B64D7C1-4358-343A-220C-0CA372E489B9}"/>
                </a:ext>
              </a:extLst>
            </p:cNvPr>
            <p:cNvSpPr/>
            <p:nvPr/>
          </p:nvSpPr>
          <p:spPr>
            <a:xfrm>
              <a:off x="200000" y="2670000"/>
              <a:ext cx="1932000" cy="250000"/>
            </a:xfrm>
            <a:prstGeom prst="rect">
              <a:avLst/>
            </a:prstGeom>
            <a:solidFill>
              <a:srgbClr val="ECF0F1"/>
            </a:solidFill>
            <a:ln w="12700">
              <a:solidFill>
                <a:srgbClr val="ECF0F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l"/>
              <a:r>
                <a:rPr sz="1200" b="0">
                  <a:solidFill>
                    <a:srgbClr val="0D4B6D"/>
                  </a:solidFill>
                  <a:latin typeface="Raleway" pitchFamily="2" charset="0"/>
                  <a:ea typeface="Calibri" panose="020F0502020204030204" pitchFamily="34" charset="0"/>
                  <a:cs typeface="Calibri" panose="020F0502020204030204" pitchFamily="34" charset="0"/>
                </a:rPr>
                <a:t>BGVs</a:t>
              </a:r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023CCBD1-563B-0451-4803-D02156E8FB63}"/>
                </a:ext>
              </a:extLst>
            </p:cNvPr>
            <p:cNvSpPr/>
            <p:nvPr/>
          </p:nvSpPr>
          <p:spPr>
            <a:xfrm>
              <a:off x="2132000" y="2670000"/>
              <a:ext cx="1932000" cy="250000"/>
            </a:xfrm>
            <a:prstGeom prst="rect">
              <a:avLst/>
            </a:prstGeom>
            <a:solidFill>
              <a:srgbClr val="ECF0F1"/>
            </a:solidFill>
            <a:ln w="12700">
              <a:solidFill>
                <a:srgbClr val="ECF0F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ctr"/>
              <a:r>
                <a:rPr sz="1200" b="1">
                  <a:solidFill>
                    <a:schemeClr val="tx1"/>
                  </a:solidFill>
                  <a:latin typeface="Raleway" pitchFamily="2" charset="0"/>
                  <a:ea typeface="Calibri" panose="020F0502020204030204" pitchFamily="34" charset="0"/>
                  <a:cs typeface="Calibri" panose="020F0502020204030204" pitchFamily="34" charset="0"/>
                </a:rPr>
                <a:t>J2W</a:t>
              </a:r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227614DA-06F9-BC8C-4B2B-7DA6970F7514}"/>
                </a:ext>
              </a:extLst>
            </p:cNvPr>
            <p:cNvSpPr/>
            <p:nvPr/>
          </p:nvSpPr>
          <p:spPr>
            <a:xfrm>
              <a:off x="4114000" y="700000"/>
              <a:ext cx="3864000" cy="480000"/>
            </a:xfrm>
            <a:prstGeom prst="rect">
              <a:avLst/>
            </a:prstGeom>
            <a:solidFill>
              <a:srgbClr val="16A085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1200">
                <a:latin typeface="Raleway" pitchFamily="2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A79AB300-EBD5-4508-5433-8DF3CB162C38}"/>
                </a:ext>
              </a:extLst>
            </p:cNvPr>
            <p:cNvSpPr txBox="1"/>
            <p:nvPr/>
          </p:nvSpPr>
          <p:spPr>
            <a:xfrm>
              <a:off x="4174000" y="720000"/>
              <a:ext cx="3744000" cy="360000"/>
            </a:xfrm>
            <a:prstGeom prst="rect">
              <a:avLst/>
            </a:prstGeom>
            <a:noFill/>
          </p:spPr>
          <p:txBody>
            <a:bodyPr wrap="square"/>
            <a:lstStyle/>
            <a:p>
              <a:pPr algn="ctr"/>
              <a:r>
                <a:rPr sz="1200" b="1" i="0">
                  <a:solidFill>
                    <a:srgbClr val="FFFFFF"/>
                  </a:solidFill>
                  <a:latin typeface="Raleway" pitchFamily="2" charset="0"/>
                  <a:ea typeface="Calibri" panose="020F0502020204030204" pitchFamily="34" charset="0"/>
                  <a:cs typeface="Calibri" panose="020F0502020204030204" pitchFamily="34" charset="0"/>
                </a:rPr>
                <a:t>Stage 2
Resource Management</a:t>
              </a:r>
            </a:p>
          </p:txBody>
        </p: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CA37F4D6-7EB5-DE72-9C74-E9B8B0694B43}"/>
                </a:ext>
              </a:extLst>
            </p:cNvPr>
            <p:cNvSpPr/>
            <p:nvPr/>
          </p:nvSpPr>
          <p:spPr>
            <a:xfrm>
              <a:off x="4114000" y="1200000"/>
              <a:ext cx="1932000" cy="220000"/>
            </a:xfrm>
            <a:prstGeom prst="rect">
              <a:avLst/>
            </a:prstGeom>
            <a:solidFill>
              <a:srgbClr val="ECF0F1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ctr"/>
              <a:r>
                <a:rPr sz="1200" b="1">
                  <a:solidFill>
                    <a:srgbClr val="0D4B6D"/>
                  </a:solidFill>
                  <a:latin typeface="Raleway" pitchFamily="2" charset="0"/>
                  <a:ea typeface="Calibri" panose="020F0502020204030204" pitchFamily="34" charset="0"/>
                  <a:cs typeface="Calibri" panose="020F0502020204030204" pitchFamily="34" charset="0"/>
                </a:rPr>
                <a:t>Deliverables</a:t>
              </a:r>
            </a:p>
          </p:txBody>
        </p: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F85AD9D0-D70F-7C40-E072-9EF7551BBDF2}"/>
                </a:ext>
              </a:extLst>
            </p:cNvPr>
            <p:cNvSpPr/>
            <p:nvPr/>
          </p:nvSpPr>
          <p:spPr>
            <a:xfrm>
              <a:off x="6046000" y="1200000"/>
              <a:ext cx="1932000" cy="220000"/>
            </a:xfrm>
            <a:prstGeom prst="rect">
              <a:avLst/>
            </a:prstGeom>
            <a:solidFill>
              <a:srgbClr val="ECF0F1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ctr"/>
              <a:r>
                <a:rPr sz="1200" b="1">
                  <a:solidFill>
                    <a:srgbClr val="0D4B6D"/>
                  </a:solidFill>
                  <a:latin typeface="Raleway" pitchFamily="2" charset="0"/>
                  <a:ea typeface="Calibri" panose="020F0502020204030204" pitchFamily="34" charset="0"/>
                  <a:cs typeface="Calibri" panose="020F0502020204030204" pitchFamily="34" charset="0"/>
                </a:rPr>
                <a:t>Ownership</a:t>
              </a:r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BE709A32-DA30-D182-94B3-6B7BF3923A9C}"/>
                </a:ext>
              </a:extLst>
            </p:cNvPr>
            <p:cNvSpPr/>
            <p:nvPr/>
          </p:nvSpPr>
          <p:spPr>
            <a:xfrm>
              <a:off x="4114000" y="1420000"/>
              <a:ext cx="2389464" cy="171907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ECF0F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l"/>
              <a:r>
                <a:rPr sz="1200" b="0" dirty="0">
                  <a:solidFill>
                    <a:srgbClr val="0D4B6D"/>
                  </a:solidFill>
                  <a:latin typeface="Raleway" pitchFamily="2" charset="0"/>
                  <a:ea typeface="Calibri" panose="020F0502020204030204" pitchFamily="34" charset="0"/>
                  <a:cs typeface="Calibri" panose="020F0502020204030204" pitchFamily="34" charset="0"/>
                </a:rPr>
                <a:t>Orientation &amp; Onboarding</a:t>
              </a:r>
            </a:p>
          </p:txBody>
        </p: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03E00FB4-2225-D725-43D1-4CF731973797}"/>
                </a:ext>
              </a:extLst>
            </p:cNvPr>
            <p:cNvSpPr/>
            <p:nvPr/>
          </p:nvSpPr>
          <p:spPr>
            <a:xfrm>
              <a:off x="6046000" y="1420000"/>
              <a:ext cx="1932000" cy="25000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ECF0F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ctr"/>
              <a:r>
                <a:rPr sz="1200" b="1" dirty="0">
                  <a:solidFill>
                    <a:schemeClr val="tx1"/>
                  </a:solidFill>
                  <a:latin typeface="Raleway" pitchFamily="2" charset="0"/>
                  <a:ea typeface="Calibri" panose="020F0502020204030204" pitchFamily="34" charset="0"/>
                  <a:cs typeface="Calibri" panose="020F0502020204030204" pitchFamily="34" charset="0"/>
                </a:rPr>
                <a:t>J2W</a:t>
              </a:r>
            </a:p>
          </p:txBody>
        </p:sp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1E44F05A-B6CC-D54E-BE62-825ED8F28CAF}"/>
                </a:ext>
              </a:extLst>
            </p:cNvPr>
            <p:cNvSpPr/>
            <p:nvPr/>
          </p:nvSpPr>
          <p:spPr>
            <a:xfrm>
              <a:off x="4114000" y="1670000"/>
              <a:ext cx="1932000" cy="250000"/>
            </a:xfrm>
            <a:prstGeom prst="rect">
              <a:avLst/>
            </a:prstGeom>
            <a:solidFill>
              <a:srgbClr val="ECF0F1"/>
            </a:solidFill>
            <a:ln w="12700">
              <a:solidFill>
                <a:srgbClr val="ECF0F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l"/>
              <a:r>
                <a:rPr sz="1200" b="0">
                  <a:solidFill>
                    <a:srgbClr val="0D4B6D"/>
                  </a:solidFill>
                  <a:latin typeface="Raleway" pitchFamily="2" charset="0"/>
                  <a:ea typeface="Calibri" panose="020F0502020204030204" pitchFamily="34" charset="0"/>
                  <a:cs typeface="Calibri" panose="020F0502020204030204" pitchFamily="34" charset="0"/>
                </a:rPr>
                <a:t>Asset Allocation</a:t>
              </a:r>
            </a:p>
          </p:txBody>
        </p:sp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8D8BA504-3CBB-AD86-8529-2BC718E89338}"/>
                </a:ext>
              </a:extLst>
            </p:cNvPr>
            <p:cNvSpPr/>
            <p:nvPr/>
          </p:nvSpPr>
          <p:spPr>
            <a:xfrm>
              <a:off x="6046000" y="1670000"/>
              <a:ext cx="1932000" cy="250000"/>
            </a:xfrm>
            <a:prstGeom prst="rect">
              <a:avLst/>
            </a:prstGeom>
            <a:solidFill>
              <a:srgbClr val="ECF0F1"/>
            </a:solidFill>
            <a:ln w="12700">
              <a:solidFill>
                <a:srgbClr val="ECF0F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ctr"/>
              <a:r>
                <a:rPr lang="en-US" sz="1200" b="1" dirty="0">
                  <a:solidFill>
                    <a:srgbClr val="16A085"/>
                  </a:solidFill>
                  <a:latin typeface="Raleway" pitchFamily="2" charset="0"/>
                  <a:ea typeface="Calibri" panose="020F0502020204030204" pitchFamily="34" charset="0"/>
                  <a:cs typeface="Calibri" panose="020F0502020204030204" pitchFamily="34" charset="0"/>
                </a:rPr>
                <a:t>Client</a:t>
              </a:r>
              <a:endParaRPr sz="1200" b="1" dirty="0">
                <a:solidFill>
                  <a:srgbClr val="16A085"/>
                </a:solidFill>
                <a:latin typeface="Raleway" pitchFamily="2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E09A53D6-1163-25AD-9F9B-6E921C119504}"/>
                </a:ext>
              </a:extLst>
            </p:cNvPr>
            <p:cNvSpPr/>
            <p:nvPr/>
          </p:nvSpPr>
          <p:spPr>
            <a:xfrm>
              <a:off x="4114000" y="1920000"/>
              <a:ext cx="1932000" cy="25000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ECF0F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l"/>
              <a:r>
                <a:rPr sz="1200" b="0">
                  <a:solidFill>
                    <a:srgbClr val="0D4B6D"/>
                  </a:solidFill>
                  <a:latin typeface="Raleway" pitchFamily="2" charset="0"/>
                  <a:ea typeface="Calibri" panose="020F0502020204030204" pitchFamily="34" charset="0"/>
                  <a:cs typeface="Calibri" panose="020F0502020204030204" pitchFamily="34" charset="0"/>
                </a:rPr>
                <a:t>Access Controls</a:t>
              </a:r>
            </a:p>
          </p:txBody>
        </p: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CD021EE4-B1F9-3F8B-2080-4CE6320A9C36}"/>
                </a:ext>
              </a:extLst>
            </p:cNvPr>
            <p:cNvSpPr/>
            <p:nvPr/>
          </p:nvSpPr>
          <p:spPr>
            <a:xfrm>
              <a:off x="6046000" y="1920000"/>
              <a:ext cx="1932000" cy="25000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ECF0F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ctr"/>
              <a:r>
                <a:rPr lang="en-US" sz="1200" b="1" dirty="0">
                  <a:solidFill>
                    <a:srgbClr val="16A085"/>
                  </a:solidFill>
                  <a:latin typeface="Raleway" pitchFamily="2" charset="0"/>
                  <a:ea typeface="Calibri" panose="020F0502020204030204" pitchFamily="34" charset="0"/>
                  <a:cs typeface="Calibri" panose="020F0502020204030204" pitchFamily="34" charset="0"/>
                </a:rPr>
                <a:t>Client</a:t>
              </a:r>
              <a:endParaRPr sz="1200" b="1" dirty="0">
                <a:solidFill>
                  <a:srgbClr val="16A085"/>
                </a:solidFill>
                <a:latin typeface="Raleway" pitchFamily="2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6BA5F09A-2AA7-1DFD-B623-CD131739A0DD}"/>
                </a:ext>
              </a:extLst>
            </p:cNvPr>
            <p:cNvSpPr/>
            <p:nvPr/>
          </p:nvSpPr>
          <p:spPr>
            <a:xfrm>
              <a:off x="4114000" y="2170000"/>
              <a:ext cx="1932000" cy="250000"/>
            </a:xfrm>
            <a:prstGeom prst="rect">
              <a:avLst/>
            </a:prstGeom>
            <a:solidFill>
              <a:srgbClr val="ECF0F1"/>
            </a:solidFill>
            <a:ln w="12700">
              <a:solidFill>
                <a:srgbClr val="ECF0F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l"/>
              <a:r>
                <a:rPr sz="1200" b="0">
                  <a:solidFill>
                    <a:srgbClr val="0D4B6D"/>
                  </a:solidFill>
                  <a:latin typeface="Raleway" pitchFamily="2" charset="0"/>
                  <a:ea typeface="Calibri" panose="020F0502020204030204" pitchFamily="34" charset="0"/>
                  <a:cs typeface="Calibri" panose="020F0502020204030204" pitchFamily="34" charset="0"/>
                </a:rPr>
                <a:t>Training</a:t>
              </a:r>
            </a:p>
          </p:txBody>
        </p:sp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D4C543B1-5560-D63F-DC5F-75C3B1F7897F}"/>
                </a:ext>
              </a:extLst>
            </p:cNvPr>
            <p:cNvSpPr/>
            <p:nvPr/>
          </p:nvSpPr>
          <p:spPr>
            <a:xfrm>
              <a:off x="6046000" y="2170000"/>
              <a:ext cx="1932000" cy="250000"/>
            </a:xfrm>
            <a:prstGeom prst="rect">
              <a:avLst/>
            </a:prstGeom>
            <a:solidFill>
              <a:srgbClr val="ECF0F1"/>
            </a:solidFill>
            <a:ln w="12700">
              <a:solidFill>
                <a:srgbClr val="ECF0F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ctr"/>
              <a:r>
                <a:rPr lang="en-US" sz="1200" b="1" dirty="0">
                  <a:solidFill>
                    <a:srgbClr val="16A085"/>
                  </a:solidFill>
                  <a:latin typeface="Raleway" pitchFamily="2" charset="0"/>
                  <a:ea typeface="Calibri" panose="020F0502020204030204" pitchFamily="34" charset="0"/>
                  <a:cs typeface="Calibri" panose="020F0502020204030204" pitchFamily="34" charset="0"/>
                </a:rPr>
                <a:t>Client</a:t>
              </a:r>
              <a:endParaRPr sz="1200" b="1" dirty="0">
                <a:solidFill>
                  <a:srgbClr val="16A085"/>
                </a:solidFill>
                <a:latin typeface="Raleway" pitchFamily="2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D00BE44A-6826-5394-0967-A67FD8F14611}"/>
                </a:ext>
              </a:extLst>
            </p:cNvPr>
            <p:cNvSpPr/>
            <p:nvPr/>
          </p:nvSpPr>
          <p:spPr>
            <a:xfrm>
              <a:off x="4114000" y="2420000"/>
              <a:ext cx="1932000" cy="25000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ECF0F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l"/>
              <a:r>
                <a:rPr sz="1200" b="0">
                  <a:solidFill>
                    <a:srgbClr val="0D4B6D"/>
                  </a:solidFill>
                  <a:latin typeface="Raleway" pitchFamily="2" charset="0"/>
                  <a:ea typeface="Calibri" panose="020F0502020204030204" pitchFamily="34" charset="0"/>
                  <a:cs typeface="Calibri" panose="020F0502020204030204" pitchFamily="34" charset="0"/>
                </a:rPr>
                <a:t>OJT Support</a:t>
              </a:r>
            </a:p>
          </p:txBody>
        </p:sp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C75E524F-4BB2-C6E1-75B5-9CA1CFCA34DC}"/>
                </a:ext>
              </a:extLst>
            </p:cNvPr>
            <p:cNvSpPr/>
            <p:nvPr/>
          </p:nvSpPr>
          <p:spPr>
            <a:xfrm>
              <a:off x="6046000" y="2420000"/>
              <a:ext cx="1932000" cy="25000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ECF0F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ctr"/>
              <a:r>
                <a:rPr lang="en-US" sz="1200" b="1" dirty="0">
                  <a:solidFill>
                    <a:srgbClr val="16A085"/>
                  </a:solidFill>
                  <a:latin typeface="Raleway" pitchFamily="2" charset="0"/>
                  <a:ea typeface="Calibri" panose="020F0502020204030204" pitchFamily="34" charset="0"/>
                  <a:cs typeface="Calibri" panose="020F0502020204030204" pitchFamily="34" charset="0"/>
                </a:rPr>
                <a:t>Client</a:t>
              </a:r>
              <a:endParaRPr sz="1200" b="1" dirty="0">
                <a:solidFill>
                  <a:srgbClr val="16A085"/>
                </a:solidFill>
                <a:latin typeface="Raleway" pitchFamily="2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41" name="Rectangle 40">
              <a:extLst>
                <a:ext uri="{FF2B5EF4-FFF2-40B4-BE49-F238E27FC236}">
                  <a16:creationId xmlns:a16="http://schemas.microsoft.com/office/drawing/2014/main" id="{75215FB6-91E3-ECAC-637F-D892F6A79550}"/>
                </a:ext>
              </a:extLst>
            </p:cNvPr>
            <p:cNvSpPr/>
            <p:nvPr/>
          </p:nvSpPr>
          <p:spPr>
            <a:xfrm>
              <a:off x="4114000" y="2670000"/>
              <a:ext cx="1932000" cy="250000"/>
            </a:xfrm>
            <a:prstGeom prst="rect">
              <a:avLst/>
            </a:prstGeom>
            <a:solidFill>
              <a:srgbClr val="ECF0F1"/>
            </a:solidFill>
            <a:ln w="12700">
              <a:solidFill>
                <a:srgbClr val="ECF0F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l"/>
              <a:r>
                <a:rPr sz="1200" b="0">
                  <a:solidFill>
                    <a:srgbClr val="0D4B6D"/>
                  </a:solidFill>
                  <a:latin typeface="Raleway" pitchFamily="2" charset="0"/>
                  <a:ea typeface="Calibri" panose="020F0502020204030204" pitchFamily="34" charset="0"/>
                  <a:cs typeface="Calibri" panose="020F0502020204030204" pitchFamily="34" charset="0"/>
                </a:rPr>
                <a:t>Attendance &amp; Shrinkage</a:t>
              </a:r>
            </a:p>
          </p:txBody>
        </p:sp>
        <p:sp>
          <p:nvSpPr>
            <p:cNvPr id="42" name="Rectangle 41">
              <a:extLst>
                <a:ext uri="{FF2B5EF4-FFF2-40B4-BE49-F238E27FC236}">
                  <a16:creationId xmlns:a16="http://schemas.microsoft.com/office/drawing/2014/main" id="{53AF9549-EF18-11E8-E763-C2F96F47C62F}"/>
                </a:ext>
              </a:extLst>
            </p:cNvPr>
            <p:cNvSpPr/>
            <p:nvPr/>
          </p:nvSpPr>
          <p:spPr>
            <a:xfrm>
              <a:off x="6046000" y="2670000"/>
              <a:ext cx="1932000" cy="250000"/>
            </a:xfrm>
            <a:prstGeom prst="rect">
              <a:avLst/>
            </a:prstGeom>
            <a:solidFill>
              <a:srgbClr val="ECF0F1"/>
            </a:solidFill>
            <a:ln w="12700">
              <a:solidFill>
                <a:srgbClr val="ECF0F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ctr"/>
              <a:r>
                <a:rPr sz="1200" b="1" dirty="0">
                  <a:solidFill>
                    <a:schemeClr val="tx1"/>
                  </a:solidFill>
                  <a:latin typeface="Raleway" pitchFamily="2" charset="0"/>
                  <a:ea typeface="Calibri" panose="020F0502020204030204" pitchFamily="34" charset="0"/>
                  <a:cs typeface="Calibri" panose="020F0502020204030204" pitchFamily="34" charset="0"/>
                </a:rPr>
                <a:t>J2W</a:t>
              </a:r>
            </a:p>
          </p:txBody>
        </p:sp>
        <p:sp>
          <p:nvSpPr>
            <p:cNvPr id="43" name="Rectangle 42">
              <a:extLst>
                <a:ext uri="{FF2B5EF4-FFF2-40B4-BE49-F238E27FC236}">
                  <a16:creationId xmlns:a16="http://schemas.microsoft.com/office/drawing/2014/main" id="{C8F2EC72-ED28-A860-42CE-01189A4CE73E}"/>
                </a:ext>
              </a:extLst>
            </p:cNvPr>
            <p:cNvSpPr/>
            <p:nvPr/>
          </p:nvSpPr>
          <p:spPr>
            <a:xfrm>
              <a:off x="4114000" y="2920000"/>
              <a:ext cx="1932000" cy="25000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ECF0F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l"/>
              <a:r>
                <a:rPr sz="1200" b="0">
                  <a:solidFill>
                    <a:srgbClr val="0D4B6D"/>
                  </a:solidFill>
                  <a:latin typeface="Raleway" pitchFamily="2" charset="0"/>
                  <a:ea typeface="Calibri" panose="020F0502020204030204" pitchFamily="34" charset="0"/>
                  <a:cs typeface="Calibri" panose="020F0502020204030204" pitchFamily="34" charset="0"/>
                </a:rPr>
                <a:t>Performance Mgmt</a:t>
              </a:r>
            </a:p>
          </p:txBody>
        </p:sp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90609F77-7B43-A935-906E-4F4A320A8F26}"/>
                </a:ext>
              </a:extLst>
            </p:cNvPr>
            <p:cNvSpPr/>
            <p:nvPr/>
          </p:nvSpPr>
          <p:spPr>
            <a:xfrm>
              <a:off x="6046000" y="2920000"/>
              <a:ext cx="1932000" cy="25000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ECF0F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ctr"/>
              <a:r>
                <a:rPr sz="1200" b="1">
                  <a:solidFill>
                    <a:schemeClr val="tx1"/>
                  </a:solidFill>
                  <a:latin typeface="Raleway" pitchFamily="2" charset="0"/>
                  <a:ea typeface="Calibri" panose="020F0502020204030204" pitchFamily="34" charset="0"/>
                  <a:cs typeface="Calibri" panose="020F0502020204030204" pitchFamily="34" charset="0"/>
                </a:rPr>
                <a:t>J2W</a:t>
              </a:r>
            </a:p>
          </p:txBody>
        </p:sp>
        <p:sp>
          <p:nvSpPr>
            <p:cNvPr id="45" name="Rectangle 44">
              <a:extLst>
                <a:ext uri="{FF2B5EF4-FFF2-40B4-BE49-F238E27FC236}">
                  <a16:creationId xmlns:a16="http://schemas.microsoft.com/office/drawing/2014/main" id="{2B843C6D-C09F-B3C4-A38F-29A8ED4452BE}"/>
                </a:ext>
              </a:extLst>
            </p:cNvPr>
            <p:cNvSpPr/>
            <p:nvPr/>
          </p:nvSpPr>
          <p:spPr>
            <a:xfrm>
              <a:off x="4114000" y="3170000"/>
              <a:ext cx="1932000" cy="250000"/>
            </a:xfrm>
            <a:prstGeom prst="rect">
              <a:avLst/>
            </a:prstGeom>
            <a:solidFill>
              <a:srgbClr val="ECF0F1"/>
            </a:solidFill>
            <a:ln w="12700">
              <a:solidFill>
                <a:srgbClr val="ECF0F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l"/>
              <a:r>
                <a:rPr sz="1200" b="0" dirty="0">
                  <a:solidFill>
                    <a:srgbClr val="0D4B6D"/>
                  </a:solidFill>
                  <a:latin typeface="Raleway" pitchFamily="2" charset="0"/>
                  <a:ea typeface="Calibri" panose="020F0502020204030204" pitchFamily="34" charset="0"/>
                  <a:cs typeface="Calibri" panose="020F0502020204030204" pitchFamily="34" charset="0"/>
                </a:rPr>
                <a:t>Engagement Activities</a:t>
              </a:r>
            </a:p>
          </p:txBody>
        </p:sp>
        <p:sp>
          <p:nvSpPr>
            <p:cNvPr id="46" name="Rectangle 45">
              <a:extLst>
                <a:ext uri="{FF2B5EF4-FFF2-40B4-BE49-F238E27FC236}">
                  <a16:creationId xmlns:a16="http://schemas.microsoft.com/office/drawing/2014/main" id="{2DB13160-573D-85AB-A4ED-C5873638F3B0}"/>
                </a:ext>
              </a:extLst>
            </p:cNvPr>
            <p:cNvSpPr/>
            <p:nvPr/>
          </p:nvSpPr>
          <p:spPr>
            <a:xfrm>
              <a:off x="6046000" y="3170000"/>
              <a:ext cx="1932000" cy="250000"/>
            </a:xfrm>
            <a:prstGeom prst="rect">
              <a:avLst/>
            </a:prstGeom>
            <a:solidFill>
              <a:srgbClr val="ECF0F1"/>
            </a:solidFill>
            <a:ln w="12700">
              <a:solidFill>
                <a:srgbClr val="ECF0F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ctr"/>
              <a:r>
                <a:rPr sz="1200" b="1">
                  <a:solidFill>
                    <a:schemeClr val="tx1"/>
                  </a:solidFill>
                  <a:latin typeface="Raleway" pitchFamily="2" charset="0"/>
                  <a:ea typeface="Calibri" panose="020F0502020204030204" pitchFamily="34" charset="0"/>
                  <a:cs typeface="Calibri" panose="020F0502020204030204" pitchFamily="34" charset="0"/>
                </a:rPr>
                <a:t>J2W</a:t>
              </a:r>
            </a:p>
          </p:txBody>
        </p:sp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83936EB0-7C54-F8AA-6964-33B7D3B7E850}"/>
                </a:ext>
              </a:extLst>
            </p:cNvPr>
            <p:cNvSpPr/>
            <p:nvPr/>
          </p:nvSpPr>
          <p:spPr>
            <a:xfrm>
              <a:off x="4114000" y="3420000"/>
              <a:ext cx="1932000" cy="25000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ECF0F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l"/>
              <a:r>
                <a:rPr sz="1200" b="0">
                  <a:solidFill>
                    <a:srgbClr val="0D4B6D"/>
                  </a:solidFill>
                  <a:latin typeface="Raleway" pitchFamily="2" charset="0"/>
                  <a:ea typeface="Calibri" panose="020F0502020204030204" pitchFamily="34" charset="0"/>
                  <a:cs typeface="Calibri" panose="020F0502020204030204" pitchFamily="34" charset="0"/>
                </a:rPr>
                <a:t>Attrition Management</a:t>
              </a:r>
            </a:p>
          </p:txBody>
        </p:sp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95BDF308-0D3D-0A6E-6D2C-32CCF8B36ED4}"/>
                </a:ext>
              </a:extLst>
            </p:cNvPr>
            <p:cNvSpPr/>
            <p:nvPr/>
          </p:nvSpPr>
          <p:spPr>
            <a:xfrm>
              <a:off x="6046000" y="3420000"/>
              <a:ext cx="1932000" cy="25000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ECF0F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ctr"/>
              <a:r>
                <a:rPr sz="1200" b="1">
                  <a:solidFill>
                    <a:schemeClr val="tx1"/>
                  </a:solidFill>
                  <a:latin typeface="Raleway" pitchFamily="2" charset="0"/>
                  <a:ea typeface="Calibri" panose="020F0502020204030204" pitchFamily="34" charset="0"/>
                  <a:cs typeface="Calibri" panose="020F0502020204030204" pitchFamily="34" charset="0"/>
                </a:rPr>
                <a:t>J2W</a:t>
              </a:r>
            </a:p>
          </p:txBody>
        </p:sp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32E3FA25-BE27-57B5-A55E-56A051BDCB8C}"/>
                </a:ext>
              </a:extLst>
            </p:cNvPr>
            <p:cNvSpPr/>
            <p:nvPr/>
          </p:nvSpPr>
          <p:spPr>
            <a:xfrm>
              <a:off x="4114000" y="3670000"/>
              <a:ext cx="1932000" cy="250000"/>
            </a:xfrm>
            <a:prstGeom prst="rect">
              <a:avLst/>
            </a:prstGeom>
            <a:solidFill>
              <a:srgbClr val="ECF0F1"/>
            </a:solidFill>
            <a:ln w="12700">
              <a:solidFill>
                <a:srgbClr val="ECF0F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l"/>
              <a:r>
                <a:rPr sz="1200" b="0">
                  <a:solidFill>
                    <a:srgbClr val="0D4B6D"/>
                  </a:solidFill>
                  <a:latin typeface="Raleway" pitchFamily="2" charset="0"/>
                  <a:ea typeface="Calibri" panose="020F0502020204030204" pitchFamily="34" charset="0"/>
                  <a:cs typeface="Calibri" panose="020F0502020204030204" pitchFamily="34" charset="0"/>
                </a:rPr>
                <a:t>Asset Management</a:t>
              </a:r>
            </a:p>
          </p:txBody>
        </p:sp>
        <p:sp>
          <p:nvSpPr>
            <p:cNvPr id="50" name="Rectangle 49">
              <a:extLst>
                <a:ext uri="{FF2B5EF4-FFF2-40B4-BE49-F238E27FC236}">
                  <a16:creationId xmlns:a16="http://schemas.microsoft.com/office/drawing/2014/main" id="{0256F9D0-FAB7-AB83-E07C-DC81D70A05ED}"/>
                </a:ext>
              </a:extLst>
            </p:cNvPr>
            <p:cNvSpPr/>
            <p:nvPr/>
          </p:nvSpPr>
          <p:spPr>
            <a:xfrm>
              <a:off x="6046000" y="3670000"/>
              <a:ext cx="1932000" cy="250000"/>
            </a:xfrm>
            <a:prstGeom prst="rect">
              <a:avLst/>
            </a:prstGeom>
            <a:solidFill>
              <a:srgbClr val="ECF0F1"/>
            </a:solidFill>
            <a:ln w="12700">
              <a:solidFill>
                <a:srgbClr val="ECF0F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ctr"/>
              <a:r>
                <a:rPr sz="1200" b="1">
                  <a:solidFill>
                    <a:schemeClr val="tx1"/>
                  </a:solidFill>
                  <a:latin typeface="Raleway" pitchFamily="2" charset="0"/>
                  <a:ea typeface="Calibri" panose="020F0502020204030204" pitchFamily="34" charset="0"/>
                  <a:cs typeface="Calibri" panose="020F0502020204030204" pitchFamily="34" charset="0"/>
                </a:rPr>
                <a:t>J2W</a:t>
              </a:r>
            </a:p>
          </p:txBody>
        </p:sp>
        <p:sp>
          <p:nvSpPr>
            <p:cNvPr id="51" name="Rectangle 50">
              <a:extLst>
                <a:ext uri="{FF2B5EF4-FFF2-40B4-BE49-F238E27FC236}">
                  <a16:creationId xmlns:a16="http://schemas.microsoft.com/office/drawing/2014/main" id="{8381714A-B196-14DB-0918-4BA24E6DF5F2}"/>
                </a:ext>
              </a:extLst>
            </p:cNvPr>
            <p:cNvSpPr/>
            <p:nvPr/>
          </p:nvSpPr>
          <p:spPr>
            <a:xfrm>
              <a:off x="4114000" y="3920000"/>
              <a:ext cx="1932000" cy="25000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ECF0F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l"/>
              <a:r>
                <a:rPr sz="1200" b="0">
                  <a:solidFill>
                    <a:srgbClr val="0D4B6D"/>
                  </a:solidFill>
                  <a:latin typeface="Raleway" pitchFamily="2" charset="0"/>
                  <a:ea typeface="Calibri" panose="020F0502020204030204" pitchFamily="34" charset="0"/>
                  <a:cs typeface="Calibri" panose="020F0502020204030204" pitchFamily="34" charset="0"/>
                </a:rPr>
                <a:t>Governance &amp; Visibility</a:t>
              </a:r>
            </a:p>
          </p:txBody>
        </p:sp>
        <p:sp>
          <p:nvSpPr>
            <p:cNvPr id="52" name="Rectangle 51">
              <a:extLst>
                <a:ext uri="{FF2B5EF4-FFF2-40B4-BE49-F238E27FC236}">
                  <a16:creationId xmlns:a16="http://schemas.microsoft.com/office/drawing/2014/main" id="{CD5DADA5-E0F3-08E6-1BB7-ABAC42BA94FA}"/>
                </a:ext>
              </a:extLst>
            </p:cNvPr>
            <p:cNvSpPr/>
            <p:nvPr/>
          </p:nvSpPr>
          <p:spPr>
            <a:xfrm>
              <a:off x="6046000" y="3920000"/>
              <a:ext cx="1932000" cy="25000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ECF0F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ctr"/>
              <a:r>
                <a:rPr sz="1200" b="1">
                  <a:solidFill>
                    <a:schemeClr val="tx1"/>
                  </a:solidFill>
                  <a:latin typeface="Raleway" pitchFamily="2" charset="0"/>
                  <a:ea typeface="Calibri" panose="020F0502020204030204" pitchFamily="34" charset="0"/>
                  <a:cs typeface="Calibri" panose="020F0502020204030204" pitchFamily="34" charset="0"/>
                </a:rPr>
                <a:t>J2W</a:t>
              </a:r>
            </a:p>
          </p:txBody>
        </p:sp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80817510-C915-7197-45F5-29C8D3DFAD12}"/>
                </a:ext>
              </a:extLst>
            </p:cNvPr>
            <p:cNvSpPr/>
            <p:nvPr/>
          </p:nvSpPr>
          <p:spPr>
            <a:xfrm>
              <a:off x="8028000" y="700000"/>
              <a:ext cx="3864000" cy="480000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1200">
                <a:latin typeface="Raleway" pitchFamily="2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468F798A-CD8A-7654-6936-59EBE970B0F4}"/>
                </a:ext>
              </a:extLst>
            </p:cNvPr>
            <p:cNvSpPr txBox="1"/>
            <p:nvPr/>
          </p:nvSpPr>
          <p:spPr>
            <a:xfrm>
              <a:off x="8088000" y="690000"/>
              <a:ext cx="3744000" cy="360000"/>
            </a:xfrm>
            <a:prstGeom prst="rect">
              <a:avLst/>
            </a:prstGeom>
            <a:noFill/>
          </p:spPr>
          <p:txBody>
            <a:bodyPr wrap="square"/>
            <a:lstStyle/>
            <a:p>
              <a:pPr algn="ctr"/>
              <a:r>
                <a:rPr sz="1200" b="1" i="0">
                  <a:solidFill>
                    <a:srgbClr val="FFFFFF"/>
                  </a:solidFill>
                  <a:latin typeface="Raleway" pitchFamily="2" charset="0"/>
                  <a:ea typeface="Calibri" panose="020F0502020204030204" pitchFamily="34" charset="0"/>
                  <a:cs typeface="Calibri" panose="020F0502020204030204" pitchFamily="34" charset="0"/>
                </a:rPr>
                <a:t>Stage 3
Exit Management</a:t>
              </a:r>
            </a:p>
          </p:txBody>
        </p:sp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5D262037-EC18-8874-8DEF-2FF49DEFAB43}"/>
                </a:ext>
              </a:extLst>
            </p:cNvPr>
            <p:cNvSpPr/>
            <p:nvPr/>
          </p:nvSpPr>
          <p:spPr>
            <a:xfrm>
              <a:off x="8028000" y="1200000"/>
              <a:ext cx="1932000" cy="220000"/>
            </a:xfrm>
            <a:prstGeom prst="rect">
              <a:avLst/>
            </a:prstGeom>
            <a:solidFill>
              <a:srgbClr val="ECF0F1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ctr"/>
              <a:r>
                <a:rPr sz="1200" b="1">
                  <a:solidFill>
                    <a:srgbClr val="0D4B6D"/>
                  </a:solidFill>
                  <a:latin typeface="Raleway" pitchFamily="2" charset="0"/>
                  <a:ea typeface="Calibri" panose="020F0502020204030204" pitchFamily="34" charset="0"/>
                  <a:cs typeface="Calibri" panose="020F0502020204030204" pitchFamily="34" charset="0"/>
                </a:rPr>
                <a:t>Deliverables</a:t>
              </a:r>
            </a:p>
          </p:txBody>
        </p:sp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65B11852-6F6B-C16C-CF38-E41D33CD5007}"/>
                </a:ext>
              </a:extLst>
            </p:cNvPr>
            <p:cNvSpPr/>
            <p:nvPr/>
          </p:nvSpPr>
          <p:spPr>
            <a:xfrm>
              <a:off x="9960000" y="1200000"/>
              <a:ext cx="1932000" cy="220000"/>
            </a:xfrm>
            <a:prstGeom prst="rect">
              <a:avLst/>
            </a:prstGeom>
            <a:solidFill>
              <a:srgbClr val="ECF0F1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ctr"/>
              <a:r>
                <a:rPr sz="1200" b="1">
                  <a:solidFill>
                    <a:srgbClr val="0D4B6D"/>
                  </a:solidFill>
                  <a:latin typeface="Raleway" pitchFamily="2" charset="0"/>
                  <a:ea typeface="Calibri" panose="020F0502020204030204" pitchFamily="34" charset="0"/>
                  <a:cs typeface="Calibri" panose="020F0502020204030204" pitchFamily="34" charset="0"/>
                </a:rPr>
                <a:t>Ownership</a:t>
              </a:r>
            </a:p>
          </p:txBody>
        </p:sp>
        <p:sp>
          <p:nvSpPr>
            <p:cNvPr id="57" name="Rectangle 56">
              <a:extLst>
                <a:ext uri="{FF2B5EF4-FFF2-40B4-BE49-F238E27FC236}">
                  <a16:creationId xmlns:a16="http://schemas.microsoft.com/office/drawing/2014/main" id="{68BB4853-8459-D2D4-B30F-FBCEAC9EDAAD}"/>
                </a:ext>
              </a:extLst>
            </p:cNvPr>
            <p:cNvSpPr/>
            <p:nvPr/>
          </p:nvSpPr>
          <p:spPr>
            <a:xfrm>
              <a:off x="8028000" y="1420000"/>
              <a:ext cx="1932000" cy="25000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ECF0F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l"/>
              <a:r>
                <a:rPr sz="1200" b="0">
                  <a:solidFill>
                    <a:srgbClr val="0D4B6D"/>
                  </a:solidFill>
                  <a:latin typeface="Raleway" pitchFamily="2" charset="0"/>
                  <a:ea typeface="Calibri" panose="020F0502020204030204" pitchFamily="34" charset="0"/>
                  <a:cs typeface="Calibri" panose="020F0502020204030204" pitchFamily="34" charset="0"/>
                </a:rPr>
                <a:t>Exit Notification</a:t>
              </a:r>
            </a:p>
          </p:txBody>
        </p:sp>
        <p:sp>
          <p:nvSpPr>
            <p:cNvPr id="58" name="Rectangle 57">
              <a:extLst>
                <a:ext uri="{FF2B5EF4-FFF2-40B4-BE49-F238E27FC236}">
                  <a16:creationId xmlns:a16="http://schemas.microsoft.com/office/drawing/2014/main" id="{FFCF0AD7-E18B-B4F9-722F-09C9399346ED}"/>
                </a:ext>
              </a:extLst>
            </p:cNvPr>
            <p:cNvSpPr/>
            <p:nvPr/>
          </p:nvSpPr>
          <p:spPr>
            <a:xfrm>
              <a:off x="9960000" y="1420000"/>
              <a:ext cx="1932000" cy="25000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ECF0F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ctr"/>
              <a:r>
                <a:rPr sz="1200" b="1">
                  <a:solidFill>
                    <a:schemeClr val="tx1"/>
                  </a:solidFill>
                  <a:latin typeface="Raleway" pitchFamily="2" charset="0"/>
                  <a:ea typeface="Calibri" panose="020F0502020204030204" pitchFamily="34" charset="0"/>
                  <a:cs typeface="Calibri" panose="020F0502020204030204" pitchFamily="34" charset="0"/>
                </a:rPr>
                <a:t>J2W</a:t>
              </a:r>
            </a:p>
          </p:txBody>
        </p:sp>
        <p:sp>
          <p:nvSpPr>
            <p:cNvPr id="59" name="Rectangle 58">
              <a:extLst>
                <a:ext uri="{FF2B5EF4-FFF2-40B4-BE49-F238E27FC236}">
                  <a16:creationId xmlns:a16="http://schemas.microsoft.com/office/drawing/2014/main" id="{56462909-F69D-7F0C-FF5A-179F2E3DC812}"/>
                </a:ext>
              </a:extLst>
            </p:cNvPr>
            <p:cNvSpPr/>
            <p:nvPr/>
          </p:nvSpPr>
          <p:spPr>
            <a:xfrm>
              <a:off x="8028000" y="1670000"/>
              <a:ext cx="1932000" cy="250000"/>
            </a:xfrm>
            <a:prstGeom prst="rect">
              <a:avLst/>
            </a:prstGeom>
            <a:solidFill>
              <a:srgbClr val="ECF0F1"/>
            </a:solidFill>
            <a:ln w="12700">
              <a:solidFill>
                <a:srgbClr val="ECF0F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l"/>
              <a:r>
                <a:rPr sz="1200" b="0">
                  <a:solidFill>
                    <a:srgbClr val="0D4B6D"/>
                  </a:solidFill>
                  <a:latin typeface="Raleway" pitchFamily="2" charset="0"/>
                  <a:ea typeface="Calibri" panose="020F0502020204030204" pitchFamily="34" charset="0"/>
                  <a:cs typeface="Calibri" panose="020F0502020204030204" pitchFamily="34" charset="0"/>
                </a:rPr>
                <a:t>Transition &amp; KT</a:t>
              </a:r>
            </a:p>
          </p:txBody>
        </p:sp>
        <p:sp>
          <p:nvSpPr>
            <p:cNvPr id="60" name="Rectangle 59">
              <a:extLst>
                <a:ext uri="{FF2B5EF4-FFF2-40B4-BE49-F238E27FC236}">
                  <a16:creationId xmlns:a16="http://schemas.microsoft.com/office/drawing/2014/main" id="{A6B2F914-9490-C890-6CBD-C5B9CE1E0C6F}"/>
                </a:ext>
              </a:extLst>
            </p:cNvPr>
            <p:cNvSpPr/>
            <p:nvPr/>
          </p:nvSpPr>
          <p:spPr>
            <a:xfrm>
              <a:off x="9960000" y="1670000"/>
              <a:ext cx="1932000" cy="250000"/>
            </a:xfrm>
            <a:prstGeom prst="rect">
              <a:avLst/>
            </a:prstGeom>
            <a:solidFill>
              <a:srgbClr val="ECF0F1"/>
            </a:solidFill>
            <a:ln w="12700">
              <a:solidFill>
                <a:srgbClr val="ECF0F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ctr"/>
              <a:r>
                <a:rPr sz="1200" b="1">
                  <a:solidFill>
                    <a:schemeClr val="tx1"/>
                  </a:solidFill>
                  <a:latin typeface="Raleway" pitchFamily="2" charset="0"/>
                  <a:ea typeface="Calibri" panose="020F0502020204030204" pitchFamily="34" charset="0"/>
                  <a:cs typeface="Calibri" panose="020F0502020204030204" pitchFamily="34" charset="0"/>
                </a:rPr>
                <a:t>J2W</a:t>
              </a:r>
            </a:p>
          </p:txBody>
        </p:sp>
        <p:sp>
          <p:nvSpPr>
            <p:cNvPr id="61" name="Rectangle 60">
              <a:extLst>
                <a:ext uri="{FF2B5EF4-FFF2-40B4-BE49-F238E27FC236}">
                  <a16:creationId xmlns:a16="http://schemas.microsoft.com/office/drawing/2014/main" id="{FD4BCF2C-26CD-69D1-B44B-65EA7A54F513}"/>
                </a:ext>
              </a:extLst>
            </p:cNvPr>
            <p:cNvSpPr/>
            <p:nvPr/>
          </p:nvSpPr>
          <p:spPr>
            <a:xfrm>
              <a:off x="8028000" y="1920000"/>
              <a:ext cx="1932000" cy="25000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ECF0F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l"/>
              <a:r>
                <a:rPr sz="1200" b="0">
                  <a:solidFill>
                    <a:srgbClr val="0D4B6D"/>
                  </a:solidFill>
                  <a:latin typeface="Raleway" pitchFamily="2" charset="0"/>
                  <a:ea typeface="Calibri" panose="020F0502020204030204" pitchFamily="34" charset="0"/>
                  <a:cs typeface="Calibri" panose="020F0502020204030204" pitchFamily="34" charset="0"/>
                </a:rPr>
                <a:t>Redeployments</a:t>
              </a:r>
            </a:p>
          </p:txBody>
        </p:sp>
        <p:sp>
          <p:nvSpPr>
            <p:cNvPr id="62" name="Rectangle 61">
              <a:extLst>
                <a:ext uri="{FF2B5EF4-FFF2-40B4-BE49-F238E27FC236}">
                  <a16:creationId xmlns:a16="http://schemas.microsoft.com/office/drawing/2014/main" id="{8B7A48A4-7436-3045-0AA8-F3D6869DFEB5}"/>
                </a:ext>
              </a:extLst>
            </p:cNvPr>
            <p:cNvSpPr/>
            <p:nvPr/>
          </p:nvSpPr>
          <p:spPr>
            <a:xfrm>
              <a:off x="9960000" y="1920000"/>
              <a:ext cx="1932000" cy="25000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ECF0F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ctr"/>
              <a:r>
                <a:rPr sz="1200" b="1">
                  <a:solidFill>
                    <a:schemeClr val="tx1"/>
                  </a:solidFill>
                  <a:latin typeface="Raleway" pitchFamily="2" charset="0"/>
                  <a:ea typeface="Calibri" panose="020F0502020204030204" pitchFamily="34" charset="0"/>
                  <a:cs typeface="Calibri" panose="020F0502020204030204" pitchFamily="34" charset="0"/>
                </a:rPr>
                <a:t>J2W</a:t>
              </a:r>
            </a:p>
          </p:txBody>
        </p:sp>
        <p:sp>
          <p:nvSpPr>
            <p:cNvPr id="63" name="Rectangle 62">
              <a:extLst>
                <a:ext uri="{FF2B5EF4-FFF2-40B4-BE49-F238E27FC236}">
                  <a16:creationId xmlns:a16="http://schemas.microsoft.com/office/drawing/2014/main" id="{FABAAB48-0027-53F2-5475-063F02F55DAA}"/>
                </a:ext>
              </a:extLst>
            </p:cNvPr>
            <p:cNvSpPr/>
            <p:nvPr/>
          </p:nvSpPr>
          <p:spPr>
            <a:xfrm>
              <a:off x="8028000" y="2170000"/>
              <a:ext cx="1932000" cy="250000"/>
            </a:xfrm>
            <a:prstGeom prst="rect">
              <a:avLst/>
            </a:prstGeom>
            <a:solidFill>
              <a:srgbClr val="ECF0F1"/>
            </a:solidFill>
            <a:ln w="12700">
              <a:solidFill>
                <a:srgbClr val="ECF0F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l"/>
              <a:r>
                <a:rPr sz="1200" b="0">
                  <a:solidFill>
                    <a:srgbClr val="0D4B6D"/>
                  </a:solidFill>
                  <a:latin typeface="Raleway" pitchFamily="2" charset="0"/>
                  <a:ea typeface="Calibri" panose="020F0502020204030204" pitchFamily="34" charset="0"/>
                  <a:cs typeface="Calibri" panose="020F0502020204030204" pitchFamily="34" charset="0"/>
                </a:rPr>
                <a:t>Asset Collection</a:t>
              </a:r>
            </a:p>
          </p:txBody>
        </p:sp>
        <p:sp>
          <p:nvSpPr>
            <p:cNvPr id="64" name="Rectangle 63">
              <a:extLst>
                <a:ext uri="{FF2B5EF4-FFF2-40B4-BE49-F238E27FC236}">
                  <a16:creationId xmlns:a16="http://schemas.microsoft.com/office/drawing/2014/main" id="{63B5B1B9-59C6-EF09-9547-51C0973C930A}"/>
                </a:ext>
              </a:extLst>
            </p:cNvPr>
            <p:cNvSpPr/>
            <p:nvPr/>
          </p:nvSpPr>
          <p:spPr>
            <a:xfrm>
              <a:off x="9960000" y="2170000"/>
              <a:ext cx="1932000" cy="250000"/>
            </a:xfrm>
            <a:prstGeom prst="rect">
              <a:avLst/>
            </a:prstGeom>
            <a:solidFill>
              <a:srgbClr val="ECF0F1"/>
            </a:solidFill>
            <a:ln w="12700">
              <a:solidFill>
                <a:srgbClr val="ECF0F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ctr"/>
              <a:r>
                <a:rPr sz="1200" b="1">
                  <a:solidFill>
                    <a:schemeClr val="tx1"/>
                  </a:solidFill>
                  <a:latin typeface="Raleway" pitchFamily="2" charset="0"/>
                  <a:ea typeface="Calibri" panose="020F0502020204030204" pitchFamily="34" charset="0"/>
                  <a:cs typeface="Calibri" panose="020F0502020204030204" pitchFamily="34" charset="0"/>
                </a:rPr>
                <a:t>J2W</a:t>
              </a:r>
            </a:p>
          </p:txBody>
        </p:sp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064D736C-41F2-C1C2-3241-4FB34E12981C}"/>
                </a:ext>
              </a:extLst>
            </p:cNvPr>
            <p:cNvSpPr/>
            <p:nvPr/>
          </p:nvSpPr>
          <p:spPr>
            <a:xfrm>
              <a:off x="8028000" y="2420000"/>
              <a:ext cx="1932000" cy="25000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ECF0F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l"/>
              <a:r>
                <a:rPr sz="1200" b="0">
                  <a:solidFill>
                    <a:srgbClr val="0D4B6D"/>
                  </a:solidFill>
                  <a:latin typeface="Raleway" pitchFamily="2" charset="0"/>
                  <a:ea typeface="Calibri" panose="020F0502020204030204" pitchFamily="34" charset="0"/>
                  <a:cs typeface="Calibri" panose="020F0502020204030204" pitchFamily="34" charset="0"/>
                </a:rPr>
                <a:t>NOCs</a:t>
              </a:r>
            </a:p>
          </p:txBody>
        </p:sp>
        <p:sp>
          <p:nvSpPr>
            <p:cNvPr id="66" name="Rectangle 65">
              <a:extLst>
                <a:ext uri="{FF2B5EF4-FFF2-40B4-BE49-F238E27FC236}">
                  <a16:creationId xmlns:a16="http://schemas.microsoft.com/office/drawing/2014/main" id="{161F0B9C-21D4-C826-B48A-33C07115D9F0}"/>
                </a:ext>
              </a:extLst>
            </p:cNvPr>
            <p:cNvSpPr/>
            <p:nvPr/>
          </p:nvSpPr>
          <p:spPr>
            <a:xfrm>
              <a:off x="9960000" y="2420000"/>
              <a:ext cx="1932000" cy="25000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ECF0F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ctr"/>
              <a:r>
                <a:rPr sz="1200" b="1">
                  <a:solidFill>
                    <a:schemeClr val="tx1"/>
                  </a:solidFill>
                  <a:latin typeface="Raleway" pitchFamily="2" charset="0"/>
                  <a:ea typeface="Calibri" panose="020F0502020204030204" pitchFamily="34" charset="0"/>
                  <a:cs typeface="Calibri" panose="020F0502020204030204" pitchFamily="34" charset="0"/>
                </a:rPr>
                <a:t>J2W</a:t>
              </a:r>
            </a:p>
          </p:txBody>
        </p:sp>
      </p:grpSp>
      <p:pic>
        <p:nvPicPr>
          <p:cNvPr id="4" name="Image 1" descr="gen-dedup-323228122ff92d2332e711a84ca3b40c.png">
            <a:extLst>
              <a:ext uri="{FF2B5EF4-FFF2-40B4-BE49-F238E27FC236}">
                <a16:creationId xmlns:a16="http://schemas.microsoft.com/office/drawing/2014/main" id="{476AB5FF-1605-E1FF-2C16-34974566713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-198" r="-198"/>
          <a:stretch/>
        </p:blipFill>
        <p:spPr>
          <a:xfrm>
            <a:off x="0" y="0"/>
            <a:ext cx="8124444" cy="75895"/>
          </a:xfrm>
          <a:prstGeom prst="rect">
            <a:avLst/>
          </a:prstGeom>
        </p:spPr>
      </p:pic>
      <p:pic>
        <p:nvPicPr>
          <p:cNvPr id="7" name="Image 2" descr="gen-dedup-9663ecf744b06e35d4c2cebaab92a2ea.png">
            <a:extLst>
              <a:ext uri="{FF2B5EF4-FFF2-40B4-BE49-F238E27FC236}">
                <a16:creationId xmlns:a16="http://schemas.microsoft.com/office/drawing/2014/main" id="{D456ED6E-AF28-1EB2-A349-6A858D1A4AE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-202" r="-202"/>
          <a:stretch/>
        </p:blipFill>
        <p:spPr>
          <a:xfrm>
            <a:off x="8124444" y="0"/>
            <a:ext cx="4067251" cy="75895"/>
          </a:xfrm>
          <a:prstGeom prst="rect">
            <a:avLst/>
          </a:prstGeom>
        </p:spPr>
      </p:pic>
      <p:pic>
        <p:nvPicPr>
          <p:cNvPr id="15" name="Image 3" descr="gen-dedup-ef527bea2207a14ec6e8d4c8ae9cdc45.png">
            <a:extLst>
              <a:ext uri="{FF2B5EF4-FFF2-40B4-BE49-F238E27FC236}">
                <a16:creationId xmlns:a16="http://schemas.microsoft.com/office/drawing/2014/main" id="{81467DE1-E8C2-6D46-BAAF-A94EEE2A9218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-384" r="-384"/>
          <a:stretch/>
        </p:blipFill>
        <p:spPr>
          <a:xfrm>
            <a:off x="609905" y="250851"/>
            <a:ext cx="57607" cy="476402"/>
          </a:xfrm>
          <a:prstGeom prst="rect">
            <a:avLst/>
          </a:prstGeom>
        </p:spPr>
      </p:pic>
      <p:sp>
        <p:nvSpPr>
          <p:cNvPr id="3" name="Text 10">
            <a:extLst>
              <a:ext uri="{FF2B5EF4-FFF2-40B4-BE49-F238E27FC236}">
                <a16:creationId xmlns:a16="http://schemas.microsoft.com/office/drawing/2014/main" id="{6CA9F7E2-1E59-4D12-A739-60DA551DA5E7}"/>
              </a:ext>
            </a:extLst>
          </p:cNvPr>
          <p:cNvSpPr txBox="1"/>
          <p:nvPr/>
        </p:nvSpPr>
        <p:spPr>
          <a:xfrm>
            <a:off x="819302" y="664769"/>
            <a:ext cx="10478110" cy="1719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kern="0" spc="56" dirty="0">
                <a:solidFill>
                  <a:srgbClr val="2A9D8F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End-to-end Workforce Lifecycle Management - From Screening To Exit</a:t>
            </a:r>
            <a:endParaRPr lang="en-US" sz="1500" dirty="0"/>
          </a:p>
        </p:txBody>
      </p:sp>
    </p:spTree>
    <p:extLst>
      <p:ext uri="{BB962C8B-B14F-4D97-AF65-F5344CB8AC3E}">
        <p14:creationId xmlns:p14="http://schemas.microsoft.com/office/powerpoint/2010/main" val="225448130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gen-dedup-e3e5efede2ea6a135da8da59a828adc3.png"/>
          <p:cNvPicPr>
            <a:picLocks noChangeAspect="1"/>
          </p:cNvPicPr>
          <p:nvPr/>
        </p:nvPicPr>
        <p:blipFill>
          <a:blip r:embed="rId3"/>
          <a:srcRect t="-403" b="-403"/>
          <a:stretch/>
        </p:blipFill>
        <p:spPr>
          <a:xfrm>
            <a:off x="0" y="0"/>
            <a:ext cx="4876495" cy="57607"/>
          </a:xfrm>
          <a:prstGeom prst="rect">
            <a:avLst/>
          </a:prstGeom>
        </p:spPr>
      </p:pic>
      <p:pic>
        <p:nvPicPr>
          <p:cNvPr id="3" name="Image 1" descr="gen-dedup-8f2b51904704db7afbf58c969153d6e7.png"/>
          <p:cNvPicPr>
            <a:picLocks noChangeAspect="1"/>
          </p:cNvPicPr>
          <p:nvPr/>
        </p:nvPicPr>
        <p:blipFill>
          <a:blip r:embed="rId4"/>
          <a:srcRect t="-400" b="-400"/>
          <a:stretch/>
        </p:blipFill>
        <p:spPr>
          <a:xfrm>
            <a:off x="4876495" y="0"/>
            <a:ext cx="7315200" cy="57607"/>
          </a:xfrm>
          <a:prstGeom prst="rect">
            <a:avLst/>
          </a:prstGeom>
        </p:spPr>
      </p:pic>
      <p:pic>
        <p:nvPicPr>
          <p:cNvPr id="4" name="Image 2" descr="gen-dedup-3381abfd1a6f9b6661a995d1481586b4.png"/>
          <p:cNvPicPr>
            <a:picLocks noChangeAspect="1"/>
          </p:cNvPicPr>
          <p:nvPr/>
        </p:nvPicPr>
        <p:blipFill>
          <a:blip r:embed="rId5"/>
          <a:srcRect l="-384" r="-384"/>
          <a:stretch/>
        </p:blipFill>
        <p:spPr>
          <a:xfrm>
            <a:off x="533095" y="437998"/>
            <a:ext cx="38405" cy="476402"/>
          </a:xfrm>
          <a:prstGeom prst="rect">
            <a:avLst/>
          </a:prstGeom>
        </p:spPr>
      </p:pic>
      <p:sp>
        <p:nvSpPr>
          <p:cNvPr id="5" name="Shape 0"/>
          <p:cNvSpPr/>
          <p:nvPr/>
        </p:nvSpPr>
        <p:spPr>
          <a:xfrm>
            <a:off x="533095" y="1238098"/>
            <a:ext cx="2115007" cy="1571854"/>
          </a:xfrm>
          <a:prstGeom prst="roundRect">
            <a:avLst>
              <a:gd name="adj" fmla="val 4828"/>
            </a:avLst>
          </a:prstGeom>
          <a:solidFill>
            <a:srgbClr val="FFFFFF"/>
          </a:solidFill>
          <a:ln w="12700">
            <a:solidFill>
              <a:srgbClr val="E5E8EE"/>
            </a:solidFill>
            <a:prstDash val="solid"/>
          </a:ln>
          <a:effectLst>
            <a:outerShdw blurRad="114300" dist="38100" dir="16200000" algn="bl" rotWithShape="0">
              <a:srgbClr val="000000">
                <a:alpha val="3000"/>
              </a:srgbClr>
            </a:outerShdw>
          </a:effectLst>
        </p:spPr>
        <p:txBody>
          <a:bodyPr/>
          <a:lstStyle/>
          <a:p>
            <a:endParaRPr lang="en-US">
              <a:latin typeface="Raleway" pitchFamily="2" charset="0"/>
            </a:endParaRPr>
          </a:p>
        </p:txBody>
      </p:sp>
      <p:sp>
        <p:nvSpPr>
          <p:cNvPr id="6" name="Shape 1"/>
          <p:cNvSpPr/>
          <p:nvPr/>
        </p:nvSpPr>
        <p:spPr>
          <a:xfrm>
            <a:off x="533095" y="1238098"/>
            <a:ext cx="2115007" cy="38405"/>
          </a:xfrm>
          <a:prstGeom prst="roundRect">
            <a:avLst>
              <a:gd name="adj" fmla="val 197618"/>
            </a:avLst>
          </a:prstGeom>
          <a:solidFill>
            <a:srgbClr val="289C8F"/>
          </a:solidFill>
          <a:ln w="12700">
            <a:solidFill>
              <a:srgbClr val="289C8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>
              <a:latin typeface="Raleway" pitchFamily="2" charset="0"/>
            </a:endParaRPr>
          </a:p>
        </p:txBody>
      </p:sp>
      <p:sp>
        <p:nvSpPr>
          <p:cNvPr id="7" name="Shape 2"/>
          <p:cNvSpPr/>
          <p:nvPr/>
        </p:nvSpPr>
        <p:spPr>
          <a:xfrm>
            <a:off x="2781605" y="1238098"/>
            <a:ext cx="2115007" cy="1571854"/>
          </a:xfrm>
          <a:prstGeom prst="roundRect">
            <a:avLst>
              <a:gd name="adj" fmla="val 4828"/>
            </a:avLst>
          </a:prstGeom>
          <a:solidFill>
            <a:srgbClr val="FFFFFF"/>
          </a:solidFill>
          <a:ln w="12700">
            <a:solidFill>
              <a:srgbClr val="E5E8EE"/>
            </a:solidFill>
            <a:prstDash val="solid"/>
          </a:ln>
          <a:effectLst>
            <a:outerShdw blurRad="114300" dist="38100" dir="16200000" algn="bl" rotWithShape="0">
              <a:srgbClr val="000000">
                <a:alpha val="3000"/>
              </a:srgbClr>
            </a:outerShdw>
          </a:effectLst>
        </p:spPr>
        <p:txBody>
          <a:bodyPr/>
          <a:lstStyle/>
          <a:p>
            <a:endParaRPr lang="en-US">
              <a:latin typeface="Raleway" pitchFamily="2" charset="0"/>
            </a:endParaRPr>
          </a:p>
        </p:txBody>
      </p:sp>
      <p:sp>
        <p:nvSpPr>
          <p:cNvPr id="8" name="Shape 3"/>
          <p:cNvSpPr/>
          <p:nvPr/>
        </p:nvSpPr>
        <p:spPr>
          <a:xfrm>
            <a:off x="2781605" y="1238098"/>
            <a:ext cx="2115007" cy="38405"/>
          </a:xfrm>
          <a:prstGeom prst="roundRect">
            <a:avLst>
              <a:gd name="adj" fmla="val 197618"/>
            </a:avLst>
          </a:prstGeom>
          <a:solidFill>
            <a:srgbClr val="289C8F"/>
          </a:solidFill>
          <a:ln w="12700">
            <a:solidFill>
              <a:srgbClr val="289C8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>
              <a:latin typeface="Raleway" pitchFamily="2" charset="0"/>
            </a:endParaRPr>
          </a:p>
        </p:txBody>
      </p:sp>
      <p:sp>
        <p:nvSpPr>
          <p:cNvPr id="9" name="Shape 4"/>
          <p:cNvSpPr/>
          <p:nvPr/>
        </p:nvSpPr>
        <p:spPr>
          <a:xfrm>
            <a:off x="5029200" y="1238098"/>
            <a:ext cx="2115007" cy="1571854"/>
          </a:xfrm>
          <a:prstGeom prst="roundRect">
            <a:avLst>
              <a:gd name="adj" fmla="val 4828"/>
            </a:avLst>
          </a:prstGeom>
          <a:solidFill>
            <a:srgbClr val="FFFFFF"/>
          </a:solidFill>
          <a:ln w="12700">
            <a:solidFill>
              <a:srgbClr val="E5E8EE"/>
            </a:solidFill>
            <a:prstDash val="solid"/>
          </a:ln>
          <a:effectLst>
            <a:outerShdw blurRad="114300" dist="38100" dir="16200000" algn="bl" rotWithShape="0">
              <a:srgbClr val="000000">
                <a:alpha val="3000"/>
              </a:srgbClr>
            </a:outerShdw>
          </a:effectLst>
        </p:spPr>
        <p:txBody>
          <a:bodyPr/>
          <a:lstStyle/>
          <a:p>
            <a:endParaRPr lang="en-US">
              <a:latin typeface="Raleway" pitchFamily="2" charset="0"/>
            </a:endParaRPr>
          </a:p>
        </p:txBody>
      </p:sp>
      <p:sp>
        <p:nvSpPr>
          <p:cNvPr id="10" name="Shape 5"/>
          <p:cNvSpPr/>
          <p:nvPr/>
        </p:nvSpPr>
        <p:spPr>
          <a:xfrm>
            <a:off x="5029200" y="1238098"/>
            <a:ext cx="2115007" cy="38405"/>
          </a:xfrm>
          <a:prstGeom prst="roundRect">
            <a:avLst>
              <a:gd name="adj" fmla="val 197618"/>
            </a:avLst>
          </a:prstGeom>
          <a:solidFill>
            <a:srgbClr val="289C8F"/>
          </a:solidFill>
          <a:ln w="12700">
            <a:solidFill>
              <a:srgbClr val="289C8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>
              <a:latin typeface="Raleway" pitchFamily="2" charset="0"/>
            </a:endParaRPr>
          </a:p>
        </p:txBody>
      </p:sp>
      <p:sp>
        <p:nvSpPr>
          <p:cNvPr id="11" name="Shape 6"/>
          <p:cNvSpPr/>
          <p:nvPr/>
        </p:nvSpPr>
        <p:spPr>
          <a:xfrm>
            <a:off x="7276795" y="1238098"/>
            <a:ext cx="2115007" cy="1571854"/>
          </a:xfrm>
          <a:prstGeom prst="roundRect">
            <a:avLst>
              <a:gd name="adj" fmla="val 4828"/>
            </a:avLst>
          </a:prstGeom>
          <a:solidFill>
            <a:srgbClr val="FFFFFF"/>
          </a:solidFill>
          <a:ln w="12700">
            <a:solidFill>
              <a:srgbClr val="E5E8EE"/>
            </a:solidFill>
            <a:prstDash val="solid"/>
          </a:ln>
          <a:effectLst>
            <a:outerShdw blurRad="114300" dist="38100" dir="16200000" algn="bl" rotWithShape="0">
              <a:srgbClr val="000000">
                <a:alpha val="3000"/>
              </a:srgbClr>
            </a:outerShdw>
          </a:effectLst>
        </p:spPr>
        <p:txBody>
          <a:bodyPr/>
          <a:lstStyle/>
          <a:p>
            <a:endParaRPr lang="en-US">
              <a:latin typeface="Raleway" pitchFamily="2" charset="0"/>
            </a:endParaRPr>
          </a:p>
        </p:txBody>
      </p:sp>
      <p:sp>
        <p:nvSpPr>
          <p:cNvPr id="12" name="Shape 7"/>
          <p:cNvSpPr/>
          <p:nvPr/>
        </p:nvSpPr>
        <p:spPr>
          <a:xfrm>
            <a:off x="7276795" y="1238098"/>
            <a:ext cx="2115007" cy="38405"/>
          </a:xfrm>
          <a:prstGeom prst="roundRect">
            <a:avLst>
              <a:gd name="adj" fmla="val 197618"/>
            </a:avLst>
          </a:prstGeom>
          <a:solidFill>
            <a:srgbClr val="289C8F"/>
          </a:solidFill>
          <a:ln w="12700">
            <a:solidFill>
              <a:srgbClr val="289C8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>
              <a:latin typeface="Raleway" pitchFamily="2" charset="0"/>
            </a:endParaRPr>
          </a:p>
        </p:txBody>
      </p:sp>
      <p:sp>
        <p:nvSpPr>
          <p:cNvPr id="13" name="Shape 8"/>
          <p:cNvSpPr/>
          <p:nvPr/>
        </p:nvSpPr>
        <p:spPr>
          <a:xfrm>
            <a:off x="9525305" y="1238098"/>
            <a:ext cx="2115007" cy="1571854"/>
          </a:xfrm>
          <a:prstGeom prst="roundRect">
            <a:avLst>
              <a:gd name="adj" fmla="val 4828"/>
            </a:avLst>
          </a:prstGeom>
          <a:solidFill>
            <a:srgbClr val="FFFFFF"/>
          </a:solidFill>
          <a:ln w="12700">
            <a:solidFill>
              <a:srgbClr val="E5E8EE"/>
            </a:solidFill>
            <a:prstDash val="solid"/>
          </a:ln>
          <a:effectLst>
            <a:outerShdw blurRad="114300" dist="38100" dir="16200000" algn="bl" rotWithShape="0">
              <a:srgbClr val="000000">
                <a:alpha val="3000"/>
              </a:srgbClr>
            </a:outerShdw>
          </a:effectLst>
        </p:spPr>
        <p:txBody>
          <a:bodyPr/>
          <a:lstStyle/>
          <a:p>
            <a:endParaRPr lang="en-US">
              <a:latin typeface="Raleway" pitchFamily="2" charset="0"/>
            </a:endParaRPr>
          </a:p>
        </p:txBody>
      </p:sp>
      <p:sp>
        <p:nvSpPr>
          <p:cNvPr id="14" name="Shape 9"/>
          <p:cNvSpPr/>
          <p:nvPr/>
        </p:nvSpPr>
        <p:spPr>
          <a:xfrm>
            <a:off x="9525305" y="1238098"/>
            <a:ext cx="2115007" cy="38405"/>
          </a:xfrm>
          <a:prstGeom prst="roundRect">
            <a:avLst>
              <a:gd name="adj" fmla="val 197618"/>
            </a:avLst>
          </a:prstGeom>
          <a:solidFill>
            <a:srgbClr val="289C8F"/>
          </a:solidFill>
          <a:ln w="12700">
            <a:solidFill>
              <a:srgbClr val="289C8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>
              <a:latin typeface="Raleway" pitchFamily="2" charset="0"/>
            </a:endParaRPr>
          </a:p>
        </p:txBody>
      </p:sp>
      <p:sp>
        <p:nvSpPr>
          <p:cNvPr id="15" name="Shape 10"/>
          <p:cNvSpPr/>
          <p:nvPr/>
        </p:nvSpPr>
        <p:spPr>
          <a:xfrm>
            <a:off x="533095" y="2952598"/>
            <a:ext cx="2115007" cy="1571854"/>
          </a:xfrm>
          <a:prstGeom prst="roundRect">
            <a:avLst>
              <a:gd name="adj" fmla="val 4828"/>
            </a:avLst>
          </a:prstGeom>
          <a:solidFill>
            <a:srgbClr val="FFFFFF"/>
          </a:solidFill>
          <a:ln w="12700">
            <a:solidFill>
              <a:srgbClr val="E5E8EE"/>
            </a:solidFill>
            <a:prstDash val="solid"/>
          </a:ln>
          <a:effectLst>
            <a:outerShdw blurRad="114300" dist="38100" dir="16200000" algn="bl" rotWithShape="0">
              <a:srgbClr val="000000">
                <a:alpha val="3000"/>
              </a:srgbClr>
            </a:outerShdw>
          </a:effectLst>
        </p:spPr>
        <p:txBody>
          <a:bodyPr/>
          <a:lstStyle/>
          <a:p>
            <a:endParaRPr lang="en-US" sz="1100">
              <a:latin typeface="Raleway" pitchFamily="2" charset="0"/>
            </a:endParaRPr>
          </a:p>
        </p:txBody>
      </p:sp>
      <p:sp>
        <p:nvSpPr>
          <p:cNvPr id="16" name="Shape 11"/>
          <p:cNvSpPr/>
          <p:nvPr/>
        </p:nvSpPr>
        <p:spPr>
          <a:xfrm>
            <a:off x="533095" y="2952598"/>
            <a:ext cx="2115007" cy="38405"/>
          </a:xfrm>
          <a:prstGeom prst="roundRect">
            <a:avLst>
              <a:gd name="adj" fmla="val 197618"/>
            </a:avLst>
          </a:prstGeom>
          <a:solidFill>
            <a:srgbClr val="289C8F"/>
          </a:solidFill>
          <a:ln w="12700">
            <a:solidFill>
              <a:srgbClr val="289C8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 sz="1400">
              <a:latin typeface="Raleway" pitchFamily="2" charset="0"/>
            </a:endParaRPr>
          </a:p>
        </p:txBody>
      </p:sp>
      <p:sp>
        <p:nvSpPr>
          <p:cNvPr id="17" name="Shape 12"/>
          <p:cNvSpPr/>
          <p:nvPr/>
        </p:nvSpPr>
        <p:spPr>
          <a:xfrm>
            <a:off x="2781605" y="2952598"/>
            <a:ext cx="2115007" cy="1571854"/>
          </a:xfrm>
          <a:prstGeom prst="roundRect">
            <a:avLst>
              <a:gd name="adj" fmla="val 4828"/>
            </a:avLst>
          </a:prstGeom>
          <a:solidFill>
            <a:srgbClr val="FFFFFF"/>
          </a:solidFill>
          <a:ln w="12700">
            <a:solidFill>
              <a:srgbClr val="E5E8EE"/>
            </a:solidFill>
            <a:prstDash val="solid"/>
          </a:ln>
          <a:effectLst>
            <a:outerShdw blurRad="114300" dist="38100" dir="16200000" algn="bl" rotWithShape="0">
              <a:srgbClr val="000000">
                <a:alpha val="3000"/>
              </a:srgbClr>
            </a:outerShdw>
          </a:effectLst>
        </p:spPr>
        <p:txBody>
          <a:bodyPr/>
          <a:lstStyle/>
          <a:p>
            <a:endParaRPr lang="en-US" sz="1100">
              <a:latin typeface="Raleway" pitchFamily="2" charset="0"/>
            </a:endParaRPr>
          </a:p>
        </p:txBody>
      </p:sp>
      <p:sp>
        <p:nvSpPr>
          <p:cNvPr id="18" name="Shape 13"/>
          <p:cNvSpPr/>
          <p:nvPr/>
        </p:nvSpPr>
        <p:spPr>
          <a:xfrm>
            <a:off x="2781605" y="2952598"/>
            <a:ext cx="2115007" cy="38405"/>
          </a:xfrm>
          <a:prstGeom prst="roundRect">
            <a:avLst>
              <a:gd name="adj" fmla="val 197618"/>
            </a:avLst>
          </a:prstGeom>
          <a:solidFill>
            <a:srgbClr val="289C8F"/>
          </a:solidFill>
          <a:ln w="12700">
            <a:solidFill>
              <a:srgbClr val="289C8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 sz="1400">
              <a:latin typeface="Raleway" pitchFamily="2" charset="0"/>
            </a:endParaRPr>
          </a:p>
        </p:txBody>
      </p:sp>
      <p:sp>
        <p:nvSpPr>
          <p:cNvPr id="19" name="Shape 14"/>
          <p:cNvSpPr/>
          <p:nvPr/>
        </p:nvSpPr>
        <p:spPr>
          <a:xfrm>
            <a:off x="5029200" y="2952598"/>
            <a:ext cx="2115007" cy="1571854"/>
          </a:xfrm>
          <a:prstGeom prst="roundRect">
            <a:avLst>
              <a:gd name="adj" fmla="val 4828"/>
            </a:avLst>
          </a:prstGeom>
          <a:solidFill>
            <a:srgbClr val="FFFFFF"/>
          </a:solidFill>
          <a:ln w="12700">
            <a:solidFill>
              <a:srgbClr val="E5E8EE"/>
            </a:solidFill>
            <a:prstDash val="solid"/>
          </a:ln>
          <a:effectLst>
            <a:outerShdw blurRad="114300" dist="38100" dir="16200000" algn="bl" rotWithShape="0">
              <a:srgbClr val="000000">
                <a:alpha val="3000"/>
              </a:srgbClr>
            </a:outerShdw>
          </a:effectLst>
        </p:spPr>
        <p:txBody>
          <a:bodyPr/>
          <a:lstStyle/>
          <a:p>
            <a:endParaRPr lang="en-US" sz="1100">
              <a:latin typeface="Raleway" pitchFamily="2" charset="0"/>
            </a:endParaRPr>
          </a:p>
        </p:txBody>
      </p:sp>
      <p:sp>
        <p:nvSpPr>
          <p:cNvPr id="20" name="Shape 15"/>
          <p:cNvSpPr/>
          <p:nvPr/>
        </p:nvSpPr>
        <p:spPr>
          <a:xfrm>
            <a:off x="5029200" y="2952598"/>
            <a:ext cx="2115007" cy="38405"/>
          </a:xfrm>
          <a:prstGeom prst="roundRect">
            <a:avLst>
              <a:gd name="adj" fmla="val 197618"/>
            </a:avLst>
          </a:prstGeom>
          <a:solidFill>
            <a:srgbClr val="289C8F"/>
          </a:solidFill>
          <a:ln w="12700">
            <a:solidFill>
              <a:srgbClr val="289C8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 sz="1400">
              <a:latin typeface="Raleway" pitchFamily="2" charset="0"/>
            </a:endParaRPr>
          </a:p>
        </p:txBody>
      </p:sp>
      <p:sp>
        <p:nvSpPr>
          <p:cNvPr id="21" name="Shape 16"/>
          <p:cNvSpPr/>
          <p:nvPr/>
        </p:nvSpPr>
        <p:spPr>
          <a:xfrm>
            <a:off x="7276795" y="2952598"/>
            <a:ext cx="2115007" cy="1571854"/>
          </a:xfrm>
          <a:prstGeom prst="roundRect">
            <a:avLst>
              <a:gd name="adj" fmla="val 4828"/>
            </a:avLst>
          </a:prstGeom>
          <a:solidFill>
            <a:srgbClr val="FFFFFF"/>
          </a:solidFill>
          <a:ln w="12700">
            <a:solidFill>
              <a:srgbClr val="E5E8EE"/>
            </a:solidFill>
            <a:prstDash val="solid"/>
          </a:ln>
          <a:effectLst>
            <a:outerShdw blurRad="114300" dist="38100" dir="16200000" algn="bl" rotWithShape="0">
              <a:srgbClr val="000000">
                <a:alpha val="3000"/>
              </a:srgbClr>
            </a:outerShdw>
          </a:effectLst>
        </p:spPr>
        <p:txBody>
          <a:bodyPr/>
          <a:lstStyle/>
          <a:p>
            <a:endParaRPr lang="en-US" sz="1100">
              <a:latin typeface="Raleway" pitchFamily="2" charset="0"/>
            </a:endParaRPr>
          </a:p>
        </p:txBody>
      </p:sp>
      <p:sp>
        <p:nvSpPr>
          <p:cNvPr id="22" name="Shape 17"/>
          <p:cNvSpPr/>
          <p:nvPr/>
        </p:nvSpPr>
        <p:spPr>
          <a:xfrm>
            <a:off x="7276795" y="2952598"/>
            <a:ext cx="2115007" cy="38405"/>
          </a:xfrm>
          <a:prstGeom prst="roundRect">
            <a:avLst>
              <a:gd name="adj" fmla="val 197618"/>
            </a:avLst>
          </a:prstGeom>
          <a:solidFill>
            <a:srgbClr val="289C8F"/>
          </a:solidFill>
          <a:ln w="12700">
            <a:solidFill>
              <a:srgbClr val="289C8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 sz="1400">
              <a:latin typeface="Raleway" pitchFamily="2" charset="0"/>
            </a:endParaRPr>
          </a:p>
        </p:txBody>
      </p:sp>
      <p:sp>
        <p:nvSpPr>
          <p:cNvPr id="23" name="Shape 18"/>
          <p:cNvSpPr/>
          <p:nvPr/>
        </p:nvSpPr>
        <p:spPr>
          <a:xfrm>
            <a:off x="9525305" y="2952598"/>
            <a:ext cx="2115007" cy="1571854"/>
          </a:xfrm>
          <a:prstGeom prst="roundRect">
            <a:avLst>
              <a:gd name="adj" fmla="val 4828"/>
            </a:avLst>
          </a:prstGeom>
          <a:solidFill>
            <a:srgbClr val="FFFFFF"/>
          </a:solidFill>
          <a:ln w="12700">
            <a:solidFill>
              <a:srgbClr val="E5E8EE"/>
            </a:solidFill>
            <a:prstDash val="solid"/>
          </a:ln>
          <a:effectLst>
            <a:outerShdw blurRad="114300" dist="38100" dir="16200000" algn="bl" rotWithShape="0">
              <a:srgbClr val="000000">
                <a:alpha val="3000"/>
              </a:srgbClr>
            </a:outerShdw>
          </a:effectLst>
        </p:spPr>
        <p:txBody>
          <a:bodyPr/>
          <a:lstStyle/>
          <a:p>
            <a:endParaRPr lang="en-US">
              <a:latin typeface="Raleway" pitchFamily="2" charset="0"/>
            </a:endParaRPr>
          </a:p>
        </p:txBody>
      </p:sp>
      <p:sp>
        <p:nvSpPr>
          <p:cNvPr id="24" name="Shape 19"/>
          <p:cNvSpPr/>
          <p:nvPr/>
        </p:nvSpPr>
        <p:spPr>
          <a:xfrm>
            <a:off x="9525305" y="2952598"/>
            <a:ext cx="2115007" cy="38405"/>
          </a:xfrm>
          <a:prstGeom prst="roundRect">
            <a:avLst>
              <a:gd name="adj" fmla="val 197618"/>
            </a:avLst>
          </a:prstGeom>
          <a:solidFill>
            <a:srgbClr val="289C8F"/>
          </a:solidFill>
          <a:ln w="12700">
            <a:solidFill>
              <a:srgbClr val="289C8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 sz="1400">
              <a:latin typeface="Raleway" pitchFamily="2" charset="0"/>
            </a:endParaRPr>
          </a:p>
        </p:txBody>
      </p:sp>
      <p:sp>
        <p:nvSpPr>
          <p:cNvPr id="25" name="Shape 20"/>
          <p:cNvSpPr/>
          <p:nvPr/>
        </p:nvSpPr>
        <p:spPr>
          <a:xfrm>
            <a:off x="533095" y="4809744"/>
            <a:ext cx="11087100" cy="571500"/>
          </a:xfrm>
          <a:prstGeom prst="roundRect">
            <a:avLst>
              <a:gd name="adj" fmla="val 13280"/>
            </a:avLst>
          </a:prstGeom>
          <a:solidFill>
            <a:srgbClr val="E0F0E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>
              <a:latin typeface="Raleway" pitchFamily="2" charset="0"/>
            </a:endParaRPr>
          </a:p>
        </p:txBody>
      </p:sp>
      <p:sp>
        <p:nvSpPr>
          <p:cNvPr id="26" name="Shape 21"/>
          <p:cNvSpPr/>
          <p:nvPr/>
        </p:nvSpPr>
        <p:spPr>
          <a:xfrm>
            <a:off x="533095" y="5572354"/>
            <a:ext cx="11144707" cy="857707"/>
          </a:xfrm>
          <a:prstGeom prst="roundRect">
            <a:avLst>
              <a:gd name="adj" fmla="val 8849"/>
            </a:avLst>
          </a:prstGeom>
          <a:solidFill>
            <a:srgbClr val="1F2A44"/>
          </a:solidFill>
          <a:ln/>
        </p:spPr>
        <p:txBody>
          <a:bodyPr/>
          <a:lstStyle/>
          <a:p>
            <a:endParaRPr lang="en-US">
              <a:latin typeface="Raleway" pitchFamily="2" charset="0"/>
            </a:endParaRPr>
          </a:p>
        </p:txBody>
      </p:sp>
      <p:sp>
        <p:nvSpPr>
          <p:cNvPr id="27" name="Shape 22"/>
          <p:cNvSpPr/>
          <p:nvPr/>
        </p:nvSpPr>
        <p:spPr>
          <a:xfrm>
            <a:off x="533095" y="5572354"/>
            <a:ext cx="57607" cy="857707"/>
          </a:xfrm>
          <a:prstGeom prst="roundRect">
            <a:avLst>
              <a:gd name="adj" fmla="val 131746"/>
            </a:avLst>
          </a:prstGeom>
          <a:solidFill>
            <a:srgbClr val="D8293A"/>
          </a:solidFill>
          <a:ln w="12700">
            <a:solidFill>
              <a:srgbClr val="D8293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>
              <a:latin typeface="Raleway" pitchFamily="2" charset="0"/>
            </a:endParaRPr>
          </a:p>
        </p:txBody>
      </p:sp>
      <p:sp>
        <p:nvSpPr>
          <p:cNvPr id="29" name="Text 24"/>
          <p:cNvSpPr txBox="1"/>
          <p:nvPr/>
        </p:nvSpPr>
        <p:spPr>
          <a:xfrm>
            <a:off x="685800" y="381305"/>
            <a:ext cx="9525305" cy="3529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1F2A44"/>
                </a:solidFill>
                <a:latin typeface="Oswald" panose="00000500000000000000" pitchFamily="2" charset="0"/>
                <a:ea typeface="Fraunces" pitchFamily="34" charset="-122"/>
                <a:cs typeface="Fraunces" pitchFamily="34" charset="-120"/>
              </a:rPr>
              <a:t>ENGAGEMENT &amp; RETENTION OPERATING MODEL</a:t>
            </a:r>
            <a:endParaRPr lang="en-US" sz="2400" dirty="0">
              <a:latin typeface="Oswald" panose="00000500000000000000" pitchFamily="2" charset="0"/>
            </a:endParaRPr>
          </a:p>
        </p:txBody>
      </p:sp>
      <p:sp>
        <p:nvSpPr>
          <p:cNvPr id="30" name="Text 25"/>
          <p:cNvSpPr txBox="1"/>
          <p:nvPr/>
        </p:nvSpPr>
        <p:spPr>
          <a:xfrm>
            <a:off x="685800" y="790956"/>
            <a:ext cx="9525305" cy="1627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2A9D8F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Engagement approach to protect offer acceptance, joining, onboarding experience and early retention</a:t>
            </a:r>
          </a:p>
        </p:txBody>
      </p:sp>
      <p:pic>
        <p:nvPicPr>
          <p:cNvPr id="31" name="Image 3" descr="gen-dedup-5bb4209ef079b31493c29820114b75a3.png"/>
          <p:cNvPicPr>
            <a:picLocks noChangeAspect="1"/>
          </p:cNvPicPr>
          <p:nvPr/>
        </p:nvPicPr>
        <p:blipFill>
          <a:blip r:embed="rId6"/>
          <a:srcRect t="-33500" b="-33500"/>
          <a:stretch/>
        </p:blipFill>
        <p:spPr>
          <a:xfrm>
            <a:off x="685800" y="1404518"/>
            <a:ext cx="114300" cy="152705"/>
          </a:xfrm>
          <a:prstGeom prst="rect">
            <a:avLst/>
          </a:prstGeom>
        </p:spPr>
      </p:pic>
      <p:sp>
        <p:nvSpPr>
          <p:cNvPr id="32" name="Text 26"/>
          <p:cNvSpPr txBox="1"/>
          <p:nvPr/>
        </p:nvSpPr>
        <p:spPr>
          <a:xfrm>
            <a:off x="875995" y="1390802"/>
            <a:ext cx="975665" cy="1810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F2A44"/>
                </a:solidFill>
                <a:latin typeface="Raleway" pitchFamily="2" charset="0"/>
                <a:ea typeface="Fraunces" pitchFamily="34" charset="-122"/>
                <a:cs typeface="Fraunces" pitchFamily="34" charset="-120"/>
              </a:rPr>
              <a:t>Pre-Joining</a:t>
            </a:r>
            <a:endParaRPr lang="en-US" sz="1400" dirty="0">
              <a:latin typeface="Raleway" pitchFamily="2" charset="0"/>
            </a:endParaRPr>
          </a:p>
        </p:txBody>
      </p:sp>
      <p:sp>
        <p:nvSpPr>
          <p:cNvPr id="33" name="Text 27"/>
          <p:cNvSpPr txBox="1"/>
          <p:nvPr/>
        </p:nvSpPr>
        <p:spPr>
          <a:xfrm>
            <a:off x="698805" y="1661465"/>
            <a:ext cx="1778305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39700" indent="-139700" algn="l">
              <a:lnSpc>
                <a:spcPts val="1560"/>
              </a:lnSpc>
              <a:buSzPct val="100000"/>
              <a:buChar char="•"/>
            </a:pPr>
            <a:r>
              <a:rPr lang="en-US" sz="1200" dirty="0">
                <a:solidFill>
                  <a:srgbClr val="2A3346"/>
                </a:solidFill>
                <a:latin typeface="Raleway" pitchFamily="2" charset="0"/>
                <a:ea typeface="Inter" pitchFamily="34" charset="-122"/>
                <a:cs typeface="Inter" pitchFamily="34" charset="-120"/>
              </a:rPr>
              <a:t>​Welcome call</a:t>
            </a:r>
            <a:endParaRPr lang="en-US" sz="1200" dirty="0">
              <a:latin typeface="Raleway" pitchFamily="2" charset="0"/>
            </a:endParaRPr>
          </a:p>
          <a:p>
            <a:pPr marL="139700" indent="-139700" algn="l">
              <a:lnSpc>
                <a:spcPts val="1560"/>
              </a:lnSpc>
              <a:buSzPct val="100000"/>
              <a:buChar char="•"/>
            </a:pPr>
            <a:r>
              <a:rPr lang="en-US" sz="1200" dirty="0">
                <a:solidFill>
                  <a:srgbClr val="2A3346"/>
                </a:solidFill>
                <a:latin typeface="Raleway" pitchFamily="2" charset="0"/>
                <a:ea typeface="Inter" pitchFamily="34" charset="-122"/>
                <a:cs typeface="Inter" pitchFamily="34" charset="-120"/>
              </a:rPr>
              <a:t>​Joiner group</a:t>
            </a:r>
            <a:endParaRPr lang="en-US" sz="1200" dirty="0">
              <a:latin typeface="Raleway" pitchFamily="2" charset="0"/>
            </a:endParaRPr>
          </a:p>
          <a:p>
            <a:pPr marL="139700" indent="-139700" algn="l">
              <a:lnSpc>
                <a:spcPts val="1560"/>
              </a:lnSpc>
              <a:buSzPct val="100000"/>
              <a:buChar char="•"/>
            </a:pPr>
            <a:r>
              <a:rPr lang="en-US" sz="1200" dirty="0">
                <a:solidFill>
                  <a:srgbClr val="2A3346"/>
                </a:solidFill>
                <a:latin typeface="Raleway" pitchFamily="2" charset="0"/>
                <a:ea typeface="Inter" pitchFamily="34" charset="-122"/>
                <a:cs typeface="Inter" pitchFamily="34" charset="-120"/>
              </a:rPr>
              <a:t>​DOJ reminders</a:t>
            </a:r>
            <a:endParaRPr lang="en-US" sz="1200" dirty="0">
              <a:latin typeface="Raleway" pitchFamily="2" charset="0"/>
            </a:endParaRPr>
          </a:p>
        </p:txBody>
      </p:sp>
      <p:pic>
        <p:nvPicPr>
          <p:cNvPr id="34" name="Image 4" descr="gen-dedup-e7d0b175ce68104e5146ab39d4667527.png"/>
          <p:cNvPicPr>
            <a:picLocks noChangeAspect="1"/>
          </p:cNvPicPr>
          <p:nvPr/>
        </p:nvPicPr>
        <p:blipFill>
          <a:blip r:embed="rId7"/>
          <a:srcRect t="-25150" b="-25150"/>
          <a:stretch/>
        </p:blipFill>
        <p:spPr>
          <a:xfrm>
            <a:off x="2933395" y="1404518"/>
            <a:ext cx="114300" cy="152705"/>
          </a:xfrm>
          <a:prstGeom prst="rect">
            <a:avLst/>
          </a:prstGeom>
        </p:spPr>
      </p:pic>
      <p:sp>
        <p:nvSpPr>
          <p:cNvPr id="35" name="Text 28"/>
          <p:cNvSpPr txBox="1"/>
          <p:nvPr/>
        </p:nvSpPr>
        <p:spPr>
          <a:xfrm>
            <a:off x="3124505" y="1390802"/>
            <a:ext cx="919886" cy="1810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F2A44"/>
                </a:solidFill>
                <a:latin typeface="Raleway" pitchFamily="2" charset="0"/>
                <a:ea typeface="Fraunces" pitchFamily="34" charset="-122"/>
                <a:cs typeface="Fraunces" pitchFamily="34" charset="-120"/>
              </a:rPr>
              <a:t>Onboarding</a:t>
            </a:r>
            <a:endParaRPr lang="en-US" sz="1400" dirty="0">
              <a:latin typeface="Raleway" pitchFamily="2" charset="0"/>
            </a:endParaRPr>
          </a:p>
        </p:txBody>
      </p:sp>
      <p:sp>
        <p:nvSpPr>
          <p:cNvPr id="36" name="Text 29"/>
          <p:cNvSpPr txBox="1"/>
          <p:nvPr/>
        </p:nvSpPr>
        <p:spPr>
          <a:xfrm>
            <a:off x="2946400" y="1661465"/>
            <a:ext cx="1778305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39700" indent="-139700" algn="l">
              <a:lnSpc>
                <a:spcPts val="1560"/>
              </a:lnSpc>
              <a:buSzPct val="100000"/>
              <a:buChar char="•"/>
            </a:pPr>
            <a:r>
              <a:rPr lang="en-US" sz="1200" dirty="0">
                <a:solidFill>
                  <a:srgbClr val="2A3346"/>
                </a:solidFill>
                <a:latin typeface="Raleway" pitchFamily="2" charset="0"/>
                <a:ea typeface="Inter" pitchFamily="34" charset="-122"/>
                <a:cs typeface="Inter" pitchFamily="34" charset="-120"/>
              </a:rPr>
              <a:t>​Welcome desk</a:t>
            </a:r>
            <a:endParaRPr lang="en-US" sz="1200" dirty="0">
              <a:latin typeface="Raleway" pitchFamily="2" charset="0"/>
            </a:endParaRPr>
          </a:p>
          <a:p>
            <a:pPr marL="139700" indent="-139700" algn="l">
              <a:lnSpc>
                <a:spcPts val="1560"/>
              </a:lnSpc>
              <a:buSzPct val="100000"/>
              <a:buChar char="•"/>
            </a:pPr>
            <a:r>
              <a:rPr lang="en-US" sz="1200" dirty="0">
                <a:solidFill>
                  <a:srgbClr val="2A3346"/>
                </a:solidFill>
                <a:latin typeface="Raleway" pitchFamily="2" charset="0"/>
                <a:ea typeface="Inter" pitchFamily="34" charset="-122"/>
                <a:cs typeface="Inter" pitchFamily="34" charset="-120"/>
              </a:rPr>
              <a:t>​Buddy + SPOC</a:t>
            </a:r>
            <a:endParaRPr lang="en-US" sz="1200" dirty="0">
              <a:latin typeface="Raleway" pitchFamily="2" charset="0"/>
            </a:endParaRPr>
          </a:p>
          <a:p>
            <a:pPr marL="139700" indent="-139700" algn="l">
              <a:lnSpc>
                <a:spcPts val="1560"/>
              </a:lnSpc>
              <a:buSzPct val="100000"/>
              <a:buChar char="•"/>
            </a:pPr>
            <a:r>
              <a:rPr lang="en-US" sz="1200" dirty="0">
                <a:solidFill>
                  <a:srgbClr val="2A3346"/>
                </a:solidFill>
                <a:latin typeface="Raleway" pitchFamily="2" charset="0"/>
                <a:ea typeface="Inter" pitchFamily="34" charset="-122"/>
                <a:cs typeface="Inter" pitchFamily="34" charset="-120"/>
              </a:rPr>
              <a:t>​Day-1 feedback</a:t>
            </a:r>
            <a:endParaRPr lang="en-US" sz="1200" dirty="0">
              <a:latin typeface="Raleway" pitchFamily="2" charset="0"/>
            </a:endParaRPr>
          </a:p>
        </p:txBody>
      </p:sp>
      <p:pic>
        <p:nvPicPr>
          <p:cNvPr id="37" name="Image 5" descr="gen-dedup-d1099ec842727c9541224c4cdf2e219e.png"/>
          <p:cNvPicPr>
            <a:picLocks noChangeAspect="1"/>
          </p:cNvPicPr>
          <p:nvPr/>
        </p:nvPicPr>
        <p:blipFill>
          <a:blip r:embed="rId8"/>
          <a:srcRect t="-25150" b="-25150"/>
          <a:stretch/>
        </p:blipFill>
        <p:spPr>
          <a:xfrm>
            <a:off x="5181905" y="1404518"/>
            <a:ext cx="114300" cy="152705"/>
          </a:xfrm>
          <a:prstGeom prst="rect">
            <a:avLst/>
          </a:prstGeom>
        </p:spPr>
      </p:pic>
      <p:sp>
        <p:nvSpPr>
          <p:cNvPr id="38" name="Text 30"/>
          <p:cNvSpPr txBox="1"/>
          <p:nvPr/>
        </p:nvSpPr>
        <p:spPr>
          <a:xfrm>
            <a:off x="5372100" y="1390802"/>
            <a:ext cx="734263" cy="1810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F2A44"/>
                </a:solidFill>
                <a:latin typeface="Raleway" pitchFamily="2" charset="0"/>
                <a:ea typeface="Fraunces" pitchFamily="34" charset="-122"/>
                <a:cs typeface="Fraunces" pitchFamily="34" charset="-120"/>
              </a:rPr>
              <a:t>Learning</a:t>
            </a:r>
            <a:endParaRPr lang="en-US" sz="1400" dirty="0">
              <a:latin typeface="Raleway" pitchFamily="2" charset="0"/>
            </a:endParaRPr>
          </a:p>
        </p:txBody>
      </p:sp>
      <p:sp>
        <p:nvSpPr>
          <p:cNvPr id="39" name="Text 31"/>
          <p:cNvSpPr txBox="1"/>
          <p:nvPr/>
        </p:nvSpPr>
        <p:spPr>
          <a:xfrm>
            <a:off x="5193995" y="1661465"/>
            <a:ext cx="1778305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39700" indent="-139700" algn="l">
              <a:lnSpc>
                <a:spcPts val="1560"/>
              </a:lnSpc>
              <a:buSzPct val="100000"/>
              <a:buChar char="•"/>
            </a:pPr>
            <a:r>
              <a:rPr lang="en-US" sz="1200" dirty="0">
                <a:solidFill>
                  <a:srgbClr val="2A3346"/>
                </a:solidFill>
                <a:latin typeface="Raleway" pitchFamily="2" charset="0"/>
                <a:ea typeface="Inter" pitchFamily="34" charset="-122"/>
                <a:cs typeface="Inter" pitchFamily="34" charset="-120"/>
              </a:rPr>
              <a:t>​Skill clinics</a:t>
            </a:r>
            <a:endParaRPr lang="en-US" sz="1200" dirty="0">
              <a:latin typeface="Raleway" pitchFamily="2" charset="0"/>
            </a:endParaRPr>
          </a:p>
          <a:p>
            <a:pPr marL="139700" indent="-139700" algn="l">
              <a:lnSpc>
                <a:spcPts val="1560"/>
              </a:lnSpc>
              <a:buSzPct val="100000"/>
              <a:buChar char="•"/>
            </a:pPr>
            <a:r>
              <a:rPr lang="en-US" sz="1200" dirty="0">
                <a:solidFill>
                  <a:srgbClr val="2A3346"/>
                </a:solidFill>
                <a:latin typeface="Raleway" pitchFamily="2" charset="0"/>
                <a:ea typeface="Inter" pitchFamily="34" charset="-122"/>
                <a:cs typeface="Inter" pitchFamily="34" charset="-120"/>
              </a:rPr>
              <a:t>​Career path sessions</a:t>
            </a:r>
            <a:endParaRPr lang="en-US" sz="1200" dirty="0">
              <a:latin typeface="Raleway" pitchFamily="2" charset="0"/>
            </a:endParaRPr>
          </a:p>
          <a:p>
            <a:pPr marL="139700" indent="-139700" algn="l">
              <a:lnSpc>
                <a:spcPts val="1560"/>
              </a:lnSpc>
              <a:buSzPct val="100000"/>
              <a:buChar char="•"/>
            </a:pPr>
            <a:r>
              <a:rPr lang="en-US" sz="1200" dirty="0">
                <a:solidFill>
                  <a:srgbClr val="2A3346"/>
                </a:solidFill>
                <a:latin typeface="Raleway" pitchFamily="2" charset="0"/>
                <a:ea typeface="Inter" pitchFamily="34" charset="-122"/>
                <a:cs typeface="Inter" pitchFamily="34" charset="-120"/>
              </a:rPr>
              <a:t>​Coaching calendar</a:t>
            </a:r>
            <a:endParaRPr lang="en-US" sz="1200" dirty="0">
              <a:latin typeface="Raleway" pitchFamily="2" charset="0"/>
            </a:endParaRPr>
          </a:p>
        </p:txBody>
      </p:sp>
      <p:pic>
        <p:nvPicPr>
          <p:cNvPr id="40" name="Image 6" descr="gen-dedup-2e00fa6be7fc495ef2a19099c3871a4d.png"/>
          <p:cNvPicPr>
            <a:picLocks noChangeAspect="1"/>
          </p:cNvPicPr>
          <p:nvPr/>
        </p:nvPicPr>
        <p:blipFill>
          <a:blip r:embed="rId9"/>
          <a:srcRect t="-33500" b="-33500"/>
          <a:stretch/>
        </p:blipFill>
        <p:spPr>
          <a:xfrm>
            <a:off x="7429500" y="1404518"/>
            <a:ext cx="114300" cy="152705"/>
          </a:xfrm>
          <a:prstGeom prst="rect">
            <a:avLst/>
          </a:prstGeom>
        </p:spPr>
      </p:pic>
      <p:sp>
        <p:nvSpPr>
          <p:cNvPr id="41" name="Text 32"/>
          <p:cNvSpPr txBox="1"/>
          <p:nvPr/>
        </p:nvSpPr>
        <p:spPr>
          <a:xfrm>
            <a:off x="7619695" y="1390802"/>
            <a:ext cx="1103681" cy="1810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F2A44"/>
                </a:solidFill>
                <a:latin typeface="Raleway" pitchFamily="2" charset="0"/>
                <a:ea typeface="Fraunces" pitchFamily="34" charset="-122"/>
                <a:cs typeface="Fraunces" pitchFamily="34" charset="-120"/>
              </a:rPr>
              <a:t>Team Bonding</a:t>
            </a:r>
            <a:endParaRPr lang="en-US" sz="1400" dirty="0">
              <a:latin typeface="Raleway" pitchFamily="2" charset="0"/>
            </a:endParaRPr>
          </a:p>
        </p:txBody>
      </p:sp>
      <p:sp>
        <p:nvSpPr>
          <p:cNvPr id="42" name="Text 33"/>
          <p:cNvSpPr txBox="1"/>
          <p:nvPr/>
        </p:nvSpPr>
        <p:spPr>
          <a:xfrm>
            <a:off x="7442505" y="1661465"/>
            <a:ext cx="1778305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39700" indent="-139700" algn="l">
              <a:lnSpc>
                <a:spcPts val="1560"/>
              </a:lnSpc>
              <a:buSzPct val="100000"/>
              <a:buChar char="•"/>
            </a:pPr>
            <a:r>
              <a:rPr lang="en-US" sz="1200" dirty="0">
                <a:solidFill>
                  <a:srgbClr val="2A3346"/>
                </a:solidFill>
                <a:latin typeface="Raleway" pitchFamily="2" charset="0"/>
                <a:ea typeface="Inter" pitchFamily="34" charset="-122"/>
                <a:cs typeface="Inter" pitchFamily="34" charset="-120"/>
              </a:rPr>
              <a:t>​Team lunch/dinner</a:t>
            </a:r>
            <a:endParaRPr lang="en-US" sz="1200" dirty="0">
              <a:latin typeface="Raleway" pitchFamily="2" charset="0"/>
            </a:endParaRPr>
          </a:p>
          <a:p>
            <a:pPr marL="139700" indent="-139700" algn="l">
              <a:lnSpc>
                <a:spcPts val="1560"/>
              </a:lnSpc>
              <a:buSzPct val="100000"/>
              <a:buChar char="•"/>
            </a:pPr>
            <a:r>
              <a:rPr lang="en-US" sz="1200" dirty="0">
                <a:solidFill>
                  <a:srgbClr val="2A3346"/>
                </a:solidFill>
                <a:latin typeface="Raleway" pitchFamily="2" charset="0"/>
                <a:ea typeface="Inter" pitchFamily="34" charset="-122"/>
                <a:cs typeface="Inter" pitchFamily="34" charset="-120"/>
              </a:rPr>
              <a:t>​Fun Fridays</a:t>
            </a:r>
            <a:endParaRPr lang="en-US" sz="1200" dirty="0">
              <a:latin typeface="Raleway" pitchFamily="2" charset="0"/>
            </a:endParaRPr>
          </a:p>
          <a:p>
            <a:pPr marL="139700" indent="-139700" algn="l">
              <a:lnSpc>
                <a:spcPts val="1560"/>
              </a:lnSpc>
              <a:buSzPct val="100000"/>
              <a:buChar char="•"/>
            </a:pPr>
            <a:r>
              <a:rPr lang="en-US" sz="1200" dirty="0">
                <a:solidFill>
                  <a:srgbClr val="2A3346"/>
                </a:solidFill>
                <a:latin typeface="Raleway" pitchFamily="2" charset="0"/>
                <a:ea typeface="Inter" pitchFamily="34" charset="-122"/>
                <a:cs typeface="Inter" pitchFamily="34" charset="-120"/>
              </a:rPr>
              <a:t>​Festival celebrations</a:t>
            </a:r>
            <a:endParaRPr lang="en-US" sz="1200" dirty="0">
              <a:latin typeface="Raleway" pitchFamily="2" charset="0"/>
            </a:endParaRPr>
          </a:p>
        </p:txBody>
      </p:sp>
      <p:pic>
        <p:nvPicPr>
          <p:cNvPr id="43" name="Image 7" descr="gen-dedup-344a0b921b0cf3fcaaba6cc187c7af25.png"/>
          <p:cNvPicPr>
            <a:picLocks noChangeAspect="1"/>
          </p:cNvPicPr>
          <p:nvPr/>
        </p:nvPicPr>
        <p:blipFill>
          <a:blip r:embed="rId10"/>
          <a:srcRect t="-25150" b="-25150"/>
          <a:stretch/>
        </p:blipFill>
        <p:spPr>
          <a:xfrm>
            <a:off x="9677095" y="1404518"/>
            <a:ext cx="114300" cy="152705"/>
          </a:xfrm>
          <a:prstGeom prst="rect">
            <a:avLst/>
          </a:prstGeom>
        </p:spPr>
      </p:pic>
      <p:sp>
        <p:nvSpPr>
          <p:cNvPr id="44" name="Text 34"/>
          <p:cNvSpPr txBox="1"/>
          <p:nvPr/>
        </p:nvSpPr>
        <p:spPr>
          <a:xfrm>
            <a:off x="9868205" y="1390802"/>
            <a:ext cx="333756" cy="1810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F2A44"/>
                </a:solidFill>
                <a:latin typeface="Raleway" pitchFamily="2" charset="0"/>
                <a:ea typeface="Fraunces" pitchFamily="34" charset="-122"/>
                <a:cs typeface="Fraunces" pitchFamily="34" charset="-120"/>
              </a:rPr>
              <a:t>R&amp;R</a:t>
            </a:r>
            <a:endParaRPr lang="en-US" sz="1400" dirty="0">
              <a:latin typeface="Raleway" pitchFamily="2" charset="0"/>
            </a:endParaRPr>
          </a:p>
        </p:txBody>
      </p:sp>
      <p:sp>
        <p:nvSpPr>
          <p:cNvPr id="45" name="Text 35"/>
          <p:cNvSpPr txBox="1"/>
          <p:nvPr/>
        </p:nvSpPr>
        <p:spPr>
          <a:xfrm>
            <a:off x="9690100" y="1661465"/>
            <a:ext cx="1778305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39700" indent="-139700" algn="l">
              <a:lnSpc>
                <a:spcPts val="1560"/>
              </a:lnSpc>
              <a:buSzPct val="100000"/>
              <a:buChar char="•"/>
            </a:pPr>
            <a:r>
              <a:rPr lang="en-US" sz="1200" dirty="0">
                <a:solidFill>
                  <a:srgbClr val="2A3346"/>
                </a:solidFill>
                <a:latin typeface="Raleway" pitchFamily="2" charset="0"/>
                <a:ea typeface="Inter" pitchFamily="34" charset="-122"/>
                <a:cs typeface="Inter" pitchFamily="34" charset="-120"/>
              </a:rPr>
              <a:t>​Quarterly champion</a:t>
            </a:r>
            <a:endParaRPr lang="en-US" sz="1200" dirty="0">
              <a:latin typeface="Raleway" pitchFamily="2" charset="0"/>
            </a:endParaRPr>
          </a:p>
          <a:p>
            <a:pPr marL="139700" indent="-139700" algn="l">
              <a:lnSpc>
                <a:spcPts val="1560"/>
              </a:lnSpc>
              <a:buSzPct val="100000"/>
              <a:buChar char="•"/>
            </a:pPr>
            <a:r>
              <a:rPr lang="en-US" sz="1200" dirty="0">
                <a:solidFill>
                  <a:srgbClr val="2A3346"/>
                </a:solidFill>
                <a:latin typeface="Raleway" pitchFamily="2" charset="0"/>
                <a:ea typeface="Inter" pitchFamily="34" charset="-122"/>
                <a:cs typeface="Inter" pitchFamily="34" charset="-120"/>
              </a:rPr>
              <a:t>​Spot awards</a:t>
            </a:r>
            <a:endParaRPr lang="en-US" sz="1200" dirty="0">
              <a:latin typeface="Raleway" pitchFamily="2" charset="0"/>
            </a:endParaRPr>
          </a:p>
          <a:p>
            <a:pPr marL="139700" indent="-139700" algn="l">
              <a:lnSpc>
                <a:spcPts val="1560"/>
              </a:lnSpc>
              <a:buSzPct val="100000"/>
              <a:buChar char="•"/>
            </a:pPr>
            <a:r>
              <a:rPr lang="en-US" sz="1200" dirty="0">
                <a:solidFill>
                  <a:srgbClr val="2A3346"/>
                </a:solidFill>
                <a:latin typeface="Raleway" pitchFamily="2" charset="0"/>
                <a:ea typeface="Inter" pitchFamily="34" charset="-122"/>
                <a:cs typeface="Inter" pitchFamily="34" charset="-120"/>
              </a:rPr>
              <a:t>​Milestone recognition</a:t>
            </a:r>
            <a:endParaRPr lang="en-US" sz="1200" dirty="0">
              <a:latin typeface="Raleway" pitchFamily="2" charset="0"/>
            </a:endParaRPr>
          </a:p>
        </p:txBody>
      </p:sp>
      <p:pic>
        <p:nvPicPr>
          <p:cNvPr id="46" name="Image 8" descr="gen-dedup-f5be6804941732cc10589279018d51ec.png"/>
          <p:cNvPicPr>
            <a:picLocks noChangeAspect="1"/>
          </p:cNvPicPr>
          <p:nvPr/>
        </p:nvPicPr>
        <p:blipFill>
          <a:blip r:embed="rId11"/>
          <a:srcRect t="-16800" b="-16800"/>
          <a:stretch/>
        </p:blipFill>
        <p:spPr>
          <a:xfrm>
            <a:off x="685800" y="3119018"/>
            <a:ext cx="114300" cy="152705"/>
          </a:xfrm>
          <a:prstGeom prst="rect">
            <a:avLst/>
          </a:prstGeom>
        </p:spPr>
      </p:pic>
      <p:sp>
        <p:nvSpPr>
          <p:cNvPr id="47" name="Text 36"/>
          <p:cNvSpPr txBox="1"/>
          <p:nvPr/>
        </p:nvSpPr>
        <p:spPr>
          <a:xfrm>
            <a:off x="875995" y="3105302"/>
            <a:ext cx="1621231" cy="1810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F2A44"/>
                </a:solidFill>
                <a:latin typeface="Raleway" pitchFamily="2" charset="0"/>
                <a:ea typeface="Fraunces" pitchFamily="34" charset="-122"/>
                <a:cs typeface="Fraunces" pitchFamily="34" charset="-120"/>
              </a:rPr>
              <a:t>Employee Listening</a:t>
            </a:r>
            <a:endParaRPr lang="en-US" sz="1400" dirty="0">
              <a:latin typeface="Raleway" pitchFamily="2" charset="0"/>
            </a:endParaRPr>
          </a:p>
        </p:txBody>
      </p:sp>
      <p:sp>
        <p:nvSpPr>
          <p:cNvPr id="48" name="Text 37"/>
          <p:cNvSpPr txBox="1"/>
          <p:nvPr/>
        </p:nvSpPr>
        <p:spPr>
          <a:xfrm>
            <a:off x="698805" y="3375965"/>
            <a:ext cx="1778305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39700" indent="-139700" algn="l">
              <a:lnSpc>
                <a:spcPts val="1560"/>
              </a:lnSpc>
              <a:buSzPct val="100000"/>
              <a:buChar char="•"/>
            </a:pPr>
            <a:r>
              <a:rPr lang="en-US" sz="1200" dirty="0">
                <a:solidFill>
                  <a:srgbClr val="2A3346"/>
                </a:solidFill>
                <a:latin typeface="Raleway" pitchFamily="2" charset="0"/>
                <a:ea typeface="Inter" pitchFamily="34" charset="-122"/>
                <a:cs typeface="Inter" pitchFamily="34" charset="-120"/>
              </a:rPr>
              <a:t>​Pulse surveys</a:t>
            </a:r>
            <a:endParaRPr lang="en-US" sz="1200" dirty="0">
              <a:latin typeface="Raleway" pitchFamily="2" charset="0"/>
            </a:endParaRPr>
          </a:p>
          <a:p>
            <a:pPr marL="139700" indent="-139700" algn="l">
              <a:lnSpc>
                <a:spcPts val="1560"/>
              </a:lnSpc>
              <a:buSzPct val="100000"/>
              <a:buChar char="•"/>
            </a:pPr>
            <a:r>
              <a:rPr lang="en-US" sz="1200" dirty="0">
                <a:solidFill>
                  <a:srgbClr val="2A3346"/>
                </a:solidFill>
                <a:latin typeface="Raleway" pitchFamily="2" charset="0"/>
                <a:ea typeface="Inter" pitchFamily="34" charset="-122"/>
                <a:cs typeface="Inter" pitchFamily="34" charset="-120"/>
              </a:rPr>
              <a:t>​Open house</a:t>
            </a:r>
            <a:endParaRPr lang="en-US" sz="1200" dirty="0">
              <a:latin typeface="Raleway" pitchFamily="2" charset="0"/>
            </a:endParaRPr>
          </a:p>
          <a:p>
            <a:pPr marL="139700" indent="-139700" algn="l">
              <a:lnSpc>
                <a:spcPts val="1560"/>
              </a:lnSpc>
              <a:buSzPct val="100000"/>
              <a:buChar char="•"/>
            </a:pPr>
            <a:r>
              <a:rPr lang="en-US" sz="1200" dirty="0">
                <a:solidFill>
                  <a:srgbClr val="2A3346"/>
                </a:solidFill>
                <a:latin typeface="Raleway" pitchFamily="2" charset="0"/>
                <a:ea typeface="Inter" pitchFamily="34" charset="-122"/>
                <a:cs typeface="Inter" pitchFamily="34" charset="-120"/>
              </a:rPr>
              <a:t>​Issue tracker</a:t>
            </a:r>
            <a:endParaRPr lang="en-US" sz="1200" dirty="0">
              <a:latin typeface="Raleway" pitchFamily="2" charset="0"/>
            </a:endParaRPr>
          </a:p>
        </p:txBody>
      </p:sp>
      <p:pic>
        <p:nvPicPr>
          <p:cNvPr id="49" name="Image 9" descr="gen-dedup-91ec5b27424a7edc15e84d24cbb8f0d8.png"/>
          <p:cNvPicPr>
            <a:picLocks noChangeAspect="1"/>
          </p:cNvPicPr>
          <p:nvPr/>
        </p:nvPicPr>
        <p:blipFill>
          <a:blip r:embed="rId12"/>
          <a:srcRect t="-16800" b="-16800"/>
          <a:stretch/>
        </p:blipFill>
        <p:spPr>
          <a:xfrm>
            <a:off x="2933395" y="3119018"/>
            <a:ext cx="114300" cy="152705"/>
          </a:xfrm>
          <a:prstGeom prst="rect">
            <a:avLst/>
          </a:prstGeom>
        </p:spPr>
      </p:pic>
      <p:sp>
        <p:nvSpPr>
          <p:cNvPr id="50" name="Text 38"/>
          <p:cNvSpPr txBox="1"/>
          <p:nvPr/>
        </p:nvSpPr>
        <p:spPr>
          <a:xfrm>
            <a:off x="3124505" y="3105302"/>
            <a:ext cx="1463040" cy="1810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F2A44"/>
                </a:solidFill>
                <a:latin typeface="Raleway" pitchFamily="2" charset="0"/>
                <a:ea typeface="Fraunces" pitchFamily="34" charset="-122"/>
                <a:cs typeface="Fraunces" pitchFamily="34" charset="-120"/>
              </a:rPr>
              <a:t>Wellness &amp; Safety</a:t>
            </a:r>
            <a:endParaRPr lang="en-US" sz="1400" dirty="0">
              <a:latin typeface="Raleway" pitchFamily="2" charset="0"/>
            </a:endParaRPr>
          </a:p>
        </p:txBody>
      </p:sp>
      <p:sp>
        <p:nvSpPr>
          <p:cNvPr id="51" name="Text 39"/>
          <p:cNvSpPr txBox="1"/>
          <p:nvPr/>
        </p:nvSpPr>
        <p:spPr>
          <a:xfrm>
            <a:off x="2946400" y="3375965"/>
            <a:ext cx="1778305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39700" indent="-139700" algn="l">
              <a:lnSpc>
                <a:spcPts val="1560"/>
              </a:lnSpc>
              <a:buSzPct val="100000"/>
              <a:buChar char="•"/>
            </a:pPr>
            <a:r>
              <a:rPr lang="en-US" sz="1200" dirty="0">
                <a:solidFill>
                  <a:srgbClr val="2A3346"/>
                </a:solidFill>
                <a:latin typeface="Raleway" pitchFamily="2" charset="0"/>
                <a:ea typeface="Inter" pitchFamily="34" charset="-122"/>
                <a:cs typeface="Inter" pitchFamily="34" charset="-120"/>
              </a:rPr>
              <a:t>​Stress sessions</a:t>
            </a:r>
            <a:endParaRPr lang="en-US" sz="1200" dirty="0">
              <a:latin typeface="Raleway" pitchFamily="2" charset="0"/>
            </a:endParaRPr>
          </a:p>
          <a:p>
            <a:pPr marL="139700" indent="-139700" algn="l">
              <a:lnSpc>
                <a:spcPts val="1560"/>
              </a:lnSpc>
              <a:buSzPct val="100000"/>
              <a:buChar char="•"/>
            </a:pPr>
            <a:r>
              <a:rPr lang="en-US" sz="1200" dirty="0">
                <a:solidFill>
                  <a:srgbClr val="2A3346"/>
                </a:solidFill>
                <a:latin typeface="Raleway" pitchFamily="2" charset="0"/>
                <a:ea typeface="Inter" pitchFamily="34" charset="-122"/>
                <a:cs typeface="Inter" pitchFamily="34" charset="-120"/>
              </a:rPr>
              <a:t>​Shift fatigue check</a:t>
            </a:r>
            <a:endParaRPr lang="en-US" sz="1200" dirty="0">
              <a:latin typeface="Raleway" pitchFamily="2" charset="0"/>
            </a:endParaRPr>
          </a:p>
          <a:p>
            <a:pPr marL="139700" indent="-139700" algn="l">
              <a:lnSpc>
                <a:spcPts val="1560"/>
              </a:lnSpc>
              <a:buSzPct val="100000"/>
              <a:buChar char="•"/>
            </a:pPr>
            <a:r>
              <a:rPr lang="en-US" sz="1200" dirty="0">
                <a:solidFill>
                  <a:srgbClr val="2A3346"/>
                </a:solidFill>
                <a:latin typeface="Raleway" pitchFamily="2" charset="0"/>
                <a:ea typeface="Inter" pitchFamily="34" charset="-122"/>
                <a:cs typeface="Inter" pitchFamily="34" charset="-120"/>
              </a:rPr>
              <a:t>​Late-shift support</a:t>
            </a:r>
            <a:endParaRPr lang="en-US" sz="1200" dirty="0">
              <a:latin typeface="Raleway" pitchFamily="2" charset="0"/>
            </a:endParaRPr>
          </a:p>
        </p:txBody>
      </p:sp>
      <p:pic>
        <p:nvPicPr>
          <p:cNvPr id="52" name="Image 10" descr="gen-dedup-1a6be58cec0ff7a0794675d7f083f4f9.png"/>
          <p:cNvPicPr>
            <a:picLocks noChangeAspect="1"/>
          </p:cNvPicPr>
          <p:nvPr/>
        </p:nvPicPr>
        <p:blipFill>
          <a:blip r:embed="rId13"/>
          <a:srcRect t="-33500" b="-33500"/>
          <a:stretch/>
        </p:blipFill>
        <p:spPr>
          <a:xfrm>
            <a:off x="5181905" y="3119018"/>
            <a:ext cx="114300" cy="152705"/>
          </a:xfrm>
          <a:prstGeom prst="rect">
            <a:avLst/>
          </a:prstGeom>
        </p:spPr>
      </p:pic>
      <p:sp>
        <p:nvSpPr>
          <p:cNvPr id="53" name="Text 40"/>
          <p:cNvSpPr txBox="1"/>
          <p:nvPr/>
        </p:nvSpPr>
        <p:spPr>
          <a:xfrm>
            <a:off x="5372100" y="3105302"/>
            <a:ext cx="1378001" cy="1810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F2A44"/>
                </a:solidFill>
                <a:latin typeface="Raleway" pitchFamily="2" charset="0"/>
                <a:ea typeface="Fraunces" pitchFamily="34" charset="-122"/>
                <a:cs typeface="Fraunces" pitchFamily="34" charset="-120"/>
              </a:rPr>
              <a:t>Manager Connect</a:t>
            </a:r>
            <a:endParaRPr lang="en-US" sz="1400" dirty="0">
              <a:latin typeface="Raleway" pitchFamily="2" charset="0"/>
            </a:endParaRPr>
          </a:p>
        </p:txBody>
      </p:sp>
      <p:sp>
        <p:nvSpPr>
          <p:cNvPr id="54" name="Text 41"/>
          <p:cNvSpPr txBox="1"/>
          <p:nvPr/>
        </p:nvSpPr>
        <p:spPr>
          <a:xfrm>
            <a:off x="5193995" y="3375965"/>
            <a:ext cx="1778305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39700" indent="-139700" algn="l">
              <a:lnSpc>
                <a:spcPts val="1560"/>
              </a:lnSpc>
              <a:buSzPct val="100000"/>
              <a:buChar char="•"/>
            </a:pPr>
            <a:r>
              <a:rPr lang="en-US" sz="1200" dirty="0">
                <a:solidFill>
                  <a:srgbClr val="2A3346"/>
                </a:solidFill>
                <a:latin typeface="Raleway" pitchFamily="2" charset="0"/>
                <a:ea typeface="Inter" pitchFamily="34" charset="-122"/>
                <a:cs typeface="Inter" pitchFamily="34" charset="-120"/>
              </a:rPr>
              <a:t>​Huddles</a:t>
            </a:r>
            <a:endParaRPr lang="en-US" sz="1200" dirty="0">
              <a:latin typeface="Raleway" pitchFamily="2" charset="0"/>
            </a:endParaRPr>
          </a:p>
          <a:p>
            <a:pPr marL="139700" indent="-139700" algn="l">
              <a:lnSpc>
                <a:spcPts val="1560"/>
              </a:lnSpc>
              <a:buSzPct val="100000"/>
              <a:buChar char="•"/>
            </a:pPr>
            <a:r>
              <a:rPr lang="en-US" sz="1200" dirty="0">
                <a:solidFill>
                  <a:srgbClr val="2A3346"/>
                </a:solidFill>
                <a:latin typeface="Raleway" pitchFamily="2" charset="0"/>
                <a:ea typeface="Inter" pitchFamily="34" charset="-122"/>
                <a:cs typeface="Inter" pitchFamily="34" charset="-120"/>
              </a:rPr>
              <a:t>​Roundtables</a:t>
            </a:r>
            <a:endParaRPr lang="en-US" sz="1200" dirty="0">
              <a:latin typeface="Raleway" pitchFamily="2" charset="0"/>
            </a:endParaRPr>
          </a:p>
          <a:p>
            <a:pPr marL="139700" indent="-139700" algn="l">
              <a:lnSpc>
                <a:spcPts val="1560"/>
              </a:lnSpc>
              <a:buSzPct val="100000"/>
              <a:buChar char="•"/>
            </a:pPr>
            <a:r>
              <a:rPr lang="en-US" sz="1200" dirty="0">
                <a:solidFill>
                  <a:srgbClr val="2A3346"/>
                </a:solidFill>
                <a:latin typeface="Raleway" pitchFamily="2" charset="0"/>
                <a:ea typeface="Inter" pitchFamily="34" charset="-122"/>
                <a:cs typeface="Inter" pitchFamily="34" charset="-120"/>
              </a:rPr>
              <a:t>​Skip-level connects</a:t>
            </a:r>
            <a:endParaRPr lang="en-US" sz="1200" dirty="0">
              <a:latin typeface="Raleway" pitchFamily="2" charset="0"/>
            </a:endParaRPr>
          </a:p>
        </p:txBody>
      </p:sp>
      <p:pic>
        <p:nvPicPr>
          <p:cNvPr id="55" name="Image 11" descr="gen-dedup-1ac8d13bd771379683ed8b759ced54e3.png"/>
          <p:cNvPicPr>
            <a:picLocks noChangeAspect="1"/>
          </p:cNvPicPr>
          <p:nvPr/>
        </p:nvPicPr>
        <p:blipFill>
          <a:blip r:embed="rId14"/>
          <a:srcRect t="-16800" b="-16800"/>
          <a:stretch/>
        </p:blipFill>
        <p:spPr>
          <a:xfrm>
            <a:off x="7429500" y="3119018"/>
            <a:ext cx="114300" cy="152705"/>
          </a:xfrm>
          <a:prstGeom prst="rect">
            <a:avLst/>
          </a:prstGeom>
        </p:spPr>
      </p:pic>
      <p:sp>
        <p:nvSpPr>
          <p:cNvPr id="56" name="Text 42"/>
          <p:cNvSpPr txBox="1"/>
          <p:nvPr/>
        </p:nvSpPr>
        <p:spPr>
          <a:xfrm>
            <a:off x="7619695" y="3105302"/>
            <a:ext cx="1194206" cy="1810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F2A44"/>
                </a:solidFill>
                <a:latin typeface="Raleway" pitchFamily="2" charset="0"/>
                <a:ea typeface="Fraunces" pitchFamily="34" charset="-122"/>
                <a:cs typeface="Fraunces" pitchFamily="34" charset="-120"/>
              </a:rPr>
              <a:t>Retention EWS</a:t>
            </a:r>
            <a:endParaRPr lang="en-US" sz="1400" dirty="0">
              <a:latin typeface="Raleway" pitchFamily="2" charset="0"/>
            </a:endParaRPr>
          </a:p>
        </p:txBody>
      </p:sp>
      <p:sp>
        <p:nvSpPr>
          <p:cNvPr id="57" name="Text 43"/>
          <p:cNvSpPr txBox="1"/>
          <p:nvPr/>
        </p:nvSpPr>
        <p:spPr>
          <a:xfrm>
            <a:off x="7442505" y="3375965"/>
            <a:ext cx="1778305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39700" indent="-139700" algn="l">
              <a:lnSpc>
                <a:spcPts val="1560"/>
              </a:lnSpc>
              <a:buSzPct val="100000"/>
              <a:buChar char="•"/>
            </a:pPr>
            <a:r>
              <a:rPr lang="en-US" sz="1200" dirty="0">
                <a:solidFill>
                  <a:srgbClr val="2A3346"/>
                </a:solidFill>
                <a:latin typeface="Raleway" pitchFamily="2" charset="0"/>
                <a:ea typeface="Inter" pitchFamily="34" charset="-122"/>
                <a:cs typeface="Inter" pitchFamily="34" charset="-120"/>
              </a:rPr>
              <a:t>​Risk tagging</a:t>
            </a:r>
            <a:endParaRPr lang="en-US" sz="1200" dirty="0">
              <a:latin typeface="Raleway" pitchFamily="2" charset="0"/>
            </a:endParaRPr>
          </a:p>
          <a:p>
            <a:pPr marL="139700" indent="-139700" algn="l">
              <a:lnSpc>
                <a:spcPts val="1560"/>
              </a:lnSpc>
              <a:buSzPct val="100000"/>
              <a:buChar char="•"/>
            </a:pPr>
            <a:r>
              <a:rPr lang="en-US" sz="1200" dirty="0">
                <a:solidFill>
                  <a:srgbClr val="2A3346"/>
                </a:solidFill>
                <a:latin typeface="Raleway" pitchFamily="2" charset="0"/>
                <a:ea typeface="Inter" pitchFamily="34" charset="-122"/>
                <a:cs typeface="Inter" pitchFamily="34" charset="-120"/>
              </a:rPr>
              <a:t>​1:1 counselling</a:t>
            </a:r>
            <a:endParaRPr lang="en-US" sz="1200" dirty="0">
              <a:latin typeface="Raleway" pitchFamily="2" charset="0"/>
            </a:endParaRPr>
          </a:p>
          <a:p>
            <a:pPr marL="139700" indent="-139700" algn="l">
              <a:lnSpc>
                <a:spcPts val="1560"/>
              </a:lnSpc>
              <a:buSzPct val="100000"/>
              <a:buChar char="•"/>
            </a:pPr>
            <a:r>
              <a:rPr lang="en-US" sz="1200" dirty="0">
                <a:solidFill>
                  <a:srgbClr val="2A3346"/>
                </a:solidFill>
                <a:latin typeface="Raleway" pitchFamily="2" charset="0"/>
                <a:ea typeface="Inter" pitchFamily="34" charset="-122"/>
                <a:cs typeface="Inter" pitchFamily="34" charset="-120"/>
              </a:rPr>
              <a:t>​Backfill tracker</a:t>
            </a:r>
            <a:endParaRPr lang="en-US" sz="1200" dirty="0">
              <a:latin typeface="Raleway" pitchFamily="2" charset="0"/>
            </a:endParaRPr>
          </a:p>
        </p:txBody>
      </p:sp>
      <p:pic>
        <p:nvPicPr>
          <p:cNvPr id="58" name="Image 12" descr="gen-dedup-ef3e2c640eeaaaf90a6fff1b95179db4.png"/>
          <p:cNvPicPr>
            <a:picLocks noChangeAspect="1"/>
          </p:cNvPicPr>
          <p:nvPr/>
        </p:nvPicPr>
        <p:blipFill>
          <a:blip r:embed="rId15"/>
          <a:srcRect t="-25150" b="-25150"/>
          <a:stretch/>
        </p:blipFill>
        <p:spPr>
          <a:xfrm>
            <a:off x="9677095" y="3119018"/>
            <a:ext cx="114300" cy="152705"/>
          </a:xfrm>
          <a:prstGeom prst="rect">
            <a:avLst/>
          </a:prstGeom>
        </p:spPr>
      </p:pic>
      <p:sp>
        <p:nvSpPr>
          <p:cNvPr id="59" name="Text 44"/>
          <p:cNvSpPr txBox="1"/>
          <p:nvPr/>
        </p:nvSpPr>
        <p:spPr>
          <a:xfrm>
            <a:off x="9868205" y="3105302"/>
            <a:ext cx="1270102" cy="1810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F2A44"/>
                </a:solidFill>
                <a:latin typeface="Raleway" pitchFamily="2" charset="0"/>
                <a:ea typeface="Fraunces" pitchFamily="34" charset="-122"/>
                <a:cs typeface="Fraunces" pitchFamily="34" charset="-120"/>
              </a:rPr>
              <a:t>Client Visibility</a:t>
            </a:r>
            <a:endParaRPr lang="en-US" sz="1400" dirty="0">
              <a:latin typeface="Raleway" pitchFamily="2" charset="0"/>
            </a:endParaRPr>
          </a:p>
        </p:txBody>
      </p:sp>
      <p:sp>
        <p:nvSpPr>
          <p:cNvPr id="60" name="Text 45"/>
          <p:cNvSpPr txBox="1"/>
          <p:nvPr/>
        </p:nvSpPr>
        <p:spPr>
          <a:xfrm>
            <a:off x="9690100" y="3375965"/>
            <a:ext cx="1778305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39700" indent="-139700" algn="l">
              <a:lnSpc>
                <a:spcPts val="1560"/>
              </a:lnSpc>
              <a:buSzPct val="100000"/>
              <a:buChar char="•"/>
            </a:pPr>
            <a:r>
              <a:rPr lang="en-US" sz="1200" dirty="0">
                <a:solidFill>
                  <a:srgbClr val="2A3346"/>
                </a:solidFill>
                <a:latin typeface="Raleway" pitchFamily="2" charset="0"/>
                <a:ea typeface="Inter" pitchFamily="34" charset="-122"/>
                <a:cs typeface="Inter" pitchFamily="34" charset="-120"/>
              </a:rPr>
              <a:t>​EWS/RAG dashboard</a:t>
            </a:r>
            <a:endParaRPr lang="en-US" sz="1200" dirty="0">
              <a:latin typeface="Raleway" pitchFamily="2" charset="0"/>
            </a:endParaRPr>
          </a:p>
          <a:p>
            <a:pPr marL="139700" indent="-139700" algn="l">
              <a:lnSpc>
                <a:spcPts val="1560"/>
              </a:lnSpc>
              <a:buSzPct val="100000"/>
              <a:buChar char="•"/>
            </a:pPr>
            <a:r>
              <a:rPr lang="en-US" sz="1200" dirty="0">
                <a:solidFill>
                  <a:srgbClr val="2A3346"/>
                </a:solidFill>
                <a:latin typeface="Raleway" pitchFamily="2" charset="0"/>
                <a:ea typeface="Inter" pitchFamily="34" charset="-122"/>
                <a:cs typeface="Inter" pitchFamily="34" charset="-120"/>
              </a:rPr>
              <a:t>​No-show tracker</a:t>
            </a:r>
            <a:endParaRPr lang="en-US" sz="1200" dirty="0">
              <a:latin typeface="Raleway" pitchFamily="2" charset="0"/>
            </a:endParaRPr>
          </a:p>
          <a:p>
            <a:pPr marL="139700" indent="-139700" algn="l">
              <a:lnSpc>
                <a:spcPts val="1560"/>
              </a:lnSpc>
              <a:buSzPct val="100000"/>
              <a:buChar char="•"/>
            </a:pPr>
            <a:r>
              <a:rPr lang="en-US" sz="1200" dirty="0">
                <a:solidFill>
                  <a:srgbClr val="2A3346"/>
                </a:solidFill>
                <a:latin typeface="Raleway" pitchFamily="2" charset="0"/>
                <a:ea typeface="Inter" pitchFamily="34" charset="-122"/>
                <a:cs typeface="Inter" pitchFamily="34" charset="-120"/>
              </a:rPr>
              <a:t>​Issue closure log</a:t>
            </a:r>
            <a:endParaRPr lang="en-US" sz="1200" dirty="0">
              <a:latin typeface="Raleway" pitchFamily="2" charset="0"/>
            </a:endParaRPr>
          </a:p>
        </p:txBody>
      </p:sp>
      <p:sp>
        <p:nvSpPr>
          <p:cNvPr id="61" name="Text 46"/>
          <p:cNvSpPr txBox="1"/>
          <p:nvPr/>
        </p:nvSpPr>
        <p:spPr>
          <a:xfrm>
            <a:off x="685800" y="4910328"/>
            <a:ext cx="10782605" cy="3721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F2A44"/>
                </a:solidFill>
                <a:latin typeface="Raleway" pitchFamily="2" charset="0"/>
                <a:ea typeface="Inter" pitchFamily="34" charset="-122"/>
                <a:cs typeface="Inter" pitchFamily="34" charset="-120"/>
              </a:rPr>
              <a:t>Governance Pack:</a:t>
            </a:r>
            <a:r>
              <a:rPr lang="en-US" sz="1400" b="1" dirty="0">
                <a:solidFill>
                  <a:srgbClr val="289C8F"/>
                </a:solidFill>
                <a:latin typeface="Raleway" pitchFamily="2" charset="0"/>
                <a:ea typeface="Inter" pitchFamily="34" charset="-122"/>
                <a:cs typeface="Inter" pitchFamily="34" charset="-120"/>
              </a:rPr>
              <a:t> Weekly engagement calendar </a:t>
            </a:r>
            <a:r>
              <a:rPr lang="en-US" sz="1400" b="1" dirty="0">
                <a:solidFill>
                  <a:srgbClr val="94A0B5"/>
                </a:solidFill>
                <a:latin typeface="Raleway" pitchFamily="2" charset="0"/>
                <a:ea typeface="Inter" pitchFamily="34" charset="-122"/>
                <a:cs typeface="Inter" pitchFamily="34" charset="-120"/>
              </a:rPr>
              <a:t>|</a:t>
            </a:r>
            <a:r>
              <a:rPr lang="en-US" sz="1400" b="1" dirty="0">
                <a:solidFill>
                  <a:srgbClr val="289C8F"/>
                </a:solidFill>
                <a:latin typeface="Raleway" pitchFamily="2" charset="0"/>
                <a:ea typeface="Inter" pitchFamily="34" charset="-122"/>
                <a:cs typeface="Inter" pitchFamily="34" charset="-120"/>
              </a:rPr>
              <a:t> pulse/EWS dashboard </a:t>
            </a:r>
            <a:r>
              <a:rPr lang="en-US" sz="1400" b="1" dirty="0">
                <a:solidFill>
                  <a:srgbClr val="94A0B5"/>
                </a:solidFill>
                <a:latin typeface="Raleway" pitchFamily="2" charset="0"/>
                <a:ea typeface="Inter" pitchFamily="34" charset="-122"/>
                <a:cs typeface="Inter" pitchFamily="34" charset="-120"/>
              </a:rPr>
              <a:t>|</a:t>
            </a:r>
            <a:r>
              <a:rPr lang="en-US" sz="1400" b="1" dirty="0">
                <a:solidFill>
                  <a:srgbClr val="289C8F"/>
                </a:solidFill>
                <a:latin typeface="Raleway" pitchFamily="2" charset="0"/>
                <a:ea typeface="Inter" pitchFamily="34" charset="-122"/>
                <a:cs typeface="Inter" pitchFamily="34" charset="-120"/>
              </a:rPr>
              <a:t> attendance &amp; no-show tracker </a:t>
            </a:r>
            <a:r>
              <a:rPr lang="en-US" sz="1400" b="1" dirty="0">
                <a:solidFill>
                  <a:srgbClr val="94A0B5"/>
                </a:solidFill>
                <a:latin typeface="Raleway" pitchFamily="2" charset="0"/>
                <a:ea typeface="Inter" pitchFamily="34" charset="-122"/>
                <a:cs typeface="Inter" pitchFamily="34" charset="-120"/>
              </a:rPr>
              <a:t>|</a:t>
            </a:r>
            <a:r>
              <a:rPr lang="en-US" sz="1400" b="1" dirty="0">
                <a:solidFill>
                  <a:srgbClr val="289C8F"/>
                </a:solidFill>
                <a:latin typeface="Raleway" pitchFamily="2" charset="0"/>
                <a:ea typeface="Inter" pitchFamily="34" charset="-122"/>
                <a:cs typeface="Inter" pitchFamily="34" charset="-120"/>
              </a:rPr>
              <a:t> issue closure log </a:t>
            </a:r>
            <a:r>
              <a:rPr lang="en-US" sz="1400" b="1" dirty="0">
                <a:solidFill>
                  <a:srgbClr val="94A0B5"/>
                </a:solidFill>
                <a:latin typeface="Raleway" pitchFamily="2" charset="0"/>
                <a:ea typeface="Inter" pitchFamily="34" charset="-122"/>
                <a:cs typeface="Inter" pitchFamily="34" charset="-120"/>
              </a:rPr>
              <a:t>|</a:t>
            </a:r>
            <a:r>
              <a:rPr lang="en-US" sz="1400" b="1" dirty="0">
                <a:solidFill>
                  <a:srgbClr val="289C8F"/>
                </a:solidFill>
                <a:latin typeface="Raleway" pitchFamily="2" charset="0"/>
                <a:ea typeface="Inter" pitchFamily="34" charset="-122"/>
                <a:cs typeface="Inter" pitchFamily="34" charset="-120"/>
              </a:rPr>
              <a:t> R&amp;R summary </a:t>
            </a:r>
            <a:r>
              <a:rPr lang="en-US" sz="1400" b="1" dirty="0">
                <a:solidFill>
                  <a:srgbClr val="94A0B5"/>
                </a:solidFill>
                <a:latin typeface="Raleway" pitchFamily="2" charset="0"/>
                <a:ea typeface="Inter" pitchFamily="34" charset="-122"/>
                <a:cs typeface="Inter" pitchFamily="34" charset="-120"/>
              </a:rPr>
              <a:t>|</a:t>
            </a:r>
            <a:r>
              <a:rPr lang="en-US" sz="1400" b="1" dirty="0">
                <a:solidFill>
                  <a:srgbClr val="289C8F"/>
                </a:solidFill>
                <a:latin typeface="Raleway" pitchFamily="2" charset="0"/>
                <a:ea typeface="Inter" pitchFamily="34" charset="-122"/>
                <a:cs typeface="Inter" pitchFamily="34" charset="-120"/>
              </a:rPr>
              <a:t> learning calendar </a:t>
            </a:r>
            <a:r>
              <a:rPr lang="en-US" sz="1400" b="1" dirty="0">
                <a:solidFill>
                  <a:srgbClr val="94A0B5"/>
                </a:solidFill>
                <a:latin typeface="Raleway" pitchFamily="2" charset="0"/>
                <a:ea typeface="Inter" pitchFamily="34" charset="-122"/>
                <a:cs typeface="Inter" pitchFamily="34" charset="-120"/>
              </a:rPr>
              <a:t>|</a:t>
            </a:r>
            <a:r>
              <a:rPr lang="en-US" sz="1400" b="1" dirty="0">
                <a:solidFill>
                  <a:srgbClr val="289C8F"/>
                </a:solidFill>
                <a:latin typeface="Raleway" pitchFamily="2" charset="0"/>
                <a:ea typeface="Inter" pitchFamily="34" charset="-122"/>
                <a:cs typeface="Inter" pitchFamily="34" charset="-120"/>
              </a:rPr>
              <a:t> retention action tracker</a:t>
            </a:r>
            <a:endParaRPr lang="en-US" sz="1400" dirty="0">
              <a:latin typeface="Raleway" pitchFamily="2" charset="0"/>
            </a:endParaRPr>
          </a:p>
        </p:txBody>
      </p:sp>
      <p:sp>
        <p:nvSpPr>
          <p:cNvPr id="62" name="Text 47"/>
          <p:cNvSpPr txBox="1"/>
          <p:nvPr/>
        </p:nvSpPr>
        <p:spPr>
          <a:xfrm>
            <a:off x="761695" y="5743346"/>
            <a:ext cx="10668305" cy="5148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Raleway" pitchFamily="2" charset="0"/>
                <a:ea typeface="Fraunces" pitchFamily="34" charset="-122"/>
                <a:cs typeface="Fraunces" pitchFamily="34" charset="-120"/>
              </a:rPr>
              <a:t>Engagement will be operated as a </a:t>
            </a:r>
            <a:r>
              <a:rPr lang="en-US" sz="1400" b="1" dirty="0">
                <a:solidFill>
                  <a:srgbClr val="289C8F"/>
                </a:solidFill>
                <a:latin typeface="Raleway" pitchFamily="2" charset="0"/>
                <a:ea typeface="Fraunces" pitchFamily="34" charset="-122"/>
                <a:cs typeface="Fraunces" pitchFamily="34" charset="-120"/>
              </a:rPr>
              <a:t>measurable delivery control</a:t>
            </a:r>
            <a:r>
              <a:rPr lang="en-US" sz="1400" b="1" dirty="0">
                <a:solidFill>
                  <a:srgbClr val="FFFFFF"/>
                </a:solidFill>
                <a:latin typeface="Raleway" pitchFamily="2" charset="0"/>
                <a:ea typeface="Fraunces" pitchFamily="34" charset="-122"/>
                <a:cs typeface="Fraunces" pitchFamily="34" charset="-120"/>
              </a:rPr>
              <a:t> - not one-time activities - to improve joining, capability building, morale and early retention.</a:t>
            </a:r>
            <a:endParaRPr lang="en-US" sz="1400" dirty="0">
              <a:latin typeface="Raleway" pitchFamily="2" charset="0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4" name="Image 0" descr="gen-dedup-cad3a534ee2971c6a497c9faf59fb5cd.png"/>
          <p:cNvPicPr>
            <a:picLocks noChangeAspect="1"/>
          </p:cNvPicPr>
          <p:nvPr/>
        </p:nvPicPr>
        <p:blipFill>
          <a:blip r:embed="rId3"/>
          <a:srcRect l="-202" r="-202"/>
          <a:stretch/>
        </p:blipFill>
        <p:spPr>
          <a:xfrm>
            <a:off x="0" y="0"/>
            <a:ext cx="8128102" cy="75895"/>
          </a:xfrm>
          <a:prstGeom prst="rect">
            <a:avLst/>
          </a:prstGeom>
        </p:spPr>
      </p:pic>
      <p:pic>
        <p:nvPicPr>
          <p:cNvPr id="5" name="Image 1" descr="gen-dedup-64882feb7a832238af77b962fc7a8538.png"/>
          <p:cNvPicPr>
            <a:picLocks noChangeAspect="1"/>
          </p:cNvPicPr>
          <p:nvPr/>
        </p:nvPicPr>
        <p:blipFill>
          <a:blip r:embed="rId4"/>
          <a:srcRect l="-197" r="-197"/>
          <a:stretch/>
        </p:blipFill>
        <p:spPr>
          <a:xfrm>
            <a:off x="8128102" y="0"/>
            <a:ext cx="4063594" cy="75895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9905695" y="-571500"/>
            <a:ext cx="2857500" cy="2857500"/>
          </a:xfrm>
          <a:prstGeom prst="ellipse">
            <a:avLst/>
          </a:prstGeom>
          <a:solidFill>
            <a:srgbClr val="2A9D8F">
              <a:alpha val="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7" name="Image 2" descr="gen-dedup-6da70c599291e253314366a10c094ffa.png"/>
          <p:cNvPicPr>
            <a:picLocks noChangeAspect="1"/>
          </p:cNvPicPr>
          <p:nvPr/>
        </p:nvPicPr>
        <p:blipFill>
          <a:blip r:embed="rId5">
            <a:alphaModFix amt="15000"/>
          </a:blip>
          <a:srcRect/>
          <a:stretch/>
        </p:blipFill>
        <p:spPr>
          <a:xfrm>
            <a:off x="381305" y="1143000"/>
            <a:ext cx="1429207" cy="1429207"/>
          </a:xfrm>
          <a:prstGeom prst="rect">
            <a:avLst/>
          </a:prstGeom>
        </p:spPr>
      </p:pic>
      <p:sp>
        <p:nvSpPr>
          <p:cNvPr id="8" name="Shape 3"/>
          <p:cNvSpPr/>
          <p:nvPr/>
        </p:nvSpPr>
        <p:spPr>
          <a:xfrm>
            <a:off x="609905" y="1143000"/>
            <a:ext cx="5352898" cy="2572207"/>
          </a:xfrm>
          <a:prstGeom prst="roundRect">
            <a:avLst>
              <a:gd name="adj" fmla="val 158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4"/>
          <p:cNvSpPr/>
          <p:nvPr/>
        </p:nvSpPr>
        <p:spPr>
          <a:xfrm>
            <a:off x="609905" y="1143000"/>
            <a:ext cx="5352898" cy="38405"/>
          </a:xfrm>
          <a:prstGeom prst="roundRect">
            <a:avLst>
              <a:gd name="adj" fmla="val 105820"/>
            </a:avLst>
          </a:prstGeom>
          <a:solidFill>
            <a:srgbClr val="D62839"/>
          </a:solidFill>
          <a:ln w="12700">
            <a:solidFill>
              <a:srgbClr val="D62839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5"/>
          <p:cNvSpPr/>
          <p:nvPr/>
        </p:nvSpPr>
        <p:spPr>
          <a:xfrm>
            <a:off x="6172200" y="1143000"/>
            <a:ext cx="5429707" cy="2667305"/>
          </a:xfrm>
          <a:prstGeom prst="roundRect">
            <a:avLst>
              <a:gd name="adj" fmla="val 146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6"/>
          <p:cNvSpPr/>
          <p:nvPr/>
        </p:nvSpPr>
        <p:spPr>
          <a:xfrm>
            <a:off x="6172200" y="1143000"/>
            <a:ext cx="5429707" cy="38405"/>
          </a:xfrm>
          <a:prstGeom prst="roundRect">
            <a:avLst>
              <a:gd name="adj" fmla="val 102040"/>
            </a:avLst>
          </a:prstGeom>
          <a:solidFill>
            <a:srgbClr val="2A9D8F"/>
          </a:solidFill>
          <a:ln w="12700">
            <a:solidFill>
              <a:srgbClr val="2A9D8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7"/>
          <p:cNvSpPr/>
          <p:nvPr/>
        </p:nvSpPr>
        <p:spPr>
          <a:xfrm>
            <a:off x="609905" y="3857854"/>
            <a:ext cx="5352898" cy="22860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8"/>
          <p:cNvSpPr/>
          <p:nvPr/>
        </p:nvSpPr>
        <p:spPr>
          <a:xfrm>
            <a:off x="609905" y="3857854"/>
            <a:ext cx="5352898" cy="38405"/>
          </a:xfrm>
          <a:prstGeom prst="roundRect">
            <a:avLst>
              <a:gd name="adj" fmla="val 119047"/>
            </a:avLst>
          </a:prstGeom>
          <a:solidFill>
            <a:srgbClr val="2A9D8F"/>
          </a:solidFill>
          <a:ln w="12700">
            <a:solidFill>
              <a:srgbClr val="2A9D8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9"/>
          <p:cNvSpPr/>
          <p:nvPr/>
        </p:nvSpPr>
        <p:spPr>
          <a:xfrm>
            <a:off x="6172200" y="3857854"/>
            <a:ext cx="5429707" cy="22860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0"/>
          <p:cNvSpPr/>
          <p:nvPr/>
        </p:nvSpPr>
        <p:spPr>
          <a:xfrm>
            <a:off x="6172200" y="3857854"/>
            <a:ext cx="5429707" cy="38405"/>
          </a:xfrm>
          <a:prstGeom prst="roundRect">
            <a:avLst>
              <a:gd name="adj" fmla="val 119047"/>
            </a:avLst>
          </a:prstGeom>
          <a:solidFill>
            <a:srgbClr val="D62839"/>
          </a:solidFill>
          <a:ln w="12700">
            <a:solidFill>
              <a:srgbClr val="D62839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1"/>
          <p:cNvSpPr/>
          <p:nvPr/>
        </p:nvSpPr>
        <p:spPr>
          <a:xfrm>
            <a:off x="609905" y="6238951"/>
            <a:ext cx="10992002" cy="437998"/>
          </a:xfrm>
          <a:prstGeom prst="roundRect">
            <a:avLst>
              <a:gd name="adj" fmla="val 36307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7" name="Image 3" descr="gen-dedup-ceebc0fa9ea338beb9aa6e4a9468a2a5.png"/>
          <p:cNvPicPr>
            <a:picLocks noChangeAspect="1"/>
          </p:cNvPicPr>
          <p:nvPr/>
        </p:nvPicPr>
        <p:blipFill>
          <a:blip r:embed="rId6"/>
          <a:srcRect l="-400" r="-400"/>
          <a:stretch/>
        </p:blipFill>
        <p:spPr>
          <a:xfrm>
            <a:off x="609905" y="374904"/>
            <a:ext cx="57607" cy="457200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819302" y="304495"/>
            <a:ext cx="9592056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600" b="1">
                <a:solidFill>
                  <a:srgbClr val="11182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COMPETITIVE ADVANTAGES AT SCALE – EXECUTION PROOF POINTS</a:t>
            </a:r>
            <a:endParaRPr lang="en-US" sz="2600"/>
          </a:p>
        </p:txBody>
      </p:sp>
      <p:sp>
        <p:nvSpPr>
          <p:cNvPr id="19" name="Text 13"/>
          <p:cNvSpPr txBox="1"/>
          <p:nvPr/>
        </p:nvSpPr>
        <p:spPr>
          <a:xfrm>
            <a:off x="819302" y="711403"/>
            <a:ext cx="8906256" cy="1911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00" b="1" kern="0" spc="66">
                <a:solidFill>
                  <a:srgbClr val="2A9D8F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J2W Track Record: From Vision to Operational Excellence</a:t>
            </a:r>
            <a:endParaRPr lang="en-US" sz="1300"/>
          </a:p>
        </p:txBody>
      </p:sp>
      <p:pic>
        <p:nvPicPr>
          <p:cNvPr id="20" name="Image 4" descr="gen-dedup-0694d8d7925cf9b99d92b905a7e8c15e.png"/>
          <p:cNvPicPr>
            <a:picLocks noChangeAspect="1"/>
          </p:cNvPicPr>
          <p:nvPr/>
        </p:nvPicPr>
        <p:blipFill>
          <a:blip r:embed="rId7"/>
          <a:srcRect t="-14384" b="-14384"/>
          <a:stretch/>
        </p:blipFill>
        <p:spPr>
          <a:xfrm>
            <a:off x="761695" y="1309421"/>
            <a:ext cx="133502" cy="171907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972007" y="1257300"/>
            <a:ext cx="1745590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400" b="1">
                <a:solidFill>
                  <a:srgbClr val="1F293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PROVEN EXECUTION</a:t>
            </a:r>
            <a:endParaRPr lang="en-US" sz="1400"/>
          </a:p>
        </p:txBody>
      </p:sp>
      <p:sp>
        <p:nvSpPr>
          <p:cNvPr id="22" name="Shape 15"/>
          <p:cNvSpPr/>
          <p:nvPr/>
        </p:nvSpPr>
        <p:spPr>
          <a:xfrm>
            <a:off x="761695" y="1762049"/>
            <a:ext cx="5029200" cy="571500"/>
          </a:xfrm>
          <a:prstGeom prst="rect">
            <a:avLst/>
          </a:prstGeom>
          <a:solidFill>
            <a:srgbClr val="FEF2F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Shape 16"/>
          <p:cNvSpPr/>
          <p:nvPr/>
        </p:nvSpPr>
        <p:spPr>
          <a:xfrm>
            <a:off x="761695" y="1762049"/>
            <a:ext cx="38405" cy="571500"/>
          </a:xfrm>
          <a:prstGeom prst="rect">
            <a:avLst/>
          </a:prstGeom>
          <a:solidFill>
            <a:srgbClr val="D62839"/>
          </a:solidFill>
          <a:ln w="12700">
            <a:solidFill>
              <a:srgbClr val="D62839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17"/>
          <p:cNvSpPr txBox="1"/>
          <p:nvPr/>
        </p:nvSpPr>
        <p:spPr>
          <a:xfrm>
            <a:off x="1028700" y="1914754"/>
            <a:ext cx="5220310" cy="2670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00" b="1" i="1" dirty="0">
                <a:solidFill>
                  <a:srgbClr val="991B1B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"Excellence is not promised - it is demonstrated."</a:t>
            </a:r>
            <a:endParaRPr lang="en-US" sz="1300" dirty="0"/>
          </a:p>
        </p:txBody>
      </p:sp>
      <p:sp>
        <p:nvSpPr>
          <p:cNvPr id="25" name="Text 18"/>
          <p:cNvSpPr txBox="1"/>
          <p:nvPr/>
        </p:nvSpPr>
        <p:spPr>
          <a:xfrm>
            <a:off x="761695" y="2520086"/>
            <a:ext cx="5029200" cy="6574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J2W’s transformational engagements across global enterprises validate our ability to deliver {{client}}’s  talent goals with operational excellence, speed, and precision.</a:t>
            </a:r>
            <a:endParaRPr lang="en-US" sz="1100" dirty="0"/>
          </a:p>
        </p:txBody>
      </p:sp>
      <p:pic>
        <p:nvPicPr>
          <p:cNvPr id="26" name="Image 5" descr="gen-dedup-b496c99a569898132f3e1260cdf9f417.png"/>
          <p:cNvPicPr>
            <a:picLocks noChangeAspect="1"/>
          </p:cNvPicPr>
          <p:nvPr/>
        </p:nvPicPr>
        <p:blipFill>
          <a:blip r:embed="rId8"/>
          <a:srcRect t="-14384" b="-14384"/>
          <a:stretch/>
        </p:blipFill>
        <p:spPr>
          <a:xfrm>
            <a:off x="6324905" y="1309421"/>
            <a:ext cx="133502" cy="171907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6534302" y="1257300"/>
            <a:ext cx="2845613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400" b="1">
                <a:solidFill>
                  <a:srgbClr val="1F293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KEY PERFORMANCE INDICATORS</a:t>
            </a:r>
            <a:endParaRPr lang="en-US" sz="1400"/>
          </a:p>
        </p:txBody>
      </p:sp>
      <p:pic>
        <p:nvPicPr>
          <p:cNvPr id="28" name="Image 6" descr="gen-dedup-a43e574f5ad413a8939cab01d30b4d0c.png"/>
          <p:cNvPicPr>
            <a:picLocks noChangeAspect="1"/>
          </p:cNvPicPr>
          <p:nvPr/>
        </p:nvPicPr>
        <p:blipFill>
          <a:blip r:embed="rId9"/>
          <a:srcRect l="-77" r="-77"/>
          <a:stretch/>
        </p:blipFill>
        <p:spPr>
          <a:xfrm>
            <a:off x="6324905" y="1647749"/>
            <a:ext cx="5105095" cy="237744"/>
          </a:xfrm>
          <a:prstGeom prst="rect">
            <a:avLst/>
          </a:prstGeom>
        </p:spPr>
      </p:pic>
      <p:sp>
        <p:nvSpPr>
          <p:cNvPr id="29" name="Text 20"/>
          <p:cNvSpPr txBox="1"/>
          <p:nvPr/>
        </p:nvSpPr>
        <p:spPr>
          <a:xfrm>
            <a:off x="6400800" y="1695298"/>
            <a:ext cx="1733702" cy="1335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>
                <a:solidFill>
                  <a:srgbClr val="374151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METRIC</a:t>
            </a:r>
            <a:endParaRPr lang="en-US" sz="900"/>
          </a:p>
        </p:txBody>
      </p:sp>
      <p:sp>
        <p:nvSpPr>
          <p:cNvPr id="30" name="Text 21"/>
          <p:cNvSpPr txBox="1"/>
          <p:nvPr/>
        </p:nvSpPr>
        <p:spPr>
          <a:xfrm>
            <a:off x="8134502" y="1695298"/>
            <a:ext cx="1733702" cy="1335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>
                <a:solidFill>
                  <a:srgbClr val="374151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J2W ACHIEVEMENT</a:t>
            </a:r>
            <a:endParaRPr lang="en-US" sz="900"/>
          </a:p>
        </p:txBody>
      </p:sp>
      <p:sp>
        <p:nvSpPr>
          <p:cNvPr id="31" name="Text 22"/>
          <p:cNvSpPr txBox="1"/>
          <p:nvPr/>
        </p:nvSpPr>
        <p:spPr>
          <a:xfrm>
            <a:off x="9868205" y="1695298"/>
            <a:ext cx="1485900" cy="1335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00" b="1" dirty="0">
                <a:solidFill>
                  <a:srgbClr val="374151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RELEVANCE TO {{CLIENT}}</a:t>
            </a:r>
            <a:endParaRPr lang="en-US" sz="900" dirty="0"/>
          </a:p>
        </p:txBody>
      </p:sp>
      <p:sp>
        <p:nvSpPr>
          <p:cNvPr id="32" name="Shape 23"/>
          <p:cNvSpPr/>
          <p:nvPr/>
        </p:nvSpPr>
        <p:spPr>
          <a:xfrm>
            <a:off x="6324905" y="2077517"/>
            <a:ext cx="5105095" cy="9144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24"/>
          <p:cNvSpPr txBox="1"/>
          <p:nvPr/>
        </p:nvSpPr>
        <p:spPr>
          <a:xfrm>
            <a:off x="6400800" y="1914754"/>
            <a:ext cx="1733702" cy="1335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800" b="1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GCC Solutions Delivered</a:t>
            </a:r>
            <a:endParaRPr lang="en-US" sz="800"/>
          </a:p>
        </p:txBody>
      </p:sp>
      <p:sp>
        <p:nvSpPr>
          <p:cNvPr id="34" name="Text 25"/>
          <p:cNvSpPr txBox="1"/>
          <p:nvPr/>
        </p:nvSpPr>
        <p:spPr>
          <a:xfrm>
            <a:off x="8134502" y="1914754"/>
            <a:ext cx="1733702" cy="1335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800" b="1">
                <a:solidFill>
                  <a:srgbClr val="2A9D8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India’s Largest Provider</a:t>
            </a:r>
            <a:endParaRPr lang="en-US" sz="800"/>
          </a:p>
        </p:txBody>
      </p:sp>
      <p:sp>
        <p:nvSpPr>
          <p:cNvPr id="35" name="Text 26"/>
          <p:cNvSpPr txBox="1"/>
          <p:nvPr/>
        </p:nvSpPr>
        <p:spPr>
          <a:xfrm>
            <a:off x="9868205" y="1914754"/>
            <a:ext cx="1485900" cy="1335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80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Proven at scale</a:t>
            </a:r>
            <a:endParaRPr lang="en-US" sz="800"/>
          </a:p>
        </p:txBody>
      </p:sp>
      <p:sp>
        <p:nvSpPr>
          <p:cNvPr id="36" name="Shape 27"/>
          <p:cNvSpPr/>
          <p:nvPr/>
        </p:nvSpPr>
        <p:spPr>
          <a:xfrm>
            <a:off x="6324905" y="2276856"/>
            <a:ext cx="5105095" cy="9144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Text 28"/>
          <p:cNvSpPr txBox="1"/>
          <p:nvPr/>
        </p:nvSpPr>
        <p:spPr>
          <a:xfrm>
            <a:off x="6400800" y="2115007"/>
            <a:ext cx="1733702" cy="1335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800" b="1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AI Capabilities</a:t>
            </a:r>
            <a:endParaRPr lang="en-US" sz="800"/>
          </a:p>
        </p:txBody>
      </p:sp>
      <p:sp>
        <p:nvSpPr>
          <p:cNvPr id="38" name="Text 29"/>
          <p:cNvSpPr txBox="1"/>
          <p:nvPr/>
        </p:nvSpPr>
        <p:spPr>
          <a:xfrm>
            <a:off x="8134502" y="2115007"/>
            <a:ext cx="1733702" cy="1335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800" b="1">
                <a:solidFill>
                  <a:srgbClr val="2A9D8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600 built in 12 months</a:t>
            </a:r>
            <a:endParaRPr lang="en-US" sz="800"/>
          </a:p>
        </p:txBody>
      </p:sp>
      <p:sp>
        <p:nvSpPr>
          <p:cNvPr id="39" name="Text 30"/>
          <p:cNvSpPr txBox="1"/>
          <p:nvPr/>
        </p:nvSpPr>
        <p:spPr>
          <a:xfrm>
            <a:off x="9868205" y="2115007"/>
            <a:ext cx="1485900" cy="1335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80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Accelerated innovation</a:t>
            </a:r>
            <a:endParaRPr lang="en-US" sz="800"/>
          </a:p>
        </p:txBody>
      </p:sp>
      <p:sp>
        <p:nvSpPr>
          <p:cNvPr id="40" name="Shape 31"/>
          <p:cNvSpPr/>
          <p:nvPr/>
        </p:nvSpPr>
        <p:spPr>
          <a:xfrm>
            <a:off x="6324905" y="2477110"/>
            <a:ext cx="5105095" cy="9144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Text 32"/>
          <p:cNvSpPr txBox="1"/>
          <p:nvPr/>
        </p:nvSpPr>
        <p:spPr>
          <a:xfrm>
            <a:off x="6400800" y="2314346"/>
            <a:ext cx="1733702" cy="1335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800" b="1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Cloud Journeys</a:t>
            </a:r>
            <a:endParaRPr lang="en-US" sz="800"/>
          </a:p>
        </p:txBody>
      </p:sp>
      <p:sp>
        <p:nvSpPr>
          <p:cNvPr id="42" name="Text 33"/>
          <p:cNvSpPr txBox="1"/>
          <p:nvPr/>
        </p:nvSpPr>
        <p:spPr>
          <a:xfrm>
            <a:off x="8134502" y="2314346"/>
            <a:ext cx="1733702" cy="1335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800" b="1">
                <a:solidFill>
                  <a:srgbClr val="2A9D8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4,000+ transformations</a:t>
            </a:r>
            <a:endParaRPr lang="en-US" sz="800"/>
          </a:p>
        </p:txBody>
      </p:sp>
      <p:sp>
        <p:nvSpPr>
          <p:cNvPr id="43" name="Text 34"/>
          <p:cNvSpPr txBox="1"/>
          <p:nvPr/>
        </p:nvSpPr>
        <p:spPr>
          <a:xfrm>
            <a:off x="9868205" y="2314346"/>
            <a:ext cx="1485900" cy="1335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80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Platform readiness</a:t>
            </a:r>
            <a:endParaRPr lang="en-US" sz="800"/>
          </a:p>
        </p:txBody>
      </p:sp>
      <p:sp>
        <p:nvSpPr>
          <p:cNvPr id="44" name="Shape 35"/>
          <p:cNvSpPr/>
          <p:nvPr/>
        </p:nvSpPr>
        <p:spPr>
          <a:xfrm>
            <a:off x="6324905" y="2677363"/>
            <a:ext cx="5105095" cy="9144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Text 36"/>
          <p:cNvSpPr txBox="1"/>
          <p:nvPr/>
        </p:nvSpPr>
        <p:spPr>
          <a:xfrm>
            <a:off x="6400800" y="2514600"/>
            <a:ext cx="1733702" cy="1335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800" b="1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Captive Centers</a:t>
            </a:r>
            <a:endParaRPr lang="en-US" sz="800"/>
          </a:p>
        </p:txBody>
      </p:sp>
      <p:sp>
        <p:nvSpPr>
          <p:cNvPr id="46" name="Text 37"/>
          <p:cNvSpPr txBox="1"/>
          <p:nvPr/>
        </p:nvSpPr>
        <p:spPr>
          <a:xfrm>
            <a:off x="8134502" y="2514600"/>
            <a:ext cx="1733702" cy="1335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800" b="1">
                <a:solidFill>
                  <a:srgbClr val="2A9D8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250+ established</a:t>
            </a:r>
            <a:endParaRPr lang="en-US" sz="800"/>
          </a:p>
        </p:txBody>
      </p:sp>
      <p:sp>
        <p:nvSpPr>
          <p:cNvPr id="47" name="Text 38"/>
          <p:cNvSpPr txBox="1"/>
          <p:nvPr/>
        </p:nvSpPr>
        <p:spPr>
          <a:xfrm>
            <a:off x="9868205" y="2514600"/>
            <a:ext cx="1485900" cy="1335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80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Execution maturity</a:t>
            </a:r>
            <a:endParaRPr lang="en-US" sz="800"/>
          </a:p>
        </p:txBody>
      </p:sp>
      <p:sp>
        <p:nvSpPr>
          <p:cNvPr id="48" name="Shape 39"/>
          <p:cNvSpPr/>
          <p:nvPr/>
        </p:nvSpPr>
        <p:spPr>
          <a:xfrm>
            <a:off x="6324905" y="2877617"/>
            <a:ext cx="5105095" cy="9144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9" name="Text 40"/>
          <p:cNvSpPr txBox="1"/>
          <p:nvPr/>
        </p:nvSpPr>
        <p:spPr>
          <a:xfrm>
            <a:off x="6400800" y="2714854"/>
            <a:ext cx="1733702" cy="1335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800" b="1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Professionals</a:t>
            </a:r>
            <a:endParaRPr lang="en-US" sz="800"/>
          </a:p>
        </p:txBody>
      </p:sp>
      <p:sp>
        <p:nvSpPr>
          <p:cNvPr id="50" name="Text 41"/>
          <p:cNvSpPr txBox="1"/>
          <p:nvPr/>
        </p:nvSpPr>
        <p:spPr>
          <a:xfrm>
            <a:off x="8134502" y="2714854"/>
            <a:ext cx="1733702" cy="1335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800" b="1">
                <a:solidFill>
                  <a:srgbClr val="2A9D8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7,200+ specialists</a:t>
            </a:r>
            <a:endParaRPr lang="en-US" sz="800"/>
          </a:p>
        </p:txBody>
      </p:sp>
      <p:sp>
        <p:nvSpPr>
          <p:cNvPr id="51" name="Text 42"/>
          <p:cNvSpPr txBox="1"/>
          <p:nvPr/>
        </p:nvSpPr>
        <p:spPr>
          <a:xfrm>
            <a:off x="9868205" y="2714854"/>
            <a:ext cx="1485900" cy="1335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80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Depth and speed</a:t>
            </a:r>
            <a:endParaRPr lang="en-US" sz="800"/>
          </a:p>
        </p:txBody>
      </p:sp>
      <p:sp>
        <p:nvSpPr>
          <p:cNvPr id="52" name="Shape 43"/>
          <p:cNvSpPr/>
          <p:nvPr/>
        </p:nvSpPr>
        <p:spPr>
          <a:xfrm>
            <a:off x="6324905" y="3076956"/>
            <a:ext cx="5105095" cy="9144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3" name="Text 44"/>
          <p:cNvSpPr txBox="1"/>
          <p:nvPr/>
        </p:nvSpPr>
        <p:spPr>
          <a:xfrm>
            <a:off x="6400800" y="2915107"/>
            <a:ext cx="1733702" cy="1335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800" b="1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Engagement Models</a:t>
            </a:r>
            <a:endParaRPr lang="en-US" sz="800"/>
          </a:p>
        </p:txBody>
      </p:sp>
      <p:sp>
        <p:nvSpPr>
          <p:cNvPr id="54" name="Text 45"/>
          <p:cNvSpPr txBox="1"/>
          <p:nvPr/>
        </p:nvSpPr>
        <p:spPr>
          <a:xfrm>
            <a:off x="8134502" y="2915107"/>
            <a:ext cx="1733702" cy="1335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800" b="1">
                <a:solidFill>
                  <a:srgbClr val="2A9D8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30+ proven formats</a:t>
            </a:r>
            <a:endParaRPr lang="en-US" sz="800"/>
          </a:p>
        </p:txBody>
      </p:sp>
      <p:sp>
        <p:nvSpPr>
          <p:cNvPr id="55" name="Text 46"/>
          <p:cNvSpPr txBox="1"/>
          <p:nvPr/>
        </p:nvSpPr>
        <p:spPr>
          <a:xfrm>
            <a:off x="9868205" y="2915107"/>
            <a:ext cx="1723644" cy="1335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80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Risk-mitigated flexibility</a:t>
            </a:r>
            <a:endParaRPr lang="en-US" sz="800"/>
          </a:p>
        </p:txBody>
      </p:sp>
      <p:sp>
        <p:nvSpPr>
          <p:cNvPr id="56" name="Shape 47"/>
          <p:cNvSpPr/>
          <p:nvPr/>
        </p:nvSpPr>
        <p:spPr>
          <a:xfrm>
            <a:off x="6324905" y="3277210"/>
            <a:ext cx="5105095" cy="9144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7" name="Text 48"/>
          <p:cNvSpPr txBox="1"/>
          <p:nvPr/>
        </p:nvSpPr>
        <p:spPr>
          <a:xfrm>
            <a:off x="6400800" y="3114446"/>
            <a:ext cx="1733702" cy="1335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800" b="1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Global Presence</a:t>
            </a:r>
            <a:endParaRPr lang="en-US" sz="800"/>
          </a:p>
        </p:txBody>
      </p:sp>
      <p:sp>
        <p:nvSpPr>
          <p:cNvPr id="58" name="Text 49"/>
          <p:cNvSpPr txBox="1"/>
          <p:nvPr/>
        </p:nvSpPr>
        <p:spPr>
          <a:xfrm>
            <a:off x="8134502" y="3114446"/>
            <a:ext cx="1733702" cy="1335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800" b="1">
                <a:solidFill>
                  <a:srgbClr val="2A9D8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12 countries</a:t>
            </a:r>
            <a:endParaRPr lang="en-US" sz="800"/>
          </a:p>
        </p:txBody>
      </p:sp>
      <p:sp>
        <p:nvSpPr>
          <p:cNvPr id="59" name="Text 50"/>
          <p:cNvSpPr txBox="1"/>
          <p:nvPr/>
        </p:nvSpPr>
        <p:spPr>
          <a:xfrm>
            <a:off x="9868205" y="3114446"/>
            <a:ext cx="1485900" cy="1335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80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Scalable governance</a:t>
            </a:r>
            <a:endParaRPr lang="en-US" sz="800"/>
          </a:p>
        </p:txBody>
      </p:sp>
      <p:sp>
        <p:nvSpPr>
          <p:cNvPr id="60" name="Text 51"/>
          <p:cNvSpPr txBox="1"/>
          <p:nvPr/>
        </p:nvSpPr>
        <p:spPr>
          <a:xfrm>
            <a:off x="6400800" y="3314700"/>
            <a:ext cx="1733702" cy="1335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800" b="1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NPS Rating</a:t>
            </a:r>
            <a:endParaRPr lang="en-US" sz="800"/>
          </a:p>
        </p:txBody>
      </p:sp>
      <p:sp>
        <p:nvSpPr>
          <p:cNvPr id="61" name="Text 52"/>
          <p:cNvSpPr txBox="1"/>
          <p:nvPr/>
        </p:nvSpPr>
        <p:spPr>
          <a:xfrm>
            <a:off x="8134502" y="3314700"/>
            <a:ext cx="1733702" cy="1335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800" b="1">
                <a:solidFill>
                  <a:srgbClr val="2A9D8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Industry-leading</a:t>
            </a:r>
            <a:endParaRPr lang="en-US" sz="800"/>
          </a:p>
        </p:txBody>
      </p:sp>
      <p:sp>
        <p:nvSpPr>
          <p:cNvPr id="62" name="Text 53"/>
          <p:cNvSpPr txBox="1"/>
          <p:nvPr/>
        </p:nvSpPr>
        <p:spPr>
          <a:xfrm>
            <a:off x="9868205" y="3314700"/>
            <a:ext cx="1595628" cy="1335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80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Stakeholder satisfaction</a:t>
            </a:r>
            <a:endParaRPr lang="en-US" sz="800"/>
          </a:p>
        </p:txBody>
      </p:sp>
      <p:pic>
        <p:nvPicPr>
          <p:cNvPr id="63" name="Image 7" descr="gen-dedup-4370ae18ac36aa3a0f4496de6c5c7d66.png"/>
          <p:cNvPicPr>
            <a:picLocks noChangeAspect="1"/>
          </p:cNvPicPr>
          <p:nvPr/>
        </p:nvPicPr>
        <p:blipFill>
          <a:blip r:embed="rId10"/>
          <a:srcRect t="-30480" b="-30480"/>
          <a:stretch/>
        </p:blipFill>
        <p:spPr>
          <a:xfrm>
            <a:off x="761695" y="4024274"/>
            <a:ext cx="133502" cy="171907"/>
          </a:xfrm>
          <a:prstGeom prst="rect">
            <a:avLst/>
          </a:prstGeom>
        </p:spPr>
      </p:pic>
      <p:sp>
        <p:nvSpPr>
          <p:cNvPr id="64" name="Text 54"/>
          <p:cNvSpPr txBox="1"/>
          <p:nvPr/>
        </p:nvSpPr>
        <p:spPr>
          <a:xfrm>
            <a:off x="972007" y="3972154"/>
            <a:ext cx="2414930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400" b="1">
                <a:solidFill>
                  <a:srgbClr val="1F293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COMPETITIVE COMPARISON</a:t>
            </a:r>
            <a:endParaRPr lang="en-US" sz="1400"/>
          </a:p>
        </p:txBody>
      </p:sp>
      <p:pic>
        <p:nvPicPr>
          <p:cNvPr id="65" name="Image 8" descr="gen-dedup-b7bc75dca3c706f3773680681adcedb5.png"/>
          <p:cNvPicPr>
            <a:picLocks noChangeAspect="1"/>
          </p:cNvPicPr>
          <p:nvPr/>
        </p:nvPicPr>
        <p:blipFill>
          <a:blip r:embed="rId11"/>
          <a:srcRect l="-45" r="-45"/>
          <a:stretch/>
        </p:blipFill>
        <p:spPr>
          <a:xfrm>
            <a:off x="761695" y="4362602"/>
            <a:ext cx="5029200" cy="256946"/>
          </a:xfrm>
          <a:prstGeom prst="rect">
            <a:avLst/>
          </a:prstGeom>
        </p:spPr>
      </p:pic>
      <p:sp>
        <p:nvSpPr>
          <p:cNvPr id="66" name="Text 55"/>
          <p:cNvSpPr txBox="1"/>
          <p:nvPr/>
        </p:nvSpPr>
        <p:spPr>
          <a:xfrm>
            <a:off x="838505" y="4419295"/>
            <a:ext cx="1467612" cy="1335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>
                <a:solidFill>
                  <a:srgbClr val="374151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PARAMETER</a:t>
            </a:r>
            <a:endParaRPr lang="en-US" sz="900"/>
          </a:p>
        </p:txBody>
      </p:sp>
      <p:sp>
        <p:nvSpPr>
          <p:cNvPr id="67" name="Text 56"/>
          <p:cNvSpPr txBox="1"/>
          <p:nvPr/>
        </p:nvSpPr>
        <p:spPr>
          <a:xfrm>
            <a:off x="2301545" y="4419295"/>
            <a:ext cx="1714500" cy="1335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>
                <a:solidFill>
                  <a:srgbClr val="374151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TRADITIONAL STAFFING</a:t>
            </a:r>
            <a:endParaRPr lang="en-US" sz="900"/>
          </a:p>
        </p:txBody>
      </p:sp>
      <p:sp>
        <p:nvSpPr>
          <p:cNvPr id="68" name="Text 57"/>
          <p:cNvSpPr txBox="1"/>
          <p:nvPr/>
        </p:nvSpPr>
        <p:spPr>
          <a:xfrm>
            <a:off x="4007815" y="4419295"/>
            <a:ext cx="1714500" cy="1335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>
                <a:solidFill>
                  <a:srgbClr val="2A9D8F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J2W BOT MODEL</a:t>
            </a:r>
            <a:endParaRPr lang="en-US" sz="900"/>
          </a:p>
        </p:txBody>
      </p:sp>
      <p:sp>
        <p:nvSpPr>
          <p:cNvPr id="69" name="Shape 58"/>
          <p:cNvSpPr/>
          <p:nvPr/>
        </p:nvSpPr>
        <p:spPr>
          <a:xfrm>
            <a:off x="761695" y="4848149"/>
            <a:ext cx="5029200" cy="9144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0" name="Text 59"/>
          <p:cNvSpPr txBox="1"/>
          <p:nvPr/>
        </p:nvSpPr>
        <p:spPr>
          <a:xfrm>
            <a:off x="838505" y="4667098"/>
            <a:ext cx="1467612" cy="1335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800" b="1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Ownership</a:t>
            </a:r>
            <a:endParaRPr lang="en-US" sz="800"/>
          </a:p>
        </p:txBody>
      </p:sp>
      <p:sp>
        <p:nvSpPr>
          <p:cNvPr id="71" name="Text 60"/>
          <p:cNvSpPr txBox="1"/>
          <p:nvPr/>
        </p:nvSpPr>
        <p:spPr>
          <a:xfrm>
            <a:off x="2301545" y="4667098"/>
            <a:ext cx="1714500" cy="1335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800">
                <a:solidFill>
                  <a:srgbClr val="6B72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Resource supply</a:t>
            </a:r>
            <a:endParaRPr lang="en-US" sz="800"/>
          </a:p>
        </p:txBody>
      </p:sp>
      <p:sp>
        <p:nvSpPr>
          <p:cNvPr id="72" name="Text 61"/>
          <p:cNvSpPr txBox="1"/>
          <p:nvPr/>
        </p:nvSpPr>
        <p:spPr>
          <a:xfrm>
            <a:off x="4007815" y="4667098"/>
            <a:ext cx="1788566" cy="1335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800" b="1">
                <a:solidFill>
                  <a:srgbClr val="0F766E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Outcome-driven partnership</a:t>
            </a:r>
            <a:endParaRPr lang="en-US" sz="800"/>
          </a:p>
        </p:txBody>
      </p:sp>
      <p:sp>
        <p:nvSpPr>
          <p:cNvPr id="73" name="Shape 62"/>
          <p:cNvSpPr/>
          <p:nvPr/>
        </p:nvSpPr>
        <p:spPr>
          <a:xfrm>
            <a:off x="761695" y="5086807"/>
            <a:ext cx="5029200" cy="9144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4" name="Text 63"/>
          <p:cNvSpPr txBox="1"/>
          <p:nvPr/>
        </p:nvSpPr>
        <p:spPr>
          <a:xfrm>
            <a:off x="838505" y="4905756"/>
            <a:ext cx="1467612" cy="1335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800" b="1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Risk</a:t>
            </a:r>
            <a:endParaRPr lang="en-US" sz="800"/>
          </a:p>
        </p:txBody>
      </p:sp>
      <p:sp>
        <p:nvSpPr>
          <p:cNvPr id="75" name="Text 64"/>
          <p:cNvSpPr txBox="1"/>
          <p:nvPr/>
        </p:nvSpPr>
        <p:spPr>
          <a:xfrm>
            <a:off x="2301545" y="4905756"/>
            <a:ext cx="1714500" cy="1335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800">
                <a:solidFill>
                  <a:srgbClr val="6B72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Client-owned</a:t>
            </a:r>
            <a:endParaRPr lang="en-US" sz="800"/>
          </a:p>
        </p:txBody>
      </p:sp>
      <p:sp>
        <p:nvSpPr>
          <p:cNvPr id="76" name="Text 65"/>
          <p:cNvSpPr txBox="1"/>
          <p:nvPr/>
        </p:nvSpPr>
        <p:spPr>
          <a:xfrm>
            <a:off x="4007815" y="4905756"/>
            <a:ext cx="1714500" cy="1335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800" b="1">
                <a:solidFill>
                  <a:srgbClr val="0F766E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J2W-absorbed</a:t>
            </a:r>
            <a:endParaRPr lang="en-US" sz="800"/>
          </a:p>
        </p:txBody>
      </p:sp>
      <p:sp>
        <p:nvSpPr>
          <p:cNvPr id="77" name="Shape 66"/>
          <p:cNvSpPr/>
          <p:nvPr/>
        </p:nvSpPr>
        <p:spPr>
          <a:xfrm>
            <a:off x="761695" y="5324551"/>
            <a:ext cx="5029200" cy="9144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8" name="Text 67"/>
          <p:cNvSpPr txBox="1"/>
          <p:nvPr/>
        </p:nvSpPr>
        <p:spPr>
          <a:xfrm>
            <a:off x="838505" y="5143500"/>
            <a:ext cx="1467612" cy="1335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800" b="1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Technology</a:t>
            </a:r>
            <a:endParaRPr lang="en-US" sz="800"/>
          </a:p>
        </p:txBody>
      </p:sp>
      <p:sp>
        <p:nvSpPr>
          <p:cNvPr id="79" name="Text 68"/>
          <p:cNvSpPr txBox="1"/>
          <p:nvPr/>
        </p:nvSpPr>
        <p:spPr>
          <a:xfrm>
            <a:off x="2301545" y="5143500"/>
            <a:ext cx="1714500" cy="1335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800">
                <a:solidFill>
                  <a:srgbClr val="6B72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Absent</a:t>
            </a:r>
            <a:endParaRPr lang="en-US" sz="800"/>
          </a:p>
        </p:txBody>
      </p:sp>
      <p:sp>
        <p:nvSpPr>
          <p:cNvPr id="80" name="Text 69"/>
          <p:cNvSpPr txBox="1"/>
          <p:nvPr/>
        </p:nvSpPr>
        <p:spPr>
          <a:xfrm>
            <a:off x="4007815" y="5143500"/>
            <a:ext cx="1714500" cy="1335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800" b="1">
                <a:solidFill>
                  <a:srgbClr val="0F766E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AI-integrated</a:t>
            </a:r>
            <a:endParaRPr lang="en-US" sz="800"/>
          </a:p>
        </p:txBody>
      </p:sp>
      <p:sp>
        <p:nvSpPr>
          <p:cNvPr id="81" name="Shape 70"/>
          <p:cNvSpPr/>
          <p:nvPr/>
        </p:nvSpPr>
        <p:spPr>
          <a:xfrm>
            <a:off x="761695" y="5562295"/>
            <a:ext cx="5029200" cy="9144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2" name="Text 71"/>
          <p:cNvSpPr txBox="1"/>
          <p:nvPr/>
        </p:nvSpPr>
        <p:spPr>
          <a:xfrm>
            <a:off x="838505" y="5381244"/>
            <a:ext cx="1467612" cy="1335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800" b="1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Accountability</a:t>
            </a:r>
            <a:endParaRPr lang="en-US" sz="800"/>
          </a:p>
        </p:txBody>
      </p:sp>
      <p:sp>
        <p:nvSpPr>
          <p:cNvPr id="83" name="Text 72"/>
          <p:cNvSpPr txBox="1"/>
          <p:nvPr/>
        </p:nvSpPr>
        <p:spPr>
          <a:xfrm>
            <a:off x="2301545" y="5381244"/>
            <a:ext cx="1714500" cy="1335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800">
                <a:solidFill>
                  <a:srgbClr val="6B72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Limited</a:t>
            </a:r>
            <a:endParaRPr lang="en-US" sz="800"/>
          </a:p>
        </p:txBody>
      </p:sp>
      <p:sp>
        <p:nvSpPr>
          <p:cNvPr id="84" name="Text 73"/>
          <p:cNvSpPr txBox="1"/>
          <p:nvPr/>
        </p:nvSpPr>
        <p:spPr>
          <a:xfrm>
            <a:off x="4007815" y="5381244"/>
            <a:ext cx="1714500" cy="1335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800" b="1">
                <a:solidFill>
                  <a:srgbClr val="0F766E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SLA-backed</a:t>
            </a:r>
            <a:endParaRPr lang="en-US" sz="800"/>
          </a:p>
        </p:txBody>
      </p:sp>
      <p:sp>
        <p:nvSpPr>
          <p:cNvPr id="85" name="Shape 74"/>
          <p:cNvSpPr/>
          <p:nvPr/>
        </p:nvSpPr>
        <p:spPr>
          <a:xfrm>
            <a:off x="761695" y="5800954"/>
            <a:ext cx="5029200" cy="9144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6" name="Text 75"/>
          <p:cNvSpPr txBox="1"/>
          <p:nvPr/>
        </p:nvSpPr>
        <p:spPr>
          <a:xfrm>
            <a:off x="838505" y="5619902"/>
            <a:ext cx="1467612" cy="1335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800" b="1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Scalability</a:t>
            </a:r>
            <a:endParaRPr lang="en-US" sz="800"/>
          </a:p>
        </p:txBody>
      </p:sp>
      <p:sp>
        <p:nvSpPr>
          <p:cNvPr id="87" name="Text 76"/>
          <p:cNvSpPr txBox="1"/>
          <p:nvPr/>
        </p:nvSpPr>
        <p:spPr>
          <a:xfrm>
            <a:off x="2301545" y="5619902"/>
            <a:ext cx="1714500" cy="1335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800">
                <a:solidFill>
                  <a:srgbClr val="6B72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Ad-hoc</a:t>
            </a:r>
            <a:endParaRPr lang="en-US" sz="800"/>
          </a:p>
        </p:txBody>
      </p:sp>
      <p:sp>
        <p:nvSpPr>
          <p:cNvPr id="88" name="Text 77"/>
          <p:cNvSpPr txBox="1"/>
          <p:nvPr/>
        </p:nvSpPr>
        <p:spPr>
          <a:xfrm>
            <a:off x="4007815" y="5619902"/>
            <a:ext cx="1714500" cy="1335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800" b="1">
                <a:solidFill>
                  <a:srgbClr val="0F766E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Built-in</a:t>
            </a:r>
            <a:endParaRPr lang="en-US" sz="800"/>
          </a:p>
        </p:txBody>
      </p:sp>
      <p:sp>
        <p:nvSpPr>
          <p:cNvPr id="89" name="Text 78"/>
          <p:cNvSpPr txBox="1"/>
          <p:nvPr/>
        </p:nvSpPr>
        <p:spPr>
          <a:xfrm>
            <a:off x="838505" y="5857646"/>
            <a:ext cx="1467612" cy="1335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800" b="1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Cost Flexibility</a:t>
            </a:r>
            <a:endParaRPr lang="en-US" sz="800"/>
          </a:p>
        </p:txBody>
      </p:sp>
      <p:sp>
        <p:nvSpPr>
          <p:cNvPr id="90" name="Text 79"/>
          <p:cNvSpPr txBox="1"/>
          <p:nvPr/>
        </p:nvSpPr>
        <p:spPr>
          <a:xfrm>
            <a:off x="2301545" y="5857646"/>
            <a:ext cx="1714500" cy="1335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800">
                <a:solidFill>
                  <a:srgbClr val="6B72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Fixed</a:t>
            </a:r>
            <a:endParaRPr lang="en-US" sz="800"/>
          </a:p>
        </p:txBody>
      </p:sp>
      <p:sp>
        <p:nvSpPr>
          <p:cNvPr id="91" name="Text 80"/>
          <p:cNvSpPr txBox="1"/>
          <p:nvPr/>
        </p:nvSpPr>
        <p:spPr>
          <a:xfrm>
            <a:off x="4007815" y="5857646"/>
            <a:ext cx="1921154" cy="1335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800" b="1">
                <a:solidFill>
                  <a:srgbClr val="0F766E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Variable &amp; performance-based</a:t>
            </a:r>
            <a:endParaRPr lang="en-US" sz="800"/>
          </a:p>
        </p:txBody>
      </p:sp>
      <p:pic>
        <p:nvPicPr>
          <p:cNvPr id="92" name="Image 9" descr="gen-dedup-9ab84477f1b24298cf62c9612563352f.png"/>
          <p:cNvPicPr>
            <a:picLocks noChangeAspect="1"/>
          </p:cNvPicPr>
          <p:nvPr/>
        </p:nvPicPr>
        <p:blipFill>
          <a:blip r:embed="rId12"/>
          <a:srcRect t="-30480" b="-30480"/>
          <a:stretch/>
        </p:blipFill>
        <p:spPr>
          <a:xfrm>
            <a:off x="6324905" y="4024274"/>
            <a:ext cx="133502" cy="171907"/>
          </a:xfrm>
          <a:prstGeom prst="rect">
            <a:avLst/>
          </a:prstGeom>
        </p:spPr>
      </p:pic>
      <p:sp>
        <p:nvSpPr>
          <p:cNvPr id="93" name="Text 81"/>
          <p:cNvSpPr txBox="1"/>
          <p:nvPr/>
        </p:nvSpPr>
        <p:spPr>
          <a:xfrm>
            <a:off x="6534302" y="3972154"/>
            <a:ext cx="1825142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F293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RELEVANCE TO CLIENT</a:t>
            </a:r>
            <a:endParaRPr lang="en-US" sz="1400" dirty="0"/>
          </a:p>
        </p:txBody>
      </p:sp>
      <p:sp>
        <p:nvSpPr>
          <p:cNvPr id="94" name="Shape 82"/>
          <p:cNvSpPr/>
          <p:nvPr/>
        </p:nvSpPr>
        <p:spPr>
          <a:xfrm>
            <a:off x="6324905" y="4362602"/>
            <a:ext cx="5105095" cy="1200607"/>
          </a:xfrm>
          <a:prstGeom prst="roundRect">
            <a:avLst>
              <a:gd name="adj" fmla="val 7253"/>
            </a:avLst>
          </a:prstGeom>
          <a:solidFill>
            <a:srgbClr val="FEF2F2"/>
          </a:solidFill>
          <a:ln w="12700">
            <a:solidFill>
              <a:srgbClr val="FCA5A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5" name="Text 83"/>
          <p:cNvSpPr txBox="1"/>
          <p:nvPr/>
        </p:nvSpPr>
        <p:spPr>
          <a:xfrm>
            <a:off x="7018020" y="4562856"/>
            <a:ext cx="1134770" cy="4288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3300" b="1">
                <a:solidFill>
                  <a:srgbClr val="D62839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250+</a:t>
            </a:r>
            <a:endParaRPr lang="en-US" sz="3300"/>
          </a:p>
        </p:txBody>
      </p:sp>
      <p:sp>
        <p:nvSpPr>
          <p:cNvPr id="96" name="Text 84"/>
          <p:cNvSpPr txBox="1"/>
          <p:nvPr/>
        </p:nvSpPr>
        <p:spPr>
          <a:xfrm>
            <a:off x="6951269" y="5027371"/>
            <a:ext cx="1267358" cy="1527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000" b="1">
                <a:solidFill>
                  <a:srgbClr val="991B1B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Global Centers</a:t>
            </a:r>
            <a:endParaRPr lang="en-US" sz="1000"/>
          </a:p>
        </p:txBody>
      </p:sp>
      <p:pic>
        <p:nvPicPr>
          <p:cNvPr id="97" name="Image 10" descr="gen-dedup-5e9872b339ca97363a052a98d72d331e.png"/>
          <p:cNvPicPr>
            <a:picLocks noChangeAspect="1"/>
          </p:cNvPicPr>
          <p:nvPr/>
        </p:nvPicPr>
        <p:blipFill>
          <a:blip r:embed="rId13"/>
          <a:srcRect t="-2100" b="-2100"/>
          <a:stretch/>
        </p:blipFill>
        <p:spPr>
          <a:xfrm>
            <a:off x="8357616" y="4486046"/>
            <a:ext cx="9144" cy="476402"/>
          </a:xfrm>
          <a:prstGeom prst="rect">
            <a:avLst/>
          </a:prstGeom>
        </p:spPr>
      </p:pic>
      <p:sp>
        <p:nvSpPr>
          <p:cNvPr id="98" name="Text 85"/>
          <p:cNvSpPr txBox="1"/>
          <p:nvPr/>
        </p:nvSpPr>
        <p:spPr>
          <a:xfrm>
            <a:off x="8672170" y="4562856"/>
            <a:ext cx="1981505" cy="4288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3300" b="1">
                <a:solidFill>
                  <a:srgbClr val="D62839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30–40%</a:t>
            </a:r>
            <a:endParaRPr lang="en-US" sz="3300"/>
          </a:p>
        </p:txBody>
      </p:sp>
      <p:sp>
        <p:nvSpPr>
          <p:cNvPr id="99" name="Text 86"/>
          <p:cNvSpPr txBox="1"/>
          <p:nvPr/>
        </p:nvSpPr>
        <p:spPr>
          <a:xfrm>
            <a:off x="8483803" y="5027371"/>
            <a:ext cx="2358238" cy="1527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000" b="1">
                <a:solidFill>
                  <a:srgbClr val="991B1B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Time-to-Excellence Accelerated</a:t>
            </a:r>
            <a:endParaRPr lang="en-US" sz="1000"/>
          </a:p>
        </p:txBody>
      </p:sp>
      <p:sp>
        <p:nvSpPr>
          <p:cNvPr id="100" name="Text 87"/>
          <p:cNvSpPr txBox="1"/>
          <p:nvPr/>
        </p:nvSpPr>
        <p:spPr>
          <a:xfrm>
            <a:off x="6452921" y="5255971"/>
            <a:ext cx="4858207" cy="1911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7F1D1D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{client}  gains institutional knowledge from transformed global centers.</a:t>
            </a:r>
            <a:endParaRPr lang="en-US" sz="1000" dirty="0"/>
          </a:p>
        </p:txBody>
      </p:sp>
      <p:sp>
        <p:nvSpPr>
          <p:cNvPr id="101" name="Text 88"/>
          <p:cNvSpPr txBox="1"/>
          <p:nvPr/>
        </p:nvSpPr>
        <p:spPr>
          <a:xfrm>
            <a:off x="2079346" y="6367882"/>
            <a:ext cx="9238183" cy="1627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1F293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J2W has transformed 250+ global centers.  {{client}} gains from this institutional knowledge, accelerating time-to-excellence by 30–40%. </a:t>
            </a:r>
            <a:endParaRPr lang="en-US" sz="1000" dirty="0"/>
          </a:p>
        </p:txBody>
      </p:sp>
      <p:pic>
        <p:nvPicPr>
          <p:cNvPr id="102" name="Image 11" descr="gen-dedup-315c4f0fede1ff4637c888960421344a.png"/>
          <p:cNvPicPr>
            <a:picLocks noChangeAspect="1"/>
          </p:cNvPicPr>
          <p:nvPr/>
        </p:nvPicPr>
        <p:blipFill>
          <a:blip r:embed="rId14"/>
          <a:srcRect t="-5544" b="-5544"/>
          <a:stretch/>
        </p:blipFill>
        <p:spPr>
          <a:xfrm>
            <a:off x="1868119" y="6384341"/>
            <a:ext cx="105156" cy="133502"/>
          </a:xfrm>
          <a:prstGeom prst="rect">
            <a:avLst/>
          </a:prstGeom>
        </p:spPr>
      </p:pic>
      <p:sp>
        <p:nvSpPr>
          <p:cNvPr id="104" name="Text 15">
            <a:extLst>
              <a:ext uri="{FF2B5EF4-FFF2-40B4-BE49-F238E27FC236}">
                <a16:creationId xmlns:a16="http://schemas.microsoft.com/office/drawing/2014/main" id="{588138F4-61E6-C818-E657-35AA3245D5C3}"/>
              </a:ext>
            </a:extLst>
          </p:cNvPr>
          <p:cNvSpPr txBox="1"/>
          <p:nvPr/>
        </p:nvSpPr>
        <p:spPr>
          <a:xfrm flipH="1">
            <a:off x="11778343" y="6515100"/>
            <a:ext cx="283028" cy="255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Oswald" pitchFamily="34" charset="0"/>
              </a:rPr>
              <a:t>18</a:t>
            </a:r>
            <a:endParaRPr lang="en-US" sz="1600" dirty="0">
              <a:solidFill>
                <a:schemeClr val="bg1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2439887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9334195" y="-952805"/>
            <a:ext cx="3810305" cy="3810305"/>
          </a:xfrm>
          <a:prstGeom prst="ellipse">
            <a:avLst/>
          </a:prstGeom>
          <a:solidFill>
            <a:srgbClr val="2A9D8F">
              <a:alpha val="3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5" name="Image 0" descr="gen-dedup-4ab2116e971fbb9400d0e99205bd0390.png"/>
          <p:cNvPicPr>
            <a:picLocks noChangeAspect="1"/>
          </p:cNvPicPr>
          <p:nvPr/>
        </p:nvPicPr>
        <p:blipFill>
          <a:blip r:embed="rId3">
            <a:alphaModFix amt="5000"/>
          </a:blip>
          <a:srcRect/>
          <a:stretch/>
        </p:blipFill>
        <p:spPr>
          <a:xfrm>
            <a:off x="10001707" y="5238598"/>
            <a:ext cx="1904695" cy="1904695"/>
          </a:xfrm>
          <a:prstGeom prst="rect">
            <a:avLst/>
          </a:prstGeom>
        </p:spPr>
      </p:pic>
      <p:pic>
        <p:nvPicPr>
          <p:cNvPr id="6" name="Image 1" descr="gen-dedup-323228122ff92d2332e711a84ca3b40c.png"/>
          <p:cNvPicPr>
            <a:picLocks noChangeAspect="1"/>
          </p:cNvPicPr>
          <p:nvPr/>
        </p:nvPicPr>
        <p:blipFill>
          <a:blip r:embed="rId4"/>
          <a:srcRect l="-198" r="-198"/>
          <a:stretch/>
        </p:blipFill>
        <p:spPr>
          <a:xfrm>
            <a:off x="0" y="0"/>
            <a:ext cx="8124444" cy="75895"/>
          </a:xfrm>
          <a:prstGeom prst="rect">
            <a:avLst/>
          </a:prstGeom>
        </p:spPr>
      </p:pic>
      <p:pic>
        <p:nvPicPr>
          <p:cNvPr id="7" name="Image 2" descr="gen-dedup-9663ecf744b06e35d4c2cebaab92a2ea.png"/>
          <p:cNvPicPr>
            <a:picLocks noChangeAspect="1"/>
          </p:cNvPicPr>
          <p:nvPr/>
        </p:nvPicPr>
        <p:blipFill>
          <a:blip r:embed="rId5"/>
          <a:srcRect l="-202" r="-202"/>
          <a:stretch/>
        </p:blipFill>
        <p:spPr>
          <a:xfrm>
            <a:off x="8124444" y="0"/>
            <a:ext cx="4067251" cy="75895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381305" y="1143000"/>
            <a:ext cx="2382012" cy="152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0" b="1">
                <a:solidFill>
                  <a:srgbClr val="F3F4F6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02</a:t>
            </a:r>
            <a:endParaRPr lang="en-US" sz="12000"/>
          </a:p>
        </p:txBody>
      </p:sp>
      <p:pic>
        <p:nvPicPr>
          <p:cNvPr id="11" name="Image 3" descr="gen-dedup-90395934058aa4b7c1bff00d7e70c0a4.png"/>
          <p:cNvPicPr>
            <a:picLocks noChangeAspect="1"/>
          </p:cNvPicPr>
          <p:nvPr/>
        </p:nvPicPr>
        <p:blipFill>
          <a:blip r:embed="rId6"/>
          <a:srcRect l="-416" r="-416"/>
          <a:stretch/>
        </p:blipFill>
        <p:spPr>
          <a:xfrm>
            <a:off x="1143000" y="2428646"/>
            <a:ext cx="57607" cy="714146"/>
          </a:xfrm>
          <a:prstGeom prst="rect">
            <a:avLst/>
          </a:prstGeom>
        </p:spPr>
      </p:pic>
      <p:sp>
        <p:nvSpPr>
          <p:cNvPr id="12" name="Text 6"/>
          <p:cNvSpPr txBox="1"/>
          <p:nvPr/>
        </p:nvSpPr>
        <p:spPr>
          <a:xfrm>
            <a:off x="1429207" y="2333549"/>
            <a:ext cx="9525305" cy="7626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5400" b="1" kern="0" spc="108">
                <a:solidFill>
                  <a:srgbClr val="11182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AI PODS</a:t>
            </a:r>
            <a:endParaRPr lang="en-US" sz="5400"/>
          </a:p>
        </p:txBody>
      </p:sp>
      <p:sp>
        <p:nvSpPr>
          <p:cNvPr id="13" name="Text 7"/>
          <p:cNvSpPr txBox="1"/>
          <p:nvPr/>
        </p:nvSpPr>
        <p:spPr>
          <a:xfrm>
            <a:off x="1429207" y="3333902"/>
            <a:ext cx="10687507" cy="3529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100">
                <a:solidFill>
                  <a:srgbClr val="2A9D8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AI-first engineering pods - governed, certified, and compounding from Day 1</a:t>
            </a:r>
            <a:endParaRPr lang="en-US" sz="2100"/>
          </a:p>
        </p:txBody>
      </p:sp>
      <p:sp>
        <p:nvSpPr>
          <p:cNvPr id="14" name="Text 8"/>
          <p:cNvSpPr txBox="1"/>
          <p:nvPr/>
        </p:nvSpPr>
        <p:spPr>
          <a:xfrm>
            <a:off x="1429207" y="4143146"/>
            <a:ext cx="9335110" cy="5532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This is a fully governed, outcome-bound delivery model-not traditional staff augmentation. We embed complete engineering units that integrate directly into your sprint cycles, governed by strict SLAs and continuous AI upskilling.</a:t>
            </a:r>
            <a:endParaRPr lang="en-US" sz="1300"/>
          </a:p>
        </p:txBody>
      </p:sp>
      <p:pic>
        <p:nvPicPr>
          <p:cNvPr id="15" name="Image 4" descr="gen-dedup-818c62191cf4a66fb5704c7f87e3fedf.png"/>
          <p:cNvPicPr>
            <a:picLocks noChangeAspect="1"/>
          </p:cNvPicPr>
          <p:nvPr/>
        </p:nvPicPr>
        <p:blipFill>
          <a:blip r:embed="rId7"/>
          <a:srcRect l="-166" r="-166"/>
          <a:stretch/>
        </p:blipFill>
        <p:spPr>
          <a:xfrm>
            <a:off x="1429207" y="5143500"/>
            <a:ext cx="1933956" cy="418795"/>
          </a:xfrm>
          <a:prstGeom prst="rect">
            <a:avLst/>
          </a:prstGeom>
        </p:spPr>
      </p:pic>
      <p:sp>
        <p:nvSpPr>
          <p:cNvPr id="16" name="Shape 9"/>
          <p:cNvSpPr/>
          <p:nvPr/>
        </p:nvSpPr>
        <p:spPr>
          <a:xfrm>
            <a:off x="1429207" y="5143500"/>
            <a:ext cx="1933956" cy="418795"/>
          </a:xfrm>
          <a:prstGeom prst="roundRect">
            <a:avLst>
              <a:gd name="adj" fmla="val 13755"/>
            </a:avLst>
          </a:prstGeom>
          <a:noFill/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0"/>
          <p:cNvSpPr txBox="1"/>
          <p:nvPr/>
        </p:nvSpPr>
        <p:spPr>
          <a:xfrm>
            <a:off x="1653845" y="5143500"/>
            <a:ext cx="1495958" cy="4197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90500" tIns="114300" rIns="190500" bIns="114300" rtlCol="0" anchor="ctr"/>
          <a:lstStyle/>
          <a:p>
            <a:pPr marL="0" indent="0" algn="l">
              <a:buNone/>
            </a:pPr>
            <a:r>
              <a:rPr lang="en-US" sz="1100" b="1">
                <a:solidFill>
                  <a:srgbClr val="37415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10-day onboarding </a:t>
            </a:r>
            <a:endParaRPr lang="en-US" sz="1100"/>
          </a:p>
        </p:txBody>
      </p:sp>
      <p:pic>
        <p:nvPicPr>
          <p:cNvPr id="18" name="Image 5" descr="gen-dedup-a287ae7abd092c83dc5f899415c51d00.png"/>
          <p:cNvPicPr>
            <a:picLocks noChangeAspect="1"/>
          </p:cNvPicPr>
          <p:nvPr/>
        </p:nvPicPr>
        <p:blipFill>
          <a:blip r:embed="rId8"/>
          <a:srcRect t="-16800" b="-16800"/>
          <a:stretch/>
        </p:blipFill>
        <p:spPr>
          <a:xfrm>
            <a:off x="1657807" y="5277002"/>
            <a:ext cx="114300" cy="152705"/>
          </a:xfrm>
          <a:prstGeom prst="rect">
            <a:avLst/>
          </a:prstGeom>
        </p:spPr>
      </p:pic>
      <p:pic>
        <p:nvPicPr>
          <p:cNvPr id="19" name="Image 6" descr="gen-dedup-0363cb9fbb55bfd8aa96459f99cffd70.png"/>
          <p:cNvPicPr>
            <a:picLocks noChangeAspect="1"/>
          </p:cNvPicPr>
          <p:nvPr/>
        </p:nvPicPr>
        <p:blipFill>
          <a:blip r:embed="rId9"/>
          <a:srcRect l="-260" r="-260"/>
          <a:stretch/>
        </p:blipFill>
        <p:spPr>
          <a:xfrm>
            <a:off x="3510382" y="5143500"/>
            <a:ext cx="1543507" cy="418795"/>
          </a:xfrm>
          <a:prstGeom prst="rect">
            <a:avLst/>
          </a:prstGeom>
        </p:spPr>
      </p:pic>
      <p:sp>
        <p:nvSpPr>
          <p:cNvPr id="20" name="Shape 11"/>
          <p:cNvSpPr/>
          <p:nvPr/>
        </p:nvSpPr>
        <p:spPr>
          <a:xfrm>
            <a:off x="3510382" y="5143500"/>
            <a:ext cx="1543507" cy="418795"/>
          </a:xfrm>
          <a:prstGeom prst="roundRect">
            <a:avLst>
              <a:gd name="adj" fmla="val 13755"/>
            </a:avLst>
          </a:prstGeom>
          <a:noFill/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2"/>
          <p:cNvSpPr txBox="1"/>
          <p:nvPr/>
        </p:nvSpPr>
        <p:spPr>
          <a:xfrm>
            <a:off x="3735019" y="5143500"/>
            <a:ext cx="1105510" cy="4197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90500" tIns="114300" rIns="190500" bIns="114300" rtlCol="0" anchor="ctr"/>
          <a:lstStyle/>
          <a:p>
            <a:pPr marL="0" indent="0" algn="l">
              <a:buNone/>
            </a:pPr>
            <a:r>
              <a:rPr lang="en-US" sz="1100" b="1">
                <a:solidFill>
                  <a:srgbClr val="37415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90-day POFU </a:t>
            </a:r>
            <a:endParaRPr lang="en-US" sz="1100"/>
          </a:p>
        </p:txBody>
      </p:sp>
      <p:pic>
        <p:nvPicPr>
          <p:cNvPr id="22" name="Image 7" descr="gen-dedup-c395ac9c840728d6470a4a8b33662e6e.png"/>
          <p:cNvPicPr>
            <a:picLocks noChangeAspect="1"/>
          </p:cNvPicPr>
          <p:nvPr/>
        </p:nvPicPr>
        <p:blipFill>
          <a:blip r:embed="rId10"/>
          <a:srcRect t="-16800" b="-16800"/>
          <a:stretch/>
        </p:blipFill>
        <p:spPr>
          <a:xfrm>
            <a:off x="3738982" y="5277002"/>
            <a:ext cx="114300" cy="152705"/>
          </a:xfrm>
          <a:prstGeom prst="rect">
            <a:avLst/>
          </a:prstGeom>
        </p:spPr>
      </p:pic>
      <p:pic>
        <p:nvPicPr>
          <p:cNvPr id="23" name="Image 8" descr="gen-dedup-fe10f786880821f62e6e2a70ff719369.png"/>
          <p:cNvPicPr>
            <a:picLocks noChangeAspect="1"/>
          </p:cNvPicPr>
          <p:nvPr/>
        </p:nvPicPr>
        <p:blipFill>
          <a:blip r:embed="rId11"/>
          <a:srcRect l="-58" r="-58"/>
          <a:stretch/>
        </p:blipFill>
        <p:spPr>
          <a:xfrm>
            <a:off x="5199278" y="5143500"/>
            <a:ext cx="2619756" cy="418795"/>
          </a:xfrm>
          <a:prstGeom prst="rect">
            <a:avLst/>
          </a:prstGeom>
        </p:spPr>
      </p:pic>
      <p:sp>
        <p:nvSpPr>
          <p:cNvPr id="24" name="Shape 13"/>
          <p:cNvSpPr/>
          <p:nvPr/>
        </p:nvSpPr>
        <p:spPr>
          <a:xfrm>
            <a:off x="5199278" y="5143500"/>
            <a:ext cx="2619756" cy="418795"/>
          </a:xfrm>
          <a:prstGeom prst="roundRect">
            <a:avLst>
              <a:gd name="adj" fmla="val 13755"/>
            </a:avLst>
          </a:prstGeom>
          <a:noFill/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14"/>
          <p:cNvSpPr txBox="1"/>
          <p:nvPr/>
        </p:nvSpPr>
        <p:spPr>
          <a:xfrm>
            <a:off x="5423916" y="5143500"/>
            <a:ext cx="2181758" cy="4197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90500" tIns="114300" rIns="190500" bIns="114300" rtlCol="0" anchor="ctr"/>
          <a:lstStyle/>
          <a:p>
            <a:pPr marL="0" indent="0" algn="l">
              <a:buNone/>
            </a:pPr>
            <a:r>
              <a:rPr lang="en-US" sz="1100" b="1">
                <a:solidFill>
                  <a:srgbClr val="37415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85% sprint completion target </a:t>
            </a:r>
            <a:endParaRPr lang="en-US" sz="1100"/>
          </a:p>
        </p:txBody>
      </p:sp>
      <p:pic>
        <p:nvPicPr>
          <p:cNvPr id="26" name="Image 9" descr="gen-dedup-7637b076e607f7218cdb4973c81f38e6.png"/>
          <p:cNvPicPr>
            <a:picLocks noChangeAspect="1"/>
          </p:cNvPicPr>
          <p:nvPr/>
        </p:nvPicPr>
        <p:blipFill>
          <a:blip r:embed="rId12"/>
          <a:srcRect t="-8450" b="-8450"/>
          <a:stretch/>
        </p:blipFill>
        <p:spPr>
          <a:xfrm>
            <a:off x="5427878" y="5277002"/>
            <a:ext cx="114300" cy="152705"/>
          </a:xfrm>
          <a:prstGeom prst="rect">
            <a:avLst/>
          </a:prstGeom>
        </p:spPr>
      </p:pic>
      <p:pic>
        <p:nvPicPr>
          <p:cNvPr id="27" name="Image 10" descr="gen-dedup-4b04481605890cd5e2948f325621428b.png"/>
          <p:cNvPicPr>
            <a:picLocks noChangeAspect="1"/>
          </p:cNvPicPr>
          <p:nvPr/>
        </p:nvPicPr>
        <p:blipFill>
          <a:blip r:embed="rId13"/>
          <a:srcRect l="-216" r="-216"/>
          <a:stretch/>
        </p:blipFill>
        <p:spPr>
          <a:xfrm>
            <a:off x="7969910" y="5143500"/>
            <a:ext cx="2562149" cy="418795"/>
          </a:xfrm>
          <a:prstGeom prst="rect">
            <a:avLst/>
          </a:prstGeom>
        </p:spPr>
      </p:pic>
      <p:sp>
        <p:nvSpPr>
          <p:cNvPr id="28" name="Shape 15"/>
          <p:cNvSpPr/>
          <p:nvPr/>
        </p:nvSpPr>
        <p:spPr>
          <a:xfrm>
            <a:off x="7969910" y="5143500"/>
            <a:ext cx="2562149" cy="418795"/>
          </a:xfrm>
          <a:prstGeom prst="roundRect">
            <a:avLst>
              <a:gd name="adj" fmla="val 13755"/>
            </a:avLst>
          </a:prstGeom>
          <a:noFill/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16"/>
          <p:cNvSpPr txBox="1"/>
          <p:nvPr/>
        </p:nvSpPr>
        <p:spPr>
          <a:xfrm>
            <a:off x="8194548" y="5143500"/>
            <a:ext cx="2125066" cy="4197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90500" tIns="114300" rIns="190500" bIns="114300" rtlCol="0" anchor="ctr"/>
          <a:lstStyle/>
          <a:p>
            <a:pPr marL="0" indent="0" algn="l">
              <a:buNone/>
            </a:pPr>
            <a:r>
              <a:rPr lang="en-US" sz="1100" b="1">
                <a:solidFill>
                  <a:srgbClr val="37415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0.5 defect density threshold </a:t>
            </a:r>
            <a:endParaRPr lang="en-US" sz="1100"/>
          </a:p>
        </p:txBody>
      </p:sp>
      <p:pic>
        <p:nvPicPr>
          <p:cNvPr id="30" name="Image 11" descr="gen-dedup-de4cb59b8211160ed90cebf7a454cebf.png"/>
          <p:cNvPicPr>
            <a:picLocks noChangeAspect="1"/>
          </p:cNvPicPr>
          <p:nvPr/>
        </p:nvPicPr>
        <p:blipFill>
          <a:blip r:embed="rId14"/>
          <a:srcRect t="-16800" b="-16800"/>
          <a:stretch/>
        </p:blipFill>
        <p:spPr>
          <a:xfrm>
            <a:off x="8198510" y="5277002"/>
            <a:ext cx="114300" cy="152705"/>
          </a:xfrm>
          <a:prstGeom prst="rect">
            <a:avLst/>
          </a:prstGeom>
        </p:spPr>
      </p:pic>
      <p:sp>
        <p:nvSpPr>
          <p:cNvPr id="31" name="Shape 17"/>
          <p:cNvSpPr/>
          <p:nvPr/>
        </p:nvSpPr>
        <p:spPr>
          <a:xfrm>
            <a:off x="1143000" y="6096305"/>
            <a:ext cx="9905695" cy="914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18"/>
          <p:cNvSpPr txBox="1"/>
          <p:nvPr/>
        </p:nvSpPr>
        <p:spPr>
          <a:xfrm>
            <a:off x="1143000" y="6258154"/>
            <a:ext cx="9906610" cy="1810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24">
                <a:solidFill>
                  <a:srgbClr val="6B72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Scale your engineering footprint with absolute control and measurable outcomes.</a:t>
            </a:r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244470622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rcRect l="-207" r="-207"/>
          <a:stretch/>
        </p:blipFill>
        <p:spPr>
          <a:xfrm>
            <a:off x="0" y="0"/>
            <a:ext cx="4058107" cy="75895"/>
          </a:xfrm>
          <a:prstGeom prst="rect">
            <a:avLst/>
          </a:prstGeom>
        </p:spPr>
      </p:pic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4"/>
          <a:srcRect l="-202" r="-202"/>
          <a:stretch/>
        </p:blipFill>
        <p:spPr>
          <a:xfrm>
            <a:off x="4058107" y="0"/>
            <a:ext cx="8134502" cy="75895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-952805" y="-952805"/>
            <a:ext cx="3810305" cy="3810305"/>
          </a:xfrm>
          <a:prstGeom prst="ellipse">
            <a:avLst/>
          </a:prstGeom>
          <a:solidFill>
            <a:srgbClr val="2A9D8F">
              <a:alpha val="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3"/>
          <p:cNvSpPr/>
          <p:nvPr/>
        </p:nvSpPr>
        <p:spPr>
          <a:xfrm>
            <a:off x="9525305" y="4762195"/>
            <a:ext cx="2857500" cy="2857500"/>
          </a:xfrm>
          <a:prstGeom prst="ellipse">
            <a:avLst/>
          </a:prstGeom>
          <a:solidFill>
            <a:srgbClr val="D62839">
              <a:alpha val="3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8" name="Image 2" descr="preencoded.png"/>
          <p:cNvPicPr>
            <a:picLocks noChangeAspect="1"/>
          </p:cNvPicPr>
          <p:nvPr/>
        </p:nvPicPr>
        <p:blipFill>
          <a:blip r:embed="rId5"/>
          <a:srcRect l="-400" r="-400"/>
          <a:stretch/>
        </p:blipFill>
        <p:spPr>
          <a:xfrm>
            <a:off x="609905" y="571500"/>
            <a:ext cx="57607" cy="571500"/>
          </a:xfrm>
          <a:prstGeom prst="rect">
            <a:avLst/>
          </a:prstGeom>
        </p:spPr>
      </p:pic>
      <p:sp>
        <p:nvSpPr>
          <p:cNvPr id="9" name="Shape 4"/>
          <p:cNvSpPr/>
          <p:nvPr/>
        </p:nvSpPr>
        <p:spPr>
          <a:xfrm>
            <a:off x="609905" y="1524305"/>
            <a:ext cx="2628900" cy="1962302"/>
          </a:xfrm>
          <a:prstGeom prst="roundRect">
            <a:avLst>
              <a:gd name="adj" fmla="val 361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63500" dist="381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5"/>
          <p:cNvSpPr/>
          <p:nvPr/>
        </p:nvSpPr>
        <p:spPr>
          <a:xfrm>
            <a:off x="609905" y="1524305"/>
            <a:ext cx="2628900" cy="47549"/>
          </a:xfrm>
          <a:prstGeom prst="roundRect">
            <a:avLst>
              <a:gd name="adj" fmla="val 149365"/>
            </a:avLst>
          </a:prstGeom>
          <a:solidFill>
            <a:srgbClr val="2A9D8F"/>
          </a:solidFill>
          <a:ln w="12700">
            <a:solidFill>
              <a:srgbClr val="2A9D8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6"/>
          <p:cNvSpPr/>
          <p:nvPr/>
        </p:nvSpPr>
        <p:spPr>
          <a:xfrm>
            <a:off x="3372307" y="1524305"/>
            <a:ext cx="2628900" cy="1962302"/>
          </a:xfrm>
          <a:prstGeom prst="roundRect">
            <a:avLst>
              <a:gd name="adj" fmla="val 361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63500" dist="381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7"/>
          <p:cNvSpPr/>
          <p:nvPr/>
        </p:nvSpPr>
        <p:spPr>
          <a:xfrm>
            <a:off x="3372307" y="1524305"/>
            <a:ext cx="2628900" cy="47549"/>
          </a:xfrm>
          <a:prstGeom prst="roundRect">
            <a:avLst>
              <a:gd name="adj" fmla="val 149365"/>
            </a:avLst>
          </a:prstGeom>
          <a:solidFill>
            <a:srgbClr val="D62839"/>
          </a:solidFill>
          <a:ln w="12700">
            <a:solidFill>
              <a:srgbClr val="D62839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8"/>
          <p:cNvSpPr/>
          <p:nvPr/>
        </p:nvSpPr>
        <p:spPr>
          <a:xfrm>
            <a:off x="6133795" y="1524305"/>
            <a:ext cx="2628900" cy="1962302"/>
          </a:xfrm>
          <a:prstGeom prst="roundRect">
            <a:avLst>
              <a:gd name="adj" fmla="val 361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63500" dist="381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Shape 9"/>
          <p:cNvSpPr/>
          <p:nvPr/>
        </p:nvSpPr>
        <p:spPr>
          <a:xfrm>
            <a:off x="6133795" y="1524305"/>
            <a:ext cx="2628900" cy="47549"/>
          </a:xfrm>
          <a:prstGeom prst="roundRect">
            <a:avLst>
              <a:gd name="adj" fmla="val 149365"/>
            </a:avLst>
          </a:prstGeom>
          <a:solidFill>
            <a:srgbClr val="2A9D8F"/>
          </a:solidFill>
          <a:ln w="12700">
            <a:solidFill>
              <a:srgbClr val="2A9D8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0"/>
          <p:cNvSpPr/>
          <p:nvPr/>
        </p:nvSpPr>
        <p:spPr>
          <a:xfrm>
            <a:off x="8896198" y="1524305"/>
            <a:ext cx="2628900" cy="1962302"/>
          </a:xfrm>
          <a:prstGeom prst="roundRect">
            <a:avLst>
              <a:gd name="adj" fmla="val 361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63500" dist="381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1"/>
          <p:cNvSpPr/>
          <p:nvPr/>
        </p:nvSpPr>
        <p:spPr>
          <a:xfrm>
            <a:off x="8896198" y="1524305"/>
            <a:ext cx="2628900" cy="47549"/>
          </a:xfrm>
          <a:prstGeom prst="roundRect">
            <a:avLst>
              <a:gd name="adj" fmla="val 149365"/>
            </a:avLst>
          </a:prstGeom>
          <a:solidFill>
            <a:srgbClr val="D62839"/>
          </a:solidFill>
          <a:ln w="12700">
            <a:solidFill>
              <a:srgbClr val="D62839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2"/>
          <p:cNvSpPr/>
          <p:nvPr/>
        </p:nvSpPr>
        <p:spPr>
          <a:xfrm>
            <a:off x="609905" y="3619195"/>
            <a:ext cx="10916107" cy="2876702"/>
          </a:xfrm>
          <a:prstGeom prst="roundRect">
            <a:avLst>
              <a:gd name="adj" fmla="val 1684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63500" dist="381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8" name="Image 3" descr="preencoded.png"/>
          <p:cNvPicPr>
            <a:picLocks noChangeAspect="1"/>
          </p:cNvPicPr>
          <p:nvPr/>
        </p:nvPicPr>
        <p:blipFill>
          <a:blip r:embed="rId6"/>
          <a:srcRect t="-29" b="-29"/>
          <a:stretch/>
        </p:blipFill>
        <p:spPr>
          <a:xfrm>
            <a:off x="609905" y="3619195"/>
            <a:ext cx="10896905" cy="495605"/>
          </a:xfrm>
          <a:prstGeom prst="rect">
            <a:avLst/>
          </a:prstGeom>
        </p:spPr>
      </p:pic>
      <p:sp>
        <p:nvSpPr>
          <p:cNvPr id="19" name="Shape 13"/>
          <p:cNvSpPr/>
          <p:nvPr/>
        </p:nvSpPr>
        <p:spPr>
          <a:xfrm>
            <a:off x="609905" y="4572000"/>
            <a:ext cx="10896905" cy="9144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4"/>
          <p:cNvSpPr/>
          <p:nvPr/>
        </p:nvSpPr>
        <p:spPr>
          <a:xfrm>
            <a:off x="609905" y="4572000"/>
            <a:ext cx="10896905" cy="485546"/>
          </a:xfrm>
          <a:prstGeom prst="rect">
            <a:avLst/>
          </a:prstGeom>
          <a:solidFill>
            <a:srgbClr val="2A9D8F">
              <a:alpha val="2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Shape 15"/>
          <p:cNvSpPr/>
          <p:nvPr/>
        </p:nvSpPr>
        <p:spPr>
          <a:xfrm>
            <a:off x="609905" y="5048402"/>
            <a:ext cx="10896905" cy="9144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16"/>
          <p:cNvSpPr/>
          <p:nvPr/>
        </p:nvSpPr>
        <p:spPr>
          <a:xfrm>
            <a:off x="609905" y="5524805"/>
            <a:ext cx="10896905" cy="9144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Shape 17"/>
          <p:cNvSpPr/>
          <p:nvPr/>
        </p:nvSpPr>
        <p:spPr>
          <a:xfrm>
            <a:off x="609905" y="5524805"/>
            <a:ext cx="10896905" cy="485546"/>
          </a:xfrm>
          <a:prstGeom prst="rect">
            <a:avLst/>
          </a:prstGeom>
          <a:solidFill>
            <a:srgbClr val="2A9D8F">
              <a:alpha val="2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Shape 18"/>
          <p:cNvSpPr/>
          <p:nvPr/>
        </p:nvSpPr>
        <p:spPr>
          <a:xfrm>
            <a:off x="609905" y="6001207"/>
            <a:ext cx="10896905" cy="9144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19"/>
          <p:cNvSpPr txBox="1"/>
          <p:nvPr/>
        </p:nvSpPr>
        <p:spPr>
          <a:xfrm>
            <a:off x="857707" y="466344"/>
            <a:ext cx="10668305" cy="3621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kern="0" spc="38" dirty="0">
                <a:solidFill>
                  <a:srgbClr val="11182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INTRODUCING THE AI-FIRST POD MODEL</a:t>
            </a:r>
            <a:endParaRPr lang="en-US" sz="2700" dirty="0"/>
          </a:p>
        </p:txBody>
      </p:sp>
      <p:sp>
        <p:nvSpPr>
          <p:cNvPr id="26" name="Text 20"/>
          <p:cNvSpPr txBox="1"/>
          <p:nvPr/>
        </p:nvSpPr>
        <p:spPr>
          <a:xfrm>
            <a:off x="857707" y="1009498"/>
            <a:ext cx="1059241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kern="0" spc="75" dirty="0">
                <a:solidFill>
                  <a:srgbClr val="2A9D8F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A Managed, Governed Engineering Unit - Not Just Staffing With A Wrapper.</a:t>
            </a:r>
            <a:endParaRPr lang="en-US" sz="1300" dirty="0">
              <a:solidFill>
                <a:srgbClr val="2A9D8F"/>
              </a:solidFill>
            </a:endParaRPr>
          </a:p>
        </p:txBody>
      </p:sp>
      <p:pic>
        <p:nvPicPr>
          <p:cNvPr id="27" name="Image 4" descr="preencoded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823874" y="1772107"/>
            <a:ext cx="333756" cy="267005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800100" y="2190902"/>
            <a:ext cx="23180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>
                <a:solidFill>
                  <a:srgbClr val="1F293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Engineering Team</a:t>
            </a:r>
            <a:endParaRPr lang="en-US" sz="1500"/>
          </a:p>
        </p:txBody>
      </p:sp>
      <p:sp>
        <p:nvSpPr>
          <p:cNvPr id="29" name="Text 22"/>
          <p:cNvSpPr txBox="1"/>
          <p:nvPr/>
        </p:nvSpPr>
        <p:spPr>
          <a:xfrm>
            <a:off x="800100" y="2514600"/>
            <a:ext cx="2305202" cy="562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Dedicated engineers (Java, Python, DevOps) - hired, vetted, and onboarded by J2W.</a:t>
            </a:r>
            <a:endParaRPr lang="en-US" sz="1000"/>
          </a:p>
        </p:txBody>
      </p:sp>
      <p:pic>
        <p:nvPicPr>
          <p:cNvPr id="30" name="Image 5" descr="preencoded.png"/>
          <p:cNvPicPr>
            <a:picLocks noChangeAspect="1"/>
          </p:cNvPicPr>
          <p:nvPr/>
        </p:nvPicPr>
        <p:blipFill>
          <a:blip r:embed="rId8"/>
          <a:srcRect l="-881" r="-881"/>
          <a:stretch/>
        </p:blipFill>
        <p:spPr>
          <a:xfrm>
            <a:off x="3633826" y="1772107"/>
            <a:ext cx="237744" cy="267005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3562502" y="2190902"/>
            <a:ext cx="23180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>
                <a:solidFill>
                  <a:srgbClr val="1F293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Pod Lead</a:t>
            </a:r>
            <a:endParaRPr lang="en-US" sz="1500"/>
          </a:p>
        </p:txBody>
      </p:sp>
      <p:sp>
        <p:nvSpPr>
          <p:cNvPr id="32" name="Text 24"/>
          <p:cNvSpPr txBox="1"/>
          <p:nvPr/>
        </p:nvSpPr>
        <p:spPr>
          <a:xfrm>
            <a:off x="3562502" y="2514600"/>
            <a:ext cx="2305202" cy="562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 J2W program manager who owns delivery, sprint governance, and client alignment.</a:t>
            </a:r>
            <a:endParaRPr lang="en-US" sz="1000"/>
          </a:p>
        </p:txBody>
      </p:sp>
      <p:pic>
        <p:nvPicPr>
          <p:cNvPr id="33" name="Image 6" descr="preencoded.png"/>
          <p:cNvPicPr>
            <a:picLocks noChangeAspect="1"/>
          </p:cNvPicPr>
          <p:nvPr/>
        </p:nvPicPr>
        <p:blipFill>
          <a:blip r:embed="rId9"/>
          <a:srcRect/>
          <a:stretch/>
        </p:blipFill>
        <p:spPr>
          <a:xfrm>
            <a:off x="6381598" y="1772107"/>
            <a:ext cx="267005" cy="267005"/>
          </a:xfrm>
          <a:prstGeom prst="rect">
            <a:avLst/>
          </a:prstGeom>
        </p:spPr>
      </p:pic>
      <p:sp>
        <p:nvSpPr>
          <p:cNvPr id="34" name="Text 25"/>
          <p:cNvSpPr txBox="1"/>
          <p:nvPr/>
        </p:nvSpPr>
        <p:spPr>
          <a:xfrm>
            <a:off x="6324905" y="2190902"/>
            <a:ext cx="265267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>
                <a:solidFill>
                  <a:srgbClr val="1F293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Performance Governance</a:t>
            </a:r>
            <a:endParaRPr lang="en-US" sz="1500"/>
          </a:p>
        </p:txBody>
      </p:sp>
      <p:sp>
        <p:nvSpPr>
          <p:cNvPr id="35" name="Text 26"/>
          <p:cNvSpPr txBox="1"/>
          <p:nvPr/>
        </p:nvSpPr>
        <p:spPr>
          <a:xfrm>
            <a:off x="6324905" y="2514600"/>
            <a:ext cx="2305202" cy="5431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Weekly performance tracking, SLA metrics, velocity monitoring, proactive resolution.</a:t>
            </a:r>
            <a:endParaRPr lang="en-US" sz="1000"/>
          </a:p>
        </p:txBody>
      </p:sp>
      <p:pic>
        <p:nvPicPr>
          <p:cNvPr id="36" name="Image 7" descr="preencoded.png"/>
          <p:cNvPicPr>
            <a:picLocks noChangeAspect="1"/>
          </p:cNvPicPr>
          <p:nvPr/>
        </p:nvPicPr>
        <p:blipFill>
          <a:blip r:embed="rId10"/>
          <a:srcRect/>
          <a:stretch/>
        </p:blipFill>
        <p:spPr>
          <a:xfrm>
            <a:off x="9144000" y="1772107"/>
            <a:ext cx="267005" cy="267005"/>
          </a:xfrm>
          <a:prstGeom prst="rect">
            <a:avLst/>
          </a:prstGeom>
        </p:spPr>
      </p:pic>
      <p:sp>
        <p:nvSpPr>
          <p:cNvPr id="37" name="Text 27"/>
          <p:cNvSpPr txBox="1"/>
          <p:nvPr/>
        </p:nvSpPr>
        <p:spPr>
          <a:xfrm>
            <a:off x="9087307" y="2190902"/>
            <a:ext cx="245150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>
                <a:solidFill>
                  <a:srgbClr val="1F293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AI-First L&amp;D Program</a:t>
            </a:r>
            <a:endParaRPr lang="en-US" sz="1500"/>
          </a:p>
        </p:txBody>
      </p:sp>
      <p:sp>
        <p:nvSpPr>
          <p:cNvPr id="38" name="Text 28"/>
          <p:cNvSpPr txBox="1"/>
          <p:nvPr/>
        </p:nvSpPr>
        <p:spPr>
          <a:xfrm>
            <a:off x="9087307" y="2514600"/>
            <a:ext cx="2305202" cy="562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Continuous AI training - hands-on, contextual upskilling powered by Research Wing.</a:t>
            </a:r>
            <a:endParaRPr lang="en-US" sz="1000"/>
          </a:p>
        </p:txBody>
      </p:sp>
      <p:sp>
        <p:nvSpPr>
          <p:cNvPr id="39" name="Text 29"/>
          <p:cNvSpPr txBox="1"/>
          <p:nvPr/>
        </p:nvSpPr>
        <p:spPr>
          <a:xfrm>
            <a:off x="800100" y="3762756"/>
            <a:ext cx="277429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75">
                <a:solidFill>
                  <a:srgbClr val="4B5563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Dimension</a:t>
            </a:r>
            <a:endParaRPr lang="en-US" sz="1200"/>
          </a:p>
        </p:txBody>
      </p:sp>
      <p:sp>
        <p:nvSpPr>
          <p:cNvPr id="40" name="Text 30"/>
          <p:cNvSpPr txBox="1"/>
          <p:nvPr/>
        </p:nvSpPr>
        <p:spPr>
          <a:xfrm>
            <a:off x="3657600" y="3762756"/>
            <a:ext cx="35433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75">
                <a:solidFill>
                  <a:srgbClr val="4B5563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Traditional Staffing</a:t>
            </a:r>
            <a:endParaRPr lang="en-US" sz="1200"/>
          </a:p>
        </p:txBody>
      </p:sp>
      <p:sp>
        <p:nvSpPr>
          <p:cNvPr id="41" name="Text 31"/>
          <p:cNvSpPr txBox="1"/>
          <p:nvPr/>
        </p:nvSpPr>
        <p:spPr>
          <a:xfrm>
            <a:off x="7276795" y="3762756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75">
                <a:solidFill>
                  <a:srgbClr val="2A9D8F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AI-First Pod</a:t>
            </a:r>
            <a:endParaRPr lang="en-US" sz="1200"/>
          </a:p>
        </p:txBody>
      </p:sp>
      <p:sp>
        <p:nvSpPr>
          <p:cNvPr id="42" name="Text 32"/>
          <p:cNvSpPr txBox="1"/>
          <p:nvPr/>
        </p:nvSpPr>
        <p:spPr>
          <a:xfrm>
            <a:off x="800100" y="4238244"/>
            <a:ext cx="277429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>
                <a:solidFill>
                  <a:srgbClr val="1F293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Governance</a:t>
            </a:r>
            <a:endParaRPr lang="en-US" sz="1200"/>
          </a:p>
        </p:txBody>
      </p:sp>
      <p:sp>
        <p:nvSpPr>
          <p:cNvPr id="43" name="Text 33"/>
          <p:cNvSpPr txBox="1"/>
          <p:nvPr/>
        </p:nvSpPr>
        <p:spPr>
          <a:xfrm>
            <a:off x="3657600" y="4238244"/>
            <a:ext cx="3543300" cy="1719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>
                <a:solidFill>
                  <a:srgbClr val="6B72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Client's burden</a:t>
            </a:r>
            <a:endParaRPr lang="en-US" sz="1100"/>
          </a:p>
        </p:txBody>
      </p:sp>
      <p:pic>
        <p:nvPicPr>
          <p:cNvPr id="44" name="Image 8" descr="preencoded.png"/>
          <p:cNvPicPr>
            <a:picLocks noChangeAspect="1"/>
          </p:cNvPicPr>
          <p:nvPr/>
        </p:nvPicPr>
        <p:blipFill>
          <a:blip r:embed="rId11"/>
          <a:srcRect t="-1100" b="-1100"/>
          <a:stretch/>
        </p:blipFill>
        <p:spPr>
          <a:xfrm>
            <a:off x="7276795" y="4257446"/>
            <a:ext cx="114300" cy="133502"/>
          </a:xfrm>
          <a:prstGeom prst="rect">
            <a:avLst/>
          </a:prstGeom>
        </p:spPr>
      </p:pic>
      <p:sp>
        <p:nvSpPr>
          <p:cNvPr id="45" name="Text 34"/>
          <p:cNvSpPr txBox="1"/>
          <p:nvPr/>
        </p:nvSpPr>
        <p:spPr>
          <a:xfrm>
            <a:off x="7524598" y="4238244"/>
            <a:ext cx="3829507" cy="1719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>
                <a:solidFill>
                  <a:srgbClr val="1F293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J2W-owned</a:t>
            </a:r>
            <a:endParaRPr lang="en-US" sz="1100"/>
          </a:p>
        </p:txBody>
      </p:sp>
      <p:sp>
        <p:nvSpPr>
          <p:cNvPr id="46" name="Text 35"/>
          <p:cNvSpPr txBox="1"/>
          <p:nvPr/>
        </p:nvSpPr>
        <p:spPr>
          <a:xfrm>
            <a:off x="800100" y="4714646"/>
            <a:ext cx="277429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>
                <a:solidFill>
                  <a:srgbClr val="1F293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Upskilling</a:t>
            </a:r>
            <a:endParaRPr lang="en-US" sz="1200"/>
          </a:p>
        </p:txBody>
      </p:sp>
      <p:sp>
        <p:nvSpPr>
          <p:cNvPr id="47" name="Text 36"/>
          <p:cNvSpPr txBox="1"/>
          <p:nvPr/>
        </p:nvSpPr>
        <p:spPr>
          <a:xfrm>
            <a:off x="3657600" y="4714646"/>
            <a:ext cx="3543300" cy="1719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>
                <a:solidFill>
                  <a:srgbClr val="6B72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Engineer's personal initiative</a:t>
            </a:r>
            <a:endParaRPr lang="en-US" sz="1100"/>
          </a:p>
        </p:txBody>
      </p:sp>
      <p:pic>
        <p:nvPicPr>
          <p:cNvPr id="48" name="Image 9" descr="preencoded.png"/>
          <p:cNvPicPr>
            <a:picLocks noChangeAspect="1"/>
          </p:cNvPicPr>
          <p:nvPr/>
        </p:nvPicPr>
        <p:blipFill>
          <a:blip r:embed="rId11"/>
          <a:srcRect t="-1100" b="-1100"/>
          <a:stretch/>
        </p:blipFill>
        <p:spPr>
          <a:xfrm>
            <a:off x="7276795" y="4733849"/>
            <a:ext cx="114300" cy="133502"/>
          </a:xfrm>
          <a:prstGeom prst="rect">
            <a:avLst/>
          </a:prstGeom>
        </p:spPr>
      </p:pic>
      <p:sp>
        <p:nvSpPr>
          <p:cNvPr id="49" name="Text 37"/>
          <p:cNvSpPr txBox="1"/>
          <p:nvPr/>
        </p:nvSpPr>
        <p:spPr>
          <a:xfrm>
            <a:off x="7524598" y="4714646"/>
            <a:ext cx="3829507" cy="1719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>
                <a:solidFill>
                  <a:srgbClr val="1F293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Structured, continuous, AI-focused</a:t>
            </a:r>
            <a:endParaRPr lang="en-US" sz="1100"/>
          </a:p>
        </p:txBody>
      </p:sp>
      <p:sp>
        <p:nvSpPr>
          <p:cNvPr id="50" name="Text 38"/>
          <p:cNvSpPr txBox="1"/>
          <p:nvPr/>
        </p:nvSpPr>
        <p:spPr>
          <a:xfrm>
            <a:off x="800100" y="5191049"/>
            <a:ext cx="277429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>
                <a:solidFill>
                  <a:srgbClr val="1F293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Performance Issues</a:t>
            </a:r>
            <a:endParaRPr lang="en-US" sz="1200"/>
          </a:p>
        </p:txBody>
      </p:sp>
      <p:sp>
        <p:nvSpPr>
          <p:cNvPr id="51" name="Text 39"/>
          <p:cNvSpPr txBox="1"/>
          <p:nvPr/>
        </p:nvSpPr>
        <p:spPr>
          <a:xfrm>
            <a:off x="3657600" y="5191049"/>
            <a:ext cx="3543300" cy="1719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>
                <a:solidFill>
                  <a:srgbClr val="6B72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Escalation after the fact</a:t>
            </a:r>
            <a:endParaRPr lang="en-US" sz="1100"/>
          </a:p>
        </p:txBody>
      </p:sp>
      <p:pic>
        <p:nvPicPr>
          <p:cNvPr id="52" name="Image 10" descr="preencoded.png"/>
          <p:cNvPicPr>
            <a:picLocks noChangeAspect="1"/>
          </p:cNvPicPr>
          <p:nvPr/>
        </p:nvPicPr>
        <p:blipFill>
          <a:blip r:embed="rId11"/>
          <a:srcRect t="-1100" b="-1100"/>
          <a:stretch/>
        </p:blipFill>
        <p:spPr>
          <a:xfrm>
            <a:off x="7276795" y="5210251"/>
            <a:ext cx="114300" cy="133502"/>
          </a:xfrm>
          <a:prstGeom prst="rect">
            <a:avLst/>
          </a:prstGeom>
        </p:spPr>
      </p:pic>
      <p:sp>
        <p:nvSpPr>
          <p:cNvPr id="53" name="Text 40"/>
          <p:cNvSpPr txBox="1"/>
          <p:nvPr/>
        </p:nvSpPr>
        <p:spPr>
          <a:xfrm>
            <a:off x="7524598" y="5191049"/>
            <a:ext cx="3829507" cy="1719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>
                <a:solidFill>
                  <a:srgbClr val="1F293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Proactive monitoring &amp; intervention</a:t>
            </a:r>
            <a:endParaRPr lang="en-US" sz="1100"/>
          </a:p>
        </p:txBody>
      </p:sp>
      <p:sp>
        <p:nvSpPr>
          <p:cNvPr id="54" name="Text 41"/>
          <p:cNvSpPr txBox="1"/>
          <p:nvPr/>
        </p:nvSpPr>
        <p:spPr>
          <a:xfrm>
            <a:off x="800100" y="5667451"/>
            <a:ext cx="277429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>
                <a:solidFill>
                  <a:srgbClr val="1F293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Knowledge Retention</a:t>
            </a:r>
            <a:endParaRPr lang="en-US" sz="1200"/>
          </a:p>
        </p:txBody>
      </p:sp>
      <p:sp>
        <p:nvSpPr>
          <p:cNvPr id="55" name="Text 42"/>
          <p:cNvSpPr txBox="1"/>
          <p:nvPr/>
        </p:nvSpPr>
        <p:spPr>
          <a:xfrm>
            <a:off x="3657600" y="5667451"/>
            <a:ext cx="3543300" cy="1719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>
                <a:solidFill>
                  <a:srgbClr val="6B72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Lost with attrition</a:t>
            </a:r>
            <a:endParaRPr lang="en-US" sz="1100"/>
          </a:p>
        </p:txBody>
      </p:sp>
      <p:pic>
        <p:nvPicPr>
          <p:cNvPr id="56" name="Image 11" descr="preencoded.png"/>
          <p:cNvPicPr>
            <a:picLocks noChangeAspect="1"/>
          </p:cNvPicPr>
          <p:nvPr/>
        </p:nvPicPr>
        <p:blipFill>
          <a:blip r:embed="rId11"/>
          <a:srcRect t="-1100" b="-1100"/>
          <a:stretch/>
        </p:blipFill>
        <p:spPr>
          <a:xfrm>
            <a:off x="7276795" y="5686654"/>
            <a:ext cx="114300" cy="133502"/>
          </a:xfrm>
          <a:prstGeom prst="rect">
            <a:avLst/>
          </a:prstGeom>
        </p:spPr>
      </p:pic>
      <p:sp>
        <p:nvSpPr>
          <p:cNvPr id="57" name="Text 43"/>
          <p:cNvSpPr txBox="1"/>
          <p:nvPr/>
        </p:nvSpPr>
        <p:spPr>
          <a:xfrm>
            <a:off x="7524598" y="5667451"/>
            <a:ext cx="3829507" cy="1719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>
                <a:solidFill>
                  <a:srgbClr val="1F293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Captured in Knowledge Repository</a:t>
            </a:r>
            <a:endParaRPr lang="en-US" sz="1100"/>
          </a:p>
        </p:txBody>
      </p:sp>
      <p:sp>
        <p:nvSpPr>
          <p:cNvPr id="58" name="Text 44"/>
          <p:cNvSpPr txBox="1"/>
          <p:nvPr/>
        </p:nvSpPr>
        <p:spPr>
          <a:xfrm>
            <a:off x="800100" y="6143854"/>
            <a:ext cx="277429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>
                <a:solidFill>
                  <a:srgbClr val="1F293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AI Readiness</a:t>
            </a:r>
            <a:endParaRPr lang="en-US" sz="1200"/>
          </a:p>
        </p:txBody>
      </p:sp>
      <p:sp>
        <p:nvSpPr>
          <p:cNvPr id="59" name="Text 45"/>
          <p:cNvSpPr txBox="1"/>
          <p:nvPr/>
        </p:nvSpPr>
        <p:spPr>
          <a:xfrm>
            <a:off x="3657600" y="6143854"/>
            <a:ext cx="3543300" cy="1719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>
                <a:solidFill>
                  <a:srgbClr val="6B72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Ad hoc</a:t>
            </a:r>
            <a:endParaRPr lang="en-US" sz="1100"/>
          </a:p>
        </p:txBody>
      </p:sp>
      <p:pic>
        <p:nvPicPr>
          <p:cNvPr id="60" name="Image 12" descr="preencoded.png"/>
          <p:cNvPicPr>
            <a:picLocks noChangeAspect="1"/>
          </p:cNvPicPr>
          <p:nvPr/>
        </p:nvPicPr>
        <p:blipFill>
          <a:blip r:embed="rId12"/>
          <a:srcRect t="-1100" b="-1100"/>
          <a:stretch/>
        </p:blipFill>
        <p:spPr>
          <a:xfrm>
            <a:off x="7276795" y="6163056"/>
            <a:ext cx="114300" cy="133502"/>
          </a:xfrm>
          <a:prstGeom prst="rect">
            <a:avLst/>
          </a:prstGeom>
        </p:spPr>
      </p:pic>
      <p:sp>
        <p:nvSpPr>
          <p:cNvPr id="61" name="Text 46"/>
          <p:cNvSpPr txBox="1"/>
          <p:nvPr/>
        </p:nvSpPr>
        <p:spPr>
          <a:xfrm>
            <a:off x="7524598" y="6143854"/>
            <a:ext cx="3829507" cy="1719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>
                <a:solidFill>
                  <a:srgbClr val="D628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Embedded from Day 1</a:t>
            </a:r>
            <a:endParaRPr lang="en-US" sz="110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rcRect l="-207" r="-207"/>
          <a:stretch/>
        </p:blipFill>
        <p:spPr>
          <a:xfrm>
            <a:off x="0" y="0"/>
            <a:ext cx="4058107" cy="75895"/>
          </a:xfrm>
          <a:prstGeom prst="rect">
            <a:avLst/>
          </a:prstGeom>
        </p:spPr>
      </p:pic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4"/>
          <a:srcRect l="-202" r="-202"/>
          <a:stretch/>
        </p:blipFill>
        <p:spPr>
          <a:xfrm>
            <a:off x="4058107" y="0"/>
            <a:ext cx="8134502" cy="75895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9334195" y="-1429207"/>
            <a:ext cx="4762195" cy="4762195"/>
          </a:xfrm>
          <a:prstGeom prst="ellipse">
            <a:avLst/>
          </a:prstGeom>
          <a:solidFill>
            <a:srgbClr val="2A9D8F">
              <a:alpha val="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7" name="Image 2" descr="preencoded.png"/>
          <p:cNvPicPr>
            <a:picLocks noChangeAspect="1"/>
          </p:cNvPicPr>
          <p:nvPr/>
        </p:nvPicPr>
        <p:blipFill>
          <a:blip r:embed="rId5">
            <a:alphaModFix amt="15000"/>
          </a:blip>
          <a:srcRect/>
          <a:stretch/>
        </p:blipFill>
        <p:spPr>
          <a:xfrm>
            <a:off x="571500" y="1143000"/>
            <a:ext cx="1429207" cy="1429207"/>
          </a:xfrm>
          <a:prstGeom prst="rect">
            <a:avLst/>
          </a:prstGeom>
        </p:spPr>
      </p:pic>
      <p:pic>
        <p:nvPicPr>
          <p:cNvPr id="8" name="Image 3" descr="preencoded.png"/>
          <p:cNvPicPr>
            <a:picLocks noChangeAspect="1"/>
          </p:cNvPicPr>
          <p:nvPr/>
        </p:nvPicPr>
        <p:blipFill>
          <a:blip r:embed="rId6"/>
          <a:srcRect l="-400" r="-400"/>
          <a:stretch/>
        </p:blipFill>
        <p:spPr>
          <a:xfrm>
            <a:off x="609905" y="571500"/>
            <a:ext cx="57607" cy="571500"/>
          </a:xfrm>
          <a:prstGeom prst="rect">
            <a:avLst/>
          </a:prstGeom>
        </p:spPr>
      </p:pic>
      <p:sp>
        <p:nvSpPr>
          <p:cNvPr id="9" name="Shape 3"/>
          <p:cNvSpPr/>
          <p:nvPr/>
        </p:nvSpPr>
        <p:spPr>
          <a:xfrm>
            <a:off x="609905" y="1524305"/>
            <a:ext cx="11039551" cy="1752905"/>
          </a:xfrm>
          <a:prstGeom prst="roundRect">
            <a:avLst>
              <a:gd name="adj" fmla="val 453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blurRad="63500" dist="381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4"/>
          <p:cNvSpPr/>
          <p:nvPr/>
        </p:nvSpPr>
        <p:spPr>
          <a:xfrm>
            <a:off x="609905" y="1524305"/>
            <a:ext cx="57607" cy="1752905"/>
          </a:xfrm>
          <a:prstGeom prst="roundRect">
            <a:avLst>
              <a:gd name="adj" fmla="val 138027"/>
            </a:avLst>
          </a:prstGeom>
          <a:solidFill>
            <a:srgbClr val="2A9D8F"/>
          </a:solidFill>
          <a:ln w="12700">
            <a:solidFill>
              <a:srgbClr val="2A9D8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5"/>
          <p:cNvSpPr/>
          <p:nvPr/>
        </p:nvSpPr>
        <p:spPr>
          <a:xfrm>
            <a:off x="609905" y="3429000"/>
            <a:ext cx="11039551" cy="2305202"/>
          </a:xfrm>
          <a:prstGeom prst="roundRect">
            <a:avLst>
              <a:gd name="adj" fmla="val 2623"/>
            </a:avLst>
          </a:prstGeom>
          <a:solidFill>
            <a:srgbClr val="FFFFFF"/>
          </a:solidFill>
          <a:ln w="12700">
            <a:solidFill>
              <a:srgbClr val="F3F4F6"/>
            </a:solidFill>
            <a:prstDash val="solid"/>
          </a:ln>
          <a:effectLst>
            <a:outerShdw blurRad="63500" dist="381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6"/>
          <p:cNvSpPr/>
          <p:nvPr/>
        </p:nvSpPr>
        <p:spPr>
          <a:xfrm>
            <a:off x="609905" y="3429000"/>
            <a:ext cx="57607" cy="2305202"/>
          </a:xfrm>
          <a:prstGeom prst="roundRect">
            <a:avLst>
              <a:gd name="adj" fmla="val 104946"/>
            </a:avLst>
          </a:prstGeom>
          <a:solidFill>
            <a:srgbClr val="D62839"/>
          </a:solidFill>
          <a:ln w="12700">
            <a:solidFill>
              <a:srgbClr val="D62839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7"/>
          <p:cNvSpPr/>
          <p:nvPr/>
        </p:nvSpPr>
        <p:spPr>
          <a:xfrm>
            <a:off x="609905" y="5905195"/>
            <a:ext cx="10972800" cy="609905"/>
          </a:xfrm>
          <a:prstGeom prst="roundRect">
            <a:avLst>
              <a:gd name="adj" fmla="val 37481"/>
            </a:avLst>
          </a:prstGeom>
          <a:solidFill>
            <a:srgbClr val="2A9D8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101600" dist="38100" dir="16200000" algn="bl" rotWithShape="0">
              <a:srgbClr val="2A9D8F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Text 8"/>
          <p:cNvSpPr txBox="1"/>
          <p:nvPr/>
        </p:nvSpPr>
        <p:spPr>
          <a:xfrm>
            <a:off x="857707" y="428854"/>
            <a:ext cx="10668305" cy="3621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kern="0" spc="38" dirty="0">
                <a:solidFill>
                  <a:srgbClr val="11182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THE J2W AI RESEARCH WING</a:t>
            </a:r>
            <a:endParaRPr lang="en-US" sz="2700" dirty="0"/>
          </a:p>
        </p:txBody>
      </p:sp>
      <p:sp>
        <p:nvSpPr>
          <p:cNvPr id="15" name="Text 9"/>
          <p:cNvSpPr txBox="1"/>
          <p:nvPr/>
        </p:nvSpPr>
        <p:spPr>
          <a:xfrm>
            <a:off x="857707" y="1009498"/>
            <a:ext cx="1059241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kern="0" spc="75" dirty="0">
                <a:solidFill>
                  <a:srgbClr val="2A9D8F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Your Pod's Secret Weapon</a:t>
            </a:r>
            <a:endParaRPr lang="en-US" sz="1300" dirty="0"/>
          </a:p>
        </p:txBody>
      </p:sp>
      <p:sp>
        <p:nvSpPr>
          <p:cNvPr id="16" name="Shape 10"/>
          <p:cNvSpPr/>
          <p:nvPr/>
        </p:nvSpPr>
        <p:spPr>
          <a:xfrm>
            <a:off x="990295" y="2085746"/>
            <a:ext cx="4476902" cy="19202"/>
          </a:xfrm>
          <a:prstGeom prst="rect">
            <a:avLst/>
          </a:prstGeom>
          <a:solidFill>
            <a:srgbClr val="2A9D8F">
              <a:alpha val="20000"/>
            </a:srgbClr>
          </a:solidFill>
          <a:ln w="12700">
            <a:solidFill>
              <a:srgbClr val="2A9D8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1"/>
          <p:cNvSpPr txBox="1"/>
          <p:nvPr/>
        </p:nvSpPr>
        <p:spPr>
          <a:xfrm>
            <a:off x="990295" y="1666951"/>
            <a:ext cx="4562856" cy="343814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>
                <a:solidFill>
                  <a:srgbClr val="1F293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What Is the AI Research Wing?</a:t>
            </a:r>
            <a:endParaRPr lang="en-US" sz="1800"/>
          </a:p>
        </p:txBody>
      </p:sp>
      <p:pic>
        <p:nvPicPr>
          <p:cNvPr id="18" name="Image 4" descr="preencoded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1019556" y="2221992"/>
            <a:ext cx="171907" cy="171907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1314907" y="2190902"/>
            <a:ext cx="9982505" cy="3913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 dedicated team of AI researchers and engineers working on cutting-edge enterprise AI - agentic AI systems, LLM orchestration, model governance, and applied ML</a:t>
            </a:r>
            <a:endParaRPr lang="en-US" sz="1100"/>
          </a:p>
        </p:txBody>
      </p:sp>
      <p:pic>
        <p:nvPicPr>
          <p:cNvPr id="20" name="Image 5" descr="preencoded.png"/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1019556" y="2602382"/>
            <a:ext cx="171907" cy="171907"/>
          </a:xfrm>
          <a:prstGeom prst="rect">
            <a:avLst/>
          </a:prstGeom>
        </p:spPr>
      </p:pic>
      <p:sp>
        <p:nvSpPr>
          <p:cNvPr id="21" name="Text 13"/>
          <p:cNvSpPr txBox="1"/>
          <p:nvPr/>
        </p:nvSpPr>
        <p:spPr>
          <a:xfrm>
            <a:off x="1314907" y="2572207"/>
            <a:ext cx="10592410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Currently building and publishing research on agentic AI architectures, prompt engineering frameworks, and enterprise AI adoption strategies</a:t>
            </a:r>
            <a:endParaRPr lang="en-US" sz="1100"/>
          </a:p>
        </p:txBody>
      </p:sp>
      <p:pic>
        <p:nvPicPr>
          <p:cNvPr id="22" name="Image 6" descr="preencoded.png"/>
          <p:cNvPicPr>
            <a:picLocks noChangeAspect="1"/>
          </p:cNvPicPr>
          <p:nvPr/>
        </p:nvPicPr>
        <p:blipFill>
          <a:blip r:embed="rId9"/>
          <a:srcRect/>
          <a:stretch/>
        </p:blipFill>
        <p:spPr>
          <a:xfrm>
            <a:off x="1019556" y="2983687"/>
            <a:ext cx="171907" cy="171907"/>
          </a:xfrm>
          <a:prstGeom prst="rect">
            <a:avLst/>
          </a:prstGeom>
        </p:spPr>
      </p:pic>
      <p:sp>
        <p:nvSpPr>
          <p:cNvPr id="23" name="Text 14"/>
          <p:cNvSpPr txBox="1"/>
          <p:nvPr/>
        </p:nvSpPr>
        <p:spPr>
          <a:xfrm>
            <a:off x="1314907" y="2952598"/>
            <a:ext cx="10592410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Powers J2W's proprietary platforms: the J2W Agentic Platform, Qualizen (GenAI-assisted quality engineering), and Talk2Data (conversational BI)</a:t>
            </a:r>
            <a:endParaRPr lang="en-US" sz="1100"/>
          </a:p>
        </p:txBody>
      </p:sp>
      <p:sp>
        <p:nvSpPr>
          <p:cNvPr id="24" name="Shape 15"/>
          <p:cNvSpPr/>
          <p:nvPr/>
        </p:nvSpPr>
        <p:spPr>
          <a:xfrm>
            <a:off x="990295" y="3990442"/>
            <a:ext cx="4476902" cy="19202"/>
          </a:xfrm>
          <a:prstGeom prst="rect">
            <a:avLst/>
          </a:prstGeom>
          <a:solidFill>
            <a:srgbClr val="D62839">
              <a:alpha val="20000"/>
            </a:srgbClr>
          </a:solidFill>
          <a:ln w="12700">
            <a:solidFill>
              <a:srgbClr val="D62839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16"/>
          <p:cNvSpPr txBox="1"/>
          <p:nvPr/>
        </p:nvSpPr>
        <p:spPr>
          <a:xfrm>
            <a:off x="990295" y="3571646"/>
            <a:ext cx="4562856" cy="343814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>
                <a:solidFill>
                  <a:srgbClr val="1F293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How Pod Members Benefit</a:t>
            </a:r>
            <a:endParaRPr lang="en-US" sz="1800"/>
          </a:p>
        </p:txBody>
      </p:sp>
      <p:pic>
        <p:nvPicPr>
          <p:cNvPr id="26" name="Image 7" descr="preencoded.png"/>
          <p:cNvPicPr>
            <a:picLocks noChangeAspect="1"/>
          </p:cNvPicPr>
          <p:nvPr/>
        </p:nvPicPr>
        <p:blipFill>
          <a:blip r:embed="rId10"/>
          <a:srcRect l="-1064" r="-1064"/>
          <a:stretch/>
        </p:blipFill>
        <p:spPr>
          <a:xfrm>
            <a:off x="995782" y="4126687"/>
            <a:ext cx="219456" cy="171907"/>
          </a:xfrm>
          <a:prstGeom prst="rect">
            <a:avLst/>
          </a:prstGeom>
        </p:spPr>
      </p:pic>
      <p:sp>
        <p:nvSpPr>
          <p:cNvPr id="27" name="Text 17"/>
          <p:cNvSpPr txBox="1"/>
          <p:nvPr/>
        </p:nvSpPr>
        <p:spPr>
          <a:xfrm>
            <a:off x="1314907" y="4095598"/>
            <a:ext cx="10020910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>
                <a:solidFill>
                  <a:srgbClr val="1118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Weekly AI workshops</a:t>
            </a:r>
            <a:r>
              <a:rPr lang="en-US" sz="110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led by our research team - covering practical, project-applicable AI skills </a:t>
            </a:r>
            <a:endParaRPr lang="en-US" sz="1100"/>
          </a:p>
        </p:txBody>
      </p:sp>
      <p:pic>
        <p:nvPicPr>
          <p:cNvPr id="28" name="Image 8" descr="preencoded.png"/>
          <p:cNvPicPr>
            <a:picLocks noChangeAspect="1"/>
          </p:cNvPicPr>
          <p:nvPr/>
        </p:nvPicPr>
        <p:blipFill>
          <a:blip r:embed="rId11"/>
          <a:srcRect l="-1773" r="-1773"/>
          <a:stretch/>
        </p:blipFill>
        <p:spPr>
          <a:xfrm>
            <a:off x="1037844" y="4507992"/>
            <a:ext cx="133502" cy="171907"/>
          </a:xfrm>
          <a:prstGeom prst="rect">
            <a:avLst/>
          </a:prstGeom>
        </p:spPr>
      </p:pic>
      <p:sp>
        <p:nvSpPr>
          <p:cNvPr id="29" name="Text 18"/>
          <p:cNvSpPr txBox="1"/>
          <p:nvPr/>
        </p:nvSpPr>
        <p:spPr>
          <a:xfrm>
            <a:off x="1314907" y="4476902"/>
            <a:ext cx="10020910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>
                <a:solidFill>
                  <a:srgbClr val="1118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Access to the J2W </a:t>
            </a:r>
            <a:r>
              <a:rPr lang="en-US" sz="1100" b="1" err="1">
                <a:solidFill>
                  <a:srgbClr val="1118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iLAB</a:t>
            </a:r>
            <a:r>
              <a:rPr lang="en-US" sz="110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- Innovation Points program for building PoCs, hackathons, and rapid prototyping </a:t>
            </a:r>
            <a:endParaRPr lang="en-US" sz="1100"/>
          </a:p>
        </p:txBody>
      </p:sp>
      <p:pic>
        <p:nvPicPr>
          <p:cNvPr id="30" name="Image 9" descr="preencoded.png"/>
          <p:cNvPicPr>
            <a:picLocks noChangeAspect="1"/>
          </p:cNvPicPr>
          <p:nvPr/>
        </p:nvPicPr>
        <p:blipFill>
          <a:blip r:embed="rId12"/>
          <a:srcRect l="-1064" r="-1064"/>
          <a:stretch/>
        </p:blipFill>
        <p:spPr>
          <a:xfrm>
            <a:off x="995782" y="4888382"/>
            <a:ext cx="219456" cy="171907"/>
          </a:xfrm>
          <a:prstGeom prst="rect">
            <a:avLst/>
          </a:prstGeom>
        </p:spPr>
      </p:pic>
      <p:sp>
        <p:nvSpPr>
          <p:cNvPr id="31" name="Text 19"/>
          <p:cNvSpPr txBox="1"/>
          <p:nvPr/>
        </p:nvSpPr>
        <p:spPr>
          <a:xfrm>
            <a:off x="1314907" y="4858207"/>
            <a:ext cx="10020910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>
                <a:solidFill>
                  <a:srgbClr val="1118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Contextual AI training</a:t>
            </a:r>
            <a:r>
              <a:rPr lang="en-US" sz="110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- hands-on training tailored to the specific technology stack and domain </a:t>
            </a:r>
            <a:endParaRPr lang="en-US" sz="1100"/>
          </a:p>
        </p:txBody>
      </p:sp>
      <p:pic>
        <p:nvPicPr>
          <p:cNvPr id="32" name="Image 10" descr="preencoded.png"/>
          <p:cNvPicPr>
            <a:picLocks noChangeAspect="1"/>
          </p:cNvPicPr>
          <p:nvPr/>
        </p:nvPicPr>
        <p:blipFill>
          <a:blip r:embed="rId13"/>
          <a:srcRect/>
          <a:stretch/>
        </p:blipFill>
        <p:spPr>
          <a:xfrm>
            <a:off x="1019556" y="5269687"/>
            <a:ext cx="171907" cy="171907"/>
          </a:xfrm>
          <a:prstGeom prst="rect">
            <a:avLst/>
          </a:prstGeom>
        </p:spPr>
      </p:pic>
      <p:sp>
        <p:nvSpPr>
          <p:cNvPr id="33" name="Text 20"/>
          <p:cNvSpPr txBox="1"/>
          <p:nvPr/>
        </p:nvSpPr>
        <p:spPr>
          <a:xfrm>
            <a:off x="1314907" y="5238598"/>
            <a:ext cx="10020910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>
                <a:solidFill>
                  <a:srgbClr val="1118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Benchmarking against global best practices</a:t>
            </a:r>
            <a:r>
              <a:rPr lang="en-US" sz="110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- continuous measurement against industry-leading standards </a:t>
            </a:r>
            <a:endParaRPr lang="en-US" sz="1100"/>
          </a:p>
        </p:txBody>
      </p:sp>
      <p:sp>
        <p:nvSpPr>
          <p:cNvPr id="34" name="Text 21"/>
          <p:cNvSpPr txBox="1"/>
          <p:nvPr/>
        </p:nvSpPr>
        <p:spPr>
          <a:xfrm>
            <a:off x="952805" y="6010351"/>
            <a:ext cx="10287000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The result: Your engineers don't just work - they get better every week. And that compounding improvement is something no staffing model can deliver.</a:t>
            </a:r>
            <a:endParaRPr lang="en-US" sz="140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Shape 4">
            <a:extLst>
              <a:ext uri="{FF2B5EF4-FFF2-40B4-BE49-F238E27FC236}">
                <a16:creationId xmlns:a16="http://schemas.microsoft.com/office/drawing/2014/main" id="{F52B61E2-5F3C-E58A-B761-FA83C301E75F}"/>
              </a:ext>
            </a:extLst>
          </p:cNvPr>
          <p:cNvSpPr/>
          <p:nvPr/>
        </p:nvSpPr>
        <p:spPr>
          <a:xfrm>
            <a:off x="6263640" y="1423648"/>
            <a:ext cx="5230368" cy="620036"/>
          </a:xfrm>
          <a:prstGeom prst="roundRect">
            <a:avLst>
              <a:gd name="adj" fmla="val 16800"/>
            </a:avLst>
          </a:prstGeom>
          <a:solidFill>
            <a:schemeClr val="bg1">
              <a:lumMod val="50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>
              <a:latin typeface="Raleway" pitchFamily="2" charset="0"/>
            </a:endParaRPr>
          </a:p>
        </p:txBody>
      </p:sp>
      <p:sp>
        <p:nvSpPr>
          <p:cNvPr id="42" name="Shape 4">
            <a:extLst>
              <a:ext uri="{FF2B5EF4-FFF2-40B4-BE49-F238E27FC236}">
                <a16:creationId xmlns:a16="http://schemas.microsoft.com/office/drawing/2014/main" id="{2C1D4328-ABF1-7607-3876-D88BB1D0AC07}"/>
              </a:ext>
            </a:extLst>
          </p:cNvPr>
          <p:cNvSpPr/>
          <p:nvPr/>
        </p:nvSpPr>
        <p:spPr>
          <a:xfrm>
            <a:off x="648262" y="1454810"/>
            <a:ext cx="5230368" cy="620036"/>
          </a:xfrm>
          <a:prstGeom prst="roundRect">
            <a:avLst>
              <a:gd name="adj" fmla="val 16800"/>
            </a:avLst>
          </a:prstGeom>
          <a:solidFill>
            <a:srgbClr val="2A9D8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>
              <a:latin typeface="Raleway" pitchFamily="2" charset="0"/>
            </a:endParaRPr>
          </a:p>
        </p:txBody>
      </p:sp>
      <p:sp>
        <p:nvSpPr>
          <p:cNvPr id="2" name="Text 0"/>
          <p:cNvSpPr/>
          <p:nvPr/>
        </p:nvSpPr>
        <p:spPr>
          <a:xfrm>
            <a:off x="822960" y="165506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ts val="2940"/>
              </a:lnSpc>
            </a:pPr>
            <a:r>
              <a:rPr lang="en-US" sz="2800" b="1" dirty="0">
                <a:solidFill>
                  <a:srgbClr val="1B2A4A"/>
                </a:solidFill>
                <a:latin typeface="Oswald" panose="00000500000000000000" pitchFamily="2" charset="0"/>
                <a:ea typeface="Georgia" pitchFamily="34" charset="-122"/>
                <a:cs typeface="Georgia" pitchFamily="34" charset="-120"/>
              </a:rPr>
              <a:t>AI PODS + INTERVIEW-AS-A-SERVICE</a:t>
            </a:r>
            <a:endParaRPr lang="en-US" sz="2800" dirty="0">
              <a:latin typeface="Oswald" panose="00000500000000000000" pitchFamily="2" charset="0"/>
            </a:endParaRPr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545336"/>
            <a:ext cx="310896" cy="31089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353312" y="1426464"/>
            <a:ext cx="4343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500" b="1" kern="0" spc="200" dirty="0">
                <a:solidFill>
                  <a:srgbClr val="FFFFFF"/>
                </a:solidFill>
                <a:latin typeface="Raleway" pitchFamily="2" charset="0"/>
                <a:ea typeface="Calibri" pitchFamily="34" charset="-122"/>
                <a:cs typeface="Calibri" pitchFamily="34" charset="-120"/>
              </a:rPr>
              <a:t>AI PODS</a:t>
            </a:r>
            <a:endParaRPr lang="en-US" sz="1500" dirty="0">
              <a:latin typeface="Raleway" pitchFamily="2" charset="0"/>
            </a:endParaRPr>
          </a:p>
        </p:txBody>
      </p:sp>
      <p:sp>
        <p:nvSpPr>
          <p:cNvPr id="6" name="Shape 3"/>
          <p:cNvSpPr/>
          <p:nvPr/>
        </p:nvSpPr>
        <p:spPr>
          <a:xfrm>
            <a:off x="640080" y="1975104"/>
            <a:ext cx="5257800" cy="2834640"/>
          </a:xfrm>
          <a:prstGeom prst="rect">
            <a:avLst/>
          </a:prstGeom>
          <a:solidFill>
            <a:srgbClr val="F4F6FA"/>
          </a:solidFill>
          <a:ln/>
          <a:effectLst>
            <a:outerShdw blurRad="889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>
              <a:latin typeface="Raleway" pitchFamily="2" charset="0"/>
            </a:endParaRPr>
          </a:p>
        </p:txBody>
      </p:sp>
      <p:sp>
        <p:nvSpPr>
          <p:cNvPr id="7" name="Shape 4"/>
          <p:cNvSpPr/>
          <p:nvPr/>
        </p:nvSpPr>
        <p:spPr>
          <a:xfrm>
            <a:off x="914400" y="2176272"/>
            <a:ext cx="237744" cy="237744"/>
          </a:xfrm>
          <a:prstGeom prst="ellipse">
            <a:avLst/>
          </a:prstGeom>
          <a:solidFill>
            <a:srgbClr val="1A9E8F"/>
          </a:solidFill>
          <a:ln/>
        </p:spPr>
        <p:txBody>
          <a:bodyPr/>
          <a:lstStyle/>
          <a:p>
            <a:endParaRPr lang="en-IN">
              <a:latin typeface="Raleway" pitchFamily="2" charset="0"/>
            </a:endParaRPr>
          </a:p>
        </p:txBody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6404" y="2208276"/>
            <a:ext cx="173736" cy="173736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280160" y="2112264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ts val="1351"/>
              </a:lnSpc>
            </a:pPr>
            <a:r>
              <a:rPr lang="en-US" sz="1131" b="1" dirty="0">
                <a:solidFill>
                  <a:srgbClr val="1B2A4A"/>
                </a:solidFill>
                <a:latin typeface="Raleway" pitchFamily="2" charset="0"/>
                <a:ea typeface="Calibri" pitchFamily="34" charset="-122"/>
                <a:cs typeface="Calibri" pitchFamily="34" charset="-120"/>
              </a:rPr>
              <a:t>Human + AI blended pods  </a:t>
            </a:r>
            <a:r>
              <a:rPr lang="en-US" sz="1131" dirty="0">
                <a:solidFill>
                  <a:srgbClr val="5B6B86"/>
                </a:solidFill>
                <a:latin typeface="Raleway" pitchFamily="2" charset="0"/>
                <a:ea typeface="Calibri" pitchFamily="34" charset="-122"/>
                <a:cs typeface="Calibri" pitchFamily="34" charset="-120"/>
              </a:rPr>
              <a:t>Sized to mandate - small teams, larger mandates.</a:t>
            </a:r>
            <a:endParaRPr lang="en-US" sz="1131" dirty="0">
              <a:latin typeface="Raleway" pitchFamily="2" charset="0"/>
            </a:endParaRPr>
          </a:p>
        </p:txBody>
      </p:sp>
      <p:sp>
        <p:nvSpPr>
          <p:cNvPr id="10" name="Shape 6"/>
          <p:cNvSpPr/>
          <p:nvPr/>
        </p:nvSpPr>
        <p:spPr>
          <a:xfrm>
            <a:off x="914400" y="2834640"/>
            <a:ext cx="237744" cy="237744"/>
          </a:xfrm>
          <a:prstGeom prst="ellipse">
            <a:avLst/>
          </a:prstGeom>
          <a:solidFill>
            <a:srgbClr val="1A9E8F"/>
          </a:solidFill>
          <a:ln/>
        </p:spPr>
        <p:txBody>
          <a:bodyPr/>
          <a:lstStyle/>
          <a:p>
            <a:endParaRPr lang="en-IN">
              <a:latin typeface="Raleway" pitchFamily="2" charset="0"/>
            </a:endParaRPr>
          </a:p>
        </p:txBody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6404" y="2866644"/>
            <a:ext cx="173736" cy="173736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1280160" y="2770632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ts val="1351"/>
              </a:lnSpc>
            </a:pPr>
            <a:r>
              <a:rPr lang="en-US" sz="1131" b="1">
                <a:solidFill>
                  <a:srgbClr val="1B2A4A"/>
                </a:solidFill>
                <a:latin typeface="Raleway" pitchFamily="2" charset="0"/>
                <a:ea typeface="Calibri" pitchFamily="34" charset="-122"/>
                <a:cs typeface="Calibri" pitchFamily="34" charset="-120"/>
              </a:rPr>
              <a:t>Embedded tech lead  </a:t>
            </a:r>
            <a:r>
              <a:rPr lang="en-US" sz="1131">
                <a:solidFill>
                  <a:srgbClr val="5B6B86"/>
                </a:solidFill>
                <a:latin typeface="Raleway" pitchFamily="2" charset="0"/>
                <a:ea typeface="Calibri" pitchFamily="34" charset="-122"/>
                <a:cs typeface="Calibri" pitchFamily="34" charset="-120"/>
              </a:rPr>
              <a:t>At J2W's cost; sets velocity, quality bar and KPIs.</a:t>
            </a:r>
            <a:endParaRPr lang="en-US" sz="1131">
              <a:latin typeface="Raleway" pitchFamily="2" charset="0"/>
            </a:endParaRPr>
          </a:p>
        </p:txBody>
      </p:sp>
      <p:sp>
        <p:nvSpPr>
          <p:cNvPr id="13" name="Shape 8"/>
          <p:cNvSpPr/>
          <p:nvPr/>
        </p:nvSpPr>
        <p:spPr>
          <a:xfrm>
            <a:off x="914400" y="3493008"/>
            <a:ext cx="237744" cy="237744"/>
          </a:xfrm>
          <a:prstGeom prst="ellipse">
            <a:avLst/>
          </a:prstGeom>
          <a:solidFill>
            <a:srgbClr val="1A9E8F"/>
          </a:solidFill>
          <a:ln/>
        </p:spPr>
        <p:txBody>
          <a:bodyPr/>
          <a:lstStyle/>
          <a:p>
            <a:endParaRPr lang="en-IN">
              <a:latin typeface="Raleway" pitchFamily="2" charset="0"/>
            </a:endParaRPr>
          </a:p>
        </p:txBody>
      </p:sp>
      <p:pic>
        <p:nvPicPr>
          <p:cNvPr id="14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6404" y="3525012"/>
            <a:ext cx="173736" cy="173736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1280160" y="3429000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ts val="1351"/>
              </a:lnSpc>
            </a:pPr>
            <a:r>
              <a:rPr lang="en-US" sz="1131" b="1">
                <a:solidFill>
                  <a:srgbClr val="1B2A4A"/>
                </a:solidFill>
                <a:latin typeface="Raleway" pitchFamily="2" charset="0"/>
                <a:ea typeface="Calibri" pitchFamily="34" charset="-122"/>
                <a:cs typeface="Calibri" pitchFamily="34" charset="-120"/>
              </a:rPr>
              <a:t>AI tooling from Day 1  </a:t>
            </a:r>
            <a:r>
              <a:rPr lang="en-US" sz="1131">
                <a:solidFill>
                  <a:srgbClr val="5B6B86"/>
                </a:solidFill>
                <a:latin typeface="Raleway" pitchFamily="2" charset="0"/>
                <a:ea typeface="Calibri" pitchFamily="34" charset="-122"/>
                <a:cs typeface="Calibri" pitchFamily="34" charset="-120"/>
              </a:rPr>
              <a:t>Code review, test generation, agentic workflows in CI/CD.</a:t>
            </a:r>
            <a:endParaRPr lang="en-US" sz="1131">
              <a:latin typeface="Raleway" pitchFamily="2" charset="0"/>
            </a:endParaRPr>
          </a:p>
        </p:txBody>
      </p:sp>
      <p:sp>
        <p:nvSpPr>
          <p:cNvPr id="16" name="Shape 10"/>
          <p:cNvSpPr/>
          <p:nvPr/>
        </p:nvSpPr>
        <p:spPr>
          <a:xfrm>
            <a:off x="914400" y="4151376"/>
            <a:ext cx="237744" cy="237744"/>
          </a:xfrm>
          <a:prstGeom prst="ellipse">
            <a:avLst/>
          </a:prstGeom>
          <a:solidFill>
            <a:srgbClr val="1A9E8F"/>
          </a:solidFill>
          <a:ln/>
        </p:spPr>
        <p:txBody>
          <a:bodyPr/>
          <a:lstStyle/>
          <a:p>
            <a:endParaRPr lang="en-IN">
              <a:latin typeface="Raleway" pitchFamily="2" charset="0"/>
            </a:endParaRPr>
          </a:p>
        </p:txBody>
      </p:sp>
      <p:pic>
        <p:nvPicPr>
          <p:cNvPr id="17" name="Image 4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6404" y="4183380"/>
            <a:ext cx="173736" cy="173736"/>
          </a:xfrm>
          <a:prstGeom prst="rect">
            <a:avLst/>
          </a:prstGeom>
        </p:spPr>
      </p:pic>
      <p:sp>
        <p:nvSpPr>
          <p:cNvPr id="18" name="Text 11"/>
          <p:cNvSpPr/>
          <p:nvPr/>
        </p:nvSpPr>
        <p:spPr>
          <a:xfrm>
            <a:off x="1280160" y="4087368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ts val="1351"/>
              </a:lnSpc>
            </a:pPr>
            <a:r>
              <a:rPr lang="en-US" sz="1131" b="1">
                <a:solidFill>
                  <a:srgbClr val="1B2A4A"/>
                </a:solidFill>
                <a:latin typeface="Raleway" pitchFamily="2" charset="0"/>
                <a:ea typeface="Calibri" pitchFamily="34" charset="-122"/>
                <a:cs typeface="Calibri" pitchFamily="34" charset="-120"/>
              </a:rPr>
              <a:t>Pod governance  </a:t>
            </a:r>
            <a:r>
              <a:rPr lang="en-US" sz="1131">
                <a:solidFill>
                  <a:srgbClr val="5B6B86"/>
                </a:solidFill>
                <a:latin typeface="Raleway" pitchFamily="2" charset="0"/>
                <a:ea typeface="Calibri" pitchFamily="34" charset="-122"/>
                <a:cs typeface="Calibri" pitchFamily="34" charset="-120"/>
              </a:rPr>
              <a:t>Weekly scorecards, sprint accountability, 24-hr escalation SLA.</a:t>
            </a:r>
            <a:endParaRPr lang="en-US" sz="1131">
              <a:latin typeface="Raleway" pitchFamily="2" charset="0"/>
            </a:endParaRPr>
          </a:p>
        </p:txBody>
      </p:sp>
      <p:pic>
        <p:nvPicPr>
          <p:cNvPr id="20" name="Image 5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19672" y="1545336"/>
            <a:ext cx="310896" cy="310896"/>
          </a:xfrm>
          <a:prstGeom prst="rect">
            <a:avLst/>
          </a:prstGeom>
        </p:spPr>
      </p:pic>
      <p:sp>
        <p:nvSpPr>
          <p:cNvPr id="21" name="Text 13"/>
          <p:cNvSpPr/>
          <p:nvPr/>
        </p:nvSpPr>
        <p:spPr>
          <a:xfrm>
            <a:off x="6976872" y="1426464"/>
            <a:ext cx="4343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500" b="1" kern="0" spc="200">
                <a:solidFill>
                  <a:srgbClr val="FFFFFF"/>
                </a:solidFill>
                <a:latin typeface="Raleway" pitchFamily="2" charset="0"/>
                <a:ea typeface="Calibri" pitchFamily="34" charset="-122"/>
                <a:cs typeface="Calibri" pitchFamily="34" charset="-120"/>
              </a:rPr>
              <a:t>INTERVIEW-AS-A-SERVICE</a:t>
            </a:r>
            <a:endParaRPr lang="en-US" sz="1500">
              <a:latin typeface="Raleway" pitchFamily="2" charset="0"/>
            </a:endParaRPr>
          </a:p>
        </p:txBody>
      </p:sp>
      <p:sp>
        <p:nvSpPr>
          <p:cNvPr id="22" name="Shape 14"/>
          <p:cNvSpPr/>
          <p:nvPr/>
        </p:nvSpPr>
        <p:spPr>
          <a:xfrm>
            <a:off x="6263640" y="1975104"/>
            <a:ext cx="5257800" cy="2834640"/>
          </a:xfrm>
          <a:prstGeom prst="rect">
            <a:avLst/>
          </a:prstGeom>
          <a:solidFill>
            <a:srgbClr val="F4F6FA"/>
          </a:solidFill>
          <a:ln/>
          <a:effectLst>
            <a:outerShdw blurRad="889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>
              <a:latin typeface="Raleway" pitchFamily="2" charset="0"/>
            </a:endParaRPr>
          </a:p>
        </p:txBody>
      </p:sp>
      <p:sp>
        <p:nvSpPr>
          <p:cNvPr id="23" name="Shape 15"/>
          <p:cNvSpPr/>
          <p:nvPr/>
        </p:nvSpPr>
        <p:spPr>
          <a:xfrm>
            <a:off x="6537960" y="2176272"/>
            <a:ext cx="237744" cy="237744"/>
          </a:xfrm>
          <a:prstGeom prst="ellipse">
            <a:avLst/>
          </a:prstGeom>
          <a:solidFill>
            <a:srgbClr val="E8A33D"/>
          </a:solidFill>
          <a:ln/>
        </p:spPr>
        <p:txBody>
          <a:bodyPr/>
          <a:lstStyle/>
          <a:p>
            <a:endParaRPr lang="en-IN">
              <a:latin typeface="Raleway" pitchFamily="2" charset="0"/>
            </a:endParaRPr>
          </a:p>
        </p:txBody>
      </p:sp>
      <p:pic>
        <p:nvPicPr>
          <p:cNvPr id="24" name="Image 6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69964" y="2208276"/>
            <a:ext cx="173736" cy="173736"/>
          </a:xfrm>
          <a:prstGeom prst="rect">
            <a:avLst/>
          </a:prstGeom>
        </p:spPr>
      </p:pic>
      <p:sp>
        <p:nvSpPr>
          <p:cNvPr id="25" name="Text 16"/>
          <p:cNvSpPr/>
          <p:nvPr/>
        </p:nvSpPr>
        <p:spPr>
          <a:xfrm>
            <a:off x="6903720" y="2112264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ts val="1351"/>
              </a:lnSpc>
            </a:pPr>
            <a:r>
              <a:rPr lang="en-US" sz="1131" b="1">
                <a:solidFill>
                  <a:srgbClr val="1B2A4A"/>
                </a:solidFill>
                <a:latin typeface="Raleway" pitchFamily="2" charset="0"/>
                <a:ea typeface="Calibri" pitchFamily="34" charset="-122"/>
                <a:cs typeface="Calibri" pitchFamily="34" charset="-120"/>
              </a:rPr>
              <a:t>Standing domain-vetted capacity  </a:t>
            </a:r>
            <a:r>
              <a:rPr lang="en-US" sz="1131">
                <a:solidFill>
                  <a:srgbClr val="5B6B86"/>
                </a:solidFill>
                <a:latin typeface="Raleway" pitchFamily="2" charset="0"/>
                <a:ea typeface="Calibri" pitchFamily="34" charset="-122"/>
                <a:cs typeface="Calibri" pitchFamily="34" charset="-120"/>
              </a:rPr>
              <a:t>Interview slots pre-blocked, not scheduled on demand.</a:t>
            </a:r>
            <a:endParaRPr lang="en-US" sz="1131">
              <a:latin typeface="Raleway" pitchFamily="2" charset="0"/>
            </a:endParaRPr>
          </a:p>
        </p:txBody>
      </p:sp>
      <p:sp>
        <p:nvSpPr>
          <p:cNvPr id="26" name="Shape 17"/>
          <p:cNvSpPr/>
          <p:nvPr/>
        </p:nvSpPr>
        <p:spPr>
          <a:xfrm>
            <a:off x="6537960" y="2834640"/>
            <a:ext cx="237744" cy="237744"/>
          </a:xfrm>
          <a:prstGeom prst="ellipse">
            <a:avLst/>
          </a:prstGeom>
          <a:solidFill>
            <a:srgbClr val="E8A33D"/>
          </a:solidFill>
          <a:ln/>
        </p:spPr>
        <p:txBody>
          <a:bodyPr/>
          <a:lstStyle/>
          <a:p>
            <a:endParaRPr lang="en-IN">
              <a:latin typeface="Raleway" pitchFamily="2" charset="0"/>
            </a:endParaRPr>
          </a:p>
        </p:txBody>
      </p:sp>
      <p:pic>
        <p:nvPicPr>
          <p:cNvPr id="27" name="Image 7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69964" y="2866644"/>
            <a:ext cx="173736" cy="173736"/>
          </a:xfrm>
          <a:prstGeom prst="rect">
            <a:avLst/>
          </a:prstGeom>
        </p:spPr>
      </p:pic>
      <p:sp>
        <p:nvSpPr>
          <p:cNvPr id="28" name="Text 18"/>
          <p:cNvSpPr/>
          <p:nvPr/>
        </p:nvSpPr>
        <p:spPr>
          <a:xfrm>
            <a:off x="6903720" y="2770632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ts val="1351"/>
              </a:lnSpc>
            </a:pPr>
            <a:r>
              <a:rPr lang="en-US" sz="1131" b="1">
                <a:solidFill>
                  <a:srgbClr val="1B2A4A"/>
                </a:solidFill>
                <a:latin typeface="Raleway" pitchFamily="2" charset="0"/>
                <a:ea typeface="Calibri" pitchFamily="34" charset="-122"/>
                <a:cs typeface="Calibri" pitchFamily="34" charset="-120"/>
              </a:rPr>
              <a:t>Decision cycles 2–3 wks → 3–5 days  </a:t>
            </a:r>
            <a:r>
              <a:rPr lang="en-US" sz="1131">
                <a:solidFill>
                  <a:srgbClr val="5B6B86"/>
                </a:solidFill>
                <a:latin typeface="Raleway" pitchFamily="2" charset="0"/>
                <a:ea typeface="Calibri" pitchFamily="34" charset="-122"/>
                <a:cs typeface="Calibri" pitchFamily="34" charset="-120"/>
              </a:rPr>
              <a:t>Candidates clear the domain bar before reaching you.</a:t>
            </a:r>
            <a:endParaRPr lang="en-US" sz="1131">
              <a:latin typeface="Raleway" pitchFamily="2" charset="0"/>
            </a:endParaRPr>
          </a:p>
        </p:txBody>
      </p:sp>
      <p:sp>
        <p:nvSpPr>
          <p:cNvPr id="29" name="Shape 19"/>
          <p:cNvSpPr/>
          <p:nvPr/>
        </p:nvSpPr>
        <p:spPr>
          <a:xfrm>
            <a:off x="6537960" y="3493008"/>
            <a:ext cx="237744" cy="237744"/>
          </a:xfrm>
          <a:prstGeom prst="ellipse">
            <a:avLst/>
          </a:prstGeom>
          <a:solidFill>
            <a:srgbClr val="E8A33D"/>
          </a:solidFill>
          <a:ln/>
        </p:spPr>
        <p:txBody>
          <a:bodyPr/>
          <a:lstStyle/>
          <a:p>
            <a:endParaRPr lang="en-IN">
              <a:latin typeface="Raleway" pitchFamily="2" charset="0"/>
            </a:endParaRPr>
          </a:p>
        </p:txBody>
      </p:sp>
      <p:pic>
        <p:nvPicPr>
          <p:cNvPr id="30" name="Image 8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69964" y="3525012"/>
            <a:ext cx="173736" cy="173736"/>
          </a:xfrm>
          <a:prstGeom prst="rect">
            <a:avLst/>
          </a:prstGeom>
        </p:spPr>
      </p:pic>
      <p:sp>
        <p:nvSpPr>
          <p:cNvPr id="31" name="Text 20"/>
          <p:cNvSpPr/>
          <p:nvPr/>
        </p:nvSpPr>
        <p:spPr>
          <a:xfrm>
            <a:off x="6903720" y="3429000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ts val="1351"/>
              </a:lnSpc>
            </a:pPr>
            <a:r>
              <a:rPr lang="en-US" sz="1131" b="1" dirty="0">
                <a:solidFill>
                  <a:srgbClr val="1B2A4A"/>
                </a:solidFill>
                <a:latin typeface="Raleway" pitchFamily="2" charset="0"/>
                <a:ea typeface="Calibri" pitchFamily="34" charset="-122"/>
                <a:cs typeface="Calibri" pitchFamily="34" charset="-120"/>
              </a:rPr>
              <a:t>Manager time for judgment  </a:t>
            </a:r>
            <a:r>
              <a:rPr lang="en-US" sz="1131" dirty="0">
                <a:solidFill>
                  <a:srgbClr val="5B6B86"/>
                </a:solidFill>
                <a:latin typeface="Raleway" pitchFamily="2" charset="0"/>
                <a:ea typeface="Calibri" pitchFamily="34" charset="-122"/>
                <a:cs typeface="Calibri" pitchFamily="34" charset="-120"/>
              </a:rPr>
              <a:t>Not first-pass filtering - experts catch mismatches early.</a:t>
            </a:r>
            <a:endParaRPr lang="en-US" sz="1131" dirty="0">
              <a:latin typeface="Raleway" pitchFamily="2" charset="0"/>
            </a:endParaRPr>
          </a:p>
        </p:txBody>
      </p:sp>
      <p:sp>
        <p:nvSpPr>
          <p:cNvPr id="32" name="Shape 21"/>
          <p:cNvSpPr/>
          <p:nvPr/>
        </p:nvSpPr>
        <p:spPr>
          <a:xfrm>
            <a:off x="6537960" y="4151376"/>
            <a:ext cx="237744" cy="237744"/>
          </a:xfrm>
          <a:prstGeom prst="ellipse">
            <a:avLst/>
          </a:prstGeom>
          <a:solidFill>
            <a:srgbClr val="E8A33D"/>
          </a:solidFill>
          <a:ln/>
        </p:spPr>
        <p:txBody>
          <a:bodyPr/>
          <a:lstStyle/>
          <a:p>
            <a:endParaRPr lang="en-IN">
              <a:latin typeface="Raleway" pitchFamily="2" charset="0"/>
            </a:endParaRPr>
          </a:p>
        </p:txBody>
      </p:sp>
      <p:pic>
        <p:nvPicPr>
          <p:cNvPr id="33" name="Image 9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69964" y="4183380"/>
            <a:ext cx="173736" cy="173736"/>
          </a:xfrm>
          <a:prstGeom prst="rect">
            <a:avLst/>
          </a:prstGeom>
        </p:spPr>
      </p:pic>
      <p:sp>
        <p:nvSpPr>
          <p:cNvPr id="34" name="Text 22"/>
          <p:cNvSpPr/>
          <p:nvPr/>
        </p:nvSpPr>
        <p:spPr>
          <a:xfrm>
            <a:off x="6903720" y="4087368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ts val="1351"/>
              </a:lnSpc>
            </a:pPr>
            <a:r>
              <a:rPr lang="en-US" sz="1131" b="1">
                <a:solidFill>
                  <a:srgbClr val="1B2A4A"/>
                </a:solidFill>
                <a:latin typeface="Raleway" pitchFamily="2" charset="0"/>
                <a:ea typeface="Calibri" pitchFamily="34" charset="-122"/>
                <a:cs typeface="Calibri" pitchFamily="34" charset="-120"/>
              </a:rPr>
              <a:t>Structured, recorded, scored  </a:t>
            </a:r>
            <a:r>
              <a:rPr lang="en-US" sz="1131">
                <a:solidFill>
                  <a:srgbClr val="5B6B86"/>
                </a:solidFill>
                <a:latin typeface="Raleway" pitchFamily="2" charset="0"/>
                <a:ea typeface="Calibri" pitchFamily="34" charset="-122"/>
                <a:cs typeface="Calibri" pitchFamily="34" charset="-120"/>
              </a:rPr>
              <a:t>Rubrics by role &amp; seniority; async review reports.</a:t>
            </a:r>
            <a:endParaRPr lang="en-US" sz="1131">
              <a:latin typeface="Raleway" pitchFamily="2" charset="0"/>
            </a:endParaRPr>
          </a:p>
        </p:txBody>
      </p:sp>
      <p:sp>
        <p:nvSpPr>
          <p:cNvPr id="35" name="Text 23"/>
          <p:cNvSpPr/>
          <p:nvPr/>
        </p:nvSpPr>
        <p:spPr>
          <a:xfrm>
            <a:off x="640080" y="4974336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b="1" dirty="0">
                <a:solidFill>
                  <a:srgbClr val="1A9E8F"/>
                </a:solidFill>
                <a:latin typeface="Raleway" pitchFamily="2" charset="0"/>
                <a:ea typeface="Calibri" pitchFamily="34" charset="-122"/>
                <a:cs typeface="Calibri" pitchFamily="34" charset="-120"/>
              </a:rPr>
              <a:t>Why it matters for Southwest:  </a:t>
            </a:r>
            <a:r>
              <a:rPr lang="en-US" sz="1200" i="1" dirty="0">
                <a:solidFill>
                  <a:srgbClr val="5B6B86"/>
                </a:solidFill>
                <a:latin typeface="Raleway" pitchFamily="2" charset="0"/>
                <a:ea typeface="Calibri" pitchFamily="34" charset="-122"/>
                <a:cs typeface="Calibri" pitchFamily="34" charset="-120"/>
              </a:rPr>
              <a:t>every early hire defines trajectory - only domain-credible candidates reach your leadership.</a:t>
            </a:r>
            <a:endParaRPr lang="en-US" sz="1200" dirty="0">
              <a:latin typeface="Raleway" pitchFamily="2" charset="0"/>
            </a:endParaRPr>
          </a:p>
        </p:txBody>
      </p:sp>
      <p:pic>
        <p:nvPicPr>
          <p:cNvPr id="40" name="Image 2" descr="gen-dedup-06e3d16aa0e9246458a784af17ea21a8.png">
            <a:extLst>
              <a:ext uri="{FF2B5EF4-FFF2-40B4-BE49-F238E27FC236}">
                <a16:creationId xmlns:a16="http://schemas.microsoft.com/office/drawing/2014/main" id="{5DB2953C-7553-710B-6986-48134ED3F54F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-437" r="-437"/>
          <a:stretch/>
        </p:blipFill>
        <p:spPr>
          <a:xfrm>
            <a:off x="609905" y="390449"/>
            <a:ext cx="57607" cy="418795"/>
          </a:xfrm>
          <a:prstGeom prst="rect">
            <a:avLst/>
          </a:prstGeom>
        </p:spPr>
      </p:pic>
      <p:pic>
        <p:nvPicPr>
          <p:cNvPr id="45" name="Image 1" descr="gen-dedup-323228122ff92d2332e711a84ca3b40c.png">
            <a:extLst>
              <a:ext uri="{FF2B5EF4-FFF2-40B4-BE49-F238E27FC236}">
                <a16:creationId xmlns:a16="http://schemas.microsoft.com/office/drawing/2014/main" id="{B93A69ED-69E0-3FB6-1D82-83C984D0EC90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-198" r="-198"/>
          <a:stretch/>
        </p:blipFill>
        <p:spPr>
          <a:xfrm>
            <a:off x="0" y="0"/>
            <a:ext cx="8124444" cy="75895"/>
          </a:xfrm>
          <a:prstGeom prst="rect">
            <a:avLst/>
          </a:prstGeom>
        </p:spPr>
      </p:pic>
      <p:pic>
        <p:nvPicPr>
          <p:cNvPr id="47" name="Image 2" descr="gen-dedup-9663ecf744b06e35d4c2cebaab92a2ea.png">
            <a:extLst>
              <a:ext uri="{FF2B5EF4-FFF2-40B4-BE49-F238E27FC236}">
                <a16:creationId xmlns:a16="http://schemas.microsoft.com/office/drawing/2014/main" id="{277D5448-BEF8-7099-D1CD-B740E6A6C850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l="-202" r="-202"/>
          <a:stretch/>
        </p:blipFill>
        <p:spPr>
          <a:xfrm>
            <a:off x="8124444" y="0"/>
            <a:ext cx="4067251" cy="758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411151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9905695" y="-571500"/>
            <a:ext cx="2857500" cy="2857500"/>
          </a:xfrm>
          <a:prstGeom prst="ellipse">
            <a:avLst/>
          </a:prstGeom>
          <a:solidFill>
            <a:srgbClr val="2A9D8F">
              <a:alpha val="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5" name="Image 0" descr="gen-dedup-4ab2116e971fbb9400d0e99205bd0390.png"/>
          <p:cNvPicPr>
            <a:picLocks noChangeAspect="1"/>
          </p:cNvPicPr>
          <p:nvPr/>
        </p:nvPicPr>
        <p:blipFill>
          <a:blip r:embed="rId3">
            <a:alphaModFix amt="5000"/>
          </a:blip>
          <a:srcRect/>
          <a:stretch/>
        </p:blipFill>
        <p:spPr>
          <a:xfrm>
            <a:off x="-381305" y="4190695"/>
            <a:ext cx="1904695" cy="1904695"/>
          </a:xfrm>
          <a:prstGeom prst="rect">
            <a:avLst/>
          </a:prstGeom>
        </p:spPr>
      </p:pic>
      <p:pic>
        <p:nvPicPr>
          <p:cNvPr id="6" name="Image 1" descr="gen-dedup-323228122ff92d2332e711a84ca3b40c.png"/>
          <p:cNvPicPr>
            <a:picLocks noChangeAspect="1"/>
          </p:cNvPicPr>
          <p:nvPr/>
        </p:nvPicPr>
        <p:blipFill>
          <a:blip r:embed="rId4"/>
          <a:srcRect l="-198" r="-198"/>
          <a:stretch/>
        </p:blipFill>
        <p:spPr>
          <a:xfrm>
            <a:off x="0" y="0"/>
            <a:ext cx="8124444" cy="75895"/>
          </a:xfrm>
          <a:prstGeom prst="rect">
            <a:avLst/>
          </a:prstGeom>
        </p:spPr>
      </p:pic>
      <p:pic>
        <p:nvPicPr>
          <p:cNvPr id="7" name="Image 2" descr="gen-dedup-9663ecf744b06e35d4c2cebaab92a2ea.png"/>
          <p:cNvPicPr>
            <a:picLocks noChangeAspect="1"/>
          </p:cNvPicPr>
          <p:nvPr/>
        </p:nvPicPr>
        <p:blipFill>
          <a:blip r:embed="rId5"/>
          <a:srcRect l="-202" r="-202"/>
          <a:stretch/>
        </p:blipFill>
        <p:spPr>
          <a:xfrm>
            <a:off x="8124444" y="0"/>
            <a:ext cx="4067251" cy="75895"/>
          </a:xfrm>
          <a:prstGeom prst="rect">
            <a:avLst/>
          </a:prstGeom>
        </p:spPr>
      </p:pic>
      <p:pic>
        <p:nvPicPr>
          <p:cNvPr id="8" name="Image 3" descr="gen-dedup-806ddcf4485dfb282961f80f6430c89d.png"/>
          <p:cNvPicPr>
            <a:picLocks noChangeAspect="1"/>
          </p:cNvPicPr>
          <p:nvPr/>
        </p:nvPicPr>
        <p:blipFill>
          <a:blip r:embed="rId6"/>
          <a:srcRect l="-424" r="-424"/>
          <a:stretch/>
        </p:blipFill>
        <p:spPr>
          <a:xfrm>
            <a:off x="609905" y="533095"/>
            <a:ext cx="57607" cy="809244"/>
          </a:xfrm>
          <a:prstGeom prst="rect">
            <a:avLst/>
          </a:prstGeom>
        </p:spPr>
      </p:pic>
      <p:sp>
        <p:nvSpPr>
          <p:cNvPr id="9" name="Shape 3"/>
          <p:cNvSpPr/>
          <p:nvPr/>
        </p:nvSpPr>
        <p:spPr>
          <a:xfrm>
            <a:off x="609905" y="1657807"/>
            <a:ext cx="3543300" cy="1809598"/>
          </a:xfrm>
          <a:prstGeom prst="roundRect">
            <a:avLst>
              <a:gd name="adj" fmla="val 21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4"/>
          <p:cNvSpPr/>
          <p:nvPr/>
        </p:nvSpPr>
        <p:spPr>
          <a:xfrm>
            <a:off x="609905" y="1657807"/>
            <a:ext cx="3543300" cy="38405"/>
          </a:xfrm>
          <a:prstGeom prst="roundRect">
            <a:avLst>
              <a:gd name="adj" fmla="val 99999"/>
            </a:avLst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5"/>
          <p:cNvSpPr/>
          <p:nvPr/>
        </p:nvSpPr>
        <p:spPr>
          <a:xfrm>
            <a:off x="4343400" y="1657807"/>
            <a:ext cx="3543300" cy="1809598"/>
          </a:xfrm>
          <a:prstGeom prst="roundRect">
            <a:avLst>
              <a:gd name="adj" fmla="val 21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6"/>
          <p:cNvSpPr/>
          <p:nvPr/>
        </p:nvSpPr>
        <p:spPr>
          <a:xfrm>
            <a:off x="4343400" y="1657807"/>
            <a:ext cx="3543300" cy="38405"/>
          </a:xfrm>
          <a:prstGeom prst="roundRect">
            <a:avLst>
              <a:gd name="adj" fmla="val 99999"/>
            </a:avLst>
          </a:prstGeom>
          <a:solidFill>
            <a:srgbClr val="2A9D8F"/>
          </a:solidFill>
          <a:ln w="12700">
            <a:solidFill>
              <a:srgbClr val="2A9D8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7"/>
          <p:cNvSpPr/>
          <p:nvPr/>
        </p:nvSpPr>
        <p:spPr>
          <a:xfrm>
            <a:off x="8076895" y="1657807"/>
            <a:ext cx="3543300" cy="1809598"/>
          </a:xfrm>
          <a:prstGeom prst="roundRect">
            <a:avLst>
              <a:gd name="adj" fmla="val 21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8"/>
          <p:cNvSpPr/>
          <p:nvPr/>
        </p:nvSpPr>
        <p:spPr>
          <a:xfrm>
            <a:off x="8076895" y="1657807"/>
            <a:ext cx="3543300" cy="38405"/>
          </a:xfrm>
          <a:prstGeom prst="roundRect">
            <a:avLst>
              <a:gd name="adj" fmla="val 99999"/>
            </a:avLst>
          </a:prstGeom>
          <a:solidFill>
            <a:srgbClr val="D62839"/>
          </a:solidFill>
          <a:ln w="12700">
            <a:solidFill>
              <a:srgbClr val="D62839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9"/>
          <p:cNvSpPr/>
          <p:nvPr/>
        </p:nvSpPr>
        <p:spPr>
          <a:xfrm>
            <a:off x="609905" y="3571646"/>
            <a:ext cx="3543300" cy="1809598"/>
          </a:xfrm>
          <a:prstGeom prst="roundRect">
            <a:avLst>
              <a:gd name="adj" fmla="val 21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0"/>
          <p:cNvSpPr/>
          <p:nvPr/>
        </p:nvSpPr>
        <p:spPr>
          <a:xfrm>
            <a:off x="609905" y="3571646"/>
            <a:ext cx="3543300" cy="38405"/>
          </a:xfrm>
          <a:prstGeom prst="roundRect">
            <a:avLst>
              <a:gd name="adj" fmla="val 99999"/>
            </a:avLst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1"/>
          <p:cNvSpPr/>
          <p:nvPr/>
        </p:nvSpPr>
        <p:spPr>
          <a:xfrm>
            <a:off x="4343400" y="3571646"/>
            <a:ext cx="3543300" cy="1809598"/>
          </a:xfrm>
          <a:prstGeom prst="roundRect">
            <a:avLst>
              <a:gd name="adj" fmla="val 21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2"/>
          <p:cNvSpPr/>
          <p:nvPr/>
        </p:nvSpPr>
        <p:spPr>
          <a:xfrm>
            <a:off x="4343400" y="3571646"/>
            <a:ext cx="3543300" cy="38405"/>
          </a:xfrm>
          <a:prstGeom prst="roundRect">
            <a:avLst>
              <a:gd name="adj" fmla="val 99999"/>
            </a:avLst>
          </a:prstGeom>
          <a:solidFill>
            <a:srgbClr val="2A9D8F"/>
          </a:solidFill>
          <a:ln w="12700">
            <a:solidFill>
              <a:srgbClr val="2A9D8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3"/>
          <p:cNvSpPr/>
          <p:nvPr/>
        </p:nvSpPr>
        <p:spPr>
          <a:xfrm>
            <a:off x="8076895" y="3571646"/>
            <a:ext cx="3543300" cy="1809598"/>
          </a:xfrm>
          <a:prstGeom prst="roundRect">
            <a:avLst>
              <a:gd name="adj" fmla="val 21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4"/>
          <p:cNvSpPr/>
          <p:nvPr/>
        </p:nvSpPr>
        <p:spPr>
          <a:xfrm>
            <a:off x="8076895" y="3571646"/>
            <a:ext cx="3543300" cy="38405"/>
          </a:xfrm>
          <a:prstGeom prst="roundRect">
            <a:avLst>
              <a:gd name="adj" fmla="val 99999"/>
            </a:avLst>
          </a:prstGeom>
          <a:solidFill>
            <a:srgbClr val="D62839"/>
          </a:solidFill>
          <a:ln w="12700">
            <a:solidFill>
              <a:srgbClr val="D62839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5"/>
          <p:cNvSpPr/>
          <p:nvPr/>
        </p:nvSpPr>
        <p:spPr>
          <a:xfrm>
            <a:off x="609905" y="5619902"/>
            <a:ext cx="10972800" cy="761695"/>
          </a:xfrm>
          <a:prstGeom prst="roundRect">
            <a:avLst>
              <a:gd name="adj" fmla="val 5042"/>
            </a:avLst>
          </a:prstGeom>
          <a:solidFill>
            <a:srgbClr val="111827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63500" dist="38100" dir="162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3" name="Text 17"/>
          <p:cNvSpPr txBox="1"/>
          <p:nvPr/>
        </p:nvSpPr>
        <p:spPr>
          <a:xfrm>
            <a:off x="819302" y="514807"/>
            <a:ext cx="8572500" cy="1527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52">
                <a:solidFill>
                  <a:srgbClr val="2A9D8F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AI POD</a:t>
            </a:r>
            <a:endParaRPr lang="en-US" sz="1000"/>
          </a:p>
        </p:txBody>
      </p:sp>
      <p:sp>
        <p:nvSpPr>
          <p:cNvPr id="24" name="Text 18"/>
          <p:cNvSpPr txBox="1"/>
          <p:nvPr/>
        </p:nvSpPr>
        <p:spPr>
          <a:xfrm>
            <a:off x="819302" y="705002"/>
            <a:ext cx="8572500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11182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WHAT WE HOLD OURSELVES ACCOUNTABLE TO</a:t>
            </a:r>
            <a:endParaRPr lang="en-US" sz="2400" dirty="0"/>
          </a:p>
        </p:txBody>
      </p:sp>
      <p:sp>
        <p:nvSpPr>
          <p:cNvPr id="25" name="Text 19"/>
          <p:cNvSpPr txBox="1"/>
          <p:nvPr/>
        </p:nvSpPr>
        <p:spPr>
          <a:xfrm>
            <a:off x="819302" y="1146658"/>
            <a:ext cx="857250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Measured monthly, governed weekly, escalated immediately.</a:t>
            </a:r>
            <a:endParaRPr lang="en-US" sz="1200" b="1" dirty="0"/>
          </a:p>
        </p:txBody>
      </p:sp>
      <p:sp>
        <p:nvSpPr>
          <p:cNvPr id="26" name="Text 20"/>
          <p:cNvSpPr txBox="1"/>
          <p:nvPr/>
        </p:nvSpPr>
        <p:spPr>
          <a:xfrm>
            <a:off x="761695" y="1772107"/>
            <a:ext cx="3200400" cy="381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700" b="1">
                <a:solidFill>
                  <a:srgbClr val="11182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85%+</a:t>
            </a:r>
            <a:endParaRPr lang="en-US" sz="2700"/>
          </a:p>
        </p:txBody>
      </p:sp>
      <p:sp>
        <p:nvSpPr>
          <p:cNvPr id="27" name="Text 21"/>
          <p:cNvSpPr txBox="1"/>
          <p:nvPr/>
        </p:nvSpPr>
        <p:spPr>
          <a:xfrm>
            <a:off x="761695" y="2187245"/>
            <a:ext cx="3200400" cy="1527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 b="1">
                <a:solidFill>
                  <a:srgbClr val="2A9D8F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Sprint Completion</a:t>
            </a:r>
            <a:endParaRPr lang="en-US" sz="1000"/>
          </a:p>
        </p:txBody>
      </p:sp>
      <p:sp>
        <p:nvSpPr>
          <p:cNvPr id="28" name="Text 22"/>
          <p:cNvSpPr txBox="1"/>
          <p:nvPr/>
        </p:nvSpPr>
        <p:spPr>
          <a:xfrm>
            <a:off x="761695" y="2415845"/>
            <a:ext cx="3200400" cy="3529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Tracked weekly. Below 80% triggers immediate escalation to Practice Head.</a:t>
            </a:r>
            <a:endParaRPr lang="en-US" sz="900"/>
          </a:p>
        </p:txBody>
      </p:sp>
      <p:sp>
        <p:nvSpPr>
          <p:cNvPr id="29" name="Text 23"/>
          <p:cNvSpPr txBox="1"/>
          <p:nvPr/>
        </p:nvSpPr>
        <p:spPr>
          <a:xfrm>
            <a:off x="4496105" y="1772107"/>
            <a:ext cx="3200400" cy="381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700" b="1">
                <a:solidFill>
                  <a:srgbClr val="2A9D8F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&lt;=0.5</a:t>
            </a:r>
            <a:endParaRPr lang="en-US" sz="2700"/>
          </a:p>
        </p:txBody>
      </p:sp>
      <p:sp>
        <p:nvSpPr>
          <p:cNvPr id="30" name="Text 24"/>
          <p:cNvSpPr txBox="1"/>
          <p:nvPr/>
        </p:nvSpPr>
        <p:spPr>
          <a:xfrm>
            <a:off x="4496105" y="2187245"/>
            <a:ext cx="3200400" cy="1527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 b="1">
                <a:solidFill>
                  <a:srgbClr val="111827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Defect Density</a:t>
            </a:r>
            <a:endParaRPr lang="en-US" sz="1000"/>
          </a:p>
        </p:txBody>
      </p:sp>
      <p:sp>
        <p:nvSpPr>
          <p:cNvPr id="31" name="Text 25"/>
          <p:cNvSpPr txBox="1"/>
          <p:nvPr/>
        </p:nvSpPr>
        <p:spPr>
          <a:xfrm>
            <a:off x="4496105" y="2415845"/>
            <a:ext cx="3200400" cy="3529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Code quality benchmark (per KLOC). Reviewed at monthly performance scorecard.</a:t>
            </a:r>
            <a:endParaRPr lang="en-US" sz="900"/>
          </a:p>
        </p:txBody>
      </p:sp>
      <p:sp>
        <p:nvSpPr>
          <p:cNvPr id="32" name="Text 26"/>
          <p:cNvSpPr txBox="1"/>
          <p:nvPr/>
        </p:nvSpPr>
        <p:spPr>
          <a:xfrm>
            <a:off x="8229600" y="1772107"/>
            <a:ext cx="3200400" cy="381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700" b="1">
                <a:solidFill>
                  <a:srgbClr val="D62839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10-Day</a:t>
            </a:r>
            <a:endParaRPr lang="en-US" sz="2700"/>
          </a:p>
        </p:txBody>
      </p:sp>
      <p:sp>
        <p:nvSpPr>
          <p:cNvPr id="33" name="Text 27"/>
          <p:cNvSpPr txBox="1"/>
          <p:nvPr/>
        </p:nvSpPr>
        <p:spPr>
          <a:xfrm>
            <a:off x="8229600" y="2187245"/>
            <a:ext cx="3200400" cy="1527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 b="1">
                <a:solidFill>
                  <a:srgbClr val="111827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Onboarding</a:t>
            </a:r>
            <a:endParaRPr lang="en-US" sz="1000"/>
          </a:p>
        </p:txBody>
      </p:sp>
      <p:sp>
        <p:nvSpPr>
          <p:cNvPr id="34" name="Text 28"/>
          <p:cNvSpPr txBox="1"/>
          <p:nvPr/>
        </p:nvSpPr>
        <p:spPr>
          <a:xfrm>
            <a:off x="8229600" y="2415845"/>
            <a:ext cx="3200400" cy="3529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New engineers contributing to sprint by Day 10 via GenAI knowledge repo.</a:t>
            </a:r>
            <a:endParaRPr lang="en-US" sz="900"/>
          </a:p>
        </p:txBody>
      </p:sp>
      <p:sp>
        <p:nvSpPr>
          <p:cNvPr id="35" name="Text 29"/>
          <p:cNvSpPr txBox="1"/>
          <p:nvPr/>
        </p:nvSpPr>
        <p:spPr>
          <a:xfrm>
            <a:off x="761695" y="3685946"/>
            <a:ext cx="3200400" cy="381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700" b="1">
                <a:solidFill>
                  <a:srgbClr val="11182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90-Day</a:t>
            </a:r>
            <a:endParaRPr lang="en-US" sz="2700"/>
          </a:p>
        </p:txBody>
      </p:sp>
      <p:sp>
        <p:nvSpPr>
          <p:cNvPr id="36" name="Text 30"/>
          <p:cNvSpPr txBox="1"/>
          <p:nvPr/>
        </p:nvSpPr>
        <p:spPr>
          <a:xfrm>
            <a:off x="761695" y="4101084"/>
            <a:ext cx="3200400" cy="1527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 b="1">
                <a:solidFill>
                  <a:srgbClr val="2A9D8F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POFU</a:t>
            </a:r>
            <a:endParaRPr lang="en-US" sz="1000"/>
          </a:p>
        </p:txBody>
      </p:sp>
      <p:sp>
        <p:nvSpPr>
          <p:cNvPr id="37" name="Text 31"/>
          <p:cNvSpPr txBox="1"/>
          <p:nvPr/>
        </p:nvSpPr>
        <p:spPr>
          <a:xfrm>
            <a:off x="761695" y="4329684"/>
            <a:ext cx="3200400" cy="3529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Post-Offer Follow-Up management. Milestone touchpoints ensure offer dropout stays in single digits.</a:t>
            </a:r>
            <a:endParaRPr lang="en-US" sz="900"/>
          </a:p>
        </p:txBody>
      </p:sp>
      <p:sp>
        <p:nvSpPr>
          <p:cNvPr id="38" name="Text 32"/>
          <p:cNvSpPr txBox="1"/>
          <p:nvPr/>
        </p:nvSpPr>
        <p:spPr>
          <a:xfrm>
            <a:off x="4496105" y="3685946"/>
            <a:ext cx="3200400" cy="381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700" b="1">
                <a:solidFill>
                  <a:srgbClr val="2A9D8F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&lt;5%</a:t>
            </a:r>
            <a:endParaRPr lang="en-US" sz="2700"/>
          </a:p>
        </p:txBody>
      </p:sp>
      <p:sp>
        <p:nvSpPr>
          <p:cNvPr id="39" name="Text 33"/>
          <p:cNvSpPr txBox="1"/>
          <p:nvPr/>
        </p:nvSpPr>
        <p:spPr>
          <a:xfrm>
            <a:off x="4496105" y="4101084"/>
            <a:ext cx="3200400" cy="1527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 b="1">
                <a:solidFill>
                  <a:srgbClr val="111827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Unplanned Carryover</a:t>
            </a:r>
            <a:endParaRPr lang="en-US" sz="1000"/>
          </a:p>
        </p:txBody>
      </p:sp>
      <p:sp>
        <p:nvSpPr>
          <p:cNvPr id="40" name="Text 34"/>
          <p:cNvSpPr txBox="1"/>
          <p:nvPr/>
        </p:nvSpPr>
        <p:spPr>
          <a:xfrm>
            <a:off x="4496105" y="4329684"/>
            <a:ext cx="3200400" cy="3529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Strict backlog management to ensure sprint commitments are reliably met.</a:t>
            </a:r>
            <a:endParaRPr lang="en-US" sz="900"/>
          </a:p>
        </p:txBody>
      </p:sp>
      <p:sp>
        <p:nvSpPr>
          <p:cNvPr id="41" name="Text 35"/>
          <p:cNvSpPr txBox="1"/>
          <p:nvPr/>
        </p:nvSpPr>
        <p:spPr>
          <a:xfrm>
            <a:off x="8229600" y="3685946"/>
            <a:ext cx="3200400" cy="381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700" b="1">
                <a:solidFill>
                  <a:srgbClr val="D62839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100%</a:t>
            </a:r>
            <a:endParaRPr lang="en-US" sz="2700"/>
          </a:p>
        </p:txBody>
      </p:sp>
      <p:sp>
        <p:nvSpPr>
          <p:cNvPr id="42" name="Text 36"/>
          <p:cNvSpPr txBox="1"/>
          <p:nvPr/>
        </p:nvSpPr>
        <p:spPr>
          <a:xfrm>
            <a:off x="8229600" y="4101084"/>
            <a:ext cx="3200400" cy="1527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 b="1">
                <a:solidFill>
                  <a:srgbClr val="111827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Governance Cadence Adherence</a:t>
            </a:r>
            <a:endParaRPr lang="en-US" sz="1000"/>
          </a:p>
        </p:txBody>
      </p:sp>
      <p:sp>
        <p:nvSpPr>
          <p:cNvPr id="43" name="Text 37"/>
          <p:cNvSpPr txBox="1"/>
          <p:nvPr/>
        </p:nvSpPr>
        <p:spPr>
          <a:xfrm>
            <a:off x="8229600" y="4329684"/>
            <a:ext cx="3200400" cy="3529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Mandatory participation in standups, sprint reviews, and quarterly ROI QBRs.</a:t>
            </a:r>
            <a:endParaRPr lang="en-US" sz="900"/>
          </a:p>
        </p:txBody>
      </p:sp>
      <p:sp>
        <p:nvSpPr>
          <p:cNvPr id="44" name="Text 38"/>
          <p:cNvSpPr txBox="1"/>
          <p:nvPr/>
        </p:nvSpPr>
        <p:spPr>
          <a:xfrm>
            <a:off x="2202790" y="5880506"/>
            <a:ext cx="7791602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300" b="1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These metrics convert pods from staffing cost centers into predictable delivery engines.</a:t>
            </a:r>
            <a:endParaRPr lang="en-US" sz="1300"/>
          </a:p>
        </p:txBody>
      </p:sp>
    </p:spTree>
    <p:extLst>
      <p:ext uri="{BB962C8B-B14F-4D97-AF65-F5344CB8AC3E}">
        <p14:creationId xmlns:p14="http://schemas.microsoft.com/office/powerpoint/2010/main" val="18158700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736FEC-3F04-EFFB-9494-939530E6AC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>
            <a:extLst>
              <a:ext uri="{FF2B5EF4-FFF2-40B4-BE49-F238E27FC236}">
                <a16:creationId xmlns:a16="http://schemas.microsoft.com/office/drawing/2014/main" id="{7C26CA67-5AC5-033E-F7C6-8741632D395F}"/>
              </a:ext>
            </a:extLst>
          </p:cNvPr>
          <p:cNvSpPr/>
          <p:nvPr/>
        </p:nvSpPr>
        <p:spPr>
          <a:xfrm>
            <a:off x="9334195" y="-952805"/>
            <a:ext cx="3810305" cy="3810305"/>
          </a:xfrm>
          <a:prstGeom prst="ellipse">
            <a:avLst/>
          </a:prstGeom>
          <a:solidFill>
            <a:srgbClr val="2A9D8F">
              <a:alpha val="3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5" name="Image 0" descr="gen-dedup-4ab2116e971fbb9400d0e99205bd0390.png">
            <a:extLst>
              <a:ext uri="{FF2B5EF4-FFF2-40B4-BE49-F238E27FC236}">
                <a16:creationId xmlns:a16="http://schemas.microsoft.com/office/drawing/2014/main" id="{08E93300-66C1-83DC-0D75-3663638B5410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5000"/>
          </a:blip>
          <a:srcRect/>
          <a:stretch/>
        </p:blipFill>
        <p:spPr>
          <a:xfrm>
            <a:off x="10001707" y="5238598"/>
            <a:ext cx="1904695" cy="1904695"/>
          </a:xfrm>
          <a:prstGeom prst="rect">
            <a:avLst/>
          </a:prstGeom>
        </p:spPr>
      </p:pic>
      <p:pic>
        <p:nvPicPr>
          <p:cNvPr id="6" name="Image 1" descr="gen-dedup-323228122ff92d2332e711a84ca3b40c.png">
            <a:extLst>
              <a:ext uri="{FF2B5EF4-FFF2-40B4-BE49-F238E27FC236}">
                <a16:creationId xmlns:a16="http://schemas.microsoft.com/office/drawing/2014/main" id="{F1659A7B-21C5-E18B-E3B3-532B1CAA7859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-198" r="-198"/>
          <a:stretch/>
        </p:blipFill>
        <p:spPr>
          <a:xfrm>
            <a:off x="0" y="0"/>
            <a:ext cx="8124444" cy="75895"/>
          </a:xfrm>
          <a:prstGeom prst="rect">
            <a:avLst/>
          </a:prstGeom>
        </p:spPr>
      </p:pic>
      <p:pic>
        <p:nvPicPr>
          <p:cNvPr id="7" name="Image 2" descr="gen-dedup-9663ecf744b06e35d4c2cebaab92a2ea.png">
            <a:extLst>
              <a:ext uri="{FF2B5EF4-FFF2-40B4-BE49-F238E27FC236}">
                <a16:creationId xmlns:a16="http://schemas.microsoft.com/office/drawing/2014/main" id="{787AB771-F031-FC72-9428-7C4E26C42059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-202" r="-202"/>
          <a:stretch/>
        </p:blipFill>
        <p:spPr>
          <a:xfrm>
            <a:off x="8124444" y="0"/>
            <a:ext cx="4067251" cy="75895"/>
          </a:xfrm>
          <a:prstGeom prst="rect">
            <a:avLst/>
          </a:prstGeom>
        </p:spPr>
      </p:pic>
      <p:sp>
        <p:nvSpPr>
          <p:cNvPr id="8" name="Text 3">
            <a:extLst>
              <a:ext uri="{FF2B5EF4-FFF2-40B4-BE49-F238E27FC236}">
                <a16:creationId xmlns:a16="http://schemas.microsoft.com/office/drawing/2014/main" id="{8B088AAD-A287-6BD5-6078-F68C935297D8}"/>
              </a:ext>
            </a:extLst>
          </p:cNvPr>
          <p:cNvSpPr txBox="1"/>
          <p:nvPr/>
        </p:nvSpPr>
        <p:spPr>
          <a:xfrm>
            <a:off x="381305" y="1143000"/>
            <a:ext cx="2382012" cy="152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0" b="1">
                <a:solidFill>
                  <a:srgbClr val="F3F4F6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03</a:t>
            </a:r>
            <a:endParaRPr lang="en-US" sz="12000"/>
          </a:p>
        </p:txBody>
      </p:sp>
      <p:pic>
        <p:nvPicPr>
          <p:cNvPr id="11" name="Image 3" descr="gen-dedup-90395934058aa4b7c1bff00d7e70c0a4.png">
            <a:extLst>
              <a:ext uri="{FF2B5EF4-FFF2-40B4-BE49-F238E27FC236}">
                <a16:creationId xmlns:a16="http://schemas.microsoft.com/office/drawing/2014/main" id="{796B9E8C-F151-F8F0-BEDC-37F1FA0B5F06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-416" r="-416"/>
          <a:stretch/>
        </p:blipFill>
        <p:spPr>
          <a:xfrm>
            <a:off x="1143000" y="2428646"/>
            <a:ext cx="57607" cy="714146"/>
          </a:xfrm>
          <a:prstGeom prst="rect">
            <a:avLst/>
          </a:prstGeom>
        </p:spPr>
      </p:pic>
      <p:sp>
        <p:nvSpPr>
          <p:cNvPr id="12" name="Text 6">
            <a:extLst>
              <a:ext uri="{FF2B5EF4-FFF2-40B4-BE49-F238E27FC236}">
                <a16:creationId xmlns:a16="http://schemas.microsoft.com/office/drawing/2014/main" id="{493B0B9E-4EAF-B775-BD2D-124ECC0CC2B7}"/>
              </a:ext>
            </a:extLst>
          </p:cNvPr>
          <p:cNvSpPr txBox="1"/>
          <p:nvPr/>
        </p:nvSpPr>
        <p:spPr>
          <a:xfrm>
            <a:off x="1429207" y="2333549"/>
            <a:ext cx="9525305" cy="7626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5400" b="1" kern="0" spc="108">
                <a:solidFill>
                  <a:srgbClr val="11182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MANAGED SERVICE SOLUTIONS</a:t>
            </a:r>
          </a:p>
        </p:txBody>
      </p:sp>
      <p:sp>
        <p:nvSpPr>
          <p:cNvPr id="13" name="Text 7">
            <a:extLst>
              <a:ext uri="{FF2B5EF4-FFF2-40B4-BE49-F238E27FC236}">
                <a16:creationId xmlns:a16="http://schemas.microsoft.com/office/drawing/2014/main" id="{D1E95E23-50BF-2585-6188-7EA29589DA1C}"/>
              </a:ext>
            </a:extLst>
          </p:cNvPr>
          <p:cNvSpPr txBox="1"/>
          <p:nvPr/>
        </p:nvSpPr>
        <p:spPr>
          <a:xfrm>
            <a:off x="1429207" y="3333902"/>
            <a:ext cx="9127033" cy="1709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100">
                <a:solidFill>
                  <a:srgbClr val="2A9D8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Outcome-owned delivery across your most critical enterprise stacks - </a:t>
            </a:r>
          </a:p>
          <a:p>
            <a:pPr marL="0" indent="0" algn="l">
              <a:buNone/>
            </a:pPr>
            <a:r>
              <a:rPr lang="en-US" sz="2100">
                <a:solidFill>
                  <a:srgbClr val="2A9D8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we own the SLOs, not just the seats.</a:t>
            </a:r>
          </a:p>
        </p:txBody>
      </p:sp>
      <p:sp>
        <p:nvSpPr>
          <p:cNvPr id="14" name="Text 8">
            <a:extLst>
              <a:ext uri="{FF2B5EF4-FFF2-40B4-BE49-F238E27FC236}">
                <a16:creationId xmlns:a16="http://schemas.microsoft.com/office/drawing/2014/main" id="{1852004E-001E-9611-F364-77841D88018F}"/>
              </a:ext>
            </a:extLst>
          </p:cNvPr>
          <p:cNvSpPr txBox="1"/>
          <p:nvPr/>
        </p:nvSpPr>
        <p:spPr>
          <a:xfrm>
            <a:off x="1429207" y="4143146"/>
            <a:ext cx="9335110" cy="5532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This is not a staffing engagement with a governance wrapper. We bring pre-built accelerators, embedded domain expertise, and a hard 40% improvement threshold - so every engagement moves a metric, not just a milestone.</a:t>
            </a:r>
            <a:endParaRPr lang="en-US" sz="1300"/>
          </a:p>
        </p:txBody>
      </p:sp>
      <p:pic>
        <p:nvPicPr>
          <p:cNvPr id="15" name="Image 4" descr="gen-dedup-818c62191cf4a66fb5704c7f87e3fedf.png">
            <a:extLst>
              <a:ext uri="{FF2B5EF4-FFF2-40B4-BE49-F238E27FC236}">
                <a16:creationId xmlns:a16="http://schemas.microsoft.com/office/drawing/2014/main" id="{E8F83646-DE63-E358-1F6F-53BDCE9C510A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-166" r="-166"/>
          <a:stretch/>
        </p:blipFill>
        <p:spPr>
          <a:xfrm>
            <a:off x="1429207" y="5143500"/>
            <a:ext cx="1933956" cy="418795"/>
          </a:xfrm>
          <a:prstGeom prst="rect">
            <a:avLst/>
          </a:prstGeom>
        </p:spPr>
      </p:pic>
      <p:sp>
        <p:nvSpPr>
          <p:cNvPr id="16" name="Shape 9">
            <a:extLst>
              <a:ext uri="{FF2B5EF4-FFF2-40B4-BE49-F238E27FC236}">
                <a16:creationId xmlns:a16="http://schemas.microsoft.com/office/drawing/2014/main" id="{F371CEAE-1742-792F-2C3C-3EE3A14928CC}"/>
              </a:ext>
            </a:extLst>
          </p:cNvPr>
          <p:cNvSpPr/>
          <p:nvPr/>
        </p:nvSpPr>
        <p:spPr>
          <a:xfrm>
            <a:off x="1429207" y="5143500"/>
            <a:ext cx="1933956" cy="418795"/>
          </a:xfrm>
          <a:prstGeom prst="roundRect">
            <a:avLst>
              <a:gd name="adj" fmla="val 13755"/>
            </a:avLst>
          </a:prstGeom>
          <a:noFill/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0">
            <a:extLst>
              <a:ext uri="{FF2B5EF4-FFF2-40B4-BE49-F238E27FC236}">
                <a16:creationId xmlns:a16="http://schemas.microsoft.com/office/drawing/2014/main" id="{A4DB6210-1039-8E9B-BA17-6D3D6EDB4D79}"/>
              </a:ext>
            </a:extLst>
          </p:cNvPr>
          <p:cNvSpPr txBox="1"/>
          <p:nvPr/>
        </p:nvSpPr>
        <p:spPr>
          <a:xfrm>
            <a:off x="1653845" y="5143500"/>
            <a:ext cx="1495958" cy="4197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90500" tIns="114300" rIns="190500" bIns="114300" rtlCol="0" anchor="ctr"/>
          <a:lstStyle/>
          <a:p>
            <a:pPr marL="0" indent="0" algn="l">
              <a:buNone/>
            </a:pPr>
            <a:r>
              <a:rPr lang="en-US" sz="1100" b="1">
                <a:solidFill>
                  <a:srgbClr val="37415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60+ pre-built solution </a:t>
            </a:r>
          </a:p>
          <a:p>
            <a:pPr marL="0" indent="0" algn="l">
              <a:buNone/>
            </a:pPr>
            <a:r>
              <a:rPr lang="en-US" sz="1100" b="1">
                <a:solidFill>
                  <a:srgbClr val="37415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accelerators</a:t>
            </a:r>
            <a:endParaRPr lang="en-US" sz="1100"/>
          </a:p>
        </p:txBody>
      </p:sp>
      <p:pic>
        <p:nvPicPr>
          <p:cNvPr id="18" name="Image 5" descr="gen-dedup-a287ae7abd092c83dc5f899415c51d00.png">
            <a:extLst>
              <a:ext uri="{FF2B5EF4-FFF2-40B4-BE49-F238E27FC236}">
                <a16:creationId xmlns:a16="http://schemas.microsoft.com/office/drawing/2014/main" id="{B8EBDEE0-CA2B-2977-B786-BF2F31C196AE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t="-16800" b="-16800"/>
          <a:stretch/>
        </p:blipFill>
        <p:spPr>
          <a:xfrm>
            <a:off x="1657807" y="5277002"/>
            <a:ext cx="114300" cy="152705"/>
          </a:xfrm>
          <a:prstGeom prst="rect">
            <a:avLst/>
          </a:prstGeom>
        </p:spPr>
      </p:pic>
      <p:pic>
        <p:nvPicPr>
          <p:cNvPr id="19" name="Image 6" descr="gen-dedup-0363cb9fbb55bfd8aa96459f99cffd70.png">
            <a:extLst>
              <a:ext uri="{FF2B5EF4-FFF2-40B4-BE49-F238E27FC236}">
                <a16:creationId xmlns:a16="http://schemas.microsoft.com/office/drawing/2014/main" id="{70961C1D-5594-5681-CAB0-8FC218329E9A}"/>
              </a:ext>
            </a:extLst>
          </p:cNvPr>
          <p:cNvPicPr>
            <a:picLocks noChangeAspect="1"/>
          </p:cNvPicPr>
          <p:nvPr/>
        </p:nvPicPr>
        <p:blipFill>
          <a:blip r:embed="rId9"/>
          <a:srcRect l="-260" r="-260"/>
          <a:stretch/>
        </p:blipFill>
        <p:spPr>
          <a:xfrm>
            <a:off x="3510382" y="5143500"/>
            <a:ext cx="2430170" cy="418795"/>
          </a:xfrm>
          <a:prstGeom prst="rect">
            <a:avLst/>
          </a:prstGeom>
        </p:spPr>
      </p:pic>
      <p:sp>
        <p:nvSpPr>
          <p:cNvPr id="20" name="Shape 11">
            <a:extLst>
              <a:ext uri="{FF2B5EF4-FFF2-40B4-BE49-F238E27FC236}">
                <a16:creationId xmlns:a16="http://schemas.microsoft.com/office/drawing/2014/main" id="{457818EF-B619-D54A-AD34-A2E5256A6011}"/>
              </a:ext>
            </a:extLst>
          </p:cNvPr>
          <p:cNvSpPr/>
          <p:nvPr/>
        </p:nvSpPr>
        <p:spPr>
          <a:xfrm>
            <a:off x="3510382" y="5143500"/>
            <a:ext cx="2430170" cy="418795"/>
          </a:xfrm>
          <a:prstGeom prst="roundRect">
            <a:avLst>
              <a:gd name="adj" fmla="val 13755"/>
            </a:avLst>
          </a:prstGeom>
          <a:noFill/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2">
            <a:extLst>
              <a:ext uri="{FF2B5EF4-FFF2-40B4-BE49-F238E27FC236}">
                <a16:creationId xmlns:a16="http://schemas.microsoft.com/office/drawing/2014/main" id="{F4429C0E-1902-5910-9BDD-8ABBCB86B1EB}"/>
              </a:ext>
            </a:extLst>
          </p:cNvPr>
          <p:cNvSpPr txBox="1"/>
          <p:nvPr/>
        </p:nvSpPr>
        <p:spPr>
          <a:xfrm>
            <a:off x="3735018" y="5143500"/>
            <a:ext cx="1740567" cy="4197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90500" tIns="114300" rIns="190500" bIns="114300" rtlCol="0" anchor="ctr"/>
          <a:lstStyle/>
          <a:p>
            <a:pPr marL="0" indent="0" algn="l">
              <a:buNone/>
            </a:pPr>
            <a:r>
              <a:rPr lang="en-US" sz="1100" b="1">
                <a:solidFill>
                  <a:srgbClr val="37415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AI &amp; Data, QE, SAP, </a:t>
            </a:r>
          </a:p>
          <a:p>
            <a:pPr marL="0" indent="0" algn="l">
              <a:buNone/>
            </a:pPr>
            <a:r>
              <a:rPr lang="en-US" sz="1100" b="1">
                <a:solidFill>
                  <a:srgbClr val="37415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ServiceNow &amp; industry stacks</a:t>
            </a:r>
            <a:endParaRPr lang="en-US" sz="1100"/>
          </a:p>
        </p:txBody>
      </p:sp>
      <p:pic>
        <p:nvPicPr>
          <p:cNvPr id="22" name="Image 7" descr="gen-dedup-c395ac9c840728d6470a4a8b33662e6e.png">
            <a:extLst>
              <a:ext uri="{FF2B5EF4-FFF2-40B4-BE49-F238E27FC236}">
                <a16:creationId xmlns:a16="http://schemas.microsoft.com/office/drawing/2014/main" id="{04CB1D1A-103F-1623-0D66-FF28427C6C4F}"/>
              </a:ext>
            </a:extLst>
          </p:cNvPr>
          <p:cNvPicPr>
            <a:picLocks noChangeAspect="1"/>
          </p:cNvPicPr>
          <p:nvPr/>
        </p:nvPicPr>
        <p:blipFill>
          <a:blip r:embed="rId10"/>
          <a:srcRect t="-16800" b="-16800"/>
          <a:stretch/>
        </p:blipFill>
        <p:spPr>
          <a:xfrm>
            <a:off x="3738981" y="5277002"/>
            <a:ext cx="179959" cy="152705"/>
          </a:xfrm>
          <a:prstGeom prst="rect">
            <a:avLst/>
          </a:prstGeom>
        </p:spPr>
      </p:pic>
      <p:pic>
        <p:nvPicPr>
          <p:cNvPr id="23" name="Image 8" descr="gen-dedup-fe10f786880821f62e6e2a70ff719369.png">
            <a:extLst>
              <a:ext uri="{FF2B5EF4-FFF2-40B4-BE49-F238E27FC236}">
                <a16:creationId xmlns:a16="http://schemas.microsoft.com/office/drawing/2014/main" id="{5B947CD5-F90B-9E4C-3474-D5534455F9E9}"/>
              </a:ext>
            </a:extLst>
          </p:cNvPr>
          <p:cNvPicPr>
            <a:picLocks noChangeAspect="1"/>
          </p:cNvPicPr>
          <p:nvPr/>
        </p:nvPicPr>
        <p:blipFill>
          <a:blip r:embed="rId11"/>
          <a:srcRect l="-58" r="-58"/>
          <a:stretch/>
        </p:blipFill>
        <p:spPr>
          <a:xfrm>
            <a:off x="6080150" y="5143500"/>
            <a:ext cx="2619756" cy="418795"/>
          </a:xfrm>
          <a:prstGeom prst="rect">
            <a:avLst/>
          </a:prstGeom>
        </p:spPr>
      </p:pic>
      <p:sp>
        <p:nvSpPr>
          <p:cNvPr id="24" name="Shape 13">
            <a:extLst>
              <a:ext uri="{FF2B5EF4-FFF2-40B4-BE49-F238E27FC236}">
                <a16:creationId xmlns:a16="http://schemas.microsoft.com/office/drawing/2014/main" id="{1F6B1423-0E90-CE64-5BD3-9705DDC9D739}"/>
              </a:ext>
            </a:extLst>
          </p:cNvPr>
          <p:cNvSpPr/>
          <p:nvPr/>
        </p:nvSpPr>
        <p:spPr>
          <a:xfrm>
            <a:off x="6080150" y="5143500"/>
            <a:ext cx="2619756" cy="418795"/>
          </a:xfrm>
          <a:prstGeom prst="roundRect">
            <a:avLst>
              <a:gd name="adj" fmla="val 13755"/>
            </a:avLst>
          </a:prstGeom>
          <a:noFill/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14">
            <a:extLst>
              <a:ext uri="{FF2B5EF4-FFF2-40B4-BE49-F238E27FC236}">
                <a16:creationId xmlns:a16="http://schemas.microsoft.com/office/drawing/2014/main" id="{DF7B60D6-7803-AB8C-3D29-B56F3A615CAE}"/>
              </a:ext>
            </a:extLst>
          </p:cNvPr>
          <p:cNvSpPr txBox="1"/>
          <p:nvPr/>
        </p:nvSpPr>
        <p:spPr>
          <a:xfrm>
            <a:off x="6304788" y="5143500"/>
            <a:ext cx="2181758" cy="4197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90500" tIns="114300" rIns="190500" bIns="114300" rtlCol="0" anchor="ctr"/>
          <a:lstStyle/>
          <a:p>
            <a:pPr marL="0" indent="0" algn="l">
              <a:buNone/>
            </a:pPr>
            <a:r>
              <a:rPr lang="en-US" sz="1100" b="1">
                <a:solidFill>
                  <a:srgbClr val="37415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Outcome-bound SLOs - </a:t>
            </a:r>
          </a:p>
          <a:p>
            <a:pPr marL="0" indent="0" algn="l">
              <a:buNone/>
            </a:pPr>
            <a:r>
              <a:rPr lang="en-US" sz="1100" b="1">
                <a:solidFill>
                  <a:srgbClr val="37415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not rigid headcount</a:t>
            </a:r>
            <a:endParaRPr lang="en-US" sz="1100"/>
          </a:p>
        </p:txBody>
      </p:sp>
      <p:pic>
        <p:nvPicPr>
          <p:cNvPr id="26" name="Image 9" descr="gen-dedup-7637b076e607f7218cdb4973c81f38e6.png">
            <a:extLst>
              <a:ext uri="{FF2B5EF4-FFF2-40B4-BE49-F238E27FC236}">
                <a16:creationId xmlns:a16="http://schemas.microsoft.com/office/drawing/2014/main" id="{9A3BB248-7EFA-E322-7669-BBCFE8258323}"/>
              </a:ext>
            </a:extLst>
          </p:cNvPr>
          <p:cNvPicPr>
            <a:picLocks noChangeAspect="1"/>
          </p:cNvPicPr>
          <p:nvPr/>
        </p:nvPicPr>
        <p:blipFill>
          <a:blip r:embed="rId12"/>
          <a:srcRect t="-8450" b="-8450"/>
          <a:stretch/>
        </p:blipFill>
        <p:spPr>
          <a:xfrm>
            <a:off x="6308750" y="5277002"/>
            <a:ext cx="114300" cy="152705"/>
          </a:xfrm>
          <a:prstGeom prst="rect">
            <a:avLst/>
          </a:prstGeom>
        </p:spPr>
      </p:pic>
      <p:pic>
        <p:nvPicPr>
          <p:cNvPr id="27" name="Image 10" descr="gen-dedup-4b04481605890cd5e2948f325621428b.png">
            <a:extLst>
              <a:ext uri="{FF2B5EF4-FFF2-40B4-BE49-F238E27FC236}">
                <a16:creationId xmlns:a16="http://schemas.microsoft.com/office/drawing/2014/main" id="{53B8E985-0D54-46C0-B850-F55F0F43B24D}"/>
              </a:ext>
            </a:extLst>
          </p:cNvPr>
          <p:cNvPicPr>
            <a:picLocks noChangeAspect="1"/>
          </p:cNvPicPr>
          <p:nvPr/>
        </p:nvPicPr>
        <p:blipFill>
          <a:blip r:embed="rId13"/>
          <a:srcRect l="-216" r="-216"/>
          <a:stretch/>
        </p:blipFill>
        <p:spPr>
          <a:xfrm>
            <a:off x="8850782" y="5143500"/>
            <a:ext cx="2562149" cy="418795"/>
          </a:xfrm>
          <a:prstGeom prst="rect">
            <a:avLst/>
          </a:prstGeom>
        </p:spPr>
      </p:pic>
      <p:sp>
        <p:nvSpPr>
          <p:cNvPr id="28" name="Shape 15">
            <a:extLst>
              <a:ext uri="{FF2B5EF4-FFF2-40B4-BE49-F238E27FC236}">
                <a16:creationId xmlns:a16="http://schemas.microsoft.com/office/drawing/2014/main" id="{E9A59155-F9A1-AD80-A65B-F9ECD10439EE}"/>
              </a:ext>
            </a:extLst>
          </p:cNvPr>
          <p:cNvSpPr/>
          <p:nvPr/>
        </p:nvSpPr>
        <p:spPr>
          <a:xfrm>
            <a:off x="8850782" y="5143500"/>
            <a:ext cx="2562149" cy="418795"/>
          </a:xfrm>
          <a:prstGeom prst="roundRect">
            <a:avLst>
              <a:gd name="adj" fmla="val 13755"/>
            </a:avLst>
          </a:prstGeom>
          <a:noFill/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16">
            <a:extLst>
              <a:ext uri="{FF2B5EF4-FFF2-40B4-BE49-F238E27FC236}">
                <a16:creationId xmlns:a16="http://schemas.microsoft.com/office/drawing/2014/main" id="{BE549BED-29A0-2ADD-A972-CA7D06BA8631}"/>
              </a:ext>
            </a:extLst>
          </p:cNvPr>
          <p:cNvSpPr txBox="1"/>
          <p:nvPr/>
        </p:nvSpPr>
        <p:spPr>
          <a:xfrm>
            <a:off x="9075420" y="5143500"/>
            <a:ext cx="2125066" cy="4197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90500" tIns="114300" rIns="190500" bIns="114300" rtlCol="0" anchor="ctr"/>
          <a:lstStyle/>
          <a:p>
            <a:pPr marL="0" indent="0" algn="l">
              <a:buNone/>
            </a:pPr>
            <a:r>
              <a:rPr lang="en-US" sz="1100" b="1">
                <a:solidFill>
                  <a:srgbClr val="37415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40% improvement threshold - </a:t>
            </a:r>
          </a:p>
          <a:p>
            <a:pPr marL="0" indent="0" algn="l">
              <a:buNone/>
            </a:pPr>
            <a:r>
              <a:rPr lang="en-US" sz="1100" b="1">
                <a:solidFill>
                  <a:srgbClr val="37415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our standard</a:t>
            </a:r>
            <a:endParaRPr lang="en-US" sz="1100"/>
          </a:p>
        </p:txBody>
      </p:sp>
      <p:pic>
        <p:nvPicPr>
          <p:cNvPr id="30" name="Image 11" descr="gen-dedup-de4cb59b8211160ed90cebf7a454cebf.png">
            <a:extLst>
              <a:ext uri="{FF2B5EF4-FFF2-40B4-BE49-F238E27FC236}">
                <a16:creationId xmlns:a16="http://schemas.microsoft.com/office/drawing/2014/main" id="{3B400595-3ACA-18C0-3A49-7171B2960ECC}"/>
              </a:ext>
            </a:extLst>
          </p:cNvPr>
          <p:cNvPicPr>
            <a:picLocks noChangeAspect="1"/>
          </p:cNvPicPr>
          <p:nvPr/>
        </p:nvPicPr>
        <p:blipFill>
          <a:blip r:embed="rId14"/>
          <a:srcRect t="-16800" b="-16800"/>
          <a:stretch/>
        </p:blipFill>
        <p:spPr>
          <a:xfrm>
            <a:off x="9079382" y="5277002"/>
            <a:ext cx="114300" cy="152705"/>
          </a:xfrm>
          <a:prstGeom prst="rect">
            <a:avLst/>
          </a:prstGeom>
        </p:spPr>
      </p:pic>
      <p:sp>
        <p:nvSpPr>
          <p:cNvPr id="31" name="Shape 17">
            <a:extLst>
              <a:ext uri="{FF2B5EF4-FFF2-40B4-BE49-F238E27FC236}">
                <a16:creationId xmlns:a16="http://schemas.microsoft.com/office/drawing/2014/main" id="{3EAF0254-0893-8027-5616-80FDE995E4DA}"/>
              </a:ext>
            </a:extLst>
          </p:cNvPr>
          <p:cNvSpPr/>
          <p:nvPr/>
        </p:nvSpPr>
        <p:spPr>
          <a:xfrm>
            <a:off x="1143000" y="6096305"/>
            <a:ext cx="9905695" cy="914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18">
            <a:extLst>
              <a:ext uri="{FF2B5EF4-FFF2-40B4-BE49-F238E27FC236}">
                <a16:creationId xmlns:a16="http://schemas.microsoft.com/office/drawing/2014/main" id="{3166FB85-E816-D8A3-12F5-2636818EBBCD}"/>
              </a:ext>
            </a:extLst>
          </p:cNvPr>
          <p:cNvSpPr txBox="1"/>
          <p:nvPr/>
        </p:nvSpPr>
        <p:spPr>
          <a:xfrm>
            <a:off x="1143000" y="6258154"/>
            <a:ext cx="9906610" cy="1810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24">
                <a:solidFill>
                  <a:srgbClr val="6B72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Turn your most complex enterprise operations into a competitive advantage - with outcomes we sign off on.</a:t>
            </a:r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262589594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4" name="Image 0" descr="gen-dedup-323228122ff92d2332e711a84ca3b40c.png"/>
          <p:cNvPicPr>
            <a:picLocks noChangeAspect="1"/>
          </p:cNvPicPr>
          <p:nvPr/>
        </p:nvPicPr>
        <p:blipFill>
          <a:blip r:embed="rId3"/>
          <a:srcRect l="-202" r="-202"/>
          <a:stretch/>
        </p:blipFill>
        <p:spPr>
          <a:xfrm>
            <a:off x="0" y="0"/>
            <a:ext cx="8127187" cy="75895"/>
          </a:xfrm>
          <a:prstGeom prst="rect">
            <a:avLst/>
          </a:prstGeom>
        </p:spPr>
      </p:pic>
      <p:pic>
        <p:nvPicPr>
          <p:cNvPr id="5" name="Image 1" descr="gen-dedup-64882feb7a832238af77b962fc7a8538.png"/>
          <p:cNvPicPr>
            <a:picLocks noChangeAspect="1"/>
          </p:cNvPicPr>
          <p:nvPr/>
        </p:nvPicPr>
        <p:blipFill>
          <a:blip r:embed="rId4"/>
          <a:srcRect l="-203" r="-203"/>
          <a:stretch/>
        </p:blipFill>
        <p:spPr>
          <a:xfrm>
            <a:off x="8127187" y="0"/>
            <a:ext cx="4063594" cy="75895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9905695" y="-571500"/>
            <a:ext cx="2857500" cy="2857500"/>
          </a:xfrm>
          <a:prstGeom prst="ellipse">
            <a:avLst/>
          </a:prstGeom>
          <a:solidFill>
            <a:srgbClr val="2A9D8F">
              <a:alpha val="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7" name="Image 2" descr="gen-dedup-6da70c599291e253314366a10c094ffa.png"/>
          <p:cNvPicPr>
            <a:picLocks noChangeAspect="1"/>
          </p:cNvPicPr>
          <p:nvPr/>
        </p:nvPicPr>
        <p:blipFill>
          <a:blip r:embed="rId5">
            <a:alphaModFix amt="15000"/>
          </a:blip>
          <a:srcRect/>
          <a:stretch/>
        </p:blipFill>
        <p:spPr>
          <a:xfrm>
            <a:off x="381305" y="1143000"/>
            <a:ext cx="1429207" cy="1429207"/>
          </a:xfrm>
          <a:prstGeom prst="rect">
            <a:avLst/>
          </a:prstGeom>
        </p:spPr>
      </p:pic>
      <p:pic>
        <p:nvPicPr>
          <p:cNvPr id="8" name="Image 3" descr="gen-dedup-c72c85b07e3f177762516dd89615ea68.png"/>
          <p:cNvPicPr>
            <a:picLocks noChangeAspect="1"/>
          </p:cNvPicPr>
          <p:nvPr/>
        </p:nvPicPr>
        <p:blipFill>
          <a:blip r:embed="rId6"/>
          <a:srcRect t="-217" b="-217"/>
          <a:stretch/>
        </p:blipFill>
        <p:spPr>
          <a:xfrm>
            <a:off x="609905" y="544982"/>
            <a:ext cx="75895" cy="476402"/>
          </a:xfrm>
          <a:prstGeom prst="rect">
            <a:avLst/>
          </a:prstGeom>
        </p:spPr>
      </p:pic>
      <p:sp>
        <p:nvSpPr>
          <p:cNvPr id="9" name="Text 3"/>
          <p:cNvSpPr txBox="1"/>
          <p:nvPr/>
        </p:nvSpPr>
        <p:spPr>
          <a:xfrm>
            <a:off x="875995" y="381305"/>
            <a:ext cx="7105802" cy="4672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400" b="1" kern="0" spc="-82" dirty="0">
                <a:solidFill>
                  <a:srgbClr val="11182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Managed Service Solutions</a:t>
            </a:r>
            <a:endParaRPr lang="en-US" sz="2400" dirty="0"/>
          </a:p>
        </p:txBody>
      </p:sp>
      <p:sp>
        <p:nvSpPr>
          <p:cNvPr id="10" name="Text 4"/>
          <p:cNvSpPr txBox="1"/>
          <p:nvPr/>
        </p:nvSpPr>
        <p:spPr>
          <a:xfrm>
            <a:off x="875995" y="898855"/>
            <a:ext cx="7791602" cy="2862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kern="0" spc="75" dirty="0">
                <a:solidFill>
                  <a:srgbClr val="2A9D8F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Outcome-bound Delivery - Not Just A Vendor With A Statement Of Work.</a:t>
            </a:r>
            <a:endParaRPr lang="en-US" sz="1500" dirty="0"/>
          </a:p>
        </p:txBody>
      </p:sp>
      <p:sp>
        <p:nvSpPr>
          <p:cNvPr id="11" name="Shape 5"/>
          <p:cNvSpPr/>
          <p:nvPr/>
        </p:nvSpPr>
        <p:spPr>
          <a:xfrm>
            <a:off x="609905" y="1524305"/>
            <a:ext cx="5524805" cy="1028700"/>
          </a:xfrm>
          <a:prstGeom prst="roundRect">
            <a:avLst>
              <a:gd name="adj" fmla="val 1316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6"/>
          <p:cNvSpPr/>
          <p:nvPr/>
        </p:nvSpPr>
        <p:spPr>
          <a:xfrm>
            <a:off x="609905" y="1524305"/>
            <a:ext cx="38405" cy="1028700"/>
          </a:xfrm>
          <a:prstGeom prst="roundRect">
            <a:avLst>
              <a:gd name="adj" fmla="val 352732"/>
            </a:avLst>
          </a:prstGeom>
          <a:solidFill>
            <a:srgbClr val="2A9D8F"/>
          </a:solidFill>
          <a:ln w="12700">
            <a:solidFill>
              <a:srgbClr val="2A9D8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9"/>
          <p:cNvSpPr/>
          <p:nvPr/>
        </p:nvSpPr>
        <p:spPr>
          <a:xfrm>
            <a:off x="609905" y="2699308"/>
            <a:ext cx="5524805" cy="1028700"/>
          </a:xfrm>
          <a:prstGeom prst="roundRect">
            <a:avLst>
              <a:gd name="adj" fmla="val 1316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0"/>
          <p:cNvSpPr/>
          <p:nvPr/>
        </p:nvSpPr>
        <p:spPr>
          <a:xfrm>
            <a:off x="609905" y="2699308"/>
            <a:ext cx="38405" cy="1028700"/>
          </a:xfrm>
          <a:prstGeom prst="roundRect">
            <a:avLst>
              <a:gd name="adj" fmla="val 352732"/>
            </a:avLst>
          </a:prstGeom>
          <a:solidFill>
            <a:srgbClr val="2A9D8F"/>
          </a:solidFill>
          <a:ln w="12700">
            <a:solidFill>
              <a:srgbClr val="2A9D8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1"/>
          <p:cNvSpPr/>
          <p:nvPr/>
        </p:nvSpPr>
        <p:spPr>
          <a:xfrm>
            <a:off x="609905" y="3823105"/>
            <a:ext cx="5524805" cy="1162202"/>
          </a:xfrm>
          <a:prstGeom prst="roundRect">
            <a:avLst>
              <a:gd name="adj" fmla="val 10318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2"/>
          <p:cNvSpPr/>
          <p:nvPr/>
        </p:nvSpPr>
        <p:spPr>
          <a:xfrm>
            <a:off x="609905" y="3823105"/>
            <a:ext cx="38405" cy="1162202"/>
          </a:xfrm>
          <a:prstGeom prst="roundRect">
            <a:avLst>
              <a:gd name="adj" fmla="val 312254"/>
            </a:avLst>
          </a:prstGeom>
          <a:solidFill>
            <a:srgbClr val="D62839"/>
          </a:solidFill>
          <a:ln w="12700">
            <a:solidFill>
              <a:srgbClr val="D62839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3"/>
          <p:cNvSpPr/>
          <p:nvPr/>
        </p:nvSpPr>
        <p:spPr>
          <a:xfrm>
            <a:off x="6381598" y="1524305"/>
            <a:ext cx="5201107" cy="4572000"/>
          </a:xfrm>
          <a:prstGeom prst="roundRect">
            <a:avLst>
              <a:gd name="adj" fmla="val 667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blurRad="63500" dist="381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4"/>
          <p:cNvSpPr/>
          <p:nvPr/>
        </p:nvSpPr>
        <p:spPr>
          <a:xfrm>
            <a:off x="6391656" y="1533449"/>
            <a:ext cx="5181905" cy="552298"/>
          </a:xfrm>
          <a:prstGeom prst="roundRect">
            <a:avLst>
              <a:gd name="adj" fmla="val 45672"/>
            </a:avLst>
          </a:prstGeom>
          <a:solidFill>
            <a:srgbClr val="1F293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5"/>
          <p:cNvSpPr txBox="1"/>
          <p:nvPr/>
        </p:nvSpPr>
        <p:spPr>
          <a:xfrm>
            <a:off x="6543446" y="1593692"/>
            <a:ext cx="4877410" cy="3246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100">
                <a:solidFill>
                  <a:srgbClr val="FFFFFF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Service Model Comparison</a:t>
            </a:r>
            <a:endParaRPr lang="en-US" sz="1100"/>
          </a:p>
        </p:txBody>
      </p:sp>
      <p:sp>
        <p:nvSpPr>
          <p:cNvPr id="22" name="Shape 16"/>
          <p:cNvSpPr/>
          <p:nvPr/>
        </p:nvSpPr>
        <p:spPr>
          <a:xfrm>
            <a:off x="609905" y="6229807"/>
            <a:ext cx="10972800" cy="437998"/>
          </a:xfrm>
          <a:prstGeom prst="roundRect">
            <a:avLst>
              <a:gd name="adj" fmla="val 36307"/>
            </a:avLst>
          </a:prstGeom>
          <a:solidFill>
            <a:srgbClr val="F8FA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Shape 17"/>
          <p:cNvSpPr/>
          <p:nvPr/>
        </p:nvSpPr>
        <p:spPr>
          <a:xfrm>
            <a:off x="609905" y="6229807"/>
            <a:ext cx="38405" cy="437998"/>
          </a:xfrm>
          <a:prstGeom prst="roundRect">
            <a:avLst>
              <a:gd name="adj" fmla="val 414077"/>
            </a:avLst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18"/>
          <p:cNvSpPr txBox="1"/>
          <p:nvPr/>
        </p:nvSpPr>
        <p:spPr>
          <a:xfrm>
            <a:off x="981151" y="1638605"/>
            <a:ext cx="5000854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400" b="1">
                <a:solidFill>
                  <a:srgbClr val="1F293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Solution Accelerators</a:t>
            </a:r>
            <a:endParaRPr lang="en-US" sz="1400"/>
          </a:p>
        </p:txBody>
      </p:sp>
      <p:sp>
        <p:nvSpPr>
          <p:cNvPr id="25" name="Text 19"/>
          <p:cNvSpPr txBox="1"/>
          <p:nvPr/>
        </p:nvSpPr>
        <p:spPr>
          <a:xfrm>
            <a:off x="761695" y="1950415"/>
            <a:ext cx="5220310" cy="3913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60+ pre-built accelerators across SAP, ServiceNow, Salesforce, and industry stacks - deployed fast, customized to fit, never forced.</a:t>
            </a:r>
            <a:endParaRPr lang="en-US" sz="1100"/>
          </a:p>
        </p:txBody>
      </p:sp>
      <p:pic>
        <p:nvPicPr>
          <p:cNvPr id="26" name="Image 4" descr="gen-dedup-aaaf743a9627457c5a8ecc39eba03c50.png"/>
          <p:cNvPicPr>
            <a:picLocks noChangeAspect="1"/>
          </p:cNvPicPr>
          <p:nvPr/>
        </p:nvPicPr>
        <p:blipFill>
          <a:blip r:embed="rId7"/>
          <a:srcRect t="-13462" b="-13462"/>
          <a:stretch/>
        </p:blipFill>
        <p:spPr>
          <a:xfrm>
            <a:off x="761695" y="1689811"/>
            <a:ext cx="142646" cy="181051"/>
          </a:xfrm>
          <a:prstGeom prst="rect">
            <a:avLst/>
          </a:prstGeom>
        </p:spPr>
      </p:pic>
      <p:sp>
        <p:nvSpPr>
          <p:cNvPr id="30" name="Text 22"/>
          <p:cNvSpPr txBox="1"/>
          <p:nvPr/>
        </p:nvSpPr>
        <p:spPr>
          <a:xfrm>
            <a:off x="981151" y="2813608"/>
            <a:ext cx="5000854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400" b="1">
                <a:solidFill>
                  <a:srgbClr val="1F293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Cross-Function Coverage</a:t>
            </a:r>
            <a:endParaRPr lang="en-US" sz="1400"/>
          </a:p>
        </p:txBody>
      </p:sp>
      <p:sp>
        <p:nvSpPr>
          <p:cNvPr id="31" name="Text 23"/>
          <p:cNvSpPr txBox="1"/>
          <p:nvPr/>
        </p:nvSpPr>
        <p:spPr>
          <a:xfrm>
            <a:off x="761695" y="3125418"/>
            <a:ext cx="5220310" cy="3913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From AI CoE and Data CoE to Digital Engineering, Quality, and Cybersecurity - we operate across the full enterprise function map, not just the easy wins.</a:t>
            </a:r>
            <a:endParaRPr lang="en-US" sz="1100"/>
          </a:p>
        </p:txBody>
      </p:sp>
      <p:pic>
        <p:nvPicPr>
          <p:cNvPr id="32" name="Image 6" descr="gen-dedup-f27d894a2aa16499d7ef79199ddd11dd.png"/>
          <p:cNvPicPr>
            <a:picLocks noChangeAspect="1"/>
          </p:cNvPicPr>
          <p:nvPr/>
        </p:nvPicPr>
        <p:blipFill>
          <a:blip r:embed="rId8"/>
          <a:srcRect t="-21395" b="-21395"/>
          <a:stretch/>
        </p:blipFill>
        <p:spPr>
          <a:xfrm>
            <a:off x="761695" y="2864814"/>
            <a:ext cx="142646" cy="181051"/>
          </a:xfrm>
          <a:prstGeom prst="rect">
            <a:avLst/>
          </a:prstGeom>
        </p:spPr>
      </p:pic>
      <p:sp>
        <p:nvSpPr>
          <p:cNvPr id="33" name="Text 24"/>
          <p:cNvSpPr txBox="1"/>
          <p:nvPr/>
        </p:nvSpPr>
        <p:spPr>
          <a:xfrm>
            <a:off x="981151" y="3937405"/>
            <a:ext cx="5000854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400" b="1">
                <a:solidFill>
                  <a:srgbClr val="1F293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Proven ROI, Not Projections</a:t>
            </a:r>
            <a:endParaRPr lang="en-US" sz="1400"/>
          </a:p>
        </p:txBody>
      </p:sp>
      <p:sp>
        <p:nvSpPr>
          <p:cNvPr id="34" name="Text 25"/>
          <p:cNvSpPr txBox="1"/>
          <p:nvPr/>
        </p:nvSpPr>
        <p:spPr>
          <a:xfrm>
            <a:off x="761695" y="4249216"/>
            <a:ext cx="5220310" cy="5815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Every accelerator comes with a benchmark from prior deployments. 80% reduction in reporting effort. 55% faster month-end close. 65% faster testing cycles. Numbers you inherit, not numbers we promise.</a:t>
            </a:r>
            <a:endParaRPr lang="en-US" sz="1100"/>
          </a:p>
        </p:txBody>
      </p:sp>
      <p:pic>
        <p:nvPicPr>
          <p:cNvPr id="35" name="Image 7" descr="gen-dedup-0d12da8ebc0b959d48949b1e6044d332.png"/>
          <p:cNvPicPr>
            <a:picLocks noChangeAspect="1"/>
          </p:cNvPicPr>
          <p:nvPr/>
        </p:nvPicPr>
        <p:blipFill>
          <a:blip r:embed="rId9"/>
          <a:srcRect t="-13462" b="-13462"/>
          <a:stretch/>
        </p:blipFill>
        <p:spPr>
          <a:xfrm>
            <a:off x="761695" y="3988612"/>
            <a:ext cx="142646" cy="181051"/>
          </a:xfrm>
          <a:prstGeom prst="rect">
            <a:avLst/>
          </a:prstGeom>
        </p:spPr>
      </p:pic>
      <p:sp>
        <p:nvSpPr>
          <p:cNvPr id="36" name="Shape 26"/>
          <p:cNvSpPr/>
          <p:nvPr/>
        </p:nvSpPr>
        <p:spPr>
          <a:xfrm>
            <a:off x="6381598" y="1952244"/>
            <a:ext cx="5201107" cy="599846"/>
          </a:xfrm>
          <a:prstGeom prst="rect">
            <a:avLst/>
          </a:prstGeom>
          <a:solidFill>
            <a:srgbClr val="F1F5F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7" name="Shape 27"/>
          <p:cNvSpPr/>
          <p:nvPr/>
        </p:nvSpPr>
        <p:spPr>
          <a:xfrm>
            <a:off x="6381598" y="2532888"/>
            <a:ext cx="5201107" cy="1920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Text 28"/>
          <p:cNvSpPr txBox="1"/>
          <p:nvPr/>
        </p:nvSpPr>
        <p:spPr>
          <a:xfrm>
            <a:off x="6534302" y="2048256"/>
            <a:ext cx="1228954" cy="3913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>
                <a:solidFill>
                  <a:srgbClr val="4B5563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Dimension</a:t>
            </a:r>
            <a:endParaRPr lang="en-US" sz="1000"/>
          </a:p>
        </p:txBody>
      </p:sp>
      <p:sp>
        <p:nvSpPr>
          <p:cNvPr id="39" name="Text 29"/>
          <p:cNvSpPr txBox="1"/>
          <p:nvPr/>
        </p:nvSpPr>
        <p:spPr>
          <a:xfrm>
            <a:off x="7757770" y="2048256"/>
            <a:ext cx="1714500" cy="3913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>
                <a:solidFill>
                  <a:srgbClr val="D62839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Traditional Managed Services</a:t>
            </a:r>
            <a:endParaRPr lang="en-US" sz="1000"/>
          </a:p>
        </p:txBody>
      </p:sp>
      <p:sp>
        <p:nvSpPr>
          <p:cNvPr id="40" name="Text 30"/>
          <p:cNvSpPr txBox="1"/>
          <p:nvPr/>
        </p:nvSpPr>
        <p:spPr>
          <a:xfrm>
            <a:off x="9471355" y="2048256"/>
            <a:ext cx="1962302" cy="3913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>
                <a:solidFill>
                  <a:srgbClr val="2A9D8F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J2W Managed Solutions</a:t>
            </a:r>
            <a:endParaRPr lang="en-US" sz="1000"/>
          </a:p>
        </p:txBody>
      </p:sp>
      <p:sp>
        <p:nvSpPr>
          <p:cNvPr id="41" name="Shape 31"/>
          <p:cNvSpPr/>
          <p:nvPr/>
        </p:nvSpPr>
        <p:spPr>
          <a:xfrm>
            <a:off x="6381598" y="3134563"/>
            <a:ext cx="5201107" cy="914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Text 32"/>
          <p:cNvSpPr txBox="1"/>
          <p:nvPr/>
        </p:nvSpPr>
        <p:spPr>
          <a:xfrm>
            <a:off x="6534302" y="2667305"/>
            <a:ext cx="1228954" cy="3529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>
                <a:solidFill>
                  <a:srgbClr val="37415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Engagement </a:t>
            </a:r>
          </a:p>
          <a:p>
            <a:pPr marL="0" indent="0" algn="l">
              <a:buNone/>
            </a:pPr>
            <a:r>
              <a:rPr lang="en-US" sz="1000" b="1">
                <a:solidFill>
                  <a:srgbClr val="37415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Model</a:t>
            </a:r>
            <a:endParaRPr lang="en-US" sz="1000"/>
          </a:p>
        </p:txBody>
      </p:sp>
      <p:sp>
        <p:nvSpPr>
          <p:cNvPr id="43" name="Text 33"/>
          <p:cNvSpPr txBox="1"/>
          <p:nvPr/>
        </p:nvSpPr>
        <p:spPr>
          <a:xfrm>
            <a:off x="7757770" y="2667305"/>
            <a:ext cx="1714500" cy="3529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>
                <a:solidFill>
                  <a:srgbClr val="6B72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SOW-based, scope-</a:t>
            </a:r>
          </a:p>
          <a:p>
            <a:pPr marL="0" indent="0" algn="l">
              <a:buNone/>
            </a:pPr>
            <a:r>
              <a:rPr lang="en-US" sz="1000">
                <a:solidFill>
                  <a:srgbClr val="6B72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locked</a:t>
            </a:r>
            <a:endParaRPr lang="en-US" sz="1000"/>
          </a:p>
        </p:txBody>
      </p:sp>
      <p:sp>
        <p:nvSpPr>
          <p:cNvPr id="44" name="Text 34"/>
          <p:cNvSpPr txBox="1"/>
          <p:nvPr/>
        </p:nvSpPr>
        <p:spPr>
          <a:xfrm>
            <a:off x="9471355" y="2667305"/>
            <a:ext cx="1962302" cy="3529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>
                <a:solidFill>
                  <a:srgbClr val="1118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Outcome-bound, SLO-governed</a:t>
            </a:r>
            <a:endParaRPr lang="en-US" sz="1000"/>
          </a:p>
        </p:txBody>
      </p:sp>
      <p:sp>
        <p:nvSpPr>
          <p:cNvPr id="45" name="Shape 35"/>
          <p:cNvSpPr/>
          <p:nvPr/>
        </p:nvSpPr>
        <p:spPr>
          <a:xfrm>
            <a:off x="6381598" y="3143707"/>
            <a:ext cx="5201107" cy="590702"/>
          </a:xfrm>
          <a:prstGeom prst="rect">
            <a:avLst/>
          </a:prstGeom>
          <a:solidFill>
            <a:srgbClr val="2A9D8F">
              <a:alpha val="3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6" name="Shape 36"/>
          <p:cNvSpPr/>
          <p:nvPr/>
        </p:nvSpPr>
        <p:spPr>
          <a:xfrm>
            <a:off x="6381598" y="3725266"/>
            <a:ext cx="5201107" cy="914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" name="Text 37"/>
          <p:cNvSpPr txBox="1"/>
          <p:nvPr/>
        </p:nvSpPr>
        <p:spPr>
          <a:xfrm>
            <a:off x="6534302" y="3258007"/>
            <a:ext cx="1228954" cy="3529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>
                <a:solidFill>
                  <a:srgbClr val="37415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Starting Point</a:t>
            </a:r>
            <a:endParaRPr lang="en-US" sz="1000"/>
          </a:p>
        </p:txBody>
      </p:sp>
      <p:sp>
        <p:nvSpPr>
          <p:cNvPr id="48" name="Text 38"/>
          <p:cNvSpPr txBox="1"/>
          <p:nvPr/>
        </p:nvSpPr>
        <p:spPr>
          <a:xfrm>
            <a:off x="7757770" y="3258007"/>
            <a:ext cx="1714500" cy="3529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>
                <a:solidFill>
                  <a:srgbClr val="6B72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Build from scratch</a:t>
            </a:r>
            <a:endParaRPr lang="en-US" sz="1000"/>
          </a:p>
        </p:txBody>
      </p:sp>
      <p:sp>
        <p:nvSpPr>
          <p:cNvPr id="49" name="Text 39"/>
          <p:cNvSpPr txBox="1"/>
          <p:nvPr/>
        </p:nvSpPr>
        <p:spPr>
          <a:xfrm>
            <a:off x="9471355" y="3258007"/>
            <a:ext cx="1962302" cy="3529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>
                <a:solidFill>
                  <a:srgbClr val="1118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60+ accelerators, deploy in weeks</a:t>
            </a:r>
            <a:endParaRPr lang="en-US" sz="1000"/>
          </a:p>
        </p:txBody>
      </p:sp>
      <p:sp>
        <p:nvSpPr>
          <p:cNvPr id="50" name="Shape 40"/>
          <p:cNvSpPr/>
          <p:nvPr/>
        </p:nvSpPr>
        <p:spPr>
          <a:xfrm>
            <a:off x="6381598" y="4315054"/>
            <a:ext cx="5201107" cy="914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1" name="Text 41"/>
          <p:cNvSpPr txBox="1"/>
          <p:nvPr/>
        </p:nvSpPr>
        <p:spPr>
          <a:xfrm>
            <a:off x="6534302" y="3847795"/>
            <a:ext cx="1228954" cy="3529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>
                <a:solidFill>
                  <a:srgbClr val="37415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Performance Standard</a:t>
            </a:r>
            <a:endParaRPr lang="en-US" sz="1000"/>
          </a:p>
        </p:txBody>
      </p:sp>
      <p:sp>
        <p:nvSpPr>
          <p:cNvPr id="52" name="Text 42"/>
          <p:cNvSpPr txBox="1"/>
          <p:nvPr/>
        </p:nvSpPr>
        <p:spPr>
          <a:xfrm>
            <a:off x="7757770" y="3847795"/>
            <a:ext cx="1714500" cy="3529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>
                <a:solidFill>
                  <a:srgbClr val="6B72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Contractual minimums</a:t>
            </a:r>
            <a:endParaRPr lang="en-US" sz="1000"/>
          </a:p>
        </p:txBody>
      </p:sp>
      <p:sp>
        <p:nvSpPr>
          <p:cNvPr id="53" name="Text 43"/>
          <p:cNvSpPr txBox="1"/>
          <p:nvPr/>
        </p:nvSpPr>
        <p:spPr>
          <a:xfrm>
            <a:off x="9471355" y="3847795"/>
            <a:ext cx="1962302" cy="3529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>
                <a:solidFill>
                  <a:srgbClr val="1118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40% improvement threshold</a:t>
            </a:r>
            <a:endParaRPr lang="en-US" sz="1000"/>
          </a:p>
        </p:txBody>
      </p:sp>
      <p:sp>
        <p:nvSpPr>
          <p:cNvPr id="54" name="Shape 44"/>
          <p:cNvSpPr/>
          <p:nvPr/>
        </p:nvSpPr>
        <p:spPr>
          <a:xfrm>
            <a:off x="6381598" y="4324198"/>
            <a:ext cx="5201107" cy="590702"/>
          </a:xfrm>
          <a:prstGeom prst="rect">
            <a:avLst/>
          </a:prstGeom>
          <a:solidFill>
            <a:srgbClr val="2A9D8F">
              <a:alpha val="3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5" name="Shape 45"/>
          <p:cNvSpPr/>
          <p:nvPr/>
        </p:nvSpPr>
        <p:spPr>
          <a:xfrm>
            <a:off x="6381598" y="4905756"/>
            <a:ext cx="5201107" cy="914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6" name="Text 46"/>
          <p:cNvSpPr txBox="1"/>
          <p:nvPr/>
        </p:nvSpPr>
        <p:spPr>
          <a:xfrm>
            <a:off x="6534302" y="4438498"/>
            <a:ext cx="1228954" cy="3529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>
                <a:solidFill>
                  <a:srgbClr val="37415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Coverage</a:t>
            </a:r>
            <a:endParaRPr lang="en-US" sz="1000"/>
          </a:p>
        </p:txBody>
      </p:sp>
      <p:sp>
        <p:nvSpPr>
          <p:cNvPr id="57" name="Text 47"/>
          <p:cNvSpPr txBox="1"/>
          <p:nvPr/>
        </p:nvSpPr>
        <p:spPr>
          <a:xfrm>
            <a:off x="7757770" y="4438498"/>
            <a:ext cx="1714500" cy="3529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>
                <a:solidFill>
                  <a:srgbClr val="6B72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Single-function specialization</a:t>
            </a:r>
            <a:endParaRPr lang="en-US" sz="1000"/>
          </a:p>
        </p:txBody>
      </p:sp>
      <p:sp>
        <p:nvSpPr>
          <p:cNvPr id="58" name="Text 48"/>
          <p:cNvSpPr txBox="1"/>
          <p:nvPr/>
        </p:nvSpPr>
        <p:spPr>
          <a:xfrm>
            <a:off x="9471355" y="4438498"/>
            <a:ext cx="1962302" cy="3529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>
                <a:solidFill>
                  <a:srgbClr val="1118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Cross-stack: SAP, ServiceNow, Salesforce + more</a:t>
            </a:r>
            <a:endParaRPr lang="en-US" sz="1000"/>
          </a:p>
        </p:txBody>
      </p:sp>
      <p:sp>
        <p:nvSpPr>
          <p:cNvPr id="59" name="Shape 49"/>
          <p:cNvSpPr/>
          <p:nvPr/>
        </p:nvSpPr>
        <p:spPr>
          <a:xfrm>
            <a:off x="6381598" y="5496458"/>
            <a:ext cx="5201107" cy="914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0" name="Text 50"/>
          <p:cNvSpPr txBox="1"/>
          <p:nvPr/>
        </p:nvSpPr>
        <p:spPr>
          <a:xfrm>
            <a:off x="6534302" y="5029200"/>
            <a:ext cx="1228954" cy="3529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>
                <a:solidFill>
                  <a:srgbClr val="37415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Knowledge Retention</a:t>
            </a:r>
            <a:endParaRPr lang="en-US" sz="1000"/>
          </a:p>
        </p:txBody>
      </p:sp>
      <p:sp>
        <p:nvSpPr>
          <p:cNvPr id="61" name="Text 51"/>
          <p:cNvSpPr txBox="1"/>
          <p:nvPr/>
        </p:nvSpPr>
        <p:spPr>
          <a:xfrm>
            <a:off x="7757770" y="5029200"/>
            <a:ext cx="1714500" cy="3529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>
                <a:solidFill>
                  <a:srgbClr val="6B72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Exits with the team</a:t>
            </a:r>
            <a:endParaRPr lang="en-US" sz="1000"/>
          </a:p>
        </p:txBody>
      </p:sp>
      <p:sp>
        <p:nvSpPr>
          <p:cNvPr id="62" name="Text 52"/>
          <p:cNvSpPr txBox="1"/>
          <p:nvPr/>
        </p:nvSpPr>
        <p:spPr>
          <a:xfrm>
            <a:off x="9471355" y="5029200"/>
            <a:ext cx="1962302" cy="3529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>
                <a:solidFill>
                  <a:srgbClr val="1118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Captured, compounding, stays with you</a:t>
            </a:r>
            <a:endParaRPr lang="en-US" sz="1000"/>
          </a:p>
        </p:txBody>
      </p:sp>
      <p:sp>
        <p:nvSpPr>
          <p:cNvPr id="63" name="Shape 53"/>
          <p:cNvSpPr/>
          <p:nvPr/>
        </p:nvSpPr>
        <p:spPr>
          <a:xfrm>
            <a:off x="6381598" y="5505602"/>
            <a:ext cx="5201107" cy="590702"/>
          </a:xfrm>
          <a:prstGeom prst="rect">
            <a:avLst/>
          </a:prstGeom>
          <a:solidFill>
            <a:srgbClr val="2A9D8F">
              <a:alpha val="3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4" name="Text 54"/>
          <p:cNvSpPr txBox="1"/>
          <p:nvPr/>
        </p:nvSpPr>
        <p:spPr>
          <a:xfrm>
            <a:off x="6534302" y="5619902"/>
            <a:ext cx="1228954" cy="3621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>
                <a:solidFill>
                  <a:srgbClr val="37415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AI Readiness</a:t>
            </a:r>
            <a:endParaRPr lang="en-US" sz="1000"/>
          </a:p>
        </p:txBody>
      </p:sp>
      <p:sp>
        <p:nvSpPr>
          <p:cNvPr id="65" name="Text 55"/>
          <p:cNvSpPr txBox="1"/>
          <p:nvPr/>
        </p:nvSpPr>
        <p:spPr>
          <a:xfrm>
            <a:off x="7757770" y="5619902"/>
            <a:ext cx="1714500" cy="3621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>
                <a:solidFill>
                  <a:srgbClr val="6B72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Optional add-on</a:t>
            </a:r>
            <a:endParaRPr lang="en-US" sz="1000"/>
          </a:p>
        </p:txBody>
      </p:sp>
      <p:sp>
        <p:nvSpPr>
          <p:cNvPr id="66" name="Text 56"/>
          <p:cNvSpPr txBox="1"/>
          <p:nvPr/>
        </p:nvSpPr>
        <p:spPr>
          <a:xfrm>
            <a:off x="9471355" y="5619902"/>
            <a:ext cx="1962302" cy="3621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>
                <a:solidFill>
                  <a:srgbClr val="1118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Embedded from Day 1</a:t>
            </a:r>
            <a:endParaRPr lang="en-US" sz="1000"/>
          </a:p>
        </p:txBody>
      </p:sp>
      <p:sp>
        <p:nvSpPr>
          <p:cNvPr id="67" name="Text 57"/>
          <p:cNvSpPr txBox="1"/>
          <p:nvPr/>
        </p:nvSpPr>
        <p:spPr>
          <a:xfrm>
            <a:off x="800100" y="6245352"/>
            <a:ext cx="10592410" cy="4096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>
                <a:solidFill>
                  <a:srgbClr val="1118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From scattered pilots to governed programs. From manual reporting to real-time intelligence. From legacy stacks to modernized platforms. </a:t>
            </a:r>
            <a:r>
              <a:rPr lang="en-US" sz="1100" b="1">
                <a:solidFill>
                  <a:srgbClr val="2A9D8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J2W Managed Solutions operate until the outcome is real - then keep compounding.</a:t>
            </a:r>
            <a:endParaRPr lang="en-US" sz="1100"/>
          </a:p>
        </p:txBody>
      </p:sp>
    </p:spTree>
    <p:extLst>
      <p:ext uri="{BB962C8B-B14F-4D97-AF65-F5344CB8AC3E}">
        <p14:creationId xmlns:p14="http://schemas.microsoft.com/office/powerpoint/2010/main" val="374368341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N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N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8382305" y="-1429207"/>
            <a:ext cx="4762195" cy="4762195"/>
          </a:xfrm>
          <a:prstGeom prst="ellipse">
            <a:avLst/>
          </a:prstGeom>
          <a:noFill/>
          <a:ln w="508000">
            <a:solidFill>
              <a:srgbClr val="D62839">
                <a:alpha val="3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N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rcRect l="-360" r="-360"/>
          <a:stretch/>
        </p:blipFill>
        <p:spPr>
          <a:xfrm>
            <a:off x="609905" y="514807"/>
            <a:ext cx="57607" cy="38130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19302" y="381305"/>
            <a:ext cx="6010351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200" b="1" i="0" u="none" strike="noStrike" kern="0" cap="none" spc="-56" normalizeH="0" baseline="0" noProof="0" dirty="0">
                <a:ln>
                  <a:noFill/>
                </a:ln>
                <a:solidFill>
                  <a:srgbClr val="111827"/>
                </a:solidFill>
                <a:effectLst/>
                <a:uLnTx/>
                <a:uFillTx/>
                <a:latin typeface="Oswald" pitchFamily="34" charset="0"/>
                <a:ea typeface="Oswald" pitchFamily="34" charset="-122"/>
                <a:cs typeface="Oswald" pitchFamily="34" charset="-120"/>
              </a:rPr>
              <a:t>STRATEGIC MANAGED SERVICES OFFERINGS</a:t>
            </a:r>
            <a:endParaRPr kumimoji="0" lang="en-US" sz="2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4"/>
          <p:cNvSpPr txBox="1"/>
          <p:nvPr/>
        </p:nvSpPr>
        <p:spPr>
          <a:xfrm>
            <a:off x="819302" y="761695"/>
            <a:ext cx="6010351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0" cap="none" spc="68" normalizeH="0" baseline="0" noProof="0" dirty="0">
                <a:ln>
                  <a:noFill/>
                </a:ln>
                <a:solidFill>
                  <a:srgbClr val="2A9D8F"/>
                </a:solidFill>
                <a:effectLst/>
                <a:uLnTx/>
                <a:uFillTx/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Comprehensive Capabilities Driving Digital Transformation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Shape 5"/>
          <p:cNvSpPr/>
          <p:nvPr/>
        </p:nvSpPr>
        <p:spPr>
          <a:xfrm>
            <a:off x="609905" y="1257300"/>
            <a:ext cx="5372100" cy="952805"/>
          </a:xfrm>
          <a:prstGeom prst="roundRect">
            <a:avLst>
              <a:gd name="adj" fmla="val 15355"/>
            </a:avLst>
          </a:prstGeom>
          <a:solidFill>
            <a:srgbClr val="FFFFFF"/>
          </a:solidFill>
          <a:ln w="12700">
            <a:solidFill>
              <a:srgbClr val="F3F4F6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N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Shape 6"/>
          <p:cNvSpPr/>
          <p:nvPr/>
        </p:nvSpPr>
        <p:spPr>
          <a:xfrm>
            <a:off x="609905" y="1257300"/>
            <a:ext cx="38405" cy="952805"/>
          </a:xfrm>
          <a:prstGeom prst="roundRect">
            <a:avLst>
              <a:gd name="adj" fmla="val 380950"/>
            </a:avLst>
          </a:prstGeom>
          <a:solidFill>
            <a:srgbClr val="2A9D8F"/>
          </a:solidFill>
          <a:ln w="12700">
            <a:solidFill>
              <a:srgbClr val="2A9D8F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N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Shape 7"/>
          <p:cNvSpPr/>
          <p:nvPr/>
        </p:nvSpPr>
        <p:spPr>
          <a:xfrm>
            <a:off x="790956" y="1380744"/>
            <a:ext cx="400507" cy="400507"/>
          </a:xfrm>
          <a:prstGeom prst="ellipse">
            <a:avLst/>
          </a:prstGeom>
          <a:solidFill>
            <a:srgbClr val="2A9D8F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N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905256" y="1495044"/>
            <a:ext cx="171907" cy="171907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926287" y="1819656"/>
            <a:ext cx="2103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srgbClr val="2A9D8F">
                    <a:alpha val="60000"/>
                  </a:srgbClr>
                </a:solidFill>
                <a:effectLst/>
                <a:uLnTx/>
                <a:uFillTx/>
                <a:latin typeface="Oswald" pitchFamily="34" charset="0"/>
                <a:ea typeface="Oswald" pitchFamily="34" charset="-122"/>
                <a:cs typeface="Oswald" pitchFamily="34" charset="-120"/>
              </a:rPr>
              <a:t>01</a:t>
            </a:r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9"/>
          <p:cNvSpPr txBox="1"/>
          <p:nvPr/>
        </p:nvSpPr>
        <p:spPr>
          <a:xfrm>
            <a:off x="1371600" y="1380744"/>
            <a:ext cx="4601261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0" cap="none" spc="24" normalizeH="0" baseline="0" noProof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Oswald" pitchFamily="34" charset="0"/>
                <a:ea typeface="Oswald" pitchFamily="34" charset="-122"/>
                <a:cs typeface="Oswald" pitchFamily="34" charset="-120"/>
              </a:rPr>
              <a:t>AI Solutions (AI CoE)</a:t>
            </a:r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Text 10"/>
          <p:cNvSpPr txBox="1"/>
          <p:nvPr/>
        </p:nvSpPr>
        <p:spPr>
          <a:xfrm>
            <a:off x="1371600" y="1602029"/>
            <a:ext cx="4562856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rgbClr val="555555"/>
                </a:solidFill>
                <a:effectLst/>
                <a:uLnTx/>
                <a:uFillTx/>
                <a:latin typeface="Raleway" pitchFamily="34" charset="0"/>
                <a:ea typeface="Raleway" pitchFamily="34" charset="-122"/>
                <a:cs typeface="Raleway" pitchFamily="34" charset="-120"/>
              </a:rPr>
              <a:t>GenAI strategies, agents, LLM workflows, predictive models, knowledge bots, and enterprise-grade AI governance &amp; value realization frameworks.</a:t>
            </a:r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Shape 11"/>
          <p:cNvSpPr/>
          <p:nvPr/>
        </p:nvSpPr>
        <p:spPr>
          <a:xfrm>
            <a:off x="6210605" y="1257300"/>
            <a:ext cx="5372100" cy="952805"/>
          </a:xfrm>
          <a:prstGeom prst="roundRect">
            <a:avLst>
              <a:gd name="adj" fmla="val 15355"/>
            </a:avLst>
          </a:prstGeom>
          <a:solidFill>
            <a:srgbClr val="FFFFFF"/>
          </a:solidFill>
          <a:ln w="12700">
            <a:solidFill>
              <a:srgbClr val="F3F4F6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N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Shape 12"/>
          <p:cNvSpPr/>
          <p:nvPr/>
        </p:nvSpPr>
        <p:spPr>
          <a:xfrm>
            <a:off x="6210605" y="1257300"/>
            <a:ext cx="38405" cy="952805"/>
          </a:xfrm>
          <a:prstGeom prst="roundRect">
            <a:avLst>
              <a:gd name="adj" fmla="val 380950"/>
            </a:avLst>
          </a:prstGeom>
          <a:solidFill>
            <a:srgbClr val="D62839"/>
          </a:solidFill>
          <a:ln w="12700">
            <a:solidFill>
              <a:srgbClr val="D62839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N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Shape 13"/>
          <p:cNvSpPr/>
          <p:nvPr/>
        </p:nvSpPr>
        <p:spPr>
          <a:xfrm>
            <a:off x="6391656" y="1380744"/>
            <a:ext cx="400507" cy="400507"/>
          </a:xfrm>
          <a:prstGeom prst="ellipse">
            <a:avLst/>
          </a:prstGeom>
          <a:solidFill>
            <a:srgbClr val="D62839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N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6505956" y="1495044"/>
            <a:ext cx="171907" cy="171907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6516929" y="1819656"/>
            <a:ext cx="2286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srgbClr val="D62839">
                    <a:alpha val="60000"/>
                  </a:srgbClr>
                </a:solidFill>
                <a:effectLst/>
                <a:uLnTx/>
                <a:uFillTx/>
                <a:latin typeface="Oswald" pitchFamily="34" charset="0"/>
                <a:ea typeface="Oswald" pitchFamily="34" charset="-122"/>
                <a:cs typeface="Oswald" pitchFamily="34" charset="-120"/>
              </a:rPr>
              <a:t>06</a:t>
            </a:r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Text 15"/>
          <p:cNvSpPr txBox="1"/>
          <p:nvPr/>
        </p:nvSpPr>
        <p:spPr>
          <a:xfrm>
            <a:off x="6972300" y="1380744"/>
            <a:ext cx="4601261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0" cap="none" spc="24" normalizeH="0" baseline="0" noProof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Oswald" pitchFamily="34" charset="0"/>
                <a:ea typeface="Oswald" pitchFamily="34" charset="-122"/>
                <a:cs typeface="Oswald" pitchFamily="34" charset="-120"/>
              </a:rPr>
              <a:t>Quality Engineering</a:t>
            </a:r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Text 16"/>
          <p:cNvSpPr txBox="1"/>
          <p:nvPr/>
        </p:nvSpPr>
        <p:spPr>
          <a:xfrm>
            <a:off x="6972300" y="1602029"/>
            <a:ext cx="4562856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rgbClr val="555555"/>
                </a:solidFill>
                <a:effectLst/>
                <a:uLnTx/>
                <a:uFillTx/>
                <a:latin typeface="Raleway" pitchFamily="34" charset="0"/>
                <a:ea typeface="Raleway" pitchFamily="34" charset="-122"/>
                <a:cs typeface="Raleway" pitchFamily="34" charset="-120"/>
              </a:rPr>
              <a:t>Intelligent QA and Test Automation at scale - covering functional, performance, security, CI/CD pipelines, and TaaS delivery pods.</a:t>
            </a:r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Shape 17"/>
          <p:cNvSpPr/>
          <p:nvPr/>
        </p:nvSpPr>
        <p:spPr>
          <a:xfrm>
            <a:off x="609905" y="2324405"/>
            <a:ext cx="5372100" cy="952805"/>
          </a:xfrm>
          <a:prstGeom prst="roundRect">
            <a:avLst>
              <a:gd name="adj" fmla="val 15355"/>
            </a:avLst>
          </a:prstGeom>
          <a:solidFill>
            <a:srgbClr val="FFFFFF"/>
          </a:solidFill>
          <a:ln w="12700">
            <a:solidFill>
              <a:srgbClr val="F3F4F6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N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Shape 18"/>
          <p:cNvSpPr/>
          <p:nvPr/>
        </p:nvSpPr>
        <p:spPr>
          <a:xfrm>
            <a:off x="609905" y="2324405"/>
            <a:ext cx="38405" cy="952805"/>
          </a:xfrm>
          <a:prstGeom prst="roundRect">
            <a:avLst>
              <a:gd name="adj" fmla="val 380950"/>
            </a:avLst>
          </a:prstGeom>
          <a:solidFill>
            <a:srgbClr val="D62839"/>
          </a:solidFill>
          <a:ln w="12700">
            <a:solidFill>
              <a:srgbClr val="D62839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N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Shape 19"/>
          <p:cNvSpPr/>
          <p:nvPr/>
        </p:nvSpPr>
        <p:spPr>
          <a:xfrm>
            <a:off x="790956" y="2447849"/>
            <a:ext cx="400507" cy="400507"/>
          </a:xfrm>
          <a:prstGeom prst="ellipse">
            <a:avLst/>
          </a:prstGeom>
          <a:solidFill>
            <a:srgbClr val="D62839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N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25" name="Image 3" descr="preencoded.png"/>
          <p:cNvPicPr>
            <a:picLocks noChangeAspect="1"/>
          </p:cNvPicPr>
          <p:nvPr/>
        </p:nvPicPr>
        <p:blipFill>
          <a:blip r:embed="rId6"/>
          <a:srcRect t="-2725" b="-2725"/>
          <a:stretch/>
        </p:blipFill>
        <p:spPr>
          <a:xfrm>
            <a:off x="918972" y="2562149"/>
            <a:ext cx="142646" cy="171907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918058" y="2885846"/>
            <a:ext cx="2286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srgbClr val="D62839">
                    <a:alpha val="60000"/>
                  </a:srgbClr>
                </a:solidFill>
                <a:effectLst/>
                <a:uLnTx/>
                <a:uFillTx/>
                <a:latin typeface="Oswald" pitchFamily="34" charset="0"/>
                <a:ea typeface="Oswald" pitchFamily="34" charset="-122"/>
                <a:cs typeface="Oswald" pitchFamily="34" charset="-120"/>
              </a:rPr>
              <a:t>02</a:t>
            </a:r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Text 21"/>
          <p:cNvSpPr txBox="1"/>
          <p:nvPr/>
        </p:nvSpPr>
        <p:spPr>
          <a:xfrm>
            <a:off x="1371600" y="2447849"/>
            <a:ext cx="4601261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0" cap="none" spc="24" normalizeH="0" baseline="0" noProof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Oswald" pitchFamily="34" charset="0"/>
                <a:ea typeface="Oswald" pitchFamily="34" charset="-122"/>
                <a:cs typeface="Oswald" pitchFamily="34" charset="-120"/>
              </a:rPr>
              <a:t>Data Migration &amp; Infra Support</a:t>
            </a:r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Text 22"/>
          <p:cNvSpPr txBox="1"/>
          <p:nvPr/>
        </p:nvSpPr>
        <p:spPr>
          <a:xfrm>
            <a:off x="1371600" y="2669134"/>
            <a:ext cx="4562856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rgbClr val="555555"/>
                </a:solidFill>
                <a:effectLst/>
                <a:uLnTx/>
                <a:uFillTx/>
                <a:latin typeface="Raleway" pitchFamily="34" charset="0"/>
                <a:ea typeface="Raleway" pitchFamily="34" charset="-122"/>
                <a:cs typeface="Raleway" pitchFamily="34" charset="-120"/>
              </a:rPr>
              <a:t>Seamless migration across on-prem &amp; cloud, with data quality, cleansing, secure pipelines, infra ops, and cloud governance across AWS/Azure/GCP.</a:t>
            </a:r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Shape 23"/>
          <p:cNvSpPr/>
          <p:nvPr/>
        </p:nvSpPr>
        <p:spPr>
          <a:xfrm>
            <a:off x="6210605" y="2324405"/>
            <a:ext cx="5372100" cy="952805"/>
          </a:xfrm>
          <a:prstGeom prst="roundRect">
            <a:avLst>
              <a:gd name="adj" fmla="val 15355"/>
            </a:avLst>
          </a:prstGeom>
          <a:solidFill>
            <a:srgbClr val="FFFFFF"/>
          </a:solidFill>
          <a:ln w="12700">
            <a:solidFill>
              <a:srgbClr val="F3F4F6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N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Shape 24"/>
          <p:cNvSpPr/>
          <p:nvPr/>
        </p:nvSpPr>
        <p:spPr>
          <a:xfrm>
            <a:off x="6210605" y="2324405"/>
            <a:ext cx="38405" cy="952805"/>
          </a:xfrm>
          <a:prstGeom prst="roundRect">
            <a:avLst>
              <a:gd name="adj" fmla="val 380950"/>
            </a:avLst>
          </a:prstGeom>
          <a:solidFill>
            <a:srgbClr val="2A9D8F"/>
          </a:solidFill>
          <a:ln w="12700">
            <a:solidFill>
              <a:srgbClr val="2A9D8F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N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" name="Shape 25"/>
          <p:cNvSpPr/>
          <p:nvPr/>
        </p:nvSpPr>
        <p:spPr>
          <a:xfrm>
            <a:off x="6391656" y="2447849"/>
            <a:ext cx="400507" cy="400507"/>
          </a:xfrm>
          <a:prstGeom prst="ellipse">
            <a:avLst/>
          </a:prstGeom>
          <a:solidFill>
            <a:srgbClr val="2A9D8F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N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32" name="Image 4" descr="preencoded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6505956" y="2562149"/>
            <a:ext cx="171907" cy="171907"/>
          </a:xfrm>
          <a:prstGeom prst="rect">
            <a:avLst/>
          </a:prstGeom>
        </p:spPr>
      </p:pic>
      <p:sp>
        <p:nvSpPr>
          <p:cNvPr id="33" name="Text 26"/>
          <p:cNvSpPr txBox="1"/>
          <p:nvPr/>
        </p:nvSpPr>
        <p:spPr>
          <a:xfrm>
            <a:off x="6523330" y="2885846"/>
            <a:ext cx="219456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srgbClr val="2A9D8F">
                    <a:alpha val="60000"/>
                  </a:srgbClr>
                </a:solidFill>
                <a:effectLst/>
                <a:uLnTx/>
                <a:uFillTx/>
                <a:latin typeface="Oswald" pitchFamily="34" charset="0"/>
                <a:ea typeface="Oswald" pitchFamily="34" charset="-122"/>
                <a:cs typeface="Oswald" pitchFamily="34" charset="-120"/>
              </a:rPr>
              <a:t>07</a:t>
            </a:r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4" name="Text 27"/>
          <p:cNvSpPr txBox="1"/>
          <p:nvPr/>
        </p:nvSpPr>
        <p:spPr>
          <a:xfrm>
            <a:off x="6972300" y="2447849"/>
            <a:ext cx="4601261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0" cap="none" spc="24" normalizeH="0" baseline="0" noProof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Oswald" pitchFamily="34" charset="0"/>
                <a:ea typeface="Oswald" pitchFamily="34" charset="-122"/>
                <a:cs typeface="Oswald" pitchFamily="34" charset="-120"/>
              </a:rPr>
              <a:t>Call Centre Optimization</a:t>
            </a:r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5" name="Text 28"/>
          <p:cNvSpPr txBox="1"/>
          <p:nvPr/>
        </p:nvSpPr>
        <p:spPr>
          <a:xfrm>
            <a:off x="6972300" y="2669134"/>
            <a:ext cx="4562856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rgbClr val="555555"/>
                </a:solidFill>
                <a:effectLst/>
                <a:uLnTx/>
                <a:uFillTx/>
                <a:latin typeface="Raleway" pitchFamily="34" charset="0"/>
                <a:ea typeface="Raleway" pitchFamily="34" charset="-122"/>
                <a:cs typeface="Raleway" pitchFamily="34" charset="-120"/>
              </a:rPr>
              <a:t>Transforming contact centers through operational assessment, workforce analytics, real-time dashboards, agent assist AI, and IVA-based automation.</a:t>
            </a:r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6" name="Shape 29"/>
          <p:cNvSpPr/>
          <p:nvPr/>
        </p:nvSpPr>
        <p:spPr>
          <a:xfrm>
            <a:off x="609905" y="3390595"/>
            <a:ext cx="5372100" cy="952805"/>
          </a:xfrm>
          <a:prstGeom prst="roundRect">
            <a:avLst>
              <a:gd name="adj" fmla="val 15355"/>
            </a:avLst>
          </a:prstGeom>
          <a:solidFill>
            <a:srgbClr val="FFFFFF"/>
          </a:solidFill>
          <a:ln w="12700">
            <a:solidFill>
              <a:srgbClr val="F3F4F6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N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7" name="Shape 30"/>
          <p:cNvSpPr/>
          <p:nvPr/>
        </p:nvSpPr>
        <p:spPr>
          <a:xfrm>
            <a:off x="609905" y="3390595"/>
            <a:ext cx="38405" cy="952805"/>
          </a:xfrm>
          <a:prstGeom prst="roundRect">
            <a:avLst>
              <a:gd name="adj" fmla="val 380950"/>
            </a:avLst>
          </a:prstGeom>
          <a:solidFill>
            <a:srgbClr val="2A9D8F"/>
          </a:solidFill>
          <a:ln w="12700">
            <a:solidFill>
              <a:srgbClr val="2A9D8F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N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8" name="Shape 31"/>
          <p:cNvSpPr/>
          <p:nvPr/>
        </p:nvSpPr>
        <p:spPr>
          <a:xfrm>
            <a:off x="790956" y="3514954"/>
            <a:ext cx="400507" cy="400507"/>
          </a:xfrm>
          <a:prstGeom prst="ellipse">
            <a:avLst/>
          </a:prstGeom>
          <a:solidFill>
            <a:srgbClr val="2A9D8F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N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39" name="Image 5" descr="preencoded.png"/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905256" y="3629254"/>
            <a:ext cx="171907" cy="171907"/>
          </a:xfrm>
          <a:prstGeom prst="rect">
            <a:avLst/>
          </a:prstGeom>
        </p:spPr>
      </p:pic>
      <p:sp>
        <p:nvSpPr>
          <p:cNvPr id="40" name="Text 32"/>
          <p:cNvSpPr txBox="1"/>
          <p:nvPr/>
        </p:nvSpPr>
        <p:spPr>
          <a:xfrm>
            <a:off x="918058" y="3952951"/>
            <a:ext cx="2286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srgbClr val="2A9D8F">
                    <a:alpha val="60000"/>
                  </a:srgbClr>
                </a:solidFill>
                <a:effectLst/>
                <a:uLnTx/>
                <a:uFillTx/>
                <a:latin typeface="Oswald" pitchFamily="34" charset="0"/>
                <a:ea typeface="Oswald" pitchFamily="34" charset="-122"/>
                <a:cs typeface="Oswald" pitchFamily="34" charset="-120"/>
              </a:rPr>
              <a:t>03</a:t>
            </a:r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1" name="Text 33"/>
          <p:cNvSpPr txBox="1"/>
          <p:nvPr/>
        </p:nvSpPr>
        <p:spPr>
          <a:xfrm>
            <a:off x="1371600" y="3514954"/>
            <a:ext cx="4601261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0" cap="none" spc="24" normalizeH="0" baseline="0" noProof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Oswald" pitchFamily="34" charset="0"/>
                <a:ea typeface="Oswald" pitchFamily="34" charset="-122"/>
                <a:cs typeface="Oswald" pitchFamily="34" charset="-120"/>
              </a:rPr>
              <a:t>Cybersecurity</a:t>
            </a:r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2" name="Text 34"/>
          <p:cNvSpPr txBox="1"/>
          <p:nvPr/>
        </p:nvSpPr>
        <p:spPr>
          <a:xfrm>
            <a:off x="1371600" y="3735324"/>
            <a:ext cx="4562856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rgbClr val="555555"/>
                </a:solidFill>
                <a:effectLst/>
                <a:uLnTx/>
                <a:uFillTx/>
                <a:latin typeface="Raleway" pitchFamily="34" charset="0"/>
                <a:ea typeface="Raleway" pitchFamily="34" charset="-122"/>
                <a:cs typeface="Raleway" pitchFamily="34" charset="-120"/>
              </a:rPr>
              <a:t>Full-spectrum security including assessment, red-team, cloud security, managed SOC/MDR, compliance (ISO, PCI, RBI), incident response &amp; digital forensics.</a:t>
            </a:r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3" name="Shape 35"/>
          <p:cNvSpPr/>
          <p:nvPr/>
        </p:nvSpPr>
        <p:spPr>
          <a:xfrm>
            <a:off x="6210605" y="3390595"/>
            <a:ext cx="5372100" cy="952805"/>
          </a:xfrm>
          <a:prstGeom prst="roundRect">
            <a:avLst>
              <a:gd name="adj" fmla="val 15355"/>
            </a:avLst>
          </a:prstGeom>
          <a:solidFill>
            <a:srgbClr val="FFFFFF"/>
          </a:solidFill>
          <a:ln w="12700">
            <a:solidFill>
              <a:srgbClr val="F3F4F6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N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4" name="Shape 36"/>
          <p:cNvSpPr/>
          <p:nvPr/>
        </p:nvSpPr>
        <p:spPr>
          <a:xfrm>
            <a:off x="6210605" y="3390595"/>
            <a:ext cx="38405" cy="952805"/>
          </a:xfrm>
          <a:prstGeom prst="roundRect">
            <a:avLst>
              <a:gd name="adj" fmla="val 380950"/>
            </a:avLst>
          </a:prstGeom>
          <a:solidFill>
            <a:srgbClr val="D62839"/>
          </a:solidFill>
          <a:ln w="12700">
            <a:solidFill>
              <a:srgbClr val="D62839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N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5" name="Shape 37"/>
          <p:cNvSpPr/>
          <p:nvPr/>
        </p:nvSpPr>
        <p:spPr>
          <a:xfrm>
            <a:off x="6391656" y="3514954"/>
            <a:ext cx="400507" cy="400507"/>
          </a:xfrm>
          <a:prstGeom prst="ellipse">
            <a:avLst/>
          </a:prstGeom>
          <a:solidFill>
            <a:srgbClr val="D62839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N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46" name="Image 6" descr="preencoded.png"/>
          <p:cNvPicPr>
            <a:picLocks noChangeAspect="1"/>
          </p:cNvPicPr>
          <p:nvPr/>
        </p:nvPicPr>
        <p:blipFill>
          <a:blip r:embed="rId9"/>
          <a:srcRect t="-2725" b="-2725"/>
          <a:stretch/>
        </p:blipFill>
        <p:spPr>
          <a:xfrm>
            <a:off x="6519672" y="3629254"/>
            <a:ext cx="142646" cy="171907"/>
          </a:xfrm>
          <a:prstGeom prst="rect">
            <a:avLst/>
          </a:prstGeom>
        </p:spPr>
      </p:pic>
      <p:sp>
        <p:nvSpPr>
          <p:cNvPr id="47" name="Text 38"/>
          <p:cNvSpPr txBox="1"/>
          <p:nvPr/>
        </p:nvSpPr>
        <p:spPr>
          <a:xfrm>
            <a:off x="6517843" y="3952951"/>
            <a:ext cx="2286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srgbClr val="D62839">
                    <a:alpha val="60000"/>
                  </a:srgbClr>
                </a:solidFill>
                <a:effectLst/>
                <a:uLnTx/>
                <a:uFillTx/>
                <a:latin typeface="Oswald" pitchFamily="34" charset="0"/>
                <a:ea typeface="Oswald" pitchFamily="34" charset="-122"/>
                <a:cs typeface="Oswald" pitchFamily="34" charset="-120"/>
              </a:rPr>
              <a:t>08</a:t>
            </a:r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8" name="Text 39"/>
          <p:cNvSpPr txBox="1"/>
          <p:nvPr/>
        </p:nvSpPr>
        <p:spPr>
          <a:xfrm>
            <a:off x="6972300" y="3514954"/>
            <a:ext cx="4601261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0" cap="none" spc="24" normalizeH="0" baseline="0" noProof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Oswald" pitchFamily="34" charset="0"/>
                <a:ea typeface="Oswald" pitchFamily="34" charset="-122"/>
                <a:cs typeface="Oswald" pitchFamily="34" charset="-120"/>
              </a:rPr>
              <a:t>SAP Services</a:t>
            </a:r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9" name="Text 40"/>
          <p:cNvSpPr txBox="1"/>
          <p:nvPr/>
        </p:nvSpPr>
        <p:spPr>
          <a:xfrm>
            <a:off x="6972300" y="3735324"/>
            <a:ext cx="4562856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rgbClr val="555555"/>
                </a:solidFill>
                <a:effectLst/>
                <a:uLnTx/>
                <a:uFillTx/>
                <a:latin typeface="Raleway" pitchFamily="34" charset="0"/>
                <a:ea typeface="Raleway" pitchFamily="34" charset="-122"/>
                <a:cs typeface="Raleway" pitchFamily="34" charset="-120"/>
              </a:rPr>
              <a:t>End-to-end SAP modernization - from S/4HANA migrations to BTP, Fiori, SuccessFactors, and enterprise-wide rollout with managed SAP support.</a:t>
            </a:r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0" name="Shape 41"/>
          <p:cNvSpPr/>
          <p:nvPr/>
        </p:nvSpPr>
        <p:spPr>
          <a:xfrm>
            <a:off x="609905" y="4457700"/>
            <a:ext cx="5372100" cy="952805"/>
          </a:xfrm>
          <a:prstGeom prst="roundRect">
            <a:avLst>
              <a:gd name="adj" fmla="val 15355"/>
            </a:avLst>
          </a:prstGeom>
          <a:solidFill>
            <a:srgbClr val="FFFFFF"/>
          </a:solidFill>
          <a:ln w="12700">
            <a:solidFill>
              <a:srgbClr val="F3F4F6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N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1" name="Shape 42"/>
          <p:cNvSpPr/>
          <p:nvPr/>
        </p:nvSpPr>
        <p:spPr>
          <a:xfrm>
            <a:off x="609905" y="4457700"/>
            <a:ext cx="38405" cy="952805"/>
          </a:xfrm>
          <a:prstGeom prst="roundRect">
            <a:avLst>
              <a:gd name="adj" fmla="val 380950"/>
            </a:avLst>
          </a:prstGeom>
          <a:solidFill>
            <a:srgbClr val="D62839"/>
          </a:solidFill>
          <a:ln w="12700">
            <a:solidFill>
              <a:srgbClr val="D62839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N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2" name="Shape 43"/>
          <p:cNvSpPr/>
          <p:nvPr/>
        </p:nvSpPr>
        <p:spPr>
          <a:xfrm>
            <a:off x="790956" y="4581144"/>
            <a:ext cx="400507" cy="400507"/>
          </a:xfrm>
          <a:prstGeom prst="ellipse">
            <a:avLst/>
          </a:prstGeom>
          <a:solidFill>
            <a:srgbClr val="D62839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N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53" name="Image 7" descr="preencoded.png"/>
          <p:cNvPicPr>
            <a:picLocks noChangeAspect="1"/>
          </p:cNvPicPr>
          <p:nvPr/>
        </p:nvPicPr>
        <p:blipFill>
          <a:blip r:embed="rId10"/>
          <a:srcRect t="-1310" b="-1310"/>
          <a:stretch/>
        </p:blipFill>
        <p:spPr>
          <a:xfrm>
            <a:off x="886054" y="4695444"/>
            <a:ext cx="209398" cy="171907"/>
          </a:xfrm>
          <a:prstGeom prst="rect">
            <a:avLst/>
          </a:prstGeom>
        </p:spPr>
      </p:pic>
      <p:sp>
        <p:nvSpPr>
          <p:cNvPr id="54" name="Text 44"/>
          <p:cNvSpPr txBox="1"/>
          <p:nvPr/>
        </p:nvSpPr>
        <p:spPr>
          <a:xfrm>
            <a:off x="917143" y="5020056"/>
            <a:ext cx="2286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srgbClr val="D62839">
                    <a:alpha val="60000"/>
                  </a:srgbClr>
                </a:solidFill>
                <a:effectLst/>
                <a:uLnTx/>
                <a:uFillTx/>
                <a:latin typeface="Oswald" pitchFamily="34" charset="0"/>
                <a:ea typeface="Oswald" pitchFamily="34" charset="-122"/>
                <a:cs typeface="Oswald" pitchFamily="34" charset="-120"/>
              </a:rPr>
              <a:t>04</a:t>
            </a:r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5" name="Text 45"/>
          <p:cNvSpPr txBox="1"/>
          <p:nvPr/>
        </p:nvSpPr>
        <p:spPr>
          <a:xfrm>
            <a:off x="1371600" y="4581144"/>
            <a:ext cx="4601261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0" cap="none" spc="24" normalizeH="0" baseline="0" noProof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Oswald" pitchFamily="34" charset="0"/>
                <a:ea typeface="Oswald" pitchFamily="34" charset="-122"/>
                <a:cs typeface="Oswald" pitchFamily="34" charset="-120"/>
              </a:rPr>
              <a:t>Digital Engineering &amp; Automation</a:t>
            </a:r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6" name="Text 46"/>
          <p:cNvSpPr txBox="1"/>
          <p:nvPr/>
        </p:nvSpPr>
        <p:spPr>
          <a:xfrm>
            <a:off x="1371600" y="4802429"/>
            <a:ext cx="4562856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rgbClr val="555555"/>
                </a:solidFill>
                <a:effectLst/>
                <a:uLnTx/>
                <a:uFillTx/>
                <a:latin typeface="Raleway" pitchFamily="34" charset="0"/>
                <a:ea typeface="Raleway" pitchFamily="34" charset="-122"/>
                <a:cs typeface="Raleway" pitchFamily="34" charset="-120"/>
              </a:rPr>
              <a:t>Spanning full-stack &amp; UI/UX development, intelligent automation, AI-augmented RPA, and end-to-end process orchestration.</a:t>
            </a:r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7" name="Shape 47"/>
          <p:cNvSpPr/>
          <p:nvPr/>
        </p:nvSpPr>
        <p:spPr>
          <a:xfrm>
            <a:off x="6210605" y="4457700"/>
            <a:ext cx="5372100" cy="952805"/>
          </a:xfrm>
          <a:prstGeom prst="roundRect">
            <a:avLst>
              <a:gd name="adj" fmla="val 15355"/>
            </a:avLst>
          </a:prstGeom>
          <a:solidFill>
            <a:srgbClr val="FFFFFF"/>
          </a:solidFill>
          <a:ln w="12700">
            <a:solidFill>
              <a:srgbClr val="F3F4F6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N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8" name="Shape 48"/>
          <p:cNvSpPr/>
          <p:nvPr/>
        </p:nvSpPr>
        <p:spPr>
          <a:xfrm>
            <a:off x="6210605" y="4457700"/>
            <a:ext cx="38405" cy="952805"/>
          </a:xfrm>
          <a:prstGeom prst="roundRect">
            <a:avLst>
              <a:gd name="adj" fmla="val 380950"/>
            </a:avLst>
          </a:prstGeom>
          <a:solidFill>
            <a:srgbClr val="2A9D8F"/>
          </a:solidFill>
          <a:ln w="12700">
            <a:solidFill>
              <a:srgbClr val="2A9D8F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N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9" name="Shape 49"/>
          <p:cNvSpPr/>
          <p:nvPr/>
        </p:nvSpPr>
        <p:spPr>
          <a:xfrm>
            <a:off x="6391656" y="4581144"/>
            <a:ext cx="400507" cy="400507"/>
          </a:xfrm>
          <a:prstGeom prst="ellipse">
            <a:avLst/>
          </a:prstGeom>
          <a:solidFill>
            <a:srgbClr val="2A9D8F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N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60" name="Image 8" descr="preencoded.png"/>
          <p:cNvPicPr>
            <a:picLocks noChangeAspect="1"/>
          </p:cNvPicPr>
          <p:nvPr/>
        </p:nvPicPr>
        <p:blipFill>
          <a:blip r:embed="rId11"/>
          <a:srcRect t="-1310" b="-1310"/>
          <a:stretch/>
        </p:blipFill>
        <p:spPr>
          <a:xfrm>
            <a:off x="6486754" y="4695444"/>
            <a:ext cx="209398" cy="171907"/>
          </a:xfrm>
          <a:prstGeom prst="rect">
            <a:avLst/>
          </a:prstGeom>
        </p:spPr>
      </p:pic>
      <p:sp>
        <p:nvSpPr>
          <p:cNvPr id="61" name="Text 50"/>
          <p:cNvSpPr txBox="1"/>
          <p:nvPr/>
        </p:nvSpPr>
        <p:spPr>
          <a:xfrm>
            <a:off x="6516929" y="5020056"/>
            <a:ext cx="2286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srgbClr val="2A9D8F">
                    <a:alpha val="60000"/>
                  </a:srgbClr>
                </a:solidFill>
                <a:effectLst/>
                <a:uLnTx/>
                <a:uFillTx/>
                <a:latin typeface="Oswald" pitchFamily="34" charset="0"/>
                <a:ea typeface="Oswald" pitchFamily="34" charset="-122"/>
                <a:cs typeface="Oswald" pitchFamily="34" charset="-120"/>
              </a:rPr>
              <a:t>09</a:t>
            </a:r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2" name="Text 51"/>
          <p:cNvSpPr txBox="1"/>
          <p:nvPr/>
        </p:nvSpPr>
        <p:spPr>
          <a:xfrm>
            <a:off x="6972300" y="4581144"/>
            <a:ext cx="4601261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0" cap="none" spc="24" normalizeH="0" baseline="0" noProof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Oswald" pitchFamily="34" charset="0"/>
                <a:ea typeface="Oswald" pitchFamily="34" charset="-122"/>
                <a:cs typeface="Oswald" pitchFamily="34" charset="-120"/>
              </a:rPr>
              <a:t>Salesforce Services</a:t>
            </a:r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3" name="Text 52"/>
          <p:cNvSpPr txBox="1"/>
          <p:nvPr/>
        </p:nvSpPr>
        <p:spPr>
          <a:xfrm>
            <a:off x="6972300" y="4802429"/>
            <a:ext cx="4562856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rgbClr val="555555"/>
                </a:solidFill>
                <a:effectLst/>
                <a:uLnTx/>
                <a:uFillTx/>
                <a:latin typeface="Raleway" pitchFamily="34" charset="0"/>
                <a:ea typeface="Raleway" pitchFamily="34" charset="-122"/>
                <a:cs typeface="Raleway" pitchFamily="34" charset="-120"/>
              </a:rPr>
              <a:t>Complete Salesforce transformation across Sales, Service, Marketing, Financial Services Cloud, and MuleSoft - backed by org audits and managed support.</a:t>
            </a:r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4" name="Shape 53"/>
          <p:cNvSpPr/>
          <p:nvPr/>
        </p:nvSpPr>
        <p:spPr>
          <a:xfrm>
            <a:off x="609905" y="5524805"/>
            <a:ext cx="5372100" cy="952805"/>
          </a:xfrm>
          <a:prstGeom prst="roundRect">
            <a:avLst>
              <a:gd name="adj" fmla="val 15355"/>
            </a:avLst>
          </a:prstGeom>
          <a:solidFill>
            <a:srgbClr val="FFFFFF"/>
          </a:solidFill>
          <a:ln w="12700">
            <a:solidFill>
              <a:srgbClr val="F3F4F6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N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5" name="Shape 54"/>
          <p:cNvSpPr/>
          <p:nvPr/>
        </p:nvSpPr>
        <p:spPr>
          <a:xfrm>
            <a:off x="609905" y="5524805"/>
            <a:ext cx="38405" cy="952805"/>
          </a:xfrm>
          <a:prstGeom prst="roundRect">
            <a:avLst>
              <a:gd name="adj" fmla="val 380950"/>
            </a:avLst>
          </a:prstGeom>
          <a:solidFill>
            <a:srgbClr val="2A9D8F"/>
          </a:solidFill>
          <a:ln w="12700">
            <a:solidFill>
              <a:srgbClr val="2A9D8F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N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6" name="Shape 55"/>
          <p:cNvSpPr/>
          <p:nvPr/>
        </p:nvSpPr>
        <p:spPr>
          <a:xfrm>
            <a:off x="790956" y="5648249"/>
            <a:ext cx="400507" cy="400507"/>
          </a:xfrm>
          <a:prstGeom prst="ellipse">
            <a:avLst/>
          </a:prstGeom>
          <a:solidFill>
            <a:srgbClr val="2A9D8F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N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67" name="Image 9" descr="preencoded.png"/>
          <p:cNvPicPr>
            <a:picLocks noChangeAspect="1"/>
          </p:cNvPicPr>
          <p:nvPr/>
        </p:nvPicPr>
        <p:blipFill>
          <a:blip r:embed="rId12"/>
          <a:srcRect/>
          <a:stretch/>
        </p:blipFill>
        <p:spPr>
          <a:xfrm>
            <a:off x="905256" y="5762549"/>
            <a:ext cx="171907" cy="171907"/>
          </a:xfrm>
          <a:prstGeom prst="rect">
            <a:avLst/>
          </a:prstGeom>
        </p:spPr>
      </p:pic>
      <p:sp>
        <p:nvSpPr>
          <p:cNvPr id="68" name="Text 56"/>
          <p:cNvSpPr txBox="1"/>
          <p:nvPr/>
        </p:nvSpPr>
        <p:spPr>
          <a:xfrm>
            <a:off x="918058" y="6086246"/>
            <a:ext cx="2286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srgbClr val="2A9D8F">
                    <a:alpha val="60000"/>
                  </a:srgbClr>
                </a:solidFill>
                <a:effectLst/>
                <a:uLnTx/>
                <a:uFillTx/>
                <a:latin typeface="Oswald" pitchFamily="34" charset="0"/>
                <a:ea typeface="Oswald" pitchFamily="34" charset="-122"/>
                <a:cs typeface="Oswald" pitchFamily="34" charset="-120"/>
              </a:rPr>
              <a:t>05</a:t>
            </a:r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9" name="Text 57"/>
          <p:cNvSpPr txBox="1"/>
          <p:nvPr/>
        </p:nvSpPr>
        <p:spPr>
          <a:xfrm>
            <a:off x="1371600" y="5648249"/>
            <a:ext cx="4601261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0" cap="none" spc="24" normalizeH="0" baseline="0" noProof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Oswald" pitchFamily="34" charset="0"/>
                <a:ea typeface="Oswald" pitchFamily="34" charset="-122"/>
                <a:cs typeface="Oswald" pitchFamily="34" charset="-120"/>
              </a:rPr>
              <a:t>Data Analytics &amp; Dashboarding</a:t>
            </a:r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0" name="Text 58"/>
          <p:cNvSpPr txBox="1"/>
          <p:nvPr/>
        </p:nvSpPr>
        <p:spPr>
          <a:xfrm>
            <a:off x="1371600" y="5869534"/>
            <a:ext cx="4562856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rgbClr val="555555"/>
                </a:solidFill>
                <a:effectLst/>
                <a:uLnTx/>
                <a:uFillTx/>
                <a:latin typeface="Raleway" pitchFamily="34" charset="0"/>
                <a:ea typeface="Raleway" pitchFamily="34" charset="-122"/>
                <a:cs typeface="Raleway" pitchFamily="34" charset="-120"/>
              </a:rPr>
              <a:t>Interactive dashboards across Power BI, Tableau, and Qlik - enabling real-time operational, financial, and leadership insights.</a:t>
            </a:r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1" name="Shape 59"/>
          <p:cNvSpPr/>
          <p:nvPr/>
        </p:nvSpPr>
        <p:spPr>
          <a:xfrm>
            <a:off x="6210605" y="5524805"/>
            <a:ext cx="5372100" cy="952805"/>
          </a:xfrm>
          <a:prstGeom prst="roundRect">
            <a:avLst>
              <a:gd name="adj" fmla="val 15355"/>
            </a:avLst>
          </a:prstGeom>
          <a:solidFill>
            <a:srgbClr val="FFFFFF"/>
          </a:solidFill>
          <a:ln w="12700">
            <a:solidFill>
              <a:srgbClr val="F3F4F6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N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2" name="Shape 60"/>
          <p:cNvSpPr/>
          <p:nvPr/>
        </p:nvSpPr>
        <p:spPr>
          <a:xfrm>
            <a:off x="6210605" y="5524805"/>
            <a:ext cx="38405" cy="952805"/>
          </a:xfrm>
          <a:prstGeom prst="roundRect">
            <a:avLst>
              <a:gd name="adj" fmla="val 380950"/>
            </a:avLst>
          </a:prstGeom>
          <a:solidFill>
            <a:srgbClr val="D62839"/>
          </a:solidFill>
          <a:ln w="12700">
            <a:solidFill>
              <a:srgbClr val="D62839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N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3" name="Shape 61"/>
          <p:cNvSpPr/>
          <p:nvPr/>
        </p:nvSpPr>
        <p:spPr>
          <a:xfrm>
            <a:off x="6391656" y="5648249"/>
            <a:ext cx="400507" cy="400507"/>
          </a:xfrm>
          <a:prstGeom prst="ellipse">
            <a:avLst/>
          </a:prstGeom>
          <a:solidFill>
            <a:srgbClr val="D62839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N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74" name="Image 10" descr="preencoded.png"/>
          <p:cNvPicPr>
            <a:picLocks noChangeAspect="1"/>
          </p:cNvPicPr>
          <p:nvPr/>
        </p:nvPicPr>
        <p:blipFill>
          <a:blip r:embed="rId13"/>
          <a:srcRect/>
          <a:stretch/>
        </p:blipFill>
        <p:spPr>
          <a:xfrm>
            <a:off x="6505956" y="5762549"/>
            <a:ext cx="171907" cy="171907"/>
          </a:xfrm>
          <a:prstGeom prst="rect">
            <a:avLst/>
          </a:prstGeom>
        </p:spPr>
      </p:pic>
      <p:sp>
        <p:nvSpPr>
          <p:cNvPr id="75" name="Text 62"/>
          <p:cNvSpPr txBox="1"/>
          <p:nvPr/>
        </p:nvSpPr>
        <p:spPr>
          <a:xfrm>
            <a:off x="6526987" y="6086246"/>
            <a:ext cx="2103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srgbClr val="D62839">
                    <a:alpha val="60000"/>
                  </a:srgbClr>
                </a:solidFill>
                <a:effectLst/>
                <a:uLnTx/>
                <a:uFillTx/>
                <a:latin typeface="Oswald" pitchFamily="34" charset="0"/>
                <a:ea typeface="Oswald" pitchFamily="34" charset="-122"/>
                <a:cs typeface="Oswald" pitchFamily="34" charset="-120"/>
              </a:rPr>
              <a:t>10</a:t>
            </a:r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6" name="Text 63"/>
          <p:cNvSpPr txBox="1"/>
          <p:nvPr/>
        </p:nvSpPr>
        <p:spPr>
          <a:xfrm>
            <a:off x="6972300" y="5648249"/>
            <a:ext cx="4601261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0" cap="none" spc="24" normalizeH="0" baseline="0" noProof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Oswald" pitchFamily="34" charset="0"/>
                <a:ea typeface="Oswald" pitchFamily="34" charset="-122"/>
                <a:cs typeface="Oswald" pitchFamily="34" charset="-120"/>
              </a:rPr>
              <a:t>ServiceNow</a:t>
            </a:r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7" name="Text 64"/>
          <p:cNvSpPr txBox="1"/>
          <p:nvPr/>
        </p:nvSpPr>
        <p:spPr>
          <a:xfrm>
            <a:off x="6972300" y="5869534"/>
            <a:ext cx="4562856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rgbClr val="555555"/>
                </a:solidFill>
                <a:effectLst/>
                <a:uLnTx/>
                <a:uFillTx/>
                <a:latin typeface="Raleway" pitchFamily="34" charset="0"/>
                <a:ea typeface="Raleway" pitchFamily="34" charset="-122"/>
                <a:cs typeface="Raleway" pitchFamily="34" charset="-120"/>
              </a:rPr>
              <a:t>End-to-end ServiceNow enablement across ITSM, ITOM, CSM, CMDB, automation workflows, and CoE setup for scalable, multi-instance operations.</a:t>
            </a:r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78" name="Image 11" descr="preencoded.png"/>
          <p:cNvPicPr>
            <a:picLocks noChangeAspect="1"/>
          </p:cNvPicPr>
          <p:nvPr/>
        </p:nvPicPr>
        <p:blipFill>
          <a:blip r:embed="rId14"/>
          <a:srcRect l="-202" r="-202"/>
          <a:stretch/>
        </p:blipFill>
        <p:spPr>
          <a:xfrm>
            <a:off x="0" y="0"/>
            <a:ext cx="8128102" cy="75895"/>
          </a:xfrm>
          <a:prstGeom prst="rect">
            <a:avLst/>
          </a:prstGeom>
        </p:spPr>
      </p:pic>
      <p:pic>
        <p:nvPicPr>
          <p:cNvPr id="79" name="Image 12" descr="preencoded.png"/>
          <p:cNvPicPr>
            <a:picLocks noChangeAspect="1"/>
          </p:cNvPicPr>
          <p:nvPr/>
        </p:nvPicPr>
        <p:blipFill>
          <a:blip r:embed="rId15"/>
          <a:srcRect l="-197" r="-197"/>
          <a:stretch/>
        </p:blipFill>
        <p:spPr>
          <a:xfrm>
            <a:off x="8128102" y="0"/>
            <a:ext cx="4063594" cy="758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476753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gen-dedup-9d9df24ea47cddb7d0fdf53525bde3b5.png"/>
          <p:cNvPicPr>
            <a:picLocks noChangeAspect="1"/>
          </p:cNvPicPr>
          <p:nvPr/>
        </p:nvPicPr>
        <p:blipFill>
          <a:blip r:embed="rId3"/>
          <a:srcRect t="-2" b="-2"/>
          <a:stretch/>
        </p:blipFill>
        <p:spPr>
          <a:xfrm>
            <a:off x="0" y="0"/>
            <a:ext cx="8124444" cy="114300"/>
          </a:xfrm>
          <a:prstGeom prst="rect">
            <a:avLst/>
          </a:prstGeom>
        </p:spPr>
      </p:pic>
      <p:pic>
        <p:nvPicPr>
          <p:cNvPr id="3" name="Image 1" descr="gen-dedup-aca74248d2fbe032a73ba742e976ed37.png"/>
          <p:cNvPicPr>
            <a:picLocks noChangeAspect="1"/>
          </p:cNvPicPr>
          <p:nvPr/>
        </p:nvPicPr>
        <p:blipFill>
          <a:blip r:embed="rId4"/>
          <a:srcRect l="-1" r="-1"/>
          <a:stretch/>
        </p:blipFill>
        <p:spPr>
          <a:xfrm>
            <a:off x="8124444" y="0"/>
            <a:ext cx="4067251" cy="11430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8858707" y="-1429207"/>
            <a:ext cx="4762195" cy="4762195"/>
          </a:xfrm>
          <a:prstGeom prst="ellipse">
            <a:avLst/>
          </a:prstGeom>
          <a:solidFill>
            <a:srgbClr val="2A9D8F">
              <a:alpha val="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1"/>
          <p:cNvSpPr/>
          <p:nvPr/>
        </p:nvSpPr>
        <p:spPr>
          <a:xfrm>
            <a:off x="-952805" y="3047695"/>
            <a:ext cx="5715000" cy="5715000"/>
          </a:xfrm>
          <a:prstGeom prst="ellipse">
            <a:avLst/>
          </a:prstGeom>
          <a:solidFill>
            <a:srgbClr val="D62839">
              <a:alpha val="3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6" name="Image 2" descr="gen-dedup-dbb8812bbf9685dd99bfa1af8113e7f1.png"/>
          <p:cNvPicPr>
            <a:picLocks noChangeAspect="1"/>
          </p:cNvPicPr>
          <p:nvPr/>
        </p:nvPicPr>
        <p:blipFill>
          <a:blip r:embed="rId5"/>
          <a:srcRect l="-400" r="-400"/>
          <a:stretch/>
        </p:blipFill>
        <p:spPr>
          <a:xfrm>
            <a:off x="3262782" y="2049323"/>
            <a:ext cx="38405" cy="571500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1333195" y="2011375"/>
            <a:ext cx="9525305" cy="800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6300" b="1" kern="0" spc="315" dirty="0">
                <a:solidFill>
                  <a:srgbClr val="11182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CASE STUDIES</a:t>
            </a:r>
            <a:endParaRPr lang="en-US" sz="6300" dirty="0"/>
          </a:p>
        </p:txBody>
      </p:sp>
      <p:sp>
        <p:nvSpPr>
          <p:cNvPr id="8" name="Text 3"/>
          <p:cNvSpPr txBox="1"/>
          <p:nvPr/>
        </p:nvSpPr>
        <p:spPr>
          <a:xfrm>
            <a:off x="1333195" y="3002585"/>
            <a:ext cx="9525305" cy="2862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900" b="1" kern="0" spc="156" dirty="0">
                <a:solidFill>
                  <a:srgbClr val="2A9D8F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Real problems. Real clients. Measurable outcomes.</a:t>
            </a:r>
            <a:endParaRPr lang="en-US" sz="1900" dirty="0"/>
          </a:p>
        </p:txBody>
      </p:sp>
      <p:pic>
        <p:nvPicPr>
          <p:cNvPr id="9" name="Image 3" descr="gen-dedup-de680169e7c3927b717e44a8a690f2a5.png"/>
          <p:cNvPicPr>
            <a:picLocks noChangeAspect="1"/>
          </p:cNvPicPr>
          <p:nvPr/>
        </p:nvPicPr>
        <p:blipFill>
          <a:blip r:embed="rId6"/>
          <a:srcRect t="-400" b="-400"/>
          <a:stretch/>
        </p:blipFill>
        <p:spPr>
          <a:xfrm>
            <a:off x="5810098" y="3574085"/>
            <a:ext cx="571500" cy="19202"/>
          </a:xfrm>
          <a:prstGeom prst="rect">
            <a:avLst/>
          </a:prstGeom>
        </p:spPr>
      </p:pic>
      <p:sp>
        <p:nvSpPr>
          <p:cNvPr id="10" name="Text 4"/>
          <p:cNvSpPr txBox="1"/>
          <p:nvPr/>
        </p:nvSpPr>
        <p:spPr>
          <a:xfrm>
            <a:off x="1333195" y="3878580"/>
            <a:ext cx="952530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i="1" dirty="0">
                <a:solidFill>
                  <a:srgbClr val="47556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"Every engagement below moved a metric that mattered — not just a milestone."</a:t>
            </a:r>
            <a:endParaRPr lang="en-US" sz="1500" dirty="0"/>
          </a:p>
        </p:txBody>
      </p:sp>
      <p:sp>
        <p:nvSpPr>
          <p:cNvPr id="11" name="Shape 5"/>
          <p:cNvSpPr/>
          <p:nvPr/>
        </p:nvSpPr>
        <p:spPr>
          <a:xfrm>
            <a:off x="609905" y="6096305"/>
            <a:ext cx="10972800" cy="9144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6"/>
          <p:cNvSpPr txBox="1"/>
          <p:nvPr/>
        </p:nvSpPr>
        <p:spPr>
          <a:xfrm>
            <a:off x="609905" y="6295644"/>
            <a:ext cx="129296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60" dirty="0">
                <a:solidFill>
                  <a:srgbClr val="11182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JOULESTOWATTS</a:t>
            </a:r>
            <a:endParaRPr lang="en-US" sz="1200" dirty="0"/>
          </a:p>
        </p:txBody>
      </p:sp>
      <p:sp>
        <p:nvSpPr>
          <p:cNvPr id="13" name="Text 7"/>
          <p:cNvSpPr txBox="1"/>
          <p:nvPr/>
        </p:nvSpPr>
        <p:spPr>
          <a:xfrm>
            <a:off x="9755734" y="6334049"/>
            <a:ext cx="1975104" cy="1527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64748B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PORTFOLIO OF EXCELLENCE</a:t>
            </a:r>
            <a:endParaRPr lang="en-US" sz="10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4" name="Image 0" descr="gen-dedup-9663ecf744b06e35d4c2cebaab92a2ea.png"/>
          <p:cNvPicPr>
            <a:picLocks noChangeAspect="1"/>
          </p:cNvPicPr>
          <p:nvPr/>
        </p:nvPicPr>
        <p:blipFill>
          <a:blip r:embed="rId3"/>
          <a:srcRect l="-202" r="-202"/>
          <a:stretch/>
        </p:blipFill>
        <p:spPr>
          <a:xfrm>
            <a:off x="0" y="0"/>
            <a:ext cx="4067251" cy="75895"/>
          </a:xfrm>
          <a:prstGeom prst="rect">
            <a:avLst/>
          </a:prstGeom>
        </p:spPr>
      </p:pic>
      <p:pic>
        <p:nvPicPr>
          <p:cNvPr id="5" name="Image 1" descr="gen-dedup-323228122ff92d2332e711a84ca3b40c.png"/>
          <p:cNvPicPr>
            <a:picLocks noChangeAspect="1"/>
          </p:cNvPicPr>
          <p:nvPr/>
        </p:nvPicPr>
        <p:blipFill>
          <a:blip r:embed="rId4"/>
          <a:srcRect l="-198" r="-198"/>
          <a:stretch/>
        </p:blipFill>
        <p:spPr>
          <a:xfrm>
            <a:off x="4067251" y="0"/>
            <a:ext cx="8124444" cy="75895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9334195" y="-476402"/>
            <a:ext cx="3810305" cy="3810305"/>
          </a:xfrm>
          <a:prstGeom prst="ellipse">
            <a:avLst/>
          </a:prstGeom>
          <a:solidFill>
            <a:srgbClr val="2A9D8F">
              <a:alpha val="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3"/>
          <p:cNvSpPr/>
          <p:nvPr/>
        </p:nvSpPr>
        <p:spPr>
          <a:xfrm>
            <a:off x="-1429207" y="3047695"/>
            <a:ext cx="3333902" cy="3333902"/>
          </a:xfrm>
          <a:prstGeom prst="ellipse">
            <a:avLst/>
          </a:prstGeom>
          <a:solidFill>
            <a:srgbClr val="D62839">
              <a:alpha val="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4"/>
          <p:cNvSpPr/>
          <p:nvPr/>
        </p:nvSpPr>
        <p:spPr>
          <a:xfrm>
            <a:off x="647395" y="4619549"/>
            <a:ext cx="10916107" cy="1781251"/>
          </a:xfrm>
          <a:prstGeom prst="roundRect">
            <a:avLst>
              <a:gd name="adj" fmla="val 439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5"/>
          <p:cNvSpPr/>
          <p:nvPr/>
        </p:nvSpPr>
        <p:spPr>
          <a:xfrm>
            <a:off x="647395" y="1571854"/>
            <a:ext cx="3524098" cy="2809951"/>
          </a:xfrm>
          <a:prstGeom prst="roundRect">
            <a:avLst>
              <a:gd name="adj" fmla="val 132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39700" dist="38100" dir="16200000" algn="bl" rotWithShape="0">
              <a:srgbClr val="000000">
                <a:alpha val="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6"/>
          <p:cNvSpPr/>
          <p:nvPr/>
        </p:nvSpPr>
        <p:spPr>
          <a:xfrm>
            <a:off x="647395" y="1571854"/>
            <a:ext cx="3524098" cy="38405"/>
          </a:xfrm>
          <a:prstGeom prst="roundRect">
            <a:avLst>
              <a:gd name="adj" fmla="val 96852"/>
            </a:avLst>
          </a:prstGeom>
          <a:solidFill>
            <a:srgbClr val="2A9D8F"/>
          </a:solidFill>
          <a:ln w="12700">
            <a:solidFill>
              <a:srgbClr val="2A9D8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7"/>
          <p:cNvSpPr/>
          <p:nvPr/>
        </p:nvSpPr>
        <p:spPr>
          <a:xfrm>
            <a:off x="4343400" y="1571854"/>
            <a:ext cx="3524098" cy="2809951"/>
          </a:xfrm>
          <a:prstGeom prst="roundRect">
            <a:avLst>
              <a:gd name="adj" fmla="val 132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39700" dist="38100" dir="16200000" algn="bl" rotWithShape="0">
              <a:srgbClr val="000000">
                <a:alpha val="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8"/>
          <p:cNvSpPr/>
          <p:nvPr/>
        </p:nvSpPr>
        <p:spPr>
          <a:xfrm>
            <a:off x="4343400" y="1571854"/>
            <a:ext cx="3524098" cy="38405"/>
          </a:xfrm>
          <a:prstGeom prst="roundRect">
            <a:avLst>
              <a:gd name="adj" fmla="val 96852"/>
            </a:avLst>
          </a:prstGeom>
          <a:solidFill>
            <a:srgbClr val="D62839"/>
          </a:solidFill>
          <a:ln w="12700">
            <a:solidFill>
              <a:srgbClr val="D62839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9"/>
          <p:cNvSpPr/>
          <p:nvPr/>
        </p:nvSpPr>
        <p:spPr>
          <a:xfrm>
            <a:off x="8039405" y="1571854"/>
            <a:ext cx="3524098" cy="2809951"/>
          </a:xfrm>
          <a:prstGeom prst="roundRect">
            <a:avLst>
              <a:gd name="adj" fmla="val 132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39700" dist="38100" dir="16200000" algn="bl" rotWithShape="0">
              <a:srgbClr val="000000">
                <a:alpha val="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Shape 10"/>
          <p:cNvSpPr/>
          <p:nvPr/>
        </p:nvSpPr>
        <p:spPr>
          <a:xfrm>
            <a:off x="8039405" y="1571854"/>
            <a:ext cx="3524098" cy="38405"/>
          </a:xfrm>
          <a:prstGeom prst="roundRect">
            <a:avLst>
              <a:gd name="adj" fmla="val 96852"/>
            </a:avLst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1"/>
          <p:cNvSpPr/>
          <p:nvPr/>
        </p:nvSpPr>
        <p:spPr>
          <a:xfrm>
            <a:off x="905256" y="5143500"/>
            <a:ext cx="2467051" cy="1114654"/>
          </a:xfrm>
          <a:prstGeom prst="roundRect">
            <a:avLst>
              <a:gd name="adj" fmla="val 560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76200" dist="25400" dir="16200000" algn="bl" rotWithShape="0">
              <a:srgbClr val="000000">
                <a:alpha val="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2"/>
          <p:cNvSpPr/>
          <p:nvPr/>
        </p:nvSpPr>
        <p:spPr>
          <a:xfrm>
            <a:off x="3666744" y="5143500"/>
            <a:ext cx="2467051" cy="1114654"/>
          </a:xfrm>
          <a:prstGeom prst="roundRect">
            <a:avLst>
              <a:gd name="adj" fmla="val 560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76200" dist="25400" dir="16200000" algn="bl" rotWithShape="0">
              <a:srgbClr val="000000">
                <a:alpha val="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3"/>
          <p:cNvSpPr/>
          <p:nvPr/>
        </p:nvSpPr>
        <p:spPr>
          <a:xfrm>
            <a:off x="6429146" y="5143500"/>
            <a:ext cx="2467051" cy="1114654"/>
          </a:xfrm>
          <a:prstGeom prst="roundRect">
            <a:avLst>
              <a:gd name="adj" fmla="val 560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76200" dist="25400" dir="16200000" algn="bl" rotWithShape="0">
              <a:srgbClr val="000000">
                <a:alpha val="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Shape 14"/>
          <p:cNvSpPr/>
          <p:nvPr/>
        </p:nvSpPr>
        <p:spPr>
          <a:xfrm>
            <a:off x="9191549" y="5143500"/>
            <a:ext cx="2180844" cy="1114654"/>
          </a:xfrm>
          <a:prstGeom prst="roundRect">
            <a:avLst>
              <a:gd name="adj" fmla="val 560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76200" dist="25400" dir="16200000" algn="bl" rotWithShape="0">
              <a:srgbClr val="000000">
                <a:alpha val="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9" name="Image 2" descr="gen-dedup-06e3d16aa0e9246458a784af17ea21a8.png"/>
          <p:cNvPicPr>
            <a:picLocks noChangeAspect="1"/>
          </p:cNvPicPr>
          <p:nvPr/>
        </p:nvPicPr>
        <p:blipFill>
          <a:blip r:embed="rId5"/>
          <a:srcRect l="-437" r="-437"/>
          <a:stretch/>
        </p:blipFill>
        <p:spPr>
          <a:xfrm>
            <a:off x="647395" y="743407"/>
            <a:ext cx="57607" cy="418795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857707" y="685800"/>
            <a:ext cx="10478110" cy="4197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1182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NEXT STEPS</a:t>
            </a:r>
            <a:endParaRPr lang="en-US" sz="3000" dirty="0"/>
          </a:p>
        </p:txBody>
      </p:sp>
      <p:sp>
        <p:nvSpPr>
          <p:cNvPr id="21" name="Text 16"/>
          <p:cNvSpPr txBox="1"/>
          <p:nvPr/>
        </p:nvSpPr>
        <p:spPr>
          <a:xfrm>
            <a:off x="857707" y="1143000"/>
            <a:ext cx="10478110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kern="0" spc="60" dirty="0">
                <a:solidFill>
                  <a:srgbClr val="2A9D8F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Flexible Engagement Models Tailored To Your Three-year Roadmap</a:t>
            </a:r>
            <a:endParaRPr lang="en-US" sz="1500" dirty="0"/>
          </a:p>
        </p:txBody>
      </p:sp>
      <p:sp>
        <p:nvSpPr>
          <p:cNvPr id="22" name="Shape 17"/>
          <p:cNvSpPr/>
          <p:nvPr/>
        </p:nvSpPr>
        <p:spPr>
          <a:xfrm>
            <a:off x="838505" y="1762049"/>
            <a:ext cx="457200" cy="457200"/>
          </a:xfrm>
          <a:prstGeom prst="roundRect">
            <a:avLst>
              <a:gd name="adj" fmla="val 66667"/>
            </a:avLst>
          </a:prstGeom>
          <a:solidFill>
            <a:srgbClr val="E6F3F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3" name="Image 3" descr="gen-dedup-fa5d0b435e79f3035aaec6593bf7cfb3.png"/>
          <p:cNvPicPr>
            <a:picLocks noChangeAspect="1"/>
          </p:cNvPicPr>
          <p:nvPr/>
        </p:nvPicPr>
        <p:blipFill>
          <a:blip r:embed="rId6"/>
          <a:srcRect l="-3526" r="-3526"/>
          <a:stretch/>
        </p:blipFill>
        <p:spPr>
          <a:xfrm>
            <a:off x="990295" y="1895551"/>
            <a:ext cx="152705" cy="190195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1447495" y="1794967"/>
            <a:ext cx="1995221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>
                <a:solidFill>
                  <a:srgbClr val="11182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Discovery Workshop</a:t>
            </a:r>
            <a:endParaRPr lang="en-US" sz="1600"/>
          </a:p>
        </p:txBody>
      </p:sp>
      <p:sp>
        <p:nvSpPr>
          <p:cNvPr id="25" name="Text 19"/>
          <p:cNvSpPr txBox="1"/>
          <p:nvPr/>
        </p:nvSpPr>
        <p:spPr>
          <a:xfrm>
            <a:off x="1447495" y="2043684"/>
            <a:ext cx="1677010" cy="1435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>
                <a:solidFill>
                  <a:srgbClr val="64748B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Duration: ~90 Minutes</a:t>
            </a:r>
            <a:endParaRPr lang="en-US" sz="900"/>
          </a:p>
        </p:txBody>
      </p:sp>
      <p:sp>
        <p:nvSpPr>
          <p:cNvPr id="26" name="Shape 20"/>
          <p:cNvSpPr/>
          <p:nvPr/>
        </p:nvSpPr>
        <p:spPr>
          <a:xfrm>
            <a:off x="3259836" y="1762049"/>
            <a:ext cx="705002" cy="256946"/>
          </a:xfrm>
          <a:prstGeom prst="roundRect">
            <a:avLst>
              <a:gd name="adj" fmla="val 316331"/>
            </a:avLst>
          </a:prstGeom>
          <a:solidFill>
            <a:srgbClr val="E6F3F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1"/>
          <p:cNvSpPr txBox="1"/>
          <p:nvPr/>
        </p:nvSpPr>
        <p:spPr>
          <a:xfrm>
            <a:off x="838505" y="2447849"/>
            <a:ext cx="3124505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45">
                <a:solidFill>
                  <a:srgbClr val="94A3B8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KEY DELIVERABLES</a:t>
            </a:r>
            <a:endParaRPr lang="en-US" sz="900"/>
          </a:p>
        </p:txBody>
      </p:sp>
      <p:pic>
        <p:nvPicPr>
          <p:cNvPr id="28" name="Image 4" descr="gen-dedup-2910efa1624004b251a6644ba5a6ae47.png"/>
          <p:cNvPicPr>
            <a:picLocks noChangeAspect="1"/>
          </p:cNvPicPr>
          <p:nvPr/>
        </p:nvPicPr>
        <p:blipFill>
          <a:blip r:embed="rId7"/>
          <a:srcRect t="-27726" b="-27726"/>
          <a:stretch/>
        </p:blipFill>
        <p:spPr>
          <a:xfrm>
            <a:off x="838505" y="2734056"/>
            <a:ext cx="85954" cy="152705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1019556" y="2695651"/>
            <a:ext cx="2732227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>
                <a:solidFill>
                  <a:srgbClr val="47556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Use case identification &amp; prioritization</a:t>
            </a:r>
            <a:endParaRPr lang="en-US" sz="1000"/>
          </a:p>
        </p:txBody>
      </p:sp>
      <p:pic>
        <p:nvPicPr>
          <p:cNvPr id="30" name="Image 5" descr="gen-dedup-2910efa1624004b251a6644ba5a6ae47.png"/>
          <p:cNvPicPr>
            <a:picLocks noChangeAspect="1"/>
          </p:cNvPicPr>
          <p:nvPr/>
        </p:nvPicPr>
        <p:blipFill>
          <a:blip r:embed="rId7"/>
          <a:srcRect t="-27726" b="-27726"/>
          <a:stretch/>
        </p:blipFill>
        <p:spPr>
          <a:xfrm>
            <a:off x="838505" y="3019349"/>
            <a:ext cx="85954" cy="152705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1019556" y="2980944"/>
            <a:ext cx="1972361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>
                <a:solidFill>
                  <a:srgbClr val="47556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Value hypothesis definition</a:t>
            </a:r>
            <a:endParaRPr lang="en-US" sz="1000"/>
          </a:p>
        </p:txBody>
      </p:sp>
      <p:pic>
        <p:nvPicPr>
          <p:cNvPr id="32" name="Image 6" descr="gen-dedup-2910efa1624004b251a6644ba5a6ae47.png"/>
          <p:cNvPicPr>
            <a:picLocks noChangeAspect="1"/>
          </p:cNvPicPr>
          <p:nvPr/>
        </p:nvPicPr>
        <p:blipFill>
          <a:blip r:embed="rId7"/>
          <a:srcRect t="-27726" b="-27726"/>
          <a:stretch/>
        </p:blipFill>
        <p:spPr>
          <a:xfrm>
            <a:off x="838505" y="3305556"/>
            <a:ext cx="85954" cy="152705"/>
          </a:xfrm>
          <a:prstGeom prst="rect">
            <a:avLst/>
          </a:prstGeom>
        </p:spPr>
      </p:pic>
      <p:sp>
        <p:nvSpPr>
          <p:cNvPr id="33" name="Text 24"/>
          <p:cNvSpPr txBox="1"/>
          <p:nvPr/>
        </p:nvSpPr>
        <p:spPr>
          <a:xfrm>
            <a:off x="1019556" y="3267151"/>
            <a:ext cx="3377794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>
                <a:solidFill>
                  <a:srgbClr val="47556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High-level roadmap aligned to 70/30 strategy</a:t>
            </a:r>
            <a:endParaRPr lang="en-US" sz="1000"/>
          </a:p>
        </p:txBody>
      </p:sp>
      <p:sp>
        <p:nvSpPr>
          <p:cNvPr id="34" name="Text 25"/>
          <p:cNvSpPr txBox="1"/>
          <p:nvPr/>
        </p:nvSpPr>
        <p:spPr>
          <a:xfrm>
            <a:off x="3354934" y="1848002"/>
            <a:ext cx="662026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>
                <a:solidFill>
                  <a:srgbClr val="2A9D8F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LOW TOUCH</a:t>
            </a:r>
            <a:endParaRPr lang="en-US" sz="800"/>
          </a:p>
        </p:txBody>
      </p:sp>
      <p:sp>
        <p:nvSpPr>
          <p:cNvPr id="35" name="Shape 26"/>
          <p:cNvSpPr/>
          <p:nvPr/>
        </p:nvSpPr>
        <p:spPr>
          <a:xfrm>
            <a:off x="4533595" y="1762049"/>
            <a:ext cx="457200" cy="457200"/>
          </a:xfrm>
          <a:prstGeom prst="roundRect">
            <a:avLst>
              <a:gd name="adj" fmla="val 66667"/>
            </a:avLst>
          </a:prstGeom>
          <a:solidFill>
            <a:srgbClr val="FBE6E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6" name="Image 7" descr="gen-dedup-302cf04975ca72dffec5134ed5b99fbe.png"/>
          <p:cNvPicPr>
            <a:picLocks noChangeAspect="1"/>
          </p:cNvPicPr>
          <p:nvPr/>
        </p:nvPicPr>
        <p:blipFill>
          <a:blip r:embed="rId8"/>
          <a:srcRect t="-4491" b="-4491"/>
          <a:stretch/>
        </p:blipFill>
        <p:spPr>
          <a:xfrm>
            <a:off x="4686300" y="1895551"/>
            <a:ext cx="152705" cy="190195"/>
          </a:xfrm>
          <a:prstGeom prst="rect">
            <a:avLst/>
          </a:prstGeom>
        </p:spPr>
      </p:pic>
      <p:sp>
        <p:nvSpPr>
          <p:cNvPr id="37" name="Text 27"/>
          <p:cNvSpPr txBox="1"/>
          <p:nvPr/>
        </p:nvSpPr>
        <p:spPr>
          <a:xfrm>
            <a:off x="5143500" y="1794967"/>
            <a:ext cx="1825142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>
                <a:solidFill>
                  <a:srgbClr val="11182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Assessment &amp; PoC</a:t>
            </a:r>
            <a:endParaRPr lang="en-US" sz="1600"/>
          </a:p>
        </p:txBody>
      </p:sp>
      <p:sp>
        <p:nvSpPr>
          <p:cNvPr id="38" name="Text 28"/>
          <p:cNvSpPr txBox="1"/>
          <p:nvPr/>
        </p:nvSpPr>
        <p:spPr>
          <a:xfrm>
            <a:off x="5143500" y="2043684"/>
            <a:ext cx="1534363" cy="1435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>
                <a:solidFill>
                  <a:srgbClr val="64748B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Duration: 4 Weeks</a:t>
            </a:r>
            <a:endParaRPr lang="en-US" sz="900"/>
          </a:p>
        </p:txBody>
      </p:sp>
      <p:sp>
        <p:nvSpPr>
          <p:cNvPr id="39" name="Shape 29"/>
          <p:cNvSpPr/>
          <p:nvPr/>
        </p:nvSpPr>
        <p:spPr>
          <a:xfrm>
            <a:off x="6982358" y="1762049"/>
            <a:ext cx="676656" cy="256946"/>
          </a:xfrm>
          <a:prstGeom prst="roundRect">
            <a:avLst>
              <a:gd name="adj" fmla="val 316331"/>
            </a:avLst>
          </a:prstGeom>
          <a:solidFill>
            <a:srgbClr val="FBE6E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Text 30"/>
          <p:cNvSpPr txBox="1"/>
          <p:nvPr/>
        </p:nvSpPr>
        <p:spPr>
          <a:xfrm>
            <a:off x="4533595" y="2447849"/>
            <a:ext cx="3124505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45">
                <a:solidFill>
                  <a:srgbClr val="94A3B8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KEY DELIVERABLES</a:t>
            </a:r>
            <a:endParaRPr lang="en-US" sz="900"/>
          </a:p>
        </p:txBody>
      </p:sp>
      <p:pic>
        <p:nvPicPr>
          <p:cNvPr id="41" name="Image 8" descr="gen-dedup-3f480c66afa147b2245dea2610bb3896.png"/>
          <p:cNvPicPr>
            <a:picLocks noChangeAspect="1"/>
          </p:cNvPicPr>
          <p:nvPr/>
        </p:nvPicPr>
        <p:blipFill>
          <a:blip r:embed="rId9"/>
          <a:srcRect t="-12832" b="-12832"/>
          <a:stretch/>
        </p:blipFill>
        <p:spPr>
          <a:xfrm>
            <a:off x="4533595" y="2734056"/>
            <a:ext cx="85954" cy="123444"/>
          </a:xfrm>
          <a:prstGeom prst="rect">
            <a:avLst/>
          </a:prstGeom>
        </p:spPr>
      </p:pic>
      <p:sp>
        <p:nvSpPr>
          <p:cNvPr id="42" name="Text 31"/>
          <p:cNvSpPr txBox="1"/>
          <p:nvPr/>
        </p:nvSpPr>
        <p:spPr>
          <a:xfrm>
            <a:off x="4714646" y="2695651"/>
            <a:ext cx="2154326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>
                <a:solidFill>
                  <a:srgbClr val="47556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Target state architecture design</a:t>
            </a:r>
            <a:endParaRPr lang="en-US" sz="900"/>
          </a:p>
        </p:txBody>
      </p:sp>
      <p:pic>
        <p:nvPicPr>
          <p:cNvPr id="43" name="Image 9" descr="gen-dedup-3f480c66afa147b2245dea2610bb3896.png"/>
          <p:cNvPicPr>
            <a:picLocks noChangeAspect="1"/>
          </p:cNvPicPr>
          <p:nvPr/>
        </p:nvPicPr>
        <p:blipFill>
          <a:blip r:embed="rId9"/>
          <a:srcRect t="-12832" b="-12832"/>
          <a:stretch/>
        </p:blipFill>
        <p:spPr>
          <a:xfrm>
            <a:off x="4533595" y="2971800"/>
            <a:ext cx="85954" cy="123444"/>
          </a:xfrm>
          <a:prstGeom prst="rect">
            <a:avLst/>
          </a:prstGeom>
        </p:spPr>
      </p:pic>
      <p:sp>
        <p:nvSpPr>
          <p:cNvPr id="44" name="Text 32"/>
          <p:cNvSpPr txBox="1"/>
          <p:nvPr/>
        </p:nvSpPr>
        <p:spPr>
          <a:xfrm>
            <a:off x="4714646" y="2933395"/>
            <a:ext cx="2505456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>
                <a:solidFill>
                  <a:srgbClr val="47556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Working pilot / MVP implementation</a:t>
            </a:r>
            <a:endParaRPr lang="en-US" sz="900"/>
          </a:p>
        </p:txBody>
      </p:sp>
      <p:pic>
        <p:nvPicPr>
          <p:cNvPr id="45" name="Image 10" descr="gen-dedup-3f480c66afa147b2245dea2610bb3896.png"/>
          <p:cNvPicPr>
            <a:picLocks noChangeAspect="1"/>
          </p:cNvPicPr>
          <p:nvPr/>
        </p:nvPicPr>
        <p:blipFill>
          <a:blip r:embed="rId9"/>
          <a:srcRect t="-12832" b="-12832"/>
          <a:stretch/>
        </p:blipFill>
        <p:spPr>
          <a:xfrm>
            <a:off x="4533595" y="3209544"/>
            <a:ext cx="85954" cy="123444"/>
          </a:xfrm>
          <a:prstGeom prst="rect">
            <a:avLst/>
          </a:prstGeom>
        </p:spPr>
      </p:pic>
      <p:sp>
        <p:nvSpPr>
          <p:cNvPr id="46" name="Text 33"/>
          <p:cNvSpPr txBox="1"/>
          <p:nvPr/>
        </p:nvSpPr>
        <p:spPr>
          <a:xfrm>
            <a:off x="4714646" y="3172054"/>
            <a:ext cx="2278685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>
                <a:solidFill>
                  <a:srgbClr val="47556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Detailed ROI model &amp; rollout plan</a:t>
            </a:r>
            <a:endParaRPr lang="en-US" sz="900"/>
          </a:p>
        </p:txBody>
      </p:sp>
      <p:pic>
        <p:nvPicPr>
          <p:cNvPr id="47" name="Image 11" descr="gen-dedup-3f480c66afa147b2245dea2610bb3896.png"/>
          <p:cNvPicPr>
            <a:picLocks noChangeAspect="1"/>
          </p:cNvPicPr>
          <p:nvPr/>
        </p:nvPicPr>
        <p:blipFill>
          <a:blip r:embed="rId9"/>
          <a:srcRect t="-12832" b="-12832"/>
          <a:stretch/>
        </p:blipFill>
        <p:spPr>
          <a:xfrm>
            <a:off x="4533595" y="3448202"/>
            <a:ext cx="85954" cy="123444"/>
          </a:xfrm>
          <a:prstGeom prst="rect">
            <a:avLst/>
          </a:prstGeom>
        </p:spPr>
      </p:pic>
      <p:sp>
        <p:nvSpPr>
          <p:cNvPr id="48" name="Text 34"/>
          <p:cNvSpPr txBox="1"/>
          <p:nvPr/>
        </p:nvSpPr>
        <p:spPr>
          <a:xfrm>
            <a:off x="4714646" y="3409798"/>
            <a:ext cx="2108606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>
                <a:solidFill>
                  <a:srgbClr val="47556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Vendor integration assessment</a:t>
            </a:r>
            <a:endParaRPr lang="en-US" sz="900"/>
          </a:p>
        </p:txBody>
      </p:sp>
      <p:sp>
        <p:nvSpPr>
          <p:cNvPr id="49" name="Text 35"/>
          <p:cNvSpPr txBox="1"/>
          <p:nvPr/>
        </p:nvSpPr>
        <p:spPr>
          <a:xfrm>
            <a:off x="7077456" y="1848002"/>
            <a:ext cx="658368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>
                <a:solidFill>
                  <a:srgbClr val="D62839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STRATEGIC</a:t>
            </a:r>
            <a:endParaRPr lang="en-US" sz="800"/>
          </a:p>
        </p:txBody>
      </p:sp>
      <p:sp>
        <p:nvSpPr>
          <p:cNvPr id="50" name="Shape 36"/>
          <p:cNvSpPr/>
          <p:nvPr/>
        </p:nvSpPr>
        <p:spPr>
          <a:xfrm>
            <a:off x="8229600" y="1762049"/>
            <a:ext cx="457200" cy="457200"/>
          </a:xfrm>
          <a:prstGeom prst="roundRect">
            <a:avLst>
              <a:gd name="adj" fmla="val 66667"/>
            </a:avLst>
          </a:prstGeom>
          <a:solidFill>
            <a:srgbClr val="F1F5F9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51" name="Image 12" descr="gen-dedup-e104b6e838315a11dc2d3bf260faf00b.png"/>
          <p:cNvPicPr>
            <a:picLocks noChangeAspect="1"/>
          </p:cNvPicPr>
          <p:nvPr/>
        </p:nvPicPr>
        <p:blipFill>
          <a:blip r:embed="rId10"/>
          <a:srcRect t="-27844" b="-27844"/>
          <a:stretch/>
        </p:blipFill>
        <p:spPr>
          <a:xfrm>
            <a:off x="8382305" y="1895551"/>
            <a:ext cx="152705" cy="190195"/>
          </a:xfrm>
          <a:prstGeom prst="rect">
            <a:avLst/>
          </a:prstGeom>
        </p:spPr>
      </p:pic>
      <p:sp>
        <p:nvSpPr>
          <p:cNvPr id="52" name="Text 37"/>
          <p:cNvSpPr txBox="1"/>
          <p:nvPr/>
        </p:nvSpPr>
        <p:spPr>
          <a:xfrm>
            <a:off x="8839505" y="1794967"/>
            <a:ext cx="1938528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>
                <a:solidFill>
                  <a:srgbClr val="11182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Build &amp; Run Models</a:t>
            </a:r>
            <a:endParaRPr lang="en-US" sz="1600"/>
          </a:p>
        </p:txBody>
      </p:sp>
      <p:sp>
        <p:nvSpPr>
          <p:cNvPr id="53" name="Text 38"/>
          <p:cNvSpPr txBox="1"/>
          <p:nvPr/>
        </p:nvSpPr>
        <p:spPr>
          <a:xfrm>
            <a:off x="8839505" y="2043684"/>
            <a:ext cx="1629461" cy="1435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>
                <a:solidFill>
                  <a:srgbClr val="64748B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Duration: Multi-Year</a:t>
            </a:r>
            <a:endParaRPr lang="en-US" sz="900"/>
          </a:p>
        </p:txBody>
      </p:sp>
      <p:sp>
        <p:nvSpPr>
          <p:cNvPr id="54" name="Shape 39"/>
          <p:cNvSpPr/>
          <p:nvPr/>
        </p:nvSpPr>
        <p:spPr>
          <a:xfrm>
            <a:off x="10555834" y="1762049"/>
            <a:ext cx="800100" cy="256946"/>
          </a:xfrm>
          <a:prstGeom prst="roundRect">
            <a:avLst>
              <a:gd name="adj" fmla="val 316331"/>
            </a:avLst>
          </a:prstGeom>
          <a:solidFill>
            <a:srgbClr val="F1F5F9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5" name="Text 40"/>
          <p:cNvSpPr txBox="1"/>
          <p:nvPr/>
        </p:nvSpPr>
        <p:spPr>
          <a:xfrm>
            <a:off x="8229600" y="2447849"/>
            <a:ext cx="3124505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45">
                <a:solidFill>
                  <a:srgbClr val="94A3B8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COMMERCIAL MODELS</a:t>
            </a:r>
            <a:endParaRPr lang="en-US" sz="900"/>
          </a:p>
        </p:txBody>
      </p:sp>
      <p:pic>
        <p:nvPicPr>
          <p:cNvPr id="56" name="Image 13" descr="gen-dedup-06c19e2f143b52e69c4653630769d291.png"/>
          <p:cNvPicPr>
            <a:picLocks noChangeAspect="1"/>
          </p:cNvPicPr>
          <p:nvPr/>
        </p:nvPicPr>
        <p:blipFill>
          <a:blip r:embed="rId11"/>
          <a:srcRect t="-27726" b="-27726"/>
          <a:stretch/>
        </p:blipFill>
        <p:spPr>
          <a:xfrm>
            <a:off x="8229600" y="2734056"/>
            <a:ext cx="85954" cy="152705"/>
          </a:xfrm>
          <a:prstGeom prst="rect">
            <a:avLst/>
          </a:prstGeom>
        </p:spPr>
      </p:pic>
      <p:sp>
        <p:nvSpPr>
          <p:cNvPr id="57" name="Text 41"/>
          <p:cNvSpPr txBox="1"/>
          <p:nvPr/>
        </p:nvSpPr>
        <p:spPr>
          <a:xfrm>
            <a:off x="8410651" y="2695651"/>
            <a:ext cx="2879446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>
                <a:solidFill>
                  <a:srgbClr val="1118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Fixed Scope:</a:t>
            </a:r>
            <a:r>
              <a:rPr lang="en-US" sz="1000">
                <a:solidFill>
                  <a:srgbClr val="47556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For defined project builds</a:t>
            </a:r>
            <a:endParaRPr lang="en-US" sz="1000"/>
          </a:p>
        </p:txBody>
      </p:sp>
      <p:pic>
        <p:nvPicPr>
          <p:cNvPr id="58" name="Image 14" descr="gen-dedup-06c19e2f143b52e69c4653630769d291.png"/>
          <p:cNvPicPr>
            <a:picLocks noChangeAspect="1"/>
          </p:cNvPicPr>
          <p:nvPr/>
        </p:nvPicPr>
        <p:blipFill>
          <a:blip r:embed="rId11"/>
          <a:srcRect t="-27726" b="-27726"/>
          <a:stretch/>
        </p:blipFill>
        <p:spPr>
          <a:xfrm>
            <a:off x="8229600" y="3038551"/>
            <a:ext cx="85954" cy="152705"/>
          </a:xfrm>
          <a:prstGeom prst="rect">
            <a:avLst/>
          </a:prstGeom>
        </p:spPr>
      </p:pic>
      <p:sp>
        <p:nvSpPr>
          <p:cNvPr id="59" name="Text 42"/>
          <p:cNvSpPr txBox="1"/>
          <p:nvPr/>
        </p:nvSpPr>
        <p:spPr>
          <a:xfrm>
            <a:off x="8410651" y="3000146"/>
            <a:ext cx="3038551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>
                <a:solidFill>
                  <a:srgbClr val="1118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Managed Service:</a:t>
            </a:r>
            <a:r>
              <a:rPr lang="en-US" sz="1000">
                <a:solidFill>
                  <a:srgbClr val="47556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SLA-driven operations</a:t>
            </a:r>
            <a:endParaRPr lang="en-US" sz="1000"/>
          </a:p>
        </p:txBody>
      </p:sp>
      <p:pic>
        <p:nvPicPr>
          <p:cNvPr id="60" name="Image 15" descr="gen-dedup-3678629b4a5ad6139a7cc5dcf1ee97ee.png"/>
          <p:cNvPicPr>
            <a:picLocks noChangeAspect="1"/>
          </p:cNvPicPr>
          <p:nvPr/>
        </p:nvPicPr>
        <p:blipFill>
          <a:blip r:embed="rId12"/>
          <a:srcRect t="-119879" b="-119879"/>
          <a:stretch/>
        </p:blipFill>
        <p:spPr>
          <a:xfrm>
            <a:off x="8229600" y="3343046"/>
            <a:ext cx="85954" cy="333756"/>
          </a:xfrm>
          <a:prstGeom prst="rect">
            <a:avLst/>
          </a:prstGeom>
        </p:spPr>
      </p:pic>
      <p:sp>
        <p:nvSpPr>
          <p:cNvPr id="61" name="Text 43"/>
          <p:cNvSpPr txBox="1"/>
          <p:nvPr/>
        </p:nvSpPr>
        <p:spPr>
          <a:xfrm>
            <a:off x="8410651" y="3305556"/>
            <a:ext cx="2943454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>
                <a:solidFill>
                  <a:srgbClr val="1118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Outcome-Based:</a:t>
            </a:r>
            <a:r>
              <a:rPr lang="en-US" sz="1000">
                <a:solidFill>
                  <a:srgbClr val="47556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Gain-share pricing tied to value</a:t>
            </a:r>
            <a:endParaRPr lang="en-US" sz="1000"/>
          </a:p>
        </p:txBody>
      </p:sp>
      <p:sp>
        <p:nvSpPr>
          <p:cNvPr id="62" name="Text 44"/>
          <p:cNvSpPr txBox="1"/>
          <p:nvPr/>
        </p:nvSpPr>
        <p:spPr>
          <a:xfrm>
            <a:off x="10650931" y="1848002"/>
            <a:ext cx="806501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>
                <a:solidFill>
                  <a:srgbClr val="334155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PARTNERSHIP</a:t>
            </a:r>
            <a:endParaRPr lang="en-US" sz="800"/>
          </a:p>
        </p:txBody>
      </p:sp>
      <p:pic>
        <p:nvPicPr>
          <p:cNvPr id="63" name="Image 16" descr="gen-dedup-a2699a036d9634824b4953ceddf6835e.png"/>
          <p:cNvPicPr>
            <a:picLocks noChangeAspect="1"/>
          </p:cNvPicPr>
          <p:nvPr/>
        </p:nvPicPr>
        <p:blipFill>
          <a:blip r:embed="rId13"/>
          <a:srcRect t="-16800" b="-16800"/>
          <a:stretch/>
        </p:blipFill>
        <p:spPr>
          <a:xfrm>
            <a:off x="905256" y="4809744"/>
            <a:ext cx="114300" cy="152705"/>
          </a:xfrm>
          <a:prstGeom prst="rect">
            <a:avLst/>
          </a:prstGeom>
        </p:spPr>
      </p:pic>
      <p:sp>
        <p:nvSpPr>
          <p:cNvPr id="64" name="Text 45"/>
          <p:cNvSpPr txBox="1"/>
          <p:nvPr/>
        </p:nvSpPr>
        <p:spPr>
          <a:xfrm>
            <a:off x="1114654" y="4762195"/>
            <a:ext cx="3151937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kern="0" spc="27">
                <a:solidFill>
                  <a:srgbClr val="1E293B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SAMPLE IMPLEMENTATION ROADMAP</a:t>
            </a:r>
            <a:endParaRPr lang="en-US" sz="1300"/>
          </a:p>
        </p:txBody>
      </p:sp>
      <p:sp>
        <p:nvSpPr>
          <p:cNvPr id="65" name="Text 46"/>
          <p:cNvSpPr txBox="1"/>
          <p:nvPr/>
        </p:nvSpPr>
        <p:spPr>
          <a:xfrm>
            <a:off x="1047902" y="5315407"/>
            <a:ext cx="719633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>
                <a:solidFill>
                  <a:srgbClr val="2A9D8F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DISCOVERY</a:t>
            </a:r>
            <a:endParaRPr lang="en-US" sz="900"/>
          </a:p>
        </p:txBody>
      </p:sp>
      <p:sp>
        <p:nvSpPr>
          <p:cNvPr id="66" name="Text 47"/>
          <p:cNvSpPr txBox="1"/>
          <p:nvPr/>
        </p:nvSpPr>
        <p:spPr>
          <a:xfrm>
            <a:off x="3063240" y="5238598"/>
            <a:ext cx="18196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>
                <a:solidFill>
                  <a:srgbClr val="CBD5E1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Q1</a:t>
            </a:r>
            <a:endParaRPr lang="en-US" sz="1200"/>
          </a:p>
        </p:txBody>
      </p:sp>
      <p:sp>
        <p:nvSpPr>
          <p:cNvPr id="67" name="Text 48"/>
          <p:cNvSpPr txBox="1"/>
          <p:nvPr/>
        </p:nvSpPr>
        <p:spPr>
          <a:xfrm>
            <a:off x="1047902" y="5505602"/>
            <a:ext cx="2162556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>
                <a:solidFill>
                  <a:srgbClr val="47556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Assess readiness, define scope, select initial use cases</a:t>
            </a:r>
            <a:endParaRPr lang="en-US" sz="900"/>
          </a:p>
        </p:txBody>
      </p:sp>
      <p:sp>
        <p:nvSpPr>
          <p:cNvPr id="68" name="Shape 49"/>
          <p:cNvSpPr/>
          <p:nvPr/>
        </p:nvSpPr>
        <p:spPr>
          <a:xfrm>
            <a:off x="1047902" y="6117336"/>
            <a:ext cx="562356" cy="9144"/>
          </a:xfrm>
          <a:prstGeom prst="rect">
            <a:avLst/>
          </a:prstGeom>
          <a:solidFill>
            <a:srgbClr val="E6F3F1"/>
          </a:solidFill>
          <a:ln w="12700">
            <a:solidFill>
              <a:srgbClr val="E6F3F1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9" name="Text 50"/>
          <p:cNvSpPr txBox="1"/>
          <p:nvPr/>
        </p:nvSpPr>
        <p:spPr>
          <a:xfrm>
            <a:off x="1104595" y="5964631"/>
            <a:ext cx="716890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>
                <a:solidFill>
                  <a:srgbClr val="2A9D8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Initiation</a:t>
            </a:r>
            <a:endParaRPr lang="en-US" sz="800"/>
          </a:p>
        </p:txBody>
      </p:sp>
      <p:pic>
        <p:nvPicPr>
          <p:cNvPr id="70" name="Image 17" descr="gen-dedup-6bab9f986820d248c4d42c53288c0e5d.png"/>
          <p:cNvPicPr>
            <a:picLocks noChangeAspect="1"/>
          </p:cNvPicPr>
          <p:nvPr/>
        </p:nvPicPr>
        <p:blipFill>
          <a:blip r:embed="rId14"/>
          <a:srcRect t="-5544" b="-5544"/>
          <a:stretch/>
        </p:blipFill>
        <p:spPr>
          <a:xfrm>
            <a:off x="3452774" y="5627218"/>
            <a:ext cx="105156" cy="133502"/>
          </a:xfrm>
          <a:prstGeom prst="rect">
            <a:avLst/>
          </a:prstGeom>
        </p:spPr>
      </p:pic>
      <p:sp>
        <p:nvSpPr>
          <p:cNvPr id="71" name="Text 51"/>
          <p:cNvSpPr txBox="1"/>
          <p:nvPr/>
        </p:nvSpPr>
        <p:spPr>
          <a:xfrm>
            <a:off x="3810305" y="5315407"/>
            <a:ext cx="864108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>
                <a:solidFill>
                  <a:srgbClr val="D62839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PILOT / POC</a:t>
            </a:r>
            <a:endParaRPr lang="en-US" sz="900"/>
          </a:p>
        </p:txBody>
      </p:sp>
      <p:sp>
        <p:nvSpPr>
          <p:cNvPr id="72" name="Text 52"/>
          <p:cNvSpPr txBox="1"/>
          <p:nvPr/>
        </p:nvSpPr>
        <p:spPr>
          <a:xfrm>
            <a:off x="5807354" y="5238598"/>
            <a:ext cx="19659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>
                <a:solidFill>
                  <a:srgbClr val="CBD5E1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Q2</a:t>
            </a:r>
            <a:endParaRPr lang="en-US" sz="1200"/>
          </a:p>
        </p:txBody>
      </p:sp>
      <p:sp>
        <p:nvSpPr>
          <p:cNvPr id="73" name="Text 53"/>
          <p:cNvSpPr txBox="1"/>
          <p:nvPr/>
        </p:nvSpPr>
        <p:spPr>
          <a:xfrm>
            <a:off x="3810305" y="5505602"/>
            <a:ext cx="2162556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>
                <a:solidFill>
                  <a:srgbClr val="47556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MVP build, user testing, architecture validation</a:t>
            </a:r>
            <a:endParaRPr lang="en-US" sz="900"/>
          </a:p>
        </p:txBody>
      </p:sp>
      <p:sp>
        <p:nvSpPr>
          <p:cNvPr id="74" name="Shape 54"/>
          <p:cNvSpPr/>
          <p:nvPr/>
        </p:nvSpPr>
        <p:spPr>
          <a:xfrm>
            <a:off x="3810305" y="5897880"/>
            <a:ext cx="629107" cy="219456"/>
          </a:xfrm>
          <a:prstGeom prst="roundRect">
            <a:avLst>
              <a:gd name="adj" fmla="val 144928"/>
            </a:avLst>
          </a:prstGeom>
          <a:solidFill>
            <a:srgbClr val="FEF2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5" name="Text 55"/>
          <p:cNvSpPr txBox="1"/>
          <p:nvPr/>
        </p:nvSpPr>
        <p:spPr>
          <a:xfrm>
            <a:off x="3866998" y="5964631"/>
            <a:ext cx="726948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>
                <a:solidFill>
                  <a:srgbClr val="D628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Validation</a:t>
            </a:r>
            <a:endParaRPr lang="en-US" sz="800"/>
          </a:p>
        </p:txBody>
      </p:sp>
      <p:pic>
        <p:nvPicPr>
          <p:cNvPr id="76" name="Image 18" descr="gen-dedup-6bab9f986820d248c4d42c53288c0e5d.png"/>
          <p:cNvPicPr>
            <a:picLocks noChangeAspect="1"/>
          </p:cNvPicPr>
          <p:nvPr/>
        </p:nvPicPr>
        <p:blipFill>
          <a:blip r:embed="rId14"/>
          <a:srcRect t="-5544" b="-5544"/>
          <a:stretch/>
        </p:blipFill>
        <p:spPr>
          <a:xfrm>
            <a:off x="6215177" y="5627218"/>
            <a:ext cx="105156" cy="133502"/>
          </a:xfrm>
          <a:prstGeom prst="rect">
            <a:avLst/>
          </a:prstGeom>
        </p:spPr>
      </p:pic>
      <p:sp>
        <p:nvSpPr>
          <p:cNvPr id="77" name="Text 56"/>
          <p:cNvSpPr txBox="1"/>
          <p:nvPr/>
        </p:nvSpPr>
        <p:spPr>
          <a:xfrm>
            <a:off x="6572707" y="5315407"/>
            <a:ext cx="402336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>
                <a:solidFill>
                  <a:srgbClr val="1E293B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SCALE</a:t>
            </a:r>
            <a:endParaRPr lang="en-US" sz="900"/>
          </a:p>
        </p:txBody>
      </p:sp>
      <p:sp>
        <p:nvSpPr>
          <p:cNvPr id="78" name="Text 57"/>
          <p:cNvSpPr txBox="1"/>
          <p:nvPr/>
        </p:nvSpPr>
        <p:spPr>
          <a:xfrm>
            <a:off x="8569757" y="5238598"/>
            <a:ext cx="19659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>
                <a:solidFill>
                  <a:srgbClr val="CBD5E1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Q3</a:t>
            </a:r>
            <a:endParaRPr lang="en-US" sz="1200"/>
          </a:p>
        </p:txBody>
      </p:sp>
      <p:sp>
        <p:nvSpPr>
          <p:cNvPr id="79" name="Text 58"/>
          <p:cNvSpPr txBox="1"/>
          <p:nvPr/>
        </p:nvSpPr>
        <p:spPr>
          <a:xfrm>
            <a:off x="6572707" y="5505602"/>
            <a:ext cx="2162556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>
                <a:solidFill>
                  <a:srgbClr val="47556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Production deployment, integration, vendor onboarding</a:t>
            </a:r>
            <a:endParaRPr lang="en-US" sz="900"/>
          </a:p>
        </p:txBody>
      </p:sp>
      <p:sp>
        <p:nvSpPr>
          <p:cNvPr id="80" name="Shape 59"/>
          <p:cNvSpPr/>
          <p:nvPr/>
        </p:nvSpPr>
        <p:spPr>
          <a:xfrm>
            <a:off x="6572707" y="5897880"/>
            <a:ext cx="619049" cy="219456"/>
          </a:xfrm>
          <a:prstGeom prst="roundRect">
            <a:avLst>
              <a:gd name="adj" fmla="val 144928"/>
            </a:avLst>
          </a:prstGeom>
          <a:solidFill>
            <a:srgbClr val="F1F5F9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1" name="Text 60"/>
          <p:cNvSpPr txBox="1"/>
          <p:nvPr/>
        </p:nvSpPr>
        <p:spPr>
          <a:xfrm>
            <a:off x="6629400" y="5964631"/>
            <a:ext cx="661111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>
                <a:solidFill>
                  <a:srgbClr val="47556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Execution</a:t>
            </a:r>
            <a:endParaRPr lang="en-US" sz="800"/>
          </a:p>
        </p:txBody>
      </p:sp>
      <p:pic>
        <p:nvPicPr>
          <p:cNvPr id="82" name="Image 19" descr="gen-dedup-6bab9f986820d248c4d42c53288c0e5d.png"/>
          <p:cNvPicPr>
            <a:picLocks noChangeAspect="1"/>
          </p:cNvPicPr>
          <p:nvPr/>
        </p:nvPicPr>
        <p:blipFill>
          <a:blip r:embed="rId14"/>
          <a:srcRect t="-5544" b="-5544"/>
          <a:stretch/>
        </p:blipFill>
        <p:spPr>
          <a:xfrm>
            <a:off x="8977579" y="5627218"/>
            <a:ext cx="105156" cy="133502"/>
          </a:xfrm>
          <a:prstGeom prst="rect">
            <a:avLst/>
          </a:prstGeom>
        </p:spPr>
      </p:pic>
      <p:sp>
        <p:nvSpPr>
          <p:cNvPr id="83" name="Text 61"/>
          <p:cNvSpPr txBox="1"/>
          <p:nvPr/>
        </p:nvSpPr>
        <p:spPr>
          <a:xfrm>
            <a:off x="9334195" y="5315407"/>
            <a:ext cx="637337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>
                <a:solidFill>
                  <a:srgbClr val="1E293B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OPTIMIZE</a:t>
            </a:r>
            <a:endParaRPr lang="en-US" sz="900"/>
          </a:p>
        </p:txBody>
      </p:sp>
      <p:sp>
        <p:nvSpPr>
          <p:cNvPr id="84" name="Text 62"/>
          <p:cNvSpPr txBox="1"/>
          <p:nvPr/>
        </p:nvSpPr>
        <p:spPr>
          <a:xfrm>
            <a:off x="11044123" y="5238598"/>
            <a:ext cx="19659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>
                <a:solidFill>
                  <a:srgbClr val="CBD5E1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Q4</a:t>
            </a:r>
            <a:endParaRPr lang="en-US" sz="1200"/>
          </a:p>
        </p:txBody>
      </p:sp>
      <p:sp>
        <p:nvSpPr>
          <p:cNvPr id="85" name="Text 63"/>
          <p:cNvSpPr txBox="1"/>
          <p:nvPr/>
        </p:nvSpPr>
        <p:spPr>
          <a:xfrm>
            <a:off x="9334195" y="5505602"/>
            <a:ext cx="1877263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>
                <a:solidFill>
                  <a:srgbClr val="47556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Run ops, process tuning, continuous improvement</a:t>
            </a:r>
            <a:endParaRPr lang="en-US" sz="900"/>
          </a:p>
        </p:txBody>
      </p:sp>
      <p:sp>
        <p:nvSpPr>
          <p:cNvPr id="86" name="Text 64"/>
          <p:cNvSpPr txBox="1"/>
          <p:nvPr/>
        </p:nvSpPr>
        <p:spPr>
          <a:xfrm>
            <a:off x="9391802" y="5964631"/>
            <a:ext cx="737006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>
                <a:solidFill>
                  <a:srgbClr val="64748B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Refinement</a:t>
            </a:r>
            <a:endParaRPr lang="en-US" sz="800"/>
          </a:p>
        </p:txBody>
      </p:sp>
    </p:spTree>
    <p:extLst>
      <p:ext uri="{BB962C8B-B14F-4D97-AF65-F5344CB8AC3E}">
        <p14:creationId xmlns:p14="http://schemas.microsoft.com/office/powerpoint/2010/main" val="11530500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8858707" y="4000500"/>
            <a:ext cx="3810305" cy="3810305"/>
          </a:xfrm>
          <a:prstGeom prst="ellipse">
            <a:avLst/>
          </a:prstGeom>
          <a:noFill/>
          <a:ln w="508000">
            <a:solidFill>
              <a:srgbClr val="D62839">
                <a:alpha val="3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rcRect l="-360" r="-360"/>
          <a:stretch/>
        </p:blipFill>
        <p:spPr>
          <a:xfrm>
            <a:off x="609905" y="523951"/>
            <a:ext cx="57607" cy="38130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19302" y="381305"/>
            <a:ext cx="43626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kern="0" spc="-67">
                <a:solidFill>
                  <a:srgbClr val="11182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How We Move Forward</a:t>
            </a:r>
            <a:endParaRPr lang="en-US" sz="2700"/>
          </a:p>
        </p:txBody>
      </p:sp>
      <p:sp>
        <p:nvSpPr>
          <p:cNvPr id="7" name="Text 4"/>
          <p:cNvSpPr txBox="1"/>
          <p:nvPr/>
        </p:nvSpPr>
        <p:spPr>
          <a:xfrm>
            <a:off x="819302" y="780898"/>
            <a:ext cx="4858207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kern="0" spc="68" dirty="0">
                <a:solidFill>
                  <a:srgbClr val="2A9D8F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From Conversation To Capability In Four Steps</a:t>
            </a:r>
            <a:endParaRPr lang="en-US" sz="1500" dirty="0"/>
          </a:p>
        </p:txBody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4"/>
          <a:srcRect l="-2111" r="-2111"/>
          <a:stretch/>
        </p:blipFill>
        <p:spPr>
          <a:xfrm>
            <a:off x="2175358" y="4538167"/>
            <a:ext cx="609905" cy="9144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2556662" y="4390949"/>
            <a:ext cx="7086600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kern="0" spc="45">
                <a:solidFill>
                  <a:srgbClr val="2A9D8F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This Partnership Allows Your GCC to Compound Over Time</a:t>
            </a:r>
            <a:endParaRPr lang="en-US" sz="1800"/>
          </a:p>
        </p:txBody>
      </p:sp>
      <p:pic>
        <p:nvPicPr>
          <p:cNvPr id="10" name="Image 2" descr="preencoded.png"/>
          <p:cNvPicPr>
            <a:picLocks noChangeAspect="1"/>
          </p:cNvPicPr>
          <p:nvPr/>
        </p:nvPicPr>
        <p:blipFill>
          <a:blip r:embed="rId4"/>
          <a:srcRect l="-2111" r="-2111"/>
          <a:stretch/>
        </p:blipFill>
        <p:spPr>
          <a:xfrm>
            <a:off x="9407347" y="4538167"/>
            <a:ext cx="609905" cy="914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457200" y="1238098"/>
            <a:ext cx="2648102" cy="2743200"/>
          </a:xfrm>
          <a:prstGeom prst="roundRect">
            <a:avLst>
              <a:gd name="adj" fmla="val 2981"/>
            </a:avLst>
          </a:prstGeom>
          <a:solidFill>
            <a:srgbClr val="FFFFFF"/>
          </a:solidFill>
          <a:ln w="12700">
            <a:solidFill>
              <a:srgbClr val="F3F4F6"/>
            </a:solidFill>
            <a:prstDash val="solid"/>
          </a:ln>
          <a:effectLst>
            <a:outerShdw blurRad="63500" dist="381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7"/>
          <p:cNvSpPr/>
          <p:nvPr/>
        </p:nvSpPr>
        <p:spPr>
          <a:xfrm>
            <a:off x="457200" y="1238098"/>
            <a:ext cx="2648102" cy="57607"/>
          </a:xfrm>
          <a:prstGeom prst="roundRect">
            <a:avLst>
              <a:gd name="adj" fmla="val 137034"/>
            </a:avLst>
          </a:prstGeom>
          <a:solidFill>
            <a:srgbClr val="2A9D8F"/>
          </a:solidFill>
          <a:ln w="12700">
            <a:solidFill>
              <a:srgbClr val="2A9D8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8"/>
          <p:cNvSpPr txBox="1"/>
          <p:nvPr/>
        </p:nvSpPr>
        <p:spPr>
          <a:xfrm>
            <a:off x="2591410" y="1333195"/>
            <a:ext cx="6016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>
                <a:solidFill>
                  <a:srgbClr val="2A9D8F">
                    <a:alpha val="8000"/>
                  </a:srgbClr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01</a:t>
            </a:r>
            <a:endParaRPr lang="en-US" sz="3600"/>
          </a:p>
        </p:txBody>
      </p:sp>
      <p:sp>
        <p:nvSpPr>
          <p:cNvPr id="14" name="Shape 9"/>
          <p:cNvSpPr/>
          <p:nvPr/>
        </p:nvSpPr>
        <p:spPr>
          <a:xfrm>
            <a:off x="3333902" y="1238098"/>
            <a:ext cx="2648102" cy="2743200"/>
          </a:xfrm>
          <a:prstGeom prst="roundRect">
            <a:avLst>
              <a:gd name="adj" fmla="val 2981"/>
            </a:avLst>
          </a:prstGeom>
          <a:solidFill>
            <a:srgbClr val="FFFFFF"/>
          </a:solidFill>
          <a:ln w="12700">
            <a:solidFill>
              <a:srgbClr val="F3F4F6"/>
            </a:solidFill>
            <a:prstDash val="solid"/>
          </a:ln>
          <a:effectLst>
            <a:outerShdw blurRad="63500" dist="381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0"/>
          <p:cNvSpPr/>
          <p:nvPr/>
        </p:nvSpPr>
        <p:spPr>
          <a:xfrm>
            <a:off x="3333902" y="1238098"/>
            <a:ext cx="2648102" cy="57607"/>
          </a:xfrm>
          <a:prstGeom prst="roundRect">
            <a:avLst>
              <a:gd name="adj" fmla="val 137034"/>
            </a:avLst>
          </a:prstGeom>
          <a:solidFill>
            <a:srgbClr val="D62839"/>
          </a:solidFill>
          <a:ln w="12700">
            <a:solidFill>
              <a:srgbClr val="D62839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1"/>
          <p:cNvSpPr txBox="1"/>
          <p:nvPr/>
        </p:nvSpPr>
        <p:spPr>
          <a:xfrm>
            <a:off x="5409590" y="1333195"/>
            <a:ext cx="6071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>
                <a:solidFill>
                  <a:srgbClr val="D62839">
                    <a:alpha val="8000"/>
                  </a:srgbClr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02</a:t>
            </a:r>
            <a:endParaRPr lang="en-US" sz="3600"/>
          </a:p>
        </p:txBody>
      </p:sp>
      <p:sp>
        <p:nvSpPr>
          <p:cNvPr id="17" name="Shape 12"/>
          <p:cNvSpPr/>
          <p:nvPr/>
        </p:nvSpPr>
        <p:spPr>
          <a:xfrm>
            <a:off x="6210605" y="1238098"/>
            <a:ext cx="2648102" cy="2743200"/>
          </a:xfrm>
          <a:prstGeom prst="roundRect">
            <a:avLst>
              <a:gd name="adj" fmla="val 2981"/>
            </a:avLst>
          </a:prstGeom>
          <a:solidFill>
            <a:srgbClr val="FFFFFF"/>
          </a:solidFill>
          <a:ln w="12700">
            <a:solidFill>
              <a:srgbClr val="F3F4F6"/>
            </a:solidFill>
            <a:prstDash val="solid"/>
          </a:ln>
          <a:effectLst>
            <a:outerShdw blurRad="63500" dist="381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Shape 13"/>
          <p:cNvSpPr/>
          <p:nvPr/>
        </p:nvSpPr>
        <p:spPr>
          <a:xfrm>
            <a:off x="6210605" y="1238098"/>
            <a:ext cx="2648102" cy="57607"/>
          </a:xfrm>
          <a:prstGeom prst="roundRect">
            <a:avLst>
              <a:gd name="adj" fmla="val 137034"/>
            </a:avLst>
          </a:prstGeom>
          <a:solidFill>
            <a:srgbClr val="2A9D8F"/>
          </a:solidFill>
          <a:ln w="12700">
            <a:solidFill>
              <a:srgbClr val="2A9D8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4"/>
          <p:cNvSpPr txBox="1"/>
          <p:nvPr/>
        </p:nvSpPr>
        <p:spPr>
          <a:xfrm>
            <a:off x="8286293" y="1333195"/>
            <a:ext cx="6071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>
                <a:solidFill>
                  <a:srgbClr val="2A9D8F">
                    <a:alpha val="8000"/>
                  </a:srgbClr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03</a:t>
            </a:r>
            <a:endParaRPr lang="en-US" sz="3600"/>
          </a:p>
        </p:txBody>
      </p:sp>
      <p:sp>
        <p:nvSpPr>
          <p:cNvPr id="20" name="Shape 15"/>
          <p:cNvSpPr/>
          <p:nvPr/>
        </p:nvSpPr>
        <p:spPr>
          <a:xfrm>
            <a:off x="9087307" y="1238098"/>
            <a:ext cx="2648102" cy="2743200"/>
          </a:xfrm>
          <a:prstGeom prst="roundRect">
            <a:avLst>
              <a:gd name="adj" fmla="val 2981"/>
            </a:avLst>
          </a:prstGeom>
          <a:solidFill>
            <a:srgbClr val="FFFFFF"/>
          </a:solidFill>
          <a:ln w="12700">
            <a:solidFill>
              <a:srgbClr val="F3F4F6"/>
            </a:solidFill>
            <a:prstDash val="solid"/>
          </a:ln>
          <a:effectLst>
            <a:outerShdw blurRad="63500" dist="381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Shape 16"/>
          <p:cNvSpPr/>
          <p:nvPr/>
        </p:nvSpPr>
        <p:spPr>
          <a:xfrm>
            <a:off x="9087307" y="1238098"/>
            <a:ext cx="2648102" cy="57607"/>
          </a:xfrm>
          <a:prstGeom prst="roundRect">
            <a:avLst>
              <a:gd name="adj" fmla="val 137034"/>
            </a:avLst>
          </a:prstGeom>
          <a:solidFill>
            <a:srgbClr val="D62839"/>
          </a:solidFill>
          <a:ln w="12700">
            <a:solidFill>
              <a:srgbClr val="D62839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17"/>
          <p:cNvSpPr txBox="1"/>
          <p:nvPr/>
        </p:nvSpPr>
        <p:spPr>
          <a:xfrm>
            <a:off x="11157509" y="1333195"/>
            <a:ext cx="6071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>
                <a:solidFill>
                  <a:srgbClr val="D62839">
                    <a:alpha val="8000"/>
                  </a:srgbClr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04</a:t>
            </a:r>
            <a:endParaRPr lang="en-US" sz="3600"/>
          </a:p>
        </p:txBody>
      </p:sp>
      <p:sp>
        <p:nvSpPr>
          <p:cNvPr id="23" name="Shape 18"/>
          <p:cNvSpPr/>
          <p:nvPr/>
        </p:nvSpPr>
        <p:spPr>
          <a:xfrm>
            <a:off x="457200" y="4809744"/>
            <a:ext cx="2704795" cy="1524305"/>
          </a:xfrm>
          <a:prstGeom prst="roundRect">
            <a:avLst>
              <a:gd name="adj" fmla="val 5999"/>
            </a:avLst>
          </a:prstGeom>
          <a:solidFill>
            <a:srgbClr val="FFFFFF"/>
          </a:solidFill>
          <a:ln w="12700">
            <a:solidFill>
              <a:srgbClr val="F3F4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19"/>
          <p:cNvSpPr/>
          <p:nvPr/>
        </p:nvSpPr>
        <p:spPr>
          <a:xfrm>
            <a:off x="457200" y="4809744"/>
            <a:ext cx="38405" cy="1505102"/>
          </a:xfrm>
          <a:prstGeom prst="rect">
            <a:avLst/>
          </a:prstGeom>
          <a:solidFill>
            <a:srgbClr val="2A9D8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5" name="Image 3" descr="preencoded.png"/>
          <p:cNvPicPr>
            <a:picLocks noChangeAspect="1"/>
          </p:cNvPicPr>
          <p:nvPr/>
        </p:nvPicPr>
        <p:blipFill>
          <a:blip r:embed="rId5"/>
          <a:srcRect l="-133" r="-133"/>
          <a:stretch/>
        </p:blipFill>
        <p:spPr>
          <a:xfrm>
            <a:off x="1723644" y="5140757"/>
            <a:ext cx="171907" cy="228600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580644" y="5550408"/>
            <a:ext cx="2457907" cy="5056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>
                <a:solidFill>
                  <a:srgbClr val="37415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Institutional memory outperforms headcount growth by preserving critical knowledge and expertise</a:t>
            </a:r>
            <a:endParaRPr lang="en-US" sz="1000"/>
          </a:p>
        </p:txBody>
      </p:sp>
      <p:sp>
        <p:nvSpPr>
          <p:cNvPr id="27" name="Shape 21"/>
          <p:cNvSpPr/>
          <p:nvPr/>
        </p:nvSpPr>
        <p:spPr>
          <a:xfrm>
            <a:off x="3314700" y="4809744"/>
            <a:ext cx="2704795" cy="1524305"/>
          </a:xfrm>
          <a:prstGeom prst="roundRect">
            <a:avLst>
              <a:gd name="adj" fmla="val 5999"/>
            </a:avLst>
          </a:prstGeom>
          <a:solidFill>
            <a:srgbClr val="FFFFFF"/>
          </a:solidFill>
          <a:ln w="12700">
            <a:solidFill>
              <a:srgbClr val="F3F4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Shape 22"/>
          <p:cNvSpPr/>
          <p:nvPr/>
        </p:nvSpPr>
        <p:spPr>
          <a:xfrm>
            <a:off x="3314700" y="4809744"/>
            <a:ext cx="38405" cy="1505102"/>
          </a:xfrm>
          <a:prstGeom prst="rect">
            <a:avLst/>
          </a:prstGeom>
          <a:solidFill>
            <a:srgbClr val="D62839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9" name="Image 4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4552798" y="5140757"/>
            <a:ext cx="228600" cy="228600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3438144" y="5550408"/>
            <a:ext cx="2457907" cy="5056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>
                <a:solidFill>
                  <a:srgbClr val="37415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Signals beat noise in decision-making through data governance and platform leverage</a:t>
            </a:r>
            <a:endParaRPr lang="en-US" sz="1000"/>
          </a:p>
        </p:txBody>
      </p:sp>
      <p:sp>
        <p:nvSpPr>
          <p:cNvPr id="31" name="Shape 24"/>
          <p:cNvSpPr/>
          <p:nvPr/>
        </p:nvSpPr>
        <p:spPr>
          <a:xfrm>
            <a:off x="6172200" y="4809744"/>
            <a:ext cx="2704795" cy="1524305"/>
          </a:xfrm>
          <a:prstGeom prst="roundRect">
            <a:avLst>
              <a:gd name="adj" fmla="val 5999"/>
            </a:avLst>
          </a:prstGeom>
          <a:solidFill>
            <a:srgbClr val="FFFFFF"/>
          </a:solidFill>
          <a:ln w="12700">
            <a:solidFill>
              <a:srgbClr val="F3F4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Shape 25"/>
          <p:cNvSpPr/>
          <p:nvPr/>
        </p:nvSpPr>
        <p:spPr>
          <a:xfrm>
            <a:off x="6172200" y="4809744"/>
            <a:ext cx="38405" cy="1505102"/>
          </a:xfrm>
          <a:prstGeom prst="rect">
            <a:avLst/>
          </a:prstGeom>
          <a:solidFill>
            <a:srgbClr val="2A9D8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3" name="Image 5" descr="preencoded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7410298" y="5140757"/>
            <a:ext cx="228600" cy="228600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6295644" y="5550408"/>
            <a:ext cx="2457907" cy="5056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>
                <a:solidFill>
                  <a:srgbClr val="37415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Platforms enable non-linear productivity gains beyond traditional pod-based scaling</a:t>
            </a:r>
            <a:endParaRPr lang="en-US" sz="1000"/>
          </a:p>
        </p:txBody>
      </p:sp>
      <p:sp>
        <p:nvSpPr>
          <p:cNvPr id="35" name="Shape 27"/>
          <p:cNvSpPr/>
          <p:nvPr/>
        </p:nvSpPr>
        <p:spPr>
          <a:xfrm>
            <a:off x="9029700" y="4809744"/>
            <a:ext cx="2704795" cy="1524305"/>
          </a:xfrm>
          <a:prstGeom prst="roundRect">
            <a:avLst>
              <a:gd name="adj" fmla="val 5999"/>
            </a:avLst>
          </a:prstGeom>
          <a:solidFill>
            <a:srgbClr val="FFFFFF"/>
          </a:solidFill>
          <a:ln w="12700">
            <a:solidFill>
              <a:srgbClr val="F3F4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Shape 28"/>
          <p:cNvSpPr/>
          <p:nvPr/>
        </p:nvSpPr>
        <p:spPr>
          <a:xfrm>
            <a:off x="9029700" y="4809744"/>
            <a:ext cx="38405" cy="1505102"/>
          </a:xfrm>
          <a:prstGeom prst="rect">
            <a:avLst/>
          </a:prstGeom>
          <a:solidFill>
            <a:srgbClr val="D62839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7" name="Image 6" descr="preencoded.png"/>
          <p:cNvPicPr>
            <a:picLocks noChangeAspect="1"/>
          </p:cNvPicPr>
          <p:nvPr/>
        </p:nvPicPr>
        <p:blipFill>
          <a:blip r:embed="rId8"/>
          <a:srcRect t="-45" b="-45"/>
          <a:stretch/>
        </p:blipFill>
        <p:spPr>
          <a:xfrm>
            <a:off x="10254082" y="5140757"/>
            <a:ext cx="256946" cy="228600"/>
          </a:xfrm>
          <a:prstGeom prst="rect">
            <a:avLst/>
          </a:prstGeom>
        </p:spPr>
      </p:pic>
      <p:sp>
        <p:nvSpPr>
          <p:cNvPr id="38" name="Text 29"/>
          <p:cNvSpPr txBox="1"/>
          <p:nvPr/>
        </p:nvSpPr>
        <p:spPr>
          <a:xfrm>
            <a:off x="9153144" y="5550408"/>
            <a:ext cx="2457907" cy="5056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>
                <a:solidFill>
                  <a:srgbClr val="37415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The GCC operates as a strategic asset, driving sustained value rather than being a cost centre</a:t>
            </a:r>
            <a:endParaRPr lang="en-US" sz="1000"/>
          </a:p>
        </p:txBody>
      </p:sp>
      <p:sp>
        <p:nvSpPr>
          <p:cNvPr id="39" name="Shape 30"/>
          <p:cNvSpPr/>
          <p:nvPr/>
        </p:nvSpPr>
        <p:spPr>
          <a:xfrm>
            <a:off x="1514246" y="1561795"/>
            <a:ext cx="533095" cy="533095"/>
          </a:xfrm>
          <a:prstGeom prst="ellipse">
            <a:avLst/>
          </a:prstGeom>
          <a:solidFill>
            <a:srgbClr val="2A9D8F">
              <a:alpha val="1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40" name="Image 7" descr="preencoded.png"/>
          <p:cNvPicPr>
            <a:picLocks noChangeAspect="1"/>
          </p:cNvPicPr>
          <p:nvPr/>
        </p:nvPicPr>
        <p:blipFill>
          <a:blip r:embed="rId9"/>
          <a:srcRect l="-133" r="-133"/>
          <a:stretch/>
        </p:blipFill>
        <p:spPr>
          <a:xfrm>
            <a:off x="1695298" y="1714500"/>
            <a:ext cx="171907" cy="228600"/>
          </a:xfrm>
          <a:prstGeom prst="rect">
            <a:avLst/>
          </a:prstGeom>
        </p:spPr>
      </p:pic>
      <p:sp>
        <p:nvSpPr>
          <p:cNvPr id="41" name="Text 31"/>
          <p:cNvSpPr txBox="1"/>
          <p:nvPr/>
        </p:nvSpPr>
        <p:spPr>
          <a:xfrm>
            <a:off x="612648" y="2247595"/>
            <a:ext cx="2338121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>
                <a:solidFill>
                  <a:srgbClr val="1F293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Assess</a:t>
            </a:r>
            <a:endParaRPr lang="en-US" sz="1800"/>
          </a:p>
        </p:txBody>
      </p:sp>
      <p:sp>
        <p:nvSpPr>
          <p:cNvPr id="42" name="Text 32"/>
          <p:cNvSpPr txBox="1"/>
          <p:nvPr/>
        </p:nvSpPr>
        <p:spPr>
          <a:xfrm>
            <a:off x="619049" y="2667305"/>
            <a:ext cx="2324405" cy="10479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Map your current GCC capability maturity. Identify what's working, what's plateauing, and where AI-readiness gaps exist.</a:t>
            </a:r>
            <a:endParaRPr lang="en-US" sz="1200"/>
          </a:p>
        </p:txBody>
      </p:sp>
      <p:sp>
        <p:nvSpPr>
          <p:cNvPr id="43" name="Shape 33"/>
          <p:cNvSpPr/>
          <p:nvPr/>
        </p:nvSpPr>
        <p:spPr>
          <a:xfrm>
            <a:off x="4390949" y="1561795"/>
            <a:ext cx="533095" cy="533095"/>
          </a:xfrm>
          <a:prstGeom prst="ellipse">
            <a:avLst/>
          </a:prstGeom>
          <a:solidFill>
            <a:srgbClr val="D62839">
              <a:alpha val="1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44" name="Image 8" descr="preencoded.png"/>
          <p:cNvPicPr>
            <a:picLocks noChangeAspect="1"/>
          </p:cNvPicPr>
          <p:nvPr/>
        </p:nvPicPr>
        <p:blipFill>
          <a:blip r:embed="rId10"/>
          <a:srcRect/>
          <a:stretch/>
        </p:blipFill>
        <p:spPr>
          <a:xfrm>
            <a:off x="4543654" y="1714500"/>
            <a:ext cx="228600" cy="228600"/>
          </a:xfrm>
          <a:prstGeom prst="rect">
            <a:avLst/>
          </a:prstGeom>
        </p:spPr>
      </p:pic>
      <p:sp>
        <p:nvSpPr>
          <p:cNvPr id="45" name="Text 34"/>
          <p:cNvSpPr txBox="1"/>
          <p:nvPr/>
        </p:nvSpPr>
        <p:spPr>
          <a:xfrm>
            <a:off x="3488436" y="2247595"/>
            <a:ext cx="2338121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>
                <a:solidFill>
                  <a:srgbClr val="1F293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Identify</a:t>
            </a:r>
            <a:endParaRPr lang="en-US" sz="1800"/>
          </a:p>
        </p:txBody>
      </p:sp>
      <p:sp>
        <p:nvSpPr>
          <p:cNvPr id="46" name="Text 35"/>
          <p:cNvSpPr txBox="1"/>
          <p:nvPr/>
        </p:nvSpPr>
        <p:spPr>
          <a:xfrm>
            <a:off x="3495751" y="2667305"/>
            <a:ext cx="2324405" cy="10479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Pinpoint high-judgment domains where Human+AI pods deliver highest leverage — not everything at once, right things first.</a:t>
            </a:r>
            <a:endParaRPr lang="en-US" sz="1200"/>
          </a:p>
        </p:txBody>
      </p:sp>
      <p:sp>
        <p:nvSpPr>
          <p:cNvPr id="47" name="Shape 36"/>
          <p:cNvSpPr/>
          <p:nvPr/>
        </p:nvSpPr>
        <p:spPr>
          <a:xfrm>
            <a:off x="7267651" y="1561795"/>
            <a:ext cx="533095" cy="533095"/>
          </a:xfrm>
          <a:prstGeom prst="ellipse">
            <a:avLst/>
          </a:prstGeom>
          <a:solidFill>
            <a:srgbClr val="2A9D8F">
              <a:alpha val="1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48" name="Image 9" descr="preencoded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7420356" y="1714500"/>
            <a:ext cx="228600" cy="228600"/>
          </a:xfrm>
          <a:prstGeom prst="rect">
            <a:avLst/>
          </a:prstGeom>
        </p:spPr>
      </p:pic>
      <p:sp>
        <p:nvSpPr>
          <p:cNvPr id="49" name="Text 37"/>
          <p:cNvSpPr txBox="1"/>
          <p:nvPr/>
        </p:nvSpPr>
        <p:spPr>
          <a:xfrm>
            <a:off x="6365138" y="2247595"/>
            <a:ext cx="2338121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>
                <a:solidFill>
                  <a:srgbClr val="1F293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Pilot</a:t>
            </a:r>
            <a:endParaRPr lang="en-US" sz="1800"/>
          </a:p>
        </p:txBody>
      </p:sp>
      <p:sp>
        <p:nvSpPr>
          <p:cNvPr id="50" name="Text 38"/>
          <p:cNvSpPr txBox="1"/>
          <p:nvPr/>
        </p:nvSpPr>
        <p:spPr>
          <a:xfrm>
            <a:off x="6372454" y="2667305"/>
            <a:ext cx="2324405" cy="10479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Launch a blended Human+AI pod in one business unit. Measure decision cycle time, productivity uplift, and innovation output.</a:t>
            </a:r>
            <a:endParaRPr lang="en-US" sz="1200"/>
          </a:p>
        </p:txBody>
      </p:sp>
      <p:sp>
        <p:nvSpPr>
          <p:cNvPr id="51" name="Shape 39"/>
          <p:cNvSpPr/>
          <p:nvPr/>
        </p:nvSpPr>
        <p:spPr>
          <a:xfrm>
            <a:off x="10144354" y="1561795"/>
            <a:ext cx="533095" cy="533095"/>
          </a:xfrm>
          <a:prstGeom prst="ellipse">
            <a:avLst/>
          </a:prstGeom>
          <a:solidFill>
            <a:srgbClr val="D62839">
              <a:alpha val="1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52" name="Image 10" descr="preencoded.png"/>
          <p:cNvPicPr>
            <a:picLocks noChangeAspect="1"/>
          </p:cNvPicPr>
          <p:nvPr/>
        </p:nvPicPr>
        <p:blipFill>
          <a:blip r:embed="rId11"/>
          <a:srcRect l="-80" r="-80"/>
          <a:stretch/>
        </p:blipFill>
        <p:spPr>
          <a:xfrm>
            <a:off x="10267798" y="1714500"/>
            <a:ext cx="286207" cy="228600"/>
          </a:xfrm>
          <a:prstGeom prst="rect">
            <a:avLst/>
          </a:prstGeom>
        </p:spPr>
      </p:pic>
      <p:sp>
        <p:nvSpPr>
          <p:cNvPr id="53" name="Text 40"/>
          <p:cNvSpPr txBox="1"/>
          <p:nvPr/>
        </p:nvSpPr>
        <p:spPr>
          <a:xfrm>
            <a:off x="9241841" y="2247595"/>
            <a:ext cx="2338121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>
                <a:solidFill>
                  <a:srgbClr val="1F293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Align</a:t>
            </a:r>
            <a:endParaRPr lang="en-US" sz="1800"/>
          </a:p>
        </p:txBody>
      </p:sp>
      <p:sp>
        <p:nvSpPr>
          <p:cNvPr id="54" name="Text 41"/>
          <p:cNvSpPr txBox="1"/>
          <p:nvPr/>
        </p:nvSpPr>
        <p:spPr>
          <a:xfrm>
            <a:off x="9249156" y="2667305"/>
            <a:ext cx="2324405" cy="8385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Restructure contracts from FTE-based pricing to outcome-aligned models. Tie value to results, not headcount.</a:t>
            </a:r>
            <a:endParaRPr lang="en-US" sz="1200"/>
          </a:p>
        </p:txBody>
      </p:sp>
      <p:pic>
        <p:nvPicPr>
          <p:cNvPr id="55" name="Image 11" descr="preencoded.png"/>
          <p:cNvPicPr>
            <a:picLocks noChangeAspect="1"/>
          </p:cNvPicPr>
          <p:nvPr/>
        </p:nvPicPr>
        <p:blipFill>
          <a:blip r:embed="rId12"/>
          <a:srcRect/>
          <a:stretch/>
        </p:blipFill>
        <p:spPr>
          <a:xfrm>
            <a:off x="3180283" y="2457907"/>
            <a:ext cx="304495" cy="304495"/>
          </a:xfrm>
          <a:prstGeom prst="rect">
            <a:avLst/>
          </a:prstGeom>
        </p:spPr>
      </p:pic>
      <p:pic>
        <p:nvPicPr>
          <p:cNvPr id="56" name="Image 12" descr="preencoded.png"/>
          <p:cNvPicPr>
            <a:picLocks noChangeAspect="1"/>
          </p:cNvPicPr>
          <p:nvPr/>
        </p:nvPicPr>
        <p:blipFill>
          <a:blip r:embed="rId13"/>
          <a:srcRect l="-2838" r="-2838"/>
          <a:stretch/>
        </p:blipFill>
        <p:spPr>
          <a:xfrm>
            <a:off x="3270809" y="2542946"/>
            <a:ext cx="123444" cy="133502"/>
          </a:xfrm>
          <a:prstGeom prst="rect">
            <a:avLst/>
          </a:prstGeom>
        </p:spPr>
      </p:pic>
      <p:pic>
        <p:nvPicPr>
          <p:cNvPr id="57" name="Image 13" descr="preencoded.png"/>
          <p:cNvPicPr>
            <a:picLocks noChangeAspect="1"/>
          </p:cNvPicPr>
          <p:nvPr/>
        </p:nvPicPr>
        <p:blipFill>
          <a:blip r:embed="rId12"/>
          <a:srcRect/>
          <a:stretch/>
        </p:blipFill>
        <p:spPr>
          <a:xfrm>
            <a:off x="6000293" y="2457907"/>
            <a:ext cx="304495" cy="304495"/>
          </a:xfrm>
          <a:prstGeom prst="rect">
            <a:avLst/>
          </a:prstGeom>
        </p:spPr>
      </p:pic>
      <p:pic>
        <p:nvPicPr>
          <p:cNvPr id="58" name="Image 14" descr="preencoded.png"/>
          <p:cNvPicPr>
            <a:picLocks noChangeAspect="1"/>
          </p:cNvPicPr>
          <p:nvPr/>
        </p:nvPicPr>
        <p:blipFill>
          <a:blip r:embed="rId13"/>
          <a:srcRect l="-2838" r="-2838"/>
          <a:stretch/>
        </p:blipFill>
        <p:spPr>
          <a:xfrm>
            <a:off x="6089904" y="2542946"/>
            <a:ext cx="123444" cy="133502"/>
          </a:xfrm>
          <a:prstGeom prst="rect">
            <a:avLst/>
          </a:prstGeom>
        </p:spPr>
      </p:pic>
      <p:pic>
        <p:nvPicPr>
          <p:cNvPr id="59" name="Image 15" descr="preencoded.png"/>
          <p:cNvPicPr>
            <a:picLocks noChangeAspect="1"/>
          </p:cNvPicPr>
          <p:nvPr/>
        </p:nvPicPr>
        <p:blipFill>
          <a:blip r:embed="rId12"/>
          <a:srcRect/>
          <a:stretch/>
        </p:blipFill>
        <p:spPr>
          <a:xfrm>
            <a:off x="8819388" y="2457907"/>
            <a:ext cx="304495" cy="304495"/>
          </a:xfrm>
          <a:prstGeom prst="rect">
            <a:avLst/>
          </a:prstGeom>
        </p:spPr>
      </p:pic>
      <p:pic>
        <p:nvPicPr>
          <p:cNvPr id="60" name="Image 16" descr="preencoded.png"/>
          <p:cNvPicPr>
            <a:picLocks noChangeAspect="1"/>
          </p:cNvPicPr>
          <p:nvPr/>
        </p:nvPicPr>
        <p:blipFill>
          <a:blip r:embed="rId13"/>
          <a:srcRect l="-2838" r="-2838"/>
          <a:stretch/>
        </p:blipFill>
        <p:spPr>
          <a:xfrm>
            <a:off x="8909914" y="2542946"/>
            <a:ext cx="123444" cy="133502"/>
          </a:xfrm>
          <a:prstGeom prst="rect">
            <a:avLst/>
          </a:prstGeom>
        </p:spPr>
      </p:pic>
      <p:pic>
        <p:nvPicPr>
          <p:cNvPr id="61" name="Image 17" descr="preencoded.png"/>
          <p:cNvPicPr>
            <a:picLocks noChangeAspect="1"/>
          </p:cNvPicPr>
          <p:nvPr/>
        </p:nvPicPr>
        <p:blipFill>
          <a:blip r:embed="rId14"/>
          <a:srcRect l="-202" r="-202"/>
          <a:stretch/>
        </p:blipFill>
        <p:spPr>
          <a:xfrm>
            <a:off x="0" y="0"/>
            <a:ext cx="8128102" cy="75895"/>
          </a:xfrm>
          <a:prstGeom prst="rect">
            <a:avLst/>
          </a:prstGeom>
        </p:spPr>
      </p:pic>
      <p:pic>
        <p:nvPicPr>
          <p:cNvPr id="62" name="Image 18" descr="preencoded.png"/>
          <p:cNvPicPr>
            <a:picLocks noChangeAspect="1"/>
          </p:cNvPicPr>
          <p:nvPr/>
        </p:nvPicPr>
        <p:blipFill>
          <a:blip r:embed="rId15"/>
          <a:srcRect l="-197" r="-197"/>
          <a:stretch/>
        </p:blipFill>
        <p:spPr>
          <a:xfrm>
            <a:off x="8128102" y="0"/>
            <a:ext cx="4063594" cy="758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9442643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N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N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8382305" y="-1429207"/>
            <a:ext cx="4762195" cy="4762195"/>
          </a:xfrm>
          <a:prstGeom prst="ellipse">
            <a:avLst/>
          </a:prstGeom>
          <a:solidFill>
            <a:srgbClr val="2A9D8F">
              <a:alpha val="3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N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-952805" y="4476902"/>
            <a:ext cx="3810305" cy="3810305"/>
          </a:xfrm>
          <a:prstGeom prst="ellipse">
            <a:avLst/>
          </a:prstGeom>
          <a:solidFill>
            <a:srgbClr val="D62839">
              <a:alpha val="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N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rcRect l="-202" r="-202"/>
          <a:stretch/>
        </p:blipFill>
        <p:spPr>
          <a:xfrm>
            <a:off x="0" y="6782105"/>
            <a:ext cx="8128102" cy="75895"/>
          </a:xfrm>
          <a:prstGeom prst="rect">
            <a:avLst/>
          </a:prstGeom>
        </p:spPr>
      </p:pic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4"/>
          <a:srcRect l="-197" r="-197"/>
          <a:stretch/>
        </p:blipFill>
        <p:spPr>
          <a:xfrm>
            <a:off x="8128102" y="6782105"/>
            <a:ext cx="4063594" cy="75895"/>
          </a:xfrm>
          <a:prstGeom prst="rect">
            <a:avLst/>
          </a:prstGeom>
        </p:spPr>
      </p:pic>
      <p:pic>
        <p:nvPicPr>
          <p:cNvPr id="8" name="Image 2" descr="preencoded.png"/>
          <p:cNvPicPr>
            <a:picLocks noChangeAspect="1"/>
          </p:cNvPicPr>
          <p:nvPr/>
        </p:nvPicPr>
        <p:blipFill>
          <a:blip r:embed="rId5"/>
          <a:srcRect t="60" b="60"/>
          <a:stretch/>
        </p:blipFill>
        <p:spPr>
          <a:xfrm>
            <a:off x="4121201" y="914400"/>
            <a:ext cx="3952951" cy="1904695"/>
          </a:xfrm>
          <a:prstGeom prst="rect">
            <a:avLst/>
          </a:prstGeom>
        </p:spPr>
      </p:pic>
      <p:pic>
        <p:nvPicPr>
          <p:cNvPr id="9" name="Image 3" descr="preencoded.png"/>
          <p:cNvPicPr>
            <a:picLocks noChangeAspect="1"/>
          </p:cNvPicPr>
          <p:nvPr/>
        </p:nvPicPr>
        <p:blipFill>
          <a:blip r:embed="rId6"/>
          <a:srcRect t="-420" b="-420"/>
          <a:stretch/>
        </p:blipFill>
        <p:spPr>
          <a:xfrm>
            <a:off x="5715000" y="3276295"/>
            <a:ext cx="761695" cy="38405"/>
          </a:xfrm>
          <a:prstGeom prst="rect">
            <a:avLst/>
          </a:prstGeom>
        </p:spPr>
      </p:pic>
      <p:sp>
        <p:nvSpPr>
          <p:cNvPr id="10" name="Text 4"/>
          <p:cNvSpPr txBox="1"/>
          <p:nvPr/>
        </p:nvSpPr>
        <p:spPr>
          <a:xfrm>
            <a:off x="3536899" y="3619195"/>
            <a:ext cx="5125212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000" b="0" i="1" u="none" strike="noStrike" kern="0" cap="none" spc="150" normalizeH="0" baseline="0" noProof="0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Raleway" pitchFamily="34" charset="0"/>
                <a:ea typeface="Raleway" pitchFamily="34" charset="-122"/>
                <a:cs typeface="Raleway" pitchFamily="34" charset="-120"/>
              </a:rPr>
              <a:t>"Let's win together"</a:t>
            </a:r>
            <a:endParaRPr kumimoji="0" lang="en-US" sz="3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11" name="Image 4" descr="preencoded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761695" y="5410505"/>
            <a:ext cx="761695" cy="761695"/>
          </a:xfrm>
          <a:prstGeom prst="rect">
            <a:avLst/>
          </a:prstGeom>
        </p:spPr>
      </p:pic>
      <p:pic>
        <p:nvPicPr>
          <p:cNvPr id="12" name="Image 5" descr="preencoded.png"/>
          <p:cNvPicPr>
            <a:picLocks noChangeAspect="1"/>
          </p:cNvPicPr>
          <p:nvPr/>
        </p:nvPicPr>
        <p:blipFill>
          <a:blip r:embed="rId8"/>
          <a:srcRect l="81" r="81"/>
          <a:stretch/>
        </p:blipFill>
        <p:spPr>
          <a:xfrm>
            <a:off x="3189427" y="5658307"/>
            <a:ext cx="809244" cy="267005"/>
          </a:xfrm>
          <a:prstGeom prst="rect">
            <a:avLst/>
          </a:prstGeom>
        </p:spPr>
      </p:pic>
      <p:pic>
        <p:nvPicPr>
          <p:cNvPr id="13" name="Image 6" descr="preencoded.png"/>
          <p:cNvPicPr>
            <a:picLocks noChangeAspect="1"/>
          </p:cNvPicPr>
          <p:nvPr/>
        </p:nvPicPr>
        <p:blipFill>
          <a:blip r:embed="rId9"/>
          <a:srcRect l="7" r="7"/>
          <a:stretch/>
        </p:blipFill>
        <p:spPr>
          <a:xfrm>
            <a:off x="5665622" y="5453482"/>
            <a:ext cx="724205" cy="676656"/>
          </a:xfrm>
          <a:prstGeom prst="rect">
            <a:avLst/>
          </a:prstGeom>
        </p:spPr>
      </p:pic>
      <p:pic>
        <p:nvPicPr>
          <p:cNvPr id="14" name="Image 7" descr="preencoded.png"/>
          <p:cNvPicPr>
            <a:picLocks noChangeAspect="1"/>
          </p:cNvPicPr>
          <p:nvPr/>
        </p:nvPicPr>
        <p:blipFill>
          <a:blip r:embed="rId10"/>
          <a:srcRect t="236" b="236"/>
          <a:stretch/>
        </p:blipFill>
        <p:spPr>
          <a:xfrm>
            <a:off x="8054950" y="5410505"/>
            <a:ext cx="1257300" cy="761695"/>
          </a:xfrm>
          <a:prstGeom prst="rect">
            <a:avLst/>
          </a:prstGeom>
        </p:spPr>
      </p:pic>
      <p:pic>
        <p:nvPicPr>
          <p:cNvPr id="15" name="Image 8" descr="preencoded.png"/>
          <p:cNvPicPr>
            <a:picLocks noChangeAspect="1"/>
          </p:cNvPicPr>
          <p:nvPr/>
        </p:nvPicPr>
        <p:blipFill>
          <a:blip r:embed="rId11"/>
          <a:srcRect t="23" b="24"/>
          <a:stretch/>
        </p:blipFill>
        <p:spPr>
          <a:xfrm>
            <a:off x="10972800" y="5548579"/>
            <a:ext cx="457200" cy="485546"/>
          </a:xfrm>
          <a:prstGeom prst="rect">
            <a:avLst/>
          </a:prstGeom>
        </p:spPr>
      </p:pic>
      <p:pic>
        <p:nvPicPr>
          <p:cNvPr id="16" name="Image 9" descr="preencoded.png"/>
          <p:cNvPicPr>
            <a:picLocks noChangeAspect="1"/>
          </p:cNvPicPr>
          <p:nvPr/>
        </p:nvPicPr>
        <p:blipFill>
          <a:blip r:embed="rId4"/>
          <a:srcRect l="-197" r="-197"/>
          <a:stretch/>
        </p:blipFill>
        <p:spPr>
          <a:xfrm>
            <a:off x="0" y="0"/>
            <a:ext cx="4063594" cy="75895"/>
          </a:xfrm>
          <a:prstGeom prst="rect">
            <a:avLst/>
          </a:prstGeom>
        </p:spPr>
      </p:pic>
      <p:pic>
        <p:nvPicPr>
          <p:cNvPr id="17" name="Image 10" descr="preencoded.png"/>
          <p:cNvPicPr>
            <a:picLocks noChangeAspect="1"/>
          </p:cNvPicPr>
          <p:nvPr/>
        </p:nvPicPr>
        <p:blipFill>
          <a:blip r:embed="rId3"/>
          <a:srcRect l="-202" r="-202"/>
          <a:stretch/>
        </p:blipFill>
        <p:spPr>
          <a:xfrm>
            <a:off x="4063594" y="0"/>
            <a:ext cx="8128102" cy="758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747475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gen-dedup-37abb9d8cc081a24feb608c288538026.png"/>
          <p:cNvPicPr>
            <a:picLocks noChangeAspect="1"/>
          </p:cNvPicPr>
          <p:nvPr/>
        </p:nvPicPr>
        <p:blipFill>
          <a:blip r:embed="rId3"/>
          <a:srcRect l="-198" r="-198"/>
          <a:stretch/>
        </p:blipFill>
        <p:spPr>
          <a:xfrm>
            <a:off x="0" y="0"/>
            <a:ext cx="8124444" cy="75895"/>
          </a:xfrm>
          <a:prstGeom prst="rect">
            <a:avLst/>
          </a:prstGeom>
        </p:spPr>
      </p:pic>
      <p:pic>
        <p:nvPicPr>
          <p:cNvPr id="3" name="Image 1" descr="gen-dedup-c2c9136402f20c216bf7cbcc052ad1a0.png"/>
          <p:cNvPicPr>
            <a:picLocks noChangeAspect="1"/>
          </p:cNvPicPr>
          <p:nvPr/>
        </p:nvPicPr>
        <p:blipFill>
          <a:blip r:embed="rId4"/>
          <a:srcRect l="-202" r="-202"/>
          <a:stretch/>
        </p:blipFill>
        <p:spPr>
          <a:xfrm>
            <a:off x="8124444" y="0"/>
            <a:ext cx="4067251" cy="75895"/>
          </a:xfrm>
          <a:prstGeom prst="rect">
            <a:avLst/>
          </a:prstGeom>
        </p:spPr>
      </p:pic>
      <p:pic>
        <p:nvPicPr>
          <p:cNvPr id="4" name="Image 2" descr="gen-dedup-e46db74a4f97e080e2ee84f868b11606.png"/>
          <p:cNvPicPr>
            <a:picLocks noChangeAspect="1"/>
          </p:cNvPicPr>
          <p:nvPr/>
        </p:nvPicPr>
        <p:blipFill>
          <a:blip r:embed="rId5"/>
          <a:srcRect t="-384" b="-384"/>
          <a:stretch/>
        </p:blipFill>
        <p:spPr>
          <a:xfrm>
            <a:off x="5619902" y="2678278"/>
            <a:ext cx="952805" cy="38405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190195" y="3238805"/>
            <a:ext cx="11811305" cy="4197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6300" b="1" kern="0" spc="405" dirty="0">
                <a:solidFill>
                  <a:srgbClr val="11182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APPENDIX</a:t>
            </a:r>
            <a:endParaRPr lang="en-US" sz="6300" dirty="0"/>
          </a:p>
        </p:txBody>
      </p:sp>
      <p:sp>
        <p:nvSpPr>
          <p:cNvPr id="7" name="Shape 0">
            <a:extLst>
              <a:ext uri="{FF2B5EF4-FFF2-40B4-BE49-F238E27FC236}">
                <a16:creationId xmlns:a16="http://schemas.microsoft.com/office/drawing/2014/main" id="{D269D29B-7F06-0A31-386E-55DE177850FF}"/>
              </a:ext>
            </a:extLst>
          </p:cNvPr>
          <p:cNvSpPr/>
          <p:nvPr/>
        </p:nvSpPr>
        <p:spPr>
          <a:xfrm>
            <a:off x="8858707" y="-1429207"/>
            <a:ext cx="4762195" cy="4762195"/>
          </a:xfrm>
          <a:prstGeom prst="ellipse">
            <a:avLst/>
          </a:prstGeom>
          <a:solidFill>
            <a:srgbClr val="2A9D8F">
              <a:alpha val="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1">
            <a:extLst>
              <a:ext uri="{FF2B5EF4-FFF2-40B4-BE49-F238E27FC236}">
                <a16:creationId xmlns:a16="http://schemas.microsoft.com/office/drawing/2014/main" id="{22F98600-C71A-D446-B3E2-556E703264C2}"/>
              </a:ext>
            </a:extLst>
          </p:cNvPr>
          <p:cNvSpPr/>
          <p:nvPr/>
        </p:nvSpPr>
        <p:spPr>
          <a:xfrm>
            <a:off x="-952805" y="3047695"/>
            <a:ext cx="5715000" cy="5715000"/>
          </a:xfrm>
          <a:prstGeom prst="ellipse">
            <a:avLst/>
          </a:prstGeom>
          <a:solidFill>
            <a:srgbClr val="D62839">
              <a:alpha val="3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5">
            <a:extLst>
              <a:ext uri="{FF2B5EF4-FFF2-40B4-BE49-F238E27FC236}">
                <a16:creationId xmlns:a16="http://schemas.microsoft.com/office/drawing/2014/main" id="{E747F538-7189-52CD-A0B8-237E8B53D1A9}"/>
              </a:ext>
            </a:extLst>
          </p:cNvPr>
          <p:cNvSpPr/>
          <p:nvPr/>
        </p:nvSpPr>
        <p:spPr>
          <a:xfrm>
            <a:off x="609905" y="6096305"/>
            <a:ext cx="10972800" cy="9144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6">
            <a:extLst>
              <a:ext uri="{FF2B5EF4-FFF2-40B4-BE49-F238E27FC236}">
                <a16:creationId xmlns:a16="http://schemas.microsoft.com/office/drawing/2014/main" id="{31311054-91AE-5A3A-AACE-A0F31187E99D}"/>
              </a:ext>
            </a:extLst>
          </p:cNvPr>
          <p:cNvSpPr txBox="1"/>
          <p:nvPr/>
        </p:nvSpPr>
        <p:spPr>
          <a:xfrm>
            <a:off x="609905" y="6295644"/>
            <a:ext cx="129296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60" dirty="0">
                <a:solidFill>
                  <a:srgbClr val="11182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JOULESTOWATTS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 panose="020B00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227</TotalTime>
  <Words>5935</Words>
  <Application>Microsoft Office PowerPoint</Application>
  <PresentationFormat>Widescreen</PresentationFormat>
  <Paragraphs>999</Paragraphs>
  <Slides>39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39</vt:i4>
      </vt:variant>
    </vt:vector>
  </HeadingPairs>
  <TitlesOfParts>
    <vt:vector size="48" baseType="lpstr">
      <vt:lpstr>Aptos</vt:lpstr>
      <vt:lpstr>Aptos Display</vt:lpstr>
      <vt:lpstr>Arial</vt:lpstr>
      <vt:lpstr>Calibri</vt:lpstr>
      <vt:lpstr>Inter</vt:lpstr>
      <vt:lpstr>Oswald</vt:lpstr>
      <vt:lpstr>Raleway</vt:lpstr>
      <vt:lpstr>Roboto Condensed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E36250417</dc:creator>
  <cp:lastModifiedBy>Athithia Krishna</cp:lastModifiedBy>
  <cp:revision>31</cp:revision>
  <dcterms:created xsi:type="dcterms:W3CDTF">2026-07-06T09:15:11Z</dcterms:created>
  <dcterms:modified xsi:type="dcterms:W3CDTF">2026-07-06T13:17:25Z</dcterms:modified>
</cp:coreProperties>
</file>