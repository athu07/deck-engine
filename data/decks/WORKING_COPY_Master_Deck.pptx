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0"/>
  </p:notesMasterIdLst>
  <p:sldIdLst>
    <p:sldId id="2147483328" r:id="rId2"/>
    <p:sldId id="2147483329" r:id="rId3"/>
    <p:sldId id="2147483452" r:id="rId4"/>
    <p:sldId id="2147483456" r:id="rId5"/>
    <p:sldId id="2147483330" r:id="rId6"/>
    <p:sldId id="2147483433" r:id="rId7"/>
    <p:sldId id="2147483434" r:id="rId8"/>
    <p:sldId id="2147483327" r:id="rId9"/>
    <p:sldId id="2147483331" r:id="rId10"/>
    <p:sldId id="320" r:id="rId11"/>
    <p:sldId id="260" r:id="rId12"/>
    <p:sldId id="2147483426" r:id="rId13"/>
    <p:sldId id="2147483332" r:id="rId14"/>
    <p:sldId id="2147483323" r:id="rId15"/>
    <p:sldId id="2147483416" r:id="rId16"/>
    <p:sldId id="2147483418" r:id="rId17"/>
    <p:sldId id="2147483449" r:id="rId18"/>
    <p:sldId id="2147483448" r:id="rId19"/>
    <p:sldId id="2147483447" r:id="rId20"/>
    <p:sldId id="2147483320" r:id="rId21"/>
    <p:sldId id="272" r:id="rId22"/>
    <p:sldId id="2147483343" r:id="rId23"/>
    <p:sldId id="2147483446" r:id="rId24"/>
    <p:sldId id="317" r:id="rId25"/>
    <p:sldId id="2147483344" r:id="rId26"/>
    <p:sldId id="268" r:id="rId27"/>
    <p:sldId id="2147483427" r:id="rId28"/>
    <p:sldId id="2147483428" r:id="rId29"/>
    <p:sldId id="2147483429" r:id="rId30"/>
    <p:sldId id="273" r:id="rId31"/>
    <p:sldId id="2147483423" r:id="rId32"/>
    <p:sldId id="2147483430" r:id="rId33"/>
    <p:sldId id="2147483431" r:id="rId34"/>
    <p:sldId id="2147483432" r:id="rId35"/>
    <p:sldId id="2147483444" r:id="rId36"/>
    <p:sldId id="2147483305" r:id="rId37"/>
    <p:sldId id="266" r:id="rId38"/>
    <p:sldId id="299" r:id="rId39"/>
    <p:sldId id="2147483445" r:id="rId40"/>
    <p:sldId id="328" r:id="rId41"/>
    <p:sldId id="256" r:id="rId42"/>
    <p:sldId id="2147483451" r:id="rId43"/>
    <p:sldId id="2147483473" r:id="rId44"/>
    <p:sldId id="258" r:id="rId45"/>
    <p:sldId id="259" r:id="rId46"/>
    <p:sldId id="2147483474" r:id="rId47"/>
    <p:sldId id="261" r:id="rId48"/>
    <p:sldId id="2147483464" r:id="rId49"/>
    <p:sldId id="263" r:id="rId50"/>
    <p:sldId id="2147483469" r:id="rId51"/>
    <p:sldId id="2147483470" r:id="rId52"/>
    <p:sldId id="2147483471" r:id="rId53"/>
    <p:sldId id="2147483472" r:id="rId54"/>
    <p:sldId id="269" r:id="rId55"/>
    <p:sldId id="270" r:id="rId56"/>
    <p:sldId id="271" r:id="rId57"/>
    <p:sldId id="2147483475" r:id="rId58"/>
    <p:sldId id="2147483476" r:id="rId59"/>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A9D8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59" d="100"/>
          <a:sy n="59" d="100"/>
        </p:scale>
        <p:origin x="940"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65"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thithia Krishna" userId="8971351e-3361-4746-ac7a-8958c8a01642" providerId="ADAL" clId="{539FE816-794F-49A8-93C3-F6B81266B4DF}"/>
    <pc:docChg chg="undo custSel addSld delSld modSld">
      <pc:chgData name="Athithia Krishna" userId="8971351e-3361-4746-ac7a-8958c8a01642" providerId="ADAL" clId="{539FE816-794F-49A8-93C3-F6B81266B4DF}" dt="2026-08-20T09:28:34.883" v="653" actId="20577"/>
      <pc:docMkLst>
        <pc:docMk/>
      </pc:docMkLst>
      <pc:sldChg chg="addSp delSp modSp add mod">
        <pc:chgData name="Athithia Krishna" userId="8971351e-3361-4746-ac7a-8958c8a01642" providerId="ADAL" clId="{539FE816-794F-49A8-93C3-F6B81266B4DF}" dt="2026-08-20T09:28:34.883" v="653" actId="20577"/>
        <pc:sldMkLst>
          <pc:docMk/>
          <pc:sldMk cId="0" sldId="256"/>
        </pc:sldMkLst>
        <pc:spChg chg="mod">
          <ac:chgData name="Athithia Krishna" userId="8971351e-3361-4746-ac7a-8958c8a01642" providerId="ADAL" clId="{539FE816-794F-49A8-93C3-F6B81266B4DF}" dt="2026-08-20T09:28:34.883" v="653" actId="20577"/>
          <ac:spMkLst>
            <pc:docMk/>
            <pc:sldMk cId="0" sldId="256"/>
            <ac:spMk id="25" creationId="{00000000-0000-0000-0000-000000000000}"/>
          </ac:spMkLst>
        </pc:spChg>
        <pc:spChg chg="add mod">
          <ac:chgData name="Athithia Krishna" userId="8971351e-3361-4746-ac7a-8958c8a01642" providerId="ADAL" clId="{539FE816-794F-49A8-93C3-F6B81266B4DF}" dt="2026-08-11T13:04:16.711" v="621"/>
          <ac:spMkLst>
            <pc:docMk/>
            <pc:sldMk cId="0" sldId="256"/>
            <ac:spMk id="57" creationId="{B382FF3B-2329-E7D6-BD3F-54517A1D5995}"/>
          </ac:spMkLst>
        </pc:spChg>
        <pc:spChg chg="add mod">
          <ac:chgData name="Athithia Krishna" userId="8971351e-3361-4746-ac7a-8958c8a01642" providerId="ADAL" clId="{539FE816-794F-49A8-93C3-F6B81266B4DF}" dt="2026-08-11T13:04:27.572" v="624"/>
          <ac:spMkLst>
            <pc:docMk/>
            <pc:sldMk cId="0" sldId="256"/>
            <ac:spMk id="59" creationId="{F9BB3131-8E9A-5775-303E-839FB981DFDE}"/>
          </ac:spMkLst>
        </pc:spChg>
        <pc:picChg chg="add">
          <ac:chgData name="Athithia Krishna" userId="8971351e-3361-4746-ac7a-8958c8a01642" providerId="ADAL" clId="{539FE816-794F-49A8-93C3-F6B81266B4DF}" dt="2026-08-11T13:04:09.853" v="619" actId="22"/>
          <ac:picMkLst>
            <pc:docMk/>
            <pc:sldMk cId="0" sldId="256"/>
            <ac:picMk id="55" creationId="{694EDD5F-CC4B-939F-09AB-7E475B9CD8B3}"/>
          </ac:picMkLst>
        </pc:picChg>
      </pc:sldChg>
      <pc:sldChg chg="add setBg">
        <pc:chgData name="Athithia Krishna" userId="8971351e-3361-4746-ac7a-8958c8a01642" providerId="ADAL" clId="{539FE816-794F-49A8-93C3-F6B81266B4DF}" dt="2026-08-11T13:14:34.395" v="633"/>
        <pc:sldMkLst>
          <pc:docMk/>
          <pc:sldMk cId="0" sldId="258"/>
        </pc:sldMkLst>
      </pc:sldChg>
      <pc:sldChg chg="add setBg">
        <pc:chgData name="Athithia Krishna" userId="8971351e-3361-4746-ac7a-8958c8a01642" providerId="ADAL" clId="{539FE816-794F-49A8-93C3-F6B81266B4DF}" dt="2026-08-11T13:14:34.395" v="633"/>
        <pc:sldMkLst>
          <pc:docMk/>
          <pc:sldMk cId="0" sldId="259"/>
        </pc:sldMkLst>
      </pc:sldChg>
      <pc:sldChg chg="addSp delSp modSp mod">
        <pc:chgData name="Athithia Krishna" userId="8971351e-3361-4746-ac7a-8958c8a01642" providerId="ADAL" clId="{539FE816-794F-49A8-93C3-F6B81266B4DF}" dt="2026-08-11T12:46:22.884" v="383" actId="478"/>
        <pc:sldMkLst>
          <pc:docMk/>
          <pc:sldMk cId="2220557310" sldId="260"/>
        </pc:sldMkLst>
        <pc:spChg chg="mod">
          <ac:chgData name="Athithia Krishna" userId="8971351e-3361-4746-ac7a-8958c8a01642" providerId="ADAL" clId="{539FE816-794F-49A8-93C3-F6B81266B4DF}" dt="2026-07-29T06:28:44.208" v="134"/>
          <ac:spMkLst>
            <pc:docMk/>
            <pc:sldMk cId="2220557310" sldId="260"/>
            <ac:spMk id="41" creationId="{00000000-0000-0000-0000-000000000000}"/>
          </ac:spMkLst>
        </pc:spChg>
        <pc:spChg chg="mod">
          <ac:chgData name="Athithia Krishna" userId="8971351e-3361-4746-ac7a-8958c8a01642" providerId="ADAL" clId="{539FE816-794F-49A8-93C3-F6B81266B4DF}" dt="2026-07-29T06:57:00.152" v="148"/>
          <ac:spMkLst>
            <pc:docMk/>
            <pc:sldMk cId="2220557310" sldId="260"/>
            <ac:spMk id="48" creationId="{00000000-0000-0000-0000-000000000000}"/>
          </ac:spMkLst>
        </pc:spChg>
        <pc:spChg chg="mod">
          <ac:chgData name="Athithia Krishna" userId="8971351e-3361-4746-ac7a-8958c8a01642" providerId="ADAL" clId="{539FE816-794F-49A8-93C3-F6B81266B4DF}" dt="2026-07-29T07:00:25.408" v="152" actId="14100"/>
          <ac:spMkLst>
            <pc:docMk/>
            <pc:sldMk cId="2220557310" sldId="260"/>
            <ac:spMk id="62" creationId="{00000000-0000-0000-0000-000000000000}"/>
          </ac:spMkLst>
        </pc:spChg>
        <pc:spChg chg="mod">
          <ac:chgData name="Athithia Krishna" userId="8971351e-3361-4746-ac7a-8958c8a01642" providerId="ADAL" clId="{539FE816-794F-49A8-93C3-F6B81266B4DF}" dt="2026-07-29T07:00:55.856" v="153" actId="14100"/>
          <ac:spMkLst>
            <pc:docMk/>
            <pc:sldMk cId="2220557310" sldId="260"/>
            <ac:spMk id="63" creationId="{00000000-0000-0000-0000-000000000000}"/>
          </ac:spMkLst>
        </pc:spChg>
        <pc:spChg chg="mod">
          <ac:chgData name="Athithia Krishna" userId="8971351e-3361-4746-ac7a-8958c8a01642" providerId="ADAL" clId="{539FE816-794F-49A8-93C3-F6B81266B4DF}" dt="2026-07-29T07:00:20.179" v="151"/>
          <ac:spMkLst>
            <pc:docMk/>
            <pc:sldMk cId="2220557310" sldId="260"/>
            <ac:spMk id="64" creationId="{00000000-0000-0000-0000-000000000000}"/>
          </ac:spMkLst>
        </pc:spChg>
        <pc:spChg chg="mod">
          <ac:chgData name="Athithia Krishna" userId="8971351e-3361-4746-ac7a-8958c8a01642" providerId="ADAL" clId="{539FE816-794F-49A8-93C3-F6B81266B4DF}" dt="2026-07-29T07:00:55.856" v="153" actId="14100"/>
          <ac:spMkLst>
            <pc:docMk/>
            <pc:sldMk cId="2220557310" sldId="260"/>
            <ac:spMk id="68" creationId="{00000000-0000-0000-0000-000000000000}"/>
          </ac:spMkLst>
        </pc:spChg>
        <pc:spChg chg="mod">
          <ac:chgData name="Athithia Krishna" userId="8971351e-3361-4746-ac7a-8958c8a01642" providerId="ADAL" clId="{539FE816-794F-49A8-93C3-F6B81266B4DF}" dt="2026-07-29T07:02:46.503" v="166" actId="1076"/>
          <ac:spMkLst>
            <pc:docMk/>
            <pc:sldMk cId="2220557310" sldId="260"/>
            <ac:spMk id="69" creationId="{00000000-0000-0000-0000-000000000000}"/>
          </ac:spMkLst>
        </pc:spChg>
        <pc:spChg chg="mod">
          <ac:chgData name="Athithia Krishna" userId="8971351e-3361-4746-ac7a-8958c8a01642" providerId="ADAL" clId="{539FE816-794F-49A8-93C3-F6B81266B4DF}" dt="2026-07-29T07:01:01.878" v="154" actId="14100"/>
          <ac:spMkLst>
            <pc:docMk/>
            <pc:sldMk cId="2220557310" sldId="260"/>
            <ac:spMk id="73" creationId="{00000000-0000-0000-0000-000000000000}"/>
          </ac:spMkLst>
        </pc:spChg>
        <pc:spChg chg="mod">
          <ac:chgData name="Athithia Krishna" userId="8971351e-3361-4746-ac7a-8958c8a01642" providerId="ADAL" clId="{539FE816-794F-49A8-93C3-F6B81266B4DF}" dt="2026-07-29T07:03:33.775" v="170" actId="1076"/>
          <ac:spMkLst>
            <pc:docMk/>
            <pc:sldMk cId="2220557310" sldId="260"/>
            <ac:spMk id="74" creationId="{00000000-0000-0000-0000-000000000000}"/>
          </ac:spMkLst>
        </pc:spChg>
        <pc:spChg chg="mod">
          <ac:chgData name="Athithia Krishna" userId="8971351e-3361-4746-ac7a-8958c8a01642" providerId="ADAL" clId="{539FE816-794F-49A8-93C3-F6B81266B4DF}" dt="2026-07-29T07:01:17.311" v="156" actId="14100"/>
          <ac:spMkLst>
            <pc:docMk/>
            <pc:sldMk cId="2220557310" sldId="260"/>
            <ac:spMk id="77" creationId="{00000000-0000-0000-0000-000000000000}"/>
          </ac:spMkLst>
        </pc:spChg>
        <pc:spChg chg="mod">
          <ac:chgData name="Athithia Krishna" userId="8971351e-3361-4746-ac7a-8958c8a01642" providerId="ADAL" clId="{539FE816-794F-49A8-93C3-F6B81266B4DF}" dt="2026-07-29T07:00:55.856" v="153" actId="14100"/>
          <ac:spMkLst>
            <pc:docMk/>
            <pc:sldMk cId="2220557310" sldId="260"/>
            <ac:spMk id="78" creationId="{00000000-0000-0000-0000-000000000000}"/>
          </ac:spMkLst>
        </pc:spChg>
        <pc:spChg chg="mod">
          <ac:chgData name="Athithia Krishna" userId="8971351e-3361-4746-ac7a-8958c8a01642" providerId="ADAL" clId="{539FE816-794F-49A8-93C3-F6B81266B4DF}" dt="2026-07-29T07:07:08.582" v="191" actId="1036"/>
          <ac:spMkLst>
            <pc:docMk/>
            <pc:sldMk cId="2220557310" sldId="260"/>
            <ac:spMk id="79" creationId="{00000000-0000-0000-0000-000000000000}"/>
          </ac:spMkLst>
        </pc:spChg>
        <pc:spChg chg="mod">
          <ac:chgData name="Athithia Krishna" userId="8971351e-3361-4746-ac7a-8958c8a01642" providerId="ADAL" clId="{539FE816-794F-49A8-93C3-F6B81266B4DF}" dt="2026-07-29T07:01:33.039" v="158" actId="3064"/>
          <ac:spMkLst>
            <pc:docMk/>
            <pc:sldMk cId="2220557310" sldId="260"/>
            <ac:spMk id="82" creationId="{00000000-0000-0000-0000-000000000000}"/>
          </ac:spMkLst>
        </pc:spChg>
        <pc:spChg chg="mod">
          <ac:chgData name="Athithia Krishna" userId="8971351e-3361-4746-ac7a-8958c8a01642" providerId="ADAL" clId="{539FE816-794F-49A8-93C3-F6B81266B4DF}" dt="2026-07-29T07:00:55.856" v="153" actId="14100"/>
          <ac:spMkLst>
            <pc:docMk/>
            <pc:sldMk cId="2220557310" sldId="260"/>
            <ac:spMk id="83" creationId="{00000000-0000-0000-0000-000000000000}"/>
          </ac:spMkLst>
        </pc:spChg>
        <pc:spChg chg="mod">
          <ac:chgData name="Athithia Krishna" userId="8971351e-3361-4746-ac7a-8958c8a01642" providerId="ADAL" clId="{539FE816-794F-49A8-93C3-F6B81266B4DF}" dt="2026-07-29T07:05:23.298" v="181" actId="1036"/>
          <ac:spMkLst>
            <pc:docMk/>
            <pc:sldMk cId="2220557310" sldId="260"/>
            <ac:spMk id="84" creationId="{00000000-0000-0000-0000-000000000000}"/>
          </ac:spMkLst>
        </pc:spChg>
        <pc:spChg chg="mod">
          <ac:chgData name="Athithia Krishna" userId="8971351e-3361-4746-ac7a-8958c8a01642" providerId="ADAL" clId="{539FE816-794F-49A8-93C3-F6B81266B4DF}" dt="2026-07-29T07:01:49.677" v="160" actId="14100"/>
          <ac:spMkLst>
            <pc:docMk/>
            <pc:sldMk cId="2220557310" sldId="260"/>
            <ac:spMk id="87" creationId="{00000000-0000-0000-0000-000000000000}"/>
          </ac:spMkLst>
        </pc:spChg>
        <pc:spChg chg="mod">
          <ac:chgData name="Athithia Krishna" userId="8971351e-3361-4746-ac7a-8958c8a01642" providerId="ADAL" clId="{539FE816-794F-49A8-93C3-F6B81266B4DF}" dt="2026-07-29T07:01:12.184" v="155" actId="14100"/>
          <ac:spMkLst>
            <pc:docMk/>
            <pc:sldMk cId="2220557310" sldId="260"/>
            <ac:spMk id="88" creationId="{00000000-0000-0000-0000-000000000000}"/>
          </ac:spMkLst>
        </pc:spChg>
        <pc:spChg chg="mod">
          <ac:chgData name="Athithia Krishna" userId="8971351e-3361-4746-ac7a-8958c8a01642" providerId="ADAL" clId="{539FE816-794F-49A8-93C3-F6B81266B4DF}" dt="2026-07-29T07:05:54.249" v="183"/>
          <ac:spMkLst>
            <pc:docMk/>
            <pc:sldMk cId="2220557310" sldId="260"/>
            <ac:spMk id="89" creationId="{00000000-0000-0000-0000-000000000000}"/>
          </ac:spMkLst>
        </pc:spChg>
        <pc:spChg chg="add mod">
          <ac:chgData name="Athithia Krishna" userId="8971351e-3361-4746-ac7a-8958c8a01642" providerId="ADAL" clId="{539FE816-794F-49A8-93C3-F6B81266B4DF}" dt="2026-08-11T12:46:09.943" v="380"/>
          <ac:spMkLst>
            <pc:docMk/>
            <pc:sldMk cId="2220557310" sldId="260"/>
            <ac:spMk id="93" creationId="{BD6276CD-F7B0-3F43-96BD-CDCA8BC7BCC4}"/>
          </ac:spMkLst>
        </pc:spChg>
        <pc:spChg chg="add mod">
          <ac:chgData name="Athithia Krishna" userId="8971351e-3361-4746-ac7a-8958c8a01642" providerId="ADAL" clId="{539FE816-794F-49A8-93C3-F6B81266B4DF}" dt="2026-08-11T12:46:15.288" v="382"/>
          <ac:spMkLst>
            <pc:docMk/>
            <pc:sldMk cId="2220557310" sldId="260"/>
            <ac:spMk id="95" creationId="{DA70FDAF-2D5C-F644-6F8D-C9E06925E6E6}"/>
          </ac:spMkLst>
        </pc:spChg>
        <pc:picChg chg="add">
          <ac:chgData name="Athithia Krishna" userId="8971351e-3361-4746-ac7a-8958c8a01642" providerId="ADAL" clId="{539FE816-794F-49A8-93C3-F6B81266B4DF}" dt="2026-08-11T12:46:03.949" v="378" actId="22"/>
          <ac:picMkLst>
            <pc:docMk/>
            <pc:sldMk cId="2220557310" sldId="260"/>
            <ac:picMk id="91" creationId="{3CA39BFB-9CCD-06A0-E60C-2D29B9D8CA1A}"/>
          </ac:picMkLst>
        </pc:picChg>
      </pc:sldChg>
      <pc:sldChg chg="add">
        <pc:chgData name="Athithia Krishna" userId="8971351e-3361-4746-ac7a-8958c8a01642" providerId="ADAL" clId="{539FE816-794F-49A8-93C3-F6B81266B4DF}" dt="2026-08-11T13:14:34.395" v="633"/>
        <pc:sldMkLst>
          <pc:docMk/>
          <pc:sldMk cId="4274260307" sldId="261"/>
        </pc:sldMkLst>
      </pc:sldChg>
      <pc:sldChg chg="add setBg">
        <pc:chgData name="Athithia Krishna" userId="8971351e-3361-4746-ac7a-8958c8a01642" providerId="ADAL" clId="{539FE816-794F-49A8-93C3-F6B81266B4DF}" dt="2026-08-11T13:14:34.395" v="633"/>
        <pc:sldMkLst>
          <pc:docMk/>
          <pc:sldMk cId="0" sldId="263"/>
        </pc:sldMkLst>
      </pc:sldChg>
      <pc:sldChg chg="addSp delSp modSp mod">
        <pc:chgData name="Athithia Krishna" userId="8971351e-3361-4746-ac7a-8958c8a01642" providerId="ADAL" clId="{539FE816-794F-49A8-93C3-F6B81266B4DF}" dt="2026-08-11T13:03:00.570" v="608" actId="478"/>
        <pc:sldMkLst>
          <pc:docMk/>
          <pc:sldMk cId="1689442643" sldId="266"/>
        </pc:sldMkLst>
        <pc:spChg chg="add mod">
          <ac:chgData name="Athithia Krishna" userId="8971351e-3361-4746-ac7a-8958c8a01642" providerId="ADAL" clId="{539FE816-794F-49A8-93C3-F6B81266B4DF}" dt="2026-08-11T13:02:48.260" v="605"/>
          <ac:spMkLst>
            <pc:docMk/>
            <pc:sldMk cId="1689442643" sldId="266"/>
            <ac:spMk id="66" creationId="{B1355EE8-B7B4-933B-B44C-3AE0972FA240}"/>
          </ac:spMkLst>
        </pc:spChg>
        <pc:spChg chg="add mod">
          <ac:chgData name="Athithia Krishna" userId="8971351e-3361-4746-ac7a-8958c8a01642" providerId="ADAL" clId="{539FE816-794F-49A8-93C3-F6B81266B4DF}" dt="2026-08-11T13:02:55.558" v="607"/>
          <ac:spMkLst>
            <pc:docMk/>
            <pc:sldMk cId="1689442643" sldId="266"/>
            <ac:spMk id="68" creationId="{A2F8002E-BFDF-0EBF-1682-3B330FE91207}"/>
          </ac:spMkLst>
        </pc:spChg>
        <pc:picChg chg="add">
          <ac:chgData name="Athithia Krishna" userId="8971351e-3361-4746-ac7a-8958c8a01642" providerId="ADAL" clId="{539FE816-794F-49A8-93C3-F6B81266B4DF}" dt="2026-08-11T13:02:40.555" v="603" actId="22"/>
          <ac:picMkLst>
            <pc:docMk/>
            <pc:sldMk cId="1689442643" sldId="266"/>
            <ac:picMk id="64" creationId="{98320252-2E72-2BAC-B017-5350E961933E}"/>
          </ac:picMkLst>
        </pc:picChg>
      </pc:sldChg>
      <pc:sldChg chg="addSp delSp modSp mod">
        <pc:chgData name="Athithia Krishna" userId="8971351e-3361-4746-ac7a-8958c8a01642" providerId="ADAL" clId="{539FE816-794F-49A8-93C3-F6B81266B4DF}" dt="2026-08-11T12:57:21.842" v="545" actId="478"/>
        <pc:sldMkLst>
          <pc:docMk/>
          <pc:sldMk cId="2024398874" sldId="268"/>
        </pc:sldMkLst>
        <pc:spChg chg="add mod">
          <ac:chgData name="Athithia Krishna" userId="8971351e-3361-4746-ac7a-8958c8a01642" providerId="ADAL" clId="{539FE816-794F-49A8-93C3-F6B81266B4DF}" dt="2026-08-11T12:57:10.601" v="541"/>
          <ac:spMkLst>
            <pc:docMk/>
            <pc:sldMk cId="2024398874" sldId="268"/>
            <ac:spMk id="107" creationId="{285BEBDB-BA5B-A5D4-BFDE-68995230D535}"/>
          </ac:spMkLst>
        </pc:spChg>
        <pc:spChg chg="add mod">
          <ac:chgData name="Athithia Krishna" userId="8971351e-3361-4746-ac7a-8958c8a01642" providerId="ADAL" clId="{539FE816-794F-49A8-93C3-F6B81266B4DF}" dt="2026-08-11T12:57:16.621" v="543"/>
          <ac:spMkLst>
            <pc:docMk/>
            <pc:sldMk cId="2024398874" sldId="268"/>
            <ac:spMk id="109" creationId="{88C856C1-378A-9D39-B514-9BB7AA59A07B}"/>
          </ac:spMkLst>
        </pc:spChg>
        <pc:picChg chg="add">
          <ac:chgData name="Athithia Krishna" userId="8971351e-3361-4746-ac7a-8958c8a01642" providerId="ADAL" clId="{539FE816-794F-49A8-93C3-F6B81266B4DF}" dt="2026-08-11T12:57:04.696" v="539" actId="22"/>
          <ac:picMkLst>
            <pc:docMk/>
            <pc:sldMk cId="2024398874" sldId="268"/>
            <ac:picMk id="105" creationId="{C1020539-55FA-8380-E314-85692B617E26}"/>
          </ac:picMkLst>
        </pc:picChg>
      </pc:sldChg>
      <pc:sldChg chg="add setBg">
        <pc:chgData name="Athithia Krishna" userId="8971351e-3361-4746-ac7a-8958c8a01642" providerId="ADAL" clId="{539FE816-794F-49A8-93C3-F6B81266B4DF}" dt="2026-08-11T13:14:34.395" v="633"/>
        <pc:sldMkLst>
          <pc:docMk/>
          <pc:sldMk cId="0" sldId="269"/>
        </pc:sldMkLst>
      </pc:sldChg>
      <pc:sldChg chg="add setBg">
        <pc:chgData name="Athithia Krishna" userId="8971351e-3361-4746-ac7a-8958c8a01642" providerId="ADAL" clId="{539FE816-794F-49A8-93C3-F6B81266B4DF}" dt="2026-08-11T13:14:34.395" v="633"/>
        <pc:sldMkLst>
          <pc:docMk/>
          <pc:sldMk cId="0" sldId="270"/>
        </pc:sldMkLst>
      </pc:sldChg>
      <pc:sldChg chg="add setBg">
        <pc:chgData name="Athithia Krishna" userId="8971351e-3361-4746-ac7a-8958c8a01642" providerId="ADAL" clId="{539FE816-794F-49A8-93C3-F6B81266B4DF}" dt="2026-08-11T13:14:34.395" v="633"/>
        <pc:sldMkLst>
          <pc:docMk/>
          <pc:sldMk cId="0" sldId="271"/>
        </pc:sldMkLst>
      </pc:sldChg>
      <pc:sldChg chg="addSp delSp modSp mod">
        <pc:chgData name="Athithia Krishna" userId="8971351e-3361-4746-ac7a-8958c8a01642" providerId="ADAL" clId="{539FE816-794F-49A8-93C3-F6B81266B4DF}" dt="2026-08-11T12:53:59.591" v="487" actId="1076"/>
        <pc:sldMkLst>
          <pc:docMk/>
          <pc:sldMk cId="2163712743" sldId="272"/>
        </pc:sldMkLst>
        <pc:spChg chg="mod">
          <ac:chgData name="Athithia Krishna" userId="8971351e-3361-4746-ac7a-8958c8a01642" providerId="ADAL" clId="{539FE816-794F-49A8-93C3-F6B81266B4DF}" dt="2026-08-11T12:53:59.591" v="487" actId="1076"/>
          <ac:spMkLst>
            <pc:docMk/>
            <pc:sldMk cId="2163712743" sldId="272"/>
            <ac:spMk id="6" creationId="{00000000-0000-0000-0000-000000000000}"/>
          </ac:spMkLst>
        </pc:spChg>
        <pc:spChg chg="mod">
          <ac:chgData name="Athithia Krishna" userId="8971351e-3361-4746-ac7a-8958c8a01642" providerId="ADAL" clId="{539FE816-794F-49A8-93C3-F6B81266B4DF}" dt="2026-08-11T12:53:59.591" v="487" actId="1076"/>
          <ac:spMkLst>
            <pc:docMk/>
            <pc:sldMk cId="2163712743" sldId="272"/>
            <ac:spMk id="10" creationId="{00000000-0000-0000-0000-000000000000}"/>
          </ac:spMkLst>
        </pc:spChg>
        <pc:spChg chg="mod">
          <ac:chgData name="Athithia Krishna" userId="8971351e-3361-4746-ac7a-8958c8a01642" providerId="ADAL" clId="{539FE816-794F-49A8-93C3-F6B81266B4DF}" dt="2026-08-11T12:53:59.591" v="487" actId="1076"/>
          <ac:spMkLst>
            <pc:docMk/>
            <pc:sldMk cId="2163712743" sldId="272"/>
            <ac:spMk id="11" creationId="{00000000-0000-0000-0000-000000000000}"/>
          </ac:spMkLst>
        </pc:spChg>
        <pc:spChg chg="mod">
          <ac:chgData name="Athithia Krishna" userId="8971351e-3361-4746-ac7a-8958c8a01642" providerId="ADAL" clId="{539FE816-794F-49A8-93C3-F6B81266B4DF}" dt="2026-08-11T12:53:59.591" v="487" actId="1076"/>
          <ac:spMkLst>
            <pc:docMk/>
            <pc:sldMk cId="2163712743" sldId="272"/>
            <ac:spMk id="17" creationId="{00000000-0000-0000-0000-000000000000}"/>
          </ac:spMkLst>
        </pc:spChg>
        <pc:spChg chg="mod">
          <ac:chgData name="Athithia Krishna" userId="8971351e-3361-4746-ac7a-8958c8a01642" providerId="ADAL" clId="{539FE816-794F-49A8-93C3-F6B81266B4DF}" dt="2026-08-11T12:53:59.591" v="487" actId="1076"/>
          <ac:spMkLst>
            <pc:docMk/>
            <pc:sldMk cId="2163712743" sldId="272"/>
            <ac:spMk id="18" creationId="{00000000-0000-0000-0000-000000000000}"/>
          </ac:spMkLst>
        </pc:spChg>
        <pc:spChg chg="mod">
          <ac:chgData name="Athithia Krishna" userId="8971351e-3361-4746-ac7a-8958c8a01642" providerId="ADAL" clId="{539FE816-794F-49A8-93C3-F6B81266B4DF}" dt="2026-08-11T12:53:59.591" v="487" actId="1076"/>
          <ac:spMkLst>
            <pc:docMk/>
            <pc:sldMk cId="2163712743" sldId="272"/>
            <ac:spMk id="20" creationId="{00000000-0000-0000-0000-000000000000}"/>
          </ac:spMkLst>
        </pc:spChg>
        <pc:spChg chg="mod">
          <ac:chgData name="Athithia Krishna" userId="8971351e-3361-4746-ac7a-8958c8a01642" providerId="ADAL" clId="{539FE816-794F-49A8-93C3-F6B81266B4DF}" dt="2026-08-11T12:53:59.591" v="487" actId="1076"/>
          <ac:spMkLst>
            <pc:docMk/>
            <pc:sldMk cId="2163712743" sldId="272"/>
            <ac:spMk id="22" creationId="{00000000-0000-0000-0000-000000000000}"/>
          </ac:spMkLst>
        </pc:spChg>
        <pc:spChg chg="mod">
          <ac:chgData name="Athithia Krishna" userId="8971351e-3361-4746-ac7a-8958c8a01642" providerId="ADAL" clId="{539FE816-794F-49A8-93C3-F6B81266B4DF}" dt="2026-08-11T12:53:59.591" v="487" actId="1076"/>
          <ac:spMkLst>
            <pc:docMk/>
            <pc:sldMk cId="2163712743" sldId="272"/>
            <ac:spMk id="25" creationId="{00000000-0000-0000-0000-000000000000}"/>
          </ac:spMkLst>
        </pc:spChg>
        <pc:spChg chg="add mod">
          <ac:chgData name="Athithia Krishna" userId="8971351e-3361-4746-ac7a-8958c8a01642" providerId="ADAL" clId="{539FE816-794F-49A8-93C3-F6B81266B4DF}" dt="2026-08-11T12:53:43.768" v="483"/>
          <ac:spMkLst>
            <pc:docMk/>
            <pc:sldMk cId="2163712743" sldId="272"/>
            <ac:spMk id="26" creationId="{31C28746-AA76-68A0-8F4A-37594F37530A}"/>
          </ac:spMkLst>
        </pc:spChg>
        <pc:spChg chg="mod">
          <ac:chgData name="Athithia Krishna" userId="8971351e-3361-4746-ac7a-8958c8a01642" providerId="ADAL" clId="{539FE816-794F-49A8-93C3-F6B81266B4DF}" dt="2026-08-11T12:53:59.591" v="487" actId="1076"/>
          <ac:spMkLst>
            <pc:docMk/>
            <pc:sldMk cId="2163712743" sldId="272"/>
            <ac:spMk id="27" creationId="{00000000-0000-0000-0000-000000000000}"/>
          </ac:spMkLst>
        </pc:spChg>
        <pc:spChg chg="mod">
          <ac:chgData name="Athithia Krishna" userId="8971351e-3361-4746-ac7a-8958c8a01642" providerId="ADAL" clId="{539FE816-794F-49A8-93C3-F6B81266B4DF}" dt="2026-08-11T12:53:59.591" v="487" actId="1076"/>
          <ac:spMkLst>
            <pc:docMk/>
            <pc:sldMk cId="2163712743" sldId="272"/>
            <ac:spMk id="33" creationId="{9075DFCB-AF89-7D04-C4FC-01891F6C3BB0}"/>
          </ac:spMkLst>
        </pc:spChg>
        <pc:spChg chg="add mod">
          <ac:chgData name="Athithia Krishna" userId="8971351e-3361-4746-ac7a-8958c8a01642" providerId="ADAL" clId="{539FE816-794F-49A8-93C3-F6B81266B4DF}" dt="2026-08-11T12:53:48.505" v="485"/>
          <ac:spMkLst>
            <pc:docMk/>
            <pc:sldMk cId="2163712743" sldId="272"/>
            <ac:spMk id="37" creationId="{D3F6A5A0-C7A7-2164-127A-A20D83A599F6}"/>
          </ac:spMkLst>
        </pc:spChg>
        <pc:picChg chg="add">
          <ac:chgData name="Athithia Krishna" userId="8971351e-3361-4746-ac7a-8958c8a01642" providerId="ADAL" clId="{539FE816-794F-49A8-93C3-F6B81266B4DF}" dt="2026-08-11T12:53:38.427" v="481" actId="22"/>
          <ac:picMkLst>
            <pc:docMk/>
            <pc:sldMk cId="2163712743" sldId="272"/>
            <ac:picMk id="12" creationId="{73DE425D-BB59-5660-A20F-C025D9F14FF2}"/>
          </ac:picMkLst>
        </pc:picChg>
      </pc:sldChg>
      <pc:sldChg chg="addSp delSp modSp mod">
        <pc:chgData name="Athithia Krishna" userId="8971351e-3361-4746-ac7a-8958c8a01642" providerId="ADAL" clId="{539FE816-794F-49A8-93C3-F6B81266B4DF}" dt="2026-08-11T13:00:07.192" v="569" actId="478"/>
        <pc:sldMkLst>
          <pc:docMk/>
          <pc:sldMk cId="3664111513" sldId="273"/>
        </pc:sldMkLst>
        <pc:spChg chg="add mod">
          <ac:chgData name="Athithia Krishna" userId="8971351e-3361-4746-ac7a-8958c8a01642" providerId="ADAL" clId="{539FE816-794F-49A8-93C3-F6B81266B4DF}" dt="2026-08-11T12:59:47.209" v="566"/>
          <ac:spMkLst>
            <pc:docMk/>
            <pc:sldMk cId="3664111513" sldId="273"/>
            <ac:spMk id="37" creationId="{FD7ED6E2-10DE-F9EC-9640-0D946337721A}"/>
          </ac:spMkLst>
        </pc:spChg>
        <pc:picChg chg="add">
          <ac:chgData name="Athithia Krishna" userId="8971351e-3361-4746-ac7a-8958c8a01642" providerId="ADAL" clId="{539FE816-794F-49A8-93C3-F6B81266B4DF}" dt="2026-08-11T12:59:38.431" v="564" actId="22"/>
          <ac:picMkLst>
            <pc:docMk/>
            <pc:sldMk cId="3664111513" sldId="273"/>
            <ac:picMk id="19" creationId="{AD1B0BD0-1864-75D1-29A8-0A3B72A0AA27}"/>
          </ac:picMkLst>
        </pc:picChg>
      </pc:sldChg>
      <pc:sldChg chg="addSp delSp modSp mod">
        <pc:chgData name="Athithia Krishna" userId="8971351e-3361-4746-ac7a-8958c8a01642" providerId="ADAL" clId="{539FE816-794F-49A8-93C3-F6B81266B4DF}" dt="2026-08-11T12:56:23.421" v="529" actId="1036"/>
        <pc:sldMkLst>
          <pc:docMk/>
          <pc:sldMk cId="2254481307" sldId="317"/>
        </pc:sldMkLst>
        <pc:spChg chg="add mod">
          <ac:chgData name="Athithia Krishna" userId="8971351e-3361-4746-ac7a-8958c8a01642" providerId="ADAL" clId="{539FE816-794F-49A8-93C3-F6B81266B4DF}" dt="2026-08-11T12:55:40.821" v="507"/>
          <ac:spMkLst>
            <pc:docMk/>
            <pc:sldMk cId="2254481307" sldId="317"/>
            <ac:spMk id="14" creationId="{11E48207-4CBE-E76D-7A7F-C2165C688D0B}"/>
          </ac:spMkLst>
        </pc:spChg>
        <pc:spChg chg="add mod">
          <ac:chgData name="Athithia Krishna" userId="8971351e-3361-4746-ac7a-8958c8a01642" providerId="ADAL" clId="{539FE816-794F-49A8-93C3-F6B81266B4DF}" dt="2026-08-11T12:55:54.983" v="512" actId="20577"/>
          <ac:spMkLst>
            <pc:docMk/>
            <pc:sldMk cId="2254481307" sldId="317"/>
            <ac:spMk id="68" creationId="{E3D774AC-9A07-89B7-5217-3F8B716334D1}"/>
          </ac:spMkLst>
        </pc:spChg>
        <pc:spChg chg="mod">
          <ac:chgData name="Athithia Krishna" userId="8971351e-3361-4746-ac7a-8958c8a01642" providerId="ADAL" clId="{539FE816-794F-49A8-93C3-F6B81266B4DF}" dt="2026-08-11T12:56:23.421" v="529" actId="1036"/>
          <ac:spMkLst>
            <pc:docMk/>
            <pc:sldMk cId="2254481307" sldId="317"/>
            <ac:spMk id="83" creationId="{716471D0-FF9C-103A-34D0-08F23B2D1462}"/>
          </ac:spMkLst>
        </pc:spChg>
        <pc:grpChg chg="mod">
          <ac:chgData name="Athithia Krishna" userId="8971351e-3361-4746-ac7a-8958c8a01642" providerId="ADAL" clId="{539FE816-794F-49A8-93C3-F6B81266B4DF}" dt="2026-08-11T12:56:16.937" v="520" actId="1035"/>
          <ac:grpSpMkLst>
            <pc:docMk/>
            <pc:sldMk cId="2254481307" sldId="317"/>
            <ac:grpSpMk id="8" creationId="{278E79C9-75E1-A512-7D1F-86028DA75C7E}"/>
          </ac:grpSpMkLst>
        </pc:grpChg>
        <pc:grpChg chg="mod">
          <ac:chgData name="Athithia Krishna" userId="8971351e-3361-4746-ac7a-8958c8a01642" providerId="ADAL" clId="{539FE816-794F-49A8-93C3-F6B81266B4DF}" dt="2026-08-11T12:56:23.421" v="529" actId="1036"/>
          <ac:grpSpMkLst>
            <pc:docMk/>
            <pc:sldMk cId="2254481307" sldId="317"/>
            <ac:grpSpMk id="85" creationId="{8A541D6C-1626-CF66-4AE8-55E6D3A00B4B}"/>
          </ac:grpSpMkLst>
        </pc:grpChg>
        <pc:grpChg chg="mod">
          <ac:chgData name="Athithia Krishna" userId="8971351e-3361-4746-ac7a-8958c8a01642" providerId="ADAL" clId="{539FE816-794F-49A8-93C3-F6B81266B4DF}" dt="2026-08-11T12:56:23.421" v="529" actId="1036"/>
          <ac:grpSpMkLst>
            <pc:docMk/>
            <pc:sldMk cId="2254481307" sldId="317"/>
            <ac:grpSpMk id="95" creationId="{A3BB47C8-D0E8-D9C2-29C7-A00A40917F36}"/>
          </ac:grpSpMkLst>
        </pc:grpChg>
        <pc:grpChg chg="mod">
          <ac:chgData name="Athithia Krishna" userId="8971351e-3361-4746-ac7a-8958c8a01642" providerId="ADAL" clId="{539FE816-794F-49A8-93C3-F6B81266B4DF}" dt="2026-08-11T12:56:23.421" v="529" actId="1036"/>
          <ac:grpSpMkLst>
            <pc:docMk/>
            <pc:sldMk cId="2254481307" sldId="317"/>
            <ac:grpSpMk id="105" creationId="{3A9C801D-9595-2D1E-2FA0-D61396213E25}"/>
          </ac:grpSpMkLst>
        </pc:grpChg>
        <pc:grpChg chg="mod">
          <ac:chgData name="Athithia Krishna" userId="8971351e-3361-4746-ac7a-8958c8a01642" providerId="ADAL" clId="{539FE816-794F-49A8-93C3-F6B81266B4DF}" dt="2026-08-11T12:56:23.421" v="529" actId="1036"/>
          <ac:grpSpMkLst>
            <pc:docMk/>
            <pc:sldMk cId="2254481307" sldId="317"/>
            <ac:grpSpMk id="122" creationId="{B2554248-DF1C-379B-EA12-9AD5870B36A4}"/>
          </ac:grpSpMkLst>
        </pc:grpChg>
        <pc:grpChg chg="mod">
          <ac:chgData name="Athithia Krishna" userId="8971351e-3361-4746-ac7a-8958c8a01642" providerId="ADAL" clId="{539FE816-794F-49A8-93C3-F6B81266B4DF}" dt="2026-08-11T12:56:23.421" v="529" actId="1036"/>
          <ac:grpSpMkLst>
            <pc:docMk/>
            <pc:sldMk cId="2254481307" sldId="317"/>
            <ac:grpSpMk id="130" creationId="{6FAA4335-4B7A-1304-578E-0E702615CD76}"/>
          </ac:grpSpMkLst>
        </pc:grpChg>
        <pc:grpChg chg="mod">
          <ac:chgData name="Athithia Krishna" userId="8971351e-3361-4746-ac7a-8958c8a01642" providerId="ADAL" clId="{539FE816-794F-49A8-93C3-F6B81266B4DF}" dt="2026-08-11T12:56:23.421" v="529" actId="1036"/>
          <ac:grpSpMkLst>
            <pc:docMk/>
            <pc:sldMk cId="2254481307" sldId="317"/>
            <ac:grpSpMk id="149" creationId="{55E5F40E-773D-4BD2-0836-63033FADC633}"/>
          </ac:grpSpMkLst>
        </pc:grpChg>
        <pc:grpChg chg="mod">
          <ac:chgData name="Athithia Krishna" userId="8971351e-3361-4746-ac7a-8958c8a01642" providerId="ADAL" clId="{539FE816-794F-49A8-93C3-F6B81266B4DF}" dt="2026-08-11T12:56:23.421" v="529" actId="1036"/>
          <ac:grpSpMkLst>
            <pc:docMk/>
            <pc:sldMk cId="2254481307" sldId="317"/>
            <ac:grpSpMk id="158" creationId="{98C4F42F-6D82-A48E-86DF-33684BB9CEF1}"/>
          </ac:grpSpMkLst>
        </pc:grpChg>
        <pc:grpChg chg="mod">
          <ac:chgData name="Athithia Krishna" userId="8971351e-3361-4746-ac7a-8958c8a01642" providerId="ADAL" clId="{539FE816-794F-49A8-93C3-F6B81266B4DF}" dt="2026-08-11T12:56:23.421" v="529" actId="1036"/>
          <ac:grpSpMkLst>
            <pc:docMk/>
            <pc:sldMk cId="2254481307" sldId="317"/>
            <ac:grpSpMk id="209" creationId="{FD24C92F-8C3D-68C9-30B4-B226EADF4CB4}"/>
          </ac:grpSpMkLst>
        </pc:grpChg>
        <pc:grpChg chg="mod">
          <ac:chgData name="Athithia Krishna" userId="8971351e-3361-4746-ac7a-8958c8a01642" providerId="ADAL" clId="{539FE816-794F-49A8-93C3-F6B81266B4DF}" dt="2026-08-11T12:56:23.421" v="529" actId="1036"/>
          <ac:grpSpMkLst>
            <pc:docMk/>
            <pc:sldMk cId="2254481307" sldId="317"/>
            <ac:grpSpMk id="226" creationId="{DA197626-712E-D5E1-58E5-852BF9D14CCD}"/>
          </ac:grpSpMkLst>
        </pc:grpChg>
        <pc:picChg chg="add">
          <ac:chgData name="Athithia Krishna" userId="8971351e-3361-4746-ac7a-8958c8a01642" providerId="ADAL" clId="{539FE816-794F-49A8-93C3-F6B81266B4DF}" dt="2026-08-11T12:55:34.719" v="505" actId="22"/>
          <ac:picMkLst>
            <pc:docMk/>
            <pc:sldMk cId="2254481307" sldId="317"/>
            <ac:picMk id="5" creationId="{C54E42E9-E393-93A5-B181-A0FEB655EDF5}"/>
          </ac:picMkLst>
        </pc:picChg>
      </pc:sldChg>
      <pc:sldChg chg="addSp delSp modSp mod">
        <pc:chgData name="Athithia Krishna" userId="8971351e-3361-4746-ac7a-8958c8a01642" providerId="ADAL" clId="{539FE816-794F-49A8-93C3-F6B81266B4DF}" dt="2026-08-11T12:45:47.164" v="376" actId="478"/>
        <pc:sldMkLst>
          <pc:docMk/>
          <pc:sldMk cId="1033164951" sldId="320"/>
        </pc:sldMkLst>
        <pc:spChg chg="add mod">
          <ac:chgData name="Athithia Krishna" userId="8971351e-3361-4746-ac7a-8958c8a01642" providerId="ADAL" clId="{539FE816-794F-49A8-93C3-F6B81266B4DF}" dt="2026-08-11T12:45:38.765" v="374"/>
          <ac:spMkLst>
            <pc:docMk/>
            <pc:sldMk cId="1033164951" sldId="320"/>
            <ac:spMk id="10" creationId="{70C2FDB2-50B6-01D5-C3CC-6FA99C6AFC2D}"/>
          </ac:spMkLst>
        </pc:spChg>
        <pc:picChg chg="add">
          <ac:chgData name="Athithia Krishna" userId="8971351e-3361-4746-ac7a-8958c8a01642" providerId="ADAL" clId="{539FE816-794F-49A8-93C3-F6B81266B4DF}" dt="2026-08-11T12:45:33.103" v="372" actId="22"/>
          <ac:picMkLst>
            <pc:docMk/>
            <pc:sldMk cId="1033164951" sldId="320"/>
            <ac:picMk id="6" creationId="{C6CF41F8-B7C0-C0D5-7978-3EE41B255390}"/>
          </ac:picMkLst>
        </pc:picChg>
      </pc:sldChg>
      <pc:sldChg chg="addSp delSp modSp mod">
        <pc:chgData name="Athithia Krishna" userId="8971351e-3361-4746-ac7a-8958c8a01642" providerId="ADAL" clId="{539FE816-794F-49A8-93C3-F6B81266B4DF}" dt="2026-08-11T13:03:49.936" v="617" actId="21"/>
        <pc:sldMkLst>
          <pc:docMk/>
          <pc:sldMk cId="2996719421" sldId="328"/>
        </pc:sldMkLst>
        <pc:spChg chg="mod">
          <ac:chgData name="Athithia Krishna" userId="8971351e-3361-4746-ac7a-8958c8a01642" providerId="ADAL" clId="{539FE816-794F-49A8-93C3-F6B81266B4DF}" dt="2026-08-11T13:03:44.626" v="614" actId="1076"/>
          <ac:spMkLst>
            <pc:docMk/>
            <pc:sldMk cId="2996719421" sldId="328"/>
            <ac:spMk id="6" creationId="{B8A4FE25-4256-56C6-B36D-63EAA246C01E}"/>
          </ac:spMkLst>
        </pc:spChg>
        <pc:spChg chg="add mod">
          <ac:chgData name="Athithia Krishna" userId="8971351e-3361-4746-ac7a-8958c8a01642" providerId="ADAL" clId="{539FE816-794F-49A8-93C3-F6B81266B4DF}" dt="2026-08-11T13:03:31.906" v="612"/>
          <ac:spMkLst>
            <pc:docMk/>
            <pc:sldMk cId="2996719421" sldId="328"/>
            <ac:spMk id="10" creationId="{C41CAF9D-6A16-3808-E3EA-1C850CD88016}"/>
          </ac:spMkLst>
        </pc:spChg>
        <pc:picChg chg="add">
          <ac:chgData name="Athithia Krishna" userId="8971351e-3361-4746-ac7a-8958c8a01642" providerId="ADAL" clId="{539FE816-794F-49A8-93C3-F6B81266B4DF}" dt="2026-08-11T13:03:26.441" v="610" actId="22"/>
          <ac:picMkLst>
            <pc:docMk/>
            <pc:sldMk cId="2996719421" sldId="328"/>
            <ac:picMk id="3" creationId="{83AFA8D8-11C5-56C4-FC81-D72BED533098}"/>
          </ac:picMkLst>
        </pc:picChg>
      </pc:sldChg>
      <pc:sldChg chg="addSp delSp modSp mod">
        <pc:chgData name="Athithia Krishna" userId="8971351e-3361-4746-ac7a-8958c8a01642" providerId="ADAL" clId="{539FE816-794F-49A8-93C3-F6B81266B4DF}" dt="2026-08-11T13:02:27.743" v="601" actId="478"/>
        <pc:sldMkLst>
          <pc:docMk/>
          <pc:sldMk cId="115305000" sldId="2147483305"/>
        </pc:sldMkLst>
        <pc:spChg chg="add mod">
          <ac:chgData name="Athithia Krishna" userId="8971351e-3361-4746-ac7a-8958c8a01642" providerId="ADAL" clId="{539FE816-794F-49A8-93C3-F6B81266B4DF}" dt="2026-08-11T13:02:17.708" v="597"/>
          <ac:spMkLst>
            <pc:docMk/>
            <pc:sldMk cId="115305000" sldId="2147483305"/>
            <ac:spMk id="90" creationId="{99F216BA-98E1-9713-3442-D130083236B4}"/>
          </ac:spMkLst>
        </pc:spChg>
        <pc:spChg chg="add mod">
          <ac:chgData name="Athithia Krishna" userId="8971351e-3361-4746-ac7a-8958c8a01642" providerId="ADAL" clId="{539FE816-794F-49A8-93C3-F6B81266B4DF}" dt="2026-08-11T13:02:22.819" v="599"/>
          <ac:spMkLst>
            <pc:docMk/>
            <pc:sldMk cId="115305000" sldId="2147483305"/>
            <ac:spMk id="92" creationId="{063D790E-12FB-9B51-AAAE-A04D625A7E6D}"/>
          </ac:spMkLst>
        </pc:spChg>
        <pc:picChg chg="add">
          <ac:chgData name="Athithia Krishna" userId="8971351e-3361-4746-ac7a-8958c8a01642" providerId="ADAL" clId="{539FE816-794F-49A8-93C3-F6B81266B4DF}" dt="2026-08-11T13:02:11.831" v="595" actId="22"/>
          <ac:picMkLst>
            <pc:docMk/>
            <pc:sldMk cId="115305000" sldId="2147483305"/>
            <ac:picMk id="88" creationId="{A1F11D37-BDE2-3712-A7D3-C679CDE17EA7}"/>
          </ac:picMkLst>
        </pc:picChg>
      </pc:sldChg>
      <pc:sldChg chg="addSp delSp modSp mod">
        <pc:chgData name="Athithia Krishna" userId="8971351e-3361-4746-ac7a-8958c8a01642" providerId="ADAL" clId="{539FE816-794F-49A8-93C3-F6B81266B4DF}" dt="2026-08-18T05:48:51.598" v="651" actId="20577"/>
        <pc:sldMkLst>
          <pc:docMk/>
          <pc:sldMk cId="3072768814" sldId="2147483320"/>
        </pc:sldMkLst>
        <pc:spChg chg="mod">
          <ac:chgData name="Athithia Krishna" userId="8971351e-3361-4746-ac7a-8958c8a01642" providerId="ADAL" clId="{539FE816-794F-49A8-93C3-F6B81266B4DF}" dt="2026-08-18T05:48:51.598" v="651" actId="20577"/>
          <ac:spMkLst>
            <pc:docMk/>
            <pc:sldMk cId="3072768814" sldId="2147483320"/>
            <ac:spMk id="17" creationId="{00000000-0000-0000-0000-000000000000}"/>
          </ac:spMkLst>
        </pc:spChg>
        <pc:spChg chg="add mod">
          <ac:chgData name="Athithia Krishna" userId="8971351e-3361-4746-ac7a-8958c8a01642" providerId="ADAL" clId="{539FE816-794F-49A8-93C3-F6B81266B4DF}" dt="2026-08-11T12:52:36.933" v="472"/>
          <ac:spMkLst>
            <pc:docMk/>
            <pc:sldMk cId="3072768814" sldId="2147483320"/>
            <ac:spMk id="60" creationId="{92740680-B5AE-246A-B51F-47C6F73ADA40}"/>
          </ac:spMkLst>
        </pc:spChg>
        <pc:spChg chg="add mod">
          <ac:chgData name="Athithia Krishna" userId="8971351e-3361-4746-ac7a-8958c8a01642" providerId="ADAL" clId="{539FE816-794F-49A8-93C3-F6B81266B4DF}" dt="2026-08-11T12:53:08.859" v="475"/>
          <ac:spMkLst>
            <pc:docMk/>
            <pc:sldMk cId="3072768814" sldId="2147483320"/>
            <ac:spMk id="62" creationId="{1A71D42B-176A-081E-04F5-E5FB9598CD2E}"/>
          </ac:spMkLst>
        </pc:spChg>
        <pc:picChg chg="add">
          <ac:chgData name="Athithia Krishna" userId="8971351e-3361-4746-ac7a-8958c8a01642" providerId="ADAL" clId="{539FE816-794F-49A8-93C3-F6B81266B4DF}" dt="2026-08-11T12:52:30.159" v="470" actId="22"/>
          <ac:picMkLst>
            <pc:docMk/>
            <pc:sldMk cId="3072768814" sldId="2147483320"/>
            <ac:picMk id="58" creationId="{A95401B3-DFC8-7E55-A991-A85A06D568BB}"/>
          </ac:picMkLst>
        </pc:picChg>
      </pc:sldChg>
      <pc:sldChg chg="addSp delSp modSp mod">
        <pc:chgData name="Athithia Krishna" userId="8971351e-3361-4746-ac7a-8958c8a01642" providerId="ADAL" clId="{539FE816-794F-49A8-93C3-F6B81266B4DF}" dt="2026-08-11T12:47:51.748" v="403" actId="478"/>
        <pc:sldMkLst>
          <pc:docMk/>
          <pc:sldMk cId="0" sldId="2147483323"/>
        </pc:sldMkLst>
        <pc:spChg chg="add mod">
          <ac:chgData name="Athithia Krishna" userId="8971351e-3361-4746-ac7a-8958c8a01642" providerId="ADAL" clId="{539FE816-794F-49A8-93C3-F6B81266B4DF}" dt="2026-08-11T12:47:31.172" v="397"/>
          <ac:spMkLst>
            <pc:docMk/>
            <pc:sldMk cId="0" sldId="2147483323"/>
            <ac:spMk id="5" creationId="{6882880C-5198-8181-01D6-938F5239DBE8}"/>
          </ac:spMkLst>
        </pc:spChg>
        <pc:spChg chg="add mod">
          <ac:chgData name="Athithia Krishna" userId="8971351e-3361-4746-ac7a-8958c8a01642" providerId="ADAL" clId="{539FE816-794F-49A8-93C3-F6B81266B4DF}" dt="2026-08-11T12:47:46.680" v="402" actId="20577"/>
          <ac:spMkLst>
            <pc:docMk/>
            <pc:sldMk cId="0" sldId="2147483323"/>
            <ac:spMk id="82" creationId="{E8701246-3C41-DB36-4ECD-FA86F7B2EE0D}"/>
          </ac:spMkLst>
        </pc:spChg>
        <pc:picChg chg="add">
          <ac:chgData name="Athithia Krishna" userId="8971351e-3361-4746-ac7a-8958c8a01642" providerId="ADAL" clId="{539FE816-794F-49A8-93C3-F6B81266B4DF}" dt="2026-08-11T12:47:22.865" v="395" actId="22"/>
          <ac:picMkLst>
            <pc:docMk/>
            <pc:sldMk cId="0" sldId="2147483323"/>
            <ac:picMk id="3" creationId="{91DB220A-20B6-281B-050B-8FB43FAFE4F6}"/>
          </ac:picMkLst>
        </pc:picChg>
      </pc:sldChg>
      <pc:sldChg chg="addSp delSp modSp mod">
        <pc:chgData name="Athithia Krishna" userId="8971351e-3361-4746-ac7a-8958c8a01642" providerId="ADAL" clId="{539FE816-794F-49A8-93C3-F6B81266B4DF}" dt="2026-08-11T12:44:31.889" v="361" actId="478"/>
        <pc:sldMkLst>
          <pc:docMk/>
          <pc:sldMk cId="0" sldId="2147483327"/>
        </pc:sldMkLst>
        <pc:spChg chg="add mod">
          <ac:chgData name="Athithia Krishna" userId="8971351e-3361-4746-ac7a-8958c8a01642" providerId="ADAL" clId="{539FE816-794F-49A8-93C3-F6B81266B4DF}" dt="2026-08-11T12:44:14.446" v="358"/>
          <ac:spMkLst>
            <pc:docMk/>
            <pc:sldMk cId="0" sldId="2147483327"/>
            <ac:spMk id="18" creationId="{D325D654-C4E6-443E-3B1C-BF993D5FD205}"/>
          </ac:spMkLst>
        </pc:spChg>
        <pc:spChg chg="add mod">
          <ac:chgData name="Athithia Krishna" userId="8971351e-3361-4746-ac7a-8958c8a01642" providerId="ADAL" clId="{539FE816-794F-49A8-93C3-F6B81266B4DF}" dt="2026-08-11T12:44:21.906" v="360"/>
          <ac:spMkLst>
            <pc:docMk/>
            <pc:sldMk cId="0" sldId="2147483327"/>
            <ac:spMk id="20" creationId="{F443563E-7BB1-43A9-4D45-F7A553796E0A}"/>
          </ac:spMkLst>
        </pc:spChg>
        <pc:picChg chg="add">
          <ac:chgData name="Athithia Krishna" userId="8971351e-3361-4746-ac7a-8958c8a01642" providerId="ADAL" clId="{539FE816-794F-49A8-93C3-F6B81266B4DF}" dt="2026-08-11T12:44:09.502" v="356" actId="22"/>
          <ac:picMkLst>
            <pc:docMk/>
            <pc:sldMk cId="0" sldId="2147483327"/>
            <ac:picMk id="16" creationId="{EED69A36-4B56-A4EA-7140-4B7C56AFAA98}"/>
          </ac:picMkLst>
        </pc:picChg>
      </pc:sldChg>
      <pc:sldChg chg="addSp delSp mod">
        <pc:chgData name="Athithia Krishna" userId="8971351e-3361-4746-ac7a-8958c8a01642" providerId="ADAL" clId="{539FE816-794F-49A8-93C3-F6B81266B4DF}" dt="2026-08-18T05:20:03.782" v="648" actId="22"/>
        <pc:sldMkLst>
          <pc:docMk/>
          <pc:sldMk cId="0" sldId="2147483328"/>
        </pc:sldMkLst>
        <pc:spChg chg="add">
          <ac:chgData name="Athithia Krishna" userId="8971351e-3361-4746-ac7a-8958c8a01642" providerId="ADAL" clId="{539FE816-794F-49A8-93C3-F6B81266B4DF}" dt="2026-07-21T09:01:10.649" v="1" actId="22"/>
          <ac:spMkLst>
            <pc:docMk/>
            <pc:sldMk cId="0" sldId="2147483328"/>
            <ac:spMk id="42" creationId="{D5B95804-3138-A790-74EB-85C230F2A5AB}"/>
          </ac:spMkLst>
        </pc:spChg>
        <pc:picChg chg="add">
          <ac:chgData name="Athithia Krishna" userId="8971351e-3361-4746-ac7a-8958c8a01642" providerId="ADAL" clId="{539FE816-794F-49A8-93C3-F6B81266B4DF}" dt="2026-08-18T05:20:03.782" v="648" actId="22"/>
          <ac:picMkLst>
            <pc:docMk/>
            <pc:sldMk cId="0" sldId="2147483328"/>
            <ac:picMk id="37" creationId="{8803299E-F87C-9AEE-585D-4EC26A1F0602}"/>
          </ac:picMkLst>
        </pc:picChg>
        <pc:picChg chg="add">
          <ac:chgData name="Athithia Krishna" userId="8971351e-3361-4746-ac7a-8958c8a01642" providerId="ADAL" clId="{539FE816-794F-49A8-93C3-F6B81266B4DF}" dt="2026-07-21T09:01:10.649" v="1" actId="22"/>
          <ac:picMkLst>
            <pc:docMk/>
            <pc:sldMk cId="0" sldId="2147483328"/>
            <ac:picMk id="40" creationId="{AD729F10-2A32-258E-5636-C84113F55214}"/>
          </ac:picMkLst>
        </pc:picChg>
        <pc:picChg chg="add">
          <ac:chgData name="Athithia Krishna" userId="8971351e-3361-4746-ac7a-8958c8a01642" providerId="ADAL" clId="{539FE816-794F-49A8-93C3-F6B81266B4DF}" dt="2026-08-18T05:20:03.782" v="648" actId="22"/>
          <ac:picMkLst>
            <pc:docMk/>
            <pc:sldMk cId="0" sldId="2147483328"/>
            <ac:picMk id="43" creationId="{79B19F83-15EE-9821-6E80-6E2B1F9386D7}"/>
          </ac:picMkLst>
        </pc:picChg>
      </pc:sldChg>
      <pc:sldChg chg="addSp delSp modSp mod">
        <pc:chgData name="Athithia Krishna" userId="8971351e-3361-4746-ac7a-8958c8a01642" providerId="ADAL" clId="{539FE816-794F-49A8-93C3-F6B81266B4DF}" dt="2026-08-11T12:39:12.363" v="310" actId="1035"/>
        <pc:sldMkLst>
          <pc:docMk/>
          <pc:sldMk cId="0" sldId="2147483329"/>
        </pc:sldMkLst>
        <pc:spChg chg="add mod">
          <ac:chgData name="Athithia Krishna" userId="8971351e-3361-4746-ac7a-8958c8a01642" providerId="ADAL" clId="{539FE816-794F-49A8-93C3-F6B81266B4DF}" dt="2026-08-11T12:39:12.363" v="310" actId="1035"/>
          <ac:spMkLst>
            <pc:docMk/>
            <pc:sldMk cId="0" sldId="2147483329"/>
            <ac:spMk id="3" creationId="{6251CF81-51BC-B20D-5405-1576566CB6D1}"/>
          </ac:spMkLst>
        </pc:spChg>
        <pc:spChg chg="mod">
          <ac:chgData name="Athithia Krishna" userId="8971351e-3361-4746-ac7a-8958c8a01642" providerId="ADAL" clId="{539FE816-794F-49A8-93C3-F6B81266B4DF}" dt="2026-08-11T12:39:12.363" v="310" actId="1035"/>
          <ac:spMkLst>
            <pc:docMk/>
            <pc:sldMk cId="0" sldId="2147483329"/>
            <ac:spMk id="14" creationId="{00000000-0000-0000-0000-000000000000}"/>
          </ac:spMkLst>
        </pc:spChg>
        <pc:spChg chg="mod">
          <ac:chgData name="Athithia Krishna" userId="8971351e-3361-4746-ac7a-8958c8a01642" providerId="ADAL" clId="{539FE816-794F-49A8-93C3-F6B81266B4DF}" dt="2026-08-11T12:39:12.363" v="310" actId="1035"/>
          <ac:spMkLst>
            <pc:docMk/>
            <pc:sldMk cId="0" sldId="2147483329"/>
            <ac:spMk id="19" creationId="{00000000-0000-0000-0000-000000000000}"/>
          </ac:spMkLst>
        </pc:spChg>
        <pc:spChg chg="mod">
          <ac:chgData name="Athithia Krishna" userId="8971351e-3361-4746-ac7a-8958c8a01642" providerId="ADAL" clId="{539FE816-794F-49A8-93C3-F6B81266B4DF}" dt="2026-08-11T12:39:12.363" v="310" actId="1035"/>
          <ac:spMkLst>
            <pc:docMk/>
            <pc:sldMk cId="0" sldId="2147483329"/>
            <ac:spMk id="20" creationId="{00000000-0000-0000-0000-000000000000}"/>
          </ac:spMkLst>
        </pc:spChg>
        <pc:spChg chg="add mod">
          <ac:chgData name="Athithia Krishna" userId="8971351e-3361-4746-ac7a-8958c8a01642" providerId="ADAL" clId="{539FE816-794F-49A8-93C3-F6B81266B4DF}" dt="2026-08-11T12:38:05.850" v="291"/>
          <ac:spMkLst>
            <pc:docMk/>
            <pc:sldMk cId="0" sldId="2147483329"/>
            <ac:spMk id="26" creationId="{3DB4DB95-F9EE-9CE3-FE29-C78278EFDFD3}"/>
          </ac:spMkLst>
        </pc:spChg>
        <pc:spChg chg="add mod">
          <ac:chgData name="Athithia Krishna" userId="8971351e-3361-4746-ac7a-8958c8a01642" providerId="ADAL" clId="{539FE816-794F-49A8-93C3-F6B81266B4DF}" dt="2026-08-11T12:38:15.168" v="293"/>
          <ac:spMkLst>
            <pc:docMk/>
            <pc:sldMk cId="0" sldId="2147483329"/>
            <ac:spMk id="28" creationId="{1B415227-73CC-74D7-06DC-03CF858BD1CD}"/>
          </ac:spMkLst>
        </pc:spChg>
        <pc:spChg chg="mod">
          <ac:chgData name="Athithia Krishna" userId="8971351e-3361-4746-ac7a-8958c8a01642" providerId="ADAL" clId="{539FE816-794F-49A8-93C3-F6B81266B4DF}" dt="2026-08-11T12:39:12.363" v="310" actId="1035"/>
          <ac:spMkLst>
            <pc:docMk/>
            <pc:sldMk cId="0" sldId="2147483329"/>
            <ac:spMk id="32" creationId="{00000000-0000-0000-0000-000000000000}"/>
          </ac:spMkLst>
        </pc:spChg>
        <pc:spChg chg="mod">
          <ac:chgData name="Athithia Krishna" userId="8971351e-3361-4746-ac7a-8958c8a01642" providerId="ADAL" clId="{539FE816-794F-49A8-93C3-F6B81266B4DF}" dt="2026-08-11T12:39:12.363" v="310" actId="1035"/>
          <ac:spMkLst>
            <pc:docMk/>
            <pc:sldMk cId="0" sldId="2147483329"/>
            <ac:spMk id="37" creationId="{00000000-0000-0000-0000-000000000000}"/>
          </ac:spMkLst>
        </pc:spChg>
        <pc:spChg chg="add">
          <ac:chgData name="Athithia Krishna" userId="8971351e-3361-4746-ac7a-8958c8a01642" providerId="ADAL" clId="{539FE816-794F-49A8-93C3-F6B81266B4DF}" dt="2026-07-21T09:01:36.998" v="4" actId="22"/>
          <ac:spMkLst>
            <pc:docMk/>
            <pc:sldMk cId="0" sldId="2147483329"/>
            <ac:spMk id="40" creationId="{334F1DA2-2E2A-07EB-F9C9-E437459F6A4A}"/>
          </ac:spMkLst>
        </pc:spChg>
        <pc:spChg chg="add mod">
          <ac:chgData name="Athithia Krishna" userId="8971351e-3361-4746-ac7a-8958c8a01642" providerId="ADAL" clId="{539FE816-794F-49A8-93C3-F6B81266B4DF}" dt="2026-08-11T12:39:12.363" v="310" actId="1035"/>
          <ac:spMkLst>
            <pc:docMk/>
            <pc:sldMk cId="0" sldId="2147483329"/>
            <ac:spMk id="44" creationId="{5CA2CEF8-0E01-5FD7-103D-44B8E7CF3DB0}"/>
          </ac:spMkLst>
        </pc:spChg>
        <pc:spChg chg="add mod">
          <ac:chgData name="Athithia Krishna" userId="8971351e-3361-4746-ac7a-8958c8a01642" providerId="ADAL" clId="{539FE816-794F-49A8-93C3-F6B81266B4DF}" dt="2026-08-11T12:39:12.363" v="310" actId="1035"/>
          <ac:spMkLst>
            <pc:docMk/>
            <pc:sldMk cId="0" sldId="2147483329"/>
            <ac:spMk id="46" creationId="{29CC2507-6071-700F-886B-CD7E47AD2547}"/>
          </ac:spMkLst>
        </pc:spChg>
        <pc:spChg chg="add mod">
          <ac:chgData name="Athithia Krishna" userId="8971351e-3361-4746-ac7a-8958c8a01642" providerId="ADAL" clId="{539FE816-794F-49A8-93C3-F6B81266B4DF}" dt="2026-08-11T12:39:12.363" v="310" actId="1035"/>
          <ac:spMkLst>
            <pc:docMk/>
            <pc:sldMk cId="0" sldId="2147483329"/>
            <ac:spMk id="50" creationId="{73CBA601-76A7-6547-F4B1-DB909E3F8DF2}"/>
          </ac:spMkLst>
        </pc:spChg>
        <pc:spChg chg="add mod">
          <ac:chgData name="Athithia Krishna" userId="8971351e-3361-4746-ac7a-8958c8a01642" providerId="ADAL" clId="{539FE816-794F-49A8-93C3-F6B81266B4DF}" dt="2026-08-11T12:39:12.363" v="310" actId="1035"/>
          <ac:spMkLst>
            <pc:docMk/>
            <pc:sldMk cId="0" sldId="2147483329"/>
            <ac:spMk id="52" creationId="{C3BCB01F-1E20-C8A3-302E-6DF6DE56C557}"/>
          </ac:spMkLst>
        </pc:spChg>
        <pc:picChg chg="add">
          <ac:chgData name="Athithia Krishna" userId="8971351e-3361-4746-ac7a-8958c8a01642" providerId="ADAL" clId="{539FE816-794F-49A8-93C3-F6B81266B4DF}" dt="2026-08-11T12:37:56.017" v="289" actId="22"/>
          <ac:picMkLst>
            <pc:docMk/>
            <pc:sldMk cId="0" sldId="2147483329"/>
            <ac:picMk id="24" creationId="{2D4A2A73-B3D0-D5A2-6758-AFF3C784EDBD}"/>
          </ac:picMkLst>
        </pc:picChg>
        <pc:picChg chg="add">
          <ac:chgData name="Athithia Krishna" userId="8971351e-3361-4746-ac7a-8958c8a01642" providerId="ADAL" clId="{539FE816-794F-49A8-93C3-F6B81266B4DF}" dt="2026-07-21T09:01:36.998" v="4" actId="22"/>
          <ac:picMkLst>
            <pc:docMk/>
            <pc:sldMk cId="0" sldId="2147483329"/>
            <ac:picMk id="42" creationId="{37ADDEB3-4F89-7DC2-83AE-784EB7520B5C}"/>
          </ac:picMkLst>
        </pc:picChg>
        <pc:picChg chg="add">
          <ac:chgData name="Athithia Krishna" userId="8971351e-3361-4746-ac7a-8958c8a01642" providerId="ADAL" clId="{539FE816-794F-49A8-93C3-F6B81266B4DF}" dt="2026-07-21T09:01:36.998" v="4" actId="22"/>
          <ac:picMkLst>
            <pc:docMk/>
            <pc:sldMk cId="0" sldId="2147483329"/>
            <ac:picMk id="48" creationId="{418D492C-990A-6F23-C9AB-EF1157960D2B}"/>
          </ac:picMkLst>
        </pc:picChg>
      </pc:sldChg>
      <pc:sldChg chg="addSp delSp modSp mod">
        <pc:chgData name="Athithia Krishna" userId="8971351e-3361-4746-ac7a-8958c8a01642" providerId="ADAL" clId="{539FE816-794F-49A8-93C3-F6B81266B4DF}" dt="2026-08-11T12:41:57.437" v="337" actId="14100"/>
        <pc:sldMkLst>
          <pc:docMk/>
          <pc:sldMk cId="0" sldId="2147483330"/>
        </pc:sldMkLst>
        <pc:spChg chg="mod">
          <ac:chgData name="Athithia Krishna" userId="8971351e-3361-4746-ac7a-8958c8a01642" providerId="ADAL" clId="{539FE816-794F-49A8-93C3-F6B81266B4DF}" dt="2026-08-11T12:40:45.036" v="328" actId="1076"/>
          <ac:spMkLst>
            <pc:docMk/>
            <pc:sldMk cId="0" sldId="2147483330"/>
            <ac:spMk id="9" creationId="{00000000-0000-0000-0000-000000000000}"/>
          </ac:spMkLst>
        </pc:spChg>
        <pc:spChg chg="mod">
          <ac:chgData name="Athithia Krishna" userId="8971351e-3361-4746-ac7a-8958c8a01642" providerId="ADAL" clId="{539FE816-794F-49A8-93C3-F6B81266B4DF}" dt="2026-08-11T12:40:45.036" v="328" actId="1076"/>
          <ac:spMkLst>
            <pc:docMk/>
            <pc:sldMk cId="0" sldId="2147483330"/>
            <ac:spMk id="11" creationId="{00000000-0000-0000-0000-000000000000}"/>
          </ac:spMkLst>
        </pc:spChg>
        <pc:spChg chg="mod">
          <ac:chgData name="Athithia Krishna" userId="8971351e-3361-4746-ac7a-8958c8a01642" providerId="ADAL" clId="{539FE816-794F-49A8-93C3-F6B81266B4DF}" dt="2026-08-11T12:40:45.036" v="328" actId="1076"/>
          <ac:spMkLst>
            <pc:docMk/>
            <pc:sldMk cId="0" sldId="2147483330"/>
            <ac:spMk id="12" creationId="{00000000-0000-0000-0000-000000000000}"/>
          </ac:spMkLst>
        </pc:spChg>
        <pc:spChg chg="mod">
          <ac:chgData name="Athithia Krishna" userId="8971351e-3361-4746-ac7a-8958c8a01642" providerId="ADAL" clId="{539FE816-794F-49A8-93C3-F6B81266B4DF}" dt="2026-08-11T12:40:45.036" v="328" actId="1076"/>
          <ac:spMkLst>
            <pc:docMk/>
            <pc:sldMk cId="0" sldId="2147483330"/>
            <ac:spMk id="13" creationId="{00000000-0000-0000-0000-000000000000}"/>
          </ac:spMkLst>
        </pc:spChg>
        <pc:spChg chg="mod">
          <ac:chgData name="Athithia Krishna" userId="8971351e-3361-4746-ac7a-8958c8a01642" providerId="ADAL" clId="{539FE816-794F-49A8-93C3-F6B81266B4DF}" dt="2026-08-11T12:40:45.036" v="328" actId="1076"/>
          <ac:spMkLst>
            <pc:docMk/>
            <pc:sldMk cId="0" sldId="2147483330"/>
            <ac:spMk id="14" creationId="{00000000-0000-0000-0000-000000000000}"/>
          </ac:spMkLst>
        </pc:spChg>
        <pc:spChg chg="mod">
          <ac:chgData name="Athithia Krishna" userId="8971351e-3361-4746-ac7a-8958c8a01642" providerId="ADAL" clId="{539FE816-794F-49A8-93C3-F6B81266B4DF}" dt="2026-08-11T12:40:45.036" v="328" actId="1076"/>
          <ac:spMkLst>
            <pc:docMk/>
            <pc:sldMk cId="0" sldId="2147483330"/>
            <ac:spMk id="16" creationId="{00000000-0000-0000-0000-000000000000}"/>
          </ac:spMkLst>
        </pc:spChg>
        <pc:spChg chg="mod">
          <ac:chgData name="Athithia Krishna" userId="8971351e-3361-4746-ac7a-8958c8a01642" providerId="ADAL" clId="{539FE816-794F-49A8-93C3-F6B81266B4DF}" dt="2026-08-11T12:40:45.036" v="328" actId="1076"/>
          <ac:spMkLst>
            <pc:docMk/>
            <pc:sldMk cId="0" sldId="2147483330"/>
            <ac:spMk id="18" creationId="{00000000-0000-0000-0000-000000000000}"/>
          </ac:spMkLst>
        </pc:spChg>
        <pc:spChg chg="mod">
          <ac:chgData name="Athithia Krishna" userId="8971351e-3361-4746-ac7a-8958c8a01642" providerId="ADAL" clId="{539FE816-794F-49A8-93C3-F6B81266B4DF}" dt="2026-08-11T12:40:45.036" v="328" actId="1076"/>
          <ac:spMkLst>
            <pc:docMk/>
            <pc:sldMk cId="0" sldId="2147483330"/>
            <ac:spMk id="19" creationId="{00000000-0000-0000-0000-000000000000}"/>
          </ac:spMkLst>
        </pc:spChg>
        <pc:spChg chg="mod">
          <ac:chgData name="Athithia Krishna" userId="8971351e-3361-4746-ac7a-8958c8a01642" providerId="ADAL" clId="{539FE816-794F-49A8-93C3-F6B81266B4DF}" dt="2026-08-11T12:40:45.036" v="328" actId="1076"/>
          <ac:spMkLst>
            <pc:docMk/>
            <pc:sldMk cId="0" sldId="2147483330"/>
            <ac:spMk id="20" creationId="{00000000-0000-0000-0000-000000000000}"/>
          </ac:spMkLst>
        </pc:spChg>
        <pc:spChg chg="mod">
          <ac:chgData name="Athithia Krishna" userId="8971351e-3361-4746-ac7a-8958c8a01642" providerId="ADAL" clId="{539FE816-794F-49A8-93C3-F6B81266B4DF}" dt="2026-08-11T12:40:45.036" v="328" actId="1076"/>
          <ac:spMkLst>
            <pc:docMk/>
            <pc:sldMk cId="0" sldId="2147483330"/>
            <ac:spMk id="21" creationId="{00000000-0000-0000-0000-000000000000}"/>
          </ac:spMkLst>
        </pc:spChg>
        <pc:spChg chg="add mod">
          <ac:chgData name="Athithia Krishna" userId="8971351e-3361-4746-ac7a-8958c8a01642" providerId="ADAL" clId="{539FE816-794F-49A8-93C3-F6B81266B4DF}" dt="2026-08-11T12:41:37.095" v="336" actId="14100"/>
          <ac:spMkLst>
            <pc:docMk/>
            <pc:sldMk cId="0" sldId="2147483330"/>
            <ac:spMk id="25" creationId="{D35D9D28-8CA8-BBBF-2BA3-0915CE03A36C}"/>
          </ac:spMkLst>
        </pc:spChg>
        <pc:spChg chg="add mod">
          <ac:chgData name="Athithia Krishna" userId="8971351e-3361-4746-ac7a-8958c8a01642" providerId="ADAL" clId="{539FE816-794F-49A8-93C3-F6B81266B4DF}" dt="2026-08-11T12:41:57.437" v="337" actId="14100"/>
          <ac:spMkLst>
            <pc:docMk/>
            <pc:sldMk cId="0" sldId="2147483330"/>
            <ac:spMk id="27" creationId="{B5A6FB3C-AD6D-476F-32DC-DF05820B29C4}"/>
          </ac:spMkLst>
        </pc:spChg>
        <pc:spChg chg="add">
          <ac:chgData name="Athithia Krishna" userId="8971351e-3361-4746-ac7a-8958c8a01642" providerId="ADAL" clId="{539FE816-794F-49A8-93C3-F6B81266B4DF}" dt="2026-08-11T12:41:06.899" v="330" actId="22"/>
          <ac:spMkLst>
            <pc:docMk/>
            <pc:sldMk cId="0" sldId="2147483330"/>
            <ac:spMk id="33" creationId="{050B5757-ACC7-F514-952A-1C8DB0A03023}"/>
          </ac:spMkLst>
        </pc:spChg>
        <pc:picChg chg="add mod">
          <ac:chgData name="Athithia Krishna" userId="8971351e-3361-4746-ac7a-8958c8a01642" providerId="ADAL" clId="{539FE816-794F-49A8-93C3-F6B81266B4DF}" dt="2026-08-11T12:41:37.095" v="336" actId="14100"/>
          <ac:picMkLst>
            <pc:docMk/>
            <pc:sldMk cId="0" sldId="2147483330"/>
            <ac:picMk id="23" creationId="{7813F643-4AB5-D36E-C651-4A1F5E599786}"/>
          </ac:picMkLst>
        </pc:picChg>
        <pc:picChg chg="add">
          <ac:chgData name="Athithia Krishna" userId="8971351e-3361-4746-ac7a-8958c8a01642" providerId="ADAL" clId="{539FE816-794F-49A8-93C3-F6B81266B4DF}" dt="2026-08-11T12:41:06.899" v="330" actId="22"/>
          <ac:picMkLst>
            <pc:docMk/>
            <pc:sldMk cId="0" sldId="2147483330"/>
            <ac:picMk id="29" creationId="{1187F327-2F64-C445-F7CD-5292801A4E51}"/>
          </ac:picMkLst>
        </pc:picChg>
        <pc:picChg chg="add">
          <ac:chgData name="Athithia Krishna" userId="8971351e-3361-4746-ac7a-8958c8a01642" providerId="ADAL" clId="{539FE816-794F-49A8-93C3-F6B81266B4DF}" dt="2026-08-11T12:41:06.899" v="330" actId="22"/>
          <ac:picMkLst>
            <pc:docMk/>
            <pc:sldMk cId="0" sldId="2147483330"/>
            <ac:picMk id="31" creationId="{7C5812F8-2C95-68AE-1315-CCAFA0895EF1}"/>
          </ac:picMkLst>
        </pc:picChg>
      </pc:sldChg>
      <pc:sldChg chg="addSp delSp modSp mod">
        <pc:chgData name="Athithia Krishna" userId="8971351e-3361-4746-ac7a-8958c8a01642" providerId="ADAL" clId="{539FE816-794F-49A8-93C3-F6B81266B4DF}" dt="2026-08-11T12:45:17.089" v="370" actId="478"/>
        <pc:sldMkLst>
          <pc:docMk/>
          <pc:sldMk cId="3821239965" sldId="2147483331"/>
        </pc:sldMkLst>
        <pc:spChg chg="mod">
          <ac:chgData name="Athithia Krishna" userId="8971351e-3361-4746-ac7a-8958c8a01642" providerId="ADAL" clId="{539FE816-794F-49A8-93C3-F6B81266B4DF}" dt="2026-07-29T05:23:03.709" v="53" actId="14100"/>
          <ac:spMkLst>
            <pc:docMk/>
            <pc:sldMk cId="3821239965" sldId="2147483331"/>
            <ac:spMk id="9" creationId="{00000000-0000-0000-0000-000000000000}"/>
          </ac:spMkLst>
        </pc:spChg>
        <pc:spChg chg="mod">
          <ac:chgData name="Athithia Krishna" userId="8971351e-3361-4746-ac7a-8958c8a01642" providerId="ADAL" clId="{539FE816-794F-49A8-93C3-F6B81266B4DF}" dt="2026-07-29T05:23:03.709" v="53" actId="14100"/>
          <ac:spMkLst>
            <pc:docMk/>
            <pc:sldMk cId="3821239965" sldId="2147483331"/>
            <ac:spMk id="11" creationId="{00000000-0000-0000-0000-000000000000}"/>
          </ac:spMkLst>
        </pc:spChg>
        <pc:spChg chg="mod">
          <ac:chgData name="Athithia Krishna" userId="8971351e-3361-4746-ac7a-8958c8a01642" providerId="ADAL" clId="{539FE816-794F-49A8-93C3-F6B81266B4DF}" dt="2026-07-29T05:23:03.709" v="53" actId="14100"/>
          <ac:spMkLst>
            <pc:docMk/>
            <pc:sldMk cId="3821239965" sldId="2147483331"/>
            <ac:spMk id="13" creationId="{00000000-0000-0000-0000-000000000000}"/>
          </ac:spMkLst>
        </pc:spChg>
        <pc:spChg chg="mod">
          <ac:chgData name="Athithia Krishna" userId="8971351e-3361-4746-ac7a-8958c8a01642" providerId="ADAL" clId="{539FE816-794F-49A8-93C3-F6B81266B4DF}" dt="2026-07-29T05:27:16.240" v="77" actId="14100"/>
          <ac:spMkLst>
            <pc:docMk/>
            <pc:sldMk cId="3821239965" sldId="2147483331"/>
            <ac:spMk id="15" creationId="{00000000-0000-0000-0000-000000000000}"/>
          </ac:spMkLst>
        </pc:spChg>
        <pc:spChg chg="mod">
          <ac:chgData name="Athithia Krishna" userId="8971351e-3361-4746-ac7a-8958c8a01642" providerId="ADAL" clId="{539FE816-794F-49A8-93C3-F6B81266B4DF}" dt="2026-07-29T05:22:51.793" v="51" actId="1076"/>
          <ac:spMkLst>
            <pc:docMk/>
            <pc:sldMk cId="3821239965" sldId="2147483331"/>
            <ac:spMk id="16" creationId="{00000000-0000-0000-0000-000000000000}"/>
          </ac:spMkLst>
        </pc:spChg>
        <pc:spChg chg="mod">
          <ac:chgData name="Athithia Krishna" userId="8971351e-3361-4746-ac7a-8958c8a01642" providerId="ADAL" clId="{539FE816-794F-49A8-93C3-F6B81266B4DF}" dt="2026-07-29T05:27:16.240" v="77" actId="14100"/>
          <ac:spMkLst>
            <pc:docMk/>
            <pc:sldMk cId="3821239965" sldId="2147483331"/>
            <ac:spMk id="17" creationId="{00000000-0000-0000-0000-000000000000}"/>
          </ac:spMkLst>
        </pc:spChg>
        <pc:spChg chg="mod">
          <ac:chgData name="Athithia Krishna" userId="8971351e-3361-4746-ac7a-8958c8a01642" providerId="ADAL" clId="{539FE816-794F-49A8-93C3-F6B81266B4DF}" dt="2026-07-29T05:22:44.867" v="50" actId="1035"/>
          <ac:spMkLst>
            <pc:docMk/>
            <pc:sldMk cId="3821239965" sldId="2147483331"/>
            <ac:spMk id="26" creationId="{00000000-0000-0000-0000-000000000000}"/>
          </ac:spMkLst>
        </pc:spChg>
        <pc:spChg chg="mod">
          <ac:chgData name="Athithia Krishna" userId="8971351e-3361-4746-ac7a-8958c8a01642" providerId="ADAL" clId="{539FE816-794F-49A8-93C3-F6B81266B4DF}" dt="2026-07-29T05:22:44.867" v="50" actId="1035"/>
          <ac:spMkLst>
            <pc:docMk/>
            <pc:sldMk cId="3821239965" sldId="2147483331"/>
            <ac:spMk id="30" creationId="{00000000-0000-0000-0000-000000000000}"/>
          </ac:spMkLst>
        </pc:spChg>
        <pc:spChg chg="mod">
          <ac:chgData name="Athithia Krishna" userId="8971351e-3361-4746-ac7a-8958c8a01642" providerId="ADAL" clId="{539FE816-794F-49A8-93C3-F6B81266B4DF}" dt="2026-07-29T05:22:44.867" v="50" actId="1035"/>
          <ac:spMkLst>
            <pc:docMk/>
            <pc:sldMk cId="3821239965" sldId="2147483331"/>
            <ac:spMk id="34" creationId="{00000000-0000-0000-0000-000000000000}"/>
          </ac:spMkLst>
        </pc:spChg>
        <pc:spChg chg="mod">
          <ac:chgData name="Athithia Krishna" userId="8971351e-3361-4746-ac7a-8958c8a01642" providerId="ADAL" clId="{539FE816-794F-49A8-93C3-F6B81266B4DF}" dt="2026-07-29T05:22:51.793" v="51" actId="1076"/>
          <ac:spMkLst>
            <pc:docMk/>
            <pc:sldMk cId="3821239965" sldId="2147483331"/>
            <ac:spMk id="35" creationId="{00000000-0000-0000-0000-000000000000}"/>
          </ac:spMkLst>
        </pc:spChg>
        <pc:spChg chg="mod">
          <ac:chgData name="Athithia Krishna" userId="8971351e-3361-4746-ac7a-8958c8a01642" providerId="ADAL" clId="{539FE816-794F-49A8-93C3-F6B81266B4DF}" dt="2026-07-29T05:22:51.793" v="51" actId="1076"/>
          <ac:spMkLst>
            <pc:docMk/>
            <pc:sldMk cId="3821239965" sldId="2147483331"/>
            <ac:spMk id="37" creationId="{00000000-0000-0000-0000-000000000000}"/>
          </ac:spMkLst>
        </pc:spChg>
        <pc:spChg chg="mod">
          <ac:chgData name="Athithia Krishna" userId="8971351e-3361-4746-ac7a-8958c8a01642" providerId="ADAL" clId="{539FE816-794F-49A8-93C3-F6B81266B4DF}" dt="2026-07-29T05:22:51.793" v="51" actId="1076"/>
          <ac:spMkLst>
            <pc:docMk/>
            <pc:sldMk cId="3821239965" sldId="2147483331"/>
            <ac:spMk id="38" creationId="{00000000-0000-0000-0000-000000000000}"/>
          </ac:spMkLst>
        </pc:spChg>
        <pc:spChg chg="mod">
          <ac:chgData name="Athithia Krishna" userId="8971351e-3361-4746-ac7a-8958c8a01642" providerId="ADAL" clId="{539FE816-794F-49A8-93C3-F6B81266B4DF}" dt="2026-07-29T05:22:51.793" v="51" actId="1076"/>
          <ac:spMkLst>
            <pc:docMk/>
            <pc:sldMk cId="3821239965" sldId="2147483331"/>
            <ac:spMk id="39" creationId="{00000000-0000-0000-0000-000000000000}"/>
          </ac:spMkLst>
        </pc:spChg>
        <pc:spChg chg="mod">
          <ac:chgData name="Athithia Krishna" userId="8971351e-3361-4746-ac7a-8958c8a01642" providerId="ADAL" clId="{539FE816-794F-49A8-93C3-F6B81266B4DF}" dt="2026-07-29T05:27:40.213" v="87" actId="20577"/>
          <ac:spMkLst>
            <pc:docMk/>
            <pc:sldMk cId="3821239965" sldId="2147483331"/>
            <ac:spMk id="42" creationId="{00000000-0000-0000-0000-000000000000}"/>
          </ac:spMkLst>
        </pc:spChg>
        <pc:spChg chg="add mod">
          <ac:chgData name="Athithia Krishna" userId="8971351e-3361-4746-ac7a-8958c8a01642" providerId="ADAL" clId="{539FE816-794F-49A8-93C3-F6B81266B4DF}" dt="2026-08-11T12:45:08.466" v="367"/>
          <ac:spMkLst>
            <pc:docMk/>
            <pc:sldMk cId="3821239965" sldId="2147483331"/>
            <ac:spMk id="44" creationId="{265888E8-C762-FC9B-EF3C-9C969913E9EE}"/>
          </ac:spMkLst>
        </pc:spChg>
        <pc:spChg chg="add del">
          <ac:chgData name="Athithia Krishna" userId="8971351e-3361-4746-ac7a-8958c8a01642" providerId="ADAL" clId="{539FE816-794F-49A8-93C3-F6B81266B4DF}" dt="2026-07-29T05:20:32.778" v="27" actId="478"/>
          <ac:spMkLst>
            <pc:docMk/>
            <pc:sldMk cId="3821239965" sldId="2147483331"/>
            <ac:spMk id="45" creationId="{25DD6EC7-8F41-58C5-8FE6-D76C9E660C2A}"/>
          </ac:spMkLst>
        </pc:spChg>
        <pc:spChg chg="add mod">
          <ac:chgData name="Athithia Krishna" userId="8971351e-3361-4746-ac7a-8958c8a01642" providerId="ADAL" clId="{539FE816-794F-49A8-93C3-F6B81266B4DF}" dt="2026-08-11T12:45:14.016" v="369"/>
          <ac:spMkLst>
            <pc:docMk/>
            <pc:sldMk cId="3821239965" sldId="2147483331"/>
            <ac:spMk id="48" creationId="{40C2EE28-ED5B-7B2B-4232-8020856679CF}"/>
          </ac:spMkLst>
        </pc:spChg>
        <pc:spChg chg="add mod">
          <ac:chgData name="Athithia Krishna" userId="8971351e-3361-4746-ac7a-8958c8a01642" providerId="ADAL" clId="{539FE816-794F-49A8-93C3-F6B81266B4DF}" dt="2026-07-29T05:24:11.548" v="64" actId="20577"/>
          <ac:spMkLst>
            <pc:docMk/>
            <pc:sldMk cId="3821239965" sldId="2147483331"/>
            <ac:spMk id="50" creationId="{0D0121B9-3CE1-9CE2-0D74-0AF49A3870A7}"/>
          </ac:spMkLst>
        </pc:spChg>
        <pc:spChg chg="add mod">
          <ac:chgData name="Athithia Krishna" userId="8971351e-3361-4746-ac7a-8958c8a01642" providerId="ADAL" clId="{539FE816-794F-49A8-93C3-F6B81266B4DF}" dt="2026-07-29T05:30:24.328" v="109" actId="1076"/>
          <ac:spMkLst>
            <pc:docMk/>
            <pc:sldMk cId="3821239965" sldId="2147483331"/>
            <ac:spMk id="54" creationId="{B6B809AB-EF04-CC02-1ABA-A7E3BE035F3E}"/>
          </ac:spMkLst>
        </pc:spChg>
        <pc:spChg chg="add mod">
          <ac:chgData name="Athithia Krishna" userId="8971351e-3361-4746-ac7a-8958c8a01642" providerId="ADAL" clId="{539FE816-794F-49A8-93C3-F6B81266B4DF}" dt="2026-07-29T05:34:58.292" v="130" actId="20577"/>
          <ac:spMkLst>
            <pc:docMk/>
            <pc:sldMk cId="3821239965" sldId="2147483331"/>
            <ac:spMk id="56" creationId="{7CAA90B1-B9B9-7E1C-4153-2D83AE870C7F}"/>
          </ac:spMkLst>
        </pc:spChg>
        <pc:spChg chg="add mod">
          <ac:chgData name="Athithia Krishna" userId="8971351e-3361-4746-ac7a-8958c8a01642" providerId="ADAL" clId="{539FE816-794F-49A8-93C3-F6B81266B4DF}" dt="2026-07-29T05:33:43.034" v="118" actId="20577"/>
          <ac:spMkLst>
            <pc:docMk/>
            <pc:sldMk cId="3821239965" sldId="2147483331"/>
            <ac:spMk id="65" creationId="{448CC21A-AD81-779D-EEB6-66FC3A51B663}"/>
          </ac:spMkLst>
        </pc:spChg>
        <pc:spChg chg="add mod">
          <ac:chgData name="Athithia Krishna" userId="8971351e-3361-4746-ac7a-8958c8a01642" providerId="ADAL" clId="{539FE816-794F-49A8-93C3-F6B81266B4DF}" dt="2026-07-29T05:34:49.593" v="127" actId="20577"/>
          <ac:spMkLst>
            <pc:docMk/>
            <pc:sldMk cId="3821239965" sldId="2147483331"/>
            <ac:spMk id="67" creationId="{E63D122D-C1D4-E9DB-5DE3-71F72FDC7AB0}"/>
          </ac:spMkLst>
        </pc:spChg>
        <pc:picChg chg="add">
          <ac:chgData name="Athithia Krishna" userId="8971351e-3361-4746-ac7a-8958c8a01642" providerId="ADAL" clId="{539FE816-794F-49A8-93C3-F6B81266B4DF}" dt="2026-08-11T12:45:02.267" v="365" actId="22"/>
          <ac:picMkLst>
            <pc:docMk/>
            <pc:sldMk cId="3821239965" sldId="2147483331"/>
            <ac:picMk id="20" creationId="{39B86839-D5CE-9E77-188E-91BA329A3242}"/>
          </ac:picMkLst>
        </pc:picChg>
        <pc:picChg chg="add mod">
          <ac:chgData name="Athithia Krishna" userId="8971351e-3361-4746-ac7a-8958c8a01642" providerId="ADAL" clId="{539FE816-794F-49A8-93C3-F6B81266B4DF}" dt="2026-07-29T05:23:48.994" v="59" actId="14100"/>
          <ac:picMkLst>
            <pc:docMk/>
            <pc:sldMk cId="3821239965" sldId="2147483331"/>
            <ac:picMk id="46" creationId="{A980FDE9-E014-9753-42B7-FC41FD2E0E7B}"/>
          </ac:picMkLst>
        </pc:picChg>
        <pc:picChg chg="add mod">
          <ac:chgData name="Athithia Krishna" userId="8971351e-3361-4746-ac7a-8958c8a01642" providerId="ADAL" clId="{539FE816-794F-49A8-93C3-F6B81266B4DF}" dt="2026-07-29T05:24:06.421" v="62" actId="1076"/>
          <ac:picMkLst>
            <pc:docMk/>
            <pc:sldMk cId="3821239965" sldId="2147483331"/>
            <ac:picMk id="53" creationId="{7F30F277-1A65-29B4-3A81-D79CA0D62D9F}"/>
          </ac:picMkLst>
        </pc:picChg>
        <pc:picChg chg="add mod">
          <ac:chgData name="Athithia Krishna" userId="8971351e-3361-4746-ac7a-8958c8a01642" providerId="ADAL" clId="{539FE816-794F-49A8-93C3-F6B81266B4DF}" dt="2026-07-29T05:26:47.233" v="73" actId="1076"/>
          <ac:picMkLst>
            <pc:docMk/>
            <pc:sldMk cId="3821239965" sldId="2147483331"/>
            <ac:picMk id="55" creationId="{C04CD5A3-FC44-F168-DAAE-3D908141FB07}"/>
          </ac:picMkLst>
        </pc:picChg>
        <pc:picChg chg="add mod">
          <ac:chgData name="Athithia Krishna" userId="8971351e-3361-4746-ac7a-8958c8a01642" providerId="ADAL" clId="{539FE816-794F-49A8-93C3-F6B81266B4DF}" dt="2026-07-29T05:30:17.922" v="108" actId="14100"/>
          <ac:picMkLst>
            <pc:docMk/>
            <pc:sldMk cId="3821239965" sldId="2147483331"/>
            <ac:picMk id="58" creationId="{1C0328F8-7532-2770-8AF3-B14A7F95B666}"/>
          </ac:picMkLst>
        </pc:picChg>
        <pc:picChg chg="add mod">
          <ac:chgData name="Athithia Krishna" userId="8971351e-3361-4746-ac7a-8958c8a01642" providerId="ADAL" clId="{539FE816-794F-49A8-93C3-F6B81266B4DF}" dt="2026-07-29T05:34:04.818" v="121" actId="1076"/>
          <ac:picMkLst>
            <pc:docMk/>
            <pc:sldMk cId="3821239965" sldId="2147483331"/>
            <ac:picMk id="66" creationId="{683DD1AA-57EE-0934-AD15-BD342C3F78E3}"/>
          </ac:picMkLst>
        </pc:picChg>
      </pc:sldChg>
      <pc:sldChg chg="addSp delSp modSp mod">
        <pc:chgData name="Athithia Krishna" userId="8971351e-3361-4746-ac7a-8958c8a01642" providerId="ADAL" clId="{539FE816-794F-49A8-93C3-F6B81266B4DF}" dt="2026-08-11T12:47:01.843" v="390" actId="478"/>
        <pc:sldMkLst>
          <pc:docMk/>
          <pc:sldMk cId="2968513503" sldId="2147483332"/>
        </pc:sldMkLst>
        <pc:spChg chg="add mod">
          <ac:chgData name="Athithia Krishna" userId="8971351e-3361-4746-ac7a-8958c8a01642" providerId="ADAL" clId="{539FE816-794F-49A8-93C3-F6B81266B4DF}" dt="2026-08-11T12:46:48.316" v="387"/>
          <ac:spMkLst>
            <pc:docMk/>
            <pc:sldMk cId="2968513503" sldId="2147483332"/>
            <ac:spMk id="55" creationId="{E3A8BEBA-2641-43DC-B1FB-72924A464491}"/>
          </ac:spMkLst>
        </pc:spChg>
        <pc:spChg chg="add mod">
          <ac:chgData name="Athithia Krishna" userId="8971351e-3361-4746-ac7a-8958c8a01642" providerId="ADAL" clId="{539FE816-794F-49A8-93C3-F6B81266B4DF}" dt="2026-08-11T12:46:54.952" v="389"/>
          <ac:spMkLst>
            <pc:docMk/>
            <pc:sldMk cId="2968513503" sldId="2147483332"/>
            <ac:spMk id="57" creationId="{17CE2A1D-CEBB-750D-02E1-92F82A78DA0E}"/>
          </ac:spMkLst>
        </pc:spChg>
        <pc:picChg chg="add">
          <ac:chgData name="Athithia Krishna" userId="8971351e-3361-4746-ac7a-8958c8a01642" providerId="ADAL" clId="{539FE816-794F-49A8-93C3-F6B81266B4DF}" dt="2026-08-11T12:46:41.342" v="385" actId="22"/>
          <ac:picMkLst>
            <pc:docMk/>
            <pc:sldMk cId="2968513503" sldId="2147483332"/>
            <ac:picMk id="53" creationId="{02919DE7-F5E5-FB55-3032-CD58F0C53E30}"/>
          </ac:picMkLst>
        </pc:picChg>
      </pc:sldChg>
      <pc:sldChg chg="addSp delSp modSp mod">
        <pc:chgData name="Athithia Krishna" userId="8971351e-3361-4746-ac7a-8958c8a01642" providerId="ADAL" clId="{539FE816-794F-49A8-93C3-F6B81266B4DF}" dt="2026-08-11T12:54:25.859" v="493" actId="478"/>
        <pc:sldMkLst>
          <pc:docMk/>
          <pc:sldMk cId="0" sldId="2147483343"/>
        </pc:sldMkLst>
        <pc:spChg chg="add mod">
          <ac:chgData name="Athithia Krishna" userId="8971351e-3361-4746-ac7a-8958c8a01642" providerId="ADAL" clId="{539FE816-794F-49A8-93C3-F6B81266B4DF}" dt="2026-08-11T12:54:15.550" v="491"/>
          <ac:spMkLst>
            <pc:docMk/>
            <pc:sldMk cId="0" sldId="2147483343"/>
            <ac:spMk id="66" creationId="{D93119DE-7C1C-96C6-9209-BC31F6C5F5C7}"/>
          </ac:spMkLst>
        </pc:spChg>
        <pc:picChg chg="add">
          <ac:chgData name="Athithia Krishna" userId="8971351e-3361-4746-ac7a-8958c8a01642" providerId="ADAL" clId="{539FE816-794F-49A8-93C3-F6B81266B4DF}" dt="2026-08-11T12:54:09.979" v="489" actId="22"/>
          <ac:picMkLst>
            <pc:docMk/>
            <pc:sldMk cId="0" sldId="2147483343"/>
            <ac:picMk id="64" creationId="{16796C33-0765-58F2-6C40-75484A585716}"/>
          </ac:picMkLst>
        </pc:picChg>
      </pc:sldChg>
      <pc:sldChg chg="addSp delSp modSp mod">
        <pc:chgData name="Athithia Krishna" userId="8971351e-3361-4746-ac7a-8958c8a01642" providerId="ADAL" clId="{539FE816-794F-49A8-93C3-F6B81266B4DF}" dt="2026-08-11T12:56:51.007" v="537" actId="478"/>
        <pc:sldMkLst>
          <pc:docMk/>
          <pc:sldMk cId="0" sldId="2147483344"/>
        </pc:sldMkLst>
        <pc:spChg chg="add mod">
          <ac:chgData name="Athithia Krishna" userId="8971351e-3361-4746-ac7a-8958c8a01642" providerId="ADAL" clId="{539FE816-794F-49A8-93C3-F6B81266B4DF}" dt="2026-08-11T12:56:40.831" v="533"/>
          <ac:spMkLst>
            <pc:docMk/>
            <pc:sldMk cId="0" sldId="2147483344"/>
            <ac:spMk id="65" creationId="{1826C805-32C6-4ABB-3306-68776D8209EE}"/>
          </ac:spMkLst>
        </pc:spChg>
        <pc:spChg chg="add mod">
          <ac:chgData name="Athithia Krishna" userId="8971351e-3361-4746-ac7a-8958c8a01642" providerId="ADAL" clId="{539FE816-794F-49A8-93C3-F6B81266B4DF}" dt="2026-08-11T12:56:46.002" v="535"/>
          <ac:spMkLst>
            <pc:docMk/>
            <pc:sldMk cId="0" sldId="2147483344"/>
            <ac:spMk id="67" creationId="{B414F03D-873B-6401-34BB-D58D5AEFDC5E}"/>
          </ac:spMkLst>
        </pc:spChg>
        <pc:picChg chg="add">
          <ac:chgData name="Athithia Krishna" userId="8971351e-3361-4746-ac7a-8958c8a01642" providerId="ADAL" clId="{539FE816-794F-49A8-93C3-F6B81266B4DF}" dt="2026-08-11T12:56:35.626" v="531" actId="22"/>
          <ac:picMkLst>
            <pc:docMk/>
            <pc:sldMk cId="0" sldId="2147483344"/>
            <ac:picMk id="63" creationId="{8838E23D-747C-F10F-6B38-8BB56A12A3C5}"/>
          </ac:picMkLst>
        </pc:picChg>
      </pc:sldChg>
      <pc:sldChg chg="addSp delSp modSp mod">
        <pc:chgData name="Athithia Krishna" userId="8971351e-3361-4746-ac7a-8958c8a01642" providerId="ADAL" clId="{539FE816-794F-49A8-93C3-F6B81266B4DF}" dt="2026-08-11T12:48:37.558" v="413" actId="478"/>
        <pc:sldMkLst>
          <pc:docMk/>
          <pc:sldMk cId="0" sldId="2147483416"/>
        </pc:sldMkLst>
        <pc:spChg chg="mod">
          <ac:chgData name="Athithia Krishna" userId="8971351e-3361-4746-ac7a-8958c8a01642" providerId="ADAL" clId="{539FE816-794F-49A8-93C3-F6B81266B4DF}" dt="2026-08-11T12:48:03.897" v="404" actId="1076"/>
          <ac:spMkLst>
            <pc:docMk/>
            <pc:sldMk cId="0" sldId="2147483416"/>
            <ac:spMk id="25" creationId="{00000000-0000-0000-0000-000000000000}"/>
          </ac:spMkLst>
        </pc:spChg>
        <pc:spChg chg="add mod">
          <ac:chgData name="Athithia Krishna" userId="8971351e-3361-4746-ac7a-8958c8a01642" providerId="ADAL" clId="{539FE816-794F-49A8-93C3-F6B81266B4DF}" dt="2026-08-11T12:48:13.526" v="408" actId="20577"/>
          <ac:spMkLst>
            <pc:docMk/>
            <pc:sldMk cId="0" sldId="2147483416"/>
            <ac:spMk id="50" creationId="{279DFBEF-830E-5CA7-9B8E-5D2E671D818B}"/>
          </ac:spMkLst>
        </pc:spChg>
        <pc:spChg chg="add mod">
          <ac:chgData name="Athithia Krishna" userId="8971351e-3361-4746-ac7a-8958c8a01642" providerId="ADAL" clId="{539FE816-794F-49A8-93C3-F6B81266B4DF}" dt="2026-08-11T12:48:20.086" v="410"/>
          <ac:spMkLst>
            <pc:docMk/>
            <pc:sldMk cId="0" sldId="2147483416"/>
            <ac:spMk id="52" creationId="{D049F8DA-6703-71FC-3546-858A681D8336}"/>
          </ac:spMkLst>
        </pc:spChg>
        <pc:picChg chg="add">
          <ac:chgData name="Athithia Krishna" userId="8971351e-3361-4746-ac7a-8958c8a01642" providerId="ADAL" clId="{539FE816-794F-49A8-93C3-F6B81266B4DF}" dt="2026-08-11T12:48:04.886" v="405" actId="22"/>
          <ac:picMkLst>
            <pc:docMk/>
            <pc:sldMk cId="0" sldId="2147483416"/>
            <ac:picMk id="22" creationId="{3D20DEF3-BC0A-E881-F21E-739887AF799D}"/>
          </ac:picMkLst>
        </pc:picChg>
      </pc:sldChg>
      <pc:sldChg chg="addSp delSp modSp add del mod">
        <pc:chgData name="Athithia Krishna" userId="8971351e-3361-4746-ac7a-8958c8a01642" providerId="ADAL" clId="{539FE816-794F-49A8-93C3-F6B81266B4DF}" dt="2026-08-11T12:49:03.780" v="420" actId="478"/>
        <pc:sldMkLst>
          <pc:docMk/>
          <pc:sldMk cId="0" sldId="2147483418"/>
        </pc:sldMkLst>
        <pc:spChg chg="add mod">
          <ac:chgData name="Athithia Krishna" userId="8971351e-3361-4746-ac7a-8958c8a01642" providerId="ADAL" clId="{539FE816-794F-49A8-93C3-F6B81266B4DF}" dt="2026-08-11T12:48:53.746" v="417"/>
          <ac:spMkLst>
            <pc:docMk/>
            <pc:sldMk cId="0" sldId="2147483418"/>
            <ac:spMk id="40" creationId="{BD2883F1-750C-64D0-C2F6-A175AF772C28}"/>
          </ac:spMkLst>
        </pc:spChg>
        <pc:spChg chg="add mod">
          <ac:chgData name="Athithia Krishna" userId="8971351e-3361-4746-ac7a-8958c8a01642" providerId="ADAL" clId="{539FE816-794F-49A8-93C3-F6B81266B4DF}" dt="2026-08-11T12:49:00.040" v="419"/>
          <ac:spMkLst>
            <pc:docMk/>
            <pc:sldMk cId="0" sldId="2147483418"/>
            <ac:spMk id="42" creationId="{84FEB9B2-D271-4ACB-00F0-08500AA3F909}"/>
          </ac:spMkLst>
        </pc:spChg>
        <pc:picChg chg="add">
          <ac:chgData name="Athithia Krishna" userId="8971351e-3361-4746-ac7a-8958c8a01642" providerId="ADAL" clId="{539FE816-794F-49A8-93C3-F6B81266B4DF}" dt="2026-08-11T12:48:48.975" v="415" actId="22"/>
          <ac:picMkLst>
            <pc:docMk/>
            <pc:sldMk cId="0" sldId="2147483418"/>
            <ac:picMk id="19" creationId="{B87CA5DC-F13E-0DC6-820F-8F243ED3AFCF}"/>
          </ac:picMkLst>
        </pc:picChg>
      </pc:sldChg>
      <pc:sldChg chg="addSp delSp modSp mod">
        <pc:chgData name="Athithia Krishna" userId="8971351e-3361-4746-ac7a-8958c8a01642" providerId="ADAL" clId="{539FE816-794F-49A8-93C3-F6B81266B4DF}" dt="2026-08-11T13:00:51.477" v="577" actId="21"/>
        <pc:sldMkLst>
          <pc:docMk/>
          <pc:sldMk cId="181587005" sldId="2147483423"/>
        </pc:sldMkLst>
        <pc:spChg chg="add mod">
          <ac:chgData name="Athithia Krishna" userId="8971351e-3361-4746-ac7a-8958c8a01642" providerId="ADAL" clId="{539FE816-794F-49A8-93C3-F6B81266B4DF}" dt="2026-08-11T13:00:32.872" v="573"/>
          <ac:spMkLst>
            <pc:docMk/>
            <pc:sldMk cId="181587005" sldId="2147483423"/>
            <ac:spMk id="47" creationId="{02BD81C3-B306-A31C-6E3F-0C1B45D6F069}"/>
          </ac:spMkLst>
        </pc:spChg>
        <pc:spChg chg="add mod">
          <ac:chgData name="Athithia Krishna" userId="8971351e-3361-4746-ac7a-8958c8a01642" providerId="ADAL" clId="{539FE816-794F-49A8-93C3-F6B81266B4DF}" dt="2026-08-11T13:00:39.695" v="575"/>
          <ac:spMkLst>
            <pc:docMk/>
            <pc:sldMk cId="181587005" sldId="2147483423"/>
            <ac:spMk id="49" creationId="{E23F7730-158A-FEAD-68F3-29DA14BD5DB8}"/>
          </ac:spMkLst>
        </pc:spChg>
        <pc:picChg chg="add">
          <ac:chgData name="Athithia Krishna" userId="8971351e-3361-4746-ac7a-8958c8a01642" providerId="ADAL" clId="{539FE816-794F-49A8-93C3-F6B81266B4DF}" dt="2026-08-11T13:00:26.875" v="571" actId="22"/>
          <ac:picMkLst>
            <pc:docMk/>
            <pc:sldMk cId="181587005" sldId="2147483423"/>
            <ac:picMk id="45" creationId="{91F48C81-2F3A-28E1-1B2D-E55F832E5138}"/>
          </ac:picMkLst>
        </pc:picChg>
      </pc:sldChg>
      <pc:sldChg chg="addSp delSp modSp mod">
        <pc:chgData name="Athithia Krishna" userId="8971351e-3361-4746-ac7a-8958c8a01642" providerId="ADAL" clId="{539FE816-794F-49A8-93C3-F6B81266B4DF}" dt="2026-08-11T12:58:07.536" v="555" actId="478"/>
        <pc:sldMkLst>
          <pc:docMk/>
          <pc:sldMk cId="0" sldId="2147483428"/>
        </pc:sldMkLst>
        <pc:spChg chg="add mod">
          <ac:chgData name="Athithia Krishna" userId="8971351e-3361-4746-ac7a-8958c8a01642" providerId="ADAL" clId="{539FE816-794F-49A8-93C3-F6B81266B4DF}" dt="2026-08-11T12:57:56.942" v="552"/>
          <ac:spMkLst>
            <pc:docMk/>
            <pc:sldMk cId="0" sldId="2147483428"/>
            <ac:spMk id="65" creationId="{C7053E4A-8CB7-99E1-1680-5BBBE5C62077}"/>
          </ac:spMkLst>
        </pc:spChg>
        <pc:spChg chg="add mod">
          <ac:chgData name="Athithia Krishna" userId="8971351e-3361-4746-ac7a-8958c8a01642" providerId="ADAL" clId="{539FE816-794F-49A8-93C3-F6B81266B4DF}" dt="2026-08-11T12:58:02.333" v="554"/>
          <ac:spMkLst>
            <pc:docMk/>
            <pc:sldMk cId="0" sldId="2147483428"/>
            <ac:spMk id="67" creationId="{1CDE8A67-3CAD-D926-E8FB-ABB9E7B4B103}"/>
          </ac:spMkLst>
        </pc:spChg>
        <pc:picChg chg="add">
          <ac:chgData name="Athithia Krishna" userId="8971351e-3361-4746-ac7a-8958c8a01642" providerId="ADAL" clId="{539FE816-794F-49A8-93C3-F6B81266B4DF}" dt="2026-08-11T12:57:51.343" v="550" actId="22"/>
          <ac:picMkLst>
            <pc:docMk/>
            <pc:sldMk cId="0" sldId="2147483428"/>
            <ac:picMk id="63" creationId="{08B5C465-7443-4345-1BB8-72ABA2B6ED3E}"/>
          </ac:picMkLst>
        </pc:picChg>
      </pc:sldChg>
      <pc:sldChg chg="addSp delSp modSp mod">
        <pc:chgData name="Athithia Krishna" userId="8971351e-3361-4746-ac7a-8958c8a01642" providerId="ADAL" clId="{539FE816-794F-49A8-93C3-F6B81266B4DF}" dt="2026-08-11T12:58:36.268" v="562" actId="478"/>
        <pc:sldMkLst>
          <pc:docMk/>
          <pc:sldMk cId="0" sldId="2147483429"/>
        </pc:sldMkLst>
        <pc:spChg chg="mod">
          <ac:chgData name="Athithia Krishna" userId="8971351e-3361-4746-ac7a-8958c8a01642" providerId="ADAL" clId="{539FE816-794F-49A8-93C3-F6B81266B4DF}" dt="2026-07-29T07:40:24.008" v="212"/>
          <ac:spMkLst>
            <pc:docMk/>
            <pc:sldMk cId="0" sldId="2147483429"/>
            <ac:spMk id="23" creationId="{00000000-0000-0000-0000-000000000000}"/>
          </ac:spMkLst>
        </pc:spChg>
        <pc:spChg chg="add mod">
          <ac:chgData name="Athithia Krishna" userId="8971351e-3361-4746-ac7a-8958c8a01642" providerId="ADAL" clId="{539FE816-794F-49A8-93C3-F6B81266B4DF}" dt="2026-08-11T12:58:26.503" v="559"/>
          <ac:spMkLst>
            <pc:docMk/>
            <pc:sldMk cId="0" sldId="2147483429"/>
            <ac:spMk id="38" creationId="{7DDF8ADF-F094-FFC8-4799-AB089480780E}"/>
          </ac:spMkLst>
        </pc:spChg>
        <pc:spChg chg="add mod">
          <ac:chgData name="Athithia Krishna" userId="8971351e-3361-4746-ac7a-8958c8a01642" providerId="ADAL" clId="{539FE816-794F-49A8-93C3-F6B81266B4DF}" dt="2026-08-11T12:58:32.677" v="561"/>
          <ac:spMkLst>
            <pc:docMk/>
            <pc:sldMk cId="0" sldId="2147483429"/>
            <ac:spMk id="40" creationId="{7A86EA03-DEE7-8C48-D601-940CD3014105}"/>
          </ac:spMkLst>
        </pc:spChg>
        <pc:picChg chg="add">
          <ac:chgData name="Athithia Krishna" userId="8971351e-3361-4746-ac7a-8958c8a01642" providerId="ADAL" clId="{539FE816-794F-49A8-93C3-F6B81266B4DF}" dt="2026-08-11T12:58:21.620" v="557" actId="22"/>
          <ac:picMkLst>
            <pc:docMk/>
            <pc:sldMk cId="0" sldId="2147483429"/>
            <ac:picMk id="36" creationId="{D0F6EA86-C845-C74F-D9EC-25C8DE1D713E}"/>
          </ac:picMkLst>
        </pc:picChg>
      </pc:sldChg>
      <pc:sldChg chg="addSp delSp modSp mod">
        <pc:chgData name="Athithia Krishna" userId="8971351e-3361-4746-ac7a-8958c8a01642" providerId="ADAL" clId="{539FE816-794F-49A8-93C3-F6B81266B4DF}" dt="2026-08-11T13:01:24.263" v="584" actId="478"/>
        <pc:sldMkLst>
          <pc:docMk/>
          <pc:sldMk cId="3743683411" sldId="2147483431"/>
        </pc:sldMkLst>
        <pc:spChg chg="mod">
          <ac:chgData name="Athithia Krishna" userId="8971351e-3361-4746-ac7a-8958c8a01642" providerId="ADAL" clId="{539FE816-794F-49A8-93C3-F6B81266B4DF}" dt="2026-07-29T07:44:12.857" v="261" actId="20577"/>
          <ac:spMkLst>
            <pc:docMk/>
            <pc:sldMk cId="3743683411" sldId="2147483431"/>
            <ac:spMk id="25" creationId="{00000000-0000-0000-0000-000000000000}"/>
          </ac:spMkLst>
        </pc:spChg>
        <pc:spChg chg="add mod">
          <ac:chgData name="Athithia Krishna" userId="8971351e-3361-4746-ac7a-8958c8a01642" providerId="ADAL" clId="{539FE816-794F-49A8-93C3-F6B81266B4DF}" dt="2026-08-11T13:01:14.360" v="581"/>
          <ac:spMkLst>
            <pc:docMk/>
            <pc:sldMk cId="3743683411" sldId="2147483431"/>
            <ac:spMk id="28" creationId="{62747FAF-8343-A40A-D00F-DCAB04819A96}"/>
          </ac:spMkLst>
        </pc:spChg>
        <pc:spChg chg="add mod">
          <ac:chgData name="Athithia Krishna" userId="8971351e-3361-4746-ac7a-8958c8a01642" providerId="ADAL" clId="{539FE816-794F-49A8-93C3-F6B81266B4DF}" dt="2026-08-11T13:01:20.431" v="583"/>
          <ac:spMkLst>
            <pc:docMk/>
            <pc:sldMk cId="3743683411" sldId="2147483431"/>
            <ac:spMk id="68" creationId="{5F8B4E81-BED7-1A2B-1E9E-B312E58E4F5C}"/>
          </ac:spMkLst>
        </pc:spChg>
        <pc:picChg chg="add">
          <ac:chgData name="Athithia Krishna" userId="8971351e-3361-4746-ac7a-8958c8a01642" providerId="ADAL" clId="{539FE816-794F-49A8-93C3-F6B81266B4DF}" dt="2026-08-11T13:01:09.102" v="579" actId="22"/>
          <ac:picMkLst>
            <pc:docMk/>
            <pc:sldMk cId="3743683411" sldId="2147483431"/>
            <ac:picMk id="14" creationId="{2A634BF6-1028-4B39-6875-59CC1F74A676}"/>
          </ac:picMkLst>
        </pc:picChg>
      </pc:sldChg>
      <pc:sldChg chg="addSp delSp modSp mod">
        <pc:chgData name="Athithia Krishna" userId="8971351e-3361-4746-ac7a-8958c8a01642" providerId="ADAL" clId="{539FE816-794F-49A8-93C3-F6B81266B4DF}" dt="2026-08-11T13:01:57.467" v="593" actId="478"/>
        <pc:sldMkLst>
          <pc:docMk/>
          <pc:sldMk cId="504767538" sldId="2147483432"/>
        </pc:sldMkLst>
        <pc:spChg chg="add mod">
          <ac:chgData name="Athithia Krishna" userId="8971351e-3361-4746-ac7a-8958c8a01642" providerId="ADAL" clId="{539FE816-794F-49A8-93C3-F6B81266B4DF}" dt="2026-08-11T13:01:44.788" v="590"/>
          <ac:spMkLst>
            <pc:docMk/>
            <pc:sldMk cId="504767538" sldId="2147483432"/>
            <ac:spMk id="83" creationId="{884D4CDD-B8F7-B817-1A73-D09A2A49651A}"/>
          </ac:spMkLst>
        </pc:spChg>
        <pc:spChg chg="add mod">
          <ac:chgData name="Athithia Krishna" userId="8971351e-3361-4746-ac7a-8958c8a01642" providerId="ADAL" clId="{539FE816-794F-49A8-93C3-F6B81266B4DF}" dt="2026-08-11T13:01:50.510" v="592"/>
          <ac:spMkLst>
            <pc:docMk/>
            <pc:sldMk cId="504767538" sldId="2147483432"/>
            <ac:spMk id="85" creationId="{BD5C3A5A-9720-AA75-02BE-D3CA3E91F5CB}"/>
          </ac:spMkLst>
        </pc:spChg>
        <pc:picChg chg="add">
          <ac:chgData name="Athithia Krishna" userId="8971351e-3361-4746-ac7a-8958c8a01642" providerId="ADAL" clId="{539FE816-794F-49A8-93C3-F6B81266B4DF}" dt="2026-08-11T13:01:36.525" v="586" actId="22"/>
          <ac:picMkLst>
            <pc:docMk/>
            <pc:sldMk cId="504767538" sldId="2147483432"/>
            <ac:picMk id="81" creationId="{9CA39ED8-71A9-9399-1CD5-9EF159D1BC84}"/>
          </ac:picMkLst>
        </pc:picChg>
      </pc:sldChg>
      <pc:sldChg chg="addSp delSp modSp mod">
        <pc:chgData name="Athithia Krishna" userId="8971351e-3361-4746-ac7a-8958c8a01642" providerId="ADAL" clId="{539FE816-794F-49A8-93C3-F6B81266B4DF}" dt="2026-08-11T12:42:51.482" v="345" actId="22"/>
        <pc:sldMkLst>
          <pc:docMk/>
          <pc:sldMk cId="2152270222" sldId="2147483433"/>
        </pc:sldMkLst>
        <pc:spChg chg="add">
          <ac:chgData name="Athithia Krishna" userId="8971351e-3361-4746-ac7a-8958c8a01642" providerId="ADAL" clId="{539FE816-794F-49A8-93C3-F6B81266B4DF}" dt="2026-08-11T12:42:20.571" v="339" actId="22"/>
          <ac:spMkLst>
            <pc:docMk/>
            <pc:sldMk cId="2152270222" sldId="2147483433"/>
            <ac:spMk id="45" creationId="{C452B055-9ECB-7E19-FB26-AFD8543312EB}"/>
          </ac:spMkLst>
        </pc:spChg>
        <pc:spChg chg="add mod">
          <ac:chgData name="Athithia Krishna" userId="8971351e-3361-4746-ac7a-8958c8a01642" providerId="ADAL" clId="{539FE816-794F-49A8-93C3-F6B81266B4DF}" dt="2026-08-11T12:42:27.594" v="341"/>
          <ac:spMkLst>
            <pc:docMk/>
            <pc:sldMk cId="2152270222" sldId="2147483433"/>
            <ac:spMk id="50" creationId="{1A2CC517-B7E5-6C53-FC86-943744901CEA}"/>
          </ac:spMkLst>
        </pc:spChg>
        <pc:spChg chg="add">
          <ac:chgData name="Athithia Krishna" userId="8971351e-3361-4746-ac7a-8958c8a01642" providerId="ADAL" clId="{539FE816-794F-49A8-93C3-F6B81266B4DF}" dt="2026-08-11T12:42:51.482" v="345" actId="22"/>
          <ac:spMkLst>
            <pc:docMk/>
            <pc:sldMk cId="2152270222" sldId="2147483433"/>
            <ac:spMk id="58" creationId="{CF733651-4B0B-33D6-E149-15FFDB3BC907}"/>
          </ac:spMkLst>
        </pc:spChg>
        <pc:picChg chg="add">
          <ac:chgData name="Athithia Krishna" userId="8971351e-3361-4746-ac7a-8958c8a01642" providerId="ADAL" clId="{539FE816-794F-49A8-93C3-F6B81266B4DF}" dt="2026-08-11T12:42:20.571" v="339" actId="22"/>
          <ac:picMkLst>
            <pc:docMk/>
            <pc:sldMk cId="2152270222" sldId="2147483433"/>
            <ac:picMk id="30" creationId="{99685EFD-DB88-C645-1E16-F14C673D75FE}"/>
          </ac:picMkLst>
        </pc:picChg>
        <pc:picChg chg="add">
          <ac:chgData name="Athithia Krishna" userId="8971351e-3361-4746-ac7a-8958c8a01642" providerId="ADAL" clId="{539FE816-794F-49A8-93C3-F6B81266B4DF}" dt="2026-08-11T12:42:51.482" v="345" actId="22"/>
          <ac:picMkLst>
            <pc:docMk/>
            <pc:sldMk cId="2152270222" sldId="2147483433"/>
            <ac:picMk id="54" creationId="{7D696EDE-4531-B274-20CE-FFFA59303AD4}"/>
          </ac:picMkLst>
        </pc:picChg>
        <pc:picChg chg="add">
          <ac:chgData name="Athithia Krishna" userId="8971351e-3361-4746-ac7a-8958c8a01642" providerId="ADAL" clId="{539FE816-794F-49A8-93C3-F6B81266B4DF}" dt="2026-08-11T12:42:51.482" v="345" actId="22"/>
          <ac:picMkLst>
            <pc:docMk/>
            <pc:sldMk cId="2152270222" sldId="2147483433"/>
            <ac:picMk id="56" creationId="{E9099E9D-C351-3749-B9DD-D7D98B45018F}"/>
          </ac:picMkLst>
        </pc:picChg>
      </pc:sldChg>
      <pc:sldChg chg="addSp delSp modSp mod">
        <pc:chgData name="Athithia Krishna" userId="8971351e-3361-4746-ac7a-8958c8a01642" providerId="ADAL" clId="{539FE816-794F-49A8-93C3-F6B81266B4DF}" dt="2026-08-11T12:43:52.749" v="354" actId="1076"/>
        <pc:sldMkLst>
          <pc:docMk/>
          <pc:sldMk cId="4008463823" sldId="2147483434"/>
        </pc:sldMkLst>
        <pc:spChg chg="add">
          <ac:chgData name="Athithia Krishna" userId="8971351e-3361-4746-ac7a-8958c8a01642" providerId="ADAL" clId="{539FE816-794F-49A8-93C3-F6B81266B4DF}" dt="2026-08-11T12:42:57.886" v="346" actId="22"/>
          <ac:spMkLst>
            <pc:docMk/>
            <pc:sldMk cId="4008463823" sldId="2147483434"/>
            <ac:spMk id="20" creationId="{AC7A837D-5F99-77AA-E2C6-208BCD92CD33}"/>
          </ac:spMkLst>
        </pc:spChg>
        <pc:spChg chg="add mod">
          <ac:chgData name="Athithia Krishna" userId="8971351e-3361-4746-ac7a-8958c8a01642" providerId="ADAL" clId="{539FE816-794F-49A8-93C3-F6B81266B4DF}" dt="2026-08-11T12:43:26.953" v="349"/>
          <ac:spMkLst>
            <pc:docMk/>
            <pc:sldMk cId="4008463823" sldId="2147483434"/>
            <ac:spMk id="24" creationId="{4FF5262B-6E79-5598-69F4-370249C17112}"/>
          </ac:spMkLst>
        </pc:spChg>
        <pc:spChg chg="add mod">
          <ac:chgData name="Athithia Krishna" userId="8971351e-3361-4746-ac7a-8958c8a01642" providerId="ADAL" clId="{539FE816-794F-49A8-93C3-F6B81266B4DF}" dt="2026-08-11T12:43:52.749" v="354" actId="1076"/>
          <ac:spMkLst>
            <pc:docMk/>
            <pc:sldMk cId="4008463823" sldId="2147483434"/>
            <ac:spMk id="26" creationId="{2457F82D-03E8-E190-DDC1-2522816B7F2F}"/>
          </ac:spMkLst>
        </pc:spChg>
        <pc:picChg chg="add">
          <ac:chgData name="Athithia Krishna" userId="8971351e-3361-4746-ac7a-8958c8a01642" providerId="ADAL" clId="{539FE816-794F-49A8-93C3-F6B81266B4DF}" dt="2026-08-11T12:42:57.886" v="346" actId="22"/>
          <ac:picMkLst>
            <pc:docMk/>
            <pc:sldMk cId="4008463823" sldId="2147483434"/>
            <ac:picMk id="8" creationId="{5C976BEA-9A4F-7876-AC6B-763B50A4AEB3}"/>
          </ac:picMkLst>
        </pc:picChg>
        <pc:picChg chg="add">
          <ac:chgData name="Athithia Krishna" userId="8971351e-3361-4746-ac7a-8958c8a01642" providerId="ADAL" clId="{539FE816-794F-49A8-93C3-F6B81266B4DF}" dt="2026-08-11T12:42:57.886" v="346" actId="22"/>
          <ac:picMkLst>
            <pc:docMk/>
            <pc:sldMk cId="4008463823" sldId="2147483434"/>
            <ac:picMk id="10" creationId="{49EE9C84-13EC-687D-2F89-ECCD1F4C8BE5}"/>
          </ac:picMkLst>
        </pc:picChg>
        <pc:picChg chg="add">
          <ac:chgData name="Athithia Krishna" userId="8971351e-3361-4746-ac7a-8958c8a01642" providerId="ADAL" clId="{539FE816-794F-49A8-93C3-F6B81266B4DF}" dt="2026-08-11T12:43:18.174" v="347" actId="22"/>
          <ac:picMkLst>
            <pc:docMk/>
            <pc:sldMk cId="4008463823" sldId="2147483434"/>
            <ac:picMk id="22" creationId="{9C953A3D-6F50-F087-829B-935B1457A599}"/>
          </ac:picMkLst>
        </pc:picChg>
      </pc:sldChg>
      <pc:sldChg chg="addSp delSp modSp mod">
        <pc:chgData name="Athithia Krishna" userId="8971351e-3361-4746-ac7a-8958c8a01642" providerId="ADAL" clId="{539FE816-794F-49A8-93C3-F6B81266B4DF}" dt="2026-08-11T12:55:16.909" v="503" actId="478"/>
        <pc:sldMkLst>
          <pc:docMk/>
          <pc:sldMk cId="0" sldId="2147483446"/>
        </pc:sldMkLst>
        <pc:spChg chg="add mod">
          <ac:chgData name="Athithia Krishna" userId="8971351e-3361-4746-ac7a-8958c8a01642" providerId="ADAL" clId="{539FE816-794F-49A8-93C3-F6B81266B4DF}" dt="2026-08-11T12:55:02.222" v="499"/>
          <ac:spMkLst>
            <pc:docMk/>
            <pc:sldMk cId="0" sldId="2147483446"/>
            <ac:spMk id="27" creationId="{0159959D-6552-3BB7-1DD8-D73C4D067A9F}"/>
          </ac:spMkLst>
        </pc:spChg>
        <pc:spChg chg="add mod">
          <ac:chgData name="Athithia Krishna" userId="8971351e-3361-4746-ac7a-8958c8a01642" providerId="ADAL" clId="{539FE816-794F-49A8-93C3-F6B81266B4DF}" dt="2026-08-11T12:55:10.820" v="501"/>
          <ac:spMkLst>
            <pc:docMk/>
            <pc:sldMk cId="0" sldId="2147483446"/>
            <ac:spMk id="29" creationId="{89D6D7DD-F447-0F67-35B9-82DC8A0938E0}"/>
          </ac:spMkLst>
        </pc:spChg>
        <pc:picChg chg="add">
          <ac:chgData name="Athithia Krishna" userId="8971351e-3361-4746-ac7a-8958c8a01642" providerId="ADAL" clId="{539FE816-794F-49A8-93C3-F6B81266B4DF}" dt="2026-08-11T12:54:55.858" v="497" actId="22"/>
          <ac:picMkLst>
            <pc:docMk/>
            <pc:sldMk cId="0" sldId="2147483446"/>
            <ac:picMk id="25" creationId="{44A38F41-A612-5A31-A566-BB69F7FC7577}"/>
          </ac:picMkLst>
        </pc:picChg>
      </pc:sldChg>
      <pc:sldChg chg="addSp delSp modSp mod">
        <pc:chgData name="Athithia Krishna" userId="8971351e-3361-4746-ac7a-8958c8a01642" providerId="ADAL" clId="{539FE816-794F-49A8-93C3-F6B81266B4DF}" dt="2026-08-11T12:52:20.614" v="468" actId="1076"/>
        <pc:sldMkLst>
          <pc:docMk/>
          <pc:sldMk cId="1937061621" sldId="2147483447"/>
        </pc:sldMkLst>
        <pc:spChg chg="add mod">
          <ac:chgData name="Athithia Krishna" userId="8971351e-3361-4746-ac7a-8958c8a01642" providerId="ADAL" clId="{539FE816-794F-49A8-93C3-F6B81266B4DF}" dt="2026-08-11T12:52:20.614" v="468" actId="1076"/>
          <ac:spMkLst>
            <pc:docMk/>
            <pc:sldMk cId="1937061621" sldId="2147483447"/>
            <ac:spMk id="64" creationId="{A516900C-9C70-407C-6892-43CABD09A825}"/>
          </ac:spMkLst>
        </pc:spChg>
        <pc:spChg chg="add mod">
          <ac:chgData name="Athithia Krishna" userId="8971351e-3361-4746-ac7a-8958c8a01642" providerId="ADAL" clId="{539FE816-794F-49A8-93C3-F6B81266B4DF}" dt="2026-08-11T12:52:07.373" v="464"/>
          <ac:spMkLst>
            <pc:docMk/>
            <pc:sldMk cId="1937061621" sldId="2147483447"/>
            <ac:spMk id="66" creationId="{24F685AF-E518-7C7D-9D3D-76D4F117E0E3}"/>
          </ac:spMkLst>
        </pc:spChg>
        <pc:picChg chg="add mod">
          <ac:chgData name="Athithia Krishna" userId="8971351e-3361-4746-ac7a-8958c8a01642" providerId="ADAL" clId="{539FE816-794F-49A8-93C3-F6B81266B4DF}" dt="2026-08-11T12:52:20.614" v="468" actId="1076"/>
          <ac:picMkLst>
            <pc:docMk/>
            <pc:sldMk cId="1937061621" sldId="2147483447"/>
            <ac:picMk id="62" creationId="{0A9DF073-924A-A1D3-FE4A-BF582A2E9914}"/>
          </ac:picMkLst>
        </pc:picChg>
      </pc:sldChg>
      <pc:sldChg chg="addSp delSp modSp mod">
        <pc:chgData name="Athithia Krishna" userId="8971351e-3361-4746-ac7a-8958c8a01642" providerId="ADAL" clId="{539FE816-794F-49A8-93C3-F6B81266B4DF}" dt="2026-08-11T12:51:09.484" v="454" actId="478"/>
        <pc:sldMkLst>
          <pc:docMk/>
          <pc:sldMk cId="881971247" sldId="2147483448"/>
        </pc:sldMkLst>
        <pc:spChg chg="mod">
          <ac:chgData name="Athithia Krishna" userId="8971351e-3361-4746-ac7a-8958c8a01642" providerId="ADAL" clId="{539FE816-794F-49A8-93C3-F6B81266B4DF}" dt="2026-08-11T12:49:52.377" v="431" actId="1076"/>
          <ac:spMkLst>
            <pc:docMk/>
            <pc:sldMk cId="881971247" sldId="2147483448"/>
            <ac:spMk id="3" creationId="{0F5C2B6C-C64D-7B38-691E-478EA3AD03F9}"/>
          </ac:spMkLst>
        </pc:spChg>
        <pc:spChg chg="mod">
          <ac:chgData name="Athithia Krishna" userId="8971351e-3361-4746-ac7a-8958c8a01642" providerId="ADAL" clId="{539FE816-794F-49A8-93C3-F6B81266B4DF}" dt="2026-08-11T12:51:02.605" v="452" actId="1037"/>
          <ac:spMkLst>
            <pc:docMk/>
            <pc:sldMk cId="881971247" sldId="2147483448"/>
            <ac:spMk id="23" creationId="{7955B252-AF10-E49D-C035-04FD30D4885A}"/>
          </ac:spMkLst>
        </pc:spChg>
        <pc:spChg chg="add mod">
          <ac:chgData name="Athithia Krishna" userId="8971351e-3361-4746-ac7a-8958c8a01642" providerId="ADAL" clId="{539FE816-794F-49A8-93C3-F6B81266B4DF}" dt="2026-08-11T12:50:05.448" v="435"/>
          <ac:spMkLst>
            <pc:docMk/>
            <pc:sldMk cId="881971247" sldId="2147483448"/>
            <ac:spMk id="47" creationId="{69366B5C-A27A-12F6-CAB3-43AFDAA5218F}"/>
          </ac:spMkLst>
        </pc:spChg>
        <pc:spChg chg="add mod">
          <ac:chgData name="Athithia Krishna" userId="8971351e-3361-4746-ac7a-8958c8a01642" providerId="ADAL" clId="{539FE816-794F-49A8-93C3-F6B81266B4DF}" dt="2026-08-11T12:50:10.854" v="437"/>
          <ac:spMkLst>
            <pc:docMk/>
            <pc:sldMk cId="881971247" sldId="2147483448"/>
            <ac:spMk id="49" creationId="{4489E74F-8737-3F52-3A1B-E19A63812899}"/>
          </ac:spMkLst>
        </pc:spChg>
        <pc:picChg chg="mod">
          <ac:chgData name="Athithia Krishna" userId="8971351e-3361-4746-ac7a-8958c8a01642" providerId="ADAL" clId="{539FE816-794F-49A8-93C3-F6B81266B4DF}" dt="2026-08-11T12:51:05.851" v="453" actId="1076"/>
          <ac:picMkLst>
            <pc:docMk/>
            <pc:sldMk cId="881971247" sldId="2147483448"/>
            <ac:picMk id="8" creationId="{1D1FD2F1-F193-35BD-0FED-3A6050806541}"/>
          </ac:picMkLst>
        </pc:picChg>
        <pc:picChg chg="add">
          <ac:chgData name="Athithia Krishna" userId="8971351e-3361-4746-ac7a-8958c8a01642" providerId="ADAL" clId="{539FE816-794F-49A8-93C3-F6B81266B4DF}" dt="2026-08-11T12:49:59.391" v="433" actId="22"/>
          <ac:picMkLst>
            <pc:docMk/>
            <pc:sldMk cId="881971247" sldId="2147483448"/>
            <ac:picMk id="20" creationId="{A7B27DFF-DF23-CE7B-6FC9-413BD8D720BF}"/>
          </ac:picMkLst>
        </pc:picChg>
      </pc:sldChg>
      <pc:sldChg chg="addSp delSp modSp mod">
        <pc:chgData name="Athithia Krishna" userId="8971351e-3361-4746-ac7a-8958c8a01642" providerId="ADAL" clId="{539FE816-794F-49A8-93C3-F6B81266B4DF}" dt="2026-08-12T06:19:30.276" v="646" actId="1076"/>
        <pc:sldMkLst>
          <pc:docMk/>
          <pc:sldMk cId="1430120967" sldId="2147483449"/>
        </pc:sldMkLst>
        <pc:spChg chg="add mod">
          <ac:chgData name="Athithia Krishna" userId="8971351e-3361-4746-ac7a-8958c8a01642" providerId="ADAL" clId="{539FE816-794F-49A8-93C3-F6B81266B4DF}" dt="2026-08-12T06:19:30.276" v="646" actId="1076"/>
          <ac:spMkLst>
            <pc:docMk/>
            <pc:sldMk cId="1430120967" sldId="2147483449"/>
            <ac:spMk id="20" creationId="{F08A7B48-6272-2441-E1DD-1947B76D1E0C}"/>
          </ac:spMkLst>
        </pc:spChg>
        <pc:spChg chg="add mod">
          <ac:chgData name="Athithia Krishna" userId="8971351e-3361-4746-ac7a-8958c8a01642" providerId="ADAL" clId="{539FE816-794F-49A8-93C3-F6B81266B4DF}" dt="2026-08-11T12:49:23.090" v="426"/>
          <ac:spMkLst>
            <pc:docMk/>
            <pc:sldMk cId="1430120967" sldId="2147483449"/>
            <ac:spMk id="24" creationId="{DC031EA2-ABB3-630D-6A23-712FD8DADCC7}"/>
          </ac:spMkLst>
        </pc:spChg>
        <pc:spChg chg="add mod">
          <ac:chgData name="Athithia Krishna" userId="8971351e-3361-4746-ac7a-8958c8a01642" providerId="ADAL" clId="{539FE816-794F-49A8-93C3-F6B81266B4DF}" dt="2026-08-12T06:19:21.854" v="645" actId="1076"/>
          <ac:spMkLst>
            <pc:docMk/>
            <pc:sldMk cId="1430120967" sldId="2147483449"/>
            <ac:spMk id="62" creationId="{550411B2-72BF-40EF-E7F9-722183C335B1}"/>
          </ac:spMkLst>
        </pc:spChg>
        <pc:spChg chg="add mod">
          <ac:chgData name="Athithia Krishna" userId="8971351e-3361-4746-ac7a-8958c8a01642" providerId="ADAL" clId="{539FE816-794F-49A8-93C3-F6B81266B4DF}" dt="2026-08-12T06:19:30.276" v="646" actId="1076"/>
          <ac:spMkLst>
            <pc:docMk/>
            <pc:sldMk cId="1430120967" sldId="2147483449"/>
            <ac:spMk id="82" creationId="{C1383D09-953F-4A2B-5A31-36324DA23F38}"/>
          </ac:spMkLst>
        </pc:spChg>
        <pc:spChg chg="add mod">
          <ac:chgData name="Athithia Krishna" userId="8971351e-3361-4746-ac7a-8958c8a01642" providerId="ADAL" clId="{539FE816-794F-49A8-93C3-F6B81266B4DF}" dt="2026-08-12T06:19:30.276" v="646" actId="1076"/>
          <ac:spMkLst>
            <pc:docMk/>
            <pc:sldMk cId="1430120967" sldId="2147483449"/>
            <ac:spMk id="144" creationId="{A567FB4E-19A6-1F8D-B3B0-E94F148819A3}"/>
          </ac:spMkLst>
        </pc:spChg>
        <pc:spChg chg="add mod">
          <ac:chgData name="Athithia Krishna" userId="8971351e-3361-4746-ac7a-8958c8a01642" providerId="ADAL" clId="{539FE816-794F-49A8-93C3-F6B81266B4DF}" dt="2026-08-12T06:19:30.276" v="646" actId="1076"/>
          <ac:spMkLst>
            <pc:docMk/>
            <pc:sldMk cId="1430120967" sldId="2147483449"/>
            <ac:spMk id="148" creationId="{3BF9E5D9-BF38-0DC8-7F73-13DF60A19745}"/>
          </ac:spMkLst>
        </pc:spChg>
        <pc:spChg chg="add mod">
          <ac:chgData name="Athithia Krishna" userId="8971351e-3361-4746-ac7a-8958c8a01642" providerId="ADAL" clId="{539FE816-794F-49A8-93C3-F6B81266B4DF}" dt="2026-08-12T06:19:30.276" v="646" actId="1076"/>
          <ac:spMkLst>
            <pc:docMk/>
            <pc:sldMk cId="1430120967" sldId="2147483449"/>
            <ac:spMk id="150" creationId="{D041D4A6-B369-6F36-10D5-5727FD970574}"/>
          </ac:spMkLst>
        </pc:spChg>
        <pc:spChg chg="add mod">
          <ac:chgData name="Athithia Krishna" userId="8971351e-3361-4746-ac7a-8958c8a01642" providerId="ADAL" clId="{539FE816-794F-49A8-93C3-F6B81266B4DF}" dt="2026-08-12T06:19:30.276" v="646" actId="1076"/>
          <ac:spMkLst>
            <pc:docMk/>
            <pc:sldMk cId="1430120967" sldId="2147483449"/>
            <ac:spMk id="162" creationId="{498E600E-7EE3-DB9D-1FCA-077297C3831C}"/>
          </ac:spMkLst>
        </pc:spChg>
        <pc:spChg chg="add mod">
          <ac:chgData name="Athithia Krishna" userId="8971351e-3361-4746-ac7a-8958c8a01642" providerId="ADAL" clId="{539FE816-794F-49A8-93C3-F6B81266B4DF}" dt="2026-08-12T06:19:30.276" v="646" actId="1076"/>
          <ac:spMkLst>
            <pc:docMk/>
            <pc:sldMk cId="1430120967" sldId="2147483449"/>
            <ac:spMk id="166" creationId="{1AF7B80F-4B90-9C4D-C805-8209EA5FB99C}"/>
          </ac:spMkLst>
        </pc:spChg>
        <pc:spChg chg="add mod">
          <ac:chgData name="Athithia Krishna" userId="8971351e-3361-4746-ac7a-8958c8a01642" providerId="ADAL" clId="{539FE816-794F-49A8-93C3-F6B81266B4DF}" dt="2026-08-12T06:19:30.276" v="646" actId="1076"/>
          <ac:spMkLst>
            <pc:docMk/>
            <pc:sldMk cId="1430120967" sldId="2147483449"/>
            <ac:spMk id="186" creationId="{42083B5F-4A6D-00B1-754F-6484EE2A1FAE}"/>
          </ac:spMkLst>
        </pc:spChg>
        <pc:spChg chg="add mod">
          <ac:chgData name="Athithia Krishna" userId="8971351e-3361-4746-ac7a-8958c8a01642" providerId="ADAL" clId="{539FE816-794F-49A8-93C3-F6B81266B4DF}" dt="2026-08-12T06:19:30.276" v="646" actId="1076"/>
          <ac:spMkLst>
            <pc:docMk/>
            <pc:sldMk cId="1430120967" sldId="2147483449"/>
            <ac:spMk id="192" creationId="{675965A1-AD66-5184-C3E8-32BCFC7691C5}"/>
          </ac:spMkLst>
        </pc:spChg>
        <pc:spChg chg="add mod">
          <ac:chgData name="Athithia Krishna" userId="8971351e-3361-4746-ac7a-8958c8a01642" providerId="ADAL" clId="{539FE816-794F-49A8-93C3-F6B81266B4DF}" dt="2026-08-12T06:19:30.276" v="646" actId="1076"/>
          <ac:spMkLst>
            <pc:docMk/>
            <pc:sldMk cId="1430120967" sldId="2147483449"/>
            <ac:spMk id="208" creationId="{0A03A261-2D4F-D417-746D-41724F9AD656}"/>
          </ac:spMkLst>
        </pc:spChg>
        <pc:picChg chg="add">
          <ac:chgData name="Athithia Krishna" userId="8971351e-3361-4746-ac7a-8958c8a01642" providerId="ADAL" clId="{539FE816-794F-49A8-93C3-F6B81266B4DF}" dt="2026-08-11T12:49:17.687" v="424" actId="22"/>
          <ac:picMkLst>
            <pc:docMk/>
            <pc:sldMk cId="1430120967" sldId="2147483449"/>
            <ac:picMk id="3" creationId="{042467DA-0491-6FD1-7125-A3C713891DB3}"/>
          </ac:picMkLst>
        </pc:picChg>
      </pc:sldChg>
      <pc:sldChg chg="addSp delSp modSp add mod">
        <pc:chgData name="Athithia Krishna" userId="8971351e-3361-4746-ac7a-8958c8a01642" providerId="ADAL" clId="{539FE816-794F-49A8-93C3-F6B81266B4DF}" dt="2026-08-11T13:05:03.043" v="632" actId="478"/>
        <pc:sldMkLst>
          <pc:docMk/>
          <pc:sldMk cId="1034238596" sldId="2147483451"/>
        </pc:sldMkLst>
        <pc:spChg chg="add mod">
          <ac:chgData name="Athithia Krishna" userId="8971351e-3361-4746-ac7a-8958c8a01642" providerId="ADAL" clId="{539FE816-794F-49A8-93C3-F6B81266B4DF}" dt="2026-08-11T13:04:53.635" v="629"/>
          <ac:spMkLst>
            <pc:docMk/>
            <pc:sldMk cId="1034238596" sldId="2147483451"/>
            <ac:spMk id="69" creationId="{E8AAB0FA-5DE8-5022-3930-73E8BD14ED20}"/>
          </ac:spMkLst>
        </pc:spChg>
        <pc:spChg chg="add mod">
          <ac:chgData name="Athithia Krishna" userId="8971351e-3361-4746-ac7a-8958c8a01642" providerId="ADAL" clId="{539FE816-794F-49A8-93C3-F6B81266B4DF}" dt="2026-08-11T13:04:58.808" v="631"/>
          <ac:spMkLst>
            <pc:docMk/>
            <pc:sldMk cId="1034238596" sldId="2147483451"/>
            <ac:spMk id="71" creationId="{73AF1B63-2022-F891-2CCC-2033C57285CB}"/>
          </ac:spMkLst>
        </pc:spChg>
        <pc:picChg chg="add">
          <ac:chgData name="Athithia Krishna" userId="8971351e-3361-4746-ac7a-8958c8a01642" providerId="ADAL" clId="{539FE816-794F-49A8-93C3-F6B81266B4DF}" dt="2026-08-11T13:04:48.126" v="627" actId="22"/>
          <ac:picMkLst>
            <pc:docMk/>
            <pc:sldMk cId="1034238596" sldId="2147483451"/>
            <ac:picMk id="67" creationId="{F9405BC2-4922-F22B-B835-1987B0447C6F}"/>
          </ac:picMkLst>
        </pc:picChg>
      </pc:sldChg>
      <pc:sldChg chg="addSp delSp modSp mod">
        <pc:chgData name="Athithia Krishna" userId="8971351e-3361-4746-ac7a-8958c8a01642" providerId="ADAL" clId="{539FE816-794F-49A8-93C3-F6B81266B4DF}" dt="2026-08-11T12:39:17.654" v="317" actId="1035"/>
        <pc:sldMkLst>
          <pc:docMk/>
          <pc:sldMk cId="0" sldId="2147483452"/>
        </pc:sldMkLst>
        <pc:spChg chg="mod">
          <ac:chgData name="Athithia Krishna" userId="8971351e-3361-4746-ac7a-8958c8a01642" providerId="ADAL" clId="{539FE816-794F-49A8-93C3-F6B81266B4DF}" dt="2026-08-11T12:39:17.654" v="317" actId="1035"/>
          <ac:spMkLst>
            <pc:docMk/>
            <pc:sldMk cId="0" sldId="2147483452"/>
            <ac:spMk id="3" creationId="{BC38BC13-DFC1-F89E-0089-AA5AA093AE76}"/>
          </ac:spMkLst>
        </pc:spChg>
        <pc:spChg chg="mod">
          <ac:chgData name="Athithia Krishna" userId="8971351e-3361-4746-ac7a-8958c8a01642" providerId="ADAL" clId="{539FE816-794F-49A8-93C3-F6B81266B4DF}" dt="2026-08-11T12:39:17.654" v="317" actId="1035"/>
          <ac:spMkLst>
            <pc:docMk/>
            <pc:sldMk cId="0" sldId="2147483452"/>
            <ac:spMk id="10" creationId="{00000000-0000-0000-0000-000000000000}"/>
          </ac:spMkLst>
        </pc:spChg>
        <pc:spChg chg="mod">
          <ac:chgData name="Athithia Krishna" userId="8971351e-3361-4746-ac7a-8958c8a01642" providerId="ADAL" clId="{539FE816-794F-49A8-93C3-F6B81266B4DF}" dt="2026-08-11T12:39:17.654" v="317" actId="1035"/>
          <ac:spMkLst>
            <pc:docMk/>
            <pc:sldMk cId="0" sldId="2147483452"/>
            <ac:spMk id="15" creationId="{00000000-0000-0000-0000-000000000000}"/>
          </ac:spMkLst>
        </pc:spChg>
        <pc:spChg chg="mod">
          <ac:chgData name="Athithia Krishna" userId="8971351e-3361-4746-ac7a-8958c8a01642" providerId="ADAL" clId="{539FE816-794F-49A8-93C3-F6B81266B4DF}" dt="2026-08-11T12:39:17.654" v="317" actId="1035"/>
          <ac:spMkLst>
            <pc:docMk/>
            <pc:sldMk cId="0" sldId="2147483452"/>
            <ac:spMk id="16" creationId="{00000000-0000-0000-0000-000000000000}"/>
          </ac:spMkLst>
        </pc:spChg>
        <pc:spChg chg="mod">
          <ac:chgData name="Athithia Krishna" userId="8971351e-3361-4746-ac7a-8958c8a01642" providerId="ADAL" clId="{539FE816-794F-49A8-93C3-F6B81266B4DF}" dt="2026-08-11T12:39:17.654" v="317" actId="1035"/>
          <ac:spMkLst>
            <pc:docMk/>
            <pc:sldMk cId="0" sldId="2147483452"/>
            <ac:spMk id="19" creationId="{00000000-0000-0000-0000-000000000000}"/>
          </ac:spMkLst>
        </pc:spChg>
        <pc:spChg chg="mod">
          <ac:chgData name="Athithia Krishna" userId="8971351e-3361-4746-ac7a-8958c8a01642" providerId="ADAL" clId="{539FE816-794F-49A8-93C3-F6B81266B4DF}" dt="2026-08-11T12:39:17.654" v="317" actId="1035"/>
          <ac:spMkLst>
            <pc:docMk/>
            <pc:sldMk cId="0" sldId="2147483452"/>
            <ac:spMk id="23" creationId="{00000000-0000-0000-0000-000000000000}"/>
          </ac:spMkLst>
        </pc:spChg>
        <pc:spChg chg="mod">
          <ac:chgData name="Athithia Krishna" userId="8971351e-3361-4746-ac7a-8958c8a01642" providerId="ADAL" clId="{539FE816-794F-49A8-93C3-F6B81266B4DF}" dt="2026-08-11T12:39:17.654" v="317" actId="1035"/>
          <ac:spMkLst>
            <pc:docMk/>
            <pc:sldMk cId="0" sldId="2147483452"/>
            <ac:spMk id="26" creationId="{00000000-0000-0000-0000-000000000000}"/>
          </ac:spMkLst>
        </pc:spChg>
        <pc:spChg chg="add">
          <ac:chgData name="Athithia Krishna" userId="8971351e-3361-4746-ac7a-8958c8a01642" providerId="ADAL" clId="{539FE816-794F-49A8-93C3-F6B81266B4DF}" dt="2026-08-11T12:38:39.240" v="296" actId="22"/>
          <ac:spMkLst>
            <pc:docMk/>
            <pc:sldMk cId="0" sldId="2147483452"/>
            <ac:spMk id="32" creationId="{D8D31C37-7BC4-B2C7-854A-A4CBEC01D04A}"/>
          </ac:spMkLst>
        </pc:spChg>
        <pc:spChg chg="mod">
          <ac:chgData name="Athithia Krishna" userId="8971351e-3361-4746-ac7a-8958c8a01642" providerId="ADAL" clId="{539FE816-794F-49A8-93C3-F6B81266B4DF}" dt="2026-08-11T12:39:17.654" v="317" actId="1035"/>
          <ac:spMkLst>
            <pc:docMk/>
            <pc:sldMk cId="0" sldId="2147483452"/>
            <ac:spMk id="34" creationId="{00000000-0000-0000-0000-000000000000}"/>
          </ac:spMkLst>
        </pc:spChg>
        <pc:spChg chg="mod">
          <ac:chgData name="Athithia Krishna" userId="8971351e-3361-4746-ac7a-8958c8a01642" providerId="ADAL" clId="{539FE816-794F-49A8-93C3-F6B81266B4DF}" dt="2026-08-11T12:39:17.654" v="317" actId="1035"/>
          <ac:spMkLst>
            <pc:docMk/>
            <pc:sldMk cId="0" sldId="2147483452"/>
            <ac:spMk id="37" creationId="{00000000-0000-0000-0000-000000000000}"/>
          </ac:spMkLst>
        </pc:spChg>
        <pc:spChg chg="mod">
          <ac:chgData name="Athithia Krishna" userId="8971351e-3361-4746-ac7a-8958c8a01642" providerId="ADAL" clId="{539FE816-794F-49A8-93C3-F6B81266B4DF}" dt="2026-08-11T12:39:17.654" v="317" actId="1035"/>
          <ac:spMkLst>
            <pc:docMk/>
            <pc:sldMk cId="0" sldId="2147483452"/>
            <ac:spMk id="38" creationId="{00000000-0000-0000-0000-000000000000}"/>
          </ac:spMkLst>
        </pc:spChg>
        <pc:spChg chg="add">
          <ac:chgData name="Athithia Krishna" userId="8971351e-3361-4746-ac7a-8958c8a01642" providerId="ADAL" clId="{539FE816-794F-49A8-93C3-F6B81266B4DF}" dt="2026-08-11T12:38:39.240" v="296" actId="22"/>
          <ac:spMkLst>
            <pc:docMk/>
            <pc:sldMk cId="0" sldId="2147483452"/>
            <ac:spMk id="40" creationId="{B3E5E355-A5F8-3C33-76D6-22B934D99349}"/>
          </ac:spMkLst>
        </pc:spChg>
        <pc:picChg chg="add">
          <ac:chgData name="Athithia Krishna" userId="8971351e-3361-4746-ac7a-8958c8a01642" providerId="ADAL" clId="{539FE816-794F-49A8-93C3-F6B81266B4DF}" dt="2026-08-11T12:38:39.240" v="296" actId="22"/>
          <ac:picMkLst>
            <pc:docMk/>
            <pc:sldMk cId="0" sldId="2147483452"/>
            <ac:picMk id="30" creationId="{5DAE74F9-C6C4-26FC-6767-5D59D2F8D8BD}"/>
          </ac:picMkLst>
        </pc:picChg>
      </pc:sldChg>
      <pc:sldChg chg="addSp delSp modSp add mod">
        <pc:chgData name="Athithia Krishna" userId="8971351e-3361-4746-ac7a-8958c8a01642" providerId="ADAL" clId="{539FE816-794F-49A8-93C3-F6B81266B4DF}" dt="2026-08-11T12:39:54.113" v="320" actId="22"/>
        <pc:sldMkLst>
          <pc:docMk/>
          <pc:sldMk cId="2538852921" sldId="2147483456"/>
        </pc:sldMkLst>
        <pc:spChg chg="mod">
          <ac:chgData name="Athithia Krishna" userId="8971351e-3361-4746-ac7a-8958c8a01642" providerId="ADAL" clId="{539FE816-794F-49A8-93C3-F6B81266B4DF}" dt="2026-08-11T12:37:36.375" v="286" actId="255"/>
          <ac:spMkLst>
            <pc:docMk/>
            <pc:sldMk cId="2538852921" sldId="2147483456"/>
            <ac:spMk id="11" creationId="{00000000-0000-0000-0000-000000000000}"/>
          </ac:spMkLst>
        </pc:spChg>
        <pc:spChg chg="mod">
          <ac:chgData name="Athithia Krishna" userId="8971351e-3361-4746-ac7a-8958c8a01642" providerId="ADAL" clId="{539FE816-794F-49A8-93C3-F6B81266B4DF}" dt="2026-08-11T12:37:40.676" v="287" actId="255"/>
          <ac:spMkLst>
            <pc:docMk/>
            <pc:sldMk cId="2538852921" sldId="2147483456"/>
            <ac:spMk id="12" creationId="{00000000-0000-0000-0000-000000000000}"/>
          </ac:spMkLst>
        </pc:spChg>
        <pc:spChg chg="add">
          <ac:chgData name="Athithia Krishna" userId="8971351e-3361-4746-ac7a-8958c8a01642" providerId="ADAL" clId="{539FE816-794F-49A8-93C3-F6B81266B4DF}" dt="2026-08-11T12:39:54.113" v="320" actId="22"/>
          <ac:spMkLst>
            <pc:docMk/>
            <pc:sldMk cId="2538852921" sldId="2147483456"/>
            <ac:spMk id="99" creationId="{80D8B303-46BF-E5FD-4DED-2A7EE63A7905}"/>
          </ac:spMkLst>
        </pc:spChg>
        <pc:picChg chg="mod">
          <ac:chgData name="Athithia Krishna" userId="8971351e-3361-4746-ac7a-8958c8a01642" providerId="ADAL" clId="{539FE816-794F-49A8-93C3-F6B81266B4DF}" dt="2026-08-11T12:37:26.564" v="285" actId="1367"/>
          <ac:picMkLst>
            <pc:docMk/>
            <pc:sldMk cId="2538852921" sldId="2147483456"/>
            <ac:picMk id="10" creationId="{00000000-0000-0000-0000-000000000000}"/>
          </ac:picMkLst>
        </pc:picChg>
        <pc:picChg chg="add">
          <ac:chgData name="Athithia Krishna" userId="8971351e-3361-4746-ac7a-8958c8a01642" providerId="ADAL" clId="{539FE816-794F-49A8-93C3-F6B81266B4DF}" dt="2026-08-11T12:39:37.945" v="319" actId="22"/>
          <ac:picMkLst>
            <pc:docMk/>
            <pc:sldMk cId="2538852921" sldId="2147483456"/>
            <ac:picMk id="95" creationId="{2B66C569-D5F3-1A48-4CE0-C1566AEDCAB7}"/>
          </ac:picMkLst>
        </pc:picChg>
        <pc:picChg chg="add">
          <ac:chgData name="Athithia Krishna" userId="8971351e-3361-4746-ac7a-8958c8a01642" providerId="ADAL" clId="{539FE816-794F-49A8-93C3-F6B81266B4DF}" dt="2026-08-11T12:39:37.945" v="319" actId="22"/>
          <ac:picMkLst>
            <pc:docMk/>
            <pc:sldMk cId="2538852921" sldId="2147483456"/>
            <ac:picMk id="97" creationId="{475C97A4-28FC-7784-6F0A-6B82CC011847}"/>
          </ac:picMkLst>
        </pc:picChg>
      </pc:sldChg>
      <pc:sldChg chg="add">
        <pc:chgData name="Athithia Krishna" userId="8971351e-3361-4746-ac7a-8958c8a01642" providerId="ADAL" clId="{539FE816-794F-49A8-93C3-F6B81266B4DF}" dt="2026-08-11T13:14:34.395" v="633"/>
        <pc:sldMkLst>
          <pc:docMk/>
          <pc:sldMk cId="3767039517" sldId="2147483464"/>
        </pc:sldMkLst>
      </pc:sldChg>
      <pc:sldChg chg="add setBg">
        <pc:chgData name="Athithia Krishna" userId="8971351e-3361-4746-ac7a-8958c8a01642" providerId="ADAL" clId="{539FE816-794F-49A8-93C3-F6B81266B4DF}" dt="2026-08-11T13:14:34.395" v="633"/>
        <pc:sldMkLst>
          <pc:docMk/>
          <pc:sldMk cId="1818437799" sldId="2147483469"/>
        </pc:sldMkLst>
      </pc:sldChg>
      <pc:sldChg chg="add setBg">
        <pc:chgData name="Athithia Krishna" userId="8971351e-3361-4746-ac7a-8958c8a01642" providerId="ADAL" clId="{539FE816-794F-49A8-93C3-F6B81266B4DF}" dt="2026-08-11T13:14:34.395" v="633"/>
        <pc:sldMkLst>
          <pc:docMk/>
          <pc:sldMk cId="2181011062" sldId="2147483470"/>
        </pc:sldMkLst>
      </pc:sldChg>
      <pc:sldChg chg="add setBg">
        <pc:chgData name="Athithia Krishna" userId="8971351e-3361-4746-ac7a-8958c8a01642" providerId="ADAL" clId="{539FE816-794F-49A8-93C3-F6B81266B4DF}" dt="2026-08-11T13:14:34.395" v="633"/>
        <pc:sldMkLst>
          <pc:docMk/>
          <pc:sldMk cId="1340226690" sldId="2147483471"/>
        </pc:sldMkLst>
      </pc:sldChg>
      <pc:sldChg chg="add setBg">
        <pc:chgData name="Athithia Krishna" userId="8971351e-3361-4746-ac7a-8958c8a01642" providerId="ADAL" clId="{539FE816-794F-49A8-93C3-F6B81266B4DF}" dt="2026-08-11T13:14:34.395" v="633"/>
        <pc:sldMkLst>
          <pc:docMk/>
          <pc:sldMk cId="3996873263" sldId="2147483472"/>
        </pc:sldMkLst>
      </pc:sldChg>
      <pc:sldChg chg="addSp delSp modSp add mod">
        <pc:chgData name="Athithia Krishna" userId="8971351e-3361-4746-ac7a-8958c8a01642" providerId="ADAL" clId="{539FE816-794F-49A8-93C3-F6B81266B4DF}" dt="2026-08-11T13:15:03.790" v="640" actId="478"/>
        <pc:sldMkLst>
          <pc:docMk/>
          <pc:sldMk cId="0" sldId="2147483473"/>
        </pc:sldMkLst>
        <pc:spChg chg="add mod">
          <ac:chgData name="Athithia Krishna" userId="8971351e-3361-4746-ac7a-8958c8a01642" providerId="ADAL" clId="{539FE816-794F-49A8-93C3-F6B81266B4DF}" dt="2026-08-11T13:14:53.474" v="637"/>
          <ac:spMkLst>
            <pc:docMk/>
            <pc:sldMk cId="0" sldId="2147483473"/>
            <ac:spMk id="38" creationId="{4843B97B-AE23-B7D5-329F-79819B550528}"/>
          </ac:spMkLst>
        </pc:spChg>
        <pc:spChg chg="add mod">
          <ac:chgData name="Athithia Krishna" userId="8971351e-3361-4746-ac7a-8958c8a01642" providerId="ADAL" clId="{539FE816-794F-49A8-93C3-F6B81266B4DF}" dt="2026-08-11T13:14:59.022" v="639"/>
          <ac:spMkLst>
            <pc:docMk/>
            <pc:sldMk cId="0" sldId="2147483473"/>
            <ac:spMk id="40" creationId="{995978DE-E6B9-24A9-FD41-C5B3AEE0E6A9}"/>
          </ac:spMkLst>
        </pc:spChg>
        <pc:picChg chg="add">
          <ac:chgData name="Athithia Krishna" userId="8971351e-3361-4746-ac7a-8958c8a01642" providerId="ADAL" clId="{539FE816-794F-49A8-93C3-F6B81266B4DF}" dt="2026-08-11T13:14:47.806" v="635" actId="22"/>
          <ac:picMkLst>
            <pc:docMk/>
            <pc:sldMk cId="0" sldId="2147483473"/>
            <ac:picMk id="36" creationId="{936D7C35-8782-3782-19CB-95B332D0D057}"/>
          </ac:picMkLst>
        </pc:picChg>
      </pc:sldChg>
      <pc:sldChg chg="add setBg">
        <pc:chgData name="Athithia Krishna" userId="8971351e-3361-4746-ac7a-8958c8a01642" providerId="ADAL" clId="{539FE816-794F-49A8-93C3-F6B81266B4DF}" dt="2026-08-11T13:14:34.395" v="633"/>
        <pc:sldMkLst>
          <pc:docMk/>
          <pc:sldMk cId="0" sldId="2147483474"/>
        </pc:sldMkLst>
      </pc:sldChg>
      <pc:sldChg chg="add setBg">
        <pc:chgData name="Athithia Krishna" userId="8971351e-3361-4746-ac7a-8958c8a01642" providerId="ADAL" clId="{539FE816-794F-49A8-93C3-F6B81266B4DF}" dt="2026-08-11T13:14:34.395" v="633"/>
        <pc:sldMkLst>
          <pc:docMk/>
          <pc:sldMk cId="0" sldId="2147483475"/>
        </pc:sldMkLst>
      </pc:sldChg>
      <pc:sldChg chg="add setBg">
        <pc:chgData name="Athithia Krishna" userId="8971351e-3361-4746-ac7a-8958c8a01642" providerId="ADAL" clId="{539FE816-794F-49A8-93C3-F6B81266B4DF}" dt="2026-08-11T13:14:34.395" v="633"/>
        <pc:sldMkLst>
          <pc:docMk/>
          <pc:sldMk cId="0" sldId="214748347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7FAE9F7-9452-4374-B978-FE6603E0B5F3}" type="datetimeFigureOut">
              <a:t>8/20/2026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0FB33C-7C9E-4B02-AA78-CF059E19D148}" type="slidenum">
              <a:t>‹#›</a:t>
            </a:fld>
            <a:endParaRPr lang="en-GB"/>
          </a:p>
        </p:txBody>
      </p:sp>
    </p:spTree>
    <p:extLst>
      <p:ext uri="{BB962C8B-B14F-4D97-AF65-F5344CB8AC3E}">
        <p14:creationId xmlns:p14="http://schemas.microsoft.com/office/powerpoint/2010/main" val="36426435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J2W_ID: CS01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CS02</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CS02B</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CS150</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39951753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CS03</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CS61</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E3759F-D684-2B53-71A3-1873919979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B25E1F-F7FC-A264-368E-2EA22A4D6B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B15D19-27F9-D83D-845C-8CB0D0D3F639}"/>
              </a:ext>
            </a:extLst>
          </p:cNvPr>
          <p:cNvSpPr>
            <a:spLocks noGrp="1"/>
          </p:cNvSpPr>
          <p:nvPr>
            <p:ph type="body" idx="1"/>
          </p:nvPr>
        </p:nvSpPr>
        <p:spPr/>
        <p:txBody>
          <a:bodyPr/>
          <a:lstStyle/>
          <a:p>
            <a:r>
              <a:t>J2W_ID: CS62</a:t>
            </a:r>
          </a:p>
        </p:txBody>
      </p:sp>
      <p:sp>
        <p:nvSpPr>
          <p:cNvPr id="4" name="Slide Number Placeholder 3">
            <a:extLst>
              <a:ext uri="{FF2B5EF4-FFF2-40B4-BE49-F238E27FC236}">
                <a16:creationId xmlns:a16="http://schemas.microsoft.com/office/drawing/2014/main" id="{7AC283EC-4EEC-FDF0-9715-A2D0D76EEB5D}"/>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413970873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CS04</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CS06</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5710115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J2W_ID: CS138</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CS139</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97905057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739C72-50B3-E3AF-D46A-682D935D8A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30CD18-B2E7-2213-3ADC-CC79A8BDC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C5F7EF-8EE2-A756-31A6-FE6C1D6C1B5D}"/>
              </a:ext>
            </a:extLst>
          </p:cNvPr>
          <p:cNvSpPr>
            <a:spLocks noGrp="1"/>
          </p:cNvSpPr>
          <p:nvPr>
            <p:ph type="body" idx="1"/>
          </p:nvPr>
        </p:nvSpPr>
        <p:spPr/>
        <p:txBody>
          <a:bodyPr/>
          <a:lstStyle/>
          <a:p>
            <a:r>
              <a:t>J2W_ID: CS09</a:t>
            </a:r>
          </a:p>
        </p:txBody>
      </p:sp>
      <p:sp>
        <p:nvSpPr>
          <p:cNvPr id="4" name="Slide Number Placeholder 3">
            <a:extLst>
              <a:ext uri="{FF2B5EF4-FFF2-40B4-BE49-F238E27FC236}">
                <a16:creationId xmlns:a16="http://schemas.microsoft.com/office/drawing/2014/main" id="{0488B3FC-01B1-6FC7-0489-6B130E9F03D2}"/>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3465072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CS05</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2293538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CS10</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CS11</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CS12</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D86C0-AD46-EC4B-79D9-AEE72304EE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C7AAD1-CA6D-9293-72A0-309B906687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A076AA-23DD-F8A5-C2E5-3CCEF96F760C}"/>
              </a:ext>
            </a:extLst>
          </p:cNvPr>
          <p:cNvSpPr>
            <a:spLocks noGrp="1"/>
          </p:cNvSpPr>
          <p:nvPr>
            <p:ph type="body" idx="1"/>
          </p:nvPr>
        </p:nvSpPr>
        <p:spPr/>
        <p:txBody>
          <a:bodyPr/>
          <a:lstStyle/>
          <a:p>
            <a:r>
              <a:t>J2W_ID: CS63</a:t>
            </a:r>
          </a:p>
        </p:txBody>
      </p:sp>
      <p:sp>
        <p:nvSpPr>
          <p:cNvPr id="4" name="Slide Number Placeholder 3">
            <a:extLst>
              <a:ext uri="{FF2B5EF4-FFF2-40B4-BE49-F238E27FC236}">
                <a16:creationId xmlns:a16="http://schemas.microsoft.com/office/drawing/2014/main" id="{4972F1CE-2E64-05CF-A3EB-E46AE3C40096}"/>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341888836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083C3-033A-38F9-9ED1-6CB54ABF16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6D686B-41F6-7B9E-FE96-E5605D31A8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610103-2C13-4357-EBA2-746614E6B1E3}"/>
              </a:ext>
            </a:extLst>
          </p:cNvPr>
          <p:cNvSpPr>
            <a:spLocks noGrp="1"/>
          </p:cNvSpPr>
          <p:nvPr>
            <p:ph type="body" idx="1"/>
          </p:nvPr>
        </p:nvSpPr>
        <p:spPr/>
        <p:txBody>
          <a:bodyPr/>
          <a:lstStyle/>
          <a:p>
            <a:r>
              <a:t>J2W_ID: CS65</a:t>
            </a:r>
          </a:p>
        </p:txBody>
      </p:sp>
      <p:sp>
        <p:nvSpPr>
          <p:cNvPr id="4" name="Slide Number Placeholder 3">
            <a:extLst>
              <a:ext uri="{FF2B5EF4-FFF2-40B4-BE49-F238E27FC236}">
                <a16:creationId xmlns:a16="http://schemas.microsoft.com/office/drawing/2014/main" id="{5A60070C-B650-0ADD-4F79-E128A4AEFC6C}"/>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28007673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3EAC2A-AFE3-3AD3-EA69-EDF5A23455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81DAE-A0BC-5424-8E02-2248C3631C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B070DB-DE8B-5ECB-28C7-E87B7CB5B654}"/>
              </a:ext>
            </a:extLst>
          </p:cNvPr>
          <p:cNvSpPr>
            <a:spLocks noGrp="1"/>
          </p:cNvSpPr>
          <p:nvPr>
            <p:ph type="body" idx="1"/>
          </p:nvPr>
        </p:nvSpPr>
        <p:spPr/>
        <p:txBody>
          <a:bodyPr/>
          <a:lstStyle/>
          <a:p>
            <a:r>
              <a:t>J2W_ID: CS66</a:t>
            </a:r>
          </a:p>
        </p:txBody>
      </p:sp>
      <p:sp>
        <p:nvSpPr>
          <p:cNvPr id="4" name="Slide Number Placeholder 3">
            <a:extLst>
              <a:ext uri="{FF2B5EF4-FFF2-40B4-BE49-F238E27FC236}">
                <a16:creationId xmlns:a16="http://schemas.microsoft.com/office/drawing/2014/main" id="{419901B6-9345-5574-0EEA-A330B26F180B}"/>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268377621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CS13</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31735871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CS140</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30223654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CS141</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CS142</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J2W_ID: CS143</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CS144</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CS145</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3911909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CS14</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351690200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CS15</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CS16</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CS146</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3502263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CS68</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241400042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082EEA-3085-13E8-584F-9DB1BB1C51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BD695A-8813-98FA-0375-DA314DBB60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137F7E-9DAC-DD80-84EA-6F843A2F33FD}"/>
              </a:ext>
            </a:extLst>
          </p:cNvPr>
          <p:cNvSpPr>
            <a:spLocks noGrp="1"/>
          </p:cNvSpPr>
          <p:nvPr>
            <p:ph type="body" idx="1"/>
          </p:nvPr>
        </p:nvSpPr>
        <p:spPr/>
        <p:txBody>
          <a:bodyPr/>
          <a:lstStyle/>
          <a:p>
            <a:r>
              <a:t>J2W_ID: CS17</a:t>
            </a:r>
          </a:p>
        </p:txBody>
      </p:sp>
      <p:sp>
        <p:nvSpPr>
          <p:cNvPr id="4" name="Slide Number Placeholder 3">
            <a:extLst>
              <a:ext uri="{FF2B5EF4-FFF2-40B4-BE49-F238E27FC236}">
                <a16:creationId xmlns:a16="http://schemas.microsoft.com/office/drawing/2014/main" id="{880812CB-0C05-4306-1A51-5CD003DFFE60}"/>
              </a:ext>
            </a:extLst>
          </p:cNvPr>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43547719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CS18</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377338997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CS19</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229009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CS147</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CS07</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CS148</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74351626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CS08</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86955186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CS149</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J2W_ID: CS151</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CS152</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CS137</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277057361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CS153</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CS154</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CS155</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CS156</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CS157</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404558228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J2W_ID: CS158</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CS159</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8FA7B8-6F29-E0F1-6427-6E509AE8A5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B21544-EAAD-1E2E-8C14-65F563B9F1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FD0D42-96CC-39FC-CB4F-A4913B2CC7F4}"/>
              </a:ext>
            </a:extLst>
          </p:cNvPr>
          <p:cNvSpPr>
            <a:spLocks noGrp="1"/>
          </p:cNvSpPr>
          <p:nvPr>
            <p:ph type="body" idx="1"/>
          </p:nvPr>
        </p:nvSpPr>
        <p:spPr/>
        <p:txBody>
          <a:bodyPr/>
          <a:lstStyle/>
          <a:p>
            <a:r>
              <a:t>J2W_ID: CS160</a:t>
            </a:r>
          </a:p>
        </p:txBody>
      </p:sp>
      <p:sp>
        <p:nvSpPr>
          <p:cNvPr id="4" name="Slide Number Placeholder 3">
            <a:extLst>
              <a:ext uri="{FF2B5EF4-FFF2-40B4-BE49-F238E27FC236}">
                <a16:creationId xmlns:a16="http://schemas.microsoft.com/office/drawing/2014/main" id="{69D15DFE-67B0-3B6B-3A45-DE38302998EE}"/>
              </a:ext>
            </a:extLst>
          </p:cNvPr>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56110694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3AD74-F68E-9131-C28D-0ABDB8485F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94ADCA-10D3-D035-D9CE-A90D8F6808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CC876E-63E6-BB5F-1A07-A054BBCDD119}"/>
              </a:ext>
            </a:extLst>
          </p:cNvPr>
          <p:cNvSpPr>
            <a:spLocks noGrp="1"/>
          </p:cNvSpPr>
          <p:nvPr>
            <p:ph type="body" idx="1"/>
          </p:nvPr>
        </p:nvSpPr>
        <p:spPr/>
        <p:txBody>
          <a:bodyPr/>
          <a:lstStyle/>
          <a:p>
            <a:r>
              <a:t>J2W_ID: CS161</a:t>
            </a:r>
          </a:p>
        </p:txBody>
      </p:sp>
      <p:sp>
        <p:nvSpPr>
          <p:cNvPr id="4" name="Slide Number Placeholder 3">
            <a:extLst>
              <a:ext uri="{FF2B5EF4-FFF2-40B4-BE49-F238E27FC236}">
                <a16:creationId xmlns:a16="http://schemas.microsoft.com/office/drawing/2014/main" id="{EB05F7BC-B61D-CC8C-3112-9C1FB607AF75}"/>
              </a:ext>
            </a:extLst>
          </p:cNvPr>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399544609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9F2DE4-C67F-4F6F-6A23-7EEFF19224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D8F13A-3E67-9EF1-D6EC-21166B1A3D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082BAC-DE51-F131-D41D-3216C1E971F4}"/>
              </a:ext>
            </a:extLst>
          </p:cNvPr>
          <p:cNvSpPr>
            <a:spLocks noGrp="1"/>
          </p:cNvSpPr>
          <p:nvPr>
            <p:ph type="body" idx="1"/>
          </p:nvPr>
        </p:nvSpPr>
        <p:spPr/>
        <p:txBody>
          <a:bodyPr/>
          <a:lstStyle/>
          <a:p>
            <a:r>
              <a:t>J2W_ID: CS162</a:t>
            </a:r>
          </a:p>
        </p:txBody>
      </p:sp>
      <p:sp>
        <p:nvSpPr>
          <p:cNvPr id="4" name="Slide Number Placeholder 3">
            <a:extLst>
              <a:ext uri="{FF2B5EF4-FFF2-40B4-BE49-F238E27FC236}">
                <a16:creationId xmlns:a16="http://schemas.microsoft.com/office/drawing/2014/main" id="{26BAD82A-CE66-05EB-0ACF-5C8BD3986C23}"/>
              </a:ext>
            </a:extLst>
          </p:cNvPr>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252814304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CC9BD9-A1BA-631D-CFB3-C42CFA3303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6ECAD1-0712-ED90-8CCA-8F8FBE9745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3218EA-01A1-3CB9-B6BA-7CEF8E2D6197}"/>
              </a:ext>
            </a:extLst>
          </p:cNvPr>
          <p:cNvSpPr>
            <a:spLocks noGrp="1"/>
          </p:cNvSpPr>
          <p:nvPr>
            <p:ph type="body" idx="1"/>
          </p:nvPr>
        </p:nvSpPr>
        <p:spPr/>
        <p:txBody>
          <a:bodyPr/>
          <a:lstStyle/>
          <a:p>
            <a:r>
              <a:t>J2W_ID: CS163</a:t>
            </a:r>
          </a:p>
        </p:txBody>
      </p:sp>
      <p:sp>
        <p:nvSpPr>
          <p:cNvPr id="4" name="Slide Number Placeholder 3">
            <a:extLst>
              <a:ext uri="{FF2B5EF4-FFF2-40B4-BE49-F238E27FC236}">
                <a16:creationId xmlns:a16="http://schemas.microsoft.com/office/drawing/2014/main" id="{7D1D376B-1DEA-EB88-60E8-0F4AB2E7D134}"/>
              </a:ext>
            </a:extLst>
          </p:cNvPr>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380277930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CS164</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CS165</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CS166</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CS167</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CS168</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p:cNvSpPr>
            <a:spLocks noGrp="1"/>
          </p:cNvSpPr>
          <p:nvPr>
            <p:ph type="dt" sz="half" idx="10"/>
          </p:nvPr>
        </p:nvSpPr>
        <p:spPr/>
        <p:txBody>
          <a:bodyPr/>
          <a:lstStyle/>
          <a:p>
            <a:fld id="{846CE7D5-CF57-46EF-B807-FDD0502418D4}" type="datetimeFigureOut">
              <a:rPr lang="en-GB" smtClean="0"/>
              <a:t>20/08/2026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p:cNvSpPr>
            <a:spLocks noGrp="1"/>
          </p:cNvSpPr>
          <p:nvPr>
            <p:ph type="dt" sz="half" idx="10"/>
          </p:nvPr>
        </p:nvSpPr>
        <p:spPr/>
        <p:txBody>
          <a:bodyPr/>
          <a:lstStyle/>
          <a:p>
            <a:fld id="{846CE7D5-CF57-46EF-B807-FDD0502418D4}" type="datetimeFigureOut">
              <a:rPr lang="en-GB" smtClean="0"/>
              <a:t>20/08/2026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20/08/2026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Date Placeholder 4"/>
          <p:cNvSpPr>
            <a:spLocks noGrp="1"/>
          </p:cNvSpPr>
          <p:nvPr>
            <p:ph type="dt" sz="half" idx="10"/>
          </p:nvPr>
        </p:nvSpPr>
        <p:spPr/>
        <p:txBody>
          <a:bodyPr/>
          <a:lstStyle/>
          <a:p>
            <a:fld id="{846CE7D5-CF57-46EF-B807-FDD0502418D4}" type="datetimeFigureOut">
              <a:rPr lang="en-GB" smtClean="0"/>
              <a:t>20/08/2026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Date Placeholder 6"/>
          <p:cNvSpPr>
            <a:spLocks noGrp="1"/>
          </p:cNvSpPr>
          <p:nvPr>
            <p:ph type="dt" sz="half" idx="10"/>
          </p:nvPr>
        </p:nvSpPr>
        <p:spPr/>
        <p:txBody>
          <a:bodyPr/>
          <a:lstStyle/>
          <a:p>
            <a:fld id="{846CE7D5-CF57-46EF-B807-FDD0502418D4}" type="datetimeFigureOut">
              <a:rPr lang="en-GB" smtClean="0"/>
              <a:t>20/08/2026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p>
        </p:txBody>
      </p:sp>
      <p:sp>
        <p:nvSpPr>
          <p:cNvPr id="3" name="Date Placeholder 2"/>
          <p:cNvSpPr>
            <a:spLocks noGrp="1"/>
          </p:cNvSpPr>
          <p:nvPr>
            <p:ph type="dt" sz="half" idx="10"/>
          </p:nvPr>
        </p:nvSpPr>
        <p:spPr/>
        <p:txBody>
          <a:bodyPr/>
          <a:lstStyle/>
          <a:p>
            <a:fld id="{846CE7D5-CF57-46EF-B807-FDD0502418D4}" type="datetimeFigureOut">
              <a:rPr lang="en-GB" smtClean="0"/>
              <a:t>20/08/2026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20/08/2026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20/08/2026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20/08/2026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p:cNvSpPr>
            <a:spLocks noGrp="1"/>
          </p:cNvSpPr>
          <p:nvPr>
            <p:ph type="dt" sz="half" idx="10"/>
          </p:nvPr>
        </p:nvSpPr>
        <p:spPr/>
        <p:txBody>
          <a:bodyPr/>
          <a:lstStyle/>
          <a:p>
            <a:fld id="{846CE7D5-CF57-46EF-B807-FDD0502418D4}" type="datetimeFigureOut">
              <a:rPr lang="en-GB" smtClean="0"/>
              <a:t>20/08/2026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p:cNvSpPr>
            <a:spLocks noGrp="1"/>
          </p:cNvSpPr>
          <p:nvPr>
            <p:ph type="dt" sz="half" idx="10"/>
          </p:nvPr>
        </p:nvSpPr>
        <p:spPr/>
        <p:txBody>
          <a:bodyPr/>
          <a:lstStyle/>
          <a:p>
            <a:fld id="{846CE7D5-CF57-46EF-B807-FDD0502418D4}" type="datetimeFigureOut">
              <a:rPr lang="en-GB" smtClean="0"/>
              <a:t>20/08/2026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542138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2079127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20/08/2026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18" Type="http://schemas.openxmlformats.org/officeDocument/2006/relationships/image" Target="../media/image16.jpeg"/><Relationship Id="rId3" Type="http://schemas.openxmlformats.org/officeDocument/2006/relationships/image" Target="../media/image1.png"/><Relationship Id="rId21" Type="http://schemas.openxmlformats.org/officeDocument/2006/relationships/image" Target="../media/image19.png"/><Relationship Id="rId7" Type="http://schemas.openxmlformats.org/officeDocument/2006/relationships/image" Target="../media/image5.png"/><Relationship Id="rId12" Type="http://schemas.openxmlformats.org/officeDocument/2006/relationships/image" Target="../media/image10.png"/><Relationship Id="rId17" Type="http://schemas.openxmlformats.org/officeDocument/2006/relationships/image" Target="../media/image15.jpeg"/><Relationship Id="rId2" Type="http://schemas.openxmlformats.org/officeDocument/2006/relationships/notesSlide" Target="../notesSlides/notesSlide1.xml"/><Relationship Id="rId16" Type="http://schemas.openxmlformats.org/officeDocument/2006/relationships/image" Target="../media/image14.png"/><Relationship Id="rId20" Type="http://schemas.openxmlformats.org/officeDocument/2006/relationships/image" Target="../media/image18.png"/><Relationship Id="rId1" Type="http://schemas.openxmlformats.org/officeDocument/2006/relationships/slideLayout" Target="../slideLayouts/slideLayout12.xml"/><Relationship Id="rId6" Type="http://schemas.openxmlformats.org/officeDocument/2006/relationships/image" Target="../media/image4.png"/><Relationship Id="rId11" Type="http://schemas.openxmlformats.org/officeDocument/2006/relationships/image" Target="../media/image9.png"/><Relationship Id="rId24" Type="http://schemas.openxmlformats.org/officeDocument/2006/relationships/image" Target="../media/image22.png"/><Relationship Id="rId5" Type="http://schemas.openxmlformats.org/officeDocument/2006/relationships/image" Target="../media/image3.png"/><Relationship Id="rId15" Type="http://schemas.openxmlformats.org/officeDocument/2006/relationships/image" Target="../media/image13.png"/><Relationship Id="rId23" Type="http://schemas.openxmlformats.org/officeDocument/2006/relationships/image" Target="../media/image21.png"/><Relationship Id="rId10" Type="http://schemas.openxmlformats.org/officeDocument/2006/relationships/image" Target="../media/image8.png"/><Relationship Id="rId19" Type="http://schemas.openxmlformats.org/officeDocument/2006/relationships/image" Target="../media/image17.png"/><Relationship Id="rId4" Type="http://schemas.openxmlformats.org/officeDocument/2006/relationships/image" Target="../media/image2.png"/><Relationship Id="rId9" Type="http://schemas.openxmlformats.org/officeDocument/2006/relationships/image" Target="../media/image7.png"/><Relationship Id="rId14" Type="http://schemas.openxmlformats.org/officeDocument/2006/relationships/image" Target="../media/image12.png"/><Relationship Id="rId22" Type="http://schemas.openxmlformats.org/officeDocument/2006/relationships/image" Target="../media/image20.png"/></Relationships>
</file>

<file path=ppt/slides/_rels/slide2.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23.png"/><Relationship Id="rId7" Type="http://schemas.openxmlformats.org/officeDocument/2006/relationships/image" Target="../media/image25.png"/><Relationship Id="rId2" Type="http://schemas.openxmlformats.org/officeDocument/2006/relationships/notesSlide" Target="../notesSlides/notesSlide2.xml"/><Relationship Id="rId1" Type="http://schemas.openxmlformats.org/officeDocument/2006/relationships/slideLayout" Target="../slideLayouts/slideLayout12.xml"/><Relationship Id="rId6" Type="http://schemas.openxmlformats.org/officeDocument/2006/relationships/image" Target="../media/image24.png"/><Relationship Id="rId5" Type="http://schemas.openxmlformats.org/officeDocument/2006/relationships/image" Target="../media/image22.png"/><Relationship Id="rId4" Type="http://schemas.openxmlformats.org/officeDocument/2006/relationships/image" Target="../media/image21.png"/></Relationships>
</file>

<file path=ppt/slides/_rels/slide3.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23.png"/><Relationship Id="rId7" Type="http://schemas.openxmlformats.org/officeDocument/2006/relationships/image" Target="../media/image24.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25.png"/><Relationship Id="rId5" Type="http://schemas.openxmlformats.org/officeDocument/2006/relationships/image" Target="../media/image22.png"/><Relationship Id="rId4" Type="http://schemas.openxmlformats.org/officeDocument/2006/relationships/image" Target="../media/image21.png"/></Relationships>
</file>

<file path=ppt/slides/_rels/slide4.xml.rels><?xml version="1.0" encoding="UTF-8" standalone="yes"?>
<Relationships xmlns="http://schemas.openxmlformats.org/package/2006/relationships"><Relationship Id="rId8" Type="http://schemas.openxmlformats.org/officeDocument/2006/relationships/image" Target="../media/image31.png"/><Relationship Id="rId13" Type="http://schemas.openxmlformats.org/officeDocument/2006/relationships/image" Target="../media/image36.png"/><Relationship Id="rId3" Type="http://schemas.openxmlformats.org/officeDocument/2006/relationships/image" Target="../media/image27.png"/><Relationship Id="rId7" Type="http://schemas.openxmlformats.org/officeDocument/2006/relationships/image" Target="../media/image30.png"/><Relationship Id="rId12" Type="http://schemas.openxmlformats.org/officeDocument/2006/relationships/image" Target="../media/image35.png"/><Relationship Id="rId17" Type="http://schemas.openxmlformats.org/officeDocument/2006/relationships/image" Target="../media/image22.png"/><Relationship Id="rId2" Type="http://schemas.openxmlformats.org/officeDocument/2006/relationships/notesSlide" Target="../notesSlides/notesSlide4.xml"/><Relationship Id="rId16" Type="http://schemas.openxmlformats.org/officeDocument/2006/relationships/image" Target="../media/image21.png"/><Relationship Id="rId1" Type="http://schemas.openxmlformats.org/officeDocument/2006/relationships/slideLayout" Target="../slideLayouts/slideLayout12.xml"/><Relationship Id="rId6" Type="http://schemas.openxmlformats.org/officeDocument/2006/relationships/image" Target="../media/image29.png"/><Relationship Id="rId11" Type="http://schemas.openxmlformats.org/officeDocument/2006/relationships/image" Target="../media/image34.png"/><Relationship Id="rId5" Type="http://schemas.openxmlformats.org/officeDocument/2006/relationships/image" Target="../media/image28.png"/><Relationship Id="rId15" Type="http://schemas.openxmlformats.org/officeDocument/2006/relationships/image" Target="../media/image38.png"/><Relationship Id="rId10" Type="http://schemas.openxmlformats.org/officeDocument/2006/relationships/image" Target="../media/image33.png"/><Relationship Id="rId4" Type="http://schemas.openxmlformats.org/officeDocument/2006/relationships/image" Target="../media/image26.png"/><Relationship Id="rId9" Type="http://schemas.openxmlformats.org/officeDocument/2006/relationships/image" Target="../media/image32.png"/><Relationship Id="rId14" Type="http://schemas.openxmlformats.org/officeDocument/2006/relationships/image" Target="../media/image37.png"/></Relationships>
</file>

<file path=ppt/slides/_rels/slide5.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39.png"/><Relationship Id="rId7" Type="http://schemas.openxmlformats.org/officeDocument/2006/relationships/image" Target="../media/image26.png"/><Relationship Id="rId2" Type="http://schemas.openxmlformats.org/officeDocument/2006/relationships/notesSlide" Target="../notesSlides/notesSlide5.xml"/><Relationship Id="rId1" Type="http://schemas.openxmlformats.org/officeDocument/2006/relationships/slideLayout" Target="../slideLayouts/slideLayout12.xml"/><Relationship Id="rId6" Type="http://schemas.openxmlformats.org/officeDocument/2006/relationships/image" Target="../media/image42.jpeg"/><Relationship Id="rId5" Type="http://schemas.openxmlformats.org/officeDocument/2006/relationships/image" Target="../media/image41.png"/><Relationship Id="rId4" Type="http://schemas.openxmlformats.org/officeDocument/2006/relationships/image" Target="../media/image40.jpeg"/><Relationship Id="rId9" Type="http://schemas.openxmlformats.org/officeDocument/2006/relationships/image" Target="../media/image22.png"/></Relationships>
</file>

<file path=ppt/slides/_rels/slide6.xml.rels><?xml version="1.0" encoding="UTF-8" standalone="yes"?>
<Relationships xmlns="http://schemas.openxmlformats.org/package/2006/relationships"><Relationship Id="rId8" Type="http://schemas.openxmlformats.org/officeDocument/2006/relationships/image" Target="../media/image46.jpeg"/><Relationship Id="rId3" Type="http://schemas.openxmlformats.org/officeDocument/2006/relationships/image" Target="../media/image43.png"/><Relationship Id="rId7" Type="http://schemas.openxmlformats.org/officeDocument/2006/relationships/image" Target="../media/image45.jpeg"/><Relationship Id="rId2" Type="http://schemas.openxmlformats.org/officeDocument/2006/relationships/notesSlide" Target="../notesSlides/notesSlide6.xml"/><Relationship Id="rId1" Type="http://schemas.openxmlformats.org/officeDocument/2006/relationships/slideLayout" Target="../slideLayouts/slideLayout12.xml"/><Relationship Id="rId6" Type="http://schemas.openxmlformats.org/officeDocument/2006/relationships/image" Target="../media/image44.jpeg"/><Relationship Id="rId11" Type="http://schemas.openxmlformats.org/officeDocument/2006/relationships/image" Target="../media/image22.png"/><Relationship Id="rId5" Type="http://schemas.openxmlformats.org/officeDocument/2006/relationships/image" Target="../media/image40.jpeg"/><Relationship Id="rId10" Type="http://schemas.openxmlformats.org/officeDocument/2006/relationships/image" Target="../media/image21.png"/><Relationship Id="rId4" Type="http://schemas.openxmlformats.org/officeDocument/2006/relationships/image" Target="../media/image42.jpeg"/><Relationship Id="rId9" Type="http://schemas.openxmlformats.org/officeDocument/2006/relationships/image" Target="../media/image26.png"/></Relationships>
</file>

<file path=ppt/slides/_rels/slide7.xml.rels><?xml version="1.0" encoding="UTF-8" standalone="yes"?>
<Relationships xmlns="http://schemas.openxmlformats.org/package/2006/relationships"><Relationship Id="rId8" Type="http://schemas.openxmlformats.org/officeDocument/2006/relationships/image" Target="../media/image47.jpeg"/><Relationship Id="rId3" Type="http://schemas.openxmlformats.org/officeDocument/2006/relationships/image" Target="../media/image43.png"/><Relationship Id="rId7" Type="http://schemas.openxmlformats.org/officeDocument/2006/relationships/image" Target="../media/image45.jpeg"/><Relationship Id="rId12"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12.xml"/><Relationship Id="rId6" Type="http://schemas.openxmlformats.org/officeDocument/2006/relationships/image" Target="../media/image44.jpeg"/><Relationship Id="rId11" Type="http://schemas.openxmlformats.org/officeDocument/2006/relationships/image" Target="../media/image22.png"/><Relationship Id="rId5" Type="http://schemas.openxmlformats.org/officeDocument/2006/relationships/image" Target="../media/image40.jpeg"/><Relationship Id="rId10" Type="http://schemas.openxmlformats.org/officeDocument/2006/relationships/image" Target="../media/image21.png"/><Relationship Id="rId4" Type="http://schemas.openxmlformats.org/officeDocument/2006/relationships/image" Target="../media/image42.jpeg"/><Relationship Id="rId9" Type="http://schemas.openxmlformats.org/officeDocument/2006/relationships/image" Target="../media/image48.jpeg"/></Relationships>
</file>

<file path=ppt/slides/_rels/slide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8.xml"/><Relationship Id="rId1" Type="http://schemas.openxmlformats.org/officeDocument/2006/relationships/slideLayout" Target="../slideLayouts/slideLayout12.xml"/><Relationship Id="rId6" Type="http://schemas.openxmlformats.org/officeDocument/2006/relationships/image" Target="../media/image26.png"/><Relationship Id="rId5" Type="http://schemas.openxmlformats.org/officeDocument/2006/relationships/image" Target="../media/image51.png"/><Relationship Id="rId4" Type="http://schemas.openxmlformats.org/officeDocument/2006/relationships/image" Target="../media/image50.png"/></Relationships>
</file>

<file path=ppt/slides/_rels/slide9.xml.rels><?xml version="1.0" encoding="UTF-8" standalone="yes"?>
<Relationships xmlns="http://schemas.openxmlformats.org/package/2006/relationships"><Relationship Id="rId8" Type="http://schemas.openxmlformats.org/officeDocument/2006/relationships/image" Target="../media/image54.png"/><Relationship Id="rId13" Type="http://schemas.openxmlformats.org/officeDocument/2006/relationships/image" Target="../media/image26.png"/><Relationship Id="rId3" Type="http://schemas.openxmlformats.org/officeDocument/2006/relationships/image" Target="../media/image23.png"/><Relationship Id="rId7" Type="http://schemas.openxmlformats.org/officeDocument/2006/relationships/image" Target="../media/image53.png"/><Relationship Id="rId12" Type="http://schemas.openxmlformats.org/officeDocument/2006/relationships/image" Target="../media/image58.png"/><Relationship Id="rId2" Type="http://schemas.openxmlformats.org/officeDocument/2006/relationships/notesSlide" Target="../notesSlides/notesSlide9.xml"/><Relationship Id="rId1" Type="http://schemas.openxmlformats.org/officeDocument/2006/relationships/slideLayout" Target="../slideLayouts/slideLayout12.xml"/><Relationship Id="rId6" Type="http://schemas.openxmlformats.org/officeDocument/2006/relationships/image" Target="../media/image52.png"/><Relationship Id="rId11" Type="http://schemas.openxmlformats.org/officeDocument/2006/relationships/image" Target="../media/image57.png"/><Relationship Id="rId5" Type="http://schemas.openxmlformats.org/officeDocument/2006/relationships/image" Target="../media/image22.png"/><Relationship Id="rId10" Type="http://schemas.openxmlformats.org/officeDocument/2006/relationships/image" Target="../media/image56.png"/><Relationship Id="rId4" Type="http://schemas.openxmlformats.org/officeDocument/2006/relationships/image" Target="../media/image21.png"/><Relationship Id="rId9" Type="http://schemas.openxmlformats.org/officeDocument/2006/relationships/image" Target="../media/image55.png"/></Relationships>
</file>

<file path=ppt/slides/_rels/slide10.xml.rels><?xml version="1.0" encoding="UTF-8" standalone="yes"?>
<Relationships xmlns="http://schemas.openxmlformats.org/package/2006/relationships"><Relationship Id="rId8" Type="http://schemas.openxmlformats.org/officeDocument/2006/relationships/image" Target="../media/image64.png"/><Relationship Id="rId3" Type="http://schemas.openxmlformats.org/officeDocument/2006/relationships/image" Target="../media/image59.png"/><Relationship Id="rId7" Type="http://schemas.openxmlformats.org/officeDocument/2006/relationships/image" Target="../media/image63.png"/><Relationship Id="rId2" Type="http://schemas.openxmlformats.org/officeDocument/2006/relationships/notesSlide" Target="../notesSlides/notesSlide10.xml"/><Relationship Id="rId1" Type="http://schemas.openxmlformats.org/officeDocument/2006/relationships/slideLayout" Target="../slideLayouts/slideLayout12.xml"/><Relationship Id="rId6" Type="http://schemas.openxmlformats.org/officeDocument/2006/relationships/image" Target="../media/image62.png"/><Relationship Id="rId5" Type="http://schemas.openxmlformats.org/officeDocument/2006/relationships/image" Target="../media/image61.png"/><Relationship Id="rId10" Type="http://schemas.openxmlformats.org/officeDocument/2006/relationships/image" Target="../media/image26.png"/><Relationship Id="rId4" Type="http://schemas.openxmlformats.org/officeDocument/2006/relationships/image" Target="../media/image60.png"/><Relationship Id="rId9" Type="http://schemas.openxmlformats.org/officeDocument/2006/relationships/image" Target="../media/image65.jpeg"/></Relationships>
</file>

<file path=ppt/slides/_rels/slide11.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66.png"/><Relationship Id="rId7" Type="http://schemas.openxmlformats.org/officeDocument/2006/relationships/image" Target="../media/image70.png"/><Relationship Id="rId2" Type="http://schemas.openxmlformats.org/officeDocument/2006/relationships/notesSlide" Target="../notesSlides/notesSlide11.xml"/><Relationship Id="rId1" Type="http://schemas.openxmlformats.org/officeDocument/2006/relationships/slideLayout" Target="../slideLayouts/slideLayout12.xml"/><Relationship Id="rId6" Type="http://schemas.openxmlformats.org/officeDocument/2006/relationships/image" Target="../media/image69.png"/><Relationship Id="rId5" Type="http://schemas.openxmlformats.org/officeDocument/2006/relationships/image" Target="../media/image68.png"/><Relationship Id="rId10" Type="http://schemas.openxmlformats.org/officeDocument/2006/relationships/image" Target="../media/image26.png"/><Relationship Id="rId4" Type="http://schemas.openxmlformats.org/officeDocument/2006/relationships/image" Target="../media/image67.png"/><Relationship Id="rId9" Type="http://schemas.openxmlformats.org/officeDocument/2006/relationships/image" Target="../media/image72.png"/></Relationships>
</file>

<file path=ppt/slides/_rels/slide12.xml.rels><?xml version="1.0" encoding="UTF-8" standalone="yes"?>
<Relationships xmlns="http://schemas.openxmlformats.org/package/2006/relationships"><Relationship Id="rId8" Type="http://schemas.openxmlformats.org/officeDocument/2006/relationships/image" Target="../media/image75.png"/><Relationship Id="rId13" Type="http://schemas.openxmlformats.org/officeDocument/2006/relationships/image" Target="../media/image79.png"/><Relationship Id="rId3" Type="http://schemas.openxmlformats.org/officeDocument/2006/relationships/image" Target="../media/image73.png"/><Relationship Id="rId7" Type="http://schemas.openxmlformats.org/officeDocument/2006/relationships/image" Target="../media/image57.png"/><Relationship Id="rId12" Type="http://schemas.openxmlformats.org/officeDocument/2006/relationships/image" Target="../media/image78.png"/><Relationship Id="rId2" Type="http://schemas.openxmlformats.org/officeDocument/2006/relationships/notesSlide" Target="../notesSlides/notesSlide12.xml"/><Relationship Id="rId1" Type="http://schemas.openxmlformats.org/officeDocument/2006/relationships/slideLayout" Target="../slideLayouts/slideLayout12.xml"/><Relationship Id="rId6" Type="http://schemas.openxmlformats.org/officeDocument/2006/relationships/image" Target="../media/image74.png"/><Relationship Id="rId11" Type="http://schemas.openxmlformats.org/officeDocument/2006/relationships/image" Target="../media/image77.png"/><Relationship Id="rId5" Type="http://schemas.openxmlformats.org/officeDocument/2006/relationships/image" Target="../media/image22.png"/><Relationship Id="rId10" Type="http://schemas.openxmlformats.org/officeDocument/2006/relationships/image" Target="../media/image76.png"/><Relationship Id="rId4" Type="http://schemas.openxmlformats.org/officeDocument/2006/relationships/image" Target="../media/image21.png"/><Relationship Id="rId9" Type="http://schemas.openxmlformats.org/officeDocument/2006/relationships/image" Target="../media/image58.png"/><Relationship Id="rId14" Type="http://schemas.openxmlformats.org/officeDocument/2006/relationships/image" Target="../media/image80.png"/></Relationships>
</file>

<file path=ppt/slides/_rels/slide13.xml.rels><?xml version="1.0" encoding="UTF-8" standalone="yes"?>
<Relationships xmlns="http://schemas.openxmlformats.org/package/2006/relationships"><Relationship Id="rId8" Type="http://schemas.openxmlformats.org/officeDocument/2006/relationships/image" Target="../media/image84.png"/><Relationship Id="rId3" Type="http://schemas.openxmlformats.org/officeDocument/2006/relationships/image" Target="../media/image21.png"/><Relationship Id="rId7" Type="http://schemas.openxmlformats.org/officeDocument/2006/relationships/image" Target="../media/image83.png"/><Relationship Id="rId12" Type="http://schemas.openxmlformats.org/officeDocument/2006/relationships/image" Target="../media/image26.png"/><Relationship Id="rId2" Type="http://schemas.openxmlformats.org/officeDocument/2006/relationships/notesSlide" Target="../notesSlides/notesSlide13.xml"/><Relationship Id="rId1" Type="http://schemas.openxmlformats.org/officeDocument/2006/relationships/slideLayout" Target="../slideLayouts/slideLayout12.xml"/><Relationship Id="rId6" Type="http://schemas.openxmlformats.org/officeDocument/2006/relationships/image" Target="../media/image82.png"/><Relationship Id="rId11" Type="http://schemas.openxmlformats.org/officeDocument/2006/relationships/image" Target="../media/image87.png"/><Relationship Id="rId5" Type="http://schemas.openxmlformats.org/officeDocument/2006/relationships/image" Target="../media/image81.png"/><Relationship Id="rId10" Type="http://schemas.openxmlformats.org/officeDocument/2006/relationships/image" Target="../media/image86.png"/><Relationship Id="rId4" Type="http://schemas.openxmlformats.org/officeDocument/2006/relationships/image" Target="../media/image22.png"/><Relationship Id="rId9" Type="http://schemas.openxmlformats.org/officeDocument/2006/relationships/image" Target="../media/image85.png"/></Relationships>
</file>

<file path=ppt/slides/_rels/slide14.xml.rels><?xml version="1.0" encoding="UTF-8" standalone="yes"?>
<Relationships xmlns="http://schemas.openxmlformats.org/package/2006/relationships"><Relationship Id="rId8" Type="http://schemas.openxmlformats.org/officeDocument/2006/relationships/image" Target="../media/image93.png"/><Relationship Id="rId3" Type="http://schemas.openxmlformats.org/officeDocument/2006/relationships/image" Target="../media/image88.png"/><Relationship Id="rId7" Type="http://schemas.openxmlformats.org/officeDocument/2006/relationships/image" Target="../media/image92.png"/><Relationship Id="rId2" Type="http://schemas.openxmlformats.org/officeDocument/2006/relationships/notesSlide" Target="../notesSlides/notesSlide14.xml"/><Relationship Id="rId1" Type="http://schemas.openxmlformats.org/officeDocument/2006/relationships/slideLayout" Target="../slideLayouts/slideLayout12.xml"/><Relationship Id="rId6" Type="http://schemas.openxmlformats.org/officeDocument/2006/relationships/image" Target="../media/image91.png"/><Relationship Id="rId5" Type="http://schemas.openxmlformats.org/officeDocument/2006/relationships/image" Target="../media/image90.png"/><Relationship Id="rId10" Type="http://schemas.openxmlformats.org/officeDocument/2006/relationships/image" Target="../media/image26.png"/><Relationship Id="rId4" Type="http://schemas.openxmlformats.org/officeDocument/2006/relationships/image" Target="../media/image89.png"/><Relationship Id="rId9" Type="http://schemas.openxmlformats.org/officeDocument/2006/relationships/image" Target="../media/image94.png"/></Relationships>
</file>

<file path=ppt/slides/_rels/slide15.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43.png"/><Relationship Id="rId7" Type="http://schemas.openxmlformats.org/officeDocument/2006/relationships/image" Target="../media/image96.png"/><Relationship Id="rId2" Type="http://schemas.openxmlformats.org/officeDocument/2006/relationships/notesSlide" Target="../notesSlides/notesSlide15.xml"/><Relationship Id="rId1" Type="http://schemas.openxmlformats.org/officeDocument/2006/relationships/slideLayout" Target="../slideLayouts/slideLayout12.xml"/><Relationship Id="rId6" Type="http://schemas.openxmlformats.org/officeDocument/2006/relationships/image" Target="../media/image95.png"/><Relationship Id="rId5" Type="http://schemas.openxmlformats.org/officeDocument/2006/relationships/image" Target="../media/image22.png"/><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8" Type="http://schemas.openxmlformats.org/officeDocument/2006/relationships/image" Target="../media/image99.png"/><Relationship Id="rId3" Type="http://schemas.openxmlformats.org/officeDocument/2006/relationships/image" Target="../media/image49.png"/><Relationship Id="rId7" Type="http://schemas.openxmlformats.org/officeDocument/2006/relationships/image" Target="../media/image98.png"/><Relationship Id="rId2" Type="http://schemas.openxmlformats.org/officeDocument/2006/relationships/notesSlide" Target="../notesSlides/notesSlide16.xml"/><Relationship Id="rId1" Type="http://schemas.openxmlformats.org/officeDocument/2006/relationships/slideLayout" Target="../slideLayouts/slideLayout12.xml"/><Relationship Id="rId6" Type="http://schemas.openxmlformats.org/officeDocument/2006/relationships/image" Target="../media/image97.png"/><Relationship Id="rId11" Type="http://schemas.openxmlformats.org/officeDocument/2006/relationships/image" Target="../media/image26.png"/><Relationship Id="rId5" Type="http://schemas.openxmlformats.org/officeDocument/2006/relationships/image" Target="../media/image73.png"/><Relationship Id="rId10" Type="http://schemas.openxmlformats.org/officeDocument/2006/relationships/image" Target="../media/image101.png"/><Relationship Id="rId4" Type="http://schemas.openxmlformats.org/officeDocument/2006/relationships/image" Target="../media/image50.png"/><Relationship Id="rId9" Type="http://schemas.openxmlformats.org/officeDocument/2006/relationships/image" Target="../media/image100.png"/></Relationships>
</file>

<file path=ppt/slides/_rels/slide17.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17.xml"/><Relationship Id="rId1" Type="http://schemas.openxmlformats.org/officeDocument/2006/relationships/slideLayout" Target="../slideLayouts/slideLayout12.xml"/><Relationship Id="rId5" Type="http://schemas.openxmlformats.org/officeDocument/2006/relationships/image" Target="../media/image26.png"/><Relationship Id="rId4" Type="http://schemas.openxmlformats.org/officeDocument/2006/relationships/image" Target="../media/image67.png"/></Relationships>
</file>

<file path=ppt/slides/_rels/slide18.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43.png"/><Relationship Id="rId7" Type="http://schemas.openxmlformats.org/officeDocument/2006/relationships/image" Target="../media/image103.png"/><Relationship Id="rId2" Type="http://schemas.openxmlformats.org/officeDocument/2006/relationships/notesSlide" Target="../notesSlides/notesSlide18.xml"/><Relationship Id="rId1" Type="http://schemas.openxmlformats.org/officeDocument/2006/relationships/slideLayout" Target="../slideLayouts/slideLayout12.xml"/><Relationship Id="rId6" Type="http://schemas.openxmlformats.org/officeDocument/2006/relationships/image" Target="../media/image102.png"/><Relationship Id="rId5" Type="http://schemas.openxmlformats.org/officeDocument/2006/relationships/image" Target="../media/image22.png"/><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8" Type="http://schemas.openxmlformats.org/officeDocument/2006/relationships/image" Target="../media/image109.png"/><Relationship Id="rId13" Type="http://schemas.openxmlformats.org/officeDocument/2006/relationships/image" Target="../media/image26.png"/><Relationship Id="rId3" Type="http://schemas.openxmlformats.org/officeDocument/2006/relationships/image" Target="../media/image104.svg"/><Relationship Id="rId7" Type="http://schemas.openxmlformats.org/officeDocument/2006/relationships/image" Target="../media/image108.png"/><Relationship Id="rId12" Type="http://schemas.openxmlformats.org/officeDocument/2006/relationships/image" Target="../media/image113.png"/><Relationship Id="rId2" Type="http://schemas.openxmlformats.org/officeDocument/2006/relationships/notesSlide" Target="../notesSlides/notesSlide19.xml"/><Relationship Id="rId1" Type="http://schemas.openxmlformats.org/officeDocument/2006/relationships/slideLayout" Target="../slideLayouts/slideLayout12.xml"/><Relationship Id="rId6" Type="http://schemas.openxmlformats.org/officeDocument/2006/relationships/image" Target="../media/image107.png"/><Relationship Id="rId11" Type="http://schemas.openxmlformats.org/officeDocument/2006/relationships/image" Target="../media/image112.png"/><Relationship Id="rId5" Type="http://schemas.openxmlformats.org/officeDocument/2006/relationships/image" Target="../media/image106.png"/><Relationship Id="rId10" Type="http://schemas.openxmlformats.org/officeDocument/2006/relationships/image" Target="../media/image111.png"/><Relationship Id="rId4" Type="http://schemas.openxmlformats.org/officeDocument/2006/relationships/image" Target="../media/image105.png"/><Relationship Id="rId9" Type="http://schemas.openxmlformats.org/officeDocument/2006/relationships/image" Target="../media/image110.png"/></Relationships>
</file>

<file path=ppt/slides/_rels/slide20.xml.rels><?xml version="1.0" encoding="UTF-8" standalone="yes"?>
<Relationships xmlns="http://schemas.openxmlformats.org/package/2006/relationships"><Relationship Id="rId8" Type="http://schemas.openxmlformats.org/officeDocument/2006/relationships/image" Target="../media/image117.png"/><Relationship Id="rId3" Type="http://schemas.openxmlformats.org/officeDocument/2006/relationships/image" Target="../media/image66.png"/><Relationship Id="rId7" Type="http://schemas.openxmlformats.org/officeDocument/2006/relationships/image" Target="../media/image116.png"/><Relationship Id="rId2" Type="http://schemas.openxmlformats.org/officeDocument/2006/relationships/notesSlide" Target="../notesSlides/notesSlide20.xml"/><Relationship Id="rId1" Type="http://schemas.openxmlformats.org/officeDocument/2006/relationships/slideLayout" Target="../slideLayouts/slideLayout12.xml"/><Relationship Id="rId6" Type="http://schemas.openxmlformats.org/officeDocument/2006/relationships/image" Target="../media/image115.png"/><Relationship Id="rId5" Type="http://schemas.openxmlformats.org/officeDocument/2006/relationships/image" Target="../media/image114.png"/><Relationship Id="rId4" Type="http://schemas.openxmlformats.org/officeDocument/2006/relationships/image" Target="../media/image67.png"/><Relationship Id="rId9" Type="http://schemas.openxmlformats.org/officeDocument/2006/relationships/image" Target="../media/image26.png"/></Relationships>
</file>

<file path=ppt/slides/_rels/slide21.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118.png"/><Relationship Id="rId7" Type="http://schemas.openxmlformats.org/officeDocument/2006/relationships/image" Target="../media/image22.png"/><Relationship Id="rId2" Type="http://schemas.openxmlformats.org/officeDocument/2006/relationships/notesSlide" Target="../notesSlides/notesSlide21.xml"/><Relationship Id="rId1" Type="http://schemas.openxmlformats.org/officeDocument/2006/relationships/slideLayout" Target="../slideLayouts/slideLayout12.xml"/><Relationship Id="rId6" Type="http://schemas.openxmlformats.org/officeDocument/2006/relationships/image" Target="../media/image21.png"/><Relationship Id="rId5" Type="http://schemas.openxmlformats.org/officeDocument/2006/relationships/image" Target="../media/image120.png"/><Relationship Id="rId4" Type="http://schemas.openxmlformats.org/officeDocument/2006/relationships/image" Target="../media/image119.png"/></Relationships>
</file>

<file path=ppt/slides/_rels/slide22.xml.rels><?xml version="1.0" encoding="UTF-8" standalone="yes"?>
<Relationships xmlns="http://schemas.openxmlformats.org/package/2006/relationships"><Relationship Id="rId8" Type="http://schemas.openxmlformats.org/officeDocument/2006/relationships/image" Target="../media/image126.png"/><Relationship Id="rId13" Type="http://schemas.openxmlformats.org/officeDocument/2006/relationships/image" Target="../media/image131.png"/><Relationship Id="rId18" Type="http://schemas.openxmlformats.org/officeDocument/2006/relationships/image" Target="../media/image136.png"/><Relationship Id="rId3" Type="http://schemas.openxmlformats.org/officeDocument/2006/relationships/image" Target="../media/image121.png"/><Relationship Id="rId21" Type="http://schemas.openxmlformats.org/officeDocument/2006/relationships/image" Target="../media/image26.png"/><Relationship Id="rId7" Type="http://schemas.openxmlformats.org/officeDocument/2006/relationships/image" Target="../media/image125.png"/><Relationship Id="rId12" Type="http://schemas.openxmlformats.org/officeDocument/2006/relationships/image" Target="../media/image130.png"/><Relationship Id="rId17" Type="http://schemas.openxmlformats.org/officeDocument/2006/relationships/image" Target="../media/image135.png"/><Relationship Id="rId2" Type="http://schemas.openxmlformats.org/officeDocument/2006/relationships/notesSlide" Target="../notesSlides/notesSlide22.xml"/><Relationship Id="rId16" Type="http://schemas.openxmlformats.org/officeDocument/2006/relationships/image" Target="../media/image134.png"/><Relationship Id="rId20" Type="http://schemas.openxmlformats.org/officeDocument/2006/relationships/image" Target="../media/image138.png"/><Relationship Id="rId1" Type="http://schemas.openxmlformats.org/officeDocument/2006/relationships/slideLayout" Target="../slideLayouts/slideLayout12.xml"/><Relationship Id="rId6" Type="http://schemas.openxmlformats.org/officeDocument/2006/relationships/image" Target="../media/image124.png"/><Relationship Id="rId11" Type="http://schemas.openxmlformats.org/officeDocument/2006/relationships/image" Target="../media/image129.png"/><Relationship Id="rId5" Type="http://schemas.openxmlformats.org/officeDocument/2006/relationships/image" Target="../media/image123.png"/><Relationship Id="rId15" Type="http://schemas.openxmlformats.org/officeDocument/2006/relationships/image" Target="../media/image133.png"/><Relationship Id="rId10" Type="http://schemas.openxmlformats.org/officeDocument/2006/relationships/image" Target="../media/image128.png"/><Relationship Id="rId19" Type="http://schemas.openxmlformats.org/officeDocument/2006/relationships/image" Target="../media/image137.png"/><Relationship Id="rId4" Type="http://schemas.openxmlformats.org/officeDocument/2006/relationships/image" Target="../media/image122.png"/><Relationship Id="rId9" Type="http://schemas.openxmlformats.org/officeDocument/2006/relationships/image" Target="../media/image127.png"/><Relationship Id="rId14" Type="http://schemas.openxmlformats.org/officeDocument/2006/relationships/image" Target="../media/image132.png"/></Relationships>
</file>

<file path=ppt/slides/_rels/slide23.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139.png"/><Relationship Id="rId7" Type="http://schemas.openxmlformats.org/officeDocument/2006/relationships/image" Target="../media/image143.png"/><Relationship Id="rId2" Type="http://schemas.openxmlformats.org/officeDocument/2006/relationships/notesSlide" Target="../notesSlides/notesSlide23.xml"/><Relationship Id="rId1" Type="http://schemas.openxmlformats.org/officeDocument/2006/relationships/slideLayout" Target="../slideLayouts/slideLayout12.xml"/><Relationship Id="rId6" Type="http://schemas.openxmlformats.org/officeDocument/2006/relationships/image" Target="../media/image142.png"/><Relationship Id="rId5" Type="http://schemas.openxmlformats.org/officeDocument/2006/relationships/image" Target="../media/image141.png"/><Relationship Id="rId4" Type="http://schemas.openxmlformats.org/officeDocument/2006/relationships/image" Target="../media/image140.png"/></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22.png"/></Relationships>
</file>

<file path=ppt/slides/_rels/slide25.xml.rels><?xml version="1.0" encoding="UTF-8" standalone="yes"?>
<Relationships xmlns="http://schemas.openxmlformats.org/package/2006/relationships"><Relationship Id="rId8" Type="http://schemas.openxmlformats.org/officeDocument/2006/relationships/image" Target="../media/image149.png"/><Relationship Id="rId13" Type="http://schemas.openxmlformats.org/officeDocument/2006/relationships/image" Target="../media/image154.png"/><Relationship Id="rId3" Type="http://schemas.openxmlformats.org/officeDocument/2006/relationships/image" Target="../media/image144.png"/><Relationship Id="rId7" Type="http://schemas.openxmlformats.org/officeDocument/2006/relationships/image" Target="../media/image148.png"/><Relationship Id="rId12" Type="http://schemas.openxmlformats.org/officeDocument/2006/relationships/image" Target="../media/image153.png"/><Relationship Id="rId2" Type="http://schemas.openxmlformats.org/officeDocument/2006/relationships/notesSlide" Target="../notesSlides/notesSlide25.xml"/><Relationship Id="rId1" Type="http://schemas.openxmlformats.org/officeDocument/2006/relationships/slideLayout" Target="../slideLayouts/slideLayout12.xml"/><Relationship Id="rId6" Type="http://schemas.openxmlformats.org/officeDocument/2006/relationships/image" Target="../media/image147.png"/><Relationship Id="rId11" Type="http://schemas.openxmlformats.org/officeDocument/2006/relationships/image" Target="../media/image152.png"/><Relationship Id="rId5" Type="http://schemas.openxmlformats.org/officeDocument/2006/relationships/image" Target="../media/image146.png"/><Relationship Id="rId15" Type="http://schemas.openxmlformats.org/officeDocument/2006/relationships/image" Target="../media/image26.png"/><Relationship Id="rId10" Type="http://schemas.openxmlformats.org/officeDocument/2006/relationships/image" Target="../media/image151.png"/><Relationship Id="rId4" Type="http://schemas.openxmlformats.org/officeDocument/2006/relationships/image" Target="../media/image145.png"/><Relationship Id="rId9" Type="http://schemas.openxmlformats.org/officeDocument/2006/relationships/image" Target="../media/image150.png"/><Relationship Id="rId14" Type="http://schemas.openxmlformats.org/officeDocument/2006/relationships/image" Target="../media/image155.png"/></Relationships>
</file>

<file path=ppt/slides/_rels/slide26.xml.rels><?xml version="1.0" encoding="UTF-8" standalone="yes"?>
<Relationships xmlns="http://schemas.openxmlformats.org/package/2006/relationships"><Relationship Id="rId8" Type="http://schemas.openxmlformats.org/officeDocument/2006/relationships/image" Target="../media/image158.png"/><Relationship Id="rId13" Type="http://schemas.openxmlformats.org/officeDocument/2006/relationships/image" Target="../media/image163.png"/><Relationship Id="rId3" Type="http://schemas.openxmlformats.org/officeDocument/2006/relationships/image" Target="../media/image49.png"/><Relationship Id="rId7" Type="http://schemas.openxmlformats.org/officeDocument/2006/relationships/image" Target="../media/image157.png"/><Relationship Id="rId12" Type="http://schemas.openxmlformats.org/officeDocument/2006/relationships/image" Target="../media/image162.png"/><Relationship Id="rId2" Type="http://schemas.openxmlformats.org/officeDocument/2006/relationships/notesSlide" Target="../notesSlides/notesSlide26.xml"/><Relationship Id="rId1" Type="http://schemas.openxmlformats.org/officeDocument/2006/relationships/slideLayout" Target="../slideLayouts/slideLayout12.xml"/><Relationship Id="rId6" Type="http://schemas.openxmlformats.org/officeDocument/2006/relationships/image" Target="../media/image156.png"/><Relationship Id="rId11" Type="http://schemas.openxmlformats.org/officeDocument/2006/relationships/image" Target="../media/image161.png"/><Relationship Id="rId5" Type="http://schemas.openxmlformats.org/officeDocument/2006/relationships/image" Target="../media/image51.png"/><Relationship Id="rId10" Type="http://schemas.openxmlformats.org/officeDocument/2006/relationships/image" Target="../media/image160.png"/><Relationship Id="rId4" Type="http://schemas.openxmlformats.org/officeDocument/2006/relationships/image" Target="../media/image50.png"/><Relationship Id="rId9" Type="http://schemas.openxmlformats.org/officeDocument/2006/relationships/image" Target="../media/image159.png"/><Relationship Id="rId14" Type="http://schemas.openxmlformats.org/officeDocument/2006/relationships/image" Target="../media/image26.png"/></Relationships>
</file>

<file path=ppt/slides/_rels/slide27.xml.rels><?xml version="1.0" encoding="UTF-8" standalone="yes"?>
<Relationships xmlns="http://schemas.openxmlformats.org/package/2006/relationships"><Relationship Id="rId8" Type="http://schemas.openxmlformats.org/officeDocument/2006/relationships/image" Target="../media/image75.png"/><Relationship Id="rId13" Type="http://schemas.openxmlformats.org/officeDocument/2006/relationships/image" Target="../media/image79.png"/><Relationship Id="rId3" Type="http://schemas.openxmlformats.org/officeDocument/2006/relationships/image" Target="../media/image73.png"/><Relationship Id="rId7" Type="http://schemas.openxmlformats.org/officeDocument/2006/relationships/image" Target="../media/image57.png"/><Relationship Id="rId12" Type="http://schemas.openxmlformats.org/officeDocument/2006/relationships/image" Target="../media/image78.png"/><Relationship Id="rId2" Type="http://schemas.openxmlformats.org/officeDocument/2006/relationships/notesSlide" Target="../notesSlides/notesSlide27.xml"/><Relationship Id="rId1" Type="http://schemas.openxmlformats.org/officeDocument/2006/relationships/slideLayout" Target="../slideLayouts/slideLayout12.xml"/><Relationship Id="rId6" Type="http://schemas.openxmlformats.org/officeDocument/2006/relationships/image" Target="../media/image74.png"/><Relationship Id="rId11" Type="http://schemas.openxmlformats.org/officeDocument/2006/relationships/image" Target="../media/image77.png"/><Relationship Id="rId5" Type="http://schemas.openxmlformats.org/officeDocument/2006/relationships/image" Target="../media/image22.png"/><Relationship Id="rId10" Type="http://schemas.openxmlformats.org/officeDocument/2006/relationships/image" Target="../media/image76.png"/><Relationship Id="rId4" Type="http://schemas.openxmlformats.org/officeDocument/2006/relationships/image" Target="../media/image21.png"/><Relationship Id="rId9" Type="http://schemas.openxmlformats.org/officeDocument/2006/relationships/image" Target="../media/image58.png"/><Relationship Id="rId14" Type="http://schemas.openxmlformats.org/officeDocument/2006/relationships/image" Target="../media/image80.png"/></Relationships>
</file>

<file path=ppt/slides/_rels/slide28.xml.rels><?xml version="1.0" encoding="UTF-8" standalone="yes"?>
<Relationships xmlns="http://schemas.openxmlformats.org/package/2006/relationships"><Relationship Id="rId8" Type="http://schemas.openxmlformats.org/officeDocument/2006/relationships/image" Target="../media/image167.png"/><Relationship Id="rId3" Type="http://schemas.openxmlformats.org/officeDocument/2006/relationships/image" Target="../media/image93.png"/><Relationship Id="rId7" Type="http://schemas.openxmlformats.org/officeDocument/2006/relationships/image" Target="../media/image166.png"/><Relationship Id="rId12" Type="http://schemas.openxmlformats.org/officeDocument/2006/relationships/image" Target="../media/image26.png"/><Relationship Id="rId2" Type="http://schemas.openxmlformats.org/officeDocument/2006/relationships/notesSlide" Target="../notesSlides/notesSlide28.xml"/><Relationship Id="rId1" Type="http://schemas.openxmlformats.org/officeDocument/2006/relationships/slideLayout" Target="../slideLayouts/slideLayout12.xml"/><Relationship Id="rId6" Type="http://schemas.openxmlformats.org/officeDocument/2006/relationships/image" Target="../media/image165.png"/><Relationship Id="rId11" Type="http://schemas.openxmlformats.org/officeDocument/2006/relationships/image" Target="../media/image170.png"/><Relationship Id="rId5" Type="http://schemas.openxmlformats.org/officeDocument/2006/relationships/image" Target="../media/image164.png"/><Relationship Id="rId10" Type="http://schemas.openxmlformats.org/officeDocument/2006/relationships/image" Target="../media/image169.png"/><Relationship Id="rId4" Type="http://schemas.openxmlformats.org/officeDocument/2006/relationships/image" Target="../media/image94.png"/><Relationship Id="rId9" Type="http://schemas.openxmlformats.org/officeDocument/2006/relationships/image" Target="../media/image168.png"/></Relationships>
</file>

<file path=ppt/slides/_rels/slide29.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26.png"/><Relationship Id="rId3" Type="http://schemas.openxmlformats.org/officeDocument/2006/relationships/image" Target="../media/image171.png"/><Relationship Id="rId7" Type="http://schemas.openxmlformats.org/officeDocument/2006/relationships/image" Target="../media/image175.png"/><Relationship Id="rId12" Type="http://schemas.openxmlformats.org/officeDocument/2006/relationships/image" Target="../media/image180.png"/><Relationship Id="rId2" Type="http://schemas.openxmlformats.org/officeDocument/2006/relationships/notesSlide" Target="../notesSlides/notesSlide29.xml"/><Relationship Id="rId1" Type="http://schemas.openxmlformats.org/officeDocument/2006/relationships/slideLayout" Target="../slideLayouts/slideLayout12.xml"/><Relationship Id="rId6" Type="http://schemas.openxmlformats.org/officeDocument/2006/relationships/image" Target="../media/image174.png"/><Relationship Id="rId11" Type="http://schemas.openxmlformats.org/officeDocument/2006/relationships/image" Target="../media/image179.png"/><Relationship Id="rId5" Type="http://schemas.openxmlformats.org/officeDocument/2006/relationships/image" Target="../media/image173.png"/><Relationship Id="rId10" Type="http://schemas.openxmlformats.org/officeDocument/2006/relationships/image" Target="../media/image178.png"/><Relationship Id="rId4" Type="http://schemas.openxmlformats.org/officeDocument/2006/relationships/image" Target="../media/image172.png"/><Relationship Id="rId9" Type="http://schemas.openxmlformats.org/officeDocument/2006/relationships/image" Target="../media/image177.png"/></Relationships>
</file>

<file path=ppt/slides/_rels/slide30.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181.png"/><Relationship Id="rId7" Type="http://schemas.openxmlformats.org/officeDocument/2006/relationships/image" Target="../media/image22.png"/><Relationship Id="rId2" Type="http://schemas.openxmlformats.org/officeDocument/2006/relationships/notesSlide" Target="../notesSlides/notesSlide30.xml"/><Relationship Id="rId1" Type="http://schemas.openxmlformats.org/officeDocument/2006/relationships/slideLayout" Target="../slideLayouts/slideLayout12.xml"/><Relationship Id="rId6" Type="http://schemas.openxmlformats.org/officeDocument/2006/relationships/image" Target="../media/image21.png"/><Relationship Id="rId5" Type="http://schemas.openxmlformats.org/officeDocument/2006/relationships/image" Target="../media/image183.png"/><Relationship Id="rId4" Type="http://schemas.openxmlformats.org/officeDocument/2006/relationships/image" Target="../media/image182.png"/></Relationships>
</file>

<file path=ppt/slides/_rels/slide31.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31.xml"/><Relationship Id="rId1" Type="http://schemas.openxmlformats.org/officeDocument/2006/relationships/slideLayout" Target="../slideLayouts/slideLayout12.xml"/><Relationship Id="rId6" Type="http://schemas.openxmlformats.org/officeDocument/2006/relationships/image" Target="../media/image26.png"/><Relationship Id="rId5" Type="http://schemas.openxmlformats.org/officeDocument/2006/relationships/image" Target="../media/image22.png"/><Relationship Id="rId4" Type="http://schemas.openxmlformats.org/officeDocument/2006/relationships/image" Target="../media/image21.png"/></Relationships>
</file>

<file path=ppt/slides/_rels/slide32.xml.rels><?xml version="1.0" encoding="UTF-8" standalone="yes"?>
<Relationships xmlns="http://schemas.openxmlformats.org/package/2006/relationships"><Relationship Id="rId8" Type="http://schemas.openxmlformats.org/officeDocument/2006/relationships/image" Target="../media/image75.png"/><Relationship Id="rId13" Type="http://schemas.openxmlformats.org/officeDocument/2006/relationships/image" Target="../media/image79.png"/><Relationship Id="rId3" Type="http://schemas.openxmlformats.org/officeDocument/2006/relationships/image" Target="../media/image73.png"/><Relationship Id="rId7" Type="http://schemas.openxmlformats.org/officeDocument/2006/relationships/image" Target="../media/image57.png"/><Relationship Id="rId12" Type="http://schemas.openxmlformats.org/officeDocument/2006/relationships/image" Target="../media/image78.png"/><Relationship Id="rId2" Type="http://schemas.openxmlformats.org/officeDocument/2006/relationships/notesSlide" Target="../notesSlides/notesSlide32.xml"/><Relationship Id="rId1" Type="http://schemas.openxmlformats.org/officeDocument/2006/relationships/slideLayout" Target="../slideLayouts/slideLayout12.xml"/><Relationship Id="rId6" Type="http://schemas.openxmlformats.org/officeDocument/2006/relationships/image" Target="../media/image74.png"/><Relationship Id="rId11" Type="http://schemas.openxmlformats.org/officeDocument/2006/relationships/image" Target="../media/image77.png"/><Relationship Id="rId5" Type="http://schemas.openxmlformats.org/officeDocument/2006/relationships/image" Target="../media/image22.png"/><Relationship Id="rId10" Type="http://schemas.openxmlformats.org/officeDocument/2006/relationships/image" Target="../media/image76.png"/><Relationship Id="rId4" Type="http://schemas.openxmlformats.org/officeDocument/2006/relationships/image" Target="../media/image21.png"/><Relationship Id="rId9" Type="http://schemas.openxmlformats.org/officeDocument/2006/relationships/image" Target="../media/image58.png"/><Relationship Id="rId14" Type="http://schemas.openxmlformats.org/officeDocument/2006/relationships/image" Target="../media/image80.png"/></Relationships>
</file>

<file path=ppt/slides/_rels/slide33.xml.rels><?xml version="1.0" encoding="UTF-8" standalone="yes"?>
<Relationships xmlns="http://schemas.openxmlformats.org/package/2006/relationships"><Relationship Id="rId8" Type="http://schemas.openxmlformats.org/officeDocument/2006/relationships/image" Target="../media/image186.png"/><Relationship Id="rId3" Type="http://schemas.openxmlformats.org/officeDocument/2006/relationships/image" Target="../media/image21.png"/><Relationship Id="rId7" Type="http://schemas.openxmlformats.org/officeDocument/2006/relationships/image" Target="../media/image185.png"/><Relationship Id="rId2" Type="http://schemas.openxmlformats.org/officeDocument/2006/relationships/notesSlide" Target="../notesSlides/notesSlide33.xml"/><Relationship Id="rId1" Type="http://schemas.openxmlformats.org/officeDocument/2006/relationships/slideLayout" Target="../slideLayouts/slideLayout12.xml"/><Relationship Id="rId6" Type="http://schemas.openxmlformats.org/officeDocument/2006/relationships/image" Target="../media/image184.png"/><Relationship Id="rId5" Type="http://schemas.openxmlformats.org/officeDocument/2006/relationships/image" Target="../media/image51.png"/><Relationship Id="rId4" Type="http://schemas.openxmlformats.org/officeDocument/2006/relationships/image" Target="../media/image50.png"/><Relationship Id="rId9" Type="http://schemas.openxmlformats.org/officeDocument/2006/relationships/image" Target="../media/image26.png"/></Relationships>
</file>

<file path=ppt/slides/_rels/slide34.xml.rels><?xml version="1.0" encoding="UTF-8" standalone="yes"?>
<Relationships xmlns="http://schemas.openxmlformats.org/package/2006/relationships"><Relationship Id="rId8" Type="http://schemas.openxmlformats.org/officeDocument/2006/relationships/image" Target="../media/image192.png"/><Relationship Id="rId13" Type="http://schemas.openxmlformats.org/officeDocument/2006/relationships/image" Target="../media/image197.png"/><Relationship Id="rId3" Type="http://schemas.openxmlformats.org/officeDocument/2006/relationships/image" Target="../media/image187.png"/><Relationship Id="rId7" Type="http://schemas.openxmlformats.org/officeDocument/2006/relationships/image" Target="../media/image191.png"/><Relationship Id="rId12" Type="http://schemas.openxmlformats.org/officeDocument/2006/relationships/image" Target="../media/image196.png"/><Relationship Id="rId2" Type="http://schemas.openxmlformats.org/officeDocument/2006/relationships/notesSlide" Target="../notesSlides/notesSlide34.xml"/><Relationship Id="rId1" Type="http://schemas.openxmlformats.org/officeDocument/2006/relationships/slideLayout" Target="../slideLayouts/slideLayout12.xml"/><Relationship Id="rId6" Type="http://schemas.openxmlformats.org/officeDocument/2006/relationships/image" Target="../media/image190.png"/><Relationship Id="rId11" Type="http://schemas.openxmlformats.org/officeDocument/2006/relationships/image" Target="../media/image195.png"/><Relationship Id="rId5" Type="http://schemas.openxmlformats.org/officeDocument/2006/relationships/image" Target="../media/image189.png"/><Relationship Id="rId15" Type="http://schemas.openxmlformats.org/officeDocument/2006/relationships/image" Target="../media/image26.png"/><Relationship Id="rId10" Type="http://schemas.openxmlformats.org/officeDocument/2006/relationships/image" Target="../media/image194.png"/><Relationship Id="rId4" Type="http://schemas.openxmlformats.org/officeDocument/2006/relationships/image" Target="../media/image188.png"/><Relationship Id="rId9" Type="http://schemas.openxmlformats.org/officeDocument/2006/relationships/image" Target="../media/image193.png"/><Relationship Id="rId14" Type="http://schemas.openxmlformats.org/officeDocument/2006/relationships/image" Target="../media/image198.png"/></Relationships>
</file>

<file path=ppt/slides/_rels/slide35.xml.rels><?xml version="1.0" encoding="UTF-8" standalone="yes"?>
<Relationships xmlns="http://schemas.openxmlformats.org/package/2006/relationships"><Relationship Id="rId3" Type="http://schemas.openxmlformats.org/officeDocument/2006/relationships/image" Target="../media/image199.png"/><Relationship Id="rId2" Type="http://schemas.openxmlformats.org/officeDocument/2006/relationships/notesSlide" Target="../notesSlides/notesSlide35.xml"/><Relationship Id="rId1" Type="http://schemas.openxmlformats.org/officeDocument/2006/relationships/slideLayout" Target="../slideLayouts/slideLayout12.xml"/><Relationship Id="rId6" Type="http://schemas.openxmlformats.org/officeDocument/2006/relationships/image" Target="../media/image202.png"/><Relationship Id="rId5" Type="http://schemas.openxmlformats.org/officeDocument/2006/relationships/image" Target="../media/image201.png"/><Relationship Id="rId4" Type="http://schemas.openxmlformats.org/officeDocument/2006/relationships/image" Target="../media/image200.png"/></Relationships>
</file>

<file path=ppt/slides/_rels/slide36.xml.rels><?xml version="1.0" encoding="UTF-8" standalone="yes"?>
<Relationships xmlns="http://schemas.openxmlformats.org/package/2006/relationships"><Relationship Id="rId8" Type="http://schemas.openxmlformats.org/officeDocument/2006/relationships/image" Target="../media/image206.png"/><Relationship Id="rId13" Type="http://schemas.openxmlformats.org/officeDocument/2006/relationships/image" Target="../media/image211.png"/><Relationship Id="rId3" Type="http://schemas.openxmlformats.org/officeDocument/2006/relationships/image" Target="../media/image22.png"/><Relationship Id="rId7" Type="http://schemas.openxmlformats.org/officeDocument/2006/relationships/image" Target="../media/image205.png"/><Relationship Id="rId12" Type="http://schemas.openxmlformats.org/officeDocument/2006/relationships/image" Target="../media/image210.png"/><Relationship Id="rId2" Type="http://schemas.openxmlformats.org/officeDocument/2006/relationships/notesSlide" Target="../notesSlides/notesSlide36.xml"/><Relationship Id="rId1" Type="http://schemas.openxmlformats.org/officeDocument/2006/relationships/slideLayout" Target="../slideLayouts/slideLayout12.xml"/><Relationship Id="rId6" Type="http://schemas.openxmlformats.org/officeDocument/2006/relationships/image" Target="../media/image204.png"/><Relationship Id="rId11" Type="http://schemas.openxmlformats.org/officeDocument/2006/relationships/image" Target="../media/image209.png"/><Relationship Id="rId5" Type="http://schemas.openxmlformats.org/officeDocument/2006/relationships/image" Target="../media/image203.png"/><Relationship Id="rId10" Type="http://schemas.openxmlformats.org/officeDocument/2006/relationships/image" Target="../media/image208.png"/><Relationship Id="rId4" Type="http://schemas.openxmlformats.org/officeDocument/2006/relationships/image" Target="../media/image21.png"/><Relationship Id="rId9" Type="http://schemas.openxmlformats.org/officeDocument/2006/relationships/image" Target="../media/image207.png"/><Relationship Id="rId14" Type="http://schemas.openxmlformats.org/officeDocument/2006/relationships/image" Target="../media/image26.png"/></Relationships>
</file>

<file path=ppt/slides/_rels/slide37.xml.rels><?xml version="1.0" encoding="UTF-8" standalone="yes"?>
<Relationships xmlns="http://schemas.openxmlformats.org/package/2006/relationships"><Relationship Id="rId8" Type="http://schemas.openxmlformats.org/officeDocument/2006/relationships/image" Target="../media/image217.png"/><Relationship Id="rId13" Type="http://schemas.openxmlformats.org/officeDocument/2006/relationships/image" Target="../media/image197.png"/><Relationship Id="rId3" Type="http://schemas.openxmlformats.org/officeDocument/2006/relationships/image" Target="../media/image212.png"/><Relationship Id="rId7" Type="http://schemas.openxmlformats.org/officeDocument/2006/relationships/image" Target="../media/image216.png"/><Relationship Id="rId12" Type="http://schemas.openxmlformats.org/officeDocument/2006/relationships/image" Target="../media/image221.png"/><Relationship Id="rId2" Type="http://schemas.openxmlformats.org/officeDocument/2006/relationships/notesSlide" Target="../notesSlides/notesSlide37.xml"/><Relationship Id="rId1" Type="http://schemas.openxmlformats.org/officeDocument/2006/relationships/slideLayout" Target="../slideLayouts/slideLayout12.xml"/><Relationship Id="rId6" Type="http://schemas.openxmlformats.org/officeDocument/2006/relationships/image" Target="../media/image215.png"/><Relationship Id="rId11" Type="http://schemas.openxmlformats.org/officeDocument/2006/relationships/image" Target="../media/image220.png"/><Relationship Id="rId5" Type="http://schemas.openxmlformats.org/officeDocument/2006/relationships/image" Target="../media/image214.png"/><Relationship Id="rId15" Type="http://schemas.openxmlformats.org/officeDocument/2006/relationships/image" Target="../media/image26.png"/><Relationship Id="rId10" Type="http://schemas.openxmlformats.org/officeDocument/2006/relationships/image" Target="../media/image219.png"/><Relationship Id="rId4" Type="http://schemas.openxmlformats.org/officeDocument/2006/relationships/image" Target="../media/image213.png"/><Relationship Id="rId9" Type="http://schemas.openxmlformats.org/officeDocument/2006/relationships/image" Target="../media/image218.png"/><Relationship Id="rId14" Type="http://schemas.openxmlformats.org/officeDocument/2006/relationships/image" Target="../media/image198.png"/></Relationships>
</file>

<file path=ppt/slides/_rels/slide38.xml.rels><?xml version="1.0" encoding="UTF-8" standalone="yes"?>
<Relationships xmlns="http://schemas.openxmlformats.org/package/2006/relationships"><Relationship Id="rId8" Type="http://schemas.openxmlformats.org/officeDocument/2006/relationships/image" Target="../media/image224.jpeg"/><Relationship Id="rId3" Type="http://schemas.openxmlformats.org/officeDocument/2006/relationships/image" Target="../media/image197.png"/><Relationship Id="rId7" Type="http://schemas.openxmlformats.org/officeDocument/2006/relationships/image" Target="../media/image223.jpeg"/><Relationship Id="rId2" Type="http://schemas.openxmlformats.org/officeDocument/2006/relationships/notesSlide" Target="../notesSlides/notesSlide38.xml"/><Relationship Id="rId1" Type="http://schemas.openxmlformats.org/officeDocument/2006/relationships/slideLayout" Target="../slideLayouts/slideLayout12.xml"/><Relationship Id="rId6" Type="http://schemas.openxmlformats.org/officeDocument/2006/relationships/image" Target="../media/image222.png"/><Relationship Id="rId11" Type="http://schemas.openxmlformats.org/officeDocument/2006/relationships/image" Target="../media/image227.jpeg"/><Relationship Id="rId5" Type="http://schemas.openxmlformats.org/officeDocument/2006/relationships/image" Target="../media/image20.png"/><Relationship Id="rId10" Type="http://schemas.openxmlformats.org/officeDocument/2006/relationships/image" Target="../media/image226.jpeg"/><Relationship Id="rId4" Type="http://schemas.openxmlformats.org/officeDocument/2006/relationships/image" Target="../media/image198.png"/><Relationship Id="rId9" Type="http://schemas.openxmlformats.org/officeDocument/2006/relationships/image" Target="../media/image225.jpeg"/></Relationships>
</file>

<file path=ppt/slides/_rels/slide3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39.xml"/><Relationship Id="rId1" Type="http://schemas.openxmlformats.org/officeDocument/2006/relationships/slideLayout" Target="../slideLayouts/slideLayout12.xml"/><Relationship Id="rId5" Type="http://schemas.openxmlformats.org/officeDocument/2006/relationships/image" Target="../media/image228.png"/><Relationship Id="rId4" Type="http://schemas.openxmlformats.org/officeDocument/2006/relationships/image" Target="../media/image67.png"/></Relationships>
</file>

<file path=ppt/slides/_rels/slide40.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hyperlink" Target="https://datacoe.vercel.app/" TargetMode="External"/><Relationship Id="rId7" Type="http://schemas.openxmlformats.org/officeDocument/2006/relationships/image" Target="../media/image229.png"/><Relationship Id="rId2" Type="http://schemas.openxmlformats.org/officeDocument/2006/relationships/notesSlide" Target="../notesSlides/notesSlide40.xml"/><Relationship Id="rId1" Type="http://schemas.openxmlformats.org/officeDocument/2006/relationships/slideLayout" Target="../slideLayouts/slideLayout13.xml"/><Relationship Id="rId6" Type="http://schemas.openxmlformats.org/officeDocument/2006/relationships/hyperlink" Target="https://data-coe.vercel.app/" TargetMode="External"/><Relationship Id="rId5" Type="http://schemas.openxmlformats.org/officeDocument/2006/relationships/image" Target="../media/image197.png"/><Relationship Id="rId4" Type="http://schemas.openxmlformats.org/officeDocument/2006/relationships/image" Target="../media/image198.png"/></Relationships>
</file>

<file path=ppt/slides/_rels/slide41.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230.png"/><Relationship Id="rId7" Type="http://schemas.openxmlformats.org/officeDocument/2006/relationships/image" Target="../media/image234.png"/><Relationship Id="rId2" Type="http://schemas.openxmlformats.org/officeDocument/2006/relationships/notesSlide" Target="../notesSlides/notesSlide41.xml"/><Relationship Id="rId1" Type="http://schemas.openxmlformats.org/officeDocument/2006/relationships/slideLayout" Target="../slideLayouts/slideLayout12.xml"/><Relationship Id="rId6" Type="http://schemas.openxmlformats.org/officeDocument/2006/relationships/image" Target="../media/image233.png"/><Relationship Id="rId5" Type="http://schemas.openxmlformats.org/officeDocument/2006/relationships/image" Target="../media/image232.png"/><Relationship Id="rId4" Type="http://schemas.openxmlformats.org/officeDocument/2006/relationships/image" Target="../media/image231.png"/></Relationships>
</file>

<file path=ppt/slides/_rels/slide42.xml.rels><?xml version="1.0" encoding="UTF-8" standalone="yes"?>
<Relationships xmlns="http://schemas.openxmlformats.org/package/2006/relationships"><Relationship Id="rId8" Type="http://schemas.openxmlformats.org/officeDocument/2006/relationships/image" Target="../media/image238.png"/><Relationship Id="rId13" Type="http://schemas.openxmlformats.org/officeDocument/2006/relationships/image" Target="../media/image243.png"/><Relationship Id="rId18" Type="http://schemas.openxmlformats.org/officeDocument/2006/relationships/image" Target="../media/image248.png"/><Relationship Id="rId3" Type="http://schemas.openxmlformats.org/officeDocument/2006/relationships/image" Target="../media/image235.png"/><Relationship Id="rId7" Type="http://schemas.openxmlformats.org/officeDocument/2006/relationships/image" Target="../media/image237.png"/><Relationship Id="rId12" Type="http://schemas.openxmlformats.org/officeDocument/2006/relationships/image" Target="../media/image242.png"/><Relationship Id="rId17" Type="http://schemas.openxmlformats.org/officeDocument/2006/relationships/image" Target="../media/image247.png"/><Relationship Id="rId2" Type="http://schemas.openxmlformats.org/officeDocument/2006/relationships/notesSlide" Target="../notesSlides/notesSlide42.xml"/><Relationship Id="rId16" Type="http://schemas.openxmlformats.org/officeDocument/2006/relationships/image" Target="../media/image246.png"/><Relationship Id="rId20" Type="http://schemas.openxmlformats.org/officeDocument/2006/relationships/image" Target="../media/image26.png"/><Relationship Id="rId1" Type="http://schemas.openxmlformats.org/officeDocument/2006/relationships/slideLayout" Target="../slideLayouts/slideLayout12.xml"/><Relationship Id="rId6" Type="http://schemas.openxmlformats.org/officeDocument/2006/relationships/image" Target="../media/image236.png"/><Relationship Id="rId11" Type="http://schemas.openxmlformats.org/officeDocument/2006/relationships/image" Target="../media/image241.png"/><Relationship Id="rId5" Type="http://schemas.openxmlformats.org/officeDocument/2006/relationships/image" Target="../media/image67.png"/><Relationship Id="rId15" Type="http://schemas.openxmlformats.org/officeDocument/2006/relationships/image" Target="../media/image245.png"/><Relationship Id="rId10" Type="http://schemas.openxmlformats.org/officeDocument/2006/relationships/image" Target="../media/image240.png"/><Relationship Id="rId19" Type="http://schemas.openxmlformats.org/officeDocument/2006/relationships/image" Target="../media/image249.png"/><Relationship Id="rId4" Type="http://schemas.openxmlformats.org/officeDocument/2006/relationships/image" Target="../media/image66.png"/><Relationship Id="rId9" Type="http://schemas.openxmlformats.org/officeDocument/2006/relationships/image" Target="../media/image239.png"/><Relationship Id="rId14" Type="http://schemas.openxmlformats.org/officeDocument/2006/relationships/image" Target="../media/image244.png"/></Relationships>
</file>

<file path=ppt/slides/_rels/slide43.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43.xml"/><Relationship Id="rId1" Type="http://schemas.openxmlformats.org/officeDocument/2006/relationships/slideLayout" Target="../slideLayouts/slideLayout12.xml"/><Relationship Id="rId6" Type="http://schemas.openxmlformats.org/officeDocument/2006/relationships/image" Target="../media/image26.png"/><Relationship Id="rId5" Type="http://schemas.openxmlformats.org/officeDocument/2006/relationships/image" Target="../media/image252.png"/><Relationship Id="rId4" Type="http://schemas.openxmlformats.org/officeDocument/2006/relationships/image" Target="../media/image251.png"/></Relationships>
</file>

<file path=ppt/slides/_rels/slide44.xml.rels><?xml version="1.0" encoding="UTF-8" standalone="yes"?>
<Relationships xmlns="http://schemas.openxmlformats.org/package/2006/relationships"><Relationship Id="rId8" Type="http://schemas.openxmlformats.org/officeDocument/2006/relationships/image" Target="../media/image258.png"/><Relationship Id="rId3" Type="http://schemas.openxmlformats.org/officeDocument/2006/relationships/image" Target="../media/image253.png"/><Relationship Id="rId7" Type="http://schemas.openxmlformats.org/officeDocument/2006/relationships/image" Target="../media/image257.png"/><Relationship Id="rId2" Type="http://schemas.openxmlformats.org/officeDocument/2006/relationships/notesSlide" Target="../notesSlides/notesSlide44.xml"/><Relationship Id="rId1" Type="http://schemas.openxmlformats.org/officeDocument/2006/relationships/slideLayout" Target="../slideLayouts/slideLayout12.xml"/><Relationship Id="rId6" Type="http://schemas.openxmlformats.org/officeDocument/2006/relationships/image" Target="../media/image256.png"/><Relationship Id="rId5" Type="http://schemas.openxmlformats.org/officeDocument/2006/relationships/image" Target="../media/image255.png"/><Relationship Id="rId4" Type="http://schemas.openxmlformats.org/officeDocument/2006/relationships/image" Target="../media/image254.png"/></Relationships>
</file>

<file path=ppt/slides/_rels/slide45.xml.rels><?xml version="1.0" encoding="UTF-8" standalone="yes"?>
<Relationships xmlns="http://schemas.openxmlformats.org/package/2006/relationships"><Relationship Id="rId8" Type="http://schemas.openxmlformats.org/officeDocument/2006/relationships/image" Target="../media/image254.png"/><Relationship Id="rId3" Type="http://schemas.openxmlformats.org/officeDocument/2006/relationships/image" Target="../media/image259.png"/><Relationship Id="rId7" Type="http://schemas.openxmlformats.org/officeDocument/2006/relationships/image" Target="../media/image257.png"/><Relationship Id="rId12" Type="http://schemas.openxmlformats.org/officeDocument/2006/relationships/image" Target="../media/image265.png"/><Relationship Id="rId2" Type="http://schemas.openxmlformats.org/officeDocument/2006/relationships/notesSlide" Target="../notesSlides/notesSlide45.xml"/><Relationship Id="rId1" Type="http://schemas.openxmlformats.org/officeDocument/2006/relationships/slideLayout" Target="../slideLayouts/slideLayout12.xml"/><Relationship Id="rId6" Type="http://schemas.openxmlformats.org/officeDocument/2006/relationships/image" Target="../media/image262.png"/><Relationship Id="rId11" Type="http://schemas.openxmlformats.org/officeDocument/2006/relationships/image" Target="../media/image264.png"/><Relationship Id="rId5" Type="http://schemas.openxmlformats.org/officeDocument/2006/relationships/image" Target="../media/image261.png"/><Relationship Id="rId10" Type="http://schemas.openxmlformats.org/officeDocument/2006/relationships/image" Target="../media/image255.png"/><Relationship Id="rId4" Type="http://schemas.openxmlformats.org/officeDocument/2006/relationships/image" Target="../media/image260.png"/><Relationship Id="rId9" Type="http://schemas.openxmlformats.org/officeDocument/2006/relationships/image" Target="../media/image263.png"/></Relationships>
</file>

<file path=ppt/slides/_rels/slide46.xml.rels><?xml version="1.0" encoding="UTF-8" standalone="yes"?>
<Relationships xmlns="http://schemas.openxmlformats.org/package/2006/relationships"><Relationship Id="rId3" Type="http://schemas.openxmlformats.org/officeDocument/2006/relationships/image" Target="../media/image266.png"/><Relationship Id="rId2" Type="http://schemas.openxmlformats.org/officeDocument/2006/relationships/notesSlide" Target="../notesSlides/notesSlide46.xml"/><Relationship Id="rId1" Type="http://schemas.openxmlformats.org/officeDocument/2006/relationships/slideLayout" Target="../slideLayouts/slideLayout12.xml"/><Relationship Id="rId4" Type="http://schemas.openxmlformats.org/officeDocument/2006/relationships/image" Target="../media/image267.png"/></Relationships>
</file>

<file path=ppt/slides/_rels/slide47.xml.rels><?xml version="1.0" encoding="UTF-8" standalone="yes"?>
<Relationships xmlns="http://schemas.openxmlformats.org/package/2006/relationships"><Relationship Id="rId8" Type="http://schemas.openxmlformats.org/officeDocument/2006/relationships/image" Target="../media/image262.png"/><Relationship Id="rId3" Type="http://schemas.openxmlformats.org/officeDocument/2006/relationships/image" Target="../media/image268.png"/><Relationship Id="rId7" Type="http://schemas.openxmlformats.org/officeDocument/2006/relationships/image" Target="../media/image272.png"/><Relationship Id="rId2" Type="http://schemas.openxmlformats.org/officeDocument/2006/relationships/notesSlide" Target="../notesSlides/notesSlide47.xml"/><Relationship Id="rId1" Type="http://schemas.openxmlformats.org/officeDocument/2006/relationships/slideLayout" Target="../slideLayouts/slideLayout12.xml"/><Relationship Id="rId6" Type="http://schemas.openxmlformats.org/officeDocument/2006/relationships/image" Target="../media/image271.png"/><Relationship Id="rId5" Type="http://schemas.openxmlformats.org/officeDocument/2006/relationships/image" Target="../media/image270.png"/><Relationship Id="rId10" Type="http://schemas.openxmlformats.org/officeDocument/2006/relationships/image" Target="../media/image274.png"/><Relationship Id="rId4" Type="http://schemas.openxmlformats.org/officeDocument/2006/relationships/image" Target="../media/image269.png"/><Relationship Id="rId9" Type="http://schemas.openxmlformats.org/officeDocument/2006/relationships/image" Target="../media/image273.png"/></Relationships>
</file>

<file path=ppt/slides/_rels/slide4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2.xml"/></Relationships>
</file>

<file path=ppt/slides/_rels/slide50.xml.rels><?xml version="1.0" encoding="UTF-8" standalone="yes"?>
<Relationships xmlns="http://schemas.openxmlformats.org/package/2006/relationships"><Relationship Id="rId3" Type="http://schemas.openxmlformats.org/officeDocument/2006/relationships/image" Target="../media/image275.png"/><Relationship Id="rId2" Type="http://schemas.openxmlformats.org/officeDocument/2006/relationships/notesSlide" Target="../notesSlides/notesSlide50.xml"/><Relationship Id="rId1" Type="http://schemas.openxmlformats.org/officeDocument/2006/relationships/slideLayout" Target="../slideLayouts/slideLayout12.xml"/><Relationship Id="rId4" Type="http://schemas.openxmlformats.org/officeDocument/2006/relationships/image" Target="../media/image276.png"/></Relationships>
</file>

<file path=ppt/slides/_rels/slide51.xml.rels><?xml version="1.0" encoding="UTF-8" standalone="yes"?>
<Relationships xmlns="http://schemas.openxmlformats.org/package/2006/relationships"><Relationship Id="rId3" Type="http://schemas.openxmlformats.org/officeDocument/2006/relationships/image" Target="../media/image277.png"/><Relationship Id="rId2" Type="http://schemas.openxmlformats.org/officeDocument/2006/relationships/notesSlide" Target="../notesSlides/notesSlide51.xml"/><Relationship Id="rId1" Type="http://schemas.openxmlformats.org/officeDocument/2006/relationships/slideLayout" Target="../slideLayouts/slideLayout12.xml"/><Relationship Id="rId4" Type="http://schemas.openxmlformats.org/officeDocument/2006/relationships/image" Target="../media/image278.png"/></Relationships>
</file>

<file path=ppt/slides/_rels/slide52.xml.rels><?xml version="1.0" encoding="UTF-8" standalone="yes"?>
<Relationships xmlns="http://schemas.openxmlformats.org/package/2006/relationships"><Relationship Id="rId3" Type="http://schemas.openxmlformats.org/officeDocument/2006/relationships/image" Target="../media/image277.png"/><Relationship Id="rId2" Type="http://schemas.openxmlformats.org/officeDocument/2006/relationships/notesSlide" Target="../notesSlides/notesSlide52.xml"/><Relationship Id="rId1" Type="http://schemas.openxmlformats.org/officeDocument/2006/relationships/slideLayout" Target="../slideLayouts/slideLayout12.xml"/><Relationship Id="rId4" Type="http://schemas.openxmlformats.org/officeDocument/2006/relationships/image" Target="../media/image278.png"/></Relationships>
</file>

<file path=ppt/slides/_rels/slide53.xml.rels><?xml version="1.0" encoding="UTF-8" standalone="yes"?>
<Relationships xmlns="http://schemas.openxmlformats.org/package/2006/relationships"><Relationship Id="rId3" Type="http://schemas.openxmlformats.org/officeDocument/2006/relationships/image" Target="../media/image275.png"/><Relationship Id="rId2" Type="http://schemas.openxmlformats.org/officeDocument/2006/relationships/notesSlide" Target="../notesSlides/notesSlide53.xml"/><Relationship Id="rId1" Type="http://schemas.openxmlformats.org/officeDocument/2006/relationships/slideLayout" Target="../slideLayouts/slideLayout12.xml"/><Relationship Id="rId4" Type="http://schemas.openxmlformats.org/officeDocument/2006/relationships/image" Target="../media/image276.png"/></Relationships>
</file>

<file path=ppt/slides/_rels/slide54.xml.rels><?xml version="1.0" encoding="UTF-8" standalone="yes"?>
<Relationships xmlns="http://schemas.openxmlformats.org/package/2006/relationships"><Relationship Id="rId8" Type="http://schemas.openxmlformats.org/officeDocument/2006/relationships/image" Target="../media/image16.jpeg"/><Relationship Id="rId3" Type="http://schemas.openxmlformats.org/officeDocument/2006/relationships/image" Target="../media/image279.png"/><Relationship Id="rId7" Type="http://schemas.openxmlformats.org/officeDocument/2006/relationships/image" Target="../media/image14.png"/><Relationship Id="rId2" Type="http://schemas.openxmlformats.org/officeDocument/2006/relationships/notesSlide" Target="../notesSlides/notesSlide54.xml"/><Relationship Id="rId1" Type="http://schemas.openxmlformats.org/officeDocument/2006/relationships/slideLayout" Target="../slideLayouts/slideLayout12.xml"/><Relationship Id="rId6" Type="http://schemas.openxmlformats.org/officeDocument/2006/relationships/image" Target="../media/image8.png"/><Relationship Id="rId5" Type="http://schemas.openxmlformats.org/officeDocument/2006/relationships/image" Target="../media/image6.png"/><Relationship Id="rId10" Type="http://schemas.openxmlformats.org/officeDocument/2006/relationships/image" Target="../media/image282.png"/><Relationship Id="rId4" Type="http://schemas.openxmlformats.org/officeDocument/2006/relationships/image" Target="../media/image280.png"/><Relationship Id="rId9" Type="http://schemas.openxmlformats.org/officeDocument/2006/relationships/image" Target="../media/image281.png"/></Relationships>
</file>

<file path=ppt/slides/_rels/slide55.xml.rels><?xml version="1.0" encoding="UTF-8" standalone="yes"?>
<Relationships xmlns="http://schemas.openxmlformats.org/package/2006/relationships"><Relationship Id="rId3" Type="http://schemas.openxmlformats.org/officeDocument/2006/relationships/image" Target="../media/image283.png"/><Relationship Id="rId2" Type="http://schemas.openxmlformats.org/officeDocument/2006/relationships/notesSlide" Target="../notesSlides/notesSlide55.xml"/><Relationship Id="rId1" Type="http://schemas.openxmlformats.org/officeDocument/2006/relationships/slideLayout" Target="../slideLayouts/slideLayout12.xml"/><Relationship Id="rId5" Type="http://schemas.openxmlformats.org/officeDocument/2006/relationships/image" Target="../media/image285.png"/><Relationship Id="rId4" Type="http://schemas.openxmlformats.org/officeDocument/2006/relationships/image" Target="../media/image284.png"/></Relationships>
</file>

<file path=ppt/slides/_rels/slide56.xml.rels><?xml version="1.0" encoding="UTF-8" standalone="yes"?>
<Relationships xmlns="http://schemas.openxmlformats.org/package/2006/relationships"><Relationship Id="rId3" Type="http://schemas.openxmlformats.org/officeDocument/2006/relationships/image" Target="../media/image286.png"/><Relationship Id="rId7" Type="http://schemas.openxmlformats.org/officeDocument/2006/relationships/image" Target="../media/image290.png"/><Relationship Id="rId2" Type="http://schemas.openxmlformats.org/officeDocument/2006/relationships/notesSlide" Target="../notesSlides/notesSlide56.xml"/><Relationship Id="rId1" Type="http://schemas.openxmlformats.org/officeDocument/2006/relationships/slideLayout" Target="../slideLayouts/slideLayout12.xml"/><Relationship Id="rId6" Type="http://schemas.openxmlformats.org/officeDocument/2006/relationships/image" Target="../media/image289.png"/><Relationship Id="rId5" Type="http://schemas.openxmlformats.org/officeDocument/2006/relationships/image" Target="../media/image288.png"/><Relationship Id="rId4" Type="http://schemas.openxmlformats.org/officeDocument/2006/relationships/image" Target="../media/image287.png"/></Relationships>
</file>

<file path=ppt/slides/_rels/slide57.xml.rels><?xml version="1.0" encoding="UTF-8" standalone="yes"?>
<Relationships xmlns="http://schemas.openxmlformats.org/package/2006/relationships"><Relationship Id="rId8" Type="http://schemas.openxmlformats.org/officeDocument/2006/relationships/image" Target="../media/image296.png"/><Relationship Id="rId3" Type="http://schemas.openxmlformats.org/officeDocument/2006/relationships/image" Target="../media/image291.png"/><Relationship Id="rId7" Type="http://schemas.openxmlformats.org/officeDocument/2006/relationships/image" Target="../media/image295.png"/><Relationship Id="rId2" Type="http://schemas.openxmlformats.org/officeDocument/2006/relationships/notesSlide" Target="../notesSlides/notesSlide57.xml"/><Relationship Id="rId1" Type="http://schemas.openxmlformats.org/officeDocument/2006/relationships/slideLayout" Target="../slideLayouts/slideLayout12.xml"/><Relationship Id="rId6" Type="http://schemas.openxmlformats.org/officeDocument/2006/relationships/image" Target="../media/image294.png"/><Relationship Id="rId5" Type="http://schemas.openxmlformats.org/officeDocument/2006/relationships/image" Target="../media/image293.png"/><Relationship Id="rId10" Type="http://schemas.openxmlformats.org/officeDocument/2006/relationships/image" Target="../media/image285.png"/><Relationship Id="rId4" Type="http://schemas.openxmlformats.org/officeDocument/2006/relationships/image" Target="../media/image292.png"/><Relationship Id="rId9" Type="http://schemas.openxmlformats.org/officeDocument/2006/relationships/image" Target="../media/image297.png"/></Relationships>
</file>

<file path=ppt/slides/_rels/slide58.xml.rels><?xml version="1.0" encoding="UTF-8" standalone="yes"?>
<Relationships xmlns="http://schemas.openxmlformats.org/package/2006/relationships"><Relationship Id="rId3" Type="http://schemas.openxmlformats.org/officeDocument/2006/relationships/image" Target="../media/image298.png"/><Relationship Id="rId2" Type="http://schemas.openxmlformats.org/officeDocument/2006/relationships/notesSlide" Target="../notesSlides/notesSlide58.xml"/><Relationship Id="rId1" Type="http://schemas.openxmlformats.org/officeDocument/2006/relationships/slideLayout" Target="../slideLayouts/slideLayout12.xml"/><Relationship Id="rId6" Type="http://schemas.openxmlformats.org/officeDocument/2006/relationships/image" Target="../media/image280.png"/><Relationship Id="rId5" Type="http://schemas.openxmlformats.org/officeDocument/2006/relationships/image" Target="../media/image281.png"/><Relationship Id="rId4" Type="http://schemas.openxmlformats.org/officeDocument/2006/relationships/image" Target="../media/image29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0F0"/>
          </a:solidFill>
          <a:ln w="12700">
            <a:solidFill>
              <a:srgbClr val="FFFFFF">
                <a:alpha val="0"/>
              </a:srgbClr>
            </a:solidFill>
            <a:prstDash val="solid"/>
          </a:ln>
        </p:spPr>
        <p:txBody>
          <a:bodyPr/>
          <a:lstStyle/>
          <a:p>
            <a:endParaRPr lang="en-US"/>
          </a:p>
        </p:txBody>
      </p:sp>
      <p:sp>
        <p:nvSpPr>
          <p:cNvPr id="3" name="Shape 1"/>
          <p:cNvSpPr/>
          <p:nvPr/>
        </p:nvSpPr>
        <p:spPr>
          <a:xfrm>
            <a:off x="305" y="0"/>
            <a:ext cx="12191695" cy="6858000"/>
          </a:xfrm>
          <a:prstGeom prst="rect">
            <a:avLst/>
          </a:prstGeom>
          <a:solidFill>
            <a:srgbClr val="FFFFFF"/>
          </a:solidFill>
          <a:ln w="12700">
            <a:solidFill>
              <a:srgbClr val="FFFFFF">
                <a:alpha val="0"/>
              </a:srgbClr>
            </a:solidFill>
            <a:prstDash val="solid"/>
          </a:ln>
        </p:spPr>
        <p:txBody>
          <a:bodyPr/>
          <a:lstStyle/>
          <a:p>
            <a:pPr algn="ctr"/>
            <a:endParaRPr lang="en-US"/>
          </a:p>
        </p:txBody>
      </p:sp>
      <p:pic>
        <p:nvPicPr>
          <p:cNvPr id="4" name="Image 0" descr="preencoded.png"/>
          <p:cNvPicPr>
            <a:picLocks noChangeAspect="1"/>
          </p:cNvPicPr>
          <p:nvPr/>
        </p:nvPicPr>
        <p:blipFill>
          <a:blip r:embed="rId3"/>
          <a:srcRect/>
          <a:stretch/>
        </p:blipFill>
        <p:spPr>
          <a:xfrm>
            <a:off x="9334195" y="0"/>
            <a:ext cx="2857500" cy="2857500"/>
          </a:xfrm>
          <a:prstGeom prst="rect">
            <a:avLst/>
          </a:prstGeom>
        </p:spPr>
      </p:pic>
      <p:sp>
        <p:nvSpPr>
          <p:cNvPr id="5" name="Shape 2"/>
          <p:cNvSpPr/>
          <p:nvPr/>
        </p:nvSpPr>
        <p:spPr>
          <a:xfrm>
            <a:off x="0" y="5905195"/>
            <a:ext cx="3810305" cy="952805"/>
          </a:xfrm>
          <a:custGeom>
            <a:avLst/>
            <a:gdLst/>
            <a:ahLst/>
            <a:cxnLst/>
            <a:rect l="l" t="t" r="r" b="b"/>
            <a:pathLst>
              <a:path w="3810305" h="952805">
                <a:moveTo>
                  <a:pt x="0" y="952805"/>
                </a:moveTo>
                <a:lnTo>
                  <a:pt x="3810305" y="952805"/>
                </a:lnTo>
                <a:lnTo>
                  <a:pt x="0" y="0"/>
                </a:lnTo>
                <a:close/>
              </a:path>
            </a:pathLst>
          </a:custGeom>
          <a:solidFill>
            <a:srgbClr val="D62839">
              <a:alpha val="3000"/>
            </a:srgbClr>
          </a:solidFill>
          <a:ln/>
        </p:spPr>
        <p:txBody>
          <a:bodyPr/>
          <a:lstStyle/>
          <a:p>
            <a:endParaRPr lang="en-US"/>
          </a:p>
        </p:txBody>
      </p:sp>
      <p:sp>
        <p:nvSpPr>
          <p:cNvPr id="8" name="Text 3"/>
          <p:cNvSpPr txBox="1"/>
          <p:nvPr/>
        </p:nvSpPr>
        <p:spPr>
          <a:xfrm>
            <a:off x="2774290" y="3881628"/>
            <a:ext cx="6648602" cy="267005"/>
          </a:xfrm>
          <a:prstGeom prst="rect">
            <a:avLst/>
          </a:prstGeom>
          <a:noFill/>
          <a:ln/>
        </p:spPr>
        <p:txBody>
          <a:bodyPr wrap="square" lIns="0" tIns="0" rIns="0" bIns="0" rtlCol="0" anchor="ctr"/>
          <a:lstStyle/>
          <a:p>
            <a:pPr marL="0" indent="0" algn="ctr">
              <a:buNone/>
            </a:pPr>
            <a:r>
              <a:rPr lang="en-US" sz="1500" b="1">
                <a:solidFill>
                  <a:srgbClr val="4B5563"/>
                </a:solidFill>
                <a:latin typeface="Roboto Condensed" pitchFamily="34" charset="0"/>
                <a:ea typeface="Roboto Condensed" pitchFamily="34" charset="-122"/>
                <a:cs typeface="Roboto Condensed" pitchFamily="34" charset="-120"/>
              </a:rPr>
              <a:t>BUSINESS DRIVERS</a:t>
            </a:r>
            <a:r>
              <a:rPr lang="en-US" sz="1200" b="1">
                <a:solidFill>
                  <a:srgbClr val="D62839"/>
                </a:solidFill>
                <a:latin typeface="Raleway" pitchFamily="34" charset="0"/>
                <a:ea typeface="Raleway" pitchFamily="34" charset="-122"/>
                <a:cs typeface="Raleway" pitchFamily="34" charset="-120"/>
              </a:rPr>
              <a:t>|</a:t>
            </a:r>
            <a:r>
              <a:rPr lang="en-US" sz="1500" b="1">
                <a:solidFill>
                  <a:srgbClr val="4B5563"/>
                </a:solidFill>
                <a:latin typeface="Roboto Condensed" pitchFamily="34" charset="0"/>
                <a:ea typeface="Roboto Condensed" pitchFamily="34" charset="-122"/>
                <a:cs typeface="Roboto Condensed" pitchFamily="34" charset="-120"/>
              </a:rPr>
              <a:t> TECHNOLOGY ACCELERATORS </a:t>
            </a:r>
            <a:r>
              <a:rPr lang="en-US" sz="1200" b="1">
                <a:solidFill>
                  <a:srgbClr val="D62839"/>
                </a:solidFill>
                <a:latin typeface="Raleway" pitchFamily="34" charset="0"/>
                <a:ea typeface="Raleway" pitchFamily="34" charset="-122"/>
                <a:cs typeface="Raleway" pitchFamily="34" charset="-120"/>
              </a:rPr>
              <a:t>|</a:t>
            </a:r>
            <a:r>
              <a:rPr lang="en-US" sz="1500" b="1">
                <a:solidFill>
                  <a:srgbClr val="4B5563"/>
                </a:solidFill>
                <a:latin typeface="Roboto Condensed" pitchFamily="34" charset="0"/>
                <a:ea typeface="Roboto Condensed" pitchFamily="34" charset="-122"/>
                <a:cs typeface="Roboto Condensed" pitchFamily="34" charset="-120"/>
              </a:rPr>
              <a:t> GAME CHANGERS </a:t>
            </a:r>
            <a:endParaRPr lang="en-US" sz="1200"/>
          </a:p>
        </p:txBody>
      </p:sp>
      <p:sp>
        <p:nvSpPr>
          <p:cNvPr id="9" name="Text 4"/>
          <p:cNvSpPr txBox="1"/>
          <p:nvPr/>
        </p:nvSpPr>
        <p:spPr>
          <a:xfrm>
            <a:off x="4153205" y="4262933"/>
            <a:ext cx="3893515" cy="305410"/>
          </a:xfrm>
          <a:prstGeom prst="rect">
            <a:avLst/>
          </a:prstGeom>
          <a:noFill/>
          <a:ln/>
        </p:spPr>
        <p:txBody>
          <a:bodyPr wrap="square" lIns="0" tIns="0" rIns="0" bIns="0" rtlCol="0" anchor="ctr"/>
          <a:lstStyle/>
          <a:p>
            <a:pPr marL="0" indent="0" algn="ctr">
              <a:buNone/>
            </a:pPr>
            <a:r>
              <a:rPr lang="en-US" sz="1800" i="1">
                <a:solidFill>
                  <a:srgbClr val="D62839"/>
                </a:solidFill>
                <a:latin typeface="Raleway" pitchFamily="34" charset="0"/>
                <a:ea typeface="Raleway" pitchFamily="34" charset="-122"/>
                <a:cs typeface="Raleway" pitchFamily="34" charset="-120"/>
              </a:rPr>
              <a:t>Energy. Excellence. Innovation.</a:t>
            </a:r>
            <a:endParaRPr lang="en-US" sz="1800"/>
          </a:p>
        </p:txBody>
      </p:sp>
      <p:sp>
        <p:nvSpPr>
          <p:cNvPr id="11" name="Text 5"/>
          <p:cNvSpPr txBox="1"/>
          <p:nvPr/>
        </p:nvSpPr>
        <p:spPr>
          <a:xfrm>
            <a:off x="1287018" y="2262226"/>
            <a:ext cx="9475927" cy="1143000"/>
          </a:xfrm>
          <a:prstGeom prst="rect">
            <a:avLst/>
          </a:prstGeom>
          <a:noFill/>
          <a:ln/>
        </p:spPr>
        <p:txBody>
          <a:bodyPr wrap="square" lIns="0" tIns="0" rIns="0" bIns="0" rtlCol="0" anchor="ctr"/>
          <a:lstStyle/>
          <a:p>
            <a:pPr marL="0" indent="0" algn="ctr">
              <a:buNone/>
            </a:pPr>
            <a:r>
              <a:rPr lang="en-US" sz="3600" b="1" dirty="0">
                <a:solidFill>
                  <a:srgbClr val="1F2937"/>
                </a:solidFill>
                <a:latin typeface="Oswald" pitchFamily="34" charset="0"/>
                <a:ea typeface="Oswald" pitchFamily="34" charset="-122"/>
                <a:cs typeface="Oswald" pitchFamily="34" charset="-120"/>
              </a:rPr>
              <a:t> Building the Enterprise Operating Model​</a:t>
            </a:r>
          </a:p>
          <a:p>
            <a:pPr marL="0" indent="0" algn="ctr">
              <a:buNone/>
            </a:pPr>
            <a:r>
              <a:rPr lang="en-US" sz="3600" b="1" dirty="0">
                <a:solidFill>
                  <a:srgbClr val="1F2937"/>
                </a:solidFill>
                <a:latin typeface="Oswald" pitchFamily="34" charset="0"/>
                <a:ea typeface="Oswald" pitchFamily="34" charset="-122"/>
                <a:cs typeface="Oswald" pitchFamily="34" charset="-120"/>
              </a:rPr>
              <a:t>for the Next Decade​</a:t>
            </a:r>
          </a:p>
        </p:txBody>
      </p:sp>
      <p:pic>
        <p:nvPicPr>
          <p:cNvPr id="12" name="Image 4" descr="preencoded.png"/>
          <p:cNvPicPr>
            <a:picLocks noChangeAspect="1"/>
          </p:cNvPicPr>
          <p:nvPr/>
        </p:nvPicPr>
        <p:blipFill>
          <a:blip r:embed="rId4"/>
          <a:srcRect t="-400" b="-400"/>
          <a:stretch/>
        </p:blipFill>
        <p:spPr>
          <a:xfrm>
            <a:off x="5639105" y="3596335"/>
            <a:ext cx="914400" cy="57607"/>
          </a:xfrm>
          <a:prstGeom prst="rect">
            <a:avLst/>
          </a:prstGeom>
        </p:spPr>
      </p:pic>
      <p:sp>
        <p:nvSpPr>
          <p:cNvPr id="13" name="Shape 6"/>
          <p:cNvSpPr/>
          <p:nvPr/>
        </p:nvSpPr>
        <p:spPr>
          <a:xfrm>
            <a:off x="0" y="5238598"/>
            <a:ext cx="12191695" cy="1619402"/>
          </a:xfrm>
          <a:prstGeom prst="rect">
            <a:avLst/>
          </a:prstGeom>
          <a:solidFill>
            <a:srgbClr val="F9FAFB"/>
          </a:solidFill>
          <a:ln/>
        </p:spPr>
        <p:txBody>
          <a:bodyPr/>
          <a:lstStyle/>
          <a:p>
            <a:endParaRPr lang="en-US"/>
          </a:p>
        </p:txBody>
      </p:sp>
      <p:sp>
        <p:nvSpPr>
          <p:cNvPr id="14" name="Shape 7"/>
          <p:cNvSpPr/>
          <p:nvPr/>
        </p:nvSpPr>
        <p:spPr>
          <a:xfrm>
            <a:off x="0" y="5238598"/>
            <a:ext cx="12191695" cy="9144"/>
          </a:xfrm>
          <a:prstGeom prst="rect">
            <a:avLst/>
          </a:prstGeom>
          <a:solidFill>
            <a:srgbClr val="E5E7EB"/>
          </a:solidFill>
          <a:ln w="12700">
            <a:solidFill>
              <a:srgbClr val="E5E7EB">
                <a:alpha val="0"/>
              </a:srgbClr>
            </a:solidFill>
            <a:prstDash val="solid"/>
          </a:ln>
        </p:spPr>
        <p:txBody>
          <a:bodyPr/>
          <a:lstStyle/>
          <a:p>
            <a:endParaRPr lang="en-US"/>
          </a:p>
        </p:txBody>
      </p:sp>
      <p:sp>
        <p:nvSpPr>
          <p:cNvPr id="15" name="Shape 8"/>
          <p:cNvSpPr/>
          <p:nvPr/>
        </p:nvSpPr>
        <p:spPr>
          <a:xfrm>
            <a:off x="10201961" y="5362956"/>
            <a:ext cx="9144" cy="1380744"/>
          </a:xfrm>
          <a:prstGeom prst="rect">
            <a:avLst/>
          </a:prstGeom>
          <a:solidFill>
            <a:srgbClr val="D1D5DB"/>
          </a:solidFill>
          <a:ln w="12700">
            <a:solidFill>
              <a:srgbClr val="D1D5DB">
                <a:alpha val="0"/>
              </a:srgbClr>
            </a:solidFill>
            <a:prstDash val="solid"/>
          </a:ln>
        </p:spPr>
        <p:txBody>
          <a:bodyPr/>
          <a:lstStyle/>
          <a:p>
            <a:endParaRPr lang="en-US"/>
          </a:p>
        </p:txBody>
      </p:sp>
      <p:sp>
        <p:nvSpPr>
          <p:cNvPr id="16" name="Text 9"/>
          <p:cNvSpPr txBox="1"/>
          <p:nvPr/>
        </p:nvSpPr>
        <p:spPr>
          <a:xfrm>
            <a:off x="457200" y="5362956"/>
            <a:ext cx="9630461" cy="191110"/>
          </a:xfrm>
          <a:prstGeom prst="rect">
            <a:avLst/>
          </a:prstGeom>
          <a:noFill/>
          <a:ln/>
        </p:spPr>
        <p:txBody>
          <a:bodyPr wrap="square" lIns="0" tIns="0" rIns="0" bIns="0" rtlCol="0" anchor="ctr"/>
          <a:lstStyle/>
          <a:p>
            <a:pPr marL="0" indent="0" algn="l">
              <a:buNone/>
            </a:pPr>
            <a:r>
              <a:rPr lang="en-US" sz="1000" b="1" kern="0" spc="52">
                <a:solidFill>
                  <a:srgbClr val="2A9D8F"/>
                </a:solidFill>
                <a:latin typeface="Roboto Condensed" pitchFamily="34" charset="0"/>
                <a:ea typeface="Roboto Condensed" pitchFamily="34" charset="-122"/>
                <a:cs typeface="Roboto Condensed" pitchFamily="34" charset="-120"/>
              </a:rPr>
              <a:t>Trusted by:</a:t>
            </a:r>
            <a:endParaRPr lang="en-US" sz="1000"/>
          </a:p>
        </p:txBody>
      </p:sp>
      <p:sp>
        <p:nvSpPr>
          <p:cNvPr id="17" name="Shape 10"/>
          <p:cNvSpPr/>
          <p:nvPr/>
        </p:nvSpPr>
        <p:spPr>
          <a:xfrm>
            <a:off x="10362895" y="5605272"/>
            <a:ext cx="1371600" cy="247802"/>
          </a:xfrm>
          <a:prstGeom prst="roundRect">
            <a:avLst>
              <a:gd name="adj" fmla="val 369004"/>
            </a:avLst>
          </a:prstGeom>
          <a:solidFill>
            <a:srgbClr val="FFFFFF"/>
          </a:solidFill>
          <a:ln w="12700">
            <a:solidFill>
              <a:srgbClr val="E5E7EB"/>
            </a:solidFill>
            <a:prstDash val="solid"/>
          </a:ln>
        </p:spPr>
        <p:txBody>
          <a:bodyPr/>
          <a:lstStyle/>
          <a:p>
            <a:endParaRPr lang="en-US"/>
          </a:p>
        </p:txBody>
      </p:sp>
      <p:pic>
        <p:nvPicPr>
          <p:cNvPr id="18" name="Image 5" descr="preencoded.png"/>
          <p:cNvPicPr>
            <a:picLocks noChangeAspect="1"/>
          </p:cNvPicPr>
          <p:nvPr/>
        </p:nvPicPr>
        <p:blipFill>
          <a:blip r:embed="rId5"/>
          <a:srcRect/>
          <a:stretch/>
        </p:blipFill>
        <p:spPr>
          <a:xfrm>
            <a:off x="10577779" y="5672023"/>
            <a:ext cx="114300" cy="114300"/>
          </a:xfrm>
          <a:prstGeom prst="rect">
            <a:avLst/>
          </a:prstGeom>
        </p:spPr>
      </p:pic>
      <p:sp>
        <p:nvSpPr>
          <p:cNvPr id="19" name="Text 11"/>
          <p:cNvSpPr txBox="1"/>
          <p:nvPr/>
        </p:nvSpPr>
        <p:spPr>
          <a:xfrm>
            <a:off x="10767974" y="5605272"/>
            <a:ext cx="810158" cy="247802"/>
          </a:xfrm>
          <a:prstGeom prst="rect">
            <a:avLst/>
          </a:prstGeom>
          <a:noFill/>
          <a:ln/>
        </p:spPr>
        <p:txBody>
          <a:bodyPr wrap="square" lIns="0" tIns="0" rIns="0" bIns="0" rtlCol="0" anchor="ctr"/>
          <a:lstStyle/>
          <a:p>
            <a:pPr marL="0" indent="0" algn="l">
              <a:buNone/>
            </a:pPr>
            <a:r>
              <a:rPr lang="en-US" sz="900" b="1">
                <a:solidFill>
                  <a:srgbClr val="4B5563"/>
                </a:solidFill>
                <a:latin typeface="Raleway" pitchFamily="34" charset="0"/>
                <a:ea typeface="Raleway" pitchFamily="34" charset="-122"/>
                <a:cs typeface="Raleway" pitchFamily="34" charset="-120"/>
              </a:rPr>
              <a:t>ISO 9001:2015</a:t>
            </a:r>
            <a:endParaRPr lang="en-US" sz="900"/>
          </a:p>
        </p:txBody>
      </p:sp>
      <p:sp>
        <p:nvSpPr>
          <p:cNvPr id="20" name="Shape 12"/>
          <p:cNvSpPr/>
          <p:nvPr/>
        </p:nvSpPr>
        <p:spPr>
          <a:xfrm>
            <a:off x="10362895" y="5928970"/>
            <a:ext cx="1371600" cy="247802"/>
          </a:xfrm>
          <a:prstGeom prst="roundRect">
            <a:avLst>
              <a:gd name="adj" fmla="val 369004"/>
            </a:avLst>
          </a:prstGeom>
          <a:solidFill>
            <a:srgbClr val="FFFFFF"/>
          </a:solidFill>
          <a:ln w="12700">
            <a:solidFill>
              <a:srgbClr val="E5E7EB"/>
            </a:solidFill>
            <a:prstDash val="solid"/>
          </a:ln>
        </p:spPr>
        <p:txBody>
          <a:bodyPr/>
          <a:lstStyle/>
          <a:p>
            <a:endParaRPr lang="en-US"/>
          </a:p>
        </p:txBody>
      </p:sp>
      <p:pic>
        <p:nvPicPr>
          <p:cNvPr id="21" name="Image 6" descr="preencoded.png"/>
          <p:cNvPicPr>
            <a:picLocks noChangeAspect="1"/>
          </p:cNvPicPr>
          <p:nvPr/>
        </p:nvPicPr>
        <p:blipFill>
          <a:blip r:embed="rId6"/>
          <a:srcRect/>
          <a:stretch/>
        </p:blipFill>
        <p:spPr>
          <a:xfrm>
            <a:off x="10554919" y="5995721"/>
            <a:ext cx="114300" cy="114300"/>
          </a:xfrm>
          <a:prstGeom prst="rect">
            <a:avLst/>
          </a:prstGeom>
        </p:spPr>
      </p:pic>
      <p:sp>
        <p:nvSpPr>
          <p:cNvPr id="22" name="Text 13"/>
          <p:cNvSpPr txBox="1"/>
          <p:nvPr/>
        </p:nvSpPr>
        <p:spPr>
          <a:xfrm>
            <a:off x="10745114" y="5928970"/>
            <a:ext cx="857707" cy="247802"/>
          </a:xfrm>
          <a:prstGeom prst="rect">
            <a:avLst/>
          </a:prstGeom>
          <a:noFill/>
          <a:ln/>
        </p:spPr>
        <p:txBody>
          <a:bodyPr wrap="square" lIns="0" tIns="0" rIns="0" bIns="0" rtlCol="0" anchor="ctr"/>
          <a:lstStyle/>
          <a:p>
            <a:pPr marL="0" indent="0" algn="l">
              <a:buNone/>
            </a:pPr>
            <a:r>
              <a:rPr lang="en-US" sz="900" b="1">
                <a:solidFill>
                  <a:srgbClr val="4B5563"/>
                </a:solidFill>
                <a:latin typeface="Raleway" pitchFamily="34" charset="0"/>
                <a:ea typeface="Raleway" pitchFamily="34" charset="-122"/>
                <a:cs typeface="Raleway" pitchFamily="34" charset="-120"/>
              </a:rPr>
              <a:t>CMMI Certified</a:t>
            </a:r>
            <a:endParaRPr lang="en-US" sz="900"/>
          </a:p>
        </p:txBody>
      </p:sp>
      <p:sp>
        <p:nvSpPr>
          <p:cNvPr id="23" name="Shape 14"/>
          <p:cNvSpPr/>
          <p:nvPr/>
        </p:nvSpPr>
        <p:spPr>
          <a:xfrm>
            <a:off x="10362895" y="6253582"/>
            <a:ext cx="1371600" cy="247802"/>
          </a:xfrm>
          <a:prstGeom prst="roundRect">
            <a:avLst>
              <a:gd name="adj" fmla="val 369004"/>
            </a:avLst>
          </a:prstGeom>
          <a:solidFill>
            <a:srgbClr val="FFFFFF"/>
          </a:solidFill>
          <a:ln w="12700">
            <a:solidFill>
              <a:srgbClr val="E5E7EB"/>
            </a:solidFill>
            <a:prstDash val="solid"/>
          </a:ln>
        </p:spPr>
        <p:txBody>
          <a:bodyPr/>
          <a:lstStyle/>
          <a:p>
            <a:endParaRPr lang="en-US"/>
          </a:p>
        </p:txBody>
      </p:sp>
      <p:pic>
        <p:nvPicPr>
          <p:cNvPr id="24" name="Image 7" descr="preencoded.png"/>
          <p:cNvPicPr>
            <a:picLocks noChangeAspect="1"/>
          </p:cNvPicPr>
          <p:nvPr/>
        </p:nvPicPr>
        <p:blipFill>
          <a:blip r:embed="rId7"/>
          <a:srcRect l="-133" r="-133"/>
          <a:stretch/>
        </p:blipFill>
        <p:spPr>
          <a:xfrm>
            <a:off x="10537546" y="6319418"/>
            <a:ext cx="85954" cy="114300"/>
          </a:xfrm>
          <a:prstGeom prst="rect">
            <a:avLst/>
          </a:prstGeom>
        </p:spPr>
      </p:pic>
      <p:sp>
        <p:nvSpPr>
          <p:cNvPr id="25" name="Text 15"/>
          <p:cNvSpPr txBox="1"/>
          <p:nvPr/>
        </p:nvSpPr>
        <p:spPr>
          <a:xfrm>
            <a:off x="10699394" y="6253582"/>
            <a:ext cx="924458" cy="247802"/>
          </a:xfrm>
          <a:prstGeom prst="rect">
            <a:avLst/>
          </a:prstGeom>
          <a:noFill/>
          <a:ln/>
        </p:spPr>
        <p:txBody>
          <a:bodyPr wrap="square" lIns="0" tIns="0" rIns="0" bIns="0" rtlCol="0" anchor="ctr"/>
          <a:lstStyle/>
          <a:p>
            <a:pPr marL="0" indent="0" algn="l">
              <a:buNone/>
            </a:pPr>
            <a:r>
              <a:rPr lang="en-US" sz="900" b="1">
                <a:solidFill>
                  <a:srgbClr val="4B5563"/>
                </a:solidFill>
                <a:latin typeface="Raleway" pitchFamily="34" charset="0"/>
                <a:ea typeface="Raleway" pitchFamily="34" charset="-122"/>
                <a:cs typeface="Raleway" pitchFamily="34" charset="-120"/>
              </a:rPr>
              <a:t>Women-Owned</a:t>
            </a:r>
            <a:endParaRPr lang="en-US" sz="900"/>
          </a:p>
        </p:txBody>
      </p:sp>
      <p:pic>
        <p:nvPicPr>
          <p:cNvPr id="26" name="Image 8" descr="preencoded.png"/>
          <p:cNvPicPr>
            <a:picLocks noChangeAspect="1"/>
          </p:cNvPicPr>
          <p:nvPr/>
        </p:nvPicPr>
        <p:blipFill>
          <a:blip r:embed="rId8">
            <a:alphaModFix amt="90000"/>
          </a:blip>
          <a:srcRect/>
          <a:stretch/>
        </p:blipFill>
        <p:spPr>
          <a:xfrm>
            <a:off x="457200" y="5700370"/>
            <a:ext cx="428854" cy="428854"/>
          </a:xfrm>
          <a:prstGeom prst="rect">
            <a:avLst/>
          </a:prstGeom>
        </p:spPr>
      </p:pic>
      <p:pic>
        <p:nvPicPr>
          <p:cNvPr id="27" name="Image 9" descr="preencoded.png"/>
          <p:cNvPicPr>
            <a:picLocks noChangeAspect="1"/>
          </p:cNvPicPr>
          <p:nvPr/>
        </p:nvPicPr>
        <p:blipFill>
          <a:blip r:embed="rId9">
            <a:alphaModFix amt="90000"/>
          </a:blip>
          <a:srcRect l="2016" r="2016"/>
          <a:stretch/>
        </p:blipFill>
        <p:spPr>
          <a:xfrm>
            <a:off x="1578254" y="5805526"/>
            <a:ext cx="1143000" cy="228600"/>
          </a:xfrm>
          <a:prstGeom prst="rect">
            <a:avLst/>
          </a:prstGeom>
        </p:spPr>
      </p:pic>
      <p:pic>
        <p:nvPicPr>
          <p:cNvPr id="28" name="Image 10" descr="preencoded.png"/>
          <p:cNvPicPr>
            <a:picLocks noChangeAspect="1"/>
          </p:cNvPicPr>
          <p:nvPr/>
        </p:nvPicPr>
        <p:blipFill>
          <a:blip r:embed="rId10">
            <a:alphaModFix amt="90000"/>
          </a:blip>
          <a:srcRect t="569" b="569"/>
          <a:stretch/>
        </p:blipFill>
        <p:spPr>
          <a:xfrm>
            <a:off x="3413455" y="5639105"/>
            <a:ext cx="838505" cy="552298"/>
          </a:xfrm>
          <a:prstGeom prst="rect">
            <a:avLst/>
          </a:prstGeom>
        </p:spPr>
      </p:pic>
      <p:pic>
        <p:nvPicPr>
          <p:cNvPr id="29" name="Image 11" descr="preencoded.png"/>
          <p:cNvPicPr>
            <a:picLocks noChangeAspect="1"/>
          </p:cNvPicPr>
          <p:nvPr/>
        </p:nvPicPr>
        <p:blipFill>
          <a:blip r:embed="rId11">
            <a:alphaModFix amt="90000"/>
          </a:blip>
          <a:srcRect t="563" b="563"/>
          <a:stretch/>
        </p:blipFill>
        <p:spPr>
          <a:xfrm>
            <a:off x="4935017" y="5648249"/>
            <a:ext cx="809244" cy="533095"/>
          </a:xfrm>
          <a:prstGeom prst="rect">
            <a:avLst/>
          </a:prstGeom>
        </p:spPr>
      </p:pic>
      <p:pic>
        <p:nvPicPr>
          <p:cNvPr id="30" name="Image 12" descr="preencoded.png"/>
          <p:cNvPicPr>
            <a:picLocks noChangeAspect="1"/>
          </p:cNvPicPr>
          <p:nvPr/>
        </p:nvPicPr>
        <p:blipFill>
          <a:blip r:embed="rId12">
            <a:alphaModFix amt="90000"/>
          </a:blip>
          <a:srcRect t="267" b="267"/>
          <a:stretch/>
        </p:blipFill>
        <p:spPr>
          <a:xfrm>
            <a:off x="6427318" y="5648249"/>
            <a:ext cx="952805" cy="533095"/>
          </a:xfrm>
          <a:prstGeom prst="rect">
            <a:avLst/>
          </a:prstGeom>
        </p:spPr>
      </p:pic>
      <p:pic>
        <p:nvPicPr>
          <p:cNvPr id="31" name="Image 13" descr="preencoded.png"/>
          <p:cNvPicPr>
            <a:picLocks noChangeAspect="1"/>
          </p:cNvPicPr>
          <p:nvPr/>
        </p:nvPicPr>
        <p:blipFill>
          <a:blip r:embed="rId13">
            <a:alphaModFix amt="90000"/>
          </a:blip>
          <a:srcRect/>
          <a:stretch/>
        </p:blipFill>
        <p:spPr>
          <a:xfrm>
            <a:off x="8067751" y="5662879"/>
            <a:ext cx="504749" cy="504749"/>
          </a:xfrm>
          <a:prstGeom prst="rect">
            <a:avLst/>
          </a:prstGeom>
        </p:spPr>
      </p:pic>
      <p:pic>
        <p:nvPicPr>
          <p:cNvPr id="32" name="Image 14" descr="preencoded.png"/>
          <p:cNvPicPr>
            <a:picLocks noChangeAspect="1"/>
          </p:cNvPicPr>
          <p:nvPr/>
        </p:nvPicPr>
        <p:blipFill>
          <a:blip r:embed="rId14">
            <a:alphaModFix amt="90000"/>
          </a:blip>
          <a:srcRect t="525" b="525"/>
          <a:stretch/>
        </p:blipFill>
        <p:spPr>
          <a:xfrm>
            <a:off x="9265615" y="5662879"/>
            <a:ext cx="714146" cy="504749"/>
          </a:xfrm>
          <a:prstGeom prst="rect">
            <a:avLst/>
          </a:prstGeom>
        </p:spPr>
      </p:pic>
      <p:pic>
        <p:nvPicPr>
          <p:cNvPr id="33" name="Image 15" descr="preencoded.png"/>
          <p:cNvPicPr>
            <a:picLocks noChangeAspect="1"/>
          </p:cNvPicPr>
          <p:nvPr/>
        </p:nvPicPr>
        <p:blipFill>
          <a:blip r:embed="rId15">
            <a:alphaModFix amt="90000"/>
          </a:blip>
          <a:srcRect l="688" r="688"/>
          <a:stretch/>
        </p:blipFill>
        <p:spPr>
          <a:xfrm>
            <a:off x="457200" y="6445606"/>
            <a:ext cx="1067105" cy="190195"/>
          </a:xfrm>
          <a:prstGeom prst="rect">
            <a:avLst/>
          </a:prstGeom>
        </p:spPr>
      </p:pic>
      <p:pic>
        <p:nvPicPr>
          <p:cNvPr id="34" name="Image 16" descr="preencoded.png"/>
          <p:cNvPicPr>
            <a:picLocks noChangeAspect="1"/>
          </p:cNvPicPr>
          <p:nvPr/>
        </p:nvPicPr>
        <p:blipFill>
          <a:blip r:embed="rId16">
            <a:alphaModFix amt="90000"/>
          </a:blip>
          <a:srcRect l="960" r="960"/>
          <a:stretch/>
        </p:blipFill>
        <p:spPr>
          <a:xfrm>
            <a:off x="2056486" y="6390742"/>
            <a:ext cx="1466698" cy="304495"/>
          </a:xfrm>
          <a:prstGeom prst="rect">
            <a:avLst/>
          </a:prstGeom>
        </p:spPr>
      </p:pic>
      <p:pic>
        <p:nvPicPr>
          <p:cNvPr id="35" name="Image 17" descr="preencoded.png"/>
          <p:cNvPicPr>
            <a:picLocks noChangeAspect="1"/>
          </p:cNvPicPr>
          <p:nvPr/>
        </p:nvPicPr>
        <p:blipFill>
          <a:blip r:embed="rId17">
            <a:alphaModFix amt="90000"/>
          </a:blip>
          <a:srcRect t="311" b="311"/>
          <a:stretch/>
        </p:blipFill>
        <p:spPr>
          <a:xfrm>
            <a:off x="4055364" y="6325819"/>
            <a:ext cx="828446" cy="428854"/>
          </a:xfrm>
          <a:prstGeom prst="rect">
            <a:avLst/>
          </a:prstGeom>
        </p:spPr>
      </p:pic>
      <p:pic>
        <p:nvPicPr>
          <p:cNvPr id="36" name="Image 18" descr="preencoded.png"/>
          <p:cNvPicPr>
            <a:picLocks noChangeAspect="1"/>
          </p:cNvPicPr>
          <p:nvPr/>
        </p:nvPicPr>
        <p:blipFill>
          <a:blip r:embed="rId18">
            <a:alphaModFix amt="90000"/>
          </a:blip>
          <a:srcRect t="385" b="385"/>
          <a:stretch/>
        </p:blipFill>
        <p:spPr>
          <a:xfrm>
            <a:off x="5410505" y="6325819"/>
            <a:ext cx="771754" cy="428854"/>
          </a:xfrm>
          <a:prstGeom prst="rect">
            <a:avLst/>
          </a:prstGeom>
        </p:spPr>
      </p:pic>
      <p:pic>
        <p:nvPicPr>
          <p:cNvPr id="38" name="Image 20" descr="preencoded.png"/>
          <p:cNvPicPr>
            <a:picLocks noChangeAspect="1"/>
          </p:cNvPicPr>
          <p:nvPr/>
        </p:nvPicPr>
        <p:blipFill>
          <a:blip r:embed="rId19">
            <a:alphaModFix amt="90000"/>
          </a:blip>
          <a:srcRect t="77" b="77"/>
          <a:stretch/>
        </p:blipFill>
        <p:spPr>
          <a:xfrm>
            <a:off x="7669073" y="6368796"/>
            <a:ext cx="629107" cy="342900"/>
          </a:xfrm>
          <a:prstGeom prst="rect">
            <a:avLst/>
          </a:prstGeom>
        </p:spPr>
      </p:pic>
      <p:pic>
        <p:nvPicPr>
          <p:cNvPr id="39" name="Image 21" descr="preencoded.png"/>
          <p:cNvPicPr>
            <a:picLocks noChangeAspect="1"/>
          </p:cNvPicPr>
          <p:nvPr/>
        </p:nvPicPr>
        <p:blipFill>
          <a:blip r:embed="rId20">
            <a:alphaModFix amt="90000"/>
          </a:blip>
          <a:srcRect l="1712" r="1712"/>
          <a:stretch/>
        </p:blipFill>
        <p:spPr>
          <a:xfrm>
            <a:off x="8829446" y="6420002"/>
            <a:ext cx="1143000" cy="247802"/>
          </a:xfrm>
          <a:prstGeom prst="rect">
            <a:avLst/>
          </a:prstGeom>
        </p:spPr>
      </p:pic>
      <p:pic>
        <p:nvPicPr>
          <p:cNvPr id="97" name="Picture 96" descr="Exclusive: Pure Storage's Everpure rebrand has one small problem: The brand  already exists - SDxCentral">
            <a:extLst>
              <a:ext uri="{FF2B5EF4-FFF2-40B4-BE49-F238E27FC236}">
                <a16:creationId xmlns:a16="http://schemas.microsoft.com/office/drawing/2014/main" id="{431B8AA5-2EE7-C68D-5346-7C18CD3AB9CF}"/>
              </a:ext>
            </a:extLst>
          </p:cNvPr>
          <p:cNvPicPr>
            <a:picLocks noChangeAspect="1"/>
          </p:cNvPicPr>
          <p:nvPr/>
        </p:nvPicPr>
        <p:blipFill>
          <a:blip r:embed="rId21"/>
          <a:stretch>
            <a:fillRect/>
          </a:stretch>
        </p:blipFill>
        <p:spPr>
          <a:xfrm>
            <a:off x="6427318" y="6420002"/>
            <a:ext cx="952805" cy="285841"/>
          </a:xfrm>
          <a:prstGeom prst="rect">
            <a:avLst/>
          </a:prstGeom>
        </p:spPr>
      </p:pic>
      <p:pic>
        <p:nvPicPr>
          <p:cNvPr id="40" name="Image 3" descr="preencoded.png">
            <a:extLst>
              <a:ext uri="{FF2B5EF4-FFF2-40B4-BE49-F238E27FC236}">
                <a16:creationId xmlns:a16="http://schemas.microsoft.com/office/drawing/2014/main" id="{AD729F10-2A32-258E-5636-C84113F55214}"/>
              </a:ext>
            </a:extLst>
          </p:cNvPr>
          <p:cNvPicPr>
            <a:picLocks noChangeAspect="1"/>
          </p:cNvPicPr>
          <p:nvPr/>
        </p:nvPicPr>
        <p:blipFill>
          <a:blip r:embed="rId22"/>
          <a:srcRect l="141" r="141"/>
          <a:stretch/>
        </p:blipFill>
        <p:spPr>
          <a:xfrm>
            <a:off x="3793181" y="875538"/>
            <a:ext cx="1770998" cy="856792"/>
          </a:xfrm>
          <a:prstGeom prst="rect">
            <a:avLst/>
          </a:prstGeom>
        </p:spPr>
      </p:pic>
      <p:sp>
        <p:nvSpPr>
          <p:cNvPr id="42" name="Text 5">
            <a:extLst>
              <a:ext uri="{FF2B5EF4-FFF2-40B4-BE49-F238E27FC236}">
                <a16:creationId xmlns:a16="http://schemas.microsoft.com/office/drawing/2014/main" id="{D5B95804-3138-A790-74EB-85C230F2A5AB}"/>
              </a:ext>
            </a:extLst>
          </p:cNvPr>
          <p:cNvSpPr txBox="1"/>
          <p:nvPr/>
        </p:nvSpPr>
        <p:spPr>
          <a:xfrm>
            <a:off x="5724849" y="790953"/>
            <a:ext cx="741372" cy="1143000"/>
          </a:xfrm>
          <a:prstGeom prst="rect">
            <a:avLst/>
          </a:prstGeom>
          <a:noFill/>
          <a:ln/>
        </p:spPr>
        <p:txBody>
          <a:bodyPr wrap="square" lIns="0" tIns="0" rIns="0" bIns="0" rtlCol="0" anchor="ctr"/>
          <a:lstStyle/>
          <a:p>
            <a:pPr marL="0" indent="0" algn="ctr">
              <a:buNone/>
            </a:pPr>
            <a:r>
              <a:rPr lang="en-US" sz="3600" b="1">
                <a:solidFill>
                  <a:srgbClr val="1F2937"/>
                </a:solidFill>
                <a:latin typeface="Oswald" pitchFamily="34" charset="0"/>
                <a:ea typeface="Oswald" pitchFamily="34" charset="-122"/>
                <a:cs typeface="Oswald" pitchFamily="34" charset="-120"/>
              </a:rPr>
              <a:t>&lt;&gt;</a:t>
            </a:r>
          </a:p>
        </p:txBody>
      </p:sp>
      <p:pic>
        <p:nvPicPr>
          <p:cNvPr id="37" name="Image 1" descr="gen-dedup-323228122ff92d2332e711a84ca3b40c.png">
            <a:extLst>
              <a:ext uri="{FF2B5EF4-FFF2-40B4-BE49-F238E27FC236}">
                <a16:creationId xmlns:a16="http://schemas.microsoft.com/office/drawing/2014/main" id="{8803299E-F87C-9AEE-585D-4EC26A1F0602}"/>
              </a:ext>
            </a:extLst>
          </p:cNvPr>
          <p:cNvPicPr>
            <a:picLocks noChangeAspect="1"/>
          </p:cNvPicPr>
          <p:nvPr/>
        </p:nvPicPr>
        <p:blipFill>
          <a:blip r:embed="rId23"/>
          <a:srcRect l="-198" r="-198"/>
          <a:stretch/>
        </p:blipFill>
        <p:spPr>
          <a:xfrm>
            <a:off x="0" y="0"/>
            <a:ext cx="8124444" cy="75895"/>
          </a:xfrm>
          <a:prstGeom prst="rect">
            <a:avLst/>
          </a:prstGeom>
        </p:spPr>
      </p:pic>
      <p:pic>
        <p:nvPicPr>
          <p:cNvPr id="43" name="Image 2" descr="gen-dedup-9663ecf744b06e35d4c2cebaab92a2ea.png">
            <a:extLst>
              <a:ext uri="{FF2B5EF4-FFF2-40B4-BE49-F238E27FC236}">
                <a16:creationId xmlns:a16="http://schemas.microsoft.com/office/drawing/2014/main" id="{79B19F83-15EE-9821-6E80-6E2B1F9386D7}"/>
              </a:ext>
            </a:extLst>
          </p:cNvPr>
          <p:cNvPicPr>
            <a:picLocks noChangeAspect="1"/>
          </p:cNvPicPr>
          <p:nvPr/>
        </p:nvPicPr>
        <p:blipFill>
          <a:blip r:embed="rId24"/>
          <a:srcRect l="-202" r="-202"/>
          <a:stretch/>
        </p:blipFill>
        <p:spPr>
          <a:xfrm>
            <a:off x="8124444" y="0"/>
            <a:ext cx="4067251" cy="7589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 2"/>
          <p:cNvSpPr/>
          <p:nvPr/>
        </p:nvSpPr>
        <p:spPr>
          <a:xfrm>
            <a:off x="8953805" y="-571500"/>
            <a:ext cx="3810305" cy="3810305"/>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5" name="Image 0" descr="gen-dedup-5e765734fa6996e94526269805e72083.png"/>
          <p:cNvPicPr>
            <a:picLocks noChangeAspect="1"/>
          </p:cNvPicPr>
          <p:nvPr/>
        </p:nvPicPr>
        <p:blipFill>
          <a:blip r:embed="rId3">
            <a:alphaModFix amt="8000"/>
          </a:blip>
          <a:srcRect/>
          <a:stretch/>
        </p:blipFill>
        <p:spPr>
          <a:xfrm>
            <a:off x="-511934" y="3715207"/>
            <a:ext cx="2381098" cy="2381098"/>
          </a:xfrm>
          <a:prstGeom prst="rect">
            <a:avLst/>
          </a:prstGeom>
        </p:spPr>
      </p:pic>
      <p:pic>
        <p:nvPicPr>
          <p:cNvPr id="6" name="Image 1" descr="gen-dedup-323228122ff92d2332e711a84ca3b40c.png"/>
          <p:cNvPicPr>
            <a:picLocks noChangeAspect="1"/>
          </p:cNvPicPr>
          <p:nvPr/>
        </p:nvPicPr>
        <p:blipFill>
          <a:blip r:embed="rId4"/>
          <a:srcRect l="-198" r="-198"/>
          <a:stretch/>
        </p:blipFill>
        <p:spPr>
          <a:xfrm>
            <a:off x="0" y="0"/>
            <a:ext cx="8124444" cy="75895"/>
          </a:xfrm>
          <a:prstGeom prst="rect">
            <a:avLst/>
          </a:prstGeom>
        </p:spPr>
      </p:pic>
      <p:pic>
        <p:nvPicPr>
          <p:cNvPr id="7" name="Image 2" descr="gen-dedup-9663ecf744b06e35d4c2cebaab92a2ea.png"/>
          <p:cNvPicPr>
            <a:picLocks noChangeAspect="1"/>
          </p:cNvPicPr>
          <p:nvPr/>
        </p:nvPicPr>
        <p:blipFill>
          <a:blip r:embed="rId5"/>
          <a:srcRect l="-202" r="-202"/>
          <a:stretch/>
        </p:blipFill>
        <p:spPr>
          <a:xfrm>
            <a:off x="8124444" y="0"/>
            <a:ext cx="4067251" cy="75895"/>
          </a:xfrm>
          <a:prstGeom prst="rect">
            <a:avLst/>
          </a:prstGeom>
        </p:spPr>
      </p:pic>
      <p:sp>
        <p:nvSpPr>
          <p:cNvPr id="9" name="Shape 3"/>
          <p:cNvSpPr/>
          <p:nvPr/>
        </p:nvSpPr>
        <p:spPr>
          <a:xfrm>
            <a:off x="571501" y="1387090"/>
            <a:ext cx="10972190" cy="1450129"/>
          </a:xfrm>
          <a:prstGeom prst="roundRect">
            <a:avLst>
              <a:gd name="adj" fmla="val 2853"/>
            </a:avLst>
          </a:prstGeom>
          <a:solidFill>
            <a:srgbClr val="FFFFFF"/>
          </a:solidFill>
          <a:ln w="12700">
            <a:solidFill>
              <a:srgbClr val="E2E8F0"/>
            </a:solidFill>
            <a:prstDash val="solid"/>
          </a:ln>
          <a:effectLst>
            <a:outerShdw blurRad="63500" dist="38100" dir="16200000" algn="bl" rotWithShape="0">
              <a:srgbClr val="000000">
                <a:alpha val="3000"/>
              </a:srgbClr>
            </a:outerShdw>
          </a:effectLst>
        </p:spPr>
        <p:txBody>
          <a:bodyPr/>
          <a:lstStyle/>
          <a:p>
            <a:endParaRPr lang="en-US"/>
          </a:p>
        </p:txBody>
      </p:sp>
      <p:sp>
        <p:nvSpPr>
          <p:cNvPr id="10" name="Shape 4"/>
          <p:cNvSpPr/>
          <p:nvPr/>
        </p:nvSpPr>
        <p:spPr>
          <a:xfrm>
            <a:off x="571501" y="1387090"/>
            <a:ext cx="47549" cy="1450129"/>
          </a:xfrm>
          <a:prstGeom prst="roundRect">
            <a:avLst>
              <a:gd name="adj" fmla="val 132625"/>
            </a:avLst>
          </a:prstGeom>
          <a:solidFill>
            <a:srgbClr val="111827"/>
          </a:solidFill>
          <a:ln w="12700">
            <a:solidFill>
              <a:srgbClr val="111827">
                <a:alpha val="0"/>
              </a:srgbClr>
            </a:solidFill>
            <a:prstDash val="solid"/>
          </a:ln>
        </p:spPr>
        <p:txBody>
          <a:bodyPr/>
          <a:lstStyle/>
          <a:p>
            <a:endParaRPr lang="en-US"/>
          </a:p>
        </p:txBody>
      </p:sp>
      <p:sp>
        <p:nvSpPr>
          <p:cNvPr id="14" name="Shape 8"/>
          <p:cNvSpPr/>
          <p:nvPr/>
        </p:nvSpPr>
        <p:spPr>
          <a:xfrm>
            <a:off x="571501" y="4953305"/>
            <a:ext cx="3448202" cy="1447495"/>
          </a:xfrm>
          <a:prstGeom prst="roundRect">
            <a:avLst>
              <a:gd name="adj" fmla="val 4987"/>
            </a:avLst>
          </a:prstGeom>
          <a:solidFill>
            <a:srgbClr val="F8FAFC"/>
          </a:solidFill>
          <a:ln w="12700">
            <a:solidFill>
              <a:srgbClr val="E2E8F0"/>
            </a:solidFill>
            <a:prstDash val="solid"/>
          </a:ln>
        </p:spPr>
        <p:txBody>
          <a:bodyPr/>
          <a:lstStyle/>
          <a:p>
            <a:endParaRPr lang="en-US"/>
          </a:p>
        </p:txBody>
      </p:sp>
      <p:sp>
        <p:nvSpPr>
          <p:cNvPr id="15" name="Shape 9"/>
          <p:cNvSpPr/>
          <p:nvPr/>
        </p:nvSpPr>
        <p:spPr>
          <a:xfrm>
            <a:off x="4304996" y="4953305"/>
            <a:ext cx="3448202" cy="1447495"/>
          </a:xfrm>
          <a:prstGeom prst="roundRect">
            <a:avLst>
              <a:gd name="adj" fmla="val 4987"/>
            </a:avLst>
          </a:prstGeom>
          <a:solidFill>
            <a:srgbClr val="F8FAFC"/>
          </a:solidFill>
          <a:ln w="12700">
            <a:solidFill>
              <a:srgbClr val="E2E8F0"/>
            </a:solidFill>
            <a:prstDash val="solid"/>
          </a:ln>
        </p:spPr>
        <p:txBody>
          <a:bodyPr/>
          <a:lstStyle/>
          <a:p>
            <a:endParaRPr lang="en-US"/>
          </a:p>
        </p:txBody>
      </p:sp>
      <p:sp>
        <p:nvSpPr>
          <p:cNvPr id="16" name="Shape 10"/>
          <p:cNvSpPr/>
          <p:nvPr/>
        </p:nvSpPr>
        <p:spPr>
          <a:xfrm>
            <a:off x="8038491" y="4953305"/>
            <a:ext cx="3524098" cy="1447495"/>
          </a:xfrm>
          <a:prstGeom prst="roundRect">
            <a:avLst>
              <a:gd name="adj" fmla="val 4987"/>
            </a:avLst>
          </a:prstGeom>
          <a:solidFill>
            <a:srgbClr val="F8FAFC"/>
          </a:solidFill>
          <a:ln w="12700">
            <a:solidFill>
              <a:srgbClr val="E2E8F0"/>
            </a:solidFill>
            <a:prstDash val="solid"/>
          </a:ln>
        </p:spPr>
        <p:txBody>
          <a:bodyPr/>
          <a:lstStyle/>
          <a:p>
            <a:endParaRPr lang="en-US"/>
          </a:p>
        </p:txBody>
      </p:sp>
      <p:sp>
        <p:nvSpPr>
          <p:cNvPr id="19" name="Text 13"/>
          <p:cNvSpPr txBox="1"/>
          <p:nvPr/>
        </p:nvSpPr>
        <p:spPr>
          <a:xfrm>
            <a:off x="951891" y="1465380"/>
            <a:ext cx="6967162" cy="648310"/>
          </a:xfrm>
          <a:prstGeom prst="rect">
            <a:avLst/>
          </a:prstGeom>
          <a:noFill/>
          <a:ln/>
        </p:spPr>
        <p:txBody>
          <a:bodyPr wrap="square" lIns="0" tIns="0" rIns="0" bIns="0" rtlCol="0" anchor="ctr"/>
          <a:lstStyle/>
          <a:p>
            <a:pPr marL="0" indent="0" algn="l">
              <a:buNone/>
            </a:pPr>
            <a:r>
              <a:rPr lang="en-US" sz="1900" b="1">
                <a:solidFill>
                  <a:srgbClr val="111827"/>
                </a:solidFill>
                <a:latin typeface="Oswald" pitchFamily="34" charset="0"/>
                <a:ea typeface="Oswald" pitchFamily="34" charset="-122"/>
                <a:cs typeface="Oswald" pitchFamily="34" charset="-120"/>
              </a:rPr>
              <a:t>J2W is the AI-native GCC platform for the Fortune 1000 and beyond.</a:t>
            </a:r>
            <a:endParaRPr lang="en-US" sz="1900"/>
          </a:p>
        </p:txBody>
      </p:sp>
      <p:sp>
        <p:nvSpPr>
          <p:cNvPr id="20" name="Text 14"/>
          <p:cNvSpPr txBox="1"/>
          <p:nvPr/>
        </p:nvSpPr>
        <p:spPr>
          <a:xfrm>
            <a:off x="951890" y="1977901"/>
            <a:ext cx="9144915" cy="685800"/>
          </a:xfrm>
          <a:prstGeom prst="rect">
            <a:avLst/>
          </a:prstGeom>
          <a:noFill/>
          <a:ln/>
        </p:spPr>
        <p:txBody>
          <a:bodyPr wrap="square" lIns="0" tIns="0" rIns="0" bIns="0" rtlCol="0" anchor="ctr"/>
          <a:lstStyle/>
          <a:p>
            <a:pPr marL="0" indent="0" algn="l">
              <a:buNone/>
            </a:pPr>
            <a:r>
              <a:rPr lang="en-US" sz="1100">
                <a:solidFill>
                  <a:srgbClr val="4B5563"/>
                </a:solidFill>
                <a:latin typeface="Raleway" pitchFamily="34" charset="0"/>
                <a:ea typeface="Raleway" pitchFamily="34" charset="-122"/>
                <a:cs typeface="Raleway" pitchFamily="34" charset="-120"/>
              </a:rPr>
              <a:t>Ten years building nothing but GCCs - so we solve the next problem before it shows up, deliver ROI in weeks where the industry takes quarters, and turn the GCC from a cost line into an innovation engine.</a:t>
            </a:r>
            <a:endParaRPr lang="en-US" sz="1100"/>
          </a:p>
        </p:txBody>
      </p:sp>
      <p:pic>
        <p:nvPicPr>
          <p:cNvPr id="30" name="Image 7" descr="gen-dedup-32cd67bc95385c5507b78533d3bab6e6.png"/>
          <p:cNvPicPr>
            <a:picLocks noChangeAspect="1"/>
          </p:cNvPicPr>
          <p:nvPr/>
        </p:nvPicPr>
        <p:blipFill>
          <a:blip r:embed="rId6"/>
          <a:srcRect l="-400" r="-400"/>
          <a:stretch/>
        </p:blipFill>
        <p:spPr>
          <a:xfrm>
            <a:off x="761696" y="5191049"/>
            <a:ext cx="38405" cy="571500"/>
          </a:xfrm>
          <a:prstGeom prst="rect">
            <a:avLst/>
          </a:prstGeom>
        </p:spPr>
      </p:pic>
      <p:sp>
        <p:nvSpPr>
          <p:cNvPr id="31" name="Text 21"/>
          <p:cNvSpPr txBox="1"/>
          <p:nvPr/>
        </p:nvSpPr>
        <p:spPr>
          <a:xfrm>
            <a:off x="951891" y="5191049"/>
            <a:ext cx="1677010" cy="448056"/>
          </a:xfrm>
          <a:prstGeom prst="rect">
            <a:avLst/>
          </a:prstGeom>
          <a:noFill/>
          <a:ln/>
        </p:spPr>
        <p:txBody>
          <a:bodyPr wrap="none" lIns="0" tIns="0" rIns="0" bIns="0" rtlCol="0" anchor="ctr"/>
          <a:lstStyle/>
          <a:p>
            <a:pPr marL="0" indent="0" algn="l">
              <a:buNone/>
            </a:pPr>
            <a:r>
              <a:rPr lang="en-US" sz="3100" b="1">
                <a:solidFill>
                  <a:srgbClr val="D62839"/>
                </a:solidFill>
                <a:latin typeface="Oswald" pitchFamily="34" charset="0"/>
                <a:ea typeface="Oswald" pitchFamily="34" charset="-122"/>
                <a:cs typeface="Oswald" pitchFamily="34" charset="-120"/>
              </a:rPr>
              <a:t>5,500+</a:t>
            </a:r>
            <a:endParaRPr lang="en-US" sz="3100"/>
          </a:p>
        </p:txBody>
      </p:sp>
      <p:sp>
        <p:nvSpPr>
          <p:cNvPr id="32" name="Text 22"/>
          <p:cNvSpPr txBox="1"/>
          <p:nvPr/>
        </p:nvSpPr>
        <p:spPr>
          <a:xfrm>
            <a:off x="951891" y="5707685"/>
            <a:ext cx="1995221" cy="200254"/>
          </a:xfrm>
          <a:prstGeom prst="rect">
            <a:avLst/>
          </a:prstGeom>
          <a:noFill/>
          <a:ln/>
        </p:spPr>
        <p:txBody>
          <a:bodyPr wrap="none" lIns="0" tIns="0" rIns="0" bIns="0" rtlCol="0" anchor="ctr"/>
          <a:lstStyle/>
          <a:p>
            <a:pPr marL="0" indent="0" algn="l">
              <a:buNone/>
            </a:pPr>
            <a:r>
              <a:rPr lang="en-US" sz="1200" b="1">
                <a:solidFill>
                  <a:srgbClr val="1E293B"/>
                </a:solidFill>
                <a:latin typeface="Raleway" pitchFamily="34" charset="0"/>
                <a:ea typeface="Raleway" pitchFamily="34" charset="-122"/>
                <a:cs typeface="Raleway" pitchFamily="34" charset="-120"/>
              </a:rPr>
              <a:t>Industry &amp; tech experts</a:t>
            </a:r>
            <a:endParaRPr lang="en-US" sz="1200"/>
          </a:p>
        </p:txBody>
      </p:sp>
      <p:pic>
        <p:nvPicPr>
          <p:cNvPr id="33" name="Image 8" descr="gen-dedup-3d17221e8cd76f10a3e0815681bf2023.png"/>
          <p:cNvPicPr>
            <a:picLocks noChangeAspect="1"/>
          </p:cNvPicPr>
          <p:nvPr/>
        </p:nvPicPr>
        <p:blipFill>
          <a:blip r:embed="rId7"/>
          <a:srcRect l="-400" r="-400"/>
          <a:stretch/>
        </p:blipFill>
        <p:spPr>
          <a:xfrm>
            <a:off x="4495191" y="5191049"/>
            <a:ext cx="38405" cy="571500"/>
          </a:xfrm>
          <a:prstGeom prst="rect">
            <a:avLst/>
          </a:prstGeom>
        </p:spPr>
      </p:pic>
      <p:sp>
        <p:nvSpPr>
          <p:cNvPr id="34" name="Text 23"/>
          <p:cNvSpPr txBox="1"/>
          <p:nvPr/>
        </p:nvSpPr>
        <p:spPr>
          <a:xfrm>
            <a:off x="4686301" y="5191049"/>
            <a:ext cx="1705356" cy="448056"/>
          </a:xfrm>
          <a:prstGeom prst="rect">
            <a:avLst/>
          </a:prstGeom>
          <a:noFill/>
          <a:ln/>
        </p:spPr>
        <p:txBody>
          <a:bodyPr wrap="none" lIns="0" tIns="0" rIns="0" bIns="0" rtlCol="0" anchor="ctr"/>
          <a:lstStyle/>
          <a:p>
            <a:pPr marL="0" indent="0" algn="l">
              <a:buNone/>
            </a:pPr>
            <a:r>
              <a:rPr lang="en-US" sz="3100" b="1">
                <a:solidFill>
                  <a:srgbClr val="2A9D8F"/>
                </a:solidFill>
                <a:latin typeface="Oswald" pitchFamily="34" charset="0"/>
                <a:ea typeface="Oswald" pitchFamily="34" charset="-122"/>
                <a:cs typeface="Oswald" pitchFamily="34" charset="-120"/>
              </a:rPr>
              <a:t>8</a:t>
            </a:r>
            <a:endParaRPr lang="en-US" sz="3100"/>
          </a:p>
        </p:txBody>
      </p:sp>
      <p:sp>
        <p:nvSpPr>
          <p:cNvPr id="35" name="Text 24"/>
          <p:cNvSpPr txBox="1"/>
          <p:nvPr/>
        </p:nvSpPr>
        <p:spPr>
          <a:xfrm>
            <a:off x="4686301" y="5707685"/>
            <a:ext cx="2029054" cy="200254"/>
          </a:xfrm>
          <a:prstGeom prst="rect">
            <a:avLst/>
          </a:prstGeom>
          <a:noFill/>
          <a:ln/>
        </p:spPr>
        <p:txBody>
          <a:bodyPr wrap="none" lIns="0" tIns="0" rIns="0" bIns="0" rtlCol="0" anchor="ctr"/>
          <a:lstStyle/>
          <a:p>
            <a:pPr marL="0" indent="0" algn="l">
              <a:buNone/>
            </a:pPr>
            <a:r>
              <a:rPr lang="en-US" sz="1200" b="1">
                <a:solidFill>
                  <a:srgbClr val="1E293B"/>
                </a:solidFill>
                <a:latin typeface="Raleway" pitchFamily="34" charset="0"/>
                <a:ea typeface="Raleway" pitchFamily="34" charset="-122"/>
                <a:cs typeface="Raleway" pitchFamily="34" charset="-120"/>
              </a:rPr>
              <a:t>Countries with footprint</a:t>
            </a:r>
            <a:endParaRPr lang="en-US" sz="1200"/>
          </a:p>
        </p:txBody>
      </p:sp>
      <p:pic>
        <p:nvPicPr>
          <p:cNvPr id="36" name="Image 9" descr="gen-dedup-32cd67bc95385c5507b78533d3bab6e6.png"/>
          <p:cNvPicPr>
            <a:picLocks noChangeAspect="1"/>
          </p:cNvPicPr>
          <p:nvPr/>
        </p:nvPicPr>
        <p:blipFill>
          <a:blip r:embed="rId6"/>
          <a:srcRect l="-400" r="-400"/>
          <a:stretch/>
        </p:blipFill>
        <p:spPr>
          <a:xfrm>
            <a:off x="8229601" y="5191049"/>
            <a:ext cx="38405" cy="571500"/>
          </a:xfrm>
          <a:prstGeom prst="rect">
            <a:avLst/>
          </a:prstGeom>
        </p:spPr>
      </p:pic>
      <p:sp>
        <p:nvSpPr>
          <p:cNvPr id="37" name="Text 25"/>
          <p:cNvSpPr txBox="1"/>
          <p:nvPr/>
        </p:nvSpPr>
        <p:spPr>
          <a:xfrm>
            <a:off x="8419796" y="5191049"/>
            <a:ext cx="1677010" cy="448056"/>
          </a:xfrm>
          <a:prstGeom prst="rect">
            <a:avLst/>
          </a:prstGeom>
          <a:noFill/>
          <a:ln/>
        </p:spPr>
        <p:txBody>
          <a:bodyPr wrap="none" lIns="0" tIns="0" rIns="0" bIns="0" rtlCol="0" anchor="ctr"/>
          <a:lstStyle/>
          <a:p>
            <a:pPr marL="0" indent="0" algn="l">
              <a:buNone/>
            </a:pPr>
            <a:r>
              <a:rPr lang="en-US" sz="3100" b="1">
                <a:solidFill>
                  <a:srgbClr val="D62839"/>
                </a:solidFill>
                <a:latin typeface="Oswald" pitchFamily="34" charset="0"/>
                <a:ea typeface="Oswald" pitchFamily="34" charset="-122"/>
                <a:cs typeface="Oswald" pitchFamily="34" charset="-120"/>
              </a:rPr>
              <a:t>60+</a:t>
            </a:r>
            <a:endParaRPr lang="en-US" sz="3100"/>
          </a:p>
        </p:txBody>
      </p:sp>
      <p:sp>
        <p:nvSpPr>
          <p:cNvPr id="38" name="Text 26"/>
          <p:cNvSpPr txBox="1"/>
          <p:nvPr/>
        </p:nvSpPr>
        <p:spPr>
          <a:xfrm>
            <a:off x="8419796" y="5707685"/>
            <a:ext cx="1995221" cy="200254"/>
          </a:xfrm>
          <a:prstGeom prst="rect">
            <a:avLst/>
          </a:prstGeom>
          <a:noFill/>
          <a:ln/>
        </p:spPr>
        <p:txBody>
          <a:bodyPr wrap="none" lIns="0" tIns="0" rIns="0" bIns="0" rtlCol="0" anchor="ctr"/>
          <a:lstStyle/>
          <a:p>
            <a:pPr marL="0" indent="0" algn="l">
              <a:buNone/>
            </a:pPr>
            <a:r>
              <a:rPr lang="en-US" sz="1200" b="1">
                <a:solidFill>
                  <a:srgbClr val="1E293B"/>
                </a:solidFill>
                <a:latin typeface="Raleway" pitchFamily="34" charset="0"/>
                <a:ea typeface="Raleway" pitchFamily="34" charset="-122"/>
                <a:cs typeface="Raleway" pitchFamily="34" charset="-120"/>
              </a:rPr>
              <a:t>AI-enabled capabilities</a:t>
            </a:r>
            <a:endParaRPr lang="en-US" sz="1200"/>
          </a:p>
        </p:txBody>
      </p:sp>
      <p:sp>
        <p:nvSpPr>
          <p:cNvPr id="3" name="Shape 5">
            <a:extLst>
              <a:ext uri="{FF2B5EF4-FFF2-40B4-BE49-F238E27FC236}">
                <a16:creationId xmlns:a16="http://schemas.microsoft.com/office/drawing/2014/main" id="{6251CF81-51BC-B20D-5405-1576566CB6D1}"/>
              </a:ext>
            </a:extLst>
          </p:cNvPr>
          <p:cNvSpPr/>
          <p:nvPr/>
        </p:nvSpPr>
        <p:spPr>
          <a:xfrm>
            <a:off x="571500" y="3238805"/>
            <a:ext cx="7181697" cy="1447495"/>
          </a:xfrm>
          <a:prstGeom prst="roundRect">
            <a:avLst>
              <a:gd name="adj" fmla="val 4987"/>
            </a:avLst>
          </a:prstGeom>
          <a:solidFill>
            <a:srgbClr val="F8FAFC"/>
          </a:solidFill>
          <a:ln w="12700">
            <a:solidFill>
              <a:srgbClr val="E2E8F0"/>
            </a:solidFill>
            <a:prstDash val="solid"/>
          </a:ln>
        </p:spPr>
        <p:txBody>
          <a:bodyPr/>
          <a:lstStyle/>
          <a:p>
            <a:endParaRPr lang="en-US"/>
          </a:p>
        </p:txBody>
      </p:sp>
      <p:sp>
        <p:nvSpPr>
          <p:cNvPr id="40" name="Shape 6">
            <a:extLst>
              <a:ext uri="{FF2B5EF4-FFF2-40B4-BE49-F238E27FC236}">
                <a16:creationId xmlns:a16="http://schemas.microsoft.com/office/drawing/2014/main" id="{334F1DA2-2E2A-07EB-F9C9-E437459F6A4A}"/>
              </a:ext>
            </a:extLst>
          </p:cNvPr>
          <p:cNvSpPr/>
          <p:nvPr/>
        </p:nvSpPr>
        <p:spPr>
          <a:xfrm>
            <a:off x="8038491" y="3238805"/>
            <a:ext cx="3448202" cy="1447495"/>
          </a:xfrm>
          <a:prstGeom prst="roundRect">
            <a:avLst>
              <a:gd name="adj" fmla="val 4987"/>
            </a:avLst>
          </a:prstGeom>
          <a:solidFill>
            <a:srgbClr val="F8FAFC"/>
          </a:solidFill>
          <a:ln w="12700">
            <a:solidFill>
              <a:srgbClr val="E2E8F0"/>
            </a:solidFill>
            <a:prstDash val="solid"/>
          </a:ln>
        </p:spPr>
        <p:txBody>
          <a:bodyPr/>
          <a:lstStyle/>
          <a:p>
            <a:endParaRPr lang="en-US"/>
          </a:p>
        </p:txBody>
      </p:sp>
      <p:pic>
        <p:nvPicPr>
          <p:cNvPr id="42" name="Image 4" descr="gen-dedup-3d17221e8cd76f10a3e0815681bf2023.png">
            <a:extLst>
              <a:ext uri="{FF2B5EF4-FFF2-40B4-BE49-F238E27FC236}">
                <a16:creationId xmlns:a16="http://schemas.microsoft.com/office/drawing/2014/main" id="{37ADDEB3-4F89-7DC2-83AE-784EB7520B5C}"/>
              </a:ext>
            </a:extLst>
          </p:cNvPr>
          <p:cNvPicPr>
            <a:picLocks noChangeAspect="1"/>
          </p:cNvPicPr>
          <p:nvPr/>
        </p:nvPicPr>
        <p:blipFill>
          <a:blip r:embed="rId7"/>
          <a:srcRect l="-400" r="-400"/>
          <a:stretch/>
        </p:blipFill>
        <p:spPr>
          <a:xfrm>
            <a:off x="761696" y="3476549"/>
            <a:ext cx="38405" cy="571500"/>
          </a:xfrm>
          <a:prstGeom prst="rect">
            <a:avLst/>
          </a:prstGeom>
        </p:spPr>
      </p:pic>
      <p:sp>
        <p:nvSpPr>
          <p:cNvPr id="44" name="Text 15">
            <a:extLst>
              <a:ext uri="{FF2B5EF4-FFF2-40B4-BE49-F238E27FC236}">
                <a16:creationId xmlns:a16="http://schemas.microsoft.com/office/drawing/2014/main" id="{5CA2CEF8-0E01-5FD7-103D-44B8E7CF3DB0}"/>
              </a:ext>
            </a:extLst>
          </p:cNvPr>
          <p:cNvSpPr txBox="1"/>
          <p:nvPr/>
        </p:nvSpPr>
        <p:spPr>
          <a:xfrm>
            <a:off x="951891" y="3476549"/>
            <a:ext cx="1552651" cy="448056"/>
          </a:xfrm>
          <a:prstGeom prst="rect">
            <a:avLst/>
          </a:prstGeom>
          <a:noFill/>
          <a:ln/>
        </p:spPr>
        <p:txBody>
          <a:bodyPr wrap="none" lIns="0" tIns="0" rIns="0" bIns="0" rtlCol="0" anchor="ctr"/>
          <a:lstStyle/>
          <a:p>
            <a:pPr marL="0" indent="0" algn="l">
              <a:buNone/>
            </a:pPr>
            <a:r>
              <a:rPr lang="en-US" sz="3100" b="1">
                <a:solidFill>
                  <a:srgbClr val="2A9D8F"/>
                </a:solidFill>
                <a:latin typeface="Oswald" pitchFamily="34" charset="0"/>
                <a:ea typeface="Oswald" pitchFamily="34" charset="-122"/>
                <a:cs typeface="Oswald" pitchFamily="34" charset="-120"/>
              </a:rPr>
              <a:t>10+</a:t>
            </a:r>
            <a:endParaRPr lang="en-US" sz="3100"/>
          </a:p>
        </p:txBody>
      </p:sp>
      <p:sp>
        <p:nvSpPr>
          <p:cNvPr id="46" name="Text 16">
            <a:extLst>
              <a:ext uri="{FF2B5EF4-FFF2-40B4-BE49-F238E27FC236}">
                <a16:creationId xmlns:a16="http://schemas.microsoft.com/office/drawing/2014/main" id="{29CC2507-6071-700F-886B-CD7E47AD2547}"/>
              </a:ext>
            </a:extLst>
          </p:cNvPr>
          <p:cNvSpPr txBox="1"/>
          <p:nvPr/>
        </p:nvSpPr>
        <p:spPr>
          <a:xfrm>
            <a:off x="951891" y="3993185"/>
            <a:ext cx="1848002" cy="200254"/>
          </a:xfrm>
          <a:prstGeom prst="rect">
            <a:avLst/>
          </a:prstGeom>
          <a:noFill/>
          <a:ln/>
        </p:spPr>
        <p:txBody>
          <a:bodyPr wrap="none" lIns="0" tIns="0" rIns="0" bIns="0" rtlCol="0" anchor="ctr"/>
          <a:lstStyle/>
          <a:p>
            <a:pPr marL="0" indent="0" algn="l">
              <a:buNone/>
            </a:pPr>
            <a:r>
              <a:rPr lang="en-US" sz="1200" b="1">
                <a:solidFill>
                  <a:srgbClr val="1E293B"/>
                </a:solidFill>
                <a:latin typeface="Raleway" pitchFamily="34" charset="0"/>
                <a:ea typeface="Raleway" pitchFamily="34" charset="-122"/>
                <a:cs typeface="Raleway" pitchFamily="34" charset="-120"/>
              </a:rPr>
              <a:t>Years GCC leadership</a:t>
            </a:r>
            <a:endParaRPr lang="en-US" sz="1200"/>
          </a:p>
        </p:txBody>
      </p:sp>
      <p:pic>
        <p:nvPicPr>
          <p:cNvPr id="48" name="Image 5" descr="gen-dedup-32cd67bc95385c5507b78533d3bab6e6.png">
            <a:extLst>
              <a:ext uri="{FF2B5EF4-FFF2-40B4-BE49-F238E27FC236}">
                <a16:creationId xmlns:a16="http://schemas.microsoft.com/office/drawing/2014/main" id="{418D492C-990A-6F23-C9AB-EF1157960D2B}"/>
              </a:ext>
            </a:extLst>
          </p:cNvPr>
          <p:cNvPicPr>
            <a:picLocks noChangeAspect="1"/>
          </p:cNvPicPr>
          <p:nvPr/>
        </p:nvPicPr>
        <p:blipFill>
          <a:blip r:embed="rId6"/>
          <a:srcRect l="-400" r="-400"/>
          <a:stretch/>
        </p:blipFill>
        <p:spPr>
          <a:xfrm>
            <a:off x="8228686" y="3476549"/>
            <a:ext cx="38405" cy="571500"/>
          </a:xfrm>
          <a:prstGeom prst="rect">
            <a:avLst/>
          </a:prstGeom>
        </p:spPr>
      </p:pic>
      <p:sp>
        <p:nvSpPr>
          <p:cNvPr id="50" name="Text 17">
            <a:extLst>
              <a:ext uri="{FF2B5EF4-FFF2-40B4-BE49-F238E27FC236}">
                <a16:creationId xmlns:a16="http://schemas.microsoft.com/office/drawing/2014/main" id="{73CBA601-76A7-6547-F4B1-DB909E3F8DF2}"/>
              </a:ext>
            </a:extLst>
          </p:cNvPr>
          <p:cNvSpPr txBox="1"/>
          <p:nvPr/>
        </p:nvSpPr>
        <p:spPr>
          <a:xfrm>
            <a:off x="8419796" y="3476549"/>
            <a:ext cx="1791310" cy="448056"/>
          </a:xfrm>
          <a:prstGeom prst="rect">
            <a:avLst/>
          </a:prstGeom>
          <a:noFill/>
          <a:ln/>
        </p:spPr>
        <p:txBody>
          <a:bodyPr wrap="none" lIns="0" tIns="0" rIns="0" bIns="0" rtlCol="0" anchor="ctr"/>
          <a:lstStyle/>
          <a:p>
            <a:pPr marL="0" indent="0" algn="l">
              <a:buNone/>
            </a:pPr>
            <a:r>
              <a:rPr lang="en-US" sz="3100" b="1">
                <a:solidFill>
                  <a:srgbClr val="D62839"/>
                </a:solidFill>
                <a:latin typeface="Oswald" pitchFamily="34" charset="0"/>
                <a:ea typeface="Oswald" pitchFamily="34" charset="-122"/>
                <a:cs typeface="Oswald" pitchFamily="34" charset="-120"/>
              </a:rPr>
              <a:t>330+</a:t>
            </a:r>
            <a:endParaRPr lang="en-US" sz="3100"/>
          </a:p>
        </p:txBody>
      </p:sp>
      <p:sp>
        <p:nvSpPr>
          <p:cNvPr id="52" name="Text 18">
            <a:extLst>
              <a:ext uri="{FF2B5EF4-FFF2-40B4-BE49-F238E27FC236}">
                <a16:creationId xmlns:a16="http://schemas.microsoft.com/office/drawing/2014/main" id="{C3BCB01F-1E20-C8A3-302E-6DF6DE56C557}"/>
              </a:ext>
            </a:extLst>
          </p:cNvPr>
          <p:cNvSpPr txBox="1"/>
          <p:nvPr/>
        </p:nvSpPr>
        <p:spPr>
          <a:xfrm>
            <a:off x="8419796" y="3993185"/>
            <a:ext cx="2131466" cy="200254"/>
          </a:xfrm>
          <a:prstGeom prst="rect">
            <a:avLst/>
          </a:prstGeom>
          <a:noFill/>
          <a:ln/>
        </p:spPr>
        <p:txBody>
          <a:bodyPr wrap="none" lIns="0" tIns="0" rIns="0" bIns="0" rtlCol="0" anchor="ctr"/>
          <a:lstStyle/>
          <a:p>
            <a:pPr marL="0" indent="0" algn="l">
              <a:buNone/>
            </a:pPr>
            <a:r>
              <a:rPr lang="en-US" sz="1200" b="1">
                <a:solidFill>
                  <a:srgbClr val="1E293B"/>
                </a:solidFill>
                <a:latin typeface="Raleway" pitchFamily="34" charset="0"/>
                <a:ea typeface="Raleway" pitchFamily="34" charset="-122"/>
                <a:cs typeface="Raleway" pitchFamily="34" charset="-120"/>
              </a:rPr>
              <a:t>GCCs built: greenfield &amp; brownfield</a:t>
            </a:r>
          </a:p>
        </p:txBody>
      </p:sp>
      <p:pic>
        <p:nvPicPr>
          <p:cNvPr id="24" name="Image 3" descr="gen-dedup-777bf757d895431cabe402fcd34ebd5a.png">
            <a:extLst>
              <a:ext uri="{FF2B5EF4-FFF2-40B4-BE49-F238E27FC236}">
                <a16:creationId xmlns:a16="http://schemas.microsoft.com/office/drawing/2014/main" id="{2D4A2A73-B3D0-D5A2-6758-AFF3C784EDBD}"/>
              </a:ext>
            </a:extLst>
          </p:cNvPr>
          <p:cNvPicPr>
            <a:picLocks noChangeAspect="1"/>
          </p:cNvPicPr>
          <p:nvPr/>
        </p:nvPicPr>
        <p:blipFill>
          <a:blip r:embed="rId8">
            <a:biLevel thresh="75000"/>
          </a:blip>
          <a:srcRect l="-384" r="-384"/>
          <a:stretch/>
        </p:blipFill>
        <p:spPr>
          <a:xfrm>
            <a:off x="571500" y="381305"/>
            <a:ext cx="57607" cy="476402"/>
          </a:xfrm>
          <a:prstGeom prst="rect">
            <a:avLst/>
          </a:prstGeom>
        </p:spPr>
      </p:pic>
      <p:sp>
        <p:nvSpPr>
          <p:cNvPr id="26" name="Text 5">
            <a:extLst>
              <a:ext uri="{FF2B5EF4-FFF2-40B4-BE49-F238E27FC236}">
                <a16:creationId xmlns:a16="http://schemas.microsoft.com/office/drawing/2014/main" id="{3DB4DB95-F9EE-9CE3-FE29-C78278EFDFD3}"/>
              </a:ext>
            </a:extLst>
          </p:cNvPr>
          <p:cNvSpPr txBox="1"/>
          <p:nvPr/>
        </p:nvSpPr>
        <p:spPr>
          <a:xfrm>
            <a:off x="780898" y="333756"/>
            <a:ext cx="10478110" cy="372161"/>
          </a:xfrm>
          <a:prstGeom prst="rect">
            <a:avLst/>
          </a:prstGeom>
          <a:noFill/>
          <a:ln/>
        </p:spPr>
        <p:txBody>
          <a:bodyPr wrap="none" lIns="0" tIns="0" rIns="0" bIns="0" rtlCol="0" anchor="ctr"/>
          <a:lstStyle/>
          <a:p>
            <a:pPr marL="0" indent="0" algn="l">
              <a:buNone/>
            </a:pPr>
            <a:r>
              <a:rPr lang="en-US" sz="2500" b="1" dirty="0">
                <a:solidFill>
                  <a:srgbClr val="111827"/>
                </a:solidFill>
                <a:latin typeface="Oswald" pitchFamily="34" charset="0"/>
                <a:ea typeface="Oswald" pitchFamily="34" charset="-122"/>
                <a:cs typeface="Oswald" pitchFamily="34" charset="-120"/>
              </a:rPr>
              <a:t>WHO WE ARE</a:t>
            </a:r>
          </a:p>
        </p:txBody>
      </p:sp>
      <p:sp>
        <p:nvSpPr>
          <p:cNvPr id="28" name="Text 6">
            <a:extLst>
              <a:ext uri="{FF2B5EF4-FFF2-40B4-BE49-F238E27FC236}">
                <a16:creationId xmlns:a16="http://schemas.microsoft.com/office/drawing/2014/main" id="{1B415227-73CC-74D7-06DC-03CF858BD1CD}"/>
              </a:ext>
            </a:extLst>
          </p:cNvPr>
          <p:cNvSpPr txBox="1"/>
          <p:nvPr/>
        </p:nvSpPr>
        <p:spPr>
          <a:xfrm>
            <a:off x="780898" y="740664"/>
            <a:ext cx="10478110" cy="191110"/>
          </a:xfrm>
          <a:prstGeom prst="rect">
            <a:avLst/>
          </a:prstGeom>
          <a:noFill/>
          <a:ln/>
        </p:spPr>
        <p:txBody>
          <a:bodyPr wrap="none" lIns="0" tIns="0" rIns="0" bIns="0" rtlCol="0" anchor="ctr"/>
          <a:lstStyle/>
          <a:p>
            <a:pPr marL="0" indent="0" algn="l">
              <a:buNone/>
            </a:pPr>
            <a:r>
              <a:rPr lang="en-GB" sz="1500" b="1" kern="0" spc="66" dirty="0">
                <a:solidFill>
                  <a:srgbClr val="2A9D8F"/>
                </a:solidFill>
                <a:latin typeface="Roboto Condensed" pitchFamily="34" charset="0"/>
                <a:ea typeface="Roboto Condensed" pitchFamily="34" charset="-122"/>
                <a:cs typeface="Roboto Condensed" pitchFamily="34" charset="-120"/>
              </a:rPr>
              <a:t>The AI-native GCC platform - a decade in the making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6">
            <a:extLst>
              <a:ext uri="{FF2B5EF4-FFF2-40B4-BE49-F238E27FC236}">
                <a16:creationId xmlns:a16="http://schemas.microsoft.com/office/drawing/2014/main" id="{BC38BC13-DFC1-F89E-0089-AA5AA093AE76}"/>
              </a:ext>
            </a:extLst>
          </p:cNvPr>
          <p:cNvSpPr/>
          <p:nvPr/>
        </p:nvSpPr>
        <p:spPr>
          <a:xfrm>
            <a:off x="557351" y="3262993"/>
            <a:ext cx="5295445" cy="1447495"/>
          </a:xfrm>
          <a:prstGeom prst="roundRect">
            <a:avLst>
              <a:gd name="adj" fmla="val 4987"/>
            </a:avLst>
          </a:prstGeom>
          <a:solidFill>
            <a:srgbClr val="F8FAFC"/>
          </a:solidFill>
          <a:ln w="12700">
            <a:solidFill>
              <a:srgbClr val="E2E8F0"/>
            </a:solidFill>
            <a:prstDash val="solid"/>
          </a:ln>
        </p:spPr>
        <p:txBody>
          <a:bodyPr/>
          <a:lstStyle/>
          <a:p>
            <a:endParaRPr lang="en-US"/>
          </a:p>
        </p:txBody>
      </p:sp>
      <p:sp>
        <p:nvSpPr>
          <p:cNvPr id="4" name="Shape 2"/>
          <p:cNvSpPr/>
          <p:nvPr/>
        </p:nvSpPr>
        <p:spPr>
          <a:xfrm>
            <a:off x="8953805" y="-571500"/>
            <a:ext cx="3810305" cy="3810305"/>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5" name="Image 0" descr="gen-dedup-5e765734fa6996e94526269805e72083.png"/>
          <p:cNvPicPr>
            <a:picLocks noChangeAspect="1"/>
          </p:cNvPicPr>
          <p:nvPr/>
        </p:nvPicPr>
        <p:blipFill>
          <a:blip r:embed="rId3">
            <a:alphaModFix amt="8000"/>
          </a:blip>
          <a:srcRect/>
          <a:stretch/>
        </p:blipFill>
        <p:spPr>
          <a:xfrm>
            <a:off x="-326875" y="3729794"/>
            <a:ext cx="2381098" cy="2381098"/>
          </a:xfrm>
          <a:prstGeom prst="rect">
            <a:avLst/>
          </a:prstGeom>
        </p:spPr>
      </p:pic>
      <p:pic>
        <p:nvPicPr>
          <p:cNvPr id="6" name="Image 1" descr="gen-dedup-323228122ff92d2332e711a84ca3b40c.png"/>
          <p:cNvPicPr>
            <a:picLocks noChangeAspect="1"/>
          </p:cNvPicPr>
          <p:nvPr/>
        </p:nvPicPr>
        <p:blipFill>
          <a:blip r:embed="rId4"/>
          <a:srcRect l="-198" r="-198"/>
          <a:stretch/>
        </p:blipFill>
        <p:spPr>
          <a:xfrm>
            <a:off x="0" y="0"/>
            <a:ext cx="8124444" cy="75895"/>
          </a:xfrm>
          <a:prstGeom prst="rect">
            <a:avLst/>
          </a:prstGeom>
        </p:spPr>
      </p:pic>
      <p:pic>
        <p:nvPicPr>
          <p:cNvPr id="7" name="Image 2" descr="gen-dedup-9663ecf744b06e35d4c2cebaab92a2ea.png"/>
          <p:cNvPicPr>
            <a:picLocks noChangeAspect="1"/>
          </p:cNvPicPr>
          <p:nvPr/>
        </p:nvPicPr>
        <p:blipFill>
          <a:blip r:embed="rId5"/>
          <a:srcRect l="-202" r="-202"/>
          <a:stretch/>
        </p:blipFill>
        <p:spPr>
          <a:xfrm>
            <a:off x="8124444" y="0"/>
            <a:ext cx="4067251" cy="75895"/>
          </a:xfrm>
          <a:prstGeom prst="rect">
            <a:avLst/>
          </a:prstGeom>
        </p:spPr>
      </p:pic>
      <p:sp>
        <p:nvSpPr>
          <p:cNvPr id="9" name="Shape 3"/>
          <p:cNvSpPr/>
          <p:nvPr/>
        </p:nvSpPr>
        <p:spPr>
          <a:xfrm>
            <a:off x="557661" y="1401677"/>
            <a:ext cx="10972190" cy="1450129"/>
          </a:xfrm>
          <a:prstGeom prst="roundRect">
            <a:avLst>
              <a:gd name="adj" fmla="val 2853"/>
            </a:avLst>
          </a:prstGeom>
          <a:solidFill>
            <a:srgbClr val="FFFFFF"/>
          </a:solidFill>
          <a:ln w="12700">
            <a:solidFill>
              <a:srgbClr val="E2E8F0"/>
            </a:solidFill>
            <a:prstDash val="solid"/>
          </a:ln>
          <a:effectLst>
            <a:outerShdw blurRad="63500" dist="38100" dir="16200000" algn="bl" rotWithShape="0">
              <a:srgbClr val="000000">
                <a:alpha val="3000"/>
              </a:srgbClr>
            </a:outerShdw>
          </a:effectLst>
        </p:spPr>
        <p:txBody>
          <a:bodyPr/>
          <a:lstStyle/>
          <a:p>
            <a:endParaRPr lang="en-US"/>
          </a:p>
        </p:txBody>
      </p:sp>
      <p:sp>
        <p:nvSpPr>
          <p:cNvPr id="10" name="Shape 4"/>
          <p:cNvSpPr/>
          <p:nvPr/>
        </p:nvSpPr>
        <p:spPr>
          <a:xfrm>
            <a:off x="557661" y="1401677"/>
            <a:ext cx="47549" cy="1450129"/>
          </a:xfrm>
          <a:prstGeom prst="roundRect">
            <a:avLst>
              <a:gd name="adj" fmla="val 132625"/>
            </a:avLst>
          </a:prstGeom>
          <a:solidFill>
            <a:srgbClr val="111827"/>
          </a:solidFill>
          <a:ln w="12700">
            <a:solidFill>
              <a:srgbClr val="111827">
                <a:alpha val="0"/>
              </a:srgbClr>
            </a:solidFill>
            <a:prstDash val="solid"/>
          </a:ln>
        </p:spPr>
        <p:txBody>
          <a:bodyPr/>
          <a:lstStyle/>
          <a:p>
            <a:endParaRPr lang="en-US"/>
          </a:p>
        </p:txBody>
      </p:sp>
      <p:sp>
        <p:nvSpPr>
          <p:cNvPr id="12" name="Shape 6"/>
          <p:cNvSpPr/>
          <p:nvPr/>
        </p:nvSpPr>
        <p:spPr>
          <a:xfrm>
            <a:off x="6005501" y="3253392"/>
            <a:ext cx="5543248" cy="1447495"/>
          </a:xfrm>
          <a:prstGeom prst="roundRect">
            <a:avLst>
              <a:gd name="adj" fmla="val 4987"/>
            </a:avLst>
          </a:prstGeom>
          <a:solidFill>
            <a:srgbClr val="F8FAFC"/>
          </a:solidFill>
          <a:ln w="12700">
            <a:solidFill>
              <a:srgbClr val="E2E8F0"/>
            </a:solidFill>
            <a:prstDash val="solid"/>
          </a:ln>
        </p:spPr>
        <p:txBody>
          <a:bodyPr/>
          <a:lstStyle/>
          <a:p>
            <a:endParaRPr lang="en-US"/>
          </a:p>
        </p:txBody>
      </p:sp>
      <p:sp>
        <p:nvSpPr>
          <p:cNvPr id="15" name="Shape 9"/>
          <p:cNvSpPr/>
          <p:nvPr/>
        </p:nvSpPr>
        <p:spPr>
          <a:xfrm>
            <a:off x="557350" y="4967892"/>
            <a:ext cx="5295445" cy="1447495"/>
          </a:xfrm>
          <a:prstGeom prst="roundRect">
            <a:avLst>
              <a:gd name="adj" fmla="val 4987"/>
            </a:avLst>
          </a:prstGeom>
          <a:solidFill>
            <a:srgbClr val="F8FAFC"/>
          </a:solidFill>
          <a:ln w="12700">
            <a:solidFill>
              <a:srgbClr val="E2E8F0"/>
            </a:solidFill>
            <a:prstDash val="solid"/>
          </a:ln>
        </p:spPr>
        <p:txBody>
          <a:bodyPr/>
          <a:lstStyle/>
          <a:p>
            <a:endParaRPr lang="en-US"/>
          </a:p>
        </p:txBody>
      </p:sp>
      <p:sp>
        <p:nvSpPr>
          <p:cNvPr id="16" name="Shape 10"/>
          <p:cNvSpPr/>
          <p:nvPr/>
        </p:nvSpPr>
        <p:spPr>
          <a:xfrm>
            <a:off x="6005501" y="4967892"/>
            <a:ext cx="5543248" cy="1447495"/>
          </a:xfrm>
          <a:prstGeom prst="roundRect">
            <a:avLst>
              <a:gd name="adj" fmla="val 4987"/>
            </a:avLst>
          </a:prstGeom>
          <a:solidFill>
            <a:srgbClr val="F8FAFC"/>
          </a:solidFill>
          <a:ln w="12700">
            <a:solidFill>
              <a:srgbClr val="E2E8F0"/>
            </a:solidFill>
            <a:prstDash val="solid"/>
          </a:ln>
        </p:spPr>
        <p:txBody>
          <a:bodyPr/>
          <a:lstStyle/>
          <a:p>
            <a:endParaRPr lang="en-US"/>
          </a:p>
        </p:txBody>
      </p:sp>
      <p:sp>
        <p:nvSpPr>
          <p:cNvPr id="19" name="Text 13"/>
          <p:cNvSpPr txBox="1"/>
          <p:nvPr/>
        </p:nvSpPr>
        <p:spPr>
          <a:xfrm>
            <a:off x="938051" y="1479967"/>
            <a:ext cx="6967162" cy="648310"/>
          </a:xfrm>
          <a:prstGeom prst="rect">
            <a:avLst/>
          </a:prstGeom>
          <a:noFill/>
          <a:ln/>
        </p:spPr>
        <p:txBody>
          <a:bodyPr wrap="square" lIns="0" tIns="0" rIns="0" bIns="0" rtlCol="0" anchor="ctr"/>
          <a:lstStyle/>
          <a:p>
            <a:pPr marL="0" indent="0" algn="l">
              <a:buNone/>
            </a:pPr>
            <a:r>
              <a:rPr lang="en-US" sz="1900" b="1">
                <a:solidFill>
                  <a:srgbClr val="111827"/>
                </a:solidFill>
                <a:latin typeface="Oswald" pitchFamily="34" charset="0"/>
                <a:ea typeface="Oswald" pitchFamily="34" charset="-122"/>
                <a:cs typeface="Oswald" pitchFamily="34" charset="-120"/>
              </a:rPr>
              <a:t>J2W is the AI-native GCC platform for the Fortune 1000 and beyond.</a:t>
            </a:r>
            <a:endParaRPr lang="en-US" sz="1900"/>
          </a:p>
        </p:txBody>
      </p:sp>
      <p:sp>
        <p:nvSpPr>
          <p:cNvPr id="20" name="Text 14"/>
          <p:cNvSpPr txBox="1"/>
          <p:nvPr/>
        </p:nvSpPr>
        <p:spPr>
          <a:xfrm>
            <a:off x="938050" y="1992488"/>
            <a:ext cx="9144915" cy="685800"/>
          </a:xfrm>
          <a:prstGeom prst="rect">
            <a:avLst/>
          </a:prstGeom>
          <a:noFill/>
          <a:ln/>
        </p:spPr>
        <p:txBody>
          <a:bodyPr wrap="square" lIns="0" tIns="0" rIns="0" bIns="0" rtlCol="0" anchor="ctr"/>
          <a:lstStyle/>
          <a:p>
            <a:pPr marL="0" indent="0" algn="l">
              <a:buNone/>
            </a:pPr>
            <a:r>
              <a:rPr lang="en-US" sz="1100">
                <a:solidFill>
                  <a:srgbClr val="4B5563"/>
                </a:solidFill>
                <a:latin typeface="Raleway" pitchFamily="34" charset="0"/>
                <a:ea typeface="Raleway" pitchFamily="34" charset="-122"/>
                <a:cs typeface="Raleway" pitchFamily="34" charset="-120"/>
              </a:rPr>
              <a:t>Ten years building nothing but GCCs - so we solve the next problem before it shows up, deliver ROI in weeks where the industry takes quarters, and turn the GCC from a cost line into an innovation engine.</a:t>
            </a:r>
            <a:endParaRPr lang="en-US" sz="1100"/>
          </a:p>
        </p:txBody>
      </p:sp>
      <p:pic>
        <p:nvPicPr>
          <p:cNvPr id="21" name="Image 4" descr="gen-dedup-3d17221e8cd76f10a3e0815681bf2023.png"/>
          <p:cNvPicPr>
            <a:picLocks noChangeAspect="1"/>
          </p:cNvPicPr>
          <p:nvPr/>
        </p:nvPicPr>
        <p:blipFill>
          <a:blip r:embed="rId6"/>
          <a:srcRect l="-400" r="-400"/>
          <a:stretch/>
        </p:blipFill>
        <p:spPr>
          <a:xfrm>
            <a:off x="747856" y="3491136"/>
            <a:ext cx="38405" cy="571500"/>
          </a:xfrm>
          <a:prstGeom prst="rect">
            <a:avLst/>
          </a:prstGeom>
        </p:spPr>
      </p:pic>
      <p:sp>
        <p:nvSpPr>
          <p:cNvPr id="22" name="Text 15"/>
          <p:cNvSpPr txBox="1"/>
          <p:nvPr/>
        </p:nvSpPr>
        <p:spPr>
          <a:xfrm>
            <a:off x="938051" y="3491136"/>
            <a:ext cx="1552651" cy="448056"/>
          </a:xfrm>
          <a:prstGeom prst="rect">
            <a:avLst/>
          </a:prstGeom>
          <a:noFill/>
          <a:ln/>
        </p:spPr>
        <p:txBody>
          <a:bodyPr wrap="none" lIns="0" tIns="0" rIns="0" bIns="0" rtlCol="0" anchor="ctr"/>
          <a:lstStyle/>
          <a:p>
            <a:pPr marL="0" indent="0" algn="l">
              <a:buNone/>
            </a:pPr>
            <a:r>
              <a:rPr lang="en-US" sz="3100" b="1">
                <a:solidFill>
                  <a:srgbClr val="2A9D8F"/>
                </a:solidFill>
                <a:latin typeface="Oswald" pitchFamily="34" charset="0"/>
                <a:ea typeface="Oswald" pitchFamily="34" charset="-122"/>
                <a:cs typeface="Oswald" pitchFamily="34" charset="-120"/>
              </a:rPr>
              <a:t>10+</a:t>
            </a:r>
            <a:endParaRPr lang="en-US" sz="3100"/>
          </a:p>
        </p:txBody>
      </p:sp>
      <p:sp>
        <p:nvSpPr>
          <p:cNvPr id="23" name="Text 16"/>
          <p:cNvSpPr txBox="1"/>
          <p:nvPr/>
        </p:nvSpPr>
        <p:spPr>
          <a:xfrm>
            <a:off x="938051" y="4007772"/>
            <a:ext cx="1848002" cy="200254"/>
          </a:xfrm>
          <a:prstGeom prst="rect">
            <a:avLst/>
          </a:prstGeom>
          <a:noFill/>
          <a:ln/>
        </p:spPr>
        <p:txBody>
          <a:bodyPr wrap="none" lIns="0" tIns="0" rIns="0" bIns="0" rtlCol="0" anchor="ctr"/>
          <a:lstStyle/>
          <a:p>
            <a:pPr marL="0" indent="0" algn="l">
              <a:buNone/>
            </a:pPr>
            <a:r>
              <a:rPr lang="en-US" sz="1200" b="1">
                <a:solidFill>
                  <a:srgbClr val="1E293B"/>
                </a:solidFill>
                <a:latin typeface="Raleway" pitchFamily="34" charset="0"/>
                <a:ea typeface="Raleway" pitchFamily="34" charset="-122"/>
                <a:cs typeface="Raleway" pitchFamily="34" charset="-120"/>
              </a:rPr>
              <a:t>Years GCC leadership</a:t>
            </a:r>
            <a:endParaRPr lang="en-US" sz="1200"/>
          </a:p>
        </p:txBody>
      </p:sp>
      <p:pic>
        <p:nvPicPr>
          <p:cNvPr id="24" name="Image 5" descr="gen-dedup-32cd67bc95385c5507b78533d3bab6e6.png"/>
          <p:cNvPicPr>
            <a:picLocks noChangeAspect="1"/>
          </p:cNvPicPr>
          <p:nvPr/>
        </p:nvPicPr>
        <p:blipFill>
          <a:blip r:embed="rId7"/>
          <a:srcRect l="-400" r="-400"/>
          <a:stretch/>
        </p:blipFill>
        <p:spPr>
          <a:xfrm>
            <a:off x="6195697" y="3491136"/>
            <a:ext cx="38405" cy="571500"/>
          </a:xfrm>
          <a:prstGeom prst="rect">
            <a:avLst/>
          </a:prstGeom>
        </p:spPr>
      </p:pic>
      <p:sp>
        <p:nvSpPr>
          <p:cNvPr id="25" name="Text 17"/>
          <p:cNvSpPr txBox="1"/>
          <p:nvPr/>
        </p:nvSpPr>
        <p:spPr>
          <a:xfrm>
            <a:off x="6386807" y="3491136"/>
            <a:ext cx="1791310" cy="448056"/>
          </a:xfrm>
          <a:prstGeom prst="rect">
            <a:avLst/>
          </a:prstGeom>
          <a:noFill/>
          <a:ln/>
        </p:spPr>
        <p:txBody>
          <a:bodyPr wrap="none" lIns="0" tIns="0" rIns="0" bIns="0" rtlCol="0" anchor="ctr"/>
          <a:lstStyle/>
          <a:p>
            <a:pPr marL="0" indent="0" algn="l">
              <a:buNone/>
            </a:pPr>
            <a:r>
              <a:rPr lang="en-US" sz="3100" b="1">
                <a:solidFill>
                  <a:srgbClr val="D62839"/>
                </a:solidFill>
                <a:latin typeface="Oswald" pitchFamily="34" charset="0"/>
                <a:ea typeface="Oswald" pitchFamily="34" charset="-122"/>
                <a:cs typeface="Oswald" pitchFamily="34" charset="-120"/>
              </a:rPr>
              <a:t>320+</a:t>
            </a:r>
            <a:endParaRPr lang="en-US" sz="3100"/>
          </a:p>
        </p:txBody>
      </p:sp>
      <p:sp>
        <p:nvSpPr>
          <p:cNvPr id="26" name="Text 18"/>
          <p:cNvSpPr txBox="1"/>
          <p:nvPr/>
        </p:nvSpPr>
        <p:spPr>
          <a:xfrm>
            <a:off x="6386807" y="4007772"/>
            <a:ext cx="2131466" cy="200254"/>
          </a:xfrm>
          <a:prstGeom prst="rect">
            <a:avLst/>
          </a:prstGeom>
          <a:noFill/>
          <a:ln/>
        </p:spPr>
        <p:txBody>
          <a:bodyPr wrap="none" lIns="0" tIns="0" rIns="0" bIns="0" rtlCol="0" anchor="ctr"/>
          <a:lstStyle/>
          <a:p>
            <a:pPr marL="0" indent="0" algn="l">
              <a:buNone/>
            </a:pPr>
            <a:r>
              <a:rPr lang="en-US" sz="1200" b="1">
                <a:solidFill>
                  <a:srgbClr val="1E293B"/>
                </a:solidFill>
                <a:latin typeface="Raleway" pitchFamily="34" charset="0"/>
                <a:ea typeface="Raleway" pitchFamily="34" charset="-122"/>
                <a:cs typeface="Raleway" pitchFamily="34" charset="-120"/>
              </a:rPr>
              <a:t>Enterprise clients served</a:t>
            </a:r>
            <a:endParaRPr lang="en-US" sz="1200"/>
          </a:p>
        </p:txBody>
      </p:sp>
      <p:pic>
        <p:nvPicPr>
          <p:cNvPr id="33" name="Image 8" descr="gen-dedup-3d17221e8cd76f10a3e0815681bf2023.png"/>
          <p:cNvPicPr>
            <a:picLocks noChangeAspect="1"/>
          </p:cNvPicPr>
          <p:nvPr/>
        </p:nvPicPr>
        <p:blipFill>
          <a:blip r:embed="rId6"/>
          <a:srcRect l="-400" r="-400"/>
          <a:stretch/>
        </p:blipFill>
        <p:spPr>
          <a:xfrm>
            <a:off x="747546" y="5205636"/>
            <a:ext cx="38405" cy="571500"/>
          </a:xfrm>
          <a:prstGeom prst="rect">
            <a:avLst/>
          </a:prstGeom>
        </p:spPr>
      </p:pic>
      <p:sp>
        <p:nvSpPr>
          <p:cNvPr id="34" name="Text 23"/>
          <p:cNvSpPr txBox="1"/>
          <p:nvPr/>
        </p:nvSpPr>
        <p:spPr>
          <a:xfrm>
            <a:off x="938656" y="5205636"/>
            <a:ext cx="1705356" cy="448056"/>
          </a:xfrm>
          <a:prstGeom prst="rect">
            <a:avLst/>
          </a:prstGeom>
          <a:noFill/>
          <a:ln/>
        </p:spPr>
        <p:txBody>
          <a:bodyPr wrap="none" lIns="0" tIns="0" rIns="0" bIns="0" rtlCol="0" anchor="ctr"/>
          <a:lstStyle/>
          <a:p>
            <a:pPr marL="0" indent="0" algn="l">
              <a:buNone/>
            </a:pPr>
            <a:r>
              <a:rPr lang="en-US" sz="3100" b="1">
                <a:solidFill>
                  <a:srgbClr val="2A9D8F"/>
                </a:solidFill>
                <a:latin typeface="Oswald" pitchFamily="34" charset="0"/>
                <a:ea typeface="Oswald" pitchFamily="34" charset="-122"/>
                <a:cs typeface="Oswald" pitchFamily="34" charset="-120"/>
              </a:rPr>
              <a:t>8</a:t>
            </a:r>
            <a:endParaRPr lang="en-US" sz="3100"/>
          </a:p>
        </p:txBody>
      </p:sp>
      <p:sp>
        <p:nvSpPr>
          <p:cNvPr id="35" name="Text 24"/>
          <p:cNvSpPr txBox="1"/>
          <p:nvPr/>
        </p:nvSpPr>
        <p:spPr>
          <a:xfrm>
            <a:off x="938656" y="5722272"/>
            <a:ext cx="2029054" cy="200254"/>
          </a:xfrm>
          <a:prstGeom prst="rect">
            <a:avLst/>
          </a:prstGeom>
          <a:noFill/>
          <a:ln/>
        </p:spPr>
        <p:txBody>
          <a:bodyPr wrap="none" lIns="0" tIns="0" rIns="0" bIns="0" rtlCol="0" anchor="ctr"/>
          <a:lstStyle/>
          <a:p>
            <a:pPr marL="0" indent="0" algn="l">
              <a:buNone/>
            </a:pPr>
            <a:r>
              <a:rPr lang="en-US" sz="1200" b="1">
                <a:solidFill>
                  <a:srgbClr val="1E293B"/>
                </a:solidFill>
                <a:latin typeface="Raleway" pitchFamily="34" charset="0"/>
                <a:ea typeface="Raleway" pitchFamily="34" charset="-122"/>
                <a:cs typeface="Raleway" pitchFamily="34" charset="-120"/>
              </a:rPr>
              <a:t>Countries with footprint</a:t>
            </a:r>
            <a:endParaRPr lang="en-US" sz="1200"/>
          </a:p>
        </p:txBody>
      </p:sp>
      <p:pic>
        <p:nvPicPr>
          <p:cNvPr id="36" name="Image 9" descr="gen-dedup-32cd67bc95385c5507b78533d3bab6e6.png"/>
          <p:cNvPicPr>
            <a:picLocks noChangeAspect="1"/>
          </p:cNvPicPr>
          <p:nvPr/>
        </p:nvPicPr>
        <p:blipFill>
          <a:blip r:embed="rId7"/>
          <a:srcRect l="-400" r="-400"/>
          <a:stretch/>
        </p:blipFill>
        <p:spPr>
          <a:xfrm>
            <a:off x="6196611" y="5205636"/>
            <a:ext cx="38405" cy="571500"/>
          </a:xfrm>
          <a:prstGeom prst="rect">
            <a:avLst/>
          </a:prstGeom>
        </p:spPr>
      </p:pic>
      <p:sp>
        <p:nvSpPr>
          <p:cNvPr id="37" name="Text 25"/>
          <p:cNvSpPr txBox="1"/>
          <p:nvPr/>
        </p:nvSpPr>
        <p:spPr>
          <a:xfrm>
            <a:off x="6386806" y="5205636"/>
            <a:ext cx="1677010" cy="448056"/>
          </a:xfrm>
          <a:prstGeom prst="rect">
            <a:avLst/>
          </a:prstGeom>
          <a:noFill/>
          <a:ln/>
        </p:spPr>
        <p:txBody>
          <a:bodyPr wrap="none" lIns="0" tIns="0" rIns="0" bIns="0" rtlCol="0" anchor="ctr"/>
          <a:lstStyle/>
          <a:p>
            <a:pPr marL="0" indent="0" algn="l">
              <a:buNone/>
            </a:pPr>
            <a:r>
              <a:rPr lang="en-US" sz="3100" b="1">
                <a:solidFill>
                  <a:srgbClr val="D62839"/>
                </a:solidFill>
                <a:latin typeface="Oswald" pitchFamily="34" charset="0"/>
                <a:ea typeface="Oswald" pitchFamily="34" charset="-122"/>
                <a:cs typeface="Oswald" pitchFamily="34" charset="-120"/>
              </a:rPr>
              <a:t>60+</a:t>
            </a:r>
            <a:endParaRPr lang="en-US" sz="3100"/>
          </a:p>
        </p:txBody>
      </p:sp>
      <p:sp>
        <p:nvSpPr>
          <p:cNvPr id="38" name="Text 26"/>
          <p:cNvSpPr txBox="1"/>
          <p:nvPr/>
        </p:nvSpPr>
        <p:spPr>
          <a:xfrm>
            <a:off x="6386806" y="5722272"/>
            <a:ext cx="1995221" cy="200254"/>
          </a:xfrm>
          <a:prstGeom prst="rect">
            <a:avLst/>
          </a:prstGeom>
          <a:noFill/>
          <a:ln/>
        </p:spPr>
        <p:txBody>
          <a:bodyPr wrap="none" lIns="0" tIns="0" rIns="0" bIns="0" rtlCol="0" anchor="ctr"/>
          <a:lstStyle/>
          <a:p>
            <a:pPr marL="0" indent="0" algn="l">
              <a:buNone/>
            </a:pPr>
            <a:r>
              <a:rPr lang="en-US" sz="1200" b="1">
                <a:solidFill>
                  <a:srgbClr val="1E293B"/>
                </a:solidFill>
                <a:latin typeface="Raleway" pitchFamily="34" charset="0"/>
                <a:ea typeface="Raleway" pitchFamily="34" charset="-122"/>
                <a:cs typeface="Raleway" pitchFamily="34" charset="-120"/>
              </a:rPr>
              <a:t>AI-enabled capabilities</a:t>
            </a:r>
            <a:endParaRPr lang="en-US" sz="1200"/>
          </a:p>
        </p:txBody>
      </p:sp>
      <p:pic>
        <p:nvPicPr>
          <p:cNvPr id="30" name="Image 3" descr="gen-dedup-777bf757d895431cabe402fcd34ebd5a.png">
            <a:extLst>
              <a:ext uri="{FF2B5EF4-FFF2-40B4-BE49-F238E27FC236}">
                <a16:creationId xmlns:a16="http://schemas.microsoft.com/office/drawing/2014/main" id="{5DAE74F9-C6C4-26FC-6767-5D59D2F8D8BD}"/>
              </a:ext>
            </a:extLst>
          </p:cNvPr>
          <p:cNvPicPr>
            <a:picLocks noChangeAspect="1"/>
          </p:cNvPicPr>
          <p:nvPr/>
        </p:nvPicPr>
        <p:blipFill>
          <a:blip r:embed="rId8">
            <a:biLevel thresh="75000"/>
          </a:blip>
          <a:srcRect l="-384" r="-384"/>
          <a:stretch/>
        </p:blipFill>
        <p:spPr>
          <a:xfrm>
            <a:off x="571500" y="381305"/>
            <a:ext cx="57607" cy="476402"/>
          </a:xfrm>
          <a:prstGeom prst="rect">
            <a:avLst/>
          </a:prstGeom>
        </p:spPr>
      </p:pic>
      <p:sp>
        <p:nvSpPr>
          <p:cNvPr id="32" name="Text 5">
            <a:extLst>
              <a:ext uri="{FF2B5EF4-FFF2-40B4-BE49-F238E27FC236}">
                <a16:creationId xmlns:a16="http://schemas.microsoft.com/office/drawing/2014/main" id="{D8D31C37-7BC4-B2C7-854A-A4CBEC01D04A}"/>
              </a:ext>
            </a:extLst>
          </p:cNvPr>
          <p:cNvSpPr txBox="1"/>
          <p:nvPr/>
        </p:nvSpPr>
        <p:spPr>
          <a:xfrm>
            <a:off x="780898" y="333756"/>
            <a:ext cx="10478110" cy="372161"/>
          </a:xfrm>
          <a:prstGeom prst="rect">
            <a:avLst/>
          </a:prstGeom>
          <a:noFill/>
          <a:ln/>
        </p:spPr>
        <p:txBody>
          <a:bodyPr wrap="none" lIns="0" tIns="0" rIns="0" bIns="0" rtlCol="0" anchor="ctr"/>
          <a:lstStyle/>
          <a:p>
            <a:pPr marL="0" indent="0" algn="l">
              <a:buNone/>
            </a:pPr>
            <a:r>
              <a:rPr lang="en-US" sz="2500" b="1" dirty="0">
                <a:solidFill>
                  <a:srgbClr val="111827"/>
                </a:solidFill>
                <a:latin typeface="Oswald" pitchFamily="34" charset="0"/>
                <a:ea typeface="Oswald" pitchFamily="34" charset="-122"/>
                <a:cs typeface="Oswald" pitchFamily="34" charset="-120"/>
              </a:rPr>
              <a:t>WHO WE ARE</a:t>
            </a:r>
          </a:p>
        </p:txBody>
      </p:sp>
      <p:sp>
        <p:nvSpPr>
          <p:cNvPr id="40" name="Text 6">
            <a:extLst>
              <a:ext uri="{FF2B5EF4-FFF2-40B4-BE49-F238E27FC236}">
                <a16:creationId xmlns:a16="http://schemas.microsoft.com/office/drawing/2014/main" id="{B3E5E355-A5F8-3C33-76D6-22B934D99349}"/>
              </a:ext>
            </a:extLst>
          </p:cNvPr>
          <p:cNvSpPr txBox="1"/>
          <p:nvPr/>
        </p:nvSpPr>
        <p:spPr>
          <a:xfrm>
            <a:off x="780898" y="740664"/>
            <a:ext cx="10478110" cy="191110"/>
          </a:xfrm>
          <a:prstGeom prst="rect">
            <a:avLst/>
          </a:prstGeom>
          <a:noFill/>
          <a:ln/>
        </p:spPr>
        <p:txBody>
          <a:bodyPr wrap="none" lIns="0" tIns="0" rIns="0" bIns="0" rtlCol="0" anchor="ctr"/>
          <a:lstStyle/>
          <a:p>
            <a:pPr marL="0" indent="0" algn="l">
              <a:buNone/>
            </a:pPr>
            <a:r>
              <a:rPr lang="en-GB" sz="1500" b="1" kern="0" spc="66" dirty="0">
                <a:solidFill>
                  <a:srgbClr val="2A9D8F"/>
                </a:solidFill>
                <a:latin typeface="Roboto Condensed" pitchFamily="34" charset="0"/>
                <a:ea typeface="Roboto Condensed" pitchFamily="34" charset="-122"/>
                <a:cs typeface="Roboto Condensed" pitchFamily="34" charset="-120"/>
              </a:rPr>
              <a:t>The AI-native GCC platform - a decade in the making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gen-dedup-8d528aa4624073346a7168f37017be9b.png"/>
          <p:cNvPicPr>
            <a:picLocks noChangeAspect="1"/>
          </p:cNvPicPr>
          <p:nvPr/>
        </p:nvPicPr>
        <p:blipFill>
          <a:blip r:embed="rId3">
            <a:alphaModFix amt="15000"/>
          </a:blip>
          <a:srcRect t="-6251" b="-6251"/>
          <a:stretch/>
        </p:blipFill>
        <p:spPr>
          <a:xfrm>
            <a:off x="0" y="0"/>
            <a:ext cx="12191695" cy="6858000"/>
          </a:xfrm>
          <a:prstGeom prst="rect">
            <a:avLst/>
          </a:prstGeom>
        </p:spPr>
      </p:pic>
      <p:sp>
        <p:nvSpPr>
          <p:cNvPr id="5" name="Shape 0"/>
          <p:cNvSpPr/>
          <p:nvPr/>
        </p:nvSpPr>
        <p:spPr>
          <a:xfrm>
            <a:off x="571500" y="1619402"/>
            <a:ext cx="3258007" cy="3371393"/>
          </a:xfrm>
          <a:prstGeom prst="roundRect">
            <a:avLst>
              <a:gd name="adj" fmla="val 1768"/>
            </a:avLst>
          </a:prstGeom>
          <a:solidFill>
            <a:srgbClr val="FFFFFF">
              <a:alpha val="85000"/>
            </a:srgbClr>
          </a:solidFill>
          <a:ln w="12700">
            <a:solidFill>
              <a:srgbClr val="E5E7EB"/>
            </a:solidFill>
            <a:prstDash val="solid"/>
          </a:ln>
          <a:effectLst>
            <a:outerShdw blurRad="63500" dist="38100" dir="16200000" algn="bl" rotWithShape="0">
              <a:srgbClr val="000000">
                <a:alpha val="5000"/>
              </a:srgbClr>
            </a:outerShdw>
          </a:effectLst>
        </p:spPr>
        <p:txBody>
          <a:bodyPr/>
          <a:lstStyle/>
          <a:p>
            <a:endParaRPr lang="en-IN"/>
          </a:p>
        </p:txBody>
      </p:sp>
      <p:sp>
        <p:nvSpPr>
          <p:cNvPr id="6" name="Shape 1"/>
          <p:cNvSpPr/>
          <p:nvPr/>
        </p:nvSpPr>
        <p:spPr>
          <a:xfrm>
            <a:off x="571500" y="1619402"/>
            <a:ext cx="3258007" cy="28346"/>
          </a:xfrm>
          <a:prstGeom prst="roundRect">
            <a:avLst>
              <a:gd name="adj" fmla="val 203229"/>
            </a:avLst>
          </a:prstGeom>
          <a:solidFill>
            <a:srgbClr val="2A9D8F"/>
          </a:solidFill>
          <a:ln w="12700">
            <a:solidFill>
              <a:srgbClr val="2A9D8F">
                <a:alpha val="0"/>
              </a:srgbClr>
            </a:solidFill>
            <a:prstDash val="solid"/>
          </a:ln>
        </p:spPr>
        <p:txBody>
          <a:bodyPr/>
          <a:lstStyle/>
          <a:p>
            <a:endParaRPr lang="en-IN"/>
          </a:p>
        </p:txBody>
      </p:sp>
      <p:sp>
        <p:nvSpPr>
          <p:cNvPr id="7" name="Shape 2"/>
          <p:cNvSpPr/>
          <p:nvPr/>
        </p:nvSpPr>
        <p:spPr>
          <a:xfrm>
            <a:off x="571500" y="5084978"/>
            <a:ext cx="3238805" cy="1276502"/>
          </a:xfrm>
          <a:prstGeom prst="rect">
            <a:avLst/>
          </a:prstGeom>
          <a:solidFill>
            <a:srgbClr val="F8FAFC"/>
          </a:solidFill>
          <a:ln/>
        </p:spPr>
        <p:txBody>
          <a:bodyPr/>
          <a:lstStyle/>
          <a:p>
            <a:endParaRPr lang="en-IN"/>
          </a:p>
        </p:txBody>
      </p:sp>
      <p:sp>
        <p:nvSpPr>
          <p:cNvPr id="8" name="Shape 3"/>
          <p:cNvSpPr/>
          <p:nvPr/>
        </p:nvSpPr>
        <p:spPr>
          <a:xfrm>
            <a:off x="571500" y="5084978"/>
            <a:ext cx="28346" cy="1276502"/>
          </a:xfrm>
          <a:prstGeom prst="rect">
            <a:avLst/>
          </a:prstGeom>
          <a:solidFill>
            <a:srgbClr val="D62839"/>
          </a:solidFill>
          <a:ln w="12700">
            <a:solidFill>
              <a:srgbClr val="D62839">
                <a:alpha val="0"/>
              </a:srgbClr>
            </a:solidFill>
            <a:prstDash val="solid"/>
          </a:ln>
        </p:spPr>
        <p:txBody>
          <a:bodyPr/>
          <a:lstStyle/>
          <a:p>
            <a:endParaRPr lang="en-IN"/>
          </a:p>
        </p:txBody>
      </p:sp>
      <p:sp>
        <p:nvSpPr>
          <p:cNvPr id="9" name="Shape 4"/>
          <p:cNvSpPr/>
          <p:nvPr/>
        </p:nvSpPr>
        <p:spPr>
          <a:xfrm>
            <a:off x="0" y="6429146"/>
            <a:ext cx="12191695" cy="428854"/>
          </a:xfrm>
          <a:prstGeom prst="rect">
            <a:avLst/>
          </a:prstGeom>
          <a:solidFill>
            <a:srgbClr val="111827"/>
          </a:solidFill>
          <a:ln w="12700">
            <a:solidFill>
              <a:srgbClr val="FFFFFF">
                <a:alpha val="0"/>
              </a:srgbClr>
            </a:solidFill>
            <a:prstDash val="solid"/>
          </a:ln>
        </p:spPr>
        <p:txBody>
          <a:bodyPr/>
          <a:lstStyle/>
          <a:p>
            <a:endParaRPr lang="en-IN"/>
          </a:p>
        </p:txBody>
      </p:sp>
      <p:pic>
        <p:nvPicPr>
          <p:cNvPr id="10" name="Image 3" descr="gen-dedup-777bf757d895431cabe402fcd34ebd5a.png"/>
          <p:cNvPicPr>
            <a:picLocks noChangeAspect="1"/>
          </p:cNvPicPr>
          <p:nvPr/>
        </p:nvPicPr>
        <p:blipFill>
          <a:blip r:embed="rId4">
            <a:biLevel thresh="75000"/>
          </a:blip>
          <a:srcRect l="-384" r="-384"/>
          <a:stretch/>
        </p:blipFill>
        <p:spPr>
          <a:xfrm>
            <a:off x="571500" y="381305"/>
            <a:ext cx="57607" cy="476402"/>
          </a:xfrm>
          <a:prstGeom prst="rect">
            <a:avLst/>
          </a:prstGeom>
        </p:spPr>
      </p:pic>
      <p:sp>
        <p:nvSpPr>
          <p:cNvPr id="11" name="Text 5"/>
          <p:cNvSpPr txBox="1"/>
          <p:nvPr/>
        </p:nvSpPr>
        <p:spPr>
          <a:xfrm>
            <a:off x="780898" y="333756"/>
            <a:ext cx="10478110" cy="372161"/>
          </a:xfrm>
          <a:prstGeom prst="rect">
            <a:avLst/>
          </a:prstGeom>
          <a:noFill/>
          <a:ln/>
        </p:spPr>
        <p:txBody>
          <a:bodyPr wrap="none" lIns="0" tIns="0" rIns="0" bIns="0" rtlCol="0" anchor="ctr"/>
          <a:lstStyle/>
          <a:p>
            <a:pPr marL="0" indent="0" algn="l">
              <a:buNone/>
            </a:pPr>
            <a:r>
              <a:rPr lang="en-US" sz="2500" b="1" dirty="0">
                <a:solidFill>
                  <a:srgbClr val="111827"/>
                </a:solidFill>
                <a:latin typeface="Oswald" pitchFamily="34" charset="0"/>
                <a:ea typeface="Oswald" pitchFamily="34" charset="-122"/>
                <a:cs typeface="Oswald" pitchFamily="34" charset="-120"/>
              </a:rPr>
              <a:t>GLOBAL FOOTPRINT &amp; INDUSTRIES WE SERVE</a:t>
            </a:r>
            <a:endParaRPr lang="en-US" sz="2500" dirty="0"/>
          </a:p>
        </p:txBody>
      </p:sp>
      <p:sp>
        <p:nvSpPr>
          <p:cNvPr id="12" name="Text 6"/>
          <p:cNvSpPr txBox="1"/>
          <p:nvPr/>
        </p:nvSpPr>
        <p:spPr>
          <a:xfrm>
            <a:off x="780898" y="740664"/>
            <a:ext cx="10478110" cy="191110"/>
          </a:xfrm>
          <a:prstGeom prst="rect">
            <a:avLst/>
          </a:prstGeom>
          <a:noFill/>
          <a:ln/>
        </p:spPr>
        <p:txBody>
          <a:bodyPr wrap="none" lIns="0" tIns="0" rIns="0" bIns="0" rtlCol="0" anchor="ctr"/>
          <a:lstStyle/>
          <a:p>
            <a:pPr marL="0" indent="0" algn="l">
              <a:buNone/>
            </a:pPr>
            <a:r>
              <a:rPr lang="en-US" sz="1500" b="1" kern="0" spc="66" dirty="0">
                <a:solidFill>
                  <a:srgbClr val="2A9D8F"/>
                </a:solidFill>
                <a:latin typeface="Roboto Condensed" pitchFamily="34" charset="0"/>
                <a:ea typeface="Roboto Condensed" pitchFamily="34" charset="-122"/>
                <a:cs typeface="Roboto Condensed" pitchFamily="34" charset="-120"/>
              </a:rPr>
              <a:t>8 Global Locations | 8 Core Industries</a:t>
            </a:r>
            <a:endParaRPr lang="en-US" sz="1500" dirty="0"/>
          </a:p>
        </p:txBody>
      </p:sp>
      <p:sp>
        <p:nvSpPr>
          <p:cNvPr id="13" name="Shape 7"/>
          <p:cNvSpPr/>
          <p:nvPr/>
        </p:nvSpPr>
        <p:spPr>
          <a:xfrm>
            <a:off x="571500" y="1505102"/>
            <a:ext cx="3238805" cy="19202"/>
          </a:xfrm>
          <a:prstGeom prst="rect">
            <a:avLst/>
          </a:prstGeom>
          <a:solidFill>
            <a:srgbClr val="E5E7EB"/>
          </a:solidFill>
          <a:ln w="12700">
            <a:solidFill>
              <a:srgbClr val="E5E7EB">
                <a:alpha val="0"/>
              </a:srgbClr>
            </a:solidFill>
            <a:prstDash val="solid"/>
          </a:ln>
        </p:spPr>
        <p:txBody>
          <a:bodyPr/>
          <a:lstStyle/>
          <a:p>
            <a:endParaRPr lang="en-IN"/>
          </a:p>
        </p:txBody>
      </p:sp>
      <p:sp>
        <p:nvSpPr>
          <p:cNvPr id="14" name="Text 8"/>
          <p:cNvSpPr txBox="1"/>
          <p:nvPr/>
        </p:nvSpPr>
        <p:spPr>
          <a:xfrm>
            <a:off x="571500" y="1143000"/>
            <a:ext cx="3238805" cy="314554"/>
          </a:xfrm>
          <a:prstGeom prst="rect">
            <a:avLst/>
          </a:prstGeom>
          <a:solidFill>
            <a:srgbClr val="FFFFFF">
              <a:alpha val="0"/>
            </a:srgbClr>
          </a:solidFill>
          <a:ln>
            <a:solidFill>
              <a:srgbClr val="FFFFFF">
                <a:alpha val="0"/>
              </a:srgbClr>
            </a:solidFill>
          </a:ln>
        </p:spPr>
        <p:txBody>
          <a:bodyPr wrap="none" lIns="0" tIns="0" rIns="0" bIns="0" rtlCol="0" anchor="ctr"/>
          <a:lstStyle/>
          <a:p>
            <a:pPr marL="0" indent="0" algn="l">
              <a:buNone/>
            </a:pPr>
            <a:r>
              <a:rPr lang="en-US" sz="1600" b="1">
                <a:solidFill>
                  <a:srgbClr val="111827"/>
                </a:solidFill>
                <a:latin typeface="Oswald" pitchFamily="34" charset="0"/>
                <a:ea typeface="Oswald" pitchFamily="34" charset="-122"/>
                <a:cs typeface="Oswald" pitchFamily="34" charset="-120"/>
              </a:rPr>
              <a:t>Global Presence</a:t>
            </a:r>
            <a:endParaRPr lang="en-US" sz="1600"/>
          </a:p>
        </p:txBody>
      </p:sp>
      <p:pic>
        <p:nvPicPr>
          <p:cNvPr id="15" name="Image 4" descr="gen-dedup-9bfaaf4462b1ee9079502eb762f47b5b.png"/>
          <p:cNvPicPr>
            <a:picLocks noChangeAspect="1"/>
          </p:cNvPicPr>
          <p:nvPr/>
        </p:nvPicPr>
        <p:blipFill>
          <a:blip r:embed="rId5"/>
          <a:srcRect l="-12275" r="-12275"/>
          <a:stretch/>
        </p:blipFill>
        <p:spPr>
          <a:xfrm>
            <a:off x="761695" y="1752905"/>
            <a:ext cx="142646" cy="152705"/>
          </a:xfrm>
          <a:prstGeom prst="rect">
            <a:avLst/>
          </a:prstGeom>
        </p:spPr>
      </p:pic>
      <p:sp>
        <p:nvSpPr>
          <p:cNvPr id="16" name="Text 9"/>
          <p:cNvSpPr txBox="1"/>
          <p:nvPr/>
        </p:nvSpPr>
        <p:spPr>
          <a:xfrm>
            <a:off x="1000354" y="1714500"/>
            <a:ext cx="1122883" cy="162763"/>
          </a:xfrm>
          <a:prstGeom prst="rect">
            <a:avLst/>
          </a:prstGeom>
          <a:noFill/>
          <a:ln/>
        </p:spPr>
        <p:txBody>
          <a:bodyPr wrap="non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North America</a:t>
            </a:r>
            <a:endParaRPr lang="en-US" sz="1000"/>
          </a:p>
        </p:txBody>
      </p:sp>
      <p:sp>
        <p:nvSpPr>
          <p:cNvPr id="17" name="Text 10"/>
          <p:cNvSpPr txBox="1"/>
          <p:nvPr/>
        </p:nvSpPr>
        <p:spPr>
          <a:xfrm>
            <a:off x="1000354" y="1876349"/>
            <a:ext cx="943661" cy="143561"/>
          </a:xfrm>
          <a:prstGeom prst="rect">
            <a:avLst/>
          </a:prstGeom>
          <a:noFill/>
          <a:ln/>
        </p:spPr>
        <p:txBody>
          <a:bodyPr wrap="none" lIns="0" tIns="0" rIns="0" bIns="0" rtlCol="0" anchor="ctr"/>
          <a:lstStyle/>
          <a:p>
            <a:pPr marL="0" indent="0" algn="l">
              <a:buNone/>
            </a:pPr>
            <a:r>
              <a:rPr lang="en-US" sz="900">
                <a:solidFill>
                  <a:srgbClr val="6B7280"/>
                </a:solidFill>
                <a:latin typeface="Raleway" pitchFamily="34" charset="0"/>
                <a:ea typeface="Raleway" pitchFamily="34" charset="-122"/>
                <a:cs typeface="Raleway" pitchFamily="34" charset="-120"/>
              </a:rPr>
              <a:t>Dallas</a:t>
            </a:r>
            <a:endParaRPr lang="en-US" sz="900"/>
          </a:p>
        </p:txBody>
      </p:sp>
      <p:pic>
        <p:nvPicPr>
          <p:cNvPr id="18" name="Image 5" descr="gen-dedup-9bfaaf4462b1ee9079502eb762f47b5b.png"/>
          <p:cNvPicPr>
            <a:picLocks noChangeAspect="1"/>
          </p:cNvPicPr>
          <p:nvPr/>
        </p:nvPicPr>
        <p:blipFill>
          <a:blip r:embed="rId5"/>
          <a:srcRect l="-12275" r="-12275"/>
          <a:stretch/>
        </p:blipFill>
        <p:spPr>
          <a:xfrm>
            <a:off x="761695" y="2143354"/>
            <a:ext cx="142646" cy="152705"/>
          </a:xfrm>
          <a:prstGeom prst="rect">
            <a:avLst/>
          </a:prstGeom>
        </p:spPr>
      </p:pic>
      <p:sp>
        <p:nvSpPr>
          <p:cNvPr id="19" name="Text 11"/>
          <p:cNvSpPr txBox="1"/>
          <p:nvPr/>
        </p:nvSpPr>
        <p:spPr>
          <a:xfrm>
            <a:off x="1000354" y="2104949"/>
            <a:ext cx="1232611" cy="162763"/>
          </a:xfrm>
          <a:prstGeom prst="rect">
            <a:avLst/>
          </a:prstGeom>
          <a:noFill/>
          <a:ln/>
        </p:spPr>
        <p:txBody>
          <a:bodyPr wrap="non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Western Europe</a:t>
            </a:r>
            <a:endParaRPr lang="en-US" sz="1000"/>
          </a:p>
        </p:txBody>
      </p:sp>
      <p:sp>
        <p:nvSpPr>
          <p:cNvPr id="20" name="Text 12"/>
          <p:cNvSpPr txBox="1"/>
          <p:nvPr/>
        </p:nvSpPr>
        <p:spPr>
          <a:xfrm>
            <a:off x="1000354" y="2266798"/>
            <a:ext cx="1047902" cy="143561"/>
          </a:xfrm>
          <a:prstGeom prst="rect">
            <a:avLst/>
          </a:prstGeom>
          <a:noFill/>
          <a:ln/>
        </p:spPr>
        <p:txBody>
          <a:bodyPr wrap="none" lIns="0" tIns="0" rIns="0" bIns="0" rtlCol="0" anchor="ctr"/>
          <a:lstStyle/>
          <a:p>
            <a:pPr marL="0" indent="0" algn="l">
              <a:buNone/>
            </a:pPr>
            <a:r>
              <a:rPr lang="en-US" sz="900">
                <a:solidFill>
                  <a:srgbClr val="6B7280"/>
                </a:solidFill>
                <a:latin typeface="Raleway" pitchFamily="34" charset="0"/>
                <a:ea typeface="Raleway" pitchFamily="34" charset="-122"/>
                <a:cs typeface="Raleway" pitchFamily="34" charset="-120"/>
              </a:rPr>
              <a:t>UK</a:t>
            </a:r>
            <a:endParaRPr lang="en-US" sz="900"/>
          </a:p>
        </p:txBody>
      </p:sp>
      <p:pic>
        <p:nvPicPr>
          <p:cNvPr id="21" name="Image 6" descr="gen-dedup-9bfaaf4462b1ee9079502eb762f47b5b.png"/>
          <p:cNvPicPr>
            <a:picLocks noChangeAspect="1"/>
          </p:cNvPicPr>
          <p:nvPr/>
        </p:nvPicPr>
        <p:blipFill>
          <a:blip r:embed="rId5"/>
          <a:srcRect l="-12275" r="-12275"/>
          <a:stretch/>
        </p:blipFill>
        <p:spPr>
          <a:xfrm>
            <a:off x="761695" y="2533802"/>
            <a:ext cx="142646" cy="152705"/>
          </a:xfrm>
          <a:prstGeom prst="rect">
            <a:avLst/>
          </a:prstGeom>
        </p:spPr>
      </p:pic>
      <p:sp>
        <p:nvSpPr>
          <p:cNvPr id="22" name="Text 13"/>
          <p:cNvSpPr txBox="1"/>
          <p:nvPr/>
        </p:nvSpPr>
        <p:spPr>
          <a:xfrm>
            <a:off x="1000354" y="2495398"/>
            <a:ext cx="1167689" cy="162763"/>
          </a:xfrm>
          <a:prstGeom prst="rect">
            <a:avLst/>
          </a:prstGeom>
          <a:noFill/>
          <a:ln/>
        </p:spPr>
        <p:txBody>
          <a:bodyPr wrap="non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Central Europe</a:t>
            </a:r>
            <a:endParaRPr lang="en-US" sz="1000"/>
          </a:p>
        </p:txBody>
      </p:sp>
      <p:sp>
        <p:nvSpPr>
          <p:cNvPr id="23" name="Text 14"/>
          <p:cNvSpPr txBox="1"/>
          <p:nvPr/>
        </p:nvSpPr>
        <p:spPr>
          <a:xfrm>
            <a:off x="1000354" y="2657246"/>
            <a:ext cx="981151" cy="143561"/>
          </a:xfrm>
          <a:prstGeom prst="rect">
            <a:avLst/>
          </a:prstGeom>
          <a:noFill/>
          <a:ln/>
        </p:spPr>
        <p:txBody>
          <a:bodyPr wrap="none" lIns="0" tIns="0" rIns="0" bIns="0" rtlCol="0" anchor="ctr"/>
          <a:lstStyle/>
          <a:p>
            <a:pPr marL="0" indent="0" algn="l">
              <a:buNone/>
            </a:pPr>
            <a:r>
              <a:rPr lang="en-US" sz="900">
                <a:solidFill>
                  <a:srgbClr val="6B7280"/>
                </a:solidFill>
                <a:latin typeface="Raleway" pitchFamily="34" charset="0"/>
                <a:ea typeface="Raleway" pitchFamily="34" charset="-122"/>
                <a:cs typeface="Raleway" pitchFamily="34" charset="-120"/>
              </a:rPr>
              <a:t>Poland</a:t>
            </a:r>
            <a:endParaRPr lang="en-US" sz="900"/>
          </a:p>
        </p:txBody>
      </p:sp>
      <p:pic>
        <p:nvPicPr>
          <p:cNvPr id="24" name="Image 7" descr="gen-dedup-9bfaaf4462b1ee9079502eb762f47b5b.png"/>
          <p:cNvPicPr>
            <a:picLocks noChangeAspect="1"/>
          </p:cNvPicPr>
          <p:nvPr/>
        </p:nvPicPr>
        <p:blipFill>
          <a:blip r:embed="rId5"/>
          <a:srcRect l="-12275" r="-12275"/>
          <a:stretch/>
        </p:blipFill>
        <p:spPr>
          <a:xfrm>
            <a:off x="761695" y="2924251"/>
            <a:ext cx="142646" cy="152705"/>
          </a:xfrm>
          <a:prstGeom prst="rect">
            <a:avLst/>
          </a:prstGeom>
        </p:spPr>
      </p:pic>
      <p:sp>
        <p:nvSpPr>
          <p:cNvPr id="25" name="Text 15"/>
          <p:cNvSpPr txBox="1"/>
          <p:nvPr/>
        </p:nvSpPr>
        <p:spPr>
          <a:xfrm>
            <a:off x="1000354" y="2885846"/>
            <a:ext cx="907085" cy="162763"/>
          </a:xfrm>
          <a:prstGeom prst="rect">
            <a:avLst/>
          </a:prstGeom>
          <a:noFill/>
          <a:ln/>
        </p:spPr>
        <p:txBody>
          <a:bodyPr wrap="non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Middle East</a:t>
            </a:r>
            <a:endParaRPr lang="en-US" sz="1000"/>
          </a:p>
        </p:txBody>
      </p:sp>
      <p:sp>
        <p:nvSpPr>
          <p:cNvPr id="26" name="Text 16"/>
          <p:cNvSpPr txBox="1"/>
          <p:nvPr/>
        </p:nvSpPr>
        <p:spPr>
          <a:xfrm>
            <a:off x="1000354" y="3047695"/>
            <a:ext cx="762610" cy="143561"/>
          </a:xfrm>
          <a:prstGeom prst="rect">
            <a:avLst/>
          </a:prstGeom>
          <a:noFill/>
          <a:ln/>
        </p:spPr>
        <p:txBody>
          <a:bodyPr wrap="none" lIns="0" tIns="0" rIns="0" bIns="0" rtlCol="0" anchor="ctr"/>
          <a:lstStyle/>
          <a:p>
            <a:pPr marL="0" indent="0" algn="l">
              <a:buNone/>
            </a:pPr>
            <a:r>
              <a:rPr lang="en-US" sz="900">
                <a:solidFill>
                  <a:srgbClr val="6B7280"/>
                </a:solidFill>
                <a:latin typeface="Raleway" pitchFamily="34" charset="0"/>
                <a:ea typeface="Raleway" pitchFamily="34" charset="-122"/>
                <a:cs typeface="Raleway" pitchFamily="34" charset="-120"/>
              </a:rPr>
              <a:t>UAE</a:t>
            </a:r>
            <a:endParaRPr lang="en-US" sz="900"/>
          </a:p>
        </p:txBody>
      </p:sp>
      <p:sp>
        <p:nvSpPr>
          <p:cNvPr id="27" name="Shape 17"/>
          <p:cNvSpPr/>
          <p:nvPr/>
        </p:nvSpPr>
        <p:spPr>
          <a:xfrm>
            <a:off x="705002" y="3276295"/>
            <a:ext cx="2915107" cy="381305"/>
          </a:xfrm>
          <a:prstGeom prst="roundRect">
            <a:avLst>
              <a:gd name="adj" fmla="val 10072"/>
            </a:avLst>
          </a:prstGeom>
          <a:solidFill>
            <a:srgbClr val="F0FDFA"/>
          </a:solidFill>
          <a:ln w="12700">
            <a:solidFill>
              <a:srgbClr val="FFFFFF">
                <a:alpha val="0"/>
              </a:srgbClr>
            </a:solidFill>
            <a:prstDash val="solid"/>
          </a:ln>
        </p:spPr>
        <p:txBody>
          <a:bodyPr/>
          <a:lstStyle/>
          <a:p>
            <a:endParaRPr lang="en-IN"/>
          </a:p>
        </p:txBody>
      </p:sp>
      <p:pic>
        <p:nvPicPr>
          <p:cNvPr id="28" name="Image 8" descr="gen-dedup-e92a841183e4a8efd3073a3a19d08132.png"/>
          <p:cNvPicPr>
            <a:picLocks noChangeAspect="1"/>
          </p:cNvPicPr>
          <p:nvPr/>
        </p:nvPicPr>
        <p:blipFill>
          <a:blip r:embed="rId6"/>
          <a:srcRect t="-10217" b="-10217"/>
          <a:stretch/>
        </p:blipFill>
        <p:spPr>
          <a:xfrm>
            <a:off x="761695" y="3353105"/>
            <a:ext cx="142646" cy="152705"/>
          </a:xfrm>
          <a:prstGeom prst="rect">
            <a:avLst/>
          </a:prstGeom>
        </p:spPr>
      </p:pic>
      <p:sp>
        <p:nvSpPr>
          <p:cNvPr id="29" name="Text 18"/>
          <p:cNvSpPr txBox="1"/>
          <p:nvPr/>
        </p:nvSpPr>
        <p:spPr>
          <a:xfrm>
            <a:off x="1000354" y="3314700"/>
            <a:ext cx="1390802" cy="162763"/>
          </a:xfrm>
          <a:prstGeom prst="rect">
            <a:avLst/>
          </a:prstGeom>
          <a:noFill/>
          <a:ln/>
        </p:spPr>
        <p:txBody>
          <a:bodyPr wrap="none" lIns="0" tIns="0" rIns="0" bIns="0" rtlCol="0" anchor="ctr"/>
          <a:lstStyle/>
          <a:p>
            <a:pPr marL="0" indent="0" algn="l">
              <a:buNone/>
            </a:pPr>
            <a:r>
              <a:rPr lang="en-US" sz="1000" b="1">
                <a:solidFill>
                  <a:srgbClr val="2A9D8F"/>
                </a:solidFill>
                <a:latin typeface="Raleway" pitchFamily="34" charset="0"/>
                <a:ea typeface="Raleway" pitchFamily="34" charset="-122"/>
                <a:cs typeface="Raleway" pitchFamily="34" charset="-120"/>
              </a:rPr>
              <a:t>South Asia</a:t>
            </a:r>
            <a:endParaRPr lang="en-US" sz="1000"/>
          </a:p>
        </p:txBody>
      </p:sp>
      <p:sp>
        <p:nvSpPr>
          <p:cNvPr id="30" name="Text 19"/>
          <p:cNvSpPr txBox="1"/>
          <p:nvPr/>
        </p:nvSpPr>
        <p:spPr>
          <a:xfrm>
            <a:off x="1000354" y="3476549"/>
            <a:ext cx="1655064" cy="143561"/>
          </a:xfrm>
          <a:prstGeom prst="rect">
            <a:avLst/>
          </a:prstGeom>
          <a:noFill/>
          <a:ln/>
        </p:spPr>
        <p:txBody>
          <a:bodyPr wrap="none" lIns="0" tIns="0" rIns="0" bIns="0" rtlCol="0" anchor="ctr"/>
          <a:lstStyle/>
          <a:p>
            <a:pPr marL="0" indent="0" algn="l">
              <a:buNone/>
            </a:pPr>
            <a:r>
              <a:rPr lang="en-US" sz="900" b="1">
                <a:solidFill>
                  <a:srgbClr val="111827"/>
                </a:solidFill>
                <a:latin typeface="Raleway" pitchFamily="34" charset="0"/>
                <a:ea typeface="Raleway" pitchFamily="34" charset="-122"/>
                <a:cs typeface="Raleway" pitchFamily="34" charset="-120"/>
              </a:rPr>
              <a:t>India, Core Delivery Hub</a:t>
            </a:r>
            <a:endParaRPr lang="en-US" sz="900"/>
          </a:p>
        </p:txBody>
      </p:sp>
      <p:pic>
        <p:nvPicPr>
          <p:cNvPr id="31" name="Image 9" descr="gen-dedup-9bfaaf4462b1ee9079502eb762f47b5b.png"/>
          <p:cNvPicPr>
            <a:picLocks noChangeAspect="1"/>
          </p:cNvPicPr>
          <p:nvPr/>
        </p:nvPicPr>
        <p:blipFill>
          <a:blip r:embed="rId5"/>
          <a:srcRect l="-12275" r="-12275"/>
          <a:stretch/>
        </p:blipFill>
        <p:spPr>
          <a:xfrm>
            <a:off x="761695" y="3781044"/>
            <a:ext cx="142646" cy="152705"/>
          </a:xfrm>
          <a:prstGeom prst="rect">
            <a:avLst/>
          </a:prstGeom>
        </p:spPr>
      </p:pic>
      <p:sp>
        <p:nvSpPr>
          <p:cNvPr id="32" name="Text 20"/>
          <p:cNvSpPr txBox="1"/>
          <p:nvPr/>
        </p:nvSpPr>
        <p:spPr>
          <a:xfrm>
            <a:off x="1000354" y="3743554"/>
            <a:ext cx="1144829" cy="162763"/>
          </a:xfrm>
          <a:prstGeom prst="rect">
            <a:avLst/>
          </a:prstGeom>
          <a:noFill/>
          <a:ln/>
        </p:spPr>
        <p:txBody>
          <a:bodyPr wrap="non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Southeast Asia</a:t>
            </a:r>
            <a:endParaRPr lang="en-US" sz="1000"/>
          </a:p>
        </p:txBody>
      </p:sp>
      <p:sp>
        <p:nvSpPr>
          <p:cNvPr id="33" name="Text 21"/>
          <p:cNvSpPr txBox="1"/>
          <p:nvPr/>
        </p:nvSpPr>
        <p:spPr>
          <a:xfrm>
            <a:off x="1000354" y="3905402"/>
            <a:ext cx="962863" cy="143561"/>
          </a:xfrm>
          <a:prstGeom prst="rect">
            <a:avLst/>
          </a:prstGeom>
          <a:noFill/>
          <a:ln/>
        </p:spPr>
        <p:txBody>
          <a:bodyPr wrap="none" lIns="0" tIns="0" rIns="0" bIns="0" rtlCol="0" anchor="ctr"/>
          <a:lstStyle/>
          <a:p>
            <a:pPr marL="0" indent="0" algn="l">
              <a:buNone/>
            </a:pPr>
            <a:r>
              <a:rPr lang="en-US" sz="900">
                <a:solidFill>
                  <a:srgbClr val="6B7280"/>
                </a:solidFill>
                <a:latin typeface="Raleway" pitchFamily="34" charset="0"/>
                <a:ea typeface="Raleway" pitchFamily="34" charset="-122"/>
                <a:cs typeface="Raleway" pitchFamily="34" charset="-120"/>
              </a:rPr>
              <a:t>Philippines</a:t>
            </a:r>
            <a:endParaRPr lang="en-US" sz="900"/>
          </a:p>
        </p:txBody>
      </p:sp>
      <p:pic>
        <p:nvPicPr>
          <p:cNvPr id="34" name="Image 10" descr="gen-dedup-9bfaaf4462b1ee9079502eb762f47b5b.png"/>
          <p:cNvPicPr>
            <a:picLocks noChangeAspect="1"/>
          </p:cNvPicPr>
          <p:nvPr/>
        </p:nvPicPr>
        <p:blipFill>
          <a:blip r:embed="rId5"/>
          <a:srcRect l="-12275" r="-12275"/>
          <a:stretch/>
        </p:blipFill>
        <p:spPr>
          <a:xfrm>
            <a:off x="761695" y="4172407"/>
            <a:ext cx="142646" cy="152705"/>
          </a:xfrm>
          <a:prstGeom prst="rect">
            <a:avLst/>
          </a:prstGeom>
        </p:spPr>
      </p:pic>
      <p:sp>
        <p:nvSpPr>
          <p:cNvPr id="35" name="Text 22"/>
          <p:cNvSpPr txBox="1"/>
          <p:nvPr/>
        </p:nvSpPr>
        <p:spPr>
          <a:xfrm>
            <a:off x="1000354" y="4134002"/>
            <a:ext cx="1144829" cy="162763"/>
          </a:xfrm>
          <a:prstGeom prst="rect">
            <a:avLst/>
          </a:prstGeom>
          <a:noFill/>
          <a:ln/>
        </p:spPr>
        <p:txBody>
          <a:bodyPr wrap="non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Southeast Asia</a:t>
            </a:r>
            <a:endParaRPr lang="en-US" sz="1000"/>
          </a:p>
        </p:txBody>
      </p:sp>
      <p:sp>
        <p:nvSpPr>
          <p:cNvPr id="36" name="Text 23"/>
          <p:cNvSpPr txBox="1"/>
          <p:nvPr/>
        </p:nvSpPr>
        <p:spPr>
          <a:xfrm>
            <a:off x="1000354" y="4295851"/>
            <a:ext cx="962863" cy="143561"/>
          </a:xfrm>
          <a:prstGeom prst="rect">
            <a:avLst/>
          </a:prstGeom>
          <a:noFill/>
          <a:ln/>
        </p:spPr>
        <p:txBody>
          <a:bodyPr wrap="none" lIns="0" tIns="0" rIns="0" bIns="0" rtlCol="0" anchor="ctr"/>
          <a:lstStyle/>
          <a:p>
            <a:pPr marL="0" indent="0" algn="l">
              <a:buNone/>
            </a:pPr>
            <a:r>
              <a:rPr lang="en-US" sz="900">
                <a:solidFill>
                  <a:srgbClr val="6B7280"/>
                </a:solidFill>
                <a:latin typeface="Raleway" pitchFamily="34" charset="0"/>
                <a:ea typeface="Raleway" pitchFamily="34" charset="-122"/>
                <a:cs typeface="Raleway" pitchFamily="34" charset="-120"/>
              </a:rPr>
              <a:t>Malaysia</a:t>
            </a:r>
            <a:endParaRPr lang="en-US" sz="900"/>
          </a:p>
        </p:txBody>
      </p:sp>
      <p:pic>
        <p:nvPicPr>
          <p:cNvPr id="37" name="Image 11" descr="gen-dedup-9bfaaf4462b1ee9079502eb762f47b5b.png"/>
          <p:cNvPicPr>
            <a:picLocks noChangeAspect="1"/>
          </p:cNvPicPr>
          <p:nvPr/>
        </p:nvPicPr>
        <p:blipFill>
          <a:blip r:embed="rId5"/>
          <a:srcRect l="-12275" r="-12275"/>
          <a:stretch/>
        </p:blipFill>
        <p:spPr>
          <a:xfrm>
            <a:off x="761695" y="4562856"/>
            <a:ext cx="142646" cy="152705"/>
          </a:xfrm>
          <a:prstGeom prst="rect">
            <a:avLst/>
          </a:prstGeom>
        </p:spPr>
      </p:pic>
      <p:sp>
        <p:nvSpPr>
          <p:cNvPr id="38" name="Text 24"/>
          <p:cNvSpPr txBox="1"/>
          <p:nvPr/>
        </p:nvSpPr>
        <p:spPr>
          <a:xfrm>
            <a:off x="1000354" y="4524451"/>
            <a:ext cx="1144829" cy="162763"/>
          </a:xfrm>
          <a:prstGeom prst="rect">
            <a:avLst/>
          </a:prstGeom>
          <a:noFill/>
          <a:ln/>
        </p:spPr>
        <p:txBody>
          <a:bodyPr wrap="non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Southeast Asia</a:t>
            </a:r>
            <a:endParaRPr lang="en-US" sz="1000"/>
          </a:p>
        </p:txBody>
      </p:sp>
      <p:sp>
        <p:nvSpPr>
          <p:cNvPr id="39" name="Text 25"/>
          <p:cNvSpPr txBox="1"/>
          <p:nvPr/>
        </p:nvSpPr>
        <p:spPr>
          <a:xfrm>
            <a:off x="1000354" y="4686300"/>
            <a:ext cx="962863" cy="143561"/>
          </a:xfrm>
          <a:prstGeom prst="rect">
            <a:avLst/>
          </a:prstGeom>
          <a:noFill/>
          <a:ln/>
        </p:spPr>
        <p:txBody>
          <a:bodyPr wrap="none" lIns="0" tIns="0" rIns="0" bIns="0" rtlCol="0" anchor="ctr"/>
          <a:lstStyle/>
          <a:p>
            <a:pPr marL="0" indent="0" algn="l">
              <a:buNone/>
            </a:pPr>
            <a:r>
              <a:rPr lang="en-US" sz="900">
                <a:solidFill>
                  <a:srgbClr val="6B7280"/>
                </a:solidFill>
                <a:latin typeface="Raleway" pitchFamily="34" charset="0"/>
                <a:ea typeface="Raleway" pitchFamily="34" charset="-122"/>
                <a:cs typeface="Raleway" pitchFamily="34" charset="-120"/>
              </a:rPr>
              <a:t>Singapore</a:t>
            </a:r>
            <a:endParaRPr lang="en-US" sz="900"/>
          </a:p>
        </p:txBody>
      </p:sp>
      <p:sp>
        <p:nvSpPr>
          <p:cNvPr id="40" name="Text 26"/>
          <p:cNvSpPr txBox="1"/>
          <p:nvPr/>
        </p:nvSpPr>
        <p:spPr>
          <a:xfrm>
            <a:off x="685799" y="5296373"/>
            <a:ext cx="2953512" cy="857707"/>
          </a:xfrm>
          <a:prstGeom prst="rect">
            <a:avLst/>
          </a:prstGeom>
          <a:noFill/>
          <a:ln/>
        </p:spPr>
        <p:txBody>
          <a:bodyPr wrap="square" lIns="0" tIns="0" rIns="0" bIns="0" rtlCol="0" anchor="ctr"/>
          <a:lstStyle/>
          <a:p>
            <a:pPr marL="0" indent="0" algn="l">
              <a:buNone/>
            </a:pPr>
            <a:r>
              <a:rPr lang="en-GB" sz="1000" i="1">
                <a:solidFill>
                  <a:srgbClr val="4B5563"/>
                </a:solidFill>
                <a:latin typeface="Raleway" pitchFamily="34" charset="0"/>
                <a:ea typeface="Raleway" pitchFamily="34" charset="-122"/>
                <a:cs typeface="Raleway" pitchFamily="34" charset="-120"/>
              </a:rPr>
              <a:t>"Each of these locations already runs on a proven delivery model, an established talent pipeline, and compliance groundwork that includes tested backup coverage. That's why a setup here moves faster, draws on talent we already understand, and protects business continuity from day one, running on resilience we've already proven, not resilience we're building for the first time."</a:t>
            </a:r>
            <a:endParaRPr lang="en-US" sz="1000"/>
          </a:p>
        </p:txBody>
      </p:sp>
      <p:sp>
        <p:nvSpPr>
          <p:cNvPr id="41" name="Shape 27"/>
          <p:cNvSpPr/>
          <p:nvPr/>
        </p:nvSpPr>
        <p:spPr>
          <a:xfrm>
            <a:off x="4095598" y="1505102"/>
            <a:ext cx="7524598" cy="19202"/>
          </a:xfrm>
          <a:prstGeom prst="rect">
            <a:avLst/>
          </a:prstGeom>
          <a:solidFill>
            <a:srgbClr val="E5E7EB"/>
          </a:solidFill>
          <a:ln w="12700">
            <a:solidFill>
              <a:srgbClr val="E5E7EB">
                <a:alpha val="0"/>
              </a:srgbClr>
            </a:solidFill>
            <a:prstDash val="solid"/>
          </a:ln>
        </p:spPr>
        <p:txBody>
          <a:bodyPr/>
          <a:lstStyle/>
          <a:p>
            <a:endParaRPr lang="en-IN"/>
          </a:p>
        </p:txBody>
      </p:sp>
      <p:sp>
        <p:nvSpPr>
          <p:cNvPr id="42" name="Text 28"/>
          <p:cNvSpPr txBox="1"/>
          <p:nvPr/>
        </p:nvSpPr>
        <p:spPr>
          <a:xfrm>
            <a:off x="4095598" y="1143000"/>
            <a:ext cx="3959352" cy="314554"/>
          </a:xfrm>
          <a:prstGeom prst="rect">
            <a:avLst/>
          </a:prstGeom>
          <a:noFill/>
          <a:ln/>
        </p:spPr>
        <p:txBody>
          <a:bodyPr wrap="none" lIns="0" tIns="0" rIns="0" bIns="0" rtlCol="0" anchor="ctr"/>
          <a:lstStyle/>
          <a:p>
            <a:pPr marL="0" indent="0" algn="l">
              <a:buNone/>
            </a:pPr>
            <a:r>
              <a:rPr lang="en-US" sz="1600" b="1">
                <a:solidFill>
                  <a:srgbClr val="111827"/>
                </a:solidFill>
                <a:latin typeface="Oswald" pitchFamily="34" charset="0"/>
                <a:ea typeface="Oswald" pitchFamily="34" charset="-122"/>
                <a:cs typeface="Oswald" pitchFamily="34" charset="-120"/>
              </a:rPr>
              <a:t>Deep-Dive Domain Expertise</a:t>
            </a:r>
            <a:endParaRPr lang="en-US" sz="1600"/>
          </a:p>
        </p:txBody>
      </p:sp>
      <p:sp>
        <p:nvSpPr>
          <p:cNvPr id="43" name="Text 29"/>
          <p:cNvSpPr txBox="1"/>
          <p:nvPr/>
        </p:nvSpPr>
        <p:spPr>
          <a:xfrm>
            <a:off x="8122615" y="1285646"/>
            <a:ext cx="4145890" cy="143561"/>
          </a:xfrm>
          <a:prstGeom prst="rect">
            <a:avLst/>
          </a:prstGeom>
          <a:noFill/>
          <a:ln/>
        </p:spPr>
        <p:txBody>
          <a:bodyPr wrap="none" lIns="0" tIns="0" rIns="0" bIns="0" rtlCol="0" anchor="ctr"/>
          <a:lstStyle/>
          <a:p>
            <a:pPr marL="0" indent="0" algn="l">
              <a:buNone/>
            </a:pPr>
            <a:r>
              <a:rPr lang="en-US" sz="900" i="1">
                <a:solidFill>
                  <a:srgbClr val="6B7280"/>
                </a:solidFill>
                <a:latin typeface="Raleway" pitchFamily="34" charset="0"/>
                <a:ea typeface="Raleway" pitchFamily="34" charset="-122"/>
                <a:cs typeface="Raleway" pitchFamily="34" charset="-120"/>
              </a:rPr>
              <a:t>(Functions we cover within each industry)</a:t>
            </a:r>
            <a:endParaRPr lang="en-US" sz="900"/>
          </a:p>
        </p:txBody>
      </p:sp>
      <p:sp>
        <p:nvSpPr>
          <p:cNvPr id="44" name="Shape 30"/>
          <p:cNvSpPr/>
          <p:nvPr/>
        </p:nvSpPr>
        <p:spPr>
          <a:xfrm>
            <a:off x="4095598" y="1619402"/>
            <a:ext cx="1800454" cy="2286000"/>
          </a:xfrm>
          <a:prstGeom prst="roundRect">
            <a:avLst>
              <a:gd name="adj" fmla="val 3200"/>
            </a:avLst>
          </a:prstGeom>
          <a:solidFill>
            <a:srgbClr val="FFFFFF"/>
          </a:solidFill>
          <a:ln w="12700">
            <a:solidFill>
              <a:srgbClr val="E5E7EB"/>
            </a:solidFill>
            <a:prstDash val="solid"/>
          </a:ln>
        </p:spPr>
        <p:txBody>
          <a:bodyPr/>
          <a:lstStyle/>
          <a:p>
            <a:endParaRPr lang="en-IN"/>
          </a:p>
        </p:txBody>
      </p:sp>
      <p:sp>
        <p:nvSpPr>
          <p:cNvPr id="45" name="Shape 31"/>
          <p:cNvSpPr/>
          <p:nvPr/>
        </p:nvSpPr>
        <p:spPr>
          <a:xfrm>
            <a:off x="4095598" y="1619402"/>
            <a:ext cx="1800454" cy="28346"/>
          </a:xfrm>
          <a:prstGeom prst="roundRect">
            <a:avLst>
              <a:gd name="adj" fmla="val 203229"/>
            </a:avLst>
          </a:prstGeom>
          <a:solidFill>
            <a:srgbClr val="2A9D8F"/>
          </a:solidFill>
          <a:ln w="12700">
            <a:solidFill>
              <a:srgbClr val="2A9D8F">
                <a:alpha val="0"/>
              </a:srgbClr>
            </a:solidFill>
            <a:prstDash val="solid"/>
          </a:ln>
        </p:spPr>
        <p:txBody>
          <a:bodyPr/>
          <a:lstStyle/>
          <a:p>
            <a:endParaRPr lang="en-IN"/>
          </a:p>
        </p:txBody>
      </p:sp>
      <p:sp>
        <p:nvSpPr>
          <p:cNvPr id="46" name="Shape 32"/>
          <p:cNvSpPr/>
          <p:nvPr/>
        </p:nvSpPr>
        <p:spPr>
          <a:xfrm>
            <a:off x="4200754" y="2225751"/>
            <a:ext cx="1591056" cy="9144"/>
          </a:xfrm>
          <a:prstGeom prst="rect">
            <a:avLst/>
          </a:prstGeom>
          <a:solidFill>
            <a:srgbClr val="F3F4F6"/>
          </a:solidFill>
          <a:ln w="12700">
            <a:solidFill>
              <a:srgbClr val="F3F4F6">
                <a:alpha val="0"/>
              </a:srgbClr>
            </a:solidFill>
            <a:prstDash val="solid"/>
          </a:ln>
        </p:spPr>
        <p:txBody>
          <a:bodyPr/>
          <a:lstStyle/>
          <a:p>
            <a:endParaRPr lang="en-IN"/>
          </a:p>
        </p:txBody>
      </p:sp>
      <p:pic>
        <p:nvPicPr>
          <p:cNvPr id="47" name="Image 12" descr="gen-dedup-896c006101fe8ea54f2d663a0d8d71de.png"/>
          <p:cNvPicPr>
            <a:picLocks noChangeAspect="1"/>
          </p:cNvPicPr>
          <p:nvPr/>
        </p:nvPicPr>
        <p:blipFill>
          <a:blip r:embed="rId7"/>
          <a:srcRect t="-13478" b="-13478"/>
          <a:stretch/>
        </p:blipFill>
        <p:spPr>
          <a:xfrm>
            <a:off x="4200754" y="1790395"/>
            <a:ext cx="105156" cy="133502"/>
          </a:xfrm>
          <a:prstGeom prst="rect">
            <a:avLst/>
          </a:prstGeom>
        </p:spPr>
      </p:pic>
      <p:sp>
        <p:nvSpPr>
          <p:cNvPr id="48" name="Text 33"/>
          <p:cNvSpPr txBox="1"/>
          <p:nvPr/>
        </p:nvSpPr>
        <p:spPr>
          <a:xfrm>
            <a:off x="4381805" y="1742846"/>
            <a:ext cx="286207" cy="277063"/>
          </a:xfrm>
          <a:prstGeom prst="rect">
            <a:avLst/>
          </a:prstGeom>
          <a:noFill/>
          <a:ln/>
        </p:spPr>
        <p:txBody>
          <a:bodyPr wrap="square" lIns="0" tIns="0" rIns="0" bIns="0" rtlCol="0" anchor="ctr"/>
          <a:lstStyle/>
          <a:p>
            <a:pPr marL="0" indent="0" algn="l">
              <a:buNone/>
            </a:pPr>
            <a:r>
              <a:rPr lang="en-US" sz="1200" b="1">
                <a:solidFill>
                  <a:srgbClr val="111827"/>
                </a:solidFill>
                <a:latin typeface="Oswald" pitchFamily="34" charset="0"/>
                <a:ea typeface="Oswald" pitchFamily="34" charset="-122"/>
                <a:cs typeface="Oswald" pitchFamily="34" charset="-120"/>
              </a:rPr>
              <a:t>BFSI</a:t>
            </a:r>
            <a:endParaRPr lang="en-US" sz="1200"/>
          </a:p>
        </p:txBody>
      </p:sp>
      <p:sp>
        <p:nvSpPr>
          <p:cNvPr id="49" name="Text 34"/>
          <p:cNvSpPr txBox="1"/>
          <p:nvPr/>
        </p:nvSpPr>
        <p:spPr>
          <a:xfrm>
            <a:off x="4207256" y="2319325"/>
            <a:ext cx="1584554" cy="1112825"/>
          </a:xfrm>
          <a:prstGeom prst="rect">
            <a:avLst/>
          </a:prstGeom>
          <a:noFill/>
          <a:ln/>
        </p:spPr>
        <p:txBody>
          <a:bodyPr wrap="square" lIns="0" tIns="0" rIns="0" bIns="0" rtlCol="0" anchor="t"/>
          <a:lstStyle/>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​Cybersecurity &amp; regulatory compliance</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​Digital banking engineering</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​QA &amp; platform testing</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​Finance &amp; technology CoE build</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​Talent-on-demand scaling</a:t>
            </a:r>
            <a:endParaRPr lang="en-US" sz="1000"/>
          </a:p>
        </p:txBody>
      </p:sp>
      <p:sp>
        <p:nvSpPr>
          <p:cNvPr id="50" name="Shape 35"/>
          <p:cNvSpPr/>
          <p:nvPr/>
        </p:nvSpPr>
        <p:spPr>
          <a:xfrm>
            <a:off x="6005779" y="1619402"/>
            <a:ext cx="1800454" cy="2286000"/>
          </a:xfrm>
          <a:prstGeom prst="roundRect">
            <a:avLst>
              <a:gd name="adj" fmla="val 3200"/>
            </a:avLst>
          </a:prstGeom>
          <a:solidFill>
            <a:srgbClr val="FFFFFF"/>
          </a:solidFill>
          <a:ln w="12700">
            <a:solidFill>
              <a:srgbClr val="E5E7EB"/>
            </a:solidFill>
            <a:prstDash val="solid"/>
          </a:ln>
        </p:spPr>
        <p:txBody>
          <a:bodyPr/>
          <a:lstStyle/>
          <a:p>
            <a:endParaRPr lang="en-IN"/>
          </a:p>
        </p:txBody>
      </p:sp>
      <p:sp>
        <p:nvSpPr>
          <p:cNvPr id="51" name="Shape 36"/>
          <p:cNvSpPr/>
          <p:nvPr/>
        </p:nvSpPr>
        <p:spPr>
          <a:xfrm>
            <a:off x="6005779" y="1619402"/>
            <a:ext cx="1800454" cy="28346"/>
          </a:xfrm>
          <a:prstGeom prst="roundRect">
            <a:avLst>
              <a:gd name="adj" fmla="val 203229"/>
            </a:avLst>
          </a:prstGeom>
          <a:solidFill>
            <a:srgbClr val="2A9D8F"/>
          </a:solidFill>
          <a:ln w="12700">
            <a:solidFill>
              <a:srgbClr val="2A9D8F">
                <a:alpha val="0"/>
              </a:srgbClr>
            </a:solidFill>
            <a:prstDash val="solid"/>
          </a:ln>
        </p:spPr>
        <p:txBody>
          <a:bodyPr/>
          <a:lstStyle/>
          <a:p>
            <a:endParaRPr lang="en-IN"/>
          </a:p>
        </p:txBody>
      </p:sp>
      <p:sp>
        <p:nvSpPr>
          <p:cNvPr id="52" name="Shape 37"/>
          <p:cNvSpPr/>
          <p:nvPr/>
        </p:nvSpPr>
        <p:spPr>
          <a:xfrm>
            <a:off x="6110021" y="2238451"/>
            <a:ext cx="1591056" cy="9144"/>
          </a:xfrm>
          <a:prstGeom prst="rect">
            <a:avLst/>
          </a:prstGeom>
          <a:solidFill>
            <a:srgbClr val="F3F4F6"/>
          </a:solidFill>
          <a:ln w="12700">
            <a:solidFill>
              <a:srgbClr val="F3F4F6">
                <a:alpha val="0"/>
              </a:srgbClr>
            </a:solidFill>
            <a:prstDash val="solid"/>
          </a:ln>
        </p:spPr>
        <p:txBody>
          <a:bodyPr/>
          <a:lstStyle/>
          <a:p>
            <a:endParaRPr lang="en-IN"/>
          </a:p>
        </p:txBody>
      </p:sp>
      <p:pic>
        <p:nvPicPr>
          <p:cNvPr id="53" name="Image 13" descr="gen-dedup-d16576a25bc70d617e052cac53f3ec88.png"/>
          <p:cNvPicPr>
            <a:picLocks noChangeAspect="1"/>
          </p:cNvPicPr>
          <p:nvPr/>
        </p:nvPicPr>
        <p:blipFill>
          <a:blip r:embed="rId8"/>
          <a:srcRect t="-13478" b="-13478"/>
          <a:stretch/>
        </p:blipFill>
        <p:spPr>
          <a:xfrm>
            <a:off x="6110021" y="1904695"/>
            <a:ext cx="105156" cy="133502"/>
          </a:xfrm>
          <a:prstGeom prst="rect">
            <a:avLst/>
          </a:prstGeom>
        </p:spPr>
      </p:pic>
      <p:sp>
        <p:nvSpPr>
          <p:cNvPr id="54" name="Text 38"/>
          <p:cNvSpPr txBox="1"/>
          <p:nvPr/>
        </p:nvSpPr>
        <p:spPr>
          <a:xfrm>
            <a:off x="6291072" y="1742846"/>
            <a:ext cx="1410005" cy="505663"/>
          </a:xfrm>
          <a:prstGeom prst="rect">
            <a:avLst/>
          </a:prstGeom>
          <a:noFill/>
          <a:ln/>
        </p:spPr>
        <p:txBody>
          <a:bodyPr wrap="square" lIns="0" tIns="0" rIns="0" bIns="0" rtlCol="0" anchor="ctr"/>
          <a:lstStyle/>
          <a:p>
            <a:pPr marL="0" indent="0" algn="l">
              <a:buNone/>
            </a:pPr>
            <a:r>
              <a:rPr lang="en-US" sz="1200" b="1">
                <a:solidFill>
                  <a:srgbClr val="111827"/>
                </a:solidFill>
                <a:latin typeface="Oswald" pitchFamily="34" charset="0"/>
                <a:ea typeface="Oswald" pitchFamily="34" charset="-122"/>
                <a:cs typeface="Oswald" pitchFamily="34" charset="-120"/>
              </a:rPr>
              <a:t>Healthcare &amp; Life Sciences</a:t>
            </a:r>
            <a:endParaRPr lang="en-US" sz="1200"/>
          </a:p>
        </p:txBody>
      </p:sp>
      <p:sp>
        <p:nvSpPr>
          <p:cNvPr id="55" name="Text 39"/>
          <p:cNvSpPr txBox="1"/>
          <p:nvPr/>
        </p:nvSpPr>
        <p:spPr>
          <a:xfrm>
            <a:off x="6116523" y="2324405"/>
            <a:ext cx="1584554" cy="970178"/>
          </a:xfrm>
          <a:prstGeom prst="rect">
            <a:avLst/>
          </a:prstGeom>
          <a:noFill/>
          <a:ln/>
        </p:spPr>
        <p:txBody>
          <a:bodyPr wrap="square" lIns="0" tIns="0" rIns="0" bIns="0" rtlCol="0" anchor="t"/>
          <a:lstStyle/>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​Medical device engineering</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​Clinical trials &amp; regulatory compliance</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​Patient care applications</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​AI-enhanced diagnostics</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​Data &amp; analytics</a:t>
            </a:r>
            <a:endParaRPr lang="en-US" sz="1000"/>
          </a:p>
        </p:txBody>
      </p:sp>
      <p:sp>
        <p:nvSpPr>
          <p:cNvPr id="56" name="Shape 40"/>
          <p:cNvSpPr/>
          <p:nvPr/>
        </p:nvSpPr>
        <p:spPr>
          <a:xfrm>
            <a:off x="7915046" y="1619402"/>
            <a:ext cx="1800454" cy="2286000"/>
          </a:xfrm>
          <a:prstGeom prst="roundRect">
            <a:avLst>
              <a:gd name="adj" fmla="val 3200"/>
            </a:avLst>
          </a:prstGeom>
          <a:solidFill>
            <a:srgbClr val="FFFFFF"/>
          </a:solidFill>
          <a:ln w="12700">
            <a:solidFill>
              <a:srgbClr val="E5E7EB"/>
            </a:solidFill>
            <a:prstDash val="solid"/>
          </a:ln>
        </p:spPr>
        <p:txBody>
          <a:bodyPr/>
          <a:lstStyle/>
          <a:p>
            <a:endParaRPr lang="en-IN"/>
          </a:p>
        </p:txBody>
      </p:sp>
      <p:sp>
        <p:nvSpPr>
          <p:cNvPr id="57" name="Shape 41"/>
          <p:cNvSpPr/>
          <p:nvPr/>
        </p:nvSpPr>
        <p:spPr>
          <a:xfrm>
            <a:off x="7915046" y="1619402"/>
            <a:ext cx="1800454" cy="28346"/>
          </a:xfrm>
          <a:prstGeom prst="roundRect">
            <a:avLst>
              <a:gd name="adj" fmla="val 203229"/>
            </a:avLst>
          </a:prstGeom>
          <a:solidFill>
            <a:srgbClr val="D62839"/>
          </a:solidFill>
          <a:ln w="12700">
            <a:solidFill>
              <a:srgbClr val="D62839">
                <a:alpha val="0"/>
              </a:srgbClr>
            </a:solidFill>
            <a:prstDash val="solid"/>
          </a:ln>
        </p:spPr>
        <p:txBody>
          <a:bodyPr/>
          <a:lstStyle/>
          <a:p>
            <a:endParaRPr lang="en-IN"/>
          </a:p>
        </p:txBody>
      </p:sp>
      <p:sp>
        <p:nvSpPr>
          <p:cNvPr id="58" name="Shape 42"/>
          <p:cNvSpPr/>
          <p:nvPr/>
        </p:nvSpPr>
        <p:spPr>
          <a:xfrm>
            <a:off x="8020202" y="2225751"/>
            <a:ext cx="1591056" cy="9144"/>
          </a:xfrm>
          <a:prstGeom prst="rect">
            <a:avLst/>
          </a:prstGeom>
          <a:solidFill>
            <a:srgbClr val="F3F4F6"/>
          </a:solidFill>
          <a:ln w="12700">
            <a:solidFill>
              <a:srgbClr val="F3F4F6">
                <a:alpha val="0"/>
              </a:srgbClr>
            </a:solidFill>
            <a:prstDash val="solid"/>
          </a:ln>
        </p:spPr>
        <p:txBody>
          <a:bodyPr/>
          <a:lstStyle/>
          <a:p>
            <a:endParaRPr lang="en-IN"/>
          </a:p>
        </p:txBody>
      </p:sp>
      <p:pic>
        <p:nvPicPr>
          <p:cNvPr id="59" name="Image 14" descr="gen-dedup-76aa5c73c10f56512efcc2e7a6292230.png"/>
          <p:cNvPicPr>
            <a:picLocks noChangeAspect="1"/>
          </p:cNvPicPr>
          <p:nvPr/>
        </p:nvPicPr>
        <p:blipFill>
          <a:blip r:embed="rId9"/>
          <a:srcRect t="-21413" b="-21413"/>
          <a:stretch/>
        </p:blipFill>
        <p:spPr>
          <a:xfrm>
            <a:off x="8020202" y="1790395"/>
            <a:ext cx="105156" cy="133502"/>
          </a:xfrm>
          <a:prstGeom prst="rect">
            <a:avLst/>
          </a:prstGeom>
        </p:spPr>
      </p:pic>
      <p:sp>
        <p:nvSpPr>
          <p:cNvPr id="60" name="Text 43"/>
          <p:cNvSpPr txBox="1"/>
          <p:nvPr/>
        </p:nvSpPr>
        <p:spPr>
          <a:xfrm>
            <a:off x="8201254" y="1742846"/>
            <a:ext cx="1162202" cy="277063"/>
          </a:xfrm>
          <a:prstGeom prst="rect">
            <a:avLst/>
          </a:prstGeom>
          <a:noFill/>
          <a:ln/>
        </p:spPr>
        <p:txBody>
          <a:bodyPr wrap="square" lIns="0" tIns="0" rIns="0" bIns="0" rtlCol="0" anchor="ctr"/>
          <a:lstStyle/>
          <a:p>
            <a:pPr marL="0" indent="0" algn="l">
              <a:buNone/>
            </a:pPr>
            <a:r>
              <a:rPr lang="en-US" sz="1200" b="1">
                <a:solidFill>
                  <a:srgbClr val="111827"/>
                </a:solidFill>
                <a:latin typeface="Oswald" pitchFamily="34" charset="0"/>
                <a:ea typeface="Oswald" pitchFamily="34" charset="-122"/>
                <a:cs typeface="Oswald" pitchFamily="34" charset="-120"/>
              </a:rPr>
              <a:t>Retail &amp; Consumer</a:t>
            </a:r>
            <a:endParaRPr lang="en-US" sz="1200"/>
          </a:p>
        </p:txBody>
      </p:sp>
      <p:sp>
        <p:nvSpPr>
          <p:cNvPr id="61" name="Text 44"/>
          <p:cNvSpPr txBox="1"/>
          <p:nvPr/>
        </p:nvSpPr>
        <p:spPr>
          <a:xfrm>
            <a:off x="8026705" y="2319325"/>
            <a:ext cx="1584554" cy="1227125"/>
          </a:xfrm>
          <a:prstGeom prst="rect">
            <a:avLst/>
          </a:prstGeom>
          <a:noFill/>
          <a:ln/>
        </p:spPr>
        <p:txBody>
          <a:bodyPr wrap="square" lIns="0" tIns="0" rIns="0" bIns="0" rtlCol="0" anchor="t"/>
          <a:lstStyle/>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​Peak-season &amp; event-scale support</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​Supply chain &amp; SAP capability</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​Technical support operations</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​AI-enabled customer channels</a:t>
            </a:r>
            <a:endParaRPr lang="en-US" sz="1000"/>
          </a:p>
        </p:txBody>
      </p:sp>
      <p:sp>
        <p:nvSpPr>
          <p:cNvPr id="62" name="Shape 45"/>
          <p:cNvSpPr/>
          <p:nvPr/>
        </p:nvSpPr>
        <p:spPr>
          <a:xfrm>
            <a:off x="9825228" y="1619402"/>
            <a:ext cx="1800454" cy="2286000"/>
          </a:xfrm>
          <a:prstGeom prst="roundRect">
            <a:avLst>
              <a:gd name="adj" fmla="val 3200"/>
            </a:avLst>
          </a:prstGeom>
          <a:solidFill>
            <a:srgbClr val="FFFFFF"/>
          </a:solidFill>
          <a:ln w="12700">
            <a:solidFill>
              <a:srgbClr val="E5E7EB"/>
            </a:solidFill>
            <a:prstDash val="solid"/>
          </a:ln>
        </p:spPr>
        <p:txBody>
          <a:bodyPr/>
          <a:lstStyle/>
          <a:p>
            <a:endParaRPr lang="en-IN"/>
          </a:p>
        </p:txBody>
      </p:sp>
      <p:sp>
        <p:nvSpPr>
          <p:cNvPr id="63" name="Shape 46"/>
          <p:cNvSpPr/>
          <p:nvPr/>
        </p:nvSpPr>
        <p:spPr>
          <a:xfrm>
            <a:off x="9825228" y="1619402"/>
            <a:ext cx="1800454" cy="28346"/>
          </a:xfrm>
          <a:prstGeom prst="roundRect">
            <a:avLst>
              <a:gd name="adj" fmla="val 203229"/>
            </a:avLst>
          </a:prstGeom>
          <a:solidFill>
            <a:srgbClr val="D62839"/>
          </a:solidFill>
          <a:ln w="12700">
            <a:solidFill>
              <a:srgbClr val="D62839">
                <a:alpha val="0"/>
              </a:srgbClr>
            </a:solidFill>
            <a:prstDash val="solid"/>
          </a:ln>
        </p:spPr>
        <p:txBody>
          <a:bodyPr/>
          <a:lstStyle/>
          <a:p>
            <a:endParaRPr lang="en-IN"/>
          </a:p>
        </p:txBody>
      </p:sp>
      <p:sp>
        <p:nvSpPr>
          <p:cNvPr id="64" name="Shape 47"/>
          <p:cNvSpPr/>
          <p:nvPr/>
        </p:nvSpPr>
        <p:spPr>
          <a:xfrm>
            <a:off x="9929470" y="2238451"/>
            <a:ext cx="1591056" cy="9144"/>
          </a:xfrm>
          <a:prstGeom prst="rect">
            <a:avLst/>
          </a:prstGeom>
          <a:solidFill>
            <a:srgbClr val="F3F4F6"/>
          </a:solidFill>
          <a:ln w="12700">
            <a:solidFill>
              <a:srgbClr val="F3F4F6">
                <a:alpha val="0"/>
              </a:srgbClr>
            </a:solidFill>
            <a:prstDash val="solid"/>
          </a:ln>
        </p:spPr>
        <p:txBody>
          <a:bodyPr/>
          <a:lstStyle/>
          <a:p>
            <a:endParaRPr lang="en-IN"/>
          </a:p>
        </p:txBody>
      </p:sp>
      <p:pic>
        <p:nvPicPr>
          <p:cNvPr id="65" name="Image 15" descr="gen-dedup-e9108afc4403c9d7e94cd95a524ca43a.png"/>
          <p:cNvPicPr>
            <a:picLocks noChangeAspect="1"/>
          </p:cNvPicPr>
          <p:nvPr/>
        </p:nvPicPr>
        <p:blipFill>
          <a:blip r:embed="rId10"/>
          <a:srcRect t="-13478" b="-13478"/>
          <a:stretch/>
        </p:blipFill>
        <p:spPr>
          <a:xfrm>
            <a:off x="9929470" y="1904695"/>
            <a:ext cx="105156" cy="133502"/>
          </a:xfrm>
          <a:prstGeom prst="rect">
            <a:avLst/>
          </a:prstGeom>
        </p:spPr>
      </p:pic>
      <p:sp>
        <p:nvSpPr>
          <p:cNvPr id="66" name="Text 48"/>
          <p:cNvSpPr txBox="1"/>
          <p:nvPr/>
        </p:nvSpPr>
        <p:spPr>
          <a:xfrm>
            <a:off x="10110521" y="1742846"/>
            <a:ext cx="1410005" cy="505663"/>
          </a:xfrm>
          <a:prstGeom prst="rect">
            <a:avLst/>
          </a:prstGeom>
          <a:noFill/>
          <a:ln/>
        </p:spPr>
        <p:txBody>
          <a:bodyPr wrap="square" lIns="0" tIns="0" rIns="0" bIns="0" rtlCol="0" anchor="ctr"/>
          <a:lstStyle/>
          <a:p>
            <a:pPr marL="0" indent="0" algn="l">
              <a:buNone/>
            </a:pPr>
            <a:r>
              <a:rPr lang="en-US" sz="1200" b="1">
                <a:solidFill>
                  <a:srgbClr val="111827"/>
                </a:solidFill>
                <a:latin typeface="Oswald" pitchFamily="34" charset="0"/>
                <a:ea typeface="Oswald" pitchFamily="34" charset="-122"/>
                <a:cs typeface="Oswald" pitchFamily="34" charset="-120"/>
              </a:rPr>
              <a:t>Automotive &amp; Manufacturing</a:t>
            </a:r>
            <a:endParaRPr lang="en-US" sz="1200"/>
          </a:p>
        </p:txBody>
      </p:sp>
      <p:sp>
        <p:nvSpPr>
          <p:cNvPr id="67" name="Text 49"/>
          <p:cNvSpPr txBox="1"/>
          <p:nvPr/>
        </p:nvSpPr>
        <p:spPr>
          <a:xfrm>
            <a:off x="9935972" y="2324405"/>
            <a:ext cx="1584554" cy="941832"/>
          </a:xfrm>
          <a:prstGeom prst="rect">
            <a:avLst/>
          </a:prstGeom>
          <a:noFill/>
          <a:ln/>
        </p:spPr>
        <p:txBody>
          <a:bodyPr wrap="square" lIns="0" tIns="0" rIns="0" bIns="0" rtlCol="0" anchor="t"/>
          <a:lstStyle/>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​OEM engineering</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​Quality engineering &amp; platform testing</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​Operational digital twin</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​Predictive maintenance (O&amp;M)</a:t>
            </a:r>
            <a:endParaRPr lang="en-US" sz="1000"/>
          </a:p>
        </p:txBody>
      </p:sp>
      <p:sp>
        <p:nvSpPr>
          <p:cNvPr id="68" name="Shape 50"/>
          <p:cNvSpPr/>
          <p:nvPr/>
        </p:nvSpPr>
        <p:spPr>
          <a:xfrm>
            <a:off x="4095598" y="4019702"/>
            <a:ext cx="1800454" cy="2314346"/>
          </a:xfrm>
          <a:prstGeom prst="roundRect">
            <a:avLst>
              <a:gd name="adj" fmla="val 3200"/>
            </a:avLst>
          </a:prstGeom>
          <a:solidFill>
            <a:srgbClr val="FFFFFF"/>
          </a:solidFill>
          <a:ln w="12700">
            <a:solidFill>
              <a:srgbClr val="E5E7EB"/>
            </a:solidFill>
            <a:prstDash val="solid"/>
          </a:ln>
        </p:spPr>
        <p:txBody>
          <a:bodyPr/>
          <a:lstStyle/>
          <a:p>
            <a:endParaRPr lang="en-IN"/>
          </a:p>
        </p:txBody>
      </p:sp>
      <p:sp>
        <p:nvSpPr>
          <p:cNvPr id="69" name="Shape 51"/>
          <p:cNvSpPr/>
          <p:nvPr/>
        </p:nvSpPr>
        <p:spPr>
          <a:xfrm>
            <a:off x="4095598" y="4019702"/>
            <a:ext cx="1800454" cy="28346"/>
          </a:xfrm>
          <a:prstGeom prst="roundRect">
            <a:avLst>
              <a:gd name="adj" fmla="val 203229"/>
            </a:avLst>
          </a:prstGeom>
          <a:solidFill>
            <a:srgbClr val="D62839"/>
          </a:solidFill>
          <a:ln w="12700">
            <a:solidFill>
              <a:srgbClr val="D62839">
                <a:alpha val="0"/>
              </a:srgbClr>
            </a:solidFill>
            <a:prstDash val="solid"/>
          </a:ln>
        </p:spPr>
        <p:txBody>
          <a:bodyPr/>
          <a:lstStyle/>
          <a:p>
            <a:endParaRPr lang="en-IN"/>
          </a:p>
        </p:txBody>
      </p:sp>
      <p:sp>
        <p:nvSpPr>
          <p:cNvPr id="70" name="Shape 52"/>
          <p:cNvSpPr/>
          <p:nvPr/>
        </p:nvSpPr>
        <p:spPr>
          <a:xfrm>
            <a:off x="4200754" y="4410151"/>
            <a:ext cx="1591056" cy="9144"/>
          </a:xfrm>
          <a:prstGeom prst="rect">
            <a:avLst/>
          </a:prstGeom>
          <a:solidFill>
            <a:srgbClr val="F3F4F6"/>
          </a:solidFill>
          <a:ln w="12700">
            <a:solidFill>
              <a:srgbClr val="F3F4F6">
                <a:alpha val="0"/>
              </a:srgbClr>
            </a:solidFill>
            <a:prstDash val="solid"/>
          </a:ln>
        </p:spPr>
        <p:txBody>
          <a:bodyPr/>
          <a:lstStyle/>
          <a:p>
            <a:endParaRPr lang="en-IN"/>
          </a:p>
        </p:txBody>
      </p:sp>
      <p:pic>
        <p:nvPicPr>
          <p:cNvPr id="71" name="Image 16" descr="gen-dedup-60ce7854af1abdabb3647f647581af70.png"/>
          <p:cNvPicPr>
            <a:picLocks noChangeAspect="1"/>
          </p:cNvPicPr>
          <p:nvPr/>
        </p:nvPicPr>
        <p:blipFill>
          <a:blip r:embed="rId11"/>
          <a:srcRect t="-29348" b="-29348"/>
          <a:stretch/>
        </p:blipFill>
        <p:spPr>
          <a:xfrm>
            <a:off x="4200754" y="4190695"/>
            <a:ext cx="105156" cy="133502"/>
          </a:xfrm>
          <a:prstGeom prst="rect">
            <a:avLst/>
          </a:prstGeom>
        </p:spPr>
      </p:pic>
      <p:sp>
        <p:nvSpPr>
          <p:cNvPr id="72" name="Text 53"/>
          <p:cNvSpPr txBox="1"/>
          <p:nvPr/>
        </p:nvSpPr>
        <p:spPr>
          <a:xfrm>
            <a:off x="4381804" y="4143146"/>
            <a:ext cx="1410005" cy="276149"/>
          </a:xfrm>
          <a:prstGeom prst="rect">
            <a:avLst/>
          </a:prstGeom>
          <a:noFill/>
          <a:ln/>
        </p:spPr>
        <p:txBody>
          <a:bodyPr wrap="square" lIns="0" tIns="0" rIns="0" bIns="0" rtlCol="0" anchor="ctr"/>
          <a:lstStyle/>
          <a:p>
            <a:pPr marL="0" indent="0" algn="l">
              <a:buNone/>
            </a:pPr>
            <a:r>
              <a:rPr lang="en-US" sz="1200" b="1">
                <a:solidFill>
                  <a:srgbClr val="111827"/>
                </a:solidFill>
                <a:latin typeface="Oswald" pitchFamily="34" charset="0"/>
                <a:ea typeface="Oswald" pitchFamily="34" charset="-122"/>
                <a:cs typeface="Oswald" pitchFamily="34" charset="-120"/>
              </a:rPr>
              <a:t>Technology &amp; SaaS</a:t>
            </a:r>
            <a:endParaRPr lang="en-US" sz="1200"/>
          </a:p>
        </p:txBody>
      </p:sp>
      <p:sp>
        <p:nvSpPr>
          <p:cNvPr id="73" name="Text 54"/>
          <p:cNvSpPr txBox="1"/>
          <p:nvPr/>
        </p:nvSpPr>
        <p:spPr>
          <a:xfrm>
            <a:off x="4207256" y="4597707"/>
            <a:ext cx="1584554" cy="1256386"/>
          </a:xfrm>
          <a:prstGeom prst="rect">
            <a:avLst/>
          </a:prstGeom>
          <a:noFill/>
          <a:ln/>
        </p:spPr>
        <p:txBody>
          <a:bodyPr wrap="square" lIns="0" tIns="0" rIns="0" bIns="0" rtlCol="0" anchor="t"/>
          <a:lstStyle/>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​Product engineering</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​Rapid talent &amp; ODC deployment</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​Managed technical support</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​Customer engagement operations</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​Cybersecurity for infrastructure</a:t>
            </a:r>
            <a:endParaRPr lang="en-US" sz="1000"/>
          </a:p>
        </p:txBody>
      </p:sp>
      <p:sp>
        <p:nvSpPr>
          <p:cNvPr id="74" name="Shape 55"/>
          <p:cNvSpPr/>
          <p:nvPr/>
        </p:nvSpPr>
        <p:spPr>
          <a:xfrm>
            <a:off x="6005779" y="4019702"/>
            <a:ext cx="1800454" cy="2314346"/>
          </a:xfrm>
          <a:prstGeom prst="roundRect">
            <a:avLst>
              <a:gd name="adj" fmla="val 3200"/>
            </a:avLst>
          </a:prstGeom>
          <a:solidFill>
            <a:srgbClr val="FFFFFF"/>
          </a:solidFill>
          <a:ln w="12700">
            <a:solidFill>
              <a:srgbClr val="E5E7EB"/>
            </a:solidFill>
            <a:prstDash val="solid"/>
          </a:ln>
        </p:spPr>
        <p:txBody>
          <a:bodyPr/>
          <a:lstStyle/>
          <a:p>
            <a:endParaRPr lang="en-IN"/>
          </a:p>
        </p:txBody>
      </p:sp>
      <p:sp>
        <p:nvSpPr>
          <p:cNvPr id="75" name="Shape 56"/>
          <p:cNvSpPr/>
          <p:nvPr/>
        </p:nvSpPr>
        <p:spPr>
          <a:xfrm>
            <a:off x="6005779" y="4019702"/>
            <a:ext cx="1800454" cy="28346"/>
          </a:xfrm>
          <a:prstGeom prst="roundRect">
            <a:avLst>
              <a:gd name="adj" fmla="val 203229"/>
            </a:avLst>
          </a:prstGeom>
          <a:solidFill>
            <a:srgbClr val="2A9D8F"/>
          </a:solidFill>
          <a:ln w="12700">
            <a:solidFill>
              <a:srgbClr val="2A9D8F">
                <a:alpha val="0"/>
              </a:srgbClr>
            </a:solidFill>
            <a:prstDash val="solid"/>
          </a:ln>
        </p:spPr>
        <p:txBody>
          <a:bodyPr/>
          <a:lstStyle/>
          <a:p>
            <a:endParaRPr lang="en-IN"/>
          </a:p>
        </p:txBody>
      </p:sp>
      <p:sp>
        <p:nvSpPr>
          <p:cNvPr id="76" name="Shape 57"/>
          <p:cNvSpPr/>
          <p:nvPr/>
        </p:nvSpPr>
        <p:spPr>
          <a:xfrm>
            <a:off x="6110021" y="4410151"/>
            <a:ext cx="1591056" cy="9144"/>
          </a:xfrm>
          <a:prstGeom prst="rect">
            <a:avLst/>
          </a:prstGeom>
          <a:solidFill>
            <a:srgbClr val="F3F4F6"/>
          </a:solidFill>
          <a:ln w="12700">
            <a:solidFill>
              <a:srgbClr val="F3F4F6">
                <a:alpha val="0"/>
              </a:srgbClr>
            </a:solidFill>
            <a:prstDash val="solid"/>
          </a:ln>
        </p:spPr>
        <p:txBody>
          <a:bodyPr/>
          <a:lstStyle/>
          <a:p>
            <a:endParaRPr lang="en-IN"/>
          </a:p>
        </p:txBody>
      </p:sp>
      <p:pic>
        <p:nvPicPr>
          <p:cNvPr id="77" name="Image 17" descr="gen-dedup-db112cd11bc1dc8e2a10068263b6a7ba.png"/>
          <p:cNvPicPr>
            <a:picLocks noChangeAspect="1"/>
          </p:cNvPicPr>
          <p:nvPr/>
        </p:nvPicPr>
        <p:blipFill>
          <a:blip r:embed="rId12"/>
          <a:srcRect t="-21413" b="-21413"/>
          <a:stretch/>
        </p:blipFill>
        <p:spPr>
          <a:xfrm>
            <a:off x="6110021" y="4190695"/>
            <a:ext cx="105156" cy="133502"/>
          </a:xfrm>
          <a:prstGeom prst="rect">
            <a:avLst/>
          </a:prstGeom>
        </p:spPr>
      </p:pic>
      <p:sp>
        <p:nvSpPr>
          <p:cNvPr id="78" name="Text 58"/>
          <p:cNvSpPr txBox="1"/>
          <p:nvPr/>
        </p:nvSpPr>
        <p:spPr>
          <a:xfrm>
            <a:off x="6291071" y="4143146"/>
            <a:ext cx="1410005" cy="276149"/>
          </a:xfrm>
          <a:prstGeom prst="rect">
            <a:avLst/>
          </a:prstGeom>
          <a:noFill/>
          <a:ln/>
        </p:spPr>
        <p:txBody>
          <a:bodyPr wrap="square" lIns="0" tIns="0" rIns="0" bIns="0" rtlCol="0" anchor="ctr"/>
          <a:lstStyle/>
          <a:p>
            <a:pPr marL="0" indent="0" algn="l">
              <a:buNone/>
            </a:pPr>
            <a:r>
              <a:rPr lang="en-US" sz="1200" b="1">
                <a:solidFill>
                  <a:srgbClr val="111827"/>
                </a:solidFill>
                <a:latin typeface="Oswald" pitchFamily="34" charset="0"/>
                <a:ea typeface="Oswald" pitchFamily="34" charset="-122"/>
                <a:cs typeface="Oswald" pitchFamily="34" charset="-120"/>
              </a:rPr>
              <a:t>Telecommunications</a:t>
            </a:r>
            <a:endParaRPr lang="en-US" sz="1200"/>
          </a:p>
        </p:txBody>
      </p:sp>
      <p:sp>
        <p:nvSpPr>
          <p:cNvPr id="79" name="Text 59"/>
          <p:cNvSpPr txBox="1"/>
          <p:nvPr/>
        </p:nvSpPr>
        <p:spPr>
          <a:xfrm>
            <a:off x="6116523" y="4597707"/>
            <a:ext cx="1584554" cy="800100"/>
          </a:xfrm>
          <a:prstGeom prst="rect">
            <a:avLst/>
          </a:prstGeom>
          <a:noFill/>
          <a:ln/>
        </p:spPr>
        <p:txBody>
          <a:bodyPr wrap="square" lIns="0" tIns="0" rIns="0" bIns="0" rtlCol="0" anchor="t"/>
          <a:lstStyle/>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​OTT &amp; platform testing</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​Network provisioning</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​Partner &amp; MVNO integration</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​Customer support transformation</a:t>
            </a:r>
            <a:endParaRPr lang="en-US" sz="1000"/>
          </a:p>
        </p:txBody>
      </p:sp>
      <p:sp>
        <p:nvSpPr>
          <p:cNvPr id="80" name="Shape 60"/>
          <p:cNvSpPr/>
          <p:nvPr/>
        </p:nvSpPr>
        <p:spPr>
          <a:xfrm>
            <a:off x="7915046" y="4019702"/>
            <a:ext cx="1800454" cy="2314346"/>
          </a:xfrm>
          <a:prstGeom prst="roundRect">
            <a:avLst>
              <a:gd name="adj" fmla="val 3200"/>
            </a:avLst>
          </a:prstGeom>
          <a:solidFill>
            <a:srgbClr val="FFFFFF"/>
          </a:solidFill>
          <a:ln w="12700">
            <a:solidFill>
              <a:srgbClr val="E5E7EB"/>
            </a:solidFill>
            <a:prstDash val="solid"/>
          </a:ln>
        </p:spPr>
        <p:txBody>
          <a:bodyPr/>
          <a:lstStyle/>
          <a:p>
            <a:endParaRPr lang="en-IN"/>
          </a:p>
        </p:txBody>
      </p:sp>
      <p:sp>
        <p:nvSpPr>
          <p:cNvPr id="81" name="Shape 61"/>
          <p:cNvSpPr/>
          <p:nvPr/>
        </p:nvSpPr>
        <p:spPr>
          <a:xfrm>
            <a:off x="7915046" y="4019702"/>
            <a:ext cx="1800454" cy="28346"/>
          </a:xfrm>
          <a:prstGeom prst="roundRect">
            <a:avLst>
              <a:gd name="adj" fmla="val 203229"/>
            </a:avLst>
          </a:prstGeom>
          <a:solidFill>
            <a:srgbClr val="2A9D8F"/>
          </a:solidFill>
          <a:ln w="12700">
            <a:solidFill>
              <a:srgbClr val="2A9D8F">
                <a:alpha val="0"/>
              </a:srgbClr>
            </a:solidFill>
            <a:prstDash val="solid"/>
          </a:ln>
        </p:spPr>
        <p:txBody>
          <a:bodyPr/>
          <a:lstStyle/>
          <a:p>
            <a:endParaRPr lang="en-IN"/>
          </a:p>
        </p:txBody>
      </p:sp>
      <p:sp>
        <p:nvSpPr>
          <p:cNvPr id="82" name="Shape 62"/>
          <p:cNvSpPr/>
          <p:nvPr/>
        </p:nvSpPr>
        <p:spPr>
          <a:xfrm>
            <a:off x="8020202" y="4410151"/>
            <a:ext cx="1591056" cy="9144"/>
          </a:xfrm>
          <a:prstGeom prst="rect">
            <a:avLst/>
          </a:prstGeom>
          <a:solidFill>
            <a:srgbClr val="F3F4F6"/>
          </a:solidFill>
          <a:ln w="12700">
            <a:solidFill>
              <a:srgbClr val="F3F4F6">
                <a:alpha val="0"/>
              </a:srgbClr>
            </a:solidFill>
            <a:prstDash val="solid"/>
          </a:ln>
        </p:spPr>
        <p:txBody>
          <a:bodyPr/>
          <a:lstStyle/>
          <a:p>
            <a:endParaRPr lang="en-IN"/>
          </a:p>
        </p:txBody>
      </p:sp>
      <p:pic>
        <p:nvPicPr>
          <p:cNvPr id="83" name="Image 18" descr="gen-dedup-2a0eec6b7b296f5afa314be1c544e862.png"/>
          <p:cNvPicPr>
            <a:picLocks noChangeAspect="1"/>
          </p:cNvPicPr>
          <p:nvPr/>
        </p:nvPicPr>
        <p:blipFill>
          <a:blip r:embed="rId13"/>
          <a:srcRect t="-5544" b="-5544"/>
          <a:stretch/>
        </p:blipFill>
        <p:spPr>
          <a:xfrm>
            <a:off x="8020202" y="4190695"/>
            <a:ext cx="105156" cy="133502"/>
          </a:xfrm>
          <a:prstGeom prst="rect">
            <a:avLst/>
          </a:prstGeom>
        </p:spPr>
      </p:pic>
      <p:sp>
        <p:nvSpPr>
          <p:cNvPr id="84" name="Text 63"/>
          <p:cNvSpPr txBox="1"/>
          <p:nvPr/>
        </p:nvSpPr>
        <p:spPr>
          <a:xfrm>
            <a:off x="8201254" y="4143146"/>
            <a:ext cx="1086307" cy="277063"/>
          </a:xfrm>
          <a:prstGeom prst="rect">
            <a:avLst/>
          </a:prstGeom>
          <a:noFill/>
          <a:ln/>
        </p:spPr>
        <p:txBody>
          <a:bodyPr wrap="square" lIns="0" tIns="0" rIns="0" bIns="0" rtlCol="0" anchor="ctr"/>
          <a:lstStyle/>
          <a:p>
            <a:pPr marL="0" indent="0" algn="l">
              <a:buNone/>
            </a:pPr>
            <a:r>
              <a:rPr lang="en-US" sz="1200" b="1">
                <a:solidFill>
                  <a:srgbClr val="111827"/>
                </a:solidFill>
                <a:latin typeface="Oswald" pitchFamily="34" charset="0"/>
                <a:ea typeface="Oswald" pitchFamily="34" charset="-122"/>
                <a:cs typeface="Oswald" pitchFamily="34" charset="-120"/>
              </a:rPr>
              <a:t>Energy &amp; Utilities</a:t>
            </a:r>
            <a:endParaRPr lang="en-US" sz="1200"/>
          </a:p>
        </p:txBody>
      </p:sp>
      <p:sp>
        <p:nvSpPr>
          <p:cNvPr id="85" name="Text 64"/>
          <p:cNvSpPr txBox="1"/>
          <p:nvPr/>
        </p:nvSpPr>
        <p:spPr>
          <a:xfrm>
            <a:off x="8026705" y="4597707"/>
            <a:ext cx="1584554" cy="799186"/>
          </a:xfrm>
          <a:prstGeom prst="rect">
            <a:avLst/>
          </a:prstGeom>
          <a:noFill/>
          <a:ln/>
        </p:spPr>
        <p:txBody>
          <a:bodyPr wrap="square" lIns="0" tIns="0" rIns="0" bIns="0" rtlCol="0" anchor="t"/>
          <a:lstStyle/>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​Grid &amp; generation forecasting</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​ODC / BPO build</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​Operational digital twin</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​Talent sprints</a:t>
            </a:r>
            <a:endParaRPr lang="en-US" sz="1000"/>
          </a:p>
        </p:txBody>
      </p:sp>
      <p:sp>
        <p:nvSpPr>
          <p:cNvPr id="86" name="Shape 65"/>
          <p:cNvSpPr/>
          <p:nvPr/>
        </p:nvSpPr>
        <p:spPr>
          <a:xfrm>
            <a:off x="9825228" y="4019702"/>
            <a:ext cx="1800454" cy="2314346"/>
          </a:xfrm>
          <a:prstGeom prst="roundRect">
            <a:avLst>
              <a:gd name="adj" fmla="val 3200"/>
            </a:avLst>
          </a:prstGeom>
          <a:solidFill>
            <a:srgbClr val="FFFFFF"/>
          </a:solidFill>
          <a:ln w="12700">
            <a:solidFill>
              <a:srgbClr val="E5E7EB"/>
            </a:solidFill>
            <a:prstDash val="solid"/>
          </a:ln>
        </p:spPr>
        <p:txBody>
          <a:bodyPr/>
          <a:lstStyle/>
          <a:p>
            <a:endParaRPr lang="en-IN"/>
          </a:p>
        </p:txBody>
      </p:sp>
      <p:sp>
        <p:nvSpPr>
          <p:cNvPr id="87" name="Shape 66"/>
          <p:cNvSpPr/>
          <p:nvPr/>
        </p:nvSpPr>
        <p:spPr>
          <a:xfrm>
            <a:off x="9825228" y="4019702"/>
            <a:ext cx="1800454" cy="28346"/>
          </a:xfrm>
          <a:prstGeom prst="roundRect">
            <a:avLst>
              <a:gd name="adj" fmla="val 203229"/>
            </a:avLst>
          </a:prstGeom>
          <a:solidFill>
            <a:srgbClr val="D62839"/>
          </a:solidFill>
          <a:ln w="12700">
            <a:solidFill>
              <a:srgbClr val="D62839">
                <a:alpha val="0"/>
              </a:srgbClr>
            </a:solidFill>
            <a:prstDash val="solid"/>
          </a:ln>
        </p:spPr>
        <p:txBody>
          <a:bodyPr/>
          <a:lstStyle/>
          <a:p>
            <a:endParaRPr lang="en-IN"/>
          </a:p>
        </p:txBody>
      </p:sp>
      <p:sp>
        <p:nvSpPr>
          <p:cNvPr id="88" name="Shape 67"/>
          <p:cNvSpPr/>
          <p:nvPr/>
        </p:nvSpPr>
        <p:spPr>
          <a:xfrm>
            <a:off x="9929470" y="4410151"/>
            <a:ext cx="1591056" cy="9144"/>
          </a:xfrm>
          <a:prstGeom prst="rect">
            <a:avLst/>
          </a:prstGeom>
          <a:solidFill>
            <a:srgbClr val="F3F4F6"/>
          </a:solidFill>
          <a:ln w="12700">
            <a:solidFill>
              <a:srgbClr val="F3F4F6">
                <a:alpha val="0"/>
              </a:srgbClr>
            </a:solidFill>
            <a:prstDash val="solid"/>
          </a:ln>
        </p:spPr>
        <p:txBody>
          <a:bodyPr/>
          <a:lstStyle/>
          <a:p>
            <a:endParaRPr lang="en-IN"/>
          </a:p>
        </p:txBody>
      </p:sp>
      <p:pic>
        <p:nvPicPr>
          <p:cNvPr id="89" name="Image 19" descr="gen-dedup-f7dad2b3d09df91391c7d77dacc8fd4f.png"/>
          <p:cNvPicPr>
            <a:picLocks noChangeAspect="1"/>
          </p:cNvPicPr>
          <p:nvPr/>
        </p:nvPicPr>
        <p:blipFill>
          <a:blip r:embed="rId14"/>
          <a:srcRect t="-13478" b="-13478"/>
          <a:stretch/>
        </p:blipFill>
        <p:spPr>
          <a:xfrm>
            <a:off x="9929470" y="4190695"/>
            <a:ext cx="105156" cy="133502"/>
          </a:xfrm>
          <a:prstGeom prst="rect">
            <a:avLst/>
          </a:prstGeom>
        </p:spPr>
      </p:pic>
      <p:sp>
        <p:nvSpPr>
          <p:cNvPr id="90" name="Text 68"/>
          <p:cNvSpPr txBox="1"/>
          <p:nvPr/>
        </p:nvSpPr>
        <p:spPr>
          <a:xfrm>
            <a:off x="10110521" y="4143146"/>
            <a:ext cx="1334110" cy="277063"/>
          </a:xfrm>
          <a:prstGeom prst="rect">
            <a:avLst/>
          </a:prstGeom>
          <a:noFill/>
          <a:ln/>
        </p:spPr>
        <p:txBody>
          <a:bodyPr wrap="square" lIns="0" tIns="0" rIns="0" bIns="0" rtlCol="0" anchor="ctr"/>
          <a:lstStyle/>
          <a:p>
            <a:pPr marL="0" indent="0" algn="l">
              <a:buNone/>
            </a:pPr>
            <a:r>
              <a:rPr lang="en-US" sz="1200" b="1">
                <a:solidFill>
                  <a:srgbClr val="111827"/>
                </a:solidFill>
                <a:latin typeface="Oswald" pitchFamily="34" charset="0"/>
                <a:ea typeface="Oswald" pitchFamily="34" charset="-122"/>
                <a:cs typeface="Oswald" pitchFamily="34" charset="-120"/>
              </a:rPr>
              <a:t>Professional Services</a:t>
            </a:r>
            <a:endParaRPr lang="en-US" sz="1200"/>
          </a:p>
        </p:txBody>
      </p:sp>
      <p:sp>
        <p:nvSpPr>
          <p:cNvPr id="91" name="Text 69"/>
          <p:cNvSpPr txBox="1"/>
          <p:nvPr/>
        </p:nvSpPr>
        <p:spPr>
          <a:xfrm>
            <a:off x="9935972" y="4597707"/>
            <a:ext cx="1584554" cy="628193"/>
          </a:xfrm>
          <a:prstGeom prst="rect">
            <a:avLst/>
          </a:prstGeom>
          <a:noFill/>
          <a:ln/>
        </p:spPr>
        <p:txBody>
          <a:bodyPr wrap="square" lIns="0" tIns="0" rIns="0" bIns="0" rtlCol="0" anchor="t"/>
          <a:lstStyle/>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​GCC strategy &amp; discovery</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​Benchmarking &amp; excellence frameworks</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​Transformation PMO</a:t>
            </a:r>
            <a:endParaRPr lang="en-US" sz="1000"/>
          </a:p>
        </p:txBody>
      </p:sp>
      <p:sp>
        <p:nvSpPr>
          <p:cNvPr id="92" name="Text 70"/>
          <p:cNvSpPr txBox="1"/>
          <p:nvPr/>
        </p:nvSpPr>
        <p:spPr>
          <a:xfrm>
            <a:off x="800100" y="6519672"/>
            <a:ext cx="10430561" cy="247802"/>
          </a:xfrm>
          <a:prstGeom prst="rect">
            <a:avLst/>
          </a:prstGeom>
          <a:noFill/>
          <a:ln/>
        </p:spPr>
        <p:txBody>
          <a:bodyPr wrap="none" lIns="0" tIns="0" rIns="0" bIns="0" rtlCol="0" anchor="ctr"/>
          <a:lstStyle/>
          <a:p>
            <a:pPr marL="0" indent="0" algn="l">
              <a:buNone/>
            </a:pPr>
            <a:r>
              <a:rPr lang="en-US" sz="1300" b="1">
                <a:solidFill>
                  <a:srgbClr val="2A9D8F"/>
                </a:solidFill>
                <a:latin typeface="Oswald" pitchFamily="34" charset="0"/>
                <a:ea typeface="Oswald" pitchFamily="34" charset="-122"/>
                <a:cs typeface="Oswald" pitchFamily="34" charset="-120"/>
              </a:rPr>
              <a:t>PROVEN EXECUTION:   </a:t>
            </a:r>
            <a:r>
              <a:rPr lang="en-US" sz="1000">
                <a:solidFill>
                  <a:srgbClr val="FFFFFF"/>
                </a:solidFill>
                <a:latin typeface="Raleway" pitchFamily="34" charset="0"/>
                <a:ea typeface="Raleway" pitchFamily="34" charset="-122"/>
                <a:cs typeface="Raleway" pitchFamily="34" charset="-120"/>
              </a:rPr>
              <a:t>"Every location mentioned, and every function beside it, is capability we've already exercised, not a category we're claiming."</a:t>
            </a:r>
            <a:endParaRPr lang="en-US" sz="1000"/>
          </a:p>
        </p:txBody>
      </p:sp>
      <p:pic>
        <p:nvPicPr>
          <p:cNvPr id="93" name="Image 20" descr="gen-dedup-4cafcdb2ad483cfc8fa277d668b8db26.png"/>
          <p:cNvPicPr>
            <a:picLocks noChangeAspect="1"/>
          </p:cNvPicPr>
          <p:nvPr/>
        </p:nvPicPr>
        <p:blipFill>
          <a:blip r:embed="rId15"/>
          <a:srcRect t="-14384" b="-14384"/>
          <a:stretch/>
        </p:blipFill>
        <p:spPr>
          <a:xfrm>
            <a:off x="571500" y="6558077"/>
            <a:ext cx="133502" cy="171907"/>
          </a:xfrm>
          <a:prstGeom prst="rect">
            <a:avLst/>
          </a:prstGeom>
        </p:spPr>
      </p:pic>
      <p:pic>
        <p:nvPicPr>
          <p:cNvPr id="95" name="Image 1" descr="gen-dedup-323228122ff92d2332e711a84ca3b40c.png">
            <a:extLst>
              <a:ext uri="{FF2B5EF4-FFF2-40B4-BE49-F238E27FC236}">
                <a16:creationId xmlns:a16="http://schemas.microsoft.com/office/drawing/2014/main" id="{2B66C569-D5F3-1A48-4CE0-C1566AEDCAB7}"/>
              </a:ext>
            </a:extLst>
          </p:cNvPr>
          <p:cNvPicPr>
            <a:picLocks noChangeAspect="1"/>
          </p:cNvPicPr>
          <p:nvPr/>
        </p:nvPicPr>
        <p:blipFill>
          <a:blip r:embed="rId16"/>
          <a:srcRect l="-198" r="-198"/>
          <a:stretch/>
        </p:blipFill>
        <p:spPr>
          <a:xfrm>
            <a:off x="0" y="0"/>
            <a:ext cx="8124444" cy="75895"/>
          </a:xfrm>
          <a:prstGeom prst="rect">
            <a:avLst/>
          </a:prstGeom>
        </p:spPr>
      </p:pic>
      <p:pic>
        <p:nvPicPr>
          <p:cNvPr id="97" name="Image 2" descr="gen-dedup-9663ecf744b06e35d4c2cebaab92a2ea.png">
            <a:extLst>
              <a:ext uri="{FF2B5EF4-FFF2-40B4-BE49-F238E27FC236}">
                <a16:creationId xmlns:a16="http://schemas.microsoft.com/office/drawing/2014/main" id="{475C97A4-28FC-7784-6F0A-6B82CC011847}"/>
              </a:ext>
            </a:extLst>
          </p:cNvPr>
          <p:cNvPicPr>
            <a:picLocks noChangeAspect="1"/>
          </p:cNvPicPr>
          <p:nvPr/>
        </p:nvPicPr>
        <p:blipFill>
          <a:blip r:embed="rId17"/>
          <a:srcRect l="-202" r="-202"/>
          <a:stretch/>
        </p:blipFill>
        <p:spPr>
          <a:xfrm>
            <a:off x="8124444" y="0"/>
            <a:ext cx="4067251" cy="75895"/>
          </a:xfrm>
          <a:prstGeom prst="rect">
            <a:avLst/>
          </a:prstGeom>
        </p:spPr>
      </p:pic>
      <p:sp>
        <p:nvSpPr>
          <p:cNvPr id="99" name="Shape 2">
            <a:extLst>
              <a:ext uri="{FF2B5EF4-FFF2-40B4-BE49-F238E27FC236}">
                <a16:creationId xmlns:a16="http://schemas.microsoft.com/office/drawing/2014/main" id="{80D8B303-46BF-E5FD-4DED-2A7EE63A7905}"/>
              </a:ext>
            </a:extLst>
          </p:cNvPr>
          <p:cNvSpPr/>
          <p:nvPr/>
        </p:nvSpPr>
        <p:spPr>
          <a:xfrm>
            <a:off x="8953805" y="-571500"/>
            <a:ext cx="3810305" cy="3810305"/>
          </a:xfrm>
          <a:prstGeom prst="ellipse">
            <a:avLst/>
          </a:prstGeom>
          <a:solidFill>
            <a:srgbClr val="2A9D8F">
              <a:alpha val="4000"/>
            </a:srgbClr>
          </a:solidFill>
          <a:ln w="12700">
            <a:solidFill>
              <a:srgbClr val="FFFFFF">
                <a:alpha val="0"/>
              </a:srgbClr>
            </a:solidFill>
            <a:prstDash val="solid"/>
          </a:ln>
        </p:spPr>
        <p:txBody>
          <a:bodyPr/>
          <a:lstStyle/>
          <a:p>
            <a:endParaRPr lang="en-US"/>
          </a:p>
        </p:txBody>
      </p:sp>
    </p:spTree>
    <p:extLst>
      <p:ext uri="{BB962C8B-B14F-4D97-AF65-F5344CB8AC3E}">
        <p14:creationId xmlns:p14="http://schemas.microsoft.com/office/powerpoint/2010/main" val="25388529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pic>
        <p:nvPicPr>
          <p:cNvPr id="8" name="Image 1" descr="preencoded.png"/>
          <p:cNvPicPr>
            <a:picLocks noChangeAspect="1"/>
          </p:cNvPicPr>
          <p:nvPr/>
        </p:nvPicPr>
        <p:blipFill>
          <a:blip r:embed="rId3"/>
          <a:srcRect t="-6" b="-6"/>
          <a:stretch/>
        </p:blipFill>
        <p:spPr>
          <a:xfrm>
            <a:off x="609905" y="1332083"/>
            <a:ext cx="5372100" cy="3715207"/>
          </a:xfrm>
          <a:prstGeom prst="rect">
            <a:avLst/>
          </a:prstGeom>
        </p:spPr>
      </p:pic>
      <p:sp>
        <p:nvSpPr>
          <p:cNvPr id="9" name="Shape 5"/>
          <p:cNvSpPr/>
          <p:nvPr/>
        </p:nvSpPr>
        <p:spPr>
          <a:xfrm>
            <a:off x="919886" y="1547881"/>
            <a:ext cx="809244" cy="809244"/>
          </a:xfrm>
          <a:prstGeom prst="ellipse">
            <a:avLst/>
          </a:prstGeom>
          <a:noFill/>
          <a:ln w="38100">
            <a:solidFill>
              <a:srgbClr val="FFFFFF"/>
            </a:solidFill>
            <a:prstDash val="solid"/>
          </a:ln>
          <a:effectLst>
            <a:outerShdw blurRad="101600" dist="38100" dir="16200000" algn="bl" rotWithShape="0">
              <a:srgbClr val="000000">
                <a:alpha val="10000"/>
              </a:srgbClr>
            </a:outerShdw>
          </a:effectLst>
        </p:spPr>
        <p:txBody>
          <a:bodyPr/>
          <a:lstStyle/>
          <a:p>
            <a:endParaRPr lang="en-US"/>
          </a:p>
        </p:txBody>
      </p:sp>
      <p:pic>
        <p:nvPicPr>
          <p:cNvPr id="10" name="Image 2" descr="preencoded.png"/>
          <p:cNvPicPr>
            <a:picLocks noChangeAspect="1"/>
          </p:cNvPicPr>
          <p:nvPr/>
        </p:nvPicPr>
        <p:blipFill>
          <a:blip r:embed="rId4"/>
          <a:srcRect/>
          <a:stretch/>
        </p:blipFill>
        <p:spPr>
          <a:xfrm>
            <a:off x="948233" y="1576227"/>
            <a:ext cx="752551" cy="752551"/>
          </a:xfrm>
          <a:prstGeom prst="rect">
            <a:avLst/>
          </a:prstGeom>
        </p:spPr>
      </p:pic>
      <p:sp>
        <p:nvSpPr>
          <p:cNvPr id="11" name="Text 6"/>
          <p:cNvSpPr txBox="1"/>
          <p:nvPr/>
        </p:nvSpPr>
        <p:spPr>
          <a:xfrm>
            <a:off x="817474" y="2433020"/>
            <a:ext cx="1020470" cy="219456"/>
          </a:xfrm>
          <a:prstGeom prst="rect">
            <a:avLst/>
          </a:prstGeom>
          <a:noFill/>
          <a:ln/>
        </p:spPr>
        <p:txBody>
          <a:bodyPr wrap="square" lIns="0" tIns="0" rIns="0" bIns="0" rtlCol="0" anchor="ctr"/>
          <a:lstStyle/>
          <a:p>
            <a:pPr marL="0" indent="0" algn="ctr">
              <a:buNone/>
            </a:pPr>
            <a:r>
              <a:rPr lang="en-US" sz="1300" b="1">
                <a:solidFill>
                  <a:srgbClr val="1F2937"/>
                </a:solidFill>
                <a:latin typeface="Oswald" pitchFamily="34" charset="0"/>
                <a:ea typeface="Oswald" pitchFamily="34" charset="-122"/>
                <a:cs typeface="Oswald" pitchFamily="34" charset="-120"/>
              </a:rPr>
              <a:t>Priti Sawant</a:t>
            </a:r>
            <a:endParaRPr lang="en-US" sz="1300"/>
          </a:p>
        </p:txBody>
      </p:sp>
      <p:sp>
        <p:nvSpPr>
          <p:cNvPr id="12" name="Text 7"/>
          <p:cNvSpPr txBox="1"/>
          <p:nvPr/>
        </p:nvSpPr>
        <p:spPr>
          <a:xfrm>
            <a:off x="789127" y="2666192"/>
            <a:ext cx="1074420" cy="152705"/>
          </a:xfrm>
          <a:prstGeom prst="rect">
            <a:avLst/>
          </a:prstGeom>
          <a:noFill/>
          <a:ln/>
        </p:spPr>
        <p:txBody>
          <a:bodyPr wrap="square" lIns="0" tIns="0" rIns="0" bIns="0" rtlCol="0" anchor="ctr"/>
          <a:lstStyle/>
          <a:p>
            <a:pPr marL="0" indent="0" algn="ctr">
              <a:buNone/>
            </a:pPr>
            <a:r>
              <a:rPr lang="en-US" sz="900" b="1" kern="0" spc="22">
                <a:solidFill>
                  <a:srgbClr val="2A9D8F"/>
                </a:solidFill>
                <a:latin typeface="Roboto Condensed" pitchFamily="34" charset="0"/>
                <a:ea typeface="Roboto Condensed" pitchFamily="34" charset="-122"/>
                <a:cs typeface="Roboto Condensed" pitchFamily="34" charset="-120"/>
              </a:rPr>
              <a:t>Founder &amp; CEO</a:t>
            </a:r>
            <a:endParaRPr lang="en-US" sz="900"/>
          </a:p>
        </p:txBody>
      </p:sp>
      <p:sp>
        <p:nvSpPr>
          <p:cNvPr id="13" name="Text 8"/>
          <p:cNvSpPr txBox="1"/>
          <p:nvPr/>
        </p:nvSpPr>
        <p:spPr>
          <a:xfrm>
            <a:off x="2025396" y="1765596"/>
            <a:ext cx="3867912" cy="1552651"/>
          </a:xfrm>
          <a:prstGeom prst="rect">
            <a:avLst/>
          </a:prstGeom>
          <a:noFill/>
          <a:ln/>
        </p:spPr>
        <p:txBody>
          <a:bodyPr wrap="square" lIns="0" tIns="0" rIns="0" bIns="0" rtlCol="0" anchor="ctr"/>
          <a:lstStyle/>
          <a:p>
            <a:pPr marL="0" indent="0" algn="just">
              <a:buNone/>
            </a:pPr>
            <a:r>
              <a:rPr lang="en-US" sz="1100">
                <a:solidFill>
                  <a:srgbClr val="4B5563"/>
                </a:solidFill>
                <a:latin typeface="Raleway" pitchFamily="34" charset="0"/>
                <a:ea typeface="Raleway" pitchFamily="34" charset="-122"/>
                <a:cs typeface="Raleway" pitchFamily="34" charset="-120"/>
              </a:rPr>
              <a:t>Priti Sawant is a serial entrepreneur, category creator, and a pioneer of India’s Global Capability Center (GCC) ecosystem. With 20+ years of experience, she has built and scaled businesses at the intersection of technology and enterprise transformation. She began her journey at Accenture and later led Magna Infotech-scaling it from pre-revenue to a market leader, creating India’s first GCC-focused model, and delivering a successful exit and public listing (IPO). She is a 2-time entrepreneur, having built two successful, leading companies solving for GCCs in India.</a:t>
            </a:r>
            <a:endParaRPr lang="en-US" sz="1100"/>
          </a:p>
        </p:txBody>
      </p:sp>
      <p:sp>
        <p:nvSpPr>
          <p:cNvPr id="14" name="Text 9"/>
          <p:cNvSpPr txBox="1"/>
          <p:nvPr/>
        </p:nvSpPr>
        <p:spPr>
          <a:xfrm>
            <a:off x="2025396" y="3736173"/>
            <a:ext cx="3867912" cy="1381658"/>
          </a:xfrm>
          <a:prstGeom prst="rect">
            <a:avLst/>
          </a:prstGeom>
          <a:noFill/>
          <a:ln/>
        </p:spPr>
        <p:txBody>
          <a:bodyPr wrap="square" lIns="0" tIns="0" rIns="0" bIns="0" rtlCol="0" anchor="ctr"/>
          <a:lstStyle/>
          <a:p>
            <a:pPr marL="0" indent="0" algn="just">
              <a:buNone/>
            </a:pPr>
            <a:r>
              <a:rPr lang="en-US" sz="1100">
                <a:solidFill>
                  <a:srgbClr val="4B5563"/>
                </a:solidFill>
                <a:latin typeface="Raleway" pitchFamily="34" charset="0"/>
                <a:ea typeface="Raleway" pitchFamily="34" charset="-122"/>
                <a:cs typeface="Raleway" pitchFamily="34" charset="-120"/>
              </a:rPr>
              <a:t>She founded JoulestoWatts, backed by Manipal Global Education Services. Today, J2W operates across 8 countries, enabling 300+ GCCs, deploying 5,200+ professionals, and building 4 in-house products, with strong Fortune 500 partnerships. Recognised by Forbes Japan, she is also a TiE Charter Member, startup mentor, and a strong advocate of gender diversity, having built organisations with 40%+ women representation and 50% women-led leadership roles.</a:t>
            </a:r>
            <a:endParaRPr lang="en-US" sz="1100"/>
          </a:p>
        </p:txBody>
      </p:sp>
      <p:pic>
        <p:nvPicPr>
          <p:cNvPr id="15" name="Image 3" descr="preencoded.png"/>
          <p:cNvPicPr>
            <a:picLocks noChangeAspect="1"/>
          </p:cNvPicPr>
          <p:nvPr/>
        </p:nvPicPr>
        <p:blipFill>
          <a:blip r:embed="rId5"/>
          <a:srcRect t="-6" b="-6"/>
          <a:stretch/>
        </p:blipFill>
        <p:spPr>
          <a:xfrm>
            <a:off x="6210605" y="1332083"/>
            <a:ext cx="5372100" cy="3715207"/>
          </a:xfrm>
          <a:prstGeom prst="rect">
            <a:avLst/>
          </a:prstGeom>
        </p:spPr>
      </p:pic>
      <p:sp>
        <p:nvSpPr>
          <p:cNvPr id="16" name="Shape 10"/>
          <p:cNvSpPr/>
          <p:nvPr/>
        </p:nvSpPr>
        <p:spPr>
          <a:xfrm>
            <a:off x="6520586" y="1547881"/>
            <a:ext cx="809244" cy="809244"/>
          </a:xfrm>
          <a:prstGeom prst="ellipse">
            <a:avLst/>
          </a:prstGeom>
          <a:noFill/>
          <a:ln w="38100">
            <a:solidFill>
              <a:srgbClr val="FFFFFF"/>
            </a:solidFill>
            <a:prstDash val="solid"/>
          </a:ln>
          <a:effectLst>
            <a:outerShdw blurRad="101600" dist="38100" dir="16200000" algn="bl" rotWithShape="0">
              <a:srgbClr val="000000">
                <a:alpha val="10000"/>
              </a:srgbClr>
            </a:outerShdw>
          </a:effectLst>
        </p:spPr>
        <p:txBody>
          <a:bodyPr/>
          <a:lstStyle/>
          <a:p>
            <a:endParaRPr lang="en-US"/>
          </a:p>
        </p:txBody>
      </p:sp>
      <p:pic>
        <p:nvPicPr>
          <p:cNvPr id="17" name="Image 4" descr="preencoded.png"/>
          <p:cNvPicPr>
            <a:picLocks noChangeAspect="1"/>
          </p:cNvPicPr>
          <p:nvPr/>
        </p:nvPicPr>
        <p:blipFill>
          <a:blip r:embed="rId6"/>
          <a:srcRect b="1042"/>
          <a:stretch/>
        </p:blipFill>
        <p:spPr>
          <a:xfrm>
            <a:off x="6548933" y="1576227"/>
            <a:ext cx="752551" cy="752551"/>
          </a:xfrm>
          <a:prstGeom prst="rect">
            <a:avLst/>
          </a:prstGeom>
        </p:spPr>
      </p:pic>
      <p:sp>
        <p:nvSpPr>
          <p:cNvPr id="18" name="Text 11"/>
          <p:cNvSpPr txBox="1"/>
          <p:nvPr/>
        </p:nvSpPr>
        <p:spPr>
          <a:xfrm>
            <a:off x="6411773" y="2433020"/>
            <a:ext cx="1032358" cy="219456"/>
          </a:xfrm>
          <a:prstGeom prst="rect">
            <a:avLst/>
          </a:prstGeom>
          <a:noFill/>
          <a:ln/>
        </p:spPr>
        <p:txBody>
          <a:bodyPr wrap="square" lIns="0" tIns="0" rIns="0" bIns="0" rtlCol="0" anchor="ctr"/>
          <a:lstStyle/>
          <a:p>
            <a:pPr marL="0" indent="0" algn="ctr">
              <a:buNone/>
            </a:pPr>
            <a:r>
              <a:rPr lang="en-US" sz="1300" b="1">
                <a:solidFill>
                  <a:srgbClr val="1F2937"/>
                </a:solidFill>
                <a:latin typeface="Oswald" pitchFamily="34" charset="0"/>
                <a:ea typeface="Oswald" pitchFamily="34" charset="-122"/>
                <a:cs typeface="Oswald" pitchFamily="34" charset="-120"/>
              </a:rPr>
              <a:t>Priya Mohan</a:t>
            </a:r>
            <a:endParaRPr lang="en-US" sz="1300"/>
          </a:p>
        </p:txBody>
      </p:sp>
      <p:sp>
        <p:nvSpPr>
          <p:cNvPr id="19" name="Text 12"/>
          <p:cNvSpPr txBox="1"/>
          <p:nvPr/>
        </p:nvSpPr>
        <p:spPr>
          <a:xfrm>
            <a:off x="6781190" y="2666192"/>
            <a:ext cx="295351" cy="152705"/>
          </a:xfrm>
          <a:prstGeom prst="rect">
            <a:avLst/>
          </a:prstGeom>
          <a:noFill/>
          <a:ln/>
        </p:spPr>
        <p:txBody>
          <a:bodyPr wrap="square" lIns="0" tIns="0" rIns="0" bIns="0" rtlCol="0" anchor="ctr"/>
          <a:lstStyle/>
          <a:p>
            <a:pPr marL="0" indent="0" algn="ctr">
              <a:buNone/>
            </a:pPr>
            <a:r>
              <a:rPr lang="en-US" sz="1100" b="1" kern="0" spc="22">
                <a:solidFill>
                  <a:srgbClr val="D62839"/>
                </a:solidFill>
                <a:latin typeface="Roboto Condensed" pitchFamily="34" charset="0"/>
                <a:ea typeface="Roboto Condensed" pitchFamily="34" charset="-122"/>
                <a:cs typeface="Roboto Condensed" pitchFamily="34" charset="-120"/>
              </a:rPr>
              <a:t>coo</a:t>
            </a:r>
            <a:endParaRPr lang="en-US" sz="1100"/>
          </a:p>
        </p:txBody>
      </p:sp>
      <p:sp>
        <p:nvSpPr>
          <p:cNvPr id="20" name="Text 13"/>
          <p:cNvSpPr txBox="1"/>
          <p:nvPr/>
        </p:nvSpPr>
        <p:spPr>
          <a:xfrm>
            <a:off x="7626096" y="1765596"/>
            <a:ext cx="3867912" cy="1552651"/>
          </a:xfrm>
          <a:prstGeom prst="rect">
            <a:avLst/>
          </a:prstGeom>
          <a:noFill/>
          <a:ln/>
        </p:spPr>
        <p:txBody>
          <a:bodyPr wrap="square" lIns="0" tIns="0" rIns="0" bIns="0" rtlCol="0" anchor="ctr"/>
          <a:lstStyle/>
          <a:p>
            <a:pPr marL="0" indent="0" algn="just">
              <a:buNone/>
            </a:pPr>
            <a:r>
              <a:rPr lang="en-US" sz="1100">
                <a:solidFill>
                  <a:srgbClr val="4B5563"/>
                </a:solidFill>
                <a:latin typeface="Raleway" pitchFamily="34" charset="0"/>
                <a:ea typeface="Raleway" pitchFamily="34" charset="-122"/>
                <a:cs typeface="Raleway" pitchFamily="34" charset="-120"/>
              </a:rPr>
              <a:t>Priya Mohan is a seasoned operator, investor, and entrepreneur with 20+ years spanning venture capital, high-growth startups, and investment banking. She was most recently a Partner at General Catalyst India, where she led India investments and co-creation opportunities across transformative, economy-shaping companies. Previously, as Managing Partner at Venture Highway, she held board seats across marquee portfolio companies in multiple sectors. Before investing, she co-founded Vidyartha, an EdTech platform which she successfully exited to Byju's.</a:t>
            </a:r>
            <a:endParaRPr lang="en-US" sz="1100"/>
          </a:p>
        </p:txBody>
      </p:sp>
      <p:sp>
        <p:nvSpPr>
          <p:cNvPr id="21" name="Text 14"/>
          <p:cNvSpPr txBox="1"/>
          <p:nvPr/>
        </p:nvSpPr>
        <p:spPr>
          <a:xfrm>
            <a:off x="7626096" y="3736173"/>
            <a:ext cx="3867912" cy="1209751"/>
          </a:xfrm>
          <a:prstGeom prst="rect">
            <a:avLst/>
          </a:prstGeom>
          <a:noFill/>
          <a:ln/>
        </p:spPr>
        <p:txBody>
          <a:bodyPr wrap="square" lIns="0" tIns="0" rIns="0" bIns="0" rtlCol="0" anchor="ctr"/>
          <a:lstStyle/>
          <a:p>
            <a:pPr marL="0" indent="0" algn="just">
              <a:buNone/>
            </a:pPr>
            <a:r>
              <a:rPr lang="en-US" sz="1100">
                <a:solidFill>
                  <a:srgbClr val="4B5563"/>
                </a:solidFill>
                <a:latin typeface="Raleway" pitchFamily="34" charset="0"/>
                <a:ea typeface="Raleway" pitchFamily="34" charset="-122"/>
                <a:cs typeface="Raleway" pitchFamily="34" charset="-120"/>
              </a:rPr>
              <a:t>Her earlier career included 9 years in investment banking and equity research - structuring and executing complex transactions across private equity raises, secondary sales, and buyouts. A Chartered Accountant and Management Graduate from the Indian School of Business (ISB), Priya was a state guest of the United States under the IVLP program and is a member of the Kamalnayan Bajaj Aspen Fellowship (Cohort X).</a:t>
            </a:r>
            <a:endParaRPr lang="en-US" sz="1100"/>
          </a:p>
        </p:txBody>
      </p:sp>
      <p:pic>
        <p:nvPicPr>
          <p:cNvPr id="23" name="Image 3" descr="gen-dedup-777bf757d895431cabe402fcd34ebd5a.png">
            <a:extLst>
              <a:ext uri="{FF2B5EF4-FFF2-40B4-BE49-F238E27FC236}">
                <a16:creationId xmlns:a16="http://schemas.microsoft.com/office/drawing/2014/main" id="{7813F643-4AB5-D36E-C651-4A1F5E599786}"/>
              </a:ext>
            </a:extLst>
          </p:cNvPr>
          <p:cNvPicPr>
            <a:picLocks noChangeAspect="1"/>
          </p:cNvPicPr>
          <p:nvPr/>
        </p:nvPicPr>
        <p:blipFill>
          <a:blip r:embed="rId7">
            <a:biLevel thresh="75000"/>
          </a:blip>
          <a:srcRect l="-384" r="-384"/>
          <a:stretch/>
        </p:blipFill>
        <p:spPr>
          <a:xfrm>
            <a:off x="571500" y="381305"/>
            <a:ext cx="57607" cy="476402"/>
          </a:xfrm>
          <a:prstGeom prst="rect">
            <a:avLst/>
          </a:prstGeom>
        </p:spPr>
      </p:pic>
      <p:sp>
        <p:nvSpPr>
          <p:cNvPr id="25" name="Text 5">
            <a:extLst>
              <a:ext uri="{FF2B5EF4-FFF2-40B4-BE49-F238E27FC236}">
                <a16:creationId xmlns:a16="http://schemas.microsoft.com/office/drawing/2014/main" id="{D35D9D28-8CA8-BBBF-2BA3-0915CE03A36C}"/>
              </a:ext>
            </a:extLst>
          </p:cNvPr>
          <p:cNvSpPr txBox="1"/>
          <p:nvPr/>
        </p:nvSpPr>
        <p:spPr>
          <a:xfrm>
            <a:off x="780897" y="333756"/>
            <a:ext cx="5913817" cy="406908"/>
          </a:xfrm>
          <a:prstGeom prst="rect">
            <a:avLst/>
          </a:prstGeom>
          <a:noFill/>
          <a:ln/>
        </p:spPr>
        <p:txBody>
          <a:bodyPr wrap="none" lIns="0" tIns="0" rIns="0" bIns="0" rtlCol="0" anchor="ctr"/>
          <a:lstStyle/>
          <a:p>
            <a:r>
              <a:rPr lang="en-US" sz="2400" b="1" kern="0" spc="-67" dirty="0">
                <a:solidFill>
                  <a:srgbClr val="111827"/>
                </a:solidFill>
                <a:latin typeface="Oswald" pitchFamily="34" charset="0"/>
                <a:ea typeface="Oswald" pitchFamily="34" charset="-122"/>
                <a:cs typeface="Oswald" pitchFamily="34" charset="-120"/>
              </a:rPr>
              <a:t>ARCHITECTS OF TRANSFORMATION</a:t>
            </a:r>
            <a:endParaRPr lang="en-US" sz="2400" dirty="0"/>
          </a:p>
        </p:txBody>
      </p:sp>
      <p:sp>
        <p:nvSpPr>
          <p:cNvPr id="27" name="Text 6">
            <a:extLst>
              <a:ext uri="{FF2B5EF4-FFF2-40B4-BE49-F238E27FC236}">
                <a16:creationId xmlns:a16="http://schemas.microsoft.com/office/drawing/2014/main" id="{B5A6FB3C-AD6D-476F-32DC-DF05820B29C4}"/>
              </a:ext>
            </a:extLst>
          </p:cNvPr>
          <p:cNvSpPr txBox="1"/>
          <p:nvPr/>
        </p:nvSpPr>
        <p:spPr>
          <a:xfrm>
            <a:off x="780898" y="740663"/>
            <a:ext cx="5054803" cy="257861"/>
          </a:xfrm>
          <a:prstGeom prst="rect">
            <a:avLst/>
          </a:prstGeom>
          <a:noFill/>
          <a:ln/>
        </p:spPr>
        <p:txBody>
          <a:bodyPr wrap="none" lIns="0" tIns="0" rIns="0" bIns="0" rtlCol="0" anchor="ctr"/>
          <a:lstStyle/>
          <a:p>
            <a:pPr marL="0" indent="0" algn="l">
              <a:buNone/>
            </a:pPr>
            <a:r>
              <a:rPr lang="en-GB" sz="1500" b="1" kern="0" spc="66" dirty="0">
                <a:solidFill>
                  <a:srgbClr val="2A9D8F"/>
                </a:solidFill>
                <a:latin typeface="Roboto Condensed" pitchFamily="34" charset="0"/>
                <a:ea typeface="Roboto Condensed" pitchFamily="34" charset="-122"/>
                <a:cs typeface="Roboto Condensed" pitchFamily="34" charset="-120"/>
              </a:rPr>
              <a:t>Visionary Leadership Driving Enterprise Excellence</a:t>
            </a:r>
          </a:p>
        </p:txBody>
      </p:sp>
      <p:pic>
        <p:nvPicPr>
          <p:cNvPr id="29" name="Image 1" descr="gen-dedup-323228122ff92d2332e711a84ca3b40c.png">
            <a:extLst>
              <a:ext uri="{FF2B5EF4-FFF2-40B4-BE49-F238E27FC236}">
                <a16:creationId xmlns:a16="http://schemas.microsoft.com/office/drawing/2014/main" id="{1187F327-2F64-C445-F7CD-5292801A4E51}"/>
              </a:ext>
            </a:extLst>
          </p:cNvPr>
          <p:cNvPicPr>
            <a:picLocks noChangeAspect="1"/>
          </p:cNvPicPr>
          <p:nvPr/>
        </p:nvPicPr>
        <p:blipFill>
          <a:blip r:embed="rId8"/>
          <a:srcRect l="-198" r="-198"/>
          <a:stretch/>
        </p:blipFill>
        <p:spPr>
          <a:xfrm>
            <a:off x="0" y="0"/>
            <a:ext cx="8124444" cy="75895"/>
          </a:xfrm>
          <a:prstGeom prst="rect">
            <a:avLst/>
          </a:prstGeom>
        </p:spPr>
      </p:pic>
      <p:pic>
        <p:nvPicPr>
          <p:cNvPr id="31" name="Image 2" descr="gen-dedup-9663ecf744b06e35d4c2cebaab92a2ea.png">
            <a:extLst>
              <a:ext uri="{FF2B5EF4-FFF2-40B4-BE49-F238E27FC236}">
                <a16:creationId xmlns:a16="http://schemas.microsoft.com/office/drawing/2014/main" id="{7C5812F8-2C95-68AE-1315-CCAFA0895EF1}"/>
              </a:ext>
            </a:extLst>
          </p:cNvPr>
          <p:cNvPicPr>
            <a:picLocks noChangeAspect="1"/>
          </p:cNvPicPr>
          <p:nvPr/>
        </p:nvPicPr>
        <p:blipFill>
          <a:blip r:embed="rId9"/>
          <a:srcRect l="-202" r="-202"/>
          <a:stretch/>
        </p:blipFill>
        <p:spPr>
          <a:xfrm>
            <a:off x="8124444" y="0"/>
            <a:ext cx="4067251" cy="75895"/>
          </a:xfrm>
          <a:prstGeom prst="rect">
            <a:avLst/>
          </a:prstGeom>
        </p:spPr>
      </p:pic>
      <p:sp>
        <p:nvSpPr>
          <p:cNvPr id="33" name="Shape 2">
            <a:extLst>
              <a:ext uri="{FF2B5EF4-FFF2-40B4-BE49-F238E27FC236}">
                <a16:creationId xmlns:a16="http://schemas.microsoft.com/office/drawing/2014/main" id="{050B5757-ACC7-F514-952A-1C8DB0A03023}"/>
              </a:ext>
            </a:extLst>
          </p:cNvPr>
          <p:cNvSpPr/>
          <p:nvPr/>
        </p:nvSpPr>
        <p:spPr>
          <a:xfrm>
            <a:off x="8953805" y="-571500"/>
            <a:ext cx="3810305" cy="3810305"/>
          </a:xfrm>
          <a:prstGeom prst="ellipse">
            <a:avLst/>
          </a:prstGeom>
          <a:solidFill>
            <a:srgbClr val="2A9D8F">
              <a:alpha val="4000"/>
            </a:srgbClr>
          </a:solidFill>
          <a:ln w="12700">
            <a:solidFill>
              <a:srgbClr val="FFFFFF">
                <a:alpha val="0"/>
              </a:srgbClr>
            </a:solidFill>
            <a:prstDash val="solid"/>
          </a:ln>
        </p:spPr>
        <p:txBody>
          <a:bodyP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pic>
        <p:nvPicPr>
          <p:cNvPr id="5" name="Image 0" descr="gen-dedup-debd4e3596836e8640379be3057665ef.png"/>
          <p:cNvPicPr>
            <a:picLocks noChangeAspect="1"/>
          </p:cNvPicPr>
          <p:nvPr/>
        </p:nvPicPr>
        <p:blipFill>
          <a:blip r:embed="rId3">
            <a:alphaModFix amt="5000"/>
          </a:blip>
          <a:srcRect/>
          <a:stretch/>
        </p:blipFill>
        <p:spPr>
          <a:xfrm>
            <a:off x="-476402" y="3047695"/>
            <a:ext cx="2857500" cy="2857500"/>
          </a:xfrm>
          <a:prstGeom prst="rect">
            <a:avLst/>
          </a:prstGeom>
        </p:spPr>
      </p:pic>
      <p:sp>
        <p:nvSpPr>
          <p:cNvPr id="7" name="Shape 3"/>
          <p:cNvSpPr/>
          <p:nvPr/>
        </p:nvSpPr>
        <p:spPr>
          <a:xfrm>
            <a:off x="1714500" y="1285646"/>
            <a:ext cx="4304995" cy="2667305"/>
          </a:xfrm>
          <a:prstGeom prst="roundRect">
            <a:avLst>
              <a:gd name="adj" fmla="val 1959"/>
            </a:avLst>
          </a:prstGeom>
          <a:solidFill>
            <a:srgbClr val="FFFFFF"/>
          </a:solidFill>
          <a:ln w="12700">
            <a:solidFill>
              <a:srgbClr val="F3F4F6"/>
            </a:solidFill>
            <a:prstDash val="solid"/>
          </a:ln>
          <a:effectLst>
            <a:outerShdw blurRad="114300" dist="38100" dir="16200000" algn="bl" rotWithShape="0">
              <a:srgbClr val="000000">
                <a:alpha val="4000"/>
              </a:srgbClr>
            </a:outerShdw>
          </a:effectLst>
        </p:spPr>
        <p:txBody>
          <a:bodyPr/>
          <a:lstStyle/>
          <a:p>
            <a:endParaRPr lang="en-US"/>
          </a:p>
        </p:txBody>
      </p:sp>
      <p:sp>
        <p:nvSpPr>
          <p:cNvPr id="8" name="Shape 4"/>
          <p:cNvSpPr/>
          <p:nvPr/>
        </p:nvSpPr>
        <p:spPr>
          <a:xfrm>
            <a:off x="1714500" y="1285646"/>
            <a:ext cx="4304995" cy="38405"/>
          </a:xfrm>
          <a:prstGeom prst="roundRect">
            <a:avLst>
              <a:gd name="adj" fmla="val 136054"/>
            </a:avLst>
          </a:prstGeom>
          <a:solidFill>
            <a:srgbClr val="2A9D8F"/>
          </a:solidFill>
          <a:ln w="12700">
            <a:solidFill>
              <a:srgbClr val="2A9D8F">
                <a:alpha val="0"/>
              </a:srgbClr>
            </a:solidFill>
            <a:prstDash val="solid"/>
          </a:ln>
        </p:spPr>
        <p:txBody>
          <a:bodyPr/>
          <a:lstStyle/>
          <a:p>
            <a:endParaRPr lang="en-US"/>
          </a:p>
        </p:txBody>
      </p:sp>
      <p:sp>
        <p:nvSpPr>
          <p:cNvPr id="9" name="Shape 5"/>
          <p:cNvSpPr/>
          <p:nvPr/>
        </p:nvSpPr>
        <p:spPr>
          <a:xfrm>
            <a:off x="6191402" y="1285646"/>
            <a:ext cx="4304995" cy="2667305"/>
          </a:xfrm>
          <a:prstGeom prst="roundRect">
            <a:avLst>
              <a:gd name="adj" fmla="val 1959"/>
            </a:avLst>
          </a:prstGeom>
          <a:solidFill>
            <a:srgbClr val="FFFFFF"/>
          </a:solidFill>
          <a:ln w="12700">
            <a:solidFill>
              <a:srgbClr val="F3F4F6"/>
            </a:solidFill>
            <a:prstDash val="solid"/>
          </a:ln>
          <a:effectLst>
            <a:outerShdw blurRad="114300" dist="38100" dir="16200000" algn="bl" rotWithShape="0">
              <a:srgbClr val="000000">
                <a:alpha val="4000"/>
              </a:srgbClr>
            </a:outerShdw>
          </a:effectLst>
        </p:spPr>
        <p:txBody>
          <a:bodyPr/>
          <a:lstStyle/>
          <a:p>
            <a:endParaRPr lang="en-US"/>
          </a:p>
        </p:txBody>
      </p:sp>
      <p:sp>
        <p:nvSpPr>
          <p:cNvPr id="10" name="Shape 6"/>
          <p:cNvSpPr/>
          <p:nvPr/>
        </p:nvSpPr>
        <p:spPr>
          <a:xfrm>
            <a:off x="6191402" y="1285646"/>
            <a:ext cx="4304995" cy="38405"/>
          </a:xfrm>
          <a:prstGeom prst="roundRect">
            <a:avLst>
              <a:gd name="adj" fmla="val 136054"/>
            </a:avLst>
          </a:prstGeom>
          <a:solidFill>
            <a:srgbClr val="D62839"/>
          </a:solidFill>
          <a:ln w="12700">
            <a:solidFill>
              <a:srgbClr val="D62839">
                <a:alpha val="0"/>
              </a:srgbClr>
            </a:solidFill>
            <a:prstDash val="solid"/>
          </a:ln>
        </p:spPr>
        <p:txBody>
          <a:bodyPr/>
          <a:lstStyle/>
          <a:p>
            <a:endParaRPr lang="en-US"/>
          </a:p>
        </p:txBody>
      </p:sp>
      <p:sp>
        <p:nvSpPr>
          <p:cNvPr id="11" name="Shape 7"/>
          <p:cNvSpPr/>
          <p:nvPr/>
        </p:nvSpPr>
        <p:spPr>
          <a:xfrm>
            <a:off x="609905" y="4095598"/>
            <a:ext cx="3590849" cy="2523744"/>
          </a:xfrm>
          <a:prstGeom prst="roundRect">
            <a:avLst>
              <a:gd name="adj" fmla="val 2188"/>
            </a:avLst>
          </a:prstGeom>
          <a:solidFill>
            <a:srgbClr val="FFFFFF"/>
          </a:solidFill>
          <a:ln w="12700">
            <a:solidFill>
              <a:srgbClr val="F3F4F6"/>
            </a:solidFill>
            <a:prstDash val="solid"/>
          </a:ln>
          <a:effectLst>
            <a:outerShdw blurRad="114300" dist="38100" dir="16200000" algn="bl" rotWithShape="0">
              <a:srgbClr val="000000">
                <a:alpha val="4000"/>
              </a:srgbClr>
            </a:outerShdw>
          </a:effectLst>
        </p:spPr>
        <p:txBody>
          <a:bodyPr/>
          <a:lstStyle/>
          <a:p>
            <a:endParaRPr lang="en-US"/>
          </a:p>
        </p:txBody>
      </p:sp>
      <p:sp>
        <p:nvSpPr>
          <p:cNvPr id="12" name="Shape 8"/>
          <p:cNvSpPr/>
          <p:nvPr/>
        </p:nvSpPr>
        <p:spPr>
          <a:xfrm>
            <a:off x="609905" y="4095598"/>
            <a:ext cx="3590849" cy="38405"/>
          </a:xfrm>
          <a:prstGeom prst="roundRect">
            <a:avLst>
              <a:gd name="adj" fmla="val 143755"/>
            </a:avLst>
          </a:prstGeom>
          <a:solidFill>
            <a:srgbClr val="2A9D8F"/>
          </a:solidFill>
          <a:ln w="12700">
            <a:solidFill>
              <a:srgbClr val="2A9D8F">
                <a:alpha val="0"/>
              </a:srgbClr>
            </a:solidFill>
            <a:prstDash val="solid"/>
          </a:ln>
        </p:spPr>
        <p:txBody>
          <a:bodyPr/>
          <a:lstStyle/>
          <a:p>
            <a:endParaRPr lang="en-US"/>
          </a:p>
        </p:txBody>
      </p:sp>
      <p:sp>
        <p:nvSpPr>
          <p:cNvPr id="13" name="Shape 9"/>
          <p:cNvSpPr/>
          <p:nvPr/>
        </p:nvSpPr>
        <p:spPr>
          <a:xfrm>
            <a:off x="4304995" y="4095598"/>
            <a:ext cx="3590849" cy="2523744"/>
          </a:xfrm>
          <a:prstGeom prst="roundRect">
            <a:avLst>
              <a:gd name="adj" fmla="val 2188"/>
            </a:avLst>
          </a:prstGeom>
          <a:solidFill>
            <a:srgbClr val="FFFFFF"/>
          </a:solidFill>
          <a:ln w="12700">
            <a:solidFill>
              <a:srgbClr val="F3F4F6"/>
            </a:solidFill>
            <a:prstDash val="solid"/>
          </a:ln>
          <a:effectLst>
            <a:outerShdw blurRad="114300" dist="38100" dir="16200000" algn="bl" rotWithShape="0">
              <a:srgbClr val="000000">
                <a:alpha val="4000"/>
              </a:srgbClr>
            </a:outerShdw>
          </a:effectLst>
        </p:spPr>
        <p:txBody>
          <a:bodyPr/>
          <a:lstStyle/>
          <a:p>
            <a:endParaRPr lang="en-US"/>
          </a:p>
        </p:txBody>
      </p:sp>
      <p:sp>
        <p:nvSpPr>
          <p:cNvPr id="14" name="Shape 10"/>
          <p:cNvSpPr/>
          <p:nvPr/>
        </p:nvSpPr>
        <p:spPr>
          <a:xfrm>
            <a:off x="4304995" y="4095598"/>
            <a:ext cx="3590849" cy="38405"/>
          </a:xfrm>
          <a:prstGeom prst="roundRect">
            <a:avLst>
              <a:gd name="adj" fmla="val 143755"/>
            </a:avLst>
          </a:prstGeom>
          <a:solidFill>
            <a:srgbClr val="D62839"/>
          </a:solidFill>
          <a:ln w="12700">
            <a:solidFill>
              <a:srgbClr val="D62839">
                <a:alpha val="0"/>
              </a:srgbClr>
            </a:solidFill>
            <a:prstDash val="solid"/>
          </a:ln>
        </p:spPr>
        <p:txBody>
          <a:bodyPr/>
          <a:lstStyle/>
          <a:p>
            <a:endParaRPr lang="en-US"/>
          </a:p>
        </p:txBody>
      </p:sp>
      <p:sp>
        <p:nvSpPr>
          <p:cNvPr id="15" name="Shape 11"/>
          <p:cNvSpPr/>
          <p:nvPr/>
        </p:nvSpPr>
        <p:spPr>
          <a:xfrm>
            <a:off x="8001000" y="4095598"/>
            <a:ext cx="3590849" cy="2523744"/>
          </a:xfrm>
          <a:prstGeom prst="roundRect">
            <a:avLst>
              <a:gd name="adj" fmla="val 2188"/>
            </a:avLst>
          </a:prstGeom>
          <a:solidFill>
            <a:srgbClr val="FFFFFF"/>
          </a:solidFill>
          <a:ln w="12700">
            <a:solidFill>
              <a:srgbClr val="F3F4F6"/>
            </a:solidFill>
            <a:prstDash val="solid"/>
          </a:ln>
          <a:effectLst>
            <a:outerShdw blurRad="114300" dist="38100" dir="16200000" algn="bl" rotWithShape="0">
              <a:srgbClr val="000000">
                <a:alpha val="4000"/>
              </a:srgbClr>
            </a:outerShdw>
          </a:effectLst>
        </p:spPr>
        <p:txBody>
          <a:bodyPr/>
          <a:lstStyle/>
          <a:p>
            <a:endParaRPr lang="en-US"/>
          </a:p>
        </p:txBody>
      </p:sp>
      <p:sp>
        <p:nvSpPr>
          <p:cNvPr id="16" name="Shape 12"/>
          <p:cNvSpPr/>
          <p:nvPr/>
        </p:nvSpPr>
        <p:spPr>
          <a:xfrm>
            <a:off x="8001000" y="4095598"/>
            <a:ext cx="3590849" cy="38405"/>
          </a:xfrm>
          <a:prstGeom prst="roundRect">
            <a:avLst>
              <a:gd name="adj" fmla="val 143755"/>
            </a:avLst>
          </a:prstGeom>
          <a:solidFill>
            <a:srgbClr val="2A9D8F"/>
          </a:solidFill>
          <a:ln w="12700">
            <a:solidFill>
              <a:srgbClr val="2A9D8F">
                <a:alpha val="0"/>
              </a:srgbClr>
            </a:solidFill>
            <a:prstDash val="solid"/>
          </a:ln>
        </p:spPr>
        <p:txBody>
          <a:bodyPr/>
          <a:lstStyle/>
          <a:p>
            <a:endParaRPr lang="en-US"/>
          </a:p>
        </p:txBody>
      </p:sp>
      <p:sp>
        <p:nvSpPr>
          <p:cNvPr id="19" name="Shape 15"/>
          <p:cNvSpPr/>
          <p:nvPr/>
        </p:nvSpPr>
        <p:spPr>
          <a:xfrm>
            <a:off x="3476549" y="1429207"/>
            <a:ext cx="761695" cy="761695"/>
          </a:xfrm>
          <a:prstGeom prst="ellipse">
            <a:avLst/>
          </a:prstGeom>
          <a:solidFill>
            <a:srgbClr val="F3F4F6"/>
          </a:solidFill>
          <a:ln w="25400">
            <a:solidFill>
              <a:srgbClr val="E5E7EB"/>
            </a:solidFill>
            <a:prstDash val="solid"/>
          </a:ln>
        </p:spPr>
        <p:txBody>
          <a:bodyPr/>
          <a:lstStyle/>
          <a:p>
            <a:endParaRPr lang="en-US"/>
          </a:p>
        </p:txBody>
      </p:sp>
      <p:sp>
        <p:nvSpPr>
          <p:cNvPr id="20" name="Text 16"/>
          <p:cNvSpPr/>
          <p:nvPr/>
        </p:nvSpPr>
        <p:spPr>
          <a:xfrm>
            <a:off x="3476549" y="1429207"/>
            <a:ext cx="762610" cy="762610"/>
          </a:xfrm>
          <a:prstGeom prst="rect">
            <a:avLst/>
          </a:prstGeom>
          <a:solidFill>
            <a:srgbClr val="FFFFFF">
              <a:alpha val="0"/>
            </a:srgbClr>
          </a:solidFill>
          <a:ln>
            <a:solidFill>
              <a:srgbClr val="FFFFFF">
                <a:alpha val="0"/>
              </a:srgbClr>
            </a:solidFill>
          </a:ln>
        </p:spPr>
        <p:txBody>
          <a:bodyPr wrap="none" lIns="0" tIns="0" rIns="0" bIns="0" rtlCol="0" anchor="ctr"/>
          <a:lstStyle/>
          <a:p>
            <a:pPr marL="0" indent="0" algn="ctr">
              <a:buNone/>
            </a:pPr>
            <a:r>
              <a:rPr lang="en-US" sz="1000" b="1">
                <a:solidFill>
                  <a:srgbClr val="9CA3AF"/>
                </a:solidFill>
                <a:latin typeface="Raleway" pitchFamily="34" charset="0"/>
                <a:ea typeface="Raleway" pitchFamily="34" charset="-122"/>
                <a:cs typeface="Raleway" pitchFamily="34" charset="-120"/>
              </a:rPr>
              <a:t>Photo</a:t>
            </a:r>
            <a:endParaRPr lang="en-US" sz="1000"/>
          </a:p>
        </p:txBody>
      </p:sp>
      <p:sp>
        <p:nvSpPr>
          <p:cNvPr id="21" name="Text 17"/>
          <p:cNvSpPr txBox="1"/>
          <p:nvPr/>
        </p:nvSpPr>
        <p:spPr>
          <a:xfrm>
            <a:off x="3294583" y="2266798"/>
            <a:ext cx="1133856" cy="286207"/>
          </a:xfrm>
          <a:prstGeom prst="rect">
            <a:avLst/>
          </a:prstGeom>
          <a:noFill/>
          <a:ln/>
        </p:spPr>
        <p:txBody>
          <a:bodyPr wrap="none" lIns="0" tIns="0" rIns="0" bIns="0" rtlCol="0" anchor="ctr"/>
          <a:lstStyle/>
          <a:p>
            <a:pPr marL="0" indent="0" algn="ctr">
              <a:buNone/>
            </a:pPr>
            <a:r>
              <a:rPr lang="en-US" sz="1500" b="1">
                <a:solidFill>
                  <a:srgbClr val="111827"/>
                </a:solidFill>
                <a:latin typeface="Oswald" pitchFamily="34" charset="0"/>
                <a:ea typeface="Oswald" pitchFamily="34" charset="-122"/>
                <a:cs typeface="Oswald" pitchFamily="34" charset="-120"/>
              </a:rPr>
              <a:t>Priti Sawant</a:t>
            </a:r>
            <a:endParaRPr lang="en-US" sz="1500"/>
          </a:p>
        </p:txBody>
      </p:sp>
      <p:sp>
        <p:nvSpPr>
          <p:cNvPr id="22" name="Text 18"/>
          <p:cNvSpPr txBox="1"/>
          <p:nvPr/>
        </p:nvSpPr>
        <p:spPr>
          <a:xfrm>
            <a:off x="3254350" y="2572207"/>
            <a:ext cx="1207008" cy="143561"/>
          </a:xfrm>
          <a:prstGeom prst="rect">
            <a:avLst/>
          </a:prstGeom>
          <a:noFill/>
          <a:ln/>
        </p:spPr>
        <p:txBody>
          <a:bodyPr wrap="none" lIns="0" tIns="0" rIns="0" bIns="0" rtlCol="0" anchor="ctr"/>
          <a:lstStyle/>
          <a:p>
            <a:pPr marL="0" indent="0" algn="ctr">
              <a:buNone/>
            </a:pPr>
            <a:r>
              <a:rPr lang="en-US" sz="900" b="1" kern="0" spc="49">
                <a:solidFill>
                  <a:srgbClr val="2A9D8F"/>
                </a:solidFill>
                <a:latin typeface="Roboto Condensed" pitchFamily="34" charset="0"/>
                <a:ea typeface="Roboto Condensed" pitchFamily="34" charset="-122"/>
                <a:cs typeface="Roboto Condensed" pitchFamily="34" charset="-120"/>
              </a:rPr>
              <a:t>FOUNDER &amp; CEO</a:t>
            </a:r>
            <a:endParaRPr lang="en-US" sz="900"/>
          </a:p>
        </p:txBody>
      </p:sp>
      <p:sp>
        <p:nvSpPr>
          <p:cNvPr id="23" name="Text 19"/>
          <p:cNvSpPr txBox="1"/>
          <p:nvPr/>
        </p:nvSpPr>
        <p:spPr>
          <a:xfrm>
            <a:off x="1857146" y="2790749"/>
            <a:ext cx="4000500" cy="876910"/>
          </a:xfrm>
          <a:prstGeom prst="rect">
            <a:avLst/>
          </a:prstGeom>
          <a:noFill/>
          <a:ln/>
        </p:spPr>
        <p:txBody>
          <a:bodyPr wrap="square" lIns="0" tIns="0" rIns="0" bIns="0" rtlCol="0" anchor="ctr"/>
          <a:lstStyle/>
          <a:p>
            <a:pPr marL="0" indent="0" algn="ctr">
              <a:buNone/>
            </a:pPr>
            <a:r>
              <a:rPr lang="en-US" sz="1000">
                <a:solidFill>
                  <a:srgbClr val="4B5563"/>
                </a:solidFill>
                <a:latin typeface="Raleway" pitchFamily="34" charset="0"/>
                <a:ea typeface="Raleway" pitchFamily="34" charset="-122"/>
                <a:cs typeface="Raleway" pitchFamily="34" charset="-120"/>
              </a:rPr>
              <a:t>Serial entrepreneur and pioneer of India's GCC ecosystem. 20+ years building businesses at the intersection of technology and enterprise transformation. Founded J2W, operating across 8 countries, 300+ GCCs, 5,200+ professionals. Forbes Japan featured. TiE Charter Member.</a:t>
            </a:r>
            <a:endParaRPr lang="en-US" sz="1000"/>
          </a:p>
        </p:txBody>
      </p:sp>
      <p:sp>
        <p:nvSpPr>
          <p:cNvPr id="24" name="Shape 20"/>
          <p:cNvSpPr/>
          <p:nvPr/>
        </p:nvSpPr>
        <p:spPr>
          <a:xfrm>
            <a:off x="7953451" y="1429207"/>
            <a:ext cx="761695" cy="761695"/>
          </a:xfrm>
          <a:prstGeom prst="ellipse">
            <a:avLst/>
          </a:prstGeom>
          <a:solidFill>
            <a:srgbClr val="F3F4F6"/>
          </a:solidFill>
          <a:ln w="25400">
            <a:solidFill>
              <a:srgbClr val="E5E7EB"/>
            </a:solidFill>
            <a:prstDash val="solid"/>
          </a:ln>
        </p:spPr>
        <p:txBody>
          <a:bodyPr/>
          <a:lstStyle/>
          <a:p>
            <a:endParaRPr lang="en-US"/>
          </a:p>
        </p:txBody>
      </p:sp>
      <p:sp>
        <p:nvSpPr>
          <p:cNvPr id="25" name="Text 21"/>
          <p:cNvSpPr/>
          <p:nvPr/>
        </p:nvSpPr>
        <p:spPr>
          <a:xfrm>
            <a:off x="7953451" y="1429207"/>
            <a:ext cx="762610" cy="762610"/>
          </a:xfrm>
          <a:prstGeom prst="rect">
            <a:avLst/>
          </a:prstGeom>
          <a:solidFill>
            <a:srgbClr val="FFFFFF">
              <a:alpha val="0"/>
            </a:srgbClr>
          </a:solidFill>
          <a:ln>
            <a:solidFill>
              <a:srgbClr val="FFFFFF">
                <a:alpha val="0"/>
              </a:srgbClr>
            </a:solidFill>
          </a:ln>
        </p:spPr>
        <p:txBody>
          <a:bodyPr wrap="none" lIns="0" tIns="0" rIns="0" bIns="0" rtlCol="0" anchor="ctr"/>
          <a:lstStyle/>
          <a:p>
            <a:pPr marL="0" indent="0" algn="ctr">
              <a:buNone/>
            </a:pPr>
            <a:r>
              <a:rPr lang="en-US" sz="1000" b="1">
                <a:solidFill>
                  <a:srgbClr val="9CA3AF"/>
                </a:solidFill>
                <a:latin typeface="Raleway" pitchFamily="34" charset="0"/>
                <a:ea typeface="Raleway" pitchFamily="34" charset="-122"/>
                <a:cs typeface="Raleway" pitchFamily="34" charset="-120"/>
              </a:rPr>
              <a:t>Photo</a:t>
            </a:r>
            <a:endParaRPr lang="en-US" sz="1000"/>
          </a:p>
        </p:txBody>
      </p:sp>
      <p:sp>
        <p:nvSpPr>
          <p:cNvPr id="26" name="Text 22"/>
          <p:cNvSpPr txBox="1"/>
          <p:nvPr/>
        </p:nvSpPr>
        <p:spPr>
          <a:xfrm>
            <a:off x="7764170" y="2266798"/>
            <a:ext cx="1144829" cy="286207"/>
          </a:xfrm>
          <a:prstGeom prst="rect">
            <a:avLst/>
          </a:prstGeom>
          <a:noFill/>
          <a:ln/>
        </p:spPr>
        <p:txBody>
          <a:bodyPr wrap="none" lIns="0" tIns="0" rIns="0" bIns="0" rtlCol="0" anchor="ctr"/>
          <a:lstStyle/>
          <a:p>
            <a:pPr marL="0" indent="0" algn="ctr">
              <a:buNone/>
            </a:pPr>
            <a:r>
              <a:rPr lang="en-US" sz="1500" b="1">
                <a:solidFill>
                  <a:srgbClr val="111827"/>
                </a:solidFill>
                <a:latin typeface="Oswald" pitchFamily="34" charset="0"/>
                <a:ea typeface="Oswald" pitchFamily="34" charset="-122"/>
                <a:cs typeface="Oswald" pitchFamily="34" charset="-120"/>
              </a:rPr>
              <a:t>Priya Mohan</a:t>
            </a:r>
            <a:endParaRPr lang="en-US" sz="1500"/>
          </a:p>
        </p:txBody>
      </p:sp>
      <p:sp>
        <p:nvSpPr>
          <p:cNvPr id="27" name="Text 23"/>
          <p:cNvSpPr txBox="1"/>
          <p:nvPr/>
        </p:nvSpPr>
        <p:spPr>
          <a:xfrm>
            <a:off x="8214970" y="2572207"/>
            <a:ext cx="247802" cy="143561"/>
          </a:xfrm>
          <a:prstGeom prst="rect">
            <a:avLst/>
          </a:prstGeom>
          <a:noFill/>
          <a:ln/>
        </p:spPr>
        <p:txBody>
          <a:bodyPr wrap="none" lIns="0" tIns="0" rIns="0" bIns="0" rtlCol="0" anchor="ctr"/>
          <a:lstStyle/>
          <a:p>
            <a:pPr marL="0" indent="0" algn="ctr">
              <a:buNone/>
            </a:pPr>
            <a:r>
              <a:rPr lang="en-US" sz="900" b="1" kern="0" spc="49">
                <a:solidFill>
                  <a:srgbClr val="D62839"/>
                </a:solidFill>
                <a:latin typeface="Roboto Condensed" pitchFamily="34" charset="0"/>
                <a:ea typeface="Roboto Condensed" pitchFamily="34" charset="-122"/>
                <a:cs typeface="Roboto Condensed" pitchFamily="34" charset="-120"/>
              </a:rPr>
              <a:t>COO</a:t>
            </a:r>
            <a:endParaRPr lang="en-US" sz="900"/>
          </a:p>
        </p:txBody>
      </p:sp>
      <p:sp>
        <p:nvSpPr>
          <p:cNvPr id="28" name="Text 24"/>
          <p:cNvSpPr txBox="1"/>
          <p:nvPr/>
        </p:nvSpPr>
        <p:spPr>
          <a:xfrm>
            <a:off x="6334049" y="2790749"/>
            <a:ext cx="4000500" cy="695858"/>
          </a:xfrm>
          <a:prstGeom prst="rect">
            <a:avLst/>
          </a:prstGeom>
          <a:noFill/>
          <a:ln/>
        </p:spPr>
        <p:txBody>
          <a:bodyPr wrap="square" lIns="0" tIns="0" rIns="0" bIns="0" rtlCol="0" anchor="ctr"/>
          <a:lstStyle/>
          <a:p>
            <a:pPr marL="0" indent="0" algn="ctr">
              <a:buNone/>
            </a:pPr>
            <a:r>
              <a:rPr lang="en-US" sz="1000">
                <a:solidFill>
                  <a:srgbClr val="4B5563"/>
                </a:solidFill>
                <a:latin typeface="Raleway" pitchFamily="34" charset="0"/>
                <a:ea typeface="Raleway" pitchFamily="34" charset="-122"/>
                <a:cs typeface="Raleway" pitchFamily="34" charset="-120"/>
              </a:rPr>
              <a:t>Seasoned operator, investor, and entrepreneur with 20+ years in venture capital and investment banking. Ex-General Catalyst &amp; Venture Highway. Co-founded Vidyartha, exited to BYJU'S. CA &amp; ISB alumna. Kamalnayan Bajaj Aspen Fellow.</a:t>
            </a:r>
            <a:endParaRPr lang="en-US" sz="1000"/>
          </a:p>
        </p:txBody>
      </p:sp>
      <p:sp>
        <p:nvSpPr>
          <p:cNvPr id="31" name="Text 27"/>
          <p:cNvSpPr txBox="1"/>
          <p:nvPr/>
        </p:nvSpPr>
        <p:spPr>
          <a:xfrm>
            <a:off x="1821485" y="5178349"/>
            <a:ext cx="1156716" cy="247802"/>
          </a:xfrm>
          <a:prstGeom prst="rect">
            <a:avLst/>
          </a:prstGeom>
          <a:noFill/>
          <a:ln/>
        </p:spPr>
        <p:txBody>
          <a:bodyPr wrap="none" lIns="0" tIns="0" rIns="0" bIns="0" rtlCol="0" anchor="ctr"/>
          <a:lstStyle/>
          <a:p>
            <a:pPr marL="0" indent="0" algn="ctr">
              <a:buNone/>
            </a:pPr>
            <a:r>
              <a:rPr lang="en-US" sz="1300" b="1">
                <a:solidFill>
                  <a:srgbClr val="111827"/>
                </a:solidFill>
                <a:latin typeface="Oswald" pitchFamily="34" charset="0"/>
                <a:ea typeface="Oswald" pitchFamily="34" charset="-122"/>
                <a:cs typeface="Oswald" pitchFamily="34" charset="-120"/>
              </a:rPr>
              <a:t>Vineet Shukla</a:t>
            </a:r>
            <a:endParaRPr lang="en-US" sz="1300"/>
          </a:p>
        </p:txBody>
      </p:sp>
      <p:sp>
        <p:nvSpPr>
          <p:cNvPr id="32" name="Text 28"/>
          <p:cNvSpPr txBox="1"/>
          <p:nvPr/>
        </p:nvSpPr>
        <p:spPr>
          <a:xfrm>
            <a:off x="1503274" y="5445354"/>
            <a:ext cx="1791310" cy="133502"/>
          </a:xfrm>
          <a:prstGeom prst="rect">
            <a:avLst/>
          </a:prstGeom>
          <a:noFill/>
          <a:ln/>
        </p:spPr>
        <p:txBody>
          <a:bodyPr wrap="none" lIns="0" tIns="0" rIns="0" bIns="0" rtlCol="0" anchor="ctr"/>
          <a:lstStyle/>
          <a:p>
            <a:pPr marL="0" indent="0" algn="ctr">
              <a:buNone/>
            </a:pPr>
            <a:r>
              <a:rPr lang="en-US" sz="900" b="1" kern="0" spc="45">
                <a:solidFill>
                  <a:srgbClr val="2A9D8F"/>
                </a:solidFill>
                <a:latin typeface="Roboto Condensed" pitchFamily="34" charset="0"/>
                <a:ea typeface="Roboto Condensed" pitchFamily="34" charset="-122"/>
                <a:cs typeface="Roboto Condensed" pitchFamily="34" charset="-120"/>
              </a:rPr>
              <a:t>CHIEF TECHNOLOGY OFFICER</a:t>
            </a:r>
            <a:endParaRPr lang="en-US" sz="900"/>
          </a:p>
        </p:txBody>
      </p:sp>
      <p:sp>
        <p:nvSpPr>
          <p:cNvPr id="33" name="Text 29"/>
          <p:cNvSpPr txBox="1"/>
          <p:nvPr/>
        </p:nvSpPr>
        <p:spPr>
          <a:xfrm>
            <a:off x="904646" y="5688076"/>
            <a:ext cx="3286354" cy="486461"/>
          </a:xfrm>
          <a:prstGeom prst="rect">
            <a:avLst/>
          </a:prstGeom>
          <a:noFill/>
          <a:ln/>
        </p:spPr>
        <p:txBody>
          <a:bodyPr wrap="square" lIns="0" tIns="0" rIns="0" bIns="0" rtlCol="0" anchor="ctr"/>
          <a:lstStyle/>
          <a:p>
            <a:pPr marL="0" indent="0" algn="ctr">
              <a:buNone/>
            </a:pPr>
            <a:r>
              <a:rPr lang="en-US" sz="900">
                <a:solidFill>
                  <a:srgbClr val="4B5563"/>
                </a:solidFill>
                <a:latin typeface="Raleway" pitchFamily="34" charset="0"/>
                <a:ea typeface="Raleway" pitchFamily="34" charset="-122"/>
                <a:cs typeface="Raleway" pitchFamily="34" charset="-120"/>
              </a:rPr>
              <a:t>20+ years experience, 15 in financial services. AI, data science &amp; ML leader. Patent holder. Scales enterprise AI transformations. IIM Bangalore MBA.</a:t>
            </a:r>
            <a:endParaRPr lang="en-US" sz="900"/>
          </a:p>
        </p:txBody>
      </p:sp>
      <p:sp>
        <p:nvSpPr>
          <p:cNvPr id="34" name="Shape 30"/>
          <p:cNvSpPr/>
          <p:nvPr/>
        </p:nvSpPr>
        <p:spPr>
          <a:xfrm>
            <a:off x="5710428" y="4339844"/>
            <a:ext cx="761695" cy="761695"/>
          </a:xfrm>
          <a:prstGeom prst="ellipse">
            <a:avLst/>
          </a:prstGeom>
          <a:solidFill>
            <a:srgbClr val="F3F4F6"/>
          </a:solidFill>
          <a:ln w="25400">
            <a:solidFill>
              <a:srgbClr val="E5E7EB"/>
            </a:solidFill>
            <a:prstDash val="solid"/>
          </a:ln>
        </p:spPr>
        <p:txBody>
          <a:bodyPr/>
          <a:lstStyle/>
          <a:p>
            <a:endParaRPr lang="en-US"/>
          </a:p>
        </p:txBody>
      </p:sp>
      <p:sp>
        <p:nvSpPr>
          <p:cNvPr id="35" name="Text 31"/>
          <p:cNvSpPr/>
          <p:nvPr/>
        </p:nvSpPr>
        <p:spPr>
          <a:xfrm>
            <a:off x="5710428" y="4339844"/>
            <a:ext cx="762610" cy="762610"/>
          </a:xfrm>
          <a:prstGeom prst="rect">
            <a:avLst/>
          </a:prstGeom>
          <a:solidFill>
            <a:srgbClr val="FFFFFF">
              <a:alpha val="0"/>
            </a:srgbClr>
          </a:solidFill>
          <a:ln>
            <a:solidFill>
              <a:srgbClr val="FFFFFF">
                <a:alpha val="0"/>
              </a:srgbClr>
            </a:solidFill>
          </a:ln>
        </p:spPr>
        <p:txBody>
          <a:bodyPr wrap="none" lIns="0" tIns="0" rIns="0" bIns="0" rtlCol="0" anchor="ctr"/>
          <a:lstStyle/>
          <a:p>
            <a:pPr marL="0" indent="0" algn="ctr">
              <a:buNone/>
            </a:pPr>
            <a:r>
              <a:rPr lang="en-US" sz="1000" b="1">
                <a:solidFill>
                  <a:srgbClr val="9CA3AF"/>
                </a:solidFill>
                <a:latin typeface="Raleway" pitchFamily="34" charset="0"/>
                <a:ea typeface="Raleway" pitchFamily="34" charset="-122"/>
                <a:cs typeface="Raleway" pitchFamily="34" charset="-120"/>
              </a:rPr>
              <a:t>Photo</a:t>
            </a:r>
            <a:endParaRPr lang="en-US" sz="1000"/>
          </a:p>
        </p:txBody>
      </p:sp>
      <p:sp>
        <p:nvSpPr>
          <p:cNvPr id="36" name="Text 32"/>
          <p:cNvSpPr txBox="1"/>
          <p:nvPr/>
        </p:nvSpPr>
        <p:spPr>
          <a:xfrm>
            <a:off x="5512003" y="5178349"/>
            <a:ext cx="1167689" cy="247802"/>
          </a:xfrm>
          <a:prstGeom prst="rect">
            <a:avLst/>
          </a:prstGeom>
          <a:noFill/>
          <a:ln/>
        </p:spPr>
        <p:txBody>
          <a:bodyPr wrap="none" lIns="0" tIns="0" rIns="0" bIns="0" rtlCol="0" anchor="ctr"/>
          <a:lstStyle/>
          <a:p>
            <a:pPr marL="0" indent="0" algn="ctr">
              <a:buNone/>
            </a:pPr>
            <a:r>
              <a:rPr lang="en-US" sz="1300" b="1">
                <a:solidFill>
                  <a:srgbClr val="111827"/>
                </a:solidFill>
                <a:latin typeface="Oswald" pitchFamily="34" charset="0"/>
                <a:ea typeface="Oswald" pitchFamily="34" charset="-122"/>
                <a:cs typeface="Oswald" pitchFamily="34" charset="-120"/>
              </a:rPr>
              <a:t>Daniel Dsouza</a:t>
            </a:r>
            <a:endParaRPr lang="en-US" sz="1300"/>
          </a:p>
        </p:txBody>
      </p:sp>
      <p:sp>
        <p:nvSpPr>
          <p:cNvPr id="37" name="Text 33"/>
          <p:cNvSpPr txBox="1"/>
          <p:nvPr/>
        </p:nvSpPr>
        <p:spPr>
          <a:xfrm>
            <a:off x="4998110" y="5445354"/>
            <a:ext cx="2188159" cy="133502"/>
          </a:xfrm>
          <a:prstGeom prst="rect">
            <a:avLst/>
          </a:prstGeom>
          <a:noFill/>
          <a:ln/>
        </p:spPr>
        <p:txBody>
          <a:bodyPr wrap="none" lIns="0" tIns="0" rIns="0" bIns="0" rtlCol="0" anchor="ctr"/>
          <a:lstStyle/>
          <a:p>
            <a:pPr marL="0" indent="0" algn="ctr">
              <a:buNone/>
            </a:pPr>
            <a:r>
              <a:rPr lang="en-US" sz="900" b="1" kern="0" spc="45">
                <a:solidFill>
                  <a:srgbClr val="D62839"/>
                </a:solidFill>
                <a:latin typeface="Roboto Condensed" pitchFamily="34" charset="0"/>
                <a:ea typeface="Roboto Condensed" pitchFamily="34" charset="-122"/>
                <a:cs typeface="Roboto Condensed" pitchFamily="34" charset="-120"/>
              </a:rPr>
              <a:t>HEAD OF ARTIFICIAL INTELLIGENCE</a:t>
            </a:r>
            <a:endParaRPr lang="en-US" sz="900"/>
          </a:p>
        </p:txBody>
      </p:sp>
      <p:sp>
        <p:nvSpPr>
          <p:cNvPr id="38" name="Text 34"/>
          <p:cNvSpPr txBox="1"/>
          <p:nvPr/>
        </p:nvSpPr>
        <p:spPr>
          <a:xfrm>
            <a:off x="4600651" y="5688076"/>
            <a:ext cx="3286354" cy="486461"/>
          </a:xfrm>
          <a:prstGeom prst="rect">
            <a:avLst/>
          </a:prstGeom>
          <a:noFill/>
          <a:ln/>
        </p:spPr>
        <p:txBody>
          <a:bodyPr wrap="square" lIns="0" tIns="0" rIns="0" bIns="0" rtlCol="0" anchor="ctr"/>
          <a:lstStyle/>
          <a:p>
            <a:pPr marL="0" indent="0" algn="ctr">
              <a:buNone/>
            </a:pPr>
            <a:r>
              <a:rPr lang="en-US" sz="900">
                <a:solidFill>
                  <a:srgbClr val="4B5563"/>
                </a:solidFill>
                <a:latin typeface="Raleway" pitchFamily="34" charset="0"/>
                <a:ea typeface="Raleway" pitchFamily="34" charset="-122"/>
                <a:cs typeface="Raleway" pitchFamily="34" charset="-120"/>
              </a:rPr>
              <a:t>Enterprise AI transformation leader. INSEAD MBA. AWS Certified Architect &amp; PMP. Expertise in AI strategy, architecture and cross-geography team leadership.</a:t>
            </a:r>
            <a:endParaRPr lang="en-US" sz="900"/>
          </a:p>
        </p:txBody>
      </p:sp>
      <p:sp>
        <p:nvSpPr>
          <p:cNvPr id="39" name="Shape 35"/>
          <p:cNvSpPr/>
          <p:nvPr/>
        </p:nvSpPr>
        <p:spPr>
          <a:xfrm>
            <a:off x="9405518" y="4339844"/>
            <a:ext cx="761695" cy="761695"/>
          </a:xfrm>
          <a:prstGeom prst="ellipse">
            <a:avLst/>
          </a:prstGeom>
          <a:solidFill>
            <a:srgbClr val="F3F4F6"/>
          </a:solidFill>
          <a:ln w="25400">
            <a:solidFill>
              <a:srgbClr val="E5E7EB"/>
            </a:solidFill>
            <a:prstDash val="solid"/>
          </a:ln>
        </p:spPr>
        <p:txBody>
          <a:bodyPr/>
          <a:lstStyle/>
          <a:p>
            <a:endParaRPr lang="en-US"/>
          </a:p>
        </p:txBody>
      </p:sp>
      <p:sp>
        <p:nvSpPr>
          <p:cNvPr id="40" name="Text 36"/>
          <p:cNvSpPr/>
          <p:nvPr/>
        </p:nvSpPr>
        <p:spPr>
          <a:xfrm>
            <a:off x="9405518" y="4339844"/>
            <a:ext cx="762610" cy="762610"/>
          </a:xfrm>
          <a:prstGeom prst="rect">
            <a:avLst/>
          </a:prstGeom>
          <a:solidFill>
            <a:srgbClr val="FFFFFF">
              <a:alpha val="0"/>
            </a:srgbClr>
          </a:solidFill>
          <a:ln>
            <a:solidFill>
              <a:srgbClr val="FFFFFF">
                <a:alpha val="0"/>
              </a:srgbClr>
            </a:solidFill>
          </a:ln>
        </p:spPr>
        <p:txBody>
          <a:bodyPr wrap="none" lIns="0" tIns="0" rIns="0" bIns="0" rtlCol="0" anchor="ctr"/>
          <a:lstStyle/>
          <a:p>
            <a:pPr marL="0" indent="0" algn="ctr">
              <a:buNone/>
            </a:pPr>
            <a:r>
              <a:rPr lang="en-US" sz="1000" b="1">
                <a:solidFill>
                  <a:srgbClr val="9CA3AF"/>
                </a:solidFill>
                <a:latin typeface="Raleway" pitchFamily="34" charset="0"/>
                <a:ea typeface="Raleway" pitchFamily="34" charset="-122"/>
                <a:cs typeface="Raleway" pitchFamily="34" charset="-120"/>
              </a:rPr>
              <a:t>Photo</a:t>
            </a:r>
            <a:endParaRPr lang="en-US" sz="1000"/>
          </a:p>
        </p:txBody>
      </p:sp>
      <p:sp>
        <p:nvSpPr>
          <p:cNvPr id="41" name="Text 37"/>
          <p:cNvSpPr txBox="1"/>
          <p:nvPr/>
        </p:nvSpPr>
        <p:spPr>
          <a:xfrm>
            <a:off x="9322308" y="5178349"/>
            <a:ext cx="929945" cy="247802"/>
          </a:xfrm>
          <a:prstGeom prst="rect">
            <a:avLst/>
          </a:prstGeom>
          <a:noFill/>
          <a:ln/>
        </p:spPr>
        <p:txBody>
          <a:bodyPr wrap="none" lIns="0" tIns="0" rIns="0" bIns="0" rtlCol="0" anchor="ctr"/>
          <a:lstStyle/>
          <a:p>
            <a:pPr marL="0" indent="0" algn="ctr">
              <a:buNone/>
            </a:pPr>
            <a:r>
              <a:rPr lang="en-US" sz="1300" b="1">
                <a:solidFill>
                  <a:srgbClr val="111827"/>
                </a:solidFill>
                <a:latin typeface="Oswald" pitchFamily="34" charset="0"/>
                <a:ea typeface="Oswald" pitchFamily="34" charset="-122"/>
                <a:cs typeface="Oswald" pitchFamily="34" charset="-120"/>
              </a:rPr>
              <a:t>Kunal Shah</a:t>
            </a:r>
            <a:endParaRPr lang="en-US" sz="1300"/>
          </a:p>
        </p:txBody>
      </p:sp>
      <p:sp>
        <p:nvSpPr>
          <p:cNvPr id="42" name="Text 38"/>
          <p:cNvSpPr txBox="1"/>
          <p:nvPr/>
        </p:nvSpPr>
        <p:spPr>
          <a:xfrm>
            <a:off x="8810244" y="5445354"/>
            <a:ext cx="1961388" cy="133502"/>
          </a:xfrm>
          <a:prstGeom prst="rect">
            <a:avLst/>
          </a:prstGeom>
          <a:noFill/>
          <a:ln/>
        </p:spPr>
        <p:txBody>
          <a:bodyPr wrap="none" lIns="0" tIns="0" rIns="0" bIns="0" rtlCol="0" anchor="ctr"/>
          <a:lstStyle/>
          <a:p>
            <a:pPr marL="0" indent="0" algn="ctr">
              <a:buNone/>
            </a:pPr>
            <a:r>
              <a:rPr lang="en-US" sz="900" b="1" kern="0" spc="45">
                <a:solidFill>
                  <a:srgbClr val="2A9D8F"/>
                </a:solidFill>
                <a:latin typeface="Roboto Condensed" pitchFamily="34" charset="0"/>
                <a:ea typeface="Roboto Condensed" pitchFamily="34" charset="-122"/>
                <a:cs typeface="Roboto Condensed" pitchFamily="34" charset="-120"/>
              </a:rPr>
              <a:t>HEAD - GLOBAL BFSI STRATEGY</a:t>
            </a:r>
            <a:endParaRPr lang="en-US" sz="900"/>
          </a:p>
        </p:txBody>
      </p:sp>
      <p:sp>
        <p:nvSpPr>
          <p:cNvPr id="43" name="Text 39"/>
          <p:cNvSpPr txBox="1"/>
          <p:nvPr/>
        </p:nvSpPr>
        <p:spPr>
          <a:xfrm>
            <a:off x="8295741" y="5644997"/>
            <a:ext cx="3146959" cy="648310"/>
          </a:xfrm>
          <a:prstGeom prst="rect">
            <a:avLst/>
          </a:prstGeom>
          <a:noFill/>
          <a:ln/>
        </p:spPr>
        <p:txBody>
          <a:bodyPr wrap="square" lIns="0" tIns="0" rIns="0" bIns="0" rtlCol="0" anchor="ctr"/>
          <a:lstStyle/>
          <a:p>
            <a:pPr marL="0" indent="0" algn="ctr">
              <a:buNone/>
            </a:pPr>
            <a:r>
              <a:rPr lang="en-US" sz="900">
                <a:solidFill>
                  <a:srgbClr val="4B5563"/>
                </a:solidFill>
                <a:latin typeface="Raleway" pitchFamily="34" charset="0"/>
                <a:ea typeface="Raleway" pitchFamily="34" charset="-122"/>
                <a:cs typeface="Raleway" pitchFamily="34" charset="-120"/>
              </a:rPr>
              <a:t>Industry-recognized AI, data science &amp; ML leader. 20+ years in BFSI. Ex JP Morgan &amp; CLSA. Scales enterprise AI transformations. Drives measurable ROI for banks &amp; fintechs.</a:t>
            </a:r>
            <a:endParaRPr lang="en-US" sz="900"/>
          </a:p>
        </p:txBody>
      </p:sp>
      <p:pic>
        <p:nvPicPr>
          <p:cNvPr id="46" name="Image 4" descr="preencoded.png">
            <a:extLst>
              <a:ext uri="{FF2B5EF4-FFF2-40B4-BE49-F238E27FC236}">
                <a16:creationId xmlns:a16="http://schemas.microsoft.com/office/drawing/2014/main" id="{C6614DD8-D2D3-3E59-136C-61594D6E82DB}"/>
              </a:ext>
            </a:extLst>
          </p:cNvPr>
          <p:cNvPicPr>
            <a:picLocks noChangeAspect="1"/>
          </p:cNvPicPr>
          <p:nvPr/>
        </p:nvPicPr>
        <p:blipFill>
          <a:blip r:embed="rId4"/>
          <a:srcRect b="1042"/>
          <a:stretch/>
        </p:blipFill>
        <p:spPr>
          <a:xfrm>
            <a:off x="7895844" y="1398828"/>
            <a:ext cx="857707" cy="857707"/>
          </a:xfrm>
          <a:prstGeom prst="rect">
            <a:avLst/>
          </a:prstGeom>
        </p:spPr>
      </p:pic>
      <p:pic>
        <p:nvPicPr>
          <p:cNvPr id="48" name="Image 2" descr="preencoded.png">
            <a:extLst>
              <a:ext uri="{FF2B5EF4-FFF2-40B4-BE49-F238E27FC236}">
                <a16:creationId xmlns:a16="http://schemas.microsoft.com/office/drawing/2014/main" id="{3C07FD42-E1E3-E85C-D27C-13F1FA4C86FB}"/>
              </a:ext>
            </a:extLst>
          </p:cNvPr>
          <p:cNvPicPr>
            <a:picLocks noChangeAspect="1"/>
          </p:cNvPicPr>
          <p:nvPr/>
        </p:nvPicPr>
        <p:blipFill>
          <a:blip r:embed="rId5"/>
          <a:srcRect/>
          <a:stretch/>
        </p:blipFill>
        <p:spPr>
          <a:xfrm>
            <a:off x="3472994" y="1429207"/>
            <a:ext cx="783996" cy="783996"/>
          </a:xfrm>
          <a:prstGeom prst="rect">
            <a:avLst/>
          </a:prstGeom>
        </p:spPr>
      </p:pic>
      <p:pic>
        <p:nvPicPr>
          <p:cNvPr id="49" name="Picture 48">
            <a:extLst>
              <a:ext uri="{FF2B5EF4-FFF2-40B4-BE49-F238E27FC236}">
                <a16:creationId xmlns:a16="http://schemas.microsoft.com/office/drawing/2014/main" id="{21381C72-F8AC-4843-BD6E-BF2328463577}"/>
              </a:ext>
            </a:extLst>
          </p:cNvPr>
          <p:cNvPicPr>
            <a:picLocks noChangeAspect="1"/>
          </p:cNvPicPr>
          <p:nvPr/>
        </p:nvPicPr>
        <p:blipFill>
          <a:blip r:embed="rId6"/>
          <a:stretch>
            <a:fillRect/>
          </a:stretch>
        </p:blipFill>
        <p:spPr>
          <a:xfrm>
            <a:off x="1949958" y="4383736"/>
            <a:ext cx="761695" cy="761695"/>
          </a:xfrm>
          <a:prstGeom prst="ellipse">
            <a:avLst/>
          </a:prstGeom>
          <a:ln>
            <a:solidFill>
              <a:schemeClr val="bg2">
                <a:lumMod val="50000"/>
              </a:schemeClr>
            </a:solidFill>
          </a:ln>
        </p:spPr>
      </p:pic>
      <p:pic>
        <p:nvPicPr>
          <p:cNvPr id="51" name="Picture 50">
            <a:extLst>
              <a:ext uri="{FF2B5EF4-FFF2-40B4-BE49-F238E27FC236}">
                <a16:creationId xmlns:a16="http://schemas.microsoft.com/office/drawing/2014/main" id="{1E4787F7-0E35-B225-403B-21A9F0D68FCA}"/>
              </a:ext>
            </a:extLst>
          </p:cNvPr>
          <p:cNvPicPr>
            <a:picLocks noChangeAspect="1"/>
          </p:cNvPicPr>
          <p:nvPr/>
        </p:nvPicPr>
        <p:blipFill>
          <a:blip r:embed="rId7"/>
          <a:stretch>
            <a:fillRect/>
          </a:stretch>
        </p:blipFill>
        <p:spPr>
          <a:xfrm>
            <a:off x="5710428" y="4311358"/>
            <a:ext cx="791235" cy="791235"/>
          </a:xfrm>
          <a:prstGeom prst="ellipse">
            <a:avLst/>
          </a:prstGeom>
          <a:ln>
            <a:solidFill>
              <a:schemeClr val="bg2">
                <a:lumMod val="75000"/>
              </a:schemeClr>
            </a:solidFill>
          </a:ln>
        </p:spPr>
      </p:pic>
      <p:pic>
        <p:nvPicPr>
          <p:cNvPr id="52" name="Picture 51">
            <a:extLst>
              <a:ext uri="{FF2B5EF4-FFF2-40B4-BE49-F238E27FC236}">
                <a16:creationId xmlns:a16="http://schemas.microsoft.com/office/drawing/2014/main" id="{EFE56F8F-09ED-BCC5-7551-0F240ACC8FD8}"/>
              </a:ext>
            </a:extLst>
          </p:cNvPr>
          <p:cNvPicPr>
            <a:picLocks noChangeAspect="1"/>
          </p:cNvPicPr>
          <p:nvPr/>
        </p:nvPicPr>
        <p:blipFill>
          <a:blip r:embed="rId8"/>
          <a:stretch>
            <a:fillRect/>
          </a:stretch>
        </p:blipFill>
        <p:spPr>
          <a:xfrm>
            <a:off x="9408768" y="4336643"/>
            <a:ext cx="792836" cy="792836"/>
          </a:xfrm>
          <a:prstGeom prst="ellipse">
            <a:avLst/>
          </a:prstGeom>
          <a:ln>
            <a:solidFill>
              <a:schemeClr val="bg2">
                <a:lumMod val="75000"/>
              </a:schemeClr>
            </a:solidFill>
          </a:ln>
        </p:spPr>
      </p:pic>
      <p:pic>
        <p:nvPicPr>
          <p:cNvPr id="30" name="Image 3" descr="gen-dedup-777bf757d895431cabe402fcd34ebd5a.png">
            <a:extLst>
              <a:ext uri="{FF2B5EF4-FFF2-40B4-BE49-F238E27FC236}">
                <a16:creationId xmlns:a16="http://schemas.microsoft.com/office/drawing/2014/main" id="{99685EFD-DB88-C645-1E16-F14C673D75FE}"/>
              </a:ext>
            </a:extLst>
          </p:cNvPr>
          <p:cNvPicPr>
            <a:picLocks noChangeAspect="1"/>
          </p:cNvPicPr>
          <p:nvPr/>
        </p:nvPicPr>
        <p:blipFill>
          <a:blip r:embed="rId9">
            <a:biLevel thresh="75000"/>
          </a:blip>
          <a:srcRect l="-384" r="-384"/>
          <a:stretch/>
        </p:blipFill>
        <p:spPr>
          <a:xfrm>
            <a:off x="571500" y="381305"/>
            <a:ext cx="57607" cy="476402"/>
          </a:xfrm>
          <a:prstGeom prst="rect">
            <a:avLst/>
          </a:prstGeom>
        </p:spPr>
      </p:pic>
      <p:sp>
        <p:nvSpPr>
          <p:cNvPr id="45" name="Text 5">
            <a:extLst>
              <a:ext uri="{FF2B5EF4-FFF2-40B4-BE49-F238E27FC236}">
                <a16:creationId xmlns:a16="http://schemas.microsoft.com/office/drawing/2014/main" id="{C452B055-9ECB-7E19-FB26-AFD8543312EB}"/>
              </a:ext>
            </a:extLst>
          </p:cNvPr>
          <p:cNvSpPr txBox="1"/>
          <p:nvPr/>
        </p:nvSpPr>
        <p:spPr>
          <a:xfrm>
            <a:off x="780897" y="333756"/>
            <a:ext cx="5913817" cy="406908"/>
          </a:xfrm>
          <a:prstGeom prst="rect">
            <a:avLst/>
          </a:prstGeom>
          <a:noFill/>
          <a:ln/>
        </p:spPr>
        <p:txBody>
          <a:bodyPr wrap="none" lIns="0" tIns="0" rIns="0" bIns="0" rtlCol="0" anchor="ctr"/>
          <a:lstStyle/>
          <a:p>
            <a:r>
              <a:rPr lang="en-US" sz="2400" b="1" kern="0" spc="-67" dirty="0">
                <a:solidFill>
                  <a:srgbClr val="111827"/>
                </a:solidFill>
                <a:latin typeface="Oswald" pitchFamily="34" charset="0"/>
                <a:ea typeface="Oswald" pitchFamily="34" charset="-122"/>
                <a:cs typeface="Oswald" pitchFamily="34" charset="-120"/>
              </a:rPr>
              <a:t>ARCHITECTS OF TRANSFORMATION</a:t>
            </a:r>
            <a:endParaRPr lang="en-US" sz="2400" dirty="0"/>
          </a:p>
        </p:txBody>
      </p:sp>
      <p:sp>
        <p:nvSpPr>
          <p:cNvPr id="50" name="Text 6">
            <a:extLst>
              <a:ext uri="{FF2B5EF4-FFF2-40B4-BE49-F238E27FC236}">
                <a16:creationId xmlns:a16="http://schemas.microsoft.com/office/drawing/2014/main" id="{1A2CC517-B7E5-6C53-FC86-943744901CEA}"/>
              </a:ext>
            </a:extLst>
          </p:cNvPr>
          <p:cNvSpPr txBox="1"/>
          <p:nvPr/>
        </p:nvSpPr>
        <p:spPr>
          <a:xfrm>
            <a:off x="780898" y="740663"/>
            <a:ext cx="5054803" cy="257861"/>
          </a:xfrm>
          <a:prstGeom prst="rect">
            <a:avLst/>
          </a:prstGeom>
          <a:noFill/>
          <a:ln/>
        </p:spPr>
        <p:txBody>
          <a:bodyPr wrap="none" lIns="0" tIns="0" rIns="0" bIns="0" rtlCol="0" anchor="ctr"/>
          <a:lstStyle/>
          <a:p>
            <a:pPr marL="0" indent="0" algn="l">
              <a:buNone/>
            </a:pPr>
            <a:r>
              <a:rPr lang="en-GB" sz="1500" b="1" kern="0" spc="66" dirty="0">
                <a:solidFill>
                  <a:srgbClr val="2A9D8F"/>
                </a:solidFill>
                <a:latin typeface="Roboto Condensed" pitchFamily="34" charset="0"/>
                <a:ea typeface="Roboto Condensed" pitchFamily="34" charset="-122"/>
                <a:cs typeface="Roboto Condensed" pitchFamily="34" charset="-120"/>
              </a:rPr>
              <a:t>A Seasoned Team Uniting Technology, Strategy, And Workforce Excellence</a:t>
            </a:r>
          </a:p>
        </p:txBody>
      </p:sp>
      <p:pic>
        <p:nvPicPr>
          <p:cNvPr id="54" name="Image 1" descr="gen-dedup-323228122ff92d2332e711a84ca3b40c.png">
            <a:extLst>
              <a:ext uri="{FF2B5EF4-FFF2-40B4-BE49-F238E27FC236}">
                <a16:creationId xmlns:a16="http://schemas.microsoft.com/office/drawing/2014/main" id="{7D696EDE-4531-B274-20CE-FFFA59303AD4}"/>
              </a:ext>
            </a:extLst>
          </p:cNvPr>
          <p:cNvPicPr>
            <a:picLocks noChangeAspect="1"/>
          </p:cNvPicPr>
          <p:nvPr/>
        </p:nvPicPr>
        <p:blipFill>
          <a:blip r:embed="rId10"/>
          <a:srcRect l="-198" r="-198"/>
          <a:stretch/>
        </p:blipFill>
        <p:spPr>
          <a:xfrm>
            <a:off x="0" y="0"/>
            <a:ext cx="8124444" cy="75895"/>
          </a:xfrm>
          <a:prstGeom prst="rect">
            <a:avLst/>
          </a:prstGeom>
        </p:spPr>
      </p:pic>
      <p:pic>
        <p:nvPicPr>
          <p:cNvPr id="56" name="Image 2" descr="gen-dedup-9663ecf744b06e35d4c2cebaab92a2ea.png">
            <a:extLst>
              <a:ext uri="{FF2B5EF4-FFF2-40B4-BE49-F238E27FC236}">
                <a16:creationId xmlns:a16="http://schemas.microsoft.com/office/drawing/2014/main" id="{E9099E9D-C351-3749-B9DD-D7D98B45018F}"/>
              </a:ext>
            </a:extLst>
          </p:cNvPr>
          <p:cNvPicPr>
            <a:picLocks noChangeAspect="1"/>
          </p:cNvPicPr>
          <p:nvPr/>
        </p:nvPicPr>
        <p:blipFill>
          <a:blip r:embed="rId11"/>
          <a:srcRect l="-202" r="-202"/>
          <a:stretch/>
        </p:blipFill>
        <p:spPr>
          <a:xfrm>
            <a:off x="8124444" y="0"/>
            <a:ext cx="4067251" cy="75895"/>
          </a:xfrm>
          <a:prstGeom prst="rect">
            <a:avLst/>
          </a:prstGeom>
        </p:spPr>
      </p:pic>
      <p:sp>
        <p:nvSpPr>
          <p:cNvPr id="58" name="Shape 2">
            <a:extLst>
              <a:ext uri="{FF2B5EF4-FFF2-40B4-BE49-F238E27FC236}">
                <a16:creationId xmlns:a16="http://schemas.microsoft.com/office/drawing/2014/main" id="{CF733651-4B0B-33D6-E149-15FFDB3BC907}"/>
              </a:ext>
            </a:extLst>
          </p:cNvPr>
          <p:cNvSpPr/>
          <p:nvPr/>
        </p:nvSpPr>
        <p:spPr>
          <a:xfrm>
            <a:off x="8953805" y="-571500"/>
            <a:ext cx="3810305" cy="3810305"/>
          </a:xfrm>
          <a:prstGeom prst="ellipse">
            <a:avLst/>
          </a:prstGeom>
          <a:solidFill>
            <a:srgbClr val="2A9D8F">
              <a:alpha val="4000"/>
            </a:srgbClr>
          </a:solidFill>
          <a:ln w="12700">
            <a:solidFill>
              <a:srgbClr val="FFFFFF">
                <a:alpha val="0"/>
              </a:srgbClr>
            </a:solidFill>
            <a:prstDash val="solid"/>
          </a:ln>
        </p:spPr>
        <p:txBody>
          <a:bodyPr/>
          <a:lstStyle/>
          <a:p>
            <a:endParaRPr lang="en-US"/>
          </a:p>
        </p:txBody>
      </p:sp>
    </p:spTree>
    <p:extLst>
      <p:ext uri="{BB962C8B-B14F-4D97-AF65-F5344CB8AC3E}">
        <p14:creationId xmlns:p14="http://schemas.microsoft.com/office/powerpoint/2010/main" val="21522702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64918E-CA58-E5F4-F9F4-9F82CB89CE4E}"/>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80EFF5F3-4DDA-24A6-E4D8-A4A3C70A9235}"/>
              </a:ext>
            </a:extLst>
          </p:cNvPr>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a:extLst>
              <a:ext uri="{FF2B5EF4-FFF2-40B4-BE49-F238E27FC236}">
                <a16:creationId xmlns:a16="http://schemas.microsoft.com/office/drawing/2014/main" id="{1E78A4C1-42F3-11EA-B71C-5C5DA0E2DB61}"/>
              </a:ext>
            </a:extLst>
          </p:cNvPr>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dirty="0"/>
          </a:p>
        </p:txBody>
      </p:sp>
      <p:sp>
        <p:nvSpPr>
          <p:cNvPr id="4" name="Shape 2">
            <a:extLst>
              <a:ext uri="{FF2B5EF4-FFF2-40B4-BE49-F238E27FC236}">
                <a16:creationId xmlns:a16="http://schemas.microsoft.com/office/drawing/2014/main" id="{5EEB366C-A762-A317-6EC4-B4CB5906CB0C}"/>
              </a:ext>
            </a:extLst>
          </p:cNvPr>
          <p:cNvSpPr/>
          <p:nvPr/>
        </p:nvSpPr>
        <p:spPr>
          <a:xfrm>
            <a:off x="8667598" y="-761695"/>
            <a:ext cx="4286707" cy="4286707"/>
          </a:xfrm>
          <a:prstGeom prst="ellipse">
            <a:avLst/>
          </a:prstGeom>
          <a:solidFill>
            <a:srgbClr val="2A9D8F">
              <a:alpha val="3000"/>
            </a:srgbClr>
          </a:solidFill>
          <a:ln w="12700">
            <a:solidFill>
              <a:srgbClr val="FFFFFF">
                <a:alpha val="0"/>
              </a:srgbClr>
            </a:solidFill>
            <a:prstDash val="solid"/>
          </a:ln>
        </p:spPr>
        <p:txBody>
          <a:bodyPr/>
          <a:lstStyle/>
          <a:p>
            <a:endParaRPr lang="en-US"/>
          </a:p>
        </p:txBody>
      </p:sp>
      <p:pic>
        <p:nvPicPr>
          <p:cNvPr id="5" name="Image 0" descr="gen-dedup-debd4e3596836e8640379be3057665ef.png">
            <a:extLst>
              <a:ext uri="{FF2B5EF4-FFF2-40B4-BE49-F238E27FC236}">
                <a16:creationId xmlns:a16="http://schemas.microsoft.com/office/drawing/2014/main" id="{1CB91D49-ED4B-44E1-D2BD-99A7301EF327}"/>
              </a:ext>
            </a:extLst>
          </p:cNvPr>
          <p:cNvPicPr>
            <a:picLocks noChangeAspect="1"/>
          </p:cNvPicPr>
          <p:nvPr/>
        </p:nvPicPr>
        <p:blipFill>
          <a:blip r:embed="rId3">
            <a:alphaModFix amt="5000"/>
          </a:blip>
          <a:srcRect/>
          <a:stretch/>
        </p:blipFill>
        <p:spPr>
          <a:xfrm>
            <a:off x="-476402" y="3047695"/>
            <a:ext cx="2857500" cy="2857500"/>
          </a:xfrm>
          <a:prstGeom prst="rect">
            <a:avLst/>
          </a:prstGeom>
        </p:spPr>
      </p:pic>
      <p:sp>
        <p:nvSpPr>
          <p:cNvPr id="11" name="Shape 7">
            <a:extLst>
              <a:ext uri="{FF2B5EF4-FFF2-40B4-BE49-F238E27FC236}">
                <a16:creationId xmlns:a16="http://schemas.microsoft.com/office/drawing/2014/main" id="{44747A4E-921A-5EDB-FAC9-CD0C2B5E6FE6}"/>
              </a:ext>
            </a:extLst>
          </p:cNvPr>
          <p:cNvSpPr/>
          <p:nvPr/>
        </p:nvSpPr>
        <p:spPr>
          <a:xfrm>
            <a:off x="609905" y="4095598"/>
            <a:ext cx="3590849" cy="2523744"/>
          </a:xfrm>
          <a:prstGeom prst="roundRect">
            <a:avLst>
              <a:gd name="adj" fmla="val 2188"/>
            </a:avLst>
          </a:prstGeom>
          <a:solidFill>
            <a:srgbClr val="FFFFFF"/>
          </a:solidFill>
          <a:ln w="12700">
            <a:solidFill>
              <a:srgbClr val="F3F4F6"/>
            </a:solidFill>
            <a:prstDash val="solid"/>
          </a:ln>
          <a:effectLst>
            <a:outerShdw blurRad="114300" dist="38100" dir="16200000" algn="bl" rotWithShape="0">
              <a:srgbClr val="000000">
                <a:alpha val="4000"/>
              </a:srgbClr>
            </a:outerShdw>
          </a:effectLst>
        </p:spPr>
        <p:txBody>
          <a:bodyPr/>
          <a:lstStyle/>
          <a:p>
            <a:endParaRPr lang="en-US"/>
          </a:p>
        </p:txBody>
      </p:sp>
      <p:sp>
        <p:nvSpPr>
          <p:cNvPr id="12" name="Shape 8">
            <a:extLst>
              <a:ext uri="{FF2B5EF4-FFF2-40B4-BE49-F238E27FC236}">
                <a16:creationId xmlns:a16="http://schemas.microsoft.com/office/drawing/2014/main" id="{62D325F3-E949-BD67-D77F-B841EA2FFC98}"/>
              </a:ext>
            </a:extLst>
          </p:cNvPr>
          <p:cNvSpPr/>
          <p:nvPr/>
        </p:nvSpPr>
        <p:spPr>
          <a:xfrm>
            <a:off x="609905" y="4095598"/>
            <a:ext cx="3590849" cy="38405"/>
          </a:xfrm>
          <a:prstGeom prst="roundRect">
            <a:avLst>
              <a:gd name="adj" fmla="val 143755"/>
            </a:avLst>
          </a:prstGeom>
          <a:solidFill>
            <a:srgbClr val="2A9D8F"/>
          </a:solidFill>
          <a:ln w="12700">
            <a:solidFill>
              <a:srgbClr val="2A9D8F">
                <a:alpha val="0"/>
              </a:srgbClr>
            </a:solidFill>
            <a:prstDash val="solid"/>
          </a:ln>
        </p:spPr>
        <p:txBody>
          <a:bodyPr/>
          <a:lstStyle/>
          <a:p>
            <a:endParaRPr lang="en-US"/>
          </a:p>
        </p:txBody>
      </p:sp>
      <p:sp>
        <p:nvSpPr>
          <p:cNvPr id="13" name="Shape 9">
            <a:extLst>
              <a:ext uri="{FF2B5EF4-FFF2-40B4-BE49-F238E27FC236}">
                <a16:creationId xmlns:a16="http://schemas.microsoft.com/office/drawing/2014/main" id="{CF7BBC12-BA96-1390-E4D1-18008A972E35}"/>
              </a:ext>
            </a:extLst>
          </p:cNvPr>
          <p:cNvSpPr/>
          <p:nvPr/>
        </p:nvSpPr>
        <p:spPr>
          <a:xfrm>
            <a:off x="4304995" y="4095598"/>
            <a:ext cx="3590849" cy="2523744"/>
          </a:xfrm>
          <a:prstGeom prst="roundRect">
            <a:avLst>
              <a:gd name="adj" fmla="val 2188"/>
            </a:avLst>
          </a:prstGeom>
          <a:solidFill>
            <a:srgbClr val="FFFFFF"/>
          </a:solidFill>
          <a:ln w="12700">
            <a:solidFill>
              <a:srgbClr val="F3F4F6"/>
            </a:solidFill>
            <a:prstDash val="solid"/>
          </a:ln>
          <a:effectLst>
            <a:outerShdw blurRad="114300" dist="38100" dir="16200000" algn="bl" rotWithShape="0">
              <a:srgbClr val="000000">
                <a:alpha val="4000"/>
              </a:srgbClr>
            </a:outerShdw>
          </a:effectLst>
        </p:spPr>
        <p:txBody>
          <a:bodyPr/>
          <a:lstStyle/>
          <a:p>
            <a:endParaRPr lang="en-US"/>
          </a:p>
        </p:txBody>
      </p:sp>
      <p:sp>
        <p:nvSpPr>
          <p:cNvPr id="14" name="Shape 10">
            <a:extLst>
              <a:ext uri="{FF2B5EF4-FFF2-40B4-BE49-F238E27FC236}">
                <a16:creationId xmlns:a16="http://schemas.microsoft.com/office/drawing/2014/main" id="{B449B8BA-5A3A-4443-904B-545B45C085D1}"/>
              </a:ext>
            </a:extLst>
          </p:cNvPr>
          <p:cNvSpPr/>
          <p:nvPr/>
        </p:nvSpPr>
        <p:spPr>
          <a:xfrm>
            <a:off x="4304995" y="4095598"/>
            <a:ext cx="3590849" cy="38405"/>
          </a:xfrm>
          <a:prstGeom prst="roundRect">
            <a:avLst>
              <a:gd name="adj" fmla="val 143755"/>
            </a:avLst>
          </a:prstGeom>
          <a:solidFill>
            <a:srgbClr val="D62839"/>
          </a:solidFill>
          <a:ln w="12700">
            <a:solidFill>
              <a:srgbClr val="D62839">
                <a:alpha val="0"/>
              </a:srgbClr>
            </a:solidFill>
            <a:prstDash val="solid"/>
          </a:ln>
        </p:spPr>
        <p:txBody>
          <a:bodyPr/>
          <a:lstStyle/>
          <a:p>
            <a:endParaRPr lang="en-US"/>
          </a:p>
        </p:txBody>
      </p:sp>
      <p:sp>
        <p:nvSpPr>
          <p:cNvPr id="15" name="Shape 11">
            <a:extLst>
              <a:ext uri="{FF2B5EF4-FFF2-40B4-BE49-F238E27FC236}">
                <a16:creationId xmlns:a16="http://schemas.microsoft.com/office/drawing/2014/main" id="{020476DD-27A6-B949-7BAB-B7EDC28ED23E}"/>
              </a:ext>
            </a:extLst>
          </p:cNvPr>
          <p:cNvSpPr/>
          <p:nvPr/>
        </p:nvSpPr>
        <p:spPr>
          <a:xfrm>
            <a:off x="8001000" y="4095598"/>
            <a:ext cx="3590849" cy="2523744"/>
          </a:xfrm>
          <a:prstGeom prst="roundRect">
            <a:avLst>
              <a:gd name="adj" fmla="val 2188"/>
            </a:avLst>
          </a:prstGeom>
          <a:solidFill>
            <a:srgbClr val="FFFFFF"/>
          </a:solidFill>
          <a:ln w="12700">
            <a:solidFill>
              <a:srgbClr val="F3F4F6"/>
            </a:solidFill>
            <a:prstDash val="solid"/>
          </a:ln>
          <a:effectLst>
            <a:outerShdw blurRad="114300" dist="38100" dir="16200000" algn="bl" rotWithShape="0">
              <a:srgbClr val="000000">
                <a:alpha val="4000"/>
              </a:srgbClr>
            </a:outerShdw>
          </a:effectLst>
        </p:spPr>
        <p:txBody>
          <a:bodyPr/>
          <a:lstStyle/>
          <a:p>
            <a:endParaRPr lang="en-US"/>
          </a:p>
        </p:txBody>
      </p:sp>
      <p:sp>
        <p:nvSpPr>
          <p:cNvPr id="16" name="Shape 12">
            <a:extLst>
              <a:ext uri="{FF2B5EF4-FFF2-40B4-BE49-F238E27FC236}">
                <a16:creationId xmlns:a16="http://schemas.microsoft.com/office/drawing/2014/main" id="{1127C0E3-8A1A-1DCC-1A8D-1D4C70CB7928}"/>
              </a:ext>
            </a:extLst>
          </p:cNvPr>
          <p:cNvSpPr/>
          <p:nvPr/>
        </p:nvSpPr>
        <p:spPr>
          <a:xfrm>
            <a:off x="8001000" y="4095598"/>
            <a:ext cx="3590849" cy="38405"/>
          </a:xfrm>
          <a:prstGeom prst="roundRect">
            <a:avLst>
              <a:gd name="adj" fmla="val 143755"/>
            </a:avLst>
          </a:prstGeom>
          <a:solidFill>
            <a:srgbClr val="2A9D8F"/>
          </a:solidFill>
          <a:ln w="12700">
            <a:solidFill>
              <a:srgbClr val="2A9D8F">
                <a:alpha val="0"/>
              </a:srgbClr>
            </a:solidFill>
            <a:prstDash val="solid"/>
          </a:ln>
        </p:spPr>
        <p:txBody>
          <a:bodyPr/>
          <a:lstStyle/>
          <a:p>
            <a:endParaRPr lang="en-US"/>
          </a:p>
        </p:txBody>
      </p:sp>
      <p:sp>
        <p:nvSpPr>
          <p:cNvPr id="36" name="Text 32">
            <a:extLst>
              <a:ext uri="{FF2B5EF4-FFF2-40B4-BE49-F238E27FC236}">
                <a16:creationId xmlns:a16="http://schemas.microsoft.com/office/drawing/2014/main" id="{167190F1-E999-2077-D39E-1D1D1144962B}"/>
              </a:ext>
            </a:extLst>
          </p:cNvPr>
          <p:cNvSpPr txBox="1"/>
          <p:nvPr/>
        </p:nvSpPr>
        <p:spPr>
          <a:xfrm>
            <a:off x="5512003" y="5203749"/>
            <a:ext cx="1167689" cy="247802"/>
          </a:xfrm>
          <a:prstGeom prst="rect">
            <a:avLst/>
          </a:prstGeom>
          <a:noFill/>
          <a:ln/>
        </p:spPr>
        <p:txBody>
          <a:bodyPr wrap="none" lIns="0" tIns="0" rIns="0" bIns="0" rtlCol="0" anchor="ctr"/>
          <a:lstStyle/>
          <a:p>
            <a:pPr marL="0" indent="0" algn="ctr">
              <a:buNone/>
            </a:pPr>
            <a:r>
              <a:rPr lang="en-US" sz="1300" b="1">
                <a:solidFill>
                  <a:srgbClr val="111827"/>
                </a:solidFill>
                <a:latin typeface="Oswald" pitchFamily="34" charset="0"/>
                <a:ea typeface="Oswald" pitchFamily="34" charset="-122"/>
                <a:cs typeface="Oswald" pitchFamily="34" charset="-120"/>
              </a:rPr>
              <a:t>Deepak Desai</a:t>
            </a:r>
          </a:p>
        </p:txBody>
      </p:sp>
      <p:sp>
        <p:nvSpPr>
          <p:cNvPr id="37" name="Text 33">
            <a:extLst>
              <a:ext uri="{FF2B5EF4-FFF2-40B4-BE49-F238E27FC236}">
                <a16:creationId xmlns:a16="http://schemas.microsoft.com/office/drawing/2014/main" id="{8B384D12-7A64-640E-7F5B-8B89D4A842BE}"/>
              </a:ext>
            </a:extLst>
          </p:cNvPr>
          <p:cNvSpPr txBox="1"/>
          <p:nvPr/>
        </p:nvSpPr>
        <p:spPr>
          <a:xfrm>
            <a:off x="4998110" y="5483454"/>
            <a:ext cx="2188159" cy="133502"/>
          </a:xfrm>
          <a:prstGeom prst="rect">
            <a:avLst/>
          </a:prstGeom>
          <a:noFill/>
          <a:ln/>
        </p:spPr>
        <p:txBody>
          <a:bodyPr wrap="none" lIns="0" tIns="0" rIns="0" bIns="0" rtlCol="0" anchor="ctr"/>
          <a:lstStyle/>
          <a:p>
            <a:pPr marL="0" indent="0" algn="ctr">
              <a:buNone/>
            </a:pPr>
            <a:r>
              <a:rPr lang="en-US" sz="900" b="1" kern="0" spc="45" dirty="0">
                <a:solidFill>
                  <a:srgbClr val="D62839"/>
                </a:solidFill>
                <a:latin typeface="Roboto Condensed" pitchFamily="34" charset="0"/>
                <a:ea typeface="Roboto Condensed" pitchFamily="34" charset="-122"/>
                <a:cs typeface="Roboto Condensed" pitchFamily="34" charset="-120"/>
              </a:rPr>
              <a:t>TECHNOLOGY ADVISOR &amp; LLM SPECIALIST</a:t>
            </a:r>
          </a:p>
        </p:txBody>
      </p:sp>
      <p:sp>
        <p:nvSpPr>
          <p:cNvPr id="38" name="Text 34">
            <a:extLst>
              <a:ext uri="{FF2B5EF4-FFF2-40B4-BE49-F238E27FC236}">
                <a16:creationId xmlns:a16="http://schemas.microsoft.com/office/drawing/2014/main" id="{3D859B5E-A79A-62A8-39BA-AC8B1D8A7A5E}"/>
              </a:ext>
            </a:extLst>
          </p:cNvPr>
          <p:cNvSpPr txBox="1"/>
          <p:nvPr/>
        </p:nvSpPr>
        <p:spPr>
          <a:xfrm>
            <a:off x="4600651" y="5688076"/>
            <a:ext cx="3286354" cy="486461"/>
          </a:xfrm>
          <a:prstGeom prst="rect">
            <a:avLst/>
          </a:prstGeom>
          <a:noFill/>
          <a:ln/>
        </p:spPr>
        <p:txBody>
          <a:bodyPr wrap="square" lIns="0" tIns="0" rIns="0" bIns="0" rtlCol="0" anchor="ctr"/>
          <a:lstStyle/>
          <a:p>
            <a:pPr marL="0" indent="0" algn="ctr">
              <a:buNone/>
            </a:pPr>
            <a:r>
              <a:rPr lang="en-US" sz="900">
                <a:solidFill>
                  <a:srgbClr val="4B5563"/>
                </a:solidFill>
                <a:latin typeface="Raleway" pitchFamily="34" charset="0"/>
                <a:ea typeface="Raleway" pitchFamily="34" charset="-122"/>
                <a:cs typeface="Raleway" pitchFamily="34" charset="-120"/>
              </a:rPr>
              <a:t>Ex-IBM Senior Partner (APAC &amp; US). 30+ yrs; deep NLP, LLM &amp; GenAI </a:t>
            </a:r>
            <a:r>
              <a:rPr lang="en-US" sz="900" err="1">
                <a:solidFill>
                  <a:srgbClr val="4B5563"/>
                </a:solidFill>
                <a:latin typeface="Raleway" pitchFamily="34" charset="0"/>
                <a:ea typeface="Raleway" pitchFamily="34" charset="-122"/>
                <a:cs typeface="Raleway" pitchFamily="34" charset="-120"/>
              </a:rPr>
              <a:t>specialisation</a:t>
            </a:r>
            <a:r>
              <a:rPr lang="en-US" sz="900">
                <a:solidFill>
                  <a:srgbClr val="4B5563"/>
                </a:solidFill>
                <a:latin typeface="Raleway" pitchFamily="34" charset="0"/>
                <a:ea typeface="Raleway" pitchFamily="34" charset="-122"/>
                <a:cs typeface="Raleway" pitchFamily="34" charset="-120"/>
              </a:rPr>
              <a:t>.</a:t>
            </a:r>
          </a:p>
        </p:txBody>
      </p:sp>
      <p:sp>
        <p:nvSpPr>
          <p:cNvPr id="41" name="Text 37">
            <a:extLst>
              <a:ext uri="{FF2B5EF4-FFF2-40B4-BE49-F238E27FC236}">
                <a16:creationId xmlns:a16="http://schemas.microsoft.com/office/drawing/2014/main" id="{E9E23B86-AFDA-FBE0-A66D-169B980A5221}"/>
              </a:ext>
            </a:extLst>
          </p:cNvPr>
          <p:cNvSpPr txBox="1"/>
          <p:nvPr/>
        </p:nvSpPr>
        <p:spPr>
          <a:xfrm>
            <a:off x="9369908" y="5241849"/>
            <a:ext cx="929945" cy="247802"/>
          </a:xfrm>
          <a:prstGeom prst="rect">
            <a:avLst/>
          </a:prstGeom>
          <a:noFill/>
          <a:ln/>
        </p:spPr>
        <p:txBody>
          <a:bodyPr wrap="none" lIns="0" tIns="0" rIns="0" bIns="0" rtlCol="0" anchor="ctr"/>
          <a:lstStyle/>
          <a:p>
            <a:pPr marL="0" indent="0" algn="ctr">
              <a:buNone/>
            </a:pPr>
            <a:r>
              <a:rPr lang="en-US" sz="1300" b="1">
                <a:solidFill>
                  <a:srgbClr val="111827"/>
                </a:solidFill>
                <a:latin typeface="Oswald" pitchFamily="34" charset="0"/>
                <a:ea typeface="Oswald" pitchFamily="34" charset="-122"/>
                <a:cs typeface="Oswald" pitchFamily="34" charset="-120"/>
              </a:rPr>
              <a:t>Alok Raj</a:t>
            </a:r>
          </a:p>
        </p:txBody>
      </p:sp>
      <p:sp>
        <p:nvSpPr>
          <p:cNvPr id="42" name="Text 38">
            <a:extLst>
              <a:ext uri="{FF2B5EF4-FFF2-40B4-BE49-F238E27FC236}">
                <a16:creationId xmlns:a16="http://schemas.microsoft.com/office/drawing/2014/main" id="{EB1414D0-7C7E-984D-8097-5F5882853D37}"/>
              </a:ext>
            </a:extLst>
          </p:cNvPr>
          <p:cNvSpPr txBox="1"/>
          <p:nvPr/>
        </p:nvSpPr>
        <p:spPr>
          <a:xfrm>
            <a:off x="8857844" y="5521554"/>
            <a:ext cx="1961388" cy="133502"/>
          </a:xfrm>
          <a:prstGeom prst="rect">
            <a:avLst/>
          </a:prstGeom>
          <a:noFill/>
          <a:ln/>
        </p:spPr>
        <p:txBody>
          <a:bodyPr wrap="none" lIns="0" tIns="0" rIns="0" bIns="0" rtlCol="0" anchor="ctr"/>
          <a:lstStyle/>
          <a:p>
            <a:pPr marL="0" indent="0" algn="ctr">
              <a:buNone/>
            </a:pPr>
            <a:r>
              <a:rPr lang="en-US" sz="900" b="1" kern="0" spc="45">
                <a:solidFill>
                  <a:srgbClr val="2A9D8F"/>
                </a:solidFill>
                <a:latin typeface="Roboto Condensed" pitchFamily="34" charset="0"/>
                <a:ea typeface="Roboto Condensed" pitchFamily="34" charset="-122"/>
                <a:cs typeface="Roboto Condensed" pitchFamily="34" charset="-120"/>
              </a:rPr>
              <a:t>HEAD — TECH ASSESSMENTS &amp; AI ENGINEERING</a:t>
            </a:r>
          </a:p>
        </p:txBody>
      </p:sp>
      <p:sp>
        <p:nvSpPr>
          <p:cNvPr id="43" name="Text 39">
            <a:extLst>
              <a:ext uri="{FF2B5EF4-FFF2-40B4-BE49-F238E27FC236}">
                <a16:creationId xmlns:a16="http://schemas.microsoft.com/office/drawing/2014/main" id="{F00AEF2F-F343-5140-DAE4-D166B891E453}"/>
              </a:ext>
            </a:extLst>
          </p:cNvPr>
          <p:cNvSpPr txBox="1"/>
          <p:nvPr/>
        </p:nvSpPr>
        <p:spPr>
          <a:xfrm>
            <a:off x="8295741" y="5634075"/>
            <a:ext cx="3146959" cy="648310"/>
          </a:xfrm>
          <a:prstGeom prst="rect">
            <a:avLst/>
          </a:prstGeom>
          <a:noFill/>
          <a:ln/>
        </p:spPr>
        <p:txBody>
          <a:bodyPr wrap="square" lIns="0" tIns="0" rIns="0" bIns="0" rtlCol="0" anchor="ctr"/>
          <a:lstStyle/>
          <a:p>
            <a:pPr marL="0" indent="0" algn="ctr">
              <a:buNone/>
            </a:pPr>
            <a:r>
              <a:rPr lang="en-US" sz="900">
                <a:solidFill>
                  <a:srgbClr val="4B5563"/>
                </a:solidFill>
                <a:latin typeface="Raleway" pitchFamily="34" charset="0"/>
                <a:ea typeface="Raleway" pitchFamily="34" charset="-122"/>
                <a:cs typeface="Raleway" pitchFamily="34" charset="-120"/>
              </a:rPr>
              <a:t>Ex-Airbus. Leads technical screening, upskilling &amp; AI platform work.</a:t>
            </a:r>
          </a:p>
        </p:txBody>
      </p:sp>
      <p:sp>
        <p:nvSpPr>
          <p:cNvPr id="29" name="Shape 7">
            <a:extLst>
              <a:ext uri="{FF2B5EF4-FFF2-40B4-BE49-F238E27FC236}">
                <a16:creationId xmlns:a16="http://schemas.microsoft.com/office/drawing/2014/main" id="{E2F5F6E6-811A-BEBD-EA4F-AB0A72E09B96}"/>
              </a:ext>
            </a:extLst>
          </p:cNvPr>
          <p:cNvSpPr/>
          <p:nvPr/>
        </p:nvSpPr>
        <p:spPr>
          <a:xfrm>
            <a:off x="609905" y="1351230"/>
            <a:ext cx="3590849" cy="2523744"/>
          </a:xfrm>
          <a:prstGeom prst="roundRect">
            <a:avLst>
              <a:gd name="adj" fmla="val 2188"/>
            </a:avLst>
          </a:prstGeom>
          <a:solidFill>
            <a:srgbClr val="FFFFFF"/>
          </a:solidFill>
          <a:ln w="12700">
            <a:solidFill>
              <a:srgbClr val="F3F4F6"/>
            </a:solidFill>
            <a:prstDash val="solid"/>
          </a:ln>
          <a:effectLst>
            <a:outerShdw blurRad="114300" dist="38100" dir="16200000" algn="bl" rotWithShape="0">
              <a:srgbClr val="000000">
                <a:alpha val="4000"/>
              </a:srgbClr>
            </a:outerShdw>
          </a:effectLst>
        </p:spPr>
        <p:txBody>
          <a:bodyPr/>
          <a:lstStyle/>
          <a:p>
            <a:endParaRPr lang="en-US"/>
          </a:p>
        </p:txBody>
      </p:sp>
      <p:sp>
        <p:nvSpPr>
          <p:cNvPr id="30" name="Shape 8">
            <a:extLst>
              <a:ext uri="{FF2B5EF4-FFF2-40B4-BE49-F238E27FC236}">
                <a16:creationId xmlns:a16="http://schemas.microsoft.com/office/drawing/2014/main" id="{E8E625C5-6C60-4C0D-D5E0-531142AB8043}"/>
              </a:ext>
            </a:extLst>
          </p:cNvPr>
          <p:cNvSpPr/>
          <p:nvPr/>
        </p:nvSpPr>
        <p:spPr>
          <a:xfrm>
            <a:off x="609905" y="1351230"/>
            <a:ext cx="3590849" cy="38405"/>
          </a:xfrm>
          <a:prstGeom prst="roundRect">
            <a:avLst>
              <a:gd name="adj" fmla="val 143755"/>
            </a:avLst>
          </a:prstGeom>
          <a:solidFill>
            <a:srgbClr val="2A9D8F"/>
          </a:solidFill>
          <a:ln w="12700">
            <a:solidFill>
              <a:srgbClr val="2A9D8F">
                <a:alpha val="0"/>
              </a:srgbClr>
            </a:solidFill>
            <a:prstDash val="solid"/>
          </a:ln>
        </p:spPr>
        <p:txBody>
          <a:bodyPr/>
          <a:lstStyle/>
          <a:p>
            <a:endParaRPr lang="en-US"/>
          </a:p>
        </p:txBody>
      </p:sp>
      <p:sp>
        <p:nvSpPr>
          <p:cNvPr id="44" name="Shape 9">
            <a:extLst>
              <a:ext uri="{FF2B5EF4-FFF2-40B4-BE49-F238E27FC236}">
                <a16:creationId xmlns:a16="http://schemas.microsoft.com/office/drawing/2014/main" id="{BC0FA406-4AA6-F67C-DDFE-B58975E86601}"/>
              </a:ext>
            </a:extLst>
          </p:cNvPr>
          <p:cNvSpPr/>
          <p:nvPr/>
        </p:nvSpPr>
        <p:spPr>
          <a:xfrm>
            <a:off x="4304995" y="1351230"/>
            <a:ext cx="3590849" cy="2523744"/>
          </a:xfrm>
          <a:prstGeom prst="roundRect">
            <a:avLst>
              <a:gd name="adj" fmla="val 2188"/>
            </a:avLst>
          </a:prstGeom>
          <a:solidFill>
            <a:srgbClr val="FFFFFF"/>
          </a:solidFill>
          <a:ln w="12700">
            <a:solidFill>
              <a:srgbClr val="F3F4F6"/>
            </a:solidFill>
            <a:prstDash val="solid"/>
          </a:ln>
          <a:effectLst>
            <a:outerShdw blurRad="114300" dist="38100" dir="16200000" algn="bl" rotWithShape="0">
              <a:srgbClr val="000000">
                <a:alpha val="4000"/>
              </a:srgbClr>
            </a:outerShdw>
          </a:effectLst>
        </p:spPr>
        <p:txBody>
          <a:bodyPr/>
          <a:lstStyle/>
          <a:p>
            <a:endParaRPr lang="en-US"/>
          </a:p>
        </p:txBody>
      </p:sp>
      <p:sp>
        <p:nvSpPr>
          <p:cNvPr id="45" name="Shape 10">
            <a:extLst>
              <a:ext uri="{FF2B5EF4-FFF2-40B4-BE49-F238E27FC236}">
                <a16:creationId xmlns:a16="http://schemas.microsoft.com/office/drawing/2014/main" id="{3A05880F-C31C-8F78-1AAB-02143D86C584}"/>
              </a:ext>
            </a:extLst>
          </p:cNvPr>
          <p:cNvSpPr/>
          <p:nvPr/>
        </p:nvSpPr>
        <p:spPr>
          <a:xfrm>
            <a:off x="4304995" y="1351230"/>
            <a:ext cx="3590849" cy="38405"/>
          </a:xfrm>
          <a:prstGeom prst="roundRect">
            <a:avLst>
              <a:gd name="adj" fmla="val 143755"/>
            </a:avLst>
          </a:prstGeom>
          <a:solidFill>
            <a:srgbClr val="D62839"/>
          </a:solidFill>
          <a:ln w="12700">
            <a:solidFill>
              <a:srgbClr val="D62839">
                <a:alpha val="0"/>
              </a:srgbClr>
            </a:solidFill>
            <a:prstDash val="solid"/>
          </a:ln>
        </p:spPr>
        <p:txBody>
          <a:bodyPr/>
          <a:lstStyle/>
          <a:p>
            <a:endParaRPr lang="en-US"/>
          </a:p>
        </p:txBody>
      </p:sp>
      <p:sp>
        <p:nvSpPr>
          <p:cNvPr id="47" name="Shape 11">
            <a:extLst>
              <a:ext uri="{FF2B5EF4-FFF2-40B4-BE49-F238E27FC236}">
                <a16:creationId xmlns:a16="http://schemas.microsoft.com/office/drawing/2014/main" id="{08B807FE-1B80-6A6E-1103-88480D41A8CB}"/>
              </a:ext>
            </a:extLst>
          </p:cNvPr>
          <p:cNvSpPr/>
          <p:nvPr/>
        </p:nvSpPr>
        <p:spPr>
          <a:xfrm>
            <a:off x="8001000" y="1351230"/>
            <a:ext cx="3590849" cy="2523744"/>
          </a:xfrm>
          <a:prstGeom prst="roundRect">
            <a:avLst>
              <a:gd name="adj" fmla="val 2188"/>
            </a:avLst>
          </a:prstGeom>
          <a:solidFill>
            <a:srgbClr val="FFFFFF"/>
          </a:solidFill>
          <a:ln w="12700">
            <a:solidFill>
              <a:srgbClr val="F3F4F6"/>
            </a:solidFill>
            <a:prstDash val="solid"/>
          </a:ln>
          <a:effectLst>
            <a:outerShdw blurRad="114300" dist="38100" dir="16200000" algn="bl" rotWithShape="0">
              <a:srgbClr val="000000">
                <a:alpha val="4000"/>
              </a:srgbClr>
            </a:outerShdw>
          </a:effectLst>
        </p:spPr>
        <p:txBody>
          <a:bodyPr/>
          <a:lstStyle/>
          <a:p>
            <a:endParaRPr lang="en-US"/>
          </a:p>
        </p:txBody>
      </p:sp>
      <p:sp>
        <p:nvSpPr>
          <p:cNvPr id="50" name="Shape 12">
            <a:extLst>
              <a:ext uri="{FF2B5EF4-FFF2-40B4-BE49-F238E27FC236}">
                <a16:creationId xmlns:a16="http://schemas.microsoft.com/office/drawing/2014/main" id="{46EF62F7-B6FE-4656-C8B8-B8BB21513E63}"/>
              </a:ext>
            </a:extLst>
          </p:cNvPr>
          <p:cNvSpPr/>
          <p:nvPr/>
        </p:nvSpPr>
        <p:spPr>
          <a:xfrm>
            <a:off x="8001000" y="1351230"/>
            <a:ext cx="3590849" cy="38405"/>
          </a:xfrm>
          <a:prstGeom prst="roundRect">
            <a:avLst>
              <a:gd name="adj" fmla="val 143755"/>
            </a:avLst>
          </a:prstGeom>
          <a:solidFill>
            <a:srgbClr val="2A9D8F"/>
          </a:solidFill>
          <a:ln w="12700">
            <a:solidFill>
              <a:srgbClr val="2A9D8F">
                <a:alpha val="0"/>
              </a:srgbClr>
            </a:solidFill>
            <a:prstDash val="solid"/>
          </a:ln>
        </p:spPr>
        <p:txBody>
          <a:bodyPr/>
          <a:lstStyle/>
          <a:p>
            <a:endParaRPr lang="en-US"/>
          </a:p>
        </p:txBody>
      </p:sp>
      <p:sp>
        <p:nvSpPr>
          <p:cNvPr id="53" name="Text 27">
            <a:extLst>
              <a:ext uri="{FF2B5EF4-FFF2-40B4-BE49-F238E27FC236}">
                <a16:creationId xmlns:a16="http://schemas.microsoft.com/office/drawing/2014/main" id="{09B7B038-1011-2FD6-B6CF-97CD0771FA43}"/>
              </a:ext>
            </a:extLst>
          </p:cNvPr>
          <p:cNvSpPr txBox="1"/>
          <p:nvPr/>
        </p:nvSpPr>
        <p:spPr>
          <a:xfrm>
            <a:off x="1821485" y="2433981"/>
            <a:ext cx="1156716" cy="247802"/>
          </a:xfrm>
          <a:prstGeom prst="rect">
            <a:avLst/>
          </a:prstGeom>
          <a:noFill/>
          <a:ln/>
        </p:spPr>
        <p:txBody>
          <a:bodyPr wrap="none" lIns="0" tIns="0" rIns="0" bIns="0" rtlCol="0" anchor="ctr"/>
          <a:lstStyle/>
          <a:p>
            <a:pPr marL="0" indent="0" algn="ctr">
              <a:buNone/>
            </a:pPr>
            <a:r>
              <a:rPr lang="en-US" sz="1300" b="1">
                <a:solidFill>
                  <a:srgbClr val="111827"/>
                </a:solidFill>
                <a:latin typeface="Oswald" pitchFamily="34" charset="0"/>
                <a:ea typeface="Oswald" pitchFamily="34" charset="-122"/>
                <a:cs typeface="Oswald" pitchFamily="34" charset="-120"/>
              </a:rPr>
              <a:t>Priti Sawant</a:t>
            </a:r>
          </a:p>
        </p:txBody>
      </p:sp>
      <p:sp>
        <p:nvSpPr>
          <p:cNvPr id="54" name="Text 28">
            <a:extLst>
              <a:ext uri="{FF2B5EF4-FFF2-40B4-BE49-F238E27FC236}">
                <a16:creationId xmlns:a16="http://schemas.microsoft.com/office/drawing/2014/main" id="{7113E0F9-68A9-7E68-2727-3FBEDDAB0956}"/>
              </a:ext>
            </a:extLst>
          </p:cNvPr>
          <p:cNvSpPr txBox="1"/>
          <p:nvPr/>
        </p:nvSpPr>
        <p:spPr>
          <a:xfrm>
            <a:off x="1503274" y="2700986"/>
            <a:ext cx="1791310" cy="133502"/>
          </a:xfrm>
          <a:prstGeom prst="rect">
            <a:avLst/>
          </a:prstGeom>
          <a:noFill/>
          <a:ln/>
        </p:spPr>
        <p:txBody>
          <a:bodyPr wrap="none" lIns="0" tIns="0" rIns="0" bIns="0" rtlCol="0" anchor="ctr"/>
          <a:lstStyle/>
          <a:p>
            <a:pPr marL="0" indent="0" algn="ctr">
              <a:buNone/>
            </a:pPr>
            <a:r>
              <a:rPr lang="en-US" sz="900" b="1" kern="0" spc="45">
                <a:solidFill>
                  <a:srgbClr val="2A9D8F"/>
                </a:solidFill>
                <a:latin typeface="Roboto Condensed" pitchFamily="34" charset="0"/>
                <a:ea typeface="Roboto Condensed" pitchFamily="34" charset="-122"/>
                <a:cs typeface="Roboto Condensed" pitchFamily="34" charset="-120"/>
              </a:rPr>
              <a:t>FOUNDER &amp; CEO</a:t>
            </a:r>
          </a:p>
        </p:txBody>
      </p:sp>
      <p:sp>
        <p:nvSpPr>
          <p:cNvPr id="55" name="Text 29">
            <a:extLst>
              <a:ext uri="{FF2B5EF4-FFF2-40B4-BE49-F238E27FC236}">
                <a16:creationId xmlns:a16="http://schemas.microsoft.com/office/drawing/2014/main" id="{48BE7424-2C1C-ABB5-7637-F221420FFB43}"/>
              </a:ext>
            </a:extLst>
          </p:cNvPr>
          <p:cNvSpPr txBox="1"/>
          <p:nvPr/>
        </p:nvSpPr>
        <p:spPr>
          <a:xfrm>
            <a:off x="904646" y="2943708"/>
            <a:ext cx="3286354" cy="486461"/>
          </a:xfrm>
          <a:prstGeom prst="rect">
            <a:avLst/>
          </a:prstGeom>
          <a:noFill/>
          <a:ln/>
        </p:spPr>
        <p:txBody>
          <a:bodyPr wrap="square" lIns="0" tIns="0" rIns="0" bIns="0" rtlCol="0" anchor="ctr"/>
          <a:lstStyle/>
          <a:p>
            <a:pPr marL="0" indent="0" algn="ctr">
              <a:buNone/>
            </a:pPr>
            <a:r>
              <a:rPr lang="en-US" sz="900">
                <a:solidFill>
                  <a:srgbClr val="4B5563"/>
                </a:solidFill>
                <a:latin typeface="Raleway" pitchFamily="34" charset="0"/>
                <a:ea typeface="Raleway" pitchFamily="34" charset="-122"/>
                <a:cs typeface="Raleway" pitchFamily="34" charset="-120"/>
              </a:rPr>
              <a:t>Pioneer of India's GCC ecosystem; built &amp; </a:t>
            </a:r>
            <a:r>
              <a:rPr lang="en-US" sz="900" err="1">
                <a:solidFill>
                  <a:srgbClr val="4B5563"/>
                </a:solidFill>
                <a:latin typeface="Raleway" pitchFamily="34" charset="0"/>
                <a:ea typeface="Raleway" pitchFamily="34" charset="-122"/>
                <a:cs typeface="Raleway" pitchFamily="34" charset="-120"/>
              </a:rPr>
              <a:t>IPO'd</a:t>
            </a:r>
            <a:r>
              <a:rPr lang="en-US" sz="900">
                <a:solidFill>
                  <a:srgbClr val="4B5563"/>
                </a:solidFill>
                <a:latin typeface="Raleway" pitchFamily="34" charset="0"/>
                <a:ea typeface="Raleway" pitchFamily="34" charset="-122"/>
                <a:cs typeface="Raleway" pitchFamily="34" charset="-120"/>
              </a:rPr>
              <a:t> India's first GCC-focused model. 20+ yrs · Forbes Japan.</a:t>
            </a:r>
          </a:p>
        </p:txBody>
      </p:sp>
      <p:sp>
        <p:nvSpPr>
          <p:cNvPr id="58" name="Text 32">
            <a:extLst>
              <a:ext uri="{FF2B5EF4-FFF2-40B4-BE49-F238E27FC236}">
                <a16:creationId xmlns:a16="http://schemas.microsoft.com/office/drawing/2014/main" id="{D6A207EA-7DC5-1085-2F92-ECCBA22ABD4C}"/>
              </a:ext>
            </a:extLst>
          </p:cNvPr>
          <p:cNvSpPr txBox="1"/>
          <p:nvPr/>
        </p:nvSpPr>
        <p:spPr>
          <a:xfrm>
            <a:off x="5512003" y="2433981"/>
            <a:ext cx="1167689" cy="247802"/>
          </a:xfrm>
          <a:prstGeom prst="rect">
            <a:avLst/>
          </a:prstGeom>
          <a:noFill/>
          <a:ln/>
        </p:spPr>
        <p:txBody>
          <a:bodyPr wrap="none" lIns="0" tIns="0" rIns="0" bIns="0" rtlCol="0" anchor="ctr"/>
          <a:lstStyle/>
          <a:p>
            <a:pPr marL="0" indent="0" algn="ctr">
              <a:buNone/>
            </a:pPr>
            <a:r>
              <a:rPr lang="en-US" sz="1300" b="1">
                <a:solidFill>
                  <a:srgbClr val="111827"/>
                </a:solidFill>
                <a:latin typeface="Oswald" pitchFamily="34" charset="0"/>
                <a:ea typeface="Oswald" pitchFamily="34" charset="-122"/>
                <a:cs typeface="Oswald" pitchFamily="34" charset="-120"/>
              </a:rPr>
              <a:t>Priya Mohan</a:t>
            </a:r>
          </a:p>
        </p:txBody>
      </p:sp>
      <p:sp>
        <p:nvSpPr>
          <p:cNvPr id="59" name="Text 33">
            <a:extLst>
              <a:ext uri="{FF2B5EF4-FFF2-40B4-BE49-F238E27FC236}">
                <a16:creationId xmlns:a16="http://schemas.microsoft.com/office/drawing/2014/main" id="{A8488A79-ED28-6B95-20FA-980EF1D07CF8}"/>
              </a:ext>
            </a:extLst>
          </p:cNvPr>
          <p:cNvSpPr txBox="1"/>
          <p:nvPr/>
        </p:nvSpPr>
        <p:spPr>
          <a:xfrm>
            <a:off x="4998110" y="2700986"/>
            <a:ext cx="2188159" cy="133502"/>
          </a:xfrm>
          <a:prstGeom prst="rect">
            <a:avLst/>
          </a:prstGeom>
          <a:noFill/>
          <a:ln/>
        </p:spPr>
        <p:txBody>
          <a:bodyPr wrap="none" lIns="0" tIns="0" rIns="0" bIns="0" rtlCol="0" anchor="ctr"/>
          <a:lstStyle/>
          <a:p>
            <a:pPr marL="0" indent="0" algn="ctr">
              <a:buNone/>
            </a:pPr>
            <a:r>
              <a:rPr lang="en-US" sz="900" b="1" kern="0" spc="45">
                <a:solidFill>
                  <a:srgbClr val="D62839"/>
                </a:solidFill>
                <a:latin typeface="Roboto Condensed" pitchFamily="34" charset="0"/>
                <a:ea typeface="Roboto Condensed" pitchFamily="34" charset="-122"/>
                <a:cs typeface="Roboto Condensed" pitchFamily="34" charset="-120"/>
              </a:rPr>
              <a:t>COO</a:t>
            </a:r>
          </a:p>
        </p:txBody>
      </p:sp>
      <p:sp>
        <p:nvSpPr>
          <p:cNvPr id="60" name="Text 34">
            <a:extLst>
              <a:ext uri="{FF2B5EF4-FFF2-40B4-BE49-F238E27FC236}">
                <a16:creationId xmlns:a16="http://schemas.microsoft.com/office/drawing/2014/main" id="{B7486E20-6348-0E06-FAD5-6B07D847F523}"/>
              </a:ext>
            </a:extLst>
          </p:cNvPr>
          <p:cNvSpPr txBox="1"/>
          <p:nvPr/>
        </p:nvSpPr>
        <p:spPr>
          <a:xfrm>
            <a:off x="4600651" y="2943708"/>
            <a:ext cx="3286354" cy="486461"/>
          </a:xfrm>
          <a:prstGeom prst="rect">
            <a:avLst/>
          </a:prstGeom>
          <a:noFill/>
          <a:ln/>
        </p:spPr>
        <p:txBody>
          <a:bodyPr wrap="square" lIns="0" tIns="0" rIns="0" bIns="0" rtlCol="0" anchor="ctr"/>
          <a:lstStyle/>
          <a:p>
            <a:pPr marL="0" indent="0" algn="ctr">
              <a:buNone/>
            </a:pPr>
            <a:r>
              <a:rPr lang="en-US" sz="900">
                <a:solidFill>
                  <a:srgbClr val="4B5563"/>
                </a:solidFill>
                <a:latin typeface="Raleway" pitchFamily="34" charset="0"/>
                <a:ea typeface="Raleway" pitchFamily="34" charset="-122"/>
                <a:cs typeface="Raleway" pitchFamily="34" charset="-120"/>
              </a:rPr>
              <a:t>Ex-General Catalyst Partner &amp; Venture Highway MP. CA + ISB. Leads the full AI implementation lifecycle.</a:t>
            </a:r>
          </a:p>
        </p:txBody>
      </p:sp>
      <p:sp>
        <p:nvSpPr>
          <p:cNvPr id="70" name="Text 17">
            <a:extLst>
              <a:ext uri="{FF2B5EF4-FFF2-40B4-BE49-F238E27FC236}">
                <a16:creationId xmlns:a16="http://schemas.microsoft.com/office/drawing/2014/main" id="{1FB4B21B-03F9-D4C5-6FB9-8113E17E8C4F}"/>
              </a:ext>
            </a:extLst>
          </p:cNvPr>
          <p:cNvSpPr txBox="1"/>
          <p:nvPr/>
        </p:nvSpPr>
        <p:spPr>
          <a:xfrm>
            <a:off x="3153308" y="2381404"/>
            <a:ext cx="1133856" cy="286207"/>
          </a:xfrm>
          <a:prstGeom prst="rect">
            <a:avLst/>
          </a:prstGeom>
          <a:noFill/>
          <a:ln/>
        </p:spPr>
        <p:txBody>
          <a:bodyPr wrap="none" lIns="0" tIns="0" rIns="0" bIns="0" rtlCol="0" anchor="ctr"/>
          <a:lstStyle/>
          <a:p>
            <a:pPr marL="0" indent="0" algn="ctr">
              <a:buNone/>
            </a:pPr>
            <a:endParaRPr lang="en-US" sz="1500"/>
          </a:p>
        </p:txBody>
      </p:sp>
      <p:sp>
        <p:nvSpPr>
          <p:cNvPr id="72" name="Text 18">
            <a:extLst>
              <a:ext uri="{FF2B5EF4-FFF2-40B4-BE49-F238E27FC236}">
                <a16:creationId xmlns:a16="http://schemas.microsoft.com/office/drawing/2014/main" id="{9FDC9E99-482C-3F4A-E3D9-BB9B4D52CF45}"/>
              </a:ext>
            </a:extLst>
          </p:cNvPr>
          <p:cNvSpPr txBox="1"/>
          <p:nvPr/>
        </p:nvSpPr>
        <p:spPr>
          <a:xfrm>
            <a:off x="3113075" y="2686813"/>
            <a:ext cx="1207008" cy="143561"/>
          </a:xfrm>
          <a:prstGeom prst="rect">
            <a:avLst/>
          </a:prstGeom>
          <a:noFill/>
          <a:ln/>
        </p:spPr>
        <p:txBody>
          <a:bodyPr wrap="none" lIns="0" tIns="0" rIns="0" bIns="0" rtlCol="0" anchor="ctr"/>
          <a:lstStyle/>
          <a:p>
            <a:pPr marL="0" indent="0" algn="ctr">
              <a:buNone/>
            </a:pPr>
            <a:endParaRPr lang="en-US" sz="900"/>
          </a:p>
        </p:txBody>
      </p:sp>
      <p:pic>
        <p:nvPicPr>
          <p:cNvPr id="78" name="Image 4" descr="preencoded.png">
            <a:extLst>
              <a:ext uri="{FF2B5EF4-FFF2-40B4-BE49-F238E27FC236}">
                <a16:creationId xmlns:a16="http://schemas.microsoft.com/office/drawing/2014/main" id="{A2ED01AD-6CA0-176F-9158-B666E1FEF16C}"/>
              </a:ext>
            </a:extLst>
          </p:cNvPr>
          <p:cNvPicPr>
            <a:picLocks noChangeAspect="1"/>
          </p:cNvPicPr>
          <p:nvPr/>
        </p:nvPicPr>
        <p:blipFill>
          <a:blip r:embed="rId4"/>
          <a:srcRect b="1042"/>
          <a:stretch/>
        </p:blipFill>
        <p:spPr>
          <a:xfrm>
            <a:off x="5643956" y="1498143"/>
            <a:ext cx="857707" cy="857707"/>
          </a:xfrm>
          <a:prstGeom prst="rect">
            <a:avLst/>
          </a:prstGeom>
        </p:spPr>
      </p:pic>
      <p:pic>
        <p:nvPicPr>
          <p:cNvPr id="80" name="Image 2" descr="preencoded.png">
            <a:extLst>
              <a:ext uri="{FF2B5EF4-FFF2-40B4-BE49-F238E27FC236}">
                <a16:creationId xmlns:a16="http://schemas.microsoft.com/office/drawing/2014/main" id="{76AF17EC-A631-46EC-EE69-CA4956C54455}"/>
              </a:ext>
            </a:extLst>
          </p:cNvPr>
          <p:cNvPicPr>
            <a:picLocks noChangeAspect="1"/>
          </p:cNvPicPr>
          <p:nvPr/>
        </p:nvPicPr>
        <p:blipFill>
          <a:blip r:embed="rId5"/>
          <a:srcRect/>
          <a:stretch/>
        </p:blipFill>
        <p:spPr>
          <a:xfrm>
            <a:off x="1989100" y="1540410"/>
            <a:ext cx="783996" cy="783996"/>
          </a:xfrm>
          <a:prstGeom prst="rect">
            <a:avLst/>
          </a:prstGeom>
        </p:spPr>
      </p:pic>
      <p:sp>
        <p:nvSpPr>
          <p:cNvPr id="81" name="Text 27">
            <a:extLst>
              <a:ext uri="{FF2B5EF4-FFF2-40B4-BE49-F238E27FC236}">
                <a16:creationId xmlns:a16="http://schemas.microsoft.com/office/drawing/2014/main" id="{B381CD11-E268-2372-4D99-32B247B0C995}"/>
              </a:ext>
            </a:extLst>
          </p:cNvPr>
          <p:cNvSpPr txBox="1"/>
          <p:nvPr/>
        </p:nvSpPr>
        <p:spPr>
          <a:xfrm>
            <a:off x="9240521" y="2460703"/>
            <a:ext cx="1156716" cy="247802"/>
          </a:xfrm>
          <a:prstGeom prst="rect">
            <a:avLst/>
          </a:prstGeom>
          <a:noFill/>
          <a:ln/>
        </p:spPr>
        <p:txBody>
          <a:bodyPr wrap="none" lIns="0" tIns="0" rIns="0" bIns="0" rtlCol="0" anchor="ctr"/>
          <a:lstStyle/>
          <a:p>
            <a:pPr marL="0" indent="0" algn="ctr">
              <a:buNone/>
            </a:pPr>
            <a:r>
              <a:rPr lang="en-US" sz="1300" b="1">
                <a:solidFill>
                  <a:srgbClr val="111827"/>
                </a:solidFill>
                <a:latin typeface="Oswald" pitchFamily="34" charset="0"/>
                <a:ea typeface="Oswald" pitchFamily="34" charset="-122"/>
                <a:cs typeface="Oswald" pitchFamily="34" charset="-120"/>
              </a:rPr>
              <a:t>Vineet Shukla</a:t>
            </a:r>
            <a:endParaRPr lang="en-US" sz="1300"/>
          </a:p>
        </p:txBody>
      </p:sp>
      <p:sp>
        <p:nvSpPr>
          <p:cNvPr id="82" name="Text 28">
            <a:extLst>
              <a:ext uri="{FF2B5EF4-FFF2-40B4-BE49-F238E27FC236}">
                <a16:creationId xmlns:a16="http://schemas.microsoft.com/office/drawing/2014/main" id="{5E7655ED-600E-B7B1-5E25-9C0CD529FC89}"/>
              </a:ext>
            </a:extLst>
          </p:cNvPr>
          <p:cNvSpPr txBox="1"/>
          <p:nvPr/>
        </p:nvSpPr>
        <p:spPr>
          <a:xfrm>
            <a:off x="8923224" y="2727708"/>
            <a:ext cx="1791310" cy="133502"/>
          </a:xfrm>
          <a:prstGeom prst="rect">
            <a:avLst/>
          </a:prstGeom>
          <a:noFill/>
          <a:ln/>
        </p:spPr>
        <p:txBody>
          <a:bodyPr wrap="none" lIns="0" tIns="0" rIns="0" bIns="0" rtlCol="0" anchor="ctr"/>
          <a:lstStyle/>
          <a:p>
            <a:pPr marL="0" indent="0" algn="ctr">
              <a:buNone/>
            </a:pPr>
            <a:r>
              <a:rPr lang="en-US" sz="900" b="1" kern="0" spc="45">
                <a:solidFill>
                  <a:srgbClr val="2A9D8F"/>
                </a:solidFill>
                <a:latin typeface="Roboto Condensed" pitchFamily="34" charset="0"/>
                <a:ea typeface="Roboto Condensed" pitchFamily="34" charset="-122"/>
                <a:cs typeface="Roboto Condensed" pitchFamily="34" charset="-120"/>
              </a:rPr>
              <a:t>CHIEF TECHNOLOGY OFFICER</a:t>
            </a:r>
            <a:endParaRPr lang="en-US" sz="900"/>
          </a:p>
        </p:txBody>
      </p:sp>
      <p:sp>
        <p:nvSpPr>
          <p:cNvPr id="83" name="Text 29">
            <a:extLst>
              <a:ext uri="{FF2B5EF4-FFF2-40B4-BE49-F238E27FC236}">
                <a16:creationId xmlns:a16="http://schemas.microsoft.com/office/drawing/2014/main" id="{65C84447-29D7-83F1-7E2D-21FC86F81B79}"/>
              </a:ext>
            </a:extLst>
          </p:cNvPr>
          <p:cNvSpPr txBox="1"/>
          <p:nvPr/>
        </p:nvSpPr>
        <p:spPr>
          <a:xfrm>
            <a:off x="8324596" y="2970430"/>
            <a:ext cx="3286354" cy="486461"/>
          </a:xfrm>
          <a:prstGeom prst="rect">
            <a:avLst/>
          </a:prstGeom>
          <a:noFill/>
          <a:ln/>
        </p:spPr>
        <p:txBody>
          <a:bodyPr wrap="square" lIns="0" tIns="0" rIns="0" bIns="0" rtlCol="0" anchor="ctr"/>
          <a:lstStyle/>
          <a:p>
            <a:pPr marL="0" indent="0" algn="ctr">
              <a:buNone/>
            </a:pPr>
            <a:r>
              <a:rPr lang="en-US" sz="900">
                <a:solidFill>
                  <a:srgbClr val="4B5563"/>
                </a:solidFill>
                <a:latin typeface="Raleway" pitchFamily="34" charset="0"/>
                <a:ea typeface="Raleway" pitchFamily="34" charset="-122"/>
                <a:cs typeface="Raleway" pitchFamily="34" charset="-120"/>
              </a:rPr>
              <a:t>20+ yrs scaling AI/ML at enterprise scale; built UnitedHealth Group's AI/ML practice ground-up.</a:t>
            </a:r>
          </a:p>
        </p:txBody>
      </p:sp>
      <p:pic>
        <p:nvPicPr>
          <p:cNvPr id="84" name="Picture 83">
            <a:extLst>
              <a:ext uri="{FF2B5EF4-FFF2-40B4-BE49-F238E27FC236}">
                <a16:creationId xmlns:a16="http://schemas.microsoft.com/office/drawing/2014/main" id="{51689ACD-6133-3D2C-FB65-00805A1BA9B9}"/>
              </a:ext>
            </a:extLst>
          </p:cNvPr>
          <p:cNvPicPr>
            <a:picLocks noChangeAspect="1"/>
          </p:cNvPicPr>
          <p:nvPr/>
        </p:nvPicPr>
        <p:blipFill>
          <a:blip r:embed="rId6"/>
          <a:stretch>
            <a:fillRect/>
          </a:stretch>
        </p:blipFill>
        <p:spPr>
          <a:xfrm>
            <a:off x="9369908" y="1565302"/>
            <a:ext cx="797305" cy="797305"/>
          </a:xfrm>
          <a:prstGeom prst="ellipse">
            <a:avLst/>
          </a:prstGeom>
          <a:ln>
            <a:solidFill>
              <a:schemeClr val="bg2">
                <a:lumMod val="50000"/>
              </a:schemeClr>
            </a:solidFill>
          </a:ln>
        </p:spPr>
      </p:pic>
      <p:sp>
        <p:nvSpPr>
          <p:cNvPr id="85" name="Text 32">
            <a:extLst>
              <a:ext uri="{FF2B5EF4-FFF2-40B4-BE49-F238E27FC236}">
                <a16:creationId xmlns:a16="http://schemas.microsoft.com/office/drawing/2014/main" id="{3D99FB26-2BB6-A39C-43E5-EBC5369FDE30}"/>
              </a:ext>
            </a:extLst>
          </p:cNvPr>
          <p:cNvSpPr txBox="1"/>
          <p:nvPr/>
        </p:nvSpPr>
        <p:spPr>
          <a:xfrm>
            <a:off x="1661923" y="5203228"/>
            <a:ext cx="1167689" cy="247802"/>
          </a:xfrm>
          <a:prstGeom prst="rect">
            <a:avLst/>
          </a:prstGeom>
          <a:noFill/>
          <a:ln/>
        </p:spPr>
        <p:txBody>
          <a:bodyPr wrap="none" lIns="0" tIns="0" rIns="0" bIns="0" rtlCol="0" anchor="ctr"/>
          <a:lstStyle/>
          <a:p>
            <a:pPr marL="0" indent="0" algn="ctr">
              <a:buNone/>
            </a:pPr>
            <a:r>
              <a:rPr lang="en-US" sz="1300" b="1">
                <a:solidFill>
                  <a:srgbClr val="111827"/>
                </a:solidFill>
                <a:latin typeface="Oswald" pitchFamily="34" charset="0"/>
                <a:ea typeface="Oswald" pitchFamily="34" charset="-122"/>
                <a:cs typeface="Oswald" pitchFamily="34" charset="-120"/>
              </a:rPr>
              <a:t>Daniel Dsouza</a:t>
            </a:r>
            <a:endParaRPr lang="en-US" sz="1300"/>
          </a:p>
        </p:txBody>
      </p:sp>
      <p:sp>
        <p:nvSpPr>
          <p:cNvPr id="86" name="Text 33">
            <a:extLst>
              <a:ext uri="{FF2B5EF4-FFF2-40B4-BE49-F238E27FC236}">
                <a16:creationId xmlns:a16="http://schemas.microsoft.com/office/drawing/2014/main" id="{D659C513-FD23-4690-80EB-2002DECA9008}"/>
              </a:ext>
            </a:extLst>
          </p:cNvPr>
          <p:cNvSpPr txBox="1"/>
          <p:nvPr/>
        </p:nvSpPr>
        <p:spPr>
          <a:xfrm>
            <a:off x="1148030" y="5470233"/>
            <a:ext cx="2188159" cy="133502"/>
          </a:xfrm>
          <a:prstGeom prst="rect">
            <a:avLst/>
          </a:prstGeom>
          <a:noFill/>
          <a:ln/>
        </p:spPr>
        <p:txBody>
          <a:bodyPr wrap="none" lIns="0" tIns="0" rIns="0" bIns="0" rtlCol="0" anchor="ctr"/>
          <a:lstStyle/>
          <a:p>
            <a:pPr marL="0" indent="0" algn="ctr">
              <a:buNone/>
            </a:pPr>
            <a:r>
              <a:rPr lang="en-US" sz="900" b="1" kern="0" spc="45">
                <a:solidFill>
                  <a:srgbClr val="2A9D8F"/>
                </a:solidFill>
                <a:latin typeface="Roboto Condensed" pitchFamily="34" charset="0"/>
                <a:ea typeface="Roboto Condensed" pitchFamily="34" charset="-122"/>
                <a:cs typeface="Roboto Condensed" pitchFamily="34" charset="-120"/>
              </a:rPr>
              <a:t>HEAD OF ARTIFICIAL INTELLIGENCE</a:t>
            </a:r>
            <a:endParaRPr lang="en-US" sz="900">
              <a:solidFill>
                <a:srgbClr val="2A9D8F"/>
              </a:solidFill>
            </a:endParaRPr>
          </a:p>
        </p:txBody>
      </p:sp>
      <p:sp>
        <p:nvSpPr>
          <p:cNvPr id="87" name="Text 34">
            <a:extLst>
              <a:ext uri="{FF2B5EF4-FFF2-40B4-BE49-F238E27FC236}">
                <a16:creationId xmlns:a16="http://schemas.microsoft.com/office/drawing/2014/main" id="{79B11D3C-42A6-79D9-601B-161AC7C56371}"/>
              </a:ext>
            </a:extLst>
          </p:cNvPr>
          <p:cNvSpPr txBox="1"/>
          <p:nvPr/>
        </p:nvSpPr>
        <p:spPr>
          <a:xfrm>
            <a:off x="750571" y="5712955"/>
            <a:ext cx="3286354" cy="486461"/>
          </a:xfrm>
          <a:prstGeom prst="rect">
            <a:avLst/>
          </a:prstGeom>
          <a:noFill/>
          <a:ln/>
        </p:spPr>
        <p:txBody>
          <a:bodyPr wrap="square" lIns="0" tIns="0" rIns="0" bIns="0" rtlCol="0" anchor="ctr"/>
          <a:lstStyle/>
          <a:p>
            <a:pPr marL="0" indent="0" algn="ctr">
              <a:buNone/>
            </a:pPr>
            <a:r>
              <a:rPr lang="en-US" sz="900">
                <a:solidFill>
                  <a:srgbClr val="4B5563"/>
                </a:solidFill>
                <a:latin typeface="Raleway" pitchFamily="34" charset="0"/>
                <a:ea typeface="Raleway" pitchFamily="34" charset="-122"/>
                <a:cs typeface="Raleway" pitchFamily="34" charset="-120"/>
              </a:rPr>
              <a:t>Enterprise AI strategy &amp; LLM deployment. Owns GCC AI accelerators. INSEAD.</a:t>
            </a:r>
          </a:p>
        </p:txBody>
      </p:sp>
      <p:pic>
        <p:nvPicPr>
          <p:cNvPr id="88" name="Picture 87">
            <a:extLst>
              <a:ext uri="{FF2B5EF4-FFF2-40B4-BE49-F238E27FC236}">
                <a16:creationId xmlns:a16="http://schemas.microsoft.com/office/drawing/2014/main" id="{8A886F30-D801-727B-D49A-08BE134763BC}"/>
              </a:ext>
            </a:extLst>
          </p:cNvPr>
          <p:cNvPicPr>
            <a:picLocks noChangeAspect="1"/>
          </p:cNvPicPr>
          <p:nvPr/>
        </p:nvPicPr>
        <p:blipFill>
          <a:blip r:embed="rId7"/>
          <a:stretch>
            <a:fillRect/>
          </a:stretch>
        </p:blipFill>
        <p:spPr>
          <a:xfrm>
            <a:off x="1860348" y="4336237"/>
            <a:ext cx="791235" cy="791235"/>
          </a:xfrm>
          <a:prstGeom prst="ellipse">
            <a:avLst/>
          </a:prstGeom>
          <a:ln>
            <a:solidFill>
              <a:schemeClr val="bg2">
                <a:lumMod val="75000"/>
              </a:schemeClr>
            </a:solidFill>
          </a:ln>
        </p:spPr>
      </p:pic>
      <p:pic>
        <p:nvPicPr>
          <p:cNvPr id="89" name="Picture 88">
            <a:extLst>
              <a:ext uri="{FF2B5EF4-FFF2-40B4-BE49-F238E27FC236}">
                <a16:creationId xmlns:a16="http://schemas.microsoft.com/office/drawing/2014/main" id="{7FE7B978-BC8D-A9AE-DDD9-3536B965D593}"/>
              </a:ext>
            </a:extLst>
          </p:cNvPr>
          <p:cNvPicPr>
            <a:picLocks noChangeAspect="1"/>
          </p:cNvPicPr>
          <p:nvPr/>
        </p:nvPicPr>
        <p:blipFill>
          <a:blip r:embed="rId8"/>
          <a:stretch>
            <a:fillRect/>
          </a:stretch>
        </p:blipFill>
        <p:spPr>
          <a:xfrm>
            <a:off x="9496742" y="4308997"/>
            <a:ext cx="834910" cy="834910"/>
          </a:xfrm>
          <a:prstGeom prst="ellipse">
            <a:avLst/>
          </a:prstGeom>
          <a:ln>
            <a:solidFill>
              <a:schemeClr val="bg2">
                <a:lumMod val="75000"/>
              </a:schemeClr>
            </a:solidFill>
          </a:ln>
        </p:spPr>
      </p:pic>
      <p:pic>
        <p:nvPicPr>
          <p:cNvPr id="90" name="Picture 89">
            <a:extLst>
              <a:ext uri="{FF2B5EF4-FFF2-40B4-BE49-F238E27FC236}">
                <a16:creationId xmlns:a16="http://schemas.microsoft.com/office/drawing/2014/main" id="{B07CD8E2-0147-7DFF-D0E3-F8BDD9DC4480}"/>
              </a:ext>
            </a:extLst>
          </p:cNvPr>
          <p:cNvPicPr>
            <a:picLocks noChangeAspect="1"/>
          </p:cNvPicPr>
          <p:nvPr/>
        </p:nvPicPr>
        <p:blipFill>
          <a:blip r:embed="rId9"/>
          <a:stretch>
            <a:fillRect/>
          </a:stretch>
        </p:blipFill>
        <p:spPr>
          <a:xfrm>
            <a:off x="5693619" y="4336236"/>
            <a:ext cx="835609" cy="835609"/>
          </a:xfrm>
          <a:prstGeom prst="ellipse">
            <a:avLst/>
          </a:prstGeom>
          <a:ln>
            <a:solidFill>
              <a:schemeClr val="bg2">
                <a:lumMod val="75000"/>
              </a:schemeClr>
            </a:solidFill>
          </a:ln>
        </p:spPr>
      </p:pic>
      <p:pic>
        <p:nvPicPr>
          <p:cNvPr id="8" name="Image 1" descr="gen-dedup-323228122ff92d2332e711a84ca3b40c.png">
            <a:extLst>
              <a:ext uri="{FF2B5EF4-FFF2-40B4-BE49-F238E27FC236}">
                <a16:creationId xmlns:a16="http://schemas.microsoft.com/office/drawing/2014/main" id="{5C976BEA-9A4F-7876-AC6B-763B50A4AEB3}"/>
              </a:ext>
            </a:extLst>
          </p:cNvPr>
          <p:cNvPicPr>
            <a:picLocks noChangeAspect="1"/>
          </p:cNvPicPr>
          <p:nvPr/>
        </p:nvPicPr>
        <p:blipFill>
          <a:blip r:embed="rId10"/>
          <a:srcRect l="-198" r="-198"/>
          <a:stretch/>
        </p:blipFill>
        <p:spPr>
          <a:xfrm>
            <a:off x="0" y="0"/>
            <a:ext cx="8124444" cy="75895"/>
          </a:xfrm>
          <a:prstGeom prst="rect">
            <a:avLst/>
          </a:prstGeom>
        </p:spPr>
      </p:pic>
      <p:pic>
        <p:nvPicPr>
          <p:cNvPr id="10" name="Image 2" descr="gen-dedup-9663ecf744b06e35d4c2cebaab92a2ea.png">
            <a:extLst>
              <a:ext uri="{FF2B5EF4-FFF2-40B4-BE49-F238E27FC236}">
                <a16:creationId xmlns:a16="http://schemas.microsoft.com/office/drawing/2014/main" id="{49EE9C84-13EC-687D-2F89-ECCD1F4C8BE5}"/>
              </a:ext>
            </a:extLst>
          </p:cNvPr>
          <p:cNvPicPr>
            <a:picLocks noChangeAspect="1"/>
          </p:cNvPicPr>
          <p:nvPr/>
        </p:nvPicPr>
        <p:blipFill>
          <a:blip r:embed="rId11"/>
          <a:srcRect l="-202" r="-202"/>
          <a:stretch/>
        </p:blipFill>
        <p:spPr>
          <a:xfrm>
            <a:off x="8124444" y="0"/>
            <a:ext cx="4067251" cy="75895"/>
          </a:xfrm>
          <a:prstGeom prst="rect">
            <a:avLst/>
          </a:prstGeom>
        </p:spPr>
      </p:pic>
      <p:sp>
        <p:nvSpPr>
          <p:cNvPr id="20" name="Shape 2">
            <a:extLst>
              <a:ext uri="{FF2B5EF4-FFF2-40B4-BE49-F238E27FC236}">
                <a16:creationId xmlns:a16="http://schemas.microsoft.com/office/drawing/2014/main" id="{AC7A837D-5F99-77AA-E2C6-208BCD92CD33}"/>
              </a:ext>
            </a:extLst>
          </p:cNvPr>
          <p:cNvSpPr/>
          <p:nvPr/>
        </p:nvSpPr>
        <p:spPr>
          <a:xfrm>
            <a:off x="8953805" y="-571500"/>
            <a:ext cx="3810305" cy="3810305"/>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22" name="Image 3" descr="gen-dedup-777bf757d895431cabe402fcd34ebd5a.png">
            <a:extLst>
              <a:ext uri="{FF2B5EF4-FFF2-40B4-BE49-F238E27FC236}">
                <a16:creationId xmlns:a16="http://schemas.microsoft.com/office/drawing/2014/main" id="{9C953A3D-6F50-F087-829B-935B1457A599}"/>
              </a:ext>
            </a:extLst>
          </p:cNvPr>
          <p:cNvPicPr>
            <a:picLocks noChangeAspect="1"/>
          </p:cNvPicPr>
          <p:nvPr/>
        </p:nvPicPr>
        <p:blipFill>
          <a:blip r:embed="rId12">
            <a:biLevel thresh="75000"/>
          </a:blip>
          <a:srcRect l="-384" r="-384"/>
          <a:stretch/>
        </p:blipFill>
        <p:spPr>
          <a:xfrm>
            <a:off x="571500" y="381305"/>
            <a:ext cx="57607" cy="476402"/>
          </a:xfrm>
          <a:prstGeom prst="rect">
            <a:avLst/>
          </a:prstGeom>
        </p:spPr>
      </p:pic>
      <p:sp>
        <p:nvSpPr>
          <p:cNvPr id="24" name="Text 5">
            <a:extLst>
              <a:ext uri="{FF2B5EF4-FFF2-40B4-BE49-F238E27FC236}">
                <a16:creationId xmlns:a16="http://schemas.microsoft.com/office/drawing/2014/main" id="{4FF5262B-6E79-5598-69F4-370249C17112}"/>
              </a:ext>
            </a:extLst>
          </p:cNvPr>
          <p:cNvSpPr txBox="1"/>
          <p:nvPr/>
        </p:nvSpPr>
        <p:spPr>
          <a:xfrm>
            <a:off x="780897" y="333756"/>
            <a:ext cx="5913817" cy="406908"/>
          </a:xfrm>
          <a:prstGeom prst="rect">
            <a:avLst/>
          </a:prstGeom>
          <a:noFill/>
          <a:ln/>
        </p:spPr>
        <p:txBody>
          <a:bodyPr wrap="none" lIns="0" tIns="0" rIns="0" bIns="0" rtlCol="0" anchor="ctr"/>
          <a:lstStyle/>
          <a:p>
            <a:r>
              <a:rPr lang="en-US" sz="2400" b="1" kern="0" spc="-67" dirty="0">
                <a:solidFill>
                  <a:srgbClr val="111827"/>
                </a:solidFill>
                <a:latin typeface="Oswald" pitchFamily="34" charset="0"/>
                <a:ea typeface="Oswald" pitchFamily="34" charset="-122"/>
                <a:cs typeface="Oswald" pitchFamily="34" charset="-120"/>
              </a:rPr>
              <a:t>THE J2W SQUAD</a:t>
            </a:r>
          </a:p>
        </p:txBody>
      </p:sp>
      <p:sp>
        <p:nvSpPr>
          <p:cNvPr id="26" name="Text 6">
            <a:extLst>
              <a:ext uri="{FF2B5EF4-FFF2-40B4-BE49-F238E27FC236}">
                <a16:creationId xmlns:a16="http://schemas.microsoft.com/office/drawing/2014/main" id="{2457F82D-03E8-E190-DDC1-2522816B7F2F}"/>
              </a:ext>
            </a:extLst>
          </p:cNvPr>
          <p:cNvSpPr txBox="1"/>
          <p:nvPr/>
        </p:nvSpPr>
        <p:spPr>
          <a:xfrm>
            <a:off x="780898" y="849172"/>
            <a:ext cx="5054803" cy="257861"/>
          </a:xfrm>
          <a:prstGeom prst="rect">
            <a:avLst/>
          </a:prstGeom>
          <a:noFill/>
          <a:ln/>
        </p:spPr>
        <p:txBody>
          <a:bodyPr wrap="none" lIns="0" tIns="0" rIns="0" bIns="0" rtlCol="0" anchor="ctr"/>
          <a:lstStyle/>
          <a:p>
            <a:pPr marL="0" indent="0" algn="l">
              <a:buNone/>
            </a:pPr>
            <a:r>
              <a:rPr lang="en-GB" sz="1500" b="1" kern="0" spc="66" dirty="0">
                <a:solidFill>
                  <a:srgbClr val="2A9D8F"/>
                </a:solidFill>
                <a:latin typeface="Roboto Condensed" pitchFamily="34" charset="0"/>
                <a:ea typeface="Roboto Condensed" pitchFamily="34" charset="-122"/>
                <a:cs typeface="Roboto Condensed" pitchFamily="34" charset="-120"/>
              </a:rPr>
              <a:t>Senior Leadership That Architects Every GCC We Build — From Category-creating Founders To Deep LLM And Aerospace </a:t>
            </a:r>
          </a:p>
          <a:p>
            <a:pPr marL="0" indent="0" algn="l">
              <a:buNone/>
            </a:pPr>
            <a:r>
              <a:rPr lang="en-GB" sz="1500" b="1" kern="0" spc="66" dirty="0">
                <a:solidFill>
                  <a:srgbClr val="2A9D8F"/>
                </a:solidFill>
                <a:latin typeface="Roboto Condensed" pitchFamily="34" charset="0"/>
                <a:ea typeface="Roboto Condensed" pitchFamily="34" charset="-122"/>
                <a:cs typeface="Roboto Condensed" pitchFamily="34" charset="-120"/>
              </a:rPr>
              <a:t>Engineering Pedigree.</a:t>
            </a:r>
          </a:p>
        </p:txBody>
      </p:sp>
    </p:spTree>
    <p:extLst>
      <p:ext uri="{BB962C8B-B14F-4D97-AF65-F5344CB8AC3E}">
        <p14:creationId xmlns:p14="http://schemas.microsoft.com/office/powerpoint/2010/main" val="40084638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pic>
        <p:nvPicPr>
          <p:cNvPr id="4" name="Image 0" descr="gen-dedup-cad3a534ee2971c6a497c9faf59fb5cd.png"/>
          <p:cNvPicPr>
            <a:picLocks noChangeAspect="1"/>
          </p:cNvPicPr>
          <p:nvPr/>
        </p:nvPicPr>
        <p:blipFill>
          <a:blip r:embed="rId3"/>
          <a:srcRect l="-202" r="-202"/>
          <a:stretch/>
        </p:blipFill>
        <p:spPr>
          <a:xfrm>
            <a:off x="0" y="0"/>
            <a:ext cx="8128102" cy="75895"/>
          </a:xfrm>
          <a:prstGeom prst="rect">
            <a:avLst/>
          </a:prstGeom>
        </p:spPr>
      </p:pic>
      <p:pic>
        <p:nvPicPr>
          <p:cNvPr id="5" name="Image 1" descr="gen-dedup-64882feb7a832238af77b962fc7a8538.png"/>
          <p:cNvPicPr>
            <a:picLocks noChangeAspect="1"/>
          </p:cNvPicPr>
          <p:nvPr/>
        </p:nvPicPr>
        <p:blipFill>
          <a:blip r:embed="rId4"/>
          <a:srcRect l="-197" r="-197"/>
          <a:stretch/>
        </p:blipFill>
        <p:spPr>
          <a:xfrm>
            <a:off x="8128102" y="0"/>
            <a:ext cx="4063594" cy="75895"/>
          </a:xfrm>
          <a:prstGeom prst="rect">
            <a:avLst/>
          </a:prstGeom>
        </p:spPr>
      </p:pic>
      <p:sp>
        <p:nvSpPr>
          <p:cNvPr id="6" name="Shape 2"/>
          <p:cNvSpPr/>
          <p:nvPr/>
        </p:nvSpPr>
        <p:spPr>
          <a:xfrm>
            <a:off x="9905695" y="-571500"/>
            <a:ext cx="2857500" cy="2857500"/>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7" name="Image 2" descr="gen-dedup-6da70c599291e253314366a10c094ffa.png"/>
          <p:cNvPicPr>
            <a:picLocks noChangeAspect="1"/>
          </p:cNvPicPr>
          <p:nvPr/>
        </p:nvPicPr>
        <p:blipFill>
          <a:blip r:embed="rId5">
            <a:alphaModFix amt="15000"/>
          </a:blip>
          <a:srcRect/>
          <a:stretch/>
        </p:blipFill>
        <p:spPr>
          <a:xfrm>
            <a:off x="381305" y="1143000"/>
            <a:ext cx="1429207" cy="1429207"/>
          </a:xfrm>
          <a:prstGeom prst="rect">
            <a:avLst/>
          </a:prstGeom>
        </p:spPr>
      </p:pic>
      <p:sp>
        <p:nvSpPr>
          <p:cNvPr id="11" name="Shape 5"/>
          <p:cNvSpPr/>
          <p:nvPr/>
        </p:nvSpPr>
        <p:spPr>
          <a:xfrm>
            <a:off x="609905" y="1524305"/>
            <a:ext cx="3333902" cy="4952390"/>
          </a:xfrm>
          <a:prstGeom prst="roundRect">
            <a:avLst>
              <a:gd name="adj" fmla="val 1254"/>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endParaRPr lang="en-US"/>
          </a:p>
        </p:txBody>
      </p:sp>
      <p:sp>
        <p:nvSpPr>
          <p:cNvPr id="12" name="Shape 6"/>
          <p:cNvSpPr/>
          <p:nvPr/>
        </p:nvSpPr>
        <p:spPr>
          <a:xfrm>
            <a:off x="619049" y="1533449"/>
            <a:ext cx="3314700" cy="1047902"/>
          </a:xfrm>
          <a:prstGeom prst="rect">
            <a:avLst/>
          </a:prstGeom>
          <a:solidFill>
            <a:srgbClr val="2A9D8F"/>
          </a:solidFill>
          <a:ln w="12700">
            <a:solidFill>
              <a:srgbClr val="FFFFFF">
                <a:alpha val="0"/>
              </a:srgbClr>
            </a:solidFill>
            <a:prstDash val="solid"/>
          </a:ln>
        </p:spPr>
        <p:txBody>
          <a:bodyPr/>
          <a:lstStyle/>
          <a:p>
            <a:endParaRPr lang="en-US"/>
          </a:p>
        </p:txBody>
      </p:sp>
      <p:sp>
        <p:nvSpPr>
          <p:cNvPr id="13" name="Text 7"/>
          <p:cNvSpPr txBox="1"/>
          <p:nvPr/>
        </p:nvSpPr>
        <p:spPr>
          <a:xfrm>
            <a:off x="1411834" y="2033626"/>
            <a:ext cx="1734617" cy="238658"/>
          </a:xfrm>
          <a:prstGeom prst="rect">
            <a:avLst/>
          </a:prstGeom>
          <a:noFill/>
          <a:ln/>
        </p:spPr>
        <p:txBody>
          <a:bodyPr wrap="none" lIns="0" tIns="0" rIns="0" bIns="0" rtlCol="0" anchor="ctr"/>
          <a:lstStyle/>
          <a:p>
            <a:pPr marL="0" indent="0" algn="ctr">
              <a:buNone/>
            </a:pPr>
            <a:r>
              <a:rPr lang="en-US" sz="1500" b="1">
                <a:solidFill>
                  <a:srgbClr val="FFFFFF"/>
                </a:solidFill>
                <a:latin typeface="Oswald" pitchFamily="34" charset="0"/>
                <a:ea typeface="Oswald" pitchFamily="34" charset="-122"/>
                <a:cs typeface="Oswald" pitchFamily="34" charset="-120"/>
              </a:rPr>
              <a:t>Workforce Solutions</a:t>
            </a:r>
            <a:endParaRPr lang="en-US" sz="1500"/>
          </a:p>
        </p:txBody>
      </p:sp>
      <p:sp>
        <p:nvSpPr>
          <p:cNvPr id="14" name="Text 8"/>
          <p:cNvSpPr txBox="1"/>
          <p:nvPr/>
        </p:nvSpPr>
        <p:spPr>
          <a:xfrm>
            <a:off x="819302" y="2691079"/>
            <a:ext cx="2934310" cy="3001061"/>
          </a:xfrm>
          <a:prstGeom prst="rect">
            <a:avLst/>
          </a:prstGeom>
          <a:noFill/>
          <a:ln/>
        </p:spPr>
        <p:txBody>
          <a:bodyPr wrap="square" lIns="0" tIns="0" rIns="0" bIns="0" rtlCol="0" anchor="ctr"/>
          <a:lstStyle/>
          <a:p>
            <a:pPr marL="171450" indent="-171450" algn="l">
              <a:buFont typeface="Arial" panose="020B0604020202020204" pitchFamily="34" charset="0"/>
              <a:buChar char="•"/>
            </a:pPr>
            <a:r>
              <a:rPr lang="en-US" sz="1400">
                <a:solidFill>
                  <a:srgbClr val="4B5563"/>
                </a:solidFill>
                <a:latin typeface="Raleway" pitchFamily="34" charset="0"/>
                <a:ea typeface="Raleway" pitchFamily="34" charset="-122"/>
                <a:cs typeface="Raleway" pitchFamily="34" charset="-120"/>
              </a:rPr>
              <a:t>Domain-deep engineers - not generic coders</a:t>
            </a:r>
          </a:p>
          <a:p>
            <a:pPr algn="l"/>
            <a:endParaRPr lang="en-US" sz="140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a:solidFill>
                  <a:srgbClr val="4B5563"/>
                </a:solidFill>
                <a:latin typeface="Raleway" pitchFamily="34" charset="0"/>
                <a:ea typeface="Raleway" pitchFamily="34" charset="-122"/>
                <a:cs typeface="Raleway" pitchFamily="34" charset="-120"/>
              </a:rPr>
              <a:t>Verticals: IT and Cloud Computing · BFSI · more </a:t>
            </a:r>
          </a:p>
          <a:p>
            <a:pPr algn="l"/>
            <a:endParaRPr lang="en-US" sz="140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a:solidFill>
                  <a:srgbClr val="4B5563"/>
                </a:solidFill>
                <a:latin typeface="Raleway" pitchFamily="34" charset="0"/>
                <a:ea typeface="Raleway" pitchFamily="34" charset="-122"/>
                <a:cs typeface="Raleway" pitchFamily="34" charset="-120"/>
              </a:rPr>
              <a:t>Deployed in 10 days or less </a:t>
            </a:r>
          </a:p>
          <a:p>
            <a:pPr marL="171450" indent="-171450" algn="l">
              <a:buFont typeface="Arial" panose="020B0604020202020204" pitchFamily="34" charset="0"/>
              <a:buChar char="•"/>
            </a:pPr>
            <a:endParaRPr lang="en-US" sz="140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a:solidFill>
                  <a:srgbClr val="4B5563"/>
                </a:solidFill>
                <a:latin typeface="Raleway" pitchFamily="34" charset="0"/>
                <a:ea typeface="Raleway" pitchFamily="34" charset="-122"/>
                <a:cs typeface="Raleway" pitchFamily="34" charset="-120"/>
              </a:rPr>
              <a:t>Pod governance + sprint accountability</a:t>
            </a:r>
          </a:p>
          <a:p>
            <a:pPr algn="l"/>
            <a:endParaRPr lang="en-US" sz="140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a:solidFill>
                  <a:srgbClr val="4B5563"/>
                </a:solidFill>
                <a:latin typeface="Raleway" pitchFamily="34" charset="0"/>
                <a:ea typeface="Raleway" pitchFamily="34" charset="-122"/>
                <a:cs typeface="Raleway" pitchFamily="34" charset="-120"/>
              </a:rPr>
              <a:t>Contract-to-hire flexibility</a:t>
            </a:r>
            <a:endParaRPr lang="en-US" sz="1400"/>
          </a:p>
        </p:txBody>
      </p:sp>
      <p:sp>
        <p:nvSpPr>
          <p:cNvPr id="21" name="Text 15"/>
          <p:cNvSpPr txBox="1"/>
          <p:nvPr/>
        </p:nvSpPr>
        <p:spPr>
          <a:xfrm>
            <a:off x="2116836" y="1652321"/>
            <a:ext cx="329184" cy="342900"/>
          </a:xfrm>
          <a:prstGeom prst="rect">
            <a:avLst/>
          </a:prstGeom>
          <a:noFill/>
          <a:ln/>
        </p:spPr>
        <p:txBody>
          <a:bodyPr wrap="none" lIns="0" tIns="0" rIns="0" bIns="0" rtlCol="0" anchor="ctr"/>
          <a:lstStyle/>
          <a:p>
            <a:pPr marL="0" indent="0" algn="ctr">
              <a:buNone/>
            </a:pPr>
            <a:r>
              <a:rPr lang="en-US" sz="2200" b="1">
                <a:solidFill>
                  <a:srgbClr val="FFFFFF">
                    <a:alpha val="90000"/>
                  </a:srgbClr>
                </a:solidFill>
                <a:latin typeface="Oswald" pitchFamily="34" charset="0"/>
                <a:ea typeface="Oswald" pitchFamily="34" charset="-122"/>
                <a:cs typeface="Oswald" pitchFamily="34" charset="-120"/>
              </a:rPr>
              <a:t>01</a:t>
            </a:r>
            <a:endParaRPr lang="en-US" sz="2200"/>
          </a:p>
        </p:txBody>
      </p:sp>
      <p:sp>
        <p:nvSpPr>
          <p:cNvPr id="22" name="Text 16"/>
          <p:cNvSpPr txBox="1"/>
          <p:nvPr/>
        </p:nvSpPr>
        <p:spPr>
          <a:xfrm>
            <a:off x="1570025" y="2309774"/>
            <a:ext cx="1420978" cy="152705"/>
          </a:xfrm>
          <a:prstGeom prst="rect">
            <a:avLst/>
          </a:prstGeom>
          <a:noFill/>
          <a:ln/>
        </p:spPr>
        <p:txBody>
          <a:bodyPr wrap="none" lIns="0" tIns="0" rIns="0" bIns="0" rtlCol="0" anchor="ctr"/>
          <a:lstStyle/>
          <a:p>
            <a:pPr marL="0" indent="0" algn="ctr">
              <a:buNone/>
            </a:pPr>
            <a:r>
              <a:rPr lang="en-US" sz="900" kern="0" spc="45">
                <a:solidFill>
                  <a:srgbClr val="FFFFFF">
                    <a:alpha val="90000"/>
                  </a:srgbClr>
                </a:solidFill>
                <a:latin typeface="Roboto Condensed" pitchFamily="34" charset="0"/>
                <a:ea typeface="Roboto Condensed" pitchFamily="34" charset="-122"/>
                <a:cs typeface="Roboto Condensed" pitchFamily="34" charset="-120"/>
              </a:rPr>
              <a:t>The Volume Engine</a:t>
            </a:r>
            <a:endParaRPr lang="en-US" sz="900"/>
          </a:p>
        </p:txBody>
      </p:sp>
      <p:sp>
        <p:nvSpPr>
          <p:cNvPr id="23" name="Shape 17"/>
          <p:cNvSpPr/>
          <p:nvPr/>
        </p:nvSpPr>
        <p:spPr>
          <a:xfrm>
            <a:off x="4419295" y="1524305"/>
            <a:ext cx="3333902" cy="4952390"/>
          </a:xfrm>
          <a:prstGeom prst="roundRect">
            <a:avLst>
              <a:gd name="adj" fmla="val 1254"/>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endParaRPr lang="en-US"/>
          </a:p>
        </p:txBody>
      </p:sp>
      <p:sp>
        <p:nvSpPr>
          <p:cNvPr id="24" name="Shape 18"/>
          <p:cNvSpPr/>
          <p:nvPr/>
        </p:nvSpPr>
        <p:spPr>
          <a:xfrm>
            <a:off x="4429354" y="1533449"/>
            <a:ext cx="3314700" cy="1047902"/>
          </a:xfrm>
          <a:prstGeom prst="rect">
            <a:avLst/>
          </a:prstGeom>
          <a:solidFill>
            <a:srgbClr val="D62839"/>
          </a:solidFill>
          <a:ln w="12700">
            <a:solidFill>
              <a:srgbClr val="FFFFFF">
                <a:alpha val="0"/>
              </a:srgbClr>
            </a:solidFill>
            <a:prstDash val="solid"/>
          </a:ln>
        </p:spPr>
        <p:txBody>
          <a:bodyPr/>
          <a:lstStyle/>
          <a:p>
            <a:endParaRPr lang="en-US"/>
          </a:p>
        </p:txBody>
      </p:sp>
      <p:sp>
        <p:nvSpPr>
          <p:cNvPr id="25" name="Text 19"/>
          <p:cNvSpPr txBox="1"/>
          <p:nvPr/>
        </p:nvSpPr>
        <p:spPr>
          <a:xfrm>
            <a:off x="5386730" y="2033626"/>
            <a:ext cx="1406347" cy="238658"/>
          </a:xfrm>
          <a:prstGeom prst="rect">
            <a:avLst/>
          </a:prstGeom>
          <a:noFill/>
          <a:ln/>
        </p:spPr>
        <p:txBody>
          <a:bodyPr wrap="none" lIns="0" tIns="0" rIns="0" bIns="0" rtlCol="0" anchor="ctr"/>
          <a:lstStyle/>
          <a:p>
            <a:pPr marL="0" indent="0" algn="ctr">
              <a:buNone/>
            </a:pPr>
            <a:r>
              <a:rPr lang="en-US" sz="1500" b="1">
                <a:solidFill>
                  <a:srgbClr val="FFFFFF"/>
                </a:solidFill>
                <a:latin typeface="Oswald" pitchFamily="34" charset="0"/>
                <a:ea typeface="Oswald" pitchFamily="34" charset="-122"/>
                <a:cs typeface="Oswald" pitchFamily="34" charset="-120"/>
              </a:rPr>
              <a:t>AI Pods</a:t>
            </a:r>
            <a:endParaRPr lang="en-US" sz="1500"/>
          </a:p>
        </p:txBody>
      </p:sp>
      <p:sp>
        <p:nvSpPr>
          <p:cNvPr id="26" name="Text 20"/>
          <p:cNvSpPr txBox="1"/>
          <p:nvPr/>
        </p:nvSpPr>
        <p:spPr>
          <a:xfrm>
            <a:off x="4619549" y="4204760"/>
            <a:ext cx="2934310" cy="409651"/>
          </a:xfrm>
          <a:prstGeom prst="rect">
            <a:avLst/>
          </a:prstGeom>
          <a:noFill/>
          <a:ln/>
        </p:spPr>
        <p:txBody>
          <a:bodyPr wrap="square" lIns="0" tIns="0" rIns="0" bIns="0" rtlCol="0" anchor="ctr"/>
          <a:lstStyle/>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AI-first engineering pods, embedded tech lead</a:t>
            </a:r>
          </a:p>
          <a:p>
            <a:pPr algn="l"/>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Every engineer AI-certified before Day 1</a:t>
            </a:r>
          </a:p>
          <a:p>
            <a:pPr marL="171450" indent="-171450" algn="l">
              <a:buFont typeface="Arial" panose="020B0604020202020204" pitchFamily="34" charset="0"/>
              <a:buChar char="•"/>
            </a:pPr>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J2W AI Labs - continuous monthly upskilling</a:t>
            </a:r>
          </a:p>
          <a:p>
            <a:pPr marL="171450" indent="-171450" algn="l">
              <a:buFont typeface="Arial" panose="020B0604020202020204" pitchFamily="34" charset="0"/>
              <a:buChar char="•"/>
            </a:pPr>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AI-assisted code, test &amp; docs from Day 1</a:t>
            </a:r>
          </a:p>
          <a:p>
            <a:pPr marL="171450" indent="-171450" algn="l">
              <a:buFont typeface="Arial" panose="020B0604020202020204" pitchFamily="34" charset="0"/>
              <a:buChar char="•"/>
            </a:pPr>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Compounding productivity, not static seats</a:t>
            </a:r>
            <a:endParaRPr lang="en-US" sz="1400" dirty="0"/>
          </a:p>
        </p:txBody>
      </p:sp>
      <p:sp>
        <p:nvSpPr>
          <p:cNvPr id="33" name="Text 27"/>
          <p:cNvSpPr txBox="1"/>
          <p:nvPr/>
        </p:nvSpPr>
        <p:spPr>
          <a:xfrm>
            <a:off x="5905195" y="1652321"/>
            <a:ext cx="363017" cy="342900"/>
          </a:xfrm>
          <a:prstGeom prst="rect">
            <a:avLst/>
          </a:prstGeom>
          <a:noFill/>
          <a:ln/>
        </p:spPr>
        <p:txBody>
          <a:bodyPr wrap="none" lIns="0" tIns="0" rIns="0" bIns="0" rtlCol="0" anchor="ctr"/>
          <a:lstStyle/>
          <a:p>
            <a:pPr marL="0" indent="0" algn="ctr">
              <a:buNone/>
            </a:pPr>
            <a:r>
              <a:rPr lang="en-US" sz="2200" b="1">
                <a:solidFill>
                  <a:srgbClr val="FFFFFF">
                    <a:alpha val="90000"/>
                  </a:srgbClr>
                </a:solidFill>
                <a:latin typeface="Oswald" pitchFamily="34" charset="0"/>
                <a:ea typeface="Oswald" pitchFamily="34" charset="-122"/>
                <a:cs typeface="Oswald" pitchFamily="34" charset="-120"/>
              </a:rPr>
              <a:t>02</a:t>
            </a:r>
            <a:endParaRPr lang="en-US" sz="2200"/>
          </a:p>
        </p:txBody>
      </p:sp>
      <p:sp>
        <p:nvSpPr>
          <p:cNvPr id="34" name="Text 28"/>
          <p:cNvSpPr txBox="1"/>
          <p:nvPr/>
        </p:nvSpPr>
        <p:spPr>
          <a:xfrm>
            <a:off x="5079492" y="2309774"/>
            <a:ext cx="2018081" cy="152705"/>
          </a:xfrm>
          <a:prstGeom prst="rect">
            <a:avLst/>
          </a:prstGeom>
          <a:noFill/>
          <a:ln/>
        </p:spPr>
        <p:txBody>
          <a:bodyPr wrap="none" lIns="0" tIns="0" rIns="0" bIns="0" rtlCol="0" anchor="ctr"/>
          <a:lstStyle/>
          <a:p>
            <a:pPr marL="0" indent="0" algn="ctr">
              <a:buNone/>
            </a:pPr>
            <a:r>
              <a:rPr lang="en-US" sz="900" kern="0" spc="45">
                <a:solidFill>
                  <a:srgbClr val="FFFFFF">
                    <a:alpha val="90000"/>
                  </a:srgbClr>
                </a:solidFill>
                <a:latin typeface="Roboto Condensed" pitchFamily="34" charset="0"/>
                <a:ea typeface="Roboto Condensed" pitchFamily="34" charset="-122"/>
                <a:cs typeface="Roboto Condensed" pitchFamily="34" charset="-120"/>
              </a:rPr>
              <a:t>The Margin Expansion Engine</a:t>
            </a:r>
            <a:endParaRPr lang="en-US" sz="900"/>
          </a:p>
        </p:txBody>
      </p:sp>
      <p:sp>
        <p:nvSpPr>
          <p:cNvPr id="35" name="Shape 29"/>
          <p:cNvSpPr/>
          <p:nvPr/>
        </p:nvSpPr>
        <p:spPr>
          <a:xfrm>
            <a:off x="8229600" y="1524305"/>
            <a:ext cx="3333902" cy="4952390"/>
          </a:xfrm>
          <a:prstGeom prst="roundRect">
            <a:avLst>
              <a:gd name="adj" fmla="val 1254"/>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endParaRPr lang="en-US"/>
          </a:p>
        </p:txBody>
      </p:sp>
      <p:sp>
        <p:nvSpPr>
          <p:cNvPr id="36" name="Shape 30"/>
          <p:cNvSpPr/>
          <p:nvPr/>
        </p:nvSpPr>
        <p:spPr>
          <a:xfrm>
            <a:off x="8238744" y="1533449"/>
            <a:ext cx="3314700" cy="1047902"/>
          </a:xfrm>
          <a:prstGeom prst="rect">
            <a:avLst/>
          </a:prstGeom>
          <a:solidFill>
            <a:srgbClr val="2A9D8F"/>
          </a:solidFill>
          <a:ln w="12700">
            <a:solidFill>
              <a:srgbClr val="FFFFFF">
                <a:alpha val="0"/>
              </a:srgbClr>
            </a:solidFill>
            <a:prstDash val="solid"/>
          </a:ln>
        </p:spPr>
        <p:txBody>
          <a:bodyPr/>
          <a:lstStyle/>
          <a:p>
            <a:endParaRPr lang="en-US"/>
          </a:p>
        </p:txBody>
      </p:sp>
      <p:sp>
        <p:nvSpPr>
          <p:cNvPr id="37" name="Text 31"/>
          <p:cNvSpPr txBox="1"/>
          <p:nvPr/>
        </p:nvSpPr>
        <p:spPr>
          <a:xfrm>
            <a:off x="8685886" y="2033626"/>
            <a:ext cx="2425903" cy="238658"/>
          </a:xfrm>
          <a:prstGeom prst="rect">
            <a:avLst/>
          </a:prstGeom>
          <a:noFill/>
          <a:ln/>
        </p:spPr>
        <p:txBody>
          <a:bodyPr wrap="none" lIns="0" tIns="0" rIns="0" bIns="0" rtlCol="0" anchor="ctr"/>
          <a:lstStyle/>
          <a:p>
            <a:pPr marL="0" indent="0" algn="ctr">
              <a:buNone/>
            </a:pPr>
            <a:r>
              <a:rPr lang="en-US" sz="1500" b="1">
                <a:solidFill>
                  <a:srgbClr val="FFFFFF"/>
                </a:solidFill>
                <a:latin typeface="Oswald" pitchFamily="34" charset="0"/>
                <a:ea typeface="Oswald" pitchFamily="34" charset="-122"/>
                <a:cs typeface="Oswald" pitchFamily="34" charset="-120"/>
              </a:rPr>
              <a:t>Managed Service Solutions</a:t>
            </a:r>
            <a:endParaRPr lang="en-US" sz="1500"/>
          </a:p>
        </p:txBody>
      </p:sp>
      <p:sp>
        <p:nvSpPr>
          <p:cNvPr id="38" name="Text 32"/>
          <p:cNvSpPr txBox="1"/>
          <p:nvPr/>
        </p:nvSpPr>
        <p:spPr>
          <a:xfrm>
            <a:off x="8429854" y="4158691"/>
            <a:ext cx="2934310" cy="409651"/>
          </a:xfrm>
          <a:prstGeom prst="rect">
            <a:avLst/>
          </a:prstGeom>
          <a:noFill/>
          <a:ln/>
        </p:spPr>
        <p:txBody>
          <a:bodyPr wrap="square" lIns="0" tIns="0" rIns="0" bIns="0" rtlCol="0" anchor="ctr"/>
          <a:lstStyle/>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Dedicated pods owning outcomes, not tasks</a:t>
            </a:r>
          </a:p>
          <a:p>
            <a:pPr marL="171450" indent="-171450" algn="l">
              <a:buFont typeface="Arial" panose="020B0604020202020204" pitchFamily="34" charset="0"/>
              <a:buChar char="•"/>
            </a:pPr>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Operate to outcome-bound SLOs</a:t>
            </a:r>
          </a:p>
          <a:p>
            <a:pPr marL="171450" indent="-171450" algn="l">
              <a:buFont typeface="Arial" panose="020B0604020202020204" pitchFamily="34" charset="0"/>
              <a:buChar char="•"/>
            </a:pPr>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60+ pre-built solution accelerators</a:t>
            </a:r>
          </a:p>
          <a:p>
            <a:pPr marL="171450" indent="-171450" algn="l">
              <a:buFont typeface="Arial" panose="020B0604020202020204" pitchFamily="34" charset="0"/>
              <a:buChar char="•"/>
            </a:pPr>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On SAP, ServiceNow &amp; industry stacks</a:t>
            </a:r>
          </a:p>
          <a:p>
            <a:pPr algn="l"/>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40% improvement threshold - our standard</a:t>
            </a:r>
            <a:endParaRPr lang="en-US" sz="1400" dirty="0"/>
          </a:p>
        </p:txBody>
      </p:sp>
      <p:sp>
        <p:nvSpPr>
          <p:cNvPr id="45" name="Text 39"/>
          <p:cNvSpPr txBox="1"/>
          <p:nvPr/>
        </p:nvSpPr>
        <p:spPr>
          <a:xfrm>
            <a:off x="9715500" y="1652321"/>
            <a:ext cx="363017" cy="342900"/>
          </a:xfrm>
          <a:prstGeom prst="rect">
            <a:avLst/>
          </a:prstGeom>
          <a:noFill/>
          <a:ln/>
        </p:spPr>
        <p:txBody>
          <a:bodyPr wrap="none" lIns="0" tIns="0" rIns="0" bIns="0" rtlCol="0" anchor="ctr"/>
          <a:lstStyle/>
          <a:p>
            <a:pPr marL="0" indent="0" algn="ctr">
              <a:buNone/>
            </a:pPr>
            <a:r>
              <a:rPr lang="en-US" sz="2200" b="1">
                <a:solidFill>
                  <a:srgbClr val="FFFFFF">
                    <a:alpha val="90000"/>
                  </a:srgbClr>
                </a:solidFill>
                <a:latin typeface="Oswald" pitchFamily="34" charset="0"/>
                <a:ea typeface="Oswald" pitchFamily="34" charset="-122"/>
                <a:cs typeface="Oswald" pitchFamily="34" charset="-120"/>
              </a:rPr>
              <a:t>03</a:t>
            </a:r>
            <a:endParaRPr lang="en-US" sz="2200"/>
          </a:p>
        </p:txBody>
      </p:sp>
      <p:sp>
        <p:nvSpPr>
          <p:cNvPr id="46" name="Text 40"/>
          <p:cNvSpPr txBox="1"/>
          <p:nvPr/>
        </p:nvSpPr>
        <p:spPr>
          <a:xfrm>
            <a:off x="8956548" y="2309774"/>
            <a:ext cx="1881835" cy="152705"/>
          </a:xfrm>
          <a:prstGeom prst="rect">
            <a:avLst/>
          </a:prstGeom>
          <a:noFill/>
          <a:ln/>
        </p:spPr>
        <p:txBody>
          <a:bodyPr wrap="none" lIns="0" tIns="0" rIns="0" bIns="0" rtlCol="0" anchor="ctr"/>
          <a:lstStyle/>
          <a:p>
            <a:pPr marL="0" indent="0" algn="ctr">
              <a:buNone/>
            </a:pPr>
            <a:r>
              <a:rPr lang="en-US" sz="900" kern="0" spc="45">
                <a:solidFill>
                  <a:srgbClr val="FFFFFF">
                    <a:alpha val="90000"/>
                  </a:srgbClr>
                </a:solidFill>
                <a:latin typeface="Roboto Condensed" pitchFamily="34" charset="0"/>
                <a:ea typeface="Roboto Condensed" pitchFamily="34" charset="-122"/>
                <a:cs typeface="Roboto Condensed" pitchFamily="34" charset="-120"/>
              </a:rPr>
              <a:t>The Strategic Value Engine</a:t>
            </a:r>
            <a:endParaRPr lang="en-US" sz="900"/>
          </a:p>
        </p:txBody>
      </p:sp>
      <p:pic>
        <p:nvPicPr>
          <p:cNvPr id="16" name="Image 3" descr="gen-dedup-777bf757d895431cabe402fcd34ebd5a.png">
            <a:extLst>
              <a:ext uri="{FF2B5EF4-FFF2-40B4-BE49-F238E27FC236}">
                <a16:creationId xmlns:a16="http://schemas.microsoft.com/office/drawing/2014/main" id="{EED69A36-4B56-A4EA-7140-4B7C56AFAA98}"/>
              </a:ext>
            </a:extLst>
          </p:cNvPr>
          <p:cNvPicPr>
            <a:picLocks noChangeAspect="1"/>
          </p:cNvPicPr>
          <p:nvPr/>
        </p:nvPicPr>
        <p:blipFill>
          <a:blip r:embed="rId6">
            <a:biLevel thresh="75000"/>
          </a:blip>
          <a:srcRect l="-384" r="-384"/>
          <a:stretch/>
        </p:blipFill>
        <p:spPr>
          <a:xfrm>
            <a:off x="571500" y="381305"/>
            <a:ext cx="57607" cy="476402"/>
          </a:xfrm>
          <a:prstGeom prst="rect">
            <a:avLst/>
          </a:prstGeom>
        </p:spPr>
      </p:pic>
      <p:sp>
        <p:nvSpPr>
          <p:cNvPr id="18" name="Text 5">
            <a:extLst>
              <a:ext uri="{FF2B5EF4-FFF2-40B4-BE49-F238E27FC236}">
                <a16:creationId xmlns:a16="http://schemas.microsoft.com/office/drawing/2014/main" id="{D325D654-C4E6-443E-3B1C-BF993D5FD205}"/>
              </a:ext>
            </a:extLst>
          </p:cNvPr>
          <p:cNvSpPr txBox="1"/>
          <p:nvPr/>
        </p:nvSpPr>
        <p:spPr>
          <a:xfrm>
            <a:off x="780897" y="333756"/>
            <a:ext cx="5913817" cy="406908"/>
          </a:xfrm>
          <a:prstGeom prst="rect">
            <a:avLst/>
          </a:prstGeom>
          <a:noFill/>
          <a:ln/>
        </p:spPr>
        <p:txBody>
          <a:bodyPr wrap="none" lIns="0" tIns="0" rIns="0" bIns="0" rtlCol="0" anchor="ctr"/>
          <a:lstStyle/>
          <a:p>
            <a:r>
              <a:rPr lang="en-US" sz="2400" b="1" kern="0" spc="-67" dirty="0">
                <a:solidFill>
                  <a:srgbClr val="111827"/>
                </a:solidFill>
                <a:latin typeface="Oswald" pitchFamily="34" charset="0"/>
                <a:ea typeface="Oswald" pitchFamily="34" charset="-122"/>
                <a:cs typeface="Oswald" pitchFamily="34" charset="-120"/>
              </a:rPr>
              <a:t>WHAT WE OFFER</a:t>
            </a:r>
          </a:p>
        </p:txBody>
      </p:sp>
      <p:sp>
        <p:nvSpPr>
          <p:cNvPr id="20" name="Text 6">
            <a:extLst>
              <a:ext uri="{FF2B5EF4-FFF2-40B4-BE49-F238E27FC236}">
                <a16:creationId xmlns:a16="http://schemas.microsoft.com/office/drawing/2014/main" id="{F443563E-7BB1-43A9-4D45-F7A553796E0A}"/>
              </a:ext>
            </a:extLst>
          </p:cNvPr>
          <p:cNvSpPr txBox="1"/>
          <p:nvPr/>
        </p:nvSpPr>
        <p:spPr>
          <a:xfrm>
            <a:off x="780898" y="740663"/>
            <a:ext cx="5054803" cy="257861"/>
          </a:xfrm>
          <a:prstGeom prst="rect">
            <a:avLst/>
          </a:prstGeom>
          <a:noFill/>
          <a:ln/>
        </p:spPr>
        <p:txBody>
          <a:bodyPr wrap="none" lIns="0" tIns="0" rIns="0" bIns="0" rtlCol="0" anchor="ctr"/>
          <a:lstStyle/>
          <a:p>
            <a:pPr marL="0" indent="0" algn="l">
              <a:buNone/>
            </a:pPr>
            <a:r>
              <a:rPr lang="en-GB" sz="1500" b="1" kern="0" spc="66" dirty="0">
                <a:solidFill>
                  <a:srgbClr val="2A9D8F"/>
                </a:solidFill>
                <a:latin typeface="Roboto Condensed" pitchFamily="34" charset="0"/>
                <a:ea typeface="Roboto Condensed" pitchFamily="34" charset="-122"/>
                <a:cs typeface="Roboto Condensed" pitchFamily="34" charset="-120"/>
              </a:rPr>
              <a:t>Three Interlocking Revenue Engines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 2"/>
          <p:cNvSpPr/>
          <p:nvPr/>
        </p:nvSpPr>
        <p:spPr>
          <a:xfrm>
            <a:off x="8953805" y="-571500"/>
            <a:ext cx="3810305" cy="3810305"/>
          </a:xfrm>
          <a:prstGeom prst="ellipse">
            <a:avLst/>
          </a:prstGeom>
          <a:solidFill>
            <a:srgbClr val="2A9D8F">
              <a:alpha val="3000"/>
            </a:srgbClr>
          </a:solidFill>
          <a:ln w="12700">
            <a:solidFill>
              <a:srgbClr val="FFFFFF">
                <a:alpha val="0"/>
              </a:srgbClr>
            </a:solidFill>
            <a:prstDash val="solid"/>
          </a:ln>
        </p:spPr>
        <p:txBody>
          <a:bodyPr/>
          <a:lstStyle/>
          <a:p>
            <a:endParaRPr lang="en-US"/>
          </a:p>
        </p:txBody>
      </p:sp>
      <p:pic>
        <p:nvPicPr>
          <p:cNvPr id="5" name="Image 0" descr="gen-dedup-5e765734fa6996e94526269805e72083.png"/>
          <p:cNvPicPr>
            <a:picLocks noChangeAspect="1"/>
          </p:cNvPicPr>
          <p:nvPr/>
        </p:nvPicPr>
        <p:blipFill>
          <a:blip r:embed="rId3">
            <a:alphaModFix amt="5000"/>
          </a:blip>
          <a:srcRect/>
          <a:stretch/>
        </p:blipFill>
        <p:spPr>
          <a:xfrm>
            <a:off x="-381305" y="4817889"/>
            <a:ext cx="2381098" cy="2381098"/>
          </a:xfrm>
          <a:prstGeom prst="rect">
            <a:avLst/>
          </a:prstGeom>
        </p:spPr>
      </p:pic>
      <p:pic>
        <p:nvPicPr>
          <p:cNvPr id="6" name="Image 1" descr="gen-dedup-323228122ff92d2332e711a84ca3b40c.png"/>
          <p:cNvPicPr>
            <a:picLocks noChangeAspect="1"/>
          </p:cNvPicPr>
          <p:nvPr/>
        </p:nvPicPr>
        <p:blipFill>
          <a:blip r:embed="rId4"/>
          <a:srcRect l="-198" r="-198"/>
          <a:stretch/>
        </p:blipFill>
        <p:spPr>
          <a:xfrm>
            <a:off x="0" y="0"/>
            <a:ext cx="8124444" cy="75895"/>
          </a:xfrm>
          <a:prstGeom prst="rect">
            <a:avLst/>
          </a:prstGeom>
        </p:spPr>
      </p:pic>
      <p:pic>
        <p:nvPicPr>
          <p:cNvPr id="7" name="Image 2" descr="gen-dedup-9663ecf744b06e35d4c2cebaab92a2ea.png"/>
          <p:cNvPicPr>
            <a:picLocks noChangeAspect="1"/>
          </p:cNvPicPr>
          <p:nvPr/>
        </p:nvPicPr>
        <p:blipFill>
          <a:blip r:embed="rId5"/>
          <a:srcRect l="-202" r="-202"/>
          <a:stretch/>
        </p:blipFill>
        <p:spPr>
          <a:xfrm>
            <a:off x="8124444" y="0"/>
            <a:ext cx="4067251" cy="75895"/>
          </a:xfrm>
          <a:prstGeom prst="rect">
            <a:avLst/>
          </a:prstGeom>
        </p:spPr>
      </p:pic>
      <p:sp>
        <p:nvSpPr>
          <p:cNvPr id="9" name="Shape 3"/>
          <p:cNvSpPr/>
          <p:nvPr/>
        </p:nvSpPr>
        <p:spPr>
          <a:xfrm>
            <a:off x="609905" y="1714501"/>
            <a:ext cx="3448202" cy="2227394"/>
          </a:xfrm>
          <a:prstGeom prst="roundRect">
            <a:avLst>
              <a:gd name="adj" fmla="val 4439"/>
            </a:avLst>
          </a:prstGeom>
          <a:solidFill>
            <a:srgbClr val="FFFFFF"/>
          </a:solidFill>
          <a:ln w="12700">
            <a:solidFill>
              <a:srgbClr val="E2E8F0"/>
            </a:solidFill>
            <a:prstDash val="solid"/>
          </a:ln>
          <a:effectLst>
            <a:outerShdw blurRad="63500" dist="38100" dir="16200000" algn="bl" rotWithShape="0">
              <a:srgbClr val="000000">
                <a:alpha val="3000"/>
              </a:srgbClr>
            </a:outerShdw>
          </a:effectLst>
        </p:spPr>
        <p:txBody>
          <a:bodyPr/>
          <a:lstStyle/>
          <a:p>
            <a:endParaRPr lang="en-US"/>
          </a:p>
        </p:txBody>
      </p:sp>
      <p:sp>
        <p:nvSpPr>
          <p:cNvPr id="10" name="Shape 4"/>
          <p:cNvSpPr/>
          <p:nvPr/>
        </p:nvSpPr>
        <p:spPr>
          <a:xfrm>
            <a:off x="609905" y="1714500"/>
            <a:ext cx="3448202" cy="47549"/>
          </a:xfrm>
          <a:prstGeom prst="roundRect">
            <a:avLst>
              <a:gd name="adj" fmla="val 165425"/>
            </a:avLst>
          </a:prstGeom>
          <a:solidFill>
            <a:srgbClr val="2A9D8F"/>
          </a:solidFill>
          <a:ln w="12700">
            <a:solidFill>
              <a:srgbClr val="2A9D8F">
                <a:alpha val="0"/>
              </a:srgbClr>
            </a:solidFill>
            <a:prstDash val="solid"/>
          </a:ln>
        </p:spPr>
        <p:txBody>
          <a:bodyPr/>
          <a:lstStyle/>
          <a:p>
            <a:endParaRPr lang="en-US"/>
          </a:p>
        </p:txBody>
      </p:sp>
      <p:sp>
        <p:nvSpPr>
          <p:cNvPr id="11" name="Shape 5"/>
          <p:cNvSpPr/>
          <p:nvPr/>
        </p:nvSpPr>
        <p:spPr>
          <a:xfrm>
            <a:off x="4381805" y="1714501"/>
            <a:ext cx="3448202" cy="2227394"/>
          </a:xfrm>
          <a:prstGeom prst="roundRect">
            <a:avLst>
              <a:gd name="adj" fmla="val 4439"/>
            </a:avLst>
          </a:prstGeom>
          <a:solidFill>
            <a:srgbClr val="FFFFFF"/>
          </a:solidFill>
          <a:ln w="12700">
            <a:solidFill>
              <a:srgbClr val="E2E8F0"/>
            </a:solidFill>
            <a:prstDash val="solid"/>
          </a:ln>
          <a:effectLst>
            <a:outerShdw blurRad="63500" dist="38100" dir="16200000" algn="bl" rotWithShape="0">
              <a:srgbClr val="000000">
                <a:alpha val="3000"/>
              </a:srgbClr>
            </a:outerShdw>
          </a:effectLst>
        </p:spPr>
        <p:txBody>
          <a:bodyPr/>
          <a:lstStyle/>
          <a:p>
            <a:endParaRPr lang="en-US"/>
          </a:p>
        </p:txBody>
      </p:sp>
      <p:sp>
        <p:nvSpPr>
          <p:cNvPr id="12" name="Shape 6"/>
          <p:cNvSpPr/>
          <p:nvPr/>
        </p:nvSpPr>
        <p:spPr>
          <a:xfrm>
            <a:off x="4381805" y="1714500"/>
            <a:ext cx="3448202" cy="47549"/>
          </a:xfrm>
          <a:prstGeom prst="roundRect">
            <a:avLst>
              <a:gd name="adj" fmla="val 165425"/>
            </a:avLst>
          </a:prstGeom>
          <a:solidFill>
            <a:srgbClr val="D62839"/>
          </a:solidFill>
          <a:ln w="12700">
            <a:solidFill>
              <a:srgbClr val="D62839">
                <a:alpha val="0"/>
              </a:srgbClr>
            </a:solidFill>
            <a:prstDash val="solid"/>
          </a:ln>
        </p:spPr>
        <p:txBody>
          <a:bodyPr/>
          <a:lstStyle/>
          <a:p>
            <a:endParaRPr lang="en-US"/>
          </a:p>
        </p:txBody>
      </p:sp>
      <p:sp>
        <p:nvSpPr>
          <p:cNvPr id="13" name="Shape 7"/>
          <p:cNvSpPr/>
          <p:nvPr/>
        </p:nvSpPr>
        <p:spPr>
          <a:xfrm>
            <a:off x="8153705" y="1714501"/>
            <a:ext cx="3448202" cy="2227394"/>
          </a:xfrm>
          <a:prstGeom prst="roundRect">
            <a:avLst>
              <a:gd name="adj" fmla="val 4439"/>
            </a:avLst>
          </a:prstGeom>
          <a:solidFill>
            <a:srgbClr val="FFFFFF"/>
          </a:solidFill>
          <a:ln w="12700">
            <a:solidFill>
              <a:srgbClr val="E2E8F0"/>
            </a:solidFill>
            <a:prstDash val="solid"/>
          </a:ln>
          <a:effectLst>
            <a:outerShdw blurRad="63500" dist="38100" dir="16200000" algn="bl" rotWithShape="0">
              <a:srgbClr val="000000">
                <a:alpha val="3000"/>
              </a:srgbClr>
            </a:outerShdw>
          </a:effectLst>
        </p:spPr>
        <p:txBody>
          <a:bodyPr/>
          <a:lstStyle/>
          <a:p>
            <a:endParaRPr lang="en-US"/>
          </a:p>
        </p:txBody>
      </p:sp>
      <p:sp>
        <p:nvSpPr>
          <p:cNvPr id="14" name="Shape 8"/>
          <p:cNvSpPr/>
          <p:nvPr/>
        </p:nvSpPr>
        <p:spPr>
          <a:xfrm>
            <a:off x="8153705" y="1714500"/>
            <a:ext cx="3448202" cy="47549"/>
          </a:xfrm>
          <a:prstGeom prst="roundRect">
            <a:avLst>
              <a:gd name="adj" fmla="val 165425"/>
            </a:avLst>
          </a:prstGeom>
          <a:solidFill>
            <a:srgbClr val="2A9D8F"/>
          </a:solidFill>
          <a:ln w="12700">
            <a:solidFill>
              <a:srgbClr val="2A9D8F">
                <a:alpha val="0"/>
              </a:srgbClr>
            </a:solidFill>
            <a:prstDash val="solid"/>
          </a:ln>
        </p:spPr>
        <p:txBody>
          <a:bodyPr/>
          <a:lstStyle/>
          <a:p>
            <a:endParaRPr lang="en-US"/>
          </a:p>
        </p:txBody>
      </p:sp>
      <p:sp>
        <p:nvSpPr>
          <p:cNvPr id="15" name="Shape 9"/>
          <p:cNvSpPr/>
          <p:nvPr/>
        </p:nvSpPr>
        <p:spPr>
          <a:xfrm>
            <a:off x="2495398" y="4341486"/>
            <a:ext cx="3448202" cy="2132296"/>
          </a:xfrm>
          <a:prstGeom prst="roundRect">
            <a:avLst>
              <a:gd name="adj" fmla="val 4439"/>
            </a:avLst>
          </a:prstGeom>
          <a:solidFill>
            <a:srgbClr val="FFFFFF"/>
          </a:solidFill>
          <a:ln w="12700">
            <a:solidFill>
              <a:srgbClr val="E2E8F0"/>
            </a:solidFill>
            <a:prstDash val="solid"/>
          </a:ln>
          <a:effectLst>
            <a:outerShdw blurRad="63500" dist="38100" dir="16200000" algn="bl" rotWithShape="0">
              <a:srgbClr val="000000">
                <a:alpha val="3000"/>
              </a:srgbClr>
            </a:outerShdw>
          </a:effectLst>
        </p:spPr>
        <p:txBody>
          <a:bodyPr/>
          <a:lstStyle/>
          <a:p>
            <a:endParaRPr lang="en-US"/>
          </a:p>
        </p:txBody>
      </p:sp>
      <p:sp>
        <p:nvSpPr>
          <p:cNvPr id="16" name="Shape 10"/>
          <p:cNvSpPr/>
          <p:nvPr/>
        </p:nvSpPr>
        <p:spPr>
          <a:xfrm>
            <a:off x="2495398" y="4341486"/>
            <a:ext cx="3448202" cy="47549"/>
          </a:xfrm>
          <a:prstGeom prst="roundRect">
            <a:avLst>
              <a:gd name="adj" fmla="val 165425"/>
            </a:avLst>
          </a:prstGeom>
          <a:solidFill>
            <a:srgbClr val="D62839"/>
          </a:solidFill>
          <a:ln w="12700">
            <a:solidFill>
              <a:srgbClr val="D62839">
                <a:alpha val="0"/>
              </a:srgbClr>
            </a:solidFill>
            <a:prstDash val="solid"/>
          </a:ln>
        </p:spPr>
        <p:txBody>
          <a:bodyPr/>
          <a:lstStyle/>
          <a:p>
            <a:endParaRPr lang="en-US"/>
          </a:p>
        </p:txBody>
      </p:sp>
      <p:sp>
        <p:nvSpPr>
          <p:cNvPr id="17" name="Shape 11"/>
          <p:cNvSpPr/>
          <p:nvPr/>
        </p:nvSpPr>
        <p:spPr>
          <a:xfrm>
            <a:off x="6267298" y="4341486"/>
            <a:ext cx="3448202" cy="2132296"/>
          </a:xfrm>
          <a:prstGeom prst="roundRect">
            <a:avLst>
              <a:gd name="adj" fmla="val 4439"/>
            </a:avLst>
          </a:prstGeom>
          <a:solidFill>
            <a:srgbClr val="FFFFFF"/>
          </a:solidFill>
          <a:ln w="12700">
            <a:solidFill>
              <a:srgbClr val="E2E8F0"/>
            </a:solidFill>
            <a:prstDash val="solid"/>
          </a:ln>
          <a:effectLst>
            <a:outerShdw blurRad="63500" dist="38100" dir="16200000" algn="bl" rotWithShape="0">
              <a:srgbClr val="000000">
                <a:alpha val="3000"/>
              </a:srgbClr>
            </a:outerShdw>
          </a:effectLst>
        </p:spPr>
        <p:txBody>
          <a:bodyPr/>
          <a:lstStyle/>
          <a:p>
            <a:endParaRPr lang="en-US"/>
          </a:p>
        </p:txBody>
      </p:sp>
      <p:sp>
        <p:nvSpPr>
          <p:cNvPr id="18" name="Shape 12"/>
          <p:cNvSpPr/>
          <p:nvPr/>
        </p:nvSpPr>
        <p:spPr>
          <a:xfrm>
            <a:off x="6267298" y="4341486"/>
            <a:ext cx="3448202" cy="47549"/>
          </a:xfrm>
          <a:prstGeom prst="roundRect">
            <a:avLst>
              <a:gd name="adj" fmla="val 165425"/>
            </a:avLst>
          </a:prstGeom>
          <a:solidFill>
            <a:srgbClr val="2A9D8F"/>
          </a:solidFill>
          <a:ln w="12700">
            <a:solidFill>
              <a:srgbClr val="2A9D8F">
                <a:alpha val="0"/>
              </a:srgbClr>
            </a:solidFill>
            <a:prstDash val="solid"/>
          </a:ln>
        </p:spPr>
        <p:txBody>
          <a:bodyPr/>
          <a:lstStyle/>
          <a:p>
            <a:endParaRPr lang="en-US"/>
          </a:p>
        </p:txBody>
      </p:sp>
      <p:sp>
        <p:nvSpPr>
          <p:cNvPr id="23" name="Shape 16"/>
          <p:cNvSpPr/>
          <p:nvPr/>
        </p:nvSpPr>
        <p:spPr>
          <a:xfrm>
            <a:off x="800100" y="1952244"/>
            <a:ext cx="304495" cy="304495"/>
          </a:xfrm>
          <a:prstGeom prst="roundRect">
            <a:avLst>
              <a:gd name="adj" fmla="val 112613"/>
            </a:avLst>
          </a:prstGeom>
          <a:solidFill>
            <a:srgbClr val="F0FDFA"/>
          </a:solidFill>
          <a:ln w="12700">
            <a:solidFill>
              <a:srgbClr val="FFFFFF">
                <a:alpha val="0"/>
              </a:srgbClr>
            </a:solidFill>
            <a:prstDash val="solid"/>
          </a:ln>
        </p:spPr>
        <p:txBody>
          <a:bodyPr/>
          <a:lstStyle/>
          <a:p>
            <a:endParaRPr lang="en-US"/>
          </a:p>
        </p:txBody>
      </p:sp>
      <p:pic>
        <p:nvPicPr>
          <p:cNvPr id="24" name="Image 5" descr="gen-dedup-354148c7dfe2ece024d9587c6b984377.png"/>
          <p:cNvPicPr>
            <a:picLocks noChangeAspect="1"/>
          </p:cNvPicPr>
          <p:nvPr/>
        </p:nvPicPr>
        <p:blipFill>
          <a:blip r:embed="rId6"/>
          <a:srcRect t="-16800" b="-16800"/>
          <a:stretch/>
        </p:blipFill>
        <p:spPr>
          <a:xfrm>
            <a:off x="895198" y="2029054"/>
            <a:ext cx="114300" cy="152705"/>
          </a:xfrm>
          <a:prstGeom prst="rect">
            <a:avLst/>
          </a:prstGeom>
        </p:spPr>
      </p:pic>
      <p:sp>
        <p:nvSpPr>
          <p:cNvPr id="25" name="Text 17"/>
          <p:cNvSpPr txBox="1"/>
          <p:nvPr/>
        </p:nvSpPr>
        <p:spPr>
          <a:xfrm>
            <a:off x="1238098" y="1952244"/>
            <a:ext cx="2572207" cy="305410"/>
          </a:xfrm>
          <a:prstGeom prst="rect">
            <a:avLst/>
          </a:prstGeom>
          <a:noFill/>
          <a:ln/>
        </p:spPr>
        <p:txBody>
          <a:bodyPr wrap="none" lIns="0" tIns="0" rIns="0" bIns="0" rtlCol="0" anchor="ctr"/>
          <a:lstStyle/>
          <a:p>
            <a:pPr marL="0" indent="0" algn="l">
              <a:buNone/>
            </a:pPr>
            <a:r>
              <a:rPr lang="en-US" sz="1500" b="1">
                <a:solidFill>
                  <a:srgbClr val="111827"/>
                </a:solidFill>
                <a:latin typeface="Oswald" pitchFamily="34" charset="0"/>
                <a:ea typeface="Oswald" pitchFamily="34" charset="-122"/>
                <a:cs typeface="Oswald" pitchFamily="34" charset="-120"/>
              </a:rPr>
              <a:t>J2W Premier Lounge</a:t>
            </a:r>
            <a:endParaRPr lang="en-US" sz="1500"/>
          </a:p>
        </p:txBody>
      </p:sp>
      <p:sp>
        <p:nvSpPr>
          <p:cNvPr id="26" name="Text 18"/>
          <p:cNvSpPr txBox="1"/>
          <p:nvPr/>
        </p:nvSpPr>
        <p:spPr>
          <a:xfrm>
            <a:off x="800100" y="2428646"/>
            <a:ext cx="3048610" cy="457200"/>
          </a:xfrm>
          <a:prstGeom prst="rect">
            <a:avLst/>
          </a:prstGeom>
          <a:noFill/>
          <a:ln/>
        </p:spPr>
        <p:txBody>
          <a:bodyPr wrap="square" lIns="0" tIns="0" rIns="0" bIns="0" rtlCol="0" anchor="ctr"/>
          <a:lstStyle/>
          <a:p>
            <a:pPr marL="0" indent="0" algn="l">
              <a:buNone/>
            </a:pPr>
            <a:r>
              <a:rPr lang="en-US" sz="1200">
                <a:solidFill>
                  <a:srgbClr val="4B5563"/>
                </a:solidFill>
                <a:latin typeface="Raleway" pitchFamily="34" charset="0"/>
                <a:ea typeface="Raleway" pitchFamily="34" charset="-122"/>
                <a:cs typeface="Raleway" pitchFamily="34" charset="-120"/>
              </a:rPr>
              <a:t>Curated network of vetted experts - instant access to scarce skills.</a:t>
            </a:r>
            <a:endParaRPr lang="en-US" sz="1200"/>
          </a:p>
        </p:txBody>
      </p:sp>
      <p:sp>
        <p:nvSpPr>
          <p:cNvPr id="27" name="Shape 19"/>
          <p:cNvSpPr/>
          <p:nvPr/>
        </p:nvSpPr>
        <p:spPr>
          <a:xfrm>
            <a:off x="4572000" y="1952244"/>
            <a:ext cx="304495" cy="304495"/>
          </a:xfrm>
          <a:prstGeom prst="roundRect">
            <a:avLst>
              <a:gd name="adj" fmla="val 112613"/>
            </a:avLst>
          </a:prstGeom>
          <a:solidFill>
            <a:srgbClr val="FEF2F2"/>
          </a:solidFill>
          <a:ln w="12700">
            <a:solidFill>
              <a:srgbClr val="FFFFFF">
                <a:alpha val="0"/>
              </a:srgbClr>
            </a:solidFill>
            <a:prstDash val="solid"/>
          </a:ln>
        </p:spPr>
        <p:txBody>
          <a:bodyPr/>
          <a:lstStyle/>
          <a:p>
            <a:endParaRPr lang="en-US"/>
          </a:p>
        </p:txBody>
      </p:sp>
      <p:pic>
        <p:nvPicPr>
          <p:cNvPr id="28" name="Image 6" descr="gen-dedup-8653d22c8fc2d1668da8a16f36629000.png"/>
          <p:cNvPicPr>
            <a:picLocks noChangeAspect="1"/>
          </p:cNvPicPr>
          <p:nvPr/>
        </p:nvPicPr>
        <p:blipFill>
          <a:blip r:embed="rId7"/>
          <a:srcRect t="-25150" b="-25150"/>
          <a:stretch/>
        </p:blipFill>
        <p:spPr>
          <a:xfrm>
            <a:off x="4667098" y="2029054"/>
            <a:ext cx="114300" cy="152705"/>
          </a:xfrm>
          <a:prstGeom prst="rect">
            <a:avLst/>
          </a:prstGeom>
        </p:spPr>
      </p:pic>
      <p:sp>
        <p:nvSpPr>
          <p:cNvPr id="29" name="Text 20"/>
          <p:cNvSpPr txBox="1"/>
          <p:nvPr/>
        </p:nvSpPr>
        <p:spPr>
          <a:xfrm>
            <a:off x="5009998" y="1952244"/>
            <a:ext cx="2572207" cy="305410"/>
          </a:xfrm>
          <a:prstGeom prst="rect">
            <a:avLst/>
          </a:prstGeom>
          <a:noFill/>
          <a:ln/>
        </p:spPr>
        <p:txBody>
          <a:bodyPr wrap="none" lIns="0" tIns="0" rIns="0" bIns="0" rtlCol="0" anchor="ctr"/>
          <a:lstStyle/>
          <a:p>
            <a:pPr marL="0" indent="0" algn="l">
              <a:buNone/>
            </a:pPr>
            <a:r>
              <a:rPr lang="en-US" sz="1500" b="1">
                <a:solidFill>
                  <a:srgbClr val="111827"/>
                </a:solidFill>
                <a:latin typeface="Oswald" pitchFamily="34" charset="0"/>
                <a:ea typeface="Oswald" pitchFamily="34" charset="-122"/>
                <a:cs typeface="Oswald" pitchFamily="34" charset="-120"/>
              </a:rPr>
              <a:t>J2W OfferLetter</a:t>
            </a:r>
            <a:endParaRPr lang="en-US" sz="1500"/>
          </a:p>
        </p:txBody>
      </p:sp>
      <p:sp>
        <p:nvSpPr>
          <p:cNvPr id="30" name="Text 21"/>
          <p:cNvSpPr txBox="1"/>
          <p:nvPr/>
        </p:nvSpPr>
        <p:spPr>
          <a:xfrm>
            <a:off x="4572000" y="2428646"/>
            <a:ext cx="3048610" cy="457200"/>
          </a:xfrm>
          <a:prstGeom prst="rect">
            <a:avLst/>
          </a:prstGeom>
          <a:noFill/>
          <a:ln/>
        </p:spPr>
        <p:txBody>
          <a:bodyPr wrap="square" lIns="0" tIns="0" rIns="0" bIns="0" rtlCol="0" anchor="ctr"/>
          <a:lstStyle/>
          <a:p>
            <a:pPr marL="0" indent="0" algn="l">
              <a:buNone/>
            </a:pPr>
            <a:r>
              <a:rPr lang="en-US" sz="1200">
                <a:solidFill>
                  <a:srgbClr val="4B5563"/>
                </a:solidFill>
                <a:latin typeface="Raleway" pitchFamily="34" charset="0"/>
                <a:ea typeface="Raleway" pitchFamily="34" charset="-122"/>
                <a:cs typeface="Raleway" pitchFamily="34" charset="-120"/>
              </a:rPr>
              <a:t>AI-driven sourcing &amp; resume parsing - onboard one engineer an hour.</a:t>
            </a:r>
            <a:endParaRPr lang="en-US" sz="1200"/>
          </a:p>
        </p:txBody>
      </p:sp>
      <p:sp>
        <p:nvSpPr>
          <p:cNvPr id="31" name="Shape 22"/>
          <p:cNvSpPr/>
          <p:nvPr/>
        </p:nvSpPr>
        <p:spPr>
          <a:xfrm>
            <a:off x="8343900" y="1952244"/>
            <a:ext cx="304495" cy="304495"/>
          </a:xfrm>
          <a:prstGeom prst="roundRect">
            <a:avLst>
              <a:gd name="adj" fmla="val 112613"/>
            </a:avLst>
          </a:prstGeom>
          <a:solidFill>
            <a:srgbClr val="F0FDFA"/>
          </a:solidFill>
          <a:ln w="12700">
            <a:solidFill>
              <a:srgbClr val="FFFFFF">
                <a:alpha val="0"/>
              </a:srgbClr>
            </a:solidFill>
            <a:prstDash val="solid"/>
          </a:ln>
        </p:spPr>
        <p:txBody>
          <a:bodyPr/>
          <a:lstStyle/>
          <a:p>
            <a:endParaRPr lang="en-US"/>
          </a:p>
        </p:txBody>
      </p:sp>
      <p:pic>
        <p:nvPicPr>
          <p:cNvPr id="32" name="Image 7" descr="gen-dedup-fe8b3fc2b54c6cb2835c9e1123b7a343.png"/>
          <p:cNvPicPr>
            <a:picLocks noChangeAspect="1"/>
          </p:cNvPicPr>
          <p:nvPr/>
        </p:nvPicPr>
        <p:blipFill>
          <a:blip r:embed="rId8"/>
          <a:srcRect t="-25150" b="-25150"/>
          <a:stretch/>
        </p:blipFill>
        <p:spPr>
          <a:xfrm>
            <a:off x="8438998" y="2029054"/>
            <a:ext cx="114300" cy="152705"/>
          </a:xfrm>
          <a:prstGeom prst="rect">
            <a:avLst/>
          </a:prstGeom>
        </p:spPr>
      </p:pic>
      <p:sp>
        <p:nvSpPr>
          <p:cNvPr id="33" name="Text 23"/>
          <p:cNvSpPr txBox="1"/>
          <p:nvPr/>
        </p:nvSpPr>
        <p:spPr>
          <a:xfrm>
            <a:off x="8781898" y="1952244"/>
            <a:ext cx="2702052" cy="305410"/>
          </a:xfrm>
          <a:prstGeom prst="rect">
            <a:avLst/>
          </a:prstGeom>
          <a:noFill/>
          <a:ln/>
        </p:spPr>
        <p:txBody>
          <a:bodyPr wrap="none" lIns="0" tIns="0" rIns="0" bIns="0" rtlCol="0" anchor="ctr"/>
          <a:lstStyle/>
          <a:p>
            <a:pPr marL="0" indent="0" algn="l">
              <a:buNone/>
            </a:pPr>
            <a:r>
              <a:rPr lang="en-US" sz="1500" b="1">
                <a:solidFill>
                  <a:srgbClr val="111827"/>
                </a:solidFill>
                <a:latin typeface="Oswald" pitchFamily="34" charset="0"/>
                <a:ea typeface="Oswald" pitchFamily="34" charset="-122"/>
                <a:cs typeface="Oswald" pitchFamily="34" charset="-120"/>
              </a:rPr>
              <a:t>Data Abstraction Layer</a:t>
            </a:r>
            <a:endParaRPr lang="en-US" sz="1500"/>
          </a:p>
        </p:txBody>
      </p:sp>
      <p:sp>
        <p:nvSpPr>
          <p:cNvPr id="34" name="Text 24"/>
          <p:cNvSpPr txBox="1"/>
          <p:nvPr/>
        </p:nvSpPr>
        <p:spPr>
          <a:xfrm>
            <a:off x="8343900" y="2428646"/>
            <a:ext cx="3048610" cy="457200"/>
          </a:xfrm>
          <a:prstGeom prst="rect">
            <a:avLst/>
          </a:prstGeom>
          <a:noFill/>
          <a:ln/>
        </p:spPr>
        <p:txBody>
          <a:bodyPr wrap="square" lIns="0" tIns="0" rIns="0" bIns="0" rtlCol="0" anchor="ctr"/>
          <a:lstStyle/>
          <a:p>
            <a:pPr marL="0" indent="0" algn="l">
              <a:buNone/>
            </a:pPr>
            <a:r>
              <a:rPr lang="en-US" sz="1200">
                <a:solidFill>
                  <a:srgbClr val="4B5563"/>
                </a:solidFill>
                <a:latin typeface="Raleway" pitchFamily="34" charset="0"/>
                <a:ea typeface="Raleway" pitchFamily="34" charset="-122"/>
                <a:cs typeface="Raleway" pitchFamily="34" charset="-120"/>
              </a:rPr>
              <a:t>Unified API gateway + real-time ETL - a single pane of glass.</a:t>
            </a:r>
            <a:endParaRPr lang="en-US" sz="1200"/>
          </a:p>
        </p:txBody>
      </p:sp>
      <p:sp>
        <p:nvSpPr>
          <p:cNvPr id="35" name="Shape 25"/>
          <p:cNvSpPr/>
          <p:nvPr/>
        </p:nvSpPr>
        <p:spPr>
          <a:xfrm>
            <a:off x="2686507" y="4580145"/>
            <a:ext cx="304495" cy="304495"/>
          </a:xfrm>
          <a:prstGeom prst="roundRect">
            <a:avLst>
              <a:gd name="adj" fmla="val 112613"/>
            </a:avLst>
          </a:prstGeom>
          <a:solidFill>
            <a:srgbClr val="FEF2F2"/>
          </a:solidFill>
          <a:ln w="12700">
            <a:solidFill>
              <a:srgbClr val="FFFFFF">
                <a:alpha val="0"/>
              </a:srgbClr>
            </a:solidFill>
            <a:prstDash val="solid"/>
          </a:ln>
        </p:spPr>
        <p:txBody>
          <a:bodyPr/>
          <a:lstStyle/>
          <a:p>
            <a:endParaRPr lang="en-US"/>
          </a:p>
        </p:txBody>
      </p:sp>
      <p:pic>
        <p:nvPicPr>
          <p:cNvPr id="36" name="Image 8" descr="gen-dedup-e7d7166718140d8159b1663599725aa5.png"/>
          <p:cNvPicPr>
            <a:picLocks noChangeAspect="1"/>
          </p:cNvPicPr>
          <p:nvPr/>
        </p:nvPicPr>
        <p:blipFill>
          <a:blip r:embed="rId9"/>
          <a:srcRect t="-8450" b="-8450"/>
          <a:stretch/>
        </p:blipFill>
        <p:spPr>
          <a:xfrm>
            <a:off x="2781605" y="4656040"/>
            <a:ext cx="114300" cy="152705"/>
          </a:xfrm>
          <a:prstGeom prst="rect">
            <a:avLst/>
          </a:prstGeom>
        </p:spPr>
      </p:pic>
      <p:sp>
        <p:nvSpPr>
          <p:cNvPr id="37" name="Text 26"/>
          <p:cNvSpPr txBox="1"/>
          <p:nvPr/>
        </p:nvSpPr>
        <p:spPr>
          <a:xfrm>
            <a:off x="3124505" y="4580145"/>
            <a:ext cx="2572207" cy="305410"/>
          </a:xfrm>
          <a:prstGeom prst="rect">
            <a:avLst/>
          </a:prstGeom>
          <a:noFill/>
          <a:ln/>
        </p:spPr>
        <p:txBody>
          <a:bodyPr wrap="none" lIns="0" tIns="0" rIns="0" bIns="0" rtlCol="0" anchor="ctr"/>
          <a:lstStyle/>
          <a:p>
            <a:pPr marL="0" indent="0" algn="l">
              <a:buNone/>
            </a:pPr>
            <a:r>
              <a:rPr lang="en-US" sz="1500" b="1">
                <a:solidFill>
                  <a:srgbClr val="111827"/>
                </a:solidFill>
                <a:latin typeface="Oswald" pitchFamily="34" charset="0"/>
                <a:ea typeface="Oswald" pitchFamily="34" charset="-122"/>
                <a:cs typeface="Oswald" pitchFamily="34" charset="-120"/>
              </a:rPr>
              <a:t>J2W AI Labs</a:t>
            </a:r>
            <a:endParaRPr lang="en-US" sz="1500"/>
          </a:p>
        </p:txBody>
      </p:sp>
      <p:sp>
        <p:nvSpPr>
          <p:cNvPr id="38" name="Text 27"/>
          <p:cNvSpPr txBox="1"/>
          <p:nvPr/>
        </p:nvSpPr>
        <p:spPr>
          <a:xfrm>
            <a:off x="2686507" y="5056547"/>
            <a:ext cx="3048610" cy="457200"/>
          </a:xfrm>
          <a:prstGeom prst="rect">
            <a:avLst/>
          </a:prstGeom>
          <a:noFill/>
          <a:ln/>
        </p:spPr>
        <p:txBody>
          <a:bodyPr wrap="square" lIns="0" tIns="0" rIns="0" bIns="0" rtlCol="0" anchor="ctr"/>
          <a:lstStyle/>
          <a:p>
            <a:pPr marL="0" indent="0" algn="l">
              <a:buNone/>
            </a:pPr>
            <a:r>
              <a:rPr lang="en-US" sz="1200">
                <a:solidFill>
                  <a:srgbClr val="4B5563"/>
                </a:solidFill>
                <a:latin typeface="Raleway" pitchFamily="34" charset="0"/>
                <a:ea typeface="Raleway" pitchFamily="34" charset="-122"/>
                <a:cs typeface="Raleway" pitchFamily="34" charset="-120"/>
              </a:rPr>
              <a:t>Internal AI engine - every engineer AI-certified before Day 1.</a:t>
            </a:r>
            <a:endParaRPr lang="en-US" sz="1200"/>
          </a:p>
        </p:txBody>
      </p:sp>
      <p:sp>
        <p:nvSpPr>
          <p:cNvPr id="39" name="Shape 28"/>
          <p:cNvSpPr/>
          <p:nvPr/>
        </p:nvSpPr>
        <p:spPr>
          <a:xfrm>
            <a:off x="6458407" y="4580145"/>
            <a:ext cx="304495" cy="304495"/>
          </a:xfrm>
          <a:prstGeom prst="roundRect">
            <a:avLst>
              <a:gd name="adj" fmla="val 112613"/>
            </a:avLst>
          </a:prstGeom>
          <a:solidFill>
            <a:srgbClr val="F0FDFA"/>
          </a:solidFill>
          <a:ln w="12700">
            <a:solidFill>
              <a:srgbClr val="FFFFFF">
                <a:alpha val="0"/>
              </a:srgbClr>
            </a:solidFill>
            <a:prstDash val="solid"/>
          </a:ln>
        </p:spPr>
        <p:txBody>
          <a:bodyPr/>
          <a:lstStyle/>
          <a:p>
            <a:endParaRPr lang="en-US"/>
          </a:p>
        </p:txBody>
      </p:sp>
      <p:pic>
        <p:nvPicPr>
          <p:cNvPr id="40" name="Image 9" descr="gen-dedup-a3d9bb31ae14fa9101e3246a3a64819e.png"/>
          <p:cNvPicPr>
            <a:picLocks noChangeAspect="1"/>
          </p:cNvPicPr>
          <p:nvPr/>
        </p:nvPicPr>
        <p:blipFill>
          <a:blip r:embed="rId10"/>
          <a:srcRect t="-8450" b="-8450"/>
          <a:stretch/>
        </p:blipFill>
        <p:spPr>
          <a:xfrm>
            <a:off x="6553505" y="4656040"/>
            <a:ext cx="114300" cy="152705"/>
          </a:xfrm>
          <a:prstGeom prst="rect">
            <a:avLst/>
          </a:prstGeom>
        </p:spPr>
      </p:pic>
      <p:sp>
        <p:nvSpPr>
          <p:cNvPr id="41" name="Text 29"/>
          <p:cNvSpPr txBox="1"/>
          <p:nvPr/>
        </p:nvSpPr>
        <p:spPr>
          <a:xfrm>
            <a:off x="6896405" y="4580145"/>
            <a:ext cx="2572207" cy="305410"/>
          </a:xfrm>
          <a:prstGeom prst="rect">
            <a:avLst/>
          </a:prstGeom>
          <a:noFill/>
          <a:ln/>
        </p:spPr>
        <p:txBody>
          <a:bodyPr wrap="none" lIns="0" tIns="0" rIns="0" bIns="0" rtlCol="0" anchor="ctr"/>
          <a:lstStyle/>
          <a:p>
            <a:pPr marL="0" indent="0" algn="l">
              <a:buNone/>
            </a:pPr>
            <a:r>
              <a:rPr lang="en-US" sz="1500" b="1">
                <a:solidFill>
                  <a:srgbClr val="111827"/>
                </a:solidFill>
                <a:latin typeface="Oswald" pitchFamily="34" charset="0"/>
                <a:ea typeface="Oswald" pitchFamily="34" charset="-122"/>
                <a:cs typeface="Oswald" pitchFamily="34" charset="-120"/>
              </a:rPr>
              <a:t>60+ Accelerators</a:t>
            </a:r>
            <a:endParaRPr lang="en-US" sz="1500"/>
          </a:p>
        </p:txBody>
      </p:sp>
      <p:sp>
        <p:nvSpPr>
          <p:cNvPr id="42" name="Text 30"/>
          <p:cNvSpPr txBox="1"/>
          <p:nvPr/>
        </p:nvSpPr>
        <p:spPr>
          <a:xfrm>
            <a:off x="6458407" y="5056547"/>
            <a:ext cx="3048610" cy="457200"/>
          </a:xfrm>
          <a:prstGeom prst="rect">
            <a:avLst/>
          </a:prstGeom>
          <a:noFill/>
          <a:ln/>
        </p:spPr>
        <p:txBody>
          <a:bodyPr wrap="square" lIns="0" tIns="0" rIns="0" bIns="0" rtlCol="0" anchor="ctr"/>
          <a:lstStyle/>
          <a:p>
            <a:pPr marL="0" indent="0" algn="l">
              <a:buNone/>
            </a:pPr>
            <a:r>
              <a:rPr lang="en-US" sz="1200">
                <a:solidFill>
                  <a:srgbClr val="4B5563"/>
                </a:solidFill>
                <a:latin typeface="Raleway" pitchFamily="34" charset="0"/>
                <a:ea typeface="Raleway" pitchFamily="34" charset="-122"/>
                <a:cs typeface="Raleway" pitchFamily="34" charset="-120"/>
              </a:rPr>
              <a:t>Pre-built solutions on AI, Data, SAP, ServiceNow &amp; industry stacks.</a:t>
            </a:r>
            <a:endParaRPr lang="en-US" sz="1200"/>
          </a:p>
        </p:txBody>
      </p:sp>
      <p:sp>
        <p:nvSpPr>
          <p:cNvPr id="45" name="TextBox 44">
            <a:extLst>
              <a:ext uri="{FF2B5EF4-FFF2-40B4-BE49-F238E27FC236}">
                <a16:creationId xmlns:a16="http://schemas.microsoft.com/office/drawing/2014/main" id="{25DD6EC7-8F41-58C5-8FE6-D76C9E660C2A}"/>
              </a:ext>
            </a:extLst>
          </p:cNvPr>
          <p:cNvSpPr txBox="1"/>
          <p:nvPr/>
        </p:nvSpPr>
        <p:spPr>
          <a:xfrm>
            <a:off x="3048000" y="3429000"/>
            <a:ext cx="60960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endParaRPr lang="en-US"/>
          </a:p>
        </p:txBody>
      </p:sp>
      <p:pic>
        <p:nvPicPr>
          <p:cNvPr id="46" name="Image 4" descr="gen-dedup-818c62191cf4a66fb5704c7f87e3fedf.png">
            <a:extLst>
              <a:ext uri="{FF2B5EF4-FFF2-40B4-BE49-F238E27FC236}">
                <a16:creationId xmlns:a16="http://schemas.microsoft.com/office/drawing/2014/main" id="{A980FDE9-E014-9753-42B7-FC41FD2E0E7B}"/>
              </a:ext>
            </a:extLst>
          </p:cNvPr>
          <p:cNvPicPr>
            <a:picLocks noChangeAspect="1"/>
          </p:cNvPicPr>
          <p:nvPr/>
        </p:nvPicPr>
        <p:blipFill>
          <a:blip r:embed="rId11"/>
          <a:srcRect l="-166" r="-166"/>
          <a:stretch/>
        </p:blipFill>
        <p:spPr>
          <a:xfrm>
            <a:off x="763982" y="3044867"/>
            <a:ext cx="3084728" cy="696773"/>
          </a:xfrm>
          <a:prstGeom prst="rect">
            <a:avLst/>
          </a:prstGeom>
        </p:spPr>
      </p:pic>
      <p:sp>
        <p:nvSpPr>
          <p:cNvPr id="50" name="Text 10">
            <a:extLst>
              <a:ext uri="{FF2B5EF4-FFF2-40B4-BE49-F238E27FC236}">
                <a16:creationId xmlns:a16="http://schemas.microsoft.com/office/drawing/2014/main" id="{0D0121B9-3CE1-9CE2-0D74-0AF49A3870A7}"/>
              </a:ext>
            </a:extLst>
          </p:cNvPr>
          <p:cNvSpPr txBox="1"/>
          <p:nvPr/>
        </p:nvSpPr>
        <p:spPr>
          <a:xfrm>
            <a:off x="735178" y="3013861"/>
            <a:ext cx="3084728" cy="734263"/>
          </a:xfrm>
          <a:prstGeom prst="rect">
            <a:avLst/>
          </a:prstGeom>
          <a:solidFill>
            <a:srgbClr val="FFFFFF">
              <a:alpha val="0"/>
            </a:srgbClr>
          </a:solidFill>
          <a:ln>
            <a:solidFill>
              <a:srgbClr val="FFFFFF">
                <a:alpha val="0"/>
              </a:srgbClr>
            </a:solidFill>
          </a:ln>
        </p:spPr>
        <p:txBody>
          <a:bodyPr wrap="square" lIns="190500" tIns="114300" rIns="190500" bIns="114300" rtlCol="0" anchor="ctr"/>
          <a:lstStyle/>
          <a:p>
            <a:pPr marL="0" indent="0" algn="l">
              <a:buNone/>
            </a:pPr>
            <a:r>
              <a:rPr lang="en-GB" sz="1100" b="1">
                <a:solidFill>
                  <a:srgbClr val="374151"/>
                </a:solidFill>
                <a:latin typeface="Raleway" pitchFamily="34" charset="0"/>
                <a:ea typeface="Raleway" pitchFamily="34" charset="-122"/>
                <a:cs typeface="Raleway" pitchFamily="34" charset="-120"/>
              </a:rPr>
              <a:t>Get the specialist you can't find anywhere else - on your project in days, not months.</a:t>
            </a:r>
            <a:endParaRPr lang="en-US" sz="1100"/>
          </a:p>
        </p:txBody>
      </p:sp>
      <p:pic>
        <p:nvPicPr>
          <p:cNvPr id="53" name="Image 4" descr="gen-dedup-818c62191cf4a66fb5704c7f87e3fedf.png">
            <a:extLst>
              <a:ext uri="{FF2B5EF4-FFF2-40B4-BE49-F238E27FC236}">
                <a16:creationId xmlns:a16="http://schemas.microsoft.com/office/drawing/2014/main" id="{7F30F277-1A65-29B4-3A81-D79CA0D62D9F}"/>
              </a:ext>
            </a:extLst>
          </p:cNvPr>
          <p:cNvPicPr>
            <a:picLocks noChangeAspect="1"/>
          </p:cNvPicPr>
          <p:nvPr/>
        </p:nvPicPr>
        <p:blipFill>
          <a:blip r:embed="rId11"/>
          <a:srcRect l="-166" r="-166"/>
          <a:stretch/>
        </p:blipFill>
        <p:spPr>
          <a:xfrm>
            <a:off x="8343290" y="3065982"/>
            <a:ext cx="3084728" cy="696773"/>
          </a:xfrm>
          <a:prstGeom prst="rect">
            <a:avLst/>
          </a:prstGeom>
        </p:spPr>
      </p:pic>
      <p:sp>
        <p:nvSpPr>
          <p:cNvPr id="54" name="Text 10">
            <a:extLst>
              <a:ext uri="{FF2B5EF4-FFF2-40B4-BE49-F238E27FC236}">
                <a16:creationId xmlns:a16="http://schemas.microsoft.com/office/drawing/2014/main" id="{B6B809AB-EF04-CC02-1ABA-A7E3BE035F3E}"/>
              </a:ext>
            </a:extLst>
          </p:cNvPr>
          <p:cNvSpPr txBox="1"/>
          <p:nvPr/>
        </p:nvSpPr>
        <p:spPr>
          <a:xfrm>
            <a:off x="8307782" y="2975915"/>
            <a:ext cx="3084728" cy="734263"/>
          </a:xfrm>
          <a:prstGeom prst="rect">
            <a:avLst/>
          </a:prstGeom>
          <a:solidFill>
            <a:srgbClr val="FFFFFF">
              <a:alpha val="0"/>
            </a:srgbClr>
          </a:solidFill>
          <a:ln>
            <a:solidFill>
              <a:srgbClr val="FFFFFF">
                <a:alpha val="0"/>
              </a:srgbClr>
            </a:solidFill>
          </a:ln>
        </p:spPr>
        <p:txBody>
          <a:bodyPr wrap="square" lIns="190500" tIns="114300" rIns="190500" bIns="114300" rtlCol="0" anchor="ctr"/>
          <a:lstStyle/>
          <a:p>
            <a:pPr marL="0" indent="0" algn="l">
              <a:buNone/>
            </a:pPr>
            <a:r>
              <a:rPr lang="en-GB" sz="1100" b="1">
                <a:solidFill>
                  <a:srgbClr val="374151"/>
                </a:solidFill>
                <a:latin typeface="Raleway" pitchFamily="34" charset="0"/>
                <a:ea typeface="Raleway" pitchFamily="34" charset="-122"/>
                <a:cs typeface="Raleway" pitchFamily="34" charset="-120"/>
              </a:rPr>
              <a:t>Every system, every record, one unified view, nothing scattered, nothing siloed.</a:t>
            </a:r>
            <a:endParaRPr lang="en-US" sz="1100"/>
          </a:p>
        </p:txBody>
      </p:sp>
      <p:pic>
        <p:nvPicPr>
          <p:cNvPr id="55" name="Image 4" descr="gen-dedup-818c62191cf4a66fb5704c7f87e3fedf.png">
            <a:extLst>
              <a:ext uri="{FF2B5EF4-FFF2-40B4-BE49-F238E27FC236}">
                <a16:creationId xmlns:a16="http://schemas.microsoft.com/office/drawing/2014/main" id="{C04CD5A3-FC44-F168-DAAE-3D908141FB07}"/>
              </a:ext>
            </a:extLst>
          </p:cNvPr>
          <p:cNvPicPr>
            <a:picLocks noChangeAspect="1"/>
          </p:cNvPicPr>
          <p:nvPr/>
        </p:nvPicPr>
        <p:blipFill>
          <a:blip r:embed="rId11"/>
          <a:srcRect l="-166" r="-166"/>
          <a:stretch/>
        </p:blipFill>
        <p:spPr>
          <a:xfrm>
            <a:off x="6468009" y="5622561"/>
            <a:ext cx="3084728" cy="696773"/>
          </a:xfrm>
          <a:prstGeom prst="rect">
            <a:avLst/>
          </a:prstGeom>
        </p:spPr>
      </p:pic>
      <p:sp>
        <p:nvSpPr>
          <p:cNvPr id="56" name="Text 10">
            <a:extLst>
              <a:ext uri="{FF2B5EF4-FFF2-40B4-BE49-F238E27FC236}">
                <a16:creationId xmlns:a16="http://schemas.microsoft.com/office/drawing/2014/main" id="{7CAA90B1-B9B9-7E1C-4153-2D83AE870C7F}"/>
              </a:ext>
            </a:extLst>
          </p:cNvPr>
          <p:cNvSpPr txBox="1"/>
          <p:nvPr/>
        </p:nvSpPr>
        <p:spPr>
          <a:xfrm>
            <a:off x="6439205" y="5591555"/>
            <a:ext cx="3084728" cy="734263"/>
          </a:xfrm>
          <a:prstGeom prst="rect">
            <a:avLst/>
          </a:prstGeom>
          <a:solidFill>
            <a:srgbClr val="FFFFFF">
              <a:alpha val="0"/>
            </a:srgbClr>
          </a:solidFill>
          <a:ln>
            <a:solidFill>
              <a:srgbClr val="FFFFFF">
                <a:alpha val="0"/>
              </a:srgbClr>
            </a:solidFill>
          </a:ln>
        </p:spPr>
        <p:txBody>
          <a:bodyPr wrap="square" lIns="190500" tIns="114300" rIns="190500" bIns="114300" rtlCol="0" anchor="ctr"/>
          <a:lstStyle/>
          <a:p>
            <a:pPr marL="0" indent="0" algn="l">
              <a:buNone/>
            </a:pPr>
            <a:r>
              <a:rPr lang="en-GB" sz="1100" b="1">
                <a:solidFill>
                  <a:srgbClr val="374151"/>
                </a:solidFill>
                <a:latin typeface="Raleway" pitchFamily="34" charset="0"/>
                <a:ea typeface="Raleway" pitchFamily="34" charset="-122"/>
                <a:cs typeface="Raleway" pitchFamily="34" charset="-120"/>
              </a:rPr>
              <a:t>Pre-built accelerators everywhere - AI to SAP, so you never start from zero.</a:t>
            </a:r>
            <a:endParaRPr lang="en-US" sz="1100"/>
          </a:p>
        </p:txBody>
      </p:sp>
      <p:pic>
        <p:nvPicPr>
          <p:cNvPr id="58" name="Image 6" descr="gen-dedup-0363cb9fbb55bfd8aa96459f99cffd70.png">
            <a:extLst>
              <a:ext uri="{FF2B5EF4-FFF2-40B4-BE49-F238E27FC236}">
                <a16:creationId xmlns:a16="http://schemas.microsoft.com/office/drawing/2014/main" id="{1C0328F8-7532-2770-8AF3-B14A7F95B666}"/>
              </a:ext>
            </a:extLst>
          </p:cNvPr>
          <p:cNvPicPr>
            <a:picLocks noChangeAspect="1"/>
          </p:cNvPicPr>
          <p:nvPr/>
        </p:nvPicPr>
        <p:blipFill>
          <a:blip r:embed="rId12"/>
          <a:srcRect l="-260" r="-260"/>
          <a:stretch/>
        </p:blipFill>
        <p:spPr>
          <a:xfrm>
            <a:off x="4572000" y="3044867"/>
            <a:ext cx="3048610" cy="696773"/>
          </a:xfrm>
          <a:prstGeom prst="rect">
            <a:avLst/>
          </a:prstGeom>
        </p:spPr>
      </p:pic>
      <p:sp>
        <p:nvSpPr>
          <p:cNvPr id="65" name="Text 10">
            <a:extLst>
              <a:ext uri="{FF2B5EF4-FFF2-40B4-BE49-F238E27FC236}">
                <a16:creationId xmlns:a16="http://schemas.microsoft.com/office/drawing/2014/main" id="{448CC21A-AD81-779D-EEB6-66FC3A51B663}"/>
              </a:ext>
            </a:extLst>
          </p:cNvPr>
          <p:cNvSpPr txBox="1"/>
          <p:nvPr/>
        </p:nvSpPr>
        <p:spPr>
          <a:xfrm>
            <a:off x="4552416" y="3031344"/>
            <a:ext cx="3084728" cy="734263"/>
          </a:xfrm>
          <a:prstGeom prst="rect">
            <a:avLst/>
          </a:prstGeom>
          <a:solidFill>
            <a:srgbClr val="FFFFFF">
              <a:alpha val="0"/>
            </a:srgbClr>
          </a:solidFill>
          <a:ln>
            <a:solidFill>
              <a:srgbClr val="FFFFFF">
                <a:alpha val="0"/>
              </a:srgbClr>
            </a:solidFill>
          </a:ln>
        </p:spPr>
        <p:txBody>
          <a:bodyPr wrap="square" lIns="190500" tIns="114300" rIns="190500" bIns="114300" rtlCol="0" anchor="ctr"/>
          <a:lstStyle/>
          <a:p>
            <a:pPr marL="0" indent="0" algn="l">
              <a:buNone/>
            </a:pPr>
            <a:r>
              <a:rPr lang="en-GB" sz="1100" b="1">
                <a:solidFill>
                  <a:srgbClr val="374151"/>
                </a:solidFill>
                <a:latin typeface="Raleway" pitchFamily="34" charset="0"/>
                <a:ea typeface="Raleway" pitchFamily="34" charset="-122"/>
                <a:cs typeface="Raleway" pitchFamily="34" charset="-120"/>
              </a:rPr>
              <a:t>AI reads, scores, and ranks every resume against your JD, you only see who's actually a fit.</a:t>
            </a:r>
            <a:endParaRPr lang="en-US" sz="1100"/>
          </a:p>
        </p:txBody>
      </p:sp>
      <p:pic>
        <p:nvPicPr>
          <p:cNvPr id="66" name="Image 6" descr="gen-dedup-0363cb9fbb55bfd8aa96459f99cffd70.png">
            <a:extLst>
              <a:ext uri="{FF2B5EF4-FFF2-40B4-BE49-F238E27FC236}">
                <a16:creationId xmlns:a16="http://schemas.microsoft.com/office/drawing/2014/main" id="{683DD1AA-57EE-0934-AD15-BD342C3F78E3}"/>
              </a:ext>
            </a:extLst>
          </p:cNvPr>
          <p:cNvPicPr>
            <a:picLocks noChangeAspect="1"/>
          </p:cNvPicPr>
          <p:nvPr/>
        </p:nvPicPr>
        <p:blipFill>
          <a:blip r:embed="rId12"/>
          <a:srcRect l="-260" r="-260"/>
          <a:stretch/>
        </p:blipFill>
        <p:spPr>
          <a:xfrm>
            <a:off x="2669973" y="5622369"/>
            <a:ext cx="3048610" cy="696773"/>
          </a:xfrm>
          <a:prstGeom prst="rect">
            <a:avLst/>
          </a:prstGeom>
        </p:spPr>
      </p:pic>
      <p:sp>
        <p:nvSpPr>
          <p:cNvPr id="67" name="Text 10">
            <a:extLst>
              <a:ext uri="{FF2B5EF4-FFF2-40B4-BE49-F238E27FC236}">
                <a16:creationId xmlns:a16="http://schemas.microsoft.com/office/drawing/2014/main" id="{E63D122D-C1D4-E9DB-5DE3-71F72FDC7AB0}"/>
              </a:ext>
            </a:extLst>
          </p:cNvPr>
          <p:cNvSpPr txBox="1"/>
          <p:nvPr/>
        </p:nvSpPr>
        <p:spPr>
          <a:xfrm>
            <a:off x="2650389" y="5608846"/>
            <a:ext cx="3084728" cy="734263"/>
          </a:xfrm>
          <a:prstGeom prst="rect">
            <a:avLst/>
          </a:prstGeom>
          <a:solidFill>
            <a:srgbClr val="FFFFFF">
              <a:alpha val="0"/>
            </a:srgbClr>
          </a:solidFill>
          <a:ln>
            <a:solidFill>
              <a:srgbClr val="FFFFFF">
                <a:alpha val="0"/>
              </a:srgbClr>
            </a:solidFill>
          </a:ln>
        </p:spPr>
        <p:txBody>
          <a:bodyPr wrap="square" lIns="190500" tIns="114300" rIns="190500" bIns="114300" rtlCol="0" anchor="ctr"/>
          <a:lstStyle/>
          <a:p>
            <a:r>
              <a:rPr lang="en-GB" sz="1100" b="1">
                <a:solidFill>
                  <a:srgbClr val="374151"/>
                </a:solidFill>
                <a:latin typeface="Raleway" pitchFamily="34" charset="0"/>
                <a:ea typeface="Raleway" pitchFamily="34" charset="-122"/>
                <a:cs typeface="Raleway" pitchFamily="34" charset="-120"/>
              </a:rPr>
              <a:t>Every engineer arrives AI-fluent, productivity from week one, not after months of training.</a:t>
            </a:r>
            <a:endParaRPr lang="en-US" sz="1100"/>
          </a:p>
        </p:txBody>
      </p:sp>
      <p:pic>
        <p:nvPicPr>
          <p:cNvPr id="20" name="Image 3" descr="gen-dedup-777bf757d895431cabe402fcd34ebd5a.png">
            <a:extLst>
              <a:ext uri="{FF2B5EF4-FFF2-40B4-BE49-F238E27FC236}">
                <a16:creationId xmlns:a16="http://schemas.microsoft.com/office/drawing/2014/main" id="{39B86839-D5CE-9E77-188E-91BA329A3242}"/>
              </a:ext>
            </a:extLst>
          </p:cNvPr>
          <p:cNvPicPr>
            <a:picLocks noChangeAspect="1"/>
          </p:cNvPicPr>
          <p:nvPr/>
        </p:nvPicPr>
        <p:blipFill>
          <a:blip r:embed="rId13">
            <a:biLevel thresh="75000"/>
          </a:blip>
          <a:srcRect l="-384" r="-384"/>
          <a:stretch/>
        </p:blipFill>
        <p:spPr>
          <a:xfrm>
            <a:off x="571500" y="381305"/>
            <a:ext cx="57607" cy="476402"/>
          </a:xfrm>
          <a:prstGeom prst="rect">
            <a:avLst/>
          </a:prstGeom>
        </p:spPr>
      </p:pic>
      <p:sp>
        <p:nvSpPr>
          <p:cNvPr id="44" name="Text 5">
            <a:extLst>
              <a:ext uri="{FF2B5EF4-FFF2-40B4-BE49-F238E27FC236}">
                <a16:creationId xmlns:a16="http://schemas.microsoft.com/office/drawing/2014/main" id="{265888E8-C762-FC9B-EF3C-9C969913E9EE}"/>
              </a:ext>
            </a:extLst>
          </p:cNvPr>
          <p:cNvSpPr txBox="1"/>
          <p:nvPr/>
        </p:nvSpPr>
        <p:spPr>
          <a:xfrm>
            <a:off x="780897" y="333756"/>
            <a:ext cx="5913817" cy="406908"/>
          </a:xfrm>
          <a:prstGeom prst="rect">
            <a:avLst/>
          </a:prstGeom>
          <a:noFill/>
          <a:ln/>
        </p:spPr>
        <p:txBody>
          <a:bodyPr wrap="none" lIns="0" tIns="0" rIns="0" bIns="0" rtlCol="0" anchor="ctr"/>
          <a:lstStyle/>
          <a:p>
            <a:r>
              <a:rPr lang="en-US" sz="2400" b="1" kern="0" spc="-67" dirty="0">
                <a:solidFill>
                  <a:srgbClr val="111827"/>
                </a:solidFill>
                <a:latin typeface="Oswald" pitchFamily="34" charset="0"/>
                <a:ea typeface="Oswald" pitchFamily="34" charset="-122"/>
                <a:cs typeface="Oswald" pitchFamily="34" charset="-120"/>
              </a:rPr>
              <a:t>WHAT WE OWN</a:t>
            </a:r>
          </a:p>
        </p:txBody>
      </p:sp>
      <p:sp>
        <p:nvSpPr>
          <p:cNvPr id="48" name="Text 6">
            <a:extLst>
              <a:ext uri="{FF2B5EF4-FFF2-40B4-BE49-F238E27FC236}">
                <a16:creationId xmlns:a16="http://schemas.microsoft.com/office/drawing/2014/main" id="{40C2EE28-ED5B-7B2B-4232-8020856679CF}"/>
              </a:ext>
            </a:extLst>
          </p:cNvPr>
          <p:cNvSpPr txBox="1"/>
          <p:nvPr/>
        </p:nvSpPr>
        <p:spPr>
          <a:xfrm>
            <a:off x="780898" y="740663"/>
            <a:ext cx="5054803" cy="257861"/>
          </a:xfrm>
          <a:prstGeom prst="rect">
            <a:avLst/>
          </a:prstGeom>
          <a:noFill/>
          <a:ln/>
        </p:spPr>
        <p:txBody>
          <a:bodyPr wrap="none" lIns="0" tIns="0" rIns="0" bIns="0" rtlCol="0" anchor="ctr"/>
          <a:lstStyle/>
          <a:p>
            <a:pPr marL="0" indent="0" algn="l">
              <a:buNone/>
            </a:pPr>
            <a:r>
              <a:rPr lang="en-GB" sz="1500" b="1" kern="0" spc="66" dirty="0">
                <a:solidFill>
                  <a:srgbClr val="2A9D8F"/>
                </a:solidFill>
                <a:latin typeface="Roboto Condensed" pitchFamily="34" charset="0"/>
                <a:ea typeface="Roboto Condensed" pitchFamily="34" charset="-122"/>
                <a:cs typeface="Roboto Condensed" pitchFamily="34" charset="-120"/>
              </a:rPr>
              <a:t>The Proprietary Stack - Our Moat</a:t>
            </a:r>
          </a:p>
        </p:txBody>
      </p:sp>
    </p:spTree>
    <p:extLst>
      <p:ext uri="{BB962C8B-B14F-4D97-AF65-F5344CB8AC3E}">
        <p14:creationId xmlns:p14="http://schemas.microsoft.com/office/powerpoint/2010/main" val="38212399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1">
            <a:extLst>
              <a:ext uri="{FF2B5EF4-FFF2-40B4-BE49-F238E27FC236}">
                <a16:creationId xmlns:a16="http://schemas.microsoft.com/office/drawing/2014/main" id="{A24FAB32-955D-AD73-0047-05FB50424916}"/>
              </a:ext>
            </a:extLst>
          </p:cNvPr>
          <p:cNvSpPr/>
          <p:nvPr/>
        </p:nvSpPr>
        <p:spPr>
          <a:xfrm>
            <a:off x="8286474" y="2494799"/>
            <a:ext cx="3589767" cy="763744"/>
          </a:xfrm>
          <a:prstGeom prst="rect">
            <a:avLst/>
          </a:prstGeom>
          <a:solidFill>
            <a:srgbClr val="F4F6FA"/>
          </a:solidFill>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IN" sz="1351">
              <a:latin typeface="Raleway" pitchFamily="2" charset="0"/>
            </a:endParaRPr>
          </a:p>
        </p:txBody>
      </p:sp>
      <p:sp>
        <p:nvSpPr>
          <p:cNvPr id="7" name="Shape 1">
            <a:extLst>
              <a:ext uri="{FF2B5EF4-FFF2-40B4-BE49-F238E27FC236}">
                <a16:creationId xmlns:a16="http://schemas.microsoft.com/office/drawing/2014/main" id="{C2B3F627-1A4C-A8C3-3D3B-3199B41148B7}"/>
              </a:ext>
            </a:extLst>
          </p:cNvPr>
          <p:cNvSpPr/>
          <p:nvPr/>
        </p:nvSpPr>
        <p:spPr>
          <a:xfrm>
            <a:off x="4423923" y="2475093"/>
            <a:ext cx="3694869" cy="757175"/>
          </a:xfrm>
          <a:prstGeom prst="rect">
            <a:avLst/>
          </a:prstGeom>
          <a:solidFill>
            <a:srgbClr val="F4F6FA"/>
          </a:solidFill>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IN" sz="1351">
              <a:latin typeface="Raleway" pitchFamily="2" charset="0"/>
            </a:endParaRPr>
          </a:p>
        </p:txBody>
      </p:sp>
      <p:sp>
        <p:nvSpPr>
          <p:cNvPr id="9" name="Shape 1">
            <a:extLst>
              <a:ext uri="{FF2B5EF4-FFF2-40B4-BE49-F238E27FC236}">
                <a16:creationId xmlns:a16="http://schemas.microsoft.com/office/drawing/2014/main" id="{6B86DAEF-B005-1BA9-95B2-0DB17919DFFB}"/>
              </a:ext>
            </a:extLst>
          </p:cNvPr>
          <p:cNvSpPr/>
          <p:nvPr/>
        </p:nvSpPr>
        <p:spPr>
          <a:xfrm>
            <a:off x="515390" y="2475091"/>
            <a:ext cx="3596335" cy="776884"/>
          </a:xfrm>
          <a:prstGeom prst="rect">
            <a:avLst/>
          </a:prstGeom>
          <a:solidFill>
            <a:srgbClr val="F4F6FA"/>
          </a:solidFill>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IN" sz="1351">
              <a:latin typeface="Raleway" pitchFamily="2" charset="0"/>
            </a:endParaRPr>
          </a:p>
        </p:txBody>
      </p:sp>
      <p:sp>
        <p:nvSpPr>
          <p:cNvPr id="11" name="Shape 1">
            <a:extLst>
              <a:ext uri="{FF2B5EF4-FFF2-40B4-BE49-F238E27FC236}">
                <a16:creationId xmlns:a16="http://schemas.microsoft.com/office/drawing/2014/main" id="{63E328A8-286C-CAE0-37BC-C9EBD605D0D9}"/>
              </a:ext>
            </a:extLst>
          </p:cNvPr>
          <p:cNvSpPr/>
          <p:nvPr/>
        </p:nvSpPr>
        <p:spPr>
          <a:xfrm>
            <a:off x="8293042" y="1332093"/>
            <a:ext cx="3583199" cy="763745"/>
          </a:xfrm>
          <a:prstGeom prst="rect">
            <a:avLst/>
          </a:prstGeom>
          <a:solidFill>
            <a:srgbClr val="F4F6FA"/>
          </a:solidFill>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IN" sz="1351">
              <a:latin typeface="Raleway" pitchFamily="2" charset="0"/>
            </a:endParaRPr>
          </a:p>
        </p:txBody>
      </p:sp>
      <p:sp>
        <p:nvSpPr>
          <p:cNvPr id="13" name="Shape 1">
            <a:extLst>
              <a:ext uri="{FF2B5EF4-FFF2-40B4-BE49-F238E27FC236}">
                <a16:creationId xmlns:a16="http://schemas.microsoft.com/office/drawing/2014/main" id="{FD7AEA01-BA51-2676-ABCA-D51578AB2D7E}"/>
              </a:ext>
            </a:extLst>
          </p:cNvPr>
          <p:cNvSpPr/>
          <p:nvPr/>
        </p:nvSpPr>
        <p:spPr>
          <a:xfrm>
            <a:off x="4415697" y="1337832"/>
            <a:ext cx="3701439" cy="770315"/>
          </a:xfrm>
          <a:prstGeom prst="rect">
            <a:avLst/>
          </a:prstGeom>
          <a:solidFill>
            <a:srgbClr val="F4F6FA"/>
          </a:solidFill>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IN" sz="1351">
              <a:latin typeface="Raleway" pitchFamily="2" charset="0"/>
            </a:endParaRPr>
          </a:p>
        </p:txBody>
      </p:sp>
      <p:sp>
        <p:nvSpPr>
          <p:cNvPr id="15" name="Shape 1">
            <a:extLst>
              <a:ext uri="{FF2B5EF4-FFF2-40B4-BE49-F238E27FC236}">
                <a16:creationId xmlns:a16="http://schemas.microsoft.com/office/drawing/2014/main" id="{5A5C8905-BACE-7255-BC59-F4886AC07E06}"/>
              </a:ext>
            </a:extLst>
          </p:cNvPr>
          <p:cNvSpPr/>
          <p:nvPr/>
        </p:nvSpPr>
        <p:spPr>
          <a:xfrm>
            <a:off x="518451" y="1338662"/>
            <a:ext cx="3589767" cy="790020"/>
          </a:xfrm>
          <a:prstGeom prst="rect">
            <a:avLst/>
          </a:prstGeom>
          <a:solidFill>
            <a:srgbClr val="F4F6FA"/>
          </a:solidFill>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IN" sz="1351">
              <a:latin typeface="Raleway" pitchFamily="2" charset="0"/>
            </a:endParaRPr>
          </a:p>
        </p:txBody>
      </p:sp>
      <p:sp>
        <p:nvSpPr>
          <p:cNvPr id="17" name="Text 35">
            <a:extLst>
              <a:ext uri="{FF2B5EF4-FFF2-40B4-BE49-F238E27FC236}">
                <a16:creationId xmlns:a16="http://schemas.microsoft.com/office/drawing/2014/main" id="{1D2B7726-1808-85B4-0B23-22D0C401EC11}"/>
              </a:ext>
            </a:extLst>
          </p:cNvPr>
          <p:cNvSpPr/>
          <p:nvPr/>
        </p:nvSpPr>
        <p:spPr>
          <a:xfrm>
            <a:off x="10369811" y="2794457"/>
            <a:ext cx="548640" cy="274320"/>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gn="r"/>
            <a:r>
              <a:rPr lang="en-US" sz="900">
                <a:solidFill>
                  <a:srgbClr val="5B6B86"/>
                </a:solidFill>
                <a:latin typeface="Raleway" pitchFamily="2" charset="0"/>
                <a:ea typeface="Calibri" pitchFamily="34" charset="-122"/>
                <a:cs typeface="Calibri" pitchFamily="34" charset="-120"/>
              </a:rPr>
              <a:t>4</a:t>
            </a:r>
            <a:endParaRPr lang="en-US" sz="900">
              <a:latin typeface="Raleway" pitchFamily="2" charset="0"/>
            </a:endParaRPr>
          </a:p>
        </p:txBody>
      </p:sp>
      <p:pic>
        <p:nvPicPr>
          <p:cNvPr id="19" name="Image 0">
            <a:extLst>
              <a:ext uri="{FF2B5EF4-FFF2-40B4-BE49-F238E27FC236}">
                <a16:creationId xmlns:a16="http://schemas.microsoft.com/office/drawing/2014/main" id="{317DB878-83B1-D693-E671-7B52AACB7F4A}"/>
              </a:ext>
            </a:extLst>
          </p:cNvPr>
          <p:cNvPicPr>
            <a:picLocks noChangeAspect="1"/>
          </p:cNvPicPr>
          <p:nvPr/>
        </p:nvPicPr>
        <p:blipFill>
          <a:blip r:embed="rId3"/>
          <a:stretch>
            <a:fillRect/>
          </a:stretch>
        </p:blipFill>
        <p:spPr>
          <a:xfrm>
            <a:off x="869103" y="1518075"/>
            <a:ext cx="256032" cy="256032"/>
          </a:xfrm>
          <a:prstGeom prst="rect">
            <a:avLst/>
          </a:prstGeom>
        </p:spPr>
      </p:pic>
      <p:sp>
        <p:nvSpPr>
          <p:cNvPr id="21" name="Text 20">
            <a:extLst>
              <a:ext uri="{FF2B5EF4-FFF2-40B4-BE49-F238E27FC236}">
                <a16:creationId xmlns:a16="http://schemas.microsoft.com/office/drawing/2014/main" id="{E2E9505C-F1EF-799A-9BCC-134811764AE4}"/>
              </a:ext>
            </a:extLst>
          </p:cNvPr>
          <p:cNvSpPr/>
          <p:nvPr/>
        </p:nvSpPr>
        <p:spPr>
          <a:xfrm>
            <a:off x="1399455" y="1369577"/>
            <a:ext cx="2569464" cy="777240"/>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nSpc>
                <a:spcPts val="1251"/>
              </a:lnSpc>
            </a:pPr>
            <a:r>
              <a:rPr lang="en-US" sz="1100" b="1" dirty="0" err="1">
                <a:solidFill>
                  <a:srgbClr val="1B2A4A"/>
                </a:solidFill>
                <a:latin typeface="Raleway" pitchFamily="2" charset="0"/>
                <a:ea typeface="Calibri"/>
                <a:cs typeface="Calibri"/>
              </a:rPr>
              <a:t>CoE</a:t>
            </a:r>
            <a:r>
              <a:rPr lang="en-US" sz="1100" b="1" dirty="0">
                <a:solidFill>
                  <a:srgbClr val="1B2A4A"/>
                </a:solidFill>
                <a:latin typeface="Raleway" pitchFamily="2" charset="0"/>
                <a:ea typeface="Calibri"/>
                <a:cs typeface="Calibri"/>
              </a:rPr>
              <a:t> Design &amp; Planning</a:t>
            </a:r>
          </a:p>
          <a:p>
            <a:pPr>
              <a:lnSpc>
                <a:spcPts val="1251"/>
              </a:lnSpc>
            </a:pPr>
            <a:endParaRPr lang="en-US" sz="1100" dirty="0">
              <a:latin typeface="Raleway" pitchFamily="2" charset="0"/>
              <a:ea typeface="Calibri Light"/>
              <a:cs typeface="Calibri Light"/>
            </a:endParaRPr>
          </a:p>
          <a:p>
            <a:pPr>
              <a:lnSpc>
                <a:spcPts val="1251"/>
              </a:lnSpc>
            </a:pPr>
            <a:r>
              <a:rPr lang="en-US" sz="1100" dirty="0">
                <a:solidFill>
                  <a:srgbClr val="5B6B86"/>
                </a:solidFill>
                <a:latin typeface="Raleway" pitchFamily="2" charset="0"/>
                <a:ea typeface="Calibri" pitchFamily="34" charset="-122"/>
                <a:cs typeface="Calibri" pitchFamily="34" charset="-120"/>
              </a:rPr>
              <a:t>Operating model, governance, KPI architecture</a:t>
            </a:r>
            <a:endParaRPr lang="en-US" sz="1100" dirty="0">
              <a:latin typeface="Raleway" pitchFamily="2" charset="0"/>
            </a:endParaRPr>
          </a:p>
        </p:txBody>
      </p:sp>
      <p:pic>
        <p:nvPicPr>
          <p:cNvPr id="23" name="Image 1">
            <a:extLst>
              <a:ext uri="{FF2B5EF4-FFF2-40B4-BE49-F238E27FC236}">
                <a16:creationId xmlns:a16="http://schemas.microsoft.com/office/drawing/2014/main" id="{B185FF42-C80C-AE3C-2856-DDE98BF51258}"/>
              </a:ext>
            </a:extLst>
          </p:cNvPr>
          <p:cNvPicPr>
            <a:picLocks noChangeAspect="1"/>
          </p:cNvPicPr>
          <p:nvPr/>
        </p:nvPicPr>
        <p:blipFill>
          <a:blip r:embed="rId4"/>
          <a:stretch>
            <a:fillRect/>
          </a:stretch>
        </p:blipFill>
        <p:spPr>
          <a:xfrm>
            <a:off x="4599855" y="1518075"/>
            <a:ext cx="256032" cy="256032"/>
          </a:xfrm>
          <a:prstGeom prst="rect">
            <a:avLst/>
          </a:prstGeom>
        </p:spPr>
      </p:pic>
      <p:sp>
        <p:nvSpPr>
          <p:cNvPr id="25" name="Text 23">
            <a:extLst>
              <a:ext uri="{FF2B5EF4-FFF2-40B4-BE49-F238E27FC236}">
                <a16:creationId xmlns:a16="http://schemas.microsoft.com/office/drawing/2014/main" id="{111B3A20-E4E7-A990-F757-38316B876A62}"/>
              </a:ext>
            </a:extLst>
          </p:cNvPr>
          <p:cNvSpPr/>
          <p:nvPr/>
        </p:nvSpPr>
        <p:spPr>
          <a:xfrm>
            <a:off x="5130207" y="1369577"/>
            <a:ext cx="2569464" cy="777240"/>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nSpc>
                <a:spcPts val="1251"/>
              </a:lnSpc>
            </a:pPr>
            <a:r>
              <a:rPr lang="en-US" sz="1100" b="1">
                <a:solidFill>
                  <a:srgbClr val="1B2A4A"/>
                </a:solidFill>
                <a:latin typeface="Raleway" pitchFamily="2" charset="0"/>
                <a:ea typeface="Calibri" pitchFamily="34" charset="-122"/>
                <a:cs typeface="Calibri" pitchFamily="34" charset="-120"/>
              </a:rPr>
              <a:t>Location Advisory</a:t>
            </a:r>
          </a:p>
          <a:p>
            <a:pPr>
              <a:lnSpc>
                <a:spcPts val="1251"/>
              </a:lnSpc>
            </a:pPr>
            <a:endParaRPr lang="en-US" sz="1100">
              <a:latin typeface="Raleway" pitchFamily="2" charset="0"/>
            </a:endParaRPr>
          </a:p>
          <a:p>
            <a:pPr>
              <a:lnSpc>
                <a:spcPts val="1251"/>
              </a:lnSpc>
            </a:pPr>
            <a:r>
              <a:rPr lang="en-US" sz="1100">
                <a:solidFill>
                  <a:srgbClr val="5B6B86"/>
                </a:solidFill>
                <a:latin typeface="Raleway" pitchFamily="2" charset="0"/>
                <a:ea typeface="Calibri" pitchFamily="34" charset="-122"/>
                <a:cs typeface="Calibri" pitchFamily="34" charset="-120"/>
              </a:rPr>
              <a:t>Intelligence from active deployments across 8 metros</a:t>
            </a:r>
            <a:endParaRPr lang="en-US" sz="1100">
              <a:latin typeface="Raleway" pitchFamily="2" charset="0"/>
            </a:endParaRPr>
          </a:p>
        </p:txBody>
      </p:sp>
      <p:pic>
        <p:nvPicPr>
          <p:cNvPr id="27" name="Image 2">
            <a:extLst>
              <a:ext uri="{FF2B5EF4-FFF2-40B4-BE49-F238E27FC236}">
                <a16:creationId xmlns:a16="http://schemas.microsoft.com/office/drawing/2014/main" id="{E5A63AD7-E3B9-D79E-2CB3-0061F5363987}"/>
              </a:ext>
            </a:extLst>
          </p:cNvPr>
          <p:cNvPicPr>
            <a:picLocks noChangeAspect="1"/>
          </p:cNvPicPr>
          <p:nvPr/>
        </p:nvPicPr>
        <p:blipFill>
          <a:blip r:embed="rId5"/>
          <a:stretch>
            <a:fillRect/>
          </a:stretch>
        </p:blipFill>
        <p:spPr>
          <a:xfrm>
            <a:off x="8422572" y="1518075"/>
            <a:ext cx="256032" cy="256032"/>
          </a:xfrm>
          <a:prstGeom prst="rect">
            <a:avLst/>
          </a:prstGeom>
        </p:spPr>
      </p:pic>
      <p:sp>
        <p:nvSpPr>
          <p:cNvPr id="29" name="Text 26">
            <a:extLst>
              <a:ext uri="{FF2B5EF4-FFF2-40B4-BE49-F238E27FC236}">
                <a16:creationId xmlns:a16="http://schemas.microsoft.com/office/drawing/2014/main" id="{66822201-13C7-2C29-FE88-30AB0E1ED7E3}"/>
              </a:ext>
            </a:extLst>
          </p:cNvPr>
          <p:cNvSpPr/>
          <p:nvPr/>
        </p:nvSpPr>
        <p:spPr>
          <a:xfrm>
            <a:off x="8952924" y="1369577"/>
            <a:ext cx="2569464" cy="777240"/>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nSpc>
                <a:spcPts val="1251"/>
              </a:lnSpc>
            </a:pPr>
            <a:r>
              <a:rPr lang="en-US" sz="1100" b="1">
                <a:solidFill>
                  <a:srgbClr val="1B2A4A"/>
                </a:solidFill>
                <a:latin typeface="Raleway" pitchFamily="2" charset="0"/>
                <a:ea typeface="Calibri" pitchFamily="34" charset="-122"/>
                <a:cs typeface="Calibri" pitchFamily="34" charset="-120"/>
              </a:rPr>
              <a:t>Employer Branding</a:t>
            </a:r>
          </a:p>
          <a:p>
            <a:pPr>
              <a:lnSpc>
                <a:spcPts val="1251"/>
              </a:lnSpc>
            </a:pPr>
            <a:endParaRPr lang="en-US" sz="1100">
              <a:latin typeface="Raleway" pitchFamily="2" charset="0"/>
            </a:endParaRPr>
          </a:p>
          <a:p>
            <a:pPr>
              <a:lnSpc>
                <a:spcPts val="1251"/>
              </a:lnSpc>
            </a:pPr>
            <a:r>
              <a:rPr lang="en-US" sz="1100">
                <a:solidFill>
                  <a:srgbClr val="5B6B86"/>
                </a:solidFill>
                <a:latin typeface="Raleway" pitchFamily="2" charset="0"/>
                <a:ea typeface="Calibri" pitchFamily="34" charset="-122"/>
                <a:cs typeface="Calibri" pitchFamily="34" charset="-120"/>
              </a:rPr>
              <a:t>Position the hub to attract architect-grade talent</a:t>
            </a:r>
            <a:endParaRPr lang="en-US" sz="1100">
              <a:latin typeface="Raleway" pitchFamily="2" charset="0"/>
            </a:endParaRPr>
          </a:p>
        </p:txBody>
      </p:sp>
      <p:pic>
        <p:nvPicPr>
          <p:cNvPr id="31" name="Image 3">
            <a:extLst>
              <a:ext uri="{FF2B5EF4-FFF2-40B4-BE49-F238E27FC236}">
                <a16:creationId xmlns:a16="http://schemas.microsoft.com/office/drawing/2014/main" id="{5416860F-CB36-1578-BCC0-4DBCF8DC0BDE}"/>
              </a:ext>
            </a:extLst>
          </p:cNvPr>
          <p:cNvPicPr>
            <a:picLocks noChangeAspect="1"/>
          </p:cNvPicPr>
          <p:nvPr/>
        </p:nvPicPr>
        <p:blipFill>
          <a:blip r:embed="rId6"/>
          <a:stretch>
            <a:fillRect/>
          </a:stretch>
        </p:blipFill>
        <p:spPr>
          <a:xfrm>
            <a:off x="869103" y="2642787"/>
            <a:ext cx="256032" cy="256032"/>
          </a:xfrm>
          <a:prstGeom prst="rect">
            <a:avLst/>
          </a:prstGeom>
        </p:spPr>
      </p:pic>
      <p:sp>
        <p:nvSpPr>
          <p:cNvPr id="33" name="Text 29">
            <a:extLst>
              <a:ext uri="{FF2B5EF4-FFF2-40B4-BE49-F238E27FC236}">
                <a16:creationId xmlns:a16="http://schemas.microsoft.com/office/drawing/2014/main" id="{0CDB8E21-2566-4255-EA6E-D261734326BC}"/>
              </a:ext>
            </a:extLst>
          </p:cNvPr>
          <p:cNvSpPr/>
          <p:nvPr/>
        </p:nvSpPr>
        <p:spPr>
          <a:xfrm>
            <a:off x="1399455" y="2494289"/>
            <a:ext cx="2569464" cy="777240"/>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nSpc>
                <a:spcPts val="1251"/>
              </a:lnSpc>
            </a:pPr>
            <a:r>
              <a:rPr lang="en-US" sz="1100" b="1">
                <a:solidFill>
                  <a:srgbClr val="1B2A4A"/>
                </a:solidFill>
                <a:latin typeface="Raleway" pitchFamily="2" charset="0"/>
                <a:ea typeface="Calibri" pitchFamily="34" charset="-122"/>
                <a:cs typeface="Calibri" pitchFamily="34" charset="-120"/>
              </a:rPr>
              <a:t>Talent Strategy</a:t>
            </a:r>
          </a:p>
          <a:p>
            <a:pPr>
              <a:lnSpc>
                <a:spcPts val="1251"/>
              </a:lnSpc>
            </a:pPr>
            <a:endParaRPr lang="en-US" sz="1100">
              <a:latin typeface="Raleway" pitchFamily="2" charset="0"/>
            </a:endParaRPr>
          </a:p>
          <a:p>
            <a:pPr>
              <a:lnSpc>
                <a:spcPts val="1251"/>
              </a:lnSpc>
            </a:pPr>
            <a:r>
              <a:rPr lang="en-US" sz="1100">
                <a:solidFill>
                  <a:srgbClr val="5B6B86"/>
                </a:solidFill>
                <a:latin typeface="Raleway" pitchFamily="2" charset="0"/>
                <a:ea typeface="Calibri" pitchFamily="34" charset="-122"/>
                <a:cs typeface="Calibri" pitchFamily="34" charset="-120"/>
              </a:rPr>
              <a:t>Workforce pyramid aligned to the AI &amp; innovation mandate</a:t>
            </a:r>
            <a:endParaRPr lang="en-US" sz="1100">
              <a:latin typeface="Raleway" pitchFamily="2" charset="0"/>
            </a:endParaRPr>
          </a:p>
        </p:txBody>
      </p:sp>
      <p:pic>
        <p:nvPicPr>
          <p:cNvPr id="35" name="Image 4">
            <a:extLst>
              <a:ext uri="{FF2B5EF4-FFF2-40B4-BE49-F238E27FC236}">
                <a16:creationId xmlns:a16="http://schemas.microsoft.com/office/drawing/2014/main" id="{B9E8AB31-35BA-3AD8-9024-64C34E7A3221}"/>
              </a:ext>
            </a:extLst>
          </p:cNvPr>
          <p:cNvPicPr>
            <a:picLocks noChangeAspect="1"/>
          </p:cNvPicPr>
          <p:nvPr/>
        </p:nvPicPr>
        <p:blipFill>
          <a:blip r:embed="rId7"/>
          <a:stretch>
            <a:fillRect/>
          </a:stretch>
        </p:blipFill>
        <p:spPr>
          <a:xfrm>
            <a:off x="4599855" y="2642787"/>
            <a:ext cx="256032" cy="256032"/>
          </a:xfrm>
          <a:prstGeom prst="rect">
            <a:avLst/>
          </a:prstGeom>
        </p:spPr>
      </p:pic>
      <p:sp>
        <p:nvSpPr>
          <p:cNvPr id="37" name="Text 32">
            <a:extLst>
              <a:ext uri="{FF2B5EF4-FFF2-40B4-BE49-F238E27FC236}">
                <a16:creationId xmlns:a16="http://schemas.microsoft.com/office/drawing/2014/main" id="{9919EDE5-7E3B-6A85-983B-F892F7361379}"/>
              </a:ext>
            </a:extLst>
          </p:cNvPr>
          <p:cNvSpPr/>
          <p:nvPr/>
        </p:nvSpPr>
        <p:spPr>
          <a:xfrm>
            <a:off x="5130207" y="2494289"/>
            <a:ext cx="2569464" cy="777240"/>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nSpc>
                <a:spcPts val="1251"/>
              </a:lnSpc>
            </a:pPr>
            <a:r>
              <a:rPr lang="en-US" sz="1100" b="1" dirty="0">
                <a:solidFill>
                  <a:srgbClr val="1B2A4A"/>
                </a:solidFill>
                <a:latin typeface="Raleway" pitchFamily="2" charset="0"/>
                <a:ea typeface="Calibri" pitchFamily="34" charset="-122"/>
                <a:cs typeface="Calibri" pitchFamily="34" charset="-120"/>
              </a:rPr>
              <a:t>Technology &amp; IT Advisory</a:t>
            </a:r>
          </a:p>
          <a:p>
            <a:pPr>
              <a:lnSpc>
                <a:spcPts val="1251"/>
              </a:lnSpc>
            </a:pPr>
            <a:endParaRPr lang="en-US" sz="1100" dirty="0">
              <a:latin typeface="Raleway" pitchFamily="2" charset="0"/>
            </a:endParaRPr>
          </a:p>
          <a:p>
            <a:pPr>
              <a:lnSpc>
                <a:spcPts val="1251"/>
              </a:lnSpc>
            </a:pPr>
            <a:r>
              <a:rPr lang="en-US" sz="1100" dirty="0">
                <a:solidFill>
                  <a:srgbClr val="5B6B86"/>
                </a:solidFill>
                <a:latin typeface="Raleway" pitchFamily="2" charset="0"/>
                <a:ea typeface="Calibri" pitchFamily="34" charset="-122"/>
                <a:cs typeface="Calibri" pitchFamily="34" charset="-120"/>
              </a:rPr>
              <a:t>Infrastructure, security, and platform choices</a:t>
            </a:r>
            <a:endParaRPr lang="en-US" sz="1100" dirty="0">
              <a:latin typeface="Raleway" pitchFamily="2" charset="0"/>
            </a:endParaRPr>
          </a:p>
        </p:txBody>
      </p:sp>
      <p:pic>
        <p:nvPicPr>
          <p:cNvPr id="39" name="Image 5" descr="A blue shield with black background&#10;&#10;AI-generated content may be incorrect.">
            <a:extLst>
              <a:ext uri="{FF2B5EF4-FFF2-40B4-BE49-F238E27FC236}">
                <a16:creationId xmlns:a16="http://schemas.microsoft.com/office/drawing/2014/main" id="{1C34CD28-2BF3-1ADD-D4F5-94D1B7E9BCA1}"/>
              </a:ext>
            </a:extLst>
          </p:cNvPr>
          <p:cNvPicPr>
            <a:picLocks noChangeAspect="1"/>
          </p:cNvPicPr>
          <p:nvPr/>
        </p:nvPicPr>
        <p:blipFill>
          <a:blip r:embed="rId8"/>
          <a:stretch>
            <a:fillRect/>
          </a:stretch>
        </p:blipFill>
        <p:spPr>
          <a:xfrm>
            <a:off x="8435711" y="2642787"/>
            <a:ext cx="256032" cy="256032"/>
          </a:xfrm>
          <a:prstGeom prst="rect">
            <a:avLst/>
          </a:prstGeom>
        </p:spPr>
      </p:pic>
      <p:sp>
        <p:nvSpPr>
          <p:cNvPr id="41" name="Text 35">
            <a:extLst>
              <a:ext uri="{FF2B5EF4-FFF2-40B4-BE49-F238E27FC236}">
                <a16:creationId xmlns:a16="http://schemas.microsoft.com/office/drawing/2014/main" id="{28686CFF-924D-945C-CEE4-09E4103C2E0E}"/>
              </a:ext>
            </a:extLst>
          </p:cNvPr>
          <p:cNvSpPr/>
          <p:nvPr/>
        </p:nvSpPr>
        <p:spPr>
          <a:xfrm>
            <a:off x="8966063" y="2494289"/>
            <a:ext cx="2569464" cy="777240"/>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nSpc>
                <a:spcPts val="1251"/>
              </a:lnSpc>
            </a:pPr>
            <a:r>
              <a:rPr lang="en-US" sz="1100" b="1">
                <a:solidFill>
                  <a:srgbClr val="1B2A4A"/>
                </a:solidFill>
                <a:latin typeface="Raleway" pitchFamily="2" charset="0"/>
                <a:ea typeface="Calibri" pitchFamily="34" charset="-122"/>
                <a:cs typeface="Calibri" pitchFamily="34" charset="-120"/>
              </a:rPr>
              <a:t>Regulatory &amp; Compliance</a:t>
            </a:r>
          </a:p>
          <a:p>
            <a:pPr>
              <a:lnSpc>
                <a:spcPts val="1251"/>
              </a:lnSpc>
            </a:pPr>
            <a:endParaRPr lang="en-US" sz="1100">
              <a:latin typeface="Raleway" pitchFamily="2" charset="0"/>
            </a:endParaRPr>
          </a:p>
          <a:p>
            <a:pPr>
              <a:lnSpc>
                <a:spcPts val="1251"/>
              </a:lnSpc>
            </a:pPr>
            <a:r>
              <a:rPr lang="en-US" sz="1100">
                <a:solidFill>
                  <a:srgbClr val="5B6B86"/>
                </a:solidFill>
                <a:latin typeface="Raleway" pitchFamily="2" charset="0"/>
                <a:ea typeface="Calibri" pitchFamily="34" charset="-122"/>
                <a:cs typeface="Calibri" pitchFamily="34" charset="-120"/>
              </a:rPr>
              <a:t>Setup requirements incl. cross-border complexity</a:t>
            </a:r>
            <a:endParaRPr lang="en-US" sz="1100">
              <a:latin typeface="Raleway" pitchFamily="2" charset="0"/>
            </a:endParaRPr>
          </a:p>
        </p:txBody>
      </p:sp>
      <p:sp>
        <p:nvSpPr>
          <p:cNvPr id="43" name="Shape 5">
            <a:extLst>
              <a:ext uri="{FF2B5EF4-FFF2-40B4-BE49-F238E27FC236}">
                <a16:creationId xmlns:a16="http://schemas.microsoft.com/office/drawing/2014/main" id="{CDFD70AB-6CFD-3D32-EA6A-88ACCEF64380}"/>
              </a:ext>
            </a:extLst>
          </p:cNvPr>
          <p:cNvSpPr/>
          <p:nvPr/>
        </p:nvSpPr>
        <p:spPr>
          <a:xfrm>
            <a:off x="545527" y="1386821"/>
            <a:ext cx="64008" cy="749808"/>
          </a:xfrm>
          <a:prstGeom prst="rect">
            <a:avLst/>
          </a:prstGeom>
          <a:solidFill>
            <a:srgbClr val="1A9E8F"/>
          </a:solidFill>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IN" sz="1351">
              <a:latin typeface="Raleway" pitchFamily="2" charset="0"/>
            </a:endParaRPr>
          </a:p>
        </p:txBody>
      </p:sp>
      <p:sp>
        <p:nvSpPr>
          <p:cNvPr id="45" name="Shape 5">
            <a:extLst>
              <a:ext uri="{FF2B5EF4-FFF2-40B4-BE49-F238E27FC236}">
                <a16:creationId xmlns:a16="http://schemas.microsoft.com/office/drawing/2014/main" id="{9961EDFA-D25E-79FD-23FF-3E5462317B5A}"/>
              </a:ext>
            </a:extLst>
          </p:cNvPr>
          <p:cNvSpPr/>
          <p:nvPr/>
        </p:nvSpPr>
        <p:spPr>
          <a:xfrm>
            <a:off x="545527" y="2483839"/>
            <a:ext cx="64008" cy="749808"/>
          </a:xfrm>
          <a:prstGeom prst="rect">
            <a:avLst/>
          </a:prstGeom>
          <a:solidFill>
            <a:srgbClr val="1A9E8F"/>
          </a:solidFill>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IN" sz="1351">
              <a:latin typeface="Raleway" pitchFamily="2" charset="0"/>
            </a:endParaRPr>
          </a:p>
        </p:txBody>
      </p:sp>
      <p:sp>
        <p:nvSpPr>
          <p:cNvPr id="47" name="Shape 5">
            <a:extLst>
              <a:ext uri="{FF2B5EF4-FFF2-40B4-BE49-F238E27FC236}">
                <a16:creationId xmlns:a16="http://schemas.microsoft.com/office/drawing/2014/main" id="{1292AB2C-0644-8588-6340-5CB0D174661B}"/>
              </a:ext>
            </a:extLst>
          </p:cNvPr>
          <p:cNvSpPr/>
          <p:nvPr/>
        </p:nvSpPr>
        <p:spPr>
          <a:xfrm>
            <a:off x="4421215" y="1360545"/>
            <a:ext cx="64008" cy="749808"/>
          </a:xfrm>
          <a:prstGeom prst="rect">
            <a:avLst/>
          </a:prstGeom>
          <a:solidFill>
            <a:srgbClr val="1A9E8F"/>
          </a:solidFill>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IN" sz="1351">
              <a:latin typeface="Raleway" pitchFamily="2" charset="0"/>
            </a:endParaRPr>
          </a:p>
        </p:txBody>
      </p:sp>
      <p:sp>
        <p:nvSpPr>
          <p:cNvPr id="49" name="Shape 5">
            <a:extLst>
              <a:ext uri="{FF2B5EF4-FFF2-40B4-BE49-F238E27FC236}">
                <a16:creationId xmlns:a16="http://schemas.microsoft.com/office/drawing/2014/main" id="{AE7A3464-AABE-F751-9125-47299A9668B5}"/>
              </a:ext>
            </a:extLst>
          </p:cNvPr>
          <p:cNvSpPr/>
          <p:nvPr/>
        </p:nvSpPr>
        <p:spPr>
          <a:xfrm>
            <a:off x="4421215" y="2503545"/>
            <a:ext cx="64008" cy="749808"/>
          </a:xfrm>
          <a:prstGeom prst="rect">
            <a:avLst/>
          </a:prstGeom>
          <a:solidFill>
            <a:srgbClr val="1A9E8F"/>
          </a:solidFill>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IN" sz="1351">
              <a:latin typeface="Raleway" pitchFamily="2" charset="0"/>
            </a:endParaRPr>
          </a:p>
        </p:txBody>
      </p:sp>
      <p:sp>
        <p:nvSpPr>
          <p:cNvPr id="51" name="Shape 5">
            <a:extLst>
              <a:ext uri="{FF2B5EF4-FFF2-40B4-BE49-F238E27FC236}">
                <a16:creationId xmlns:a16="http://schemas.microsoft.com/office/drawing/2014/main" id="{05A2FD1F-29F0-3B70-3714-38018E14DC7A}"/>
              </a:ext>
            </a:extLst>
          </p:cNvPr>
          <p:cNvSpPr/>
          <p:nvPr/>
        </p:nvSpPr>
        <p:spPr>
          <a:xfrm>
            <a:off x="8310043" y="1334269"/>
            <a:ext cx="64008" cy="749808"/>
          </a:xfrm>
          <a:prstGeom prst="rect">
            <a:avLst/>
          </a:prstGeom>
          <a:solidFill>
            <a:srgbClr val="1A9E8F"/>
          </a:solidFill>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IN" sz="1351">
              <a:latin typeface="Raleway" pitchFamily="2" charset="0"/>
            </a:endParaRPr>
          </a:p>
        </p:txBody>
      </p:sp>
      <p:sp>
        <p:nvSpPr>
          <p:cNvPr id="53" name="Shape 5">
            <a:extLst>
              <a:ext uri="{FF2B5EF4-FFF2-40B4-BE49-F238E27FC236}">
                <a16:creationId xmlns:a16="http://schemas.microsoft.com/office/drawing/2014/main" id="{871C464D-666F-0EA6-2ED0-D84D28529855}"/>
              </a:ext>
            </a:extLst>
          </p:cNvPr>
          <p:cNvSpPr/>
          <p:nvPr/>
        </p:nvSpPr>
        <p:spPr>
          <a:xfrm>
            <a:off x="8310043" y="2523253"/>
            <a:ext cx="64008" cy="749808"/>
          </a:xfrm>
          <a:prstGeom prst="rect">
            <a:avLst/>
          </a:prstGeom>
          <a:solidFill>
            <a:srgbClr val="1A9E8F"/>
          </a:solidFill>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IN" sz="1351">
              <a:latin typeface="Raleway" pitchFamily="2" charset="0"/>
            </a:endParaRPr>
          </a:p>
        </p:txBody>
      </p:sp>
      <p:sp>
        <p:nvSpPr>
          <p:cNvPr id="55" name="Text 3">
            <a:extLst>
              <a:ext uri="{FF2B5EF4-FFF2-40B4-BE49-F238E27FC236}">
                <a16:creationId xmlns:a16="http://schemas.microsoft.com/office/drawing/2014/main" id="{09F889FB-3341-BF6B-DBB5-39B953E2C185}"/>
              </a:ext>
            </a:extLst>
          </p:cNvPr>
          <p:cNvSpPr/>
          <p:nvPr/>
        </p:nvSpPr>
        <p:spPr>
          <a:xfrm>
            <a:off x="898899" y="737164"/>
            <a:ext cx="10881360" cy="228600"/>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500">
              <a:latin typeface="Oswald" panose="00000500000000000000" pitchFamily="2" charset="0"/>
            </a:endParaRPr>
          </a:p>
        </p:txBody>
      </p:sp>
      <p:pic>
        <p:nvPicPr>
          <p:cNvPr id="57" name="Picture 56" descr="A screenshot of a computer&#10;&#10;AI-generated content may be incorrect.">
            <a:extLst>
              <a:ext uri="{FF2B5EF4-FFF2-40B4-BE49-F238E27FC236}">
                <a16:creationId xmlns:a16="http://schemas.microsoft.com/office/drawing/2014/main" id="{3F923F85-373A-773B-6CF5-E336710B3B18}"/>
              </a:ext>
            </a:extLst>
          </p:cNvPr>
          <p:cNvPicPr>
            <a:picLocks noChangeAspect="1"/>
          </p:cNvPicPr>
          <p:nvPr/>
        </p:nvPicPr>
        <p:blipFill>
          <a:blip r:embed="rId9"/>
          <a:srcRect r="-51" b="494"/>
          <a:stretch>
            <a:fillRect/>
          </a:stretch>
        </p:blipFill>
        <p:spPr>
          <a:xfrm>
            <a:off x="381000" y="3963672"/>
            <a:ext cx="11435781" cy="2337897"/>
          </a:xfrm>
          <a:prstGeom prst="rect">
            <a:avLst/>
          </a:prstGeom>
        </p:spPr>
      </p:pic>
      <p:sp>
        <p:nvSpPr>
          <p:cNvPr id="58" name="Text 3">
            <a:extLst>
              <a:ext uri="{FF2B5EF4-FFF2-40B4-BE49-F238E27FC236}">
                <a16:creationId xmlns:a16="http://schemas.microsoft.com/office/drawing/2014/main" id="{9975DB06-9287-12C5-1354-E3D7B352D11D}"/>
              </a:ext>
            </a:extLst>
          </p:cNvPr>
          <p:cNvSpPr/>
          <p:nvPr/>
        </p:nvSpPr>
        <p:spPr>
          <a:xfrm>
            <a:off x="543299" y="3539937"/>
            <a:ext cx="10881360" cy="228600"/>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r>
              <a:rPr lang="en-US" sz="1200" b="1" kern="0" spc="151">
                <a:solidFill>
                  <a:srgbClr val="147A6F"/>
                </a:solidFill>
                <a:latin typeface="Raleway" pitchFamily="2" charset="0"/>
                <a:ea typeface="Calibri"/>
                <a:cs typeface="Calibri"/>
              </a:rPr>
              <a:t>ENGAGEMENT MODELS</a:t>
            </a:r>
          </a:p>
        </p:txBody>
      </p:sp>
      <p:pic>
        <p:nvPicPr>
          <p:cNvPr id="6" name="Image 3" descr="gen-dedup-777bf757d895431cabe402fcd34ebd5a.png">
            <a:extLst>
              <a:ext uri="{FF2B5EF4-FFF2-40B4-BE49-F238E27FC236}">
                <a16:creationId xmlns:a16="http://schemas.microsoft.com/office/drawing/2014/main" id="{C6CF41F8-B7C0-C0D5-7978-3EE41B255390}"/>
              </a:ext>
            </a:extLst>
          </p:cNvPr>
          <p:cNvPicPr>
            <a:picLocks noChangeAspect="1"/>
          </p:cNvPicPr>
          <p:nvPr/>
        </p:nvPicPr>
        <p:blipFill>
          <a:blip r:embed="rId10">
            <a:biLevel thresh="75000"/>
          </a:blip>
          <a:srcRect l="-384" r="-384"/>
          <a:stretch/>
        </p:blipFill>
        <p:spPr>
          <a:xfrm>
            <a:off x="571500" y="381305"/>
            <a:ext cx="57607" cy="476402"/>
          </a:xfrm>
          <a:prstGeom prst="rect">
            <a:avLst/>
          </a:prstGeom>
        </p:spPr>
      </p:pic>
      <p:sp>
        <p:nvSpPr>
          <p:cNvPr id="10" name="Text 5">
            <a:extLst>
              <a:ext uri="{FF2B5EF4-FFF2-40B4-BE49-F238E27FC236}">
                <a16:creationId xmlns:a16="http://schemas.microsoft.com/office/drawing/2014/main" id="{70C2FDB2-50B6-01D5-C3CC-6FA99C6AFC2D}"/>
              </a:ext>
            </a:extLst>
          </p:cNvPr>
          <p:cNvSpPr txBox="1"/>
          <p:nvPr/>
        </p:nvSpPr>
        <p:spPr>
          <a:xfrm>
            <a:off x="780897" y="333756"/>
            <a:ext cx="5913817" cy="406908"/>
          </a:xfrm>
          <a:prstGeom prst="rect">
            <a:avLst/>
          </a:prstGeom>
          <a:noFill/>
          <a:ln/>
        </p:spPr>
        <p:txBody>
          <a:bodyPr wrap="none" lIns="0" tIns="0" rIns="0" bIns="0" rtlCol="0" anchor="ctr"/>
          <a:lstStyle/>
          <a:p>
            <a:r>
              <a:rPr lang="en-GB" sz="2400" b="1" kern="0" spc="-67" dirty="0">
                <a:solidFill>
                  <a:srgbClr val="111827"/>
                </a:solidFill>
                <a:latin typeface="Oswald" pitchFamily="34" charset="0"/>
                <a:ea typeface="Oswald" pitchFamily="34" charset="-122"/>
                <a:cs typeface="Oswald" pitchFamily="34" charset="-120"/>
              </a:rPr>
              <a:t>END TO END GCC BUILD OFFERINGS</a:t>
            </a:r>
          </a:p>
        </p:txBody>
      </p:sp>
    </p:spTree>
    <p:extLst>
      <p:ext uri="{BB962C8B-B14F-4D97-AF65-F5344CB8AC3E}">
        <p14:creationId xmlns:p14="http://schemas.microsoft.com/office/powerpoint/2010/main" val="10331649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4" name="Shape 2"/>
          <p:cNvSpPr/>
          <p:nvPr/>
        </p:nvSpPr>
        <p:spPr>
          <a:xfrm>
            <a:off x="8858707" y="-952805"/>
            <a:ext cx="3810305" cy="3810305"/>
          </a:xfrm>
          <a:prstGeom prst="ellipse">
            <a:avLst/>
          </a:prstGeom>
          <a:solidFill>
            <a:srgbClr val="2A9D8F">
              <a:alpha val="3000"/>
            </a:srgbClr>
          </a:solidFill>
          <a:ln w="12700">
            <a:solidFill>
              <a:srgbClr val="FFFFFF">
                <a:alpha val="0"/>
              </a:srgbClr>
            </a:solidFill>
            <a:prstDash val="solid"/>
          </a:ln>
        </p:spPr>
        <p:txBody>
          <a:bodyPr/>
          <a:lstStyle/>
          <a:p>
            <a:endParaRPr lang="en-US" dirty="0"/>
          </a:p>
        </p:txBody>
      </p:sp>
      <p:sp>
        <p:nvSpPr>
          <p:cNvPr id="5" name="Shape 3"/>
          <p:cNvSpPr/>
          <p:nvPr/>
        </p:nvSpPr>
        <p:spPr>
          <a:xfrm>
            <a:off x="-476402" y="4000500"/>
            <a:ext cx="2381098" cy="2381098"/>
          </a:xfrm>
          <a:prstGeom prst="ellipse">
            <a:avLst/>
          </a:prstGeom>
          <a:solidFill>
            <a:srgbClr val="D62839">
              <a:alpha val="2000"/>
            </a:srgbClr>
          </a:solidFill>
          <a:ln w="12700">
            <a:solidFill>
              <a:srgbClr val="FFFFFF">
                <a:alpha val="0"/>
              </a:srgbClr>
            </a:solidFill>
            <a:prstDash val="solid"/>
          </a:ln>
        </p:spPr>
        <p:txBody>
          <a:bodyPr/>
          <a:lstStyle/>
          <a:p>
            <a:endParaRPr lang="en-US"/>
          </a:p>
        </p:txBody>
      </p:sp>
      <p:pic>
        <p:nvPicPr>
          <p:cNvPr id="6" name="Image 0" descr="gen-dedup-37abb9d8cc081a24feb608c288538026.png"/>
          <p:cNvPicPr>
            <a:picLocks noChangeAspect="1"/>
          </p:cNvPicPr>
          <p:nvPr/>
        </p:nvPicPr>
        <p:blipFill>
          <a:blip r:embed="rId3"/>
          <a:srcRect l="-198" r="-198"/>
          <a:stretch/>
        </p:blipFill>
        <p:spPr>
          <a:xfrm>
            <a:off x="0" y="0"/>
            <a:ext cx="8124444" cy="75895"/>
          </a:xfrm>
          <a:prstGeom prst="rect">
            <a:avLst/>
          </a:prstGeom>
        </p:spPr>
      </p:pic>
      <p:pic>
        <p:nvPicPr>
          <p:cNvPr id="7" name="Image 1" descr="gen-dedup-c2c9136402f20c216bf7cbcc052ad1a0.png"/>
          <p:cNvPicPr>
            <a:picLocks noChangeAspect="1"/>
          </p:cNvPicPr>
          <p:nvPr/>
        </p:nvPicPr>
        <p:blipFill>
          <a:blip r:embed="rId4"/>
          <a:srcRect l="-202" r="-202"/>
          <a:stretch/>
        </p:blipFill>
        <p:spPr>
          <a:xfrm>
            <a:off x="8124444" y="0"/>
            <a:ext cx="4067251" cy="75895"/>
          </a:xfrm>
          <a:prstGeom prst="rect">
            <a:avLst/>
          </a:prstGeom>
        </p:spPr>
      </p:pic>
      <p:sp>
        <p:nvSpPr>
          <p:cNvPr id="8" name="Shape 4"/>
          <p:cNvSpPr/>
          <p:nvPr/>
        </p:nvSpPr>
        <p:spPr>
          <a:xfrm>
            <a:off x="609905" y="1238098"/>
            <a:ext cx="5257800" cy="5381244"/>
          </a:xfrm>
          <a:prstGeom prst="roundRect">
            <a:avLst>
              <a:gd name="adj" fmla="val 1443"/>
            </a:avLst>
          </a:prstGeom>
          <a:solidFill>
            <a:srgbClr val="F0FDFA"/>
          </a:solidFill>
          <a:ln w="12700">
            <a:solidFill>
              <a:srgbClr val="CCFBF1"/>
            </a:solidFill>
            <a:prstDash val="solid"/>
          </a:ln>
          <a:effectLst>
            <a:outerShdw blurRad="63500" dist="38100" dir="16200000" algn="bl" rotWithShape="0">
              <a:srgbClr val="000000">
                <a:alpha val="2000"/>
              </a:srgbClr>
            </a:outerShdw>
          </a:effectLst>
        </p:spPr>
        <p:txBody>
          <a:bodyPr/>
          <a:lstStyle/>
          <a:p>
            <a:endParaRPr lang="en-US"/>
          </a:p>
        </p:txBody>
      </p:sp>
      <p:sp>
        <p:nvSpPr>
          <p:cNvPr id="9" name="Shape 5"/>
          <p:cNvSpPr/>
          <p:nvPr/>
        </p:nvSpPr>
        <p:spPr>
          <a:xfrm>
            <a:off x="609905" y="1238098"/>
            <a:ext cx="5257800" cy="38405"/>
          </a:xfrm>
          <a:prstGeom prst="roundRect">
            <a:avLst>
              <a:gd name="adj" fmla="val 197618"/>
            </a:avLst>
          </a:prstGeom>
          <a:solidFill>
            <a:srgbClr val="2A9D8F"/>
          </a:solidFill>
          <a:ln w="12700">
            <a:solidFill>
              <a:srgbClr val="2A9D8F">
                <a:alpha val="0"/>
              </a:srgbClr>
            </a:solidFill>
            <a:prstDash val="solid"/>
          </a:ln>
        </p:spPr>
        <p:txBody>
          <a:bodyPr/>
          <a:lstStyle/>
          <a:p>
            <a:endParaRPr lang="en-US"/>
          </a:p>
        </p:txBody>
      </p:sp>
      <p:sp>
        <p:nvSpPr>
          <p:cNvPr id="10" name="Shape 6"/>
          <p:cNvSpPr/>
          <p:nvPr/>
        </p:nvSpPr>
        <p:spPr>
          <a:xfrm>
            <a:off x="6191402" y="1238098"/>
            <a:ext cx="5410505" cy="5381244"/>
          </a:xfrm>
          <a:prstGeom prst="roundRect">
            <a:avLst>
              <a:gd name="adj" fmla="val 1410"/>
            </a:avLst>
          </a:prstGeom>
          <a:solidFill>
            <a:srgbClr val="FFF1F2"/>
          </a:solidFill>
          <a:ln w="12700">
            <a:solidFill>
              <a:srgbClr val="FFE4E6"/>
            </a:solidFill>
            <a:prstDash val="solid"/>
          </a:ln>
          <a:effectLst>
            <a:outerShdw blurRad="63500" dist="38100" dir="16200000" algn="bl" rotWithShape="0">
              <a:srgbClr val="000000">
                <a:alpha val="2000"/>
              </a:srgbClr>
            </a:outerShdw>
          </a:effectLst>
        </p:spPr>
        <p:txBody>
          <a:bodyPr/>
          <a:lstStyle/>
          <a:p>
            <a:endParaRPr lang="en-US"/>
          </a:p>
        </p:txBody>
      </p:sp>
      <p:sp>
        <p:nvSpPr>
          <p:cNvPr id="11" name="Shape 7"/>
          <p:cNvSpPr/>
          <p:nvPr/>
        </p:nvSpPr>
        <p:spPr>
          <a:xfrm>
            <a:off x="6191402" y="1238098"/>
            <a:ext cx="5410505" cy="38405"/>
          </a:xfrm>
          <a:prstGeom prst="roundRect">
            <a:avLst>
              <a:gd name="adj" fmla="val 197618"/>
            </a:avLst>
          </a:prstGeom>
          <a:solidFill>
            <a:srgbClr val="D62839"/>
          </a:solidFill>
          <a:ln w="12700">
            <a:solidFill>
              <a:srgbClr val="D62839">
                <a:alpha val="0"/>
              </a:srgbClr>
            </a:solidFill>
            <a:prstDash val="solid"/>
          </a:ln>
        </p:spPr>
        <p:txBody>
          <a:bodyPr/>
          <a:lstStyle/>
          <a:p>
            <a:endParaRPr lang="en-US"/>
          </a:p>
        </p:txBody>
      </p:sp>
      <p:sp>
        <p:nvSpPr>
          <p:cNvPr id="12" name="Shape 8"/>
          <p:cNvSpPr/>
          <p:nvPr/>
        </p:nvSpPr>
        <p:spPr>
          <a:xfrm>
            <a:off x="800100" y="2095805"/>
            <a:ext cx="4895698" cy="1304849"/>
          </a:xfrm>
          <a:prstGeom prst="roundRect">
            <a:avLst>
              <a:gd name="adj" fmla="val 4415"/>
            </a:avLst>
          </a:prstGeom>
          <a:solidFill>
            <a:srgbClr val="FFFFFF"/>
          </a:solidFill>
          <a:ln w="12700">
            <a:solidFill>
              <a:srgbClr val="E2E8F0"/>
            </a:solidFill>
            <a:prstDash val="solid"/>
          </a:ln>
        </p:spPr>
        <p:txBody>
          <a:bodyPr/>
          <a:lstStyle/>
          <a:p>
            <a:endParaRPr lang="en-US"/>
          </a:p>
        </p:txBody>
      </p:sp>
      <p:sp>
        <p:nvSpPr>
          <p:cNvPr id="13" name="Shape 9"/>
          <p:cNvSpPr/>
          <p:nvPr/>
        </p:nvSpPr>
        <p:spPr>
          <a:xfrm>
            <a:off x="800100" y="2095805"/>
            <a:ext cx="28346" cy="1304849"/>
          </a:xfrm>
          <a:prstGeom prst="roundRect">
            <a:avLst>
              <a:gd name="adj" fmla="val 203229"/>
            </a:avLst>
          </a:prstGeom>
          <a:solidFill>
            <a:srgbClr val="2A9D8F"/>
          </a:solidFill>
          <a:ln w="12700">
            <a:solidFill>
              <a:srgbClr val="2A9D8F">
                <a:alpha val="0"/>
              </a:srgbClr>
            </a:solidFill>
            <a:prstDash val="solid"/>
          </a:ln>
        </p:spPr>
        <p:txBody>
          <a:bodyPr/>
          <a:lstStyle/>
          <a:p>
            <a:endParaRPr lang="en-US"/>
          </a:p>
        </p:txBody>
      </p:sp>
      <p:sp>
        <p:nvSpPr>
          <p:cNvPr id="14" name="Shape 10"/>
          <p:cNvSpPr/>
          <p:nvPr/>
        </p:nvSpPr>
        <p:spPr>
          <a:xfrm>
            <a:off x="800100" y="3524098"/>
            <a:ext cx="4895698" cy="1304849"/>
          </a:xfrm>
          <a:prstGeom prst="roundRect">
            <a:avLst>
              <a:gd name="adj" fmla="val 4415"/>
            </a:avLst>
          </a:prstGeom>
          <a:solidFill>
            <a:srgbClr val="FFFFFF"/>
          </a:solidFill>
          <a:ln w="12700">
            <a:solidFill>
              <a:srgbClr val="E2E8F0"/>
            </a:solidFill>
            <a:prstDash val="solid"/>
          </a:ln>
        </p:spPr>
        <p:txBody>
          <a:bodyPr/>
          <a:lstStyle/>
          <a:p>
            <a:endParaRPr lang="en-US"/>
          </a:p>
        </p:txBody>
      </p:sp>
      <p:sp>
        <p:nvSpPr>
          <p:cNvPr id="15" name="Shape 11"/>
          <p:cNvSpPr/>
          <p:nvPr/>
        </p:nvSpPr>
        <p:spPr>
          <a:xfrm>
            <a:off x="800100" y="3524098"/>
            <a:ext cx="28346" cy="1304849"/>
          </a:xfrm>
          <a:prstGeom prst="roundRect">
            <a:avLst>
              <a:gd name="adj" fmla="val 203229"/>
            </a:avLst>
          </a:prstGeom>
          <a:solidFill>
            <a:srgbClr val="2A9D8F"/>
          </a:solidFill>
          <a:ln w="12700">
            <a:solidFill>
              <a:srgbClr val="2A9D8F">
                <a:alpha val="0"/>
              </a:srgbClr>
            </a:solidFill>
            <a:prstDash val="solid"/>
          </a:ln>
        </p:spPr>
        <p:txBody>
          <a:bodyPr/>
          <a:lstStyle/>
          <a:p>
            <a:endParaRPr lang="en-US"/>
          </a:p>
        </p:txBody>
      </p:sp>
      <p:sp>
        <p:nvSpPr>
          <p:cNvPr id="16" name="Shape 12"/>
          <p:cNvSpPr/>
          <p:nvPr/>
        </p:nvSpPr>
        <p:spPr>
          <a:xfrm>
            <a:off x="800100" y="4953305"/>
            <a:ext cx="4895698" cy="1304849"/>
          </a:xfrm>
          <a:prstGeom prst="roundRect">
            <a:avLst>
              <a:gd name="adj" fmla="val 4415"/>
            </a:avLst>
          </a:prstGeom>
          <a:solidFill>
            <a:srgbClr val="FFFFFF"/>
          </a:solidFill>
          <a:ln w="12700">
            <a:solidFill>
              <a:srgbClr val="E2E8F0"/>
            </a:solidFill>
            <a:prstDash val="solid"/>
          </a:ln>
        </p:spPr>
        <p:txBody>
          <a:bodyPr/>
          <a:lstStyle/>
          <a:p>
            <a:endParaRPr lang="en-US"/>
          </a:p>
        </p:txBody>
      </p:sp>
      <p:sp>
        <p:nvSpPr>
          <p:cNvPr id="17" name="Shape 13"/>
          <p:cNvSpPr/>
          <p:nvPr/>
        </p:nvSpPr>
        <p:spPr>
          <a:xfrm>
            <a:off x="800100" y="4953305"/>
            <a:ext cx="28346" cy="1304849"/>
          </a:xfrm>
          <a:prstGeom prst="roundRect">
            <a:avLst>
              <a:gd name="adj" fmla="val 203229"/>
            </a:avLst>
          </a:prstGeom>
          <a:solidFill>
            <a:srgbClr val="2A9D8F"/>
          </a:solidFill>
          <a:ln w="12700">
            <a:solidFill>
              <a:srgbClr val="2A9D8F">
                <a:alpha val="0"/>
              </a:srgbClr>
            </a:solidFill>
            <a:prstDash val="solid"/>
          </a:ln>
        </p:spPr>
        <p:txBody>
          <a:bodyPr/>
          <a:lstStyle/>
          <a:p>
            <a:endParaRPr lang="en-US"/>
          </a:p>
        </p:txBody>
      </p:sp>
      <p:sp>
        <p:nvSpPr>
          <p:cNvPr id="18" name="Shape 14"/>
          <p:cNvSpPr/>
          <p:nvPr/>
        </p:nvSpPr>
        <p:spPr>
          <a:xfrm>
            <a:off x="6381598" y="2048256"/>
            <a:ext cx="5048402" cy="685800"/>
          </a:xfrm>
          <a:prstGeom prst="roundRect">
            <a:avLst>
              <a:gd name="adj" fmla="val 8400"/>
            </a:avLst>
          </a:prstGeom>
          <a:solidFill>
            <a:srgbClr val="FFFFFF"/>
          </a:solidFill>
          <a:ln w="12700">
            <a:solidFill>
              <a:srgbClr val="E2E8F0"/>
            </a:solidFill>
            <a:prstDash val="solid"/>
          </a:ln>
        </p:spPr>
        <p:txBody>
          <a:bodyPr/>
          <a:lstStyle/>
          <a:p>
            <a:endParaRPr lang="en-US"/>
          </a:p>
        </p:txBody>
      </p:sp>
      <p:sp>
        <p:nvSpPr>
          <p:cNvPr id="19" name="Shape 15"/>
          <p:cNvSpPr/>
          <p:nvPr/>
        </p:nvSpPr>
        <p:spPr>
          <a:xfrm>
            <a:off x="6381598" y="2048256"/>
            <a:ext cx="28346" cy="685800"/>
          </a:xfrm>
          <a:prstGeom prst="roundRect">
            <a:avLst>
              <a:gd name="adj" fmla="val 203229"/>
            </a:avLst>
          </a:prstGeom>
          <a:solidFill>
            <a:srgbClr val="D62839"/>
          </a:solidFill>
          <a:ln w="12700">
            <a:solidFill>
              <a:srgbClr val="D62839">
                <a:alpha val="0"/>
              </a:srgbClr>
            </a:solidFill>
            <a:prstDash val="solid"/>
          </a:ln>
        </p:spPr>
        <p:txBody>
          <a:bodyPr/>
          <a:lstStyle/>
          <a:p>
            <a:endParaRPr lang="en-US"/>
          </a:p>
        </p:txBody>
      </p:sp>
      <p:sp>
        <p:nvSpPr>
          <p:cNvPr id="20" name="Shape 16"/>
          <p:cNvSpPr/>
          <p:nvPr/>
        </p:nvSpPr>
        <p:spPr>
          <a:xfrm>
            <a:off x="6381598" y="2809951"/>
            <a:ext cx="5048402" cy="685800"/>
          </a:xfrm>
          <a:prstGeom prst="roundRect">
            <a:avLst>
              <a:gd name="adj" fmla="val 8400"/>
            </a:avLst>
          </a:prstGeom>
          <a:solidFill>
            <a:srgbClr val="FFFFFF"/>
          </a:solidFill>
          <a:ln w="12700">
            <a:solidFill>
              <a:srgbClr val="E2E8F0"/>
            </a:solidFill>
            <a:prstDash val="solid"/>
          </a:ln>
        </p:spPr>
        <p:txBody>
          <a:bodyPr/>
          <a:lstStyle/>
          <a:p>
            <a:endParaRPr lang="en-US"/>
          </a:p>
        </p:txBody>
      </p:sp>
      <p:sp>
        <p:nvSpPr>
          <p:cNvPr id="21" name="Shape 17"/>
          <p:cNvSpPr/>
          <p:nvPr/>
        </p:nvSpPr>
        <p:spPr>
          <a:xfrm>
            <a:off x="6381598" y="2809951"/>
            <a:ext cx="28346" cy="685800"/>
          </a:xfrm>
          <a:prstGeom prst="roundRect">
            <a:avLst>
              <a:gd name="adj" fmla="val 203229"/>
            </a:avLst>
          </a:prstGeom>
          <a:solidFill>
            <a:srgbClr val="D62839"/>
          </a:solidFill>
          <a:ln w="12700">
            <a:solidFill>
              <a:srgbClr val="D62839">
                <a:alpha val="0"/>
              </a:srgbClr>
            </a:solidFill>
            <a:prstDash val="solid"/>
          </a:ln>
        </p:spPr>
        <p:txBody>
          <a:bodyPr/>
          <a:lstStyle/>
          <a:p>
            <a:endParaRPr lang="en-US"/>
          </a:p>
        </p:txBody>
      </p:sp>
      <p:sp>
        <p:nvSpPr>
          <p:cNvPr id="22" name="Shape 18"/>
          <p:cNvSpPr/>
          <p:nvPr/>
        </p:nvSpPr>
        <p:spPr>
          <a:xfrm>
            <a:off x="6381598" y="3571646"/>
            <a:ext cx="5048402" cy="685800"/>
          </a:xfrm>
          <a:prstGeom prst="roundRect">
            <a:avLst>
              <a:gd name="adj" fmla="val 8400"/>
            </a:avLst>
          </a:prstGeom>
          <a:solidFill>
            <a:srgbClr val="FFFFFF"/>
          </a:solidFill>
          <a:ln w="12700">
            <a:solidFill>
              <a:srgbClr val="E2E8F0"/>
            </a:solidFill>
            <a:prstDash val="solid"/>
          </a:ln>
        </p:spPr>
        <p:txBody>
          <a:bodyPr/>
          <a:lstStyle/>
          <a:p>
            <a:endParaRPr lang="en-US"/>
          </a:p>
        </p:txBody>
      </p:sp>
      <p:sp>
        <p:nvSpPr>
          <p:cNvPr id="23" name="Shape 19"/>
          <p:cNvSpPr/>
          <p:nvPr/>
        </p:nvSpPr>
        <p:spPr>
          <a:xfrm>
            <a:off x="6381598" y="3571646"/>
            <a:ext cx="28346" cy="685800"/>
          </a:xfrm>
          <a:prstGeom prst="roundRect">
            <a:avLst>
              <a:gd name="adj" fmla="val 203229"/>
            </a:avLst>
          </a:prstGeom>
          <a:solidFill>
            <a:srgbClr val="D62839"/>
          </a:solidFill>
          <a:ln w="12700">
            <a:solidFill>
              <a:srgbClr val="D62839">
                <a:alpha val="0"/>
              </a:srgbClr>
            </a:solidFill>
            <a:prstDash val="solid"/>
          </a:ln>
        </p:spPr>
        <p:txBody>
          <a:bodyPr/>
          <a:lstStyle/>
          <a:p>
            <a:endParaRPr lang="en-US"/>
          </a:p>
        </p:txBody>
      </p:sp>
      <p:sp>
        <p:nvSpPr>
          <p:cNvPr id="24" name="Shape 20"/>
          <p:cNvSpPr/>
          <p:nvPr/>
        </p:nvSpPr>
        <p:spPr>
          <a:xfrm>
            <a:off x="6381598" y="4334256"/>
            <a:ext cx="5048402" cy="685800"/>
          </a:xfrm>
          <a:prstGeom prst="roundRect">
            <a:avLst>
              <a:gd name="adj" fmla="val 8400"/>
            </a:avLst>
          </a:prstGeom>
          <a:solidFill>
            <a:srgbClr val="FFFFFF"/>
          </a:solidFill>
          <a:ln w="12700">
            <a:solidFill>
              <a:srgbClr val="E2E8F0"/>
            </a:solidFill>
            <a:prstDash val="solid"/>
          </a:ln>
        </p:spPr>
        <p:txBody>
          <a:bodyPr/>
          <a:lstStyle/>
          <a:p>
            <a:endParaRPr lang="en-US"/>
          </a:p>
        </p:txBody>
      </p:sp>
      <p:sp>
        <p:nvSpPr>
          <p:cNvPr id="25" name="Shape 21"/>
          <p:cNvSpPr/>
          <p:nvPr/>
        </p:nvSpPr>
        <p:spPr>
          <a:xfrm>
            <a:off x="6381598" y="4334256"/>
            <a:ext cx="28346" cy="685800"/>
          </a:xfrm>
          <a:prstGeom prst="roundRect">
            <a:avLst>
              <a:gd name="adj" fmla="val 203229"/>
            </a:avLst>
          </a:prstGeom>
          <a:solidFill>
            <a:srgbClr val="D62839"/>
          </a:solidFill>
          <a:ln w="12700">
            <a:solidFill>
              <a:srgbClr val="D62839">
                <a:alpha val="0"/>
              </a:srgbClr>
            </a:solidFill>
            <a:prstDash val="solid"/>
          </a:ln>
        </p:spPr>
        <p:txBody>
          <a:bodyPr/>
          <a:lstStyle/>
          <a:p>
            <a:endParaRPr lang="en-US"/>
          </a:p>
        </p:txBody>
      </p:sp>
      <p:sp>
        <p:nvSpPr>
          <p:cNvPr id="26" name="Shape 22"/>
          <p:cNvSpPr/>
          <p:nvPr/>
        </p:nvSpPr>
        <p:spPr>
          <a:xfrm>
            <a:off x="6381598" y="5095951"/>
            <a:ext cx="5048402" cy="685800"/>
          </a:xfrm>
          <a:prstGeom prst="roundRect">
            <a:avLst>
              <a:gd name="adj" fmla="val 8400"/>
            </a:avLst>
          </a:prstGeom>
          <a:solidFill>
            <a:srgbClr val="FFFFFF"/>
          </a:solidFill>
          <a:ln w="12700">
            <a:solidFill>
              <a:srgbClr val="E2E8F0"/>
            </a:solidFill>
            <a:prstDash val="solid"/>
          </a:ln>
        </p:spPr>
        <p:txBody>
          <a:bodyPr/>
          <a:lstStyle/>
          <a:p>
            <a:endParaRPr lang="en-US"/>
          </a:p>
        </p:txBody>
      </p:sp>
      <p:sp>
        <p:nvSpPr>
          <p:cNvPr id="27" name="Shape 23"/>
          <p:cNvSpPr/>
          <p:nvPr/>
        </p:nvSpPr>
        <p:spPr>
          <a:xfrm>
            <a:off x="6381598" y="5095951"/>
            <a:ext cx="28346" cy="685800"/>
          </a:xfrm>
          <a:prstGeom prst="roundRect">
            <a:avLst>
              <a:gd name="adj" fmla="val 203229"/>
            </a:avLst>
          </a:prstGeom>
          <a:solidFill>
            <a:srgbClr val="D62839"/>
          </a:solidFill>
          <a:ln w="12700">
            <a:solidFill>
              <a:srgbClr val="D62839">
                <a:alpha val="0"/>
              </a:srgbClr>
            </a:solidFill>
            <a:prstDash val="solid"/>
          </a:ln>
        </p:spPr>
        <p:txBody>
          <a:bodyPr/>
          <a:lstStyle/>
          <a:p>
            <a:endParaRPr lang="en-US"/>
          </a:p>
        </p:txBody>
      </p:sp>
      <p:sp>
        <p:nvSpPr>
          <p:cNvPr id="28" name="Shape 24"/>
          <p:cNvSpPr/>
          <p:nvPr/>
        </p:nvSpPr>
        <p:spPr>
          <a:xfrm>
            <a:off x="6381598" y="5857646"/>
            <a:ext cx="5048402" cy="685800"/>
          </a:xfrm>
          <a:prstGeom prst="roundRect">
            <a:avLst>
              <a:gd name="adj" fmla="val 8400"/>
            </a:avLst>
          </a:prstGeom>
          <a:solidFill>
            <a:srgbClr val="FFFFFF"/>
          </a:solidFill>
          <a:ln w="12700">
            <a:solidFill>
              <a:srgbClr val="E2E8F0"/>
            </a:solidFill>
            <a:prstDash val="solid"/>
          </a:ln>
        </p:spPr>
        <p:txBody>
          <a:bodyPr/>
          <a:lstStyle/>
          <a:p>
            <a:endParaRPr lang="en-US"/>
          </a:p>
        </p:txBody>
      </p:sp>
      <p:sp>
        <p:nvSpPr>
          <p:cNvPr id="29" name="Shape 25"/>
          <p:cNvSpPr/>
          <p:nvPr/>
        </p:nvSpPr>
        <p:spPr>
          <a:xfrm>
            <a:off x="6381598" y="5857646"/>
            <a:ext cx="28346" cy="685800"/>
          </a:xfrm>
          <a:prstGeom prst="roundRect">
            <a:avLst>
              <a:gd name="adj" fmla="val 203229"/>
            </a:avLst>
          </a:prstGeom>
          <a:solidFill>
            <a:srgbClr val="D62839"/>
          </a:solidFill>
          <a:ln w="12700">
            <a:solidFill>
              <a:srgbClr val="D62839">
                <a:alpha val="0"/>
              </a:srgbClr>
            </a:solidFill>
            <a:prstDash val="solid"/>
          </a:ln>
        </p:spPr>
        <p:txBody>
          <a:bodyPr/>
          <a:lstStyle/>
          <a:p>
            <a:endParaRPr lang="en-US"/>
          </a:p>
        </p:txBody>
      </p:sp>
      <p:sp>
        <p:nvSpPr>
          <p:cNvPr id="33" name="Text 28"/>
          <p:cNvSpPr txBox="1"/>
          <p:nvPr/>
        </p:nvSpPr>
        <p:spPr>
          <a:xfrm>
            <a:off x="1104595" y="1380744"/>
            <a:ext cx="4553712" cy="342900"/>
          </a:xfrm>
          <a:prstGeom prst="rect">
            <a:avLst/>
          </a:prstGeom>
          <a:noFill/>
          <a:ln/>
        </p:spPr>
        <p:txBody>
          <a:bodyPr wrap="none" lIns="0" tIns="0" rIns="0" bIns="0" rtlCol="0" anchor="ctr"/>
          <a:lstStyle/>
          <a:p>
            <a:pPr marL="0" indent="0" algn="l">
              <a:buNone/>
            </a:pPr>
            <a:r>
              <a:rPr lang="en-US" sz="1800" b="1">
                <a:solidFill>
                  <a:srgbClr val="111827"/>
                </a:solidFill>
                <a:latin typeface="Oswald" pitchFamily="34" charset="0"/>
                <a:ea typeface="Oswald" pitchFamily="34" charset="-122"/>
                <a:cs typeface="Oswald" pitchFamily="34" charset="-120"/>
              </a:rPr>
              <a:t>GREENFIELD</a:t>
            </a:r>
            <a:endParaRPr lang="en-US" sz="1800"/>
          </a:p>
        </p:txBody>
      </p:sp>
      <p:pic>
        <p:nvPicPr>
          <p:cNvPr id="34" name="Image 3" descr="gen-dedup-3063db8b8b54f844b0a7dab11828a6ad.png"/>
          <p:cNvPicPr>
            <a:picLocks noChangeAspect="1"/>
          </p:cNvPicPr>
          <p:nvPr/>
        </p:nvPicPr>
        <p:blipFill>
          <a:blip r:embed="rId5"/>
          <a:srcRect/>
          <a:stretch/>
        </p:blipFill>
        <p:spPr>
          <a:xfrm>
            <a:off x="800100" y="1457554"/>
            <a:ext cx="190195" cy="190195"/>
          </a:xfrm>
          <a:prstGeom prst="rect">
            <a:avLst/>
          </a:prstGeom>
        </p:spPr>
      </p:pic>
      <p:sp>
        <p:nvSpPr>
          <p:cNvPr id="35" name="Text 29"/>
          <p:cNvSpPr txBox="1"/>
          <p:nvPr/>
        </p:nvSpPr>
        <p:spPr>
          <a:xfrm>
            <a:off x="1104595" y="1762049"/>
            <a:ext cx="4553712" cy="152705"/>
          </a:xfrm>
          <a:prstGeom prst="rect">
            <a:avLst/>
          </a:prstGeom>
          <a:noFill/>
          <a:ln/>
        </p:spPr>
        <p:txBody>
          <a:bodyPr wrap="none" lIns="0" tIns="0" rIns="0" bIns="0" rtlCol="0" anchor="ctr"/>
          <a:lstStyle/>
          <a:p>
            <a:pPr marL="0" indent="0" algn="l">
              <a:buNone/>
            </a:pPr>
            <a:r>
              <a:rPr lang="en-US" sz="1000" b="1" i="1">
                <a:solidFill>
                  <a:srgbClr val="475569"/>
                </a:solidFill>
                <a:latin typeface="Raleway" pitchFamily="34" charset="0"/>
                <a:ea typeface="Raleway" pitchFamily="34" charset="-122"/>
                <a:cs typeface="Raleway" pitchFamily="34" charset="-120"/>
              </a:rPr>
              <a:t>Building a new GCC from the ground up</a:t>
            </a:r>
            <a:endParaRPr lang="en-US" sz="1000"/>
          </a:p>
        </p:txBody>
      </p:sp>
      <p:sp>
        <p:nvSpPr>
          <p:cNvPr id="36" name="Shape 30"/>
          <p:cNvSpPr/>
          <p:nvPr/>
        </p:nvSpPr>
        <p:spPr>
          <a:xfrm>
            <a:off x="990295" y="2238451"/>
            <a:ext cx="228600" cy="228600"/>
          </a:xfrm>
          <a:prstGeom prst="ellipse">
            <a:avLst/>
          </a:prstGeom>
          <a:solidFill>
            <a:srgbClr val="2A9D8F"/>
          </a:solidFill>
          <a:ln w="12700">
            <a:solidFill>
              <a:srgbClr val="FFFFFF">
                <a:alpha val="0"/>
              </a:srgbClr>
            </a:solidFill>
            <a:prstDash val="solid"/>
          </a:ln>
        </p:spPr>
        <p:txBody>
          <a:bodyPr/>
          <a:lstStyle/>
          <a:p>
            <a:endParaRPr lang="en-US"/>
          </a:p>
        </p:txBody>
      </p:sp>
      <p:sp>
        <p:nvSpPr>
          <p:cNvPr id="37" name="Text 31"/>
          <p:cNvSpPr/>
          <p:nvPr/>
        </p:nvSpPr>
        <p:spPr>
          <a:xfrm>
            <a:off x="990295" y="2238451"/>
            <a:ext cx="228600" cy="228600"/>
          </a:xfrm>
          <a:prstGeom prst="rect">
            <a:avLst/>
          </a:prstGeom>
          <a:solidFill>
            <a:srgbClr val="FFFFFF">
              <a:alpha val="0"/>
            </a:srgbClr>
          </a:solidFill>
          <a:ln>
            <a:solidFill>
              <a:srgbClr val="FFFFFF">
                <a:alpha val="0"/>
              </a:srgbClr>
            </a:solidFill>
          </a:ln>
        </p:spPr>
        <p:txBody>
          <a:bodyPr wrap="none" lIns="0" tIns="0" rIns="0" bIns="0" rtlCol="0" anchor="ctr"/>
          <a:lstStyle/>
          <a:p>
            <a:pPr marL="0" indent="0" algn="ctr">
              <a:buNone/>
            </a:pPr>
            <a:r>
              <a:rPr lang="en-US" sz="900" b="1">
                <a:solidFill>
                  <a:srgbClr val="FFFFFF"/>
                </a:solidFill>
                <a:latin typeface="Oswald" pitchFamily="34" charset="0"/>
                <a:ea typeface="Oswald" pitchFamily="34" charset="-122"/>
                <a:cs typeface="Oswald" pitchFamily="34" charset="-120"/>
              </a:rPr>
              <a:t>1</a:t>
            </a:r>
            <a:endParaRPr lang="en-US" sz="900"/>
          </a:p>
        </p:txBody>
      </p:sp>
      <p:sp>
        <p:nvSpPr>
          <p:cNvPr id="38" name="Text 32"/>
          <p:cNvSpPr txBox="1"/>
          <p:nvPr/>
        </p:nvSpPr>
        <p:spPr>
          <a:xfrm>
            <a:off x="1333195" y="2238451"/>
            <a:ext cx="4321454" cy="200254"/>
          </a:xfrm>
          <a:prstGeom prst="rect">
            <a:avLst/>
          </a:prstGeom>
          <a:noFill/>
          <a:ln/>
        </p:spPr>
        <p:txBody>
          <a:bodyPr wrap="none" lIns="0" tIns="0" rIns="0" bIns="0" rtlCol="0" anchor="ctr"/>
          <a:lstStyle/>
          <a:p>
            <a:pPr marL="0" indent="0" algn="l">
              <a:buNone/>
            </a:pPr>
            <a:r>
              <a:rPr lang="en-US" sz="1200" b="1">
                <a:solidFill>
                  <a:srgbClr val="1F2937"/>
                </a:solidFill>
                <a:latin typeface="Raleway" pitchFamily="34" charset="0"/>
                <a:ea typeface="Raleway" pitchFamily="34" charset="-122"/>
                <a:cs typeface="Raleway" pitchFamily="34" charset="-120"/>
              </a:rPr>
              <a:t>Establish a new GCC that is AI-native from day one</a:t>
            </a:r>
            <a:endParaRPr lang="en-US" sz="1200"/>
          </a:p>
        </p:txBody>
      </p:sp>
      <p:sp>
        <p:nvSpPr>
          <p:cNvPr id="39" name="Shape 33"/>
          <p:cNvSpPr/>
          <p:nvPr/>
        </p:nvSpPr>
        <p:spPr>
          <a:xfrm>
            <a:off x="1333195" y="2581351"/>
            <a:ext cx="4134002" cy="342900"/>
          </a:xfrm>
          <a:prstGeom prst="roundRect">
            <a:avLst>
              <a:gd name="adj" fmla="val 11200"/>
            </a:avLst>
          </a:prstGeom>
          <a:solidFill>
            <a:srgbClr val="F8FAFC"/>
          </a:solidFill>
          <a:ln/>
        </p:spPr>
        <p:txBody>
          <a:bodyPr/>
          <a:lstStyle/>
          <a:p>
            <a:endParaRPr lang="en-US"/>
          </a:p>
        </p:txBody>
      </p:sp>
      <p:sp>
        <p:nvSpPr>
          <p:cNvPr id="40" name="Shape 34"/>
          <p:cNvSpPr/>
          <p:nvPr/>
        </p:nvSpPr>
        <p:spPr>
          <a:xfrm>
            <a:off x="1333195" y="2581351"/>
            <a:ext cx="19202" cy="342900"/>
          </a:xfrm>
          <a:prstGeom prst="roundRect">
            <a:avLst>
              <a:gd name="adj" fmla="val 200004"/>
            </a:avLst>
          </a:prstGeom>
          <a:solidFill>
            <a:srgbClr val="94A3B8"/>
          </a:solidFill>
          <a:ln w="12700">
            <a:solidFill>
              <a:srgbClr val="94A3B8">
                <a:alpha val="0"/>
              </a:srgbClr>
            </a:solidFill>
            <a:prstDash val="solid"/>
          </a:ln>
        </p:spPr>
        <p:txBody>
          <a:bodyPr/>
          <a:lstStyle/>
          <a:p>
            <a:endParaRPr lang="en-US"/>
          </a:p>
        </p:txBody>
      </p:sp>
      <p:sp>
        <p:nvSpPr>
          <p:cNvPr id="41" name="Text 35"/>
          <p:cNvSpPr txBox="1"/>
          <p:nvPr/>
        </p:nvSpPr>
        <p:spPr>
          <a:xfrm>
            <a:off x="1719072" y="2676449"/>
            <a:ext cx="3615538" cy="152705"/>
          </a:xfrm>
          <a:prstGeom prst="rect">
            <a:avLst/>
          </a:prstGeom>
          <a:noFill/>
          <a:ln/>
        </p:spPr>
        <p:txBody>
          <a:bodyPr wrap="none" lIns="0" tIns="0" rIns="0" bIns="0" rtlCol="0" anchor="ctr"/>
          <a:lstStyle/>
          <a:p>
            <a:pPr marL="0" indent="0" algn="l">
              <a:buNone/>
            </a:pPr>
            <a:r>
              <a:rPr lang="en-GB" sz="1000" b="1" kern="0" spc="52">
                <a:solidFill>
                  <a:srgbClr val="2A9D8F"/>
                </a:solidFill>
                <a:latin typeface="Roboto Condensed" pitchFamily="34" charset="0"/>
                <a:ea typeface="Roboto Condensed" pitchFamily="34" charset="-122"/>
                <a:cs typeface="Roboto Condensed" pitchFamily="34" charset="-120"/>
              </a:rPr>
              <a:t>3 weeks to first output; 60-70% faster setup than industry norm</a:t>
            </a:r>
            <a:endParaRPr lang="en-US" sz="1000"/>
          </a:p>
        </p:txBody>
      </p:sp>
      <p:pic>
        <p:nvPicPr>
          <p:cNvPr id="42" name="Image 4" descr="gen-dedup-51560749890e099b4f0b94d98ab81c97.png"/>
          <p:cNvPicPr>
            <a:picLocks noChangeAspect="1"/>
          </p:cNvPicPr>
          <p:nvPr/>
        </p:nvPicPr>
        <p:blipFill>
          <a:blip r:embed="rId6"/>
          <a:srcRect l="-3425" r="-3425"/>
          <a:stretch/>
        </p:blipFill>
        <p:spPr>
          <a:xfrm>
            <a:off x="1485900" y="2683764"/>
            <a:ext cx="142646" cy="133502"/>
          </a:xfrm>
          <a:prstGeom prst="rect">
            <a:avLst/>
          </a:prstGeom>
        </p:spPr>
      </p:pic>
      <p:sp>
        <p:nvSpPr>
          <p:cNvPr id="43" name="Shape 36"/>
          <p:cNvSpPr/>
          <p:nvPr/>
        </p:nvSpPr>
        <p:spPr>
          <a:xfrm>
            <a:off x="990295" y="3666744"/>
            <a:ext cx="228600" cy="228600"/>
          </a:xfrm>
          <a:prstGeom prst="ellipse">
            <a:avLst/>
          </a:prstGeom>
          <a:solidFill>
            <a:srgbClr val="2A9D8F"/>
          </a:solidFill>
          <a:ln w="12700">
            <a:solidFill>
              <a:srgbClr val="FFFFFF">
                <a:alpha val="0"/>
              </a:srgbClr>
            </a:solidFill>
            <a:prstDash val="solid"/>
          </a:ln>
        </p:spPr>
        <p:txBody>
          <a:bodyPr/>
          <a:lstStyle/>
          <a:p>
            <a:endParaRPr lang="en-US"/>
          </a:p>
        </p:txBody>
      </p:sp>
      <p:sp>
        <p:nvSpPr>
          <p:cNvPr id="44" name="Text 37"/>
          <p:cNvSpPr/>
          <p:nvPr/>
        </p:nvSpPr>
        <p:spPr>
          <a:xfrm>
            <a:off x="990295" y="3666744"/>
            <a:ext cx="228600" cy="228600"/>
          </a:xfrm>
          <a:prstGeom prst="rect">
            <a:avLst/>
          </a:prstGeom>
          <a:solidFill>
            <a:srgbClr val="FFFFFF">
              <a:alpha val="0"/>
            </a:srgbClr>
          </a:solidFill>
          <a:ln>
            <a:solidFill>
              <a:srgbClr val="FFFFFF">
                <a:alpha val="0"/>
              </a:srgbClr>
            </a:solidFill>
          </a:ln>
        </p:spPr>
        <p:txBody>
          <a:bodyPr wrap="none" lIns="0" tIns="0" rIns="0" bIns="0" rtlCol="0" anchor="ctr"/>
          <a:lstStyle/>
          <a:p>
            <a:pPr marL="0" indent="0" algn="ctr">
              <a:buNone/>
            </a:pPr>
            <a:r>
              <a:rPr lang="en-US" sz="900" b="1">
                <a:solidFill>
                  <a:srgbClr val="FFFFFF"/>
                </a:solidFill>
                <a:latin typeface="Oswald" pitchFamily="34" charset="0"/>
                <a:ea typeface="Oswald" pitchFamily="34" charset="-122"/>
                <a:cs typeface="Oswald" pitchFamily="34" charset="-120"/>
              </a:rPr>
              <a:t>2</a:t>
            </a:r>
            <a:endParaRPr lang="en-US" sz="900"/>
          </a:p>
        </p:txBody>
      </p:sp>
      <p:sp>
        <p:nvSpPr>
          <p:cNvPr id="45" name="Text 38"/>
          <p:cNvSpPr txBox="1"/>
          <p:nvPr/>
        </p:nvSpPr>
        <p:spPr>
          <a:xfrm>
            <a:off x="1333195" y="3666744"/>
            <a:ext cx="4648810" cy="200254"/>
          </a:xfrm>
          <a:prstGeom prst="rect">
            <a:avLst/>
          </a:prstGeom>
          <a:noFill/>
          <a:ln/>
        </p:spPr>
        <p:txBody>
          <a:bodyPr wrap="none" lIns="0" tIns="0" rIns="0" bIns="0" rtlCol="0" anchor="ctr"/>
          <a:lstStyle/>
          <a:p>
            <a:pPr marL="0" indent="0" algn="l">
              <a:buNone/>
            </a:pPr>
            <a:r>
              <a:rPr lang="en-US" sz="1200" b="1">
                <a:solidFill>
                  <a:srgbClr val="1F2937"/>
                </a:solidFill>
                <a:latin typeface="Raleway" pitchFamily="34" charset="0"/>
                <a:ea typeface="Raleway" pitchFamily="34" charset="-122"/>
                <a:cs typeface="Raleway" pitchFamily="34" charset="-120"/>
              </a:rPr>
              <a:t>Stand up a capability or engineering function at speed</a:t>
            </a:r>
            <a:endParaRPr lang="en-US" sz="1200"/>
          </a:p>
        </p:txBody>
      </p:sp>
      <p:sp>
        <p:nvSpPr>
          <p:cNvPr id="46" name="Shape 39"/>
          <p:cNvSpPr/>
          <p:nvPr/>
        </p:nvSpPr>
        <p:spPr>
          <a:xfrm>
            <a:off x="1333195" y="4009644"/>
            <a:ext cx="4134002" cy="342900"/>
          </a:xfrm>
          <a:prstGeom prst="roundRect">
            <a:avLst>
              <a:gd name="adj" fmla="val 11200"/>
            </a:avLst>
          </a:prstGeom>
          <a:solidFill>
            <a:srgbClr val="F8FAFC"/>
          </a:solidFill>
          <a:ln/>
        </p:spPr>
        <p:txBody>
          <a:bodyPr/>
          <a:lstStyle/>
          <a:p>
            <a:endParaRPr lang="en-US"/>
          </a:p>
        </p:txBody>
      </p:sp>
      <p:sp>
        <p:nvSpPr>
          <p:cNvPr id="47" name="Shape 40"/>
          <p:cNvSpPr/>
          <p:nvPr/>
        </p:nvSpPr>
        <p:spPr>
          <a:xfrm>
            <a:off x="1333195" y="4009644"/>
            <a:ext cx="19202" cy="342900"/>
          </a:xfrm>
          <a:prstGeom prst="roundRect">
            <a:avLst>
              <a:gd name="adj" fmla="val 200004"/>
            </a:avLst>
          </a:prstGeom>
          <a:solidFill>
            <a:srgbClr val="94A3B8"/>
          </a:solidFill>
          <a:ln w="12700">
            <a:solidFill>
              <a:srgbClr val="94A3B8">
                <a:alpha val="0"/>
              </a:srgbClr>
            </a:solidFill>
            <a:prstDash val="solid"/>
          </a:ln>
        </p:spPr>
        <p:txBody>
          <a:bodyPr/>
          <a:lstStyle/>
          <a:p>
            <a:endParaRPr lang="en-US"/>
          </a:p>
        </p:txBody>
      </p:sp>
      <p:sp>
        <p:nvSpPr>
          <p:cNvPr id="48" name="Text 41"/>
          <p:cNvSpPr txBox="1"/>
          <p:nvPr/>
        </p:nvSpPr>
        <p:spPr>
          <a:xfrm>
            <a:off x="1751990" y="4105656"/>
            <a:ext cx="3582619" cy="152705"/>
          </a:xfrm>
          <a:prstGeom prst="rect">
            <a:avLst/>
          </a:prstGeom>
          <a:noFill/>
          <a:ln/>
        </p:spPr>
        <p:txBody>
          <a:bodyPr wrap="none" lIns="0" tIns="0" rIns="0" bIns="0" rtlCol="0" anchor="ctr"/>
          <a:lstStyle/>
          <a:p>
            <a:pPr marL="0" indent="0" algn="l">
              <a:buNone/>
            </a:pPr>
            <a:r>
              <a:rPr lang="en-GB" sz="1000" b="1" kern="0" spc="52">
                <a:solidFill>
                  <a:srgbClr val="2A9D8F"/>
                </a:solidFill>
                <a:latin typeface="Roboto Condensed" pitchFamily="34" charset="0"/>
                <a:ea typeface="Roboto Condensed" pitchFamily="34" charset="-122"/>
                <a:cs typeface="Roboto Condensed" pitchFamily="34" charset="-120"/>
              </a:rPr>
              <a:t>300+ engineers, 25 countries; 40% faster development cycle</a:t>
            </a:r>
            <a:endParaRPr lang="en-US" sz="1000"/>
          </a:p>
        </p:txBody>
      </p:sp>
      <p:pic>
        <p:nvPicPr>
          <p:cNvPr id="49" name="Image 5" descr="gen-dedup-2884c36795c02f4b5ed120dc5847c6b9.png"/>
          <p:cNvPicPr>
            <a:picLocks noChangeAspect="1"/>
          </p:cNvPicPr>
          <p:nvPr/>
        </p:nvPicPr>
        <p:blipFill>
          <a:blip r:embed="rId7"/>
          <a:srcRect l="-1507" r="-1507"/>
          <a:stretch/>
        </p:blipFill>
        <p:spPr>
          <a:xfrm>
            <a:off x="1485900" y="4112057"/>
            <a:ext cx="171907" cy="133502"/>
          </a:xfrm>
          <a:prstGeom prst="rect">
            <a:avLst/>
          </a:prstGeom>
        </p:spPr>
      </p:pic>
      <p:sp>
        <p:nvSpPr>
          <p:cNvPr id="50" name="Shape 42"/>
          <p:cNvSpPr/>
          <p:nvPr/>
        </p:nvSpPr>
        <p:spPr>
          <a:xfrm>
            <a:off x="990295" y="5095951"/>
            <a:ext cx="228600" cy="228600"/>
          </a:xfrm>
          <a:prstGeom prst="ellipse">
            <a:avLst/>
          </a:prstGeom>
          <a:solidFill>
            <a:srgbClr val="2A9D8F"/>
          </a:solidFill>
          <a:ln w="12700">
            <a:solidFill>
              <a:srgbClr val="FFFFFF">
                <a:alpha val="0"/>
              </a:srgbClr>
            </a:solidFill>
            <a:prstDash val="solid"/>
          </a:ln>
        </p:spPr>
        <p:txBody>
          <a:bodyPr/>
          <a:lstStyle/>
          <a:p>
            <a:endParaRPr lang="en-US"/>
          </a:p>
        </p:txBody>
      </p:sp>
      <p:sp>
        <p:nvSpPr>
          <p:cNvPr id="51" name="Text 43"/>
          <p:cNvSpPr/>
          <p:nvPr/>
        </p:nvSpPr>
        <p:spPr>
          <a:xfrm>
            <a:off x="990295" y="5095951"/>
            <a:ext cx="228600" cy="228600"/>
          </a:xfrm>
          <a:prstGeom prst="rect">
            <a:avLst/>
          </a:prstGeom>
          <a:solidFill>
            <a:srgbClr val="FFFFFF">
              <a:alpha val="0"/>
            </a:srgbClr>
          </a:solidFill>
          <a:ln>
            <a:solidFill>
              <a:srgbClr val="FFFFFF">
                <a:alpha val="0"/>
              </a:srgbClr>
            </a:solidFill>
          </a:ln>
        </p:spPr>
        <p:txBody>
          <a:bodyPr wrap="none" lIns="0" tIns="0" rIns="0" bIns="0" rtlCol="0" anchor="ctr"/>
          <a:lstStyle/>
          <a:p>
            <a:pPr marL="0" indent="0" algn="ctr">
              <a:buNone/>
            </a:pPr>
            <a:r>
              <a:rPr lang="en-US" sz="900" b="1">
                <a:solidFill>
                  <a:srgbClr val="FFFFFF"/>
                </a:solidFill>
                <a:latin typeface="Oswald" pitchFamily="34" charset="0"/>
                <a:ea typeface="Oswald" pitchFamily="34" charset="-122"/>
                <a:cs typeface="Oswald" pitchFamily="34" charset="-120"/>
              </a:rPr>
              <a:t>3</a:t>
            </a:r>
            <a:endParaRPr lang="en-US" sz="900"/>
          </a:p>
        </p:txBody>
      </p:sp>
      <p:sp>
        <p:nvSpPr>
          <p:cNvPr id="52" name="Text 44"/>
          <p:cNvSpPr txBox="1"/>
          <p:nvPr/>
        </p:nvSpPr>
        <p:spPr>
          <a:xfrm>
            <a:off x="1333195" y="5095951"/>
            <a:ext cx="4134002" cy="400507"/>
          </a:xfrm>
          <a:prstGeom prst="rect">
            <a:avLst/>
          </a:prstGeom>
          <a:noFill/>
          <a:ln/>
        </p:spPr>
        <p:txBody>
          <a:bodyPr wrap="square" lIns="0" tIns="0" rIns="0" bIns="0" rtlCol="0" anchor="ctr"/>
          <a:lstStyle/>
          <a:p>
            <a:pPr marL="0" indent="0" algn="l">
              <a:buNone/>
            </a:pPr>
            <a:r>
              <a:rPr lang="en-US" sz="1200" b="1">
                <a:solidFill>
                  <a:srgbClr val="1F2937"/>
                </a:solidFill>
                <a:latin typeface="Raleway" pitchFamily="34" charset="0"/>
                <a:ea typeface="Raleway" pitchFamily="34" charset="-122"/>
                <a:cs typeface="Raleway" pitchFamily="34" charset="-120"/>
              </a:rPr>
              <a:t>Establish a function-specific capability centre as AI-native</a:t>
            </a:r>
            <a:endParaRPr lang="en-US" sz="1200"/>
          </a:p>
        </p:txBody>
      </p:sp>
      <p:sp>
        <p:nvSpPr>
          <p:cNvPr id="53" name="Shape 45"/>
          <p:cNvSpPr/>
          <p:nvPr/>
        </p:nvSpPr>
        <p:spPr>
          <a:xfrm>
            <a:off x="1333195" y="5606186"/>
            <a:ext cx="4134002" cy="342900"/>
          </a:xfrm>
          <a:prstGeom prst="roundRect">
            <a:avLst>
              <a:gd name="adj" fmla="val 11200"/>
            </a:avLst>
          </a:prstGeom>
          <a:solidFill>
            <a:srgbClr val="F8FAFC"/>
          </a:solidFill>
          <a:ln/>
        </p:spPr>
        <p:txBody>
          <a:bodyPr/>
          <a:lstStyle/>
          <a:p>
            <a:endParaRPr lang="en-US"/>
          </a:p>
        </p:txBody>
      </p:sp>
      <p:sp>
        <p:nvSpPr>
          <p:cNvPr id="54" name="Shape 46"/>
          <p:cNvSpPr/>
          <p:nvPr/>
        </p:nvSpPr>
        <p:spPr>
          <a:xfrm>
            <a:off x="1333195" y="5606186"/>
            <a:ext cx="19202" cy="342900"/>
          </a:xfrm>
          <a:prstGeom prst="roundRect">
            <a:avLst>
              <a:gd name="adj" fmla="val 200004"/>
            </a:avLst>
          </a:prstGeom>
          <a:solidFill>
            <a:srgbClr val="94A3B8"/>
          </a:solidFill>
          <a:ln w="12700">
            <a:solidFill>
              <a:srgbClr val="94A3B8">
                <a:alpha val="0"/>
              </a:srgbClr>
            </a:solidFill>
            <a:prstDash val="solid"/>
          </a:ln>
        </p:spPr>
        <p:txBody>
          <a:bodyPr/>
          <a:lstStyle/>
          <a:p>
            <a:endParaRPr lang="en-US"/>
          </a:p>
        </p:txBody>
      </p:sp>
      <p:sp>
        <p:nvSpPr>
          <p:cNvPr id="55" name="Text 47"/>
          <p:cNvSpPr txBox="1"/>
          <p:nvPr/>
        </p:nvSpPr>
        <p:spPr>
          <a:xfrm>
            <a:off x="1723644" y="5701284"/>
            <a:ext cx="3610966" cy="152705"/>
          </a:xfrm>
          <a:prstGeom prst="rect">
            <a:avLst/>
          </a:prstGeom>
          <a:noFill/>
          <a:ln/>
        </p:spPr>
        <p:txBody>
          <a:bodyPr wrap="none" lIns="0" tIns="0" rIns="0" bIns="0" rtlCol="0" anchor="ctr"/>
          <a:lstStyle/>
          <a:p>
            <a:pPr marL="0" indent="0" algn="l">
              <a:buNone/>
            </a:pPr>
            <a:r>
              <a:rPr lang="en-US" sz="1000" b="1" kern="0" spc="52">
                <a:solidFill>
                  <a:srgbClr val="2A9D8F"/>
                </a:solidFill>
                <a:latin typeface="Roboto Condensed" pitchFamily="34" charset="0"/>
                <a:ea typeface="Roboto Condensed" pitchFamily="34" charset="-122"/>
                <a:cs typeface="Roboto Condensed" pitchFamily="34" charset="-120"/>
              </a:rPr>
              <a:t>23% lead time reduction</a:t>
            </a:r>
            <a:endParaRPr lang="en-US" sz="1000"/>
          </a:p>
        </p:txBody>
      </p:sp>
      <p:pic>
        <p:nvPicPr>
          <p:cNvPr id="56" name="Image 6" descr="gen-dedup-2036ae2e9c63f2cd93ec60dae03cb4ac.png"/>
          <p:cNvPicPr>
            <a:picLocks noChangeAspect="1"/>
          </p:cNvPicPr>
          <p:nvPr/>
        </p:nvPicPr>
        <p:blipFill>
          <a:blip r:embed="rId8"/>
          <a:srcRect l="-3425" r="-3425"/>
          <a:stretch/>
        </p:blipFill>
        <p:spPr>
          <a:xfrm>
            <a:off x="1485900" y="5708599"/>
            <a:ext cx="142646" cy="133502"/>
          </a:xfrm>
          <a:prstGeom prst="rect">
            <a:avLst/>
          </a:prstGeom>
        </p:spPr>
      </p:pic>
      <p:sp>
        <p:nvSpPr>
          <p:cNvPr id="57" name="Text 48"/>
          <p:cNvSpPr txBox="1"/>
          <p:nvPr/>
        </p:nvSpPr>
        <p:spPr>
          <a:xfrm>
            <a:off x="6733642" y="1380744"/>
            <a:ext cx="4658868" cy="342900"/>
          </a:xfrm>
          <a:prstGeom prst="rect">
            <a:avLst/>
          </a:prstGeom>
          <a:noFill/>
          <a:ln/>
        </p:spPr>
        <p:txBody>
          <a:bodyPr wrap="none" lIns="0" tIns="0" rIns="0" bIns="0" rtlCol="0" anchor="ctr"/>
          <a:lstStyle/>
          <a:p>
            <a:pPr marL="0" indent="0" algn="l">
              <a:buNone/>
            </a:pPr>
            <a:r>
              <a:rPr lang="en-US" sz="1800" b="1">
                <a:solidFill>
                  <a:srgbClr val="111827"/>
                </a:solidFill>
                <a:latin typeface="Oswald" pitchFamily="34" charset="0"/>
                <a:ea typeface="Oswald" pitchFamily="34" charset="-122"/>
                <a:cs typeface="Oswald" pitchFamily="34" charset="-120"/>
              </a:rPr>
              <a:t>BROWNFIELD</a:t>
            </a:r>
            <a:endParaRPr lang="en-US" sz="1800"/>
          </a:p>
        </p:txBody>
      </p:sp>
      <p:pic>
        <p:nvPicPr>
          <p:cNvPr id="58" name="Image 7" descr="gen-dedup-82a1fdef16b450831e091d4acdf0fd27.png"/>
          <p:cNvPicPr>
            <a:picLocks noChangeAspect="1"/>
          </p:cNvPicPr>
          <p:nvPr/>
        </p:nvPicPr>
        <p:blipFill>
          <a:blip r:embed="rId9"/>
          <a:srcRect/>
          <a:stretch/>
        </p:blipFill>
        <p:spPr>
          <a:xfrm>
            <a:off x="6381598" y="1457554"/>
            <a:ext cx="237744" cy="190195"/>
          </a:xfrm>
          <a:prstGeom prst="rect">
            <a:avLst/>
          </a:prstGeom>
        </p:spPr>
      </p:pic>
      <p:sp>
        <p:nvSpPr>
          <p:cNvPr id="59" name="Text 49"/>
          <p:cNvSpPr txBox="1"/>
          <p:nvPr/>
        </p:nvSpPr>
        <p:spPr>
          <a:xfrm>
            <a:off x="6687007" y="1762049"/>
            <a:ext cx="4705502" cy="152705"/>
          </a:xfrm>
          <a:prstGeom prst="rect">
            <a:avLst/>
          </a:prstGeom>
          <a:noFill/>
          <a:ln/>
        </p:spPr>
        <p:txBody>
          <a:bodyPr wrap="none" lIns="0" tIns="0" rIns="0" bIns="0" rtlCol="0" anchor="ctr"/>
          <a:lstStyle/>
          <a:p>
            <a:pPr marL="0" indent="0" algn="l">
              <a:buNone/>
            </a:pPr>
            <a:r>
              <a:rPr lang="en-US" sz="1000" b="1" i="1">
                <a:solidFill>
                  <a:srgbClr val="475569"/>
                </a:solidFill>
                <a:latin typeface="Raleway" pitchFamily="34" charset="0"/>
                <a:ea typeface="Raleway" pitchFamily="34" charset="-122"/>
                <a:cs typeface="Raleway" pitchFamily="34" charset="-120"/>
              </a:rPr>
              <a:t>For enterprises whose GCC already runs</a:t>
            </a:r>
            <a:endParaRPr lang="en-US" sz="1000"/>
          </a:p>
        </p:txBody>
      </p:sp>
      <p:sp>
        <p:nvSpPr>
          <p:cNvPr id="60" name="Shape 50"/>
          <p:cNvSpPr/>
          <p:nvPr/>
        </p:nvSpPr>
        <p:spPr>
          <a:xfrm>
            <a:off x="6524244" y="2239366"/>
            <a:ext cx="190195" cy="190195"/>
          </a:xfrm>
          <a:prstGeom prst="ellipse">
            <a:avLst/>
          </a:prstGeom>
          <a:solidFill>
            <a:srgbClr val="D62839"/>
          </a:solidFill>
          <a:ln w="12700">
            <a:solidFill>
              <a:srgbClr val="FFFFFF">
                <a:alpha val="0"/>
              </a:srgbClr>
            </a:solidFill>
            <a:prstDash val="solid"/>
          </a:ln>
        </p:spPr>
        <p:txBody>
          <a:bodyPr/>
          <a:lstStyle/>
          <a:p>
            <a:endParaRPr lang="en-US"/>
          </a:p>
        </p:txBody>
      </p:sp>
      <p:sp>
        <p:nvSpPr>
          <p:cNvPr id="61" name="Text 51"/>
          <p:cNvSpPr/>
          <p:nvPr/>
        </p:nvSpPr>
        <p:spPr>
          <a:xfrm>
            <a:off x="6524244" y="2239366"/>
            <a:ext cx="191110" cy="191110"/>
          </a:xfrm>
          <a:prstGeom prst="rect">
            <a:avLst/>
          </a:prstGeom>
          <a:solidFill>
            <a:srgbClr val="FFFFFF">
              <a:alpha val="0"/>
            </a:srgbClr>
          </a:solidFill>
          <a:ln>
            <a:solidFill>
              <a:srgbClr val="FFFFFF">
                <a:alpha val="0"/>
              </a:srgbClr>
            </a:solidFill>
          </a:ln>
        </p:spPr>
        <p:txBody>
          <a:bodyPr wrap="none" lIns="0" tIns="0" rIns="0" bIns="0" rtlCol="0" anchor="ctr"/>
          <a:lstStyle/>
          <a:p>
            <a:pPr marL="0" indent="0" algn="ctr">
              <a:buNone/>
            </a:pPr>
            <a:r>
              <a:rPr lang="en-US" sz="800" b="1">
                <a:solidFill>
                  <a:srgbClr val="FFFFFF"/>
                </a:solidFill>
                <a:latin typeface="Oswald" pitchFamily="34" charset="0"/>
                <a:ea typeface="Oswald" pitchFamily="34" charset="-122"/>
                <a:cs typeface="Oswald" pitchFamily="34" charset="-120"/>
              </a:rPr>
              <a:t>1</a:t>
            </a:r>
            <a:endParaRPr lang="en-US" sz="800"/>
          </a:p>
        </p:txBody>
      </p:sp>
      <p:sp>
        <p:nvSpPr>
          <p:cNvPr id="62" name="Text 52"/>
          <p:cNvSpPr txBox="1"/>
          <p:nvPr/>
        </p:nvSpPr>
        <p:spPr>
          <a:xfrm>
            <a:off x="6829655" y="2220163"/>
            <a:ext cx="2552090" cy="351130"/>
          </a:xfrm>
          <a:prstGeom prst="rect">
            <a:avLst/>
          </a:prstGeom>
          <a:noFill/>
          <a:ln/>
        </p:spPr>
        <p:txBody>
          <a:bodyPr wrap="square" lIns="0" tIns="0" rIns="0" bIns="0" rtlCol="0" anchor="ctr"/>
          <a:lstStyle/>
          <a:p>
            <a:pPr marL="0" indent="0" algn="l">
              <a:buNone/>
            </a:pPr>
            <a:r>
              <a:rPr lang="en-US" sz="900" b="1">
                <a:solidFill>
                  <a:srgbClr val="1F2937"/>
                </a:solidFill>
                <a:latin typeface="Raleway" pitchFamily="34" charset="0"/>
                <a:ea typeface="Raleway" pitchFamily="34" charset="-122"/>
                <a:cs typeface="Raleway" pitchFamily="34" charset="-120"/>
              </a:rPr>
              <a:t>Shift the GCC operating model from delivery to AI-native ownership</a:t>
            </a:r>
            <a:endParaRPr lang="en-US" sz="900"/>
          </a:p>
        </p:txBody>
      </p:sp>
      <p:sp>
        <p:nvSpPr>
          <p:cNvPr id="63" name="Shape 53"/>
          <p:cNvSpPr/>
          <p:nvPr/>
        </p:nvSpPr>
        <p:spPr>
          <a:xfrm>
            <a:off x="9425637" y="2257653"/>
            <a:ext cx="1861718" cy="313639"/>
          </a:xfrm>
          <a:prstGeom prst="roundRect">
            <a:avLst>
              <a:gd name="adj" fmla="val 15498"/>
            </a:avLst>
          </a:prstGeom>
          <a:solidFill>
            <a:srgbClr val="FFF1F2"/>
          </a:solidFill>
          <a:ln w="12700">
            <a:solidFill>
              <a:srgbClr val="FFFFFF">
                <a:alpha val="0"/>
              </a:srgbClr>
            </a:solidFill>
            <a:prstDash val="solid"/>
          </a:ln>
        </p:spPr>
        <p:txBody>
          <a:bodyPr/>
          <a:lstStyle/>
          <a:p>
            <a:endParaRPr lang="en-US"/>
          </a:p>
        </p:txBody>
      </p:sp>
      <p:sp>
        <p:nvSpPr>
          <p:cNvPr id="64" name="Text 54"/>
          <p:cNvSpPr txBox="1"/>
          <p:nvPr/>
        </p:nvSpPr>
        <p:spPr>
          <a:xfrm>
            <a:off x="9583826" y="2314346"/>
            <a:ext cx="1608430" cy="133502"/>
          </a:xfrm>
          <a:prstGeom prst="rect">
            <a:avLst/>
          </a:prstGeom>
          <a:noFill/>
          <a:ln/>
        </p:spPr>
        <p:txBody>
          <a:bodyPr wrap="none" lIns="0" tIns="0" rIns="0" bIns="0" rtlCol="0" anchor="ctr"/>
          <a:lstStyle/>
          <a:p>
            <a:pPr marL="0" indent="0" algn="r">
              <a:buNone/>
            </a:pPr>
            <a:r>
              <a:rPr lang="en-US" sz="900" b="1">
                <a:solidFill>
                  <a:srgbClr val="D62839"/>
                </a:solidFill>
                <a:latin typeface="Roboto Condensed" pitchFamily="34" charset="0"/>
                <a:ea typeface="Roboto Condensed" pitchFamily="34" charset="-122"/>
                <a:cs typeface="Roboto Condensed" pitchFamily="34" charset="-120"/>
              </a:rPr>
              <a:t>99.8% SLA compliance, 42% TAT ↓</a:t>
            </a:r>
            <a:endParaRPr lang="en-US" sz="900"/>
          </a:p>
        </p:txBody>
      </p:sp>
      <p:sp>
        <p:nvSpPr>
          <p:cNvPr id="65" name="Shape 55"/>
          <p:cNvSpPr/>
          <p:nvPr/>
        </p:nvSpPr>
        <p:spPr>
          <a:xfrm>
            <a:off x="6524244" y="3057754"/>
            <a:ext cx="190195" cy="190195"/>
          </a:xfrm>
          <a:prstGeom prst="ellipse">
            <a:avLst/>
          </a:prstGeom>
          <a:solidFill>
            <a:srgbClr val="D62839"/>
          </a:solidFill>
          <a:ln w="12700">
            <a:solidFill>
              <a:srgbClr val="FFFFFF">
                <a:alpha val="0"/>
              </a:srgbClr>
            </a:solidFill>
            <a:prstDash val="solid"/>
          </a:ln>
        </p:spPr>
        <p:txBody>
          <a:bodyPr/>
          <a:lstStyle/>
          <a:p>
            <a:endParaRPr lang="en-US"/>
          </a:p>
        </p:txBody>
      </p:sp>
      <p:sp>
        <p:nvSpPr>
          <p:cNvPr id="66" name="Text 56"/>
          <p:cNvSpPr/>
          <p:nvPr/>
        </p:nvSpPr>
        <p:spPr>
          <a:xfrm>
            <a:off x="6524244" y="3057754"/>
            <a:ext cx="191110" cy="191110"/>
          </a:xfrm>
          <a:prstGeom prst="rect">
            <a:avLst/>
          </a:prstGeom>
          <a:solidFill>
            <a:srgbClr val="FFFFFF">
              <a:alpha val="0"/>
            </a:srgbClr>
          </a:solidFill>
          <a:ln>
            <a:solidFill>
              <a:srgbClr val="FFFFFF">
                <a:alpha val="0"/>
              </a:srgbClr>
            </a:solidFill>
          </a:ln>
        </p:spPr>
        <p:txBody>
          <a:bodyPr wrap="none" lIns="0" tIns="0" rIns="0" bIns="0" rtlCol="0" anchor="ctr"/>
          <a:lstStyle/>
          <a:p>
            <a:pPr marL="0" indent="0" algn="ctr">
              <a:buNone/>
            </a:pPr>
            <a:r>
              <a:rPr lang="en-US" sz="800" b="1">
                <a:solidFill>
                  <a:srgbClr val="FFFFFF"/>
                </a:solidFill>
                <a:latin typeface="Oswald" pitchFamily="34" charset="0"/>
                <a:ea typeface="Oswald" pitchFamily="34" charset="-122"/>
                <a:cs typeface="Oswald" pitchFamily="34" charset="-120"/>
              </a:rPr>
              <a:t>2</a:t>
            </a:r>
            <a:endParaRPr lang="en-US" sz="800"/>
          </a:p>
        </p:txBody>
      </p:sp>
      <p:sp>
        <p:nvSpPr>
          <p:cNvPr id="67" name="Text 57"/>
          <p:cNvSpPr txBox="1"/>
          <p:nvPr/>
        </p:nvSpPr>
        <p:spPr>
          <a:xfrm>
            <a:off x="6829654" y="3038551"/>
            <a:ext cx="2595982" cy="162763"/>
          </a:xfrm>
          <a:prstGeom prst="rect">
            <a:avLst/>
          </a:prstGeom>
          <a:noFill/>
          <a:ln/>
        </p:spPr>
        <p:txBody>
          <a:bodyPr wrap="none" lIns="0" tIns="0" rIns="0" bIns="0" rtlCol="0" anchor="ctr"/>
          <a:lstStyle/>
          <a:p>
            <a:pPr marL="0" indent="0" algn="l">
              <a:buNone/>
            </a:pPr>
            <a:r>
              <a:rPr lang="en-US" sz="900" b="1">
                <a:solidFill>
                  <a:srgbClr val="1F2937"/>
                </a:solidFill>
                <a:latin typeface="Raleway" pitchFamily="34" charset="0"/>
                <a:ea typeface="Raleway" pitchFamily="34" charset="-122"/>
                <a:cs typeface="Raleway" pitchFamily="34" charset="-120"/>
              </a:rPr>
              <a:t>Move stalled AI pilots into production</a:t>
            </a:r>
            <a:endParaRPr lang="en-US" sz="900"/>
          </a:p>
        </p:txBody>
      </p:sp>
      <p:sp>
        <p:nvSpPr>
          <p:cNvPr id="68" name="Shape 58"/>
          <p:cNvSpPr/>
          <p:nvPr/>
        </p:nvSpPr>
        <p:spPr>
          <a:xfrm>
            <a:off x="9425637" y="3019348"/>
            <a:ext cx="1861718" cy="313639"/>
          </a:xfrm>
          <a:prstGeom prst="roundRect">
            <a:avLst>
              <a:gd name="adj" fmla="val 15498"/>
            </a:avLst>
          </a:prstGeom>
          <a:solidFill>
            <a:srgbClr val="FFF1F2"/>
          </a:solidFill>
          <a:ln w="12700">
            <a:solidFill>
              <a:srgbClr val="FFFFFF">
                <a:alpha val="0"/>
              </a:srgbClr>
            </a:solidFill>
            <a:prstDash val="solid"/>
          </a:ln>
        </p:spPr>
        <p:txBody>
          <a:bodyPr/>
          <a:lstStyle/>
          <a:p>
            <a:endParaRPr lang="en-US"/>
          </a:p>
        </p:txBody>
      </p:sp>
      <p:sp>
        <p:nvSpPr>
          <p:cNvPr id="69" name="Text 59"/>
          <p:cNvSpPr txBox="1"/>
          <p:nvPr/>
        </p:nvSpPr>
        <p:spPr>
          <a:xfrm>
            <a:off x="9635033" y="3114447"/>
            <a:ext cx="1334110" cy="133502"/>
          </a:xfrm>
          <a:prstGeom prst="rect">
            <a:avLst/>
          </a:prstGeom>
          <a:noFill/>
          <a:ln/>
        </p:spPr>
        <p:txBody>
          <a:bodyPr wrap="none" lIns="0" tIns="0" rIns="0" bIns="0" rtlCol="0" anchor="ctr"/>
          <a:lstStyle/>
          <a:p>
            <a:pPr marL="0" indent="0">
              <a:buNone/>
            </a:pPr>
            <a:r>
              <a:rPr lang="en-US" sz="900" b="1">
                <a:solidFill>
                  <a:srgbClr val="D62839"/>
                </a:solidFill>
                <a:latin typeface="Roboto Condensed" pitchFamily="34" charset="0"/>
                <a:ea typeface="Roboto Condensed" pitchFamily="34" charset="-122"/>
                <a:cs typeface="Roboto Condensed" pitchFamily="34" charset="-120"/>
              </a:rPr>
              <a:t>100% on-time migration, 99.95% </a:t>
            </a:r>
          </a:p>
          <a:p>
            <a:pPr marL="0" indent="0">
              <a:buNone/>
            </a:pPr>
            <a:r>
              <a:rPr lang="en-US" sz="900" b="1">
                <a:solidFill>
                  <a:srgbClr val="D62839"/>
                </a:solidFill>
                <a:latin typeface="Roboto Condensed" pitchFamily="34" charset="0"/>
                <a:ea typeface="Roboto Condensed" pitchFamily="34" charset="-122"/>
                <a:cs typeface="Roboto Condensed" pitchFamily="34" charset="-120"/>
              </a:rPr>
              <a:t>uptime</a:t>
            </a:r>
            <a:endParaRPr lang="en-US" sz="900"/>
          </a:p>
        </p:txBody>
      </p:sp>
      <p:sp>
        <p:nvSpPr>
          <p:cNvPr id="70" name="Shape 60"/>
          <p:cNvSpPr/>
          <p:nvPr/>
        </p:nvSpPr>
        <p:spPr>
          <a:xfrm>
            <a:off x="6524244" y="3763670"/>
            <a:ext cx="190195" cy="190195"/>
          </a:xfrm>
          <a:prstGeom prst="ellipse">
            <a:avLst/>
          </a:prstGeom>
          <a:solidFill>
            <a:srgbClr val="D62839"/>
          </a:solidFill>
          <a:ln w="12700">
            <a:solidFill>
              <a:srgbClr val="FFFFFF">
                <a:alpha val="0"/>
              </a:srgbClr>
            </a:solidFill>
            <a:prstDash val="solid"/>
          </a:ln>
        </p:spPr>
        <p:txBody>
          <a:bodyPr/>
          <a:lstStyle/>
          <a:p>
            <a:endParaRPr lang="en-US"/>
          </a:p>
        </p:txBody>
      </p:sp>
      <p:sp>
        <p:nvSpPr>
          <p:cNvPr id="71" name="Text 61"/>
          <p:cNvSpPr/>
          <p:nvPr/>
        </p:nvSpPr>
        <p:spPr>
          <a:xfrm>
            <a:off x="6524244" y="3763670"/>
            <a:ext cx="191110" cy="191110"/>
          </a:xfrm>
          <a:prstGeom prst="rect">
            <a:avLst/>
          </a:prstGeom>
          <a:solidFill>
            <a:srgbClr val="FFFFFF">
              <a:alpha val="0"/>
            </a:srgbClr>
          </a:solidFill>
          <a:ln>
            <a:solidFill>
              <a:srgbClr val="FFFFFF">
                <a:alpha val="0"/>
              </a:srgbClr>
            </a:solidFill>
          </a:ln>
        </p:spPr>
        <p:txBody>
          <a:bodyPr wrap="none" lIns="0" tIns="0" rIns="0" bIns="0" rtlCol="0" anchor="ctr"/>
          <a:lstStyle/>
          <a:p>
            <a:pPr marL="0" indent="0" algn="ctr">
              <a:buNone/>
            </a:pPr>
            <a:r>
              <a:rPr lang="en-US" sz="800" b="1">
                <a:solidFill>
                  <a:srgbClr val="FFFFFF"/>
                </a:solidFill>
                <a:latin typeface="Oswald" pitchFamily="34" charset="0"/>
                <a:ea typeface="Oswald" pitchFamily="34" charset="-122"/>
                <a:cs typeface="Oswald" pitchFamily="34" charset="-120"/>
              </a:rPr>
              <a:t>3</a:t>
            </a:r>
            <a:endParaRPr lang="en-US" sz="800"/>
          </a:p>
        </p:txBody>
      </p:sp>
      <p:sp>
        <p:nvSpPr>
          <p:cNvPr id="72" name="Text 62"/>
          <p:cNvSpPr txBox="1"/>
          <p:nvPr/>
        </p:nvSpPr>
        <p:spPr>
          <a:xfrm>
            <a:off x="6829654" y="3744468"/>
            <a:ext cx="2791663" cy="324612"/>
          </a:xfrm>
          <a:prstGeom prst="rect">
            <a:avLst/>
          </a:prstGeom>
          <a:noFill/>
          <a:ln/>
        </p:spPr>
        <p:txBody>
          <a:bodyPr wrap="square" lIns="0" tIns="0" rIns="0" bIns="0" rtlCol="0" anchor="ctr"/>
          <a:lstStyle/>
          <a:p>
            <a:pPr marL="0" indent="0" algn="l">
              <a:buNone/>
            </a:pPr>
            <a:r>
              <a:rPr lang="en-US" sz="900" b="1">
                <a:solidFill>
                  <a:srgbClr val="1F2937"/>
                </a:solidFill>
                <a:latin typeface="Raleway" pitchFamily="34" charset="0"/>
                <a:ea typeface="Raleway" pitchFamily="34" charset="-122"/>
                <a:cs typeface="Raleway" pitchFamily="34" charset="-120"/>
              </a:rPr>
              <a:t>Embed AI into a function to lift output and decisions without adding headcount</a:t>
            </a:r>
            <a:endParaRPr lang="en-US" sz="900"/>
          </a:p>
        </p:txBody>
      </p:sp>
      <p:sp>
        <p:nvSpPr>
          <p:cNvPr id="73" name="Shape 63"/>
          <p:cNvSpPr/>
          <p:nvPr/>
        </p:nvSpPr>
        <p:spPr>
          <a:xfrm>
            <a:off x="9425636" y="3781043"/>
            <a:ext cx="1863546" cy="219457"/>
          </a:xfrm>
          <a:prstGeom prst="roundRect">
            <a:avLst>
              <a:gd name="adj" fmla="val 15498"/>
            </a:avLst>
          </a:prstGeom>
          <a:solidFill>
            <a:srgbClr val="FFF1F2"/>
          </a:solidFill>
          <a:ln w="12700">
            <a:solidFill>
              <a:srgbClr val="FFFFFF">
                <a:alpha val="0"/>
              </a:srgbClr>
            </a:solidFill>
            <a:prstDash val="solid"/>
          </a:ln>
        </p:spPr>
        <p:txBody>
          <a:bodyPr/>
          <a:lstStyle/>
          <a:p>
            <a:endParaRPr lang="en-US"/>
          </a:p>
        </p:txBody>
      </p:sp>
      <p:sp>
        <p:nvSpPr>
          <p:cNvPr id="74" name="Text 64"/>
          <p:cNvSpPr txBox="1"/>
          <p:nvPr/>
        </p:nvSpPr>
        <p:spPr>
          <a:xfrm>
            <a:off x="9621317" y="3837831"/>
            <a:ext cx="1711757" cy="133502"/>
          </a:xfrm>
          <a:prstGeom prst="rect">
            <a:avLst/>
          </a:prstGeom>
          <a:noFill/>
          <a:ln/>
        </p:spPr>
        <p:txBody>
          <a:bodyPr wrap="none" lIns="0" tIns="0" rIns="0" bIns="0" rtlCol="0" anchor="ctr"/>
          <a:lstStyle/>
          <a:p>
            <a:pPr marL="0" indent="0">
              <a:buNone/>
            </a:pPr>
            <a:r>
              <a:rPr lang="en-GB" sz="900" b="1">
                <a:solidFill>
                  <a:srgbClr val="D62839"/>
                </a:solidFill>
                <a:latin typeface="Roboto Condensed" pitchFamily="34" charset="0"/>
                <a:ea typeface="Roboto Condensed" pitchFamily="34" charset="-122"/>
                <a:cs typeface="Roboto Condensed" pitchFamily="34" charset="-120"/>
              </a:rPr>
              <a:t>30-50% ↑ capacity, 0 new hires</a:t>
            </a:r>
            <a:endParaRPr lang="en-US" sz="900"/>
          </a:p>
        </p:txBody>
      </p:sp>
      <p:sp>
        <p:nvSpPr>
          <p:cNvPr id="75" name="Shape 65"/>
          <p:cNvSpPr/>
          <p:nvPr/>
        </p:nvSpPr>
        <p:spPr>
          <a:xfrm>
            <a:off x="6524244" y="4525366"/>
            <a:ext cx="190195" cy="190195"/>
          </a:xfrm>
          <a:prstGeom prst="ellipse">
            <a:avLst/>
          </a:prstGeom>
          <a:solidFill>
            <a:srgbClr val="D62839"/>
          </a:solidFill>
          <a:ln w="12700">
            <a:solidFill>
              <a:srgbClr val="FFFFFF">
                <a:alpha val="0"/>
              </a:srgbClr>
            </a:solidFill>
            <a:prstDash val="solid"/>
          </a:ln>
        </p:spPr>
        <p:txBody>
          <a:bodyPr/>
          <a:lstStyle/>
          <a:p>
            <a:endParaRPr lang="en-US"/>
          </a:p>
        </p:txBody>
      </p:sp>
      <p:sp>
        <p:nvSpPr>
          <p:cNvPr id="76" name="Text 66"/>
          <p:cNvSpPr/>
          <p:nvPr/>
        </p:nvSpPr>
        <p:spPr>
          <a:xfrm>
            <a:off x="6524244" y="4525366"/>
            <a:ext cx="191110" cy="191110"/>
          </a:xfrm>
          <a:prstGeom prst="rect">
            <a:avLst/>
          </a:prstGeom>
          <a:solidFill>
            <a:srgbClr val="FFFFFF">
              <a:alpha val="0"/>
            </a:srgbClr>
          </a:solidFill>
          <a:ln>
            <a:solidFill>
              <a:srgbClr val="FFFFFF">
                <a:alpha val="0"/>
              </a:srgbClr>
            </a:solidFill>
          </a:ln>
        </p:spPr>
        <p:txBody>
          <a:bodyPr wrap="none" lIns="0" tIns="0" rIns="0" bIns="0" rtlCol="0" anchor="ctr"/>
          <a:lstStyle/>
          <a:p>
            <a:pPr marL="0" indent="0" algn="ctr">
              <a:buNone/>
            </a:pPr>
            <a:r>
              <a:rPr lang="en-US" sz="800" b="1">
                <a:solidFill>
                  <a:srgbClr val="FFFFFF"/>
                </a:solidFill>
                <a:latin typeface="Oswald" pitchFamily="34" charset="0"/>
                <a:ea typeface="Oswald" pitchFamily="34" charset="-122"/>
                <a:cs typeface="Oswald" pitchFamily="34" charset="-120"/>
              </a:rPr>
              <a:t>4</a:t>
            </a:r>
            <a:endParaRPr lang="en-US" sz="800"/>
          </a:p>
        </p:txBody>
      </p:sp>
      <p:sp>
        <p:nvSpPr>
          <p:cNvPr id="77" name="Text 67"/>
          <p:cNvSpPr txBox="1"/>
          <p:nvPr/>
        </p:nvSpPr>
        <p:spPr>
          <a:xfrm>
            <a:off x="6829655" y="4506162"/>
            <a:ext cx="2453338" cy="351129"/>
          </a:xfrm>
          <a:prstGeom prst="rect">
            <a:avLst/>
          </a:prstGeom>
          <a:noFill/>
          <a:ln/>
        </p:spPr>
        <p:txBody>
          <a:bodyPr wrap="square" lIns="0" tIns="0" rIns="0" bIns="0" rtlCol="0" anchor="ctr"/>
          <a:lstStyle/>
          <a:p>
            <a:pPr marL="0" indent="0" algn="l">
              <a:buNone/>
            </a:pPr>
            <a:r>
              <a:rPr lang="en-US" sz="900" b="1">
                <a:solidFill>
                  <a:srgbClr val="1F2937"/>
                </a:solidFill>
                <a:latin typeface="Raleway" pitchFamily="34" charset="0"/>
                <a:ea typeface="Raleway" pitchFamily="34" charset="-122"/>
                <a:cs typeface="Raleway" pitchFamily="34" charset="-120"/>
              </a:rPr>
              <a:t>Unify fragmented and mainframe data into one AI-ready layer</a:t>
            </a:r>
            <a:endParaRPr lang="en-US" sz="900"/>
          </a:p>
        </p:txBody>
      </p:sp>
      <p:sp>
        <p:nvSpPr>
          <p:cNvPr id="78" name="Shape 68"/>
          <p:cNvSpPr/>
          <p:nvPr/>
        </p:nvSpPr>
        <p:spPr>
          <a:xfrm>
            <a:off x="9425637" y="4543653"/>
            <a:ext cx="1861718" cy="313639"/>
          </a:xfrm>
          <a:prstGeom prst="roundRect">
            <a:avLst>
              <a:gd name="adj" fmla="val 15498"/>
            </a:avLst>
          </a:prstGeom>
          <a:solidFill>
            <a:srgbClr val="FFF1F2"/>
          </a:solidFill>
          <a:ln w="12700">
            <a:solidFill>
              <a:srgbClr val="FFFFFF">
                <a:alpha val="0"/>
              </a:srgbClr>
            </a:solidFill>
            <a:prstDash val="solid"/>
          </a:ln>
        </p:spPr>
        <p:txBody>
          <a:bodyPr/>
          <a:lstStyle/>
          <a:p>
            <a:endParaRPr lang="en-US"/>
          </a:p>
        </p:txBody>
      </p:sp>
      <p:sp>
        <p:nvSpPr>
          <p:cNvPr id="79" name="Text 69"/>
          <p:cNvSpPr txBox="1"/>
          <p:nvPr/>
        </p:nvSpPr>
        <p:spPr>
          <a:xfrm>
            <a:off x="9604858" y="4638846"/>
            <a:ext cx="1587398" cy="133502"/>
          </a:xfrm>
          <a:prstGeom prst="rect">
            <a:avLst/>
          </a:prstGeom>
          <a:noFill/>
          <a:ln/>
        </p:spPr>
        <p:txBody>
          <a:bodyPr wrap="none" lIns="0" tIns="0" rIns="0" bIns="0" rtlCol="0" anchor="ctr"/>
          <a:lstStyle/>
          <a:p>
            <a:pPr marL="0" indent="0">
              <a:buNone/>
            </a:pPr>
            <a:r>
              <a:rPr lang="en-GB" sz="900" b="1">
                <a:solidFill>
                  <a:srgbClr val="D62839"/>
                </a:solidFill>
                <a:latin typeface="Roboto Condensed" pitchFamily="34" charset="0"/>
                <a:ea typeface="Roboto Condensed" pitchFamily="34" charset="-122"/>
                <a:cs typeface="Roboto Condensed" pitchFamily="34" charset="-120"/>
              </a:rPr>
              <a:t>Millions in mainframe savings, </a:t>
            </a:r>
          </a:p>
          <a:p>
            <a:pPr marL="0" indent="0">
              <a:buNone/>
            </a:pPr>
            <a:r>
              <a:rPr lang="en-GB" sz="900" b="1">
                <a:solidFill>
                  <a:srgbClr val="D62839"/>
                </a:solidFill>
                <a:latin typeface="Roboto Condensed" pitchFamily="34" charset="0"/>
                <a:ea typeface="Roboto Condensed" pitchFamily="34" charset="-122"/>
                <a:cs typeface="Roboto Condensed" pitchFamily="34" charset="-120"/>
              </a:rPr>
              <a:t>10-person team in 60d</a:t>
            </a:r>
            <a:endParaRPr lang="en-US" sz="900"/>
          </a:p>
        </p:txBody>
      </p:sp>
      <p:sp>
        <p:nvSpPr>
          <p:cNvPr id="80" name="Shape 70"/>
          <p:cNvSpPr/>
          <p:nvPr/>
        </p:nvSpPr>
        <p:spPr>
          <a:xfrm>
            <a:off x="6524244" y="5343754"/>
            <a:ext cx="190195" cy="190195"/>
          </a:xfrm>
          <a:prstGeom prst="ellipse">
            <a:avLst/>
          </a:prstGeom>
          <a:solidFill>
            <a:srgbClr val="D62839"/>
          </a:solidFill>
          <a:ln w="12700">
            <a:solidFill>
              <a:srgbClr val="FFFFFF">
                <a:alpha val="0"/>
              </a:srgbClr>
            </a:solidFill>
            <a:prstDash val="solid"/>
          </a:ln>
        </p:spPr>
        <p:txBody>
          <a:bodyPr/>
          <a:lstStyle/>
          <a:p>
            <a:endParaRPr lang="en-US"/>
          </a:p>
        </p:txBody>
      </p:sp>
      <p:sp>
        <p:nvSpPr>
          <p:cNvPr id="81" name="Text 71"/>
          <p:cNvSpPr/>
          <p:nvPr/>
        </p:nvSpPr>
        <p:spPr>
          <a:xfrm>
            <a:off x="6524244" y="5343754"/>
            <a:ext cx="191110" cy="191110"/>
          </a:xfrm>
          <a:prstGeom prst="rect">
            <a:avLst/>
          </a:prstGeom>
          <a:solidFill>
            <a:srgbClr val="FFFFFF">
              <a:alpha val="0"/>
            </a:srgbClr>
          </a:solidFill>
          <a:ln>
            <a:solidFill>
              <a:srgbClr val="FFFFFF">
                <a:alpha val="0"/>
              </a:srgbClr>
            </a:solidFill>
          </a:ln>
        </p:spPr>
        <p:txBody>
          <a:bodyPr wrap="none" lIns="0" tIns="0" rIns="0" bIns="0" rtlCol="0" anchor="ctr"/>
          <a:lstStyle/>
          <a:p>
            <a:pPr marL="0" indent="0" algn="ctr">
              <a:buNone/>
            </a:pPr>
            <a:r>
              <a:rPr lang="en-US" sz="800" b="1">
                <a:solidFill>
                  <a:srgbClr val="FFFFFF"/>
                </a:solidFill>
                <a:latin typeface="Oswald" pitchFamily="34" charset="0"/>
                <a:ea typeface="Oswald" pitchFamily="34" charset="-122"/>
                <a:cs typeface="Oswald" pitchFamily="34" charset="-120"/>
              </a:rPr>
              <a:t>5</a:t>
            </a:r>
            <a:endParaRPr lang="en-US" sz="800"/>
          </a:p>
        </p:txBody>
      </p:sp>
      <p:sp>
        <p:nvSpPr>
          <p:cNvPr id="82" name="Text 72"/>
          <p:cNvSpPr txBox="1"/>
          <p:nvPr/>
        </p:nvSpPr>
        <p:spPr>
          <a:xfrm>
            <a:off x="6829654" y="5324551"/>
            <a:ext cx="2396647" cy="294437"/>
          </a:xfrm>
          <a:prstGeom prst="rect">
            <a:avLst/>
          </a:prstGeom>
          <a:noFill/>
          <a:ln/>
        </p:spPr>
        <p:txBody>
          <a:bodyPr wrap="square" lIns="0" tIns="0" rIns="0" bIns="0" rtlCol="0" anchor="ctr"/>
          <a:lstStyle/>
          <a:p>
            <a:pPr marL="0" indent="0" algn="l">
              <a:buNone/>
            </a:pPr>
            <a:r>
              <a:rPr lang="en-US" sz="900" b="1">
                <a:solidFill>
                  <a:srgbClr val="1F2937"/>
                </a:solidFill>
                <a:latin typeface="Raleway" pitchFamily="34" charset="0"/>
                <a:ea typeface="Raleway" pitchFamily="34" charset="-122"/>
                <a:cs typeface="Raleway" pitchFamily="34" charset="-120"/>
              </a:rPr>
              <a:t>Re-engineer a core process with embedded AI</a:t>
            </a:r>
            <a:endParaRPr lang="en-US" sz="900"/>
          </a:p>
        </p:txBody>
      </p:sp>
      <p:sp>
        <p:nvSpPr>
          <p:cNvPr id="83" name="Shape 73"/>
          <p:cNvSpPr/>
          <p:nvPr/>
        </p:nvSpPr>
        <p:spPr>
          <a:xfrm>
            <a:off x="9425637" y="5305348"/>
            <a:ext cx="1861718" cy="313639"/>
          </a:xfrm>
          <a:prstGeom prst="roundRect">
            <a:avLst>
              <a:gd name="adj" fmla="val 15498"/>
            </a:avLst>
          </a:prstGeom>
          <a:solidFill>
            <a:srgbClr val="FFF1F2"/>
          </a:solidFill>
          <a:ln w="12700">
            <a:solidFill>
              <a:srgbClr val="FFFFFF">
                <a:alpha val="0"/>
              </a:srgbClr>
            </a:solidFill>
            <a:prstDash val="solid"/>
          </a:ln>
        </p:spPr>
        <p:txBody>
          <a:bodyPr/>
          <a:lstStyle/>
          <a:p>
            <a:endParaRPr lang="en-US"/>
          </a:p>
        </p:txBody>
      </p:sp>
      <p:sp>
        <p:nvSpPr>
          <p:cNvPr id="84" name="Text 74"/>
          <p:cNvSpPr txBox="1"/>
          <p:nvPr/>
        </p:nvSpPr>
        <p:spPr>
          <a:xfrm>
            <a:off x="9604858" y="5411081"/>
            <a:ext cx="1587398" cy="133502"/>
          </a:xfrm>
          <a:prstGeom prst="rect">
            <a:avLst/>
          </a:prstGeom>
          <a:noFill/>
          <a:ln/>
        </p:spPr>
        <p:txBody>
          <a:bodyPr wrap="none" lIns="0" tIns="0" rIns="0" bIns="0" rtlCol="0" anchor="ctr"/>
          <a:lstStyle/>
          <a:p>
            <a:pPr marL="0" indent="0">
              <a:buNone/>
            </a:pPr>
            <a:r>
              <a:rPr lang="en-GB" sz="900" b="1">
                <a:solidFill>
                  <a:srgbClr val="D62839"/>
                </a:solidFill>
                <a:latin typeface="Roboto Condensed" pitchFamily="34" charset="0"/>
                <a:ea typeface="Roboto Condensed" pitchFamily="34" charset="-122"/>
                <a:cs typeface="Roboto Condensed" pitchFamily="34" charset="-120"/>
              </a:rPr>
              <a:t>15K+ processes unified, 40% ↓</a:t>
            </a:r>
          </a:p>
          <a:p>
            <a:pPr marL="0" indent="0">
              <a:buNone/>
            </a:pPr>
            <a:r>
              <a:rPr lang="en-GB" sz="900" b="1">
                <a:solidFill>
                  <a:srgbClr val="D62839"/>
                </a:solidFill>
                <a:latin typeface="Roboto Condensed" pitchFamily="34" charset="0"/>
                <a:ea typeface="Roboto Condensed" pitchFamily="34" charset="-122"/>
                <a:cs typeface="Roboto Condensed" pitchFamily="34" charset="-120"/>
              </a:rPr>
              <a:t> audit prep</a:t>
            </a:r>
            <a:endParaRPr lang="en-US" sz="900"/>
          </a:p>
        </p:txBody>
      </p:sp>
      <p:sp>
        <p:nvSpPr>
          <p:cNvPr id="85" name="Shape 75"/>
          <p:cNvSpPr/>
          <p:nvPr/>
        </p:nvSpPr>
        <p:spPr>
          <a:xfrm>
            <a:off x="6524244" y="6105449"/>
            <a:ext cx="190195" cy="190195"/>
          </a:xfrm>
          <a:prstGeom prst="ellipse">
            <a:avLst/>
          </a:prstGeom>
          <a:solidFill>
            <a:srgbClr val="D62839"/>
          </a:solidFill>
          <a:ln w="12700">
            <a:solidFill>
              <a:srgbClr val="FFFFFF">
                <a:alpha val="0"/>
              </a:srgbClr>
            </a:solidFill>
            <a:prstDash val="solid"/>
          </a:ln>
        </p:spPr>
        <p:txBody>
          <a:bodyPr/>
          <a:lstStyle/>
          <a:p>
            <a:endParaRPr lang="en-US"/>
          </a:p>
        </p:txBody>
      </p:sp>
      <p:sp>
        <p:nvSpPr>
          <p:cNvPr id="86" name="Text 76"/>
          <p:cNvSpPr/>
          <p:nvPr/>
        </p:nvSpPr>
        <p:spPr>
          <a:xfrm>
            <a:off x="6524244" y="6105449"/>
            <a:ext cx="191110" cy="191110"/>
          </a:xfrm>
          <a:prstGeom prst="rect">
            <a:avLst/>
          </a:prstGeom>
          <a:solidFill>
            <a:srgbClr val="FFFFFF">
              <a:alpha val="0"/>
            </a:srgbClr>
          </a:solidFill>
          <a:ln>
            <a:solidFill>
              <a:srgbClr val="FFFFFF">
                <a:alpha val="0"/>
              </a:srgbClr>
            </a:solidFill>
          </a:ln>
        </p:spPr>
        <p:txBody>
          <a:bodyPr wrap="none" lIns="0" tIns="0" rIns="0" bIns="0" rtlCol="0" anchor="ctr"/>
          <a:lstStyle/>
          <a:p>
            <a:pPr marL="0" indent="0" algn="ctr">
              <a:buNone/>
            </a:pPr>
            <a:r>
              <a:rPr lang="en-US" sz="800" b="1">
                <a:solidFill>
                  <a:srgbClr val="FFFFFF"/>
                </a:solidFill>
                <a:latin typeface="Oswald" pitchFamily="34" charset="0"/>
                <a:ea typeface="Oswald" pitchFamily="34" charset="-122"/>
                <a:cs typeface="Oswald" pitchFamily="34" charset="-120"/>
              </a:rPr>
              <a:t>6</a:t>
            </a:r>
            <a:endParaRPr lang="en-US" sz="800"/>
          </a:p>
        </p:txBody>
      </p:sp>
      <p:sp>
        <p:nvSpPr>
          <p:cNvPr id="87" name="Text 77"/>
          <p:cNvSpPr txBox="1"/>
          <p:nvPr/>
        </p:nvSpPr>
        <p:spPr>
          <a:xfrm>
            <a:off x="6829654" y="6086246"/>
            <a:ext cx="2339955" cy="181052"/>
          </a:xfrm>
          <a:prstGeom prst="rect">
            <a:avLst/>
          </a:prstGeom>
          <a:noFill/>
          <a:ln/>
        </p:spPr>
        <p:txBody>
          <a:bodyPr wrap="square" lIns="0" tIns="0" rIns="0" bIns="0" rtlCol="0" anchor="ctr"/>
          <a:lstStyle/>
          <a:p>
            <a:pPr marL="0" indent="0" algn="l">
              <a:buNone/>
            </a:pPr>
            <a:r>
              <a:rPr lang="en-US" sz="900" b="1">
                <a:solidFill>
                  <a:srgbClr val="1F2937"/>
                </a:solidFill>
                <a:latin typeface="Raleway" pitchFamily="34" charset="0"/>
                <a:ea typeface="Raleway" pitchFamily="34" charset="-122"/>
                <a:cs typeface="Raleway" pitchFamily="34" charset="-120"/>
              </a:rPr>
              <a:t>Govern and de-risk sprawling AI deployments</a:t>
            </a:r>
            <a:endParaRPr lang="en-US" sz="900"/>
          </a:p>
        </p:txBody>
      </p:sp>
      <p:sp>
        <p:nvSpPr>
          <p:cNvPr id="88" name="Shape 78"/>
          <p:cNvSpPr/>
          <p:nvPr/>
        </p:nvSpPr>
        <p:spPr>
          <a:xfrm>
            <a:off x="9425636" y="6067043"/>
            <a:ext cx="1870862" cy="314555"/>
          </a:xfrm>
          <a:prstGeom prst="roundRect">
            <a:avLst>
              <a:gd name="adj" fmla="val 15498"/>
            </a:avLst>
          </a:prstGeom>
          <a:solidFill>
            <a:srgbClr val="FFF1F2"/>
          </a:solidFill>
          <a:ln w="12700">
            <a:solidFill>
              <a:srgbClr val="FFFFFF">
                <a:alpha val="0"/>
              </a:srgbClr>
            </a:solidFill>
            <a:prstDash val="solid"/>
          </a:ln>
        </p:spPr>
        <p:txBody>
          <a:bodyPr/>
          <a:lstStyle/>
          <a:p>
            <a:endParaRPr lang="en-US"/>
          </a:p>
        </p:txBody>
      </p:sp>
      <p:sp>
        <p:nvSpPr>
          <p:cNvPr id="89" name="Text 79"/>
          <p:cNvSpPr txBox="1"/>
          <p:nvPr/>
        </p:nvSpPr>
        <p:spPr>
          <a:xfrm>
            <a:off x="9557309" y="6124651"/>
            <a:ext cx="1644091" cy="133502"/>
          </a:xfrm>
          <a:prstGeom prst="rect">
            <a:avLst/>
          </a:prstGeom>
          <a:noFill/>
          <a:ln/>
        </p:spPr>
        <p:txBody>
          <a:bodyPr wrap="none" lIns="0" tIns="0" rIns="0" bIns="0" rtlCol="0" anchor="ctr"/>
          <a:lstStyle/>
          <a:p>
            <a:pPr marL="0" indent="0" algn="r">
              <a:buNone/>
            </a:pPr>
            <a:r>
              <a:rPr lang="en-US" sz="900" b="1">
                <a:solidFill>
                  <a:srgbClr val="D62839"/>
                </a:solidFill>
                <a:latin typeface="Roboto Condensed" pitchFamily="34" charset="0"/>
                <a:ea typeface="Roboto Condensed" pitchFamily="34" charset="-122"/>
                <a:cs typeface="Roboto Condensed" pitchFamily="34" charset="-120"/>
              </a:rPr>
              <a:t>$18M savings, 70% ↓ deviations</a:t>
            </a:r>
            <a:endParaRPr lang="en-US" sz="900"/>
          </a:p>
        </p:txBody>
      </p:sp>
      <p:pic>
        <p:nvPicPr>
          <p:cNvPr id="91" name="Image 3" descr="gen-dedup-777bf757d895431cabe402fcd34ebd5a.png">
            <a:extLst>
              <a:ext uri="{FF2B5EF4-FFF2-40B4-BE49-F238E27FC236}">
                <a16:creationId xmlns:a16="http://schemas.microsoft.com/office/drawing/2014/main" id="{3CA39BFB-9CCD-06A0-E60C-2D29B9D8CA1A}"/>
              </a:ext>
            </a:extLst>
          </p:cNvPr>
          <p:cNvPicPr>
            <a:picLocks noChangeAspect="1"/>
          </p:cNvPicPr>
          <p:nvPr/>
        </p:nvPicPr>
        <p:blipFill>
          <a:blip r:embed="rId10">
            <a:biLevel thresh="75000"/>
          </a:blip>
          <a:srcRect l="-384" r="-384"/>
          <a:stretch/>
        </p:blipFill>
        <p:spPr>
          <a:xfrm>
            <a:off x="571500" y="381305"/>
            <a:ext cx="57607" cy="476402"/>
          </a:xfrm>
          <a:prstGeom prst="rect">
            <a:avLst/>
          </a:prstGeom>
        </p:spPr>
      </p:pic>
      <p:sp>
        <p:nvSpPr>
          <p:cNvPr id="93" name="Text 5">
            <a:extLst>
              <a:ext uri="{FF2B5EF4-FFF2-40B4-BE49-F238E27FC236}">
                <a16:creationId xmlns:a16="http://schemas.microsoft.com/office/drawing/2014/main" id="{BD6276CD-F7B0-3F43-96BD-CDCA8BC7BCC4}"/>
              </a:ext>
            </a:extLst>
          </p:cNvPr>
          <p:cNvSpPr txBox="1"/>
          <p:nvPr/>
        </p:nvSpPr>
        <p:spPr>
          <a:xfrm>
            <a:off x="780897" y="333756"/>
            <a:ext cx="5913817" cy="406908"/>
          </a:xfrm>
          <a:prstGeom prst="rect">
            <a:avLst/>
          </a:prstGeom>
          <a:noFill/>
          <a:ln/>
        </p:spPr>
        <p:txBody>
          <a:bodyPr wrap="none" lIns="0" tIns="0" rIns="0" bIns="0" rtlCol="0" anchor="ctr"/>
          <a:lstStyle/>
          <a:p>
            <a:r>
              <a:rPr lang="en-US" sz="2400" b="1" kern="0" spc="-67" dirty="0">
                <a:solidFill>
                  <a:srgbClr val="111827"/>
                </a:solidFill>
                <a:latin typeface="Oswald" pitchFamily="34" charset="0"/>
                <a:ea typeface="Oswald" pitchFamily="34" charset="-122"/>
                <a:cs typeface="Oswald" pitchFamily="34" charset="-120"/>
              </a:rPr>
              <a:t>GREENFIELD &amp; BROWNFIELD USE CASES</a:t>
            </a:r>
          </a:p>
        </p:txBody>
      </p:sp>
      <p:sp>
        <p:nvSpPr>
          <p:cNvPr id="95" name="Text 6">
            <a:extLst>
              <a:ext uri="{FF2B5EF4-FFF2-40B4-BE49-F238E27FC236}">
                <a16:creationId xmlns:a16="http://schemas.microsoft.com/office/drawing/2014/main" id="{DA70FDAF-2D5C-F644-6F8D-C9E06925E6E6}"/>
              </a:ext>
            </a:extLst>
          </p:cNvPr>
          <p:cNvSpPr txBox="1"/>
          <p:nvPr/>
        </p:nvSpPr>
        <p:spPr>
          <a:xfrm>
            <a:off x="780898" y="740663"/>
            <a:ext cx="5054803" cy="257861"/>
          </a:xfrm>
          <a:prstGeom prst="rect">
            <a:avLst/>
          </a:prstGeom>
          <a:noFill/>
          <a:ln/>
        </p:spPr>
        <p:txBody>
          <a:bodyPr wrap="none" lIns="0" tIns="0" rIns="0" bIns="0" rtlCol="0" anchor="ctr"/>
          <a:lstStyle/>
          <a:p>
            <a:pPr marL="0" indent="0" algn="l">
              <a:buNone/>
            </a:pPr>
            <a:r>
              <a:rPr lang="en-GB" sz="1500" b="1" kern="0" spc="66" dirty="0">
                <a:solidFill>
                  <a:srgbClr val="2A9D8F"/>
                </a:solidFill>
                <a:latin typeface="Roboto Condensed" pitchFamily="34" charset="0"/>
                <a:ea typeface="Roboto Condensed" pitchFamily="34" charset="-122"/>
                <a:cs typeface="Roboto Condensed" pitchFamily="34" charset="-120"/>
              </a:rPr>
              <a:t>GCC Strategy &amp; Transformation Pathways</a:t>
            </a:r>
          </a:p>
        </p:txBody>
      </p:sp>
    </p:spTree>
    <p:extLst>
      <p:ext uri="{BB962C8B-B14F-4D97-AF65-F5344CB8AC3E}">
        <p14:creationId xmlns:p14="http://schemas.microsoft.com/office/powerpoint/2010/main" val="22205573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856D4-134A-581B-EC5E-520C5A537530}"/>
            </a:ext>
          </a:extLst>
        </p:cNvPr>
        <p:cNvGrpSpPr/>
        <p:nvPr/>
      </p:nvGrpSpPr>
      <p:grpSpPr>
        <a:xfrm>
          <a:off x="0" y="0"/>
          <a:ext cx="0" cy="0"/>
          <a:chOff x="0" y="0"/>
          <a:chExt cx="0" cy="0"/>
        </a:xfrm>
      </p:grpSpPr>
      <p:sp>
        <p:nvSpPr>
          <p:cNvPr id="4" name="Shape 2">
            <a:extLst>
              <a:ext uri="{FF2B5EF4-FFF2-40B4-BE49-F238E27FC236}">
                <a16:creationId xmlns:a16="http://schemas.microsoft.com/office/drawing/2014/main" id="{8A530831-F204-5E89-7B5A-76B52BF25A35}"/>
              </a:ext>
            </a:extLst>
          </p:cNvPr>
          <p:cNvSpPr/>
          <p:nvPr/>
        </p:nvSpPr>
        <p:spPr>
          <a:xfrm>
            <a:off x="9334195" y="-952805"/>
            <a:ext cx="3810305" cy="3810305"/>
          </a:xfrm>
          <a:prstGeom prst="ellipse">
            <a:avLst/>
          </a:prstGeom>
          <a:solidFill>
            <a:srgbClr val="2A9D8F">
              <a:alpha val="3000"/>
            </a:srgbClr>
          </a:solidFill>
          <a:ln w="12700">
            <a:solidFill>
              <a:srgbClr val="FFFFFF">
                <a:alpha val="0"/>
              </a:srgbClr>
            </a:solidFill>
            <a:prstDash val="solid"/>
          </a:ln>
        </p:spPr>
        <p:txBody>
          <a:bodyPr/>
          <a:lstStyle/>
          <a:p>
            <a:endParaRPr lang="en-US"/>
          </a:p>
        </p:txBody>
      </p:sp>
      <p:pic>
        <p:nvPicPr>
          <p:cNvPr id="5" name="Image 0" descr="gen-dedup-4ab2116e971fbb9400d0e99205bd0390.png">
            <a:extLst>
              <a:ext uri="{FF2B5EF4-FFF2-40B4-BE49-F238E27FC236}">
                <a16:creationId xmlns:a16="http://schemas.microsoft.com/office/drawing/2014/main" id="{9C2AF6D8-5D7F-C534-E8E4-DA00D9002C87}"/>
              </a:ext>
            </a:extLst>
          </p:cNvPr>
          <p:cNvPicPr>
            <a:picLocks noChangeAspect="1"/>
          </p:cNvPicPr>
          <p:nvPr/>
        </p:nvPicPr>
        <p:blipFill>
          <a:blip r:embed="rId3">
            <a:alphaModFix amt="5000"/>
          </a:blip>
          <a:srcRect/>
          <a:stretch/>
        </p:blipFill>
        <p:spPr>
          <a:xfrm>
            <a:off x="10001707" y="5238598"/>
            <a:ext cx="1904695" cy="1904695"/>
          </a:xfrm>
          <a:prstGeom prst="rect">
            <a:avLst/>
          </a:prstGeom>
        </p:spPr>
      </p:pic>
      <p:pic>
        <p:nvPicPr>
          <p:cNvPr id="6" name="Image 1" descr="gen-dedup-323228122ff92d2332e711a84ca3b40c.png">
            <a:extLst>
              <a:ext uri="{FF2B5EF4-FFF2-40B4-BE49-F238E27FC236}">
                <a16:creationId xmlns:a16="http://schemas.microsoft.com/office/drawing/2014/main" id="{BCEA5056-2FC8-FBB4-C394-8A4C143CC070}"/>
              </a:ext>
            </a:extLst>
          </p:cNvPr>
          <p:cNvPicPr>
            <a:picLocks noChangeAspect="1"/>
          </p:cNvPicPr>
          <p:nvPr/>
        </p:nvPicPr>
        <p:blipFill>
          <a:blip r:embed="rId4"/>
          <a:srcRect l="-198" r="-198"/>
          <a:stretch/>
        </p:blipFill>
        <p:spPr>
          <a:xfrm>
            <a:off x="0" y="0"/>
            <a:ext cx="8124444" cy="75895"/>
          </a:xfrm>
          <a:prstGeom prst="rect">
            <a:avLst/>
          </a:prstGeom>
        </p:spPr>
      </p:pic>
      <p:pic>
        <p:nvPicPr>
          <p:cNvPr id="7" name="Image 2" descr="gen-dedup-9663ecf744b06e35d4c2cebaab92a2ea.png">
            <a:extLst>
              <a:ext uri="{FF2B5EF4-FFF2-40B4-BE49-F238E27FC236}">
                <a16:creationId xmlns:a16="http://schemas.microsoft.com/office/drawing/2014/main" id="{5A98248E-EE1B-23EF-94BB-766E2BC3FDC3}"/>
              </a:ext>
            </a:extLst>
          </p:cNvPr>
          <p:cNvPicPr>
            <a:picLocks noChangeAspect="1"/>
          </p:cNvPicPr>
          <p:nvPr/>
        </p:nvPicPr>
        <p:blipFill>
          <a:blip r:embed="rId5"/>
          <a:srcRect l="-202" r="-202"/>
          <a:stretch/>
        </p:blipFill>
        <p:spPr>
          <a:xfrm>
            <a:off x="8124444" y="0"/>
            <a:ext cx="4067251" cy="75895"/>
          </a:xfrm>
          <a:prstGeom prst="rect">
            <a:avLst/>
          </a:prstGeom>
        </p:spPr>
      </p:pic>
      <p:sp>
        <p:nvSpPr>
          <p:cNvPr id="8" name="Text 3">
            <a:extLst>
              <a:ext uri="{FF2B5EF4-FFF2-40B4-BE49-F238E27FC236}">
                <a16:creationId xmlns:a16="http://schemas.microsoft.com/office/drawing/2014/main" id="{3618C317-4414-EB34-2C38-0AC5944E1004}"/>
              </a:ext>
            </a:extLst>
          </p:cNvPr>
          <p:cNvSpPr txBox="1"/>
          <p:nvPr/>
        </p:nvSpPr>
        <p:spPr>
          <a:xfrm>
            <a:off x="381305" y="1143000"/>
            <a:ext cx="2382012" cy="1524305"/>
          </a:xfrm>
          <a:prstGeom prst="rect">
            <a:avLst/>
          </a:prstGeom>
          <a:noFill/>
          <a:ln/>
        </p:spPr>
        <p:txBody>
          <a:bodyPr wrap="none" lIns="0" tIns="0" rIns="0" bIns="0" rtlCol="0" anchor="ctr"/>
          <a:lstStyle/>
          <a:p>
            <a:pPr marL="0" indent="0" algn="l">
              <a:buNone/>
            </a:pPr>
            <a:r>
              <a:rPr lang="en-US" sz="12000" b="1">
                <a:solidFill>
                  <a:srgbClr val="F3F4F6"/>
                </a:solidFill>
                <a:latin typeface="Oswald" pitchFamily="34" charset="0"/>
                <a:ea typeface="Oswald" pitchFamily="34" charset="-122"/>
                <a:cs typeface="Oswald" pitchFamily="34" charset="-120"/>
              </a:rPr>
              <a:t>01</a:t>
            </a:r>
            <a:endParaRPr lang="en-US" sz="12000"/>
          </a:p>
        </p:txBody>
      </p:sp>
      <p:pic>
        <p:nvPicPr>
          <p:cNvPr id="11" name="Image 3" descr="gen-dedup-90395934058aa4b7c1bff00d7e70c0a4.png">
            <a:extLst>
              <a:ext uri="{FF2B5EF4-FFF2-40B4-BE49-F238E27FC236}">
                <a16:creationId xmlns:a16="http://schemas.microsoft.com/office/drawing/2014/main" id="{F31C911D-F040-F235-7735-291225B14DAB}"/>
              </a:ext>
            </a:extLst>
          </p:cNvPr>
          <p:cNvPicPr>
            <a:picLocks noChangeAspect="1"/>
          </p:cNvPicPr>
          <p:nvPr/>
        </p:nvPicPr>
        <p:blipFill>
          <a:blip r:embed="rId6"/>
          <a:srcRect l="-416" r="-416"/>
          <a:stretch/>
        </p:blipFill>
        <p:spPr>
          <a:xfrm>
            <a:off x="1143000" y="2428646"/>
            <a:ext cx="57607" cy="714146"/>
          </a:xfrm>
          <a:prstGeom prst="rect">
            <a:avLst/>
          </a:prstGeom>
        </p:spPr>
      </p:pic>
      <p:sp>
        <p:nvSpPr>
          <p:cNvPr id="12" name="Text 6">
            <a:extLst>
              <a:ext uri="{FF2B5EF4-FFF2-40B4-BE49-F238E27FC236}">
                <a16:creationId xmlns:a16="http://schemas.microsoft.com/office/drawing/2014/main" id="{832DFE89-9B52-C7A9-8829-A59C6834021E}"/>
              </a:ext>
            </a:extLst>
          </p:cNvPr>
          <p:cNvSpPr txBox="1"/>
          <p:nvPr/>
        </p:nvSpPr>
        <p:spPr>
          <a:xfrm>
            <a:off x="1429207" y="2333549"/>
            <a:ext cx="9525305" cy="762610"/>
          </a:xfrm>
          <a:prstGeom prst="rect">
            <a:avLst/>
          </a:prstGeom>
          <a:noFill/>
          <a:ln/>
        </p:spPr>
        <p:txBody>
          <a:bodyPr wrap="none" lIns="0" tIns="0" rIns="0" bIns="0" rtlCol="0" anchor="ctr"/>
          <a:lstStyle/>
          <a:p>
            <a:pPr marL="0" indent="0" algn="l">
              <a:buNone/>
            </a:pPr>
            <a:r>
              <a:rPr lang="en-US" sz="5400" b="1" kern="0" spc="108">
                <a:solidFill>
                  <a:srgbClr val="111827"/>
                </a:solidFill>
                <a:latin typeface="Oswald" pitchFamily="34" charset="0"/>
                <a:ea typeface="Oswald" pitchFamily="34" charset="-122"/>
                <a:cs typeface="Oswald" pitchFamily="34" charset="-120"/>
              </a:rPr>
              <a:t>WORKFORCE SOLUTIONS</a:t>
            </a:r>
          </a:p>
        </p:txBody>
      </p:sp>
      <p:sp>
        <p:nvSpPr>
          <p:cNvPr id="13" name="Text 7">
            <a:extLst>
              <a:ext uri="{FF2B5EF4-FFF2-40B4-BE49-F238E27FC236}">
                <a16:creationId xmlns:a16="http://schemas.microsoft.com/office/drawing/2014/main" id="{A9806661-5DF1-05EF-1477-AF6345A7FD0F}"/>
              </a:ext>
            </a:extLst>
          </p:cNvPr>
          <p:cNvSpPr txBox="1"/>
          <p:nvPr/>
        </p:nvSpPr>
        <p:spPr>
          <a:xfrm>
            <a:off x="1429207" y="3333902"/>
            <a:ext cx="10687507" cy="352958"/>
          </a:xfrm>
          <a:prstGeom prst="rect">
            <a:avLst/>
          </a:prstGeom>
          <a:noFill/>
          <a:ln/>
        </p:spPr>
        <p:txBody>
          <a:bodyPr wrap="none" lIns="0" tIns="0" rIns="0" bIns="0" rtlCol="0" anchor="ctr"/>
          <a:lstStyle/>
          <a:p>
            <a:pPr marL="0" indent="0" algn="l">
              <a:buNone/>
            </a:pPr>
            <a:r>
              <a:rPr lang="en-US" sz="2100">
                <a:solidFill>
                  <a:srgbClr val="2A9D8F"/>
                </a:solidFill>
                <a:latin typeface="Raleway" pitchFamily="34" charset="0"/>
                <a:ea typeface="Raleway" pitchFamily="34" charset="-122"/>
                <a:cs typeface="Raleway" pitchFamily="34" charset="-120"/>
              </a:rPr>
              <a:t>Domain-deep engineering talent - deployed, governed, and continuously upskilled</a:t>
            </a:r>
          </a:p>
        </p:txBody>
      </p:sp>
      <p:sp>
        <p:nvSpPr>
          <p:cNvPr id="14" name="Text 8">
            <a:extLst>
              <a:ext uri="{FF2B5EF4-FFF2-40B4-BE49-F238E27FC236}">
                <a16:creationId xmlns:a16="http://schemas.microsoft.com/office/drawing/2014/main" id="{3AA6F4EC-9880-9FAB-4776-CB7EC6C7DD60}"/>
              </a:ext>
            </a:extLst>
          </p:cNvPr>
          <p:cNvSpPr txBox="1"/>
          <p:nvPr/>
        </p:nvSpPr>
        <p:spPr>
          <a:xfrm>
            <a:off x="1429207" y="4143146"/>
            <a:ext cx="9335110" cy="553212"/>
          </a:xfrm>
          <a:prstGeom prst="rect">
            <a:avLst/>
          </a:prstGeom>
          <a:noFill/>
          <a:ln/>
        </p:spPr>
        <p:txBody>
          <a:bodyPr wrap="square" lIns="0" tIns="0" rIns="0" bIns="0" rtlCol="0" anchor="ctr"/>
          <a:lstStyle/>
          <a:p>
            <a:pPr marL="0" indent="0" algn="l">
              <a:buNone/>
            </a:pPr>
            <a:r>
              <a:rPr lang="en-US" sz="1300">
                <a:solidFill>
                  <a:srgbClr val="4B5563"/>
                </a:solidFill>
                <a:latin typeface="Raleway" pitchFamily="34" charset="0"/>
                <a:ea typeface="Raleway" pitchFamily="34" charset="-122"/>
                <a:cs typeface="Raleway" pitchFamily="34" charset="-120"/>
              </a:rPr>
              <a:t>We don't place people. We deploy domain-certified engineers into governed pods - with sprint accountability, AI-powered sourcing, and a contract-to-hire model that keeps your risk low and your velocity high</a:t>
            </a:r>
            <a:endParaRPr lang="en-US" sz="1300"/>
          </a:p>
        </p:txBody>
      </p:sp>
      <p:pic>
        <p:nvPicPr>
          <p:cNvPr id="15" name="Image 4" descr="gen-dedup-818c62191cf4a66fb5704c7f87e3fedf.png">
            <a:extLst>
              <a:ext uri="{FF2B5EF4-FFF2-40B4-BE49-F238E27FC236}">
                <a16:creationId xmlns:a16="http://schemas.microsoft.com/office/drawing/2014/main" id="{3BE14DA7-645C-95C9-5C91-F96EFC962D61}"/>
              </a:ext>
            </a:extLst>
          </p:cNvPr>
          <p:cNvPicPr>
            <a:picLocks noChangeAspect="1"/>
          </p:cNvPicPr>
          <p:nvPr/>
        </p:nvPicPr>
        <p:blipFill>
          <a:blip r:embed="rId7"/>
          <a:srcRect l="-166" r="-166"/>
          <a:stretch/>
        </p:blipFill>
        <p:spPr>
          <a:xfrm>
            <a:off x="1429207" y="5143500"/>
            <a:ext cx="1933956" cy="418795"/>
          </a:xfrm>
          <a:prstGeom prst="rect">
            <a:avLst/>
          </a:prstGeom>
        </p:spPr>
      </p:pic>
      <p:sp>
        <p:nvSpPr>
          <p:cNvPr id="16" name="Shape 9">
            <a:extLst>
              <a:ext uri="{FF2B5EF4-FFF2-40B4-BE49-F238E27FC236}">
                <a16:creationId xmlns:a16="http://schemas.microsoft.com/office/drawing/2014/main" id="{9F4FE693-DA3B-61CF-1215-7B57E8924352}"/>
              </a:ext>
            </a:extLst>
          </p:cNvPr>
          <p:cNvSpPr/>
          <p:nvPr/>
        </p:nvSpPr>
        <p:spPr>
          <a:xfrm>
            <a:off x="1429207" y="5143500"/>
            <a:ext cx="1933956" cy="418795"/>
          </a:xfrm>
          <a:prstGeom prst="roundRect">
            <a:avLst>
              <a:gd name="adj" fmla="val 13755"/>
            </a:avLst>
          </a:prstGeom>
          <a:noFill/>
          <a:ln w="12700">
            <a:solidFill>
              <a:srgbClr val="E5E7EB"/>
            </a:solidFill>
            <a:prstDash val="solid"/>
          </a:ln>
        </p:spPr>
        <p:txBody>
          <a:bodyPr/>
          <a:lstStyle/>
          <a:p>
            <a:endParaRPr lang="en-US"/>
          </a:p>
        </p:txBody>
      </p:sp>
      <p:sp>
        <p:nvSpPr>
          <p:cNvPr id="17" name="Text 10">
            <a:extLst>
              <a:ext uri="{FF2B5EF4-FFF2-40B4-BE49-F238E27FC236}">
                <a16:creationId xmlns:a16="http://schemas.microsoft.com/office/drawing/2014/main" id="{442C24B0-8636-74A4-4FC8-8DBDB08299C1}"/>
              </a:ext>
            </a:extLst>
          </p:cNvPr>
          <p:cNvSpPr txBox="1"/>
          <p:nvPr/>
        </p:nvSpPr>
        <p:spPr>
          <a:xfrm>
            <a:off x="1653845" y="5143500"/>
            <a:ext cx="1495958" cy="419710"/>
          </a:xfrm>
          <a:prstGeom prst="rect">
            <a:avLst/>
          </a:prstGeom>
          <a:solidFill>
            <a:srgbClr val="FFFFFF">
              <a:alpha val="0"/>
            </a:srgbClr>
          </a:solidFill>
          <a:ln>
            <a:solidFill>
              <a:srgbClr val="FFFFFF">
                <a:alpha val="0"/>
              </a:srgbClr>
            </a:solidFill>
          </a:ln>
        </p:spPr>
        <p:txBody>
          <a:bodyPr wrap="none" lIns="190500" tIns="114300" rIns="190500" bIns="114300" rtlCol="0" anchor="ctr"/>
          <a:lstStyle/>
          <a:p>
            <a:pPr marL="0" indent="0" algn="l">
              <a:buNone/>
            </a:pPr>
            <a:r>
              <a:rPr lang="en-US" sz="1100" b="1">
                <a:solidFill>
                  <a:srgbClr val="374151"/>
                </a:solidFill>
                <a:latin typeface="Raleway" pitchFamily="34" charset="0"/>
                <a:ea typeface="Raleway" pitchFamily="34" charset="-122"/>
                <a:cs typeface="Raleway" pitchFamily="34" charset="-120"/>
              </a:rPr>
              <a:t>10 days or less to </a:t>
            </a:r>
          </a:p>
          <a:p>
            <a:pPr marL="0" indent="0" algn="l">
              <a:buNone/>
            </a:pPr>
            <a:r>
              <a:rPr lang="en-US" sz="1100" b="1">
                <a:solidFill>
                  <a:srgbClr val="374151"/>
                </a:solidFill>
                <a:latin typeface="Raleway" pitchFamily="34" charset="0"/>
                <a:ea typeface="Raleway" pitchFamily="34" charset="-122"/>
                <a:cs typeface="Raleway" pitchFamily="34" charset="-120"/>
              </a:rPr>
              <a:t>deploy</a:t>
            </a:r>
            <a:endParaRPr lang="en-US" sz="1100"/>
          </a:p>
        </p:txBody>
      </p:sp>
      <p:pic>
        <p:nvPicPr>
          <p:cNvPr id="18" name="Image 5" descr="gen-dedup-a287ae7abd092c83dc5f899415c51d00.png">
            <a:extLst>
              <a:ext uri="{FF2B5EF4-FFF2-40B4-BE49-F238E27FC236}">
                <a16:creationId xmlns:a16="http://schemas.microsoft.com/office/drawing/2014/main" id="{717DBA06-294F-AFD6-F4A3-E3BB6A843F09}"/>
              </a:ext>
            </a:extLst>
          </p:cNvPr>
          <p:cNvPicPr>
            <a:picLocks noChangeAspect="1"/>
          </p:cNvPicPr>
          <p:nvPr/>
        </p:nvPicPr>
        <p:blipFill>
          <a:blip r:embed="rId8"/>
          <a:srcRect t="-16800" b="-16800"/>
          <a:stretch/>
        </p:blipFill>
        <p:spPr>
          <a:xfrm>
            <a:off x="1657807" y="5277002"/>
            <a:ext cx="114300" cy="152705"/>
          </a:xfrm>
          <a:prstGeom prst="rect">
            <a:avLst/>
          </a:prstGeom>
        </p:spPr>
      </p:pic>
      <p:pic>
        <p:nvPicPr>
          <p:cNvPr id="19" name="Image 6" descr="gen-dedup-0363cb9fbb55bfd8aa96459f99cffd70.png">
            <a:extLst>
              <a:ext uri="{FF2B5EF4-FFF2-40B4-BE49-F238E27FC236}">
                <a16:creationId xmlns:a16="http://schemas.microsoft.com/office/drawing/2014/main" id="{19292444-1F09-6360-0F68-8AD41048A7D3}"/>
              </a:ext>
            </a:extLst>
          </p:cNvPr>
          <p:cNvPicPr>
            <a:picLocks noChangeAspect="1"/>
          </p:cNvPicPr>
          <p:nvPr/>
        </p:nvPicPr>
        <p:blipFill>
          <a:blip r:embed="rId9"/>
          <a:srcRect l="-260" r="-260"/>
          <a:stretch/>
        </p:blipFill>
        <p:spPr>
          <a:xfrm>
            <a:off x="3510382" y="5143500"/>
            <a:ext cx="2300935" cy="418795"/>
          </a:xfrm>
          <a:prstGeom prst="rect">
            <a:avLst/>
          </a:prstGeom>
        </p:spPr>
      </p:pic>
      <p:sp>
        <p:nvSpPr>
          <p:cNvPr id="20" name="Shape 11">
            <a:extLst>
              <a:ext uri="{FF2B5EF4-FFF2-40B4-BE49-F238E27FC236}">
                <a16:creationId xmlns:a16="http://schemas.microsoft.com/office/drawing/2014/main" id="{0A4FE0DB-0E00-A4E0-D0F5-5DA20E53E7F3}"/>
              </a:ext>
            </a:extLst>
          </p:cNvPr>
          <p:cNvSpPr/>
          <p:nvPr/>
        </p:nvSpPr>
        <p:spPr>
          <a:xfrm>
            <a:off x="3510382" y="5143500"/>
            <a:ext cx="2300935" cy="418795"/>
          </a:xfrm>
          <a:prstGeom prst="roundRect">
            <a:avLst>
              <a:gd name="adj" fmla="val 13755"/>
            </a:avLst>
          </a:prstGeom>
          <a:noFill/>
          <a:ln w="12700">
            <a:solidFill>
              <a:srgbClr val="E5E7EB"/>
            </a:solidFill>
            <a:prstDash val="solid"/>
          </a:ln>
        </p:spPr>
        <p:txBody>
          <a:bodyPr/>
          <a:lstStyle/>
          <a:p>
            <a:endParaRPr lang="en-US"/>
          </a:p>
        </p:txBody>
      </p:sp>
      <p:sp>
        <p:nvSpPr>
          <p:cNvPr id="21" name="Text 12">
            <a:extLst>
              <a:ext uri="{FF2B5EF4-FFF2-40B4-BE49-F238E27FC236}">
                <a16:creationId xmlns:a16="http://schemas.microsoft.com/office/drawing/2014/main" id="{F5640A7D-F0E3-6BED-EEA7-16F614B5632E}"/>
              </a:ext>
            </a:extLst>
          </p:cNvPr>
          <p:cNvSpPr txBox="1"/>
          <p:nvPr/>
        </p:nvSpPr>
        <p:spPr>
          <a:xfrm>
            <a:off x="3735018" y="5143500"/>
            <a:ext cx="1648005" cy="419710"/>
          </a:xfrm>
          <a:prstGeom prst="rect">
            <a:avLst/>
          </a:prstGeom>
          <a:solidFill>
            <a:srgbClr val="FFFFFF">
              <a:alpha val="0"/>
            </a:srgbClr>
          </a:solidFill>
          <a:ln>
            <a:solidFill>
              <a:srgbClr val="FFFFFF">
                <a:alpha val="0"/>
              </a:srgbClr>
            </a:solidFill>
          </a:ln>
        </p:spPr>
        <p:txBody>
          <a:bodyPr wrap="none" lIns="190500" tIns="114300" rIns="190500" bIns="114300" rtlCol="0" anchor="ctr"/>
          <a:lstStyle/>
          <a:p>
            <a:pPr marL="0" indent="0" algn="l">
              <a:buNone/>
            </a:pPr>
            <a:r>
              <a:rPr lang="en-US" sz="1100" b="1">
                <a:solidFill>
                  <a:srgbClr val="374151"/>
                </a:solidFill>
                <a:latin typeface="Raleway" pitchFamily="34" charset="0"/>
                <a:ea typeface="Raleway" pitchFamily="34" charset="-122"/>
                <a:cs typeface="Raleway" pitchFamily="34" charset="-120"/>
              </a:rPr>
              <a:t>300+ in-house recruiters, </a:t>
            </a:r>
          </a:p>
          <a:p>
            <a:pPr marL="0" indent="0" algn="l">
              <a:buNone/>
            </a:pPr>
            <a:r>
              <a:rPr lang="en-US" sz="1100" b="1">
                <a:solidFill>
                  <a:srgbClr val="374151"/>
                </a:solidFill>
                <a:latin typeface="Raleway" pitchFamily="34" charset="0"/>
                <a:ea typeface="Raleway" pitchFamily="34" charset="-122"/>
                <a:cs typeface="Raleway" pitchFamily="34" charset="-120"/>
              </a:rPr>
              <a:t>zero subcontracting</a:t>
            </a:r>
            <a:endParaRPr lang="en-US" sz="1100"/>
          </a:p>
        </p:txBody>
      </p:sp>
      <p:pic>
        <p:nvPicPr>
          <p:cNvPr id="22" name="Image 7" descr="gen-dedup-c395ac9c840728d6470a4a8b33662e6e.png">
            <a:extLst>
              <a:ext uri="{FF2B5EF4-FFF2-40B4-BE49-F238E27FC236}">
                <a16:creationId xmlns:a16="http://schemas.microsoft.com/office/drawing/2014/main" id="{93207DB2-729B-AE24-7E77-6519958DE5C8}"/>
              </a:ext>
            </a:extLst>
          </p:cNvPr>
          <p:cNvPicPr>
            <a:picLocks noChangeAspect="1"/>
          </p:cNvPicPr>
          <p:nvPr/>
        </p:nvPicPr>
        <p:blipFill>
          <a:blip r:embed="rId10"/>
          <a:srcRect t="-16800" b="-16800"/>
          <a:stretch/>
        </p:blipFill>
        <p:spPr>
          <a:xfrm>
            <a:off x="3738981" y="5277002"/>
            <a:ext cx="170389" cy="152705"/>
          </a:xfrm>
          <a:prstGeom prst="rect">
            <a:avLst/>
          </a:prstGeom>
        </p:spPr>
      </p:pic>
      <p:pic>
        <p:nvPicPr>
          <p:cNvPr id="23" name="Image 8" descr="gen-dedup-fe10f786880821f62e6e2a70ff719369.png">
            <a:extLst>
              <a:ext uri="{FF2B5EF4-FFF2-40B4-BE49-F238E27FC236}">
                <a16:creationId xmlns:a16="http://schemas.microsoft.com/office/drawing/2014/main" id="{E0CA82C4-F034-80D0-F825-1B18CD990C55}"/>
              </a:ext>
            </a:extLst>
          </p:cNvPr>
          <p:cNvPicPr>
            <a:picLocks noChangeAspect="1"/>
          </p:cNvPicPr>
          <p:nvPr/>
        </p:nvPicPr>
        <p:blipFill>
          <a:blip r:embed="rId11"/>
          <a:srcRect l="-58" r="-58"/>
          <a:stretch/>
        </p:blipFill>
        <p:spPr>
          <a:xfrm>
            <a:off x="6080150" y="5143500"/>
            <a:ext cx="2619756" cy="418795"/>
          </a:xfrm>
          <a:prstGeom prst="rect">
            <a:avLst/>
          </a:prstGeom>
        </p:spPr>
      </p:pic>
      <p:sp>
        <p:nvSpPr>
          <p:cNvPr id="24" name="Shape 13">
            <a:extLst>
              <a:ext uri="{FF2B5EF4-FFF2-40B4-BE49-F238E27FC236}">
                <a16:creationId xmlns:a16="http://schemas.microsoft.com/office/drawing/2014/main" id="{2266D092-185E-2198-BDD3-B88FC8175BF2}"/>
              </a:ext>
            </a:extLst>
          </p:cNvPr>
          <p:cNvSpPr/>
          <p:nvPr/>
        </p:nvSpPr>
        <p:spPr>
          <a:xfrm>
            <a:off x="6080150" y="5143500"/>
            <a:ext cx="2619756" cy="418795"/>
          </a:xfrm>
          <a:prstGeom prst="roundRect">
            <a:avLst>
              <a:gd name="adj" fmla="val 13755"/>
            </a:avLst>
          </a:prstGeom>
          <a:noFill/>
          <a:ln w="12700">
            <a:solidFill>
              <a:srgbClr val="E5E7EB"/>
            </a:solidFill>
            <a:prstDash val="solid"/>
          </a:ln>
        </p:spPr>
        <p:txBody>
          <a:bodyPr/>
          <a:lstStyle/>
          <a:p>
            <a:endParaRPr lang="en-US"/>
          </a:p>
        </p:txBody>
      </p:sp>
      <p:sp>
        <p:nvSpPr>
          <p:cNvPr id="25" name="Text 14">
            <a:extLst>
              <a:ext uri="{FF2B5EF4-FFF2-40B4-BE49-F238E27FC236}">
                <a16:creationId xmlns:a16="http://schemas.microsoft.com/office/drawing/2014/main" id="{ED31349B-331C-666B-1026-10D8E100F4F3}"/>
              </a:ext>
            </a:extLst>
          </p:cNvPr>
          <p:cNvSpPr txBox="1"/>
          <p:nvPr/>
        </p:nvSpPr>
        <p:spPr>
          <a:xfrm>
            <a:off x="6304788" y="5143500"/>
            <a:ext cx="2181758" cy="419710"/>
          </a:xfrm>
          <a:prstGeom prst="rect">
            <a:avLst/>
          </a:prstGeom>
          <a:solidFill>
            <a:srgbClr val="FFFFFF">
              <a:alpha val="0"/>
            </a:srgbClr>
          </a:solidFill>
          <a:ln>
            <a:solidFill>
              <a:srgbClr val="FFFFFF">
                <a:alpha val="0"/>
              </a:srgbClr>
            </a:solidFill>
          </a:ln>
        </p:spPr>
        <p:txBody>
          <a:bodyPr wrap="none" lIns="190500" tIns="114300" rIns="190500" bIns="114300" rtlCol="0" anchor="ctr"/>
          <a:lstStyle/>
          <a:p>
            <a:pPr marL="0" indent="0" algn="l">
              <a:buNone/>
            </a:pPr>
            <a:r>
              <a:rPr lang="en-US" sz="1100" b="1">
                <a:solidFill>
                  <a:srgbClr val="374151"/>
                </a:solidFill>
                <a:latin typeface="Raleway" pitchFamily="34" charset="0"/>
                <a:ea typeface="Raleway" pitchFamily="34" charset="-122"/>
                <a:cs typeface="Raleway" pitchFamily="34" charset="-120"/>
              </a:rPr>
              <a:t>Contract-to-hire flexibility </a:t>
            </a:r>
          </a:p>
          <a:p>
            <a:pPr marL="0" indent="0" algn="l">
              <a:buNone/>
            </a:pPr>
            <a:r>
              <a:rPr lang="en-US" sz="1100" b="1">
                <a:solidFill>
                  <a:srgbClr val="374151"/>
                </a:solidFill>
                <a:latin typeface="Raleway" pitchFamily="34" charset="0"/>
                <a:ea typeface="Raleway" pitchFamily="34" charset="-122"/>
                <a:cs typeface="Raleway" pitchFamily="34" charset="-120"/>
              </a:rPr>
              <a:t>built in</a:t>
            </a:r>
            <a:endParaRPr lang="en-US" sz="1100"/>
          </a:p>
        </p:txBody>
      </p:sp>
      <p:pic>
        <p:nvPicPr>
          <p:cNvPr id="26" name="Image 9" descr="gen-dedup-7637b076e607f7218cdb4973c81f38e6.png">
            <a:extLst>
              <a:ext uri="{FF2B5EF4-FFF2-40B4-BE49-F238E27FC236}">
                <a16:creationId xmlns:a16="http://schemas.microsoft.com/office/drawing/2014/main" id="{205FF807-74F6-4E07-EE11-D8132CD5F0CD}"/>
              </a:ext>
            </a:extLst>
          </p:cNvPr>
          <p:cNvPicPr>
            <a:picLocks noChangeAspect="1"/>
          </p:cNvPicPr>
          <p:nvPr/>
        </p:nvPicPr>
        <p:blipFill>
          <a:blip r:embed="rId12"/>
          <a:srcRect t="-8450" b="-8450"/>
          <a:stretch/>
        </p:blipFill>
        <p:spPr>
          <a:xfrm>
            <a:off x="6308750" y="5277002"/>
            <a:ext cx="114300" cy="152705"/>
          </a:xfrm>
          <a:prstGeom prst="rect">
            <a:avLst/>
          </a:prstGeom>
        </p:spPr>
      </p:pic>
      <p:pic>
        <p:nvPicPr>
          <p:cNvPr id="27" name="Image 10" descr="gen-dedup-4b04481605890cd5e2948f325621428b.png">
            <a:extLst>
              <a:ext uri="{FF2B5EF4-FFF2-40B4-BE49-F238E27FC236}">
                <a16:creationId xmlns:a16="http://schemas.microsoft.com/office/drawing/2014/main" id="{FB78842A-22DE-1C9A-4EE2-D07FD5A3BBDC}"/>
              </a:ext>
            </a:extLst>
          </p:cNvPr>
          <p:cNvPicPr>
            <a:picLocks noChangeAspect="1"/>
          </p:cNvPicPr>
          <p:nvPr/>
        </p:nvPicPr>
        <p:blipFill>
          <a:blip r:embed="rId13"/>
          <a:srcRect l="-216" r="-216"/>
          <a:stretch/>
        </p:blipFill>
        <p:spPr>
          <a:xfrm>
            <a:off x="8850782" y="5143500"/>
            <a:ext cx="2562149" cy="418795"/>
          </a:xfrm>
          <a:prstGeom prst="rect">
            <a:avLst/>
          </a:prstGeom>
        </p:spPr>
      </p:pic>
      <p:sp>
        <p:nvSpPr>
          <p:cNvPr id="28" name="Shape 15">
            <a:extLst>
              <a:ext uri="{FF2B5EF4-FFF2-40B4-BE49-F238E27FC236}">
                <a16:creationId xmlns:a16="http://schemas.microsoft.com/office/drawing/2014/main" id="{34AB57F4-B2CA-C3A2-0103-9F6A8E9AFA38}"/>
              </a:ext>
            </a:extLst>
          </p:cNvPr>
          <p:cNvSpPr/>
          <p:nvPr/>
        </p:nvSpPr>
        <p:spPr>
          <a:xfrm>
            <a:off x="8850782" y="5143500"/>
            <a:ext cx="2562149" cy="418795"/>
          </a:xfrm>
          <a:prstGeom prst="roundRect">
            <a:avLst>
              <a:gd name="adj" fmla="val 13755"/>
            </a:avLst>
          </a:prstGeom>
          <a:noFill/>
          <a:ln w="12700">
            <a:solidFill>
              <a:srgbClr val="E5E7EB"/>
            </a:solidFill>
            <a:prstDash val="solid"/>
          </a:ln>
        </p:spPr>
        <p:txBody>
          <a:bodyPr/>
          <a:lstStyle/>
          <a:p>
            <a:endParaRPr lang="en-US"/>
          </a:p>
        </p:txBody>
      </p:sp>
      <p:sp>
        <p:nvSpPr>
          <p:cNvPr id="29" name="Text 16">
            <a:extLst>
              <a:ext uri="{FF2B5EF4-FFF2-40B4-BE49-F238E27FC236}">
                <a16:creationId xmlns:a16="http://schemas.microsoft.com/office/drawing/2014/main" id="{5B673A20-4A15-839A-EE62-676A6C5F3333}"/>
              </a:ext>
            </a:extLst>
          </p:cNvPr>
          <p:cNvSpPr txBox="1"/>
          <p:nvPr/>
        </p:nvSpPr>
        <p:spPr>
          <a:xfrm>
            <a:off x="9075420" y="5143500"/>
            <a:ext cx="2125066" cy="419710"/>
          </a:xfrm>
          <a:prstGeom prst="rect">
            <a:avLst/>
          </a:prstGeom>
          <a:solidFill>
            <a:srgbClr val="FFFFFF">
              <a:alpha val="0"/>
            </a:srgbClr>
          </a:solidFill>
          <a:ln>
            <a:solidFill>
              <a:srgbClr val="FFFFFF">
                <a:alpha val="0"/>
              </a:srgbClr>
            </a:solidFill>
          </a:ln>
        </p:spPr>
        <p:txBody>
          <a:bodyPr wrap="none" lIns="190500" tIns="114300" rIns="190500" bIns="114300" rtlCol="0" anchor="ctr"/>
          <a:lstStyle/>
          <a:p>
            <a:pPr marL="0" indent="0" algn="l">
              <a:buNone/>
            </a:pPr>
            <a:r>
              <a:rPr lang="en-US" sz="1100" b="1">
                <a:solidFill>
                  <a:srgbClr val="374151"/>
                </a:solidFill>
                <a:latin typeface="Raleway" pitchFamily="34" charset="0"/>
                <a:ea typeface="Raleway" pitchFamily="34" charset="-122"/>
                <a:cs typeface="Raleway" pitchFamily="34" charset="-120"/>
              </a:rPr>
              <a:t>Pod governance + sprint </a:t>
            </a:r>
          </a:p>
          <a:p>
            <a:pPr marL="0" indent="0" algn="l">
              <a:buNone/>
            </a:pPr>
            <a:r>
              <a:rPr lang="en-US" sz="1100" b="1">
                <a:solidFill>
                  <a:srgbClr val="374151"/>
                </a:solidFill>
                <a:latin typeface="Raleway" pitchFamily="34" charset="0"/>
                <a:ea typeface="Raleway" pitchFamily="34" charset="-122"/>
                <a:cs typeface="Raleway" pitchFamily="34" charset="-120"/>
              </a:rPr>
              <a:t>accountability from Day 1</a:t>
            </a:r>
            <a:endParaRPr lang="en-US" sz="1100"/>
          </a:p>
        </p:txBody>
      </p:sp>
      <p:pic>
        <p:nvPicPr>
          <p:cNvPr id="30" name="Image 11" descr="gen-dedup-de4cb59b8211160ed90cebf7a454cebf.png">
            <a:extLst>
              <a:ext uri="{FF2B5EF4-FFF2-40B4-BE49-F238E27FC236}">
                <a16:creationId xmlns:a16="http://schemas.microsoft.com/office/drawing/2014/main" id="{93529912-BB1C-C574-75A1-3D8ECD602D40}"/>
              </a:ext>
            </a:extLst>
          </p:cNvPr>
          <p:cNvPicPr>
            <a:picLocks noChangeAspect="1"/>
          </p:cNvPicPr>
          <p:nvPr/>
        </p:nvPicPr>
        <p:blipFill>
          <a:blip r:embed="rId14"/>
          <a:srcRect t="-16800" b="-16800"/>
          <a:stretch/>
        </p:blipFill>
        <p:spPr>
          <a:xfrm>
            <a:off x="9079382" y="5277002"/>
            <a:ext cx="114300" cy="152705"/>
          </a:xfrm>
          <a:prstGeom prst="rect">
            <a:avLst/>
          </a:prstGeom>
        </p:spPr>
      </p:pic>
      <p:sp>
        <p:nvSpPr>
          <p:cNvPr id="31" name="Shape 17">
            <a:extLst>
              <a:ext uri="{FF2B5EF4-FFF2-40B4-BE49-F238E27FC236}">
                <a16:creationId xmlns:a16="http://schemas.microsoft.com/office/drawing/2014/main" id="{99FB5298-5A36-5FFC-CC7E-17E7D43B7AAD}"/>
              </a:ext>
            </a:extLst>
          </p:cNvPr>
          <p:cNvSpPr/>
          <p:nvPr/>
        </p:nvSpPr>
        <p:spPr>
          <a:xfrm>
            <a:off x="1143000" y="6096305"/>
            <a:ext cx="9905695" cy="9144"/>
          </a:xfrm>
          <a:prstGeom prst="rect">
            <a:avLst/>
          </a:prstGeom>
          <a:solidFill>
            <a:srgbClr val="E5E7EB"/>
          </a:solidFill>
          <a:ln w="12700">
            <a:solidFill>
              <a:srgbClr val="E5E7EB">
                <a:alpha val="0"/>
              </a:srgbClr>
            </a:solidFill>
            <a:prstDash val="solid"/>
          </a:ln>
        </p:spPr>
        <p:txBody>
          <a:bodyPr/>
          <a:lstStyle/>
          <a:p>
            <a:endParaRPr lang="en-US"/>
          </a:p>
        </p:txBody>
      </p:sp>
      <p:sp>
        <p:nvSpPr>
          <p:cNvPr id="32" name="Text 18">
            <a:extLst>
              <a:ext uri="{FF2B5EF4-FFF2-40B4-BE49-F238E27FC236}">
                <a16:creationId xmlns:a16="http://schemas.microsoft.com/office/drawing/2014/main" id="{ED705767-82C0-1D2C-EADE-B791EDD5E9F6}"/>
              </a:ext>
            </a:extLst>
          </p:cNvPr>
          <p:cNvSpPr txBox="1"/>
          <p:nvPr/>
        </p:nvSpPr>
        <p:spPr>
          <a:xfrm>
            <a:off x="1143000" y="6258154"/>
            <a:ext cx="9906610" cy="181051"/>
          </a:xfrm>
          <a:prstGeom prst="rect">
            <a:avLst/>
          </a:prstGeom>
          <a:noFill/>
          <a:ln/>
        </p:spPr>
        <p:txBody>
          <a:bodyPr wrap="none" lIns="0" tIns="0" rIns="0" bIns="0" rtlCol="0" anchor="ctr"/>
          <a:lstStyle/>
          <a:p>
            <a:pPr marL="0" indent="0" algn="l">
              <a:buNone/>
            </a:pPr>
            <a:r>
              <a:rPr lang="en-US" sz="1200" b="1" kern="0" spc="24">
                <a:solidFill>
                  <a:srgbClr val="6B7280"/>
                </a:solidFill>
                <a:latin typeface="Raleway" pitchFamily="34" charset="0"/>
                <a:ea typeface="Raleway" pitchFamily="34" charset="-122"/>
                <a:cs typeface="Raleway" pitchFamily="34" charset="-120"/>
              </a:rPr>
              <a:t>Scale your engineering capacity with domain depth and delivery accountability.</a:t>
            </a:r>
            <a:endParaRPr lang="en-US" sz="1200"/>
          </a:p>
        </p:txBody>
      </p:sp>
    </p:spTree>
    <p:extLst>
      <p:ext uri="{BB962C8B-B14F-4D97-AF65-F5344CB8AC3E}">
        <p14:creationId xmlns:p14="http://schemas.microsoft.com/office/powerpoint/2010/main" val="41706797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pic>
        <p:nvPicPr>
          <p:cNvPr id="4" name="Image 0" descr="gen-dedup-323228122ff92d2332e711a84ca3b40c.png"/>
          <p:cNvPicPr>
            <a:picLocks noChangeAspect="1"/>
          </p:cNvPicPr>
          <p:nvPr/>
        </p:nvPicPr>
        <p:blipFill>
          <a:blip r:embed="rId3"/>
          <a:srcRect l="-198" r="-198"/>
          <a:stretch/>
        </p:blipFill>
        <p:spPr>
          <a:xfrm>
            <a:off x="0" y="0"/>
            <a:ext cx="8124444" cy="75895"/>
          </a:xfrm>
          <a:prstGeom prst="rect">
            <a:avLst/>
          </a:prstGeom>
        </p:spPr>
      </p:pic>
      <p:pic>
        <p:nvPicPr>
          <p:cNvPr id="5" name="Image 1" descr="gen-dedup-9663ecf744b06e35d4c2cebaab92a2ea.png"/>
          <p:cNvPicPr>
            <a:picLocks noChangeAspect="1"/>
          </p:cNvPicPr>
          <p:nvPr/>
        </p:nvPicPr>
        <p:blipFill>
          <a:blip r:embed="rId4"/>
          <a:srcRect l="-202" r="-202"/>
          <a:stretch/>
        </p:blipFill>
        <p:spPr>
          <a:xfrm>
            <a:off x="8124444" y="0"/>
            <a:ext cx="4067251" cy="75895"/>
          </a:xfrm>
          <a:prstGeom prst="rect">
            <a:avLst/>
          </a:prstGeom>
        </p:spPr>
      </p:pic>
      <p:sp>
        <p:nvSpPr>
          <p:cNvPr id="6" name="Shape 2"/>
          <p:cNvSpPr/>
          <p:nvPr/>
        </p:nvSpPr>
        <p:spPr>
          <a:xfrm>
            <a:off x="9525305" y="4762195"/>
            <a:ext cx="3810305" cy="3810305"/>
          </a:xfrm>
          <a:prstGeom prst="ellipse">
            <a:avLst/>
          </a:prstGeom>
          <a:noFill/>
          <a:ln w="508000">
            <a:solidFill>
              <a:srgbClr val="D62839">
                <a:alpha val="3000"/>
              </a:srgbClr>
            </a:solidFill>
            <a:prstDash val="solid"/>
          </a:ln>
        </p:spPr>
        <p:txBody>
          <a:bodyPr/>
          <a:lstStyle/>
          <a:p>
            <a:endParaRPr lang="en-US"/>
          </a:p>
        </p:txBody>
      </p:sp>
      <p:sp>
        <p:nvSpPr>
          <p:cNvPr id="8" name="Shape 3"/>
          <p:cNvSpPr/>
          <p:nvPr/>
        </p:nvSpPr>
        <p:spPr>
          <a:xfrm>
            <a:off x="609905" y="1524305"/>
            <a:ext cx="2609698" cy="3877056"/>
          </a:xfrm>
          <a:prstGeom prst="roundRect">
            <a:avLst>
              <a:gd name="adj" fmla="val 3069"/>
            </a:avLst>
          </a:prstGeom>
          <a:solidFill>
            <a:srgbClr val="FFFFFF"/>
          </a:solidFill>
          <a:ln w="12700">
            <a:solidFill>
              <a:srgbClr val="F3F4F6"/>
            </a:solidFill>
            <a:prstDash val="solid"/>
          </a:ln>
          <a:effectLst>
            <a:outerShdw blurRad="63500" dist="38100" dir="16200000" algn="bl" rotWithShape="0">
              <a:srgbClr val="000000">
                <a:alpha val="5000"/>
              </a:srgbClr>
            </a:outerShdw>
          </a:effectLst>
        </p:spPr>
        <p:txBody>
          <a:bodyPr/>
          <a:lstStyle/>
          <a:p>
            <a:endParaRPr lang="en-US"/>
          </a:p>
        </p:txBody>
      </p:sp>
      <p:sp>
        <p:nvSpPr>
          <p:cNvPr id="9" name="Shape 4"/>
          <p:cNvSpPr/>
          <p:nvPr/>
        </p:nvSpPr>
        <p:spPr>
          <a:xfrm>
            <a:off x="609905" y="1524305"/>
            <a:ext cx="2609698" cy="57607"/>
          </a:xfrm>
          <a:prstGeom prst="roundRect">
            <a:avLst>
              <a:gd name="adj" fmla="val 139034"/>
            </a:avLst>
          </a:prstGeom>
          <a:solidFill>
            <a:srgbClr val="2A9D8F"/>
          </a:solidFill>
          <a:ln w="12700">
            <a:solidFill>
              <a:srgbClr val="2A9D8F">
                <a:alpha val="0"/>
              </a:srgbClr>
            </a:solidFill>
            <a:prstDash val="solid"/>
          </a:ln>
        </p:spPr>
        <p:txBody>
          <a:bodyPr/>
          <a:lstStyle/>
          <a:p>
            <a:endParaRPr lang="en-US"/>
          </a:p>
        </p:txBody>
      </p:sp>
      <p:sp>
        <p:nvSpPr>
          <p:cNvPr id="10" name="Shape 5"/>
          <p:cNvSpPr/>
          <p:nvPr/>
        </p:nvSpPr>
        <p:spPr>
          <a:xfrm>
            <a:off x="3429000" y="1524305"/>
            <a:ext cx="2609698" cy="3877056"/>
          </a:xfrm>
          <a:prstGeom prst="roundRect">
            <a:avLst>
              <a:gd name="adj" fmla="val 3069"/>
            </a:avLst>
          </a:prstGeom>
          <a:solidFill>
            <a:srgbClr val="FFFFFF"/>
          </a:solidFill>
          <a:ln w="12700">
            <a:solidFill>
              <a:srgbClr val="F3F4F6"/>
            </a:solidFill>
            <a:prstDash val="solid"/>
          </a:ln>
          <a:effectLst>
            <a:outerShdw blurRad="63500" dist="38100" dir="16200000" algn="bl" rotWithShape="0">
              <a:srgbClr val="000000">
                <a:alpha val="5000"/>
              </a:srgbClr>
            </a:outerShdw>
          </a:effectLst>
        </p:spPr>
        <p:txBody>
          <a:bodyPr/>
          <a:lstStyle/>
          <a:p>
            <a:endParaRPr lang="en-US"/>
          </a:p>
        </p:txBody>
      </p:sp>
      <p:sp>
        <p:nvSpPr>
          <p:cNvPr id="11" name="Shape 6"/>
          <p:cNvSpPr/>
          <p:nvPr/>
        </p:nvSpPr>
        <p:spPr>
          <a:xfrm>
            <a:off x="3429000" y="1524305"/>
            <a:ext cx="2609698" cy="57607"/>
          </a:xfrm>
          <a:prstGeom prst="roundRect">
            <a:avLst>
              <a:gd name="adj" fmla="val 139034"/>
            </a:avLst>
          </a:prstGeom>
          <a:solidFill>
            <a:srgbClr val="D62839"/>
          </a:solidFill>
          <a:ln w="12700">
            <a:solidFill>
              <a:srgbClr val="D62839">
                <a:alpha val="0"/>
              </a:srgbClr>
            </a:solidFill>
            <a:prstDash val="solid"/>
          </a:ln>
        </p:spPr>
        <p:txBody>
          <a:bodyPr/>
          <a:lstStyle/>
          <a:p>
            <a:endParaRPr lang="en-US"/>
          </a:p>
        </p:txBody>
      </p:sp>
      <p:sp>
        <p:nvSpPr>
          <p:cNvPr id="12" name="Shape 7"/>
          <p:cNvSpPr/>
          <p:nvPr/>
        </p:nvSpPr>
        <p:spPr>
          <a:xfrm>
            <a:off x="6248095" y="1524305"/>
            <a:ext cx="2609698" cy="3877056"/>
          </a:xfrm>
          <a:prstGeom prst="roundRect">
            <a:avLst>
              <a:gd name="adj" fmla="val 3069"/>
            </a:avLst>
          </a:prstGeom>
          <a:solidFill>
            <a:srgbClr val="FFFFFF"/>
          </a:solidFill>
          <a:ln w="12700">
            <a:solidFill>
              <a:srgbClr val="F3F4F6"/>
            </a:solidFill>
            <a:prstDash val="solid"/>
          </a:ln>
          <a:effectLst>
            <a:outerShdw blurRad="63500" dist="38100" dir="16200000" algn="bl" rotWithShape="0">
              <a:srgbClr val="000000">
                <a:alpha val="5000"/>
              </a:srgbClr>
            </a:outerShdw>
          </a:effectLst>
        </p:spPr>
        <p:txBody>
          <a:bodyPr/>
          <a:lstStyle/>
          <a:p>
            <a:endParaRPr lang="en-US"/>
          </a:p>
        </p:txBody>
      </p:sp>
      <p:sp>
        <p:nvSpPr>
          <p:cNvPr id="13" name="Shape 8"/>
          <p:cNvSpPr/>
          <p:nvPr/>
        </p:nvSpPr>
        <p:spPr>
          <a:xfrm>
            <a:off x="6248095" y="1524305"/>
            <a:ext cx="2609698" cy="57607"/>
          </a:xfrm>
          <a:prstGeom prst="roundRect">
            <a:avLst>
              <a:gd name="adj" fmla="val 139034"/>
            </a:avLst>
          </a:prstGeom>
          <a:solidFill>
            <a:srgbClr val="2A9D8F"/>
          </a:solidFill>
          <a:ln w="12700">
            <a:solidFill>
              <a:srgbClr val="2A9D8F">
                <a:alpha val="0"/>
              </a:srgbClr>
            </a:solidFill>
            <a:prstDash val="solid"/>
          </a:ln>
        </p:spPr>
        <p:txBody>
          <a:bodyPr/>
          <a:lstStyle/>
          <a:p>
            <a:endParaRPr lang="en-US"/>
          </a:p>
        </p:txBody>
      </p:sp>
      <p:sp>
        <p:nvSpPr>
          <p:cNvPr id="14" name="Shape 9"/>
          <p:cNvSpPr/>
          <p:nvPr/>
        </p:nvSpPr>
        <p:spPr>
          <a:xfrm>
            <a:off x="9068105" y="1524305"/>
            <a:ext cx="2609698" cy="3877056"/>
          </a:xfrm>
          <a:prstGeom prst="roundRect">
            <a:avLst>
              <a:gd name="adj" fmla="val 3069"/>
            </a:avLst>
          </a:prstGeom>
          <a:solidFill>
            <a:srgbClr val="FFFFFF"/>
          </a:solidFill>
          <a:ln w="12700">
            <a:solidFill>
              <a:srgbClr val="F3F4F6"/>
            </a:solidFill>
            <a:prstDash val="solid"/>
          </a:ln>
          <a:effectLst>
            <a:outerShdw blurRad="63500" dist="38100" dir="16200000" algn="bl" rotWithShape="0">
              <a:srgbClr val="000000">
                <a:alpha val="5000"/>
              </a:srgbClr>
            </a:outerShdw>
          </a:effectLst>
        </p:spPr>
        <p:txBody>
          <a:bodyPr/>
          <a:lstStyle/>
          <a:p>
            <a:endParaRPr lang="en-US"/>
          </a:p>
        </p:txBody>
      </p:sp>
      <p:sp>
        <p:nvSpPr>
          <p:cNvPr id="15" name="Shape 10"/>
          <p:cNvSpPr/>
          <p:nvPr/>
        </p:nvSpPr>
        <p:spPr>
          <a:xfrm>
            <a:off x="9068105" y="1524305"/>
            <a:ext cx="2609698" cy="57607"/>
          </a:xfrm>
          <a:prstGeom prst="roundRect">
            <a:avLst>
              <a:gd name="adj" fmla="val 139034"/>
            </a:avLst>
          </a:prstGeom>
          <a:solidFill>
            <a:srgbClr val="D62839"/>
          </a:solidFill>
          <a:ln w="12700">
            <a:solidFill>
              <a:srgbClr val="D62839">
                <a:alpha val="0"/>
              </a:srgbClr>
            </a:solidFill>
            <a:prstDash val="solid"/>
          </a:ln>
        </p:spPr>
        <p:txBody>
          <a:bodyPr/>
          <a:lstStyle/>
          <a:p>
            <a:endParaRPr lang="en-US"/>
          </a:p>
        </p:txBody>
      </p:sp>
      <p:pic>
        <p:nvPicPr>
          <p:cNvPr id="16" name="Image 3" descr="gen-dedup-c79c8869390c39dd2ec5734755e72ead.png"/>
          <p:cNvPicPr>
            <a:picLocks noChangeAspect="1"/>
          </p:cNvPicPr>
          <p:nvPr/>
        </p:nvPicPr>
        <p:blipFill>
          <a:blip r:embed="rId5"/>
          <a:srcRect l="-2083" r="-2083"/>
          <a:stretch/>
        </p:blipFill>
        <p:spPr>
          <a:xfrm>
            <a:off x="609905" y="5715000"/>
            <a:ext cx="11011205" cy="9144"/>
          </a:xfrm>
          <a:prstGeom prst="rect">
            <a:avLst/>
          </a:prstGeom>
        </p:spPr>
      </p:pic>
      <p:sp>
        <p:nvSpPr>
          <p:cNvPr id="17" name="Shape 11"/>
          <p:cNvSpPr/>
          <p:nvPr/>
        </p:nvSpPr>
        <p:spPr>
          <a:xfrm>
            <a:off x="609905" y="5905195"/>
            <a:ext cx="11058754" cy="685800"/>
          </a:xfrm>
          <a:prstGeom prst="roundRect">
            <a:avLst>
              <a:gd name="adj" fmla="val 29630"/>
            </a:avLst>
          </a:prstGeom>
          <a:solidFill>
            <a:srgbClr val="2A9D8F">
              <a:alpha val="5000"/>
            </a:srgbClr>
          </a:solidFill>
          <a:ln w="12700">
            <a:solidFill>
              <a:srgbClr val="E5E7EB"/>
            </a:solidFill>
            <a:prstDash val="solid"/>
          </a:ln>
        </p:spPr>
        <p:txBody>
          <a:bodyPr/>
          <a:lstStyle/>
          <a:p>
            <a:endParaRPr lang="en-US"/>
          </a:p>
        </p:txBody>
      </p:sp>
      <p:sp>
        <p:nvSpPr>
          <p:cNvPr id="18" name="Shape 12"/>
          <p:cNvSpPr/>
          <p:nvPr/>
        </p:nvSpPr>
        <p:spPr>
          <a:xfrm>
            <a:off x="609905" y="5905195"/>
            <a:ext cx="38405" cy="685800"/>
          </a:xfrm>
          <a:prstGeom prst="roundRect">
            <a:avLst>
              <a:gd name="adj" fmla="val 529098"/>
            </a:avLst>
          </a:prstGeom>
          <a:solidFill>
            <a:srgbClr val="2A9D8F"/>
          </a:solidFill>
          <a:ln w="12700">
            <a:solidFill>
              <a:srgbClr val="2A9D8F">
                <a:alpha val="0"/>
              </a:srgbClr>
            </a:solidFill>
            <a:prstDash val="solid"/>
          </a:ln>
        </p:spPr>
        <p:txBody>
          <a:bodyPr/>
          <a:lstStyle/>
          <a:p>
            <a:endParaRPr lang="en-US"/>
          </a:p>
        </p:txBody>
      </p:sp>
      <p:pic>
        <p:nvPicPr>
          <p:cNvPr id="19" name="Image 4" descr="gen-dedup-1bf8b7c2ed0132a588bc6493359d36f7.png"/>
          <p:cNvPicPr>
            <a:picLocks noChangeAspect="1"/>
          </p:cNvPicPr>
          <p:nvPr/>
        </p:nvPicPr>
        <p:blipFill>
          <a:blip r:embed="rId6"/>
          <a:srcRect/>
          <a:stretch/>
        </p:blipFill>
        <p:spPr>
          <a:xfrm>
            <a:off x="3157460" y="3543605"/>
            <a:ext cx="323698" cy="323698"/>
          </a:xfrm>
          <a:prstGeom prst="rect">
            <a:avLst/>
          </a:prstGeom>
        </p:spPr>
      </p:pic>
      <p:pic>
        <p:nvPicPr>
          <p:cNvPr id="20" name="Image 5" descr="gen-dedup-4f3b576989a6b43ea9ecd09ca0f289b1.png"/>
          <p:cNvPicPr>
            <a:picLocks noChangeAspect="1"/>
          </p:cNvPicPr>
          <p:nvPr/>
        </p:nvPicPr>
        <p:blipFill>
          <a:blip r:embed="rId7"/>
          <a:srcRect t="-5544" b="-5544"/>
          <a:stretch/>
        </p:blipFill>
        <p:spPr>
          <a:xfrm>
            <a:off x="3266274" y="3638702"/>
            <a:ext cx="105156" cy="133502"/>
          </a:xfrm>
          <a:prstGeom prst="rect">
            <a:avLst/>
          </a:prstGeom>
        </p:spPr>
      </p:pic>
      <p:pic>
        <p:nvPicPr>
          <p:cNvPr id="21" name="Image 6" descr="gen-dedup-1bf8b7c2ed0132a588bc6493359d36f7.png"/>
          <p:cNvPicPr>
            <a:picLocks noChangeAspect="1"/>
          </p:cNvPicPr>
          <p:nvPr/>
        </p:nvPicPr>
        <p:blipFill>
          <a:blip r:embed="rId6"/>
          <a:srcRect/>
          <a:stretch/>
        </p:blipFill>
        <p:spPr>
          <a:xfrm>
            <a:off x="5976555" y="3543605"/>
            <a:ext cx="323698" cy="323698"/>
          </a:xfrm>
          <a:prstGeom prst="rect">
            <a:avLst/>
          </a:prstGeom>
        </p:spPr>
      </p:pic>
      <p:pic>
        <p:nvPicPr>
          <p:cNvPr id="22" name="Image 7" descr="gen-dedup-4f3b576989a6b43ea9ecd09ca0f289b1.png"/>
          <p:cNvPicPr>
            <a:picLocks noChangeAspect="1"/>
          </p:cNvPicPr>
          <p:nvPr/>
        </p:nvPicPr>
        <p:blipFill>
          <a:blip r:embed="rId7"/>
          <a:srcRect t="-5544" b="-5544"/>
          <a:stretch/>
        </p:blipFill>
        <p:spPr>
          <a:xfrm>
            <a:off x="6086283" y="3638702"/>
            <a:ext cx="105156" cy="133502"/>
          </a:xfrm>
          <a:prstGeom prst="rect">
            <a:avLst/>
          </a:prstGeom>
        </p:spPr>
      </p:pic>
      <p:pic>
        <p:nvPicPr>
          <p:cNvPr id="23" name="Image 8" descr="gen-dedup-1bf8b7c2ed0132a588bc6493359d36f7.png"/>
          <p:cNvPicPr>
            <a:picLocks noChangeAspect="1"/>
          </p:cNvPicPr>
          <p:nvPr/>
        </p:nvPicPr>
        <p:blipFill>
          <a:blip r:embed="rId6"/>
          <a:srcRect/>
          <a:stretch/>
        </p:blipFill>
        <p:spPr>
          <a:xfrm>
            <a:off x="8795651" y="3543605"/>
            <a:ext cx="323698" cy="323698"/>
          </a:xfrm>
          <a:prstGeom prst="rect">
            <a:avLst/>
          </a:prstGeom>
        </p:spPr>
      </p:pic>
      <p:pic>
        <p:nvPicPr>
          <p:cNvPr id="24" name="Image 9" descr="gen-dedup-4f3b576989a6b43ea9ecd09ca0f289b1.png"/>
          <p:cNvPicPr>
            <a:picLocks noChangeAspect="1"/>
          </p:cNvPicPr>
          <p:nvPr/>
        </p:nvPicPr>
        <p:blipFill>
          <a:blip r:embed="rId7"/>
          <a:srcRect t="-5544" b="-5544"/>
          <a:stretch/>
        </p:blipFill>
        <p:spPr>
          <a:xfrm>
            <a:off x="8905379" y="3638702"/>
            <a:ext cx="105156" cy="133502"/>
          </a:xfrm>
          <a:prstGeom prst="rect">
            <a:avLst/>
          </a:prstGeom>
        </p:spPr>
      </p:pic>
      <p:sp>
        <p:nvSpPr>
          <p:cNvPr id="27" name="Shape 15"/>
          <p:cNvSpPr/>
          <p:nvPr/>
        </p:nvSpPr>
        <p:spPr>
          <a:xfrm>
            <a:off x="1638605" y="1819656"/>
            <a:ext cx="533095" cy="533095"/>
          </a:xfrm>
          <a:prstGeom prst="ellipse">
            <a:avLst/>
          </a:prstGeom>
          <a:solidFill>
            <a:srgbClr val="2A9D8F">
              <a:alpha val="10000"/>
            </a:srgbClr>
          </a:solidFill>
          <a:ln w="12700">
            <a:solidFill>
              <a:srgbClr val="FFFFFF">
                <a:alpha val="0"/>
              </a:srgbClr>
            </a:solidFill>
            <a:prstDash val="solid"/>
          </a:ln>
        </p:spPr>
        <p:txBody>
          <a:bodyPr/>
          <a:lstStyle/>
          <a:p>
            <a:endParaRPr lang="en-US"/>
          </a:p>
        </p:txBody>
      </p:sp>
      <p:pic>
        <p:nvPicPr>
          <p:cNvPr id="28" name="Image 10" descr="gen-dedup-ac1977dfe20a87d93b03eab8a85600aa.png"/>
          <p:cNvPicPr>
            <a:picLocks noChangeAspect="1"/>
          </p:cNvPicPr>
          <p:nvPr/>
        </p:nvPicPr>
        <p:blipFill>
          <a:blip r:embed="rId8"/>
          <a:srcRect t="-13131" b="-13131"/>
          <a:stretch/>
        </p:blipFill>
        <p:spPr>
          <a:xfrm>
            <a:off x="1814170" y="1971446"/>
            <a:ext cx="181051" cy="228600"/>
          </a:xfrm>
          <a:prstGeom prst="rect">
            <a:avLst/>
          </a:prstGeom>
        </p:spPr>
      </p:pic>
      <p:sp>
        <p:nvSpPr>
          <p:cNvPr id="29" name="Text 16"/>
          <p:cNvSpPr txBox="1"/>
          <p:nvPr/>
        </p:nvSpPr>
        <p:spPr>
          <a:xfrm>
            <a:off x="705002" y="2505456"/>
            <a:ext cx="2400300" cy="286207"/>
          </a:xfrm>
          <a:prstGeom prst="rect">
            <a:avLst/>
          </a:prstGeom>
          <a:noFill/>
          <a:ln/>
        </p:spPr>
        <p:txBody>
          <a:bodyPr wrap="none" lIns="0" tIns="0" rIns="0" bIns="0" rtlCol="0" anchor="ctr"/>
          <a:lstStyle/>
          <a:p>
            <a:pPr marL="0" indent="0" algn="ctr">
              <a:buNone/>
            </a:pPr>
            <a:r>
              <a:rPr lang="en-US" sz="2000" b="1">
                <a:solidFill>
                  <a:srgbClr val="1F2937"/>
                </a:solidFill>
                <a:latin typeface="Oswald" pitchFamily="34" charset="0"/>
                <a:ea typeface="Oswald" pitchFamily="34" charset="-122"/>
                <a:cs typeface="Oswald" pitchFamily="34" charset="-120"/>
              </a:rPr>
              <a:t>Embed.</a:t>
            </a:r>
            <a:endParaRPr lang="en-US" sz="2000"/>
          </a:p>
        </p:txBody>
      </p:sp>
      <p:sp>
        <p:nvSpPr>
          <p:cNvPr id="30" name="Text 17"/>
          <p:cNvSpPr txBox="1"/>
          <p:nvPr/>
        </p:nvSpPr>
        <p:spPr>
          <a:xfrm>
            <a:off x="705002" y="2968854"/>
            <a:ext cx="2400300" cy="152705"/>
          </a:xfrm>
          <a:prstGeom prst="rect">
            <a:avLst/>
          </a:prstGeom>
          <a:noFill/>
          <a:ln/>
        </p:spPr>
        <p:txBody>
          <a:bodyPr wrap="none" lIns="0" tIns="0" rIns="0" bIns="0" rtlCol="0" anchor="ctr"/>
          <a:lstStyle/>
          <a:p>
            <a:pPr marL="0" indent="0" algn="ctr">
              <a:buNone/>
            </a:pPr>
            <a:r>
              <a:rPr lang="en-US" sz="1300" b="1">
                <a:solidFill>
                  <a:srgbClr val="2A9D8F"/>
                </a:solidFill>
                <a:latin typeface="Roboto Condensed" pitchFamily="34" charset="0"/>
                <a:ea typeface="Roboto Condensed" pitchFamily="34" charset="-122"/>
                <a:cs typeface="Roboto Condensed" pitchFamily="34" charset="-120"/>
              </a:rPr>
              <a:t>Days 1–14</a:t>
            </a:r>
            <a:endParaRPr lang="en-US" sz="1300"/>
          </a:p>
        </p:txBody>
      </p:sp>
      <p:sp>
        <p:nvSpPr>
          <p:cNvPr id="31" name="Text 18"/>
          <p:cNvSpPr txBox="1"/>
          <p:nvPr/>
        </p:nvSpPr>
        <p:spPr>
          <a:xfrm>
            <a:off x="705002" y="3018434"/>
            <a:ext cx="2309775" cy="1743761"/>
          </a:xfrm>
          <a:prstGeom prst="rect">
            <a:avLst/>
          </a:prstGeom>
          <a:noFill/>
          <a:ln/>
        </p:spPr>
        <p:txBody>
          <a:bodyPr wrap="square" lIns="0" tIns="0" rIns="0" bIns="0" rtlCol="0" anchor="ctr"/>
          <a:lstStyle/>
          <a:p>
            <a:pPr marL="0" indent="0" algn="ctr">
              <a:buNone/>
            </a:pPr>
            <a:r>
              <a:rPr lang="en-US" sz="1200">
                <a:solidFill>
                  <a:srgbClr val="4B5563"/>
                </a:solidFill>
                <a:latin typeface="Raleway" pitchFamily="34" charset="0"/>
                <a:ea typeface="Raleway" pitchFamily="34" charset="-122"/>
                <a:cs typeface="Raleway" pitchFamily="34" charset="-120"/>
              </a:rPr>
              <a:t>We map your stakeholder reality before touching a single workflow — identifying the 80% we move within and the 20% that unlocks transformation.</a:t>
            </a:r>
            <a:endParaRPr lang="en-US" sz="1200"/>
          </a:p>
        </p:txBody>
      </p:sp>
      <p:sp>
        <p:nvSpPr>
          <p:cNvPr id="32" name="Text 19"/>
          <p:cNvSpPr txBox="1"/>
          <p:nvPr/>
        </p:nvSpPr>
        <p:spPr>
          <a:xfrm>
            <a:off x="2409444" y="1687137"/>
            <a:ext cx="601675" cy="457200"/>
          </a:xfrm>
          <a:prstGeom prst="rect">
            <a:avLst/>
          </a:prstGeom>
          <a:noFill/>
          <a:ln/>
        </p:spPr>
        <p:txBody>
          <a:bodyPr wrap="none" lIns="0" tIns="0" rIns="0" bIns="0" rtlCol="0" anchor="ctr"/>
          <a:lstStyle/>
          <a:p>
            <a:pPr marL="0" indent="0" algn="r">
              <a:buNone/>
            </a:pPr>
            <a:r>
              <a:rPr lang="en-US" sz="3600" b="1">
                <a:solidFill>
                  <a:srgbClr val="2A9D8F">
                    <a:alpha val="8000"/>
                  </a:srgbClr>
                </a:solidFill>
                <a:latin typeface="Oswald" pitchFamily="34" charset="0"/>
                <a:ea typeface="Oswald" pitchFamily="34" charset="-122"/>
                <a:cs typeface="Oswald" pitchFamily="34" charset="-120"/>
              </a:rPr>
              <a:t>01</a:t>
            </a:r>
            <a:endParaRPr lang="en-US" sz="3600"/>
          </a:p>
        </p:txBody>
      </p:sp>
      <p:sp>
        <p:nvSpPr>
          <p:cNvPr id="33" name="Shape 20"/>
          <p:cNvSpPr/>
          <p:nvPr/>
        </p:nvSpPr>
        <p:spPr>
          <a:xfrm>
            <a:off x="4457700" y="1819656"/>
            <a:ext cx="533095" cy="533095"/>
          </a:xfrm>
          <a:prstGeom prst="ellipse">
            <a:avLst/>
          </a:prstGeom>
          <a:solidFill>
            <a:srgbClr val="D62839">
              <a:alpha val="10000"/>
            </a:srgbClr>
          </a:solidFill>
          <a:ln w="12700">
            <a:solidFill>
              <a:srgbClr val="FFFFFF">
                <a:alpha val="0"/>
              </a:srgbClr>
            </a:solidFill>
            <a:prstDash val="solid"/>
          </a:ln>
        </p:spPr>
        <p:txBody>
          <a:bodyPr/>
          <a:lstStyle/>
          <a:p>
            <a:endParaRPr lang="en-US"/>
          </a:p>
        </p:txBody>
      </p:sp>
      <p:pic>
        <p:nvPicPr>
          <p:cNvPr id="34" name="Image 11" descr="gen-dedup-bb65f8a83efde23cd45884ce4e632f2a.png"/>
          <p:cNvPicPr>
            <a:picLocks noChangeAspect="1"/>
          </p:cNvPicPr>
          <p:nvPr/>
        </p:nvPicPr>
        <p:blipFill>
          <a:blip r:embed="rId9"/>
          <a:srcRect t="-13131" b="-13131"/>
          <a:stretch/>
        </p:blipFill>
        <p:spPr>
          <a:xfrm>
            <a:off x="4634179" y="1971446"/>
            <a:ext cx="181051" cy="228600"/>
          </a:xfrm>
          <a:prstGeom prst="rect">
            <a:avLst/>
          </a:prstGeom>
        </p:spPr>
      </p:pic>
      <p:sp>
        <p:nvSpPr>
          <p:cNvPr id="35" name="Text 21"/>
          <p:cNvSpPr txBox="1"/>
          <p:nvPr/>
        </p:nvSpPr>
        <p:spPr>
          <a:xfrm>
            <a:off x="3524098" y="2505456"/>
            <a:ext cx="2400300" cy="286207"/>
          </a:xfrm>
          <a:prstGeom prst="rect">
            <a:avLst/>
          </a:prstGeom>
          <a:noFill/>
          <a:ln/>
        </p:spPr>
        <p:txBody>
          <a:bodyPr wrap="none" lIns="0" tIns="0" rIns="0" bIns="0" rtlCol="0" anchor="ctr"/>
          <a:lstStyle/>
          <a:p>
            <a:pPr marL="0" indent="0" algn="ctr">
              <a:buNone/>
            </a:pPr>
            <a:r>
              <a:rPr lang="en-US" sz="2000" b="1">
                <a:solidFill>
                  <a:srgbClr val="1F2937"/>
                </a:solidFill>
                <a:latin typeface="Oswald" pitchFamily="34" charset="0"/>
                <a:ea typeface="Oswald" pitchFamily="34" charset="-122"/>
                <a:cs typeface="Oswald" pitchFamily="34" charset="-120"/>
              </a:rPr>
              <a:t>Build.</a:t>
            </a:r>
            <a:endParaRPr lang="en-US" sz="2000"/>
          </a:p>
        </p:txBody>
      </p:sp>
      <p:sp>
        <p:nvSpPr>
          <p:cNvPr id="36" name="Text 22"/>
          <p:cNvSpPr txBox="1"/>
          <p:nvPr/>
        </p:nvSpPr>
        <p:spPr>
          <a:xfrm>
            <a:off x="3524098" y="2968854"/>
            <a:ext cx="2400300" cy="152705"/>
          </a:xfrm>
          <a:prstGeom prst="rect">
            <a:avLst/>
          </a:prstGeom>
          <a:noFill/>
          <a:ln/>
        </p:spPr>
        <p:txBody>
          <a:bodyPr wrap="none" lIns="0" tIns="0" rIns="0" bIns="0" rtlCol="0" anchor="ctr"/>
          <a:lstStyle/>
          <a:p>
            <a:pPr marL="0" indent="0" algn="ctr">
              <a:buNone/>
            </a:pPr>
            <a:r>
              <a:rPr lang="en-US" sz="1300" b="1">
                <a:solidFill>
                  <a:srgbClr val="D62839"/>
                </a:solidFill>
                <a:latin typeface="Roboto Condensed" pitchFamily="34" charset="0"/>
                <a:ea typeface="Roboto Condensed" pitchFamily="34" charset="-122"/>
                <a:cs typeface="Roboto Condensed" pitchFamily="34" charset="-120"/>
              </a:rPr>
              <a:t>Weeks 2–6</a:t>
            </a:r>
            <a:endParaRPr lang="en-US" sz="1300"/>
          </a:p>
        </p:txBody>
      </p:sp>
      <p:sp>
        <p:nvSpPr>
          <p:cNvPr id="37" name="Text 23"/>
          <p:cNvSpPr txBox="1"/>
          <p:nvPr/>
        </p:nvSpPr>
        <p:spPr>
          <a:xfrm>
            <a:off x="3524098" y="3297935"/>
            <a:ext cx="2309775" cy="1390802"/>
          </a:xfrm>
          <a:prstGeom prst="rect">
            <a:avLst/>
          </a:prstGeom>
          <a:noFill/>
          <a:ln/>
        </p:spPr>
        <p:txBody>
          <a:bodyPr wrap="square" lIns="0" tIns="0" rIns="0" bIns="0" rtlCol="0" anchor="ctr"/>
          <a:lstStyle/>
          <a:p>
            <a:pPr marL="0" indent="0" algn="ctr">
              <a:buNone/>
            </a:pPr>
            <a:r>
              <a:rPr lang="en-US" sz="1200">
                <a:solidFill>
                  <a:srgbClr val="4B5563"/>
                </a:solidFill>
                <a:latin typeface="Raleway" pitchFamily="34" charset="0"/>
                <a:ea typeface="Raleway" pitchFamily="34" charset="-122"/>
                <a:cs typeface="Raleway" pitchFamily="34" charset="-120"/>
              </a:rPr>
              <a:t>We deploy the closest-fit accelerator and customize where needed. Hundreds of prior engagements mean you inherit a head start, not a blank slate.</a:t>
            </a:r>
            <a:endParaRPr lang="en-US" sz="1200"/>
          </a:p>
        </p:txBody>
      </p:sp>
      <p:sp>
        <p:nvSpPr>
          <p:cNvPr id="38" name="Text 24"/>
          <p:cNvSpPr txBox="1"/>
          <p:nvPr/>
        </p:nvSpPr>
        <p:spPr>
          <a:xfrm>
            <a:off x="5231282" y="1687137"/>
            <a:ext cx="607162" cy="457200"/>
          </a:xfrm>
          <a:prstGeom prst="rect">
            <a:avLst/>
          </a:prstGeom>
          <a:noFill/>
          <a:ln/>
        </p:spPr>
        <p:txBody>
          <a:bodyPr wrap="none" lIns="0" tIns="0" rIns="0" bIns="0" rtlCol="0" anchor="ctr"/>
          <a:lstStyle/>
          <a:p>
            <a:pPr marL="0" indent="0" algn="r">
              <a:buNone/>
            </a:pPr>
            <a:r>
              <a:rPr lang="en-US" sz="3600" b="1">
                <a:solidFill>
                  <a:srgbClr val="D62839">
                    <a:alpha val="8000"/>
                  </a:srgbClr>
                </a:solidFill>
                <a:latin typeface="Oswald" pitchFamily="34" charset="0"/>
                <a:ea typeface="Oswald" pitchFamily="34" charset="-122"/>
                <a:cs typeface="Oswald" pitchFamily="34" charset="-120"/>
              </a:rPr>
              <a:t>02</a:t>
            </a:r>
            <a:endParaRPr lang="en-US" sz="3600"/>
          </a:p>
        </p:txBody>
      </p:sp>
      <p:sp>
        <p:nvSpPr>
          <p:cNvPr id="39" name="Shape 25"/>
          <p:cNvSpPr/>
          <p:nvPr/>
        </p:nvSpPr>
        <p:spPr>
          <a:xfrm>
            <a:off x="7276795" y="1819656"/>
            <a:ext cx="533095" cy="533095"/>
          </a:xfrm>
          <a:prstGeom prst="ellipse">
            <a:avLst/>
          </a:prstGeom>
          <a:solidFill>
            <a:srgbClr val="2A9D8F">
              <a:alpha val="10000"/>
            </a:srgbClr>
          </a:solidFill>
          <a:ln w="12700">
            <a:solidFill>
              <a:srgbClr val="FFFFFF">
                <a:alpha val="0"/>
              </a:srgbClr>
            </a:solidFill>
            <a:prstDash val="solid"/>
          </a:ln>
        </p:spPr>
        <p:txBody>
          <a:bodyPr/>
          <a:lstStyle/>
          <a:p>
            <a:endParaRPr lang="en-US"/>
          </a:p>
        </p:txBody>
      </p:sp>
      <p:pic>
        <p:nvPicPr>
          <p:cNvPr id="40" name="Image 12" descr="gen-dedup-ec7913c77fa2db42f3e898c22d604bf4.png"/>
          <p:cNvPicPr>
            <a:picLocks noChangeAspect="1"/>
          </p:cNvPicPr>
          <p:nvPr/>
        </p:nvPicPr>
        <p:blipFill>
          <a:blip r:embed="rId10"/>
          <a:srcRect t="-28914" b="-28914"/>
          <a:stretch/>
        </p:blipFill>
        <p:spPr>
          <a:xfrm>
            <a:off x="7398844" y="1895244"/>
            <a:ext cx="289681" cy="365760"/>
          </a:xfrm>
          <a:prstGeom prst="rect">
            <a:avLst/>
          </a:prstGeom>
        </p:spPr>
      </p:pic>
      <p:sp>
        <p:nvSpPr>
          <p:cNvPr id="41" name="Text 26"/>
          <p:cNvSpPr txBox="1"/>
          <p:nvPr/>
        </p:nvSpPr>
        <p:spPr>
          <a:xfrm>
            <a:off x="6344107" y="2505456"/>
            <a:ext cx="2400300" cy="286207"/>
          </a:xfrm>
          <a:prstGeom prst="rect">
            <a:avLst/>
          </a:prstGeom>
          <a:noFill/>
          <a:ln/>
        </p:spPr>
        <p:txBody>
          <a:bodyPr wrap="none" lIns="0" tIns="0" rIns="0" bIns="0" rtlCol="0" anchor="ctr"/>
          <a:lstStyle/>
          <a:p>
            <a:pPr marL="0" indent="0" algn="ctr">
              <a:buNone/>
            </a:pPr>
            <a:r>
              <a:rPr lang="en-US" sz="2000" b="1">
                <a:solidFill>
                  <a:srgbClr val="1F2937"/>
                </a:solidFill>
                <a:latin typeface="Oswald" pitchFamily="34" charset="0"/>
                <a:ea typeface="Oswald" pitchFamily="34" charset="-122"/>
                <a:cs typeface="Oswald" pitchFamily="34" charset="-120"/>
              </a:rPr>
              <a:t>Operate.</a:t>
            </a:r>
            <a:endParaRPr lang="en-US" sz="2000"/>
          </a:p>
        </p:txBody>
      </p:sp>
      <p:sp>
        <p:nvSpPr>
          <p:cNvPr id="42" name="Text 27"/>
          <p:cNvSpPr txBox="1"/>
          <p:nvPr/>
        </p:nvSpPr>
        <p:spPr>
          <a:xfrm>
            <a:off x="6344107" y="2968854"/>
            <a:ext cx="2400300" cy="152705"/>
          </a:xfrm>
          <a:prstGeom prst="rect">
            <a:avLst/>
          </a:prstGeom>
          <a:noFill/>
          <a:ln/>
        </p:spPr>
        <p:txBody>
          <a:bodyPr wrap="none" lIns="0" tIns="0" rIns="0" bIns="0" rtlCol="0" anchor="ctr"/>
          <a:lstStyle/>
          <a:p>
            <a:pPr marL="0" indent="0" algn="ctr">
              <a:buNone/>
            </a:pPr>
            <a:r>
              <a:rPr lang="en-US" sz="1300" b="1">
                <a:solidFill>
                  <a:srgbClr val="2A9D8F"/>
                </a:solidFill>
                <a:latin typeface="Roboto Condensed" pitchFamily="34" charset="0"/>
                <a:ea typeface="Roboto Condensed" pitchFamily="34" charset="-122"/>
                <a:cs typeface="Roboto Condensed" pitchFamily="34" charset="-120"/>
              </a:rPr>
              <a:t>Month 2 onward</a:t>
            </a:r>
            <a:endParaRPr lang="en-US" sz="1300"/>
          </a:p>
        </p:txBody>
      </p:sp>
      <p:sp>
        <p:nvSpPr>
          <p:cNvPr id="43" name="Text 28"/>
          <p:cNvSpPr txBox="1"/>
          <p:nvPr/>
        </p:nvSpPr>
        <p:spPr>
          <a:xfrm>
            <a:off x="6344107" y="3195725"/>
            <a:ext cx="2309775" cy="1390802"/>
          </a:xfrm>
          <a:prstGeom prst="rect">
            <a:avLst/>
          </a:prstGeom>
          <a:noFill/>
          <a:ln/>
        </p:spPr>
        <p:txBody>
          <a:bodyPr wrap="square" lIns="0" tIns="0" rIns="0" bIns="0" rtlCol="0" anchor="ctr"/>
          <a:lstStyle/>
          <a:p>
            <a:pPr marL="0" indent="0" algn="ctr">
              <a:buNone/>
            </a:pPr>
            <a:r>
              <a:rPr lang="en-US" sz="1200">
                <a:solidFill>
                  <a:srgbClr val="4B5563"/>
                </a:solidFill>
                <a:latin typeface="Raleway" pitchFamily="34" charset="0"/>
                <a:ea typeface="Raleway" pitchFamily="34" charset="-122"/>
                <a:cs typeface="Raleway" pitchFamily="34" charset="-120"/>
              </a:rPr>
              <a:t>Forward-deployed engineers run AI inside your enterprise and don't rotate off. The context, accountability, and institutional memory stay with you.</a:t>
            </a:r>
            <a:endParaRPr lang="en-US" sz="1200"/>
          </a:p>
        </p:txBody>
      </p:sp>
      <p:sp>
        <p:nvSpPr>
          <p:cNvPr id="44" name="Text 29"/>
          <p:cNvSpPr txBox="1"/>
          <p:nvPr/>
        </p:nvSpPr>
        <p:spPr>
          <a:xfrm>
            <a:off x="8051292" y="1687137"/>
            <a:ext cx="607162" cy="457200"/>
          </a:xfrm>
          <a:prstGeom prst="rect">
            <a:avLst/>
          </a:prstGeom>
          <a:noFill/>
          <a:ln/>
        </p:spPr>
        <p:txBody>
          <a:bodyPr wrap="none" lIns="0" tIns="0" rIns="0" bIns="0" rtlCol="0" anchor="ctr"/>
          <a:lstStyle/>
          <a:p>
            <a:pPr marL="0" indent="0" algn="r">
              <a:buNone/>
            </a:pPr>
            <a:r>
              <a:rPr lang="en-US" sz="3600" b="1">
                <a:solidFill>
                  <a:srgbClr val="2A9D8F">
                    <a:alpha val="8000"/>
                  </a:srgbClr>
                </a:solidFill>
                <a:latin typeface="Oswald" pitchFamily="34" charset="0"/>
                <a:ea typeface="Oswald" pitchFamily="34" charset="-122"/>
                <a:cs typeface="Oswald" pitchFamily="34" charset="-120"/>
              </a:rPr>
              <a:t>03</a:t>
            </a:r>
            <a:endParaRPr lang="en-US" sz="3600"/>
          </a:p>
        </p:txBody>
      </p:sp>
      <p:sp>
        <p:nvSpPr>
          <p:cNvPr id="45" name="Shape 30"/>
          <p:cNvSpPr/>
          <p:nvPr/>
        </p:nvSpPr>
        <p:spPr>
          <a:xfrm>
            <a:off x="10096805" y="1819656"/>
            <a:ext cx="533095" cy="533095"/>
          </a:xfrm>
          <a:prstGeom prst="ellipse">
            <a:avLst/>
          </a:prstGeom>
          <a:solidFill>
            <a:srgbClr val="D62839">
              <a:alpha val="10000"/>
            </a:srgbClr>
          </a:solidFill>
          <a:ln w="12700">
            <a:solidFill>
              <a:srgbClr val="FFFFFF">
                <a:alpha val="0"/>
              </a:srgbClr>
            </a:solidFill>
            <a:prstDash val="solid"/>
          </a:ln>
        </p:spPr>
        <p:txBody>
          <a:bodyPr/>
          <a:lstStyle/>
          <a:p>
            <a:endParaRPr lang="en-US"/>
          </a:p>
        </p:txBody>
      </p:sp>
      <p:pic>
        <p:nvPicPr>
          <p:cNvPr id="46" name="Image 13" descr="gen-dedup-9fd551ffaf14ed4b68fb6cf808d818cf.png"/>
          <p:cNvPicPr>
            <a:picLocks noChangeAspect="1"/>
          </p:cNvPicPr>
          <p:nvPr/>
        </p:nvPicPr>
        <p:blipFill>
          <a:blip r:embed="rId11"/>
          <a:srcRect t="-13131" b="-13131"/>
          <a:stretch/>
        </p:blipFill>
        <p:spPr>
          <a:xfrm>
            <a:off x="10272370" y="1971446"/>
            <a:ext cx="181051" cy="228600"/>
          </a:xfrm>
          <a:prstGeom prst="rect">
            <a:avLst/>
          </a:prstGeom>
        </p:spPr>
      </p:pic>
      <p:sp>
        <p:nvSpPr>
          <p:cNvPr id="47" name="Text 31"/>
          <p:cNvSpPr txBox="1"/>
          <p:nvPr/>
        </p:nvSpPr>
        <p:spPr>
          <a:xfrm>
            <a:off x="9163202" y="2505456"/>
            <a:ext cx="2400300" cy="286207"/>
          </a:xfrm>
          <a:prstGeom prst="rect">
            <a:avLst/>
          </a:prstGeom>
          <a:noFill/>
          <a:ln/>
        </p:spPr>
        <p:txBody>
          <a:bodyPr wrap="none" lIns="0" tIns="0" rIns="0" bIns="0" rtlCol="0" anchor="ctr"/>
          <a:lstStyle/>
          <a:p>
            <a:pPr marL="0" indent="0" algn="ctr">
              <a:buNone/>
            </a:pPr>
            <a:r>
              <a:rPr lang="en-US" sz="2000" b="1">
                <a:solidFill>
                  <a:srgbClr val="1F2937"/>
                </a:solidFill>
                <a:latin typeface="Oswald" pitchFamily="34" charset="0"/>
                <a:ea typeface="Oswald" pitchFamily="34" charset="-122"/>
                <a:cs typeface="Oswald" pitchFamily="34" charset="-120"/>
              </a:rPr>
              <a:t>Compound.</a:t>
            </a:r>
            <a:endParaRPr lang="en-US" sz="2000"/>
          </a:p>
        </p:txBody>
      </p:sp>
      <p:sp>
        <p:nvSpPr>
          <p:cNvPr id="48" name="Text 32"/>
          <p:cNvSpPr txBox="1"/>
          <p:nvPr/>
        </p:nvSpPr>
        <p:spPr>
          <a:xfrm>
            <a:off x="9163202" y="2968854"/>
            <a:ext cx="2400300" cy="152705"/>
          </a:xfrm>
          <a:prstGeom prst="rect">
            <a:avLst/>
          </a:prstGeom>
          <a:noFill/>
          <a:ln/>
        </p:spPr>
        <p:txBody>
          <a:bodyPr wrap="none" lIns="0" tIns="0" rIns="0" bIns="0" rtlCol="0" anchor="ctr"/>
          <a:lstStyle/>
          <a:p>
            <a:pPr marL="0" indent="0" algn="ctr">
              <a:buNone/>
            </a:pPr>
            <a:r>
              <a:rPr lang="en-US" sz="1300" b="1">
                <a:solidFill>
                  <a:srgbClr val="D62839"/>
                </a:solidFill>
                <a:latin typeface="Roboto Condensed" pitchFamily="34" charset="0"/>
                <a:ea typeface="Roboto Condensed" pitchFamily="34" charset="-122"/>
                <a:cs typeface="Roboto Condensed" pitchFamily="34" charset="-120"/>
              </a:rPr>
              <a:t>Year one &amp; beyond</a:t>
            </a:r>
            <a:endParaRPr lang="en-US" sz="1300"/>
          </a:p>
        </p:txBody>
      </p:sp>
      <p:sp>
        <p:nvSpPr>
          <p:cNvPr id="49" name="Text 33"/>
          <p:cNvSpPr txBox="1"/>
          <p:nvPr/>
        </p:nvSpPr>
        <p:spPr>
          <a:xfrm>
            <a:off x="9163202" y="3285235"/>
            <a:ext cx="2309775" cy="1219810"/>
          </a:xfrm>
          <a:prstGeom prst="rect">
            <a:avLst/>
          </a:prstGeom>
          <a:noFill/>
          <a:ln/>
        </p:spPr>
        <p:txBody>
          <a:bodyPr wrap="square" lIns="0" tIns="0" rIns="0" bIns="0" rtlCol="0" anchor="ctr"/>
          <a:lstStyle/>
          <a:p>
            <a:pPr marL="0" indent="0" algn="ctr">
              <a:buNone/>
            </a:pPr>
            <a:r>
              <a:rPr lang="en-US" sz="1200">
                <a:solidFill>
                  <a:srgbClr val="4B5563"/>
                </a:solidFill>
                <a:latin typeface="Raleway" pitchFamily="34" charset="0"/>
                <a:ea typeface="Raleway" pitchFamily="34" charset="-122"/>
                <a:cs typeface="Raleway" pitchFamily="34" charset="-120"/>
              </a:rPr>
              <a:t>Every problem solved sharpens the platform. The system gets smarter as you scale — outcomes that compound while you sleep.</a:t>
            </a:r>
            <a:endParaRPr lang="en-US" sz="1200"/>
          </a:p>
        </p:txBody>
      </p:sp>
      <p:sp>
        <p:nvSpPr>
          <p:cNvPr id="50" name="Text 34"/>
          <p:cNvSpPr txBox="1"/>
          <p:nvPr/>
        </p:nvSpPr>
        <p:spPr>
          <a:xfrm>
            <a:off x="10865815" y="1687137"/>
            <a:ext cx="607162" cy="457200"/>
          </a:xfrm>
          <a:prstGeom prst="rect">
            <a:avLst/>
          </a:prstGeom>
          <a:noFill/>
          <a:ln/>
        </p:spPr>
        <p:txBody>
          <a:bodyPr wrap="none" lIns="0" tIns="0" rIns="0" bIns="0" rtlCol="0" anchor="ctr"/>
          <a:lstStyle/>
          <a:p>
            <a:pPr marL="0" indent="0" algn="r">
              <a:buNone/>
            </a:pPr>
            <a:r>
              <a:rPr lang="en-US" sz="3600" b="1">
                <a:solidFill>
                  <a:srgbClr val="D62839">
                    <a:alpha val="8000"/>
                  </a:srgbClr>
                </a:solidFill>
                <a:latin typeface="Oswald" pitchFamily="34" charset="0"/>
                <a:ea typeface="Oswald" pitchFamily="34" charset="-122"/>
                <a:cs typeface="Oswald" pitchFamily="34" charset="-120"/>
              </a:rPr>
              <a:t>04</a:t>
            </a:r>
            <a:endParaRPr lang="en-US" sz="3600"/>
          </a:p>
        </p:txBody>
      </p:sp>
      <p:sp>
        <p:nvSpPr>
          <p:cNvPr id="51" name="Text 35"/>
          <p:cNvSpPr txBox="1"/>
          <p:nvPr/>
        </p:nvSpPr>
        <p:spPr>
          <a:xfrm>
            <a:off x="914400" y="6048756"/>
            <a:ext cx="10401300" cy="428854"/>
          </a:xfrm>
          <a:prstGeom prst="rect">
            <a:avLst/>
          </a:prstGeom>
          <a:noFill/>
          <a:ln/>
        </p:spPr>
        <p:txBody>
          <a:bodyPr wrap="square" lIns="0" tIns="0" rIns="0" bIns="0" rtlCol="0" anchor="ctr"/>
          <a:lstStyle/>
          <a:p>
            <a:pPr marL="0" indent="0" algn="ctr">
              <a:buNone/>
            </a:pPr>
            <a:r>
              <a:rPr lang="en-US" sz="1300" b="1">
                <a:solidFill>
                  <a:srgbClr val="2A9D8F"/>
                </a:solidFill>
                <a:latin typeface="Raleway" pitchFamily="34" charset="0"/>
                <a:ea typeface="Raleway" pitchFamily="34" charset="-122"/>
                <a:cs typeface="Raleway" pitchFamily="34" charset="-120"/>
              </a:rPr>
              <a:t>Your business is our GTM.</a:t>
            </a:r>
            <a:r>
              <a:rPr lang="en-US" sz="1300" b="1">
                <a:solidFill>
                  <a:srgbClr val="1F2937"/>
                </a:solidFill>
                <a:latin typeface="Raleway" pitchFamily="34" charset="0"/>
                <a:ea typeface="Raleway" pitchFamily="34" charset="-122"/>
                <a:cs typeface="Raleway" pitchFamily="34" charset="-120"/>
              </a:rPr>
              <a:t> We build with you, so your teams actually adopt, use, and grow everything we create together - not just receive it.</a:t>
            </a:r>
            <a:endParaRPr lang="en-US" sz="1300"/>
          </a:p>
        </p:txBody>
      </p:sp>
      <p:pic>
        <p:nvPicPr>
          <p:cNvPr id="53" name="Image 3" descr="gen-dedup-777bf757d895431cabe402fcd34ebd5a.png">
            <a:extLst>
              <a:ext uri="{FF2B5EF4-FFF2-40B4-BE49-F238E27FC236}">
                <a16:creationId xmlns:a16="http://schemas.microsoft.com/office/drawing/2014/main" id="{02919DE7-F5E5-FB55-3032-CD58F0C53E30}"/>
              </a:ext>
            </a:extLst>
          </p:cNvPr>
          <p:cNvPicPr>
            <a:picLocks noChangeAspect="1"/>
          </p:cNvPicPr>
          <p:nvPr/>
        </p:nvPicPr>
        <p:blipFill>
          <a:blip r:embed="rId12">
            <a:biLevel thresh="75000"/>
          </a:blip>
          <a:srcRect l="-384" r="-384"/>
          <a:stretch/>
        </p:blipFill>
        <p:spPr>
          <a:xfrm>
            <a:off x="571500" y="381305"/>
            <a:ext cx="57607" cy="476402"/>
          </a:xfrm>
          <a:prstGeom prst="rect">
            <a:avLst/>
          </a:prstGeom>
        </p:spPr>
      </p:pic>
      <p:sp>
        <p:nvSpPr>
          <p:cNvPr id="55" name="Text 5">
            <a:extLst>
              <a:ext uri="{FF2B5EF4-FFF2-40B4-BE49-F238E27FC236}">
                <a16:creationId xmlns:a16="http://schemas.microsoft.com/office/drawing/2014/main" id="{E3A8BEBA-2641-43DC-B1FB-72924A464491}"/>
              </a:ext>
            </a:extLst>
          </p:cNvPr>
          <p:cNvSpPr txBox="1"/>
          <p:nvPr/>
        </p:nvSpPr>
        <p:spPr>
          <a:xfrm>
            <a:off x="780897" y="333756"/>
            <a:ext cx="5913817" cy="406908"/>
          </a:xfrm>
          <a:prstGeom prst="rect">
            <a:avLst/>
          </a:prstGeom>
          <a:noFill/>
          <a:ln/>
        </p:spPr>
        <p:txBody>
          <a:bodyPr wrap="none" lIns="0" tIns="0" rIns="0" bIns="0" rtlCol="0" anchor="ctr"/>
          <a:lstStyle/>
          <a:p>
            <a:r>
              <a:rPr lang="en-US" sz="2400" b="1" kern="0" spc="-67" dirty="0">
                <a:solidFill>
                  <a:srgbClr val="111827"/>
                </a:solidFill>
                <a:latin typeface="Oswald" pitchFamily="34" charset="0"/>
                <a:ea typeface="Oswald" pitchFamily="34" charset="-122"/>
                <a:cs typeface="Oswald" pitchFamily="34" charset="-120"/>
              </a:rPr>
              <a:t>THE J2W OPERATING MODEL</a:t>
            </a:r>
          </a:p>
        </p:txBody>
      </p:sp>
      <p:sp>
        <p:nvSpPr>
          <p:cNvPr id="57" name="Text 6">
            <a:extLst>
              <a:ext uri="{FF2B5EF4-FFF2-40B4-BE49-F238E27FC236}">
                <a16:creationId xmlns:a16="http://schemas.microsoft.com/office/drawing/2014/main" id="{17CE2A1D-CEBB-750D-02E1-92F82A78DA0E}"/>
              </a:ext>
            </a:extLst>
          </p:cNvPr>
          <p:cNvSpPr txBox="1"/>
          <p:nvPr/>
        </p:nvSpPr>
        <p:spPr>
          <a:xfrm>
            <a:off x="780898" y="740663"/>
            <a:ext cx="5054803" cy="257861"/>
          </a:xfrm>
          <a:prstGeom prst="rect">
            <a:avLst/>
          </a:prstGeom>
          <a:noFill/>
          <a:ln/>
        </p:spPr>
        <p:txBody>
          <a:bodyPr wrap="none" lIns="0" tIns="0" rIns="0" bIns="0" rtlCol="0" anchor="ctr"/>
          <a:lstStyle/>
          <a:p>
            <a:pPr marL="0" indent="0" algn="l">
              <a:buNone/>
            </a:pPr>
            <a:r>
              <a:rPr lang="en-GB" sz="1500" b="1" kern="0" spc="66" dirty="0">
                <a:solidFill>
                  <a:srgbClr val="2A9D8F"/>
                </a:solidFill>
                <a:latin typeface="Roboto Condensed" pitchFamily="34" charset="0"/>
                <a:ea typeface="Roboto Condensed" pitchFamily="34" charset="-122"/>
                <a:cs typeface="Roboto Condensed" pitchFamily="34" charset="-120"/>
              </a:rPr>
              <a:t>We Don't Just Deploy - We Embed, Align, And Deliver Measurable Outcomes.</a:t>
            </a:r>
          </a:p>
        </p:txBody>
      </p:sp>
    </p:spTree>
    <p:extLst>
      <p:ext uri="{BB962C8B-B14F-4D97-AF65-F5344CB8AC3E}">
        <p14:creationId xmlns:p14="http://schemas.microsoft.com/office/powerpoint/2010/main" val="29685135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hape 4"/>
          <p:cNvSpPr/>
          <p:nvPr/>
        </p:nvSpPr>
        <p:spPr>
          <a:xfrm>
            <a:off x="219456" y="1182624"/>
            <a:ext cx="2779776" cy="60960"/>
          </a:xfrm>
          <a:prstGeom prst="rect">
            <a:avLst/>
          </a:prstGeom>
          <a:solidFill>
            <a:srgbClr val="0D9488"/>
          </a:solidFill>
          <a:ln w="12700">
            <a:solidFill>
              <a:srgbClr val="0D9488"/>
            </a:solidFill>
            <a:prstDash val="solid"/>
          </a:ln>
        </p:spPr>
        <p:txBody>
          <a:bodyPr/>
          <a:lstStyle/>
          <a:p>
            <a:endParaRPr lang="en-US" sz="2400"/>
          </a:p>
        </p:txBody>
      </p:sp>
      <p:sp>
        <p:nvSpPr>
          <p:cNvPr id="7" name="Shape 5"/>
          <p:cNvSpPr/>
          <p:nvPr/>
        </p:nvSpPr>
        <p:spPr>
          <a:xfrm>
            <a:off x="219456" y="1243584"/>
            <a:ext cx="2779776" cy="1889760"/>
          </a:xfrm>
          <a:prstGeom prst="rect">
            <a:avLst/>
          </a:prstGeom>
          <a:solidFill>
            <a:srgbClr val="F9FFFE"/>
          </a:solidFill>
          <a:ln w="6350">
            <a:solidFill>
              <a:srgbClr val="D0ECEA"/>
            </a:solidFill>
            <a:prstDash val="solid"/>
          </a:ln>
          <a:effectLst>
            <a:outerShdw blurRad="63500" dist="25400" dir="8100000" algn="bl" rotWithShape="0">
              <a:srgbClr val="000000">
                <a:alpha val="8000"/>
              </a:srgbClr>
            </a:outerShdw>
          </a:effectLst>
        </p:spPr>
        <p:txBody>
          <a:bodyPr/>
          <a:lstStyle/>
          <a:p>
            <a:endParaRPr lang="en-US" sz="2400"/>
          </a:p>
        </p:txBody>
      </p:sp>
      <p:pic>
        <p:nvPicPr>
          <p:cNvPr id="8" name="Image 0" descr="preencoded.png"/>
          <p:cNvPicPr>
            <a:picLocks noChangeAspect="1"/>
          </p:cNvPicPr>
          <p:nvPr/>
        </p:nvPicPr>
        <p:blipFill>
          <a:blip r:embed="rId3"/>
          <a:stretch>
            <a:fillRect/>
          </a:stretch>
        </p:blipFill>
        <p:spPr>
          <a:xfrm>
            <a:off x="390144" y="1341120"/>
            <a:ext cx="414528" cy="414528"/>
          </a:xfrm>
          <a:prstGeom prst="rect">
            <a:avLst/>
          </a:prstGeom>
        </p:spPr>
      </p:pic>
      <p:sp>
        <p:nvSpPr>
          <p:cNvPr id="9" name="Text 6"/>
          <p:cNvSpPr/>
          <p:nvPr/>
        </p:nvSpPr>
        <p:spPr>
          <a:xfrm>
            <a:off x="341376" y="1840992"/>
            <a:ext cx="2535936" cy="329184"/>
          </a:xfrm>
          <a:prstGeom prst="rect">
            <a:avLst/>
          </a:prstGeom>
          <a:noFill/>
          <a:ln/>
        </p:spPr>
        <p:txBody>
          <a:bodyPr wrap="square" lIns="0" tIns="0" rIns="0" bIns="0" rtlCol="0" anchor="ctr"/>
          <a:lstStyle/>
          <a:p>
            <a:r>
              <a:rPr lang="en-US" sz="1467" b="1">
                <a:solidFill>
                  <a:srgbClr val="1A1A2E"/>
                </a:solidFill>
                <a:latin typeface="Oswald" panose="00000500000000000000" pitchFamily="2" charset="0"/>
                <a:ea typeface="Calibri" pitchFamily="34" charset="-122"/>
                <a:cs typeface="Calibri" pitchFamily="34" charset="-120"/>
              </a:rPr>
              <a:t>Sourcing Engine</a:t>
            </a:r>
            <a:endParaRPr lang="en-US" sz="1467">
              <a:latin typeface="Oswald" panose="00000500000000000000" pitchFamily="2" charset="0"/>
            </a:endParaRPr>
          </a:p>
        </p:txBody>
      </p:sp>
      <p:sp>
        <p:nvSpPr>
          <p:cNvPr id="10" name="Text 7"/>
          <p:cNvSpPr/>
          <p:nvPr/>
        </p:nvSpPr>
        <p:spPr>
          <a:xfrm>
            <a:off x="341376" y="2182368"/>
            <a:ext cx="2535936" cy="853440"/>
          </a:xfrm>
          <a:prstGeom prst="rect">
            <a:avLst/>
          </a:prstGeom>
          <a:noFill/>
          <a:ln/>
        </p:spPr>
        <p:txBody>
          <a:bodyPr wrap="square" lIns="0" tIns="0" rIns="0" bIns="0" rtlCol="0" anchor="ctr"/>
          <a:lstStyle/>
          <a:p>
            <a:pPr>
              <a:lnSpc>
                <a:spcPct val="125000"/>
              </a:lnSpc>
            </a:pPr>
            <a:r>
              <a:rPr lang="en-US" sz="1133">
                <a:solidFill>
                  <a:srgbClr val="555555"/>
                </a:solidFill>
                <a:latin typeface="Raleway" pitchFamily="2" charset="0"/>
                <a:ea typeface="Calibri" pitchFamily="34" charset="-122"/>
                <a:cs typeface="Calibri" pitchFamily="34" charset="-120"/>
              </a:rPr>
              <a:t>AI-driven talent matching across 8,500+ active consultants and 1,250+ skills - niche to mainstream.</a:t>
            </a:r>
            <a:endParaRPr lang="en-US" sz="1133">
              <a:latin typeface="Raleway" pitchFamily="2" charset="0"/>
            </a:endParaRPr>
          </a:p>
        </p:txBody>
      </p:sp>
      <p:sp>
        <p:nvSpPr>
          <p:cNvPr id="11" name="Shape 8"/>
          <p:cNvSpPr/>
          <p:nvPr/>
        </p:nvSpPr>
        <p:spPr>
          <a:xfrm>
            <a:off x="3108960" y="1182624"/>
            <a:ext cx="2779776" cy="60960"/>
          </a:xfrm>
          <a:prstGeom prst="rect">
            <a:avLst/>
          </a:prstGeom>
          <a:solidFill>
            <a:srgbClr val="C0392B"/>
          </a:solidFill>
          <a:ln w="12700">
            <a:solidFill>
              <a:srgbClr val="C0392B"/>
            </a:solidFill>
            <a:prstDash val="solid"/>
          </a:ln>
        </p:spPr>
        <p:txBody>
          <a:bodyPr/>
          <a:lstStyle/>
          <a:p>
            <a:endParaRPr lang="en-US" sz="2400"/>
          </a:p>
        </p:txBody>
      </p:sp>
      <p:sp>
        <p:nvSpPr>
          <p:cNvPr id="12" name="Shape 9"/>
          <p:cNvSpPr/>
          <p:nvPr/>
        </p:nvSpPr>
        <p:spPr>
          <a:xfrm>
            <a:off x="3108960" y="1243584"/>
            <a:ext cx="2779776" cy="1889760"/>
          </a:xfrm>
          <a:prstGeom prst="rect">
            <a:avLst/>
          </a:prstGeom>
          <a:solidFill>
            <a:srgbClr val="F9FFFE"/>
          </a:solidFill>
          <a:ln w="6350">
            <a:solidFill>
              <a:srgbClr val="D0ECEA"/>
            </a:solidFill>
            <a:prstDash val="solid"/>
          </a:ln>
          <a:effectLst>
            <a:outerShdw blurRad="63500" dist="25400" dir="8100000" algn="bl" rotWithShape="0">
              <a:srgbClr val="000000">
                <a:alpha val="8000"/>
              </a:srgbClr>
            </a:outerShdw>
          </a:effectLst>
        </p:spPr>
        <p:txBody>
          <a:bodyPr/>
          <a:lstStyle/>
          <a:p>
            <a:endParaRPr lang="en-US" sz="2400"/>
          </a:p>
        </p:txBody>
      </p:sp>
      <p:pic>
        <p:nvPicPr>
          <p:cNvPr id="13" name="Image 1" descr="preencoded.png"/>
          <p:cNvPicPr>
            <a:picLocks noChangeAspect="1"/>
          </p:cNvPicPr>
          <p:nvPr/>
        </p:nvPicPr>
        <p:blipFill>
          <a:blip r:embed="rId4"/>
          <a:stretch>
            <a:fillRect/>
          </a:stretch>
        </p:blipFill>
        <p:spPr>
          <a:xfrm>
            <a:off x="3279648" y="1341120"/>
            <a:ext cx="414528" cy="414528"/>
          </a:xfrm>
          <a:prstGeom prst="rect">
            <a:avLst/>
          </a:prstGeom>
        </p:spPr>
      </p:pic>
      <p:sp>
        <p:nvSpPr>
          <p:cNvPr id="14" name="Text 10"/>
          <p:cNvSpPr/>
          <p:nvPr/>
        </p:nvSpPr>
        <p:spPr>
          <a:xfrm>
            <a:off x="3230880" y="1840992"/>
            <a:ext cx="2535936" cy="329184"/>
          </a:xfrm>
          <a:prstGeom prst="rect">
            <a:avLst/>
          </a:prstGeom>
          <a:noFill/>
          <a:ln/>
        </p:spPr>
        <p:txBody>
          <a:bodyPr wrap="square" lIns="0" tIns="0" rIns="0" bIns="0" rtlCol="0" anchor="ctr"/>
          <a:lstStyle/>
          <a:p>
            <a:r>
              <a:rPr lang="en-US" sz="1467" b="1">
                <a:solidFill>
                  <a:srgbClr val="1A1A2E"/>
                </a:solidFill>
                <a:latin typeface="Oswald" panose="00000500000000000000" pitchFamily="2" charset="0"/>
                <a:ea typeface="Calibri" pitchFamily="34" charset="-122"/>
                <a:cs typeface="Calibri" pitchFamily="34" charset="-120"/>
              </a:rPr>
              <a:t>Human + AI Teams</a:t>
            </a:r>
            <a:endParaRPr lang="en-US" sz="1467">
              <a:latin typeface="Oswald" panose="00000500000000000000" pitchFamily="2" charset="0"/>
            </a:endParaRPr>
          </a:p>
        </p:txBody>
      </p:sp>
      <p:sp>
        <p:nvSpPr>
          <p:cNvPr id="15" name="Text 11"/>
          <p:cNvSpPr/>
          <p:nvPr/>
        </p:nvSpPr>
        <p:spPr>
          <a:xfrm>
            <a:off x="3230880" y="2182368"/>
            <a:ext cx="2535936" cy="853440"/>
          </a:xfrm>
          <a:prstGeom prst="rect">
            <a:avLst/>
          </a:prstGeom>
          <a:noFill/>
          <a:ln/>
        </p:spPr>
        <p:txBody>
          <a:bodyPr wrap="square" lIns="0" tIns="0" rIns="0" bIns="0" rtlCol="0" anchor="ctr"/>
          <a:lstStyle/>
          <a:p>
            <a:pPr>
              <a:lnSpc>
                <a:spcPct val="125000"/>
              </a:lnSpc>
            </a:pPr>
            <a:r>
              <a:rPr lang="en-US" sz="1133">
                <a:solidFill>
                  <a:srgbClr val="555555"/>
                </a:solidFill>
                <a:latin typeface="Raleway" pitchFamily="2" charset="0"/>
                <a:ea typeface="Calibri" pitchFamily="34" charset="-122"/>
                <a:cs typeface="Calibri" pitchFamily="34" charset="-120"/>
              </a:rPr>
              <a:t>Blended delivery with AI productivity tools embedded from Day 1. Capability stacks over role pyramids.</a:t>
            </a:r>
            <a:endParaRPr lang="en-US" sz="1133">
              <a:latin typeface="Raleway" pitchFamily="2" charset="0"/>
            </a:endParaRPr>
          </a:p>
        </p:txBody>
      </p:sp>
      <p:sp>
        <p:nvSpPr>
          <p:cNvPr id="16" name="Shape 12"/>
          <p:cNvSpPr/>
          <p:nvPr/>
        </p:nvSpPr>
        <p:spPr>
          <a:xfrm>
            <a:off x="5998464" y="1182624"/>
            <a:ext cx="2779776" cy="60960"/>
          </a:xfrm>
          <a:prstGeom prst="rect">
            <a:avLst/>
          </a:prstGeom>
          <a:solidFill>
            <a:srgbClr val="0D9488"/>
          </a:solidFill>
          <a:ln w="12700">
            <a:solidFill>
              <a:srgbClr val="0D9488"/>
            </a:solidFill>
            <a:prstDash val="solid"/>
          </a:ln>
        </p:spPr>
        <p:txBody>
          <a:bodyPr/>
          <a:lstStyle/>
          <a:p>
            <a:endParaRPr lang="en-US" sz="2400"/>
          </a:p>
        </p:txBody>
      </p:sp>
      <p:sp>
        <p:nvSpPr>
          <p:cNvPr id="17" name="Shape 13"/>
          <p:cNvSpPr/>
          <p:nvPr/>
        </p:nvSpPr>
        <p:spPr>
          <a:xfrm>
            <a:off x="5998464" y="1243584"/>
            <a:ext cx="2779776" cy="1889760"/>
          </a:xfrm>
          <a:prstGeom prst="rect">
            <a:avLst/>
          </a:prstGeom>
          <a:solidFill>
            <a:srgbClr val="F9FFFE"/>
          </a:solidFill>
          <a:ln w="6350">
            <a:solidFill>
              <a:srgbClr val="D0ECEA"/>
            </a:solidFill>
            <a:prstDash val="solid"/>
          </a:ln>
          <a:effectLst>
            <a:outerShdw blurRad="63500" dist="25400" dir="8100000" algn="bl" rotWithShape="0">
              <a:srgbClr val="000000">
                <a:alpha val="8000"/>
              </a:srgbClr>
            </a:outerShdw>
          </a:effectLst>
        </p:spPr>
        <p:txBody>
          <a:bodyPr/>
          <a:lstStyle/>
          <a:p>
            <a:endParaRPr lang="en-US" sz="2400"/>
          </a:p>
        </p:txBody>
      </p:sp>
      <p:pic>
        <p:nvPicPr>
          <p:cNvPr id="18" name="Image 2" descr="preencoded.png"/>
          <p:cNvPicPr>
            <a:picLocks noChangeAspect="1"/>
          </p:cNvPicPr>
          <p:nvPr/>
        </p:nvPicPr>
        <p:blipFill>
          <a:blip r:embed="rId5"/>
          <a:stretch>
            <a:fillRect/>
          </a:stretch>
        </p:blipFill>
        <p:spPr>
          <a:xfrm>
            <a:off x="6169152" y="1341120"/>
            <a:ext cx="414528" cy="414528"/>
          </a:xfrm>
          <a:prstGeom prst="rect">
            <a:avLst/>
          </a:prstGeom>
        </p:spPr>
      </p:pic>
      <p:sp>
        <p:nvSpPr>
          <p:cNvPr id="19" name="Text 14"/>
          <p:cNvSpPr/>
          <p:nvPr/>
        </p:nvSpPr>
        <p:spPr>
          <a:xfrm>
            <a:off x="6120384" y="1840992"/>
            <a:ext cx="2535936" cy="329184"/>
          </a:xfrm>
          <a:prstGeom prst="rect">
            <a:avLst/>
          </a:prstGeom>
          <a:noFill/>
          <a:ln/>
        </p:spPr>
        <p:txBody>
          <a:bodyPr wrap="square" lIns="0" tIns="0" rIns="0" bIns="0" rtlCol="0" anchor="ctr"/>
          <a:lstStyle/>
          <a:p>
            <a:r>
              <a:rPr lang="en-US" sz="1467" b="1">
                <a:solidFill>
                  <a:srgbClr val="1A1A2E"/>
                </a:solidFill>
                <a:latin typeface="Oswald" panose="00000500000000000000" pitchFamily="2" charset="0"/>
                <a:ea typeface="Calibri" pitchFamily="34" charset="-122"/>
                <a:cs typeface="Calibri" pitchFamily="34" charset="-120"/>
              </a:rPr>
              <a:t>Fully Managed</a:t>
            </a:r>
            <a:endParaRPr lang="en-US" sz="1467">
              <a:latin typeface="Oswald" panose="00000500000000000000" pitchFamily="2" charset="0"/>
            </a:endParaRPr>
          </a:p>
        </p:txBody>
      </p:sp>
      <p:sp>
        <p:nvSpPr>
          <p:cNvPr id="20" name="Text 15"/>
          <p:cNvSpPr/>
          <p:nvPr/>
        </p:nvSpPr>
        <p:spPr>
          <a:xfrm>
            <a:off x="6120384" y="2182368"/>
            <a:ext cx="2535936" cy="853440"/>
          </a:xfrm>
          <a:prstGeom prst="rect">
            <a:avLst/>
          </a:prstGeom>
          <a:noFill/>
          <a:ln/>
        </p:spPr>
        <p:txBody>
          <a:bodyPr wrap="square" lIns="0" tIns="0" rIns="0" bIns="0" rtlCol="0" anchor="ctr"/>
          <a:lstStyle/>
          <a:p>
            <a:pPr>
              <a:lnSpc>
                <a:spcPct val="125000"/>
              </a:lnSpc>
            </a:pPr>
            <a:r>
              <a:rPr lang="en-US" sz="1133">
                <a:solidFill>
                  <a:srgbClr val="555555"/>
                </a:solidFill>
                <a:latin typeface="Raleway" pitchFamily="2" charset="0"/>
                <a:ea typeface="Calibri" pitchFamily="34" charset="-122"/>
                <a:cs typeface="Calibri" pitchFamily="34" charset="-120"/>
              </a:rPr>
              <a:t>J2W owns payroll, compliance, onboarding and HR. Zero admin burden on the client side.</a:t>
            </a:r>
            <a:endParaRPr lang="en-US" sz="1133">
              <a:latin typeface="Raleway" pitchFamily="2" charset="0"/>
            </a:endParaRPr>
          </a:p>
        </p:txBody>
      </p:sp>
      <p:sp>
        <p:nvSpPr>
          <p:cNvPr id="21" name="Shape 16"/>
          <p:cNvSpPr/>
          <p:nvPr/>
        </p:nvSpPr>
        <p:spPr>
          <a:xfrm>
            <a:off x="8887968" y="1182624"/>
            <a:ext cx="2779776" cy="60960"/>
          </a:xfrm>
          <a:prstGeom prst="rect">
            <a:avLst/>
          </a:prstGeom>
          <a:solidFill>
            <a:srgbClr val="C0392B"/>
          </a:solidFill>
          <a:ln w="12700">
            <a:solidFill>
              <a:srgbClr val="C0392B"/>
            </a:solidFill>
            <a:prstDash val="solid"/>
          </a:ln>
        </p:spPr>
        <p:txBody>
          <a:bodyPr/>
          <a:lstStyle/>
          <a:p>
            <a:endParaRPr lang="en-US" sz="2400"/>
          </a:p>
        </p:txBody>
      </p:sp>
      <p:sp>
        <p:nvSpPr>
          <p:cNvPr id="22" name="Shape 17"/>
          <p:cNvSpPr/>
          <p:nvPr/>
        </p:nvSpPr>
        <p:spPr>
          <a:xfrm>
            <a:off x="8887968" y="1243584"/>
            <a:ext cx="2779776" cy="1889760"/>
          </a:xfrm>
          <a:prstGeom prst="rect">
            <a:avLst/>
          </a:prstGeom>
          <a:solidFill>
            <a:srgbClr val="F9FFFE"/>
          </a:solidFill>
          <a:ln w="6350">
            <a:solidFill>
              <a:srgbClr val="D0ECEA"/>
            </a:solidFill>
            <a:prstDash val="solid"/>
          </a:ln>
          <a:effectLst>
            <a:outerShdw blurRad="63500" dist="25400" dir="8100000" algn="bl" rotWithShape="0">
              <a:srgbClr val="000000">
                <a:alpha val="8000"/>
              </a:srgbClr>
            </a:outerShdw>
          </a:effectLst>
        </p:spPr>
        <p:txBody>
          <a:bodyPr/>
          <a:lstStyle/>
          <a:p>
            <a:endParaRPr lang="en-US" sz="2400"/>
          </a:p>
        </p:txBody>
      </p:sp>
      <p:pic>
        <p:nvPicPr>
          <p:cNvPr id="23" name="Image 3" descr="preencoded.png"/>
          <p:cNvPicPr>
            <a:picLocks noChangeAspect="1"/>
          </p:cNvPicPr>
          <p:nvPr/>
        </p:nvPicPr>
        <p:blipFill>
          <a:blip r:embed="rId6"/>
          <a:stretch>
            <a:fillRect/>
          </a:stretch>
        </p:blipFill>
        <p:spPr>
          <a:xfrm>
            <a:off x="9058656" y="1341120"/>
            <a:ext cx="414528" cy="414528"/>
          </a:xfrm>
          <a:prstGeom prst="rect">
            <a:avLst/>
          </a:prstGeom>
        </p:spPr>
      </p:pic>
      <p:sp>
        <p:nvSpPr>
          <p:cNvPr id="24" name="Text 18"/>
          <p:cNvSpPr/>
          <p:nvPr/>
        </p:nvSpPr>
        <p:spPr>
          <a:xfrm>
            <a:off x="9009888" y="1840992"/>
            <a:ext cx="2535936" cy="329184"/>
          </a:xfrm>
          <a:prstGeom prst="rect">
            <a:avLst/>
          </a:prstGeom>
          <a:noFill/>
          <a:ln/>
        </p:spPr>
        <p:txBody>
          <a:bodyPr wrap="square" lIns="0" tIns="0" rIns="0" bIns="0" rtlCol="0" anchor="ctr"/>
          <a:lstStyle/>
          <a:p>
            <a:r>
              <a:rPr lang="en-US" sz="1467" b="1">
                <a:solidFill>
                  <a:srgbClr val="1A1A2E"/>
                </a:solidFill>
                <a:latin typeface="Oswald" panose="00000500000000000000" pitchFamily="2" charset="0"/>
                <a:ea typeface="Calibri" pitchFamily="34" charset="-122"/>
                <a:cs typeface="Calibri" pitchFamily="34" charset="-120"/>
              </a:rPr>
              <a:t>AI-First L&amp;D</a:t>
            </a:r>
            <a:endParaRPr lang="en-US" sz="1467">
              <a:latin typeface="Oswald" panose="00000500000000000000" pitchFamily="2" charset="0"/>
            </a:endParaRPr>
          </a:p>
        </p:txBody>
      </p:sp>
      <p:sp>
        <p:nvSpPr>
          <p:cNvPr id="25" name="Text 19"/>
          <p:cNvSpPr/>
          <p:nvPr/>
        </p:nvSpPr>
        <p:spPr>
          <a:xfrm>
            <a:off x="9009888" y="2182368"/>
            <a:ext cx="2535936" cy="853440"/>
          </a:xfrm>
          <a:prstGeom prst="rect">
            <a:avLst/>
          </a:prstGeom>
          <a:noFill/>
          <a:ln/>
        </p:spPr>
        <p:txBody>
          <a:bodyPr wrap="square" lIns="0" tIns="0" rIns="0" bIns="0" rtlCol="0" anchor="ctr"/>
          <a:lstStyle/>
          <a:p>
            <a:pPr>
              <a:lnSpc>
                <a:spcPct val="125000"/>
              </a:lnSpc>
            </a:pPr>
            <a:r>
              <a:rPr lang="en-US" sz="1133">
                <a:solidFill>
                  <a:srgbClr val="555555"/>
                </a:solidFill>
                <a:latin typeface="Raleway" pitchFamily="2" charset="0"/>
                <a:ea typeface="Calibri" pitchFamily="34" charset="-122"/>
                <a:cs typeface="Calibri" pitchFamily="34" charset="-120"/>
              </a:rPr>
              <a:t>Continuous upskilling via J2W </a:t>
            </a:r>
            <a:r>
              <a:rPr lang="en-US" sz="1133" err="1">
                <a:solidFill>
                  <a:srgbClr val="555555"/>
                </a:solidFill>
                <a:latin typeface="Raleway" pitchFamily="2" charset="0"/>
                <a:ea typeface="Calibri" pitchFamily="34" charset="-122"/>
                <a:cs typeface="Calibri" pitchFamily="34" charset="-120"/>
              </a:rPr>
              <a:t>CoE</a:t>
            </a:r>
            <a:r>
              <a:rPr lang="en-US" sz="1133">
                <a:solidFill>
                  <a:srgbClr val="555555"/>
                </a:solidFill>
                <a:latin typeface="Raleway" pitchFamily="2" charset="0"/>
                <a:ea typeface="Calibri" pitchFamily="34" charset="-122"/>
                <a:cs typeface="Calibri" pitchFamily="34" charset="-120"/>
              </a:rPr>
              <a:t> - contextual, hands-on AI training powered by Research Wing.</a:t>
            </a:r>
            <a:endParaRPr lang="en-US" sz="1133">
              <a:latin typeface="Raleway" pitchFamily="2" charset="0"/>
            </a:endParaRPr>
          </a:p>
        </p:txBody>
      </p:sp>
      <p:sp>
        <p:nvSpPr>
          <p:cNvPr id="26" name="Text 20"/>
          <p:cNvSpPr/>
          <p:nvPr/>
        </p:nvSpPr>
        <p:spPr>
          <a:xfrm>
            <a:off x="341376" y="3291840"/>
            <a:ext cx="2560320" cy="390144"/>
          </a:xfrm>
          <a:prstGeom prst="rect">
            <a:avLst/>
          </a:prstGeom>
          <a:noFill/>
          <a:ln/>
        </p:spPr>
        <p:txBody>
          <a:bodyPr wrap="square" lIns="0" tIns="0" rIns="0" bIns="0" rtlCol="0" anchor="ctr"/>
          <a:lstStyle/>
          <a:p>
            <a:r>
              <a:rPr lang="en-US" sz="1267" b="1">
                <a:solidFill>
                  <a:srgbClr val="0D9488"/>
                </a:solidFill>
                <a:latin typeface="Raleway" pitchFamily="2" charset="0"/>
                <a:ea typeface="Calibri" pitchFamily="34" charset="-122"/>
                <a:cs typeface="Calibri" pitchFamily="34" charset="-120"/>
              </a:rPr>
              <a:t>Dimension</a:t>
            </a:r>
            <a:endParaRPr lang="en-US" sz="1267">
              <a:latin typeface="Raleway" pitchFamily="2" charset="0"/>
            </a:endParaRPr>
          </a:p>
        </p:txBody>
      </p:sp>
      <p:sp>
        <p:nvSpPr>
          <p:cNvPr id="27" name="Text 21"/>
          <p:cNvSpPr/>
          <p:nvPr/>
        </p:nvSpPr>
        <p:spPr>
          <a:xfrm>
            <a:off x="2901696" y="3291840"/>
            <a:ext cx="4023360" cy="390144"/>
          </a:xfrm>
          <a:prstGeom prst="rect">
            <a:avLst/>
          </a:prstGeom>
          <a:noFill/>
          <a:ln/>
        </p:spPr>
        <p:txBody>
          <a:bodyPr wrap="square" lIns="0" tIns="0" rIns="0" bIns="0" rtlCol="0" anchor="ctr"/>
          <a:lstStyle/>
          <a:p>
            <a:r>
              <a:rPr lang="en-US" sz="1267" b="1">
                <a:solidFill>
                  <a:srgbClr val="0D9488"/>
                </a:solidFill>
                <a:latin typeface="Raleway" pitchFamily="2" charset="0"/>
                <a:ea typeface="Calibri" pitchFamily="34" charset="-122"/>
                <a:cs typeface="Calibri" pitchFamily="34" charset="-120"/>
              </a:rPr>
              <a:t>Traditional Staffing</a:t>
            </a:r>
            <a:endParaRPr lang="en-US" sz="1267">
              <a:latin typeface="Raleway" pitchFamily="2" charset="0"/>
            </a:endParaRPr>
          </a:p>
        </p:txBody>
      </p:sp>
      <p:sp>
        <p:nvSpPr>
          <p:cNvPr id="28" name="Text 22"/>
          <p:cNvSpPr/>
          <p:nvPr/>
        </p:nvSpPr>
        <p:spPr>
          <a:xfrm>
            <a:off x="6925056" y="3291840"/>
            <a:ext cx="4949952" cy="390144"/>
          </a:xfrm>
          <a:prstGeom prst="rect">
            <a:avLst/>
          </a:prstGeom>
          <a:noFill/>
          <a:ln/>
        </p:spPr>
        <p:txBody>
          <a:bodyPr wrap="square" lIns="0" tIns="0" rIns="0" bIns="0" rtlCol="0" anchor="ctr"/>
          <a:lstStyle/>
          <a:p>
            <a:r>
              <a:rPr lang="en-US" sz="1267" b="1">
                <a:solidFill>
                  <a:srgbClr val="0D9488"/>
                </a:solidFill>
                <a:latin typeface="Raleway" pitchFamily="2" charset="0"/>
                <a:ea typeface="Calibri" pitchFamily="34" charset="-122"/>
                <a:cs typeface="Calibri" pitchFamily="34" charset="-120"/>
              </a:rPr>
              <a:t>J2W Workforce</a:t>
            </a:r>
            <a:endParaRPr lang="en-US" sz="1267">
              <a:latin typeface="Raleway" pitchFamily="2" charset="0"/>
            </a:endParaRPr>
          </a:p>
        </p:txBody>
      </p:sp>
      <p:sp>
        <p:nvSpPr>
          <p:cNvPr id="29" name="Shape 23"/>
          <p:cNvSpPr/>
          <p:nvPr/>
        </p:nvSpPr>
        <p:spPr>
          <a:xfrm>
            <a:off x="219456" y="3681984"/>
            <a:ext cx="11533632" cy="0"/>
          </a:xfrm>
          <a:prstGeom prst="line">
            <a:avLst/>
          </a:prstGeom>
          <a:noFill/>
          <a:ln w="9525">
            <a:solidFill>
              <a:srgbClr val="0D9488"/>
            </a:solidFill>
            <a:prstDash val="solid"/>
          </a:ln>
        </p:spPr>
        <p:txBody>
          <a:bodyPr/>
          <a:lstStyle/>
          <a:p>
            <a:endParaRPr lang="en-US" sz="2400"/>
          </a:p>
        </p:txBody>
      </p:sp>
      <p:sp>
        <p:nvSpPr>
          <p:cNvPr id="30" name="Shape 24"/>
          <p:cNvSpPr/>
          <p:nvPr/>
        </p:nvSpPr>
        <p:spPr>
          <a:xfrm>
            <a:off x="219456" y="3681984"/>
            <a:ext cx="11533632" cy="432816"/>
          </a:xfrm>
          <a:prstGeom prst="rect">
            <a:avLst/>
          </a:prstGeom>
          <a:solidFill>
            <a:srgbClr val="FFFFFF"/>
          </a:solidFill>
          <a:ln w="6350">
            <a:solidFill>
              <a:srgbClr val="E2F0EF"/>
            </a:solidFill>
            <a:prstDash val="solid"/>
          </a:ln>
        </p:spPr>
        <p:txBody>
          <a:bodyPr/>
          <a:lstStyle/>
          <a:p>
            <a:endParaRPr lang="en-US" sz="2400"/>
          </a:p>
        </p:txBody>
      </p:sp>
      <p:sp>
        <p:nvSpPr>
          <p:cNvPr id="31" name="Text 25"/>
          <p:cNvSpPr/>
          <p:nvPr/>
        </p:nvSpPr>
        <p:spPr>
          <a:xfrm>
            <a:off x="341376" y="3730752"/>
            <a:ext cx="2377440" cy="335280"/>
          </a:xfrm>
          <a:prstGeom prst="rect">
            <a:avLst/>
          </a:prstGeom>
          <a:noFill/>
          <a:ln/>
        </p:spPr>
        <p:txBody>
          <a:bodyPr wrap="square" lIns="0" tIns="0" rIns="0" bIns="0" rtlCol="0" anchor="ctr"/>
          <a:lstStyle/>
          <a:p>
            <a:r>
              <a:rPr lang="en-US" sz="1267" b="1">
                <a:solidFill>
                  <a:srgbClr val="1A1A2E"/>
                </a:solidFill>
                <a:latin typeface="Raleway" pitchFamily="2" charset="0"/>
                <a:ea typeface="Calibri" pitchFamily="34" charset="-122"/>
                <a:cs typeface="Calibri" pitchFamily="34" charset="-120"/>
              </a:rPr>
              <a:t>Speed to Deploy</a:t>
            </a:r>
            <a:endParaRPr lang="en-US" sz="1267">
              <a:latin typeface="Raleway" pitchFamily="2" charset="0"/>
            </a:endParaRPr>
          </a:p>
        </p:txBody>
      </p:sp>
      <p:sp>
        <p:nvSpPr>
          <p:cNvPr id="32" name="Text 26"/>
          <p:cNvSpPr/>
          <p:nvPr/>
        </p:nvSpPr>
        <p:spPr>
          <a:xfrm>
            <a:off x="2901696" y="3730752"/>
            <a:ext cx="3840480" cy="335280"/>
          </a:xfrm>
          <a:prstGeom prst="rect">
            <a:avLst/>
          </a:prstGeom>
          <a:noFill/>
          <a:ln/>
        </p:spPr>
        <p:txBody>
          <a:bodyPr wrap="square" lIns="0" tIns="0" rIns="0" bIns="0" rtlCol="0" anchor="ctr"/>
          <a:lstStyle/>
          <a:p>
            <a:r>
              <a:rPr lang="en-US" sz="1267">
                <a:solidFill>
                  <a:srgbClr val="888888"/>
                </a:solidFill>
                <a:latin typeface="Raleway" pitchFamily="2" charset="0"/>
                <a:ea typeface="Calibri" pitchFamily="34" charset="-122"/>
                <a:cs typeface="Calibri" pitchFamily="34" charset="-120"/>
              </a:rPr>
              <a:t>Weeks to months</a:t>
            </a:r>
            <a:endParaRPr lang="en-US" sz="1267">
              <a:latin typeface="Raleway" pitchFamily="2" charset="0"/>
            </a:endParaRPr>
          </a:p>
        </p:txBody>
      </p:sp>
      <p:pic>
        <p:nvPicPr>
          <p:cNvPr id="33" name="Image 4" descr="preencoded.png"/>
          <p:cNvPicPr>
            <a:picLocks noChangeAspect="1"/>
          </p:cNvPicPr>
          <p:nvPr/>
        </p:nvPicPr>
        <p:blipFill>
          <a:blip r:embed="rId7"/>
          <a:stretch>
            <a:fillRect/>
          </a:stretch>
        </p:blipFill>
        <p:spPr>
          <a:xfrm>
            <a:off x="6900672" y="3791712"/>
            <a:ext cx="219456" cy="219456"/>
          </a:xfrm>
          <a:prstGeom prst="rect">
            <a:avLst/>
          </a:prstGeom>
        </p:spPr>
      </p:pic>
      <p:sp>
        <p:nvSpPr>
          <p:cNvPr id="34" name="Text 27"/>
          <p:cNvSpPr/>
          <p:nvPr/>
        </p:nvSpPr>
        <p:spPr>
          <a:xfrm>
            <a:off x="7193280" y="3730752"/>
            <a:ext cx="4437888" cy="335280"/>
          </a:xfrm>
          <a:prstGeom prst="rect">
            <a:avLst/>
          </a:prstGeom>
          <a:noFill/>
          <a:ln/>
        </p:spPr>
        <p:txBody>
          <a:bodyPr wrap="square" lIns="0" tIns="0" rIns="0" bIns="0" rtlCol="0" anchor="ctr"/>
          <a:lstStyle/>
          <a:p>
            <a:r>
              <a:rPr lang="en-US" sz="1267" b="1">
                <a:solidFill>
                  <a:srgbClr val="0D9488"/>
                </a:solidFill>
                <a:latin typeface="Raleway" pitchFamily="2" charset="0"/>
                <a:ea typeface="Calibri" pitchFamily="34" charset="-122"/>
                <a:cs typeface="Calibri" pitchFamily="34" charset="-120"/>
              </a:rPr>
              <a:t>1 engineer onboarded per hour</a:t>
            </a:r>
            <a:endParaRPr lang="en-US" sz="1267">
              <a:latin typeface="Raleway" pitchFamily="2" charset="0"/>
            </a:endParaRPr>
          </a:p>
        </p:txBody>
      </p:sp>
      <p:sp>
        <p:nvSpPr>
          <p:cNvPr id="35" name="Shape 28"/>
          <p:cNvSpPr/>
          <p:nvPr/>
        </p:nvSpPr>
        <p:spPr>
          <a:xfrm>
            <a:off x="219456" y="4114800"/>
            <a:ext cx="11533632" cy="432816"/>
          </a:xfrm>
          <a:prstGeom prst="rect">
            <a:avLst/>
          </a:prstGeom>
          <a:solidFill>
            <a:srgbClr val="F0FAFA"/>
          </a:solidFill>
          <a:ln w="6350">
            <a:solidFill>
              <a:srgbClr val="E2F0EF"/>
            </a:solidFill>
            <a:prstDash val="solid"/>
          </a:ln>
        </p:spPr>
        <p:txBody>
          <a:bodyPr/>
          <a:lstStyle/>
          <a:p>
            <a:endParaRPr lang="en-US" sz="2400"/>
          </a:p>
        </p:txBody>
      </p:sp>
      <p:sp>
        <p:nvSpPr>
          <p:cNvPr id="36" name="Text 29"/>
          <p:cNvSpPr/>
          <p:nvPr/>
        </p:nvSpPr>
        <p:spPr>
          <a:xfrm>
            <a:off x="341376" y="4163568"/>
            <a:ext cx="2377440" cy="335280"/>
          </a:xfrm>
          <a:prstGeom prst="rect">
            <a:avLst/>
          </a:prstGeom>
          <a:noFill/>
          <a:ln/>
        </p:spPr>
        <p:txBody>
          <a:bodyPr wrap="square" lIns="0" tIns="0" rIns="0" bIns="0" rtlCol="0" anchor="ctr"/>
          <a:lstStyle/>
          <a:p>
            <a:r>
              <a:rPr lang="en-US" sz="1267" b="1">
                <a:solidFill>
                  <a:srgbClr val="1A1A2E"/>
                </a:solidFill>
                <a:latin typeface="Raleway" pitchFamily="2" charset="0"/>
                <a:ea typeface="Calibri" pitchFamily="34" charset="-122"/>
                <a:cs typeface="Calibri" pitchFamily="34" charset="-120"/>
              </a:rPr>
              <a:t>Team Composition</a:t>
            </a:r>
            <a:endParaRPr lang="en-US" sz="1267">
              <a:latin typeface="Raleway" pitchFamily="2" charset="0"/>
            </a:endParaRPr>
          </a:p>
        </p:txBody>
      </p:sp>
      <p:sp>
        <p:nvSpPr>
          <p:cNvPr id="37" name="Text 30"/>
          <p:cNvSpPr/>
          <p:nvPr/>
        </p:nvSpPr>
        <p:spPr>
          <a:xfrm>
            <a:off x="2901696" y="4163568"/>
            <a:ext cx="3840480" cy="335280"/>
          </a:xfrm>
          <a:prstGeom prst="rect">
            <a:avLst/>
          </a:prstGeom>
          <a:noFill/>
          <a:ln/>
        </p:spPr>
        <p:txBody>
          <a:bodyPr wrap="square" lIns="0" tIns="0" rIns="0" bIns="0" rtlCol="0" anchor="ctr"/>
          <a:lstStyle/>
          <a:p>
            <a:r>
              <a:rPr lang="en-US" sz="1267">
                <a:solidFill>
                  <a:srgbClr val="888888"/>
                </a:solidFill>
                <a:latin typeface="Raleway" pitchFamily="2" charset="0"/>
                <a:ea typeface="Calibri" pitchFamily="34" charset="-122"/>
                <a:cs typeface="Calibri" pitchFamily="34" charset="-120"/>
              </a:rPr>
              <a:t>Single-role profile deployments</a:t>
            </a:r>
            <a:endParaRPr lang="en-US" sz="1267">
              <a:latin typeface="Raleway" pitchFamily="2" charset="0"/>
            </a:endParaRPr>
          </a:p>
        </p:txBody>
      </p:sp>
      <p:pic>
        <p:nvPicPr>
          <p:cNvPr id="38" name="Image 5" descr="preencoded.png"/>
          <p:cNvPicPr>
            <a:picLocks noChangeAspect="1"/>
          </p:cNvPicPr>
          <p:nvPr/>
        </p:nvPicPr>
        <p:blipFill>
          <a:blip r:embed="rId7"/>
          <a:stretch>
            <a:fillRect/>
          </a:stretch>
        </p:blipFill>
        <p:spPr>
          <a:xfrm>
            <a:off x="6900672" y="4224528"/>
            <a:ext cx="219456" cy="219456"/>
          </a:xfrm>
          <a:prstGeom prst="rect">
            <a:avLst/>
          </a:prstGeom>
        </p:spPr>
      </p:pic>
      <p:sp>
        <p:nvSpPr>
          <p:cNvPr id="39" name="Text 31"/>
          <p:cNvSpPr/>
          <p:nvPr/>
        </p:nvSpPr>
        <p:spPr>
          <a:xfrm>
            <a:off x="7193280" y="4163568"/>
            <a:ext cx="4437888" cy="335280"/>
          </a:xfrm>
          <a:prstGeom prst="rect">
            <a:avLst/>
          </a:prstGeom>
          <a:noFill/>
          <a:ln/>
        </p:spPr>
        <p:txBody>
          <a:bodyPr wrap="square" lIns="0" tIns="0" rIns="0" bIns="0" rtlCol="0" anchor="ctr"/>
          <a:lstStyle/>
          <a:p>
            <a:r>
              <a:rPr lang="en-US" sz="1267" b="1">
                <a:solidFill>
                  <a:srgbClr val="0D9488"/>
                </a:solidFill>
                <a:latin typeface="Raleway" pitchFamily="2" charset="0"/>
                <a:ea typeface="Calibri" pitchFamily="34" charset="-122"/>
                <a:cs typeface="Calibri" pitchFamily="34" charset="-120"/>
              </a:rPr>
              <a:t>Human + AI blended capability stacks</a:t>
            </a:r>
            <a:endParaRPr lang="en-US" sz="1267">
              <a:latin typeface="Raleway" pitchFamily="2" charset="0"/>
            </a:endParaRPr>
          </a:p>
        </p:txBody>
      </p:sp>
      <p:sp>
        <p:nvSpPr>
          <p:cNvPr id="40" name="Shape 32"/>
          <p:cNvSpPr/>
          <p:nvPr/>
        </p:nvSpPr>
        <p:spPr>
          <a:xfrm>
            <a:off x="219456" y="4547616"/>
            <a:ext cx="11533632" cy="432816"/>
          </a:xfrm>
          <a:prstGeom prst="rect">
            <a:avLst/>
          </a:prstGeom>
          <a:solidFill>
            <a:srgbClr val="FFFFFF"/>
          </a:solidFill>
          <a:ln w="6350">
            <a:solidFill>
              <a:srgbClr val="E2F0EF"/>
            </a:solidFill>
            <a:prstDash val="solid"/>
          </a:ln>
        </p:spPr>
        <p:txBody>
          <a:bodyPr/>
          <a:lstStyle/>
          <a:p>
            <a:endParaRPr lang="en-US" sz="2400"/>
          </a:p>
        </p:txBody>
      </p:sp>
      <p:sp>
        <p:nvSpPr>
          <p:cNvPr id="41" name="Text 33"/>
          <p:cNvSpPr/>
          <p:nvPr/>
        </p:nvSpPr>
        <p:spPr>
          <a:xfrm>
            <a:off x="341376" y="4596384"/>
            <a:ext cx="2377440" cy="335280"/>
          </a:xfrm>
          <a:prstGeom prst="rect">
            <a:avLst/>
          </a:prstGeom>
          <a:noFill/>
          <a:ln/>
        </p:spPr>
        <p:txBody>
          <a:bodyPr wrap="square" lIns="0" tIns="0" rIns="0" bIns="0" rtlCol="0" anchor="ctr"/>
          <a:lstStyle/>
          <a:p>
            <a:r>
              <a:rPr lang="en-US" sz="1267" b="1">
                <a:solidFill>
                  <a:srgbClr val="1A1A2E"/>
                </a:solidFill>
                <a:latin typeface="Raleway" pitchFamily="2" charset="0"/>
                <a:ea typeface="Calibri" pitchFamily="34" charset="-122"/>
                <a:cs typeface="Calibri" pitchFamily="34" charset="-120"/>
              </a:rPr>
              <a:t>Governance</a:t>
            </a:r>
            <a:endParaRPr lang="en-US" sz="1267">
              <a:latin typeface="Raleway" pitchFamily="2" charset="0"/>
            </a:endParaRPr>
          </a:p>
        </p:txBody>
      </p:sp>
      <p:sp>
        <p:nvSpPr>
          <p:cNvPr id="42" name="Text 34"/>
          <p:cNvSpPr/>
          <p:nvPr/>
        </p:nvSpPr>
        <p:spPr>
          <a:xfrm>
            <a:off x="2901696" y="4596384"/>
            <a:ext cx="3840480" cy="335280"/>
          </a:xfrm>
          <a:prstGeom prst="rect">
            <a:avLst/>
          </a:prstGeom>
          <a:noFill/>
          <a:ln/>
        </p:spPr>
        <p:txBody>
          <a:bodyPr wrap="square" lIns="0" tIns="0" rIns="0" bIns="0" rtlCol="0" anchor="ctr"/>
          <a:lstStyle/>
          <a:p>
            <a:r>
              <a:rPr lang="en-US" sz="1267">
                <a:solidFill>
                  <a:srgbClr val="888888"/>
                </a:solidFill>
                <a:latin typeface="Raleway" pitchFamily="2" charset="0"/>
                <a:ea typeface="Calibri" pitchFamily="34" charset="-122"/>
                <a:cs typeface="Calibri" pitchFamily="34" charset="-120"/>
              </a:rPr>
              <a:t>Client's burden</a:t>
            </a:r>
            <a:endParaRPr lang="en-US" sz="1267">
              <a:latin typeface="Raleway" pitchFamily="2" charset="0"/>
            </a:endParaRPr>
          </a:p>
        </p:txBody>
      </p:sp>
      <p:pic>
        <p:nvPicPr>
          <p:cNvPr id="43" name="Image 6" descr="preencoded.png"/>
          <p:cNvPicPr>
            <a:picLocks noChangeAspect="1"/>
          </p:cNvPicPr>
          <p:nvPr/>
        </p:nvPicPr>
        <p:blipFill>
          <a:blip r:embed="rId7"/>
          <a:stretch>
            <a:fillRect/>
          </a:stretch>
        </p:blipFill>
        <p:spPr>
          <a:xfrm>
            <a:off x="6900672" y="4657344"/>
            <a:ext cx="219456" cy="219456"/>
          </a:xfrm>
          <a:prstGeom prst="rect">
            <a:avLst/>
          </a:prstGeom>
        </p:spPr>
      </p:pic>
      <p:sp>
        <p:nvSpPr>
          <p:cNvPr id="44" name="Text 35"/>
          <p:cNvSpPr/>
          <p:nvPr/>
        </p:nvSpPr>
        <p:spPr>
          <a:xfrm>
            <a:off x="7193280" y="4596384"/>
            <a:ext cx="4437888" cy="335280"/>
          </a:xfrm>
          <a:prstGeom prst="rect">
            <a:avLst/>
          </a:prstGeom>
          <a:noFill/>
          <a:ln/>
        </p:spPr>
        <p:txBody>
          <a:bodyPr wrap="square" lIns="0" tIns="0" rIns="0" bIns="0" rtlCol="0" anchor="ctr"/>
          <a:lstStyle/>
          <a:p>
            <a:r>
              <a:rPr lang="en-US" sz="1267" b="1">
                <a:solidFill>
                  <a:srgbClr val="0D9488"/>
                </a:solidFill>
                <a:latin typeface="Raleway" pitchFamily="2" charset="0"/>
                <a:ea typeface="Calibri" pitchFamily="34" charset="-122"/>
                <a:cs typeface="Calibri" pitchFamily="34" charset="-120"/>
              </a:rPr>
              <a:t>J2W-owned - HRBP implant at every site</a:t>
            </a:r>
            <a:endParaRPr lang="en-US" sz="1267">
              <a:latin typeface="Raleway" pitchFamily="2" charset="0"/>
            </a:endParaRPr>
          </a:p>
        </p:txBody>
      </p:sp>
      <p:sp>
        <p:nvSpPr>
          <p:cNvPr id="45" name="Shape 36"/>
          <p:cNvSpPr/>
          <p:nvPr/>
        </p:nvSpPr>
        <p:spPr>
          <a:xfrm>
            <a:off x="219456" y="4980432"/>
            <a:ext cx="11533632" cy="432816"/>
          </a:xfrm>
          <a:prstGeom prst="rect">
            <a:avLst/>
          </a:prstGeom>
          <a:solidFill>
            <a:srgbClr val="F0FAFA"/>
          </a:solidFill>
          <a:ln w="6350">
            <a:solidFill>
              <a:srgbClr val="E2F0EF"/>
            </a:solidFill>
            <a:prstDash val="solid"/>
          </a:ln>
        </p:spPr>
        <p:txBody>
          <a:bodyPr/>
          <a:lstStyle/>
          <a:p>
            <a:endParaRPr lang="en-US" sz="2400"/>
          </a:p>
        </p:txBody>
      </p:sp>
      <p:sp>
        <p:nvSpPr>
          <p:cNvPr id="46" name="Text 37"/>
          <p:cNvSpPr/>
          <p:nvPr/>
        </p:nvSpPr>
        <p:spPr>
          <a:xfrm>
            <a:off x="341376" y="5029200"/>
            <a:ext cx="2377440" cy="335280"/>
          </a:xfrm>
          <a:prstGeom prst="rect">
            <a:avLst/>
          </a:prstGeom>
          <a:noFill/>
          <a:ln/>
        </p:spPr>
        <p:txBody>
          <a:bodyPr wrap="square" lIns="0" tIns="0" rIns="0" bIns="0" rtlCol="0" anchor="ctr"/>
          <a:lstStyle/>
          <a:p>
            <a:r>
              <a:rPr lang="en-US" sz="1267" b="1">
                <a:solidFill>
                  <a:srgbClr val="1A1A2E"/>
                </a:solidFill>
                <a:latin typeface="Raleway" pitchFamily="2" charset="0"/>
                <a:ea typeface="Calibri" pitchFamily="34" charset="-122"/>
                <a:cs typeface="Calibri" pitchFamily="34" charset="-120"/>
              </a:rPr>
              <a:t>Performance Issues</a:t>
            </a:r>
            <a:endParaRPr lang="en-US" sz="1267">
              <a:latin typeface="Raleway" pitchFamily="2" charset="0"/>
            </a:endParaRPr>
          </a:p>
        </p:txBody>
      </p:sp>
      <p:sp>
        <p:nvSpPr>
          <p:cNvPr id="47" name="Text 38"/>
          <p:cNvSpPr/>
          <p:nvPr/>
        </p:nvSpPr>
        <p:spPr>
          <a:xfrm>
            <a:off x="2901696" y="5029200"/>
            <a:ext cx="3840480" cy="335280"/>
          </a:xfrm>
          <a:prstGeom prst="rect">
            <a:avLst/>
          </a:prstGeom>
          <a:noFill/>
          <a:ln/>
        </p:spPr>
        <p:txBody>
          <a:bodyPr wrap="square" lIns="0" tIns="0" rIns="0" bIns="0" rtlCol="0" anchor="ctr"/>
          <a:lstStyle/>
          <a:p>
            <a:r>
              <a:rPr lang="en-US" sz="1267">
                <a:solidFill>
                  <a:srgbClr val="888888"/>
                </a:solidFill>
                <a:latin typeface="Raleway" pitchFamily="2" charset="0"/>
                <a:ea typeface="Calibri" pitchFamily="34" charset="-122"/>
                <a:cs typeface="Calibri" pitchFamily="34" charset="-120"/>
              </a:rPr>
              <a:t>Escalation after the fact</a:t>
            </a:r>
            <a:endParaRPr lang="en-US" sz="1267">
              <a:latin typeface="Raleway" pitchFamily="2" charset="0"/>
            </a:endParaRPr>
          </a:p>
        </p:txBody>
      </p:sp>
      <p:pic>
        <p:nvPicPr>
          <p:cNvPr id="48" name="Image 7" descr="preencoded.png"/>
          <p:cNvPicPr>
            <a:picLocks noChangeAspect="1"/>
          </p:cNvPicPr>
          <p:nvPr/>
        </p:nvPicPr>
        <p:blipFill>
          <a:blip r:embed="rId7"/>
          <a:stretch>
            <a:fillRect/>
          </a:stretch>
        </p:blipFill>
        <p:spPr>
          <a:xfrm>
            <a:off x="6900672" y="5090160"/>
            <a:ext cx="219456" cy="219456"/>
          </a:xfrm>
          <a:prstGeom prst="rect">
            <a:avLst/>
          </a:prstGeom>
        </p:spPr>
      </p:pic>
      <p:sp>
        <p:nvSpPr>
          <p:cNvPr id="49" name="Text 39"/>
          <p:cNvSpPr/>
          <p:nvPr/>
        </p:nvSpPr>
        <p:spPr>
          <a:xfrm>
            <a:off x="7193280" y="5029200"/>
            <a:ext cx="4437888" cy="335280"/>
          </a:xfrm>
          <a:prstGeom prst="rect">
            <a:avLst/>
          </a:prstGeom>
          <a:noFill/>
          <a:ln/>
        </p:spPr>
        <p:txBody>
          <a:bodyPr wrap="square" lIns="0" tIns="0" rIns="0" bIns="0" rtlCol="0" anchor="ctr"/>
          <a:lstStyle/>
          <a:p>
            <a:r>
              <a:rPr lang="en-US" sz="1267" b="1">
                <a:solidFill>
                  <a:srgbClr val="0D9488"/>
                </a:solidFill>
                <a:latin typeface="Raleway" pitchFamily="2" charset="0"/>
                <a:ea typeface="Calibri" pitchFamily="34" charset="-122"/>
                <a:cs typeface="Calibri" pitchFamily="34" charset="-120"/>
              </a:rPr>
              <a:t>Proactive monitoring &amp; intervention</a:t>
            </a:r>
            <a:endParaRPr lang="en-US" sz="1267">
              <a:latin typeface="Raleway" pitchFamily="2" charset="0"/>
            </a:endParaRPr>
          </a:p>
        </p:txBody>
      </p:sp>
      <p:sp>
        <p:nvSpPr>
          <p:cNvPr id="50" name="Shape 40"/>
          <p:cNvSpPr/>
          <p:nvPr/>
        </p:nvSpPr>
        <p:spPr>
          <a:xfrm>
            <a:off x="219456" y="5413248"/>
            <a:ext cx="11533632" cy="432816"/>
          </a:xfrm>
          <a:prstGeom prst="rect">
            <a:avLst/>
          </a:prstGeom>
          <a:solidFill>
            <a:srgbClr val="FFFFFF"/>
          </a:solidFill>
          <a:ln w="6350">
            <a:solidFill>
              <a:srgbClr val="E2F0EF"/>
            </a:solidFill>
            <a:prstDash val="solid"/>
          </a:ln>
        </p:spPr>
        <p:txBody>
          <a:bodyPr/>
          <a:lstStyle/>
          <a:p>
            <a:endParaRPr lang="en-US" sz="2400"/>
          </a:p>
        </p:txBody>
      </p:sp>
      <p:sp>
        <p:nvSpPr>
          <p:cNvPr id="51" name="Text 41"/>
          <p:cNvSpPr/>
          <p:nvPr/>
        </p:nvSpPr>
        <p:spPr>
          <a:xfrm>
            <a:off x="341376" y="5462016"/>
            <a:ext cx="2377440" cy="335280"/>
          </a:xfrm>
          <a:prstGeom prst="rect">
            <a:avLst/>
          </a:prstGeom>
          <a:noFill/>
          <a:ln/>
        </p:spPr>
        <p:txBody>
          <a:bodyPr wrap="square" lIns="0" tIns="0" rIns="0" bIns="0" rtlCol="0" anchor="ctr"/>
          <a:lstStyle/>
          <a:p>
            <a:r>
              <a:rPr lang="en-US" sz="1267" b="1">
                <a:solidFill>
                  <a:srgbClr val="1A1A2E"/>
                </a:solidFill>
                <a:latin typeface="Raleway" pitchFamily="2" charset="0"/>
                <a:ea typeface="Calibri" pitchFamily="34" charset="-122"/>
                <a:cs typeface="Calibri" pitchFamily="34" charset="-120"/>
              </a:rPr>
              <a:t>Knowledge Retention</a:t>
            </a:r>
            <a:endParaRPr lang="en-US" sz="1267">
              <a:latin typeface="Raleway" pitchFamily="2" charset="0"/>
            </a:endParaRPr>
          </a:p>
        </p:txBody>
      </p:sp>
      <p:sp>
        <p:nvSpPr>
          <p:cNvPr id="52" name="Text 42"/>
          <p:cNvSpPr/>
          <p:nvPr/>
        </p:nvSpPr>
        <p:spPr>
          <a:xfrm>
            <a:off x="2901696" y="5462016"/>
            <a:ext cx="3840480" cy="335280"/>
          </a:xfrm>
          <a:prstGeom prst="rect">
            <a:avLst/>
          </a:prstGeom>
          <a:noFill/>
          <a:ln/>
        </p:spPr>
        <p:txBody>
          <a:bodyPr wrap="square" lIns="0" tIns="0" rIns="0" bIns="0" rtlCol="0" anchor="ctr"/>
          <a:lstStyle/>
          <a:p>
            <a:r>
              <a:rPr lang="en-US" sz="1267">
                <a:solidFill>
                  <a:srgbClr val="888888"/>
                </a:solidFill>
                <a:latin typeface="Raleway" pitchFamily="2" charset="0"/>
                <a:ea typeface="Calibri" pitchFamily="34" charset="-122"/>
                <a:cs typeface="Calibri" pitchFamily="34" charset="-120"/>
              </a:rPr>
              <a:t>Lost with attrition</a:t>
            </a:r>
            <a:endParaRPr lang="en-US" sz="1267">
              <a:latin typeface="Raleway" pitchFamily="2" charset="0"/>
            </a:endParaRPr>
          </a:p>
        </p:txBody>
      </p:sp>
      <p:pic>
        <p:nvPicPr>
          <p:cNvPr id="53" name="Image 8" descr="preencoded.png"/>
          <p:cNvPicPr>
            <a:picLocks noChangeAspect="1"/>
          </p:cNvPicPr>
          <p:nvPr/>
        </p:nvPicPr>
        <p:blipFill>
          <a:blip r:embed="rId7"/>
          <a:stretch>
            <a:fillRect/>
          </a:stretch>
        </p:blipFill>
        <p:spPr>
          <a:xfrm>
            <a:off x="6900672" y="5522976"/>
            <a:ext cx="219456" cy="219456"/>
          </a:xfrm>
          <a:prstGeom prst="rect">
            <a:avLst/>
          </a:prstGeom>
        </p:spPr>
      </p:pic>
      <p:sp>
        <p:nvSpPr>
          <p:cNvPr id="54" name="Text 43"/>
          <p:cNvSpPr/>
          <p:nvPr/>
        </p:nvSpPr>
        <p:spPr>
          <a:xfrm>
            <a:off x="7193280" y="5462016"/>
            <a:ext cx="4437888" cy="335280"/>
          </a:xfrm>
          <a:prstGeom prst="rect">
            <a:avLst/>
          </a:prstGeom>
          <a:noFill/>
          <a:ln/>
        </p:spPr>
        <p:txBody>
          <a:bodyPr wrap="square" lIns="0" tIns="0" rIns="0" bIns="0" rtlCol="0" anchor="ctr"/>
          <a:lstStyle/>
          <a:p>
            <a:r>
              <a:rPr lang="en-US" sz="1267" b="1">
                <a:solidFill>
                  <a:srgbClr val="0D9488"/>
                </a:solidFill>
                <a:latin typeface="Raleway" pitchFamily="2" charset="0"/>
                <a:ea typeface="Calibri" pitchFamily="34" charset="-122"/>
                <a:cs typeface="Calibri" pitchFamily="34" charset="-120"/>
              </a:rPr>
              <a:t>Captured in J2W Knowledge Repository</a:t>
            </a:r>
            <a:endParaRPr lang="en-US" sz="1267">
              <a:latin typeface="Raleway" pitchFamily="2" charset="0"/>
            </a:endParaRPr>
          </a:p>
        </p:txBody>
      </p:sp>
      <p:sp>
        <p:nvSpPr>
          <p:cNvPr id="55" name="Shape 44"/>
          <p:cNvSpPr/>
          <p:nvPr/>
        </p:nvSpPr>
        <p:spPr>
          <a:xfrm>
            <a:off x="219456" y="5846064"/>
            <a:ext cx="11533632" cy="432816"/>
          </a:xfrm>
          <a:prstGeom prst="rect">
            <a:avLst/>
          </a:prstGeom>
          <a:solidFill>
            <a:srgbClr val="F0FAFA"/>
          </a:solidFill>
          <a:ln w="6350">
            <a:solidFill>
              <a:srgbClr val="E2F0EF"/>
            </a:solidFill>
            <a:prstDash val="solid"/>
          </a:ln>
        </p:spPr>
        <p:txBody>
          <a:bodyPr/>
          <a:lstStyle/>
          <a:p>
            <a:endParaRPr lang="en-US" sz="2400"/>
          </a:p>
        </p:txBody>
      </p:sp>
      <p:sp>
        <p:nvSpPr>
          <p:cNvPr id="56" name="Text 45"/>
          <p:cNvSpPr/>
          <p:nvPr/>
        </p:nvSpPr>
        <p:spPr>
          <a:xfrm>
            <a:off x="341376" y="5894832"/>
            <a:ext cx="2377440" cy="335280"/>
          </a:xfrm>
          <a:prstGeom prst="rect">
            <a:avLst/>
          </a:prstGeom>
          <a:noFill/>
          <a:ln/>
        </p:spPr>
        <p:txBody>
          <a:bodyPr wrap="square" lIns="0" tIns="0" rIns="0" bIns="0" rtlCol="0" anchor="ctr"/>
          <a:lstStyle/>
          <a:p>
            <a:r>
              <a:rPr lang="en-US" sz="1267" b="1">
                <a:solidFill>
                  <a:srgbClr val="1A1A2E"/>
                </a:solidFill>
                <a:latin typeface="Calibri" pitchFamily="34" charset="0"/>
                <a:ea typeface="Calibri" pitchFamily="34" charset="-122"/>
                <a:cs typeface="Calibri" pitchFamily="34" charset="-120"/>
              </a:rPr>
              <a:t>AI Readiness</a:t>
            </a:r>
            <a:endParaRPr lang="en-US" sz="1267"/>
          </a:p>
        </p:txBody>
      </p:sp>
      <p:sp>
        <p:nvSpPr>
          <p:cNvPr id="57" name="Text 46"/>
          <p:cNvSpPr/>
          <p:nvPr/>
        </p:nvSpPr>
        <p:spPr>
          <a:xfrm>
            <a:off x="2901696" y="5894832"/>
            <a:ext cx="3840480" cy="335280"/>
          </a:xfrm>
          <a:prstGeom prst="rect">
            <a:avLst/>
          </a:prstGeom>
          <a:noFill/>
          <a:ln/>
        </p:spPr>
        <p:txBody>
          <a:bodyPr wrap="square" lIns="0" tIns="0" rIns="0" bIns="0" rtlCol="0" anchor="ctr"/>
          <a:lstStyle/>
          <a:p>
            <a:r>
              <a:rPr lang="en-US" sz="1267">
                <a:solidFill>
                  <a:srgbClr val="888888"/>
                </a:solidFill>
                <a:latin typeface="Calibri" pitchFamily="34" charset="0"/>
                <a:ea typeface="Calibri" pitchFamily="34" charset="-122"/>
                <a:cs typeface="Calibri" pitchFamily="34" charset="-120"/>
              </a:rPr>
              <a:t>Ad hoc</a:t>
            </a:r>
            <a:endParaRPr lang="en-US" sz="1267"/>
          </a:p>
        </p:txBody>
      </p:sp>
      <p:pic>
        <p:nvPicPr>
          <p:cNvPr id="58" name="Image 9" descr="preencoded.png"/>
          <p:cNvPicPr>
            <a:picLocks noChangeAspect="1"/>
          </p:cNvPicPr>
          <p:nvPr/>
        </p:nvPicPr>
        <p:blipFill>
          <a:blip r:embed="rId7"/>
          <a:stretch>
            <a:fillRect/>
          </a:stretch>
        </p:blipFill>
        <p:spPr>
          <a:xfrm>
            <a:off x="6900672" y="5955792"/>
            <a:ext cx="219456" cy="219456"/>
          </a:xfrm>
          <a:prstGeom prst="rect">
            <a:avLst/>
          </a:prstGeom>
        </p:spPr>
      </p:pic>
      <p:sp>
        <p:nvSpPr>
          <p:cNvPr id="59" name="Text 47"/>
          <p:cNvSpPr/>
          <p:nvPr/>
        </p:nvSpPr>
        <p:spPr>
          <a:xfrm>
            <a:off x="7193280" y="5894832"/>
            <a:ext cx="4437888" cy="335280"/>
          </a:xfrm>
          <a:prstGeom prst="rect">
            <a:avLst/>
          </a:prstGeom>
          <a:noFill/>
          <a:ln/>
        </p:spPr>
        <p:txBody>
          <a:bodyPr wrap="square" lIns="0" tIns="0" rIns="0" bIns="0" rtlCol="0" anchor="ctr"/>
          <a:lstStyle/>
          <a:p>
            <a:r>
              <a:rPr lang="en-US" sz="1267" b="1">
                <a:solidFill>
                  <a:srgbClr val="C0392B"/>
                </a:solidFill>
                <a:latin typeface="Raleway" pitchFamily="2" charset="0"/>
                <a:ea typeface="Calibri" pitchFamily="34" charset="-122"/>
                <a:cs typeface="Calibri" pitchFamily="34" charset="-120"/>
              </a:rPr>
              <a:t>Embedded from Day 1</a:t>
            </a:r>
            <a:endParaRPr lang="en-US" sz="1267">
              <a:latin typeface="Raleway" pitchFamily="2" charset="0"/>
            </a:endParaRPr>
          </a:p>
        </p:txBody>
      </p:sp>
      <p:sp>
        <p:nvSpPr>
          <p:cNvPr id="60" name="Shape 48"/>
          <p:cNvSpPr/>
          <p:nvPr/>
        </p:nvSpPr>
        <p:spPr>
          <a:xfrm>
            <a:off x="0" y="6352032"/>
            <a:ext cx="12192000" cy="505968"/>
          </a:xfrm>
          <a:prstGeom prst="rect">
            <a:avLst/>
          </a:prstGeom>
          <a:solidFill>
            <a:srgbClr val="0D9488"/>
          </a:solidFill>
          <a:ln w="12700">
            <a:solidFill>
              <a:srgbClr val="0D9488"/>
            </a:solidFill>
            <a:prstDash val="solid"/>
          </a:ln>
        </p:spPr>
        <p:txBody>
          <a:bodyPr/>
          <a:lstStyle/>
          <a:p>
            <a:endParaRPr lang="en-US" sz="2400"/>
          </a:p>
        </p:txBody>
      </p:sp>
      <p:sp>
        <p:nvSpPr>
          <p:cNvPr id="61" name="Text 49"/>
          <p:cNvSpPr/>
          <p:nvPr/>
        </p:nvSpPr>
        <p:spPr>
          <a:xfrm>
            <a:off x="60960" y="6364224"/>
            <a:ext cx="2316480" cy="268224"/>
          </a:xfrm>
          <a:prstGeom prst="rect">
            <a:avLst/>
          </a:prstGeom>
          <a:noFill/>
          <a:ln/>
        </p:spPr>
        <p:txBody>
          <a:bodyPr wrap="square" lIns="0" tIns="0" rIns="0" bIns="0" rtlCol="0" anchor="ctr"/>
          <a:lstStyle/>
          <a:p>
            <a:pPr algn="ctr"/>
            <a:r>
              <a:rPr lang="en-US" sz="1600" b="1">
                <a:solidFill>
                  <a:srgbClr val="FFFFFF"/>
                </a:solidFill>
                <a:latin typeface="Calibri" pitchFamily="34" charset="0"/>
                <a:ea typeface="Calibri" pitchFamily="34" charset="-122"/>
                <a:cs typeface="Calibri" pitchFamily="34" charset="-120"/>
              </a:rPr>
              <a:t>5,500+</a:t>
            </a:r>
            <a:endParaRPr lang="en-US" sz="1600"/>
          </a:p>
        </p:txBody>
      </p:sp>
      <p:sp>
        <p:nvSpPr>
          <p:cNvPr id="62" name="Text 50"/>
          <p:cNvSpPr/>
          <p:nvPr/>
        </p:nvSpPr>
        <p:spPr>
          <a:xfrm>
            <a:off x="60960" y="6620256"/>
            <a:ext cx="2316480" cy="207264"/>
          </a:xfrm>
          <a:prstGeom prst="rect">
            <a:avLst/>
          </a:prstGeom>
          <a:noFill/>
          <a:ln/>
        </p:spPr>
        <p:txBody>
          <a:bodyPr wrap="square" lIns="0" tIns="0" rIns="0" bIns="0" rtlCol="0" anchor="ctr"/>
          <a:lstStyle/>
          <a:p>
            <a:pPr algn="ctr"/>
            <a:r>
              <a:rPr lang="en-US" sz="1000">
                <a:solidFill>
                  <a:srgbClr val="D0F5F0"/>
                </a:solidFill>
                <a:latin typeface="Calibri" pitchFamily="34" charset="0"/>
                <a:ea typeface="Calibri" pitchFamily="34" charset="-122"/>
                <a:cs typeface="Calibri" pitchFamily="34" charset="-120"/>
              </a:rPr>
              <a:t>Active Consultants</a:t>
            </a:r>
            <a:endParaRPr lang="en-US" sz="1000"/>
          </a:p>
        </p:txBody>
      </p:sp>
      <p:sp>
        <p:nvSpPr>
          <p:cNvPr id="63" name="Shape 51"/>
          <p:cNvSpPr/>
          <p:nvPr/>
        </p:nvSpPr>
        <p:spPr>
          <a:xfrm>
            <a:off x="2438400" y="6400800"/>
            <a:ext cx="0" cy="402336"/>
          </a:xfrm>
          <a:prstGeom prst="line">
            <a:avLst/>
          </a:prstGeom>
          <a:noFill/>
          <a:ln w="6350">
            <a:solidFill>
              <a:srgbClr val="FFFFFF">
                <a:alpha val="45000"/>
              </a:srgbClr>
            </a:solidFill>
            <a:prstDash val="solid"/>
          </a:ln>
        </p:spPr>
        <p:txBody>
          <a:bodyPr/>
          <a:lstStyle/>
          <a:p>
            <a:endParaRPr lang="en-US" sz="2400"/>
          </a:p>
        </p:txBody>
      </p:sp>
      <p:sp>
        <p:nvSpPr>
          <p:cNvPr id="64" name="Text 52"/>
          <p:cNvSpPr/>
          <p:nvPr/>
        </p:nvSpPr>
        <p:spPr>
          <a:xfrm>
            <a:off x="2499360" y="6364224"/>
            <a:ext cx="2316480" cy="268224"/>
          </a:xfrm>
          <a:prstGeom prst="rect">
            <a:avLst/>
          </a:prstGeom>
          <a:noFill/>
          <a:ln/>
        </p:spPr>
        <p:txBody>
          <a:bodyPr wrap="square" lIns="0" tIns="0" rIns="0" bIns="0" rtlCol="0" anchor="ctr"/>
          <a:lstStyle/>
          <a:p>
            <a:pPr algn="ctr"/>
            <a:r>
              <a:rPr lang="en-US" sz="1600" b="1">
                <a:solidFill>
                  <a:srgbClr val="FFFFFF"/>
                </a:solidFill>
                <a:latin typeface="Calibri" pitchFamily="34" charset="0"/>
                <a:ea typeface="Calibri" pitchFamily="34" charset="-122"/>
                <a:cs typeface="Calibri" pitchFamily="34" charset="-120"/>
              </a:rPr>
              <a:t>1,250+</a:t>
            </a:r>
            <a:endParaRPr lang="en-US" sz="1600"/>
          </a:p>
        </p:txBody>
      </p:sp>
      <p:sp>
        <p:nvSpPr>
          <p:cNvPr id="65" name="Text 53"/>
          <p:cNvSpPr/>
          <p:nvPr/>
        </p:nvSpPr>
        <p:spPr>
          <a:xfrm>
            <a:off x="2499360" y="6620256"/>
            <a:ext cx="2316480" cy="207264"/>
          </a:xfrm>
          <a:prstGeom prst="rect">
            <a:avLst/>
          </a:prstGeom>
          <a:noFill/>
          <a:ln/>
        </p:spPr>
        <p:txBody>
          <a:bodyPr wrap="square" lIns="0" tIns="0" rIns="0" bIns="0" rtlCol="0" anchor="ctr"/>
          <a:lstStyle/>
          <a:p>
            <a:pPr algn="ctr"/>
            <a:r>
              <a:rPr lang="en-US" sz="1000">
                <a:solidFill>
                  <a:srgbClr val="D0F5F0"/>
                </a:solidFill>
                <a:latin typeface="Calibri" pitchFamily="34" charset="0"/>
                <a:ea typeface="Calibri" pitchFamily="34" charset="-122"/>
                <a:cs typeface="Calibri" pitchFamily="34" charset="-120"/>
              </a:rPr>
              <a:t>Skills Covered</a:t>
            </a:r>
            <a:endParaRPr lang="en-US" sz="1000"/>
          </a:p>
        </p:txBody>
      </p:sp>
      <p:sp>
        <p:nvSpPr>
          <p:cNvPr id="66" name="Shape 54"/>
          <p:cNvSpPr/>
          <p:nvPr/>
        </p:nvSpPr>
        <p:spPr>
          <a:xfrm>
            <a:off x="4876800" y="6400800"/>
            <a:ext cx="0" cy="402336"/>
          </a:xfrm>
          <a:prstGeom prst="line">
            <a:avLst/>
          </a:prstGeom>
          <a:noFill/>
          <a:ln w="6350">
            <a:solidFill>
              <a:srgbClr val="FFFFFF">
                <a:alpha val="45000"/>
              </a:srgbClr>
            </a:solidFill>
            <a:prstDash val="solid"/>
          </a:ln>
        </p:spPr>
        <p:txBody>
          <a:bodyPr/>
          <a:lstStyle/>
          <a:p>
            <a:endParaRPr lang="en-US" sz="2400"/>
          </a:p>
        </p:txBody>
      </p:sp>
      <p:sp>
        <p:nvSpPr>
          <p:cNvPr id="67" name="Text 55"/>
          <p:cNvSpPr/>
          <p:nvPr/>
        </p:nvSpPr>
        <p:spPr>
          <a:xfrm>
            <a:off x="4937760" y="6364224"/>
            <a:ext cx="2316480" cy="268224"/>
          </a:xfrm>
          <a:prstGeom prst="rect">
            <a:avLst/>
          </a:prstGeom>
          <a:noFill/>
          <a:ln/>
        </p:spPr>
        <p:txBody>
          <a:bodyPr wrap="square" lIns="0" tIns="0" rIns="0" bIns="0" rtlCol="0" anchor="ctr"/>
          <a:lstStyle/>
          <a:p>
            <a:pPr algn="ctr"/>
            <a:r>
              <a:rPr lang="en-US" sz="1600" b="1">
                <a:solidFill>
                  <a:srgbClr val="FFFFFF"/>
                </a:solidFill>
                <a:latin typeface="Calibri" pitchFamily="34" charset="0"/>
                <a:ea typeface="Calibri" pitchFamily="34" charset="-122"/>
                <a:cs typeface="Calibri" pitchFamily="34" charset="-120"/>
              </a:rPr>
              <a:t>320+</a:t>
            </a:r>
            <a:endParaRPr lang="en-US" sz="1600"/>
          </a:p>
        </p:txBody>
      </p:sp>
      <p:sp>
        <p:nvSpPr>
          <p:cNvPr id="68" name="Text 56"/>
          <p:cNvSpPr/>
          <p:nvPr/>
        </p:nvSpPr>
        <p:spPr>
          <a:xfrm>
            <a:off x="4937760" y="6620256"/>
            <a:ext cx="2316480" cy="207264"/>
          </a:xfrm>
          <a:prstGeom prst="rect">
            <a:avLst/>
          </a:prstGeom>
          <a:noFill/>
          <a:ln/>
        </p:spPr>
        <p:txBody>
          <a:bodyPr wrap="square" lIns="0" tIns="0" rIns="0" bIns="0" rtlCol="0" anchor="ctr"/>
          <a:lstStyle/>
          <a:p>
            <a:pPr algn="ctr"/>
            <a:r>
              <a:rPr lang="en-US" sz="1000">
                <a:solidFill>
                  <a:srgbClr val="D0F5F0"/>
                </a:solidFill>
                <a:latin typeface="Calibri" pitchFamily="34" charset="0"/>
                <a:ea typeface="Calibri" pitchFamily="34" charset="-122"/>
                <a:cs typeface="Calibri" pitchFamily="34" charset="-120"/>
              </a:rPr>
              <a:t>Enterprise Clients</a:t>
            </a:r>
            <a:endParaRPr lang="en-US" sz="1000"/>
          </a:p>
        </p:txBody>
      </p:sp>
      <p:sp>
        <p:nvSpPr>
          <p:cNvPr id="69" name="Shape 57"/>
          <p:cNvSpPr/>
          <p:nvPr/>
        </p:nvSpPr>
        <p:spPr>
          <a:xfrm>
            <a:off x="7315200" y="6400800"/>
            <a:ext cx="0" cy="402336"/>
          </a:xfrm>
          <a:prstGeom prst="line">
            <a:avLst/>
          </a:prstGeom>
          <a:noFill/>
          <a:ln w="6350">
            <a:solidFill>
              <a:srgbClr val="FFFFFF">
                <a:alpha val="45000"/>
              </a:srgbClr>
            </a:solidFill>
            <a:prstDash val="solid"/>
          </a:ln>
        </p:spPr>
        <p:txBody>
          <a:bodyPr/>
          <a:lstStyle/>
          <a:p>
            <a:endParaRPr lang="en-US" sz="2400"/>
          </a:p>
        </p:txBody>
      </p:sp>
      <p:sp>
        <p:nvSpPr>
          <p:cNvPr id="70" name="Text 58"/>
          <p:cNvSpPr/>
          <p:nvPr/>
        </p:nvSpPr>
        <p:spPr>
          <a:xfrm>
            <a:off x="7376160" y="6364224"/>
            <a:ext cx="2316480" cy="268224"/>
          </a:xfrm>
          <a:prstGeom prst="rect">
            <a:avLst/>
          </a:prstGeom>
          <a:noFill/>
          <a:ln/>
        </p:spPr>
        <p:txBody>
          <a:bodyPr wrap="square" lIns="0" tIns="0" rIns="0" bIns="0" rtlCol="0" anchor="ctr"/>
          <a:lstStyle/>
          <a:p>
            <a:pPr algn="ctr"/>
            <a:r>
              <a:rPr lang="en-US" sz="1600" b="1">
                <a:solidFill>
                  <a:srgbClr val="FFFFFF"/>
                </a:solidFill>
                <a:latin typeface="Calibri" pitchFamily="34" charset="0"/>
                <a:ea typeface="Calibri" pitchFamily="34" charset="-122"/>
                <a:cs typeface="Calibri" pitchFamily="34" charset="-120"/>
              </a:rPr>
              <a:t>0%</a:t>
            </a:r>
            <a:endParaRPr lang="en-US" sz="1600"/>
          </a:p>
        </p:txBody>
      </p:sp>
      <p:sp>
        <p:nvSpPr>
          <p:cNvPr id="71" name="Text 59"/>
          <p:cNvSpPr/>
          <p:nvPr/>
        </p:nvSpPr>
        <p:spPr>
          <a:xfrm>
            <a:off x="7376160" y="6620256"/>
            <a:ext cx="2316480" cy="207264"/>
          </a:xfrm>
          <a:prstGeom prst="rect">
            <a:avLst/>
          </a:prstGeom>
          <a:noFill/>
          <a:ln/>
        </p:spPr>
        <p:txBody>
          <a:bodyPr wrap="square" lIns="0" tIns="0" rIns="0" bIns="0" rtlCol="0" anchor="ctr"/>
          <a:lstStyle/>
          <a:p>
            <a:pPr algn="ctr"/>
            <a:r>
              <a:rPr lang="en-US" sz="1000">
                <a:solidFill>
                  <a:srgbClr val="D0F5F0"/>
                </a:solidFill>
                <a:latin typeface="Calibri" pitchFamily="34" charset="0"/>
                <a:ea typeface="Calibri" pitchFamily="34" charset="-122"/>
                <a:cs typeface="Calibri" pitchFamily="34" charset="-120"/>
              </a:rPr>
              <a:t>Attrition (6-Mo Pilot)</a:t>
            </a:r>
            <a:endParaRPr lang="en-US" sz="1000"/>
          </a:p>
        </p:txBody>
      </p:sp>
      <p:sp>
        <p:nvSpPr>
          <p:cNvPr id="72" name="Shape 60"/>
          <p:cNvSpPr/>
          <p:nvPr/>
        </p:nvSpPr>
        <p:spPr>
          <a:xfrm>
            <a:off x="9753600" y="6400800"/>
            <a:ext cx="0" cy="402336"/>
          </a:xfrm>
          <a:prstGeom prst="line">
            <a:avLst/>
          </a:prstGeom>
          <a:noFill/>
          <a:ln w="6350">
            <a:solidFill>
              <a:srgbClr val="FFFFFF">
                <a:alpha val="45000"/>
              </a:srgbClr>
            </a:solidFill>
            <a:prstDash val="solid"/>
          </a:ln>
        </p:spPr>
        <p:txBody>
          <a:bodyPr/>
          <a:lstStyle/>
          <a:p>
            <a:endParaRPr lang="en-US" sz="2400"/>
          </a:p>
        </p:txBody>
      </p:sp>
      <p:sp>
        <p:nvSpPr>
          <p:cNvPr id="73" name="Text 61"/>
          <p:cNvSpPr/>
          <p:nvPr/>
        </p:nvSpPr>
        <p:spPr>
          <a:xfrm>
            <a:off x="9814560" y="6364224"/>
            <a:ext cx="2316480" cy="268224"/>
          </a:xfrm>
          <a:prstGeom prst="rect">
            <a:avLst/>
          </a:prstGeom>
          <a:noFill/>
          <a:ln/>
        </p:spPr>
        <p:txBody>
          <a:bodyPr wrap="square" lIns="0" tIns="0" rIns="0" bIns="0" rtlCol="0" anchor="ctr"/>
          <a:lstStyle/>
          <a:p>
            <a:pPr algn="ctr"/>
            <a:r>
              <a:rPr lang="en-US" sz="1600" b="1">
                <a:solidFill>
                  <a:srgbClr val="FFFFFF"/>
                </a:solidFill>
                <a:latin typeface="Calibri" pitchFamily="34" charset="0"/>
                <a:ea typeface="Calibri" pitchFamily="34" charset="-122"/>
                <a:cs typeface="Calibri" pitchFamily="34" charset="-120"/>
              </a:rPr>
              <a:t>1/hr</a:t>
            </a:r>
            <a:endParaRPr lang="en-US" sz="1600"/>
          </a:p>
        </p:txBody>
      </p:sp>
      <p:sp>
        <p:nvSpPr>
          <p:cNvPr id="74" name="Text 62"/>
          <p:cNvSpPr/>
          <p:nvPr/>
        </p:nvSpPr>
        <p:spPr>
          <a:xfrm>
            <a:off x="9814560" y="6620256"/>
            <a:ext cx="2316480" cy="207264"/>
          </a:xfrm>
          <a:prstGeom prst="rect">
            <a:avLst/>
          </a:prstGeom>
          <a:noFill/>
          <a:ln/>
        </p:spPr>
        <p:txBody>
          <a:bodyPr wrap="square" lIns="0" tIns="0" rIns="0" bIns="0" rtlCol="0" anchor="ctr"/>
          <a:lstStyle/>
          <a:p>
            <a:pPr algn="ctr"/>
            <a:r>
              <a:rPr lang="en-US" sz="1000">
                <a:solidFill>
                  <a:srgbClr val="D0F5F0"/>
                </a:solidFill>
                <a:latin typeface="Calibri" pitchFamily="34" charset="0"/>
                <a:ea typeface="Calibri" pitchFamily="34" charset="-122"/>
                <a:cs typeface="Calibri" pitchFamily="34" charset="-120"/>
              </a:rPr>
              <a:t>Engineers Onboarded</a:t>
            </a:r>
            <a:endParaRPr lang="en-US" sz="1000"/>
          </a:p>
        </p:txBody>
      </p:sp>
      <p:pic>
        <p:nvPicPr>
          <p:cNvPr id="75" name="Image 0" descr="preencoded.png">
            <a:extLst>
              <a:ext uri="{FF2B5EF4-FFF2-40B4-BE49-F238E27FC236}">
                <a16:creationId xmlns:a16="http://schemas.microsoft.com/office/drawing/2014/main" id="{FAFFF64B-DC76-00D4-DDA1-C18459247824}"/>
              </a:ext>
            </a:extLst>
          </p:cNvPr>
          <p:cNvPicPr>
            <a:picLocks noChangeAspect="1"/>
          </p:cNvPicPr>
          <p:nvPr/>
        </p:nvPicPr>
        <p:blipFill>
          <a:blip r:embed="rId8"/>
          <a:srcRect l="-207" r="-207"/>
          <a:stretch/>
        </p:blipFill>
        <p:spPr>
          <a:xfrm>
            <a:off x="0" y="0"/>
            <a:ext cx="4058107" cy="75895"/>
          </a:xfrm>
          <a:prstGeom prst="rect">
            <a:avLst/>
          </a:prstGeom>
        </p:spPr>
      </p:pic>
      <p:pic>
        <p:nvPicPr>
          <p:cNvPr id="76" name="Image 1" descr="preencoded.png">
            <a:extLst>
              <a:ext uri="{FF2B5EF4-FFF2-40B4-BE49-F238E27FC236}">
                <a16:creationId xmlns:a16="http://schemas.microsoft.com/office/drawing/2014/main" id="{F02F145E-4174-DB5B-12FC-B946B2BEFC21}"/>
              </a:ext>
            </a:extLst>
          </p:cNvPr>
          <p:cNvPicPr>
            <a:picLocks noChangeAspect="1"/>
          </p:cNvPicPr>
          <p:nvPr/>
        </p:nvPicPr>
        <p:blipFill>
          <a:blip r:embed="rId9"/>
          <a:srcRect l="-202" r="-202"/>
          <a:stretch/>
        </p:blipFill>
        <p:spPr>
          <a:xfrm>
            <a:off x="4058107" y="0"/>
            <a:ext cx="8134502" cy="75895"/>
          </a:xfrm>
          <a:prstGeom prst="rect">
            <a:avLst/>
          </a:prstGeom>
        </p:spPr>
      </p:pic>
      <p:pic>
        <p:nvPicPr>
          <p:cNvPr id="3" name="Image 3" descr="gen-dedup-777bf757d895431cabe402fcd34ebd5a.png">
            <a:extLst>
              <a:ext uri="{FF2B5EF4-FFF2-40B4-BE49-F238E27FC236}">
                <a16:creationId xmlns:a16="http://schemas.microsoft.com/office/drawing/2014/main" id="{91DB220A-20B6-281B-050B-8FB43FAFE4F6}"/>
              </a:ext>
            </a:extLst>
          </p:cNvPr>
          <p:cNvPicPr>
            <a:picLocks noChangeAspect="1"/>
          </p:cNvPicPr>
          <p:nvPr/>
        </p:nvPicPr>
        <p:blipFill>
          <a:blip r:embed="rId10">
            <a:biLevel thresh="75000"/>
          </a:blip>
          <a:srcRect l="-384" r="-384"/>
          <a:stretch/>
        </p:blipFill>
        <p:spPr>
          <a:xfrm>
            <a:off x="571500" y="381305"/>
            <a:ext cx="57607" cy="476402"/>
          </a:xfrm>
          <a:prstGeom prst="rect">
            <a:avLst/>
          </a:prstGeom>
        </p:spPr>
      </p:pic>
      <p:sp>
        <p:nvSpPr>
          <p:cNvPr id="5" name="Text 5">
            <a:extLst>
              <a:ext uri="{FF2B5EF4-FFF2-40B4-BE49-F238E27FC236}">
                <a16:creationId xmlns:a16="http://schemas.microsoft.com/office/drawing/2014/main" id="{6882880C-5198-8181-01D6-938F5239DBE8}"/>
              </a:ext>
            </a:extLst>
          </p:cNvPr>
          <p:cNvSpPr txBox="1"/>
          <p:nvPr/>
        </p:nvSpPr>
        <p:spPr>
          <a:xfrm>
            <a:off x="780897" y="333756"/>
            <a:ext cx="5913817" cy="406908"/>
          </a:xfrm>
          <a:prstGeom prst="rect">
            <a:avLst/>
          </a:prstGeom>
          <a:noFill/>
          <a:ln/>
        </p:spPr>
        <p:txBody>
          <a:bodyPr wrap="none" lIns="0" tIns="0" rIns="0" bIns="0" rtlCol="0" anchor="ctr"/>
          <a:lstStyle/>
          <a:p>
            <a:r>
              <a:rPr lang="en-US" sz="2400" b="1" kern="0" spc="-67" dirty="0">
                <a:solidFill>
                  <a:srgbClr val="111827"/>
                </a:solidFill>
                <a:latin typeface="Oswald" pitchFamily="34" charset="0"/>
                <a:ea typeface="Oswald" pitchFamily="34" charset="-122"/>
                <a:cs typeface="Oswald" pitchFamily="34" charset="-120"/>
              </a:rPr>
              <a:t>WORKFORCE &amp; TALENT SOLUTIONS</a:t>
            </a:r>
          </a:p>
        </p:txBody>
      </p:sp>
      <p:sp>
        <p:nvSpPr>
          <p:cNvPr id="82" name="Text 6">
            <a:extLst>
              <a:ext uri="{FF2B5EF4-FFF2-40B4-BE49-F238E27FC236}">
                <a16:creationId xmlns:a16="http://schemas.microsoft.com/office/drawing/2014/main" id="{E8701246-3C41-DB36-4ECD-FA86F7B2EE0D}"/>
              </a:ext>
            </a:extLst>
          </p:cNvPr>
          <p:cNvSpPr txBox="1"/>
          <p:nvPr/>
        </p:nvSpPr>
        <p:spPr>
          <a:xfrm>
            <a:off x="780898" y="740663"/>
            <a:ext cx="5054803" cy="257861"/>
          </a:xfrm>
          <a:prstGeom prst="rect">
            <a:avLst/>
          </a:prstGeom>
          <a:noFill/>
          <a:ln/>
        </p:spPr>
        <p:txBody>
          <a:bodyPr wrap="none" lIns="0" tIns="0" rIns="0" bIns="0" rtlCol="0" anchor="ctr"/>
          <a:lstStyle/>
          <a:p>
            <a:pPr marL="0" indent="0" algn="l">
              <a:buNone/>
            </a:pPr>
            <a:r>
              <a:rPr lang="en-GB" sz="1500" b="1" kern="0" spc="66" dirty="0">
                <a:solidFill>
                  <a:srgbClr val="2A9D8F"/>
                </a:solidFill>
                <a:latin typeface="Roboto Condensed" pitchFamily="34" charset="0"/>
                <a:ea typeface="Roboto Condensed" pitchFamily="34" charset="-122"/>
                <a:cs typeface="Roboto Condensed" pitchFamily="34" charset="-120"/>
              </a:rPr>
              <a:t>A Managed, AI-driven Workforce Unit - Not Just Staffing With A Wrapper.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4" name="Shape 2"/>
          <p:cNvSpPr/>
          <p:nvPr/>
        </p:nvSpPr>
        <p:spPr>
          <a:xfrm>
            <a:off x="8858707" y="-952805"/>
            <a:ext cx="3810305" cy="3810305"/>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5" name="Image 0" descr="gen-dedup-debd4e3596836e8640379be3057665ef.png"/>
          <p:cNvPicPr>
            <a:picLocks noChangeAspect="1"/>
          </p:cNvPicPr>
          <p:nvPr/>
        </p:nvPicPr>
        <p:blipFill>
          <a:blip r:embed="rId3">
            <a:alphaModFix amt="6000"/>
          </a:blip>
          <a:srcRect/>
          <a:stretch/>
        </p:blipFill>
        <p:spPr>
          <a:xfrm>
            <a:off x="-761695" y="4762195"/>
            <a:ext cx="2857500" cy="2857500"/>
          </a:xfrm>
          <a:prstGeom prst="rect">
            <a:avLst/>
          </a:prstGeom>
        </p:spPr>
      </p:pic>
      <p:pic>
        <p:nvPicPr>
          <p:cNvPr id="6" name="Image 1" descr="gen-dedup-323228122ff92d2332e711a84ca3b40c.png"/>
          <p:cNvPicPr>
            <a:picLocks noChangeAspect="1"/>
          </p:cNvPicPr>
          <p:nvPr/>
        </p:nvPicPr>
        <p:blipFill>
          <a:blip r:embed="rId4"/>
          <a:srcRect l="-198" r="-198"/>
          <a:stretch/>
        </p:blipFill>
        <p:spPr>
          <a:xfrm>
            <a:off x="0" y="0"/>
            <a:ext cx="8124444" cy="75895"/>
          </a:xfrm>
          <a:prstGeom prst="rect">
            <a:avLst/>
          </a:prstGeom>
        </p:spPr>
      </p:pic>
      <p:pic>
        <p:nvPicPr>
          <p:cNvPr id="7" name="Image 2" descr="gen-dedup-9663ecf744b06e35d4c2cebaab92a2ea.png"/>
          <p:cNvPicPr>
            <a:picLocks noChangeAspect="1"/>
          </p:cNvPicPr>
          <p:nvPr/>
        </p:nvPicPr>
        <p:blipFill>
          <a:blip r:embed="rId5"/>
          <a:srcRect l="-202" r="-202"/>
          <a:stretch/>
        </p:blipFill>
        <p:spPr>
          <a:xfrm>
            <a:off x="8124444" y="0"/>
            <a:ext cx="4067251" cy="75895"/>
          </a:xfrm>
          <a:prstGeom prst="rect">
            <a:avLst/>
          </a:prstGeom>
        </p:spPr>
      </p:pic>
      <p:sp>
        <p:nvSpPr>
          <p:cNvPr id="9" name="Shape 3"/>
          <p:cNvSpPr/>
          <p:nvPr/>
        </p:nvSpPr>
        <p:spPr>
          <a:xfrm>
            <a:off x="609905" y="1714500"/>
            <a:ext cx="3258007" cy="2143354"/>
          </a:xfrm>
          <a:prstGeom prst="roundRect">
            <a:avLst>
              <a:gd name="adj" fmla="val 3541"/>
            </a:avLst>
          </a:prstGeom>
          <a:solidFill>
            <a:srgbClr val="FFFFFF"/>
          </a:solidFill>
          <a:ln w="12700">
            <a:solidFill>
              <a:srgbClr val="E2E8F0"/>
            </a:solidFill>
            <a:prstDash val="solid"/>
          </a:ln>
          <a:effectLst>
            <a:outerShdw blurRad="63500" dist="38100" dir="16200000" algn="bl" rotWithShape="0">
              <a:srgbClr val="000000">
                <a:alpha val="5000"/>
              </a:srgbClr>
            </a:outerShdw>
          </a:effectLst>
        </p:spPr>
        <p:txBody>
          <a:bodyPr/>
          <a:lstStyle/>
          <a:p>
            <a:endParaRPr lang="en-US"/>
          </a:p>
        </p:txBody>
      </p:sp>
      <p:sp>
        <p:nvSpPr>
          <p:cNvPr id="10" name="Shape 4"/>
          <p:cNvSpPr/>
          <p:nvPr/>
        </p:nvSpPr>
        <p:spPr>
          <a:xfrm>
            <a:off x="609905" y="1714500"/>
            <a:ext cx="3258007" cy="38405"/>
          </a:xfrm>
          <a:prstGeom prst="roundRect">
            <a:avLst>
              <a:gd name="adj" fmla="val 197618"/>
            </a:avLst>
          </a:prstGeom>
          <a:solidFill>
            <a:srgbClr val="2A9D8F"/>
          </a:solidFill>
          <a:ln w="12700">
            <a:solidFill>
              <a:srgbClr val="2A9D8F">
                <a:alpha val="0"/>
              </a:srgbClr>
            </a:solidFill>
            <a:prstDash val="solid"/>
          </a:ln>
        </p:spPr>
        <p:txBody>
          <a:bodyPr/>
          <a:lstStyle/>
          <a:p>
            <a:endParaRPr lang="en-US"/>
          </a:p>
        </p:txBody>
      </p:sp>
      <p:sp>
        <p:nvSpPr>
          <p:cNvPr id="11" name="Shape 5"/>
          <p:cNvSpPr/>
          <p:nvPr/>
        </p:nvSpPr>
        <p:spPr>
          <a:xfrm>
            <a:off x="4476902" y="1714500"/>
            <a:ext cx="3258007" cy="2143354"/>
          </a:xfrm>
          <a:prstGeom prst="roundRect">
            <a:avLst>
              <a:gd name="adj" fmla="val 3541"/>
            </a:avLst>
          </a:prstGeom>
          <a:solidFill>
            <a:srgbClr val="FFFFFF"/>
          </a:solidFill>
          <a:ln w="12700">
            <a:solidFill>
              <a:srgbClr val="E2E8F0"/>
            </a:solidFill>
            <a:prstDash val="solid"/>
          </a:ln>
          <a:effectLst>
            <a:outerShdw blurRad="63500" dist="38100" dir="16200000" algn="bl" rotWithShape="0">
              <a:srgbClr val="000000">
                <a:alpha val="5000"/>
              </a:srgbClr>
            </a:outerShdw>
          </a:effectLst>
        </p:spPr>
        <p:txBody>
          <a:bodyPr/>
          <a:lstStyle/>
          <a:p>
            <a:endParaRPr lang="en-US"/>
          </a:p>
        </p:txBody>
      </p:sp>
      <p:sp>
        <p:nvSpPr>
          <p:cNvPr id="12" name="Shape 6"/>
          <p:cNvSpPr/>
          <p:nvPr/>
        </p:nvSpPr>
        <p:spPr>
          <a:xfrm>
            <a:off x="4476902" y="1714500"/>
            <a:ext cx="3258007" cy="38405"/>
          </a:xfrm>
          <a:prstGeom prst="roundRect">
            <a:avLst>
              <a:gd name="adj" fmla="val 197618"/>
            </a:avLst>
          </a:prstGeom>
          <a:solidFill>
            <a:srgbClr val="D62839"/>
          </a:solidFill>
          <a:ln w="12700">
            <a:solidFill>
              <a:srgbClr val="D62839">
                <a:alpha val="0"/>
              </a:srgbClr>
            </a:solidFill>
            <a:prstDash val="solid"/>
          </a:ln>
        </p:spPr>
        <p:txBody>
          <a:bodyPr/>
          <a:lstStyle/>
          <a:p>
            <a:endParaRPr lang="en-US"/>
          </a:p>
        </p:txBody>
      </p:sp>
      <p:sp>
        <p:nvSpPr>
          <p:cNvPr id="13" name="Shape 7"/>
          <p:cNvSpPr/>
          <p:nvPr/>
        </p:nvSpPr>
        <p:spPr>
          <a:xfrm>
            <a:off x="8343900" y="1714500"/>
            <a:ext cx="3258007" cy="2143354"/>
          </a:xfrm>
          <a:prstGeom prst="roundRect">
            <a:avLst>
              <a:gd name="adj" fmla="val 3541"/>
            </a:avLst>
          </a:prstGeom>
          <a:solidFill>
            <a:srgbClr val="FFFFFF"/>
          </a:solidFill>
          <a:ln w="12700">
            <a:solidFill>
              <a:srgbClr val="E2E8F0"/>
            </a:solidFill>
            <a:prstDash val="solid"/>
          </a:ln>
          <a:effectLst>
            <a:outerShdw blurRad="63500" dist="38100" dir="16200000" algn="bl" rotWithShape="0">
              <a:srgbClr val="000000">
                <a:alpha val="5000"/>
              </a:srgbClr>
            </a:outerShdw>
          </a:effectLst>
        </p:spPr>
        <p:txBody>
          <a:bodyPr/>
          <a:lstStyle/>
          <a:p>
            <a:endParaRPr lang="en-US"/>
          </a:p>
        </p:txBody>
      </p:sp>
      <p:sp>
        <p:nvSpPr>
          <p:cNvPr id="14" name="Shape 8"/>
          <p:cNvSpPr/>
          <p:nvPr/>
        </p:nvSpPr>
        <p:spPr>
          <a:xfrm>
            <a:off x="8343900" y="1714500"/>
            <a:ext cx="3258007" cy="38405"/>
          </a:xfrm>
          <a:prstGeom prst="roundRect">
            <a:avLst>
              <a:gd name="adj" fmla="val 197618"/>
            </a:avLst>
          </a:prstGeom>
          <a:solidFill>
            <a:srgbClr val="2A9D8F"/>
          </a:solidFill>
          <a:ln w="12700">
            <a:solidFill>
              <a:srgbClr val="2A9D8F">
                <a:alpha val="0"/>
              </a:srgbClr>
            </a:solidFill>
            <a:prstDash val="solid"/>
          </a:ln>
        </p:spPr>
        <p:txBody>
          <a:bodyPr/>
          <a:lstStyle/>
          <a:p>
            <a:endParaRPr lang="en-US"/>
          </a:p>
        </p:txBody>
      </p:sp>
      <p:sp>
        <p:nvSpPr>
          <p:cNvPr id="15" name="Shape 9"/>
          <p:cNvSpPr/>
          <p:nvPr/>
        </p:nvSpPr>
        <p:spPr>
          <a:xfrm>
            <a:off x="609905" y="4190695"/>
            <a:ext cx="3258007" cy="2143354"/>
          </a:xfrm>
          <a:prstGeom prst="roundRect">
            <a:avLst>
              <a:gd name="adj" fmla="val 3541"/>
            </a:avLst>
          </a:prstGeom>
          <a:solidFill>
            <a:srgbClr val="FFFFFF"/>
          </a:solidFill>
          <a:ln w="12700">
            <a:solidFill>
              <a:srgbClr val="E2E8F0"/>
            </a:solidFill>
            <a:prstDash val="solid"/>
          </a:ln>
          <a:effectLst>
            <a:outerShdw blurRad="63500" dist="38100" dir="16200000" algn="bl" rotWithShape="0">
              <a:srgbClr val="000000">
                <a:alpha val="5000"/>
              </a:srgbClr>
            </a:outerShdw>
          </a:effectLst>
        </p:spPr>
        <p:txBody>
          <a:bodyPr/>
          <a:lstStyle/>
          <a:p>
            <a:endParaRPr lang="en-US"/>
          </a:p>
        </p:txBody>
      </p:sp>
      <p:sp>
        <p:nvSpPr>
          <p:cNvPr id="16" name="Shape 10"/>
          <p:cNvSpPr/>
          <p:nvPr/>
        </p:nvSpPr>
        <p:spPr>
          <a:xfrm>
            <a:off x="609905" y="4190695"/>
            <a:ext cx="3258007" cy="38405"/>
          </a:xfrm>
          <a:prstGeom prst="roundRect">
            <a:avLst>
              <a:gd name="adj" fmla="val 197618"/>
            </a:avLst>
          </a:prstGeom>
          <a:solidFill>
            <a:srgbClr val="D62839"/>
          </a:solidFill>
          <a:ln w="12700">
            <a:solidFill>
              <a:srgbClr val="D62839">
                <a:alpha val="0"/>
              </a:srgbClr>
            </a:solidFill>
            <a:prstDash val="solid"/>
          </a:ln>
        </p:spPr>
        <p:txBody>
          <a:bodyPr/>
          <a:lstStyle/>
          <a:p>
            <a:endParaRPr lang="en-US"/>
          </a:p>
        </p:txBody>
      </p:sp>
      <p:sp>
        <p:nvSpPr>
          <p:cNvPr id="17" name="Shape 11"/>
          <p:cNvSpPr/>
          <p:nvPr/>
        </p:nvSpPr>
        <p:spPr>
          <a:xfrm>
            <a:off x="4476902" y="4190695"/>
            <a:ext cx="3258007" cy="2143354"/>
          </a:xfrm>
          <a:prstGeom prst="roundRect">
            <a:avLst>
              <a:gd name="adj" fmla="val 3541"/>
            </a:avLst>
          </a:prstGeom>
          <a:solidFill>
            <a:srgbClr val="FFFFFF"/>
          </a:solidFill>
          <a:ln w="12700">
            <a:solidFill>
              <a:srgbClr val="E2E8F0"/>
            </a:solidFill>
            <a:prstDash val="solid"/>
          </a:ln>
          <a:effectLst>
            <a:outerShdw blurRad="63500" dist="38100" dir="16200000" algn="bl" rotWithShape="0">
              <a:srgbClr val="000000">
                <a:alpha val="5000"/>
              </a:srgbClr>
            </a:outerShdw>
          </a:effectLst>
        </p:spPr>
        <p:txBody>
          <a:bodyPr/>
          <a:lstStyle/>
          <a:p>
            <a:endParaRPr lang="en-US"/>
          </a:p>
        </p:txBody>
      </p:sp>
      <p:sp>
        <p:nvSpPr>
          <p:cNvPr id="18" name="Shape 12"/>
          <p:cNvSpPr/>
          <p:nvPr/>
        </p:nvSpPr>
        <p:spPr>
          <a:xfrm>
            <a:off x="4476902" y="4190695"/>
            <a:ext cx="3258007" cy="38405"/>
          </a:xfrm>
          <a:prstGeom prst="roundRect">
            <a:avLst>
              <a:gd name="adj" fmla="val 197618"/>
            </a:avLst>
          </a:prstGeom>
          <a:solidFill>
            <a:srgbClr val="2A9D8F"/>
          </a:solidFill>
          <a:ln w="12700">
            <a:solidFill>
              <a:srgbClr val="2A9D8F">
                <a:alpha val="0"/>
              </a:srgbClr>
            </a:solidFill>
            <a:prstDash val="solid"/>
          </a:ln>
        </p:spPr>
        <p:txBody>
          <a:bodyPr/>
          <a:lstStyle/>
          <a:p>
            <a:endParaRPr lang="en-US"/>
          </a:p>
        </p:txBody>
      </p:sp>
      <p:sp>
        <p:nvSpPr>
          <p:cNvPr id="19" name="Shape 13"/>
          <p:cNvSpPr/>
          <p:nvPr/>
        </p:nvSpPr>
        <p:spPr>
          <a:xfrm>
            <a:off x="8343900" y="4190695"/>
            <a:ext cx="3258007" cy="2143354"/>
          </a:xfrm>
          <a:prstGeom prst="roundRect">
            <a:avLst>
              <a:gd name="adj" fmla="val 3541"/>
            </a:avLst>
          </a:prstGeom>
          <a:solidFill>
            <a:srgbClr val="FFFFFF"/>
          </a:solidFill>
          <a:ln w="12700">
            <a:solidFill>
              <a:srgbClr val="E2E8F0"/>
            </a:solidFill>
            <a:prstDash val="solid"/>
          </a:ln>
          <a:effectLst>
            <a:outerShdw blurRad="63500" dist="38100" dir="16200000" algn="bl" rotWithShape="0">
              <a:srgbClr val="000000">
                <a:alpha val="5000"/>
              </a:srgbClr>
            </a:outerShdw>
          </a:effectLst>
        </p:spPr>
        <p:txBody>
          <a:bodyPr/>
          <a:lstStyle/>
          <a:p>
            <a:endParaRPr lang="en-US"/>
          </a:p>
        </p:txBody>
      </p:sp>
      <p:sp>
        <p:nvSpPr>
          <p:cNvPr id="20" name="Shape 14"/>
          <p:cNvSpPr/>
          <p:nvPr/>
        </p:nvSpPr>
        <p:spPr>
          <a:xfrm>
            <a:off x="8343900" y="4190695"/>
            <a:ext cx="3258007" cy="38405"/>
          </a:xfrm>
          <a:prstGeom prst="roundRect">
            <a:avLst>
              <a:gd name="adj" fmla="val 197618"/>
            </a:avLst>
          </a:prstGeom>
          <a:solidFill>
            <a:srgbClr val="D62839"/>
          </a:solidFill>
          <a:ln w="12700">
            <a:solidFill>
              <a:srgbClr val="D62839">
                <a:alpha val="0"/>
              </a:srgbClr>
            </a:solidFill>
            <a:prstDash val="solid"/>
          </a:ln>
        </p:spPr>
        <p:txBody>
          <a:bodyPr/>
          <a:lstStyle/>
          <a:p>
            <a:endParaRPr lang="en-US"/>
          </a:p>
        </p:txBody>
      </p:sp>
      <p:sp>
        <p:nvSpPr>
          <p:cNvPr id="25" name="Text 19"/>
          <p:cNvSpPr txBox="1"/>
          <p:nvPr/>
        </p:nvSpPr>
        <p:spPr>
          <a:xfrm>
            <a:off x="6305397" y="1079906"/>
            <a:ext cx="8097012" cy="152705"/>
          </a:xfrm>
          <a:prstGeom prst="rect">
            <a:avLst/>
          </a:prstGeom>
          <a:noFill/>
          <a:ln/>
        </p:spPr>
        <p:txBody>
          <a:bodyPr wrap="none" lIns="0" tIns="0" rIns="0" bIns="0" rtlCol="0" anchor="ctr"/>
          <a:lstStyle/>
          <a:p>
            <a:pPr marL="0" indent="0" algn="l">
              <a:buNone/>
            </a:pPr>
            <a:endParaRPr lang="en-US" sz="1000"/>
          </a:p>
        </p:txBody>
      </p:sp>
      <p:sp>
        <p:nvSpPr>
          <p:cNvPr id="26" name="Text 20"/>
          <p:cNvSpPr txBox="1"/>
          <p:nvPr/>
        </p:nvSpPr>
        <p:spPr>
          <a:xfrm>
            <a:off x="838505" y="1981505"/>
            <a:ext cx="340157" cy="305410"/>
          </a:xfrm>
          <a:prstGeom prst="rect">
            <a:avLst/>
          </a:prstGeom>
          <a:noFill/>
          <a:ln/>
        </p:spPr>
        <p:txBody>
          <a:bodyPr wrap="none" lIns="0" tIns="0" rIns="0" bIns="0" rtlCol="0" anchor="ctr"/>
          <a:lstStyle/>
          <a:p>
            <a:pPr marL="0" indent="0" algn="l">
              <a:buNone/>
            </a:pPr>
            <a:r>
              <a:rPr lang="en-US" sz="2400" b="1">
                <a:solidFill>
                  <a:srgbClr val="2A9D8F"/>
                </a:solidFill>
                <a:latin typeface="Oswald" pitchFamily="34" charset="0"/>
                <a:ea typeface="Oswald" pitchFamily="34" charset="-122"/>
                <a:cs typeface="Oswald" pitchFamily="34" charset="-120"/>
              </a:rPr>
              <a:t>01</a:t>
            </a:r>
            <a:endParaRPr lang="en-US" sz="2400"/>
          </a:p>
        </p:txBody>
      </p:sp>
      <p:sp>
        <p:nvSpPr>
          <p:cNvPr id="27" name="Text 21"/>
          <p:cNvSpPr txBox="1"/>
          <p:nvPr/>
        </p:nvSpPr>
        <p:spPr>
          <a:xfrm>
            <a:off x="1237183" y="1995424"/>
            <a:ext cx="1417320" cy="247802"/>
          </a:xfrm>
          <a:prstGeom prst="rect">
            <a:avLst/>
          </a:prstGeom>
          <a:noFill/>
          <a:ln/>
        </p:spPr>
        <p:txBody>
          <a:bodyPr wrap="none" lIns="0" tIns="0" rIns="0" bIns="0" rtlCol="0" anchor="ctr"/>
          <a:lstStyle/>
          <a:p>
            <a:pPr marL="0" indent="0" algn="l">
              <a:buNone/>
            </a:pPr>
            <a:r>
              <a:rPr lang="en-US" sz="1600" b="1">
                <a:solidFill>
                  <a:srgbClr val="111827"/>
                </a:solidFill>
                <a:latin typeface="Oswald" pitchFamily="34" charset="0"/>
                <a:ea typeface="Oswald" pitchFamily="34" charset="-122"/>
                <a:cs typeface="Oswald" pitchFamily="34" charset="-120"/>
              </a:rPr>
              <a:t>Scope &amp; Source</a:t>
            </a:r>
            <a:endParaRPr lang="en-US" sz="1600"/>
          </a:p>
        </p:txBody>
      </p:sp>
      <p:sp>
        <p:nvSpPr>
          <p:cNvPr id="28" name="Text 22"/>
          <p:cNvSpPr txBox="1"/>
          <p:nvPr/>
        </p:nvSpPr>
        <p:spPr>
          <a:xfrm>
            <a:off x="838505" y="2428646"/>
            <a:ext cx="2781605" cy="600761"/>
          </a:xfrm>
          <a:prstGeom prst="rect">
            <a:avLst/>
          </a:prstGeom>
          <a:noFill/>
          <a:ln/>
        </p:spPr>
        <p:txBody>
          <a:bodyPr wrap="square" lIns="0" tIns="0" rIns="0" bIns="0" rtlCol="0" anchor="ctr"/>
          <a:lstStyle/>
          <a:p>
            <a:pPr marL="0" indent="0" algn="l">
              <a:buNone/>
            </a:pPr>
            <a:r>
              <a:rPr lang="en-US" sz="1000">
                <a:solidFill>
                  <a:srgbClr val="4B5563"/>
                </a:solidFill>
                <a:latin typeface="Raleway" pitchFamily="34" charset="0"/>
                <a:ea typeface="Raleway" pitchFamily="34" charset="-122"/>
                <a:cs typeface="Raleway" pitchFamily="34" charset="-120"/>
              </a:rPr>
              <a:t>Role definition + domain-specific talent pool activation. TalentAI matching + voice-agent pre-screen. Shortlist in 72 hrs.</a:t>
            </a:r>
            <a:endParaRPr lang="en-US" sz="1000"/>
          </a:p>
        </p:txBody>
      </p:sp>
      <p:pic>
        <p:nvPicPr>
          <p:cNvPr id="29" name="Image 4" descr="gen-dedup-68afaceb726e7c14c8688760b973252d.png"/>
          <p:cNvPicPr>
            <a:picLocks noChangeAspect="1"/>
          </p:cNvPicPr>
          <p:nvPr/>
        </p:nvPicPr>
        <p:blipFill>
          <a:blip r:embed="rId6"/>
          <a:srcRect l="-13360" r="-13360"/>
          <a:stretch/>
        </p:blipFill>
        <p:spPr>
          <a:xfrm>
            <a:off x="4062679" y="2648102"/>
            <a:ext cx="181051" cy="228600"/>
          </a:xfrm>
          <a:prstGeom prst="rect">
            <a:avLst/>
          </a:prstGeom>
        </p:spPr>
      </p:pic>
      <p:sp>
        <p:nvSpPr>
          <p:cNvPr id="30" name="Text 23"/>
          <p:cNvSpPr txBox="1"/>
          <p:nvPr/>
        </p:nvSpPr>
        <p:spPr>
          <a:xfrm>
            <a:off x="4705502" y="1981505"/>
            <a:ext cx="391363" cy="305410"/>
          </a:xfrm>
          <a:prstGeom prst="rect">
            <a:avLst/>
          </a:prstGeom>
          <a:noFill/>
          <a:ln/>
        </p:spPr>
        <p:txBody>
          <a:bodyPr wrap="none" lIns="0" tIns="0" rIns="0" bIns="0" rtlCol="0" anchor="ctr"/>
          <a:lstStyle/>
          <a:p>
            <a:pPr marL="0" indent="0" algn="l">
              <a:buNone/>
            </a:pPr>
            <a:r>
              <a:rPr lang="en-US" sz="2400" b="1">
                <a:solidFill>
                  <a:srgbClr val="D62839"/>
                </a:solidFill>
                <a:latin typeface="Oswald" pitchFamily="34" charset="0"/>
                <a:ea typeface="Oswald" pitchFamily="34" charset="-122"/>
                <a:cs typeface="Oswald" pitchFamily="34" charset="-120"/>
              </a:rPr>
              <a:t>02</a:t>
            </a:r>
            <a:endParaRPr lang="en-US" sz="2400"/>
          </a:p>
        </p:txBody>
      </p:sp>
      <p:sp>
        <p:nvSpPr>
          <p:cNvPr id="31" name="Text 24"/>
          <p:cNvSpPr txBox="1"/>
          <p:nvPr/>
        </p:nvSpPr>
        <p:spPr>
          <a:xfrm>
            <a:off x="5144414" y="1995424"/>
            <a:ext cx="839419" cy="247802"/>
          </a:xfrm>
          <a:prstGeom prst="rect">
            <a:avLst/>
          </a:prstGeom>
          <a:noFill/>
          <a:ln/>
        </p:spPr>
        <p:txBody>
          <a:bodyPr wrap="none" lIns="0" tIns="0" rIns="0" bIns="0" rtlCol="0" anchor="ctr"/>
          <a:lstStyle/>
          <a:p>
            <a:pPr marL="0" indent="0" algn="l">
              <a:buNone/>
            </a:pPr>
            <a:r>
              <a:rPr lang="en-US" sz="1600" b="1">
                <a:solidFill>
                  <a:srgbClr val="111827"/>
                </a:solidFill>
                <a:latin typeface="Oswald" pitchFamily="34" charset="0"/>
                <a:ea typeface="Oswald" pitchFamily="34" charset="-122"/>
                <a:cs typeface="Oswald" pitchFamily="34" charset="-120"/>
              </a:rPr>
              <a:t>AI-Assess</a:t>
            </a:r>
            <a:endParaRPr lang="en-US" sz="1600"/>
          </a:p>
        </p:txBody>
      </p:sp>
      <p:sp>
        <p:nvSpPr>
          <p:cNvPr id="32" name="Text 25"/>
          <p:cNvSpPr txBox="1"/>
          <p:nvPr/>
        </p:nvSpPr>
        <p:spPr>
          <a:xfrm>
            <a:off x="4705502" y="2428646"/>
            <a:ext cx="2781605" cy="600761"/>
          </a:xfrm>
          <a:prstGeom prst="rect">
            <a:avLst/>
          </a:prstGeom>
          <a:noFill/>
          <a:ln/>
        </p:spPr>
        <p:txBody>
          <a:bodyPr wrap="square" lIns="0" tIns="0" rIns="0" bIns="0" rtlCol="0" anchor="ctr"/>
          <a:lstStyle/>
          <a:p>
            <a:pPr marL="0" indent="0" algn="l">
              <a:buNone/>
            </a:pPr>
            <a:r>
              <a:rPr lang="en-US" sz="1000">
                <a:solidFill>
                  <a:srgbClr val="4B5563"/>
                </a:solidFill>
                <a:latin typeface="Raleway" pitchFamily="34" charset="0"/>
                <a:ea typeface="Raleway" pitchFamily="34" charset="-122"/>
                <a:cs typeface="Raleway" pitchFamily="34" charset="-120"/>
              </a:rPr>
              <a:t>Live coding + domain scenario assessment via TalentSphere. Technical bar validated by J2W before client interview.</a:t>
            </a:r>
            <a:endParaRPr lang="en-US" sz="1000"/>
          </a:p>
        </p:txBody>
      </p:sp>
      <p:pic>
        <p:nvPicPr>
          <p:cNvPr id="33" name="Image 5" descr="gen-dedup-68afaceb726e7c14c8688760b973252d.png"/>
          <p:cNvPicPr>
            <a:picLocks noChangeAspect="1"/>
          </p:cNvPicPr>
          <p:nvPr/>
        </p:nvPicPr>
        <p:blipFill>
          <a:blip r:embed="rId6"/>
          <a:srcRect l="-13360" r="-13360"/>
          <a:stretch/>
        </p:blipFill>
        <p:spPr>
          <a:xfrm>
            <a:off x="7929677" y="2648102"/>
            <a:ext cx="181051" cy="228600"/>
          </a:xfrm>
          <a:prstGeom prst="rect">
            <a:avLst/>
          </a:prstGeom>
        </p:spPr>
      </p:pic>
      <p:sp>
        <p:nvSpPr>
          <p:cNvPr id="34" name="Text 26"/>
          <p:cNvSpPr txBox="1"/>
          <p:nvPr/>
        </p:nvSpPr>
        <p:spPr>
          <a:xfrm>
            <a:off x="8572500" y="1981505"/>
            <a:ext cx="391363" cy="305410"/>
          </a:xfrm>
          <a:prstGeom prst="rect">
            <a:avLst/>
          </a:prstGeom>
          <a:noFill/>
          <a:ln/>
        </p:spPr>
        <p:txBody>
          <a:bodyPr wrap="none" lIns="0" tIns="0" rIns="0" bIns="0" rtlCol="0" anchor="ctr"/>
          <a:lstStyle/>
          <a:p>
            <a:pPr marL="0" indent="0" algn="l">
              <a:buNone/>
            </a:pPr>
            <a:r>
              <a:rPr lang="en-US" sz="2400" b="1">
                <a:solidFill>
                  <a:srgbClr val="2A9D8F"/>
                </a:solidFill>
                <a:latin typeface="Oswald" pitchFamily="34" charset="0"/>
                <a:ea typeface="Oswald" pitchFamily="34" charset="-122"/>
                <a:cs typeface="Oswald" pitchFamily="34" charset="-120"/>
              </a:rPr>
              <a:t>03</a:t>
            </a:r>
            <a:endParaRPr lang="en-US" sz="2400"/>
          </a:p>
        </p:txBody>
      </p:sp>
      <p:sp>
        <p:nvSpPr>
          <p:cNvPr id="35" name="Text 27"/>
          <p:cNvSpPr txBox="1"/>
          <p:nvPr/>
        </p:nvSpPr>
        <p:spPr>
          <a:xfrm>
            <a:off x="9011412" y="1995424"/>
            <a:ext cx="1553566" cy="247802"/>
          </a:xfrm>
          <a:prstGeom prst="rect">
            <a:avLst/>
          </a:prstGeom>
          <a:noFill/>
          <a:ln/>
        </p:spPr>
        <p:txBody>
          <a:bodyPr wrap="none" lIns="0" tIns="0" rIns="0" bIns="0" rtlCol="0" anchor="ctr"/>
          <a:lstStyle/>
          <a:p>
            <a:pPr marL="0" indent="0" algn="l">
              <a:buNone/>
            </a:pPr>
            <a:r>
              <a:rPr lang="en-US" sz="1600" b="1">
                <a:solidFill>
                  <a:srgbClr val="111827"/>
                </a:solidFill>
                <a:latin typeface="Oswald" pitchFamily="34" charset="0"/>
                <a:ea typeface="Oswald" pitchFamily="34" charset="-122"/>
                <a:cs typeface="Oswald" pitchFamily="34" charset="-120"/>
              </a:rPr>
              <a:t>Deploy in 10 Days</a:t>
            </a:r>
            <a:endParaRPr lang="en-US" sz="1600"/>
          </a:p>
        </p:txBody>
      </p:sp>
      <p:sp>
        <p:nvSpPr>
          <p:cNvPr id="36" name="Text 28"/>
          <p:cNvSpPr txBox="1"/>
          <p:nvPr/>
        </p:nvSpPr>
        <p:spPr>
          <a:xfrm>
            <a:off x="8572500" y="2428646"/>
            <a:ext cx="2781605" cy="600761"/>
          </a:xfrm>
          <a:prstGeom prst="rect">
            <a:avLst/>
          </a:prstGeom>
          <a:noFill/>
          <a:ln/>
        </p:spPr>
        <p:txBody>
          <a:bodyPr wrap="square" lIns="0" tIns="0" rIns="0" bIns="0" rtlCol="0" anchor="ctr"/>
          <a:lstStyle/>
          <a:p>
            <a:pPr marL="0" indent="0" algn="l">
              <a:buNone/>
            </a:pPr>
            <a:r>
              <a:rPr lang="en-US" sz="1000">
                <a:solidFill>
                  <a:srgbClr val="4B5563"/>
                </a:solidFill>
                <a:latin typeface="Raleway" pitchFamily="34" charset="0"/>
                <a:ea typeface="Raleway" pitchFamily="34" charset="-122"/>
                <a:cs typeface="Raleway" pitchFamily="34" charset="-120"/>
              </a:rPr>
              <a:t>Offer → onboarding → Day-1 productivity. J2W payroll, compliance, IT provisioning - fully managed.</a:t>
            </a:r>
            <a:endParaRPr lang="en-US" sz="1000"/>
          </a:p>
        </p:txBody>
      </p:sp>
      <p:pic>
        <p:nvPicPr>
          <p:cNvPr id="37" name="Image 6" descr="gen-dedup-ff9a716cc6b1850cd75acb20aeb0dc17.png"/>
          <p:cNvPicPr>
            <a:picLocks noChangeAspect="1"/>
          </p:cNvPicPr>
          <p:nvPr/>
        </p:nvPicPr>
        <p:blipFill>
          <a:blip r:embed="rId7"/>
          <a:srcRect t="-13131" b="-13131"/>
          <a:stretch/>
        </p:blipFill>
        <p:spPr>
          <a:xfrm>
            <a:off x="9872777" y="3895344"/>
            <a:ext cx="181051" cy="228600"/>
          </a:xfrm>
          <a:prstGeom prst="rect">
            <a:avLst/>
          </a:prstGeom>
        </p:spPr>
      </p:pic>
      <p:sp>
        <p:nvSpPr>
          <p:cNvPr id="38" name="Text 29"/>
          <p:cNvSpPr txBox="1"/>
          <p:nvPr/>
        </p:nvSpPr>
        <p:spPr>
          <a:xfrm>
            <a:off x="838505" y="4457700"/>
            <a:ext cx="391363" cy="305410"/>
          </a:xfrm>
          <a:prstGeom prst="rect">
            <a:avLst/>
          </a:prstGeom>
          <a:noFill/>
          <a:ln/>
        </p:spPr>
        <p:txBody>
          <a:bodyPr wrap="none" lIns="0" tIns="0" rIns="0" bIns="0" rtlCol="0" anchor="ctr"/>
          <a:lstStyle/>
          <a:p>
            <a:pPr marL="0" indent="0" algn="l">
              <a:buNone/>
            </a:pPr>
            <a:r>
              <a:rPr lang="en-US" sz="2400" b="1">
                <a:solidFill>
                  <a:srgbClr val="D62839"/>
                </a:solidFill>
                <a:latin typeface="Oswald" pitchFamily="34" charset="0"/>
                <a:ea typeface="Oswald" pitchFamily="34" charset="-122"/>
                <a:cs typeface="Oswald" pitchFamily="34" charset="-120"/>
              </a:rPr>
              <a:t>04</a:t>
            </a:r>
            <a:endParaRPr lang="en-US" sz="2400"/>
          </a:p>
        </p:txBody>
      </p:sp>
      <p:sp>
        <p:nvSpPr>
          <p:cNvPr id="39" name="Text 30"/>
          <p:cNvSpPr txBox="1"/>
          <p:nvPr/>
        </p:nvSpPr>
        <p:spPr>
          <a:xfrm>
            <a:off x="1280160" y="4472534"/>
            <a:ext cx="1564538" cy="247802"/>
          </a:xfrm>
          <a:prstGeom prst="rect">
            <a:avLst/>
          </a:prstGeom>
          <a:noFill/>
          <a:ln/>
        </p:spPr>
        <p:txBody>
          <a:bodyPr wrap="none" lIns="0" tIns="0" rIns="0" bIns="0" rtlCol="0" anchor="ctr"/>
          <a:lstStyle/>
          <a:p>
            <a:pPr marL="0" indent="0" algn="l">
              <a:buNone/>
            </a:pPr>
            <a:r>
              <a:rPr lang="en-US" sz="1600" b="1">
                <a:solidFill>
                  <a:srgbClr val="111827"/>
                </a:solidFill>
                <a:latin typeface="Oswald" pitchFamily="34" charset="0"/>
                <a:ea typeface="Oswald" pitchFamily="34" charset="-122"/>
                <a:cs typeface="Oswald" pitchFamily="34" charset="-120"/>
              </a:rPr>
              <a:t>Govern &amp; Upskill</a:t>
            </a:r>
            <a:endParaRPr lang="en-US" sz="1600"/>
          </a:p>
        </p:txBody>
      </p:sp>
      <p:sp>
        <p:nvSpPr>
          <p:cNvPr id="40" name="Text 31"/>
          <p:cNvSpPr txBox="1"/>
          <p:nvPr/>
        </p:nvSpPr>
        <p:spPr>
          <a:xfrm>
            <a:off x="838505" y="4905756"/>
            <a:ext cx="2781605" cy="600761"/>
          </a:xfrm>
          <a:prstGeom prst="rect">
            <a:avLst/>
          </a:prstGeom>
          <a:noFill/>
          <a:ln/>
        </p:spPr>
        <p:txBody>
          <a:bodyPr wrap="square" lIns="0" tIns="0" rIns="0" bIns="0" rtlCol="0" anchor="ctr"/>
          <a:lstStyle/>
          <a:p>
            <a:pPr marL="0" indent="0" algn="l">
              <a:buNone/>
            </a:pPr>
            <a:r>
              <a:rPr lang="en-US" sz="1000">
                <a:solidFill>
                  <a:srgbClr val="4B5563"/>
                </a:solidFill>
                <a:latin typeface="Raleway" pitchFamily="34" charset="0"/>
                <a:ea typeface="Raleway" pitchFamily="34" charset="-122"/>
                <a:cs typeface="Raleway" pitchFamily="34" charset="-120"/>
              </a:rPr>
              <a:t>Sprint accountability via Pod Manager. Monthly AI upskilling in J2W Labs. Weekly performance telemetry.</a:t>
            </a:r>
            <a:endParaRPr lang="en-US" sz="1000"/>
          </a:p>
        </p:txBody>
      </p:sp>
      <p:pic>
        <p:nvPicPr>
          <p:cNvPr id="41" name="Image 7" descr="gen-dedup-68afaceb726e7c14c8688760b973252d.png"/>
          <p:cNvPicPr>
            <a:picLocks noChangeAspect="1"/>
          </p:cNvPicPr>
          <p:nvPr/>
        </p:nvPicPr>
        <p:blipFill>
          <a:blip r:embed="rId6"/>
          <a:srcRect l="-13360" r="-13360"/>
          <a:stretch/>
        </p:blipFill>
        <p:spPr>
          <a:xfrm>
            <a:off x="4062679" y="5124298"/>
            <a:ext cx="181051" cy="228600"/>
          </a:xfrm>
          <a:prstGeom prst="rect">
            <a:avLst/>
          </a:prstGeom>
        </p:spPr>
      </p:pic>
      <p:sp>
        <p:nvSpPr>
          <p:cNvPr id="42" name="Text 32"/>
          <p:cNvSpPr txBox="1"/>
          <p:nvPr/>
        </p:nvSpPr>
        <p:spPr>
          <a:xfrm>
            <a:off x="4705502" y="4457700"/>
            <a:ext cx="385877" cy="305410"/>
          </a:xfrm>
          <a:prstGeom prst="rect">
            <a:avLst/>
          </a:prstGeom>
          <a:noFill/>
          <a:ln/>
        </p:spPr>
        <p:txBody>
          <a:bodyPr wrap="none" lIns="0" tIns="0" rIns="0" bIns="0" rtlCol="0" anchor="ctr"/>
          <a:lstStyle/>
          <a:p>
            <a:pPr marL="0" indent="0" algn="l">
              <a:buNone/>
            </a:pPr>
            <a:r>
              <a:rPr lang="en-US" sz="2400" b="1">
                <a:solidFill>
                  <a:srgbClr val="2A9D8F"/>
                </a:solidFill>
                <a:latin typeface="Oswald" pitchFamily="34" charset="0"/>
                <a:ea typeface="Oswald" pitchFamily="34" charset="-122"/>
                <a:cs typeface="Oswald" pitchFamily="34" charset="-120"/>
              </a:rPr>
              <a:t>05</a:t>
            </a:r>
            <a:endParaRPr lang="en-US" sz="2400"/>
          </a:p>
        </p:txBody>
      </p:sp>
      <p:sp>
        <p:nvSpPr>
          <p:cNvPr id="43" name="Text 33"/>
          <p:cNvSpPr txBox="1"/>
          <p:nvPr/>
        </p:nvSpPr>
        <p:spPr>
          <a:xfrm>
            <a:off x="5142586" y="4472534"/>
            <a:ext cx="2018081" cy="247802"/>
          </a:xfrm>
          <a:prstGeom prst="rect">
            <a:avLst/>
          </a:prstGeom>
          <a:noFill/>
          <a:ln/>
        </p:spPr>
        <p:txBody>
          <a:bodyPr wrap="none" lIns="0" tIns="0" rIns="0" bIns="0" rtlCol="0" anchor="ctr"/>
          <a:lstStyle/>
          <a:p>
            <a:pPr marL="0" indent="0" algn="l">
              <a:buNone/>
            </a:pPr>
            <a:r>
              <a:rPr lang="en-US" sz="1600" b="1">
                <a:solidFill>
                  <a:srgbClr val="111827"/>
                </a:solidFill>
                <a:latin typeface="Oswald" pitchFamily="34" charset="0"/>
                <a:ea typeface="Oswald" pitchFamily="34" charset="-122"/>
                <a:cs typeface="Oswald" pitchFamily="34" charset="-120"/>
              </a:rPr>
              <a:t>POFU - 90-Day Funnel</a:t>
            </a:r>
            <a:endParaRPr lang="en-US" sz="1600"/>
          </a:p>
        </p:txBody>
      </p:sp>
      <p:sp>
        <p:nvSpPr>
          <p:cNvPr id="44" name="Text 34"/>
          <p:cNvSpPr txBox="1"/>
          <p:nvPr/>
        </p:nvSpPr>
        <p:spPr>
          <a:xfrm>
            <a:off x="4705502" y="4905756"/>
            <a:ext cx="2781605" cy="800100"/>
          </a:xfrm>
          <a:prstGeom prst="rect">
            <a:avLst/>
          </a:prstGeom>
          <a:noFill/>
          <a:ln/>
        </p:spPr>
        <p:txBody>
          <a:bodyPr wrap="square" lIns="0" tIns="0" rIns="0" bIns="0" rtlCol="0" anchor="ctr"/>
          <a:lstStyle/>
          <a:p>
            <a:pPr marL="0" indent="0" algn="l">
              <a:buNone/>
            </a:pPr>
            <a:r>
              <a:rPr lang="en-US" sz="1000">
                <a:solidFill>
                  <a:srgbClr val="4B5563"/>
                </a:solidFill>
                <a:latin typeface="Raleway" pitchFamily="34" charset="0"/>
                <a:ea typeface="Raleway" pitchFamily="34" charset="-122"/>
                <a:cs typeface="Raleway" pitchFamily="34" charset="-120"/>
              </a:rPr>
              <a:t>Post-Offer Follow-Up: milestone touchpoints, counter-offer inoculation, manager connects. Dropout rate → single digits.</a:t>
            </a:r>
            <a:endParaRPr lang="en-US" sz="1000"/>
          </a:p>
        </p:txBody>
      </p:sp>
      <p:pic>
        <p:nvPicPr>
          <p:cNvPr id="45" name="Image 8" descr="gen-dedup-68afaceb726e7c14c8688760b973252d.png"/>
          <p:cNvPicPr>
            <a:picLocks noChangeAspect="1"/>
          </p:cNvPicPr>
          <p:nvPr/>
        </p:nvPicPr>
        <p:blipFill>
          <a:blip r:embed="rId6"/>
          <a:srcRect l="-13360" r="-13360"/>
          <a:stretch/>
        </p:blipFill>
        <p:spPr>
          <a:xfrm>
            <a:off x="7929677" y="5124298"/>
            <a:ext cx="181051" cy="228600"/>
          </a:xfrm>
          <a:prstGeom prst="rect">
            <a:avLst/>
          </a:prstGeom>
        </p:spPr>
      </p:pic>
      <p:sp>
        <p:nvSpPr>
          <p:cNvPr id="46" name="Text 35"/>
          <p:cNvSpPr txBox="1"/>
          <p:nvPr/>
        </p:nvSpPr>
        <p:spPr>
          <a:xfrm>
            <a:off x="8572500" y="4457700"/>
            <a:ext cx="391363" cy="305410"/>
          </a:xfrm>
          <a:prstGeom prst="rect">
            <a:avLst/>
          </a:prstGeom>
          <a:noFill/>
          <a:ln/>
        </p:spPr>
        <p:txBody>
          <a:bodyPr wrap="none" lIns="0" tIns="0" rIns="0" bIns="0" rtlCol="0" anchor="ctr"/>
          <a:lstStyle/>
          <a:p>
            <a:pPr marL="0" indent="0" algn="l">
              <a:buNone/>
            </a:pPr>
            <a:r>
              <a:rPr lang="en-US" sz="2400" b="1">
                <a:solidFill>
                  <a:srgbClr val="D62839"/>
                </a:solidFill>
                <a:latin typeface="Oswald" pitchFamily="34" charset="0"/>
                <a:ea typeface="Oswald" pitchFamily="34" charset="-122"/>
                <a:cs typeface="Oswald" pitchFamily="34" charset="-120"/>
              </a:rPr>
              <a:t>06</a:t>
            </a:r>
            <a:endParaRPr lang="en-US" sz="2400"/>
          </a:p>
        </p:txBody>
      </p:sp>
      <p:sp>
        <p:nvSpPr>
          <p:cNvPr id="47" name="Text 36"/>
          <p:cNvSpPr txBox="1"/>
          <p:nvPr/>
        </p:nvSpPr>
        <p:spPr>
          <a:xfrm>
            <a:off x="9018727" y="4472534"/>
            <a:ext cx="1598371" cy="247802"/>
          </a:xfrm>
          <a:prstGeom prst="rect">
            <a:avLst/>
          </a:prstGeom>
          <a:noFill/>
          <a:ln/>
        </p:spPr>
        <p:txBody>
          <a:bodyPr wrap="none" lIns="0" tIns="0" rIns="0" bIns="0" rtlCol="0" anchor="ctr"/>
          <a:lstStyle/>
          <a:p>
            <a:pPr marL="0" indent="0" algn="l">
              <a:buNone/>
            </a:pPr>
            <a:r>
              <a:rPr lang="en-US" sz="1600" b="1">
                <a:solidFill>
                  <a:srgbClr val="111827"/>
                </a:solidFill>
                <a:latin typeface="Oswald" pitchFamily="34" charset="0"/>
                <a:ea typeface="Oswald" pitchFamily="34" charset="-122"/>
                <a:cs typeface="Oswald" pitchFamily="34" charset="-120"/>
              </a:rPr>
              <a:t>Scale or Convert</a:t>
            </a:r>
            <a:endParaRPr lang="en-US" sz="1600"/>
          </a:p>
        </p:txBody>
      </p:sp>
      <p:sp>
        <p:nvSpPr>
          <p:cNvPr id="48" name="Text 37"/>
          <p:cNvSpPr txBox="1"/>
          <p:nvPr/>
        </p:nvSpPr>
        <p:spPr>
          <a:xfrm>
            <a:off x="8572500" y="4905756"/>
            <a:ext cx="2781605" cy="600761"/>
          </a:xfrm>
          <a:prstGeom prst="rect">
            <a:avLst/>
          </a:prstGeom>
          <a:noFill/>
          <a:ln/>
        </p:spPr>
        <p:txBody>
          <a:bodyPr wrap="square" lIns="0" tIns="0" rIns="0" bIns="0" rtlCol="0" anchor="ctr"/>
          <a:lstStyle/>
          <a:p>
            <a:pPr marL="0" indent="0" algn="l">
              <a:buNone/>
            </a:pPr>
            <a:r>
              <a:rPr lang="en-US" sz="1000">
                <a:solidFill>
                  <a:srgbClr val="4B5563"/>
                </a:solidFill>
                <a:latin typeface="Raleway" pitchFamily="34" charset="0"/>
                <a:ea typeface="Raleway" pitchFamily="34" charset="-122"/>
                <a:cs typeface="Raleway" pitchFamily="34" charset="-120"/>
              </a:rPr>
              <a:t>C2H → permanent conversion on Day 91. Scale the pod up or down. Quarterly Business Review with ROI data.</a:t>
            </a:r>
            <a:endParaRPr lang="en-US" sz="1000"/>
          </a:p>
        </p:txBody>
      </p:sp>
      <p:pic>
        <p:nvPicPr>
          <p:cNvPr id="22" name="Image 3" descr="gen-dedup-777bf757d895431cabe402fcd34ebd5a.png">
            <a:extLst>
              <a:ext uri="{FF2B5EF4-FFF2-40B4-BE49-F238E27FC236}">
                <a16:creationId xmlns:a16="http://schemas.microsoft.com/office/drawing/2014/main" id="{3D20DEF3-BC0A-E881-F21E-739887AF799D}"/>
              </a:ext>
            </a:extLst>
          </p:cNvPr>
          <p:cNvPicPr>
            <a:picLocks noChangeAspect="1"/>
          </p:cNvPicPr>
          <p:nvPr/>
        </p:nvPicPr>
        <p:blipFill>
          <a:blip r:embed="rId8">
            <a:biLevel thresh="75000"/>
          </a:blip>
          <a:srcRect l="-384" r="-384"/>
          <a:stretch/>
        </p:blipFill>
        <p:spPr>
          <a:xfrm>
            <a:off x="571500" y="381305"/>
            <a:ext cx="57607" cy="476402"/>
          </a:xfrm>
          <a:prstGeom prst="rect">
            <a:avLst/>
          </a:prstGeom>
        </p:spPr>
      </p:pic>
      <p:sp>
        <p:nvSpPr>
          <p:cNvPr id="50" name="Text 5">
            <a:extLst>
              <a:ext uri="{FF2B5EF4-FFF2-40B4-BE49-F238E27FC236}">
                <a16:creationId xmlns:a16="http://schemas.microsoft.com/office/drawing/2014/main" id="{279DFBEF-830E-5CA7-9B8E-5D2E671D818B}"/>
              </a:ext>
            </a:extLst>
          </p:cNvPr>
          <p:cNvSpPr txBox="1"/>
          <p:nvPr/>
        </p:nvSpPr>
        <p:spPr>
          <a:xfrm>
            <a:off x="780897" y="333756"/>
            <a:ext cx="5913817" cy="406908"/>
          </a:xfrm>
          <a:prstGeom prst="rect">
            <a:avLst/>
          </a:prstGeom>
          <a:noFill/>
          <a:ln/>
        </p:spPr>
        <p:txBody>
          <a:bodyPr wrap="none" lIns="0" tIns="0" rIns="0" bIns="0" rtlCol="0" anchor="ctr"/>
          <a:lstStyle/>
          <a:p>
            <a:r>
              <a:rPr lang="en-GB" sz="2400" b="1" kern="0" spc="-67" dirty="0">
                <a:solidFill>
                  <a:srgbClr val="111827"/>
                </a:solidFill>
                <a:latin typeface="Oswald" pitchFamily="34" charset="0"/>
                <a:ea typeface="Oswald" pitchFamily="34" charset="-122"/>
                <a:cs typeface="Oswald" pitchFamily="34" charset="-120"/>
              </a:rPr>
              <a:t>WORKFORCE SOLUTIONS - HOW WE DELIVER</a:t>
            </a:r>
          </a:p>
        </p:txBody>
      </p:sp>
      <p:sp>
        <p:nvSpPr>
          <p:cNvPr id="52" name="Text 6">
            <a:extLst>
              <a:ext uri="{FF2B5EF4-FFF2-40B4-BE49-F238E27FC236}">
                <a16:creationId xmlns:a16="http://schemas.microsoft.com/office/drawing/2014/main" id="{D049F8DA-6703-71FC-3546-858A681D8336}"/>
              </a:ext>
            </a:extLst>
          </p:cNvPr>
          <p:cNvSpPr txBox="1"/>
          <p:nvPr/>
        </p:nvSpPr>
        <p:spPr>
          <a:xfrm>
            <a:off x="780898" y="740663"/>
            <a:ext cx="5054803" cy="257861"/>
          </a:xfrm>
          <a:prstGeom prst="rect">
            <a:avLst/>
          </a:prstGeom>
          <a:noFill/>
          <a:ln/>
        </p:spPr>
        <p:txBody>
          <a:bodyPr wrap="none" lIns="0" tIns="0" rIns="0" bIns="0" rtlCol="0" anchor="ctr"/>
          <a:lstStyle/>
          <a:p>
            <a:pPr marL="0" indent="0" algn="l">
              <a:buNone/>
            </a:pPr>
            <a:r>
              <a:rPr lang="en-GB" sz="1500" b="1" kern="0" spc="66" dirty="0">
                <a:solidFill>
                  <a:srgbClr val="2A9D8F"/>
                </a:solidFill>
                <a:latin typeface="Roboto Condensed" pitchFamily="34" charset="0"/>
                <a:ea typeface="Roboto Condensed" pitchFamily="34" charset="-122"/>
                <a:cs typeface="Roboto Condensed" pitchFamily="34" charset="-120"/>
              </a:rPr>
              <a:t>From Sourcing To Sprint Governance - A Structured Operating Model, Not A Staffing Drop.</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pic>
        <p:nvPicPr>
          <p:cNvPr id="4" name="Image 0" descr="gen-dedup-cad3a534ee2971c6a497c9faf59fb5cd.png"/>
          <p:cNvPicPr>
            <a:picLocks noChangeAspect="1"/>
          </p:cNvPicPr>
          <p:nvPr/>
        </p:nvPicPr>
        <p:blipFill>
          <a:blip r:embed="rId3"/>
          <a:srcRect l="-202" r="-202"/>
          <a:stretch/>
        </p:blipFill>
        <p:spPr>
          <a:xfrm>
            <a:off x="0" y="0"/>
            <a:ext cx="8128102" cy="75895"/>
          </a:xfrm>
          <a:prstGeom prst="rect">
            <a:avLst/>
          </a:prstGeom>
        </p:spPr>
      </p:pic>
      <p:pic>
        <p:nvPicPr>
          <p:cNvPr id="5" name="Image 1" descr="gen-dedup-64882feb7a832238af77b962fc7a8538.png"/>
          <p:cNvPicPr>
            <a:picLocks noChangeAspect="1"/>
          </p:cNvPicPr>
          <p:nvPr/>
        </p:nvPicPr>
        <p:blipFill>
          <a:blip r:embed="rId4"/>
          <a:srcRect l="-197" r="-197"/>
          <a:stretch/>
        </p:blipFill>
        <p:spPr>
          <a:xfrm>
            <a:off x="8128102" y="0"/>
            <a:ext cx="4063594" cy="75895"/>
          </a:xfrm>
          <a:prstGeom prst="rect">
            <a:avLst/>
          </a:prstGeom>
        </p:spPr>
      </p:pic>
      <p:sp>
        <p:nvSpPr>
          <p:cNvPr id="6" name="Shape 2"/>
          <p:cNvSpPr/>
          <p:nvPr/>
        </p:nvSpPr>
        <p:spPr>
          <a:xfrm>
            <a:off x="9905695" y="-571500"/>
            <a:ext cx="2857500" cy="2857500"/>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7" name="Image 2" descr="gen-dedup-4ab2116e971fbb9400d0e99205bd0390.png"/>
          <p:cNvPicPr>
            <a:picLocks noChangeAspect="1"/>
          </p:cNvPicPr>
          <p:nvPr/>
        </p:nvPicPr>
        <p:blipFill>
          <a:blip r:embed="rId5">
            <a:alphaModFix amt="8000"/>
          </a:blip>
          <a:srcRect/>
          <a:stretch/>
        </p:blipFill>
        <p:spPr>
          <a:xfrm>
            <a:off x="-381305" y="4190695"/>
            <a:ext cx="1904695" cy="1904695"/>
          </a:xfrm>
          <a:prstGeom prst="rect">
            <a:avLst/>
          </a:prstGeom>
        </p:spPr>
      </p:pic>
      <p:sp>
        <p:nvSpPr>
          <p:cNvPr id="8" name="Shape 3"/>
          <p:cNvSpPr/>
          <p:nvPr/>
        </p:nvSpPr>
        <p:spPr>
          <a:xfrm>
            <a:off x="609905" y="2000707"/>
            <a:ext cx="11030407" cy="857707"/>
          </a:xfrm>
          <a:prstGeom prst="roundRect">
            <a:avLst>
              <a:gd name="adj" fmla="val 4478"/>
            </a:avLst>
          </a:prstGeom>
          <a:solidFill>
            <a:srgbClr val="FFFFFF"/>
          </a:solidFill>
          <a:ln/>
          <a:effectLst>
            <a:outerShdw blurRad="76200" dist="25400" dir="16200000" algn="bl" rotWithShape="0">
              <a:srgbClr val="000000">
                <a:alpha val="6000"/>
              </a:srgbClr>
            </a:outerShdw>
          </a:effectLst>
        </p:spPr>
        <p:txBody>
          <a:bodyPr/>
          <a:lstStyle/>
          <a:p>
            <a:endParaRPr lang="en-US"/>
          </a:p>
        </p:txBody>
      </p:sp>
      <p:sp>
        <p:nvSpPr>
          <p:cNvPr id="9" name="Shape 4"/>
          <p:cNvSpPr/>
          <p:nvPr/>
        </p:nvSpPr>
        <p:spPr>
          <a:xfrm>
            <a:off x="609905" y="2000707"/>
            <a:ext cx="57607" cy="857707"/>
          </a:xfrm>
          <a:prstGeom prst="roundRect">
            <a:avLst>
              <a:gd name="adj" fmla="val 66667"/>
            </a:avLst>
          </a:prstGeom>
          <a:solidFill>
            <a:srgbClr val="2A9D8F"/>
          </a:solidFill>
          <a:ln w="12700">
            <a:solidFill>
              <a:srgbClr val="2A9D8F">
                <a:alpha val="0"/>
              </a:srgbClr>
            </a:solidFill>
            <a:prstDash val="solid"/>
          </a:ln>
        </p:spPr>
        <p:txBody>
          <a:bodyPr/>
          <a:lstStyle/>
          <a:p>
            <a:endParaRPr lang="en-US"/>
          </a:p>
        </p:txBody>
      </p:sp>
      <p:sp>
        <p:nvSpPr>
          <p:cNvPr id="10" name="Shape 5"/>
          <p:cNvSpPr/>
          <p:nvPr/>
        </p:nvSpPr>
        <p:spPr>
          <a:xfrm>
            <a:off x="609905" y="2952598"/>
            <a:ext cx="11030407" cy="857707"/>
          </a:xfrm>
          <a:prstGeom prst="roundRect">
            <a:avLst>
              <a:gd name="adj" fmla="val 4478"/>
            </a:avLst>
          </a:prstGeom>
          <a:solidFill>
            <a:srgbClr val="FFFFFF"/>
          </a:solidFill>
          <a:ln/>
          <a:effectLst>
            <a:outerShdw blurRad="76200" dist="25400" dir="16200000" algn="bl" rotWithShape="0">
              <a:srgbClr val="000000">
                <a:alpha val="6000"/>
              </a:srgbClr>
            </a:outerShdw>
          </a:effectLst>
        </p:spPr>
        <p:txBody>
          <a:bodyPr/>
          <a:lstStyle/>
          <a:p>
            <a:endParaRPr lang="en-US"/>
          </a:p>
        </p:txBody>
      </p:sp>
      <p:sp>
        <p:nvSpPr>
          <p:cNvPr id="11" name="Shape 6"/>
          <p:cNvSpPr/>
          <p:nvPr/>
        </p:nvSpPr>
        <p:spPr>
          <a:xfrm>
            <a:off x="609905" y="2952598"/>
            <a:ext cx="57607" cy="857707"/>
          </a:xfrm>
          <a:prstGeom prst="roundRect">
            <a:avLst>
              <a:gd name="adj" fmla="val 66667"/>
            </a:avLst>
          </a:prstGeom>
          <a:solidFill>
            <a:srgbClr val="D62839"/>
          </a:solidFill>
          <a:ln w="12700">
            <a:solidFill>
              <a:srgbClr val="D62839">
                <a:alpha val="0"/>
              </a:srgbClr>
            </a:solidFill>
            <a:prstDash val="solid"/>
          </a:ln>
        </p:spPr>
        <p:txBody>
          <a:bodyPr/>
          <a:lstStyle/>
          <a:p>
            <a:endParaRPr lang="en-US"/>
          </a:p>
        </p:txBody>
      </p:sp>
      <p:sp>
        <p:nvSpPr>
          <p:cNvPr id="12" name="Shape 7"/>
          <p:cNvSpPr/>
          <p:nvPr/>
        </p:nvSpPr>
        <p:spPr>
          <a:xfrm>
            <a:off x="609905" y="3905402"/>
            <a:ext cx="11030407" cy="857707"/>
          </a:xfrm>
          <a:prstGeom prst="roundRect">
            <a:avLst>
              <a:gd name="adj" fmla="val 4478"/>
            </a:avLst>
          </a:prstGeom>
          <a:solidFill>
            <a:srgbClr val="FFFFFF"/>
          </a:solidFill>
          <a:ln/>
          <a:effectLst>
            <a:outerShdw blurRad="76200" dist="25400" dir="16200000" algn="bl" rotWithShape="0">
              <a:srgbClr val="000000">
                <a:alpha val="6000"/>
              </a:srgbClr>
            </a:outerShdw>
          </a:effectLst>
        </p:spPr>
        <p:txBody>
          <a:bodyPr/>
          <a:lstStyle/>
          <a:p>
            <a:endParaRPr lang="en-US"/>
          </a:p>
        </p:txBody>
      </p:sp>
      <p:sp>
        <p:nvSpPr>
          <p:cNvPr id="13" name="Shape 8"/>
          <p:cNvSpPr/>
          <p:nvPr/>
        </p:nvSpPr>
        <p:spPr>
          <a:xfrm>
            <a:off x="609905" y="3905402"/>
            <a:ext cx="57607" cy="857707"/>
          </a:xfrm>
          <a:prstGeom prst="roundRect">
            <a:avLst>
              <a:gd name="adj" fmla="val 66667"/>
            </a:avLst>
          </a:prstGeom>
          <a:solidFill>
            <a:srgbClr val="2A9D8F"/>
          </a:solidFill>
          <a:ln w="12700">
            <a:solidFill>
              <a:srgbClr val="2A9D8F">
                <a:alpha val="0"/>
              </a:srgbClr>
            </a:solidFill>
            <a:prstDash val="solid"/>
          </a:ln>
        </p:spPr>
        <p:txBody>
          <a:bodyPr/>
          <a:lstStyle/>
          <a:p>
            <a:endParaRPr lang="en-US"/>
          </a:p>
        </p:txBody>
      </p:sp>
      <p:sp>
        <p:nvSpPr>
          <p:cNvPr id="14" name="Shape 9"/>
          <p:cNvSpPr/>
          <p:nvPr/>
        </p:nvSpPr>
        <p:spPr>
          <a:xfrm>
            <a:off x="609905" y="4858207"/>
            <a:ext cx="11030407" cy="857707"/>
          </a:xfrm>
          <a:prstGeom prst="roundRect">
            <a:avLst>
              <a:gd name="adj" fmla="val 4478"/>
            </a:avLst>
          </a:prstGeom>
          <a:solidFill>
            <a:srgbClr val="FFFFFF"/>
          </a:solidFill>
          <a:ln/>
          <a:effectLst>
            <a:outerShdw blurRad="76200" dist="25400" dir="16200000" algn="bl" rotWithShape="0">
              <a:srgbClr val="000000">
                <a:alpha val="6000"/>
              </a:srgbClr>
            </a:outerShdw>
          </a:effectLst>
        </p:spPr>
        <p:txBody>
          <a:bodyPr/>
          <a:lstStyle/>
          <a:p>
            <a:endParaRPr lang="en-US"/>
          </a:p>
        </p:txBody>
      </p:sp>
      <p:sp>
        <p:nvSpPr>
          <p:cNvPr id="15" name="Shape 10"/>
          <p:cNvSpPr/>
          <p:nvPr/>
        </p:nvSpPr>
        <p:spPr>
          <a:xfrm>
            <a:off x="609905" y="4858207"/>
            <a:ext cx="57607" cy="857707"/>
          </a:xfrm>
          <a:prstGeom prst="roundRect">
            <a:avLst>
              <a:gd name="adj" fmla="val 66667"/>
            </a:avLst>
          </a:prstGeom>
          <a:solidFill>
            <a:srgbClr val="D62839"/>
          </a:solidFill>
          <a:ln w="12700">
            <a:solidFill>
              <a:srgbClr val="D62839">
                <a:alpha val="0"/>
              </a:srgbClr>
            </a:solidFill>
            <a:prstDash val="solid"/>
          </a:ln>
        </p:spPr>
        <p:txBody>
          <a:bodyPr/>
          <a:lstStyle/>
          <a:p>
            <a:endParaRPr lang="en-US"/>
          </a:p>
        </p:txBody>
      </p:sp>
      <p:sp>
        <p:nvSpPr>
          <p:cNvPr id="16" name="Shape 11"/>
          <p:cNvSpPr/>
          <p:nvPr/>
        </p:nvSpPr>
        <p:spPr>
          <a:xfrm>
            <a:off x="609905" y="5810098"/>
            <a:ext cx="11030407" cy="857707"/>
          </a:xfrm>
          <a:prstGeom prst="roundRect">
            <a:avLst>
              <a:gd name="adj" fmla="val 4478"/>
            </a:avLst>
          </a:prstGeom>
          <a:solidFill>
            <a:srgbClr val="FFFFFF"/>
          </a:solidFill>
          <a:ln/>
          <a:effectLst>
            <a:outerShdw blurRad="76200" dist="25400" dir="16200000" algn="bl" rotWithShape="0">
              <a:srgbClr val="000000">
                <a:alpha val="6000"/>
              </a:srgbClr>
            </a:outerShdw>
          </a:effectLst>
        </p:spPr>
        <p:txBody>
          <a:bodyPr/>
          <a:lstStyle/>
          <a:p>
            <a:endParaRPr lang="en-US"/>
          </a:p>
        </p:txBody>
      </p:sp>
      <p:sp>
        <p:nvSpPr>
          <p:cNvPr id="17" name="Shape 12"/>
          <p:cNvSpPr/>
          <p:nvPr/>
        </p:nvSpPr>
        <p:spPr>
          <a:xfrm>
            <a:off x="609905" y="5810098"/>
            <a:ext cx="57607" cy="857707"/>
          </a:xfrm>
          <a:prstGeom prst="roundRect">
            <a:avLst>
              <a:gd name="adj" fmla="val 66667"/>
            </a:avLst>
          </a:prstGeom>
          <a:solidFill>
            <a:srgbClr val="2A9D8F"/>
          </a:solidFill>
          <a:ln w="12700">
            <a:solidFill>
              <a:srgbClr val="2A9D8F">
                <a:alpha val="0"/>
              </a:srgbClr>
            </a:solidFill>
            <a:prstDash val="solid"/>
          </a:ln>
        </p:spPr>
        <p:txBody>
          <a:bodyPr/>
          <a:lstStyle/>
          <a:p>
            <a:endParaRPr lang="en-US"/>
          </a:p>
        </p:txBody>
      </p:sp>
      <p:sp>
        <p:nvSpPr>
          <p:cNvPr id="23" name="Text 17"/>
          <p:cNvSpPr txBox="1"/>
          <p:nvPr/>
        </p:nvSpPr>
        <p:spPr>
          <a:xfrm>
            <a:off x="609905" y="1380744"/>
            <a:ext cx="10972800" cy="267005"/>
          </a:xfrm>
          <a:prstGeom prst="rect">
            <a:avLst/>
          </a:prstGeom>
          <a:noFill/>
          <a:ln/>
        </p:spPr>
        <p:txBody>
          <a:bodyPr wrap="none" lIns="0" tIns="0" rIns="0" bIns="0" rtlCol="0" anchor="ctr"/>
          <a:lstStyle/>
          <a:p>
            <a:pPr marL="0" indent="0" algn="l">
              <a:buNone/>
            </a:pPr>
            <a:r>
              <a:rPr lang="en-US" sz="1500" b="1">
                <a:solidFill>
                  <a:srgbClr val="D62839"/>
                </a:solidFill>
                <a:latin typeface="Raleway" pitchFamily="34" charset="0"/>
                <a:ea typeface="Raleway" pitchFamily="34" charset="-122"/>
                <a:cs typeface="Raleway" pitchFamily="34" charset="-120"/>
              </a:rPr>
              <a:t>Five structural differences that change the engagement from transactional to transformational.</a:t>
            </a:r>
            <a:endParaRPr lang="en-US" sz="1500"/>
          </a:p>
        </p:txBody>
      </p:sp>
      <p:sp>
        <p:nvSpPr>
          <p:cNvPr id="24" name="Text 18"/>
          <p:cNvSpPr txBox="1"/>
          <p:nvPr/>
        </p:nvSpPr>
        <p:spPr>
          <a:xfrm>
            <a:off x="1037844" y="2148840"/>
            <a:ext cx="1904695" cy="305410"/>
          </a:xfrm>
          <a:prstGeom prst="rect">
            <a:avLst/>
          </a:prstGeom>
          <a:noFill/>
          <a:ln/>
        </p:spPr>
        <p:txBody>
          <a:bodyPr wrap="none" lIns="0" tIns="0" rIns="0" bIns="0" rtlCol="0" anchor="ctr"/>
          <a:lstStyle/>
          <a:p>
            <a:pPr marL="0" indent="0" algn="l">
              <a:buNone/>
            </a:pPr>
            <a:r>
              <a:rPr lang="en-US" sz="1400" b="1">
                <a:solidFill>
                  <a:srgbClr val="2A9D8F"/>
                </a:solidFill>
                <a:latin typeface="Oswald" pitchFamily="34" charset="0"/>
                <a:ea typeface="Oswald" pitchFamily="34" charset="-122"/>
                <a:cs typeface="Oswald" pitchFamily="34" charset="-120"/>
              </a:rPr>
              <a:t>No Subcontracting</a:t>
            </a:r>
            <a:endParaRPr lang="en-US" sz="1400"/>
          </a:p>
        </p:txBody>
      </p:sp>
      <p:sp>
        <p:nvSpPr>
          <p:cNvPr id="25" name="Text 19"/>
          <p:cNvSpPr txBox="1"/>
          <p:nvPr/>
        </p:nvSpPr>
        <p:spPr>
          <a:xfrm>
            <a:off x="800100" y="2491740"/>
            <a:ext cx="11278210" cy="219456"/>
          </a:xfrm>
          <a:prstGeom prst="rect">
            <a:avLst/>
          </a:prstGeom>
          <a:noFill/>
          <a:ln/>
        </p:spPr>
        <p:txBody>
          <a:bodyPr wrap="none" lIns="0" tIns="0" rIns="0" bIns="0" rtlCol="0" anchor="ctr"/>
          <a:lstStyle/>
          <a:p>
            <a:pPr marL="0" indent="0" algn="l">
              <a:buNone/>
            </a:pPr>
            <a:r>
              <a:rPr lang="en-US" sz="1300">
                <a:solidFill>
                  <a:srgbClr val="4B5563"/>
                </a:solidFill>
                <a:latin typeface="Raleway" pitchFamily="34" charset="0"/>
                <a:ea typeface="Raleway" pitchFamily="34" charset="-122"/>
                <a:cs typeface="Raleway" pitchFamily="34" charset="-120"/>
              </a:rPr>
              <a:t>300+ in-house recruiters. 7,200+ professionals on J2W payroll. Zero subcontracting layer diluting quality, speed, or accountability.</a:t>
            </a:r>
            <a:endParaRPr lang="en-US" sz="1300"/>
          </a:p>
        </p:txBody>
      </p:sp>
      <p:pic>
        <p:nvPicPr>
          <p:cNvPr id="26" name="Image 4" descr="gen-dedup-928b248bf773cd1fca0141b5a5721735.png"/>
          <p:cNvPicPr>
            <a:picLocks noChangeAspect="1"/>
          </p:cNvPicPr>
          <p:nvPr/>
        </p:nvPicPr>
        <p:blipFill>
          <a:blip r:embed="rId6"/>
          <a:srcRect t="-6603" b="-6603"/>
          <a:stretch/>
        </p:blipFill>
        <p:spPr>
          <a:xfrm>
            <a:off x="800100" y="2211934"/>
            <a:ext cx="161849" cy="209398"/>
          </a:xfrm>
          <a:prstGeom prst="rect">
            <a:avLst/>
          </a:prstGeom>
        </p:spPr>
      </p:pic>
      <p:sp>
        <p:nvSpPr>
          <p:cNvPr id="27" name="Text 20"/>
          <p:cNvSpPr txBox="1"/>
          <p:nvPr/>
        </p:nvSpPr>
        <p:spPr>
          <a:xfrm>
            <a:off x="1037844" y="2991917"/>
            <a:ext cx="2414930" cy="305410"/>
          </a:xfrm>
          <a:prstGeom prst="rect">
            <a:avLst/>
          </a:prstGeom>
          <a:noFill/>
          <a:ln/>
        </p:spPr>
        <p:txBody>
          <a:bodyPr wrap="none" lIns="0" tIns="0" rIns="0" bIns="0" rtlCol="0" anchor="ctr"/>
          <a:lstStyle/>
          <a:p>
            <a:pPr marL="0" indent="0" algn="l">
              <a:buNone/>
            </a:pPr>
            <a:r>
              <a:rPr lang="en-US" sz="1400" b="1">
                <a:solidFill>
                  <a:srgbClr val="D62839"/>
                </a:solidFill>
                <a:latin typeface="Oswald" pitchFamily="34" charset="0"/>
                <a:ea typeface="Oswald" pitchFamily="34" charset="-122"/>
                <a:cs typeface="Oswald" pitchFamily="34" charset="-120"/>
              </a:rPr>
              <a:t>GCC-Native Intelligence</a:t>
            </a:r>
            <a:endParaRPr lang="en-US" sz="1400"/>
          </a:p>
        </p:txBody>
      </p:sp>
      <p:sp>
        <p:nvSpPr>
          <p:cNvPr id="28" name="Text 21"/>
          <p:cNvSpPr txBox="1"/>
          <p:nvPr/>
        </p:nvSpPr>
        <p:spPr>
          <a:xfrm>
            <a:off x="800100" y="3334817"/>
            <a:ext cx="10592410" cy="438912"/>
          </a:xfrm>
          <a:prstGeom prst="rect">
            <a:avLst/>
          </a:prstGeom>
          <a:noFill/>
          <a:ln/>
        </p:spPr>
        <p:txBody>
          <a:bodyPr wrap="square" lIns="0" tIns="0" rIns="0" bIns="0" rtlCol="0" anchor="ctr"/>
          <a:lstStyle/>
          <a:p>
            <a:pPr marL="0" indent="0" algn="l">
              <a:buNone/>
            </a:pPr>
            <a:r>
              <a:rPr lang="en-US" sz="1300">
                <a:solidFill>
                  <a:srgbClr val="4B5563"/>
                </a:solidFill>
                <a:latin typeface="Raleway" pitchFamily="34" charset="0"/>
                <a:ea typeface="Raleway" pitchFamily="34" charset="-122"/>
                <a:cs typeface="Raleway" pitchFamily="34" charset="-120"/>
              </a:rPr>
              <a:t>Forged through 300+ active GCC deployments. We see the next problem before it shows up because we have already solved it somewhere else.</a:t>
            </a:r>
            <a:endParaRPr lang="en-US" sz="1300"/>
          </a:p>
        </p:txBody>
      </p:sp>
      <p:pic>
        <p:nvPicPr>
          <p:cNvPr id="29" name="Image 5" descr="gen-dedup-0c58ce2f3d3941653435c84e3cc91c65.png"/>
          <p:cNvPicPr>
            <a:picLocks noChangeAspect="1"/>
          </p:cNvPicPr>
          <p:nvPr/>
        </p:nvPicPr>
        <p:blipFill>
          <a:blip r:embed="rId7"/>
          <a:srcRect t="-14689" b="-14689"/>
          <a:stretch/>
        </p:blipFill>
        <p:spPr>
          <a:xfrm>
            <a:off x="800100" y="3055925"/>
            <a:ext cx="161849" cy="209398"/>
          </a:xfrm>
          <a:prstGeom prst="rect">
            <a:avLst/>
          </a:prstGeom>
        </p:spPr>
      </p:pic>
      <p:sp>
        <p:nvSpPr>
          <p:cNvPr id="30" name="Text 22"/>
          <p:cNvSpPr txBox="1"/>
          <p:nvPr/>
        </p:nvSpPr>
        <p:spPr>
          <a:xfrm>
            <a:off x="1037844" y="3944722"/>
            <a:ext cx="1633118" cy="305410"/>
          </a:xfrm>
          <a:prstGeom prst="rect">
            <a:avLst/>
          </a:prstGeom>
          <a:noFill/>
          <a:ln/>
        </p:spPr>
        <p:txBody>
          <a:bodyPr wrap="none" lIns="0" tIns="0" rIns="0" bIns="0" rtlCol="0" anchor="ctr"/>
          <a:lstStyle/>
          <a:p>
            <a:pPr marL="0" indent="0" algn="l">
              <a:buNone/>
            </a:pPr>
            <a:r>
              <a:rPr lang="en-US" sz="1400" b="1">
                <a:solidFill>
                  <a:srgbClr val="2A9D8F"/>
                </a:solidFill>
                <a:latin typeface="Oswald" pitchFamily="34" charset="0"/>
                <a:ea typeface="Oswald" pitchFamily="34" charset="-122"/>
                <a:cs typeface="Oswald" pitchFamily="34" charset="-120"/>
              </a:rPr>
              <a:t>AI at Every Step</a:t>
            </a:r>
            <a:endParaRPr lang="en-US" sz="1400"/>
          </a:p>
        </p:txBody>
      </p:sp>
      <p:sp>
        <p:nvSpPr>
          <p:cNvPr id="31" name="Text 23"/>
          <p:cNvSpPr txBox="1"/>
          <p:nvPr/>
        </p:nvSpPr>
        <p:spPr>
          <a:xfrm>
            <a:off x="800100" y="4287622"/>
            <a:ext cx="10592410" cy="438912"/>
          </a:xfrm>
          <a:prstGeom prst="rect">
            <a:avLst/>
          </a:prstGeom>
          <a:noFill/>
          <a:ln/>
        </p:spPr>
        <p:txBody>
          <a:bodyPr wrap="square" lIns="0" tIns="0" rIns="0" bIns="0" rtlCol="0" anchor="ctr"/>
          <a:lstStyle/>
          <a:p>
            <a:pPr marL="0" indent="0" algn="l">
              <a:buNone/>
            </a:pPr>
            <a:r>
              <a:rPr lang="en-GB" sz="1300" err="1">
                <a:solidFill>
                  <a:srgbClr val="4B5563"/>
                </a:solidFill>
                <a:latin typeface="Raleway" pitchFamily="34" charset="0"/>
                <a:ea typeface="Raleway" pitchFamily="34" charset="-122"/>
                <a:cs typeface="Raleway" pitchFamily="34" charset="-120"/>
              </a:rPr>
              <a:t>TalentAI</a:t>
            </a:r>
            <a:r>
              <a:rPr lang="en-GB" sz="1300">
                <a:solidFill>
                  <a:srgbClr val="4B5563"/>
                </a:solidFill>
                <a:latin typeface="Raleway" pitchFamily="34" charset="0"/>
                <a:ea typeface="Raleway" pitchFamily="34" charset="-122"/>
                <a:cs typeface="Raleway" pitchFamily="34" charset="-120"/>
              </a:rPr>
              <a:t> + </a:t>
            </a:r>
            <a:r>
              <a:rPr lang="en-GB" sz="1300" err="1">
                <a:solidFill>
                  <a:srgbClr val="4B5563"/>
                </a:solidFill>
                <a:latin typeface="Raleway" pitchFamily="34" charset="0"/>
                <a:ea typeface="Raleway" pitchFamily="34" charset="-122"/>
                <a:cs typeface="Raleway" pitchFamily="34" charset="-120"/>
              </a:rPr>
              <a:t>TalentSphere</a:t>
            </a:r>
            <a:r>
              <a:rPr lang="en-GB" sz="1300">
                <a:solidFill>
                  <a:srgbClr val="4B5563"/>
                </a:solidFill>
                <a:latin typeface="Raleway" pitchFamily="34" charset="0"/>
                <a:ea typeface="Raleway" pitchFamily="34" charset="-122"/>
                <a:cs typeface="Raleway" pitchFamily="34" charset="-120"/>
              </a:rPr>
              <a:t>: AI-ranked pools, voice-agent screening, skill graphs, predictive placement. Delivers 24-hour first shortlists with 100% of candidates double-screened before client interview.</a:t>
            </a:r>
            <a:endParaRPr lang="en-US" sz="1300"/>
          </a:p>
        </p:txBody>
      </p:sp>
      <p:pic>
        <p:nvPicPr>
          <p:cNvPr id="32" name="Image 6" descr="gen-dedup-da669e206ac26c7983b1f8612c832ea6.png"/>
          <p:cNvPicPr>
            <a:picLocks noChangeAspect="1"/>
          </p:cNvPicPr>
          <p:nvPr/>
        </p:nvPicPr>
        <p:blipFill>
          <a:blip r:embed="rId8"/>
          <a:srcRect t="-30861" b="-30861"/>
          <a:stretch/>
        </p:blipFill>
        <p:spPr>
          <a:xfrm>
            <a:off x="800100" y="4008730"/>
            <a:ext cx="161849" cy="209398"/>
          </a:xfrm>
          <a:prstGeom prst="rect">
            <a:avLst/>
          </a:prstGeom>
        </p:spPr>
      </p:pic>
      <p:sp>
        <p:nvSpPr>
          <p:cNvPr id="33" name="Text 24"/>
          <p:cNvSpPr txBox="1"/>
          <p:nvPr/>
        </p:nvSpPr>
        <p:spPr>
          <a:xfrm>
            <a:off x="1037844" y="4897526"/>
            <a:ext cx="2460650" cy="305410"/>
          </a:xfrm>
          <a:prstGeom prst="rect">
            <a:avLst/>
          </a:prstGeom>
          <a:noFill/>
          <a:ln/>
        </p:spPr>
        <p:txBody>
          <a:bodyPr wrap="none" lIns="0" tIns="0" rIns="0" bIns="0" rtlCol="0" anchor="ctr"/>
          <a:lstStyle/>
          <a:p>
            <a:pPr marL="0" indent="0" algn="l">
              <a:buNone/>
            </a:pPr>
            <a:r>
              <a:rPr lang="en-US" sz="1400" b="1">
                <a:solidFill>
                  <a:srgbClr val="D62839"/>
                </a:solidFill>
                <a:latin typeface="Oswald" pitchFamily="34" charset="0"/>
                <a:ea typeface="Oswald" pitchFamily="34" charset="-122"/>
                <a:cs typeface="Oswald" pitchFamily="34" charset="-120"/>
              </a:rPr>
              <a:t>Pod Governance Built In</a:t>
            </a:r>
            <a:endParaRPr lang="en-US" sz="1400"/>
          </a:p>
        </p:txBody>
      </p:sp>
      <p:sp>
        <p:nvSpPr>
          <p:cNvPr id="34" name="Text 25"/>
          <p:cNvSpPr txBox="1"/>
          <p:nvPr/>
        </p:nvSpPr>
        <p:spPr>
          <a:xfrm>
            <a:off x="800100" y="5240426"/>
            <a:ext cx="10592410" cy="438912"/>
          </a:xfrm>
          <a:prstGeom prst="rect">
            <a:avLst/>
          </a:prstGeom>
          <a:noFill/>
          <a:ln/>
        </p:spPr>
        <p:txBody>
          <a:bodyPr wrap="square" lIns="0" tIns="0" rIns="0" bIns="0" rtlCol="0" anchor="ctr"/>
          <a:lstStyle/>
          <a:p>
            <a:pPr marL="0" indent="0" algn="l">
              <a:buNone/>
            </a:pPr>
            <a:r>
              <a:rPr lang="en-US" sz="1300">
                <a:solidFill>
                  <a:srgbClr val="4B5563"/>
                </a:solidFill>
                <a:latin typeface="Raleway" pitchFamily="34" charset="0"/>
                <a:ea typeface="Raleway" pitchFamily="34" charset="-122"/>
                <a:cs typeface="Raleway" pitchFamily="34" charset="-120"/>
              </a:rPr>
              <a:t>A dedicated Pod Manager - not billed to client - owns sprint governance, performance tracking, and L&amp;D coordination. This is a pod, not a staffing drop.</a:t>
            </a:r>
            <a:endParaRPr lang="en-US" sz="1300"/>
          </a:p>
        </p:txBody>
      </p:sp>
      <p:pic>
        <p:nvPicPr>
          <p:cNvPr id="35" name="Image 7" descr="gen-dedup-5d8964838ee5ef7b6e1692b5297312cd.png"/>
          <p:cNvPicPr>
            <a:picLocks noChangeAspect="1"/>
          </p:cNvPicPr>
          <p:nvPr/>
        </p:nvPicPr>
        <p:blipFill>
          <a:blip r:embed="rId9"/>
          <a:srcRect t="-30861" b="-30861"/>
          <a:stretch/>
        </p:blipFill>
        <p:spPr>
          <a:xfrm>
            <a:off x="800100" y="4960620"/>
            <a:ext cx="161849" cy="209398"/>
          </a:xfrm>
          <a:prstGeom prst="rect">
            <a:avLst/>
          </a:prstGeom>
        </p:spPr>
      </p:pic>
      <p:sp>
        <p:nvSpPr>
          <p:cNvPr id="36" name="Text 26"/>
          <p:cNvSpPr txBox="1"/>
          <p:nvPr/>
        </p:nvSpPr>
        <p:spPr>
          <a:xfrm>
            <a:off x="1037844" y="5849417"/>
            <a:ext cx="2051914" cy="305410"/>
          </a:xfrm>
          <a:prstGeom prst="rect">
            <a:avLst/>
          </a:prstGeom>
          <a:noFill/>
          <a:ln/>
        </p:spPr>
        <p:txBody>
          <a:bodyPr wrap="none" lIns="0" tIns="0" rIns="0" bIns="0" rtlCol="0" anchor="ctr"/>
          <a:lstStyle/>
          <a:p>
            <a:pPr marL="0" indent="0" algn="l">
              <a:buNone/>
            </a:pPr>
            <a:r>
              <a:rPr lang="en-US" sz="1400" b="1">
                <a:solidFill>
                  <a:srgbClr val="2A9D8F"/>
                </a:solidFill>
                <a:latin typeface="Oswald" pitchFamily="34" charset="0"/>
                <a:ea typeface="Oswald" pitchFamily="34" charset="-122"/>
                <a:cs typeface="Oswald" pitchFamily="34" charset="-120"/>
              </a:rPr>
              <a:t>Validated Playbooks</a:t>
            </a:r>
            <a:endParaRPr lang="en-US" sz="1400"/>
          </a:p>
        </p:txBody>
      </p:sp>
      <p:sp>
        <p:nvSpPr>
          <p:cNvPr id="37" name="Text 27"/>
          <p:cNvSpPr txBox="1"/>
          <p:nvPr/>
        </p:nvSpPr>
        <p:spPr>
          <a:xfrm>
            <a:off x="800100" y="6192317"/>
            <a:ext cx="10592410" cy="438912"/>
          </a:xfrm>
          <a:prstGeom prst="rect">
            <a:avLst/>
          </a:prstGeom>
          <a:noFill/>
          <a:ln/>
        </p:spPr>
        <p:txBody>
          <a:bodyPr wrap="square" lIns="0" tIns="0" rIns="0" bIns="0" rtlCol="0" anchor="ctr"/>
          <a:lstStyle/>
          <a:p>
            <a:pPr marL="0" indent="0" algn="l">
              <a:buNone/>
            </a:pPr>
            <a:r>
              <a:rPr lang="en-GB" sz="1300">
                <a:solidFill>
                  <a:srgbClr val="4B5563"/>
                </a:solidFill>
                <a:latin typeface="Raleway" pitchFamily="34" charset="0"/>
                <a:ea typeface="Raleway" pitchFamily="34" charset="-122"/>
                <a:cs typeface="Raleway" pitchFamily="34" charset="-120"/>
              </a:rPr>
              <a:t>Every tool, process, and accelerator has passed our internal 40% improvement gate. Clients benefit from completed learning - not our experimentation.</a:t>
            </a:r>
            <a:endParaRPr lang="en-US" sz="1300"/>
          </a:p>
        </p:txBody>
      </p:sp>
      <p:pic>
        <p:nvPicPr>
          <p:cNvPr id="38" name="Image 8" descr="gen-dedup-001fb79ce367df5df5f79805d3e188cd.png"/>
          <p:cNvPicPr>
            <a:picLocks noChangeAspect="1"/>
          </p:cNvPicPr>
          <p:nvPr/>
        </p:nvPicPr>
        <p:blipFill>
          <a:blip r:embed="rId10"/>
          <a:srcRect t="-22775" b="-22775"/>
          <a:stretch/>
        </p:blipFill>
        <p:spPr>
          <a:xfrm>
            <a:off x="800100" y="5913425"/>
            <a:ext cx="161849" cy="209398"/>
          </a:xfrm>
          <a:prstGeom prst="rect">
            <a:avLst/>
          </a:prstGeom>
        </p:spPr>
      </p:pic>
      <p:pic>
        <p:nvPicPr>
          <p:cNvPr id="19" name="Image 3" descr="gen-dedup-777bf757d895431cabe402fcd34ebd5a.png">
            <a:extLst>
              <a:ext uri="{FF2B5EF4-FFF2-40B4-BE49-F238E27FC236}">
                <a16:creationId xmlns:a16="http://schemas.microsoft.com/office/drawing/2014/main" id="{B87CA5DC-F13E-0DC6-820F-8F243ED3AFCF}"/>
              </a:ext>
            </a:extLst>
          </p:cNvPr>
          <p:cNvPicPr>
            <a:picLocks noChangeAspect="1"/>
          </p:cNvPicPr>
          <p:nvPr/>
        </p:nvPicPr>
        <p:blipFill>
          <a:blip r:embed="rId11">
            <a:biLevel thresh="75000"/>
          </a:blip>
          <a:srcRect l="-384" r="-384"/>
          <a:stretch/>
        </p:blipFill>
        <p:spPr>
          <a:xfrm>
            <a:off x="571500" y="381305"/>
            <a:ext cx="57607" cy="476402"/>
          </a:xfrm>
          <a:prstGeom prst="rect">
            <a:avLst/>
          </a:prstGeom>
        </p:spPr>
      </p:pic>
      <p:sp>
        <p:nvSpPr>
          <p:cNvPr id="40" name="Text 5">
            <a:extLst>
              <a:ext uri="{FF2B5EF4-FFF2-40B4-BE49-F238E27FC236}">
                <a16:creationId xmlns:a16="http://schemas.microsoft.com/office/drawing/2014/main" id="{BD2883F1-750C-64D0-C2F6-A175AF772C28}"/>
              </a:ext>
            </a:extLst>
          </p:cNvPr>
          <p:cNvSpPr txBox="1"/>
          <p:nvPr/>
        </p:nvSpPr>
        <p:spPr>
          <a:xfrm>
            <a:off x="780897" y="333756"/>
            <a:ext cx="5913817" cy="406908"/>
          </a:xfrm>
          <a:prstGeom prst="rect">
            <a:avLst/>
          </a:prstGeom>
          <a:noFill/>
          <a:ln/>
        </p:spPr>
        <p:txBody>
          <a:bodyPr wrap="none" lIns="0" tIns="0" rIns="0" bIns="0" rtlCol="0" anchor="ctr"/>
          <a:lstStyle/>
          <a:p>
            <a:r>
              <a:rPr lang="en-GB" sz="2400" b="1" kern="0" spc="-67" dirty="0">
                <a:solidFill>
                  <a:srgbClr val="111827"/>
                </a:solidFill>
                <a:latin typeface="Oswald" pitchFamily="34" charset="0"/>
                <a:ea typeface="Oswald" pitchFamily="34" charset="-122"/>
                <a:cs typeface="Oswald" pitchFamily="34" charset="-120"/>
              </a:rPr>
              <a:t>STRUCTURAL DIFFERENTIATION</a:t>
            </a:r>
          </a:p>
        </p:txBody>
      </p:sp>
      <p:sp>
        <p:nvSpPr>
          <p:cNvPr id="42" name="Text 6">
            <a:extLst>
              <a:ext uri="{FF2B5EF4-FFF2-40B4-BE49-F238E27FC236}">
                <a16:creationId xmlns:a16="http://schemas.microsoft.com/office/drawing/2014/main" id="{84FEB9B2-D271-4ACB-00F0-08500AA3F909}"/>
              </a:ext>
            </a:extLst>
          </p:cNvPr>
          <p:cNvSpPr txBox="1"/>
          <p:nvPr/>
        </p:nvSpPr>
        <p:spPr>
          <a:xfrm>
            <a:off x="780898" y="740663"/>
            <a:ext cx="5054803" cy="257861"/>
          </a:xfrm>
          <a:prstGeom prst="rect">
            <a:avLst/>
          </a:prstGeom>
          <a:noFill/>
          <a:ln/>
        </p:spPr>
        <p:txBody>
          <a:bodyPr wrap="none" lIns="0" tIns="0" rIns="0" bIns="0" rtlCol="0" anchor="ctr"/>
          <a:lstStyle/>
          <a:p>
            <a:pPr marL="0" indent="0" algn="l">
              <a:buNone/>
            </a:pPr>
            <a:r>
              <a:rPr lang="en-GB" sz="1500" b="1" kern="0" spc="66" dirty="0">
                <a:solidFill>
                  <a:srgbClr val="2A9D8F"/>
                </a:solidFill>
                <a:latin typeface="Roboto Condensed" pitchFamily="34" charset="0"/>
                <a:ea typeface="Roboto Condensed" pitchFamily="34" charset="-122"/>
                <a:cs typeface="Roboto Condensed" pitchFamily="34" charset="-120"/>
              </a:rPr>
              <a:t>Workforce Solutions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996E55-B4F8-57F1-D146-B4C78675B25C}"/>
            </a:ext>
          </a:extLst>
        </p:cNvPr>
        <p:cNvGrpSpPr/>
        <p:nvPr/>
      </p:nvGrpSpPr>
      <p:grpSpPr>
        <a:xfrm>
          <a:off x="0" y="0"/>
          <a:ext cx="0" cy="0"/>
          <a:chOff x="0" y="0"/>
          <a:chExt cx="0" cy="0"/>
        </a:xfrm>
      </p:grpSpPr>
      <p:pic>
        <p:nvPicPr>
          <p:cNvPr id="4" name="Image 0" descr="gen-dedup-37abb9d8cc081a24feb608c288538026.png">
            <a:extLst>
              <a:ext uri="{FF2B5EF4-FFF2-40B4-BE49-F238E27FC236}">
                <a16:creationId xmlns:a16="http://schemas.microsoft.com/office/drawing/2014/main" id="{71330D75-D19F-98CB-DFD6-89655DE4CA95}"/>
              </a:ext>
            </a:extLst>
          </p:cNvPr>
          <p:cNvPicPr>
            <a:picLocks noChangeAspect="1"/>
          </p:cNvPicPr>
          <p:nvPr/>
        </p:nvPicPr>
        <p:blipFill>
          <a:blip r:embed="rId3"/>
          <a:srcRect l="-198" r="-198"/>
          <a:stretch/>
        </p:blipFill>
        <p:spPr>
          <a:xfrm>
            <a:off x="0" y="0"/>
            <a:ext cx="8124444" cy="75895"/>
          </a:xfrm>
          <a:prstGeom prst="rect">
            <a:avLst/>
          </a:prstGeom>
        </p:spPr>
      </p:pic>
      <p:pic>
        <p:nvPicPr>
          <p:cNvPr id="5" name="Image 1" descr="gen-dedup-c2c9136402f20c216bf7cbcc052ad1a0.png">
            <a:extLst>
              <a:ext uri="{FF2B5EF4-FFF2-40B4-BE49-F238E27FC236}">
                <a16:creationId xmlns:a16="http://schemas.microsoft.com/office/drawing/2014/main" id="{4467D959-2368-EB24-595D-171CC1B504B8}"/>
              </a:ext>
            </a:extLst>
          </p:cNvPr>
          <p:cNvPicPr>
            <a:picLocks noChangeAspect="1"/>
          </p:cNvPicPr>
          <p:nvPr/>
        </p:nvPicPr>
        <p:blipFill>
          <a:blip r:embed="rId4"/>
          <a:srcRect l="-202" r="-202"/>
          <a:stretch/>
        </p:blipFill>
        <p:spPr>
          <a:xfrm>
            <a:off x="8124444" y="0"/>
            <a:ext cx="4067251" cy="75895"/>
          </a:xfrm>
          <a:prstGeom prst="rect">
            <a:avLst/>
          </a:prstGeom>
        </p:spPr>
      </p:pic>
      <p:sp>
        <p:nvSpPr>
          <p:cNvPr id="6" name="Shape 2">
            <a:extLst>
              <a:ext uri="{FF2B5EF4-FFF2-40B4-BE49-F238E27FC236}">
                <a16:creationId xmlns:a16="http://schemas.microsoft.com/office/drawing/2014/main" id="{184EBFC8-10E0-38E8-2A1B-471CD2171E3B}"/>
              </a:ext>
            </a:extLst>
          </p:cNvPr>
          <p:cNvSpPr/>
          <p:nvPr/>
        </p:nvSpPr>
        <p:spPr>
          <a:xfrm>
            <a:off x="8858707" y="-952805"/>
            <a:ext cx="3810305" cy="3810305"/>
          </a:xfrm>
          <a:prstGeom prst="ellipse">
            <a:avLst/>
          </a:prstGeom>
          <a:solidFill>
            <a:srgbClr val="2A9D8F">
              <a:alpha val="3000"/>
            </a:srgbClr>
          </a:solidFill>
          <a:ln w="12700">
            <a:solidFill>
              <a:srgbClr val="FFFFFF">
                <a:alpha val="0"/>
              </a:srgbClr>
            </a:solidFill>
            <a:prstDash val="solid"/>
          </a:ln>
        </p:spPr>
        <p:txBody>
          <a:bodyPr/>
          <a:lstStyle/>
          <a:p>
            <a:endParaRPr lang="en-US"/>
          </a:p>
        </p:txBody>
      </p:sp>
      <p:sp>
        <p:nvSpPr>
          <p:cNvPr id="7" name="Shape 3">
            <a:extLst>
              <a:ext uri="{FF2B5EF4-FFF2-40B4-BE49-F238E27FC236}">
                <a16:creationId xmlns:a16="http://schemas.microsoft.com/office/drawing/2014/main" id="{1E36FF24-EF82-BF6E-F421-8A9645DDA417}"/>
              </a:ext>
            </a:extLst>
          </p:cNvPr>
          <p:cNvSpPr/>
          <p:nvPr/>
        </p:nvSpPr>
        <p:spPr>
          <a:xfrm>
            <a:off x="-476402" y="4476902"/>
            <a:ext cx="3333902" cy="3333902"/>
          </a:xfrm>
          <a:prstGeom prst="ellipse">
            <a:avLst/>
          </a:prstGeom>
          <a:solidFill>
            <a:srgbClr val="D62839">
              <a:alpha val="2000"/>
            </a:srgbClr>
          </a:solidFill>
          <a:ln w="12700">
            <a:solidFill>
              <a:srgbClr val="FFFFFF">
                <a:alpha val="0"/>
              </a:srgbClr>
            </a:solidFill>
            <a:prstDash val="solid"/>
          </a:ln>
        </p:spPr>
        <p:txBody>
          <a:bodyPr/>
          <a:lstStyle/>
          <a:p>
            <a:endParaRPr lang="en-US"/>
          </a:p>
        </p:txBody>
      </p:sp>
      <p:pic>
        <p:nvPicPr>
          <p:cNvPr id="3" name="Image 3" descr="gen-dedup-777bf757d895431cabe402fcd34ebd5a.png">
            <a:extLst>
              <a:ext uri="{FF2B5EF4-FFF2-40B4-BE49-F238E27FC236}">
                <a16:creationId xmlns:a16="http://schemas.microsoft.com/office/drawing/2014/main" id="{042467DA-0491-6FD1-7125-A3C713891DB3}"/>
              </a:ext>
            </a:extLst>
          </p:cNvPr>
          <p:cNvPicPr>
            <a:picLocks noChangeAspect="1"/>
          </p:cNvPicPr>
          <p:nvPr/>
        </p:nvPicPr>
        <p:blipFill>
          <a:blip r:embed="rId5">
            <a:biLevel thresh="75000"/>
          </a:blip>
          <a:srcRect l="-384" r="-384"/>
          <a:stretch/>
        </p:blipFill>
        <p:spPr>
          <a:xfrm>
            <a:off x="571500" y="381305"/>
            <a:ext cx="57607" cy="476402"/>
          </a:xfrm>
          <a:prstGeom prst="rect">
            <a:avLst/>
          </a:prstGeom>
        </p:spPr>
      </p:pic>
      <p:sp>
        <p:nvSpPr>
          <p:cNvPr id="24" name="Text 5">
            <a:extLst>
              <a:ext uri="{FF2B5EF4-FFF2-40B4-BE49-F238E27FC236}">
                <a16:creationId xmlns:a16="http://schemas.microsoft.com/office/drawing/2014/main" id="{DC031EA2-ABB3-630D-6A23-712FD8DADCC7}"/>
              </a:ext>
            </a:extLst>
          </p:cNvPr>
          <p:cNvSpPr txBox="1"/>
          <p:nvPr/>
        </p:nvSpPr>
        <p:spPr>
          <a:xfrm>
            <a:off x="780897" y="333756"/>
            <a:ext cx="5913817" cy="406908"/>
          </a:xfrm>
          <a:prstGeom prst="rect">
            <a:avLst/>
          </a:prstGeom>
          <a:noFill/>
          <a:ln/>
        </p:spPr>
        <p:txBody>
          <a:bodyPr wrap="none" lIns="0" tIns="0" rIns="0" bIns="0" rtlCol="0" anchor="ctr"/>
          <a:lstStyle/>
          <a:p>
            <a:r>
              <a:rPr lang="en-GB" sz="2400" b="1" kern="0" spc="-67" dirty="0">
                <a:solidFill>
                  <a:srgbClr val="111827"/>
                </a:solidFill>
                <a:latin typeface="Oswald" pitchFamily="34" charset="0"/>
                <a:ea typeface="Oswald" pitchFamily="34" charset="-122"/>
                <a:cs typeface="Oswald" pitchFamily="34" charset="-120"/>
              </a:rPr>
              <a:t>WORKFORCE SOLUTIONS – WHAT WE DEPLOY</a:t>
            </a:r>
          </a:p>
        </p:txBody>
      </p:sp>
      <p:sp>
        <p:nvSpPr>
          <p:cNvPr id="62" name="Text 6">
            <a:extLst>
              <a:ext uri="{FF2B5EF4-FFF2-40B4-BE49-F238E27FC236}">
                <a16:creationId xmlns:a16="http://schemas.microsoft.com/office/drawing/2014/main" id="{550411B2-72BF-40EF-E7F9-722183C335B1}"/>
              </a:ext>
            </a:extLst>
          </p:cNvPr>
          <p:cNvSpPr txBox="1"/>
          <p:nvPr/>
        </p:nvSpPr>
        <p:spPr>
          <a:xfrm>
            <a:off x="780898" y="849020"/>
            <a:ext cx="5054803" cy="257861"/>
          </a:xfrm>
          <a:prstGeom prst="rect">
            <a:avLst/>
          </a:prstGeom>
          <a:noFill/>
          <a:ln/>
        </p:spPr>
        <p:txBody>
          <a:bodyPr wrap="none" lIns="0" tIns="0" rIns="0" bIns="0" rtlCol="0" anchor="ctr"/>
          <a:lstStyle/>
          <a:p>
            <a:pPr marL="0" indent="0" algn="l">
              <a:buNone/>
            </a:pPr>
            <a:r>
              <a:rPr lang="en-GB" sz="1500" b="1" kern="0" spc="66" dirty="0">
                <a:solidFill>
                  <a:srgbClr val="2A9D8F"/>
                </a:solidFill>
                <a:latin typeface="Roboto Condensed" pitchFamily="34" charset="0"/>
                <a:ea typeface="Roboto Condensed" pitchFamily="34" charset="-122"/>
                <a:cs typeface="Roboto Condensed" pitchFamily="34" charset="-120"/>
              </a:rPr>
              <a:t>Not Just Tech Stacks — Domain-certified Engineers Who Understand Product Liability, Safety Standards, And Engineering </a:t>
            </a:r>
          </a:p>
          <a:p>
            <a:pPr marL="0" indent="0" algn="l">
              <a:buNone/>
            </a:pPr>
            <a:r>
              <a:rPr lang="en-GB" sz="1500" b="1" kern="0" spc="66" dirty="0">
                <a:solidFill>
                  <a:srgbClr val="2A9D8F"/>
                </a:solidFill>
                <a:latin typeface="Roboto Condensed" pitchFamily="34" charset="0"/>
                <a:ea typeface="Roboto Condensed" pitchFamily="34" charset="-122"/>
                <a:cs typeface="Roboto Condensed" pitchFamily="34" charset="-120"/>
              </a:rPr>
              <a:t>Constraints.</a:t>
            </a:r>
          </a:p>
        </p:txBody>
      </p:sp>
      <p:sp>
        <p:nvSpPr>
          <p:cNvPr id="20" name="Shape 5">
            <a:extLst>
              <a:ext uri="{FF2B5EF4-FFF2-40B4-BE49-F238E27FC236}">
                <a16:creationId xmlns:a16="http://schemas.microsoft.com/office/drawing/2014/main" id="{F08A7B48-6272-2441-E1DD-1947B76D1E0C}"/>
              </a:ext>
            </a:extLst>
          </p:cNvPr>
          <p:cNvSpPr/>
          <p:nvPr/>
        </p:nvSpPr>
        <p:spPr>
          <a:xfrm>
            <a:off x="571500" y="1473098"/>
            <a:ext cx="3566160" cy="2468880"/>
          </a:xfrm>
          <a:prstGeom prst="roundRect">
            <a:avLst>
              <a:gd name="adj" fmla="val 1296"/>
            </a:avLst>
          </a:prstGeom>
          <a:solidFill>
            <a:srgbClr val="FFFFFF"/>
          </a:solidFill>
          <a:ln w="9525">
            <a:solidFill>
              <a:srgbClr val="E2E8EC"/>
            </a:solidFill>
            <a:prstDash val="solid"/>
          </a:ln>
        </p:spPr>
        <p:txBody>
          <a:bodyPr/>
          <a:lstStyle/>
          <a:p>
            <a:endParaRPr lang="en-IN"/>
          </a:p>
        </p:txBody>
      </p:sp>
      <p:sp>
        <p:nvSpPr>
          <p:cNvPr id="22" name="Shape 6">
            <a:extLst>
              <a:ext uri="{FF2B5EF4-FFF2-40B4-BE49-F238E27FC236}">
                <a16:creationId xmlns:a16="http://schemas.microsoft.com/office/drawing/2014/main" id="{5DE32651-13B7-061D-D883-45C4FED03EE7}"/>
              </a:ext>
            </a:extLst>
          </p:cNvPr>
          <p:cNvSpPr/>
          <p:nvPr/>
        </p:nvSpPr>
        <p:spPr>
          <a:xfrm>
            <a:off x="571500" y="1473098"/>
            <a:ext cx="3566160" cy="50292"/>
          </a:xfrm>
          <a:prstGeom prst="rect">
            <a:avLst/>
          </a:prstGeom>
          <a:solidFill>
            <a:srgbClr val="2A9D8F"/>
          </a:solidFill>
          <a:ln w="12700">
            <a:solidFill>
              <a:srgbClr val="2A9D8F"/>
            </a:solidFill>
            <a:prstDash val="solid"/>
          </a:ln>
        </p:spPr>
        <p:txBody>
          <a:bodyPr/>
          <a:lstStyle/>
          <a:p>
            <a:endParaRPr lang="en-IN"/>
          </a:p>
        </p:txBody>
      </p:sp>
      <p:sp>
        <p:nvSpPr>
          <p:cNvPr id="61" name="Shape 7">
            <a:extLst>
              <a:ext uri="{FF2B5EF4-FFF2-40B4-BE49-F238E27FC236}">
                <a16:creationId xmlns:a16="http://schemas.microsoft.com/office/drawing/2014/main" id="{8E002B76-623E-070E-118C-F517A059C84F}"/>
              </a:ext>
            </a:extLst>
          </p:cNvPr>
          <p:cNvSpPr/>
          <p:nvPr/>
        </p:nvSpPr>
        <p:spPr>
          <a:xfrm>
            <a:off x="772668" y="1701698"/>
            <a:ext cx="146304" cy="146304"/>
          </a:xfrm>
          <a:prstGeom prst="roundRect">
            <a:avLst>
              <a:gd name="adj" fmla="val 18750"/>
            </a:avLst>
          </a:prstGeom>
          <a:solidFill>
            <a:srgbClr val="2A9D8F"/>
          </a:solidFill>
          <a:ln w="12700">
            <a:solidFill>
              <a:srgbClr val="2A9D8F"/>
            </a:solidFill>
            <a:prstDash val="solid"/>
          </a:ln>
        </p:spPr>
        <p:txBody>
          <a:bodyPr/>
          <a:lstStyle/>
          <a:p>
            <a:endParaRPr lang="en-IN"/>
          </a:p>
        </p:txBody>
      </p:sp>
      <p:sp>
        <p:nvSpPr>
          <p:cNvPr id="64" name="Text 8">
            <a:extLst>
              <a:ext uri="{FF2B5EF4-FFF2-40B4-BE49-F238E27FC236}">
                <a16:creationId xmlns:a16="http://schemas.microsoft.com/office/drawing/2014/main" id="{86E23396-0CF1-90A8-7DA1-6007CF5BE78A}"/>
              </a:ext>
            </a:extLst>
          </p:cNvPr>
          <p:cNvSpPr/>
          <p:nvPr/>
        </p:nvSpPr>
        <p:spPr>
          <a:xfrm>
            <a:off x="973836" y="1601114"/>
            <a:ext cx="3017520" cy="347472"/>
          </a:xfrm>
          <a:prstGeom prst="rect">
            <a:avLst/>
          </a:prstGeom>
          <a:noFill/>
          <a:ln/>
        </p:spPr>
        <p:txBody>
          <a:bodyPr wrap="square" lIns="0" tIns="0" rIns="0" bIns="0" rtlCol="0" anchor="ctr"/>
          <a:lstStyle/>
          <a:p>
            <a:pPr marL="0" indent="0">
              <a:buNone/>
            </a:pPr>
            <a:r>
              <a:rPr lang="en-US" sz="1350" b="1" dirty="0">
                <a:solidFill>
                  <a:srgbClr val="0F2238"/>
                </a:solidFill>
                <a:latin typeface="Oswald" pitchFamily="34" charset="0"/>
                <a:ea typeface="Oswald" pitchFamily="34" charset="-122"/>
                <a:cs typeface="Oswald" pitchFamily="34" charset="-120"/>
              </a:rPr>
              <a:t>BFSI</a:t>
            </a:r>
            <a:endParaRPr lang="en-US" sz="1350" dirty="0"/>
          </a:p>
        </p:txBody>
      </p:sp>
      <p:sp>
        <p:nvSpPr>
          <p:cNvPr id="66" name="Text 9">
            <a:extLst>
              <a:ext uri="{FF2B5EF4-FFF2-40B4-BE49-F238E27FC236}">
                <a16:creationId xmlns:a16="http://schemas.microsoft.com/office/drawing/2014/main" id="{D0F4BB76-F16C-D087-4008-4AADA7944471}"/>
              </a:ext>
            </a:extLst>
          </p:cNvPr>
          <p:cNvSpPr/>
          <p:nvPr/>
        </p:nvSpPr>
        <p:spPr>
          <a:xfrm>
            <a:off x="827532" y="2003450"/>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Java / Spring Boot · .NET · Python · Angular</a:t>
            </a:r>
            <a:endParaRPr lang="en-US" sz="950" dirty="0"/>
          </a:p>
        </p:txBody>
      </p:sp>
      <p:sp>
        <p:nvSpPr>
          <p:cNvPr id="68" name="Text 10">
            <a:extLst>
              <a:ext uri="{FF2B5EF4-FFF2-40B4-BE49-F238E27FC236}">
                <a16:creationId xmlns:a16="http://schemas.microsoft.com/office/drawing/2014/main" id="{8AAB28F7-FEBA-E677-57EF-70742AD5AB19}"/>
              </a:ext>
            </a:extLst>
          </p:cNvPr>
          <p:cNvSpPr/>
          <p:nvPr/>
        </p:nvSpPr>
        <p:spPr>
          <a:xfrm>
            <a:off x="827532" y="2190902"/>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React · Node.js · Full-stack engineering</a:t>
            </a:r>
            <a:endParaRPr lang="en-US" sz="950" dirty="0"/>
          </a:p>
        </p:txBody>
      </p:sp>
      <p:sp>
        <p:nvSpPr>
          <p:cNvPr id="70" name="Text 11">
            <a:extLst>
              <a:ext uri="{FF2B5EF4-FFF2-40B4-BE49-F238E27FC236}">
                <a16:creationId xmlns:a16="http://schemas.microsoft.com/office/drawing/2014/main" id="{64097229-3556-A070-F6DC-04E299201965}"/>
              </a:ext>
            </a:extLst>
          </p:cNvPr>
          <p:cNvSpPr/>
          <p:nvPr/>
        </p:nvSpPr>
        <p:spPr>
          <a:xfrm>
            <a:off x="827532" y="2378354"/>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COBOL &amp; mainframe modernisation</a:t>
            </a:r>
            <a:endParaRPr lang="en-US" sz="950" dirty="0"/>
          </a:p>
        </p:txBody>
      </p:sp>
      <p:sp>
        <p:nvSpPr>
          <p:cNvPr id="72" name="Text 12">
            <a:extLst>
              <a:ext uri="{FF2B5EF4-FFF2-40B4-BE49-F238E27FC236}">
                <a16:creationId xmlns:a16="http://schemas.microsoft.com/office/drawing/2014/main" id="{26568030-7C14-76AA-227D-CA5EE837C934}"/>
              </a:ext>
            </a:extLst>
          </p:cNvPr>
          <p:cNvSpPr/>
          <p:nvPr/>
        </p:nvSpPr>
        <p:spPr>
          <a:xfrm>
            <a:off x="827532" y="2565806"/>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Core banking · Payments &amp; cards · SWIFT · Finacle</a:t>
            </a:r>
            <a:endParaRPr lang="en-US" sz="950" dirty="0"/>
          </a:p>
        </p:txBody>
      </p:sp>
      <p:sp>
        <p:nvSpPr>
          <p:cNvPr id="74" name="Text 13">
            <a:extLst>
              <a:ext uri="{FF2B5EF4-FFF2-40B4-BE49-F238E27FC236}">
                <a16:creationId xmlns:a16="http://schemas.microsoft.com/office/drawing/2014/main" id="{EAE4230F-8C0F-5B69-10E7-F52231BAC504}"/>
              </a:ext>
            </a:extLst>
          </p:cNvPr>
          <p:cNvSpPr/>
          <p:nvPr/>
        </p:nvSpPr>
        <p:spPr>
          <a:xfrm>
            <a:off x="827532" y="2753258"/>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Salesforce FSC · SAP FICO · SAP ABAP</a:t>
            </a:r>
            <a:endParaRPr lang="en-US" sz="950" dirty="0"/>
          </a:p>
        </p:txBody>
      </p:sp>
      <p:sp>
        <p:nvSpPr>
          <p:cNvPr id="76" name="Text 14">
            <a:extLst>
              <a:ext uri="{FF2B5EF4-FFF2-40B4-BE49-F238E27FC236}">
                <a16:creationId xmlns:a16="http://schemas.microsoft.com/office/drawing/2014/main" id="{73A5C098-5FDA-79B4-BA80-F9FC1B7B1954}"/>
              </a:ext>
            </a:extLst>
          </p:cNvPr>
          <p:cNvSpPr/>
          <p:nvPr/>
        </p:nvSpPr>
        <p:spPr>
          <a:xfrm>
            <a:off x="827532" y="2940710"/>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Oracle · PostgreSQL · Hadoop · Data warehousing</a:t>
            </a:r>
            <a:endParaRPr lang="en-US" sz="950" dirty="0"/>
          </a:p>
        </p:txBody>
      </p:sp>
      <p:sp>
        <p:nvSpPr>
          <p:cNvPr id="78" name="Text 15">
            <a:extLst>
              <a:ext uri="{FF2B5EF4-FFF2-40B4-BE49-F238E27FC236}">
                <a16:creationId xmlns:a16="http://schemas.microsoft.com/office/drawing/2014/main" id="{3D11A617-6ADD-2EB3-8919-2C45562DB431}"/>
              </a:ext>
            </a:extLst>
          </p:cNvPr>
          <p:cNvSpPr/>
          <p:nvPr/>
        </p:nvSpPr>
        <p:spPr>
          <a:xfrm>
            <a:off x="827532" y="3128162"/>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Cyber security · IAM · SOC · ServiceNow ITSM</a:t>
            </a:r>
            <a:endParaRPr lang="en-US" sz="950" dirty="0"/>
          </a:p>
        </p:txBody>
      </p:sp>
      <p:sp>
        <p:nvSpPr>
          <p:cNvPr id="80" name="Text 16">
            <a:extLst>
              <a:ext uri="{FF2B5EF4-FFF2-40B4-BE49-F238E27FC236}">
                <a16:creationId xmlns:a16="http://schemas.microsoft.com/office/drawing/2014/main" id="{835164EB-6B45-6DA3-66DB-43154DF27DAE}"/>
              </a:ext>
            </a:extLst>
          </p:cNvPr>
          <p:cNvSpPr/>
          <p:nvPr/>
        </p:nvSpPr>
        <p:spPr>
          <a:xfrm>
            <a:off x="827532" y="3315614"/>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Manual, automation &amp; performance testing</a:t>
            </a:r>
            <a:endParaRPr lang="en-US" sz="950" dirty="0"/>
          </a:p>
        </p:txBody>
      </p:sp>
      <p:sp>
        <p:nvSpPr>
          <p:cNvPr id="82" name="Text 17">
            <a:extLst>
              <a:ext uri="{FF2B5EF4-FFF2-40B4-BE49-F238E27FC236}">
                <a16:creationId xmlns:a16="http://schemas.microsoft.com/office/drawing/2014/main" id="{C1383D09-953F-4A2B-5A31-36324DA23F38}"/>
              </a:ext>
            </a:extLst>
          </p:cNvPr>
          <p:cNvSpPr/>
          <p:nvPr/>
        </p:nvSpPr>
        <p:spPr>
          <a:xfrm>
            <a:off x="827532" y="3503066"/>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PCI-DSS compliance · KYC, AML &amp; internal audit</a:t>
            </a:r>
            <a:endParaRPr lang="en-US" sz="950" dirty="0"/>
          </a:p>
        </p:txBody>
      </p:sp>
      <p:sp>
        <p:nvSpPr>
          <p:cNvPr id="84" name="Shape 18">
            <a:extLst>
              <a:ext uri="{FF2B5EF4-FFF2-40B4-BE49-F238E27FC236}">
                <a16:creationId xmlns:a16="http://schemas.microsoft.com/office/drawing/2014/main" id="{D9E34915-38FA-F8FA-460B-308786AE88B6}"/>
              </a:ext>
            </a:extLst>
          </p:cNvPr>
          <p:cNvSpPr/>
          <p:nvPr/>
        </p:nvSpPr>
        <p:spPr>
          <a:xfrm>
            <a:off x="4430268" y="1473098"/>
            <a:ext cx="3566160" cy="2468880"/>
          </a:xfrm>
          <a:prstGeom prst="roundRect">
            <a:avLst>
              <a:gd name="adj" fmla="val 1296"/>
            </a:avLst>
          </a:prstGeom>
          <a:solidFill>
            <a:srgbClr val="FFFFFF"/>
          </a:solidFill>
          <a:ln w="9525">
            <a:solidFill>
              <a:srgbClr val="E2E8EC"/>
            </a:solidFill>
            <a:prstDash val="solid"/>
          </a:ln>
        </p:spPr>
        <p:txBody>
          <a:bodyPr/>
          <a:lstStyle/>
          <a:p>
            <a:endParaRPr lang="en-IN"/>
          </a:p>
        </p:txBody>
      </p:sp>
      <p:sp>
        <p:nvSpPr>
          <p:cNvPr id="86" name="Shape 19">
            <a:extLst>
              <a:ext uri="{FF2B5EF4-FFF2-40B4-BE49-F238E27FC236}">
                <a16:creationId xmlns:a16="http://schemas.microsoft.com/office/drawing/2014/main" id="{06A5580A-5ADA-72EC-A5B8-2F5DBC98EF70}"/>
              </a:ext>
            </a:extLst>
          </p:cNvPr>
          <p:cNvSpPr/>
          <p:nvPr/>
        </p:nvSpPr>
        <p:spPr>
          <a:xfrm>
            <a:off x="4430268" y="1473098"/>
            <a:ext cx="3566160" cy="50292"/>
          </a:xfrm>
          <a:prstGeom prst="rect">
            <a:avLst/>
          </a:prstGeom>
          <a:solidFill>
            <a:srgbClr val="D62839"/>
          </a:solidFill>
          <a:ln w="12700">
            <a:solidFill>
              <a:srgbClr val="D62839"/>
            </a:solidFill>
            <a:prstDash val="solid"/>
          </a:ln>
        </p:spPr>
        <p:txBody>
          <a:bodyPr/>
          <a:lstStyle/>
          <a:p>
            <a:endParaRPr lang="en-IN"/>
          </a:p>
        </p:txBody>
      </p:sp>
      <p:sp>
        <p:nvSpPr>
          <p:cNvPr id="88" name="Shape 20">
            <a:extLst>
              <a:ext uri="{FF2B5EF4-FFF2-40B4-BE49-F238E27FC236}">
                <a16:creationId xmlns:a16="http://schemas.microsoft.com/office/drawing/2014/main" id="{1037015F-F5B8-234B-2777-A255894AA627}"/>
              </a:ext>
            </a:extLst>
          </p:cNvPr>
          <p:cNvSpPr/>
          <p:nvPr/>
        </p:nvSpPr>
        <p:spPr>
          <a:xfrm>
            <a:off x="4631436" y="1701698"/>
            <a:ext cx="146304" cy="146304"/>
          </a:xfrm>
          <a:prstGeom prst="roundRect">
            <a:avLst>
              <a:gd name="adj" fmla="val 18750"/>
            </a:avLst>
          </a:prstGeom>
          <a:solidFill>
            <a:srgbClr val="D62839"/>
          </a:solidFill>
          <a:ln w="12700">
            <a:solidFill>
              <a:srgbClr val="D62839"/>
            </a:solidFill>
            <a:prstDash val="solid"/>
          </a:ln>
        </p:spPr>
        <p:txBody>
          <a:bodyPr/>
          <a:lstStyle/>
          <a:p>
            <a:endParaRPr lang="en-IN"/>
          </a:p>
        </p:txBody>
      </p:sp>
      <p:sp>
        <p:nvSpPr>
          <p:cNvPr id="90" name="Text 21">
            <a:extLst>
              <a:ext uri="{FF2B5EF4-FFF2-40B4-BE49-F238E27FC236}">
                <a16:creationId xmlns:a16="http://schemas.microsoft.com/office/drawing/2014/main" id="{8769551A-BFD0-3983-5D1F-358CAF54E9F1}"/>
              </a:ext>
            </a:extLst>
          </p:cNvPr>
          <p:cNvSpPr/>
          <p:nvPr/>
        </p:nvSpPr>
        <p:spPr>
          <a:xfrm>
            <a:off x="4832604" y="1601114"/>
            <a:ext cx="3017520" cy="347472"/>
          </a:xfrm>
          <a:prstGeom prst="rect">
            <a:avLst/>
          </a:prstGeom>
          <a:noFill/>
          <a:ln/>
        </p:spPr>
        <p:txBody>
          <a:bodyPr wrap="square" lIns="0" tIns="0" rIns="0" bIns="0" rtlCol="0" anchor="ctr"/>
          <a:lstStyle/>
          <a:p>
            <a:pPr marL="0" indent="0">
              <a:buNone/>
            </a:pPr>
            <a:r>
              <a:rPr lang="en-US" sz="1350" b="1" dirty="0">
                <a:solidFill>
                  <a:srgbClr val="0F2238"/>
                </a:solidFill>
                <a:latin typeface="Oswald" pitchFamily="34" charset="0"/>
                <a:ea typeface="Oswald" pitchFamily="34" charset="-122"/>
                <a:cs typeface="Oswald" pitchFamily="34" charset="-120"/>
              </a:rPr>
              <a:t>Healthcare &amp; MedTech</a:t>
            </a:r>
            <a:endParaRPr lang="en-US" sz="1350" dirty="0"/>
          </a:p>
        </p:txBody>
      </p:sp>
      <p:sp>
        <p:nvSpPr>
          <p:cNvPr id="92" name="Text 22">
            <a:extLst>
              <a:ext uri="{FF2B5EF4-FFF2-40B4-BE49-F238E27FC236}">
                <a16:creationId xmlns:a16="http://schemas.microsoft.com/office/drawing/2014/main" id="{1FBE2576-A86D-0DA9-59BB-91E5C24F38CF}"/>
              </a:ext>
            </a:extLst>
          </p:cNvPr>
          <p:cNvSpPr/>
          <p:nvPr/>
        </p:nvSpPr>
        <p:spPr>
          <a:xfrm>
            <a:off x="4686300" y="2003450"/>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Java · Python · C++ · Golang · .NET</a:t>
            </a:r>
            <a:endParaRPr lang="en-US" sz="950" dirty="0"/>
          </a:p>
        </p:txBody>
      </p:sp>
      <p:sp>
        <p:nvSpPr>
          <p:cNvPr id="94" name="Text 23">
            <a:extLst>
              <a:ext uri="{FF2B5EF4-FFF2-40B4-BE49-F238E27FC236}">
                <a16:creationId xmlns:a16="http://schemas.microsoft.com/office/drawing/2014/main" id="{73ADBC74-50D5-41DB-5974-6C6F9E342766}"/>
              </a:ext>
            </a:extLst>
          </p:cNvPr>
          <p:cNvSpPr/>
          <p:nvPr/>
        </p:nvSpPr>
        <p:spPr>
          <a:xfrm>
            <a:off x="4686300" y="2190902"/>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Angular · React · TypeScript · Node.js</a:t>
            </a:r>
            <a:endParaRPr lang="en-US" sz="950" dirty="0"/>
          </a:p>
        </p:txBody>
      </p:sp>
      <p:sp>
        <p:nvSpPr>
          <p:cNvPr id="96" name="Text 24">
            <a:extLst>
              <a:ext uri="{FF2B5EF4-FFF2-40B4-BE49-F238E27FC236}">
                <a16:creationId xmlns:a16="http://schemas.microsoft.com/office/drawing/2014/main" id="{ECFECD5A-93D0-E46F-188A-14D53444373C}"/>
              </a:ext>
            </a:extLst>
          </p:cNvPr>
          <p:cNvSpPr/>
          <p:nvPr/>
        </p:nvSpPr>
        <p:spPr>
          <a:xfrm>
            <a:off x="4686300" y="2378354"/>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HL7 / FHIR / DICOM</a:t>
            </a:r>
            <a:endParaRPr lang="en-US" sz="950" dirty="0"/>
          </a:p>
        </p:txBody>
      </p:sp>
      <p:sp>
        <p:nvSpPr>
          <p:cNvPr id="98" name="Text 25">
            <a:extLst>
              <a:ext uri="{FF2B5EF4-FFF2-40B4-BE49-F238E27FC236}">
                <a16:creationId xmlns:a16="http://schemas.microsoft.com/office/drawing/2014/main" id="{50491864-64A8-00A8-F240-41E197851AED}"/>
              </a:ext>
            </a:extLst>
          </p:cNvPr>
          <p:cNvSpPr/>
          <p:nvPr/>
        </p:nvSpPr>
        <p:spPr>
          <a:xfrm>
            <a:off x="4686300" y="2565806"/>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AWS HealthLake · Epic</a:t>
            </a:r>
            <a:endParaRPr lang="en-US" sz="950" dirty="0"/>
          </a:p>
        </p:txBody>
      </p:sp>
      <p:sp>
        <p:nvSpPr>
          <p:cNvPr id="100" name="Text 26">
            <a:extLst>
              <a:ext uri="{FF2B5EF4-FFF2-40B4-BE49-F238E27FC236}">
                <a16:creationId xmlns:a16="http://schemas.microsoft.com/office/drawing/2014/main" id="{1E2BA92B-E20F-DF5B-6388-4D7A5E57C9AD}"/>
              </a:ext>
            </a:extLst>
          </p:cNvPr>
          <p:cNvSpPr/>
          <p:nvPr/>
        </p:nvSpPr>
        <p:spPr>
          <a:xfrm>
            <a:off x="4686300" y="2753258"/>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MLOps for medical imaging</a:t>
            </a:r>
            <a:endParaRPr lang="en-US" sz="950" dirty="0"/>
          </a:p>
        </p:txBody>
      </p:sp>
      <p:sp>
        <p:nvSpPr>
          <p:cNvPr id="102" name="Text 27">
            <a:extLst>
              <a:ext uri="{FF2B5EF4-FFF2-40B4-BE49-F238E27FC236}">
                <a16:creationId xmlns:a16="http://schemas.microsoft.com/office/drawing/2014/main" id="{C0688BCF-EBD0-0EAB-6DD8-14CE220DC117}"/>
              </a:ext>
            </a:extLst>
          </p:cNvPr>
          <p:cNvSpPr/>
          <p:nvPr/>
        </p:nvSpPr>
        <p:spPr>
          <a:xfrm>
            <a:off x="4686300" y="2940710"/>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AI / ML &amp; clinical decision support</a:t>
            </a:r>
            <a:endParaRPr lang="en-US" sz="950" dirty="0"/>
          </a:p>
        </p:txBody>
      </p:sp>
      <p:sp>
        <p:nvSpPr>
          <p:cNvPr id="104" name="Text 28">
            <a:extLst>
              <a:ext uri="{FF2B5EF4-FFF2-40B4-BE49-F238E27FC236}">
                <a16:creationId xmlns:a16="http://schemas.microsoft.com/office/drawing/2014/main" id="{B0E7D74D-331C-CEC4-13F8-2848A991E068}"/>
              </a:ext>
            </a:extLst>
          </p:cNvPr>
          <p:cNvSpPr/>
          <p:nvPr/>
        </p:nvSpPr>
        <p:spPr>
          <a:xfrm>
            <a:off x="4686300" y="3128162"/>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Embedded &amp; connected device software</a:t>
            </a:r>
            <a:endParaRPr lang="en-US" sz="950" dirty="0"/>
          </a:p>
        </p:txBody>
      </p:sp>
      <p:sp>
        <p:nvSpPr>
          <p:cNvPr id="106" name="Text 29">
            <a:extLst>
              <a:ext uri="{FF2B5EF4-FFF2-40B4-BE49-F238E27FC236}">
                <a16:creationId xmlns:a16="http://schemas.microsoft.com/office/drawing/2014/main" id="{DED618D6-1FF8-DCA5-5350-85342C413E9F}"/>
              </a:ext>
            </a:extLst>
          </p:cNvPr>
          <p:cNvSpPr/>
          <p:nvPr/>
        </p:nvSpPr>
        <p:spPr>
          <a:xfrm>
            <a:off x="4686300" y="3315614"/>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SDET · Automation-first QA · Performance testing</a:t>
            </a:r>
            <a:endParaRPr lang="en-US" sz="950" dirty="0"/>
          </a:p>
        </p:txBody>
      </p:sp>
      <p:sp>
        <p:nvSpPr>
          <p:cNvPr id="108" name="Text 30">
            <a:extLst>
              <a:ext uri="{FF2B5EF4-FFF2-40B4-BE49-F238E27FC236}">
                <a16:creationId xmlns:a16="http://schemas.microsoft.com/office/drawing/2014/main" id="{FA6CDD04-B203-8C5F-87AC-57CDE8F674AC}"/>
              </a:ext>
            </a:extLst>
          </p:cNvPr>
          <p:cNvSpPr/>
          <p:nvPr/>
        </p:nvSpPr>
        <p:spPr>
          <a:xfrm>
            <a:off x="4686300" y="3503066"/>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HIPAA / FDA 21 CFR compliance</a:t>
            </a:r>
            <a:endParaRPr lang="en-US" sz="950" dirty="0"/>
          </a:p>
        </p:txBody>
      </p:sp>
      <p:sp>
        <p:nvSpPr>
          <p:cNvPr id="110" name="Shape 31">
            <a:extLst>
              <a:ext uri="{FF2B5EF4-FFF2-40B4-BE49-F238E27FC236}">
                <a16:creationId xmlns:a16="http://schemas.microsoft.com/office/drawing/2014/main" id="{087A109D-7A5C-FD38-D963-BF244A09911D}"/>
              </a:ext>
            </a:extLst>
          </p:cNvPr>
          <p:cNvSpPr/>
          <p:nvPr/>
        </p:nvSpPr>
        <p:spPr>
          <a:xfrm>
            <a:off x="8289036" y="1473098"/>
            <a:ext cx="3566160" cy="2468880"/>
          </a:xfrm>
          <a:prstGeom prst="roundRect">
            <a:avLst>
              <a:gd name="adj" fmla="val 1296"/>
            </a:avLst>
          </a:prstGeom>
          <a:solidFill>
            <a:srgbClr val="FFFFFF"/>
          </a:solidFill>
          <a:ln w="9525">
            <a:solidFill>
              <a:srgbClr val="E2E8EC"/>
            </a:solidFill>
            <a:prstDash val="solid"/>
          </a:ln>
        </p:spPr>
        <p:txBody>
          <a:bodyPr/>
          <a:lstStyle/>
          <a:p>
            <a:endParaRPr lang="en-IN"/>
          </a:p>
        </p:txBody>
      </p:sp>
      <p:sp>
        <p:nvSpPr>
          <p:cNvPr id="112" name="Shape 32">
            <a:extLst>
              <a:ext uri="{FF2B5EF4-FFF2-40B4-BE49-F238E27FC236}">
                <a16:creationId xmlns:a16="http://schemas.microsoft.com/office/drawing/2014/main" id="{0331E522-C691-8175-043D-E778FDB835DE}"/>
              </a:ext>
            </a:extLst>
          </p:cNvPr>
          <p:cNvSpPr/>
          <p:nvPr/>
        </p:nvSpPr>
        <p:spPr>
          <a:xfrm>
            <a:off x="8289036" y="1473098"/>
            <a:ext cx="3566160" cy="50292"/>
          </a:xfrm>
          <a:prstGeom prst="rect">
            <a:avLst/>
          </a:prstGeom>
          <a:solidFill>
            <a:srgbClr val="2A9D8F"/>
          </a:solidFill>
          <a:ln w="12700">
            <a:solidFill>
              <a:srgbClr val="2A9D8F"/>
            </a:solidFill>
            <a:prstDash val="solid"/>
          </a:ln>
        </p:spPr>
        <p:txBody>
          <a:bodyPr/>
          <a:lstStyle/>
          <a:p>
            <a:endParaRPr lang="en-IN"/>
          </a:p>
        </p:txBody>
      </p:sp>
      <p:sp>
        <p:nvSpPr>
          <p:cNvPr id="114" name="Shape 33">
            <a:extLst>
              <a:ext uri="{FF2B5EF4-FFF2-40B4-BE49-F238E27FC236}">
                <a16:creationId xmlns:a16="http://schemas.microsoft.com/office/drawing/2014/main" id="{E6642E1A-926D-B65F-9FAF-31BC20619D27}"/>
              </a:ext>
            </a:extLst>
          </p:cNvPr>
          <p:cNvSpPr/>
          <p:nvPr/>
        </p:nvSpPr>
        <p:spPr>
          <a:xfrm>
            <a:off x="8490204" y="1701698"/>
            <a:ext cx="146304" cy="146304"/>
          </a:xfrm>
          <a:prstGeom prst="roundRect">
            <a:avLst>
              <a:gd name="adj" fmla="val 18750"/>
            </a:avLst>
          </a:prstGeom>
          <a:solidFill>
            <a:srgbClr val="2A9D8F"/>
          </a:solidFill>
          <a:ln w="12700">
            <a:solidFill>
              <a:srgbClr val="2A9D8F"/>
            </a:solidFill>
            <a:prstDash val="solid"/>
          </a:ln>
        </p:spPr>
        <p:txBody>
          <a:bodyPr/>
          <a:lstStyle/>
          <a:p>
            <a:endParaRPr lang="en-IN"/>
          </a:p>
        </p:txBody>
      </p:sp>
      <p:sp>
        <p:nvSpPr>
          <p:cNvPr id="116" name="Text 34">
            <a:extLst>
              <a:ext uri="{FF2B5EF4-FFF2-40B4-BE49-F238E27FC236}">
                <a16:creationId xmlns:a16="http://schemas.microsoft.com/office/drawing/2014/main" id="{F6F341DD-890F-510F-65A8-3BB7DC2852A7}"/>
              </a:ext>
            </a:extLst>
          </p:cNvPr>
          <p:cNvSpPr/>
          <p:nvPr/>
        </p:nvSpPr>
        <p:spPr>
          <a:xfrm>
            <a:off x="8691372" y="1601114"/>
            <a:ext cx="3017520" cy="347472"/>
          </a:xfrm>
          <a:prstGeom prst="rect">
            <a:avLst/>
          </a:prstGeom>
          <a:noFill/>
          <a:ln/>
        </p:spPr>
        <p:txBody>
          <a:bodyPr wrap="square" lIns="0" tIns="0" rIns="0" bIns="0" rtlCol="0" anchor="ctr"/>
          <a:lstStyle/>
          <a:p>
            <a:pPr marL="0" indent="0">
              <a:buNone/>
            </a:pPr>
            <a:r>
              <a:rPr lang="en-US" sz="1350" b="1" dirty="0">
                <a:solidFill>
                  <a:srgbClr val="0F2238"/>
                </a:solidFill>
                <a:latin typeface="Oswald" pitchFamily="34" charset="0"/>
                <a:ea typeface="Oswald" pitchFamily="34" charset="-122"/>
                <a:cs typeface="Oswald" pitchFamily="34" charset="-120"/>
              </a:rPr>
              <a:t>Automotive &amp; Manufacturing</a:t>
            </a:r>
            <a:endParaRPr lang="en-US" sz="1350" dirty="0"/>
          </a:p>
        </p:txBody>
      </p:sp>
      <p:sp>
        <p:nvSpPr>
          <p:cNvPr id="118" name="Text 35">
            <a:extLst>
              <a:ext uri="{FF2B5EF4-FFF2-40B4-BE49-F238E27FC236}">
                <a16:creationId xmlns:a16="http://schemas.microsoft.com/office/drawing/2014/main" id="{0C21F9F1-76C1-F579-B9ED-A451941713F0}"/>
              </a:ext>
            </a:extLst>
          </p:cNvPr>
          <p:cNvSpPr/>
          <p:nvPr/>
        </p:nvSpPr>
        <p:spPr>
          <a:xfrm>
            <a:off x="8545068" y="2003450"/>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Embedded C/C++ · AUTOSAR · Firmware</a:t>
            </a:r>
            <a:endParaRPr lang="en-US" sz="950" dirty="0"/>
          </a:p>
        </p:txBody>
      </p:sp>
      <p:sp>
        <p:nvSpPr>
          <p:cNvPr id="120" name="Text 36">
            <a:extLst>
              <a:ext uri="{FF2B5EF4-FFF2-40B4-BE49-F238E27FC236}">
                <a16:creationId xmlns:a16="http://schemas.microsoft.com/office/drawing/2014/main" id="{5979A89A-CF5E-DA3F-FBC7-24548E5B7F96}"/>
              </a:ext>
            </a:extLst>
          </p:cNvPr>
          <p:cNvSpPr/>
          <p:nvPr/>
        </p:nvSpPr>
        <p:spPr>
          <a:xfrm>
            <a:off x="8545068" y="2190902"/>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CAN / LIN · SCADA / MES</a:t>
            </a:r>
            <a:endParaRPr lang="en-US" sz="950" dirty="0"/>
          </a:p>
        </p:txBody>
      </p:sp>
      <p:sp>
        <p:nvSpPr>
          <p:cNvPr id="122" name="Text 37">
            <a:extLst>
              <a:ext uri="{FF2B5EF4-FFF2-40B4-BE49-F238E27FC236}">
                <a16:creationId xmlns:a16="http://schemas.microsoft.com/office/drawing/2014/main" id="{8597D70C-B31A-D288-DAFD-DCB891C314DA}"/>
              </a:ext>
            </a:extLst>
          </p:cNvPr>
          <p:cNvSpPr/>
          <p:nvPr/>
        </p:nvSpPr>
        <p:spPr>
          <a:xfrm>
            <a:off x="8545068" y="2378354"/>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Siemens Teamcenter PLM</a:t>
            </a:r>
            <a:endParaRPr lang="en-US" sz="950" dirty="0"/>
          </a:p>
        </p:txBody>
      </p:sp>
      <p:sp>
        <p:nvSpPr>
          <p:cNvPr id="124" name="Text 38">
            <a:extLst>
              <a:ext uri="{FF2B5EF4-FFF2-40B4-BE49-F238E27FC236}">
                <a16:creationId xmlns:a16="http://schemas.microsoft.com/office/drawing/2014/main" id="{5DCB020C-D971-053B-A15E-571ABE3A942B}"/>
              </a:ext>
            </a:extLst>
          </p:cNvPr>
          <p:cNvSpPr/>
          <p:nvPr/>
        </p:nvSpPr>
        <p:spPr>
          <a:xfrm>
            <a:off x="8545068" y="2565806"/>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SAP MDG · MDM · ABAP · PI · FICO</a:t>
            </a:r>
            <a:endParaRPr lang="en-US" sz="950" dirty="0"/>
          </a:p>
        </p:txBody>
      </p:sp>
      <p:sp>
        <p:nvSpPr>
          <p:cNvPr id="126" name="Text 39">
            <a:extLst>
              <a:ext uri="{FF2B5EF4-FFF2-40B4-BE49-F238E27FC236}">
                <a16:creationId xmlns:a16="http://schemas.microsoft.com/office/drawing/2014/main" id="{44C26745-0466-625E-D299-377530A1C1A8}"/>
              </a:ext>
            </a:extLst>
          </p:cNvPr>
          <p:cNvSpPr/>
          <p:nvPr/>
        </p:nvSpPr>
        <p:spPr>
          <a:xfrm>
            <a:off x="8545068" y="2753258"/>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.NET · Java · React Native · OutSystems</a:t>
            </a:r>
            <a:endParaRPr lang="en-US" sz="950" dirty="0"/>
          </a:p>
        </p:txBody>
      </p:sp>
      <p:sp>
        <p:nvSpPr>
          <p:cNvPr id="128" name="Text 40">
            <a:extLst>
              <a:ext uri="{FF2B5EF4-FFF2-40B4-BE49-F238E27FC236}">
                <a16:creationId xmlns:a16="http://schemas.microsoft.com/office/drawing/2014/main" id="{A7304DCB-3C90-B2AE-DBEB-5E0787E86BCD}"/>
              </a:ext>
            </a:extLst>
          </p:cNvPr>
          <p:cNvSpPr/>
          <p:nvPr/>
        </p:nvSpPr>
        <p:spPr>
          <a:xfrm>
            <a:off x="8545068" y="2940710"/>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Azure · AWS · DevOps &amp; CI/CD</a:t>
            </a:r>
            <a:endParaRPr lang="en-US" sz="950" dirty="0"/>
          </a:p>
        </p:txBody>
      </p:sp>
      <p:sp>
        <p:nvSpPr>
          <p:cNvPr id="130" name="Text 41">
            <a:extLst>
              <a:ext uri="{FF2B5EF4-FFF2-40B4-BE49-F238E27FC236}">
                <a16:creationId xmlns:a16="http://schemas.microsoft.com/office/drawing/2014/main" id="{FBF271B3-3EDE-E7AE-2185-727110C905C0}"/>
              </a:ext>
            </a:extLst>
          </p:cNvPr>
          <p:cNvSpPr/>
          <p:nvPr/>
        </p:nvSpPr>
        <p:spPr>
          <a:xfrm>
            <a:off x="8545068" y="3128162"/>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Industrial data engineering · Power BI</a:t>
            </a:r>
            <a:endParaRPr lang="en-US" sz="950" dirty="0"/>
          </a:p>
        </p:txBody>
      </p:sp>
      <p:sp>
        <p:nvSpPr>
          <p:cNvPr id="132" name="Text 42">
            <a:extLst>
              <a:ext uri="{FF2B5EF4-FFF2-40B4-BE49-F238E27FC236}">
                <a16:creationId xmlns:a16="http://schemas.microsoft.com/office/drawing/2014/main" id="{28772B1E-8A0D-211A-A975-6BE659028080}"/>
              </a:ext>
            </a:extLst>
          </p:cNvPr>
          <p:cNvSpPr/>
          <p:nvPr/>
        </p:nvSpPr>
        <p:spPr>
          <a:xfrm>
            <a:off x="8545068" y="3315614"/>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Electrical, RF &amp; design engineering (AutoCAD)</a:t>
            </a:r>
            <a:endParaRPr lang="en-US" sz="950" dirty="0"/>
          </a:p>
        </p:txBody>
      </p:sp>
      <p:sp>
        <p:nvSpPr>
          <p:cNvPr id="134" name="Text 43">
            <a:extLst>
              <a:ext uri="{FF2B5EF4-FFF2-40B4-BE49-F238E27FC236}">
                <a16:creationId xmlns:a16="http://schemas.microsoft.com/office/drawing/2014/main" id="{11ED67D3-7E4F-4242-094F-42E04D5EC062}"/>
              </a:ext>
            </a:extLst>
          </p:cNvPr>
          <p:cNvSpPr/>
          <p:nvPr/>
        </p:nvSpPr>
        <p:spPr>
          <a:xfrm>
            <a:off x="8545068" y="3503066"/>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ISO 26262 / MISRA</a:t>
            </a:r>
            <a:endParaRPr lang="en-US" sz="950" dirty="0"/>
          </a:p>
        </p:txBody>
      </p:sp>
      <p:sp>
        <p:nvSpPr>
          <p:cNvPr id="136" name="Shape 44">
            <a:extLst>
              <a:ext uri="{FF2B5EF4-FFF2-40B4-BE49-F238E27FC236}">
                <a16:creationId xmlns:a16="http://schemas.microsoft.com/office/drawing/2014/main" id="{F71DA269-6FAA-EA66-4118-C44279076D05}"/>
              </a:ext>
            </a:extLst>
          </p:cNvPr>
          <p:cNvSpPr/>
          <p:nvPr/>
        </p:nvSpPr>
        <p:spPr>
          <a:xfrm>
            <a:off x="571500" y="4124858"/>
            <a:ext cx="3566160" cy="2468880"/>
          </a:xfrm>
          <a:prstGeom prst="roundRect">
            <a:avLst>
              <a:gd name="adj" fmla="val 1296"/>
            </a:avLst>
          </a:prstGeom>
          <a:solidFill>
            <a:srgbClr val="FFFFFF"/>
          </a:solidFill>
          <a:ln w="9525">
            <a:solidFill>
              <a:srgbClr val="E2E8EC"/>
            </a:solidFill>
            <a:prstDash val="solid"/>
          </a:ln>
        </p:spPr>
        <p:txBody>
          <a:bodyPr/>
          <a:lstStyle/>
          <a:p>
            <a:endParaRPr lang="en-IN"/>
          </a:p>
        </p:txBody>
      </p:sp>
      <p:sp>
        <p:nvSpPr>
          <p:cNvPr id="138" name="Shape 45">
            <a:extLst>
              <a:ext uri="{FF2B5EF4-FFF2-40B4-BE49-F238E27FC236}">
                <a16:creationId xmlns:a16="http://schemas.microsoft.com/office/drawing/2014/main" id="{E026CAC5-4734-5050-0218-BD3CC2EB1AFC}"/>
              </a:ext>
            </a:extLst>
          </p:cNvPr>
          <p:cNvSpPr/>
          <p:nvPr/>
        </p:nvSpPr>
        <p:spPr>
          <a:xfrm>
            <a:off x="571500" y="4124858"/>
            <a:ext cx="3566160" cy="50292"/>
          </a:xfrm>
          <a:prstGeom prst="rect">
            <a:avLst/>
          </a:prstGeom>
          <a:solidFill>
            <a:srgbClr val="D62839"/>
          </a:solidFill>
          <a:ln w="12700">
            <a:solidFill>
              <a:srgbClr val="D62839"/>
            </a:solidFill>
            <a:prstDash val="solid"/>
          </a:ln>
        </p:spPr>
        <p:txBody>
          <a:bodyPr/>
          <a:lstStyle/>
          <a:p>
            <a:endParaRPr lang="en-IN"/>
          </a:p>
        </p:txBody>
      </p:sp>
      <p:sp>
        <p:nvSpPr>
          <p:cNvPr id="140" name="Shape 46">
            <a:extLst>
              <a:ext uri="{FF2B5EF4-FFF2-40B4-BE49-F238E27FC236}">
                <a16:creationId xmlns:a16="http://schemas.microsoft.com/office/drawing/2014/main" id="{A65B95EA-54D0-DB8E-7D2D-06BC1D1799DF}"/>
              </a:ext>
            </a:extLst>
          </p:cNvPr>
          <p:cNvSpPr/>
          <p:nvPr/>
        </p:nvSpPr>
        <p:spPr>
          <a:xfrm>
            <a:off x="772668" y="4353458"/>
            <a:ext cx="146304" cy="146304"/>
          </a:xfrm>
          <a:prstGeom prst="roundRect">
            <a:avLst>
              <a:gd name="adj" fmla="val 18750"/>
            </a:avLst>
          </a:prstGeom>
          <a:solidFill>
            <a:srgbClr val="D62839"/>
          </a:solidFill>
          <a:ln w="12700">
            <a:solidFill>
              <a:srgbClr val="D62839"/>
            </a:solidFill>
            <a:prstDash val="solid"/>
          </a:ln>
        </p:spPr>
        <p:txBody>
          <a:bodyPr/>
          <a:lstStyle/>
          <a:p>
            <a:endParaRPr lang="en-IN"/>
          </a:p>
        </p:txBody>
      </p:sp>
      <p:sp>
        <p:nvSpPr>
          <p:cNvPr id="142" name="Text 47">
            <a:extLst>
              <a:ext uri="{FF2B5EF4-FFF2-40B4-BE49-F238E27FC236}">
                <a16:creationId xmlns:a16="http://schemas.microsoft.com/office/drawing/2014/main" id="{EF66112B-6038-EFC0-FBFC-AC106FF9D839}"/>
              </a:ext>
            </a:extLst>
          </p:cNvPr>
          <p:cNvSpPr/>
          <p:nvPr/>
        </p:nvSpPr>
        <p:spPr>
          <a:xfrm>
            <a:off x="973836" y="4252874"/>
            <a:ext cx="3017520" cy="347472"/>
          </a:xfrm>
          <a:prstGeom prst="rect">
            <a:avLst/>
          </a:prstGeom>
          <a:noFill/>
          <a:ln/>
        </p:spPr>
        <p:txBody>
          <a:bodyPr wrap="square" lIns="0" tIns="0" rIns="0" bIns="0" rtlCol="0" anchor="ctr"/>
          <a:lstStyle/>
          <a:p>
            <a:pPr marL="0" indent="0">
              <a:buNone/>
            </a:pPr>
            <a:r>
              <a:rPr lang="en-US" sz="1350" b="1" dirty="0">
                <a:solidFill>
                  <a:srgbClr val="0F2238"/>
                </a:solidFill>
                <a:latin typeface="Oswald" pitchFamily="34" charset="0"/>
                <a:ea typeface="Oswald" pitchFamily="34" charset="-122"/>
                <a:cs typeface="Oswald" pitchFamily="34" charset="-120"/>
              </a:rPr>
              <a:t>Technology / SaaS</a:t>
            </a:r>
            <a:endParaRPr lang="en-US" sz="1350" dirty="0"/>
          </a:p>
        </p:txBody>
      </p:sp>
      <p:sp>
        <p:nvSpPr>
          <p:cNvPr id="144" name="Text 48">
            <a:extLst>
              <a:ext uri="{FF2B5EF4-FFF2-40B4-BE49-F238E27FC236}">
                <a16:creationId xmlns:a16="http://schemas.microsoft.com/office/drawing/2014/main" id="{A567FB4E-19A6-1F8D-B3B0-E94F148819A3}"/>
              </a:ext>
            </a:extLst>
          </p:cNvPr>
          <p:cNvSpPr/>
          <p:nvPr/>
        </p:nvSpPr>
        <p:spPr>
          <a:xfrm>
            <a:off x="827532" y="4655210"/>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Full-stack (React / Node / Java)</a:t>
            </a:r>
            <a:endParaRPr lang="en-US" sz="950" dirty="0"/>
          </a:p>
        </p:txBody>
      </p:sp>
      <p:sp>
        <p:nvSpPr>
          <p:cNvPr id="146" name="Text 49">
            <a:extLst>
              <a:ext uri="{FF2B5EF4-FFF2-40B4-BE49-F238E27FC236}">
                <a16:creationId xmlns:a16="http://schemas.microsoft.com/office/drawing/2014/main" id="{2369C2BD-3D78-B097-8CAC-C27FB6F7F175}"/>
              </a:ext>
            </a:extLst>
          </p:cNvPr>
          <p:cNvSpPr/>
          <p:nvPr/>
        </p:nvSpPr>
        <p:spPr>
          <a:xfrm>
            <a:off x="827532" y="4842662"/>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Cloud-native AWS / Azure / GCP</a:t>
            </a:r>
            <a:endParaRPr lang="en-US" sz="950" dirty="0"/>
          </a:p>
        </p:txBody>
      </p:sp>
      <p:sp>
        <p:nvSpPr>
          <p:cNvPr id="148" name="Text 50">
            <a:extLst>
              <a:ext uri="{FF2B5EF4-FFF2-40B4-BE49-F238E27FC236}">
                <a16:creationId xmlns:a16="http://schemas.microsoft.com/office/drawing/2014/main" id="{3BF9E5D9-BF38-0DC8-7F73-13DF60A19745}"/>
              </a:ext>
            </a:extLst>
          </p:cNvPr>
          <p:cNvSpPr/>
          <p:nvPr/>
        </p:nvSpPr>
        <p:spPr>
          <a:xfrm>
            <a:off x="827532" y="5030114"/>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DevSecOps · CI-CD · Kubernetes</a:t>
            </a:r>
            <a:endParaRPr lang="en-US" sz="950" dirty="0"/>
          </a:p>
        </p:txBody>
      </p:sp>
      <p:sp>
        <p:nvSpPr>
          <p:cNvPr id="150" name="Text 51">
            <a:extLst>
              <a:ext uri="{FF2B5EF4-FFF2-40B4-BE49-F238E27FC236}">
                <a16:creationId xmlns:a16="http://schemas.microsoft.com/office/drawing/2014/main" id="{D041D4A6-B369-6F36-10D5-5727FD970574}"/>
              </a:ext>
            </a:extLst>
          </p:cNvPr>
          <p:cNvSpPr/>
          <p:nvPr/>
        </p:nvSpPr>
        <p:spPr>
          <a:xfrm>
            <a:off x="827532" y="5217566"/>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AI / ML &amp; GenAI pipelines</a:t>
            </a:r>
            <a:endParaRPr lang="en-US" sz="950" dirty="0"/>
          </a:p>
        </p:txBody>
      </p:sp>
      <p:sp>
        <p:nvSpPr>
          <p:cNvPr id="152" name="Text 52">
            <a:extLst>
              <a:ext uri="{FF2B5EF4-FFF2-40B4-BE49-F238E27FC236}">
                <a16:creationId xmlns:a16="http://schemas.microsoft.com/office/drawing/2014/main" id="{28241A3C-5FB9-46B8-3433-0CA930E6895C}"/>
              </a:ext>
            </a:extLst>
          </p:cNvPr>
          <p:cNvSpPr/>
          <p:nvPr/>
        </p:nvSpPr>
        <p:spPr>
          <a:xfrm>
            <a:off x="827532" y="5405018"/>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Storage &amp; data protection platforms</a:t>
            </a:r>
            <a:endParaRPr lang="en-US" sz="950" dirty="0"/>
          </a:p>
        </p:txBody>
      </p:sp>
      <p:sp>
        <p:nvSpPr>
          <p:cNvPr id="154" name="Text 53">
            <a:extLst>
              <a:ext uri="{FF2B5EF4-FFF2-40B4-BE49-F238E27FC236}">
                <a16:creationId xmlns:a16="http://schemas.microsoft.com/office/drawing/2014/main" id="{A9B48909-4287-F219-125A-2F36C4603B61}"/>
              </a:ext>
            </a:extLst>
          </p:cNvPr>
          <p:cNvSpPr/>
          <p:nvPr/>
        </p:nvSpPr>
        <p:spPr>
          <a:xfrm>
            <a:off x="827532" y="5592470"/>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Windows · Linux · Network engineering</a:t>
            </a:r>
            <a:endParaRPr lang="en-US" sz="950" dirty="0"/>
          </a:p>
        </p:txBody>
      </p:sp>
      <p:sp>
        <p:nvSpPr>
          <p:cNvPr id="156" name="Text 54">
            <a:extLst>
              <a:ext uri="{FF2B5EF4-FFF2-40B4-BE49-F238E27FC236}">
                <a16:creationId xmlns:a16="http://schemas.microsoft.com/office/drawing/2014/main" id="{52EEEB54-10C8-2B1E-C0BC-DFBB17E7F9BD}"/>
              </a:ext>
            </a:extLst>
          </p:cNvPr>
          <p:cNvSpPr/>
          <p:nvPr/>
        </p:nvSpPr>
        <p:spPr>
          <a:xfrm>
            <a:off x="827532" y="5779922"/>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L1 to L3 technical support &amp; service desk</a:t>
            </a:r>
            <a:endParaRPr lang="en-US" sz="950" dirty="0"/>
          </a:p>
        </p:txBody>
      </p:sp>
      <p:sp>
        <p:nvSpPr>
          <p:cNvPr id="158" name="Text 55">
            <a:extLst>
              <a:ext uri="{FF2B5EF4-FFF2-40B4-BE49-F238E27FC236}">
                <a16:creationId xmlns:a16="http://schemas.microsoft.com/office/drawing/2014/main" id="{C6BD4A22-16CF-0E8C-013A-51D6A589BBEB}"/>
              </a:ext>
            </a:extLst>
          </p:cNvPr>
          <p:cNvSpPr/>
          <p:nvPr/>
        </p:nvSpPr>
        <p:spPr>
          <a:xfrm>
            <a:off x="827532" y="5967374"/>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ITSM · SDM · Major incident management</a:t>
            </a:r>
            <a:endParaRPr lang="en-US" sz="950" dirty="0"/>
          </a:p>
        </p:txBody>
      </p:sp>
      <p:sp>
        <p:nvSpPr>
          <p:cNvPr id="160" name="Text 56">
            <a:extLst>
              <a:ext uri="{FF2B5EF4-FFF2-40B4-BE49-F238E27FC236}">
                <a16:creationId xmlns:a16="http://schemas.microsoft.com/office/drawing/2014/main" id="{AFB341A9-5D66-E012-B1FF-B2AAED7BCC80}"/>
              </a:ext>
            </a:extLst>
          </p:cNvPr>
          <p:cNvSpPr/>
          <p:nvPr/>
        </p:nvSpPr>
        <p:spPr>
          <a:xfrm>
            <a:off x="827532" y="6154826"/>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Telecom &amp; carrier operations</a:t>
            </a:r>
            <a:endParaRPr lang="en-US" sz="950" dirty="0"/>
          </a:p>
        </p:txBody>
      </p:sp>
      <p:sp>
        <p:nvSpPr>
          <p:cNvPr id="162" name="Shape 57">
            <a:extLst>
              <a:ext uri="{FF2B5EF4-FFF2-40B4-BE49-F238E27FC236}">
                <a16:creationId xmlns:a16="http://schemas.microsoft.com/office/drawing/2014/main" id="{498E600E-7EE3-DB9D-1FCA-077297C3831C}"/>
              </a:ext>
            </a:extLst>
          </p:cNvPr>
          <p:cNvSpPr/>
          <p:nvPr/>
        </p:nvSpPr>
        <p:spPr>
          <a:xfrm>
            <a:off x="4430268" y="4124858"/>
            <a:ext cx="3566160" cy="2468880"/>
          </a:xfrm>
          <a:prstGeom prst="roundRect">
            <a:avLst>
              <a:gd name="adj" fmla="val 1296"/>
            </a:avLst>
          </a:prstGeom>
          <a:solidFill>
            <a:srgbClr val="FFFFFF"/>
          </a:solidFill>
          <a:ln w="9525">
            <a:solidFill>
              <a:srgbClr val="E2E8EC"/>
            </a:solidFill>
            <a:prstDash val="solid"/>
          </a:ln>
        </p:spPr>
        <p:txBody>
          <a:bodyPr/>
          <a:lstStyle/>
          <a:p>
            <a:endParaRPr lang="en-IN"/>
          </a:p>
        </p:txBody>
      </p:sp>
      <p:sp>
        <p:nvSpPr>
          <p:cNvPr id="164" name="Shape 58">
            <a:extLst>
              <a:ext uri="{FF2B5EF4-FFF2-40B4-BE49-F238E27FC236}">
                <a16:creationId xmlns:a16="http://schemas.microsoft.com/office/drawing/2014/main" id="{F3B7DDC5-A0D9-6896-FD2C-6B43804D6496}"/>
              </a:ext>
            </a:extLst>
          </p:cNvPr>
          <p:cNvSpPr/>
          <p:nvPr/>
        </p:nvSpPr>
        <p:spPr>
          <a:xfrm>
            <a:off x="4430268" y="4124858"/>
            <a:ext cx="3566160" cy="50292"/>
          </a:xfrm>
          <a:prstGeom prst="rect">
            <a:avLst/>
          </a:prstGeom>
          <a:solidFill>
            <a:srgbClr val="2A9D8F"/>
          </a:solidFill>
          <a:ln w="12700">
            <a:solidFill>
              <a:srgbClr val="2A9D8F"/>
            </a:solidFill>
            <a:prstDash val="solid"/>
          </a:ln>
        </p:spPr>
        <p:txBody>
          <a:bodyPr/>
          <a:lstStyle/>
          <a:p>
            <a:endParaRPr lang="en-IN"/>
          </a:p>
        </p:txBody>
      </p:sp>
      <p:sp>
        <p:nvSpPr>
          <p:cNvPr id="166" name="Shape 59">
            <a:extLst>
              <a:ext uri="{FF2B5EF4-FFF2-40B4-BE49-F238E27FC236}">
                <a16:creationId xmlns:a16="http://schemas.microsoft.com/office/drawing/2014/main" id="{1AF7B80F-4B90-9C4D-C805-8209EA5FB99C}"/>
              </a:ext>
            </a:extLst>
          </p:cNvPr>
          <p:cNvSpPr/>
          <p:nvPr/>
        </p:nvSpPr>
        <p:spPr>
          <a:xfrm>
            <a:off x="4631436" y="4353458"/>
            <a:ext cx="146304" cy="146304"/>
          </a:xfrm>
          <a:prstGeom prst="roundRect">
            <a:avLst>
              <a:gd name="adj" fmla="val 18750"/>
            </a:avLst>
          </a:prstGeom>
          <a:solidFill>
            <a:srgbClr val="2A9D8F"/>
          </a:solidFill>
          <a:ln w="12700">
            <a:solidFill>
              <a:srgbClr val="2A9D8F"/>
            </a:solidFill>
            <a:prstDash val="solid"/>
          </a:ln>
        </p:spPr>
        <p:txBody>
          <a:bodyPr/>
          <a:lstStyle/>
          <a:p>
            <a:endParaRPr lang="en-IN"/>
          </a:p>
        </p:txBody>
      </p:sp>
      <p:sp>
        <p:nvSpPr>
          <p:cNvPr id="168" name="Text 60">
            <a:extLst>
              <a:ext uri="{FF2B5EF4-FFF2-40B4-BE49-F238E27FC236}">
                <a16:creationId xmlns:a16="http://schemas.microsoft.com/office/drawing/2014/main" id="{1ADB52B2-5AF1-A93C-8DF1-776377AD47E3}"/>
              </a:ext>
            </a:extLst>
          </p:cNvPr>
          <p:cNvSpPr/>
          <p:nvPr/>
        </p:nvSpPr>
        <p:spPr>
          <a:xfrm>
            <a:off x="4832604" y="4252874"/>
            <a:ext cx="3017520" cy="347472"/>
          </a:xfrm>
          <a:prstGeom prst="rect">
            <a:avLst/>
          </a:prstGeom>
          <a:noFill/>
          <a:ln/>
        </p:spPr>
        <p:txBody>
          <a:bodyPr wrap="square" lIns="0" tIns="0" rIns="0" bIns="0" rtlCol="0" anchor="ctr"/>
          <a:lstStyle/>
          <a:p>
            <a:pPr marL="0" indent="0">
              <a:buNone/>
            </a:pPr>
            <a:r>
              <a:rPr lang="en-US" sz="1350" b="1" dirty="0">
                <a:solidFill>
                  <a:srgbClr val="0F2238"/>
                </a:solidFill>
                <a:latin typeface="Oswald" pitchFamily="34" charset="0"/>
                <a:ea typeface="Oswald" pitchFamily="34" charset="-122"/>
                <a:cs typeface="Oswald" pitchFamily="34" charset="-120"/>
              </a:rPr>
              <a:t>Pharma &amp; Life Sciences</a:t>
            </a:r>
            <a:endParaRPr lang="en-US" sz="1350" dirty="0"/>
          </a:p>
        </p:txBody>
      </p:sp>
      <p:sp>
        <p:nvSpPr>
          <p:cNvPr id="170" name="Text 61">
            <a:extLst>
              <a:ext uri="{FF2B5EF4-FFF2-40B4-BE49-F238E27FC236}">
                <a16:creationId xmlns:a16="http://schemas.microsoft.com/office/drawing/2014/main" id="{4417BF97-DD70-5A7E-A887-33A774E9C6FB}"/>
              </a:ext>
            </a:extLst>
          </p:cNvPr>
          <p:cNvSpPr/>
          <p:nvPr/>
        </p:nvSpPr>
        <p:spPr>
          <a:xfrm>
            <a:off x="4686300" y="4655210"/>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SAS · R · Python · SQL · Power BI</a:t>
            </a:r>
            <a:endParaRPr lang="en-US" sz="950" dirty="0"/>
          </a:p>
        </p:txBody>
      </p:sp>
      <p:sp>
        <p:nvSpPr>
          <p:cNvPr id="172" name="Text 62">
            <a:extLst>
              <a:ext uri="{FF2B5EF4-FFF2-40B4-BE49-F238E27FC236}">
                <a16:creationId xmlns:a16="http://schemas.microsoft.com/office/drawing/2014/main" id="{E0D8E270-3220-F989-16ED-38A60A0E8EE5}"/>
              </a:ext>
            </a:extLst>
          </p:cNvPr>
          <p:cNvSpPr/>
          <p:nvPr/>
        </p:nvSpPr>
        <p:spPr>
          <a:xfrm>
            <a:off x="4686300" y="4842662"/>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Clinical data analytics</a:t>
            </a:r>
            <a:endParaRPr lang="en-US" sz="950" dirty="0"/>
          </a:p>
        </p:txBody>
      </p:sp>
      <p:sp>
        <p:nvSpPr>
          <p:cNvPr id="174" name="Text 63">
            <a:extLst>
              <a:ext uri="{FF2B5EF4-FFF2-40B4-BE49-F238E27FC236}">
                <a16:creationId xmlns:a16="http://schemas.microsoft.com/office/drawing/2014/main" id="{94F7590F-2C6E-E130-002A-C6528E7CD733}"/>
              </a:ext>
            </a:extLst>
          </p:cNvPr>
          <p:cNvSpPr/>
          <p:nvPr/>
        </p:nvSpPr>
        <p:spPr>
          <a:xfrm>
            <a:off x="4686300" y="5030114"/>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Commercial analytics &amp; sales force effectiveness</a:t>
            </a:r>
            <a:endParaRPr lang="en-US" sz="950" dirty="0"/>
          </a:p>
        </p:txBody>
      </p:sp>
      <p:sp>
        <p:nvSpPr>
          <p:cNvPr id="176" name="Text 64">
            <a:extLst>
              <a:ext uri="{FF2B5EF4-FFF2-40B4-BE49-F238E27FC236}">
                <a16:creationId xmlns:a16="http://schemas.microsoft.com/office/drawing/2014/main" id="{EDE021C5-CCD9-476C-781B-3CB132F0CD2B}"/>
              </a:ext>
            </a:extLst>
          </p:cNvPr>
          <p:cNvSpPr/>
          <p:nvPr/>
        </p:nvSpPr>
        <p:spPr>
          <a:xfrm>
            <a:off x="4686300" y="5217566"/>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Segmentation, targeting &amp; sizing (STS)</a:t>
            </a:r>
            <a:endParaRPr lang="en-US" sz="950" dirty="0"/>
          </a:p>
        </p:txBody>
      </p:sp>
      <p:sp>
        <p:nvSpPr>
          <p:cNvPr id="178" name="Text 65">
            <a:extLst>
              <a:ext uri="{FF2B5EF4-FFF2-40B4-BE49-F238E27FC236}">
                <a16:creationId xmlns:a16="http://schemas.microsoft.com/office/drawing/2014/main" id="{14E55CA6-8472-D636-03BA-1C4113B32682}"/>
              </a:ext>
            </a:extLst>
          </p:cNvPr>
          <p:cNvSpPr/>
          <p:nvPr/>
        </p:nvSpPr>
        <p:spPr>
          <a:xfrm>
            <a:off x="4686300" y="5405018"/>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Call planning &amp; real-world data analytics</a:t>
            </a:r>
            <a:endParaRPr lang="en-US" sz="950" dirty="0"/>
          </a:p>
        </p:txBody>
      </p:sp>
      <p:sp>
        <p:nvSpPr>
          <p:cNvPr id="180" name="Text 66">
            <a:extLst>
              <a:ext uri="{FF2B5EF4-FFF2-40B4-BE49-F238E27FC236}">
                <a16:creationId xmlns:a16="http://schemas.microsoft.com/office/drawing/2014/main" id="{36405C1C-27A6-0E93-877C-9739A8766305}"/>
              </a:ext>
            </a:extLst>
          </p:cNvPr>
          <p:cNvSpPr/>
          <p:nvPr/>
        </p:nvSpPr>
        <p:spPr>
          <a:xfrm>
            <a:off x="4686300" y="5592470"/>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Brand analytics: NRx / TRx / NBRx modelling</a:t>
            </a:r>
            <a:endParaRPr lang="en-US" sz="950" dirty="0"/>
          </a:p>
        </p:txBody>
      </p:sp>
      <p:sp>
        <p:nvSpPr>
          <p:cNvPr id="182" name="Text 67">
            <a:extLst>
              <a:ext uri="{FF2B5EF4-FFF2-40B4-BE49-F238E27FC236}">
                <a16:creationId xmlns:a16="http://schemas.microsoft.com/office/drawing/2014/main" id="{061F9D4E-258E-C9BA-19CF-8FA111CF25BD}"/>
              </a:ext>
            </a:extLst>
          </p:cNvPr>
          <p:cNvSpPr/>
          <p:nvPr/>
        </p:nvSpPr>
        <p:spPr>
          <a:xfrm>
            <a:off x="4686300" y="5779922"/>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IQVIA-integrated environments</a:t>
            </a:r>
            <a:endParaRPr lang="en-US" sz="950" dirty="0"/>
          </a:p>
        </p:txBody>
      </p:sp>
      <p:sp>
        <p:nvSpPr>
          <p:cNvPr id="184" name="Text 68">
            <a:extLst>
              <a:ext uri="{FF2B5EF4-FFF2-40B4-BE49-F238E27FC236}">
                <a16:creationId xmlns:a16="http://schemas.microsoft.com/office/drawing/2014/main" id="{9153E2B8-ECEA-D757-53F4-A81E75B59336}"/>
              </a:ext>
            </a:extLst>
          </p:cNvPr>
          <p:cNvSpPr/>
          <p:nvPr/>
        </p:nvSpPr>
        <p:spPr>
          <a:xfrm>
            <a:off x="4686300" y="5967374"/>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BPMN 2.0 process mapping</a:t>
            </a:r>
            <a:endParaRPr lang="en-US" sz="950" dirty="0"/>
          </a:p>
        </p:txBody>
      </p:sp>
      <p:sp>
        <p:nvSpPr>
          <p:cNvPr id="186" name="Text 69">
            <a:extLst>
              <a:ext uri="{FF2B5EF4-FFF2-40B4-BE49-F238E27FC236}">
                <a16:creationId xmlns:a16="http://schemas.microsoft.com/office/drawing/2014/main" id="{42083B5F-4A6D-00B1-754F-6484EE2A1FAE}"/>
              </a:ext>
            </a:extLst>
          </p:cNvPr>
          <p:cNvSpPr/>
          <p:nvPr/>
        </p:nvSpPr>
        <p:spPr>
          <a:xfrm>
            <a:off x="4686300" y="6154826"/>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GxP / FDA / EMA compliance</a:t>
            </a:r>
            <a:endParaRPr lang="en-US" sz="950" dirty="0"/>
          </a:p>
        </p:txBody>
      </p:sp>
      <p:sp>
        <p:nvSpPr>
          <p:cNvPr id="188" name="Shape 70">
            <a:extLst>
              <a:ext uri="{FF2B5EF4-FFF2-40B4-BE49-F238E27FC236}">
                <a16:creationId xmlns:a16="http://schemas.microsoft.com/office/drawing/2014/main" id="{AFC9C50A-2C15-8346-48EC-045776C66991}"/>
              </a:ext>
            </a:extLst>
          </p:cNvPr>
          <p:cNvSpPr/>
          <p:nvPr/>
        </p:nvSpPr>
        <p:spPr>
          <a:xfrm>
            <a:off x="8289036" y="4124858"/>
            <a:ext cx="3566160" cy="2468880"/>
          </a:xfrm>
          <a:prstGeom prst="roundRect">
            <a:avLst>
              <a:gd name="adj" fmla="val 1296"/>
            </a:avLst>
          </a:prstGeom>
          <a:solidFill>
            <a:srgbClr val="FFFFFF"/>
          </a:solidFill>
          <a:ln w="9525">
            <a:solidFill>
              <a:srgbClr val="E2E8EC"/>
            </a:solidFill>
            <a:prstDash val="solid"/>
          </a:ln>
        </p:spPr>
        <p:txBody>
          <a:bodyPr/>
          <a:lstStyle/>
          <a:p>
            <a:endParaRPr lang="en-IN"/>
          </a:p>
        </p:txBody>
      </p:sp>
      <p:sp>
        <p:nvSpPr>
          <p:cNvPr id="190" name="Shape 71">
            <a:extLst>
              <a:ext uri="{FF2B5EF4-FFF2-40B4-BE49-F238E27FC236}">
                <a16:creationId xmlns:a16="http://schemas.microsoft.com/office/drawing/2014/main" id="{D9DFC712-EA9F-395A-B495-F2257EDA9BC3}"/>
              </a:ext>
            </a:extLst>
          </p:cNvPr>
          <p:cNvSpPr/>
          <p:nvPr/>
        </p:nvSpPr>
        <p:spPr>
          <a:xfrm>
            <a:off x="8289036" y="4124858"/>
            <a:ext cx="3566160" cy="50292"/>
          </a:xfrm>
          <a:prstGeom prst="rect">
            <a:avLst/>
          </a:prstGeom>
          <a:solidFill>
            <a:srgbClr val="D62839"/>
          </a:solidFill>
          <a:ln w="12700">
            <a:solidFill>
              <a:srgbClr val="D62839"/>
            </a:solidFill>
            <a:prstDash val="solid"/>
          </a:ln>
        </p:spPr>
        <p:txBody>
          <a:bodyPr/>
          <a:lstStyle/>
          <a:p>
            <a:endParaRPr lang="en-IN"/>
          </a:p>
        </p:txBody>
      </p:sp>
      <p:sp>
        <p:nvSpPr>
          <p:cNvPr id="192" name="Shape 72">
            <a:extLst>
              <a:ext uri="{FF2B5EF4-FFF2-40B4-BE49-F238E27FC236}">
                <a16:creationId xmlns:a16="http://schemas.microsoft.com/office/drawing/2014/main" id="{675965A1-AD66-5184-C3E8-32BCFC7691C5}"/>
              </a:ext>
            </a:extLst>
          </p:cNvPr>
          <p:cNvSpPr/>
          <p:nvPr/>
        </p:nvSpPr>
        <p:spPr>
          <a:xfrm>
            <a:off x="8490204" y="4353458"/>
            <a:ext cx="146304" cy="146304"/>
          </a:xfrm>
          <a:prstGeom prst="roundRect">
            <a:avLst>
              <a:gd name="adj" fmla="val 18750"/>
            </a:avLst>
          </a:prstGeom>
          <a:solidFill>
            <a:srgbClr val="D62839"/>
          </a:solidFill>
          <a:ln w="12700">
            <a:solidFill>
              <a:srgbClr val="D62839"/>
            </a:solidFill>
            <a:prstDash val="solid"/>
          </a:ln>
        </p:spPr>
        <p:txBody>
          <a:bodyPr/>
          <a:lstStyle/>
          <a:p>
            <a:endParaRPr lang="en-IN"/>
          </a:p>
        </p:txBody>
      </p:sp>
      <p:sp>
        <p:nvSpPr>
          <p:cNvPr id="194" name="Text 73">
            <a:extLst>
              <a:ext uri="{FF2B5EF4-FFF2-40B4-BE49-F238E27FC236}">
                <a16:creationId xmlns:a16="http://schemas.microsoft.com/office/drawing/2014/main" id="{E45DCC67-64B3-B2AE-6996-C46D4AE426B8}"/>
              </a:ext>
            </a:extLst>
          </p:cNvPr>
          <p:cNvSpPr/>
          <p:nvPr/>
        </p:nvSpPr>
        <p:spPr>
          <a:xfrm>
            <a:off x="8691372" y="4252874"/>
            <a:ext cx="3017520" cy="347472"/>
          </a:xfrm>
          <a:prstGeom prst="rect">
            <a:avLst/>
          </a:prstGeom>
          <a:noFill/>
          <a:ln/>
        </p:spPr>
        <p:txBody>
          <a:bodyPr wrap="square" lIns="0" tIns="0" rIns="0" bIns="0" rtlCol="0" anchor="ctr"/>
          <a:lstStyle/>
          <a:p>
            <a:pPr marL="0" indent="0">
              <a:buNone/>
            </a:pPr>
            <a:r>
              <a:rPr lang="en-US" sz="1350" b="1" dirty="0">
                <a:solidFill>
                  <a:srgbClr val="0F2238"/>
                </a:solidFill>
                <a:latin typeface="Oswald" pitchFamily="34" charset="0"/>
                <a:ea typeface="Oswald" pitchFamily="34" charset="-122"/>
                <a:cs typeface="Oswald" pitchFamily="34" charset="-120"/>
              </a:rPr>
              <a:t>Retail &amp; E-commerce</a:t>
            </a:r>
            <a:endParaRPr lang="en-US" sz="1350" dirty="0"/>
          </a:p>
        </p:txBody>
      </p:sp>
      <p:sp>
        <p:nvSpPr>
          <p:cNvPr id="196" name="Text 74">
            <a:extLst>
              <a:ext uri="{FF2B5EF4-FFF2-40B4-BE49-F238E27FC236}">
                <a16:creationId xmlns:a16="http://schemas.microsoft.com/office/drawing/2014/main" id="{D5068591-5BD6-CFFA-4E57-23D18D060060}"/>
              </a:ext>
            </a:extLst>
          </p:cNvPr>
          <p:cNvSpPr/>
          <p:nvPr/>
        </p:nvSpPr>
        <p:spPr>
          <a:xfrm>
            <a:off x="8545068" y="4655210"/>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SAP Hybris · Salesforce</a:t>
            </a:r>
            <a:endParaRPr lang="en-US" sz="950" dirty="0"/>
          </a:p>
        </p:txBody>
      </p:sp>
      <p:sp>
        <p:nvSpPr>
          <p:cNvPr id="198" name="Text 75">
            <a:extLst>
              <a:ext uri="{FF2B5EF4-FFF2-40B4-BE49-F238E27FC236}">
                <a16:creationId xmlns:a16="http://schemas.microsoft.com/office/drawing/2014/main" id="{C43A6E0E-D718-1D5B-ECF6-3C94B92F3F4B}"/>
              </a:ext>
            </a:extLst>
          </p:cNvPr>
          <p:cNvSpPr/>
          <p:nvPr/>
        </p:nvSpPr>
        <p:spPr>
          <a:xfrm>
            <a:off x="8545068" y="4842662"/>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Java · React · MySQL · PL/SQL · Splunk</a:t>
            </a:r>
            <a:endParaRPr lang="en-US" sz="950" dirty="0"/>
          </a:p>
        </p:txBody>
      </p:sp>
      <p:sp>
        <p:nvSpPr>
          <p:cNvPr id="200" name="Text 76">
            <a:extLst>
              <a:ext uri="{FF2B5EF4-FFF2-40B4-BE49-F238E27FC236}">
                <a16:creationId xmlns:a16="http://schemas.microsoft.com/office/drawing/2014/main" id="{782AE9E6-E8E3-9DD5-D05D-80A2E65353A3}"/>
              </a:ext>
            </a:extLst>
          </p:cNvPr>
          <p:cNvSpPr/>
          <p:nvPr/>
        </p:nvSpPr>
        <p:spPr>
          <a:xfrm>
            <a:off x="8545068" y="5030114"/>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App support (L1 to L3) · SRE &amp; production support</a:t>
            </a:r>
            <a:endParaRPr lang="en-US" sz="950" dirty="0"/>
          </a:p>
        </p:txBody>
      </p:sp>
      <p:sp>
        <p:nvSpPr>
          <p:cNvPr id="202" name="Text 77">
            <a:extLst>
              <a:ext uri="{FF2B5EF4-FFF2-40B4-BE49-F238E27FC236}">
                <a16:creationId xmlns:a16="http://schemas.microsoft.com/office/drawing/2014/main" id="{CFB6E792-469E-B30D-16D1-CDF44C2B1725}"/>
              </a:ext>
            </a:extLst>
          </p:cNvPr>
          <p:cNvSpPr/>
          <p:nvPr/>
        </p:nvSpPr>
        <p:spPr>
          <a:xfrm>
            <a:off x="8545068" y="5217566"/>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Seller &amp; vendor management at scale</a:t>
            </a:r>
            <a:endParaRPr lang="en-US" sz="950" dirty="0"/>
          </a:p>
        </p:txBody>
      </p:sp>
      <p:sp>
        <p:nvSpPr>
          <p:cNvPr id="204" name="Text 78">
            <a:extLst>
              <a:ext uri="{FF2B5EF4-FFF2-40B4-BE49-F238E27FC236}">
                <a16:creationId xmlns:a16="http://schemas.microsoft.com/office/drawing/2014/main" id="{5B296FA3-AC5D-1BEA-7795-480E61B20F91}"/>
              </a:ext>
            </a:extLst>
          </p:cNvPr>
          <p:cNvSpPr/>
          <p:nvPr/>
        </p:nvSpPr>
        <p:spPr>
          <a:xfrm>
            <a:off x="8545068" y="5405018"/>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Category &amp; inventory management</a:t>
            </a:r>
            <a:endParaRPr lang="en-US" sz="950" dirty="0"/>
          </a:p>
        </p:txBody>
      </p:sp>
      <p:sp>
        <p:nvSpPr>
          <p:cNvPr id="206" name="Text 79">
            <a:extLst>
              <a:ext uri="{FF2B5EF4-FFF2-40B4-BE49-F238E27FC236}">
                <a16:creationId xmlns:a16="http://schemas.microsoft.com/office/drawing/2014/main" id="{D3B68969-1BDF-F226-9E6C-651AEAC1330D}"/>
              </a:ext>
            </a:extLst>
          </p:cNvPr>
          <p:cNvSpPr/>
          <p:nvPr/>
        </p:nvSpPr>
        <p:spPr>
          <a:xfrm>
            <a:off x="8545068" y="5592470"/>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Order management &amp; fulfilment operations</a:t>
            </a:r>
            <a:endParaRPr lang="en-US" sz="950" dirty="0"/>
          </a:p>
        </p:txBody>
      </p:sp>
      <p:sp>
        <p:nvSpPr>
          <p:cNvPr id="208" name="Text 80">
            <a:extLst>
              <a:ext uri="{FF2B5EF4-FFF2-40B4-BE49-F238E27FC236}">
                <a16:creationId xmlns:a16="http://schemas.microsoft.com/office/drawing/2014/main" id="{0A03A261-2D4F-D417-746D-41724F9AD656}"/>
              </a:ext>
            </a:extLst>
          </p:cNvPr>
          <p:cNvSpPr/>
          <p:nvPr/>
        </p:nvSpPr>
        <p:spPr>
          <a:xfrm>
            <a:off x="8545068" y="5779922"/>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SEO, content &amp; performance marketing</a:t>
            </a:r>
            <a:endParaRPr lang="en-US" sz="950" dirty="0"/>
          </a:p>
        </p:txBody>
      </p:sp>
      <p:sp>
        <p:nvSpPr>
          <p:cNvPr id="210" name="Text 81">
            <a:extLst>
              <a:ext uri="{FF2B5EF4-FFF2-40B4-BE49-F238E27FC236}">
                <a16:creationId xmlns:a16="http://schemas.microsoft.com/office/drawing/2014/main" id="{3DA10C1F-79D1-28A8-675C-D2AE95F7BDA8}"/>
              </a:ext>
            </a:extLst>
          </p:cNvPr>
          <p:cNvSpPr/>
          <p:nvPr/>
        </p:nvSpPr>
        <p:spPr>
          <a:xfrm>
            <a:off x="8545068" y="5967374"/>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Accounts payable, collections &amp; finance ops</a:t>
            </a:r>
            <a:endParaRPr lang="en-US" sz="950" dirty="0"/>
          </a:p>
        </p:txBody>
      </p:sp>
      <p:sp>
        <p:nvSpPr>
          <p:cNvPr id="212" name="Text 82">
            <a:extLst>
              <a:ext uri="{FF2B5EF4-FFF2-40B4-BE49-F238E27FC236}">
                <a16:creationId xmlns:a16="http://schemas.microsoft.com/office/drawing/2014/main" id="{CB92031F-4193-96A4-A171-A6BE6640ABDD}"/>
              </a:ext>
            </a:extLst>
          </p:cNvPr>
          <p:cNvSpPr/>
          <p:nvPr/>
        </p:nvSpPr>
        <p:spPr>
          <a:xfrm>
            <a:off x="8545068" y="6154826"/>
            <a:ext cx="3145536" cy="187452"/>
          </a:xfrm>
          <a:prstGeom prst="rect">
            <a:avLst/>
          </a:prstGeom>
          <a:noFill/>
          <a:ln/>
        </p:spPr>
        <p:txBody>
          <a:bodyPr wrap="square" lIns="0" tIns="0" rIns="0" bIns="0" rtlCol="0" anchor="ctr"/>
          <a:lstStyle/>
          <a:p>
            <a:pPr marL="0" indent="0">
              <a:buNone/>
            </a:pPr>
            <a:r>
              <a:rPr lang="en-US" sz="950" dirty="0">
                <a:solidFill>
                  <a:srgbClr val="4A5560"/>
                </a:solidFill>
                <a:latin typeface="Calibri" pitchFamily="34" charset="0"/>
                <a:ea typeface="Calibri" pitchFamily="34" charset="-122"/>
                <a:cs typeface="Calibri" pitchFamily="34" charset="-120"/>
              </a:rPr>
              <a:t>Peak-season scale operations</a:t>
            </a:r>
            <a:endParaRPr lang="en-US" sz="950" dirty="0"/>
          </a:p>
        </p:txBody>
      </p:sp>
    </p:spTree>
    <p:extLst>
      <p:ext uri="{BB962C8B-B14F-4D97-AF65-F5344CB8AC3E}">
        <p14:creationId xmlns:p14="http://schemas.microsoft.com/office/powerpoint/2010/main" val="14301209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40496-E8FA-94F6-5A41-AF435DB1001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4A1A74A0-A7C4-B906-AA44-2D96F74F4485}"/>
              </a:ext>
            </a:extLst>
          </p:cNvPr>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a:extLst>
              <a:ext uri="{FF2B5EF4-FFF2-40B4-BE49-F238E27FC236}">
                <a16:creationId xmlns:a16="http://schemas.microsoft.com/office/drawing/2014/main" id="{0F5C2B6C-C64D-7B38-691E-478EA3AD03F9}"/>
              </a:ext>
            </a:extLst>
          </p:cNvPr>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4" name="Shape 2">
            <a:extLst>
              <a:ext uri="{FF2B5EF4-FFF2-40B4-BE49-F238E27FC236}">
                <a16:creationId xmlns:a16="http://schemas.microsoft.com/office/drawing/2014/main" id="{893B86C2-018F-68D0-BACE-33455FA6A33C}"/>
              </a:ext>
            </a:extLst>
          </p:cNvPr>
          <p:cNvSpPr/>
          <p:nvPr/>
        </p:nvSpPr>
        <p:spPr>
          <a:xfrm>
            <a:off x="8858707" y="-952805"/>
            <a:ext cx="3810305" cy="3810305"/>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5" name="Image 0" descr="gen-dedup-debd4e3596836e8640379be3057665ef.png">
            <a:extLst>
              <a:ext uri="{FF2B5EF4-FFF2-40B4-BE49-F238E27FC236}">
                <a16:creationId xmlns:a16="http://schemas.microsoft.com/office/drawing/2014/main" id="{C1647C25-D6F9-E15F-9C33-982F20A47B99}"/>
              </a:ext>
            </a:extLst>
          </p:cNvPr>
          <p:cNvPicPr>
            <a:picLocks noChangeAspect="1"/>
          </p:cNvPicPr>
          <p:nvPr/>
        </p:nvPicPr>
        <p:blipFill>
          <a:blip r:embed="rId3">
            <a:alphaModFix amt="5000"/>
          </a:blip>
          <a:srcRect/>
          <a:stretch/>
        </p:blipFill>
        <p:spPr>
          <a:xfrm>
            <a:off x="-761695" y="3238805"/>
            <a:ext cx="2857500" cy="2857500"/>
          </a:xfrm>
          <a:prstGeom prst="rect">
            <a:avLst/>
          </a:prstGeom>
        </p:spPr>
      </p:pic>
      <p:pic>
        <p:nvPicPr>
          <p:cNvPr id="6" name="Image 1" descr="gen-dedup-323228122ff92d2332e711a84ca3b40c.png">
            <a:extLst>
              <a:ext uri="{FF2B5EF4-FFF2-40B4-BE49-F238E27FC236}">
                <a16:creationId xmlns:a16="http://schemas.microsoft.com/office/drawing/2014/main" id="{ECB5D70D-324B-40EB-440A-C8DCF474BD8B}"/>
              </a:ext>
            </a:extLst>
          </p:cNvPr>
          <p:cNvPicPr>
            <a:picLocks noChangeAspect="1"/>
          </p:cNvPicPr>
          <p:nvPr/>
        </p:nvPicPr>
        <p:blipFill>
          <a:blip r:embed="rId4"/>
          <a:srcRect l="-198" r="-198"/>
          <a:stretch/>
        </p:blipFill>
        <p:spPr>
          <a:xfrm>
            <a:off x="0" y="0"/>
            <a:ext cx="8124444" cy="75895"/>
          </a:xfrm>
          <a:prstGeom prst="rect">
            <a:avLst/>
          </a:prstGeom>
        </p:spPr>
      </p:pic>
      <p:pic>
        <p:nvPicPr>
          <p:cNvPr id="7" name="Image 2" descr="gen-dedup-9663ecf744b06e35d4c2cebaab92a2ea.png">
            <a:extLst>
              <a:ext uri="{FF2B5EF4-FFF2-40B4-BE49-F238E27FC236}">
                <a16:creationId xmlns:a16="http://schemas.microsoft.com/office/drawing/2014/main" id="{A11CAB48-904C-3F73-EF50-02B2E641811D}"/>
              </a:ext>
            </a:extLst>
          </p:cNvPr>
          <p:cNvPicPr>
            <a:picLocks noChangeAspect="1"/>
          </p:cNvPicPr>
          <p:nvPr/>
        </p:nvPicPr>
        <p:blipFill>
          <a:blip r:embed="rId5"/>
          <a:srcRect l="-202" r="-202"/>
          <a:stretch/>
        </p:blipFill>
        <p:spPr>
          <a:xfrm>
            <a:off x="8124444" y="0"/>
            <a:ext cx="4067251" cy="75895"/>
          </a:xfrm>
          <a:prstGeom prst="rect">
            <a:avLst/>
          </a:prstGeom>
        </p:spPr>
      </p:pic>
      <p:pic>
        <p:nvPicPr>
          <p:cNvPr id="8" name="Image 3" descr="gen-dedup-b359e3fa59182a7dfb1cf9bffd3421a2.png">
            <a:extLst>
              <a:ext uri="{FF2B5EF4-FFF2-40B4-BE49-F238E27FC236}">
                <a16:creationId xmlns:a16="http://schemas.microsoft.com/office/drawing/2014/main" id="{1D1FD2F1-F193-35BD-0FED-3A6050806541}"/>
              </a:ext>
            </a:extLst>
          </p:cNvPr>
          <p:cNvPicPr>
            <a:picLocks noChangeAspect="1"/>
          </p:cNvPicPr>
          <p:nvPr/>
        </p:nvPicPr>
        <p:blipFill>
          <a:blip r:embed="rId6"/>
          <a:srcRect l="-375" r="-375"/>
          <a:stretch/>
        </p:blipFill>
        <p:spPr>
          <a:xfrm>
            <a:off x="9308828" y="542240"/>
            <a:ext cx="57607" cy="609905"/>
          </a:xfrm>
          <a:prstGeom prst="rect">
            <a:avLst/>
          </a:prstGeom>
        </p:spPr>
      </p:pic>
      <p:sp>
        <p:nvSpPr>
          <p:cNvPr id="9" name="Shape 3">
            <a:extLst>
              <a:ext uri="{FF2B5EF4-FFF2-40B4-BE49-F238E27FC236}">
                <a16:creationId xmlns:a16="http://schemas.microsoft.com/office/drawing/2014/main" id="{6D59B055-6705-6691-7F37-1D6EDDD728BD}"/>
              </a:ext>
            </a:extLst>
          </p:cNvPr>
          <p:cNvSpPr/>
          <p:nvPr/>
        </p:nvSpPr>
        <p:spPr>
          <a:xfrm>
            <a:off x="609905" y="1524305"/>
            <a:ext cx="2704795" cy="514807"/>
          </a:xfrm>
          <a:prstGeom prst="roundRect">
            <a:avLst>
              <a:gd name="adj" fmla="val 14742"/>
            </a:avLst>
          </a:prstGeom>
          <a:solidFill>
            <a:srgbClr val="FEF2F2"/>
          </a:solidFill>
          <a:ln w="12700">
            <a:solidFill>
              <a:srgbClr val="FCA5A5"/>
            </a:solidFill>
            <a:prstDash val="solid"/>
          </a:ln>
        </p:spPr>
        <p:txBody>
          <a:bodyPr/>
          <a:lstStyle/>
          <a:p>
            <a:endParaRPr lang="en-US"/>
          </a:p>
        </p:txBody>
      </p:sp>
      <p:sp>
        <p:nvSpPr>
          <p:cNvPr id="10" name="Shape 4">
            <a:extLst>
              <a:ext uri="{FF2B5EF4-FFF2-40B4-BE49-F238E27FC236}">
                <a16:creationId xmlns:a16="http://schemas.microsoft.com/office/drawing/2014/main" id="{6C20B249-757D-552B-C99C-ED95D32236A4}"/>
              </a:ext>
            </a:extLst>
          </p:cNvPr>
          <p:cNvSpPr/>
          <p:nvPr/>
        </p:nvSpPr>
        <p:spPr>
          <a:xfrm>
            <a:off x="609905" y="2286000"/>
            <a:ext cx="5352898" cy="1524305"/>
          </a:xfrm>
          <a:prstGeom prst="roundRect">
            <a:avLst>
              <a:gd name="adj" fmla="val 4979"/>
            </a:avLst>
          </a:prstGeom>
          <a:solidFill>
            <a:srgbClr val="FFFFFF"/>
          </a:solidFill>
          <a:ln w="12700">
            <a:solidFill>
              <a:srgbClr val="E2E8F0"/>
            </a:solidFill>
            <a:prstDash val="solid"/>
          </a:ln>
          <a:effectLst>
            <a:outerShdw blurRad="63500" dist="38100" dir="16200000" algn="bl" rotWithShape="0">
              <a:srgbClr val="000000">
                <a:alpha val="5000"/>
              </a:srgbClr>
            </a:outerShdw>
          </a:effectLst>
        </p:spPr>
        <p:txBody>
          <a:bodyPr/>
          <a:lstStyle/>
          <a:p>
            <a:endParaRPr lang="en-US"/>
          </a:p>
        </p:txBody>
      </p:sp>
      <p:sp>
        <p:nvSpPr>
          <p:cNvPr id="11" name="Shape 5">
            <a:extLst>
              <a:ext uri="{FF2B5EF4-FFF2-40B4-BE49-F238E27FC236}">
                <a16:creationId xmlns:a16="http://schemas.microsoft.com/office/drawing/2014/main" id="{2C98150B-0B1D-40B1-8321-BABFBB47FE82}"/>
              </a:ext>
            </a:extLst>
          </p:cNvPr>
          <p:cNvSpPr/>
          <p:nvPr/>
        </p:nvSpPr>
        <p:spPr>
          <a:xfrm>
            <a:off x="609905" y="2286000"/>
            <a:ext cx="5352898" cy="38405"/>
          </a:xfrm>
          <a:prstGeom prst="roundRect">
            <a:avLst>
              <a:gd name="adj" fmla="val 197618"/>
            </a:avLst>
          </a:prstGeom>
          <a:solidFill>
            <a:srgbClr val="2A9D8F"/>
          </a:solidFill>
          <a:ln w="12700">
            <a:solidFill>
              <a:srgbClr val="2A9D8F">
                <a:alpha val="0"/>
              </a:srgbClr>
            </a:solidFill>
            <a:prstDash val="solid"/>
          </a:ln>
        </p:spPr>
        <p:txBody>
          <a:bodyPr/>
          <a:lstStyle/>
          <a:p>
            <a:endParaRPr lang="en-US"/>
          </a:p>
        </p:txBody>
      </p:sp>
      <p:sp>
        <p:nvSpPr>
          <p:cNvPr id="12" name="Shape 6">
            <a:extLst>
              <a:ext uri="{FF2B5EF4-FFF2-40B4-BE49-F238E27FC236}">
                <a16:creationId xmlns:a16="http://schemas.microsoft.com/office/drawing/2014/main" id="{9A67B0C9-9FCE-C9FB-F571-D1FC48CEE047}"/>
              </a:ext>
            </a:extLst>
          </p:cNvPr>
          <p:cNvSpPr/>
          <p:nvPr/>
        </p:nvSpPr>
        <p:spPr>
          <a:xfrm>
            <a:off x="6248095" y="2286000"/>
            <a:ext cx="5352898" cy="1524305"/>
          </a:xfrm>
          <a:prstGeom prst="roundRect">
            <a:avLst>
              <a:gd name="adj" fmla="val 4979"/>
            </a:avLst>
          </a:prstGeom>
          <a:solidFill>
            <a:srgbClr val="FFFFFF"/>
          </a:solidFill>
          <a:ln w="12700">
            <a:solidFill>
              <a:srgbClr val="E2E8F0"/>
            </a:solidFill>
            <a:prstDash val="solid"/>
          </a:ln>
          <a:effectLst>
            <a:outerShdw blurRad="63500" dist="38100" dir="16200000" algn="bl" rotWithShape="0">
              <a:srgbClr val="000000">
                <a:alpha val="5000"/>
              </a:srgbClr>
            </a:outerShdw>
          </a:effectLst>
        </p:spPr>
        <p:txBody>
          <a:bodyPr/>
          <a:lstStyle/>
          <a:p>
            <a:endParaRPr lang="en-US"/>
          </a:p>
        </p:txBody>
      </p:sp>
      <p:sp>
        <p:nvSpPr>
          <p:cNvPr id="13" name="Shape 7">
            <a:extLst>
              <a:ext uri="{FF2B5EF4-FFF2-40B4-BE49-F238E27FC236}">
                <a16:creationId xmlns:a16="http://schemas.microsoft.com/office/drawing/2014/main" id="{223A277F-D2B2-0BCC-890D-DFF2AAC6AA20}"/>
              </a:ext>
            </a:extLst>
          </p:cNvPr>
          <p:cNvSpPr/>
          <p:nvPr/>
        </p:nvSpPr>
        <p:spPr>
          <a:xfrm>
            <a:off x="6248095" y="2286000"/>
            <a:ext cx="5352898" cy="38405"/>
          </a:xfrm>
          <a:prstGeom prst="roundRect">
            <a:avLst>
              <a:gd name="adj" fmla="val 197618"/>
            </a:avLst>
          </a:prstGeom>
          <a:solidFill>
            <a:srgbClr val="D62839"/>
          </a:solidFill>
          <a:ln w="12700">
            <a:solidFill>
              <a:srgbClr val="D62839">
                <a:alpha val="0"/>
              </a:srgbClr>
            </a:solidFill>
            <a:prstDash val="solid"/>
          </a:ln>
        </p:spPr>
        <p:txBody>
          <a:bodyPr/>
          <a:lstStyle/>
          <a:p>
            <a:endParaRPr lang="en-US"/>
          </a:p>
        </p:txBody>
      </p:sp>
      <p:sp>
        <p:nvSpPr>
          <p:cNvPr id="14" name="Shape 8">
            <a:extLst>
              <a:ext uri="{FF2B5EF4-FFF2-40B4-BE49-F238E27FC236}">
                <a16:creationId xmlns:a16="http://schemas.microsoft.com/office/drawing/2014/main" id="{65BE715C-CABA-9751-9DC5-7D8052D7DE8D}"/>
              </a:ext>
            </a:extLst>
          </p:cNvPr>
          <p:cNvSpPr/>
          <p:nvPr/>
        </p:nvSpPr>
        <p:spPr>
          <a:xfrm>
            <a:off x="609905" y="3952951"/>
            <a:ext cx="5352898" cy="1524305"/>
          </a:xfrm>
          <a:prstGeom prst="roundRect">
            <a:avLst>
              <a:gd name="adj" fmla="val 4979"/>
            </a:avLst>
          </a:prstGeom>
          <a:solidFill>
            <a:srgbClr val="FFFFFF"/>
          </a:solidFill>
          <a:ln w="12700">
            <a:solidFill>
              <a:srgbClr val="E2E8F0"/>
            </a:solidFill>
            <a:prstDash val="solid"/>
          </a:ln>
          <a:effectLst>
            <a:outerShdw blurRad="63500" dist="38100" dir="16200000" algn="bl" rotWithShape="0">
              <a:srgbClr val="000000">
                <a:alpha val="5000"/>
              </a:srgbClr>
            </a:outerShdw>
          </a:effectLst>
        </p:spPr>
        <p:txBody>
          <a:bodyPr/>
          <a:lstStyle/>
          <a:p>
            <a:endParaRPr lang="en-US"/>
          </a:p>
        </p:txBody>
      </p:sp>
      <p:sp>
        <p:nvSpPr>
          <p:cNvPr id="15" name="Shape 9">
            <a:extLst>
              <a:ext uri="{FF2B5EF4-FFF2-40B4-BE49-F238E27FC236}">
                <a16:creationId xmlns:a16="http://schemas.microsoft.com/office/drawing/2014/main" id="{5F140F71-7243-385E-BF34-10764518F348}"/>
              </a:ext>
            </a:extLst>
          </p:cNvPr>
          <p:cNvSpPr/>
          <p:nvPr/>
        </p:nvSpPr>
        <p:spPr>
          <a:xfrm>
            <a:off x="609905" y="3952951"/>
            <a:ext cx="5352898" cy="38405"/>
          </a:xfrm>
          <a:prstGeom prst="roundRect">
            <a:avLst>
              <a:gd name="adj" fmla="val 197618"/>
            </a:avLst>
          </a:prstGeom>
          <a:solidFill>
            <a:srgbClr val="D62839"/>
          </a:solidFill>
          <a:ln w="12700">
            <a:solidFill>
              <a:srgbClr val="D62839">
                <a:alpha val="0"/>
              </a:srgbClr>
            </a:solidFill>
            <a:prstDash val="solid"/>
          </a:ln>
        </p:spPr>
        <p:txBody>
          <a:bodyPr/>
          <a:lstStyle/>
          <a:p>
            <a:endParaRPr lang="en-US"/>
          </a:p>
        </p:txBody>
      </p:sp>
      <p:sp>
        <p:nvSpPr>
          <p:cNvPr id="16" name="Shape 10">
            <a:extLst>
              <a:ext uri="{FF2B5EF4-FFF2-40B4-BE49-F238E27FC236}">
                <a16:creationId xmlns:a16="http://schemas.microsoft.com/office/drawing/2014/main" id="{85F4A12B-379C-4B00-B1A4-8D51CC174B61}"/>
              </a:ext>
            </a:extLst>
          </p:cNvPr>
          <p:cNvSpPr/>
          <p:nvPr/>
        </p:nvSpPr>
        <p:spPr>
          <a:xfrm>
            <a:off x="6248095" y="3952951"/>
            <a:ext cx="5352898" cy="1524305"/>
          </a:xfrm>
          <a:prstGeom prst="roundRect">
            <a:avLst>
              <a:gd name="adj" fmla="val 4979"/>
            </a:avLst>
          </a:prstGeom>
          <a:solidFill>
            <a:srgbClr val="FFFFFF"/>
          </a:solidFill>
          <a:ln w="12700">
            <a:solidFill>
              <a:srgbClr val="E2E8F0"/>
            </a:solidFill>
            <a:prstDash val="solid"/>
          </a:ln>
          <a:effectLst>
            <a:outerShdw blurRad="63500" dist="38100" dir="16200000" algn="bl" rotWithShape="0">
              <a:srgbClr val="000000">
                <a:alpha val="5000"/>
              </a:srgbClr>
            </a:outerShdw>
          </a:effectLst>
        </p:spPr>
        <p:txBody>
          <a:bodyPr/>
          <a:lstStyle/>
          <a:p>
            <a:endParaRPr lang="en-US"/>
          </a:p>
        </p:txBody>
      </p:sp>
      <p:sp>
        <p:nvSpPr>
          <p:cNvPr id="17" name="Shape 11">
            <a:extLst>
              <a:ext uri="{FF2B5EF4-FFF2-40B4-BE49-F238E27FC236}">
                <a16:creationId xmlns:a16="http://schemas.microsoft.com/office/drawing/2014/main" id="{A611CCBC-DC83-9A32-4DBF-C0D053E8D715}"/>
              </a:ext>
            </a:extLst>
          </p:cNvPr>
          <p:cNvSpPr/>
          <p:nvPr/>
        </p:nvSpPr>
        <p:spPr>
          <a:xfrm>
            <a:off x="6248095" y="3952951"/>
            <a:ext cx="5352898" cy="38405"/>
          </a:xfrm>
          <a:prstGeom prst="roundRect">
            <a:avLst>
              <a:gd name="adj" fmla="val 197618"/>
            </a:avLst>
          </a:prstGeom>
          <a:solidFill>
            <a:srgbClr val="2A9D8F"/>
          </a:solidFill>
          <a:ln w="12700">
            <a:solidFill>
              <a:srgbClr val="2A9D8F">
                <a:alpha val="0"/>
              </a:srgbClr>
            </a:solidFill>
            <a:prstDash val="solid"/>
          </a:ln>
        </p:spPr>
        <p:txBody>
          <a:bodyPr/>
          <a:lstStyle/>
          <a:p>
            <a:endParaRPr lang="en-US"/>
          </a:p>
        </p:txBody>
      </p:sp>
      <p:sp>
        <p:nvSpPr>
          <p:cNvPr id="18" name="Shape 12">
            <a:extLst>
              <a:ext uri="{FF2B5EF4-FFF2-40B4-BE49-F238E27FC236}">
                <a16:creationId xmlns:a16="http://schemas.microsoft.com/office/drawing/2014/main" id="{FC84BC8D-EB38-4B9D-CAF0-414123B7DD8B}"/>
              </a:ext>
            </a:extLst>
          </p:cNvPr>
          <p:cNvSpPr/>
          <p:nvPr/>
        </p:nvSpPr>
        <p:spPr>
          <a:xfrm>
            <a:off x="609905" y="5715000"/>
            <a:ext cx="10972800" cy="857707"/>
          </a:xfrm>
          <a:prstGeom prst="roundRect">
            <a:avLst>
              <a:gd name="adj" fmla="val 8849"/>
            </a:avLst>
          </a:prstGeom>
          <a:solidFill>
            <a:srgbClr val="111827"/>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en-US"/>
          </a:p>
        </p:txBody>
      </p:sp>
      <p:sp>
        <p:nvSpPr>
          <p:cNvPr id="23" name="Text 17">
            <a:extLst>
              <a:ext uri="{FF2B5EF4-FFF2-40B4-BE49-F238E27FC236}">
                <a16:creationId xmlns:a16="http://schemas.microsoft.com/office/drawing/2014/main" id="{7955B252-AF10-E49D-C035-04FD30D4885A}"/>
              </a:ext>
            </a:extLst>
          </p:cNvPr>
          <p:cNvSpPr txBox="1"/>
          <p:nvPr/>
        </p:nvSpPr>
        <p:spPr>
          <a:xfrm>
            <a:off x="777488" y="1152144"/>
            <a:ext cx="8097012" cy="152705"/>
          </a:xfrm>
          <a:prstGeom prst="rect">
            <a:avLst/>
          </a:prstGeom>
          <a:noFill/>
          <a:ln/>
        </p:spPr>
        <p:txBody>
          <a:bodyPr wrap="none" lIns="0" tIns="0" rIns="0" bIns="0" rtlCol="0" anchor="ctr"/>
          <a:lstStyle/>
          <a:p>
            <a:pPr marL="0" indent="0" algn="l">
              <a:buNone/>
            </a:pPr>
            <a:r>
              <a:rPr lang="en-US" sz="1000" b="1" dirty="0">
                <a:solidFill>
                  <a:srgbClr val="4B5563"/>
                </a:solidFill>
                <a:latin typeface="Raleway" pitchFamily="34" charset="0"/>
                <a:ea typeface="Raleway" pitchFamily="34" charset="-122"/>
                <a:cs typeface="Raleway" pitchFamily="34" charset="-120"/>
              </a:rPr>
              <a:t>Identified during discovery session — [DATE]</a:t>
            </a:r>
            <a:endParaRPr lang="en-US" sz="1000" dirty="0"/>
          </a:p>
        </p:txBody>
      </p:sp>
      <p:pic>
        <p:nvPicPr>
          <p:cNvPr id="24" name="Image 4" descr="gen-dedup-d103097e730368316f78abf5dde7d335.png">
            <a:extLst>
              <a:ext uri="{FF2B5EF4-FFF2-40B4-BE49-F238E27FC236}">
                <a16:creationId xmlns:a16="http://schemas.microsoft.com/office/drawing/2014/main" id="{D7085508-4B8C-E229-EF1F-9ABE92708D41}"/>
              </a:ext>
            </a:extLst>
          </p:cNvPr>
          <p:cNvPicPr>
            <a:picLocks noChangeAspect="1"/>
          </p:cNvPicPr>
          <p:nvPr/>
        </p:nvPicPr>
        <p:blipFill>
          <a:blip r:embed="rId7"/>
          <a:srcRect t="-16800" b="-16800"/>
          <a:stretch/>
        </p:blipFill>
        <p:spPr>
          <a:xfrm>
            <a:off x="819302" y="1695298"/>
            <a:ext cx="114300" cy="152705"/>
          </a:xfrm>
          <a:prstGeom prst="rect">
            <a:avLst/>
          </a:prstGeom>
        </p:spPr>
      </p:pic>
      <p:sp>
        <p:nvSpPr>
          <p:cNvPr id="25" name="Text 18">
            <a:extLst>
              <a:ext uri="{FF2B5EF4-FFF2-40B4-BE49-F238E27FC236}">
                <a16:creationId xmlns:a16="http://schemas.microsoft.com/office/drawing/2014/main" id="{CF51D9BC-6155-2E49-4BCB-FD65ECDE3723}"/>
              </a:ext>
            </a:extLst>
          </p:cNvPr>
          <p:cNvSpPr txBox="1"/>
          <p:nvPr/>
        </p:nvSpPr>
        <p:spPr>
          <a:xfrm>
            <a:off x="1067105" y="1666951"/>
            <a:ext cx="2211019" cy="210312"/>
          </a:xfrm>
          <a:prstGeom prst="rect">
            <a:avLst/>
          </a:prstGeom>
          <a:noFill/>
          <a:ln/>
        </p:spPr>
        <p:txBody>
          <a:bodyPr wrap="none" lIns="0" tIns="0" rIns="0" bIns="0" rtlCol="0" anchor="ctr"/>
          <a:lstStyle/>
          <a:p>
            <a:pPr marL="0" indent="0" algn="l">
              <a:buNone/>
            </a:pPr>
            <a:r>
              <a:rPr lang="en-US" sz="1600" b="1">
                <a:solidFill>
                  <a:srgbClr val="D62839"/>
                </a:solidFill>
                <a:latin typeface="Oswald" pitchFamily="34" charset="0"/>
                <a:ea typeface="Oswald" pitchFamily="34" charset="-122"/>
                <a:cs typeface="Oswald" pitchFamily="34" charset="-120"/>
              </a:rPr>
              <a:t>[X]% Offer Drop Rate</a:t>
            </a:r>
            <a:endParaRPr lang="en-US" sz="1600"/>
          </a:p>
        </p:txBody>
      </p:sp>
      <p:sp>
        <p:nvSpPr>
          <p:cNvPr id="26" name="Text 19">
            <a:extLst>
              <a:ext uri="{FF2B5EF4-FFF2-40B4-BE49-F238E27FC236}">
                <a16:creationId xmlns:a16="http://schemas.microsoft.com/office/drawing/2014/main" id="{E03686CD-E1F9-CFBD-C015-D780C9A5D4CF}"/>
              </a:ext>
            </a:extLst>
          </p:cNvPr>
          <p:cNvSpPr txBox="1"/>
          <p:nvPr/>
        </p:nvSpPr>
        <p:spPr>
          <a:xfrm>
            <a:off x="838505" y="2476195"/>
            <a:ext cx="306324" cy="267005"/>
          </a:xfrm>
          <a:prstGeom prst="rect">
            <a:avLst/>
          </a:prstGeom>
          <a:noFill/>
          <a:ln/>
        </p:spPr>
        <p:txBody>
          <a:bodyPr wrap="none" lIns="0" tIns="0" rIns="0" bIns="0" rtlCol="0" anchor="ctr"/>
          <a:lstStyle/>
          <a:p>
            <a:pPr marL="0" indent="0" algn="l">
              <a:buNone/>
            </a:pPr>
            <a:r>
              <a:rPr lang="en-US" sz="2100" b="1">
                <a:solidFill>
                  <a:srgbClr val="2A9D8F"/>
                </a:solidFill>
                <a:latin typeface="Oswald" pitchFamily="34" charset="0"/>
                <a:ea typeface="Oswald" pitchFamily="34" charset="-122"/>
                <a:cs typeface="Oswald" pitchFamily="34" charset="-120"/>
              </a:rPr>
              <a:t>01</a:t>
            </a:r>
            <a:endParaRPr lang="en-US" sz="2100"/>
          </a:p>
        </p:txBody>
      </p:sp>
      <p:sp>
        <p:nvSpPr>
          <p:cNvPr id="27" name="Text 20">
            <a:extLst>
              <a:ext uri="{FF2B5EF4-FFF2-40B4-BE49-F238E27FC236}">
                <a16:creationId xmlns:a16="http://schemas.microsoft.com/office/drawing/2014/main" id="{1469E30B-EB0F-18DA-4B6D-BF75C7688EA2}"/>
              </a:ext>
            </a:extLst>
          </p:cNvPr>
          <p:cNvSpPr txBox="1"/>
          <p:nvPr/>
        </p:nvSpPr>
        <p:spPr>
          <a:xfrm>
            <a:off x="1201522" y="2495398"/>
            <a:ext cx="1848002" cy="286207"/>
          </a:xfrm>
          <a:prstGeom prst="rect">
            <a:avLst/>
          </a:prstGeom>
          <a:noFill/>
          <a:ln/>
        </p:spPr>
        <p:txBody>
          <a:bodyPr wrap="none" lIns="0" tIns="0" rIns="0" bIns="0" rtlCol="0" anchor="ctr"/>
          <a:lstStyle/>
          <a:p>
            <a:pPr marL="0" indent="0" algn="l">
              <a:buNone/>
            </a:pPr>
            <a:r>
              <a:rPr lang="en-US" sz="1500" b="1">
                <a:solidFill>
                  <a:srgbClr val="111827"/>
                </a:solidFill>
                <a:latin typeface="Oswald" pitchFamily="34" charset="0"/>
                <a:ea typeface="Oswald" pitchFamily="34" charset="-122"/>
                <a:cs typeface="Oswald" pitchFamily="34" charset="-120"/>
              </a:rPr>
              <a:t>[Challenge 1 Title]</a:t>
            </a:r>
            <a:endParaRPr lang="en-US" sz="1500"/>
          </a:p>
        </p:txBody>
      </p:sp>
      <p:sp>
        <p:nvSpPr>
          <p:cNvPr id="28" name="Text 21">
            <a:extLst>
              <a:ext uri="{FF2B5EF4-FFF2-40B4-BE49-F238E27FC236}">
                <a16:creationId xmlns:a16="http://schemas.microsoft.com/office/drawing/2014/main" id="{436730F5-092B-0761-E7C4-730CDC80E5F1}"/>
              </a:ext>
            </a:extLst>
          </p:cNvPr>
          <p:cNvSpPr txBox="1"/>
          <p:nvPr/>
        </p:nvSpPr>
        <p:spPr>
          <a:xfrm>
            <a:off x="838505" y="2895905"/>
            <a:ext cx="4877410" cy="428854"/>
          </a:xfrm>
          <a:prstGeom prst="rect">
            <a:avLst/>
          </a:prstGeom>
          <a:noFill/>
          <a:ln/>
        </p:spPr>
        <p:txBody>
          <a:bodyPr wrap="square" lIns="0" tIns="0" rIns="0" bIns="0" rtlCol="0" anchor="ctr"/>
          <a:lstStyle/>
          <a:p>
            <a:pPr marL="0" indent="0" algn="l">
              <a:buNone/>
            </a:pPr>
            <a:r>
              <a:rPr lang="en-US" sz="1100">
                <a:solidFill>
                  <a:srgbClr val="4B5563"/>
                </a:solidFill>
                <a:latin typeface="Raleway" pitchFamily="34" charset="0"/>
                <a:ea typeface="Raleway" pitchFamily="34" charset="-122"/>
                <a:cs typeface="Raleway" pitchFamily="34" charset="-120"/>
              </a:rPr>
              <a:t>e.g. 90-Day Notice Period — Extended windows enable offer shopping, joining-day dropouts and wasted recruitment effort.</a:t>
            </a:r>
            <a:endParaRPr lang="en-US" sz="1100"/>
          </a:p>
        </p:txBody>
      </p:sp>
      <p:sp>
        <p:nvSpPr>
          <p:cNvPr id="29" name="Text 22">
            <a:extLst>
              <a:ext uri="{FF2B5EF4-FFF2-40B4-BE49-F238E27FC236}">
                <a16:creationId xmlns:a16="http://schemas.microsoft.com/office/drawing/2014/main" id="{95865E34-69BD-20A8-8151-F62AC71D4F58}"/>
              </a:ext>
            </a:extLst>
          </p:cNvPr>
          <p:cNvSpPr txBox="1"/>
          <p:nvPr/>
        </p:nvSpPr>
        <p:spPr>
          <a:xfrm>
            <a:off x="6476695" y="2476195"/>
            <a:ext cx="340157" cy="267005"/>
          </a:xfrm>
          <a:prstGeom prst="rect">
            <a:avLst/>
          </a:prstGeom>
          <a:noFill/>
          <a:ln/>
        </p:spPr>
        <p:txBody>
          <a:bodyPr wrap="none" lIns="0" tIns="0" rIns="0" bIns="0" rtlCol="0" anchor="ctr"/>
          <a:lstStyle/>
          <a:p>
            <a:pPr marL="0" indent="0" algn="l">
              <a:buNone/>
            </a:pPr>
            <a:r>
              <a:rPr lang="en-US" sz="2100" b="1">
                <a:solidFill>
                  <a:srgbClr val="D62839"/>
                </a:solidFill>
                <a:latin typeface="Oswald" pitchFamily="34" charset="0"/>
                <a:ea typeface="Oswald" pitchFamily="34" charset="-122"/>
                <a:cs typeface="Oswald" pitchFamily="34" charset="-120"/>
              </a:rPr>
              <a:t>02</a:t>
            </a:r>
            <a:endParaRPr lang="en-US" sz="2100"/>
          </a:p>
        </p:txBody>
      </p:sp>
      <p:sp>
        <p:nvSpPr>
          <p:cNvPr id="30" name="Text 23">
            <a:extLst>
              <a:ext uri="{FF2B5EF4-FFF2-40B4-BE49-F238E27FC236}">
                <a16:creationId xmlns:a16="http://schemas.microsoft.com/office/drawing/2014/main" id="{6882D94C-6A81-5E13-FBA6-AB4B1849AF98}"/>
              </a:ext>
            </a:extLst>
          </p:cNvPr>
          <p:cNvSpPr txBox="1"/>
          <p:nvPr/>
        </p:nvSpPr>
        <p:spPr>
          <a:xfrm>
            <a:off x="6875374" y="2495398"/>
            <a:ext cx="1881835" cy="286207"/>
          </a:xfrm>
          <a:prstGeom prst="rect">
            <a:avLst/>
          </a:prstGeom>
          <a:noFill/>
          <a:ln/>
        </p:spPr>
        <p:txBody>
          <a:bodyPr wrap="none" lIns="0" tIns="0" rIns="0" bIns="0" rtlCol="0" anchor="ctr"/>
          <a:lstStyle/>
          <a:p>
            <a:pPr marL="0" indent="0" algn="l">
              <a:buNone/>
            </a:pPr>
            <a:r>
              <a:rPr lang="en-US" sz="1500" b="1">
                <a:solidFill>
                  <a:srgbClr val="111827"/>
                </a:solidFill>
                <a:latin typeface="Oswald" pitchFamily="34" charset="0"/>
                <a:ea typeface="Oswald" pitchFamily="34" charset="-122"/>
                <a:cs typeface="Oswald" pitchFamily="34" charset="-120"/>
              </a:rPr>
              <a:t>[Challenge 2 Title]</a:t>
            </a:r>
            <a:endParaRPr lang="en-US" sz="1500"/>
          </a:p>
        </p:txBody>
      </p:sp>
      <p:sp>
        <p:nvSpPr>
          <p:cNvPr id="31" name="Text 24">
            <a:extLst>
              <a:ext uri="{FF2B5EF4-FFF2-40B4-BE49-F238E27FC236}">
                <a16:creationId xmlns:a16="http://schemas.microsoft.com/office/drawing/2014/main" id="{C5441E10-CADF-4B10-2761-499C5F9A01BE}"/>
              </a:ext>
            </a:extLst>
          </p:cNvPr>
          <p:cNvSpPr txBox="1"/>
          <p:nvPr/>
        </p:nvSpPr>
        <p:spPr>
          <a:xfrm>
            <a:off x="6476695" y="2895905"/>
            <a:ext cx="4877410" cy="428854"/>
          </a:xfrm>
          <a:prstGeom prst="rect">
            <a:avLst/>
          </a:prstGeom>
          <a:noFill/>
          <a:ln/>
        </p:spPr>
        <p:txBody>
          <a:bodyPr wrap="square" lIns="0" tIns="0" rIns="0" bIns="0" rtlCol="0" anchor="ctr"/>
          <a:lstStyle/>
          <a:p>
            <a:pPr marL="0" indent="0" algn="l">
              <a:buNone/>
            </a:pPr>
            <a:r>
              <a:rPr lang="en-US" sz="1100">
                <a:solidFill>
                  <a:srgbClr val="4B5563"/>
                </a:solidFill>
                <a:latin typeface="Raleway" pitchFamily="34" charset="0"/>
                <a:ea typeface="Raleway" pitchFamily="34" charset="-122"/>
                <a:cs typeface="Raleway" pitchFamily="34" charset="-120"/>
              </a:rPr>
              <a:t>e.g. 5-Day WFO Resistance — Post-COVID candidates resist full office return; qualified talent pool shrinks for mandatory in-office roles.</a:t>
            </a:r>
            <a:endParaRPr lang="en-US" sz="1100"/>
          </a:p>
        </p:txBody>
      </p:sp>
      <p:sp>
        <p:nvSpPr>
          <p:cNvPr id="32" name="Text 25">
            <a:extLst>
              <a:ext uri="{FF2B5EF4-FFF2-40B4-BE49-F238E27FC236}">
                <a16:creationId xmlns:a16="http://schemas.microsoft.com/office/drawing/2014/main" id="{E6D8B6CA-D62D-02E0-163A-AC7F845F4194}"/>
              </a:ext>
            </a:extLst>
          </p:cNvPr>
          <p:cNvSpPr txBox="1"/>
          <p:nvPr/>
        </p:nvSpPr>
        <p:spPr>
          <a:xfrm>
            <a:off x="838505" y="4143146"/>
            <a:ext cx="340157" cy="267005"/>
          </a:xfrm>
          <a:prstGeom prst="rect">
            <a:avLst/>
          </a:prstGeom>
          <a:noFill/>
          <a:ln/>
        </p:spPr>
        <p:txBody>
          <a:bodyPr wrap="none" lIns="0" tIns="0" rIns="0" bIns="0" rtlCol="0" anchor="ctr"/>
          <a:lstStyle/>
          <a:p>
            <a:pPr marL="0" indent="0" algn="l">
              <a:buNone/>
            </a:pPr>
            <a:r>
              <a:rPr lang="en-US" sz="2100" b="1">
                <a:solidFill>
                  <a:srgbClr val="D62839"/>
                </a:solidFill>
                <a:latin typeface="Oswald" pitchFamily="34" charset="0"/>
                <a:ea typeface="Oswald" pitchFamily="34" charset="-122"/>
                <a:cs typeface="Oswald" pitchFamily="34" charset="-120"/>
              </a:rPr>
              <a:t>03</a:t>
            </a:r>
            <a:endParaRPr lang="en-US" sz="2100"/>
          </a:p>
        </p:txBody>
      </p:sp>
      <p:sp>
        <p:nvSpPr>
          <p:cNvPr id="33" name="Text 26">
            <a:extLst>
              <a:ext uri="{FF2B5EF4-FFF2-40B4-BE49-F238E27FC236}">
                <a16:creationId xmlns:a16="http://schemas.microsoft.com/office/drawing/2014/main" id="{C2C216A8-96F5-A7FC-C9A7-44ACB776AC2D}"/>
              </a:ext>
            </a:extLst>
          </p:cNvPr>
          <p:cNvSpPr txBox="1"/>
          <p:nvPr/>
        </p:nvSpPr>
        <p:spPr>
          <a:xfrm>
            <a:off x="1236269" y="4162349"/>
            <a:ext cx="1881835" cy="286207"/>
          </a:xfrm>
          <a:prstGeom prst="rect">
            <a:avLst/>
          </a:prstGeom>
          <a:noFill/>
          <a:ln/>
        </p:spPr>
        <p:txBody>
          <a:bodyPr wrap="none" lIns="0" tIns="0" rIns="0" bIns="0" rtlCol="0" anchor="ctr"/>
          <a:lstStyle/>
          <a:p>
            <a:pPr marL="0" indent="0" algn="l">
              <a:buNone/>
            </a:pPr>
            <a:r>
              <a:rPr lang="en-US" sz="1500" b="1">
                <a:solidFill>
                  <a:srgbClr val="111827"/>
                </a:solidFill>
                <a:latin typeface="Oswald" pitchFamily="34" charset="0"/>
                <a:ea typeface="Oswald" pitchFamily="34" charset="-122"/>
                <a:cs typeface="Oswald" pitchFamily="34" charset="-120"/>
              </a:rPr>
              <a:t>[Challenge 3 Title]</a:t>
            </a:r>
            <a:endParaRPr lang="en-US" sz="1500"/>
          </a:p>
        </p:txBody>
      </p:sp>
      <p:sp>
        <p:nvSpPr>
          <p:cNvPr id="34" name="Text 27">
            <a:extLst>
              <a:ext uri="{FF2B5EF4-FFF2-40B4-BE49-F238E27FC236}">
                <a16:creationId xmlns:a16="http://schemas.microsoft.com/office/drawing/2014/main" id="{86900820-89F2-D72F-29D7-39F328CD9491}"/>
              </a:ext>
            </a:extLst>
          </p:cNvPr>
          <p:cNvSpPr txBox="1"/>
          <p:nvPr/>
        </p:nvSpPr>
        <p:spPr>
          <a:xfrm>
            <a:off x="838505" y="4562856"/>
            <a:ext cx="4877410" cy="428854"/>
          </a:xfrm>
          <a:prstGeom prst="rect">
            <a:avLst/>
          </a:prstGeom>
          <a:noFill/>
          <a:ln/>
        </p:spPr>
        <p:txBody>
          <a:bodyPr wrap="square" lIns="0" tIns="0" rIns="0" bIns="0" rtlCol="0" anchor="ctr"/>
          <a:lstStyle/>
          <a:p>
            <a:pPr marL="0" indent="0" algn="l">
              <a:buNone/>
            </a:pPr>
            <a:r>
              <a:rPr lang="en-US" sz="1100">
                <a:solidFill>
                  <a:srgbClr val="4B5563"/>
                </a:solidFill>
                <a:latin typeface="Raleway" pitchFamily="34" charset="0"/>
                <a:ea typeface="Raleway" pitchFamily="34" charset="-122"/>
                <a:cs typeface="Raleway" pitchFamily="34" charset="-120"/>
              </a:rPr>
              <a:t>e.g. Niche Skill Pool — 50% of hires are CAs (≤5 yrs exp). Intense competition from Big 4s and other captives for limited talent.</a:t>
            </a:r>
            <a:endParaRPr lang="en-US" sz="1100"/>
          </a:p>
        </p:txBody>
      </p:sp>
      <p:sp>
        <p:nvSpPr>
          <p:cNvPr id="35" name="Text 28">
            <a:extLst>
              <a:ext uri="{FF2B5EF4-FFF2-40B4-BE49-F238E27FC236}">
                <a16:creationId xmlns:a16="http://schemas.microsoft.com/office/drawing/2014/main" id="{4EE1B485-5C1B-9046-DA53-C78DFF78B888}"/>
              </a:ext>
            </a:extLst>
          </p:cNvPr>
          <p:cNvSpPr txBox="1"/>
          <p:nvPr/>
        </p:nvSpPr>
        <p:spPr>
          <a:xfrm>
            <a:off x="6476695" y="4143146"/>
            <a:ext cx="342900" cy="267005"/>
          </a:xfrm>
          <a:prstGeom prst="rect">
            <a:avLst/>
          </a:prstGeom>
          <a:noFill/>
          <a:ln/>
        </p:spPr>
        <p:txBody>
          <a:bodyPr wrap="none" lIns="0" tIns="0" rIns="0" bIns="0" rtlCol="0" anchor="ctr"/>
          <a:lstStyle/>
          <a:p>
            <a:pPr marL="0" indent="0" algn="l">
              <a:buNone/>
            </a:pPr>
            <a:r>
              <a:rPr lang="en-US" sz="2100" b="1">
                <a:solidFill>
                  <a:srgbClr val="2A9D8F"/>
                </a:solidFill>
                <a:latin typeface="Oswald" pitchFamily="34" charset="0"/>
                <a:ea typeface="Oswald" pitchFamily="34" charset="-122"/>
                <a:cs typeface="Oswald" pitchFamily="34" charset="-120"/>
              </a:rPr>
              <a:t>04</a:t>
            </a:r>
            <a:endParaRPr lang="en-US" sz="2100"/>
          </a:p>
        </p:txBody>
      </p:sp>
      <p:sp>
        <p:nvSpPr>
          <p:cNvPr id="36" name="Text 29">
            <a:extLst>
              <a:ext uri="{FF2B5EF4-FFF2-40B4-BE49-F238E27FC236}">
                <a16:creationId xmlns:a16="http://schemas.microsoft.com/office/drawing/2014/main" id="{D7C0D921-403B-9A10-F944-DB9BD69AD35A}"/>
              </a:ext>
            </a:extLst>
          </p:cNvPr>
          <p:cNvSpPr txBox="1"/>
          <p:nvPr/>
        </p:nvSpPr>
        <p:spPr>
          <a:xfrm>
            <a:off x="6878117" y="4162349"/>
            <a:ext cx="1881835" cy="286207"/>
          </a:xfrm>
          <a:prstGeom prst="rect">
            <a:avLst/>
          </a:prstGeom>
          <a:noFill/>
          <a:ln/>
        </p:spPr>
        <p:txBody>
          <a:bodyPr wrap="none" lIns="0" tIns="0" rIns="0" bIns="0" rtlCol="0" anchor="ctr"/>
          <a:lstStyle/>
          <a:p>
            <a:pPr marL="0" indent="0" algn="l">
              <a:buNone/>
            </a:pPr>
            <a:r>
              <a:rPr lang="en-US" sz="1500" b="1">
                <a:solidFill>
                  <a:srgbClr val="111827"/>
                </a:solidFill>
                <a:latin typeface="Oswald" pitchFamily="34" charset="0"/>
                <a:ea typeface="Oswald" pitchFamily="34" charset="-122"/>
                <a:cs typeface="Oswald" pitchFamily="34" charset="-120"/>
              </a:rPr>
              <a:t>[Challenge 4 Title]</a:t>
            </a:r>
            <a:endParaRPr lang="en-US" sz="1500"/>
          </a:p>
        </p:txBody>
      </p:sp>
      <p:sp>
        <p:nvSpPr>
          <p:cNvPr id="37" name="Text 30">
            <a:extLst>
              <a:ext uri="{FF2B5EF4-FFF2-40B4-BE49-F238E27FC236}">
                <a16:creationId xmlns:a16="http://schemas.microsoft.com/office/drawing/2014/main" id="{503548BD-771C-288E-A61A-80EE65897C33}"/>
              </a:ext>
            </a:extLst>
          </p:cNvPr>
          <p:cNvSpPr txBox="1"/>
          <p:nvPr/>
        </p:nvSpPr>
        <p:spPr>
          <a:xfrm>
            <a:off x="6476695" y="4562856"/>
            <a:ext cx="4877410" cy="428854"/>
          </a:xfrm>
          <a:prstGeom prst="rect">
            <a:avLst/>
          </a:prstGeom>
          <a:noFill/>
          <a:ln/>
        </p:spPr>
        <p:txBody>
          <a:bodyPr wrap="square" lIns="0" tIns="0" rIns="0" bIns="0" rtlCol="0" anchor="ctr"/>
          <a:lstStyle/>
          <a:p>
            <a:pPr marL="0" indent="0" algn="l">
              <a:buNone/>
            </a:pPr>
            <a:r>
              <a:rPr lang="en-US" sz="1100">
                <a:solidFill>
                  <a:srgbClr val="4B5563"/>
                </a:solidFill>
                <a:latin typeface="Raleway" pitchFamily="34" charset="0"/>
                <a:ea typeface="Raleway" pitchFamily="34" charset="-122"/>
                <a:cs typeface="Raleway" pitchFamily="34" charset="-120"/>
              </a:rPr>
              <a:t>e.g. Sporadic Demand — 8–10 roles max per BU creates unpredictable, low-volume patterns. Hard to maintain dedicated pipeline.</a:t>
            </a:r>
            <a:endParaRPr lang="en-US" sz="1100"/>
          </a:p>
        </p:txBody>
      </p:sp>
      <p:sp>
        <p:nvSpPr>
          <p:cNvPr id="38" name="Text 31">
            <a:extLst>
              <a:ext uri="{FF2B5EF4-FFF2-40B4-BE49-F238E27FC236}">
                <a16:creationId xmlns:a16="http://schemas.microsoft.com/office/drawing/2014/main" id="{BFD1044B-AF7C-29D6-9D49-92FC4101D780}"/>
              </a:ext>
            </a:extLst>
          </p:cNvPr>
          <p:cNvSpPr txBox="1"/>
          <p:nvPr/>
        </p:nvSpPr>
        <p:spPr>
          <a:xfrm>
            <a:off x="972007" y="5857646"/>
            <a:ext cx="2553005" cy="257861"/>
          </a:xfrm>
          <a:prstGeom prst="rect">
            <a:avLst/>
          </a:prstGeom>
          <a:noFill/>
          <a:ln/>
        </p:spPr>
        <p:txBody>
          <a:bodyPr wrap="none" lIns="0" tIns="0" rIns="0" bIns="0" rtlCol="0" anchor="ctr"/>
          <a:lstStyle/>
          <a:p>
            <a:pPr marL="0" indent="0" algn="l">
              <a:buNone/>
            </a:pPr>
            <a:r>
              <a:rPr lang="en-US" sz="1600" b="1">
                <a:solidFill>
                  <a:srgbClr val="2A9D8F"/>
                </a:solidFill>
                <a:latin typeface="Oswald" pitchFamily="34" charset="0"/>
                <a:ea typeface="Oswald" pitchFamily="34" charset="-122"/>
                <a:cs typeface="Oswald" pitchFamily="34" charset="-120"/>
              </a:rPr>
              <a:t>[X] people strong</a:t>
            </a:r>
            <a:endParaRPr lang="en-US" sz="1600"/>
          </a:p>
        </p:txBody>
      </p:sp>
      <p:sp>
        <p:nvSpPr>
          <p:cNvPr id="39" name="Text 32">
            <a:extLst>
              <a:ext uri="{FF2B5EF4-FFF2-40B4-BE49-F238E27FC236}">
                <a16:creationId xmlns:a16="http://schemas.microsoft.com/office/drawing/2014/main" id="{F752953E-9C91-76AF-8997-77F80270438D}"/>
              </a:ext>
            </a:extLst>
          </p:cNvPr>
          <p:cNvSpPr txBox="1"/>
          <p:nvPr/>
        </p:nvSpPr>
        <p:spPr>
          <a:xfrm>
            <a:off x="972007" y="6147511"/>
            <a:ext cx="2553005" cy="181051"/>
          </a:xfrm>
          <a:prstGeom prst="rect">
            <a:avLst/>
          </a:prstGeom>
          <a:noFill/>
          <a:ln/>
        </p:spPr>
        <p:txBody>
          <a:bodyPr wrap="none" lIns="0" tIns="0" rIns="0" bIns="0" rtlCol="0" anchor="ctr"/>
          <a:lstStyle/>
          <a:p>
            <a:pPr marL="0" indent="0" algn="l">
              <a:buNone/>
            </a:pPr>
            <a:r>
              <a:rPr lang="en-US" sz="1000">
                <a:solidFill>
                  <a:srgbClr val="E5E7EB"/>
                </a:solidFill>
                <a:latin typeface="Raleway" pitchFamily="34" charset="0"/>
                <a:ea typeface="Raleway" pitchFamily="34" charset="-122"/>
                <a:cs typeface="Raleway" pitchFamily="34" charset="-120"/>
              </a:rPr>
              <a:t>Org size</a:t>
            </a:r>
            <a:endParaRPr lang="en-US" sz="1000"/>
          </a:p>
        </p:txBody>
      </p:sp>
      <p:sp>
        <p:nvSpPr>
          <p:cNvPr id="40" name="Text 33">
            <a:extLst>
              <a:ext uri="{FF2B5EF4-FFF2-40B4-BE49-F238E27FC236}">
                <a16:creationId xmlns:a16="http://schemas.microsoft.com/office/drawing/2014/main" id="{52F0515C-5D54-0F4E-E602-55BD8F123E74}"/>
              </a:ext>
            </a:extLst>
          </p:cNvPr>
          <p:cNvSpPr txBox="1"/>
          <p:nvPr/>
        </p:nvSpPr>
        <p:spPr>
          <a:xfrm>
            <a:off x="3638398" y="5857646"/>
            <a:ext cx="2830982" cy="257861"/>
          </a:xfrm>
          <a:prstGeom prst="rect">
            <a:avLst/>
          </a:prstGeom>
          <a:noFill/>
          <a:ln/>
        </p:spPr>
        <p:txBody>
          <a:bodyPr wrap="none" lIns="0" tIns="0" rIns="0" bIns="0" rtlCol="0" anchor="ctr"/>
          <a:lstStyle/>
          <a:p>
            <a:pPr marL="0" indent="0" algn="l">
              <a:buNone/>
            </a:pPr>
            <a:r>
              <a:rPr lang="en-US" sz="1600" b="1">
                <a:solidFill>
                  <a:srgbClr val="D62839"/>
                </a:solidFill>
                <a:latin typeface="Oswald" pitchFamily="34" charset="0"/>
                <a:ea typeface="Oswald" pitchFamily="34" charset="-122"/>
                <a:cs typeface="Oswald" pitchFamily="34" charset="-120"/>
              </a:rPr>
              <a:t>[X–X] hires in [YEAR]</a:t>
            </a:r>
            <a:endParaRPr lang="en-US" sz="1600"/>
          </a:p>
        </p:txBody>
      </p:sp>
      <p:sp>
        <p:nvSpPr>
          <p:cNvPr id="41" name="Text 34">
            <a:extLst>
              <a:ext uri="{FF2B5EF4-FFF2-40B4-BE49-F238E27FC236}">
                <a16:creationId xmlns:a16="http://schemas.microsoft.com/office/drawing/2014/main" id="{BD6E3207-CDF6-22BC-ED87-28A6D5EB1362}"/>
              </a:ext>
            </a:extLst>
          </p:cNvPr>
          <p:cNvSpPr txBox="1"/>
          <p:nvPr/>
        </p:nvSpPr>
        <p:spPr>
          <a:xfrm>
            <a:off x="3638398" y="6147511"/>
            <a:ext cx="2553005" cy="181051"/>
          </a:xfrm>
          <a:prstGeom prst="rect">
            <a:avLst/>
          </a:prstGeom>
          <a:noFill/>
          <a:ln/>
        </p:spPr>
        <p:txBody>
          <a:bodyPr wrap="none" lIns="0" tIns="0" rIns="0" bIns="0" rtlCol="0" anchor="ctr"/>
          <a:lstStyle/>
          <a:p>
            <a:pPr marL="0" indent="0" algn="l">
              <a:buNone/>
            </a:pPr>
            <a:r>
              <a:rPr lang="en-US" sz="1000">
                <a:solidFill>
                  <a:srgbClr val="E5E7EB"/>
                </a:solidFill>
                <a:latin typeface="Raleway" pitchFamily="34" charset="0"/>
                <a:ea typeface="Raleway" pitchFamily="34" charset="-122"/>
                <a:cs typeface="Raleway" pitchFamily="34" charset="-120"/>
              </a:rPr>
              <a:t>Hiring target</a:t>
            </a:r>
            <a:endParaRPr lang="en-US" sz="1000"/>
          </a:p>
        </p:txBody>
      </p:sp>
      <p:sp>
        <p:nvSpPr>
          <p:cNvPr id="42" name="Text 35">
            <a:extLst>
              <a:ext uri="{FF2B5EF4-FFF2-40B4-BE49-F238E27FC236}">
                <a16:creationId xmlns:a16="http://schemas.microsoft.com/office/drawing/2014/main" id="{90C151A5-5398-CFF6-21BB-9B74144D15B7}"/>
              </a:ext>
            </a:extLst>
          </p:cNvPr>
          <p:cNvSpPr txBox="1"/>
          <p:nvPr/>
        </p:nvSpPr>
        <p:spPr>
          <a:xfrm>
            <a:off x="6305702" y="5857646"/>
            <a:ext cx="2830982" cy="257861"/>
          </a:xfrm>
          <a:prstGeom prst="rect">
            <a:avLst/>
          </a:prstGeom>
          <a:noFill/>
          <a:ln/>
        </p:spPr>
        <p:txBody>
          <a:bodyPr wrap="none" lIns="0" tIns="0" rIns="0" bIns="0" rtlCol="0" anchor="ctr"/>
          <a:lstStyle/>
          <a:p>
            <a:pPr marL="0" indent="0" algn="l">
              <a:buNone/>
            </a:pPr>
            <a:r>
              <a:rPr lang="en-US" sz="1600" b="1">
                <a:solidFill>
                  <a:srgbClr val="2A9D8F"/>
                </a:solidFill>
                <a:latin typeface="Oswald" pitchFamily="34" charset="0"/>
                <a:ea typeface="Oswald" pitchFamily="34" charset="-122"/>
                <a:cs typeface="Oswald" pitchFamily="34" charset="-120"/>
              </a:rPr>
              <a:t>[X]% junior workforce</a:t>
            </a:r>
            <a:endParaRPr lang="en-US" sz="1600"/>
          </a:p>
        </p:txBody>
      </p:sp>
      <p:sp>
        <p:nvSpPr>
          <p:cNvPr id="43" name="Text 36">
            <a:extLst>
              <a:ext uri="{FF2B5EF4-FFF2-40B4-BE49-F238E27FC236}">
                <a16:creationId xmlns:a16="http://schemas.microsoft.com/office/drawing/2014/main" id="{01F18857-4EE3-FC89-750D-B7FF1BFF20C0}"/>
              </a:ext>
            </a:extLst>
          </p:cNvPr>
          <p:cNvSpPr txBox="1"/>
          <p:nvPr/>
        </p:nvSpPr>
        <p:spPr>
          <a:xfrm>
            <a:off x="6305702" y="6147511"/>
            <a:ext cx="2553005" cy="181051"/>
          </a:xfrm>
          <a:prstGeom prst="rect">
            <a:avLst/>
          </a:prstGeom>
          <a:noFill/>
          <a:ln/>
        </p:spPr>
        <p:txBody>
          <a:bodyPr wrap="none" lIns="0" tIns="0" rIns="0" bIns="0" rtlCol="0" anchor="ctr"/>
          <a:lstStyle/>
          <a:p>
            <a:pPr marL="0" indent="0" algn="l">
              <a:buNone/>
            </a:pPr>
            <a:r>
              <a:rPr lang="en-US" sz="1000">
                <a:solidFill>
                  <a:srgbClr val="E5E7EB"/>
                </a:solidFill>
                <a:latin typeface="Raleway" pitchFamily="34" charset="0"/>
                <a:ea typeface="Raleway" pitchFamily="34" charset="-122"/>
                <a:cs typeface="Raleway" pitchFamily="34" charset="-120"/>
              </a:rPr>
              <a:t>Level mix</a:t>
            </a:r>
            <a:endParaRPr lang="en-US" sz="1000"/>
          </a:p>
        </p:txBody>
      </p:sp>
      <p:sp>
        <p:nvSpPr>
          <p:cNvPr id="44" name="Text 37">
            <a:extLst>
              <a:ext uri="{FF2B5EF4-FFF2-40B4-BE49-F238E27FC236}">
                <a16:creationId xmlns:a16="http://schemas.microsoft.com/office/drawing/2014/main" id="{201C60D3-E6FD-737E-B1AD-3D48A0052972}"/>
              </a:ext>
            </a:extLst>
          </p:cNvPr>
          <p:cNvSpPr txBox="1"/>
          <p:nvPr/>
        </p:nvSpPr>
        <p:spPr>
          <a:xfrm>
            <a:off x="8973007" y="5857646"/>
            <a:ext cx="3038551" cy="257861"/>
          </a:xfrm>
          <a:prstGeom prst="rect">
            <a:avLst/>
          </a:prstGeom>
          <a:noFill/>
          <a:ln/>
        </p:spPr>
        <p:txBody>
          <a:bodyPr wrap="none" lIns="0" tIns="0" rIns="0" bIns="0" rtlCol="0" anchor="ctr"/>
          <a:lstStyle/>
          <a:p>
            <a:pPr marL="0" indent="0" algn="l">
              <a:buNone/>
            </a:pPr>
            <a:r>
              <a:rPr lang="en-US" sz="1600" b="1">
                <a:solidFill>
                  <a:srgbClr val="D62839"/>
                </a:solidFill>
                <a:latin typeface="Oswald" pitchFamily="34" charset="0"/>
                <a:ea typeface="Oswald" pitchFamily="34" charset="-122"/>
                <a:cs typeface="Oswald" pitchFamily="34" charset="-120"/>
              </a:rPr>
              <a:t>[City] extension of [HQ]</a:t>
            </a:r>
            <a:endParaRPr lang="en-US" sz="1600"/>
          </a:p>
        </p:txBody>
      </p:sp>
      <p:sp>
        <p:nvSpPr>
          <p:cNvPr id="45" name="Text 38">
            <a:extLst>
              <a:ext uri="{FF2B5EF4-FFF2-40B4-BE49-F238E27FC236}">
                <a16:creationId xmlns:a16="http://schemas.microsoft.com/office/drawing/2014/main" id="{C01B6739-62F3-695B-659F-779A403E97F6}"/>
              </a:ext>
            </a:extLst>
          </p:cNvPr>
          <p:cNvSpPr txBox="1"/>
          <p:nvPr/>
        </p:nvSpPr>
        <p:spPr>
          <a:xfrm>
            <a:off x="8973007" y="6147511"/>
            <a:ext cx="2553005" cy="181051"/>
          </a:xfrm>
          <a:prstGeom prst="rect">
            <a:avLst/>
          </a:prstGeom>
          <a:noFill/>
          <a:ln/>
        </p:spPr>
        <p:txBody>
          <a:bodyPr wrap="none" lIns="0" tIns="0" rIns="0" bIns="0" rtlCol="0" anchor="ctr"/>
          <a:lstStyle/>
          <a:p>
            <a:pPr marL="0" indent="0" algn="l">
              <a:buNone/>
            </a:pPr>
            <a:r>
              <a:rPr lang="en-US" sz="1000">
                <a:solidFill>
                  <a:srgbClr val="E5E7EB"/>
                </a:solidFill>
                <a:latin typeface="Raleway" pitchFamily="34" charset="0"/>
                <a:ea typeface="Raleway" pitchFamily="34" charset="-122"/>
                <a:cs typeface="Raleway" pitchFamily="34" charset="-120"/>
              </a:rPr>
              <a:t>GCC mandate</a:t>
            </a:r>
            <a:endParaRPr lang="en-US" sz="1000"/>
          </a:p>
        </p:txBody>
      </p:sp>
      <p:pic>
        <p:nvPicPr>
          <p:cNvPr id="20" name="Image 3" descr="gen-dedup-777bf757d895431cabe402fcd34ebd5a.png">
            <a:extLst>
              <a:ext uri="{FF2B5EF4-FFF2-40B4-BE49-F238E27FC236}">
                <a16:creationId xmlns:a16="http://schemas.microsoft.com/office/drawing/2014/main" id="{A7B27DFF-DF23-CE7B-6FC9-413BD8D720BF}"/>
              </a:ext>
            </a:extLst>
          </p:cNvPr>
          <p:cNvPicPr>
            <a:picLocks noChangeAspect="1"/>
          </p:cNvPicPr>
          <p:nvPr/>
        </p:nvPicPr>
        <p:blipFill>
          <a:blip r:embed="rId8">
            <a:biLevel thresh="75000"/>
          </a:blip>
          <a:srcRect l="-384" r="-384"/>
          <a:stretch/>
        </p:blipFill>
        <p:spPr>
          <a:xfrm>
            <a:off x="571500" y="381305"/>
            <a:ext cx="57607" cy="476402"/>
          </a:xfrm>
          <a:prstGeom prst="rect">
            <a:avLst/>
          </a:prstGeom>
        </p:spPr>
      </p:pic>
      <p:sp>
        <p:nvSpPr>
          <p:cNvPr id="47" name="Text 5">
            <a:extLst>
              <a:ext uri="{FF2B5EF4-FFF2-40B4-BE49-F238E27FC236}">
                <a16:creationId xmlns:a16="http://schemas.microsoft.com/office/drawing/2014/main" id="{69366B5C-A27A-12F6-CAB3-43AFDAA5218F}"/>
              </a:ext>
            </a:extLst>
          </p:cNvPr>
          <p:cNvSpPr txBox="1"/>
          <p:nvPr/>
        </p:nvSpPr>
        <p:spPr>
          <a:xfrm>
            <a:off x="780897" y="333756"/>
            <a:ext cx="5913817" cy="406908"/>
          </a:xfrm>
          <a:prstGeom prst="rect">
            <a:avLst/>
          </a:prstGeom>
          <a:noFill/>
          <a:ln/>
        </p:spPr>
        <p:txBody>
          <a:bodyPr wrap="none" lIns="0" tIns="0" rIns="0" bIns="0" rtlCol="0" anchor="ctr"/>
          <a:lstStyle/>
          <a:p>
            <a:r>
              <a:rPr lang="en-GB" sz="2400" b="1" kern="0" spc="-67" dirty="0">
                <a:solidFill>
                  <a:srgbClr val="111827"/>
                </a:solidFill>
                <a:latin typeface="Oswald" pitchFamily="34" charset="0"/>
                <a:ea typeface="Oswald" pitchFamily="34" charset="-122"/>
                <a:cs typeface="Oswald" pitchFamily="34" charset="-120"/>
              </a:rPr>
              <a:t>CLIENT CONTEXT</a:t>
            </a:r>
          </a:p>
        </p:txBody>
      </p:sp>
      <p:sp>
        <p:nvSpPr>
          <p:cNvPr id="49" name="Text 6">
            <a:extLst>
              <a:ext uri="{FF2B5EF4-FFF2-40B4-BE49-F238E27FC236}">
                <a16:creationId xmlns:a16="http://schemas.microsoft.com/office/drawing/2014/main" id="{4489E74F-8737-3F52-3A1B-E19A63812899}"/>
              </a:ext>
            </a:extLst>
          </p:cNvPr>
          <p:cNvSpPr txBox="1"/>
          <p:nvPr/>
        </p:nvSpPr>
        <p:spPr>
          <a:xfrm>
            <a:off x="780898" y="740663"/>
            <a:ext cx="5054803" cy="257861"/>
          </a:xfrm>
          <a:prstGeom prst="rect">
            <a:avLst/>
          </a:prstGeom>
          <a:noFill/>
          <a:ln/>
        </p:spPr>
        <p:txBody>
          <a:bodyPr wrap="none" lIns="0" tIns="0" rIns="0" bIns="0" rtlCol="0" anchor="ctr"/>
          <a:lstStyle/>
          <a:p>
            <a:pPr marL="0" indent="0" algn="l">
              <a:buNone/>
            </a:pPr>
            <a:r>
              <a:rPr lang="en-GB" sz="1500" b="1" kern="0" spc="66" dirty="0">
                <a:solidFill>
                  <a:srgbClr val="2A9D8F"/>
                </a:solidFill>
                <a:latin typeface="Roboto Condensed" pitchFamily="34" charset="0"/>
                <a:ea typeface="Roboto Condensed" pitchFamily="34" charset="-122"/>
                <a:cs typeface="Roboto Condensed" pitchFamily="34" charset="-120"/>
              </a:rPr>
              <a:t>[CLIENT NAME] — Talent Challenges Identified</a:t>
            </a:r>
          </a:p>
        </p:txBody>
      </p:sp>
    </p:spTree>
    <p:extLst>
      <p:ext uri="{BB962C8B-B14F-4D97-AF65-F5344CB8AC3E}">
        <p14:creationId xmlns:p14="http://schemas.microsoft.com/office/powerpoint/2010/main" val="8819712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15142-E6EF-BA67-50C5-BEE670AE890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09BB6A9-53AC-0120-3CEF-05E25FFC92F1}"/>
              </a:ext>
            </a:extLst>
          </p:cNvPr>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a:extLst>
              <a:ext uri="{FF2B5EF4-FFF2-40B4-BE49-F238E27FC236}">
                <a16:creationId xmlns:a16="http://schemas.microsoft.com/office/drawing/2014/main" id="{682EBB72-A6BF-5CEB-4F2C-B1542E62424C}"/>
              </a:ext>
            </a:extLst>
          </p:cNvPr>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dirty="0"/>
          </a:p>
        </p:txBody>
      </p:sp>
      <p:sp>
        <p:nvSpPr>
          <p:cNvPr id="4" name="Shape 2">
            <a:extLst>
              <a:ext uri="{FF2B5EF4-FFF2-40B4-BE49-F238E27FC236}">
                <a16:creationId xmlns:a16="http://schemas.microsoft.com/office/drawing/2014/main" id="{6C715D4C-1AF4-E120-D15D-EA2316DEC404}"/>
              </a:ext>
            </a:extLst>
          </p:cNvPr>
          <p:cNvSpPr/>
          <p:nvPr/>
        </p:nvSpPr>
        <p:spPr>
          <a:xfrm>
            <a:off x="9334195" y="-476402"/>
            <a:ext cx="3333902" cy="3333902"/>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5" name="Image 0" descr="gen-dedup-16b8f91e6d72561d8e86691bd4589640.svg">
            <a:extLst>
              <a:ext uri="{FF2B5EF4-FFF2-40B4-BE49-F238E27FC236}">
                <a16:creationId xmlns:a16="http://schemas.microsoft.com/office/drawing/2014/main" id="{10665FFC-7191-3EE9-E262-A0EE2B1630BE}"/>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81305" y="4572000"/>
            <a:ext cx="1904695" cy="1904695"/>
          </a:xfrm>
          <a:prstGeom prst="rect">
            <a:avLst/>
          </a:prstGeom>
        </p:spPr>
      </p:pic>
      <p:pic>
        <p:nvPicPr>
          <p:cNvPr id="6" name="Image 1" descr="gen-dedup-c43d37ec6b749a14b46300e23657ecc9.png">
            <a:extLst>
              <a:ext uri="{FF2B5EF4-FFF2-40B4-BE49-F238E27FC236}">
                <a16:creationId xmlns:a16="http://schemas.microsoft.com/office/drawing/2014/main" id="{350E297F-CAF1-4144-06DE-2E7C7E9C5BE2}"/>
              </a:ext>
            </a:extLst>
          </p:cNvPr>
          <p:cNvPicPr>
            <a:picLocks noChangeAspect="1"/>
          </p:cNvPicPr>
          <p:nvPr/>
        </p:nvPicPr>
        <p:blipFill>
          <a:blip r:embed="rId4"/>
          <a:srcRect l="-2" r="-2"/>
          <a:stretch/>
        </p:blipFill>
        <p:spPr>
          <a:xfrm>
            <a:off x="0" y="6743700"/>
            <a:ext cx="8128102" cy="114300"/>
          </a:xfrm>
          <a:prstGeom prst="rect">
            <a:avLst/>
          </a:prstGeom>
        </p:spPr>
      </p:pic>
      <p:pic>
        <p:nvPicPr>
          <p:cNvPr id="7" name="Image 2" descr="gen-dedup-ccb3fbefd7198ae67d29d234b7ba9a3d.png">
            <a:extLst>
              <a:ext uri="{FF2B5EF4-FFF2-40B4-BE49-F238E27FC236}">
                <a16:creationId xmlns:a16="http://schemas.microsoft.com/office/drawing/2014/main" id="{5FEA7D47-47C8-A1C7-8C9B-341CBB70B236}"/>
              </a:ext>
            </a:extLst>
          </p:cNvPr>
          <p:cNvPicPr>
            <a:picLocks noChangeAspect="1"/>
          </p:cNvPicPr>
          <p:nvPr/>
        </p:nvPicPr>
        <p:blipFill>
          <a:blip r:embed="rId5"/>
          <a:srcRect t="-4" b="-4"/>
          <a:stretch/>
        </p:blipFill>
        <p:spPr>
          <a:xfrm>
            <a:off x="8128102" y="6743700"/>
            <a:ext cx="4063594" cy="114300"/>
          </a:xfrm>
          <a:prstGeom prst="rect">
            <a:avLst/>
          </a:prstGeom>
        </p:spPr>
      </p:pic>
      <p:sp>
        <p:nvSpPr>
          <p:cNvPr id="11" name="Shape 5">
            <a:extLst>
              <a:ext uri="{FF2B5EF4-FFF2-40B4-BE49-F238E27FC236}">
                <a16:creationId xmlns:a16="http://schemas.microsoft.com/office/drawing/2014/main" id="{1DF6EAD2-5567-3E85-2BB2-10F941B5BE5C}"/>
              </a:ext>
            </a:extLst>
          </p:cNvPr>
          <p:cNvSpPr/>
          <p:nvPr/>
        </p:nvSpPr>
        <p:spPr>
          <a:xfrm>
            <a:off x="724205" y="1185062"/>
            <a:ext cx="19202" cy="267005"/>
          </a:xfrm>
          <a:prstGeom prst="rect">
            <a:avLst/>
          </a:prstGeom>
          <a:solidFill>
            <a:srgbClr val="E5E7EB"/>
          </a:solidFill>
          <a:ln w="12700">
            <a:solidFill>
              <a:srgbClr val="E5E7EB">
                <a:alpha val="0"/>
              </a:srgbClr>
            </a:solidFill>
            <a:prstDash val="solid"/>
          </a:ln>
        </p:spPr>
        <p:txBody>
          <a:bodyPr/>
          <a:lstStyle/>
          <a:p>
            <a:endParaRPr lang="en-US"/>
          </a:p>
        </p:txBody>
      </p:sp>
      <p:sp>
        <p:nvSpPr>
          <p:cNvPr id="12" name="Text 6">
            <a:extLst>
              <a:ext uri="{FF2B5EF4-FFF2-40B4-BE49-F238E27FC236}">
                <a16:creationId xmlns:a16="http://schemas.microsoft.com/office/drawing/2014/main" id="{06C39EE7-0BFF-562D-E09A-AE50EF2C38F7}"/>
              </a:ext>
            </a:extLst>
          </p:cNvPr>
          <p:cNvSpPr txBox="1"/>
          <p:nvPr/>
        </p:nvSpPr>
        <p:spPr>
          <a:xfrm>
            <a:off x="857707" y="1185062"/>
            <a:ext cx="8172907" cy="267005"/>
          </a:xfrm>
          <a:prstGeom prst="rect">
            <a:avLst/>
          </a:prstGeom>
          <a:solidFill>
            <a:srgbClr val="FFFFFF">
              <a:alpha val="0"/>
            </a:srgbClr>
          </a:solidFill>
          <a:ln>
            <a:solidFill>
              <a:srgbClr val="FFFFFF">
                <a:alpha val="0"/>
              </a:srgbClr>
            </a:solidFill>
          </a:ln>
        </p:spPr>
        <p:txBody>
          <a:bodyPr wrap="none" lIns="0" tIns="0" rIns="0" bIns="0" rtlCol="0" anchor="ctr"/>
          <a:lstStyle/>
          <a:p>
            <a:pPr marL="0" indent="0" algn="l">
              <a:buNone/>
            </a:pPr>
            <a:r>
              <a:rPr lang="en-US" sz="1300">
                <a:solidFill>
                  <a:srgbClr val="4B5563"/>
                </a:solidFill>
                <a:latin typeface="Raleway" pitchFamily="34" charset="0"/>
                <a:ea typeface="Raleway" pitchFamily="34" charset="-122"/>
                <a:cs typeface="Raleway" pitchFamily="34" charset="-120"/>
              </a:rPr>
              <a:t>Addressing [CLIENT]'s talent challenges with precision.</a:t>
            </a:r>
            <a:endParaRPr lang="en-US" sz="1300"/>
          </a:p>
        </p:txBody>
      </p:sp>
      <p:pic>
        <p:nvPicPr>
          <p:cNvPr id="15" name="Image 4" descr="gen-dedup-95d112f40cf296f81bdd24a7d4987a4a.png">
            <a:extLst>
              <a:ext uri="{FF2B5EF4-FFF2-40B4-BE49-F238E27FC236}">
                <a16:creationId xmlns:a16="http://schemas.microsoft.com/office/drawing/2014/main" id="{6D5E7822-1699-930D-7FA1-07E94783FC62}"/>
              </a:ext>
            </a:extLst>
          </p:cNvPr>
          <p:cNvPicPr>
            <a:picLocks noChangeAspect="1"/>
          </p:cNvPicPr>
          <p:nvPr/>
        </p:nvPicPr>
        <p:blipFill>
          <a:blip r:embed="rId6"/>
          <a:srcRect l="-7" r="-7"/>
          <a:stretch/>
        </p:blipFill>
        <p:spPr>
          <a:xfrm>
            <a:off x="457200" y="1571854"/>
            <a:ext cx="5524805" cy="2428646"/>
          </a:xfrm>
          <a:prstGeom prst="rect">
            <a:avLst/>
          </a:prstGeom>
        </p:spPr>
      </p:pic>
      <p:sp>
        <p:nvSpPr>
          <p:cNvPr id="16" name="Shape 9">
            <a:extLst>
              <a:ext uri="{FF2B5EF4-FFF2-40B4-BE49-F238E27FC236}">
                <a16:creationId xmlns:a16="http://schemas.microsoft.com/office/drawing/2014/main" id="{23DFA1FD-6024-96F8-30D8-5F2F1DCEFBB2}"/>
              </a:ext>
            </a:extLst>
          </p:cNvPr>
          <p:cNvSpPr/>
          <p:nvPr/>
        </p:nvSpPr>
        <p:spPr>
          <a:xfrm>
            <a:off x="5219395" y="1571854"/>
            <a:ext cx="761695" cy="761695"/>
          </a:xfrm>
          <a:prstGeom prst="rect">
            <a:avLst/>
          </a:prstGeom>
          <a:solidFill>
            <a:srgbClr val="000000">
              <a:alpha val="2000"/>
            </a:srgbClr>
          </a:solidFill>
          <a:ln w="12700">
            <a:solidFill>
              <a:srgbClr val="FFFFFF">
                <a:alpha val="0"/>
              </a:srgbClr>
            </a:solidFill>
            <a:prstDash val="solid"/>
          </a:ln>
        </p:spPr>
        <p:txBody>
          <a:bodyPr/>
          <a:lstStyle/>
          <a:p>
            <a:endParaRPr lang="en-US"/>
          </a:p>
        </p:txBody>
      </p:sp>
      <p:sp>
        <p:nvSpPr>
          <p:cNvPr id="17" name="Shape 10">
            <a:extLst>
              <a:ext uri="{FF2B5EF4-FFF2-40B4-BE49-F238E27FC236}">
                <a16:creationId xmlns:a16="http://schemas.microsoft.com/office/drawing/2014/main" id="{A863C90A-CE16-12AA-698C-0AF334F0C167}"/>
              </a:ext>
            </a:extLst>
          </p:cNvPr>
          <p:cNvSpPr/>
          <p:nvPr/>
        </p:nvSpPr>
        <p:spPr>
          <a:xfrm>
            <a:off x="685800" y="1848002"/>
            <a:ext cx="428854" cy="428854"/>
          </a:xfrm>
          <a:prstGeom prst="roundRect">
            <a:avLst>
              <a:gd name="adj" fmla="val 22175"/>
            </a:avLst>
          </a:prstGeom>
          <a:solidFill>
            <a:srgbClr val="2A9D8F">
              <a:alpha val="8000"/>
            </a:srgbClr>
          </a:solidFill>
          <a:ln w="12700">
            <a:solidFill>
              <a:srgbClr val="FFFFFF">
                <a:alpha val="0"/>
              </a:srgbClr>
            </a:solidFill>
            <a:prstDash val="solid"/>
          </a:ln>
        </p:spPr>
        <p:txBody>
          <a:bodyPr/>
          <a:lstStyle/>
          <a:p>
            <a:endParaRPr lang="en-US"/>
          </a:p>
        </p:txBody>
      </p:sp>
      <p:pic>
        <p:nvPicPr>
          <p:cNvPr id="18" name="Image 5" descr="gen-dedup-05ba22bc3988e5bbe03600cefb5c4c1e.png">
            <a:extLst>
              <a:ext uri="{FF2B5EF4-FFF2-40B4-BE49-F238E27FC236}">
                <a16:creationId xmlns:a16="http://schemas.microsoft.com/office/drawing/2014/main" id="{E41CE03E-C47D-C9A0-A6FB-C97036914D01}"/>
              </a:ext>
            </a:extLst>
          </p:cNvPr>
          <p:cNvPicPr>
            <a:picLocks noChangeAspect="1"/>
          </p:cNvPicPr>
          <p:nvPr/>
        </p:nvPicPr>
        <p:blipFill>
          <a:blip r:embed="rId7"/>
          <a:srcRect t="-13131" b="-13131"/>
          <a:stretch/>
        </p:blipFill>
        <p:spPr>
          <a:xfrm>
            <a:off x="809244" y="1947672"/>
            <a:ext cx="181051" cy="228600"/>
          </a:xfrm>
          <a:prstGeom prst="rect">
            <a:avLst/>
          </a:prstGeom>
        </p:spPr>
      </p:pic>
      <p:sp>
        <p:nvSpPr>
          <p:cNvPr id="19" name="Text 11">
            <a:extLst>
              <a:ext uri="{FF2B5EF4-FFF2-40B4-BE49-F238E27FC236}">
                <a16:creationId xmlns:a16="http://schemas.microsoft.com/office/drawing/2014/main" id="{3B0171A3-2D1D-15A0-A793-09400DC0C07F}"/>
              </a:ext>
            </a:extLst>
          </p:cNvPr>
          <p:cNvSpPr txBox="1"/>
          <p:nvPr/>
        </p:nvSpPr>
        <p:spPr>
          <a:xfrm>
            <a:off x="5508346" y="1772107"/>
            <a:ext cx="451714" cy="514807"/>
          </a:xfrm>
          <a:prstGeom prst="rect">
            <a:avLst/>
          </a:prstGeom>
          <a:noFill/>
          <a:ln/>
        </p:spPr>
        <p:txBody>
          <a:bodyPr wrap="none" lIns="0" tIns="0" rIns="0" bIns="0" rtlCol="0" anchor="ctr"/>
          <a:lstStyle/>
          <a:p>
            <a:pPr marL="0" indent="0" algn="l">
              <a:buNone/>
            </a:pPr>
            <a:r>
              <a:rPr lang="en-US" sz="2700" b="1">
                <a:solidFill>
                  <a:srgbClr val="F3F4F6"/>
                </a:solidFill>
                <a:latin typeface="Oswald" pitchFamily="34" charset="0"/>
                <a:ea typeface="Oswald" pitchFamily="34" charset="-122"/>
                <a:cs typeface="Oswald" pitchFamily="34" charset="-120"/>
              </a:rPr>
              <a:t>01</a:t>
            </a:r>
            <a:endParaRPr lang="en-US" sz="2700"/>
          </a:p>
        </p:txBody>
      </p:sp>
      <p:sp>
        <p:nvSpPr>
          <p:cNvPr id="20" name="Text 12">
            <a:extLst>
              <a:ext uri="{FF2B5EF4-FFF2-40B4-BE49-F238E27FC236}">
                <a16:creationId xmlns:a16="http://schemas.microsoft.com/office/drawing/2014/main" id="{3DC7178B-0677-F7E2-9E49-2B4844FE134F}"/>
              </a:ext>
            </a:extLst>
          </p:cNvPr>
          <p:cNvSpPr txBox="1"/>
          <p:nvPr/>
        </p:nvSpPr>
        <p:spPr>
          <a:xfrm>
            <a:off x="685800" y="2391156"/>
            <a:ext cx="5067605" cy="277063"/>
          </a:xfrm>
          <a:prstGeom prst="rect">
            <a:avLst/>
          </a:prstGeom>
          <a:noFill/>
          <a:ln/>
        </p:spPr>
        <p:txBody>
          <a:bodyPr wrap="none" lIns="0" tIns="0" rIns="0" bIns="0" rtlCol="0" anchor="ctr"/>
          <a:lstStyle/>
          <a:p>
            <a:pPr marL="0" indent="0" algn="l">
              <a:buNone/>
            </a:pPr>
            <a:r>
              <a:rPr lang="en-US" sz="1800" b="1">
                <a:solidFill>
                  <a:srgbClr val="1F2937"/>
                </a:solidFill>
                <a:latin typeface="Oswald" pitchFamily="34" charset="0"/>
                <a:ea typeface="Oswald" pitchFamily="34" charset="-122"/>
                <a:cs typeface="Oswald" pitchFamily="34" charset="-120"/>
              </a:rPr>
              <a:t>[Solution 1 Title]</a:t>
            </a:r>
            <a:endParaRPr lang="en-US" sz="1800"/>
          </a:p>
        </p:txBody>
      </p:sp>
      <p:sp>
        <p:nvSpPr>
          <p:cNvPr id="21" name="Text 13">
            <a:extLst>
              <a:ext uri="{FF2B5EF4-FFF2-40B4-BE49-F238E27FC236}">
                <a16:creationId xmlns:a16="http://schemas.microsoft.com/office/drawing/2014/main" id="{EEA57806-EC40-49D0-D6C2-2D98B4DFBEDC}"/>
              </a:ext>
            </a:extLst>
          </p:cNvPr>
          <p:cNvSpPr txBox="1"/>
          <p:nvPr/>
        </p:nvSpPr>
        <p:spPr>
          <a:xfrm>
            <a:off x="685800" y="2779776"/>
            <a:ext cx="5067605" cy="609905"/>
          </a:xfrm>
          <a:prstGeom prst="rect">
            <a:avLst/>
          </a:prstGeom>
          <a:noFill/>
          <a:ln/>
        </p:spPr>
        <p:txBody>
          <a:bodyPr wrap="square" lIns="0" tIns="0" rIns="0" bIns="0" rtlCol="0" anchor="ctr"/>
          <a:lstStyle/>
          <a:p>
            <a:pPr marL="0" indent="0" algn="l">
              <a:buNone/>
            </a:pPr>
            <a:r>
              <a:rPr lang="en-US" sz="1100" dirty="0">
                <a:solidFill>
                  <a:srgbClr val="4B5563"/>
                </a:solidFill>
                <a:latin typeface="Raleway" pitchFamily="34" charset="0"/>
                <a:ea typeface="Raleway" pitchFamily="34" charset="-122"/>
                <a:cs typeface="Raleway" pitchFamily="34" charset="-120"/>
              </a:rPr>
              <a:t>e.g. Dedicated CA Talent Pipeline — Pre-mapped, warm bench of Chartered Accountants across PE, renewables, infra. Proactive sourcing from campus, Big 4, competitor pools — ready before demand hits.</a:t>
            </a:r>
            <a:endParaRPr lang="en-US" sz="1100" dirty="0"/>
          </a:p>
        </p:txBody>
      </p:sp>
      <p:sp>
        <p:nvSpPr>
          <p:cNvPr id="22" name="Shape 14">
            <a:extLst>
              <a:ext uri="{FF2B5EF4-FFF2-40B4-BE49-F238E27FC236}">
                <a16:creationId xmlns:a16="http://schemas.microsoft.com/office/drawing/2014/main" id="{2A23ACFE-017B-B89F-192A-C2CE4BE601FC}"/>
              </a:ext>
            </a:extLst>
          </p:cNvPr>
          <p:cNvSpPr/>
          <p:nvPr/>
        </p:nvSpPr>
        <p:spPr>
          <a:xfrm>
            <a:off x="685800" y="3387852"/>
            <a:ext cx="5067605" cy="437998"/>
          </a:xfrm>
          <a:prstGeom prst="roundRect">
            <a:avLst>
              <a:gd name="adj" fmla="val 17328"/>
            </a:avLst>
          </a:prstGeom>
          <a:solidFill>
            <a:srgbClr val="F9FAFB"/>
          </a:solidFill>
          <a:ln/>
        </p:spPr>
        <p:txBody>
          <a:bodyPr/>
          <a:lstStyle/>
          <a:p>
            <a:endParaRPr lang="en-US"/>
          </a:p>
        </p:txBody>
      </p:sp>
      <p:sp>
        <p:nvSpPr>
          <p:cNvPr id="23" name="Shape 15">
            <a:extLst>
              <a:ext uri="{FF2B5EF4-FFF2-40B4-BE49-F238E27FC236}">
                <a16:creationId xmlns:a16="http://schemas.microsoft.com/office/drawing/2014/main" id="{E5DAC0CC-8B22-00B0-D00C-BD9FC8CEF060}"/>
              </a:ext>
            </a:extLst>
          </p:cNvPr>
          <p:cNvSpPr/>
          <p:nvPr/>
        </p:nvSpPr>
        <p:spPr>
          <a:xfrm>
            <a:off x="685800" y="3387852"/>
            <a:ext cx="38405" cy="437998"/>
          </a:xfrm>
          <a:prstGeom prst="roundRect">
            <a:avLst>
              <a:gd name="adj" fmla="val 197618"/>
            </a:avLst>
          </a:prstGeom>
          <a:solidFill>
            <a:srgbClr val="000000"/>
          </a:solidFill>
          <a:ln w="12700">
            <a:solidFill>
              <a:srgbClr val="000000">
                <a:alpha val="0"/>
              </a:srgbClr>
            </a:solidFill>
            <a:prstDash val="solid"/>
          </a:ln>
        </p:spPr>
        <p:txBody>
          <a:bodyPr/>
          <a:lstStyle/>
          <a:p>
            <a:endParaRPr lang="en-US"/>
          </a:p>
        </p:txBody>
      </p:sp>
      <p:sp>
        <p:nvSpPr>
          <p:cNvPr id="24" name="Text 16">
            <a:extLst>
              <a:ext uri="{FF2B5EF4-FFF2-40B4-BE49-F238E27FC236}">
                <a16:creationId xmlns:a16="http://schemas.microsoft.com/office/drawing/2014/main" id="{CBFA6F2A-4AA8-1C83-3E75-78E595CCE462}"/>
              </a:ext>
            </a:extLst>
          </p:cNvPr>
          <p:cNvSpPr txBox="1"/>
          <p:nvPr/>
        </p:nvSpPr>
        <p:spPr>
          <a:xfrm>
            <a:off x="1057046" y="3502152"/>
            <a:ext cx="4543654" cy="210312"/>
          </a:xfrm>
          <a:prstGeom prst="rect">
            <a:avLst/>
          </a:prstGeom>
          <a:noFill/>
          <a:ln/>
        </p:spPr>
        <p:txBody>
          <a:bodyPr wrap="none" lIns="0" tIns="0" rIns="0" bIns="0" rtlCol="0" anchor="ctr"/>
          <a:lstStyle/>
          <a:p>
            <a:pPr marL="0" indent="0" algn="l">
              <a:buNone/>
            </a:pPr>
            <a:r>
              <a:rPr lang="en-US" sz="1000" b="1">
                <a:solidFill>
                  <a:srgbClr val="374151"/>
                </a:solidFill>
                <a:latin typeface="Raleway" pitchFamily="34" charset="0"/>
                <a:ea typeface="Raleway" pitchFamily="34" charset="-122"/>
                <a:cs typeface="Raleway" pitchFamily="34" charset="-120"/>
              </a:rPr>
              <a:t>Solves: Niche Talent + Sporadic Demand</a:t>
            </a:r>
            <a:endParaRPr lang="en-US" sz="1000"/>
          </a:p>
        </p:txBody>
      </p:sp>
      <p:pic>
        <p:nvPicPr>
          <p:cNvPr id="25" name="Image 6" descr="gen-dedup-b5a86b1bccfd13e1ee7bd0a5c9907751.png">
            <a:extLst>
              <a:ext uri="{FF2B5EF4-FFF2-40B4-BE49-F238E27FC236}">
                <a16:creationId xmlns:a16="http://schemas.microsoft.com/office/drawing/2014/main" id="{9D83D374-D078-A731-7447-EAC7EC744FEE}"/>
              </a:ext>
            </a:extLst>
          </p:cNvPr>
          <p:cNvPicPr>
            <a:picLocks noChangeAspect="1"/>
          </p:cNvPicPr>
          <p:nvPr/>
        </p:nvPicPr>
        <p:blipFill>
          <a:blip r:embed="rId8"/>
          <a:srcRect t="-13478" b="-13478"/>
          <a:stretch/>
        </p:blipFill>
        <p:spPr>
          <a:xfrm>
            <a:off x="875995" y="3537814"/>
            <a:ext cx="105156" cy="133502"/>
          </a:xfrm>
          <a:prstGeom prst="rect">
            <a:avLst/>
          </a:prstGeom>
        </p:spPr>
      </p:pic>
      <p:pic>
        <p:nvPicPr>
          <p:cNvPr id="26" name="Image 7" descr="gen-dedup-95d112f40cf296f81bdd24a7d4987a4a.png">
            <a:extLst>
              <a:ext uri="{FF2B5EF4-FFF2-40B4-BE49-F238E27FC236}">
                <a16:creationId xmlns:a16="http://schemas.microsoft.com/office/drawing/2014/main" id="{98F42680-DF22-8FF5-A7B8-81C23A5BF5F6}"/>
              </a:ext>
            </a:extLst>
          </p:cNvPr>
          <p:cNvPicPr>
            <a:picLocks noChangeAspect="1"/>
          </p:cNvPicPr>
          <p:nvPr/>
        </p:nvPicPr>
        <p:blipFill>
          <a:blip r:embed="rId6"/>
          <a:srcRect l="-7" r="-7"/>
          <a:stretch/>
        </p:blipFill>
        <p:spPr>
          <a:xfrm>
            <a:off x="6210605" y="1571854"/>
            <a:ext cx="5524805" cy="2428646"/>
          </a:xfrm>
          <a:prstGeom prst="rect">
            <a:avLst/>
          </a:prstGeom>
        </p:spPr>
      </p:pic>
      <p:sp>
        <p:nvSpPr>
          <p:cNvPr id="27" name="Shape 17">
            <a:extLst>
              <a:ext uri="{FF2B5EF4-FFF2-40B4-BE49-F238E27FC236}">
                <a16:creationId xmlns:a16="http://schemas.microsoft.com/office/drawing/2014/main" id="{59CDE63D-E081-7A87-608B-EE7D13539150}"/>
              </a:ext>
            </a:extLst>
          </p:cNvPr>
          <p:cNvSpPr/>
          <p:nvPr/>
        </p:nvSpPr>
        <p:spPr>
          <a:xfrm>
            <a:off x="10972800" y="1571854"/>
            <a:ext cx="761695" cy="761695"/>
          </a:xfrm>
          <a:prstGeom prst="rect">
            <a:avLst/>
          </a:prstGeom>
          <a:solidFill>
            <a:srgbClr val="000000">
              <a:alpha val="2000"/>
            </a:srgbClr>
          </a:solidFill>
          <a:ln w="12700">
            <a:solidFill>
              <a:srgbClr val="FFFFFF">
                <a:alpha val="0"/>
              </a:srgbClr>
            </a:solidFill>
            <a:prstDash val="solid"/>
          </a:ln>
        </p:spPr>
        <p:txBody>
          <a:bodyPr/>
          <a:lstStyle/>
          <a:p>
            <a:endParaRPr lang="en-US"/>
          </a:p>
        </p:txBody>
      </p:sp>
      <p:sp>
        <p:nvSpPr>
          <p:cNvPr id="28" name="Shape 18">
            <a:extLst>
              <a:ext uri="{FF2B5EF4-FFF2-40B4-BE49-F238E27FC236}">
                <a16:creationId xmlns:a16="http://schemas.microsoft.com/office/drawing/2014/main" id="{1D219710-C70F-7BF9-DC5C-EC4178B5A333}"/>
              </a:ext>
            </a:extLst>
          </p:cNvPr>
          <p:cNvSpPr/>
          <p:nvPr/>
        </p:nvSpPr>
        <p:spPr>
          <a:xfrm>
            <a:off x="6439205" y="1848002"/>
            <a:ext cx="428854" cy="428854"/>
          </a:xfrm>
          <a:prstGeom prst="roundRect">
            <a:avLst>
              <a:gd name="adj" fmla="val 22175"/>
            </a:avLst>
          </a:prstGeom>
          <a:solidFill>
            <a:srgbClr val="D62839">
              <a:alpha val="5000"/>
            </a:srgbClr>
          </a:solidFill>
          <a:ln w="12700">
            <a:solidFill>
              <a:srgbClr val="FFFFFF">
                <a:alpha val="0"/>
              </a:srgbClr>
            </a:solidFill>
            <a:prstDash val="solid"/>
          </a:ln>
        </p:spPr>
        <p:txBody>
          <a:bodyPr/>
          <a:lstStyle/>
          <a:p>
            <a:endParaRPr lang="en-US"/>
          </a:p>
        </p:txBody>
      </p:sp>
      <p:pic>
        <p:nvPicPr>
          <p:cNvPr id="29" name="Image 8" descr="gen-dedup-bcfe80973f057fc6d9d91d2ed63b3815.png">
            <a:extLst>
              <a:ext uri="{FF2B5EF4-FFF2-40B4-BE49-F238E27FC236}">
                <a16:creationId xmlns:a16="http://schemas.microsoft.com/office/drawing/2014/main" id="{CB0C3DF3-A0E0-B95D-E139-66C6063BB6FE}"/>
              </a:ext>
            </a:extLst>
          </p:cNvPr>
          <p:cNvPicPr>
            <a:picLocks noChangeAspect="1"/>
          </p:cNvPicPr>
          <p:nvPr/>
        </p:nvPicPr>
        <p:blipFill>
          <a:blip r:embed="rId9"/>
          <a:srcRect t="-28914" b="-28914"/>
          <a:stretch/>
        </p:blipFill>
        <p:spPr>
          <a:xfrm>
            <a:off x="6562649" y="1947672"/>
            <a:ext cx="181051" cy="228600"/>
          </a:xfrm>
          <a:prstGeom prst="rect">
            <a:avLst/>
          </a:prstGeom>
        </p:spPr>
      </p:pic>
      <p:sp>
        <p:nvSpPr>
          <p:cNvPr id="30" name="Text 19">
            <a:extLst>
              <a:ext uri="{FF2B5EF4-FFF2-40B4-BE49-F238E27FC236}">
                <a16:creationId xmlns:a16="http://schemas.microsoft.com/office/drawing/2014/main" id="{50F73662-D535-3E4F-31AE-AED70562AA01}"/>
              </a:ext>
            </a:extLst>
          </p:cNvPr>
          <p:cNvSpPr txBox="1"/>
          <p:nvPr/>
        </p:nvSpPr>
        <p:spPr>
          <a:xfrm>
            <a:off x="11217859" y="1772107"/>
            <a:ext cx="455371" cy="514807"/>
          </a:xfrm>
          <a:prstGeom prst="rect">
            <a:avLst/>
          </a:prstGeom>
          <a:noFill/>
          <a:ln/>
        </p:spPr>
        <p:txBody>
          <a:bodyPr wrap="none" lIns="0" tIns="0" rIns="0" bIns="0" rtlCol="0" anchor="ctr"/>
          <a:lstStyle/>
          <a:p>
            <a:pPr marL="0" indent="0" algn="l">
              <a:buNone/>
            </a:pPr>
            <a:r>
              <a:rPr lang="en-US" sz="2700" b="1">
                <a:solidFill>
                  <a:srgbClr val="F3F4F6"/>
                </a:solidFill>
                <a:latin typeface="Oswald" pitchFamily="34" charset="0"/>
                <a:ea typeface="Oswald" pitchFamily="34" charset="-122"/>
                <a:cs typeface="Oswald" pitchFamily="34" charset="-120"/>
              </a:rPr>
              <a:t>02</a:t>
            </a:r>
            <a:endParaRPr lang="en-US" sz="2700"/>
          </a:p>
        </p:txBody>
      </p:sp>
      <p:sp>
        <p:nvSpPr>
          <p:cNvPr id="31" name="Text 20">
            <a:extLst>
              <a:ext uri="{FF2B5EF4-FFF2-40B4-BE49-F238E27FC236}">
                <a16:creationId xmlns:a16="http://schemas.microsoft.com/office/drawing/2014/main" id="{292A9FFF-87CF-1B1D-FC17-31866FCBA553}"/>
              </a:ext>
            </a:extLst>
          </p:cNvPr>
          <p:cNvSpPr txBox="1"/>
          <p:nvPr/>
        </p:nvSpPr>
        <p:spPr>
          <a:xfrm>
            <a:off x="6439205" y="2391156"/>
            <a:ext cx="5067605" cy="277063"/>
          </a:xfrm>
          <a:prstGeom prst="rect">
            <a:avLst/>
          </a:prstGeom>
          <a:noFill/>
          <a:ln/>
        </p:spPr>
        <p:txBody>
          <a:bodyPr wrap="none" lIns="0" tIns="0" rIns="0" bIns="0" rtlCol="0" anchor="ctr"/>
          <a:lstStyle/>
          <a:p>
            <a:pPr marL="0" indent="0" algn="l">
              <a:buNone/>
            </a:pPr>
            <a:r>
              <a:rPr lang="en-US" sz="1800" b="1">
                <a:solidFill>
                  <a:srgbClr val="1F2937"/>
                </a:solidFill>
                <a:latin typeface="Oswald" pitchFamily="34" charset="0"/>
                <a:ea typeface="Oswald" pitchFamily="34" charset="-122"/>
                <a:cs typeface="Oswald" pitchFamily="34" charset="-120"/>
              </a:rPr>
              <a:t>[Solution 2 Title]</a:t>
            </a:r>
            <a:endParaRPr lang="en-US" sz="1800"/>
          </a:p>
        </p:txBody>
      </p:sp>
      <p:sp>
        <p:nvSpPr>
          <p:cNvPr id="32" name="Text 21">
            <a:extLst>
              <a:ext uri="{FF2B5EF4-FFF2-40B4-BE49-F238E27FC236}">
                <a16:creationId xmlns:a16="http://schemas.microsoft.com/office/drawing/2014/main" id="{0BAC202A-C17A-A1FE-2AC8-3C6C6DA3D4A4}"/>
              </a:ext>
            </a:extLst>
          </p:cNvPr>
          <p:cNvSpPr txBox="1"/>
          <p:nvPr/>
        </p:nvSpPr>
        <p:spPr>
          <a:xfrm>
            <a:off x="6439205" y="2779776"/>
            <a:ext cx="5067605" cy="609905"/>
          </a:xfrm>
          <a:prstGeom prst="rect">
            <a:avLst/>
          </a:prstGeom>
          <a:noFill/>
          <a:ln/>
        </p:spPr>
        <p:txBody>
          <a:bodyPr wrap="square" lIns="0" tIns="0" rIns="0" bIns="0" rtlCol="0" anchor="ctr"/>
          <a:lstStyle/>
          <a:p>
            <a:pPr marL="0" indent="0" algn="l">
              <a:buNone/>
            </a:pPr>
            <a:r>
              <a:rPr lang="en-US" sz="1100">
                <a:solidFill>
                  <a:srgbClr val="4B5563"/>
                </a:solidFill>
                <a:latin typeface="Raleway" pitchFamily="34" charset="0"/>
                <a:ea typeface="Raleway" pitchFamily="34" charset="-122"/>
                <a:cs typeface="Raleway" pitchFamily="34" charset="-120"/>
              </a:rPr>
              <a:t>e.g. Candidate Commitment Engine — Structured 90-day POFU: milestone touchpoints, early virtual onboarding, manager connects, counter-offer inoculation. Reduces offer drop from [X]% to single digits.</a:t>
            </a:r>
            <a:endParaRPr lang="en-US" sz="1100"/>
          </a:p>
        </p:txBody>
      </p:sp>
      <p:sp>
        <p:nvSpPr>
          <p:cNvPr id="33" name="Shape 22">
            <a:extLst>
              <a:ext uri="{FF2B5EF4-FFF2-40B4-BE49-F238E27FC236}">
                <a16:creationId xmlns:a16="http://schemas.microsoft.com/office/drawing/2014/main" id="{5459C077-7B78-8C9B-7A44-1674B605D3A6}"/>
              </a:ext>
            </a:extLst>
          </p:cNvPr>
          <p:cNvSpPr/>
          <p:nvPr/>
        </p:nvSpPr>
        <p:spPr>
          <a:xfrm>
            <a:off x="6439205" y="3387852"/>
            <a:ext cx="5067605" cy="437998"/>
          </a:xfrm>
          <a:prstGeom prst="roundRect">
            <a:avLst>
              <a:gd name="adj" fmla="val 17328"/>
            </a:avLst>
          </a:prstGeom>
          <a:solidFill>
            <a:srgbClr val="F9FAFB"/>
          </a:solidFill>
          <a:ln/>
        </p:spPr>
        <p:txBody>
          <a:bodyPr/>
          <a:lstStyle/>
          <a:p>
            <a:endParaRPr lang="en-US"/>
          </a:p>
        </p:txBody>
      </p:sp>
      <p:sp>
        <p:nvSpPr>
          <p:cNvPr id="34" name="Shape 23">
            <a:extLst>
              <a:ext uri="{FF2B5EF4-FFF2-40B4-BE49-F238E27FC236}">
                <a16:creationId xmlns:a16="http://schemas.microsoft.com/office/drawing/2014/main" id="{CB5721C4-BD6C-56E8-C256-8CCAB4DDA64F}"/>
              </a:ext>
            </a:extLst>
          </p:cNvPr>
          <p:cNvSpPr/>
          <p:nvPr/>
        </p:nvSpPr>
        <p:spPr>
          <a:xfrm>
            <a:off x="6439205" y="3387852"/>
            <a:ext cx="38405" cy="437998"/>
          </a:xfrm>
          <a:prstGeom prst="roundRect">
            <a:avLst>
              <a:gd name="adj" fmla="val 197618"/>
            </a:avLst>
          </a:prstGeom>
          <a:solidFill>
            <a:srgbClr val="000000"/>
          </a:solidFill>
          <a:ln w="12700">
            <a:solidFill>
              <a:srgbClr val="000000">
                <a:alpha val="0"/>
              </a:srgbClr>
            </a:solidFill>
            <a:prstDash val="solid"/>
          </a:ln>
        </p:spPr>
        <p:txBody>
          <a:bodyPr/>
          <a:lstStyle/>
          <a:p>
            <a:endParaRPr lang="en-US"/>
          </a:p>
        </p:txBody>
      </p:sp>
      <p:sp>
        <p:nvSpPr>
          <p:cNvPr id="35" name="Text 24">
            <a:extLst>
              <a:ext uri="{FF2B5EF4-FFF2-40B4-BE49-F238E27FC236}">
                <a16:creationId xmlns:a16="http://schemas.microsoft.com/office/drawing/2014/main" id="{5FA5C261-AD36-C711-6311-0EC1AB750CB0}"/>
              </a:ext>
            </a:extLst>
          </p:cNvPr>
          <p:cNvSpPr txBox="1"/>
          <p:nvPr/>
        </p:nvSpPr>
        <p:spPr>
          <a:xfrm>
            <a:off x="6810451" y="3502152"/>
            <a:ext cx="4543654" cy="210312"/>
          </a:xfrm>
          <a:prstGeom prst="rect">
            <a:avLst/>
          </a:prstGeom>
          <a:noFill/>
          <a:ln/>
        </p:spPr>
        <p:txBody>
          <a:bodyPr wrap="none" lIns="0" tIns="0" rIns="0" bIns="0" rtlCol="0" anchor="ctr"/>
          <a:lstStyle/>
          <a:p>
            <a:pPr marL="0" indent="0" algn="l">
              <a:buNone/>
            </a:pPr>
            <a:r>
              <a:rPr lang="en-US" sz="1000" b="1">
                <a:solidFill>
                  <a:srgbClr val="374151"/>
                </a:solidFill>
                <a:latin typeface="Raleway" pitchFamily="34" charset="0"/>
                <a:ea typeface="Raleway" pitchFamily="34" charset="-122"/>
                <a:cs typeface="Raleway" pitchFamily="34" charset="-120"/>
              </a:rPr>
              <a:t>Solves: Offer Dropouts + Notice Period</a:t>
            </a:r>
            <a:endParaRPr lang="en-US" sz="1000"/>
          </a:p>
        </p:txBody>
      </p:sp>
      <p:pic>
        <p:nvPicPr>
          <p:cNvPr id="36" name="Image 9" descr="gen-dedup-812f619697984955bda52af315dc5a08.png">
            <a:extLst>
              <a:ext uri="{FF2B5EF4-FFF2-40B4-BE49-F238E27FC236}">
                <a16:creationId xmlns:a16="http://schemas.microsoft.com/office/drawing/2014/main" id="{D7BD82F6-F3AF-8D2E-0017-6772B8E7489B}"/>
              </a:ext>
            </a:extLst>
          </p:cNvPr>
          <p:cNvPicPr>
            <a:picLocks noChangeAspect="1"/>
          </p:cNvPicPr>
          <p:nvPr/>
        </p:nvPicPr>
        <p:blipFill>
          <a:blip r:embed="rId10"/>
          <a:srcRect t="-13478" b="-13478"/>
          <a:stretch/>
        </p:blipFill>
        <p:spPr>
          <a:xfrm>
            <a:off x="6629400" y="3537814"/>
            <a:ext cx="105156" cy="133502"/>
          </a:xfrm>
          <a:prstGeom prst="rect">
            <a:avLst/>
          </a:prstGeom>
        </p:spPr>
      </p:pic>
      <p:pic>
        <p:nvPicPr>
          <p:cNvPr id="37" name="Image 10" descr="gen-dedup-95d112f40cf296f81bdd24a7d4987a4a.png">
            <a:extLst>
              <a:ext uri="{FF2B5EF4-FFF2-40B4-BE49-F238E27FC236}">
                <a16:creationId xmlns:a16="http://schemas.microsoft.com/office/drawing/2014/main" id="{ED999605-4D8E-47E0-5669-A0F7FB4A65BB}"/>
              </a:ext>
            </a:extLst>
          </p:cNvPr>
          <p:cNvPicPr>
            <a:picLocks noChangeAspect="1"/>
          </p:cNvPicPr>
          <p:nvPr/>
        </p:nvPicPr>
        <p:blipFill>
          <a:blip r:embed="rId6"/>
          <a:srcRect l="-7" r="-7"/>
          <a:stretch/>
        </p:blipFill>
        <p:spPr>
          <a:xfrm>
            <a:off x="457200" y="4143146"/>
            <a:ext cx="5524805" cy="2428646"/>
          </a:xfrm>
          <a:prstGeom prst="rect">
            <a:avLst/>
          </a:prstGeom>
        </p:spPr>
      </p:pic>
      <p:sp>
        <p:nvSpPr>
          <p:cNvPr id="38" name="Shape 25">
            <a:extLst>
              <a:ext uri="{FF2B5EF4-FFF2-40B4-BE49-F238E27FC236}">
                <a16:creationId xmlns:a16="http://schemas.microsoft.com/office/drawing/2014/main" id="{04E5F171-17C4-C41D-C603-F306BD353213}"/>
              </a:ext>
            </a:extLst>
          </p:cNvPr>
          <p:cNvSpPr/>
          <p:nvPr/>
        </p:nvSpPr>
        <p:spPr>
          <a:xfrm>
            <a:off x="5219395" y="4143146"/>
            <a:ext cx="761695" cy="761695"/>
          </a:xfrm>
          <a:prstGeom prst="rect">
            <a:avLst/>
          </a:prstGeom>
          <a:solidFill>
            <a:srgbClr val="000000">
              <a:alpha val="2000"/>
            </a:srgbClr>
          </a:solidFill>
          <a:ln w="12700">
            <a:solidFill>
              <a:srgbClr val="FFFFFF">
                <a:alpha val="0"/>
              </a:srgbClr>
            </a:solidFill>
            <a:prstDash val="solid"/>
          </a:ln>
        </p:spPr>
        <p:txBody>
          <a:bodyPr/>
          <a:lstStyle/>
          <a:p>
            <a:endParaRPr lang="en-US"/>
          </a:p>
        </p:txBody>
      </p:sp>
      <p:sp>
        <p:nvSpPr>
          <p:cNvPr id="39" name="Shape 26">
            <a:extLst>
              <a:ext uri="{FF2B5EF4-FFF2-40B4-BE49-F238E27FC236}">
                <a16:creationId xmlns:a16="http://schemas.microsoft.com/office/drawing/2014/main" id="{3236BBC6-8CCE-3A62-7D50-01D8D8825E6A}"/>
              </a:ext>
            </a:extLst>
          </p:cNvPr>
          <p:cNvSpPr/>
          <p:nvPr/>
        </p:nvSpPr>
        <p:spPr>
          <a:xfrm>
            <a:off x="685800" y="4419295"/>
            <a:ext cx="428854" cy="428854"/>
          </a:xfrm>
          <a:prstGeom prst="roundRect">
            <a:avLst>
              <a:gd name="adj" fmla="val 22175"/>
            </a:avLst>
          </a:prstGeom>
          <a:solidFill>
            <a:srgbClr val="2A9D8F">
              <a:alpha val="8000"/>
            </a:srgbClr>
          </a:solidFill>
          <a:ln w="12700">
            <a:solidFill>
              <a:srgbClr val="FFFFFF">
                <a:alpha val="0"/>
              </a:srgbClr>
            </a:solidFill>
            <a:prstDash val="solid"/>
          </a:ln>
        </p:spPr>
        <p:txBody>
          <a:bodyPr/>
          <a:lstStyle/>
          <a:p>
            <a:endParaRPr lang="en-US"/>
          </a:p>
        </p:txBody>
      </p:sp>
      <p:pic>
        <p:nvPicPr>
          <p:cNvPr id="40" name="Image 11" descr="gen-dedup-6476ff3035aeb0817ff39e799f5ab604.png">
            <a:extLst>
              <a:ext uri="{FF2B5EF4-FFF2-40B4-BE49-F238E27FC236}">
                <a16:creationId xmlns:a16="http://schemas.microsoft.com/office/drawing/2014/main" id="{E8542DFA-293A-43A8-033E-527EAFB96873}"/>
              </a:ext>
            </a:extLst>
          </p:cNvPr>
          <p:cNvPicPr>
            <a:picLocks noChangeAspect="1"/>
          </p:cNvPicPr>
          <p:nvPr/>
        </p:nvPicPr>
        <p:blipFill>
          <a:blip r:embed="rId11"/>
          <a:srcRect l="-2800" r="-2800"/>
          <a:stretch/>
        </p:blipFill>
        <p:spPr>
          <a:xfrm>
            <a:off x="809244" y="4519879"/>
            <a:ext cx="181051" cy="228600"/>
          </a:xfrm>
          <a:prstGeom prst="rect">
            <a:avLst/>
          </a:prstGeom>
        </p:spPr>
      </p:pic>
      <p:sp>
        <p:nvSpPr>
          <p:cNvPr id="41" name="Text 27">
            <a:extLst>
              <a:ext uri="{FF2B5EF4-FFF2-40B4-BE49-F238E27FC236}">
                <a16:creationId xmlns:a16="http://schemas.microsoft.com/office/drawing/2014/main" id="{DCDD8D0E-1DCB-CFBB-394F-9D749F1C9303}"/>
              </a:ext>
            </a:extLst>
          </p:cNvPr>
          <p:cNvSpPr txBox="1"/>
          <p:nvPr/>
        </p:nvSpPr>
        <p:spPr>
          <a:xfrm>
            <a:off x="5464454" y="4343400"/>
            <a:ext cx="455371" cy="514807"/>
          </a:xfrm>
          <a:prstGeom prst="rect">
            <a:avLst/>
          </a:prstGeom>
          <a:noFill/>
          <a:ln/>
        </p:spPr>
        <p:txBody>
          <a:bodyPr wrap="none" lIns="0" tIns="0" rIns="0" bIns="0" rtlCol="0" anchor="ctr"/>
          <a:lstStyle/>
          <a:p>
            <a:pPr marL="0" indent="0" algn="l">
              <a:buNone/>
            </a:pPr>
            <a:r>
              <a:rPr lang="en-US" sz="2700" b="1">
                <a:solidFill>
                  <a:srgbClr val="F3F4F6"/>
                </a:solidFill>
                <a:latin typeface="Oswald" pitchFamily="34" charset="0"/>
                <a:ea typeface="Oswald" pitchFamily="34" charset="-122"/>
                <a:cs typeface="Oswald" pitchFamily="34" charset="-120"/>
              </a:rPr>
              <a:t>03</a:t>
            </a:r>
            <a:endParaRPr lang="en-US" sz="2700"/>
          </a:p>
        </p:txBody>
      </p:sp>
      <p:sp>
        <p:nvSpPr>
          <p:cNvPr id="42" name="Text 28">
            <a:extLst>
              <a:ext uri="{FF2B5EF4-FFF2-40B4-BE49-F238E27FC236}">
                <a16:creationId xmlns:a16="http://schemas.microsoft.com/office/drawing/2014/main" id="{772B34FD-8E6A-DE99-F5BF-DB1A68F0D2BD}"/>
              </a:ext>
            </a:extLst>
          </p:cNvPr>
          <p:cNvSpPr txBox="1"/>
          <p:nvPr/>
        </p:nvSpPr>
        <p:spPr>
          <a:xfrm>
            <a:off x="685800" y="4962449"/>
            <a:ext cx="5067605" cy="277063"/>
          </a:xfrm>
          <a:prstGeom prst="rect">
            <a:avLst/>
          </a:prstGeom>
          <a:noFill/>
          <a:ln/>
        </p:spPr>
        <p:txBody>
          <a:bodyPr wrap="none" lIns="0" tIns="0" rIns="0" bIns="0" rtlCol="0" anchor="ctr"/>
          <a:lstStyle/>
          <a:p>
            <a:pPr marL="0" indent="0" algn="l">
              <a:buNone/>
            </a:pPr>
            <a:r>
              <a:rPr lang="en-US" sz="1800" b="1">
                <a:solidFill>
                  <a:srgbClr val="1F2937"/>
                </a:solidFill>
                <a:latin typeface="Oswald" pitchFamily="34" charset="0"/>
                <a:ea typeface="Oswald" pitchFamily="34" charset="-122"/>
                <a:cs typeface="Oswald" pitchFamily="34" charset="-120"/>
              </a:rPr>
              <a:t>[Solution 3 Title]</a:t>
            </a:r>
            <a:endParaRPr lang="en-US" sz="1800"/>
          </a:p>
        </p:txBody>
      </p:sp>
      <p:sp>
        <p:nvSpPr>
          <p:cNvPr id="43" name="Text 29">
            <a:extLst>
              <a:ext uri="{FF2B5EF4-FFF2-40B4-BE49-F238E27FC236}">
                <a16:creationId xmlns:a16="http://schemas.microsoft.com/office/drawing/2014/main" id="{3C115CE9-6CE6-0BC8-CD3C-556ABEB1ADB4}"/>
              </a:ext>
            </a:extLst>
          </p:cNvPr>
          <p:cNvSpPr txBox="1"/>
          <p:nvPr/>
        </p:nvSpPr>
        <p:spPr>
          <a:xfrm>
            <a:off x="685800" y="5351069"/>
            <a:ext cx="5067605" cy="609905"/>
          </a:xfrm>
          <a:prstGeom prst="rect">
            <a:avLst/>
          </a:prstGeom>
          <a:noFill/>
          <a:ln/>
        </p:spPr>
        <p:txBody>
          <a:bodyPr wrap="square" lIns="0" tIns="0" rIns="0" bIns="0" rtlCol="0" anchor="ctr"/>
          <a:lstStyle/>
          <a:p>
            <a:pPr marL="0" indent="0" algn="l">
              <a:buNone/>
            </a:pPr>
            <a:r>
              <a:rPr lang="en-US" sz="1100">
                <a:solidFill>
                  <a:srgbClr val="4B5563"/>
                </a:solidFill>
                <a:latin typeface="Raleway" pitchFamily="34" charset="0"/>
                <a:ea typeface="Raleway" pitchFamily="34" charset="-122"/>
                <a:cs typeface="Raleway" pitchFamily="34" charset="-120"/>
              </a:rPr>
              <a:t>e.g. WFO Employer Brand Strategy — Position 5-day WFO as a career accelerator: same role as HQ, in-person mentorship, global parity. Target candidates already in-office or returning.</a:t>
            </a:r>
            <a:endParaRPr lang="en-US" sz="1100"/>
          </a:p>
        </p:txBody>
      </p:sp>
      <p:sp>
        <p:nvSpPr>
          <p:cNvPr id="44" name="Shape 30">
            <a:extLst>
              <a:ext uri="{FF2B5EF4-FFF2-40B4-BE49-F238E27FC236}">
                <a16:creationId xmlns:a16="http://schemas.microsoft.com/office/drawing/2014/main" id="{9524A817-F417-8272-6809-00D1F5C25D02}"/>
              </a:ext>
            </a:extLst>
          </p:cNvPr>
          <p:cNvSpPr/>
          <p:nvPr/>
        </p:nvSpPr>
        <p:spPr>
          <a:xfrm>
            <a:off x="685800" y="5959145"/>
            <a:ext cx="5067605" cy="437998"/>
          </a:xfrm>
          <a:prstGeom prst="roundRect">
            <a:avLst>
              <a:gd name="adj" fmla="val 17328"/>
            </a:avLst>
          </a:prstGeom>
          <a:solidFill>
            <a:srgbClr val="F9FAFB"/>
          </a:solidFill>
          <a:ln/>
        </p:spPr>
        <p:txBody>
          <a:bodyPr/>
          <a:lstStyle/>
          <a:p>
            <a:endParaRPr lang="en-US"/>
          </a:p>
        </p:txBody>
      </p:sp>
      <p:sp>
        <p:nvSpPr>
          <p:cNvPr id="45" name="Shape 31">
            <a:extLst>
              <a:ext uri="{FF2B5EF4-FFF2-40B4-BE49-F238E27FC236}">
                <a16:creationId xmlns:a16="http://schemas.microsoft.com/office/drawing/2014/main" id="{904F1079-FEBE-EF19-4690-40B4F5A173EF}"/>
              </a:ext>
            </a:extLst>
          </p:cNvPr>
          <p:cNvSpPr/>
          <p:nvPr/>
        </p:nvSpPr>
        <p:spPr>
          <a:xfrm>
            <a:off x="685800" y="5959145"/>
            <a:ext cx="38405" cy="437998"/>
          </a:xfrm>
          <a:prstGeom prst="roundRect">
            <a:avLst>
              <a:gd name="adj" fmla="val 197618"/>
            </a:avLst>
          </a:prstGeom>
          <a:solidFill>
            <a:srgbClr val="000000"/>
          </a:solidFill>
          <a:ln w="12700">
            <a:solidFill>
              <a:srgbClr val="000000">
                <a:alpha val="0"/>
              </a:srgbClr>
            </a:solidFill>
            <a:prstDash val="solid"/>
          </a:ln>
        </p:spPr>
        <p:txBody>
          <a:bodyPr/>
          <a:lstStyle/>
          <a:p>
            <a:endParaRPr lang="en-US"/>
          </a:p>
        </p:txBody>
      </p:sp>
      <p:sp>
        <p:nvSpPr>
          <p:cNvPr id="46" name="Text 32">
            <a:extLst>
              <a:ext uri="{FF2B5EF4-FFF2-40B4-BE49-F238E27FC236}">
                <a16:creationId xmlns:a16="http://schemas.microsoft.com/office/drawing/2014/main" id="{E2B87D99-E6F8-0914-F5C9-E8CC69EF06C5}"/>
              </a:ext>
            </a:extLst>
          </p:cNvPr>
          <p:cNvSpPr txBox="1"/>
          <p:nvPr/>
        </p:nvSpPr>
        <p:spPr>
          <a:xfrm>
            <a:off x="1057046" y="6073445"/>
            <a:ext cx="4543654" cy="210312"/>
          </a:xfrm>
          <a:prstGeom prst="rect">
            <a:avLst/>
          </a:prstGeom>
          <a:noFill/>
          <a:ln/>
        </p:spPr>
        <p:txBody>
          <a:bodyPr wrap="none" lIns="0" tIns="0" rIns="0" bIns="0" rtlCol="0" anchor="ctr"/>
          <a:lstStyle/>
          <a:p>
            <a:pPr marL="0" indent="0" algn="l">
              <a:buNone/>
            </a:pPr>
            <a:r>
              <a:rPr lang="en-US" sz="1000" b="1">
                <a:solidFill>
                  <a:srgbClr val="374151"/>
                </a:solidFill>
                <a:latin typeface="Raleway" pitchFamily="34" charset="0"/>
                <a:ea typeface="Raleway" pitchFamily="34" charset="-122"/>
                <a:cs typeface="Raleway" pitchFamily="34" charset="-120"/>
              </a:rPr>
              <a:t>Solves: WFO Resistance + Brand</a:t>
            </a:r>
            <a:endParaRPr lang="en-US" sz="1000"/>
          </a:p>
        </p:txBody>
      </p:sp>
      <p:pic>
        <p:nvPicPr>
          <p:cNvPr id="47" name="Image 12" descr="gen-dedup-b5a86b1bccfd13e1ee7bd0a5c9907751.png">
            <a:extLst>
              <a:ext uri="{FF2B5EF4-FFF2-40B4-BE49-F238E27FC236}">
                <a16:creationId xmlns:a16="http://schemas.microsoft.com/office/drawing/2014/main" id="{A0B42826-7149-A73B-9986-E5DE1C5E20E9}"/>
              </a:ext>
            </a:extLst>
          </p:cNvPr>
          <p:cNvPicPr>
            <a:picLocks noChangeAspect="1"/>
          </p:cNvPicPr>
          <p:nvPr/>
        </p:nvPicPr>
        <p:blipFill>
          <a:blip r:embed="rId8"/>
          <a:srcRect t="-13478" b="-13478"/>
          <a:stretch/>
        </p:blipFill>
        <p:spPr>
          <a:xfrm>
            <a:off x="875995" y="6110021"/>
            <a:ext cx="105156" cy="133502"/>
          </a:xfrm>
          <a:prstGeom prst="rect">
            <a:avLst/>
          </a:prstGeom>
        </p:spPr>
      </p:pic>
      <p:pic>
        <p:nvPicPr>
          <p:cNvPr id="48" name="Image 13" descr="gen-dedup-95d112f40cf296f81bdd24a7d4987a4a.png">
            <a:extLst>
              <a:ext uri="{FF2B5EF4-FFF2-40B4-BE49-F238E27FC236}">
                <a16:creationId xmlns:a16="http://schemas.microsoft.com/office/drawing/2014/main" id="{7A904E7A-9A23-65C5-498D-68299034FF87}"/>
              </a:ext>
            </a:extLst>
          </p:cNvPr>
          <p:cNvPicPr>
            <a:picLocks noChangeAspect="1"/>
          </p:cNvPicPr>
          <p:nvPr/>
        </p:nvPicPr>
        <p:blipFill>
          <a:blip r:embed="rId6"/>
          <a:srcRect l="-7" r="-7"/>
          <a:stretch/>
        </p:blipFill>
        <p:spPr>
          <a:xfrm>
            <a:off x="6210605" y="4143146"/>
            <a:ext cx="5524805" cy="2428646"/>
          </a:xfrm>
          <a:prstGeom prst="rect">
            <a:avLst/>
          </a:prstGeom>
        </p:spPr>
      </p:pic>
      <p:sp>
        <p:nvSpPr>
          <p:cNvPr id="49" name="Shape 33">
            <a:extLst>
              <a:ext uri="{FF2B5EF4-FFF2-40B4-BE49-F238E27FC236}">
                <a16:creationId xmlns:a16="http://schemas.microsoft.com/office/drawing/2014/main" id="{51B6378F-2579-2A16-7897-FD0342764BEA}"/>
              </a:ext>
            </a:extLst>
          </p:cNvPr>
          <p:cNvSpPr/>
          <p:nvPr/>
        </p:nvSpPr>
        <p:spPr>
          <a:xfrm>
            <a:off x="10972800" y="4143146"/>
            <a:ext cx="761695" cy="761695"/>
          </a:xfrm>
          <a:prstGeom prst="rect">
            <a:avLst/>
          </a:prstGeom>
          <a:solidFill>
            <a:srgbClr val="000000">
              <a:alpha val="2000"/>
            </a:srgbClr>
          </a:solidFill>
          <a:ln w="12700">
            <a:solidFill>
              <a:srgbClr val="FFFFFF">
                <a:alpha val="0"/>
              </a:srgbClr>
            </a:solidFill>
            <a:prstDash val="solid"/>
          </a:ln>
        </p:spPr>
        <p:txBody>
          <a:bodyPr/>
          <a:lstStyle/>
          <a:p>
            <a:endParaRPr lang="en-US"/>
          </a:p>
        </p:txBody>
      </p:sp>
      <p:sp>
        <p:nvSpPr>
          <p:cNvPr id="50" name="Shape 34">
            <a:extLst>
              <a:ext uri="{FF2B5EF4-FFF2-40B4-BE49-F238E27FC236}">
                <a16:creationId xmlns:a16="http://schemas.microsoft.com/office/drawing/2014/main" id="{D16B82CB-8454-3B5A-BDB9-41F1EF0AA131}"/>
              </a:ext>
            </a:extLst>
          </p:cNvPr>
          <p:cNvSpPr/>
          <p:nvPr/>
        </p:nvSpPr>
        <p:spPr>
          <a:xfrm>
            <a:off x="6439205" y="4419295"/>
            <a:ext cx="428854" cy="428854"/>
          </a:xfrm>
          <a:prstGeom prst="roundRect">
            <a:avLst>
              <a:gd name="adj" fmla="val 22175"/>
            </a:avLst>
          </a:prstGeom>
          <a:solidFill>
            <a:srgbClr val="D62839">
              <a:alpha val="5000"/>
            </a:srgbClr>
          </a:solidFill>
          <a:ln w="12700">
            <a:solidFill>
              <a:srgbClr val="FFFFFF">
                <a:alpha val="0"/>
              </a:srgbClr>
            </a:solidFill>
            <a:prstDash val="solid"/>
          </a:ln>
        </p:spPr>
        <p:txBody>
          <a:bodyPr/>
          <a:lstStyle/>
          <a:p>
            <a:endParaRPr lang="en-US"/>
          </a:p>
        </p:txBody>
      </p:sp>
      <p:pic>
        <p:nvPicPr>
          <p:cNvPr id="51" name="Image 14" descr="gen-dedup-83b2b39c1654ef06d127da6f7bb8f2a0.png">
            <a:extLst>
              <a:ext uri="{FF2B5EF4-FFF2-40B4-BE49-F238E27FC236}">
                <a16:creationId xmlns:a16="http://schemas.microsoft.com/office/drawing/2014/main" id="{4003C448-05B3-A10E-95D9-DAF2F9652DC0}"/>
              </a:ext>
            </a:extLst>
          </p:cNvPr>
          <p:cNvPicPr>
            <a:picLocks noChangeAspect="1"/>
          </p:cNvPicPr>
          <p:nvPr/>
        </p:nvPicPr>
        <p:blipFill>
          <a:blip r:embed="rId12"/>
          <a:srcRect t="-28914" b="-28914"/>
          <a:stretch/>
        </p:blipFill>
        <p:spPr>
          <a:xfrm>
            <a:off x="6562649" y="4519879"/>
            <a:ext cx="181051" cy="228600"/>
          </a:xfrm>
          <a:prstGeom prst="rect">
            <a:avLst/>
          </a:prstGeom>
        </p:spPr>
      </p:pic>
      <p:sp>
        <p:nvSpPr>
          <p:cNvPr id="52" name="Text 35">
            <a:extLst>
              <a:ext uri="{FF2B5EF4-FFF2-40B4-BE49-F238E27FC236}">
                <a16:creationId xmlns:a16="http://schemas.microsoft.com/office/drawing/2014/main" id="{D6E237A9-70E6-29E9-E8EE-2BAB92F3E57D}"/>
              </a:ext>
            </a:extLst>
          </p:cNvPr>
          <p:cNvSpPr txBox="1"/>
          <p:nvPr/>
        </p:nvSpPr>
        <p:spPr>
          <a:xfrm>
            <a:off x="11214202" y="4343400"/>
            <a:ext cx="455371" cy="514807"/>
          </a:xfrm>
          <a:prstGeom prst="rect">
            <a:avLst/>
          </a:prstGeom>
          <a:noFill/>
          <a:ln/>
        </p:spPr>
        <p:txBody>
          <a:bodyPr wrap="none" lIns="0" tIns="0" rIns="0" bIns="0" rtlCol="0" anchor="ctr"/>
          <a:lstStyle/>
          <a:p>
            <a:pPr marL="0" indent="0" algn="l">
              <a:buNone/>
            </a:pPr>
            <a:r>
              <a:rPr lang="en-US" sz="2700" b="1">
                <a:solidFill>
                  <a:srgbClr val="F3F4F6"/>
                </a:solidFill>
                <a:latin typeface="Oswald" pitchFamily="34" charset="0"/>
                <a:ea typeface="Oswald" pitchFamily="34" charset="-122"/>
                <a:cs typeface="Oswald" pitchFamily="34" charset="-120"/>
              </a:rPr>
              <a:t>04</a:t>
            </a:r>
            <a:endParaRPr lang="en-US" sz="2700"/>
          </a:p>
        </p:txBody>
      </p:sp>
      <p:sp>
        <p:nvSpPr>
          <p:cNvPr id="53" name="Text 36">
            <a:extLst>
              <a:ext uri="{FF2B5EF4-FFF2-40B4-BE49-F238E27FC236}">
                <a16:creationId xmlns:a16="http://schemas.microsoft.com/office/drawing/2014/main" id="{4896BADA-0F0A-2623-6DAC-682DCB3687AF}"/>
              </a:ext>
            </a:extLst>
          </p:cNvPr>
          <p:cNvSpPr txBox="1"/>
          <p:nvPr/>
        </p:nvSpPr>
        <p:spPr>
          <a:xfrm>
            <a:off x="6439205" y="4962449"/>
            <a:ext cx="5067605" cy="277063"/>
          </a:xfrm>
          <a:prstGeom prst="rect">
            <a:avLst/>
          </a:prstGeom>
          <a:noFill/>
          <a:ln/>
        </p:spPr>
        <p:txBody>
          <a:bodyPr wrap="none" lIns="0" tIns="0" rIns="0" bIns="0" rtlCol="0" anchor="ctr"/>
          <a:lstStyle/>
          <a:p>
            <a:pPr marL="0" indent="0" algn="l">
              <a:buNone/>
            </a:pPr>
            <a:r>
              <a:rPr lang="en-US" sz="1800" b="1">
                <a:solidFill>
                  <a:srgbClr val="1F2937"/>
                </a:solidFill>
                <a:latin typeface="Oswald" pitchFamily="34" charset="0"/>
                <a:ea typeface="Oswald" pitchFamily="34" charset="-122"/>
                <a:cs typeface="Oswald" pitchFamily="34" charset="-120"/>
              </a:rPr>
              <a:t>[Solution 4 Title]</a:t>
            </a:r>
            <a:endParaRPr lang="en-US" sz="1800"/>
          </a:p>
        </p:txBody>
      </p:sp>
      <p:sp>
        <p:nvSpPr>
          <p:cNvPr id="54" name="Text 37">
            <a:extLst>
              <a:ext uri="{FF2B5EF4-FFF2-40B4-BE49-F238E27FC236}">
                <a16:creationId xmlns:a16="http://schemas.microsoft.com/office/drawing/2014/main" id="{E758BCE9-FA0C-67DE-7E9C-7A6AA3E11566}"/>
              </a:ext>
            </a:extLst>
          </p:cNvPr>
          <p:cNvSpPr txBox="1"/>
          <p:nvPr/>
        </p:nvSpPr>
        <p:spPr>
          <a:xfrm>
            <a:off x="6439205" y="5351069"/>
            <a:ext cx="5067605" cy="609905"/>
          </a:xfrm>
          <a:prstGeom prst="rect">
            <a:avLst/>
          </a:prstGeom>
          <a:noFill/>
          <a:ln/>
        </p:spPr>
        <p:txBody>
          <a:bodyPr wrap="square" lIns="0" tIns="0" rIns="0" bIns="0" rtlCol="0" anchor="ctr"/>
          <a:lstStyle/>
          <a:p>
            <a:pPr marL="0" indent="0" algn="l">
              <a:buNone/>
            </a:pPr>
            <a:r>
              <a:rPr lang="en-US" sz="1100">
                <a:solidFill>
                  <a:srgbClr val="4B5563"/>
                </a:solidFill>
                <a:latin typeface="Raleway" pitchFamily="34" charset="0"/>
                <a:ea typeface="Raleway" pitchFamily="34" charset="-122"/>
                <a:cs typeface="Raleway" pitchFamily="34" charset="-120"/>
              </a:rPr>
              <a:t>e.g. Managed RPO Partnership — Consolidated recruitment ops across all BUs with a dedicated team. Eliminates vendor fragmentation. Data-driven hiring intelligence for workforce planning.</a:t>
            </a:r>
            <a:endParaRPr lang="en-US" sz="1100"/>
          </a:p>
        </p:txBody>
      </p:sp>
      <p:sp>
        <p:nvSpPr>
          <p:cNvPr id="55" name="Shape 38">
            <a:extLst>
              <a:ext uri="{FF2B5EF4-FFF2-40B4-BE49-F238E27FC236}">
                <a16:creationId xmlns:a16="http://schemas.microsoft.com/office/drawing/2014/main" id="{CEE8A453-7A9D-4360-D21A-37F7F6790338}"/>
              </a:ext>
            </a:extLst>
          </p:cNvPr>
          <p:cNvSpPr/>
          <p:nvPr/>
        </p:nvSpPr>
        <p:spPr>
          <a:xfrm>
            <a:off x="6439205" y="5959145"/>
            <a:ext cx="5067605" cy="437998"/>
          </a:xfrm>
          <a:prstGeom prst="roundRect">
            <a:avLst>
              <a:gd name="adj" fmla="val 17328"/>
            </a:avLst>
          </a:prstGeom>
          <a:solidFill>
            <a:srgbClr val="F9FAFB"/>
          </a:solidFill>
          <a:ln/>
        </p:spPr>
        <p:txBody>
          <a:bodyPr/>
          <a:lstStyle/>
          <a:p>
            <a:endParaRPr lang="en-US"/>
          </a:p>
        </p:txBody>
      </p:sp>
      <p:sp>
        <p:nvSpPr>
          <p:cNvPr id="56" name="Shape 39">
            <a:extLst>
              <a:ext uri="{FF2B5EF4-FFF2-40B4-BE49-F238E27FC236}">
                <a16:creationId xmlns:a16="http://schemas.microsoft.com/office/drawing/2014/main" id="{056F5FE7-9A03-08BC-0EA2-89258EB24EF2}"/>
              </a:ext>
            </a:extLst>
          </p:cNvPr>
          <p:cNvSpPr/>
          <p:nvPr/>
        </p:nvSpPr>
        <p:spPr>
          <a:xfrm>
            <a:off x="6439205" y="5959145"/>
            <a:ext cx="38405" cy="437998"/>
          </a:xfrm>
          <a:prstGeom prst="roundRect">
            <a:avLst>
              <a:gd name="adj" fmla="val 197618"/>
            </a:avLst>
          </a:prstGeom>
          <a:solidFill>
            <a:srgbClr val="000000"/>
          </a:solidFill>
          <a:ln w="12700">
            <a:solidFill>
              <a:srgbClr val="000000">
                <a:alpha val="0"/>
              </a:srgbClr>
            </a:solidFill>
            <a:prstDash val="solid"/>
          </a:ln>
        </p:spPr>
        <p:txBody>
          <a:bodyPr/>
          <a:lstStyle/>
          <a:p>
            <a:endParaRPr lang="en-US"/>
          </a:p>
        </p:txBody>
      </p:sp>
      <p:sp>
        <p:nvSpPr>
          <p:cNvPr id="57" name="Text 40">
            <a:extLst>
              <a:ext uri="{FF2B5EF4-FFF2-40B4-BE49-F238E27FC236}">
                <a16:creationId xmlns:a16="http://schemas.microsoft.com/office/drawing/2014/main" id="{FA686457-4C60-0C95-3625-41D6DE551183}"/>
              </a:ext>
            </a:extLst>
          </p:cNvPr>
          <p:cNvSpPr txBox="1"/>
          <p:nvPr/>
        </p:nvSpPr>
        <p:spPr>
          <a:xfrm>
            <a:off x="6810451" y="6073445"/>
            <a:ext cx="4543654" cy="210312"/>
          </a:xfrm>
          <a:prstGeom prst="rect">
            <a:avLst/>
          </a:prstGeom>
          <a:noFill/>
          <a:ln/>
        </p:spPr>
        <p:txBody>
          <a:bodyPr wrap="none" lIns="0" tIns="0" rIns="0" bIns="0" rtlCol="0" anchor="ctr"/>
          <a:lstStyle/>
          <a:p>
            <a:pPr marL="0" indent="0" algn="l">
              <a:buNone/>
            </a:pPr>
            <a:r>
              <a:rPr lang="en-US" sz="1000" b="1">
                <a:solidFill>
                  <a:srgbClr val="374151"/>
                </a:solidFill>
                <a:latin typeface="Raleway" pitchFamily="34" charset="0"/>
                <a:ea typeface="Raleway" pitchFamily="34" charset="-122"/>
                <a:cs typeface="Raleway" pitchFamily="34" charset="-120"/>
              </a:rPr>
              <a:t>Solves: Fragmented Hiring + Scale</a:t>
            </a:r>
            <a:endParaRPr lang="en-US" sz="1000"/>
          </a:p>
        </p:txBody>
      </p:sp>
      <p:pic>
        <p:nvPicPr>
          <p:cNvPr id="58" name="Image 15" descr="gen-dedup-812f619697984955bda52af315dc5a08.png">
            <a:extLst>
              <a:ext uri="{FF2B5EF4-FFF2-40B4-BE49-F238E27FC236}">
                <a16:creationId xmlns:a16="http://schemas.microsoft.com/office/drawing/2014/main" id="{6286225A-5A1D-45A0-AD82-F2C525D188BB}"/>
              </a:ext>
            </a:extLst>
          </p:cNvPr>
          <p:cNvPicPr>
            <a:picLocks noChangeAspect="1"/>
          </p:cNvPicPr>
          <p:nvPr/>
        </p:nvPicPr>
        <p:blipFill>
          <a:blip r:embed="rId10"/>
          <a:srcRect t="-13478" b="-13478"/>
          <a:stretch/>
        </p:blipFill>
        <p:spPr>
          <a:xfrm>
            <a:off x="6629400" y="6110021"/>
            <a:ext cx="105156" cy="133502"/>
          </a:xfrm>
          <a:prstGeom prst="rect">
            <a:avLst/>
          </a:prstGeom>
        </p:spPr>
      </p:pic>
      <p:pic>
        <p:nvPicPr>
          <p:cNvPr id="62" name="Image 3" descr="gen-dedup-777bf757d895431cabe402fcd34ebd5a.png">
            <a:extLst>
              <a:ext uri="{FF2B5EF4-FFF2-40B4-BE49-F238E27FC236}">
                <a16:creationId xmlns:a16="http://schemas.microsoft.com/office/drawing/2014/main" id="{0A9DF073-924A-A1D3-FE4A-BF582A2E9914}"/>
              </a:ext>
            </a:extLst>
          </p:cNvPr>
          <p:cNvPicPr>
            <a:picLocks noChangeAspect="1"/>
          </p:cNvPicPr>
          <p:nvPr/>
        </p:nvPicPr>
        <p:blipFill>
          <a:blip r:embed="rId13">
            <a:biLevel thresh="75000"/>
          </a:blip>
          <a:srcRect l="-384" r="-384"/>
          <a:stretch/>
        </p:blipFill>
        <p:spPr>
          <a:xfrm>
            <a:off x="571500" y="381305"/>
            <a:ext cx="57607" cy="476402"/>
          </a:xfrm>
          <a:prstGeom prst="rect">
            <a:avLst/>
          </a:prstGeom>
        </p:spPr>
      </p:pic>
      <p:sp>
        <p:nvSpPr>
          <p:cNvPr id="64" name="Text 5">
            <a:extLst>
              <a:ext uri="{FF2B5EF4-FFF2-40B4-BE49-F238E27FC236}">
                <a16:creationId xmlns:a16="http://schemas.microsoft.com/office/drawing/2014/main" id="{A516900C-9C70-407C-6892-43CABD09A825}"/>
              </a:ext>
            </a:extLst>
          </p:cNvPr>
          <p:cNvSpPr txBox="1"/>
          <p:nvPr/>
        </p:nvSpPr>
        <p:spPr>
          <a:xfrm>
            <a:off x="780897" y="333756"/>
            <a:ext cx="5913817" cy="406908"/>
          </a:xfrm>
          <a:prstGeom prst="rect">
            <a:avLst/>
          </a:prstGeom>
          <a:noFill/>
          <a:ln/>
        </p:spPr>
        <p:txBody>
          <a:bodyPr wrap="none" lIns="0" tIns="0" rIns="0" bIns="0" rtlCol="0" anchor="ctr"/>
          <a:lstStyle/>
          <a:p>
            <a:r>
              <a:rPr lang="en-GB" sz="2400" b="1" kern="0" spc="-67" dirty="0">
                <a:solidFill>
                  <a:srgbClr val="111827"/>
                </a:solidFill>
                <a:latin typeface="Oswald" pitchFamily="34" charset="0"/>
                <a:ea typeface="Oswald" pitchFamily="34" charset="-122"/>
                <a:cs typeface="Oswald" pitchFamily="34" charset="-120"/>
              </a:rPr>
              <a:t>TAILORED APPROACH</a:t>
            </a:r>
          </a:p>
        </p:txBody>
      </p:sp>
      <p:sp>
        <p:nvSpPr>
          <p:cNvPr id="66" name="Text 6">
            <a:extLst>
              <a:ext uri="{FF2B5EF4-FFF2-40B4-BE49-F238E27FC236}">
                <a16:creationId xmlns:a16="http://schemas.microsoft.com/office/drawing/2014/main" id="{24F685AF-E518-7C7D-9D3D-76D4F117E0E3}"/>
              </a:ext>
            </a:extLst>
          </p:cNvPr>
          <p:cNvSpPr txBox="1"/>
          <p:nvPr/>
        </p:nvSpPr>
        <p:spPr>
          <a:xfrm>
            <a:off x="780898" y="740663"/>
            <a:ext cx="5054803" cy="257861"/>
          </a:xfrm>
          <a:prstGeom prst="rect">
            <a:avLst/>
          </a:prstGeom>
          <a:noFill/>
          <a:ln/>
        </p:spPr>
        <p:txBody>
          <a:bodyPr wrap="none" lIns="0" tIns="0" rIns="0" bIns="0" rtlCol="0" anchor="ctr"/>
          <a:lstStyle/>
          <a:p>
            <a:pPr marL="0" indent="0" algn="l">
              <a:buNone/>
            </a:pPr>
            <a:r>
              <a:rPr lang="en-GB" sz="1500" b="1" kern="0" spc="66" dirty="0" err="1">
                <a:solidFill>
                  <a:srgbClr val="2A9D8F"/>
                </a:solidFill>
                <a:latin typeface="Roboto Condensed" pitchFamily="34" charset="0"/>
                <a:ea typeface="Roboto Condensed" pitchFamily="34" charset="-122"/>
                <a:cs typeface="Roboto Condensed" pitchFamily="34" charset="-120"/>
              </a:rPr>
              <a:t>JoulestoWatts</a:t>
            </a:r>
            <a:r>
              <a:rPr lang="en-GB" sz="1500" b="1" kern="0" spc="66" dirty="0">
                <a:solidFill>
                  <a:srgbClr val="2A9D8F"/>
                </a:solidFill>
                <a:latin typeface="Roboto Condensed" pitchFamily="34" charset="0"/>
                <a:ea typeface="Roboto Condensed" pitchFamily="34" charset="-122"/>
                <a:cs typeface="Roboto Condensed" pitchFamily="34" charset="-120"/>
              </a:rPr>
              <a:t> — Tailored Approach For [Client]</a:t>
            </a:r>
          </a:p>
        </p:txBody>
      </p:sp>
    </p:spTree>
    <p:extLst>
      <p:ext uri="{BB962C8B-B14F-4D97-AF65-F5344CB8AC3E}">
        <p14:creationId xmlns:p14="http://schemas.microsoft.com/office/powerpoint/2010/main" val="19370616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4" name="Shape 2"/>
          <p:cNvSpPr/>
          <p:nvPr/>
        </p:nvSpPr>
        <p:spPr>
          <a:xfrm>
            <a:off x="8382305" y="0"/>
            <a:ext cx="3810305" cy="3810305"/>
          </a:xfrm>
          <a:prstGeom prst="ellipse">
            <a:avLst/>
          </a:prstGeom>
          <a:solidFill>
            <a:srgbClr val="2A9D8F">
              <a:alpha val="3000"/>
            </a:srgbClr>
          </a:solidFill>
          <a:ln w="12700">
            <a:solidFill>
              <a:srgbClr val="FFFFFF">
                <a:alpha val="0"/>
              </a:srgbClr>
            </a:solidFill>
            <a:prstDash val="solid"/>
          </a:ln>
        </p:spPr>
        <p:txBody>
          <a:bodyPr/>
          <a:lstStyle/>
          <a:p>
            <a:endParaRPr lang="en-US"/>
          </a:p>
        </p:txBody>
      </p:sp>
      <p:sp>
        <p:nvSpPr>
          <p:cNvPr id="5" name="Shape 3"/>
          <p:cNvSpPr/>
          <p:nvPr/>
        </p:nvSpPr>
        <p:spPr>
          <a:xfrm>
            <a:off x="-476402" y="3524098"/>
            <a:ext cx="2381098" cy="2381098"/>
          </a:xfrm>
          <a:prstGeom prst="ellipse">
            <a:avLst/>
          </a:prstGeom>
          <a:solidFill>
            <a:srgbClr val="D62839">
              <a:alpha val="2000"/>
            </a:srgbClr>
          </a:solidFill>
          <a:ln w="12700">
            <a:solidFill>
              <a:srgbClr val="FFFFFF">
                <a:alpha val="0"/>
              </a:srgbClr>
            </a:solidFill>
            <a:prstDash val="solid"/>
          </a:ln>
        </p:spPr>
        <p:txBody>
          <a:bodyPr/>
          <a:lstStyle/>
          <a:p>
            <a:endParaRPr lang="en-US"/>
          </a:p>
        </p:txBody>
      </p:sp>
      <p:pic>
        <p:nvPicPr>
          <p:cNvPr id="6" name="Image 0" descr="gen-dedup-37abb9d8cc081a24feb608c288538026.png"/>
          <p:cNvPicPr>
            <a:picLocks noChangeAspect="1"/>
          </p:cNvPicPr>
          <p:nvPr/>
        </p:nvPicPr>
        <p:blipFill>
          <a:blip r:embed="rId3"/>
          <a:srcRect l="-198" r="-198"/>
          <a:stretch/>
        </p:blipFill>
        <p:spPr>
          <a:xfrm>
            <a:off x="0" y="0"/>
            <a:ext cx="8124444" cy="75895"/>
          </a:xfrm>
          <a:prstGeom prst="rect">
            <a:avLst/>
          </a:prstGeom>
        </p:spPr>
      </p:pic>
      <p:pic>
        <p:nvPicPr>
          <p:cNvPr id="7" name="Image 1" descr="gen-dedup-c2c9136402f20c216bf7cbcc052ad1a0.png"/>
          <p:cNvPicPr>
            <a:picLocks noChangeAspect="1"/>
          </p:cNvPicPr>
          <p:nvPr/>
        </p:nvPicPr>
        <p:blipFill>
          <a:blip r:embed="rId4"/>
          <a:srcRect l="-202" r="-202"/>
          <a:stretch/>
        </p:blipFill>
        <p:spPr>
          <a:xfrm>
            <a:off x="8124444" y="0"/>
            <a:ext cx="4067251" cy="75895"/>
          </a:xfrm>
          <a:prstGeom prst="rect">
            <a:avLst/>
          </a:prstGeom>
        </p:spPr>
      </p:pic>
      <p:pic>
        <p:nvPicPr>
          <p:cNvPr id="8" name="Image 2" descr="gen-dedup-50f81f9bdcb5400074144f35c0ecb91c.png"/>
          <p:cNvPicPr>
            <a:picLocks noChangeAspect="1"/>
          </p:cNvPicPr>
          <p:nvPr/>
        </p:nvPicPr>
        <p:blipFill>
          <a:blip r:embed="rId5"/>
          <a:srcRect l="-7" r="-7"/>
          <a:stretch/>
        </p:blipFill>
        <p:spPr>
          <a:xfrm>
            <a:off x="2704795" y="1238098"/>
            <a:ext cx="3143707" cy="4457700"/>
          </a:xfrm>
          <a:prstGeom prst="rect">
            <a:avLst/>
          </a:prstGeom>
        </p:spPr>
      </p:pic>
      <p:sp>
        <p:nvSpPr>
          <p:cNvPr id="9" name="Shape 4"/>
          <p:cNvSpPr/>
          <p:nvPr/>
        </p:nvSpPr>
        <p:spPr>
          <a:xfrm>
            <a:off x="609905" y="5762549"/>
            <a:ext cx="10992002" cy="847649"/>
          </a:xfrm>
          <a:prstGeom prst="roundRect">
            <a:avLst>
              <a:gd name="adj" fmla="val 19393"/>
            </a:avLst>
          </a:prstGeom>
          <a:solidFill>
            <a:srgbClr val="F8FAFC"/>
          </a:solidFill>
          <a:ln w="12700">
            <a:solidFill>
              <a:srgbClr val="E2E8F0"/>
            </a:solidFill>
            <a:prstDash val="solid"/>
          </a:ln>
          <a:effectLst>
            <a:outerShdw blurRad="63500" dist="38100" dir="16200000" algn="bl" rotWithShape="0">
              <a:srgbClr val="000000">
                <a:alpha val="2000"/>
              </a:srgbClr>
            </a:outerShdw>
          </a:effectLst>
        </p:spPr>
        <p:txBody>
          <a:bodyPr/>
          <a:lstStyle/>
          <a:p>
            <a:endParaRPr lang="en-US"/>
          </a:p>
        </p:txBody>
      </p:sp>
      <p:pic>
        <p:nvPicPr>
          <p:cNvPr id="10" name="Image 3" descr="gen-dedup-1004aa64a550a79a04cd74d7f57c96c1.png"/>
          <p:cNvPicPr>
            <a:picLocks noChangeAspect="1"/>
          </p:cNvPicPr>
          <p:nvPr/>
        </p:nvPicPr>
        <p:blipFill>
          <a:blip r:embed="rId6"/>
          <a:srcRect l="-2083" r="-2083"/>
          <a:stretch/>
        </p:blipFill>
        <p:spPr>
          <a:xfrm>
            <a:off x="609905" y="2467051"/>
            <a:ext cx="10972800" cy="9144"/>
          </a:xfrm>
          <a:prstGeom prst="rect">
            <a:avLst/>
          </a:prstGeom>
        </p:spPr>
      </p:pic>
      <p:pic>
        <p:nvPicPr>
          <p:cNvPr id="11" name="Image 4" descr="gen-dedup-1004aa64a550a79a04cd74d7f57c96c1.png"/>
          <p:cNvPicPr>
            <a:picLocks noChangeAspect="1"/>
          </p:cNvPicPr>
          <p:nvPr/>
        </p:nvPicPr>
        <p:blipFill>
          <a:blip r:embed="rId6"/>
          <a:srcRect l="-2083" r="-2083"/>
          <a:stretch/>
        </p:blipFill>
        <p:spPr>
          <a:xfrm>
            <a:off x="609905" y="3267151"/>
            <a:ext cx="10972800" cy="9144"/>
          </a:xfrm>
          <a:prstGeom prst="rect">
            <a:avLst/>
          </a:prstGeom>
        </p:spPr>
      </p:pic>
      <p:pic>
        <p:nvPicPr>
          <p:cNvPr id="12" name="Image 5" descr="gen-dedup-1004aa64a550a79a04cd74d7f57c96c1.png"/>
          <p:cNvPicPr>
            <a:picLocks noChangeAspect="1"/>
          </p:cNvPicPr>
          <p:nvPr/>
        </p:nvPicPr>
        <p:blipFill>
          <a:blip r:embed="rId6"/>
          <a:srcRect l="-2083" r="-2083"/>
          <a:stretch/>
        </p:blipFill>
        <p:spPr>
          <a:xfrm>
            <a:off x="609905" y="4067251"/>
            <a:ext cx="10972800" cy="9144"/>
          </a:xfrm>
          <a:prstGeom prst="rect">
            <a:avLst/>
          </a:prstGeom>
        </p:spPr>
      </p:pic>
      <p:pic>
        <p:nvPicPr>
          <p:cNvPr id="13" name="Image 6" descr="gen-dedup-1004aa64a550a79a04cd74d7f57c96c1.png"/>
          <p:cNvPicPr>
            <a:picLocks noChangeAspect="1"/>
          </p:cNvPicPr>
          <p:nvPr/>
        </p:nvPicPr>
        <p:blipFill>
          <a:blip r:embed="rId6"/>
          <a:srcRect l="-2083" r="-2083"/>
          <a:stretch/>
        </p:blipFill>
        <p:spPr>
          <a:xfrm>
            <a:off x="609905" y="4867351"/>
            <a:ext cx="10972800" cy="9144"/>
          </a:xfrm>
          <a:prstGeom prst="rect">
            <a:avLst/>
          </a:prstGeom>
        </p:spPr>
      </p:pic>
      <p:sp>
        <p:nvSpPr>
          <p:cNvPr id="17" name="Text 7"/>
          <p:cNvSpPr txBox="1"/>
          <p:nvPr/>
        </p:nvSpPr>
        <p:spPr>
          <a:xfrm>
            <a:off x="2704795" y="1333195"/>
            <a:ext cx="3143707" cy="286207"/>
          </a:xfrm>
          <a:prstGeom prst="rect">
            <a:avLst/>
          </a:prstGeom>
          <a:noFill/>
          <a:ln/>
        </p:spPr>
        <p:txBody>
          <a:bodyPr wrap="square" lIns="0" tIns="0" rIns="0" bIns="0" rtlCol="0" anchor="ctr"/>
          <a:lstStyle/>
          <a:p>
            <a:pPr marL="0" indent="0" algn="ctr">
              <a:buNone/>
            </a:pPr>
            <a:r>
              <a:rPr lang="en-US" sz="1500" b="1">
                <a:solidFill>
                  <a:srgbClr val="111827"/>
                </a:solidFill>
                <a:latin typeface="Oswald" pitchFamily="34" charset="0"/>
                <a:ea typeface="Oswald" pitchFamily="34" charset="-122"/>
                <a:cs typeface="Oswald" pitchFamily="34" charset="-120"/>
              </a:rPr>
              <a:t>JoulesToWatts</a:t>
            </a:r>
            <a:endParaRPr lang="en-US" sz="1500" dirty="0"/>
          </a:p>
        </p:txBody>
      </p:sp>
      <p:sp>
        <p:nvSpPr>
          <p:cNvPr id="18" name="Text 8"/>
          <p:cNvSpPr txBox="1"/>
          <p:nvPr/>
        </p:nvSpPr>
        <p:spPr>
          <a:xfrm>
            <a:off x="5848502" y="1333195"/>
            <a:ext cx="2857500" cy="286207"/>
          </a:xfrm>
          <a:prstGeom prst="rect">
            <a:avLst/>
          </a:prstGeom>
          <a:noFill/>
          <a:ln/>
        </p:spPr>
        <p:txBody>
          <a:bodyPr wrap="square" lIns="0" tIns="0" rIns="0" bIns="0" rtlCol="0" anchor="ctr"/>
          <a:lstStyle/>
          <a:p>
            <a:pPr marL="0" indent="0" algn="ctr">
              <a:buNone/>
            </a:pPr>
            <a:r>
              <a:rPr lang="en-US" sz="1500" b="1">
                <a:solidFill>
                  <a:srgbClr val="64748B"/>
                </a:solidFill>
                <a:latin typeface="Oswald" pitchFamily="34" charset="0"/>
                <a:ea typeface="Oswald" pitchFamily="34" charset="-122"/>
                <a:cs typeface="Oswald" pitchFamily="34" charset="-120"/>
              </a:rPr>
              <a:t>Big 4 / Top IT SIs</a:t>
            </a:r>
            <a:endParaRPr lang="en-US" sz="1500"/>
          </a:p>
        </p:txBody>
      </p:sp>
      <p:sp>
        <p:nvSpPr>
          <p:cNvPr id="19" name="Text 9"/>
          <p:cNvSpPr txBox="1"/>
          <p:nvPr/>
        </p:nvSpPr>
        <p:spPr>
          <a:xfrm>
            <a:off x="8706002" y="1333195"/>
            <a:ext cx="2876702" cy="286207"/>
          </a:xfrm>
          <a:prstGeom prst="rect">
            <a:avLst/>
          </a:prstGeom>
          <a:noFill/>
          <a:ln/>
        </p:spPr>
        <p:txBody>
          <a:bodyPr wrap="square" lIns="0" tIns="0" rIns="0" bIns="0" rtlCol="0" anchor="ctr"/>
          <a:lstStyle/>
          <a:p>
            <a:pPr marL="0" indent="0" algn="ctr">
              <a:buNone/>
            </a:pPr>
            <a:r>
              <a:rPr lang="en-US" sz="1500" b="1">
                <a:solidFill>
                  <a:srgbClr val="64748B"/>
                </a:solidFill>
                <a:latin typeface="Oswald" pitchFamily="34" charset="0"/>
                <a:ea typeface="Oswald" pitchFamily="34" charset="-122"/>
                <a:cs typeface="Oswald" pitchFamily="34" charset="-120"/>
              </a:rPr>
              <a:t>Staffing Agencies</a:t>
            </a:r>
            <a:endParaRPr lang="en-US" sz="1500"/>
          </a:p>
        </p:txBody>
      </p:sp>
      <p:sp>
        <p:nvSpPr>
          <p:cNvPr id="20" name="Text 10"/>
          <p:cNvSpPr txBox="1"/>
          <p:nvPr/>
        </p:nvSpPr>
        <p:spPr>
          <a:xfrm>
            <a:off x="609905" y="1990649"/>
            <a:ext cx="1905610" cy="152705"/>
          </a:xfrm>
          <a:prstGeom prst="rect">
            <a:avLst/>
          </a:prstGeom>
          <a:noFill/>
          <a:ln/>
        </p:spPr>
        <p:txBody>
          <a:bodyPr wrap="square" lIns="0" tIns="0" rIns="0" bIns="0" rtlCol="0" anchor="ctr"/>
          <a:lstStyle/>
          <a:p>
            <a:pPr marL="0" indent="0" algn="l">
              <a:buNone/>
            </a:pPr>
            <a:r>
              <a:rPr lang="en-US" sz="1000" b="1">
                <a:solidFill>
                  <a:srgbClr val="334155"/>
                </a:solidFill>
                <a:latin typeface="Roboto Condensed" pitchFamily="34" charset="0"/>
                <a:ea typeface="Roboto Condensed" pitchFamily="34" charset="-122"/>
                <a:cs typeface="Roboto Condensed" pitchFamily="34" charset="-120"/>
              </a:rPr>
              <a:t>ROI &amp; Outcome Model</a:t>
            </a:r>
            <a:endParaRPr lang="en-US" sz="1000"/>
          </a:p>
        </p:txBody>
      </p:sp>
      <p:sp>
        <p:nvSpPr>
          <p:cNvPr id="21" name="Text 11"/>
          <p:cNvSpPr txBox="1"/>
          <p:nvPr/>
        </p:nvSpPr>
        <p:spPr>
          <a:xfrm>
            <a:off x="2895905" y="1806854"/>
            <a:ext cx="2762402" cy="523951"/>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Outcome-driven from Day 1 - aligned to your milestones, CXO ROI expectations &amp; project KPIs</a:t>
            </a:r>
            <a:endParaRPr lang="en-US" sz="1000"/>
          </a:p>
        </p:txBody>
      </p:sp>
      <p:sp>
        <p:nvSpPr>
          <p:cNvPr id="22" name="Text 12"/>
          <p:cNvSpPr txBox="1"/>
          <p:nvPr/>
        </p:nvSpPr>
        <p:spPr>
          <a:xfrm>
            <a:off x="6038698" y="1806854"/>
            <a:ext cx="2477110" cy="523951"/>
          </a:xfrm>
          <a:prstGeom prst="rect">
            <a:avLst/>
          </a:prstGeom>
          <a:noFill/>
          <a:ln/>
        </p:spPr>
        <p:txBody>
          <a:bodyPr wrap="squar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Heavy retainers + longer payback cycles. High technical debt risk on failed transformations</a:t>
            </a:r>
            <a:endParaRPr lang="en-US" sz="1000"/>
          </a:p>
        </p:txBody>
      </p:sp>
      <p:sp>
        <p:nvSpPr>
          <p:cNvPr id="23" name="Text 13"/>
          <p:cNvSpPr txBox="1"/>
          <p:nvPr/>
        </p:nvSpPr>
        <p:spPr>
          <a:xfrm>
            <a:off x="8896198" y="1893722"/>
            <a:ext cx="2496312" cy="352958"/>
          </a:xfrm>
          <a:prstGeom prst="rect">
            <a:avLst/>
          </a:prstGeom>
          <a:noFill/>
          <a:ln/>
        </p:spPr>
        <p:txBody>
          <a:bodyPr wrap="squar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Headcount model only. Zero delivery ownership or outcome accountability</a:t>
            </a:r>
            <a:endParaRPr lang="en-US" sz="1000"/>
          </a:p>
        </p:txBody>
      </p:sp>
      <p:sp>
        <p:nvSpPr>
          <p:cNvPr id="24" name="Text 14"/>
          <p:cNvSpPr txBox="1"/>
          <p:nvPr/>
        </p:nvSpPr>
        <p:spPr>
          <a:xfrm>
            <a:off x="609905" y="2790749"/>
            <a:ext cx="1905610" cy="152705"/>
          </a:xfrm>
          <a:prstGeom prst="rect">
            <a:avLst/>
          </a:prstGeom>
          <a:noFill/>
          <a:ln/>
        </p:spPr>
        <p:txBody>
          <a:bodyPr wrap="square" lIns="0" tIns="0" rIns="0" bIns="0" rtlCol="0" anchor="ctr"/>
          <a:lstStyle/>
          <a:p>
            <a:pPr marL="0" indent="0" algn="l">
              <a:buNone/>
            </a:pPr>
            <a:r>
              <a:rPr lang="en-US" sz="1000" b="1">
                <a:solidFill>
                  <a:srgbClr val="334155"/>
                </a:solidFill>
                <a:latin typeface="Roboto Condensed" pitchFamily="34" charset="0"/>
                <a:ea typeface="Roboto Condensed" pitchFamily="34" charset="-122"/>
                <a:cs typeface="Roboto Condensed" pitchFamily="34" charset="-120"/>
              </a:rPr>
              <a:t>Time-To-Value</a:t>
            </a:r>
            <a:endParaRPr lang="en-US" sz="1000"/>
          </a:p>
        </p:txBody>
      </p:sp>
      <p:sp>
        <p:nvSpPr>
          <p:cNvPr id="25" name="Text 15"/>
          <p:cNvSpPr txBox="1"/>
          <p:nvPr/>
        </p:nvSpPr>
        <p:spPr>
          <a:xfrm>
            <a:off x="2895905" y="2606954"/>
            <a:ext cx="2762402" cy="523951"/>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Production-ready Gen &amp; Agentic AI PoCs in weeks via 50+ accelerators across SAP, Oracle, ServiceNow &amp; more</a:t>
            </a:r>
            <a:endParaRPr lang="en-US" sz="1000"/>
          </a:p>
        </p:txBody>
      </p:sp>
      <p:sp>
        <p:nvSpPr>
          <p:cNvPr id="26" name="Text 16"/>
          <p:cNvSpPr txBox="1"/>
          <p:nvPr/>
        </p:nvSpPr>
        <p:spPr>
          <a:xfrm>
            <a:off x="6038698" y="2606954"/>
            <a:ext cx="2477110" cy="523951"/>
          </a:xfrm>
          <a:prstGeom prst="rect">
            <a:avLst/>
          </a:prstGeom>
          <a:noFill/>
          <a:ln/>
        </p:spPr>
        <p:txBody>
          <a:bodyPr wrap="square" lIns="0" tIns="0" rIns="0" bIns="0" rtlCol="0" anchor="ctr"/>
          <a:lstStyle/>
          <a:p>
            <a:pPr marL="0" indent="0" algn="l">
              <a:buNone/>
            </a:pPr>
            <a:r>
              <a:rPr lang="en-US" sz="1000" dirty="0">
                <a:solidFill>
                  <a:srgbClr val="475569"/>
                </a:solidFill>
                <a:latin typeface="Raleway" pitchFamily="34" charset="0"/>
                <a:ea typeface="Raleway" pitchFamily="34" charset="-122"/>
                <a:cs typeface="Raleway" pitchFamily="34" charset="-120"/>
              </a:rPr>
              <a:t>Lengthy consulting cycles with SI-driven models - higher costs &amp; slower results</a:t>
            </a:r>
            <a:endParaRPr lang="en-US" sz="1000" dirty="0"/>
          </a:p>
        </p:txBody>
      </p:sp>
      <p:sp>
        <p:nvSpPr>
          <p:cNvPr id="27" name="Text 17"/>
          <p:cNvSpPr txBox="1"/>
          <p:nvPr/>
        </p:nvSpPr>
        <p:spPr>
          <a:xfrm>
            <a:off x="8896198" y="2780690"/>
            <a:ext cx="2496312" cy="181051"/>
          </a:xfrm>
          <a:prstGeom prst="rect">
            <a:avLst/>
          </a:prstGeom>
          <a:noFill/>
          <a:ln/>
        </p:spPr>
        <p:txBody>
          <a:bodyPr wrap="square" lIns="0" tIns="0" rIns="0" bIns="0" rtlCol="0" anchor="ctr"/>
          <a:lstStyle/>
          <a:p>
            <a:pPr marL="0" indent="0" algn="l">
              <a:buNone/>
            </a:pPr>
            <a:r>
              <a:rPr lang="en-US" sz="1000" i="1">
                <a:solidFill>
                  <a:srgbClr val="94A3B8"/>
                </a:solidFill>
                <a:latin typeface="Raleway" pitchFamily="34" charset="0"/>
                <a:ea typeface="Raleway" pitchFamily="34" charset="-122"/>
                <a:cs typeface="Raleway" pitchFamily="34" charset="-120"/>
              </a:rPr>
              <a:t>Not offered</a:t>
            </a:r>
            <a:endParaRPr lang="en-US" sz="1000"/>
          </a:p>
        </p:txBody>
      </p:sp>
      <p:sp>
        <p:nvSpPr>
          <p:cNvPr id="28" name="Text 18"/>
          <p:cNvSpPr txBox="1"/>
          <p:nvPr/>
        </p:nvSpPr>
        <p:spPr>
          <a:xfrm>
            <a:off x="609905" y="3590849"/>
            <a:ext cx="1905610" cy="152705"/>
          </a:xfrm>
          <a:prstGeom prst="rect">
            <a:avLst/>
          </a:prstGeom>
          <a:noFill/>
          <a:ln/>
        </p:spPr>
        <p:txBody>
          <a:bodyPr wrap="square" lIns="0" tIns="0" rIns="0" bIns="0" rtlCol="0" anchor="ctr"/>
          <a:lstStyle/>
          <a:p>
            <a:pPr marL="0" indent="0" algn="l">
              <a:buNone/>
            </a:pPr>
            <a:r>
              <a:rPr lang="en-US" sz="1000" b="1">
                <a:solidFill>
                  <a:srgbClr val="334155"/>
                </a:solidFill>
                <a:latin typeface="Roboto Condensed" pitchFamily="34" charset="0"/>
                <a:ea typeface="Roboto Condensed" pitchFamily="34" charset="-122"/>
                <a:cs typeface="Roboto Condensed" pitchFamily="34" charset="-120"/>
              </a:rPr>
              <a:t>AI / Data Governance</a:t>
            </a:r>
            <a:endParaRPr lang="en-US" sz="1000"/>
          </a:p>
        </p:txBody>
      </p:sp>
      <p:sp>
        <p:nvSpPr>
          <p:cNvPr id="29" name="Text 19"/>
          <p:cNvSpPr txBox="1"/>
          <p:nvPr/>
        </p:nvSpPr>
        <p:spPr>
          <a:xfrm>
            <a:off x="2895905" y="3321101"/>
            <a:ext cx="2762402" cy="695858"/>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Pre-built guardrails. Mission-critical delivery in regulated industries (Fortune 500 MedTech). Data stays in your environment</a:t>
            </a:r>
            <a:endParaRPr lang="en-US" sz="1000"/>
          </a:p>
        </p:txBody>
      </p:sp>
      <p:sp>
        <p:nvSpPr>
          <p:cNvPr id="30" name="Text 20"/>
          <p:cNvSpPr txBox="1"/>
          <p:nvPr/>
        </p:nvSpPr>
        <p:spPr>
          <a:xfrm>
            <a:off x="6038698" y="3407054"/>
            <a:ext cx="2477110" cy="523951"/>
          </a:xfrm>
          <a:prstGeom prst="rect">
            <a:avLst/>
          </a:prstGeom>
          <a:noFill/>
          <a:ln/>
        </p:spPr>
        <p:txBody>
          <a:bodyPr wrap="squar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Claims excellence, but multiple public incidents (e.g. Deloitte AU govt penalties) undermine credibility</a:t>
            </a:r>
            <a:endParaRPr lang="en-US" sz="1000"/>
          </a:p>
        </p:txBody>
      </p:sp>
      <p:sp>
        <p:nvSpPr>
          <p:cNvPr id="31" name="Text 21"/>
          <p:cNvSpPr txBox="1"/>
          <p:nvPr/>
        </p:nvSpPr>
        <p:spPr>
          <a:xfrm>
            <a:off x="8896198" y="3580790"/>
            <a:ext cx="2496312" cy="181051"/>
          </a:xfrm>
          <a:prstGeom prst="rect">
            <a:avLst/>
          </a:prstGeom>
          <a:noFill/>
          <a:ln/>
        </p:spPr>
        <p:txBody>
          <a:bodyPr wrap="square" lIns="0" tIns="0" rIns="0" bIns="0" rtlCol="0" anchor="ctr"/>
          <a:lstStyle/>
          <a:p>
            <a:pPr marL="0" indent="0" algn="l">
              <a:buNone/>
            </a:pPr>
            <a:r>
              <a:rPr lang="en-US" sz="1000" i="1">
                <a:solidFill>
                  <a:srgbClr val="94A3B8"/>
                </a:solidFill>
                <a:latin typeface="Raleway" pitchFamily="34" charset="0"/>
                <a:ea typeface="Raleway" pitchFamily="34" charset="-122"/>
                <a:cs typeface="Raleway" pitchFamily="34" charset="-120"/>
              </a:rPr>
              <a:t>Not offered</a:t>
            </a:r>
            <a:endParaRPr lang="en-US" sz="1000"/>
          </a:p>
        </p:txBody>
      </p:sp>
      <p:sp>
        <p:nvSpPr>
          <p:cNvPr id="32" name="Text 22"/>
          <p:cNvSpPr txBox="1"/>
          <p:nvPr/>
        </p:nvSpPr>
        <p:spPr>
          <a:xfrm>
            <a:off x="609905" y="4390949"/>
            <a:ext cx="1905610" cy="152705"/>
          </a:xfrm>
          <a:prstGeom prst="rect">
            <a:avLst/>
          </a:prstGeom>
          <a:noFill/>
          <a:ln/>
        </p:spPr>
        <p:txBody>
          <a:bodyPr wrap="square" lIns="0" tIns="0" rIns="0" bIns="0" rtlCol="0" anchor="ctr"/>
          <a:lstStyle/>
          <a:p>
            <a:pPr marL="0" indent="0" algn="l">
              <a:buNone/>
            </a:pPr>
            <a:r>
              <a:rPr lang="en-US" sz="1000" b="1">
                <a:solidFill>
                  <a:srgbClr val="334155"/>
                </a:solidFill>
                <a:latin typeface="Roboto Condensed" pitchFamily="34" charset="0"/>
                <a:ea typeface="Roboto Condensed" pitchFamily="34" charset="-122"/>
                <a:cs typeface="Roboto Condensed" pitchFamily="34" charset="-120"/>
              </a:rPr>
              <a:t>AI OPEX Optimisation</a:t>
            </a:r>
            <a:endParaRPr lang="en-US" sz="1000"/>
          </a:p>
        </p:txBody>
      </p:sp>
      <p:sp>
        <p:nvSpPr>
          <p:cNvPr id="33" name="Text 23"/>
          <p:cNvSpPr txBox="1"/>
          <p:nvPr/>
        </p:nvSpPr>
        <p:spPr>
          <a:xfrm>
            <a:off x="2895905" y="4207154"/>
            <a:ext cx="2762402" cy="523951"/>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30-40% reduction in AI OPEX via Query Routing, Semantic Caching, Precision RAG &amp; in-house SLMs</a:t>
            </a:r>
            <a:endParaRPr lang="en-US" sz="1000"/>
          </a:p>
        </p:txBody>
      </p:sp>
      <p:sp>
        <p:nvSpPr>
          <p:cNvPr id="34" name="Text 24"/>
          <p:cNvSpPr txBox="1"/>
          <p:nvPr/>
        </p:nvSpPr>
        <p:spPr>
          <a:xfrm>
            <a:off x="6038698" y="4294022"/>
            <a:ext cx="2477110" cy="352958"/>
          </a:xfrm>
          <a:prstGeom prst="rect">
            <a:avLst/>
          </a:prstGeom>
          <a:noFill/>
          <a:ln/>
        </p:spPr>
        <p:txBody>
          <a:bodyPr wrap="squar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SI </a:t>
            </a:r>
            <a:r>
              <a:rPr lang="en-US" sz="1000" err="1">
                <a:solidFill>
                  <a:srgbClr val="475569"/>
                </a:solidFill>
                <a:latin typeface="Raleway" pitchFamily="34" charset="0"/>
                <a:ea typeface="Raleway" pitchFamily="34" charset="-122"/>
                <a:cs typeface="Raleway" pitchFamily="34" charset="-120"/>
              </a:rPr>
              <a:t>incentivised</a:t>
            </a:r>
            <a:r>
              <a:rPr lang="en-US" sz="1000">
                <a:solidFill>
                  <a:srgbClr val="475569"/>
                </a:solidFill>
                <a:latin typeface="Raleway" pitchFamily="34" charset="0"/>
                <a:ea typeface="Raleway" pitchFamily="34" charset="-122"/>
                <a:cs typeface="Raleway" pitchFamily="34" charset="-120"/>
              </a:rPr>
              <a:t> to </a:t>
            </a:r>
            <a:r>
              <a:rPr lang="en-US" sz="1000" err="1">
                <a:solidFill>
                  <a:srgbClr val="475569"/>
                </a:solidFill>
                <a:latin typeface="Raleway" pitchFamily="34" charset="0"/>
                <a:ea typeface="Raleway" pitchFamily="34" charset="-122"/>
                <a:cs typeface="Raleway" pitchFamily="34" charset="-120"/>
              </a:rPr>
              <a:t>maximise</a:t>
            </a:r>
            <a:r>
              <a:rPr lang="en-US" sz="1000">
                <a:solidFill>
                  <a:srgbClr val="475569"/>
                </a:solidFill>
                <a:latin typeface="Raleway" pitchFamily="34" charset="0"/>
                <a:ea typeface="Raleway" pitchFamily="34" charset="-122"/>
                <a:cs typeface="Raleway" pitchFamily="34" charset="-120"/>
              </a:rPr>
              <a:t> </a:t>
            </a:r>
            <a:r>
              <a:rPr lang="en-US" sz="1000" err="1">
                <a:solidFill>
                  <a:srgbClr val="475569"/>
                </a:solidFill>
                <a:latin typeface="Raleway" pitchFamily="34" charset="0"/>
                <a:ea typeface="Raleway" pitchFamily="34" charset="-122"/>
                <a:cs typeface="Raleway" pitchFamily="34" charset="-120"/>
              </a:rPr>
              <a:t>licences</a:t>
            </a:r>
            <a:r>
              <a:rPr lang="en-US" sz="1000">
                <a:solidFill>
                  <a:srgbClr val="475569"/>
                </a:solidFill>
                <a:latin typeface="Raleway" pitchFamily="34" charset="0"/>
                <a:ea typeface="Raleway" pitchFamily="34" charset="-122"/>
                <a:cs typeface="Raleway" pitchFamily="34" charset="-120"/>
              </a:rPr>
              <a:t> &amp; tokens - not to </a:t>
            </a:r>
            <a:r>
              <a:rPr lang="en-US" sz="1000" err="1">
                <a:solidFill>
                  <a:srgbClr val="475569"/>
                </a:solidFill>
                <a:latin typeface="Raleway" pitchFamily="34" charset="0"/>
                <a:ea typeface="Raleway" pitchFamily="34" charset="-122"/>
                <a:cs typeface="Raleway" pitchFamily="34" charset="-120"/>
              </a:rPr>
              <a:t>optimise</a:t>
            </a:r>
            <a:r>
              <a:rPr lang="en-US" sz="1000">
                <a:solidFill>
                  <a:srgbClr val="475569"/>
                </a:solidFill>
                <a:latin typeface="Raleway" pitchFamily="34" charset="0"/>
                <a:ea typeface="Raleway" pitchFamily="34" charset="-122"/>
                <a:cs typeface="Raleway" pitchFamily="34" charset="-120"/>
              </a:rPr>
              <a:t> your cost</a:t>
            </a:r>
            <a:endParaRPr lang="en-US" sz="1000"/>
          </a:p>
        </p:txBody>
      </p:sp>
      <p:sp>
        <p:nvSpPr>
          <p:cNvPr id="35" name="Text 25"/>
          <p:cNvSpPr txBox="1"/>
          <p:nvPr/>
        </p:nvSpPr>
        <p:spPr>
          <a:xfrm>
            <a:off x="8896198" y="4380890"/>
            <a:ext cx="2496312" cy="181051"/>
          </a:xfrm>
          <a:prstGeom prst="rect">
            <a:avLst/>
          </a:prstGeom>
          <a:noFill/>
          <a:ln/>
        </p:spPr>
        <p:txBody>
          <a:bodyPr wrap="square" lIns="0" tIns="0" rIns="0" bIns="0" rtlCol="0" anchor="ctr"/>
          <a:lstStyle/>
          <a:p>
            <a:pPr marL="0" indent="0" algn="l">
              <a:buNone/>
            </a:pPr>
            <a:r>
              <a:rPr lang="en-US" sz="1000" i="1">
                <a:solidFill>
                  <a:srgbClr val="94A3B8"/>
                </a:solidFill>
                <a:latin typeface="Raleway" pitchFamily="34" charset="0"/>
                <a:ea typeface="Raleway" pitchFamily="34" charset="-122"/>
                <a:cs typeface="Raleway" pitchFamily="34" charset="-120"/>
              </a:rPr>
              <a:t>Not offered</a:t>
            </a:r>
            <a:endParaRPr lang="en-US" sz="1000"/>
          </a:p>
        </p:txBody>
      </p:sp>
      <p:sp>
        <p:nvSpPr>
          <p:cNvPr id="36" name="Text 26"/>
          <p:cNvSpPr txBox="1"/>
          <p:nvPr/>
        </p:nvSpPr>
        <p:spPr>
          <a:xfrm>
            <a:off x="609905" y="5191049"/>
            <a:ext cx="2143354" cy="152705"/>
          </a:xfrm>
          <a:prstGeom prst="rect">
            <a:avLst/>
          </a:prstGeom>
          <a:noFill/>
          <a:ln/>
        </p:spPr>
        <p:txBody>
          <a:bodyPr wrap="square" lIns="0" tIns="0" rIns="0" bIns="0" rtlCol="0" anchor="ctr"/>
          <a:lstStyle/>
          <a:p>
            <a:pPr marL="0" indent="0" algn="l">
              <a:buNone/>
            </a:pPr>
            <a:r>
              <a:rPr lang="en-US" sz="1000" b="1">
                <a:solidFill>
                  <a:srgbClr val="334155"/>
                </a:solidFill>
                <a:latin typeface="Roboto Condensed" pitchFamily="34" charset="0"/>
                <a:ea typeface="Roboto Condensed" pitchFamily="34" charset="-122"/>
                <a:cs typeface="Roboto Condensed" pitchFamily="34" charset="-120"/>
              </a:rPr>
              <a:t>Talent &amp; Managed Services</a:t>
            </a:r>
            <a:endParaRPr lang="en-US" sz="1000"/>
          </a:p>
        </p:txBody>
      </p:sp>
      <p:sp>
        <p:nvSpPr>
          <p:cNvPr id="37" name="Text 27"/>
          <p:cNvSpPr txBox="1"/>
          <p:nvPr/>
        </p:nvSpPr>
        <p:spPr>
          <a:xfrm>
            <a:off x="2895905" y="5007254"/>
            <a:ext cx="2762402" cy="523951"/>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7,200+ in-house consultants · 300+ recruiters · 2 proprietary hiring platforms · No subcontracting</a:t>
            </a:r>
            <a:endParaRPr lang="en-US" sz="1000"/>
          </a:p>
        </p:txBody>
      </p:sp>
      <p:sp>
        <p:nvSpPr>
          <p:cNvPr id="38" name="Text 28"/>
          <p:cNvSpPr txBox="1"/>
          <p:nvPr/>
        </p:nvSpPr>
        <p:spPr>
          <a:xfrm>
            <a:off x="6038698" y="5094122"/>
            <a:ext cx="2477110" cy="352958"/>
          </a:xfrm>
          <a:prstGeom prst="rect">
            <a:avLst/>
          </a:prstGeom>
          <a:noFill/>
          <a:ln/>
        </p:spPr>
        <p:txBody>
          <a:bodyPr wrap="squar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Frequently subcontract. No proprietary hiring platforms</a:t>
            </a:r>
            <a:endParaRPr lang="en-US" sz="1000"/>
          </a:p>
        </p:txBody>
      </p:sp>
      <p:sp>
        <p:nvSpPr>
          <p:cNvPr id="39" name="Text 29"/>
          <p:cNvSpPr txBox="1"/>
          <p:nvPr/>
        </p:nvSpPr>
        <p:spPr>
          <a:xfrm>
            <a:off x="8896198" y="5094122"/>
            <a:ext cx="2496312" cy="352958"/>
          </a:xfrm>
          <a:prstGeom prst="rect">
            <a:avLst/>
          </a:prstGeom>
          <a:noFill/>
          <a:ln/>
        </p:spPr>
        <p:txBody>
          <a:bodyPr wrap="squar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Lacks SME depth &amp; governance. Outcome ownership absent</a:t>
            </a:r>
            <a:endParaRPr lang="en-US" sz="1000"/>
          </a:p>
        </p:txBody>
      </p:sp>
      <p:sp>
        <p:nvSpPr>
          <p:cNvPr id="40" name="Shape 30"/>
          <p:cNvSpPr/>
          <p:nvPr/>
        </p:nvSpPr>
        <p:spPr>
          <a:xfrm>
            <a:off x="2315261" y="5762549"/>
            <a:ext cx="9144" cy="828446"/>
          </a:xfrm>
          <a:prstGeom prst="rect">
            <a:avLst/>
          </a:prstGeom>
          <a:solidFill>
            <a:srgbClr val="E2E8F0"/>
          </a:solidFill>
          <a:ln w="12700">
            <a:solidFill>
              <a:srgbClr val="E2E8F0">
                <a:alpha val="0"/>
              </a:srgbClr>
            </a:solidFill>
            <a:prstDash val="solid"/>
          </a:ln>
        </p:spPr>
        <p:txBody>
          <a:bodyPr/>
          <a:lstStyle/>
          <a:p>
            <a:endParaRPr lang="en-US"/>
          </a:p>
        </p:txBody>
      </p:sp>
      <p:sp>
        <p:nvSpPr>
          <p:cNvPr id="41" name="Text 31"/>
          <p:cNvSpPr txBox="1"/>
          <p:nvPr/>
        </p:nvSpPr>
        <p:spPr>
          <a:xfrm>
            <a:off x="1185062" y="6072530"/>
            <a:ext cx="1043330" cy="210312"/>
          </a:xfrm>
          <a:prstGeom prst="rect">
            <a:avLst/>
          </a:prstGeom>
          <a:noFill/>
          <a:ln/>
        </p:spPr>
        <p:txBody>
          <a:bodyPr wrap="square" lIns="0" tIns="0" rIns="0" bIns="0" rtlCol="0" anchor="ctr"/>
          <a:lstStyle/>
          <a:p>
            <a:pPr marL="0" indent="0" algn="l">
              <a:buNone/>
            </a:pPr>
            <a:r>
              <a:rPr lang="en-US" sz="1100" b="1" kern="0" spc="56">
                <a:solidFill>
                  <a:srgbClr val="64748B"/>
                </a:solidFill>
                <a:latin typeface="Oswald" pitchFamily="34" charset="0"/>
                <a:ea typeface="Oswald" pitchFamily="34" charset="-122"/>
                <a:cs typeface="Oswald" pitchFamily="34" charset="-120"/>
              </a:rPr>
              <a:t> KEY METRICS</a:t>
            </a:r>
            <a:endParaRPr lang="en-US" sz="1100"/>
          </a:p>
        </p:txBody>
      </p:sp>
      <p:pic>
        <p:nvPicPr>
          <p:cNvPr id="42" name="Image 8" descr="gen-dedup-0bed6a635fcb1d23b7a23c5aaedf5133.png"/>
          <p:cNvPicPr>
            <a:picLocks noChangeAspect="1"/>
          </p:cNvPicPr>
          <p:nvPr/>
        </p:nvPicPr>
        <p:blipFill>
          <a:blip r:embed="rId7"/>
          <a:srcRect l="-3526" r="-3526"/>
          <a:stretch/>
        </p:blipFill>
        <p:spPr>
          <a:xfrm>
            <a:off x="913486" y="6118250"/>
            <a:ext cx="152705" cy="142646"/>
          </a:xfrm>
          <a:prstGeom prst="rect">
            <a:avLst/>
          </a:prstGeom>
        </p:spPr>
      </p:pic>
      <p:sp>
        <p:nvSpPr>
          <p:cNvPr id="43" name="Text 32"/>
          <p:cNvSpPr txBox="1"/>
          <p:nvPr/>
        </p:nvSpPr>
        <p:spPr>
          <a:xfrm>
            <a:off x="2506370" y="5981090"/>
            <a:ext cx="1638605" cy="228600"/>
          </a:xfrm>
          <a:prstGeom prst="rect">
            <a:avLst/>
          </a:prstGeom>
          <a:noFill/>
          <a:ln/>
        </p:spPr>
        <p:txBody>
          <a:bodyPr wrap="square" lIns="0" tIns="0" rIns="0" bIns="0" rtlCol="0" anchor="ctr"/>
          <a:lstStyle/>
          <a:p>
            <a:pPr marL="0" indent="0" algn="ctr">
              <a:buNone/>
            </a:pPr>
            <a:r>
              <a:rPr lang="en-US" sz="1800" b="1">
                <a:solidFill>
                  <a:srgbClr val="D62839"/>
                </a:solidFill>
                <a:latin typeface="Oswald" pitchFamily="34" charset="0"/>
                <a:ea typeface="Oswald" pitchFamily="34" charset="-122"/>
                <a:cs typeface="Oswald" pitchFamily="34" charset="-120"/>
              </a:rPr>
              <a:t>5,500</a:t>
            </a:r>
            <a:endParaRPr lang="en-US" sz="1800"/>
          </a:p>
        </p:txBody>
      </p:sp>
      <p:sp>
        <p:nvSpPr>
          <p:cNvPr id="44" name="Text 33"/>
          <p:cNvSpPr txBox="1"/>
          <p:nvPr/>
        </p:nvSpPr>
        <p:spPr>
          <a:xfrm>
            <a:off x="2506370" y="6247181"/>
            <a:ext cx="1638605" cy="133502"/>
          </a:xfrm>
          <a:prstGeom prst="rect">
            <a:avLst/>
          </a:prstGeom>
          <a:noFill/>
          <a:ln/>
        </p:spPr>
        <p:txBody>
          <a:bodyPr wrap="square" lIns="0" tIns="0" rIns="0" bIns="0" rtlCol="0" anchor="ctr"/>
          <a:lstStyle/>
          <a:p>
            <a:pPr marL="0" indent="0" algn="ctr">
              <a:buNone/>
            </a:pPr>
            <a:r>
              <a:rPr lang="en-US" sz="800" b="1">
                <a:solidFill>
                  <a:srgbClr val="475569"/>
                </a:solidFill>
                <a:latin typeface="Raleway" pitchFamily="34" charset="0"/>
                <a:ea typeface="Raleway" pitchFamily="34" charset="-122"/>
                <a:cs typeface="Raleway" pitchFamily="34" charset="-120"/>
              </a:rPr>
              <a:t>In-house Consultants</a:t>
            </a:r>
            <a:endParaRPr lang="en-US" sz="800"/>
          </a:p>
        </p:txBody>
      </p:sp>
      <p:pic>
        <p:nvPicPr>
          <p:cNvPr id="45" name="Image 9" descr="gen-dedup-bc499f386c10f37c45470adccc65c0cd.png"/>
          <p:cNvPicPr>
            <a:picLocks noChangeAspect="1"/>
          </p:cNvPicPr>
          <p:nvPr/>
        </p:nvPicPr>
        <p:blipFill>
          <a:blip r:embed="rId8"/>
          <a:srcRect t="-2165" b="-2165"/>
          <a:stretch/>
        </p:blipFill>
        <p:spPr>
          <a:xfrm>
            <a:off x="4225442" y="6034126"/>
            <a:ext cx="9144" cy="286207"/>
          </a:xfrm>
          <a:prstGeom prst="rect">
            <a:avLst/>
          </a:prstGeom>
        </p:spPr>
      </p:pic>
      <p:sp>
        <p:nvSpPr>
          <p:cNvPr id="46" name="Text 34"/>
          <p:cNvSpPr txBox="1"/>
          <p:nvPr/>
        </p:nvSpPr>
        <p:spPr>
          <a:xfrm>
            <a:off x="4321454" y="5981090"/>
            <a:ext cx="1638605" cy="228600"/>
          </a:xfrm>
          <a:prstGeom prst="rect">
            <a:avLst/>
          </a:prstGeom>
          <a:noFill/>
          <a:ln/>
        </p:spPr>
        <p:txBody>
          <a:bodyPr wrap="square" lIns="0" tIns="0" rIns="0" bIns="0" rtlCol="0" anchor="ctr"/>
          <a:lstStyle/>
          <a:p>
            <a:pPr marL="0" indent="0" algn="ctr">
              <a:buNone/>
            </a:pPr>
            <a:r>
              <a:rPr lang="en-US" b="1">
                <a:solidFill>
                  <a:srgbClr val="2A9D8F"/>
                </a:solidFill>
                <a:latin typeface="Oswald" pitchFamily="34" charset="0"/>
                <a:ea typeface="Oswald" pitchFamily="34" charset="-122"/>
                <a:cs typeface="Oswald" pitchFamily="34" charset="-120"/>
              </a:rPr>
              <a:t>6</a:t>
            </a:r>
            <a:r>
              <a:rPr lang="en-US" sz="1800" b="1">
                <a:solidFill>
                  <a:srgbClr val="2A9D8F"/>
                </a:solidFill>
                <a:latin typeface="Oswald" pitchFamily="34" charset="0"/>
                <a:ea typeface="Oswald" pitchFamily="34" charset="-122"/>
                <a:cs typeface="Oswald" pitchFamily="34" charset="-120"/>
              </a:rPr>
              <a:t>0+</a:t>
            </a:r>
            <a:endParaRPr lang="en-US" sz="1800"/>
          </a:p>
        </p:txBody>
      </p:sp>
      <p:sp>
        <p:nvSpPr>
          <p:cNvPr id="47" name="Text 35"/>
          <p:cNvSpPr txBox="1"/>
          <p:nvPr/>
        </p:nvSpPr>
        <p:spPr>
          <a:xfrm>
            <a:off x="4321454" y="6247181"/>
            <a:ext cx="1638605" cy="133502"/>
          </a:xfrm>
          <a:prstGeom prst="rect">
            <a:avLst/>
          </a:prstGeom>
          <a:noFill/>
          <a:ln/>
        </p:spPr>
        <p:txBody>
          <a:bodyPr wrap="square" lIns="0" tIns="0" rIns="0" bIns="0" rtlCol="0" anchor="ctr"/>
          <a:lstStyle/>
          <a:p>
            <a:pPr marL="0" indent="0" algn="ctr">
              <a:buNone/>
            </a:pPr>
            <a:r>
              <a:rPr lang="en-US" sz="800" b="1">
                <a:solidFill>
                  <a:srgbClr val="475569"/>
                </a:solidFill>
                <a:latin typeface="Raleway" pitchFamily="34" charset="0"/>
                <a:ea typeface="Raleway" pitchFamily="34" charset="-122"/>
                <a:cs typeface="Raleway" pitchFamily="34" charset="-120"/>
              </a:rPr>
              <a:t>AI Accelerators</a:t>
            </a:r>
            <a:endParaRPr lang="en-US" sz="800"/>
          </a:p>
        </p:txBody>
      </p:sp>
      <p:pic>
        <p:nvPicPr>
          <p:cNvPr id="48" name="Image 10" descr="gen-dedup-bc499f386c10f37c45470adccc65c0cd.png"/>
          <p:cNvPicPr>
            <a:picLocks noChangeAspect="1"/>
          </p:cNvPicPr>
          <p:nvPr/>
        </p:nvPicPr>
        <p:blipFill>
          <a:blip r:embed="rId8"/>
          <a:srcRect t="-2165" b="-2165"/>
          <a:stretch/>
        </p:blipFill>
        <p:spPr>
          <a:xfrm>
            <a:off x="6040526" y="6034126"/>
            <a:ext cx="9144" cy="286207"/>
          </a:xfrm>
          <a:prstGeom prst="rect">
            <a:avLst/>
          </a:prstGeom>
        </p:spPr>
      </p:pic>
      <p:sp>
        <p:nvSpPr>
          <p:cNvPr id="49" name="Text 36"/>
          <p:cNvSpPr txBox="1"/>
          <p:nvPr/>
        </p:nvSpPr>
        <p:spPr>
          <a:xfrm>
            <a:off x="6137453" y="5981090"/>
            <a:ext cx="1638605" cy="228600"/>
          </a:xfrm>
          <a:prstGeom prst="rect">
            <a:avLst/>
          </a:prstGeom>
          <a:noFill/>
          <a:ln/>
        </p:spPr>
        <p:txBody>
          <a:bodyPr wrap="square" lIns="0" tIns="0" rIns="0" bIns="0" rtlCol="0" anchor="ctr"/>
          <a:lstStyle/>
          <a:p>
            <a:pPr marL="0" indent="0" algn="ctr">
              <a:buNone/>
            </a:pPr>
            <a:r>
              <a:rPr lang="en-US" sz="1800" b="1">
                <a:solidFill>
                  <a:srgbClr val="D62839"/>
                </a:solidFill>
                <a:latin typeface="Oswald" pitchFamily="34" charset="0"/>
                <a:ea typeface="Oswald" pitchFamily="34" charset="-122"/>
                <a:cs typeface="Oswald" pitchFamily="34" charset="-120"/>
              </a:rPr>
              <a:t>30-40%</a:t>
            </a:r>
            <a:endParaRPr lang="en-US" sz="1800"/>
          </a:p>
        </p:txBody>
      </p:sp>
      <p:sp>
        <p:nvSpPr>
          <p:cNvPr id="50" name="Text 37"/>
          <p:cNvSpPr txBox="1"/>
          <p:nvPr/>
        </p:nvSpPr>
        <p:spPr>
          <a:xfrm>
            <a:off x="6137453" y="6247181"/>
            <a:ext cx="1638605" cy="133502"/>
          </a:xfrm>
          <a:prstGeom prst="rect">
            <a:avLst/>
          </a:prstGeom>
          <a:noFill/>
          <a:ln/>
        </p:spPr>
        <p:txBody>
          <a:bodyPr wrap="square" lIns="0" tIns="0" rIns="0" bIns="0" rtlCol="0" anchor="ctr"/>
          <a:lstStyle/>
          <a:p>
            <a:pPr marL="0" indent="0" algn="ctr">
              <a:buNone/>
            </a:pPr>
            <a:r>
              <a:rPr lang="en-US" sz="800" b="1">
                <a:solidFill>
                  <a:srgbClr val="475569"/>
                </a:solidFill>
                <a:latin typeface="Raleway" pitchFamily="34" charset="0"/>
                <a:ea typeface="Raleway" pitchFamily="34" charset="-122"/>
                <a:cs typeface="Raleway" pitchFamily="34" charset="-120"/>
              </a:rPr>
              <a:t>AI OPEX Reduction</a:t>
            </a:r>
            <a:endParaRPr lang="en-US" sz="800"/>
          </a:p>
        </p:txBody>
      </p:sp>
      <p:pic>
        <p:nvPicPr>
          <p:cNvPr id="51" name="Image 11" descr="gen-dedup-bc499f386c10f37c45470adccc65c0cd.png"/>
          <p:cNvPicPr>
            <a:picLocks noChangeAspect="1"/>
          </p:cNvPicPr>
          <p:nvPr/>
        </p:nvPicPr>
        <p:blipFill>
          <a:blip r:embed="rId8"/>
          <a:srcRect t="-2165" b="-2165"/>
          <a:stretch/>
        </p:blipFill>
        <p:spPr>
          <a:xfrm>
            <a:off x="7856525" y="6034126"/>
            <a:ext cx="9144" cy="286207"/>
          </a:xfrm>
          <a:prstGeom prst="rect">
            <a:avLst/>
          </a:prstGeom>
        </p:spPr>
      </p:pic>
      <p:sp>
        <p:nvSpPr>
          <p:cNvPr id="52" name="Text 38"/>
          <p:cNvSpPr txBox="1"/>
          <p:nvPr/>
        </p:nvSpPr>
        <p:spPr>
          <a:xfrm>
            <a:off x="7952537" y="5981090"/>
            <a:ext cx="1638605" cy="228600"/>
          </a:xfrm>
          <a:prstGeom prst="rect">
            <a:avLst/>
          </a:prstGeom>
          <a:noFill/>
          <a:ln/>
        </p:spPr>
        <p:txBody>
          <a:bodyPr wrap="square" lIns="0" tIns="0" rIns="0" bIns="0" rtlCol="0" anchor="ctr"/>
          <a:lstStyle/>
          <a:p>
            <a:pPr marL="0" indent="0" algn="ctr">
              <a:buNone/>
            </a:pPr>
            <a:r>
              <a:rPr lang="en-US" sz="1800" b="1">
                <a:solidFill>
                  <a:srgbClr val="2A9D8F"/>
                </a:solidFill>
                <a:latin typeface="Oswald" pitchFamily="34" charset="0"/>
                <a:ea typeface="Oswald" pitchFamily="34" charset="-122"/>
                <a:cs typeface="Oswald" pitchFamily="34" charset="-120"/>
              </a:rPr>
              <a:t>Weeks</a:t>
            </a:r>
            <a:endParaRPr lang="en-US" sz="1800"/>
          </a:p>
        </p:txBody>
      </p:sp>
      <p:sp>
        <p:nvSpPr>
          <p:cNvPr id="53" name="Text 39"/>
          <p:cNvSpPr txBox="1"/>
          <p:nvPr/>
        </p:nvSpPr>
        <p:spPr>
          <a:xfrm>
            <a:off x="7952537" y="6247181"/>
            <a:ext cx="1638605" cy="133502"/>
          </a:xfrm>
          <a:prstGeom prst="rect">
            <a:avLst/>
          </a:prstGeom>
          <a:noFill/>
          <a:ln/>
        </p:spPr>
        <p:txBody>
          <a:bodyPr wrap="square" lIns="0" tIns="0" rIns="0" bIns="0" rtlCol="0" anchor="ctr"/>
          <a:lstStyle/>
          <a:p>
            <a:pPr marL="0" indent="0" algn="ctr">
              <a:buNone/>
            </a:pPr>
            <a:r>
              <a:rPr lang="en-US" sz="800" b="1">
                <a:solidFill>
                  <a:srgbClr val="475569"/>
                </a:solidFill>
                <a:latin typeface="Raleway" pitchFamily="34" charset="0"/>
                <a:ea typeface="Raleway" pitchFamily="34" charset="-122"/>
                <a:cs typeface="Raleway" pitchFamily="34" charset="-120"/>
              </a:rPr>
              <a:t>PoC to Production</a:t>
            </a:r>
            <a:endParaRPr lang="en-US" sz="800"/>
          </a:p>
        </p:txBody>
      </p:sp>
      <p:pic>
        <p:nvPicPr>
          <p:cNvPr id="54" name="Image 12" descr="gen-dedup-bc499f386c10f37c45470adccc65c0cd.png"/>
          <p:cNvPicPr>
            <a:picLocks noChangeAspect="1"/>
          </p:cNvPicPr>
          <p:nvPr/>
        </p:nvPicPr>
        <p:blipFill>
          <a:blip r:embed="rId8"/>
          <a:srcRect t="-2165" b="-2165"/>
          <a:stretch/>
        </p:blipFill>
        <p:spPr>
          <a:xfrm>
            <a:off x="9671609" y="6034126"/>
            <a:ext cx="9144" cy="286207"/>
          </a:xfrm>
          <a:prstGeom prst="rect">
            <a:avLst/>
          </a:prstGeom>
        </p:spPr>
      </p:pic>
      <p:sp>
        <p:nvSpPr>
          <p:cNvPr id="55" name="Text 40"/>
          <p:cNvSpPr txBox="1"/>
          <p:nvPr/>
        </p:nvSpPr>
        <p:spPr>
          <a:xfrm>
            <a:off x="9767621" y="5981090"/>
            <a:ext cx="1638605" cy="228600"/>
          </a:xfrm>
          <a:prstGeom prst="rect">
            <a:avLst/>
          </a:prstGeom>
          <a:noFill/>
          <a:ln/>
        </p:spPr>
        <p:txBody>
          <a:bodyPr wrap="square" lIns="0" tIns="0" rIns="0" bIns="0" rtlCol="0" anchor="ctr"/>
          <a:lstStyle/>
          <a:p>
            <a:pPr marL="0" indent="0" algn="ctr">
              <a:buNone/>
            </a:pPr>
            <a:r>
              <a:rPr lang="en-US" sz="1800" b="1">
                <a:solidFill>
                  <a:srgbClr val="D62839"/>
                </a:solidFill>
                <a:latin typeface="Oswald" pitchFamily="34" charset="0"/>
                <a:ea typeface="Oswald" pitchFamily="34" charset="-122"/>
                <a:cs typeface="Oswald" pitchFamily="34" charset="-120"/>
              </a:rPr>
              <a:t>0</a:t>
            </a:r>
            <a:endParaRPr lang="en-US" sz="1800"/>
          </a:p>
        </p:txBody>
      </p:sp>
      <p:sp>
        <p:nvSpPr>
          <p:cNvPr id="56" name="Text 41"/>
          <p:cNvSpPr txBox="1"/>
          <p:nvPr/>
        </p:nvSpPr>
        <p:spPr>
          <a:xfrm>
            <a:off x="9767621" y="6247181"/>
            <a:ext cx="1638605" cy="133502"/>
          </a:xfrm>
          <a:prstGeom prst="rect">
            <a:avLst/>
          </a:prstGeom>
          <a:noFill/>
          <a:ln/>
        </p:spPr>
        <p:txBody>
          <a:bodyPr wrap="square" lIns="0" tIns="0" rIns="0" bIns="0" rtlCol="0" anchor="ctr"/>
          <a:lstStyle/>
          <a:p>
            <a:pPr marL="0" indent="0" algn="ctr">
              <a:buNone/>
            </a:pPr>
            <a:r>
              <a:rPr lang="en-US" sz="800" b="1">
                <a:solidFill>
                  <a:srgbClr val="475569"/>
                </a:solidFill>
                <a:latin typeface="Raleway" pitchFamily="34" charset="0"/>
                <a:ea typeface="Raleway" pitchFamily="34" charset="-122"/>
                <a:cs typeface="Raleway" pitchFamily="34" charset="-120"/>
              </a:rPr>
              <a:t>Subcontracting</a:t>
            </a:r>
            <a:endParaRPr lang="en-US" sz="800"/>
          </a:p>
        </p:txBody>
      </p:sp>
      <p:pic>
        <p:nvPicPr>
          <p:cNvPr id="58" name="Image 3" descr="gen-dedup-777bf757d895431cabe402fcd34ebd5a.png">
            <a:extLst>
              <a:ext uri="{FF2B5EF4-FFF2-40B4-BE49-F238E27FC236}">
                <a16:creationId xmlns:a16="http://schemas.microsoft.com/office/drawing/2014/main" id="{A95401B3-DFC8-7E55-A991-A85A06D568BB}"/>
              </a:ext>
            </a:extLst>
          </p:cNvPr>
          <p:cNvPicPr>
            <a:picLocks noChangeAspect="1"/>
          </p:cNvPicPr>
          <p:nvPr/>
        </p:nvPicPr>
        <p:blipFill>
          <a:blip r:embed="rId9">
            <a:biLevel thresh="75000"/>
          </a:blip>
          <a:srcRect l="-384" r="-384"/>
          <a:stretch/>
        </p:blipFill>
        <p:spPr>
          <a:xfrm>
            <a:off x="571500" y="381305"/>
            <a:ext cx="57607" cy="476402"/>
          </a:xfrm>
          <a:prstGeom prst="rect">
            <a:avLst/>
          </a:prstGeom>
        </p:spPr>
      </p:pic>
      <p:sp>
        <p:nvSpPr>
          <p:cNvPr id="60" name="Text 5">
            <a:extLst>
              <a:ext uri="{FF2B5EF4-FFF2-40B4-BE49-F238E27FC236}">
                <a16:creationId xmlns:a16="http://schemas.microsoft.com/office/drawing/2014/main" id="{92740680-B5AE-246A-B51F-47C6F73ADA40}"/>
              </a:ext>
            </a:extLst>
          </p:cNvPr>
          <p:cNvSpPr txBox="1"/>
          <p:nvPr/>
        </p:nvSpPr>
        <p:spPr>
          <a:xfrm>
            <a:off x="780897" y="333756"/>
            <a:ext cx="5913817" cy="406908"/>
          </a:xfrm>
          <a:prstGeom prst="rect">
            <a:avLst/>
          </a:prstGeom>
          <a:noFill/>
          <a:ln/>
        </p:spPr>
        <p:txBody>
          <a:bodyPr wrap="none" lIns="0" tIns="0" rIns="0" bIns="0" rtlCol="0" anchor="ctr"/>
          <a:lstStyle/>
          <a:p>
            <a:r>
              <a:rPr lang="en-GB" sz="2400" b="1" kern="0" spc="-67" dirty="0">
                <a:solidFill>
                  <a:srgbClr val="111827"/>
                </a:solidFill>
                <a:latin typeface="Oswald" pitchFamily="34" charset="0"/>
                <a:ea typeface="Oswald" pitchFamily="34" charset="-122"/>
                <a:cs typeface="Oswald" pitchFamily="34" charset="-120"/>
              </a:rPr>
              <a:t>WHY J2W - NOT THE BIG 4 OR LARGE SIs</a:t>
            </a:r>
          </a:p>
        </p:txBody>
      </p:sp>
      <p:sp>
        <p:nvSpPr>
          <p:cNvPr id="62" name="Text 6">
            <a:extLst>
              <a:ext uri="{FF2B5EF4-FFF2-40B4-BE49-F238E27FC236}">
                <a16:creationId xmlns:a16="http://schemas.microsoft.com/office/drawing/2014/main" id="{1A71D42B-176A-081E-04F5-E5FB9598CD2E}"/>
              </a:ext>
            </a:extLst>
          </p:cNvPr>
          <p:cNvSpPr txBox="1"/>
          <p:nvPr/>
        </p:nvSpPr>
        <p:spPr>
          <a:xfrm>
            <a:off x="780898" y="740663"/>
            <a:ext cx="5054803" cy="257861"/>
          </a:xfrm>
          <a:prstGeom prst="rect">
            <a:avLst/>
          </a:prstGeom>
          <a:noFill/>
          <a:ln/>
        </p:spPr>
        <p:txBody>
          <a:bodyPr wrap="none" lIns="0" tIns="0" rIns="0" bIns="0" rtlCol="0" anchor="ctr"/>
          <a:lstStyle/>
          <a:p>
            <a:pPr marL="0" indent="0" algn="l">
              <a:buNone/>
            </a:pPr>
            <a:r>
              <a:rPr lang="en-GB" sz="1500" b="1" kern="0" spc="66" dirty="0">
                <a:solidFill>
                  <a:srgbClr val="2A9D8F"/>
                </a:solidFill>
                <a:latin typeface="Roboto Condensed" pitchFamily="34" charset="0"/>
                <a:ea typeface="Roboto Condensed" pitchFamily="34" charset="-122"/>
                <a:cs typeface="Roboto Condensed" pitchFamily="34" charset="-120"/>
              </a:rPr>
              <a:t>The Smarter Choice For Ai &amp; Digital Transformation At Scale</a:t>
            </a:r>
          </a:p>
        </p:txBody>
      </p:sp>
    </p:spTree>
    <p:extLst>
      <p:ext uri="{BB962C8B-B14F-4D97-AF65-F5344CB8AC3E}">
        <p14:creationId xmlns:p14="http://schemas.microsoft.com/office/powerpoint/2010/main" val="30727688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 2"/>
          <p:cNvSpPr/>
          <p:nvPr/>
        </p:nvSpPr>
        <p:spPr>
          <a:xfrm>
            <a:off x="640080" y="1460863"/>
            <a:ext cx="3529584" cy="2286000"/>
          </a:xfrm>
          <a:prstGeom prst="rect">
            <a:avLst/>
          </a:prstGeom>
          <a:solidFill>
            <a:srgbClr val="F4F6FA"/>
          </a:solidFill>
          <a:ln/>
          <a:effectLst>
            <a:outerShdw blurRad="88900" dist="25400" dir="8100000" algn="bl" rotWithShape="0">
              <a:srgbClr val="000000">
                <a:alpha val="10000"/>
              </a:srgbClr>
            </a:outerShdw>
          </a:effectLst>
        </p:spPr>
        <p:txBody>
          <a:bodyPr/>
          <a:lstStyle/>
          <a:p>
            <a:endParaRPr lang="en-IN">
              <a:latin typeface="Raleway" pitchFamily="2" charset="0"/>
            </a:endParaRPr>
          </a:p>
        </p:txBody>
      </p:sp>
      <p:sp>
        <p:nvSpPr>
          <p:cNvPr id="6" name="Shape 4"/>
          <p:cNvSpPr/>
          <p:nvPr/>
        </p:nvSpPr>
        <p:spPr>
          <a:xfrm>
            <a:off x="914400" y="1735183"/>
            <a:ext cx="603504" cy="603504"/>
          </a:xfrm>
          <a:prstGeom prst="ellipse">
            <a:avLst/>
          </a:prstGeom>
          <a:solidFill>
            <a:srgbClr val="E9EEF6"/>
          </a:solidFill>
          <a:ln/>
        </p:spPr>
        <p:txBody>
          <a:bodyPr/>
          <a:lstStyle/>
          <a:p>
            <a:endParaRPr lang="en-IN">
              <a:latin typeface="Raleway" pitchFamily="2" charset="0"/>
            </a:endParaRPr>
          </a:p>
        </p:txBody>
      </p:sp>
      <p:pic>
        <p:nvPicPr>
          <p:cNvPr id="7" name="Image 0" descr="preencoded.png"/>
          <p:cNvPicPr>
            <a:picLocks noChangeAspect="1"/>
          </p:cNvPicPr>
          <p:nvPr/>
        </p:nvPicPr>
        <p:blipFill>
          <a:blip r:embed="rId3"/>
          <a:stretch>
            <a:fillRect/>
          </a:stretch>
        </p:blipFill>
        <p:spPr>
          <a:xfrm>
            <a:off x="1069848" y="1890631"/>
            <a:ext cx="292608" cy="292608"/>
          </a:xfrm>
          <a:prstGeom prst="rect">
            <a:avLst/>
          </a:prstGeom>
        </p:spPr>
      </p:pic>
      <p:sp>
        <p:nvSpPr>
          <p:cNvPr id="8" name="Text 5"/>
          <p:cNvSpPr/>
          <p:nvPr/>
        </p:nvSpPr>
        <p:spPr>
          <a:xfrm>
            <a:off x="1627632" y="1735183"/>
            <a:ext cx="2432304" cy="365760"/>
          </a:xfrm>
          <a:prstGeom prst="rect">
            <a:avLst/>
          </a:prstGeom>
          <a:noFill/>
          <a:ln/>
        </p:spPr>
        <p:txBody>
          <a:bodyPr wrap="square" lIns="0" tIns="0" rIns="0" bIns="0" rtlCol="0" anchor="ctr"/>
          <a:lstStyle/>
          <a:p>
            <a:r>
              <a:rPr lang="en-US" sz="2200" b="1">
                <a:solidFill>
                  <a:srgbClr val="1B2A4A"/>
                </a:solidFill>
                <a:latin typeface="Raleway" pitchFamily="2" charset="0"/>
                <a:ea typeface="Georgia" pitchFamily="34" charset="-122"/>
                <a:cs typeface="Georgia" pitchFamily="34" charset="-120"/>
              </a:rPr>
              <a:t>BOT</a:t>
            </a:r>
            <a:endParaRPr lang="en-US" sz="2200">
              <a:latin typeface="Raleway" pitchFamily="2" charset="0"/>
            </a:endParaRPr>
          </a:p>
        </p:txBody>
      </p:sp>
      <p:sp>
        <p:nvSpPr>
          <p:cNvPr id="9" name="Text 6"/>
          <p:cNvSpPr/>
          <p:nvPr/>
        </p:nvSpPr>
        <p:spPr>
          <a:xfrm>
            <a:off x="1627632" y="2119231"/>
            <a:ext cx="2432304" cy="256032"/>
          </a:xfrm>
          <a:prstGeom prst="rect">
            <a:avLst/>
          </a:prstGeom>
          <a:noFill/>
          <a:ln/>
        </p:spPr>
        <p:txBody>
          <a:bodyPr wrap="square" lIns="0" tIns="0" rIns="0" bIns="0" rtlCol="0" anchor="ctr"/>
          <a:lstStyle/>
          <a:p>
            <a:r>
              <a:rPr lang="en-US" sz="1000" b="1">
                <a:solidFill>
                  <a:srgbClr val="147A6F"/>
                </a:solidFill>
                <a:latin typeface="Raleway" pitchFamily="2" charset="0"/>
                <a:ea typeface="Calibri" pitchFamily="34" charset="-122"/>
                <a:cs typeface="Calibri" pitchFamily="34" charset="-120"/>
              </a:rPr>
              <a:t>Build–Operate–Transfer</a:t>
            </a:r>
            <a:endParaRPr lang="en-US" sz="1000">
              <a:latin typeface="Raleway" pitchFamily="2" charset="0"/>
            </a:endParaRPr>
          </a:p>
        </p:txBody>
      </p:sp>
      <p:sp>
        <p:nvSpPr>
          <p:cNvPr id="10" name="Text 7"/>
          <p:cNvSpPr/>
          <p:nvPr/>
        </p:nvSpPr>
        <p:spPr>
          <a:xfrm>
            <a:off x="914400" y="2484991"/>
            <a:ext cx="3026664" cy="1188720"/>
          </a:xfrm>
          <a:prstGeom prst="rect">
            <a:avLst/>
          </a:prstGeom>
          <a:noFill/>
          <a:ln/>
        </p:spPr>
        <p:txBody>
          <a:bodyPr wrap="square" lIns="0" tIns="0" rIns="0" bIns="0" rtlCol="0" anchor="ctr"/>
          <a:lstStyle/>
          <a:p>
            <a:pPr>
              <a:lnSpc>
                <a:spcPts val="1300"/>
              </a:lnSpc>
            </a:pPr>
            <a:r>
              <a:rPr lang="en-US" sz="1031">
                <a:solidFill>
                  <a:srgbClr val="16203A"/>
                </a:solidFill>
                <a:latin typeface="Raleway" pitchFamily="2" charset="0"/>
                <a:ea typeface="Calibri" pitchFamily="34" charset="-122"/>
                <a:cs typeface="Calibri" pitchFamily="34" charset="-120"/>
              </a:rPr>
              <a:t>We hire, build and run the team, then transfer the workforce to your payroll on a defined timeline. Clean, de-risked path - ideal for Southwest's phased scale to 1,000+.</a:t>
            </a:r>
            <a:endParaRPr lang="en-US" sz="1031">
              <a:latin typeface="Raleway" pitchFamily="2" charset="0"/>
            </a:endParaRPr>
          </a:p>
        </p:txBody>
      </p:sp>
      <p:sp>
        <p:nvSpPr>
          <p:cNvPr id="11" name="Shape 8"/>
          <p:cNvSpPr/>
          <p:nvPr/>
        </p:nvSpPr>
        <p:spPr>
          <a:xfrm>
            <a:off x="4370832" y="1460863"/>
            <a:ext cx="3529584" cy="2286000"/>
          </a:xfrm>
          <a:prstGeom prst="rect">
            <a:avLst/>
          </a:prstGeom>
          <a:solidFill>
            <a:srgbClr val="F4F6FA"/>
          </a:solidFill>
          <a:ln/>
          <a:effectLst>
            <a:outerShdw blurRad="88900" dist="25400" dir="8100000" algn="bl" rotWithShape="0">
              <a:srgbClr val="000000">
                <a:alpha val="10000"/>
              </a:srgbClr>
            </a:outerShdw>
          </a:effectLst>
        </p:spPr>
        <p:txBody>
          <a:bodyPr/>
          <a:lstStyle/>
          <a:p>
            <a:endParaRPr lang="en-IN">
              <a:latin typeface="Raleway" pitchFamily="2" charset="0"/>
            </a:endParaRPr>
          </a:p>
        </p:txBody>
      </p:sp>
      <p:sp>
        <p:nvSpPr>
          <p:cNvPr id="13" name="Shape 10"/>
          <p:cNvSpPr/>
          <p:nvPr/>
        </p:nvSpPr>
        <p:spPr>
          <a:xfrm>
            <a:off x="4645152" y="1735183"/>
            <a:ext cx="603504" cy="603504"/>
          </a:xfrm>
          <a:prstGeom prst="ellipse">
            <a:avLst/>
          </a:prstGeom>
          <a:solidFill>
            <a:srgbClr val="E9EEF6"/>
          </a:solidFill>
          <a:ln/>
        </p:spPr>
        <p:txBody>
          <a:bodyPr/>
          <a:lstStyle/>
          <a:p>
            <a:endParaRPr lang="en-IN">
              <a:latin typeface="Raleway" pitchFamily="2" charset="0"/>
            </a:endParaRPr>
          </a:p>
        </p:txBody>
      </p:sp>
      <p:pic>
        <p:nvPicPr>
          <p:cNvPr id="14" name="Image 1" descr="preencoded.png"/>
          <p:cNvPicPr>
            <a:picLocks noChangeAspect="1"/>
          </p:cNvPicPr>
          <p:nvPr/>
        </p:nvPicPr>
        <p:blipFill>
          <a:blip r:embed="rId4"/>
          <a:stretch>
            <a:fillRect/>
          </a:stretch>
        </p:blipFill>
        <p:spPr>
          <a:xfrm>
            <a:off x="4800600" y="1890631"/>
            <a:ext cx="292608" cy="292608"/>
          </a:xfrm>
          <a:prstGeom prst="rect">
            <a:avLst/>
          </a:prstGeom>
        </p:spPr>
      </p:pic>
      <p:sp>
        <p:nvSpPr>
          <p:cNvPr id="15" name="Text 11"/>
          <p:cNvSpPr/>
          <p:nvPr/>
        </p:nvSpPr>
        <p:spPr>
          <a:xfrm>
            <a:off x="5358384" y="1735183"/>
            <a:ext cx="2432304" cy="365760"/>
          </a:xfrm>
          <a:prstGeom prst="rect">
            <a:avLst/>
          </a:prstGeom>
          <a:noFill/>
          <a:ln/>
        </p:spPr>
        <p:txBody>
          <a:bodyPr wrap="square" lIns="0" tIns="0" rIns="0" bIns="0" rtlCol="0" anchor="ctr"/>
          <a:lstStyle/>
          <a:p>
            <a:r>
              <a:rPr lang="en-US" sz="2200" b="1">
                <a:solidFill>
                  <a:srgbClr val="1B2A4A"/>
                </a:solidFill>
                <a:latin typeface="Raleway" pitchFamily="2" charset="0"/>
                <a:ea typeface="Georgia" pitchFamily="34" charset="-122"/>
                <a:cs typeface="Georgia" pitchFamily="34" charset="-120"/>
              </a:rPr>
              <a:t>CaaS</a:t>
            </a:r>
            <a:endParaRPr lang="en-US" sz="2200">
              <a:latin typeface="Raleway" pitchFamily="2" charset="0"/>
            </a:endParaRPr>
          </a:p>
        </p:txBody>
      </p:sp>
      <p:sp>
        <p:nvSpPr>
          <p:cNvPr id="16" name="Text 12"/>
          <p:cNvSpPr/>
          <p:nvPr/>
        </p:nvSpPr>
        <p:spPr>
          <a:xfrm>
            <a:off x="5358384" y="2119231"/>
            <a:ext cx="2432304" cy="256032"/>
          </a:xfrm>
          <a:prstGeom prst="rect">
            <a:avLst/>
          </a:prstGeom>
          <a:noFill/>
          <a:ln/>
        </p:spPr>
        <p:txBody>
          <a:bodyPr wrap="square" lIns="0" tIns="0" rIns="0" bIns="0" rtlCol="0" anchor="ctr"/>
          <a:lstStyle/>
          <a:p>
            <a:r>
              <a:rPr lang="en-US" sz="1000" b="1">
                <a:solidFill>
                  <a:srgbClr val="147A6F"/>
                </a:solidFill>
                <a:latin typeface="Raleway" pitchFamily="2" charset="0"/>
                <a:ea typeface="Calibri" pitchFamily="34" charset="-122"/>
                <a:cs typeface="Calibri" pitchFamily="34" charset="-120"/>
              </a:rPr>
              <a:t>Captive-as-a-Service</a:t>
            </a:r>
            <a:endParaRPr lang="en-US" sz="1000">
              <a:latin typeface="Raleway" pitchFamily="2" charset="0"/>
            </a:endParaRPr>
          </a:p>
        </p:txBody>
      </p:sp>
      <p:sp>
        <p:nvSpPr>
          <p:cNvPr id="17" name="Text 13"/>
          <p:cNvSpPr/>
          <p:nvPr/>
        </p:nvSpPr>
        <p:spPr>
          <a:xfrm>
            <a:off x="4645152" y="2484991"/>
            <a:ext cx="3026664" cy="1188720"/>
          </a:xfrm>
          <a:prstGeom prst="rect">
            <a:avLst/>
          </a:prstGeom>
          <a:noFill/>
          <a:ln/>
        </p:spPr>
        <p:txBody>
          <a:bodyPr wrap="square" lIns="0" tIns="0" rIns="0" bIns="0" rtlCol="0" anchor="ctr"/>
          <a:lstStyle/>
          <a:p>
            <a:pPr>
              <a:lnSpc>
                <a:spcPts val="1300"/>
              </a:lnSpc>
            </a:pPr>
            <a:r>
              <a:rPr lang="en-US" sz="1031">
                <a:solidFill>
                  <a:srgbClr val="16203A"/>
                </a:solidFill>
                <a:latin typeface="Raleway" pitchFamily="2" charset="0"/>
                <a:ea typeface="Calibri" pitchFamily="34" charset="-122"/>
                <a:cs typeface="Calibri" pitchFamily="34" charset="-120"/>
              </a:rPr>
              <a:t>We hold the employment and operating layer; you direct the work. Zero-capex, variable workforce that flexes with demand.</a:t>
            </a:r>
            <a:endParaRPr lang="en-US" sz="1031">
              <a:latin typeface="Raleway" pitchFamily="2" charset="0"/>
            </a:endParaRPr>
          </a:p>
        </p:txBody>
      </p:sp>
      <p:sp>
        <p:nvSpPr>
          <p:cNvPr id="18" name="Shape 14"/>
          <p:cNvSpPr/>
          <p:nvPr/>
        </p:nvSpPr>
        <p:spPr>
          <a:xfrm>
            <a:off x="8101584" y="1460863"/>
            <a:ext cx="3529584" cy="2286000"/>
          </a:xfrm>
          <a:prstGeom prst="rect">
            <a:avLst/>
          </a:prstGeom>
          <a:solidFill>
            <a:srgbClr val="F4F6FA"/>
          </a:solidFill>
          <a:ln/>
          <a:effectLst>
            <a:outerShdw blurRad="88900" dist="25400" dir="8100000" algn="bl" rotWithShape="0">
              <a:srgbClr val="000000">
                <a:alpha val="10000"/>
              </a:srgbClr>
            </a:outerShdw>
          </a:effectLst>
        </p:spPr>
        <p:txBody>
          <a:bodyPr/>
          <a:lstStyle/>
          <a:p>
            <a:endParaRPr lang="en-IN">
              <a:latin typeface="Raleway" pitchFamily="2" charset="0"/>
            </a:endParaRPr>
          </a:p>
        </p:txBody>
      </p:sp>
      <p:sp>
        <p:nvSpPr>
          <p:cNvPr id="20" name="Shape 16"/>
          <p:cNvSpPr/>
          <p:nvPr/>
        </p:nvSpPr>
        <p:spPr>
          <a:xfrm>
            <a:off x="8375904" y="1735183"/>
            <a:ext cx="603504" cy="603504"/>
          </a:xfrm>
          <a:prstGeom prst="ellipse">
            <a:avLst/>
          </a:prstGeom>
          <a:solidFill>
            <a:srgbClr val="E9EEF6"/>
          </a:solidFill>
          <a:ln/>
        </p:spPr>
        <p:txBody>
          <a:bodyPr/>
          <a:lstStyle/>
          <a:p>
            <a:endParaRPr lang="en-IN">
              <a:latin typeface="Raleway" pitchFamily="2" charset="0"/>
            </a:endParaRPr>
          </a:p>
        </p:txBody>
      </p:sp>
      <p:pic>
        <p:nvPicPr>
          <p:cNvPr id="21" name="Image 2" descr="preencoded.png"/>
          <p:cNvPicPr>
            <a:picLocks noChangeAspect="1"/>
          </p:cNvPicPr>
          <p:nvPr/>
        </p:nvPicPr>
        <p:blipFill>
          <a:blip r:embed="rId5"/>
          <a:stretch>
            <a:fillRect/>
          </a:stretch>
        </p:blipFill>
        <p:spPr>
          <a:xfrm>
            <a:off x="8531352" y="1890631"/>
            <a:ext cx="292608" cy="292608"/>
          </a:xfrm>
          <a:prstGeom prst="rect">
            <a:avLst/>
          </a:prstGeom>
        </p:spPr>
      </p:pic>
      <p:sp>
        <p:nvSpPr>
          <p:cNvPr id="22" name="Text 17"/>
          <p:cNvSpPr/>
          <p:nvPr/>
        </p:nvSpPr>
        <p:spPr>
          <a:xfrm>
            <a:off x="9089136" y="1735183"/>
            <a:ext cx="2432304" cy="365760"/>
          </a:xfrm>
          <a:prstGeom prst="rect">
            <a:avLst/>
          </a:prstGeom>
          <a:noFill/>
          <a:ln/>
        </p:spPr>
        <p:txBody>
          <a:bodyPr wrap="square" lIns="0" tIns="0" rIns="0" bIns="0" rtlCol="0" anchor="ctr"/>
          <a:lstStyle/>
          <a:p>
            <a:r>
              <a:rPr lang="en-US" sz="2200" b="1">
                <a:solidFill>
                  <a:srgbClr val="1B2A4A"/>
                </a:solidFill>
                <a:latin typeface="Raleway" pitchFamily="2" charset="0"/>
                <a:ea typeface="Georgia" pitchFamily="34" charset="-122"/>
                <a:cs typeface="Georgia" pitchFamily="34" charset="-120"/>
              </a:rPr>
              <a:t>HYBRID</a:t>
            </a:r>
            <a:endParaRPr lang="en-US" sz="2200">
              <a:latin typeface="Raleway" pitchFamily="2" charset="0"/>
            </a:endParaRPr>
          </a:p>
        </p:txBody>
      </p:sp>
      <p:sp>
        <p:nvSpPr>
          <p:cNvPr id="23" name="Text 18"/>
          <p:cNvSpPr/>
          <p:nvPr/>
        </p:nvSpPr>
        <p:spPr>
          <a:xfrm>
            <a:off x="9089136" y="2119231"/>
            <a:ext cx="2432304" cy="256032"/>
          </a:xfrm>
          <a:prstGeom prst="rect">
            <a:avLst/>
          </a:prstGeom>
          <a:noFill/>
          <a:ln/>
        </p:spPr>
        <p:txBody>
          <a:bodyPr wrap="square" lIns="0" tIns="0" rIns="0" bIns="0" rtlCol="0" anchor="ctr"/>
          <a:lstStyle/>
          <a:p>
            <a:r>
              <a:rPr lang="en-US" sz="1000" b="1">
                <a:solidFill>
                  <a:srgbClr val="147A6F"/>
                </a:solidFill>
                <a:latin typeface="Raleway" pitchFamily="2" charset="0"/>
                <a:ea typeface="Calibri" pitchFamily="34" charset="-122"/>
                <a:cs typeface="Calibri" pitchFamily="34" charset="-120"/>
              </a:rPr>
              <a:t>Calibrated to mandate</a:t>
            </a:r>
            <a:endParaRPr lang="en-US" sz="1000">
              <a:latin typeface="Raleway" pitchFamily="2" charset="0"/>
            </a:endParaRPr>
          </a:p>
        </p:txBody>
      </p:sp>
      <p:sp>
        <p:nvSpPr>
          <p:cNvPr id="24" name="Text 19"/>
          <p:cNvSpPr/>
          <p:nvPr/>
        </p:nvSpPr>
        <p:spPr>
          <a:xfrm>
            <a:off x="8375904" y="2484991"/>
            <a:ext cx="3026664" cy="1188720"/>
          </a:xfrm>
          <a:prstGeom prst="rect">
            <a:avLst/>
          </a:prstGeom>
          <a:noFill/>
          <a:ln/>
        </p:spPr>
        <p:txBody>
          <a:bodyPr wrap="square" lIns="0" tIns="0" rIns="0" bIns="0" rtlCol="0" anchor="ctr"/>
          <a:lstStyle/>
          <a:p>
            <a:pPr>
              <a:lnSpc>
                <a:spcPts val="1300"/>
              </a:lnSpc>
            </a:pPr>
            <a:r>
              <a:rPr lang="en-US" sz="1031">
                <a:solidFill>
                  <a:srgbClr val="16203A"/>
                </a:solidFill>
                <a:latin typeface="Raleway" pitchFamily="2" charset="0"/>
                <a:ea typeface="Calibri" pitchFamily="34" charset="-122"/>
                <a:cs typeface="Calibri" pitchFamily="34" charset="-120"/>
              </a:rPr>
              <a:t>Core IP and leadership hired direct to you; scale roles stay on our books and transition on a ~3-month cadence. Most common for AI-first hubs.</a:t>
            </a:r>
            <a:endParaRPr lang="en-US" sz="1031">
              <a:latin typeface="Raleway" pitchFamily="2" charset="0"/>
            </a:endParaRPr>
          </a:p>
        </p:txBody>
      </p:sp>
      <p:sp>
        <p:nvSpPr>
          <p:cNvPr id="25" name="Shape 20"/>
          <p:cNvSpPr/>
          <p:nvPr/>
        </p:nvSpPr>
        <p:spPr>
          <a:xfrm>
            <a:off x="640082" y="4021182"/>
            <a:ext cx="10911535" cy="1715703"/>
          </a:xfrm>
          <a:prstGeom prst="rect">
            <a:avLst/>
          </a:prstGeom>
          <a:solidFill>
            <a:schemeClr val="bg1">
              <a:lumMod val="95000"/>
            </a:schemeClr>
          </a:solidFill>
          <a:ln/>
          <a:effectLst>
            <a:outerShdw blurRad="114300" dist="38100" dir="8100000" algn="bl" rotWithShape="0">
              <a:srgbClr val="000000">
                <a:alpha val="16000"/>
              </a:srgbClr>
            </a:outerShdw>
          </a:effectLst>
        </p:spPr>
        <p:txBody>
          <a:bodyPr/>
          <a:lstStyle/>
          <a:p>
            <a:endParaRPr lang="en-IN">
              <a:latin typeface="Raleway" pitchFamily="2" charset="0"/>
            </a:endParaRPr>
          </a:p>
        </p:txBody>
      </p:sp>
      <p:sp>
        <p:nvSpPr>
          <p:cNvPr id="27" name="Text 22"/>
          <p:cNvSpPr/>
          <p:nvPr/>
        </p:nvSpPr>
        <p:spPr>
          <a:xfrm>
            <a:off x="960120" y="4194919"/>
            <a:ext cx="10058400" cy="274320"/>
          </a:xfrm>
          <a:prstGeom prst="rect">
            <a:avLst/>
          </a:prstGeom>
          <a:noFill/>
          <a:ln/>
        </p:spPr>
        <p:txBody>
          <a:bodyPr wrap="square" lIns="0" tIns="0" rIns="0" bIns="0" rtlCol="0" anchor="ctr"/>
          <a:lstStyle/>
          <a:p>
            <a:r>
              <a:rPr lang="en-US" sz="1100" b="1" kern="0" spc="151">
                <a:solidFill>
                  <a:srgbClr val="2A9D8F"/>
                </a:solidFill>
                <a:latin typeface="Raleway" pitchFamily="2" charset="0"/>
                <a:ea typeface="Calibri" pitchFamily="34" charset="-122"/>
                <a:cs typeface="Calibri" pitchFamily="34" charset="-120"/>
              </a:rPr>
              <a:t>HOW WE POSITION THE PARTNERSHIP</a:t>
            </a:r>
            <a:endParaRPr lang="en-US" sz="1100">
              <a:solidFill>
                <a:srgbClr val="2A9D8F"/>
              </a:solidFill>
              <a:latin typeface="Raleway" pitchFamily="2" charset="0"/>
            </a:endParaRPr>
          </a:p>
        </p:txBody>
      </p:sp>
      <p:sp>
        <p:nvSpPr>
          <p:cNvPr id="28" name="Text 23"/>
          <p:cNvSpPr/>
          <p:nvPr/>
        </p:nvSpPr>
        <p:spPr>
          <a:xfrm>
            <a:off x="960120" y="4487527"/>
            <a:ext cx="10881360" cy="411480"/>
          </a:xfrm>
          <a:prstGeom prst="rect">
            <a:avLst/>
          </a:prstGeom>
          <a:noFill/>
          <a:ln/>
        </p:spPr>
        <p:txBody>
          <a:bodyPr wrap="square" lIns="0" tIns="0" rIns="0" bIns="0" rtlCol="0" anchor="ctr"/>
          <a:lstStyle/>
          <a:p>
            <a:r>
              <a:rPr lang="en-US" sz="1600" b="1" i="1">
                <a:latin typeface="Raleway" pitchFamily="2" charset="0"/>
                <a:ea typeface="Georgia" pitchFamily="34" charset="-122"/>
                <a:cs typeface="Georgia" pitchFamily="34" charset="-120"/>
              </a:rPr>
              <a:t>“We set up the GCC, build the culture, build the pods, and find your leaders.”</a:t>
            </a:r>
            <a:endParaRPr lang="en-US" sz="1600">
              <a:latin typeface="Raleway" pitchFamily="2" charset="0"/>
            </a:endParaRPr>
          </a:p>
        </p:txBody>
      </p:sp>
      <p:sp>
        <p:nvSpPr>
          <p:cNvPr id="29" name="Text 24"/>
          <p:cNvSpPr/>
          <p:nvPr/>
        </p:nvSpPr>
        <p:spPr>
          <a:xfrm>
            <a:off x="1005840" y="4908151"/>
            <a:ext cx="10607040" cy="548640"/>
          </a:xfrm>
          <a:prstGeom prst="rect">
            <a:avLst/>
          </a:prstGeom>
          <a:noFill/>
          <a:ln/>
        </p:spPr>
        <p:txBody>
          <a:bodyPr wrap="square" lIns="0" tIns="0" rIns="0" bIns="0" rtlCol="0" anchor="ctr"/>
          <a:lstStyle/>
          <a:p>
            <a:pPr marL="165096" indent="-165096">
              <a:lnSpc>
                <a:spcPts val="1300"/>
              </a:lnSpc>
              <a:spcAft>
                <a:spcPts val="300"/>
              </a:spcAft>
              <a:buSzPct val="100000"/>
              <a:buChar char="•"/>
            </a:pPr>
            <a:r>
              <a:rPr lang="en-US" sz="1100">
                <a:latin typeface="Raleway" pitchFamily="2" charset="0"/>
                <a:ea typeface="Calibri" pitchFamily="34" charset="-122"/>
                <a:cs typeface="Calibri" pitchFamily="34" charset="-120"/>
              </a:rPr>
              <a:t>Core IP &amp; leadership roles are yours - placed full-time, not contract-to-hire</a:t>
            </a:r>
            <a:endParaRPr lang="en-US" sz="1100">
              <a:latin typeface="Raleway" pitchFamily="2" charset="0"/>
            </a:endParaRPr>
          </a:p>
          <a:p>
            <a:pPr marL="165096" indent="-165096">
              <a:lnSpc>
                <a:spcPts val="1300"/>
              </a:lnSpc>
              <a:spcAft>
                <a:spcPts val="300"/>
              </a:spcAft>
              <a:buSzPct val="100000"/>
              <a:buChar char="•"/>
            </a:pPr>
            <a:r>
              <a:rPr lang="en-US" sz="1100">
                <a:latin typeface="Raleway" pitchFamily="2" charset="0"/>
                <a:ea typeface="Calibri" pitchFamily="34" charset="-122"/>
                <a:cs typeface="Calibri" pitchFamily="34" charset="-120"/>
              </a:rPr>
              <a:t>Scale roles flex on our books; transition on a ~3-month cadence as demand matures</a:t>
            </a:r>
            <a:endParaRPr lang="en-US" sz="1100">
              <a:latin typeface="Raleway" pitchFamily="2" charset="0"/>
            </a:endParaRPr>
          </a:p>
          <a:p>
            <a:pPr marL="165096" indent="-165096">
              <a:lnSpc>
                <a:spcPts val="1300"/>
              </a:lnSpc>
              <a:spcAft>
                <a:spcPts val="300"/>
              </a:spcAft>
              <a:buSzPct val="100000"/>
              <a:buChar char="•"/>
            </a:pPr>
            <a:r>
              <a:rPr lang="en-US" sz="1100">
                <a:latin typeface="Raleway" pitchFamily="2" charset="0"/>
                <a:ea typeface="Calibri" pitchFamily="34" charset="-122"/>
                <a:cs typeface="Calibri" pitchFamily="34" charset="-120"/>
              </a:rPr>
              <a:t>One integrated partner across advisory, talent, AI engineering &amp; operations</a:t>
            </a:r>
            <a:endParaRPr lang="en-US" sz="1100">
              <a:latin typeface="Raleway" pitchFamily="2" charset="0"/>
            </a:endParaRPr>
          </a:p>
        </p:txBody>
      </p:sp>
      <p:pic>
        <p:nvPicPr>
          <p:cNvPr id="36" name="Image 1" descr="gen-dedup-323228122ff92d2332e711a84ca3b40c.png">
            <a:extLst>
              <a:ext uri="{FF2B5EF4-FFF2-40B4-BE49-F238E27FC236}">
                <a16:creationId xmlns:a16="http://schemas.microsoft.com/office/drawing/2014/main" id="{7BDFB49D-4770-417A-3427-BB22271B7916}"/>
              </a:ext>
            </a:extLst>
          </p:cNvPr>
          <p:cNvPicPr>
            <a:picLocks noChangeAspect="1"/>
          </p:cNvPicPr>
          <p:nvPr/>
        </p:nvPicPr>
        <p:blipFill>
          <a:blip r:embed="rId6"/>
          <a:srcRect l="-198" r="-198"/>
          <a:stretch/>
        </p:blipFill>
        <p:spPr>
          <a:xfrm>
            <a:off x="0" y="0"/>
            <a:ext cx="8124444" cy="75895"/>
          </a:xfrm>
          <a:prstGeom prst="rect">
            <a:avLst/>
          </a:prstGeom>
        </p:spPr>
      </p:pic>
      <p:pic>
        <p:nvPicPr>
          <p:cNvPr id="38" name="Image 2" descr="gen-dedup-9663ecf744b06e35d4c2cebaab92a2ea.png">
            <a:extLst>
              <a:ext uri="{FF2B5EF4-FFF2-40B4-BE49-F238E27FC236}">
                <a16:creationId xmlns:a16="http://schemas.microsoft.com/office/drawing/2014/main" id="{D30CF95D-69D2-B95B-602B-F363E8DFCCDD}"/>
              </a:ext>
            </a:extLst>
          </p:cNvPr>
          <p:cNvPicPr>
            <a:picLocks noChangeAspect="1"/>
          </p:cNvPicPr>
          <p:nvPr/>
        </p:nvPicPr>
        <p:blipFill>
          <a:blip r:embed="rId7"/>
          <a:srcRect l="-202" r="-202"/>
          <a:stretch/>
        </p:blipFill>
        <p:spPr>
          <a:xfrm>
            <a:off x="8124444" y="0"/>
            <a:ext cx="4067251" cy="75895"/>
          </a:xfrm>
          <a:prstGeom prst="rect">
            <a:avLst/>
          </a:prstGeom>
        </p:spPr>
      </p:pic>
      <p:sp>
        <p:nvSpPr>
          <p:cNvPr id="31" name="Shape 4">
            <a:extLst>
              <a:ext uri="{FF2B5EF4-FFF2-40B4-BE49-F238E27FC236}">
                <a16:creationId xmlns:a16="http://schemas.microsoft.com/office/drawing/2014/main" id="{BBCDDA5B-D44E-C7DB-0F83-785E756E9C1B}"/>
              </a:ext>
            </a:extLst>
          </p:cNvPr>
          <p:cNvSpPr/>
          <p:nvPr/>
        </p:nvSpPr>
        <p:spPr>
          <a:xfrm>
            <a:off x="609904" y="1407514"/>
            <a:ext cx="3529583" cy="70121"/>
          </a:xfrm>
          <a:prstGeom prst="roundRect">
            <a:avLst>
              <a:gd name="adj" fmla="val 139034"/>
            </a:avLst>
          </a:prstGeom>
          <a:solidFill>
            <a:srgbClr val="2A9D8F"/>
          </a:solidFill>
          <a:ln w="12700">
            <a:solidFill>
              <a:srgbClr val="2A9D8F">
                <a:alpha val="0"/>
              </a:srgbClr>
            </a:solidFill>
            <a:prstDash val="solid"/>
          </a:ln>
        </p:spPr>
        <p:txBody>
          <a:bodyPr/>
          <a:lstStyle/>
          <a:p>
            <a:endParaRPr lang="en-US"/>
          </a:p>
        </p:txBody>
      </p:sp>
      <p:sp>
        <p:nvSpPr>
          <p:cNvPr id="32" name="Shape 4">
            <a:extLst>
              <a:ext uri="{FF2B5EF4-FFF2-40B4-BE49-F238E27FC236}">
                <a16:creationId xmlns:a16="http://schemas.microsoft.com/office/drawing/2014/main" id="{3E4CD662-29F3-F704-F276-7809D2AFD6D9}"/>
              </a:ext>
            </a:extLst>
          </p:cNvPr>
          <p:cNvSpPr/>
          <p:nvPr/>
        </p:nvSpPr>
        <p:spPr>
          <a:xfrm>
            <a:off x="4350815" y="1416659"/>
            <a:ext cx="3529583" cy="70121"/>
          </a:xfrm>
          <a:prstGeom prst="roundRect">
            <a:avLst>
              <a:gd name="adj" fmla="val 139034"/>
            </a:avLst>
          </a:prstGeom>
          <a:solidFill>
            <a:srgbClr val="2A9D8F"/>
          </a:solidFill>
          <a:ln w="12700">
            <a:solidFill>
              <a:srgbClr val="2A9D8F">
                <a:alpha val="0"/>
              </a:srgbClr>
            </a:solidFill>
            <a:prstDash val="solid"/>
          </a:ln>
        </p:spPr>
        <p:txBody>
          <a:bodyPr/>
          <a:lstStyle/>
          <a:p>
            <a:endParaRPr lang="en-US"/>
          </a:p>
        </p:txBody>
      </p:sp>
      <p:sp>
        <p:nvSpPr>
          <p:cNvPr id="33" name="Shape 4">
            <a:extLst>
              <a:ext uri="{FF2B5EF4-FFF2-40B4-BE49-F238E27FC236}">
                <a16:creationId xmlns:a16="http://schemas.microsoft.com/office/drawing/2014/main" id="{9075DFCB-AF89-7D04-C4FC-01891F6C3BB0}"/>
              </a:ext>
            </a:extLst>
          </p:cNvPr>
          <p:cNvSpPr/>
          <p:nvPr/>
        </p:nvSpPr>
        <p:spPr>
          <a:xfrm>
            <a:off x="8091726" y="1425804"/>
            <a:ext cx="3529583" cy="70121"/>
          </a:xfrm>
          <a:prstGeom prst="roundRect">
            <a:avLst>
              <a:gd name="adj" fmla="val 139034"/>
            </a:avLst>
          </a:prstGeom>
          <a:solidFill>
            <a:srgbClr val="2A9D8F"/>
          </a:solidFill>
          <a:ln w="12700">
            <a:solidFill>
              <a:srgbClr val="2A9D8F">
                <a:alpha val="0"/>
              </a:srgbClr>
            </a:solidFill>
            <a:prstDash val="solid"/>
          </a:ln>
        </p:spPr>
        <p:txBody>
          <a:bodyPr/>
          <a:lstStyle/>
          <a:p>
            <a:endParaRPr lang="en-US"/>
          </a:p>
        </p:txBody>
      </p:sp>
      <p:sp>
        <p:nvSpPr>
          <p:cNvPr id="35" name="Shape 4">
            <a:extLst>
              <a:ext uri="{FF2B5EF4-FFF2-40B4-BE49-F238E27FC236}">
                <a16:creationId xmlns:a16="http://schemas.microsoft.com/office/drawing/2014/main" id="{A97E8DC9-4566-74DF-15C9-E0059E5C68E7}"/>
              </a:ext>
            </a:extLst>
          </p:cNvPr>
          <p:cNvSpPr/>
          <p:nvPr/>
        </p:nvSpPr>
        <p:spPr>
          <a:xfrm rot="5400000" flipV="1">
            <a:off x="-207001" y="4844827"/>
            <a:ext cx="1715701" cy="57605"/>
          </a:xfrm>
          <a:prstGeom prst="roundRect">
            <a:avLst>
              <a:gd name="adj" fmla="val 139034"/>
            </a:avLst>
          </a:prstGeom>
          <a:solidFill>
            <a:srgbClr val="2A9D8F"/>
          </a:solidFill>
          <a:ln w="12700">
            <a:solidFill>
              <a:srgbClr val="2A9D8F">
                <a:alpha val="0"/>
              </a:srgbClr>
            </a:solidFill>
            <a:prstDash val="solid"/>
          </a:ln>
        </p:spPr>
        <p:txBody>
          <a:bodyPr/>
          <a:lstStyle/>
          <a:p>
            <a:endParaRPr lang="en-US"/>
          </a:p>
        </p:txBody>
      </p:sp>
      <p:pic>
        <p:nvPicPr>
          <p:cNvPr id="12" name="Image 3" descr="gen-dedup-777bf757d895431cabe402fcd34ebd5a.png">
            <a:extLst>
              <a:ext uri="{FF2B5EF4-FFF2-40B4-BE49-F238E27FC236}">
                <a16:creationId xmlns:a16="http://schemas.microsoft.com/office/drawing/2014/main" id="{73DE425D-BB59-5660-A20F-C025D9F14FF2}"/>
              </a:ext>
            </a:extLst>
          </p:cNvPr>
          <p:cNvPicPr>
            <a:picLocks noChangeAspect="1"/>
          </p:cNvPicPr>
          <p:nvPr/>
        </p:nvPicPr>
        <p:blipFill>
          <a:blip r:embed="rId8">
            <a:biLevel thresh="75000"/>
          </a:blip>
          <a:srcRect l="-384" r="-384"/>
          <a:stretch/>
        </p:blipFill>
        <p:spPr>
          <a:xfrm>
            <a:off x="571500" y="381305"/>
            <a:ext cx="57607" cy="476402"/>
          </a:xfrm>
          <a:prstGeom prst="rect">
            <a:avLst/>
          </a:prstGeom>
        </p:spPr>
      </p:pic>
      <p:sp>
        <p:nvSpPr>
          <p:cNvPr id="26" name="Text 5">
            <a:extLst>
              <a:ext uri="{FF2B5EF4-FFF2-40B4-BE49-F238E27FC236}">
                <a16:creationId xmlns:a16="http://schemas.microsoft.com/office/drawing/2014/main" id="{31C28746-AA76-68A0-8F4A-37594F37530A}"/>
              </a:ext>
            </a:extLst>
          </p:cNvPr>
          <p:cNvSpPr txBox="1"/>
          <p:nvPr/>
        </p:nvSpPr>
        <p:spPr>
          <a:xfrm>
            <a:off x="780897" y="333756"/>
            <a:ext cx="5913817" cy="406908"/>
          </a:xfrm>
          <a:prstGeom prst="rect">
            <a:avLst/>
          </a:prstGeom>
          <a:noFill/>
          <a:ln/>
        </p:spPr>
        <p:txBody>
          <a:bodyPr wrap="none" lIns="0" tIns="0" rIns="0" bIns="0" rtlCol="0" anchor="ctr"/>
          <a:lstStyle/>
          <a:p>
            <a:r>
              <a:rPr lang="en-GB" sz="2400" b="1" kern="0" spc="-67" dirty="0">
                <a:solidFill>
                  <a:srgbClr val="111827"/>
                </a:solidFill>
                <a:latin typeface="Oswald" pitchFamily="34" charset="0"/>
                <a:ea typeface="Oswald" pitchFamily="34" charset="-122"/>
                <a:cs typeface="Oswald" pitchFamily="34" charset="-120"/>
              </a:rPr>
              <a:t>OUR ENGAGEMENT MODEL</a:t>
            </a:r>
          </a:p>
        </p:txBody>
      </p:sp>
      <p:sp>
        <p:nvSpPr>
          <p:cNvPr id="37" name="Text 6">
            <a:extLst>
              <a:ext uri="{FF2B5EF4-FFF2-40B4-BE49-F238E27FC236}">
                <a16:creationId xmlns:a16="http://schemas.microsoft.com/office/drawing/2014/main" id="{D3F6A5A0-C7A7-2164-127A-A20D83A599F6}"/>
              </a:ext>
            </a:extLst>
          </p:cNvPr>
          <p:cNvSpPr txBox="1"/>
          <p:nvPr/>
        </p:nvSpPr>
        <p:spPr>
          <a:xfrm>
            <a:off x="780898" y="740663"/>
            <a:ext cx="5054803" cy="257861"/>
          </a:xfrm>
          <a:prstGeom prst="rect">
            <a:avLst/>
          </a:prstGeom>
          <a:noFill/>
          <a:ln/>
        </p:spPr>
        <p:txBody>
          <a:bodyPr wrap="none" lIns="0" tIns="0" rIns="0" bIns="0" rtlCol="0" anchor="ctr"/>
          <a:lstStyle/>
          <a:p>
            <a:pPr marL="0" indent="0" algn="l">
              <a:buNone/>
            </a:pPr>
            <a:r>
              <a:rPr lang="en-GB" sz="1500" b="1" kern="0" spc="66" dirty="0">
                <a:solidFill>
                  <a:srgbClr val="2A9D8F"/>
                </a:solidFill>
                <a:latin typeface="Roboto Condensed" pitchFamily="34" charset="0"/>
                <a:ea typeface="Roboto Condensed" pitchFamily="34" charset="-122"/>
                <a:cs typeface="Roboto Condensed" pitchFamily="34" charset="-120"/>
              </a:rPr>
              <a:t>Three Ways To Engage - Each Built Around How The Workforce Is Hired, Held And Transitioned To You.</a:t>
            </a:r>
          </a:p>
        </p:txBody>
      </p:sp>
    </p:spTree>
    <p:extLst>
      <p:ext uri="{BB962C8B-B14F-4D97-AF65-F5344CB8AC3E}">
        <p14:creationId xmlns:p14="http://schemas.microsoft.com/office/powerpoint/2010/main" val="21637127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810598" y="-952805"/>
            <a:ext cx="2857500" cy="2857500"/>
          </a:xfrm>
          <a:prstGeom prst="ellipse">
            <a:avLst/>
          </a:prstGeom>
          <a:solidFill>
            <a:srgbClr val="2A9D8F">
              <a:alpha val="5000"/>
            </a:srgbClr>
          </a:solidFill>
          <a:ln w="12700">
            <a:solidFill>
              <a:srgbClr val="FFFFFF">
                <a:alpha val="0"/>
              </a:srgbClr>
            </a:solidFill>
            <a:prstDash val="solid"/>
          </a:ln>
        </p:spPr>
        <p:txBody>
          <a:bodyPr/>
          <a:lstStyle/>
          <a:p>
            <a:endParaRPr lang="en-US"/>
          </a:p>
        </p:txBody>
      </p:sp>
      <p:sp>
        <p:nvSpPr>
          <p:cNvPr id="3" name="Shape 1"/>
          <p:cNvSpPr/>
          <p:nvPr/>
        </p:nvSpPr>
        <p:spPr>
          <a:xfrm>
            <a:off x="-952805" y="3810305"/>
            <a:ext cx="3810305" cy="3810305"/>
          </a:xfrm>
          <a:prstGeom prst="ellipse">
            <a:avLst/>
          </a:prstGeom>
          <a:solidFill>
            <a:srgbClr val="D62839">
              <a:alpha val="3000"/>
            </a:srgbClr>
          </a:solidFill>
          <a:ln w="12700">
            <a:solidFill>
              <a:srgbClr val="FFFFFF">
                <a:alpha val="0"/>
              </a:srgbClr>
            </a:solidFill>
            <a:prstDash val="solid"/>
          </a:ln>
        </p:spPr>
        <p:txBody>
          <a:bodyPr/>
          <a:lstStyle/>
          <a:p>
            <a:endParaRPr lang="en-US"/>
          </a:p>
        </p:txBody>
      </p:sp>
      <p:pic>
        <p:nvPicPr>
          <p:cNvPr id="4" name="Image 0" descr="gen-dedup-34c26b4c5ec9888af3384e8d3541bb01.png"/>
          <p:cNvPicPr>
            <a:picLocks noChangeAspect="1"/>
          </p:cNvPicPr>
          <p:nvPr/>
        </p:nvPicPr>
        <p:blipFill>
          <a:blip r:embed="rId3"/>
          <a:srcRect t="-403" b="-403"/>
          <a:stretch/>
        </p:blipFill>
        <p:spPr>
          <a:xfrm>
            <a:off x="0" y="0"/>
            <a:ext cx="4876495" cy="57607"/>
          </a:xfrm>
          <a:prstGeom prst="rect">
            <a:avLst/>
          </a:prstGeom>
        </p:spPr>
      </p:pic>
      <p:pic>
        <p:nvPicPr>
          <p:cNvPr id="5" name="Image 1" descr="gen-dedup-4fa3233eeced3efae942f87c3fec22ca.png"/>
          <p:cNvPicPr>
            <a:picLocks noChangeAspect="1"/>
          </p:cNvPicPr>
          <p:nvPr/>
        </p:nvPicPr>
        <p:blipFill>
          <a:blip r:embed="rId4"/>
          <a:srcRect t="-400" b="-400"/>
          <a:stretch/>
        </p:blipFill>
        <p:spPr>
          <a:xfrm>
            <a:off x="4876495" y="0"/>
            <a:ext cx="7315200" cy="57607"/>
          </a:xfrm>
          <a:prstGeom prst="rect">
            <a:avLst/>
          </a:prstGeom>
        </p:spPr>
      </p:pic>
      <p:pic>
        <p:nvPicPr>
          <p:cNvPr id="7" name="Image 3" descr="gen-dedup-7f61158598543fc796bb3c2c27f958a4.png"/>
          <p:cNvPicPr>
            <a:picLocks noChangeAspect="1"/>
          </p:cNvPicPr>
          <p:nvPr/>
        </p:nvPicPr>
        <p:blipFill>
          <a:blip r:embed="rId5"/>
          <a:srcRect t="-388" b="-388"/>
          <a:stretch/>
        </p:blipFill>
        <p:spPr>
          <a:xfrm>
            <a:off x="1548555" y="1437870"/>
            <a:ext cx="1295705" cy="19202"/>
          </a:xfrm>
          <a:prstGeom prst="rect">
            <a:avLst/>
          </a:prstGeom>
        </p:spPr>
      </p:pic>
      <p:pic>
        <p:nvPicPr>
          <p:cNvPr id="8" name="Image 4" descr="gen-dedup-7f61158598543fc796bb3c2c27f958a4.png"/>
          <p:cNvPicPr>
            <a:picLocks noChangeAspect="1"/>
          </p:cNvPicPr>
          <p:nvPr/>
        </p:nvPicPr>
        <p:blipFill>
          <a:blip r:embed="rId5"/>
          <a:srcRect t="-388" b="-388"/>
          <a:stretch/>
        </p:blipFill>
        <p:spPr>
          <a:xfrm>
            <a:off x="3454165" y="1437870"/>
            <a:ext cx="1295705" cy="19202"/>
          </a:xfrm>
          <a:prstGeom prst="rect">
            <a:avLst/>
          </a:prstGeom>
        </p:spPr>
      </p:pic>
      <p:pic>
        <p:nvPicPr>
          <p:cNvPr id="9" name="Image 5" descr="gen-dedup-7f61158598543fc796bb3c2c27f958a4.png"/>
          <p:cNvPicPr>
            <a:picLocks noChangeAspect="1"/>
          </p:cNvPicPr>
          <p:nvPr/>
        </p:nvPicPr>
        <p:blipFill>
          <a:blip r:embed="rId5"/>
          <a:srcRect t="-388" b="-388"/>
          <a:stretch/>
        </p:blipFill>
        <p:spPr>
          <a:xfrm>
            <a:off x="5358860" y="1437870"/>
            <a:ext cx="1295705" cy="19202"/>
          </a:xfrm>
          <a:prstGeom prst="rect">
            <a:avLst/>
          </a:prstGeom>
        </p:spPr>
      </p:pic>
      <p:pic>
        <p:nvPicPr>
          <p:cNvPr id="10" name="Image 6" descr="gen-dedup-7f61158598543fc796bb3c2c27f958a4.png"/>
          <p:cNvPicPr>
            <a:picLocks noChangeAspect="1"/>
          </p:cNvPicPr>
          <p:nvPr/>
        </p:nvPicPr>
        <p:blipFill>
          <a:blip r:embed="rId5"/>
          <a:srcRect t="-388" b="-388"/>
          <a:stretch/>
        </p:blipFill>
        <p:spPr>
          <a:xfrm>
            <a:off x="7263555" y="1437870"/>
            <a:ext cx="1295705" cy="19202"/>
          </a:xfrm>
          <a:prstGeom prst="rect">
            <a:avLst/>
          </a:prstGeom>
        </p:spPr>
      </p:pic>
      <p:pic>
        <p:nvPicPr>
          <p:cNvPr id="11" name="Image 7" descr="gen-dedup-7f61158598543fc796bb3c2c27f958a4.png"/>
          <p:cNvPicPr>
            <a:picLocks noChangeAspect="1"/>
          </p:cNvPicPr>
          <p:nvPr/>
        </p:nvPicPr>
        <p:blipFill>
          <a:blip r:embed="rId5"/>
          <a:srcRect t="-388" b="-388"/>
          <a:stretch/>
        </p:blipFill>
        <p:spPr>
          <a:xfrm>
            <a:off x="9169165" y="1437870"/>
            <a:ext cx="1295705" cy="19202"/>
          </a:xfrm>
          <a:prstGeom prst="rect">
            <a:avLst/>
          </a:prstGeom>
        </p:spPr>
      </p:pic>
      <p:sp>
        <p:nvSpPr>
          <p:cNvPr id="12" name="Shape 2"/>
          <p:cNvSpPr/>
          <p:nvPr/>
        </p:nvSpPr>
        <p:spPr>
          <a:xfrm>
            <a:off x="381305" y="4858207"/>
            <a:ext cx="11449202" cy="1666951"/>
          </a:xfrm>
          <a:prstGeom prst="roundRect">
            <a:avLst>
              <a:gd name="adj" fmla="val 4553"/>
            </a:avLst>
          </a:prstGeom>
          <a:solidFill>
            <a:srgbClr val="FFFFFF"/>
          </a:solidFill>
          <a:ln w="12700">
            <a:solidFill>
              <a:srgbClr val="E5E8EE"/>
            </a:solidFill>
            <a:prstDash val="solid"/>
          </a:ln>
          <a:effectLst>
            <a:outerShdw blurRad="114300" dist="38100" dir="16200000" algn="bl" rotWithShape="0">
              <a:srgbClr val="000000">
                <a:alpha val="3000"/>
              </a:srgbClr>
            </a:outerShdw>
          </a:effectLst>
        </p:spPr>
        <p:txBody>
          <a:bodyPr/>
          <a:lstStyle/>
          <a:p>
            <a:endParaRPr lang="en-US"/>
          </a:p>
        </p:txBody>
      </p:sp>
      <p:sp>
        <p:nvSpPr>
          <p:cNvPr id="13" name="Shape 3"/>
          <p:cNvSpPr/>
          <p:nvPr/>
        </p:nvSpPr>
        <p:spPr>
          <a:xfrm>
            <a:off x="381305" y="4858207"/>
            <a:ext cx="11449202" cy="38405"/>
          </a:xfrm>
          <a:prstGeom prst="roundRect">
            <a:avLst>
              <a:gd name="adj" fmla="val 197618"/>
            </a:avLst>
          </a:prstGeom>
          <a:solidFill>
            <a:srgbClr val="1F2A44"/>
          </a:solidFill>
          <a:ln w="12700">
            <a:solidFill>
              <a:srgbClr val="1F2A44">
                <a:alpha val="0"/>
              </a:srgbClr>
            </a:solidFill>
            <a:prstDash val="solid"/>
          </a:ln>
        </p:spPr>
        <p:txBody>
          <a:bodyPr/>
          <a:lstStyle/>
          <a:p>
            <a:endParaRPr lang="en-US">
              <a:latin typeface="Raleway" pitchFamily="2" charset="0"/>
            </a:endParaRPr>
          </a:p>
        </p:txBody>
      </p:sp>
      <p:pic>
        <p:nvPicPr>
          <p:cNvPr id="14" name="Image 8" descr="gen-dedup-ab1146f3f355eca22c0d9b03e8fdfd45.png"/>
          <p:cNvPicPr>
            <a:picLocks noChangeAspect="1"/>
          </p:cNvPicPr>
          <p:nvPr/>
        </p:nvPicPr>
        <p:blipFill>
          <a:blip r:embed="rId6"/>
          <a:srcRect/>
          <a:stretch/>
        </p:blipFill>
        <p:spPr>
          <a:xfrm>
            <a:off x="939565" y="1133375"/>
            <a:ext cx="647395" cy="647395"/>
          </a:xfrm>
          <a:prstGeom prst="rect">
            <a:avLst/>
          </a:prstGeom>
        </p:spPr>
      </p:pic>
      <p:sp>
        <p:nvSpPr>
          <p:cNvPr id="15" name="Shape 4"/>
          <p:cNvSpPr/>
          <p:nvPr/>
        </p:nvSpPr>
        <p:spPr>
          <a:xfrm>
            <a:off x="381305" y="2020197"/>
            <a:ext cx="1714500" cy="342900"/>
          </a:xfrm>
          <a:prstGeom prst="roundRect">
            <a:avLst>
              <a:gd name="adj" fmla="val 16800"/>
            </a:avLst>
          </a:prstGeom>
          <a:solidFill>
            <a:srgbClr val="2A9D8F"/>
          </a:solidFill>
          <a:ln w="12700">
            <a:solidFill>
              <a:srgbClr val="FFFFFF">
                <a:alpha val="0"/>
              </a:srgbClr>
            </a:solidFill>
            <a:prstDash val="solid"/>
          </a:ln>
        </p:spPr>
        <p:txBody>
          <a:bodyPr/>
          <a:lstStyle/>
          <a:p>
            <a:endParaRPr lang="en-US">
              <a:latin typeface="Raleway" pitchFamily="2" charset="0"/>
            </a:endParaRPr>
          </a:p>
        </p:txBody>
      </p:sp>
      <p:pic>
        <p:nvPicPr>
          <p:cNvPr id="16" name="Image 9" descr="gen-dedup-751f54efc8996aa3b67bfa9254252285.png"/>
          <p:cNvPicPr>
            <a:picLocks noChangeAspect="1"/>
          </p:cNvPicPr>
          <p:nvPr/>
        </p:nvPicPr>
        <p:blipFill>
          <a:blip r:embed="rId7"/>
          <a:srcRect l="-13014" r="-13014"/>
          <a:stretch/>
        </p:blipFill>
        <p:spPr>
          <a:xfrm>
            <a:off x="2634862" y="1381279"/>
            <a:ext cx="105156" cy="133502"/>
          </a:xfrm>
          <a:prstGeom prst="rect">
            <a:avLst/>
          </a:prstGeom>
        </p:spPr>
      </p:pic>
      <p:pic>
        <p:nvPicPr>
          <p:cNvPr id="17" name="Image 10" descr="gen-dedup-084ed169e39c505ee56d1059d1e7f5e0.png"/>
          <p:cNvPicPr>
            <a:picLocks noChangeAspect="1"/>
          </p:cNvPicPr>
          <p:nvPr/>
        </p:nvPicPr>
        <p:blipFill>
          <a:blip r:embed="rId8"/>
          <a:srcRect/>
          <a:stretch/>
        </p:blipFill>
        <p:spPr>
          <a:xfrm>
            <a:off x="2844260" y="1133375"/>
            <a:ext cx="647395" cy="647395"/>
          </a:xfrm>
          <a:prstGeom prst="rect">
            <a:avLst/>
          </a:prstGeom>
        </p:spPr>
      </p:pic>
      <p:sp>
        <p:nvSpPr>
          <p:cNvPr id="18" name="Shape 5"/>
          <p:cNvSpPr/>
          <p:nvPr/>
        </p:nvSpPr>
        <p:spPr>
          <a:xfrm>
            <a:off x="2286000" y="2020197"/>
            <a:ext cx="1714500" cy="342900"/>
          </a:xfrm>
          <a:prstGeom prst="roundRect">
            <a:avLst>
              <a:gd name="adj" fmla="val 16800"/>
            </a:avLst>
          </a:prstGeom>
          <a:solidFill>
            <a:schemeClr val="bg1">
              <a:lumMod val="50000"/>
            </a:schemeClr>
          </a:solidFill>
          <a:ln w="12700">
            <a:solidFill>
              <a:srgbClr val="FFFFFF">
                <a:alpha val="0"/>
              </a:srgbClr>
            </a:solidFill>
            <a:prstDash val="solid"/>
          </a:ln>
        </p:spPr>
        <p:txBody>
          <a:bodyPr/>
          <a:lstStyle/>
          <a:p>
            <a:endParaRPr lang="en-US">
              <a:latin typeface="Raleway" pitchFamily="2" charset="0"/>
            </a:endParaRPr>
          </a:p>
        </p:txBody>
      </p:sp>
      <p:pic>
        <p:nvPicPr>
          <p:cNvPr id="19" name="Image 11" descr="gen-dedup-751f54efc8996aa3b67bfa9254252285.png"/>
          <p:cNvPicPr>
            <a:picLocks noChangeAspect="1"/>
          </p:cNvPicPr>
          <p:nvPr/>
        </p:nvPicPr>
        <p:blipFill>
          <a:blip r:embed="rId7"/>
          <a:srcRect l="-13014" r="-13014"/>
          <a:stretch/>
        </p:blipFill>
        <p:spPr>
          <a:xfrm>
            <a:off x="4539558" y="1381279"/>
            <a:ext cx="105156" cy="133502"/>
          </a:xfrm>
          <a:prstGeom prst="rect">
            <a:avLst/>
          </a:prstGeom>
        </p:spPr>
      </p:pic>
      <p:pic>
        <p:nvPicPr>
          <p:cNvPr id="20" name="Image 12" descr="gen-dedup-f03bd5e991a1e95ba5f86664ffaf90b6.png"/>
          <p:cNvPicPr>
            <a:picLocks noChangeAspect="1"/>
          </p:cNvPicPr>
          <p:nvPr/>
        </p:nvPicPr>
        <p:blipFill>
          <a:blip r:embed="rId9"/>
          <a:srcRect/>
          <a:stretch/>
        </p:blipFill>
        <p:spPr>
          <a:xfrm>
            <a:off x="4748955" y="1133375"/>
            <a:ext cx="647395" cy="647395"/>
          </a:xfrm>
          <a:prstGeom prst="rect">
            <a:avLst/>
          </a:prstGeom>
        </p:spPr>
      </p:pic>
      <p:sp>
        <p:nvSpPr>
          <p:cNvPr id="21" name="Shape 6"/>
          <p:cNvSpPr/>
          <p:nvPr/>
        </p:nvSpPr>
        <p:spPr>
          <a:xfrm>
            <a:off x="4190695" y="2020197"/>
            <a:ext cx="1714500" cy="342900"/>
          </a:xfrm>
          <a:prstGeom prst="roundRect">
            <a:avLst>
              <a:gd name="adj" fmla="val 16800"/>
            </a:avLst>
          </a:prstGeom>
          <a:solidFill>
            <a:srgbClr val="2A9D8F"/>
          </a:solidFill>
          <a:ln w="12700">
            <a:solidFill>
              <a:srgbClr val="FFFFFF">
                <a:alpha val="0"/>
              </a:srgbClr>
            </a:solidFill>
            <a:prstDash val="solid"/>
          </a:ln>
        </p:spPr>
        <p:txBody>
          <a:bodyPr/>
          <a:lstStyle/>
          <a:p>
            <a:endParaRPr lang="en-US">
              <a:latin typeface="Raleway" pitchFamily="2" charset="0"/>
            </a:endParaRPr>
          </a:p>
        </p:txBody>
      </p:sp>
      <p:pic>
        <p:nvPicPr>
          <p:cNvPr id="22" name="Image 13" descr="gen-dedup-751f54efc8996aa3b67bfa9254252285.png"/>
          <p:cNvPicPr>
            <a:picLocks noChangeAspect="1"/>
          </p:cNvPicPr>
          <p:nvPr/>
        </p:nvPicPr>
        <p:blipFill>
          <a:blip r:embed="rId7"/>
          <a:srcRect l="-13014" r="-13014"/>
          <a:stretch/>
        </p:blipFill>
        <p:spPr>
          <a:xfrm>
            <a:off x="6445167" y="1381279"/>
            <a:ext cx="105156" cy="133502"/>
          </a:xfrm>
          <a:prstGeom prst="rect">
            <a:avLst/>
          </a:prstGeom>
        </p:spPr>
      </p:pic>
      <p:pic>
        <p:nvPicPr>
          <p:cNvPr id="23" name="Image 14" descr="gen-dedup-806dc9e2e0ee6d295653696f70b9366b.png"/>
          <p:cNvPicPr>
            <a:picLocks noChangeAspect="1"/>
          </p:cNvPicPr>
          <p:nvPr/>
        </p:nvPicPr>
        <p:blipFill>
          <a:blip r:embed="rId10"/>
          <a:srcRect/>
          <a:stretch/>
        </p:blipFill>
        <p:spPr>
          <a:xfrm>
            <a:off x="6654565" y="1133375"/>
            <a:ext cx="647395" cy="647395"/>
          </a:xfrm>
          <a:prstGeom prst="rect">
            <a:avLst/>
          </a:prstGeom>
        </p:spPr>
      </p:pic>
      <p:sp>
        <p:nvSpPr>
          <p:cNvPr id="24" name="Shape 7"/>
          <p:cNvSpPr/>
          <p:nvPr/>
        </p:nvSpPr>
        <p:spPr>
          <a:xfrm>
            <a:off x="6096305" y="2020197"/>
            <a:ext cx="1714500" cy="342900"/>
          </a:xfrm>
          <a:prstGeom prst="roundRect">
            <a:avLst>
              <a:gd name="adj" fmla="val 16800"/>
            </a:avLst>
          </a:prstGeom>
          <a:solidFill>
            <a:schemeClr val="bg1">
              <a:lumMod val="50000"/>
            </a:schemeClr>
          </a:solidFill>
          <a:ln w="12700">
            <a:solidFill>
              <a:srgbClr val="FFFFFF">
                <a:alpha val="0"/>
              </a:srgbClr>
            </a:solidFill>
            <a:prstDash val="solid"/>
          </a:ln>
        </p:spPr>
        <p:txBody>
          <a:bodyPr/>
          <a:lstStyle/>
          <a:p>
            <a:endParaRPr lang="en-US">
              <a:latin typeface="Raleway" pitchFamily="2" charset="0"/>
            </a:endParaRPr>
          </a:p>
        </p:txBody>
      </p:sp>
      <p:pic>
        <p:nvPicPr>
          <p:cNvPr id="25" name="Image 15" descr="gen-dedup-751f54efc8996aa3b67bfa9254252285.png"/>
          <p:cNvPicPr>
            <a:picLocks noChangeAspect="1"/>
          </p:cNvPicPr>
          <p:nvPr/>
        </p:nvPicPr>
        <p:blipFill>
          <a:blip r:embed="rId7"/>
          <a:srcRect l="-13014" r="-13014"/>
          <a:stretch/>
        </p:blipFill>
        <p:spPr>
          <a:xfrm>
            <a:off x="8349862" y="1381279"/>
            <a:ext cx="105156" cy="133502"/>
          </a:xfrm>
          <a:prstGeom prst="rect">
            <a:avLst/>
          </a:prstGeom>
        </p:spPr>
      </p:pic>
      <p:pic>
        <p:nvPicPr>
          <p:cNvPr id="26" name="Image 16" descr="gen-dedup-ad6b9b0bf83ce2bd5a7c7b4006cbbe94.png"/>
          <p:cNvPicPr>
            <a:picLocks noChangeAspect="1"/>
          </p:cNvPicPr>
          <p:nvPr/>
        </p:nvPicPr>
        <p:blipFill>
          <a:blip r:embed="rId11"/>
          <a:srcRect/>
          <a:stretch/>
        </p:blipFill>
        <p:spPr>
          <a:xfrm>
            <a:off x="8559260" y="1133375"/>
            <a:ext cx="647395" cy="647395"/>
          </a:xfrm>
          <a:prstGeom prst="rect">
            <a:avLst/>
          </a:prstGeom>
        </p:spPr>
      </p:pic>
      <p:sp>
        <p:nvSpPr>
          <p:cNvPr id="27" name="Shape 8"/>
          <p:cNvSpPr/>
          <p:nvPr/>
        </p:nvSpPr>
        <p:spPr>
          <a:xfrm>
            <a:off x="8001000" y="2020197"/>
            <a:ext cx="1714500" cy="342900"/>
          </a:xfrm>
          <a:prstGeom prst="roundRect">
            <a:avLst>
              <a:gd name="adj" fmla="val 16800"/>
            </a:avLst>
          </a:prstGeom>
          <a:solidFill>
            <a:srgbClr val="2A9D8F"/>
          </a:solidFill>
          <a:ln w="12700">
            <a:solidFill>
              <a:srgbClr val="FFFFFF">
                <a:alpha val="0"/>
              </a:srgbClr>
            </a:solidFill>
            <a:prstDash val="solid"/>
          </a:ln>
        </p:spPr>
        <p:txBody>
          <a:bodyPr/>
          <a:lstStyle/>
          <a:p>
            <a:endParaRPr lang="en-US">
              <a:latin typeface="Raleway" pitchFamily="2" charset="0"/>
            </a:endParaRPr>
          </a:p>
        </p:txBody>
      </p:sp>
      <p:pic>
        <p:nvPicPr>
          <p:cNvPr id="28" name="Image 17" descr="gen-dedup-751f54efc8996aa3b67bfa9254252285.png"/>
          <p:cNvPicPr>
            <a:picLocks noChangeAspect="1"/>
          </p:cNvPicPr>
          <p:nvPr/>
        </p:nvPicPr>
        <p:blipFill>
          <a:blip r:embed="rId7"/>
          <a:srcRect l="-13014" r="-13014"/>
          <a:stretch/>
        </p:blipFill>
        <p:spPr>
          <a:xfrm>
            <a:off x="10254558" y="1381279"/>
            <a:ext cx="105156" cy="133502"/>
          </a:xfrm>
          <a:prstGeom prst="rect">
            <a:avLst/>
          </a:prstGeom>
        </p:spPr>
      </p:pic>
      <p:pic>
        <p:nvPicPr>
          <p:cNvPr id="29" name="Image 18" descr="gen-dedup-b46550ae4e6ed9a58f8d7957a285dc33.png"/>
          <p:cNvPicPr>
            <a:picLocks noChangeAspect="1"/>
          </p:cNvPicPr>
          <p:nvPr/>
        </p:nvPicPr>
        <p:blipFill>
          <a:blip r:embed="rId12"/>
          <a:srcRect/>
          <a:stretch/>
        </p:blipFill>
        <p:spPr>
          <a:xfrm>
            <a:off x="10463955" y="1133375"/>
            <a:ext cx="647395" cy="647395"/>
          </a:xfrm>
          <a:prstGeom prst="rect">
            <a:avLst/>
          </a:prstGeom>
        </p:spPr>
      </p:pic>
      <p:sp>
        <p:nvSpPr>
          <p:cNvPr id="30" name="Shape 9"/>
          <p:cNvSpPr/>
          <p:nvPr/>
        </p:nvSpPr>
        <p:spPr>
          <a:xfrm>
            <a:off x="9905695" y="2020197"/>
            <a:ext cx="1714500" cy="342900"/>
          </a:xfrm>
          <a:prstGeom prst="roundRect">
            <a:avLst>
              <a:gd name="adj" fmla="val 16800"/>
            </a:avLst>
          </a:prstGeom>
          <a:solidFill>
            <a:schemeClr val="bg1">
              <a:lumMod val="50000"/>
            </a:schemeClr>
          </a:solidFill>
          <a:ln w="12700">
            <a:solidFill>
              <a:srgbClr val="FFFFFF">
                <a:alpha val="0"/>
              </a:srgbClr>
            </a:solidFill>
            <a:prstDash val="solid"/>
          </a:ln>
        </p:spPr>
        <p:txBody>
          <a:bodyPr/>
          <a:lstStyle/>
          <a:p>
            <a:endParaRPr lang="en-US">
              <a:latin typeface="Raleway" pitchFamily="2" charset="0"/>
            </a:endParaRPr>
          </a:p>
        </p:txBody>
      </p:sp>
      <p:pic>
        <p:nvPicPr>
          <p:cNvPr id="32" name="Image 19" descr="gen-dedup-4a6b4084955cbd0659fccb83d04c1ff8.png"/>
          <p:cNvPicPr>
            <a:picLocks noChangeAspect="1"/>
          </p:cNvPicPr>
          <p:nvPr/>
        </p:nvPicPr>
        <p:blipFill>
          <a:blip r:embed="rId13"/>
          <a:srcRect l="-2283" r="-2283"/>
          <a:stretch/>
        </p:blipFill>
        <p:spPr>
          <a:xfrm>
            <a:off x="1138904" y="1305282"/>
            <a:ext cx="209398" cy="267005"/>
          </a:xfrm>
          <a:prstGeom prst="rect">
            <a:avLst/>
          </a:prstGeom>
        </p:spPr>
      </p:pic>
      <p:sp>
        <p:nvSpPr>
          <p:cNvPr id="33" name="Text 11"/>
          <p:cNvSpPr txBox="1"/>
          <p:nvPr/>
        </p:nvSpPr>
        <p:spPr>
          <a:xfrm>
            <a:off x="381305" y="2116209"/>
            <a:ext cx="1714500" cy="152705"/>
          </a:xfrm>
          <a:prstGeom prst="rect">
            <a:avLst/>
          </a:prstGeom>
          <a:noFill/>
          <a:ln/>
        </p:spPr>
        <p:txBody>
          <a:bodyPr wrap="none" lIns="0" tIns="0" rIns="0" bIns="0" rtlCol="0" anchor="ctr"/>
          <a:lstStyle/>
          <a:p>
            <a:pPr marL="0" indent="0" algn="ctr">
              <a:buNone/>
            </a:pPr>
            <a:r>
              <a:rPr lang="en-US" sz="1300" b="1">
                <a:solidFill>
                  <a:srgbClr val="FFFFFF"/>
                </a:solidFill>
                <a:latin typeface="Raleway" pitchFamily="2" charset="0"/>
                <a:ea typeface="Inter" pitchFamily="34" charset="-122"/>
                <a:cs typeface="Inter" pitchFamily="34" charset="-120"/>
              </a:rPr>
              <a:t>Demand Planning</a:t>
            </a:r>
            <a:endParaRPr lang="en-US" sz="1300">
              <a:latin typeface="Raleway" pitchFamily="2" charset="0"/>
            </a:endParaRPr>
          </a:p>
        </p:txBody>
      </p:sp>
      <p:sp>
        <p:nvSpPr>
          <p:cNvPr id="34" name="Text 12"/>
          <p:cNvSpPr txBox="1"/>
          <p:nvPr/>
        </p:nvSpPr>
        <p:spPr>
          <a:xfrm>
            <a:off x="431800" y="2581539"/>
            <a:ext cx="1664005" cy="1128370"/>
          </a:xfrm>
          <a:prstGeom prst="rect">
            <a:avLst/>
          </a:prstGeom>
          <a:noFill/>
          <a:ln/>
        </p:spPr>
        <p:txBody>
          <a:bodyPr wrap="square" lIns="0" tIns="0" rIns="0" bIns="0" rtlCol="0" anchor="t"/>
          <a:lstStyle/>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​Receive hiring forecast and quarterly demand.</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​Finalize role requirements, SLAs, and timelines.</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​Allocate dedicated recruitment teams.</a:t>
            </a:r>
            <a:endParaRPr lang="en-US" sz="1150">
              <a:latin typeface="Raleway" pitchFamily="2" charset="0"/>
            </a:endParaRPr>
          </a:p>
        </p:txBody>
      </p:sp>
      <p:pic>
        <p:nvPicPr>
          <p:cNvPr id="35" name="Image 20" descr="gen-dedup-583ddbce9aa1176519b3ebf713c30048.png"/>
          <p:cNvPicPr>
            <a:picLocks noChangeAspect="1"/>
          </p:cNvPicPr>
          <p:nvPr/>
        </p:nvPicPr>
        <p:blipFill>
          <a:blip r:embed="rId14"/>
          <a:srcRect t="-29694" b="-29694"/>
          <a:stretch/>
        </p:blipFill>
        <p:spPr>
          <a:xfrm>
            <a:off x="2967514" y="1276407"/>
            <a:ext cx="365760" cy="365760"/>
          </a:xfrm>
          <a:prstGeom prst="rect">
            <a:avLst/>
          </a:prstGeom>
        </p:spPr>
      </p:pic>
      <p:sp>
        <p:nvSpPr>
          <p:cNvPr id="36" name="Text 13"/>
          <p:cNvSpPr txBox="1"/>
          <p:nvPr/>
        </p:nvSpPr>
        <p:spPr>
          <a:xfrm>
            <a:off x="2286000" y="2116209"/>
            <a:ext cx="1714500" cy="152705"/>
          </a:xfrm>
          <a:prstGeom prst="rect">
            <a:avLst/>
          </a:prstGeom>
          <a:noFill/>
          <a:ln/>
        </p:spPr>
        <p:txBody>
          <a:bodyPr wrap="none" lIns="0" tIns="0" rIns="0" bIns="0" rtlCol="0" anchor="ctr"/>
          <a:lstStyle/>
          <a:p>
            <a:pPr marL="0" indent="0" algn="ctr">
              <a:buNone/>
            </a:pPr>
            <a:r>
              <a:rPr lang="en-US" sz="1300" b="1">
                <a:solidFill>
                  <a:srgbClr val="FFFFFF"/>
                </a:solidFill>
                <a:latin typeface="Raleway" pitchFamily="2" charset="0"/>
                <a:ea typeface="Inter" pitchFamily="34" charset="-122"/>
                <a:cs typeface="Inter" pitchFamily="34" charset="-120"/>
              </a:rPr>
              <a:t>Talent Sourcing</a:t>
            </a:r>
            <a:endParaRPr lang="en-US" sz="1300">
              <a:latin typeface="Raleway" pitchFamily="2" charset="0"/>
            </a:endParaRPr>
          </a:p>
        </p:txBody>
      </p:sp>
      <p:sp>
        <p:nvSpPr>
          <p:cNvPr id="37" name="Text 14"/>
          <p:cNvSpPr txBox="1"/>
          <p:nvPr/>
        </p:nvSpPr>
        <p:spPr>
          <a:xfrm>
            <a:off x="2336495" y="2581539"/>
            <a:ext cx="1664005" cy="1515161"/>
          </a:xfrm>
          <a:prstGeom prst="rect">
            <a:avLst/>
          </a:prstGeom>
          <a:noFill/>
          <a:ln/>
        </p:spPr>
        <p:txBody>
          <a:bodyPr wrap="square" lIns="0" tIns="0" rIns="0" bIns="0" rtlCol="0" anchor="t"/>
          <a:lstStyle/>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​Target pool for voice roles</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​Top 20 partner colleges</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​10,000+ candidate database</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​Employee referrals</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​Job portals &amp; social media</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​3 weekly walk-in drives</a:t>
            </a:r>
            <a:endParaRPr lang="en-US" sz="1150">
              <a:latin typeface="Raleway" pitchFamily="2" charset="0"/>
            </a:endParaRPr>
          </a:p>
        </p:txBody>
      </p:sp>
      <p:pic>
        <p:nvPicPr>
          <p:cNvPr id="38" name="Image 21" descr="gen-dedup-b0e128b88bfd559ead5e7a3c3bdc5cee.png"/>
          <p:cNvPicPr>
            <a:picLocks noChangeAspect="1"/>
          </p:cNvPicPr>
          <p:nvPr/>
        </p:nvPicPr>
        <p:blipFill>
          <a:blip r:embed="rId15"/>
          <a:srcRect t="-31430" b="-31430"/>
          <a:stretch/>
        </p:blipFill>
        <p:spPr>
          <a:xfrm>
            <a:off x="4843767" y="1237426"/>
            <a:ext cx="457200" cy="457200"/>
          </a:xfrm>
          <a:prstGeom prst="rect">
            <a:avLst/>
          </a:prstGeom>
        </p:spPr>
      </p:pic>
      <p:sp>
        <p:nvSpPr>
          <p:cNvPr id="39" name="Text 15"/>
          <p:cNvSpPr txBox="1"/>
          <p:nvPr/>
        </p:nvSpPr>
        <p:spPr>
          <a:xfrm>
            <a:off x="4190695" y="2116209"/>
            <a:ext cx="1714500" cy="152705"/>
          </a:xfrm>
          <a:prstGeom prst="rect">
            <a:avLst/>
          </a:prstGeom>
          <a:noFill/>
          <a:ln/>
        </p:spPr>
        <p:txBody>
          <a:bodyPr wrap="none" lIns="0" tIns="0" rIns="0" bIns="0" rtlCol="0" anchor="ctr"/>
          <a:lstStyle/>
          <a:p>
            <a:pPr marL="0" indent="0" algn="ctr">
              <a:buNone/>
            </a:pPr>
            <a:r>
              <a:rPr lang="en-US" sz="1300" b="1">
                <a:solidFill>
                  <a:srgbClr val="FFFFFF"/>
                </a:solidFill>
                <a:latin typeface="Raleway" pitchFamily="2" charset="0"/>
                <a:ea typeface="Inter" pitchFamily="34" charset="-122"/>
                <a:cs typeface="Inter" pitchFamily="34" charset="-120"/>
              </a:rPr>
              <a:t>Screening &amp; Assess</a:t>
            </a:r>
            <a:endParaRPr lang="en-US" sz="1300">
              <a:latin typeface="Raleway" pitchFamily="2" charset="0"/>
            </a:endParaRPr>
          </a:p>
        </p:txBody>
      </p:sp>
      <p:sp>
        <p:nvSpPr>
          <p:cNvPr id="40" name="Text 16"/>
          <p:cNvSpPr txBox="1"/>
          <p:nvPr/>
        </p:nvSpPr>
        <p:spPr>
          <a:xfrm>
            <a:off x="4242105" y="2581539"/>
            <a:ext cx="1664005" cy="1279246"/>
          </a:xfrm>
          <a:prstGeom prst="rect">
            <a:avLst/>
          </a:prstGeom>
          <a:noFill/>
          <a:ln/>
        </p:spPr>
        <p:txBody>
          <a:bodyPr wrap="square" lIns="0" tIns="0" rIns="0" bIns="0" rtlCol="0" anchor="t"/>
          <a:lstStyle/>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​AI-powered screening</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​HR screening</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​Communication and aptitude assessment</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​Role-specific evaluation</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​Candidate shortlisting</a:t>
            </a:r>
            <a:endParaRPr lang="en-US" sz="1150">
              <a:latin typeface="Raleway" pitchFamily="2" charset="0"/>
            </a:endParaRPr>
          </a:p>
        </p:txBody>
      </p:sp>
      <p:pic>
        <p:nvPicPr>
          <p:cNvPr id="41" name="Image 22" descr="gen-dedup-c0e8b97501f6f827e5c293fa34a7379c.png"/>
          <p:cNvPicPr>
            <a:picLocks noChangeAspect="1"/>
          </p:cNvPicPr>
          <p:nvPr/>
        </p:nvPicPr>
        <p:blipFill>
          <a:blip r:embed="rId16"/>
          <a:srcRect t="-29694" b="-29694"/>
          <a:stretch/>
        </p:blipFill>
        <p:spPr>
          <a:xfrm>
            <a:off x="6738404" y="1228282"/>
            <a:ext cx="457200" cy="457200"/>
          </a:xfrm>
          <a:prstGeom prst="rect">
            <a:avLst/>
          </a:prstGeom>
        </p:spPr>
      </p:pic>
      <p:sp>
        <p:nvSpPr>
          <p:cNvPr id="42" name="Text 17"/>
          <p:cNvSpPr txBox="1"/>
          <p:nvPr/>
        </p:nvSpPr>
        <p:spPr>
          <a:xfrm>
            <a:off x="6096305" y="2116209"/>
            <a:ext cx="1714500" cy="152705"/>
          </a:xfrm>
          <a:prstGeom prst="rect">
            <a:avLst/>
          </a:prstGeom>
          <a:noFill/>
          <a:ln/>
        </p:spPr>
        <p:txBody>
          <a:bodyPr wrap="none" lIns="0" tIns="0" rIns="0" bIns="0" rtlCol="0" anchor="ctr"/>
          <a:lstStyle/>
          <a:p>
            <a:pPr marL="0" indent="0" algn="ctr">
              <a:buNone/>
            </a:pPr>
            <a:r>
              <a:rPr lang="en-US" sz="1300" b="1">
                <a:solidFill>
                  <a:srgbClr val="FFFFFF"/>
                </a:solidFill>
                <a:latin typeface="Raleway" pitchFamily="2" charset="0"/>
                <a:ea typeface="Inter" pitchFamily="34" charset="-122"/>
                <a:cs typeface="Inter" pitchFamily="34" charset="-120"/>
              </a:rPr>
              <a:t>Client Selection</a:t>
            </a:r>
            <a:endParaRPr lang="en-US" sz="1300">
              <a:latin typeface="Raleway" pitchFamily="2" charset="0"/>
            </a:endParaRPr>
          </a:p>
        </p:txBody>
      </p:sp>
      <p:sp>
        <p:nvSpPr>
          <p:cNvPr id="43" name="Text 18"/>
          <p:cNvSpPr txBox="1"/>
          <p:nvPr/>
        </p:nvSpPr>
        <p:spPr>
          <a:xfrm>
            <a:off x="6146800" y="2581539"/>
            <a:ext cx="1664005" cy="1365199"/>
          </a:xfrm>
          <a:prstGeom prst="rect">
            <a:avLst/>
          </a:prstGeom>
          <a:noFill/>
          <a:ln/>
        </p:spPr>
        <p:txBody>
          <a:bodyPr wrap="square" lIns="0" tIns="0" rIns="0" bIns="0" rtlCol="0" anchor="t"/>
          <a:lstStyle/>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​Schedule client interviews</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​Coordinate interview feedback</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​Manage candidate engagement</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​Release offers through AI-enabled platform</a:t>
            </a:r>
            <a:endParaRPr lang="en-US" sz="1150">
              <a:latin typeface="Raleway" pitchFamily="2" charset="0"/>
            </a:endParaRPr>
          </a:p>
        </p:txBody>
      </p:sp>
      <p:pic>
        <p:nvPicPr>
          <p:cNvPr id="44" name="Image 23" descr="gen-dedup-ac53abe7c25d3e6867ea233df4b39080.png"/>
          <p:cNvPicPr>
            <a:picLocks noChangeAspect="1"/>
          </p:cNvPicPr>
          <p:nvPr/>
        </p:nvPicPr>
        <p:blipFill>
          <a:blip r:embed="rId17"/>
          <a:srcRect t="-23287" b="-23287"/>
          <a:stretch/>
        </p:blipFill>
        <p:spPr>
          <a:xfrm>
            <a:off x="8691658" y="1285551"/>
            <a:ext cx="365760" cy="365760"/>
          </a:xfrm>
          <a:prstGeom prst="rect">
            <a:avLst/>
          </a:prstGeom>
        </p:spPr>
      </p:pic>
      <p:sp>
        <p:nvSpPr>
          <p:cNvPr id="45" name="Text 19"/>
          <p:cNvSpPr txBox="1"/>
          <p:nvPr/>
        </p:nvSpPr>
        <p:spPr>
          <a:xfrm>
            <a:off x="8001000" y="2116209"/>
            <a:ext cx="1714500" cy="152705"/>
          </a:xfrm>
          <a:prstGeom prst="rect">
            <a:avLst/>
          </a:prstGeom>
          <a:noFill/>
          <a:ln/>
        </p:spPr>
        <p:txBody>
          <a:bodyPr wrap="none" lIns="0" tIns="0" rIns="0" bIns="0" rtlCol="0" anchor="ctr"/>
          <a:lstStyle/>
          <a:p>
            <a:pPr marL="0" indent="0" algn="ctr">
              <a:buNone/>
            </a:pPr>
            <a:r>
              <a:rPr lang="en-US" sz="1300" b="1">
                <a:solidFill>
                  <a:srgbClr val="FFFFFF"/>
                </a:solidFill>
                <a:latin typeface="Raleway" pitchFamily="2" charset="0"/>
                <a:ea typeface="Inter" pitchFamily="34" charset="-122"/>
                <a:cs typeface="Inter" pitchFamily="34" charset="-120"/>
              </a:rPr>
              <a:t>Offer to Joining</a:t>
            </a:r>
            <a:endParaRPr lang="en-US" sz="1300">
              <a:latin typeface="Raleway" pitchFamily="2" charset="0"/>
            </a:endParaRPr>
          </a:p>
        </p:txBody>
      </p:sp>
      <p:sp>
        <p:nvSpPr>
          <p:cNvPr id="46" name="Text 20"/>
          <p:cNvSpPr txBox="1"/>
          <p:nvPr/>
        </p:nvSpPr>
        <p:spPr>
          <a:xfrm>
            <a:off x="8051495" y="2581539"/>
            <a:ext cx="1664005" cy="1119226"/>
          </a:xfrm>
          <a:prstGeom prst="rect">
            <a:avLst/>
          </a:prstGeom>
          <a:noFill/>
          <a:ln/>
        </p:spPr>
        <p:txBody>
          <a:bodyPr wrap="square" lIns="0" tIns="0" rIns="0" bIns="0" rtlCol="0" anchor="t"/>
          <a:lstStyle/>
          <a:p>
            <a:pPr marL="139700" indent="-139700" algn="l">
              <a:lnSpc>
                <a:spcPts val="1260"/>
              </a:lnSpc>
              <a:spcAft>
                <a:spcPts val="600"/>
              </a:spcAft>
              <a:buSzPct val="100000"/>
              <a:buChar char="•"/>
            </a:pPr>
            <a:r>
              <a:rPr lang="en-US" sz="1150" dirty="0">
                <a:solidFill>
                  <a:srgbClr val="4B5563"/>
                </a:solidFill>
                <a:latin typeface="Raleway" pitchFamily="2" charset="0"/>
                <a:ea typeface="Inter" pitchFamily="34" charset="-122"/>
                <a:cs typeface="Inter" pitchFamily="34" charset="-120"/>
              </a:rPr>
              <a:t>​Offer acceptance tracking</a:t>
            </a:r>
            <a:endParaRPr lang="en-US" sz="1150" dirty="0">
              <a:latin typeface="Raleway" pitchFamily="2" charset="0"/>
            </a:endParaRPr>
          </a:p>
          <a:p>
            <a:pPr marL="139700" indent="-139700" algn="l">
              <a:lnSpc>
                <a:spcPts val="1260"/>
              </a:lnSpc>
              <a:spcAft>
                <a:spcPts val="600"/>
              </a:spcAft>
              <a:buSzPct val="100000"/>
              <a:buChar char="•"/>
            </a:pPr>
            <a:r>
              <a:rPr lang="en-US" sz="1150" dirty="0">
                <a:solidFill>
                  <a:srgbClr val="4B5563"/>
                </a:solidFill>
                <a:latin typeface="Raleway" pitchFamily="2" charset="0"/>
                <a:ea typeface="Inter" pitchFamily="34" charset="-122"/>
                <a:cs typeface="Inter" pitchFamily="34" charset="-120"/>
              </a:rPr>
              <a:t>​Background verification</a:t>
            </a:r>
            <a:endParaRPr lang="en-US" sz="1150" dirty="0">
              <a:latin typeface="Raleway" pitchFamily="2" charset="0"/>
            </a:endParaRPr>
          </a:p>
          <a:p>
            <a:pPr marL="139700" indent="-139700" algn="l">
              <a:lnSpc>
                <a:spcPts val="1260"/>
              </a:lnSpc>
              <a:spcAft>
                <a:spcPts val="600"/>
              </a:spcAft>
              <a:buSzPct val="100000"/>
              <a:buChar char="•"/>
            </a:pPr>
            <a:r>
              <a:rPr lang="en-US" sz="1150" dirty="0">
                <a:solidFill>
                  <a:srgbClr val="4B5563"/>
                </a:solidFill>
                <a:latin typeface="Raleway" pitchFamily="2" charset="0"/>
                <a:ea typeface="Inter" pitchFamily="34" charset="-122"/>
                <a:cs typeface="Inter" pitchFamily="34" charset="-120"/>
              </a:rPr>
              <a:t>​Documentation</a:t>
            </a:r>
            <a:endParaRPr lang="en-US" sz="1150" dirty="0">
              <a:latin typeface="Raleway" pitchFamily="2" charset="0"/>
            </a:endParaRPr>
          </a:p>
          <a:p>
            <a:pPr marL="139700" indent="-139700" algn="l">
              <a:lnSpc>
                <a:spcPts val="1260"/>
              </a:lnSpc>
              <a:spcAft>
                <a:spcPts val="600"/>
              </a:spcAft>
              <a:buSzPct val="100000"/>
              <a:buChar char="•"/>
            </a:pPr>
            <a:r>
              <a:rPr lang="en-US" sz="1150" dirty="0">
                <a:solidFill>
                  <a:srgbClr val="4B5563"/>
                </a:solidFill>
                <a:latin typeface="Raleway" pitchFamily="2" charset="0"/>
                <a:ea typeface="Inter" pitchFamily="34" charset="-122"/>
                <a:cs typeface="Inter" pitchFamily="34" charset="-120"/>
              </a:rPr>
              <a:t>​Pre-joining engagement</a:t>
            </a:r>
            <a:endParaRPr lang="en-US" sz="1150" dirty="0">
              <a:latin typeface="Raleway" pitchFamily="2" charset="0"/>
            </a:endParaRPr>
          </a:p>
          <a:p>
            <a:pPr marL="139700" indent="-139700" algn="l">
              <a:lnSpc>
                <a:spcPts val="1260"/>
              </a:lnSpc>
              <a:spcAft>
                <a:spcPts val="600"/>
              </a:spcAft>
              <a:buSzPct val="100000"/>
              <a:buChar char="•"/>
            </a:pPr>
            <a:r>
              <a:rPr lang="en-US" sz="1150" dirty="0">
                <a:solidFill>
                  <a:srgbClr val="4B5563"/>
                </a:solidFill>
                <a:latin typeface="Raleway" pitchFamily="2" charset="0"/>
                <a:ea typeface="Inter" pitchFamily="34" charset="-122"/>
                <a:cs typeface="Inter" pitchFamily="34" charset="-120"/>
              </a:rPr>
              <a:t>​Joining confirmation</a:t>
            </a:r>
            <a:endParaRPr lang="en-US" sz="1150" dirty="0">
              <a:latin typeface="Raleway" pitchFamily="2" charset="0"/>
            </a:endParaRPr>
          </a:p>
        </p:txBody>
      </p:sp>
      <p:pic>
        <p:nvPicPr>
          <p:cNvPr id="47" name="Image 24" descr="gen-dedup-a43375c774087ebf05bf08d5bb813ef2.png"/>
          <p:cNvPicPr>
            <a:picLocks noChangeAspect="1"/>
          </p:cNvPicPr>
          <p:nvPr/>
        </p:nvPicPr>
        <p:blipFill>
          <a:blip r:embed="rId18"/>
          <a:srcRect t="-15144" b="-15144"/>
          <a:stretch/>
        </p:blipFill>
        <p:spPr>
          <a:xfrm>
            <a:off x="10597267" y="1285551"/>
            <a:ext cx="365760" cy="365760"/>
          </a:xfrm>
          <a:prstGeom prst="rect">
            <a:avLst/>
          </a:prstGeom>
        </p:spPr>
      </p:pic>
      <p:sp>
        <p:nvSpPr>
          <p:cNvPr id="48" name="Text 21"/>
          <p:cNvSpPr txBox="1"/>
          <p:nvPr/>
        </p:nvSpPr>
        <p:spPr>
          <a:xfrm>
            <a:off x="9905695" y="2116209"/>
            <a:ext cx="1714500" cy="152705"/>
          </a:xfrm>
          <a:prstGeom prst="rect">
            <a:avLst/>
          </a:prstGeom>
          <a:noFill/>
          <a:ln/>
        </p:spPr>
        <p:txBody>
          <a:bodyPr wrap="none" lIns="0" tIns="0" rIns="0" bIns="0" rtlCol="0" anchor="ctr"/>
          <a:lstStyle/>
          <a:p>
            <a:pPr marL="0" indent="0" algn="ctr">
              <a:buNone/>
            </a:pPr>
            <a:r>
              <a:rPr lang="en-US" sz="1300" b="1">
                <a:solidFill>
                  <a:srgbClr val="FFFFFF"/>
                </a:solidFill>
                <a:latin typeface="Raleway" pitchFamily="2" charset="0"/>
                <a:ea typeface="Inter" pitchFamily="34" charset="-122"/>
                <a:cs typeface="Inter" pitchFamily="34" charset="-120"/>
              </a:rPr>
              <a:t>Deployment</a:t>
            </a:r>
            <a:endParaRPr lang="en-US" sz="1300">
              <a:latin typeface="Raleway" pitchFamily="2" charset="0"/>
            </a:endParaRPr>
          </a:p>
        </p:txBody>
      </p:sp>
      <p:sp>
        <p:nvSpPr>
          <p:cNvPr id="49" name="Text 22"/>
          <p:cNvSpPr txBox="1"/>
          <p:nvPr/>
        </p:nvSpPr>
        <p:spPr>
          <a:xfrm>
            <a:off x="9957105" y="2581539"/>
            <a:ext cx="1664005" cy="1205179"/>
          </a:xfrm>
          <a:prstGeom prst="rect">
            <a:avLst/>
          </a:prstGeom>
          <a:noFill/>
          <a:ln/>
        </p:spPr>
        <p:txBody>
          <a:bodyPr wrap="square" lIns="0" tIns="0" rIns="0" bIns="0" rtlCol="0" anchor="t"/>
          <a:lstStyle/>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​Onboard candidates at BLR/HYD</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​Track joining ratio and SLA</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​Weekly governance reviews</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​Continuous pipeline replenishment</a:t>
            </a:r>
            <a:endParaRPr lang="en-US" sz="1150">
              <a:latin typeface="Raleway" pitchFamily="2" charset="0"/>
            </a:endParaRPr>
          </a:p>
        </p:txBody>
      </p:sp>
      <p:sp>
        <p:nvSpPr>
          <p:cNvPr id="50" name="Shape 23"/>
          <p:cNvSpPr/>
          <p:nvPr/>
        </p:nvSpPr>
        <p:spPr>
          <a:xfrm>
            <a:off x="571500" y="5048402"/>
            <a:ext cx="304495" cy="304495"/>
          </a:xfrm>
          <a:prstGeom prst="roundRect">
            <a:avLst>
              <a:gd name="adj" fmla="val 18919"/>
            </a:avLst>
          </a:prstGeom>
          <a:solidFill>
            <a:srgbClr val="E0F0EE"/>
          </a:solidFill>
          <a:ln w="12700">
            <a:solidFill>
              <a:srgbClr val="FFFFFF">
                <a:alpha val="0"/>
              </a:srgbClr>
            </a:solidFill>
            <a:prstDash val="solid"/>
          </a:ln>
        </p:spPr>
        <p:txBody>
          <a:bodyPr/>
          <a:lstStyle/>
          <a:p>
            <a:endParaRPr lang="en-US">
              <a:latin typeface="Raleway" pitchFamily="2" charset="0"/>
            </a:endParaRPr>
          </a:p>
        </p:txBody>
      </p:sp>
      <p:pic>
        <p:nvPicPr>
          <p:cNvPr id="51" name="Image 25" descr="gen-dedup-7e358a94e44e4fa43a54aae5ce00aa47.png"/>
          <p:cNvPicPr>
            <a:picLocks noChangeAspect="1"/>
          </p:cNvPicPr>
          <p:nvPr/>
        </p:nvPicPr>
        <p:blipFill>
          <a:blip r:embed="rId19"/>
          <a:srcRect t="-100" b="-100"/>
          <a:stretch/>
        </p:blipFill>
        <p:spPr>
          <a:xfrm>
            <a:off x="666598" y="5124298"/>
            <a:ext cx="114300" cy="152705"/>
          </a:xfrm>
          <a:prstGeom prst="rect">
            <a:avLst/>
          </a:prstGeom>
        </p:spPr>
      </p:pic>
      <p:sp>
        <p:nvSpPr>
          <p:cNvPr id="52" name="Text 24"/>
          <p:cNvSpPr txBox="1"/>
          <p:nvPr/>
        </p:nvSpPr>
        <p:spPr>
          <a:xfrm>
            <a:off x="990295" y="5086807"/>
            <a:ext cx="2857500" cy="219456"/>
          </a:xfrm>
          <a:prstGeom prst="rect">
            <a:avLst/>
          </a:prstGeom>
          <a:noFill/>
          <a:ln/>
        </p:spPr>
        <p:txBody>
          <a:bodyPr wrap="none" lIns="0" tIns="0" rIns="0" bIns="0" rtlCol="0" anchor="ctr"/>
          <a:lstStyle/>
          <a:p>
            <a:pPr marL="0" indent="0" algn="l">
              <a:buNone/>
            </a:pPr>
            <a:r>
              <a:rPr lang="en-US" sz="1300" b="1">
                <a:solidFill>
                  <a:srgbClr val="1F2A44"/>
                </a:solidFill>
                <a:latin typeface="Raleway" pitchFamily="2" charset="0"/>
                <a:ea typeface="Fraunces" pitchFamily="34" charset="-122"/>
                <a:cs typeface="Fraunces" pitchFamily="34" charset="-120"/>
              </a:rPr>
              <a:t>Delivery Strengths</a:t>
            </a:r>
            <a:endParaRPr lang="en-US" sz="1300">
              <a:latin typeface="Raleway" pitchFamily="2" charset="0"/>
            </a:endParaRPr>
          </a:p>
        </p:txBody>
      </p:sp>
      <p:pic>
        <p:nvPicPr>
          <p:cNvPr id="53" name="Image 26" descr="gen-dedup-564235ad4609c9efa5814b009357ec1f.png"/>
          <p:cNvPicPr>
            <a:picLocks noChangeAspect="1"/>
          </p:cNvPicPr>
          <p:nvPr/>
        </p:nvPicPr>
        <p:blipFill>
          <a:blip r:embed="rId20"/>
          <a:srcRect t="-12275" b="-12275"/>
          <a:stretch/>
        </p:blipFill>
        <p:spPr>
          <a:xfrm>
            <a:off x="571500" y="5649354"/>
            <a:ext cx="152705" cy="190195"/>
          </a:xfrm>
          <a:prstGeom prst="rect">
            <a:avLst/>
          </a:prstGeom>
        </p:spPr>
      </p:pic>
      <p:sp>
        <p:nvSpPr>
          <p:cNvPr id="54" name="Text 25"/>
          <p:cNvSpPr txBox="1"/>
          <p:nvPr/>
        </p:nvSpPr>
        <p:spPr>
          <a:xfrm>
            <a:off x="895198" y="5649354"/>
            <a:ext cx="1810512" cy="352958"/>
          </a:xfrm>
          <a:prstGeom prst="rect">
            <a:avLst/>
          </a:prstGeom>
          <a:noFill/>
          <a:ln/>
        </p:spPr>
        <p:txBody>
          <a:bodyPr wrap="square" lIns="0" tIns="0" rIns="0" bIns="0" rtlCol="0" anchor="ctr"/>
          <a:lstStyle/>
          <a:p>
            <a:pPr marL="0" indent="0" algn="l">
              <a:buNone/>
            </a:pPr>
            <a:r>
              <a:rPr lang="en-US" sz="1100" b="1">
                <a:solidFill>
                  <a:srgbClr val="2A3346"/>
                </a:solidFill>
                <a:latin typeface="Raleway" pitchFamily="2" charset="0"/>
                <a:ea typeface="Inter" pitchFamily="34" charset="-122"/>
                <a:cs typeface="Inter" pitchFamily="34" charset="-120"/>
              </a:rPr>
              <a:t>Partnerships with Top 20 colleges.</a:t>
            </a:r>
            <a:endParaRPr lang="en-US" sz="1100">
              <a:latin typeface="Raleway" pitchFamily="2" charset="0"/>
            </a:endParaRPr>
          </a:p>
        </p:txBody>
      </p:sp>
      <p:pic>
        <p:nvPicPr>
          <p:cNvPr id="55" name="Image 27" descr="gen-dedup-564235ad4609c9efa5814b009357ec1f.png"/>
          <p:cNvPicPr>
            <a:picLocks noChangeAspect="1"/>
          </p:cNvPicPr>
          <p:nvPr/>
        </p:nvPicPr>
        <p:blipFill>
          <a:blip r:embed="rId20"/>
          <a:srcRect t="-12275" b="-12275"/>
          <a:stretch/>
        </p:blipFill>
        <p:spPr>
          <a:xfrm>
            <a:off x="2800807" y="5649354"/>
            <a:ext cx="152705" cy="190195"/>
          </a:xfrm>
          <a:prstGeom prst="rect">
            <a:avLst/>
          </a:prstGeom>
        </p:spPr>
      </p:pic>
      <p:sp>
        <p:nvSpPr>
          <p:cNvPr id="56" name="Text 26"/>
          <p:cNvSpPr txBox="1"/>
          <p:nvPr/>
        </p:nvSpPr>
        <p:spPr>
          <a:xfrm>
            <a:off x="3124505" y="5649354"/>
            <a:ext cx="1810512" cy="352958"/>
          </a:xfrm>
          <a:prstGeom prst="rect">
            <a:avLst/>
          </a:prstGeom>
          <a:noFill/>
          <a:ln/>
        </p:spPr>
        <p:txBody>
          <a:bodyPr wrap="square" lIns="0" tIns="0" rIns="0" bIns="0" rtlCol="0" anchor="ctr"/>
          <a:lstStyle/>
          <a:p>
            <a:pPr marL="0" indent="0" algn="l">
              <a:buNone/>
            </a:pPr>
            <a:r>
              <a:rPr lang="en-US" sz="1100" b="1">
                <a:solidFill>
                  <a:srgbClr val="2A3346"/>
                </a:solidFill>
                <a:latin typeface="Raleway" pitchFamily="2" charset="0"/>
                <a:ea typeface="Inter" pitchFamily="34" charset="-122"/>
                <a:cs typeface="Inter" pitchFamily="34" charset="-120"/>
              </a:rPr>
              <a:t>10,000+ active candidate database.</a:t>
            </a:r>
            <a:endParaRPr lang="en-US" sz="1100">
              <a:latin typeface="Raleway" pitchFamily="2" charset="0"/>
            </a:endParaRPr>
          </a:p>
        </p:txBody>
      </p:sp>
      <p:pic>
        <p:nvPicPr>
          <p:cNvPr id="57" name="Image 28" descr="gen-dedup-564235ad4609c9efa5814b009357ec1f.png"/>
          <p:cNvPicPr>
            <a:picLocks noChangeAspect="1"/>
          </p:cNvPicPr>
          <p:nvPr/>
        </p:nvPicPr>
        <p:blipFill>
          <a:blip r:embed="rId20"/>
          <a:srcRect t="-12275" b="-12275"/>
          <a:stretch/>
        </p:blipFill>
        <p:spPr>
          <a:xfrm>
            <a:off x="5029200" y="5649354"/>
            <a:ext cx="152705" cy="190195"/>
          </a:xfrm>
          <a:prstGeom prst="rect">
            <a:avLst/>
          </a:prstGeom>
        </p:spPr>
      </p:pic>
      <p:sp>
        <p:nvSpPr>
          <p:cNvPr id="58" name="Text 27"/>
          <p:cNvSpPr txBox="1"/>
          <p:nvPr/>
        </p:nvSpPr>
        <p:spPr>
          <a:xfrm>
            <a:off x="5352898" y="5649354"/>
            <a:ext cx="1905610" cy="523951"/>
          </a:xfrm>
          <a:prstGeom prst="rect">
            <a:avLst/>
          </a:prstGeom>
          <a:noFill/>
          <a:ln/>
        </p:spPr>
        <p:txBody>
          <a:bodyPr wrap="square" lIns="0" tIns="0" rIns="0" bIns="0" rtlCol="0" anchor="ctr"/>
          <a:lstStyle/>
          <a:p>
            <a:pPr marL="0" indent="0" algn="l">
              <a:buNone/>
            </a:pPr>
            <a:r>
              <a:rPr lang="en-US" sz="1100" b="1">
                <a:solidFill>
                  <a:srgbClr val="2A3346"/>
                </a:solidFill>
                <a:latin typeface="Raleway" pitchFamily="2" charset="0"/>
                <a:ea typeface="Inter" pitchFamily="34" charset="-122"/>
                <a:cs typeface="Inter" pitchFamily="34" charset="-120"/>
              </a:rPr>
              <a:t>Proven five-year delivery experience in Customer Support hiring.</a:t>
            </a:r>
            <a:endParaRPr lang="en-US" sz="1100">
              <a:latin typeface="Raleway" pitchFamily="2" charset="0"/>
            </a:endParaRPr>
          </a:p>
        </p:txBody>
      </p:sp>
      <p:pic>
        <p:nvPicPr>
          <p:cNvPr id="59" name="Image 29" descr="gen-dedup-564235ad4609c9efa5814b009357ec1f.png"/>
          <p:cNvPicPr>
            <a:picLocks noChangeAspect="1"/>
          </p:cNvPicPr>
          <p:nvPr/>
        </p:nvPicPr>
        <p:blipFill>
          <a:blip r:embed="rId20"/>
          <a:srcRect t="-12275" b="-12275"/>
          <a:stretch/>
        </p:blipFill>
        <p:spPr>
          <a:xfrm>
            <a:off x="7448702" y="5649354"/>
            <a:ext cx="152705" cy="190195"/>
          </a:xfrm>
          <a:prstGeom prst="rect">
            <a:avLst/>
          </a:prstGeom>
        </p:spPr>
      </p:pic>
      <p:sp>
        <p:nvSpPr>
          <p:cNvPr id="60" name="Text 28"/>
          <p:cNvSpPr txBox="1"/>
          <p:nvPr/>
        </p:nvSpPr>
        <p:spPr>
          <a:xfrm>
            <a:off x="7772400" y="5649354"/>
            <a:ext cx="1619402" cy="352958"/>
          </a:xfrm>
          <a:prstGeom prst="rect">
            <a:avLst/>
          </a:prstGeom>
          <a:noFill/>
          <a:ln/>
        </p:spPr>
        <p:txBody>
          <a:bodyPr wrap="square" lIns="0" tIns="0" rIns="0" bIns="0" rtlCol="0" anchor="ctr"/>
          <a:lstStyle/>
          <a:p>
            <a:pPr marL="0" indent="0" algn="l">
              <a:buNone/>
            </a:pPr>
            <a:r>
              <a:rPr lang="en-US" sz="1100" b="1">
                <a:solidFill>
                  <a:srgbClr val="2A3346"/>
                </a:solidFill>
                <a:latin typeface="Raleway" pitchFamily="2" charset="0"/>
                <a:ea typeface="Inter" pitchFamily="34" charset="-122"/>
                <a:cs typeface="Inter" pitchFamily="34" charset="-120"/>
              </a:rPr>
              <a:t>Capacity to deliver 300 CPO hires per quarter.</a:t>
            </a:r>
            <a:endParaRPr lang="en-US" sz="1100">
              <a:latin typeface="Raleway" pitchFamily="2" charset="0"/>
            </a:endParaRPr>
          </a:p>
        </p:txBody>
      </p:sp>
      <p:pic>
        <p:nvPicPr>
          <p:cNvPr id="61" name="Image 30" descr="gen-dedup-564235ad4609c9efa5814b009357ec1f.png"/>
          <p:cNvPicPr>
            <a:picLocks noChangeAspect="1"/>
          </p:cNvPicPr>
          <p:nvPr/>
        </p:nvPicPr>
        <p:blipFill>
          <a:blip r:embed="rId20"/>
          <a:srcRect t="-12275" b="-12275"/>
          <a:stretch/>
        </p:blipFill>
        <p:spPr>
          <a:xfrm>
            <a:off x="9581998" y="5649354"/>
            <a:ext cx="152705" cy="190195"/>
          </a:xfrm>
          <a:prstGeom prst="rect">
            <a:avLst/>
          </a:prstGeom>
        </p:spPr>
      </p:pic>
      <p:sp>
        <p:nvSpPr>
          <p:cNvPr id="62" name="Text 29"/>
          <p:cNvSpPr txBox="1"/>
          <p:nvPr/>
        </p:nvSpPr>
        <p:spPr>
          <a:xfrm>
            <a:off x="9905695" y="5649354"/>
            <a:ext cx="1666951" cy="352958"/>
          </a:xfrm>
          <a:prstGeom prst="rect">
            <a:avLst/>
          </a:prstGeom>
          <a:noFill/>
          <a:ln/>
        </p:spPr>
        <p:txBody>
          <a:bodyPr wrap="square" lIns="0" tIns="0" rIns="0" bIns="0" rtlCol="0" anchor="ctr"/>
          <a:lstStyle/>
          <a:p>
            <a:pPr marL="0" indent="0" algn="l">
              <a:buNone/>
            </a:pPr>
            <a:r>
              <a:rPr lang="en-US" sz="1100" b="1">
                <a:solidFill>
                  <a:srgbClr val="2A3346"/>
                </a:solidFill>
                <a:latin typeface="Raleway" pitchFamily="2" charset="0"/>
                <a:ea typeface="Inter" pitchFamily="34" charset="-122"/>
                <a:cs typeface="Inter" pitchFamily="34" charset="-120"/>
              </a:rPr>
              <a:t>Three walk-in drives every week.</a:t>
            </a:r>
            <a:endParaRPr lang="en-US" sz="1100">
              <a:latin typeface="Raleway" pitchFamily="2" charset="0"/>
            </a:endParaRPr>
          </a:p>
        </p:txBody>
      </p:sp>
      <p:pic>
        <p:nvPicPr>
          <p:cNvPr id="64" name="Image 3" descr="gen-dedup-777bf757d895431cabe402fcd34ebd5a.png">
            <a:extLst>
              <a:ext uri="{FF2B5EF4-FFF2-40B4-BE49-F238E27FC236}">
                <a16:creationId xmlns:a16="http://schemas.microsoft.com/office/drawing/2014/main" id="{16796C33-0765-58F2-6C40-75484A585716}"/>
              </a:ext>
            </a:extLst>
          </p:cNvPr>
          <p:cNvPicPr>
            <a:picLocks noChangeAspect="1"/>
          </p:cNvPicPr>
          <p:nvPr/>
        </p:nvPicPr>
        <p:blipFill>
          <a:blip r:embed="rId21">
            <a:biLevel thresh="75000"/>
          </a:blip>
          <a:srcRect l="-384" r="-384"/>
          <a:stretch/>
        </p:blipFill>
        <p:spPr>
          <a:xfrm>
            <a:off x="571500" y="381305"/>
            <a:ext cx="57607" cy="476402"/>
          </a:xfrm>
          <a:prstGeom prst="rect">
            <a:avLst/>
          </a:prstGeom>
        </p:spPr>
      </p:pic>
      <p:sp>
        <p:nvSpPr>
          <p:cNvPr id="66" name="Text 5">
            <a:extLst>
              <a:ext uri="{FF2B5EF4-FFF2-40B4-BE49-F238E27FC236}">
                <a16:creationId xmlns:a16="http://schemas.microsoft.com/office/drawing/2014/main" id="{D93119DE-7C1C-96C6-9209-BC31F6C5F5C7}"/>
              </a:ext>
            </a:extLst>
          </p:cNvPr>
          <p:cNvSpPr txBox="1"/>
          <p:nvPr/>
        </p:nvSpPr>
        <p:spPr>
          <a:xfrm>
            <a:off x="780897" y="333756"/>
            <a:ext cx="5913817" cy="406908"/>
          </a:xfrm>
          <a:prstGeom prst="rect">
            <a:avLst/>
          </a:prstGeom>
          <a:noFill/>
          <a:ln/>
        </p:spPr>
        <p:txBody>
          <a:bodyPr wrap="none" lIns="0" tIns="0" rIns="0" bIns="0" rtlCol="0" anchor="ctr"/>
          <a:lstStyle/>
          <a:p>
            <a:r>
              <a:rPr lang="en-GB" sz="2400" b="1" kern="0" spc="-67" dirty="0">
                <a:solidFill>
                  <a:srgbClr val="111827"/>
                </a:solidFill>
                <a:latin typeface="Oswald" pitchFamily="34" charset="0"/>
                <a:ea typeface="Oswald" pitchFamily="34" charset="-122"/>
                <a:cs typeface="Oswald" pitchFamily="34" charset="-120"/>
              </a:rPr>
              <a:t>CONTRACT PROCESS OUTSOURCING OPERATING MODEL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gen-dedup-52a6aed37365ba1b37d9c18af825b761.png"/>
          <p:cNvPicPr>
            <a:picLocks noChangeAspect="1"/>
          </p:cNvPicPr>
          <p:nvPr/>
        </p:nvPicPr>
        <p:blipFill>
          <a:blip r:embed="rId3"/>
          <a:srcRect l="-198" r="-198"/>
          <a:stretch/>
        </p:blipFill>
        <p:spPr>
          <a:xfrm>
            <a:off x="0" y="0"/>
            <a:ext cx="4876495" cy="75895"/>
          </a:xfrm>
          <a:prstGeom prst="rect">
            <a:avLst/>
          </a:prstGeom>
        </p:spPr>
      </p:pic>
      <p:pic>
        <p:nvPicPr>
          <p:cNvPr id="3" name="Image 1" descr="gen-dedup-b6bc99787a821c9ace348c3d347c76b2.png"/>
          <p:cNvPicPr>
            <a:picLocks noChangeAspect="1"/>
          </p:cNvPicPr>
          <p:nvPr/>
        </p:nvPicPr>
        <p:blipFill>
          <a:blip r:embed="rId4"/>
          <a:srcRect l="-201" r="-201"/>
          <a:stretch/>
        </p:blipFill>
        <p:spPr>
          <a:xfrm>
            <a:off x="4876495" y="0"/>
            <a:ext cx="7315200" cy="75895"/>
          </a:xfrm>
          <a:prstGeom prst="rect">
            <a:avLst/>
          </a:prstGeom>
        </p:spPr>
      </p:pic>
      <p:sp>
        <p:nvSpPr>
          <p:cNvPr id="4" name="Shape 0"/>
          <p:cNvSpPr/>
          <p:nvPr/>
        </p:nvSpPr>
        <p:spPr>
          <a:xfrm>
            <a:off x="9334195" y="-1429207"/>
            <a:ext cx="3810305" cy="3810305"/>
          </a:xfrm>
          <a:prstGeom prst="ellipse">
            <a:avLst/>
          </a:prstGeom>
          <a:solidFill>
            <a:srgbClr val="2A9D8F">
              <a:alpha val="4000"/>
            </a:srgbClr>
          </a:solidFill>
          <a:ln w="12700">
            <a:solidFill>
              <a:srgbClr val="FFFFFF">
                <a:alpha val="0"/>
              </a:srgbClr>
            </a:solidFill>
            <a:prstDash val="solid"/>
          </a:ln>
        </p:spPr>
        <p:txBody>
          <a:bodyPr/>
          <a:lstStyle/>
          <a:p>
            <a:endParaRPr lang="en-US"/>
          </a:p>
        </p:txBody>
      </p:sp>
      <p:sp>
        <p:nvSpPr>
          <p:cNvPr id="6" name="Shape 1"/>
          <p:cNvSpPr/>
          <p:nvPr/>
        </p:nvSpPr>
        <p:spPr>
          <a:xfrm>
            <a:off x="381305" y="1143000"/>
            <a:ext cx="11449202" cy="3353105"/>
          </a:xfrm>
          <a:prstGeom prst="roundRect">
            <a:avLst>
              <a:gd name="adj" fmla="val 2263"/>
            </a:avLst>
          </a:prstGeom>
          <a:solidFill>
            <a:srgbClr val="FFFFFF"/>
          </a:solidFill>
          <a:ln w="12700">
            <a:solidFill>
              <a:srgbClr val="E5E8EE"/>
            </a:solidFill>
            <a:prstDash val="solid"/>
          </a:ln>
          <a:effectLst>
            <a:outerShdw blurRad="114300" dist="38100" dir="16200000" algn="bl" rotWithShape="0">
              <a:srgbClr val="000000">
                <a:alpha val="3000"/>
              </a:srgbClr>
            </a:outerShdw>
          </a:effectLst>
        </p:spPr>
        <p:txBody>
          <a:bodyPr/>
          <a:lstStyle/>
          <a:p>
            <a:endParaRPr lang="en-US">
              <a:latin typeface="Raleway" pitchFamily="2" charset="0"/>
            </a:endParaRPr>
          </a:p>
        </p:txBody>
      </p:sp>
      <p:sp>
        <p:nvSpPr>
          <p:cNvPr id="7" name="Shape 2"/>
          <p:cNvSpPr/>
          <p:nvPr/>
        </p:nvSpPr>
        <p:spPr>
          <a:xfrm>
            <a:off x="381305" y="4667098"/>
            <a:ext cx="11430000" cy="1238098"/>
          </a:xfrm>
          <a:prstGeom prst="roundRect">
            <a:avLst>
              <a:gd name="adj" fmla="val 6130"/>
            </a:avLst>
          </a:prstGeom>
          <a:solidFill>
            <a:srgbClr val="2A9D8F"/>
          </a:solidFill>
          <a:ln w="12700">
            <a:solidFill>
              <a:srgbClr val="FFFFFF">
                <a:alpha val="0"/>
              </a:srgbClr>
            </a:solidFill>
            <a:prstDash val="solid"/>
          </a:ln>
        </p:spPr>
        <p:txBody>
          <a:bodyPr/>
          <a:lstStyle/>
          <a:p>
            <a:endParaRPr lang="en-US">
              <a:latin typeface="Raleway" pitchFamily="2" charset="0"/>
            </a:endParaRPr>
          </a:p>
        </p:txBody>
      </p:sp>
      <p:pic>
        <p:nvPicPr>
          <p:cNvPr id="8" name="Image 3" descr="gen-dedup-585cde59db80495211d9f9275819a0e9.png"/>
          <p:cNvPicPr>
            <a:picLocks noChangeAspect="1"/>
          </p:cNvPicPr>
          <p:nvPr/>
        </p:nvPicPr>
        <p:blipFill>
          <a:blip r:embed="rId5"/>
          <a:srcRect l="-2" r="-2"/>
          <a:stretch/>
        </p:blipFill>
        <p:spPr>
          <a:xfrm>
            <a:off x="381305" y="6096305"/>
            <a:ext cx="11487607" cy="571500"/>
          </a:xfrm>
          <a:prstGeom prst="rect">
            <a:avLst/>
          </a:prstGeom>
        </p:spPr>
      </p:pic>
      <p:pic>
        <p:nvPicPr>
          <p:cNvPr id="9" name="Image 4" descr="gen-dedup-76e37ab332a35b71054b9cd9efd3a7f3.png"/>
          <p:cNvPicPr>
            <a:picLocks noChangeAspect="1"/>
          </p:cNvPicPr>
          <p:nvPr/>
        </p:nvPicPr>
        <p:blipFill>
          <a:blip r:embed="rId6"/>
          <a:srcRect t="-73" b="-73"/>
          <a:stretch/>
        </p:blipFill>
        <p:spPr>
          <a:xfrm>
            <a:off x="381305" y="4524451"/>
            <a:ext cx="2095805" cy="286207"/>
          </a:xfrm>
          <a:prstGeom prst="rect">
            <a:avLst/>
          </a:prstGeom>
        </p:spPr>
      </p:pic>
      <p:pic>
        <p:nvPicPr>
          <p:cNvPr id="10" name="Image 5" descr="gen-dedup-1299df1a9106269eceef43134d53c151.png"/>
          <p:cNvPicPr>
            <a:picLocks noChangeAspect="1"/>
          </p:cNvPicPr>
          <p:nvPr/>
        </p:nvPicPr>
        <p:blipFill>
          <a:blip r:embed="rId7"/>
          <a:srcRect t="-2083" b="-2083"/>
          <a:stretch/>
        </p:blipFill>
        <p:spPr>
          <a:xfrm>
            <a:off x="4000500" y="5000854"/>
            <a:ext cx="9144" cy="571500"/>
          </a:xfrm>
          <a:prstGeom prst="rect">
            <a:avLst/>
          </a:prstGeom>
        </p:spPr>
      </p:pic>
      <p:pic>
        <p:nvPicPr>
          <p:cNvPr id="11" name="Image 6" descr="gen-dedup-1299df1a9106269eceef43134d53c151.png"/>
          <p:cNvPicPr>
            <a:picLocks noChangeAspect="1"/>
          </p:cNvPicPr>
          <p:nvPr/>
        </p:nvPicPr>
        <p:blipFill>
          <a:blip r:embed="rId7"/>
          <a:srcRect t="-2083" b="-2083"/>
          <a:stretch/>
        </p:blipFill>
        <p:spPr>
          <a:xfrm>
            <a:off x="7715707" y="5000854"/>
            <a:ext cx="9144" cy="571500"/>
          </a:xfrm>
          <a:prstGeom prst="rect">
            <a:avLst/>
          </a:prstGeom>
        </p:spPr>
      </p:pic>
      <p:graphicFrame>
        <p:nvGraphicFramePr>
          <p:cNvPr id="15" name="Table 0"/>
          <p:cNvGraphicFramePr>
            <a:graphicFrameLocks noGrp="1"/>
          </p:cNvGraphicFramePr>
          <p:nvPr/>
        </p:nvGraphicFramePr>
        <p:xfrm>
          <a:off x="381305" y="1143000"/>
          <a:ext cx="11430000" cy="3487670"/>
        </p:xfrm>
        <a:graphic>
          <a:graphicData uri="http://schemas.openxmlformats.org/drawingml/2006/table">
            <a:tbl>
              <a:tblPr/>
              <a:tblGrid>
                <a:gridCol w="2352751">
                  <a:extLst>
                    <a:ext uri="{9D8B030D-6E8A-4147-A177-3AD203B41FA5}">
                      <a16:colId xmlns:a16="http://schemas.microsoft.com/office/drawing/2014/main" val="20000"/>
                    </a:ext>
                  </a:extLst>
                </a:gridCol>
                <a:gridCol w="2857500">
                  <a:extLst>
                    <a:ext uri="{9D8B030D-6E8A-4147-A177-3AD203B41FA5}">
                      <a16:colId xmlns:a16="http://schemas.microsoft.com/office/drawing/2014/main" val="20001"/>
                    </a:ext>
                  </a:extLst>
                </a:gridCol>
                <a:gridCol w="2857500">
                  <a:extLst>
                    <a:ext uri="{9D8B030D-6E8A-4147-A177-3AD203B41FA5}">
                      <a16:colId xmlns:a16="http://schemas.microsoft.com/office/drawing/2014/main" val="20002"/>
                    </a:ext>
                  </a:extLst>
                </a:gridCol>
                <a:gridCol w="3362249">
                  <a:extLst>
                    <a:ext uri="{9D8B030D-6E8A-4147-A177-3AD203B41FA5}">
                      <a16:colId xmlns:a16="http://schemas.microsoft.com/office/drawing/2014/main" val="20003"/>
                    </a:ext>
                  </a:extLst>
                </a:gridCol>
              </a:tblGrid>
              <a:tr h="476250">
                <a:tc>
                  <a:txBody>
                    <a:bodyPr/>
                    <a:lstStyle/>
                    <a:p>
                      <a:pPr marL="0" indent="0" algn="l">
                        <a:buNone/>
                      </a:pPr>
                      <a:r>
                        <a:rPr lang="en-US" sz="1100" b="1">
                          <a:solidFill>
                            <a:srgbClr val="FFFFFF"/>
                          </a:solidFill>
                          <a:latin typeface="Raleway" pitchFamily="2" charset="0"/>
                          <a:ea typeface="Inter" pitchFamily="34" charset="-122"/>
                          <a:cs typeface="Inter" pitchFamily="34" charset="-120"/>
                        </a:rPr>
                        <a:t>DIMENSION</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0" cap="flat" cmpd="sng" algn="ctr">
                      <a:solidFill>
                        <a:srgbClr val="E5E8EE"/>
                      </a:solidFill>
                      <a:prstDash val="solid"/>
                      <a:round/>
                      <a:headEnd type="none" w="med" len="med"/>
                      <a:tailEnd type="none" w="med" len="med"/>
                    </a:lnT>
                    <a:lnB w="0" cap="flat" cmpd="sng" algn="ctr">
                      <a:solidFill>
                        <a:srgbClr val="E5E8EE"/>
                      </a:solidFill>
                      <a:prstDash val="solid"/>
                      <a:round/>
                      <a:headEnd type="none" w="med" len="med"/>
                      <a:tailEnd type="none" w="med" len="med"/>
                    </a:lnB>
                    <a:solidFill>
                      <a:srgbClr val="1F2A44"/>
                    </a:solidFill>
                  </a:tcPr>
                </a:tc>
                <a:tc>
                  <a:txBody>
                    <a:bodyPr/>
                    <a:lstStyle/>
                    <a:p>
                      <a:pPr marL="0" indent="0" algn="l">
                        <a:buNone/>
                      </a:pPr>
                      <a:r>
                        <a:rPr lang="en-US" sz="1100" b="1">
                          <a:solidFill>
                            <a:srgbClr val="FFFFFF"/>
                          </a:solidFill>
                          <a:latin typeface="Raleway" pitchFamily="2" charset="0"/>
                          <a:ea typeface="Inter" pitchFamily="34" charset="-122"/>
                          <a:cs typeface="Inter" pitchFamily="34" charset="-120"/>
                        </a:rPr>
                        <a:t>FULL-TIME DIRECT HIRE</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0" cap="flat" cmpd="sng" algn="ctr">
                      <a:solidFill>
                        <a:srgbClr val="E5E8EE"/>
                      </a:solidFill>
                      <a:prstDash val="solid"/>
                      <a:round/>
                      <a:headEnd type="none" w="med" len="med"/>
                      <a:tailEnd type="none" w="med" len="med"/>
                    </a:lnT>
                    <a:lnB w="0" cap="flat" cmpd="sng" algn="ctr">
                      <a:solidFill>
                        <a:srgbClr val="E5E8EE"/>
                      </a:solidFill>
                      <a:prstDash val="solid"/>
                      <a:round/>
                      <a:headEnd type="none" w="med" len="med"/>
                      <a:tailEnd type="none" w="med" len="med"/>
                    </a:lnB>
                    <a:solidFill>
                      <a:srgbClr val="1F2A44"/>
                    </a:solidFill>
                  </a:tcPr>
                </a:tc>
                <a:tc>
                  <a:txBody>
                    <a:bodyPr/>
                    <a:lstStyle/>
                    <a:p>
                      <a:pPr marL="0" indent="0" algn="l">
                        <a:buNone/>
                      </a:pPr>
                      <a:r>
                        <a:rPr lang="en-US" sz="1100" b="1">
                          <a:solidFill>
                            <a:srgbClr val="FFFFFF"/>
                          </a:solidFill>
                          <a:latin typeface="Raleway" pitchFamily="2" charset="0"/>
                          <a:ea typeface="Inter" pitchFamily="34" charset="-122"/>
                          <a:cs typeface="Inter" pitchFamily="34" charset="-120"/>
                        </a:rPr>
                        <a:t>STRATEGIC HIRING MODEL</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0" cap="flat" cmpd="sng" algn="ctr">
                      <a:solidFill>
                        <a:srgbClr val="E5E8EE"/>
                      </a:solidFill>
                      <a:prstDash val="solid"/>
                      <a:round/>
                      <a:headEnd type="none" w="med" len="med"/>
                      <a:tailEnd type="none" w="med" len="med"/>
                    </a:lnT>
                    <a:lnB w="0" cap="flat" cmpd="sng" algn="ctr">
                      <a:solidFill>
                        <a:srgbClr val="E5E8EE"/>
                      </a:solidFill>
                      <a:prstDash val="solid"/>
                      <a:round/>
                      <a:headEnd type="none" w="med" len="med"/>
                      <a:tailEnd type="none" w="med" len="med"/>
                    </a:lnB>
                    <a:solidFill>
                      <a:srgbClr val="1F2A44"/>
                    </a:solidFill>
                  </a:tcPr>
                </a:tc>
                <a:tc>
                  <a:txBody>
                    <a:bodyPr/>
                    <a:lstStyle/>
                    <a:p>
                      <a:pPr marL="0" indent="0" algn="l">
                        <a:buNone/>
                      </a:pPr>
                      <a:r>
                        <a:rPr lang="en-US" sz="1100" b="1">
                          <a:solidFill>
                            <a:srgbClr val="FFFFFF"/>
                          </a:solidFill>
                          <a:latin typeface="Raleway" pitchFamily="2" charset="0"/>
                          <a:ea typeface="Inter" pitchFamily="34" charset="-122"/>
                          <a:cs typeface="Inter" pitchFamily="34" charset="-120"/>
                        </a:rPr>
                        <a:t>J2W ADVANTAGE</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0" cap="flat" cmpd="sng" algn="ctr">
                      <a:solidFill>
                        <a:srgbClr val="E5E8EE"/>
                      </a:solidFill>
                      <a:prstDash val="solid"/>
                      <a:round/>
                      <a:headEnd type="none" w="med" len="med"/>
                      <a:tailEnd type="none" w="med" len="med"/>
                    </a:lnT>
                    <a:lnB w="0" cap="flat" cmpd="sng" algn="ctr">
                      <a:solidFill>
                        <a:srgbClr val="E5E8EE"/>
                      </a:solidFill>
                      <a:prstDash val="solid"/>
                      <a:round/>
                      <a:headEnd type="none" w="med" len="med"/>
                      <a:tailEnd type="none" w="med" len="med"/>
                    </a:lnB>
                    <a:solidFill>
                      <a:srgbClr val="2A9D8F"/>
                    </a:solidFill>
                  </a:tcPr>
                </a:tc>
                <a:extLst>
                  <a:ext uri="{0D108BD9-81ED-4DB2-BD59-A6C34878D82A}">
                    <a16:rowId xmlns:a16="http://schemas.microsoft.com/office/drawing/2014/main" val="10000"/>
                  </a:ext>
                </a:extLst>
              </a:tr>
              <a:tr h="476250">
                <a:tc>
                  <a:txBody>
                    <a:bodyPr/>
                    <a:lstStyle/>
                    <a:p>
                      <a:pPr marL="0" indent="0" algn="l">
                        <a:buNone/>
                      </a:pPr>
                      <a:r>
                        <a:rPr lang="en-US" sz="1100" b="1">
                          <a:solidFill>
                            <a:srgbClr val="1F2A44"/>
                          </a:solidFill>
                          <a:latin typeface="Raleway" pitchFamily="2" charset="0"/>
                          <a:ea typeface="Inter" pitchFamily="34" charset="-122"/>
                          <a:cs typeface="Inter" pitchFamily="34" charset="-120"/>
                        </a:rPr>
                        <a:t>Time-to-Productivity</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0" cap="flat" cmpd="sng" algn="ctr">
                      <a:solidFill>
                        <a:srgbClr val="E5E8EE"/>
                      </a:solidFill>
                      <a:prstDash val="solid"/>
                      <a:round/>
                      <a:headEnd type="none" w="med" len="med"/>
                      <a:tailEnd type="none" w="med" len="med"/>
                    </a:lnT>
                    <a:lnB w="9525" cap="flat" cmpd="sng" algn="ctr">
                      <a:solidFill>
                        <a:srgbClr val="E5E8EE"/>
                      </a:solidFill>
                      <a:prstDash val="solid"/>
                      <a:round/>
                      <a:headEnd type="none" w="med" len="med"/>
                      <a:tailEnd type="none" w="med" len="med"/>
                    </a:lnB>
                  </a:tcPr>
                </a:tc>
                <a:tc>
                  <a:txBody>
                    <a:bodyPr/>
                    <a:lstStyle/>
                    <a:p>
                      <a:pPr marL="0" indent="0" algn="l">
                        <a:buNone/>
                      </a:pPr>
                      <a:r>
                        <a:rPr lang="en-US" sz="1100">
                          <a:solidFill>
                            <a:srgbClr val="2A3346"/>
                          </a:solidFill>
                          <a:latin typeface="Raleway" pitchFamily="2" charset="0"/>
                          <a:ea typeface="Inter" pitchFamily="34" charset="-122"/>
                          <a:cs typeface="Inter" pitchFamily="34" charset="-120"/>
                        </a:rPr>
                        <a:t>60–90 days (typical India ramp)</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0" cap="flat" cmpd="sng" algn="ctr">
                      <a:solidFill>
                        <a:srgbClr val="E5E8EE"/>
                      </a:solidFill>
                      <a:prstDash val="solid"/>
                      <a:round/>
                      <a:headEnd type="none" w="med" len="med"/>
                      <a:tailEnd type="none" w="med" len="med"/>
                    </a:lnT>
                    <a:lnB w="9525" cap="flat" cmpd="sng" algn="ctr">
                      <a:solidFill>
                        <a:srgbClr val="E5E8EE"/>
                      </a:solidFill>
                      <a:prstDash val="solid"/>
                      <a:round/>
                      <a:headEnd type="none" w="med" len="med"/>
                      <a:tailEnd type="none" w="med" len="med"/>
                    </a:lnB>
                  </a:tcPr>
                </a:tc>
                <a:tc>
                  <a:txBody>
                    <a:bodyPr/>
                    <a:lstStyle/>
                    <a:p>
                      <a:pPr marL="0" indent="0" algn="l">
                        <a:buNone/>
                      </a:pPr>
                      <a:r>
                        <a:rPr lang="en-US" sz="1100" b="1">
                          <a:solidFill>
                            <a:srgbClr val="2A3346"/>
                          </a:solidFill>
                          <a:latin typeface="Raleway" pitchFamily="2" charset="0"/>
                          <a:ea typeface="Inter" pitchFamily="34" charset="-122"/>
                          <a:cs typeface="Inter" pitchFamily="34" charset="-120"/>
                        </a:rPr>
                        <a:t>30–45 days (proven track record)</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0" cap="flat" cmpd="sng" algn="ctr">
                      <a:solidFill>
                        <a:srgbClr val="E5E8EE"/>
                      </a:solidFill>
                      <a:prstDash val="solid"/>
                      <a:round/>
                      <a:headEnd type="none" w="med" len="med"/>
                      <a:tailEnd type="none" w="med" len="med"/>
                    </a:lnT>
                    <a:lnB w="9525" cap="flat" cmpd="sng" algn="ctr">
                      <a:solidFill>
                        <a:srgbClr val="E5E8EE"/>
                      </a:solidFill>
                      <a:prstDash val="solid"/>
                      <a:round/>
                      <a:headEnd type="none" w="med" len="med"/>
                      <a:tailEnd type="none" w="med" len="med"/>
                    </a:lnB>
                  </a:tcPr>
                </a:tc>
                <a:tc>
                  <a:txBody>
                    <a:bodyPr/>
                    <a:lstStyle/>
                    <a:p>
                      <a:pPr marL="0" indent="0" algn="l">
                        <a:buNone/>
                      </a:pPr>
                      <a:r>
                        <a:rPr lang="en-US" sz="1100" b="1">
                          <a:solidFill>
                            <a:srgbClr val="1F2A44"/>
                          </a:solidFill>
                          <a:latin typeface="Raleway" pitchFamily="2" charset="0"/>
                          <a:ea typeface="Inter" pitchFamily="34" charset="-122"/>
                          <a:cs typeface="Inter" pitchFamily="34" charset="-120"/>
                        </a:rPr>
                        <a:t>J2W payroll covers cost, risk absorption model</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0" cap="flat" cmpd="sng" algn="ctr">
                      <a:solidFill>
                        <a:srgbClr val="E5E8EE"/>
                      </a:solidFill>
                      <a:prstDash val="solid"/>
                      <a:round/>
                      <a:headEnd type="none" w="med" len="med"/>
                      <a:tailEnd type="none" w="med" len="med"/>
                    </a:lnT>
                    <a:lnB w="9525" cap="flat" cmpd="sng" algn="ctr">
                      <a:solidFill>
                        <a:srgbClr val="E5E8EE"/>
                      </a:solidFill>
                      <a:prstDash val="solid"/>
                      <a:round/>
                      <a:headEnd type="none" w="med" len="med"/>
                      <a:tailEnd type="none" w="med" len="med"/>
                    </a:lnB>
                    <a:solidFill>
                      <a:srgbClr val="2A9D8F">
                        <a:alpha val="4000"/>
                      </a:srgbClr>
                    </a:solidFill>
                  </a:tcPr>
                </a:tc>
                <a:extLst>
                  <a:ext uri="{0D108BD9-81ED-4DB2-BD59-A6C34878D82A}">
                    <a16:rowId xmlns:a16="http://schemas.microsoft.com/office/drawing/2014/main" val="10001"/>
                  </a:ext>
                </a:extLst>
              </a:tr>
              <a:tr h="476250">
                <a:tc>
                  <a:txBody>
                    <a:bodyPr/>
                    <a:lstStyle/>
                    <a:p>
                      <a:pPr marL="0" indent="0" algn="l">
                        <a:buNone/>
                      </a:pPr>
                      <a:r>
                        <a:rPr lang="en-US" sz="1100" b="1">
                          <a:solidFill>
                            <a:srgbClr val="1F2A44"/>
                          </a:solidFill>
                          <a:latin typeface="Raleway" pitchFamily="2" charset="0"/>
                          <a:ea typeface="Inter" pitchFamily="34" charset="-122"/>
                          <a:cs typeface="Inter" pitchFamily="34" charset="-120"/>
                        </a:rPr>
                        <a:t>Cultural Alignment Risk</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9525" cap="flat" cmpd="sng" algn="ctr">
                      <a:solidFill>
                        <a:srgbClr val="E5E8EE"/>
                      </a:solidFill>
                      <a:prstDash val="solid"/>
                      <a:round/>
                      <a:headEnd type="none" w="med" len="med"/>
                      <a:tailEnd type="none" w="med" len="med"/>
                    </a:lnT>
                    <a:lnB w="9525" cap="flat" cmpd="sng" algn="ctr">
                      <a:solidFill>
                        <a:srgbClr val="E5E8EE"/>
                      </a:solidFill>
                      <a:prstDash val="solid"/>
                      <a:round/>
                      <a:headEnd type="none" w="med" len="med"/>
                      <a:tailEnd type="none" w="med" len="med"/>
                    </a:lnB>
                  </a:tcPr>
                </a:tc>
                <a:tc>
                  <a:txBody>
                    <a:bodyPr/>
                    <a:lstStyle/>
                    <a:p>
                      <a:pPr marL="0" indent="0" algn="l">
                        <a:buNone/>
                      </a:pPr>
                      <a:r>
                        <a:rPr lang="en-US" sz="1100">
                          <a:solidFill>
                            <a:srgbClr val="2A3346"/>
                          </a:solidFill>
                          <a:latin typeface="Raleway" pitchFamily="2" charset="0"/>
                          <a:ea typeface="Inter" pitchFamily="34" charset="-122"/>
                          <a:cs typeface="Inter" pitchFamily="34" charset="-120"/>
                        </a:rPr>
                        <a:t>High; irreversible 30-day notice penalty</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9525" cap="flat" cmpd="sng" algn="ctr">
                      <a:solidFill>
                        <a:srgbClr val="E5E8EE"/>
                      </a:solidFill>
                      <a:prstDash val="solid"/>
                      <a:round/>
                      <a:headEnd type="none" w="med" len="med"/>
                      <a:tailEnd type="none" w="med" len="med"/>
                    </a:lnT>
                    <a:lnB w="9525" cap="flat" cmpd="sng" algn="ctr">
                      <a:solidFill>
                        <a:srgbClr val="E5E8EE"/>
                      </a:solidFill>
                      <a:prstDash val="solid"/>
                      <a:round/>
                      <a:headEnd type="none" w="med" len="med"/>
                      <a:tailEnd type="none" w="med" len="med"/>
                    </a:lnB>
                  </a:tcPr>
                </a:tc>
                <a:tc>
                  <a:txBody>
                    <a:bodyPr/>
                    <a:lstStyle/>
                    <a:p>
                      <a:pPr marL="0" indent="0" algn="l">
                        <a:buNone/>
                      </a:pPr>
                      <a:r>
                        <a:rPr lang="en-US" sz="1100" b="1">
                          <a:solidFill>
                            <a:srgbClr val="2A3346"/>
                          </a:solidFill>
                          <a:latin typeface="Raleway" pitchFamily="2" charset="0"/>
                          <a:ea typeface="Inter" pitchFamily="34" charset="-122"/>
                          <a:cs typeface="Inter" pitchFamily="34" charset="-120"/>
                        </a:rPr>
                        <a:t>Mitigated; 90-day validation window</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9525" cap="flat" cmpd="sng" algn="ctr">
                      <a:solidFill>
                        <a:srgbClr val="E5E8EE"/>
                      </a:solidFill>
                      <a:prstDash val="solid"/>
                      <a:round/>
                      <a:headEnd type="none" w="med" len="med"/>
                      <a:tailEnd type="none" w="med" len="med"/>
                    </a:lnT>
                    <a:lnB w="9525" cap="flat" cmpd="sng" algn="ctr">
                      <a:solidFill>
                        <a:srgbClr val="E5E8EE"/>
                      </a:solidFill>
                      <a:prstDash val="solid"/>
                      <a:round/>
                      <a:headEnd type="none" w="med" len="med"/>
                      <a:tailEnd type="none" w="med" len="med"/>
                    </a:lnB>
                  </a:tcPr>
                </a:tc>
                <a:tc>
                  <a:txBody>
                    <a:bodyPr/>
                    <a:lstStyle/>
                    <a:p>
                      <a:pPr marL="0" indent="0" algn="l">
                        <a:buNone/>
                      </a:pPr>
                      <a:r>
                        <a:rPr lang="en-US" sz="1100" b="1">
                          <a:solidFill>
                            <a:srgbClr val="1F2A44"/>
                          </a:solidFill>
                          <a:latin typeface="Raleway" pitchFamily="2" charset="0"/>
                          <a:ea typeface="Inter" pitchFamily="34" charset="-122"/>
                          <a:cs typeface="Inter" pitchFamily="34" charset="-120"/>
                        </a:rPr>
                        <a:t>Continuous feedback loops; replacement guarantee</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9525" cap="flat" cmpd="sng" algn="ctr">
                      <a:solidFill>
                        <a:srgbClr val="E5E8EE"/>
                      </a:solidFill>
                      <a:prstDash val="solid"/>
                      <a:round/>
                      <a:headEnd type="none" w="med" len="med"/>
                      <a:tailEnd type="none" w="med" len="med"/>
                    </a:lnT>
                    <a:lnB w="9525" cap="flat" cmpd="sng" algn="ctr">
                      <a:solidFill>
                        <a:srgbClr val="E5E8EE"/>
                      </a:solidFill>
                      <a:prstDash val="solid"/>
                      <a:round/>
                      <a:headEnd type="none" w="med" len="med"/>
                      <a:tailEnd type="none" w="med" len="med"/>
                    </a:lnB>
                    <a:solidFill>
                      <a:srgbClr val="2A9D8F">
                        <a:alpha val="4000"/>
                      </a:srgbClr>
                    </a:solidFill>
                  </a:tcPr>
                </a:tc>
                <a:extLst>
                  <a:ext uri="{0D108BD9-81ED-4DB2-BD59-A6C34878D82A}">
                    <a16:rowId xmlns:a16="http://schemas.microsoft.com/office/drawing/2014/main" val="10002"/>
                  </a:ext>
                </a:extLst>
              </a:tr>
              <a:tr h="476250">
                <a:tc>
                  <a:txBody>
                    <a:bodyPr/>
                    <a:lstStyle/>
                    <a:p>
                      <a:pPr marL="0" indent="0" algn="l">
                        <a:buNone/>
                      </a:pPr>
                      <a:r>
                        <a:rPr lang="en-US" sz="1100" b="1">
                          <a:solidFill>
                            <a:srgbClr val="1F2A44"/>
                          </a:solidFill>
                          <a:latin typeface="Raleway" pitchFamily="2" charset="0"/>
                          <a:ea typeface="Inter" pitchFamily="34" charset="-122"/>
                          <a:cs typeface="Inter" pitchFamily="34" charset="-120"/>
                        </a:rPr>
                        <a:t>Skill Verification</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9525" cap="flat" cmpd="sng" algn="ctr">
                      <a:solidFill>
                        <a:srgbClr val="E5E8EE"/>
                      </a:solidFill>
                      <a:prstDash val="solid"/>
                      <a:round/>
                      <a:headEnd type="none" w="med" len="med"/>
                      <a:tailEnd type="none" w="med" len="med"/>
                    </a:lnT>
                    <a:lnB w="9525" cap="flat" cmpd="sng" algn="ctr">
                      <a:solidFill>
                        <a:srgbClr val="E5E8EE"/>
                      </a:solidFill>
                      <a:prstDash val="solid"/>
                      <a:round/>
                      <a:headEnd type="none" w="med" len="med"/>
                      <a:tailEnd type="none" w="med" len="med"/>
                    </a:lnB>
                  </a:tcPr>
                </a:tc>
                <a:tc>
                  <a:txBody>
                    <a:bodyPr/>
                    <a:lstStyle/>
                    <a:p>
                      <a:pPr marL="0" indent="0" algn="l">
                        <a:buNone/>
                      </a:pPr>
                      <a:r>
                        <a:rPr lang="en-US" sz="1100">
                          <a:solidFill>
                            <a:srgbClr val="2A3346"/>
                          </a:solidFill>
                          <a:latin typeface="Raleway" pitchFamily="2" charset="0"/>
                          <a:ea typeface="Inter" pitchFamily="34" charset="-122"/>
                          <a:cs typeface="Inter" pitchFamily="34" charset="-120"/>
                        </a:rPr>
                        <a:t>Resume-based assessment</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9525" cap="flat" cmpd="sng" algn="ctr">
                      <a:solidFill>
                        <a:srgbClr val="E5E8EE"/>
                      </a:solidFill>
                      <a:prstDash val="solid"/>
                      <a:round/>
                      <a:headEnd type="none" w="med" len="med"/>
                      <a:tailEnd type="none" w="med" len="med"/>
                    </a:lnT>
                    <a:lnB w="9525" cap="flat" cmpd="sng" algn="ctr">
                      <a:solidFill>
                        <a:srgbClr val="E5E8EE"/>
                      </a:solidFill>
                      <a:prstDash val="solid"/>
                      <a:round/>
                      <a:headEnd type="none" w="med" len="med"/>
                      <a:tailEnd type="none" w="med" len="med"/>
                    </a:lnB>
                  </a:tcPr>
                </a:tc>
                <a:tc>
                  <a:txBody>
                    <a:bodyPr/>
                    <a:lstStyle/>
                    <a:p>
                      <a:pPr marL="0" indent="0" algn="l">
                        <a:buNone/>
                      </a:pPr>
                      <a:r>
                        <a:rPr lang="en-US" sz="1100" b="1">
                          <a:solidFill>
                            <a:srgbClr val="2A3346"/>
                          </a:solidFill>
                          <a:latin typeface="Raleway" pitchFamily="2" charset="0"/>
                          <a:ea typeface="Inter" pitchFamily="34" charset="-122"/>
                          <a:cs typeface="Inter" pitchFamily="34" charset="-120"/>
                        </a:rPr>
                        <a:t>Real-world project performance</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9525" cap="flat" cmpd="sng" algn="ctr">
                      <a:solidFill>
                        <a:srgbClr val="E5E8EE"/>
                      </a:solidFill>
                      <a:prstDash val="solid"/>
                      <a:round/>
                      <a:headEnd type="none" w="med" len="med"/>
                      <a:tailEnd type="none" w="med" len="med"/>
                    </a:lnT>
                    <a:lnB w="9525" cap="flat" cmpd="sng" algn="ctr">
                      <a:solidFill>
                        <a:srgbClr val="E5E8EE"/>
                      </a:solidFill>
                      <a:prstDash val="solid"/>
                      <a:round/>
                      <a:headEnd type="none" w="med" len="med"/>
                      <a:tailEnd type="none" w="med" len="med"/>
                    </a:lnB>
                  </a:tcPr>
                </a:tc>
                <a:tc>
                  <a:txBody>
                    <a:bodyPr/>
                    <a:lstStyle/>
                    <a:p>
                      <a:pPr marL="0" indent="0" algn="l">
                        <a:buNone/>
                      </a:pPr>
                      <a:r>
                        <a:rPr lang="en-US" sz="1100" b="1">
                          <a:solidFill>
                            <a:srgbClr val="1F2A44"/>
                          </a:solidFill>
                          <a:latin typeface="Raleway" pitchFamily="2" charset="0"/>
                          <a:ea typeface="Inter" pitchFamily="34" charset="-122"/>
                          <a:cs typeface="Inter" pitchFamily="34" charset="-120"/>
                        </a:rPr>
                        <a:t>Demonstrated competency in banking context</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9525" cap="flat" cmpd="sng" algn="ctr">
                      <a:solidFill>
                        <a:srgbClr val="E5E8EE"/>
                      </a:solidFill>
                      <a:prstDash val="solid"/>
                      <a:round/>
                      <a:headEnd type="none" w="med" len="med"/>
                      <a:tailEnd type="none" w="med" len="med"/>
                    </a:lnT>
                    <a:lnB w="9525" cap="flat" cmpd="sng" algn="ctr">
                      <a:solidFill>
                        <a:srgbClr val="E5E8EE"/>
                      </a:solidFill>
                      <a:prstDash val="solid"/>
                      <a:round/>
                      <a:headEnd type="none" w="med" len="med"/>
                      <a:tailEnd type="none" w="med" len="med"/>
                    </a:lnB>
                    <a:solidFill>
                      <a:srgbClr val="2A9D8F">
                        <a:alpha val="4000"/>
                      </a:srgbClr>
                    </a:solidFill>
                  </a:tcPr>
                </a:tc>
                <a:extLst>
                  <a:ext uri="{0D108BD9-81ED-4DB2-BD59-A6C34878D82A}">
                    <a16:rowId xmlns:a16="http://schemas.microsoft.com/office/drawing/2014/main" val="10003"/>
                  </a:ext>
                </a:extLst>
              </a:tr>
              <a:tr h="476250">
                <a:tc>
                  <a:txBody>
                    <a:bodyPr/>
                    <a:lstStyle/>
                    <a:p>
                      <a:pPr marL="0" indent="0" algn="l">
                        <a:buNone/>
                      </a:pPr>
                      <a:r>
                        <a:rPr lang="en-US" sz="1100" b="1">
                          <a:solidFill>
                            <a:srgbClr val="1F2A44"/>
                          </a:solidFill>
                          <a:latin typeface="Raleway" pitchFamily="2" charset="0"/>
                          <a:ea typeface="Inter" pitchFamily="34" charset="-122"/>
                          <a:cs typeface="Inter" pitchFamily="34" charset="-120"/>
                        </a:rPr>
                        <a:t>Market Rate Volatility</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9525" cap="flat" cmpd="sng" algn="ctr">
                      <a:solidFill>
                        <a:srgbClr val="E5E8EE"/>
                      </a:solidFill>
                      <a:prstDash val="solid"/>
                      <a:round/>
                      <a:headEnd type="none" w="med" len="med"/>
                      <a:tailEnd type="none" w="med" len="med"/>
                    </a:lnT>
                    <a:lnB w="9525" cap="flat" cmpd="sng" algn="ctr">
                      <a:solidFill>
                        <a:srgbClr val="E5E8EE"/>
                      </a:solidFill>
                      <a:prstDash val="solid"/>
                      <a:round/>
                      <a:headEnd type="none" w="med" len="med"/>
                      <a:tailEnd type="none" w="med" len="med"/>
                    </a:lnB>
                  </a:tcPr>
                </a:tc>
                <a:tc>
                  <a:txBody>
                    <a:bodyPr/>
                    <a:lstStyle/>
                    <a:p>
                      <a:pPr marL="0" indent="0" algn="l">
                        <a:buNone/>
                      </a:pPr>
                      <a:r>
                        <a:rPr lang="en-US" sz="1100">
                          <a:solidFill>
                            <a:srgbClr val="2A3346"/>
                          </a:solidFill>
                          <a:latin typeface="Raleway" pitchFamily="2" charset="0"/>
                          <a:ea typeface="Inter" pitchFamily="34" charset="-122"/>
                          <a:cs typeface="Inter" pitchFamily="34" charset="-120"/>
                        </a:rPr>
                        <a:t>Locked at day-1 salary; long-term inflation exposure</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9525" cap="flat" cmpd="sng" algn="ctr">
                      <a:solidFill>
                        <a:srgbClr val="E5E8EE"/>
                      </a:solidFill>
                      <a:prstDash val="solid"/>
                      <a:round/>
                      <a:headEnd type="none" w="med" len="med"/>
                      <a:tailEnd type="none" w="med" len="med"/>
                    </a:lnT>
                    <a:lnB w="9525" cap="flat" cmpd="sng" algn="ctr">
                      <a:solidFill>
                        <a:srgbClr val="E5E8EE"/>
                      </a:solidFill>
                      <a:prstDash val="solid"/>
                      <a:round/>
                      <a:headEnd type="none" w="med" len="med"/>
                      <a:tailEnd type="none" w="med" len="med"/>
                    </a:lnB>
                  </a:tcPr>
                </a:tc>
                <a:tc>
                  <a:txBody>
                    <a:bodyPr/>
                    <a:lstStyle/>
                    <a:p>
                      <a:pPr marL="0" indent="0" algn="l">
                        <a:buNone/>
                      </a:pPr>
                      <a:r>
                        <a:rPr lang="en-US" sz="1100" b="1">
                          <a:solidFill>
                            <a:srgbClr val="2A3346"/>
                          </a:solidFill>
                          <a:latin typeface="Raleway" pitchFamily="2" charset="0"/>
                          <a:ea typeface="Inter" pitchFamily="34" charset="-122"/>
                          <a:cs typeface="Inter" pitchFamily="34" charset="-120"/>
                        </a:rPr>
                        <a:t>Flexible; 90-day market reset</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9525" cap="flat" cmpd="sng" algn="ctr">
                      <a:solidFill>
                        <a:srgbClr val="E5E8EE"/>
                      </a:solidFill>
                      <a:prstDash val="solid"/>
                      <a:round/>
                      <a:headEnd type="none" w="med" len="med"/>
                      <a:tailEnd type="none" w="med" len="med"/>
                    </a:lnT>
                    <a:lnB w="9525" cap="flat" cmpd="sng" algn="ctr">
                      <a:solidFill>
                        <a:srgbClr val="E5E8EE"/>
                      </a:solidFill>
                      <a:prstDash val="solid"/>
                      <a:round/>
                      <a:headEnd type="none" w="med" len="med"/>
                      <a:tailEnd type="none" w="med" len="med"/>
                    </a:lnB>
                  </a:tcPr>
                </a:tc>
                <a:tc>
                  <a:txBody>
                    <a:bodyPr/>
                    <a:lstStyle/>
                    <a:p>
                      <a:pPr marL="0" indent="0" algn="l">
                        <a:buNone/>
                      </a:pPr>
                      <a:r>
                        <a:rPr lang="en-US" sz="1100" b="1">
                          <a:solidFill>
                            <a:srgbClr val="1F2A44"/>
                          </a:solidFill>
                          <a:latin typeface="Raleway" pitchFamily="2" charset="0"/>
                          <a:ea typeface="Inter" pitchFamily="34" charset="-122"/>
                          <a:cs typeface="Inter" pitchFamily="34" charset="-120"/>
                        </a:rPr>
                        <a:t>J2W absorbs rate fluctuations during contract phase</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9525" cap="flat" cmpd="sng" algn="ctr">
                      <a:solidFill>
                        <a:srgbClr val="E5E8EE"/>
                      </a:solidFill>
                      <a:prstDash val="solid"/>
                      <a:round/>
                      <a:headEnd type="none" w="med" len="med"/>
                      <a:tailEnd type="none" w="med" len="med"/>
                    </a:lnT>
                    <a:lnB w="9525" cap="flat" cmpd="sng" algn="ctr">
                      <a:solidFill>
                        <a:srgbClr val="E5E8EE"/>
                      </a:solidFill>
                      <a:prstDash val="solid"/>
                      <a:round/>
                      <a:headEnd type="none" w="med" len="med"/>
                      <a:tailEnd type="none" w="med" len="med"/>
                    </a:lnB>
                    <a:solidFill>
                      <a:srgbClr val="2A9D8F">
                        <a:alpha val="4000"/>
                      </a:srgbClr>
                    </a:solidFill>
                  </a:tcPr>
                </a:tc>
                <a:extLst>
                  <a:ext uri="{0D108BD9-81ED-4DB2-BD59-A6C34878D82A}">
                    <a16:rowId xmlns:a16="http://schemas.microsoft.com/office/drawing/2014/main" val="10004"/>
                  </a:ext>
                </a:extLst>
              </a:tr>
              <a:tr h="476250">
                <a:tc>
                  <a:txBody>
                    <a:bodyPr/>
                    <a:lstStyle/>
                    <a:p>
                      <a:pPr marL="0" indent="0" algn="l">
                        <a:buNone/>
                      </a:pPr>
                      <a:r>
                        <a:rPr lang="en-US" sz="1100" b="1">
                          <a:solidFill>
                            <a:srgbClr val="1F2A44"/>
                          </a:solidFill>
                          <a:latin typeface="Raleway" pitchFamily="2" charset="0"/>
                          <a:ea typeface="Inter" pitchFamily="34" charset="-122"/>
                          <a:cs typeface="Inter" pitchFamily="34" charset="-120"/>
                        </a:rPr>
                        <a:t>Regulatory Compliance</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9525" cap="flat" cmpd="sng" algn="ctr">
                      <a:solidFill>
                        <a:srgbClr val="E5E8EE"/>
                      </a:solidFill>
                      <a:prstDash val="solid"/>
                      <a:round/>
                      <a:headEnd type="none" w="med" len="med"/>
                      <a:tailEnd type="none" w="med" len="med"/>
                    </a:lnT>
                    <a:lnB w="0" cap="flat" cmpd="sng" algn="ctr">
                      <a:solidFill>
                        <a:srgbClr val="E5E8EE"/>
                      </a:solidFill>
                      <a:prstDash val="solid"/>
                      <a:round/>
                      <a:headEnd type="none" w="med" len="med"/>
                      <a:tailEnd type="none" w="med" len="med"/>
                    </a:lnB>
                  </a:tcPr>
                </a:tc>
                <a:tc>
                  <a:txBody>
                    <a:bodyPr/>
                    <a:lstStyle/>
                    <a:p>
                      <a:pPr marL="0" indent="0" algn="l">
                        <a:buNone/>
                      </a:pPr>
                      <a:r>
                        <a:rPr lang="en-US" sz="1100">
                          <a:solidFill>
                            <a:srgbClr val="2A3346"/>
                          </a:solidFill>
                          <a:latin typeface="Raleway" pitchFamily="2" charset="0"/>
                          <a:ea typeface="Inter" pitchFamily="34" charset="-122"/>
                          <a:cs typeface="Inter" pitchFamily="34" charset="-120"/>
                        </a:rPr>
                        <a:t>Full statutory obligation immediately</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9525" cap="flat" cmpd="sng" algn="ctr">
                      <a:solidFill>
                        <a:srgbClr val="E5E8EE"/>
                      </a:solidFill>
                      <a:prstDash val="solid"/>
                      <a:round/>
                      <a:headEnd type="none" w="med" len="med"/>
                      <a:tailEnd type="none" w="med" len="med"/>
                    </a:lnT>
                    <a:lnB w="0" cap="flat" cmpd="sng" algn="ctr">
                      <a:solidFill>
                        <a:srgbClr val="E5E8EE"/>
                      </a:solidFill>
                      <a:prstDash val="solid"/>
                      <a:round/>
                      <a:headEnd type="none" w="med" len="med"/>
                      <a:tailEnd type="none" w="med" len="med"/>
                    </a:lnB>
                  </a:tcPr>
                </a:tc>
                <a:tc>
                  <a:txBody>
                    <a:bodyPr/>
                    <a:lstStyle/>
                    <a:p>
                      <a:pPr marL="0" indent="0" algn="l">
                        <a:buNone/>
                      </a:pPr>
                      <a:r>
                        <a:rPr lang="en-US" sz="1100" b="1">
                          <a:solidFill>
                            <a:srgbClr val="2A3346"/>
                          </a:solidFill>
                          <a:latin typeface="Raleway" pitchFamily="2" charset="0"/>
                          <a:ea typeface="Inter" pitchFamily="34" charset="-122"/>
                          <a:cs typeface="Inter" pitchFamily="34" charset="-120"/>
                        </a:rPr>
                        <a:t>Managed by J2W as primary employer</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9525" cap="flat" cmpd="sng" algn="ctr">
                      <a:solidFill>
                        <a:srgbClr val="E5E8EE"/>
                      </a:solidFill>
                      <a:prstDash val="solid"/>
                      <a:round/>
                      <a:headEnd type="none" w="med" len="med"/>
                      <a:tailEnd type="none" w="med" len="med"/>
                    </a:lnT>
                    <a:lnB w="0" cap="flat" cmpd="sng" algn="ctr">
                      <a:solidFill>
                        <a:srgbClr val="E5E8EE"/>
                      </a:solidFill>
                      <a:prstDash val="solid"/>
                      <a:round/>
                      <a:headEnd type="none" w="med" len="med"/>
                      <a:tailEnd type="none" w="med" len="med"/>
                    </a:lnB>
                  </a:tcPr>
                </a:tc>
                <a:tc>
                  <a:txBody>
                    <a:bodyPr/>
                    <a:lstStyle/>
                    <a:p>
                      <a:pPr marL="0" indent="0" algn="l">
                        <a:buNone/>
                      </a:pPr>
                      <a:r>
                        <a:rPr lang="en-US" sz="1100" b="1">
                          <a:solidFill>
                            <a:srgbClr val="1F2A44"/>
                          </a:solidFill>
                          <a:latin typeface="Raleway" pitchFamily="2" charset="0"/>
                          <a:ea typeface="Inter" pitchFamily="34" charset="-122"/>
                          <a:cs typeface="Inter" pitchFamily="34" charset="-120"/>
                        </a:rPr>
                        <a:t>Simplified transition; legal risk eliminated</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9525" cap="flat" cmpd="sng" algn="ctr">
                      <a:solidFill>
                        <a:srgbClr val="E5E8EE"/>
                      </a:solidFill>
                      <a:prstDash val="solid"/>
                      <a:round/>
                      <a:headEnd type="none" w="med" len="med"/>
                      <a:tailEnd type="none" w="med" len="med"/>
                    </a:lnT>
                    <a:lnB w="0" cap="flat" cmpd="sng" algn="ctr">
                      <a:solidFill>
                        <a:srgbClr val="E5E8EE"/>
                      </a:solidFill>
                      <a:prstDash val="solid"/>
                      <a:round/>
                      <a:headEnd type="none" w="med" len="med"/>
                      <a:tailEnd type="none" w="med" len="med"/>
                    </a:lnB>
                    <a:solidFill>
                      <a:srgbClr val="2A9D8F">
                        <a:alpha val="4000"/>
                      </a:srgbClr>
                    </a:solidFill>
                  </a:tcPr>
                </a:tc>
                <a:extLst>
                  <a:ext uri="{0D108BD9-81ED-4DB2-BD59-A6C34878D82A}">
                    <a16:rowId xmlns:a16="http://schemas.microsoft.com/office/drawing/2014/main" val="10005"/>
                  </a:ext>
                </a:extLst>
              </a:tr>
            </a:tbl>
          </a:graphicData>
        </a:graphic>
      </p:graphicFrame>
      <p:sp>
        <p:nvSpPr>
          <p:cNvPr id="16" name="Text 6"/>
          <p:cNvSpPr txBox="1"/>
          <p:nvPr/>
        </p:nvSpPr>
        <p:spPr>
          <a:xfrm>
            <a:off x="803758" y="4595774"/>
            <a:ext cx="1465783" cy="143561"/>
          </a:xfrm>
          <a:prstGeom prst="rect">
            <a:avLst/>
          </a:prstGeom>
          <a:noFill/>
          <a:ln/>
        </p:spPr>
        <p:txBody>
          <a:bodyPr wrap="none" lIns="0" tIns="0" rIns="0" bIns="0" rtlCol="0" anchor="ctr"/>
          <a:lstStyle/>
          <a:p>
            <a:pPr marL="0" indent="0" algn="l">
              <a:buNone/>
            </a:pPr>
            <a:r>
              <a:rPr lang="en-US" sz="900" b="1" kern="0" spc="75">
                <a:solidFill>
                  <a:srgbClr val="FFFFFF"/>
                </a:solidFill>
                <a:latin typeface="Raleway" pitchFamily="2" charset="0"/>
                <a:ea typeface="Inter" pitchFamily="34" charset="-122"/>
                <a:cs typeface="Inter" pitchFamily="34" charset="-120"/>
              </a:rPr>
              <a:t>Financial Impact</a:t>
            </a:r>
            <a:endParaRPr lang="en-US" sz="900">
              <a:latin typeface="Raleway" pitchFamily="2" charset="0"/>
            </a:endParaRPr>
          </a:p>
        </p:txBody>
      </p:sp>
      <p:sp>
        <p:nvSpPr>
          <p:cNvPr id="17" name="Text 7"/>
          <p:cNvSpPr txBox="1"/>
          <p:nvPr/>
        </p:nvSpPr>
        <p:spPr>
          <a:xfrm>
            <a:off x="666598" y="4898875"/>
            <a:ext cx="3143707" cy="381305"/>
          </a:xfrm>
          <a:prstGeom prst="rect">
            <a:avLst/>
          </a:prstGeom>
          <a:noFill/>
          <a:ln/>
        </p:spPr>
        <p:txBody>
          <a:bodyPr wrap="none" lIns="0" tIns="0" rIns="0" bIns="0" rtlCol="0" anchor="ctr"/>
          <a:lstStyle/>
          <a:p>
            <a:pPr marL="0" indent="0" algn="l">
              <a:buNone/>
            </a:pPr>
            <a:r>
              <a:rPr lang="en-US" sz="3000" b="1">
                <a:solidFill>
                  <a:schemeClr val="bg1"/>
                </a:solidFill>
                <a:latin typeface="Raleway" pitchFamily="2" charset="0"/>
                <a:ea typeface="Fraunces" pitchFamily="34" charset="-122"/>
                <a:cs typeface="Fraunces" pitchFamily="34" charset="-120"/>
              </a:rPr>
              <a:t>45–50%</a:t>
            </a:r>
            <a:endParaRPr lang="en-US" sz="3000">
              <a:solidFill>
                <a:schemeClr val="bg1"/>
              </a:solidFill>
              <a:latin typeface="Raleway" pitchFamily="2" charset="0"/>
            </a:endParaRPr>
          </a:p>
        </p:txBody>
      </p:sp>
      <p:sp>
        <p:nvSpPr>
          <p:cNvPr id="18" name="Text 8"/>
          <p:cNvSpPr txBox="1"/>
          <p:nvPr/>
        </p:nvSpPr>
        <p:spPr>
          <a:xfrm>
            <a:off x="666598" y="5359298"/>
            <a:ext cx="3143707" cy="365760"/>
          </a:xfrm>
          <a:prstGeom prst="rect">
            <a:avLst/>
          </a:prstGeom>
          <a:noFill/>
          <a:ln/>
        </p:spPr>
        <p:txBody>
          <a:bodyPr wrap="square" lIns="0" tIns="0" rIns="0" bIns="0" rtlCol="0" anchor="t"/>
          <a:lstStyle/>
          <a:p>
            <a:pPr marL="0" indent="0" algn="l">
              <a:lnSpc>
                <a:spcPts val="1365"/>
              </a:lnSpc>
              <a:buNone/>
            </a:pPr>
            <a:r>
              <a:rPr lang="en-US" sz="1100" b="1">
                <a:solidFill>
                  <a:schemeClr val="bg1"/>
                </a:solidFill>
                <a:latin typeface="Raleway" pitchFamily="2" charset="0"/>
                <a:ea typeface="Inter" pitchFamily="34" charset="-122"/>
                <a:cs typeface="Inter" pitchFamily="34" charset="-120"/>
              </a:rPr>
              <a:t>of permanent year-1 compensation</a:t>
            </a:r>
            <a:endParaRPr lang="en-US" sz="1100">
              <a:solidFill>
                <a:schemeClr val="bg1"/>
              </a:solidFill>
              <a:latin typeface="Raleway" pitchFamily="2" charset="0"/>
            </a:endParaRPr>
          </a:p>
          <a:p>
            <a:pPr marL="0" indent="0" algn="l">
              <a:lnSpc>
                <a:spcPts val="1365"/>
              </a:lnSpc>
              <a:buNone/>
            </a:pPr>
            <a:r>
              <a:rPr lang="en-US" sz="1100">
                <a:solidFill>
                  <a:schemeClr val="bg1"/>
                </a:solidFill>
                <a:latin typeface="Raleway" pitchFamily="2" charset="0"/>
                <a:ea typeface="Inter" pitchFamily="34" charset="-122"/>
                <a:cs typeface="Inter" pitchFamily="34" charset="-120"/>
              </a:rPr>
              <a:t>(J2W absorbs employment overhead)</a:t>
            </a:r>
            <a:endParaRPr lang="en-US" sz="1100">
              <a:solidFill>
                <a:schemeClr val="bg1"/>
              </a:solidFill>
              <a:latin typeface="Raleway" pitchFamily="2" charset="0"/>
            </a:endParaRPr>
          </a:p>
        </p:txBody>
      </p:sp>
      <p:sp>
        <p:nvSpPr>
          <p:cNvPr id="19" name="Text 9"/>
          <p:cNvSpPr txBox="1"/>
          <p:nvPr/>
        </p:nvSpPr>
        <p:spPr>
          <a:xfrm>
            <a:off x="4381805" y="4898875"/>
            <a:ext cx="3143707" cy="381305"/>
          </a:xfrm>
          <a:prstGeom prst="rect">
            <a:avLst/>
          </a:prstGeom>
          <a:noFill/>
          <a:ln/>
        </p:spPr>
        <p:txBody>
          <a:bodyPr wrap="none" lIns="0" tIns="0" rIns="0" bIns="0" rtlCol="0" anchor="ctr"/>
          <a:lstStyle/>
          <a:p>
            <a:pPr marL="0" indent="0" algn="l">
              <a:buNone/>
            </a:pPr>
            <a:r>
              <a:rPr lang="en-US" sz="3000" b="1">
                <a:solidFill>
                  <a:schemeClr val="bg1"/>
                </a:solidFill>
                <a:latin typeface="Raleway" pitchFamily="2" charset="0"/>
                <a:ea typeface="Fraunces" pitchFamily="34" charset="-122"/>
                <a:cs typeface="Fraunces" pitchFamily="34" charset="-120"/>
              </a:rPr>
              <a:t>85%</a:t>
            </a:r>
            <a:endParaRPr lang="en-US" sz="3000">
              <a:solidFill>
                <a:schemeClr val="bg1"/>
              </a:solidFill>
              <a:latin typeface="Raleway" pitchFamily="2" charset="0"/>
            </a:endParaRPr>
          </a:p>
        </p:txBody>
      </p:sp>
      <p:sp>
        <p:nvSpPr>
          <p:cNvPr id="20" name="Text 10"/>
          <p:cNvSpPr txBox="1"/>
          <p:nvPr/>
        </p:nvSpPr>
        <p:spPr>
          <a:xfrm>
            <a:off x="4381805" y="5359298"/>
            <a:ext cx="3143707" cy="365760"/>
          </a:xfrm>
          <a:prstGeom prst="rect">
            <a:avLst/>
          </a:prstGeom>
          <a:noFill/>
          <a:ln/>
        </p:spPr>
        <p:txBody>
          <a:bodyPr wrap="square" lIns="0" tIns="0" rIns="0" bIns="0" rtlCol="0" anchor="t"/>
          <a:lstStyle/>
          <a:p>
            <a:pPr marL="0" indent="0" algn="l">
              <a:lnSpc>
                <a:spcPts val="1365"/>
              </a:lnSpc>
              <a:buNone/>
            </a:pPr>
            <a:r>
              <a:rPr lang="en-US" sz="1100" b="1">
                <a:solidFill>
                  <a:schemeClr val="bg1"/>
                </a:solidFill>
                <a:latin typeface="Raleway" pitchFamily="2" charset="0"/>
                <a:ea typeface="Inter" pitchFamily="34" charset="-122"/>
                <a:cs typeface="Inter" pitchFamily="34" charset="-120"/>
              </a:rPr>
              <a:t>reduction in mis-hire risk</a:t>
            </a:r>
            <a:endParaRPr lang="en-US" sz="1100">
              <a:solidFill>
                <a:schemeClr val="bg1"/>
              </a:solidFill>
              <a:latin typeface="Raleway" pitchFamily="2" charset="0"/>
            </a:endParaRPr>
          </a:p>
          <a:p>
            <a:pPr marL="0" indent="0" algn="l">
              <a:lnSpc>
                <a:spcPts val="1365"/>
              </a:lnSpc>
              <a:buNone/>
            </a:pPr>
            <a:r>
              <a:rPr lang="en-US" sz="1100">
                <a:solidFill>
                  <a:schemeClr val="bg1"/>
                </a:solidFill>
                <a:latin typeface="Raleway" pitchFamily="2" charset="0"/>
                <a:ea typeface="Inter" pitchFamily="34" charset="-122"/>
                <a:cs typeface="Inter" pitchFamily="34" charset="-120"/>
              </a:rPr>
              <a:t>(J2W internal data across 250+ placements)</a:t>
            </a:r>
            <a:endParaRPr lang="en-US" sz="1100">
              <a:solidFill>
                <a:schemeClr val="bg1"/>
              </a:solidFill>
              <a:latin typeface="Raleway" pitchFamily="2" charset="0"/>
            </a:endParaRPr>
          </a:p>
        </p:txBody>
      </p:sp>
      <p:sp>
        <p:nvSpPr>
          <p:cNvPr id="21" name="Text 11"/>
          <p:cNvSpPr txBox="1"/>
          <p:nvPr/>
        </p:nvSpPr>
        <p:spPr>
          <a:xfrm>
            <a:off x="8096098" y="4898875"/>
            <a:ext cx="3143707" cy="381305"/>
          </a:xfrm>
          <a:prstGeom prst="rect">
            <a:avLst/>
          </a:prstGeom>
          <a:noFill/>
          <a:ln/>
        </p:spPr>
        <p:txBody>
          <a:bodyPr wrap="none" lIns="0" tIns="0" rIns="0" bIns="0" rtlCol="0" anchor="ctr"/>
          <a:lstStyle/>
          <a:p>
            <a:pPr marL="0" indent="0" algn="l">
              <a:buNone/>
            </a:pPr>
            <a:r>
              <a:rPr lang="en-US" sz="3000" b="1">
                <a:solidFill>
                  <a:schemeClr val="bg1"/>
                </a:solidFill>
                <a:latin typeface="Raleway" pitchFamily="2" charset="0"/>
                <a:ea typeface="Fraunces" pitchFamily="34" charset="-122"/>
                <a:cs typeface="Fraunces" pitchFamily="34" charset="-120"/>
              </a:rPr>
              <a:t>8–12%</a:t>
            </a:r>
            <a:endParaRPr lang="en-US" sz="3000">
              <a:solidFill>
                <a:schemeClr val="bg1"/>
              </a:solidFill>
              <a:latin typeface="Raleway" pitchFamily="2" charset="0"/>
            </a:endParaRPr>
          </a:p>
        </p:txBody>
      </p:sp>
      <p:sp>
        <p:nvSpPr>
          <p:cNvPr id="22" name="Text 12"/>
          <p:cNvSpPr txBox="1"/>
          <p:nvPr/>
        </p:nvSpPr>
        <p:spPr>
          <a:xfrm>
            <a:off x="8096098" y="5359298"/>
            <a:ext cx="3143707" cy="365760"/>
          </a:xfrm>
          <a:prstGeom prst="rect">
            <a:avLst/>
          </a:prstGeom>
          <a:noFill/>
          <a:ln/>
        </p:spPr>
        <p:txBody>
          <a:bodyPr wrap="square" lIns="0" tIns="0" rIns="0" bIns="0" rtlCol="0" anchor="t"/>
          <a:lstStyle/>
          <a:p>
            <a:pPr marL="0" indent="0" algn="l">
              <a:lnSpc>
                <a:spcPts val="1365"/>
              </a:lnSpc>
              <a:buNone/>
            </a:pPr>
            <a:r>
              <a:rPr lang="en-US" sz="1100" b="1">
                <a:solidFill>
                  <a:schemeClr val="bg1"/>
                </a:solidFill>
                <a:latin typeface="Raleway" pitchFamily="2" charset="0"/>
                <a:ea typeface="Inter" pitchFamily="34" charset="-122"/>
                <a:cs typeface="Inter" pitchFamily="34" charset="-120"/>
              </a:rPr>
              <a:t>total 12-month cost reduction</a:t>
            </a:r>
            <a:endParaRPr lang="en-US" sz="1100">
              <a:solidFill>
                <a:schemeClr val="bg1"/>
              </a:solidFill>
              <a:latin typeface="Raleway" pitchFamily="2" charset="0"/>
            </a:endParaRPr>
          </a:p>
          <a:p>
            <a:pPr marL="0" indent="0" algn="l">
              <a:lnSpc>
                <a:spcPts val="1365"/>
              </a:lnSpc>
              <a:buNone/>
            </a:pPr>
            <a:r>
              <a:rPr lang="en-US" sz="1100">
                <a:solidFill>
                  <a:schemeClr val="bg1"/>
                </a:solidFill>
                <a:latin typeface="Raleway" pitchFamily="2" charset="0"/>
                <a:ea typeface="Inter" pitchFamily="34" charset="-122"/>
                <a:cs typeface="Inter" pitchFamily="34" charset="-120"/>
              </a:rPr>
              <a:t>(Day-366 conversion vs. direct hire)</a:t>
            </a:r>
            <a:endParaRPr lang="en-US" sz="1100">
              <a:solidFill>
                <a:schemeClr val="bg1"/>
              </a:solidFill>
              <a:latin typeface="Raleway" pitchFamily="2" charset="0"/>
            </a:endParaRPr>
          </a:p>
        </p:txBody>
      </p:sp>
      <p:sp>
        <p:nvSpPr>
          <p:cNvPr id="23" name="Text 13"/>
          <p:cNvSpPr txBox="1"/>
          <p:nvPr/>
        </p:nvSpPr>
        <p:spPr>
          <a:xfrm>
            <a:off x="619049" y="6174943"/>
            <a:ext cx="10954512" cy="419710"/>
          </a:xfrm>
          <a:prstGeom prst="rect">
            <a:avLst/>
          </a:prstGeom>
          <a:noFill/>
          <a:ln/>
        </p:spPr>
        <p:txBody>
          <a:bodyPr wrap="square" lIns="0" tIns="0" rIns="0" bIns="0" rtlCol="0" anchor="ctr"/>
          <a:lstStyle/>
          <a:p>
            <a:pPr marL="0" indent="0" algn="l">
              <a:buNone/>
            </a:pPr>
            <a:r>
              <a:rPr lang="en-US" sz="1200" b="1">
                <a:solidFill>
                  <a:srgbClr val="1F2A44"/>
                </a:solidFill>
                <a:latin typeface="Raleway" pitchFamily="2" charset="0"/>
                <a:ea typeface="Inter" pitchFamily="34" charset="-122"/>
                <a:cs typeface="Inter" pitchFamily="34" charset="-120"/>
              </a:rPr>
              <a:t>Strategic Hiring is not compromise; it is strategic optionality</a:t>
            </a:r>
            <a:r>
              <a:rPr lang="en-US" sz="1200">
                <a:solidFill>
                  <a:srgbClr val="1F2A44"/>
                </a:solidFill>
                <a:latin typeface="Raleway" pitchFamily="2" charset="0"/>
                <a:ea typeface="Inter" pitchFamily="34" charset="-122"/>
                <a:cs typeface="Inter" pitchFamily="34" charset="-120"/>
              </a:rPr>
              <a:t> – allowing client to acquire transformational talent with performance certainty, while J2W's operational infrastructure absorbs execution risk.</a:t>
            </a:r>
            <a:endParaRPr lang="en-US" sz="1200">
              <a:latin typeface="Raleway" pitchFamily="2" charset="0"/>
            </a:endParaRPr>
          </a:p>
        </p:txBody>
      </p:sp>
      <p:pic>
        <p:nvPicPr>
          <p:cNvPr id="25" name="Image 3" descr="gen-dedup-777bf757d895431cabe402fcd34ebd5a.png">
            <a:extLst>
              <a:ext uri="{FF2B5EF4-FFF2-40B4-BE49-F238E27FC236}">
                <a16:creationId xmlns:a16="http://schemas.microsoft.com/office/drawing/2014/main" id="{44A38F41-A612-5A31-A566-BB69F7FC7577}"/>
              </a:ext>
            </a:extLst>
          </p:cNvPr>
          <p:cNvPicPr>
            <a:picLocks noChangeAspect="1"/>
          </p:cNvPicPr>
          <p:nvPr/>
        </p:nvPicPr>
        <p:blipFill>
          <a:blip r:embed="rId8">
            <a:biLevel thresh="75000"/>
          </a:blip>
          <a:srcRect l="-384" r="-384"/>
          <a:stretch/>
        </p:blipFill>
        <p:spPr>
          <a:xfrm>
            <a:off x="571500" y="381305"/>
            <a:ext cx="57607" cy="476402"/>
          </a:xfrm>
          <a:prstGeom prst="rect">
            <a:avLst/>
          </a:prstGeom>
        </p:spPr>
      </p:pic>
      <p:sp>
        <p:nvSpPr>
          <p:cNvPr id="27" name="Text 5">
            <a:extLst>
              <a:ext uri="{FF2B5EF4-FFF2-40B4-BE49-F238E27FC236}">
                <a16:creationId xmlns:a16="http://schemas.microsoft.com/office/drawing/2014/main" id="{0159959D-6552-3BB7-1DD8-D73C4D067A9F}"/>
              </a:ext>
            </a:extLst>
          </p:cNvPr>
          <p:cNvSpPr txBox="1"/>
          <p:nvPr/>
        </p:nvSpPr>
        <p:spPr>
          <a:xfrm>
            <a:off x="780897" y="333756"/>
            <a:ext cx="5913817" cy="406908"/>
          </a:xfrm>
          <a:prstGeom prst="rect">
            <a:avLst/>
          </a:prstGeom>
          <a:noFill/>
          <a:ln/>
        </p:spPr>
        <p:txBody>
          <a:bodyPr wrap="none" lIns="0" tIns="0" rIns="0" bIns="0" rtlCol="0" anchor="ctr"/>
          <a:lstStyle/>
          <a:p>
            <a:r>
              <a:rPr lang="en-GB" sz="2400" b="1" kern="0" spc="-67" dirty="0">
                <a:solidFill>
                  <a:srgbClr val="111827"/>
                </a:solidFill>
                <a:latin typeface="Oswald" pitchFamily="34" charset="0"/>
                <a:ea typeface="Oswald" pitchFamily="34" charset="-122"/>
                <a:cs typeface="Oswald" pitchFamily="34" charset="-120"/>
              </a:rPr>
              <a:t>THE STRATEGIC HIRING IMPERATIVE – RISK MITIGATION &amp; PERFORMANCE ASSURANCE</a:t>
            </a:r>
          </a:p>
        </p:txBody>
      </p:sp>
      <p:sp>
        <p:nvSpPr>
          <p:cNvPr id="29" name="Text 6">
            <a:extLst>
              <a:ext uri="{FF2B5EF4-FFF2-40B4-BE49-F238E27FC236}">
                <a16:creationId xmlns:a16="http://schemas.microsoft.com/office/drawing/2014/main" id="{89D6D7DD-F447-0F67-35B9-82DC8A0938E0}"/>
              </a:ext>
            </a:extLst>
          </p:cNvPr>
          <p:cNvSpPr txBox="1"/>
          <p:nvPr/>
        </p:nvSpPr>
        <p:spPr>
          <a:xfrm>
            <a:off x="780898" y="740663"/>
            <a:ext cx="5054803" cy="257861"/>
          </a:xfrm>
          <a:prstGeom prst="rect">
            <a:avLst/>
          </a:prstGeom>
          <a:noFill/>
          <a:ln/>
        </p:spPr>
        <p:txBody>
          <a:bodyPr wrap="none" lIns="0" tIns="0" rIns="0" bIns="0" rtlCol="0" anchor="ctr"/>
          <a:lstStyle/>
          <a:p>
            <a:pPr marL="0" indent="0" algn="l">
              <a:buNone/>
            </a:pPr>
            <a:r>
              <a:rPr lang="en-GB" sz="1500" b="1" kern="0" spc="66" dirty="0">
                <a:solidFill>
                  <a:srgbClr val="2A9D8F"/>
                </a:solidFill>
                <a:latin typeface="Roboto Condensed" pitchFamily="34" charset="0"/>
                <a:ea typeface="Roboto Condensed" pitchFamily="34" charset="-122"/>
                <a:cs typeface="Roboto Condensed" pitchFamily="34" charset="-120"/>
              </a:rPr>
              <a:t>Strategic Hiring: Transformational Flexibility Meets Execution Certainty</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97A9A2-3F80-FB51-FBFF-C64E567053A3}"/>
            </a:ext>
          </a:extLst>
        </p:cNvPr>
        <p:cNvGrpSpPr/>
        <p:nvPr/>
      </p:nvGrpSpPr>
      <p:grpSpPr>
        <a:xfrm>
          <a:off x="0" y="0"/>
          <a:ext cx="0" cy="0"/>
          <a:chOff x="0" y="0"/>
          <a:chExt cx="0" cy="0"/>
        </a:xfrm>
      </p:grpSpPr>
      <p:sp>
        <p:nvSpPr>
          <p:cNvPr id="83" name="Google Shape;1167;p28">
            <a:extLst>
              <a:ext uri="{FF2B5EF4-FFF2-40B4-BE49-F238E27FC236}">
                <a16:creationId xmlns:a16="http://schemas.microsoft.com/office/drawing/2014/main" id="{716471D0-FF9C-103A-34D0-08F23B2D1462}"/>
              </a:ext>
            </a:extLst>
          </p:cNvPr>
          <p:cNvSpPr/>
          <p:nvPr/>
        </p:nvSpPr>
        <p:spPr>
          <a:xfrm>
            <a:off x="2440104" y="2341246"/>
            <a:ext cx="11477" cy="704858"/>
          </a:xfrm>
          <a:custGeom>
            <a:avLst/>
            <a:gdLst/>
            <a:ahLst/>
            <a:cxnLst/>
            <a:rect l="l" t="t" r="r" b="b"/>
            <a:pathLst>
              <a:path w="323" h="19837" extrusionOk="0">
                <a:moveTo>
                  <a:pt x="156" y="1"/>
                </a:moveTo>
                <a:cubicBezTo>
                  <a:pt x="72" y="1"/>
                  <a:pt x="1" y="72"/>
                  <a:pt x="1" y="156"/>
                </a:cubicBezTo>
                <a:lnTo>
                  <a:pt x="1" y="19682"/>
                </a:lnTo>
                <a:cubicBezTo>
                  <a:pt x="1" y="19765"/>
                  <a:pt x="72" y="19837"/>
                  <a:pt x="156" y="19837"/>
                </a:cubicBezTo>
                <a:cubicBezTo>
                  <a:pt x="251" y="19837"/>
                  <a:pt x="322" y="19765"/>
                  <a:pt x="322" y="19682"/>
                </a:cubicBezTo>
                <a:lnTo>
                  <a:pt x="322" y="156"/>
                </a:lnTo>
                <a:cubicBezTo>
                  <a:pt x="322" y="72"/>
                  <a:pt x="251" y="1"/>
                  <a:pt x="156"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grpSp>
        <p:nvGrpSpPr>
          <p:cNvPr id="85" name="Google Shape;1169;p28">
            <a:extLst>
              <a:ext uri="{FF2B5EF4-FFF2-40B4-BE49-F238E27FC236}">
                <a16:creationId xmlns:a16="http://schemas.microsoft.com/office/drawing/2014/main" id="{8A541D6C-1626-CF66-4AE8-55E6D3A00B4B}"/>
              </a:ext>
            </a:extLst>
          </p:cNvPr>
          <p:cNvGrpSpPr/>
          <p:nvPr/>
        </p:nvGrpSpPr>
        <p:grpSpPr>
          <a:xfrm>
            <a:off x="4138719" y="1150720"/>
            <a:ext cx="1291642" cy="2101441"/>
            <a:chOff x="4509810" y="1070674"/>
            <a:chExt cx="1291642" cy="2101441"/>
          </a:xfrm>
        </p:grpSpPr>
        <p:sp>
          <p:nvSpPr>
            <p:cNvPr id="86" name="Google Shape;1170;p28">
              <a:extLst>
                <a:ext uri="{FF2B5EF4-FFF2-40B4-BE49-F238E27FC236}">
                  <a16:creationId xmlns:a16="http://schemas.microsoft.com/office/drawing/2014/main" id="{399D75F4-7A53-9473-FBEF-A2EE2F18D56C}"/>
                </a:ext>
              </a:extLst>
            </p:cNvPr>
            <p:cNvSpPr/>
            <p:nvPr/>
          </p:nvSpPr>
          <p:spPr>
            <a:xfrm>
              <a:off x="5146097" y="2261200"/>
              <a:ext cx="11441" cy="704858"/>
            </a:xfrm>
            <a:custGeom>
              <a:avLst/>
              <a:gdLst/>
              <a:ahLst/>
              <a:cxnLst/>
              <a:rect l="l" t="t" r="r" b="b"/>
              <a:pathLst>
                <a:path w="322" h="19837" extrusionOk="0">
                  <a:moveTo>
                    <a:pt x="155" y="1"/>
                  </a:moveTo>
                  <a:cubicBezTo>
                    <a:pt x="72" y="1"/>
                    <a:pt x="1" y="72"/>
                    <a:pt x="1" y="156"/>
                  </a:cubicBezTo>
                  <a:lnTo>
                    <a:pt x="1" y="19682"/>
                  </a:lnTo>
                  <a:cubicBezTo>
                    <a:pt x="1" y="19765"/>
                    <a:pt x="72" y="19837"/>
                    <a:pt x="155" y="19837"/>
                  </a:cubicBezTo>
                  <a:cubicBezTo>
                    <a:pt x="251" y="19837"/>
                    <a:pt x="322" y="19765"/>
                    <a:pt x="322" y="19682"/>
                  </a:cubicBezTo>
                  <a:lnTo>
                    <a:pt x="322" y="156"/>
                  </a:lnTo>
                  <a:cubicBezTo>
                    <a:pt x="322" y="72"/>
                    <a:pt x="251" y="1"/>
                    <a:pt x="155"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grpSp>
          <p:nvGrpSpPr>
            <p:cNvPr id="87" name="Google Shape;1171;p28">
              <a:extLst>
                <a:ext uri="{FF2B5EF4-FFF2-40B4-BE49-F238E27FC236}">
                  <a16:creationId xmlns:a16="http://schemas.microsoft.com/office/drawing/2014/main" id="{34468A44-505F-2527-2E43-6ADCB8F47E51}"/>
                </a:ext>
              </a:extLst>
            </p:cNvPr>
            <p:cNvGrpSpPr/>
            <p:nvPr/>
          </p:nvGrpSpPr>
          <p:grpSpPr>
            <a:xfrm>
              <a:off x="4989575" y="1647760"/>
              <a:ext cx="332122" cy="501793"/>
              <a:chOff x="4989575" y="1647760"/>
              <a:chExt cx="332122" cy="501793"/>
            </a:xfrm>
          </p:grpSpPr>
          <p:sp>
            <p:nvSpPr>
              <p:cNvPr id="91" name="Google Shape;1172;p28">
                <a:extLst>
                  <a:ext uri="{FF2B5EF4-FFF2-40B4-BE49-F238E27FC236}">
                    <a16:creationId xmlns:a16="http://schemas.microsoft.com/office/drawing/2014/main" id="{52E165A7-C1D7-660D-F7DB-7CEEA3FF8367}"/>
                  </a:ext>
                </a:extLst>
              </p:cNvPr>
              <p:cNvSpPr/>
              <p:nvPr/>
            </p:nvSpPr>
            <p:spPr>
              <a:xfrm>
                <a:off x="4989575" y="1836476"/>
                <a:ext cx="332122" cy="313077"/>
              </a:xfrm>
              <a:custGeom>
                <a:avLst/>
                <a:gdLst/>
                <a:ahLst/>
                <a:cxnLst/>
                <a:rect l="l" t="t" r="r" b="b"/>
                <a:pathLst>
                  <a:path w="9347" h="8811" extrusionOk="0">
                    <a:moveTo>
                      <a:pt x="8096" y="214"/>
                    </a:moveTo>
                    <a:cubicBezTo>
                      <a:pt x="8668" y="214"/>
                      <a:pt x="9132" y="679"/>
                      <a:pt x="9132" y="1238"/>
                    </a:cubicBezTo>
                    <a:lnTo>
                      <a:pt x="9132" y="7561"/>
                    </a:lnTo>
                    <a:cubicBezTo>
                      <a:pt x="9132" y="8132"/>
                      <a:pt x="8668" y="8596"/>
                      <a:pt x="8096" y="8596"/>
                    </a:cubicBezTo>
                    <a:lnTo>
                      <a:pt x="1250" y="8596"/>
                    </a:lnTo>
                    <a:cubicBezTo>
                      <a:pt x="679" y="8596"/>
                      <a:pt x="226" y="8132"/>
                      <a:pt x="226" y="7561"/>
                    </a:cubicBezTo>
                    <a:lnTo>
                      <a:pt x="226" y="1238"/>
                    </a:lnTo>
                    <a:cubicBezTo>
                      <a:pt x="226" y="679"/>
                      <a:pt x="679" y="214"/>
                      <a:pt x="1250" y="214"/>
                    </a:cubicBezTo>
                    <a:close/>
                    <a:moveTo>
                      <a:pt x="1250" y="0"/>
                    </a:moveTo>
                    <a:cubicBezTo>
                      <a:pt x="560" y="0"/>
                      <a:pt x="0" y="560"/>
                      <a:pt x="0" y="1238"/>
                    </a:cubicBezTo>
                    <a:lnTo>
                      <a:pt x="0" y="7561"/>
                    </a:lnTo>
                    <a:cubicBezTo>
                      <a:pt x="0" y="8251"/>
                      <a:pt x="560" y="8811"/>
                      <a:pt x="1250" y="8811"/>
                    </a:cubicBezTo>
                    <a:lnTo>
                      <a:pt x="8096" y="8811"/>
                    </a:lnTo>
                    <a:cubicBezTo>
                      <a:pt x="8787" y="8811"/>
                      <a:pt x="9347" y="8251"/>
                      <a:pt x="9347" y="7561"/>
                    </a:cubicBezTo>
                    <a:lnTo>
                      <a:pt x="9347" y="1238"/>
                    </a:lnTo>
                    <a:cubicBezTo>
                      <a:pt x="9347" y="560"/>
                      <a:pt x="8787" y="0"/>
                      <a:pt x="8096" y="0"/>
                    </a:cubicBezTo>
                    <a:close/>
                  </a:path>
                </a:pathLst>
              </a:custGeom>
              <a:solidFill>
                <a:srgbClr val="4949E7"/>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92" name="Google Shape;1173;p28">
                <a:extLst>
                  <a:ext uri="{FF2B5EF4-FFF2-40B4-BE49-F238E27FC236}">
                    <a16:creationId xmlns:a16="http://schemas.microsoft.com/office/drawing/2014/main" id="{C339217B-76D8-33B2-225D-BCB57B79E556}"/>
                  </a:ext>
                </a:extLst>
              </p:cNvPr>
              <p:cNvSpPr/>
              <p:nvPr/>
            </p:nvSpPr>
            <p:spPr>
              <a:xfrm>
                <a:off x="5137214" y="1879186"/>
                <a:ext cx="143018" cy="189566"/>
              </a:xfrm>
              <a:custGeom>
                <a:avLst/>
                <a:gdLst/>
                <a:ahLst/>
                <a:cxnLst/>
                <a:rect l="l" t="t" r="r" b="b"/>
                <a:pathLst>
                  <a:path w="4025" h="5335" extrusionOk="0">
                    <a:moveTo>
                      <a:pt x="108" y="1"/>
                    </a:moveTo>
                    <a:cubicBezTo>
                      <a:pt x="48" y="1"/>
                      <a:pt x="1" y="48"/>
                      <a:pt x="1" y="108"/>
                    </a:cubicBezTo>
                    <a:cubicBezTo>
                      <a:pt x="1" y="167"/>
                      <a:pt x="48" y="227"/>
                      <a:pt x="108" y="227"/>
                    </a:cubicBezTo>
                    <a:lnTo>
                      <a:pt x="3168" y="227"/>
                    </a:lnTo>
                    <a:cubicBezTo>
                      <a:pt x="3513" y="227"/>
                      <a:pt x="3799" y="513"/>
                      <a:pt x="3799" y="858"/>
                    </a:cubicBezTo>
                    <a:lnTo>
                      <a:pt x="3799" y="5227"/>
                    </a:lnTo>
                    <a:cubicBezTo>
                      <a:pt x="3799" y="5287"/>
                      <a:pt x="3846" y="5335"/>
                      <a:pt x="3906" y="5335"/>
                    </a:cubicBezTo>
                    <a:cubicBezTo>
                      <a:pt x="3977" y="5335"/>
                      <a:pt x="4025" y="5287"/>
                      <a:pt x="4025" y="5227"/>
                    </a:cubicBezTo>
                    <a:lnTo>
                      <a:pt x="4025" y="858"/>
                    </a:lnTo>
                    <a:cubicBezTo>
                      <a:pt x="4025" y="382"/>
                      <a:pt x="3632" y="1"/>
                      <a:pt x="3168" y="1"/>
                    </a:cubicBezTo>
                    <a:close/>
                  </a:path>
                </a:pathLst>
              </a:custGeom>
              <a:solidFill>
                <a:srgbClr val="4949E7"/>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93" name="Google Shape;1174;p28">
                <a:extLst>
                  <a:ext uri="{FF2B5EF4-FFF2-40B4-BE49-F238E27FC236}">
                    <a16:creationId xmlns:a16="http://schemas.microsoft.com/office/drawing/2014/main" id="{EABA45A2-47DB-D472-A97E-8D9D3FB7B98F}"/>
                  </a:ext>
                </a:extLst>
              </p:cNvPr>
              <p:cNvSpPr/>
              <p:nvPr/>
            </p:nvSpPr>
            <p:spPr>
              <a:xfrm>
                <a:off x="5043727" y="1647760"/>
                <a:ext cx="224246" cy="196353"/>
              </a:xfrm>
              <a:custGeom>
                <a:avLst/>
                <a:gdLst/>
                <a:ahLst/>
                <a:cxnLst/>
                <a:rect l="l" t="t" r="r" b="b"/>
                <a:pathLst>
                  <a:path w="6311" h="5526" extrusionOk="0">
                    <a:moveTo>
                      <a:pt x="3346" y="215"/>
                    </a:moveTo>
                    <a:cubicBezTo>
                      <a:pt x="4858" y="215"/>
                      <a:pt x="6084" y="1454"/>
                      <a:pt x="6084" y="2954"/>
                    </a:cubicBezTo>
                    <a:lnTo>
                      <a:pt x="6084" y="5311"/>
                    </a:lnTo>
                    <a:lnTo>
                      <a:pt x="215" y="5311"/>
                    </a:lnTo>
                    <a:lnTo>
                      <a:pt x="215" y="2954"/>
                    </a:lnTo>
                    <a:cubicBezTo>
                      <a:pt x="215" y="1454"/>
                      <a:pt x="1441" y="215"/>
                      <a:pt x="2953" y="215"/>
                    </a:cubicBezTo>
                    <a:close/>
                    <a:moveTo>
                      <a:pt x="2953" y="1"/>
                    </a:moveTo>
                    <a:cubicBezTo>
                      <a:pt x="1322" y="1"/>
                      <a:pt x="0" y="1323"/>
                      <a:pt x="0" y="2954"/>
                    </a:cubicBezTo>
                    <a:lnTo>
                      <a:pt x="0" y="5525"/>
                    </a:lnTo>
                    <a:lnTo>
                      <a:pt x="6311" y="5525"/>
                    </a:lnTo>
                    <a:lnTo>
                      <a:pt x="6311" y="2954"/>
                    </a:lnTo>
                    <a:cubicBezTo>
                      <a:pt x="6311" y="1323"/>
                      <a:pt x="4977" y="1"/>
                      <a:pt x="3346" y="1"/>
                    </a:cubicBezTo>
                    <a:close/>
                  </a:path>
                </a:pathLst>
              </a:custGeom>
              <a:solidFill>
                <a:srgbClr val="4949E7"/>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94" name="Google Shape;1175;p28">
                <a:extLst>
                  <a:ext uri="{FF2B5EF4-FFF2-40B4-BE49-F238E27FC236}">
                    <a16:creationId xmlns:a16="http://schemas.microsoft.com/office/drawing/2014/main" id="{9533EEE9-9EFA-7A6B-FDC5-46443D3DDF9F}"/>
                  </a:ext>
                </a:extLst>
              </p:cNvPr>
              <p:cNvSpPr/>
              <p:nvPr/>
            </p:nvSpPr>
            <p:spPr>
              <a:xfrm>
                <a:off x="5068245" y="1676542"/>
                <a:ext cx="175175" cy="167571"/>
              </a:xfrm>
              <a:custGeom>
                <a:avLst/>
                <a:gdLst/>
                <a:ahLst/>
                <a:cxnLst/>
                <a:rect l="l" t="t" r="r" b="b"/>
                <a:pathLst>
                  <a:path w="4930" h="4716" extrusionOk="0">
                    <a:moveTo>
                      <a:pt x="2620" y="215"/>
                    </a:moveTo>
                    <a:cubicBezTo>
                      <a:pt x="3775" y="215"/>
                      <a:pt x="4716" y="1155"/>
                      <a:pt x="4716" y="2310"/>
                    </a:cubicBezTo>
                    <a:lnTo>
                      <a:pt x="4716" y="4501"/>
                    </a:lnTo>
                    <a:lnTo>
                      <a:pt x="215" y="4501"/>
                    </a:lnTo>
                    <a:lnTo>
                      <a:pt x="215" y="2310"/>
                    </a:lnTo>
                    <a:cubicBezTo>
                      <a:pt x="215" y="1155"/>
                      <a:pt x="1156" y="215"/>
                      <a:pt x="2311" y="215"/>
                    </a:cubicBezTo>
                    <a:close/>
                    <a:moveTo>
                      <a:pt x="2311" y="1"/>
                    </a:moveTo>
                    <a:cubicBezTo>
                      <a:pt x="1037" y="1"/>
                      <a:pt x="1" y="1036"/>
                      <a:pt x="1" y="2310"/>
                    </a:cubicBezTo>
                    <a:lnTo>
                      <a:pt x="1" y="4715"/>
                    </a:lnTo>
                    <a:lnTo>
                      <a:pt x="4930" y="4715"/>
                    </a:lnTo>
                    <a:lnTo>
                      <a:pt x="4930" y="2310"/>
                    </a:lnTo>
                    <a:cubicBezTo>
                      <a:pt x="4930" y="1036"/>
                      <a:pt x="3894" y="1"/>
                      <a:pt x="2620" y="1"/>
                    </a:cubicBezTo>
                    <a:close/>
                  </a:path>
                </a:pathLst>
              </a:custGeom>
              <a:solidFill>
                <a:srgbClr val="4949E7"/>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grpSp>
        <p:sp>
          <p:nvSpPr>
            <p:cNvPr id="88" name="Google Shape;1176;p28">
              <a:extLst>
                <a:ext uri="{FF2B5EF4-FFF2-40B4-BE49-F238E27FC236}">
                  <a16:creationId xmlns:a16="http://schemas.microsoft.com/office/drawing/2014/main" id="{FC9A0794-6D05-4A9F-77EC-859EA4A2F9CB}"/>
                </a:ext>
              </a:extLst>
            </p:cNvPr>
            <p:cNvSpPr/>
            <p:nvPr/>
          </p:nvSpPr>
          <p:spPr>
            <a:xfrm>
              <a:off x="4509810" y="2732081"/>
              <a:ext cx="1291642" cy="440034"/>
            </a:xfrm>
            <a:custGeom>
              <a:avLst/>
              <a:gdLst/>
              <a:ahLst/>
              <a:cxnLst/>
              <a:rect l="l" t="t" r="r" b="b"/>
              <a:pathLst>
                <a:path w="36351" h="12384" extrusionOk="0">
                  <a:moveTo>
                    <a:pt x="1" y="1"/>
                  </a:moveTo>
                  <a:lnTo>
                    <a:pt x="1" y="1358"/>
                  </a:lnTo>
                  <a:cubicBezTo>
                    <a:pt x="2429" y="1644"/>
                    <a:pt x="4311" y="3692"/>
                    <a:pt x="4311" y="6192"/>
                  </a:cubicBezTo>
                  <a:cubicBezTo>
                    <a:pt x="4311" y="8692"/>
                    <a:pt x="2429" y="10752"/>
                    <a:pt x="1" y="11038"/>
                  </a:cubicBezTo>
                  <a:lnTo>
                    <a:pt x="1" y="12383"/>
                  </a:lnTo>
                  <a:lnTo>
                    <a:pt x="32040" y="12383"/>
                  </a:lnTo>
                  <a:lnTo>
                    <a:pt x="32040" y="10502"/>
                  </a:lnTo>
                  <a:cubicBezTo>
                    <a:pt x="34422" y="10502"/>
                    <a:pt x="36350" y="8573"/>
                    <a:pt x="36350" y="6192"/>
                  </a:cubicBezTo>
                  <a:cubicBezTo>
                    <a:pt x="36350" y="3823"/>
                    <a:pt x="34422" y="1894"/>
                    <a:pt x="32040" y="1894"/>
                  </a:cubicBezTo>
                  <a:lnTo>
                    <a:pt x="32040" y="1"/>
                  </a:lnTo>
                  <a:close/>
                </a:path>
              </a:pathLst>
            </a:custGeom>
            <a:solidFill>
              <a:schemeClr val="accent1"/>
            </a:solidFill>
            <a:ln>
              <a:noFill/>
            </a:ln>
          </p:spPr>
          <p:txBody>
            <a:bodyPr spcFirstLastPara="1" wrap="square" lIns="91425" tIns="91425" rIns="91425" bIns="91425" anchor="ctr" anchorCtr="0">
              <a:noAutofit/>
            </a:bodyPr>
            <a:lstStyle/>
            <a:p>
              <a:pPr algn="ctr">
                <a:buClr>
                  <a:srgbClr val="000000"/>
                </a:buClr>
                <a:buFont typeface="Arial"/>
                <a:buNone/>
              </a:pPr>
              <a:r>
                <a:rPr lang="en" sz="1400" kern="0">
                  <a:solidFill>
                    <a:srgbClr val="FFFFFF"/>
                  </a:solidFill>
                  <a:latin typeface="Oswald" panose="00000500000000000000" pitchFamily="2" charset="0"/>
                  <a:ea typeface="Fira Sans Extra Condensed Medium"/>
                  <a:cs typeface="Fira Sans Extra Condensed Medium"/>
                  <a:sym typeface="Fira Sans Extra Condensed Medium"/>
                </a:rPr>
                <a:t>Phase 4</a:t>
              </a:r>
              <a:endParaRPr sz="1400" kern="0">
                <a:solidFill>
                  <a:srgbClr val="FFFFFF"/>
                </a:solidFill>
                <a:latin typeface="Oswald" panose="00000500000000000000" pitchFamily="2" charset="0"/>
                <a:ea typeface="Fira Sans Extra Condensed Medium"/>
                <a:cs typeface="Fira Sans Extra Condensed Medium"/>
                <a:sym typeface="Fira Sans Extra Condensed Medium"/>
              </a:endParaRPr>
            </a:p>
          </p:txBody>
        </p:sp>
        <p:sp>
          <p:nvSpPr>
            <p:cNvPr id="89" name="Google Shape;1177;p28">
              <a:extLst>
                <a:ext uri="{FF2B5EF4-FFF2-40B4-BE49-F238E27FC236}">
                  <a16:creationId xmlns:a16="http://schemas.microsoft.com/office/drawing/2014/main" id="{373F2C13-5F7E-7D5B-C108-440C87EF50C3}"/>
                </a:ext>
              </a:extLst>
            </p:cNvPr>
            <p:cNvSpPr/>
            <p:nvPr/>
          </p:nvSpPr>
          <p:spPr>
            <a:xfrm>
              <a:off x="5120300" y="2235403"/>
              <a:ext cx="63070" cy="63070"/>
            </a:xfrm>
            <a:custGeom>
              <a:avLst/>
              <a:gdLst/>
              <a:ahLst/>
              <a:cxnLst/>
              <a:rect l="l" t="t" r="r" b="b"/>
              <a:pathLst>
                <a:path w="1775" h="1775" extrusionOk="0">
                  <a:moveTo>
                    <a:pt x="881" y="1"/>
                  </a:moveTo>
                  <a:cubicBezTo>
                    <a:pt x="393" y="1"/>
                    <a:pt x="0" y="394"/>
                    <a:pt x="0" y="882"/>
                  </a:cubicBezTo>
                  <a:cubicBezTo>
                    <a:pt x="0" y="1382"/>
                    <a:pt x="393" y="1775"/>
                    <a:pt x="881" y="1775"/>
                  </a:cubicBezTo>
                  <a:cubicBezTo>
                    <a:pt x="1381" y="1775"/>
                    <a:pt x="1774" y="1382"/>
                    <a:pt x="1774" y="882"/>
                  </a:cubicBezTo>
                  <a:cubicBezTo>
                    <a:pt x="1774" y="394"/>
                    <a:pt x="1381" y="1"/>
                    <a:pt x="881"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90" name="Google Shape;1178;p28">
              <a:extLst>
                <a:ext uri="{FF2B5EF4-FFF2-40B4-BE49-F238E27FC236}">
                  <a16:creationId xmlns:a16="http://schemas.microsoft.com/office/drawing/2014/main" id="{14687F98-091A-C7F3-3D07-F2C41B196118}"/>
                </a:ext>
              </a:extLst>
            </p:cNvPr>
            <p:cNvSpPr txBox="1"/>
            <p:nvPr/>
          </p:nvSpPr>
          <p:spPr>
            <a:xfrm>
              <a:off x="4599720" y="1070674"/>
              <a:ext cx="1167300" cy="534900"/>
            </a:xfrm>
            <a:prstGeom prst="rect">
              <a:avLst/>
            </a:prstGeom>
            <a:noFill/>
            <a:ln>
              <a:noFill/>
            </a:ln>
          </p:spPr>
          <p:txBody>
            <a:bodyPr spcFirstLastPara="1" wrap="square" lIns="91425" tIns="91425" rIns="91425" bIns="91425" anchor="ctr" anchorCtr="0">
              <a:noAutofit/>
            </a:bodyPr>
            <a:lstStyle/>
            <a:p>
              <a:pPr algn="ctr">
                <a:buClr>
                  <a:srgbClr val="000000"/>
                </a:buClr>
                <a:buFont typeface="Arial"/>
                <a:buNone/>
              </a:pPr>
              <a:r>
                <a:rPr lang="en" sz="1500" kern="0">
                  <a:solidFill>
                    <a:srgbClr val="434343"/>
                  </a:solidFill>
                  <a:latin typeface="Oswald" panose="00000500000000000000" pitchFamily="2" charset="0"/>
                  <a:ea typeface="Roboto"/>
                  <a:cs typeface="Roboto"/>
                  <a:sym typeface="Roboto"/>
                </a:rPr>
                <a:t>BGV Initiation</a:t>
              </a:r>
              <a:endParaRPr sz="1500" kern="0">
                <a:solidFill>
                  <a:srgbClr val="434343"/>
                </a:solidFill>
                <a:latin typeface="Oswald" panose="00000500000000000000" pitchFamily="2" charset="0"/>
                <a:ea typeface="Roboto"/>
                <a:cs typeface="Roboto"/>
                <a:sym typeface="Roboto"/>
              </a:endParaRPr>
            </a:p>
          </p:txBody>
        </p:sp>
      </p:grpSp>
      <p:grpSp>
        <p:nvGrpSpPr>
          <p:cNvPr id="95" name="Google Shape;1179;p28">
            <a:extLst>
              <a:ext uri="{FF2B5EF4-FFF2-40B4-BE49-F238E27FC236}">
                <a16:creationId xmlns:a16="http://schemas.microsoft.com/office/drawing/2014/main" id="{A3BB47C8-D0E8-D9C2-29C7-A00A40917F36}"/>
              </a:ext>
            </a:extLst>
          </p:cNvPr>
          <p:cNvGrpSpPr/>
          <p:nvPr/>
        </p:nvGrpSpPr>
        <p:grpSpPr>
          <a:xfrm>
            <a:off x="5285232" y="1150720"/>
            <a:ext cx="1355430" cy="2101441"/>
            <a:chOff x="5656323" y="1070674"/>
            <a:chExt cx="1355430" cy="2101441"/>
          </a:xfrm>
        </p:grpSpPr>
        <p:sp>
          <p:nvSpPr>
            <p:cNvPr id="96" name="Google Shape;1180;p28">
              <a:extLst>
                <a:ext uri="{FF2B5EF4-FFF2-40B4-BE49-F238E27FC236}">
                  <a16:creationId xmlns:a16="http://schemas.microsoft.com/office/drawing/2014/main" id="{D526E92E-4508-31E0-93DD-75CF9142BD08}"/>
                </a:ext>
              </a:extLst>
            </p:cNvPr>
            <p:cNvSpPr/>
            <p:nvPr/>
          </p:nvSpPr>
          <p:spPr>
            <a:xfrm>
              <a:off x="6313317" y="2261200"/>
              <a:ext cx="11477" cy="704858"/>
            </a:xfrm>
            <a:custGeom>
              <a:avLst/>
              <a:gdLst/>
              <a:ahLst/>
              <a:cxnLst/>
              <a:rect l="l" t="t" r="r" b="b"/>
              <a:pathLst>
                <a:path w="323" h="19837" extrusionOk="0">
                  <a:moveTo>
                    <a:pt x="168" y="1"/>
                  </a:moveTo>
                  <a:cubicBezTo>
                    <a:pt x="72" y="1"/>
                    <a:pt x="1" y="72"/>
                    <a:pt x="1" y="156"/>
                  </a:cubicBezTo>
                  <a:lnTo>
                    <a:pt x="1" y="19682"/>
                  </a:lnTo>
                  <a:cubicBezTo>
                    <a:pt x="1" y="19765"/>
                    <a:pt x="72" y="19837"/>
                    <a:pt x="168" y="19837"/>
                  </a:cubicBezTo>
                  <a:cubicBezTo>
                    <a:pt x="251" y="19837"/>
                    <a:pt x="322" y="19765"/>
                    <a:pt x="322" y="19682"/>
                  </a:cubicBezTo>
                  <a:lnTo>
                    <a:pt x="322" y="156"/>
                  </a:lnTo>
                  <a:cubicBezTo>
                    <a:pt x="322" y="72"/>
                    <a:pt x="251" y="1"/>
                    <a:pt x="168"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grpSp>
          <p:nvGrpSpPr>
            <p:cNvPr id="97" name="Google Shape;1181;p28">
              <a:extLst>
                <a:ext uri="{FF2B5EF4-FFF2-40B4-BE49-F238E27FC236}">
                  <a16:creationId xmlns:a16="http://schemas.microsoft.com/office/drawing/2014/main" id="{4D1CBBC3-6EC6-39B5-9116-967996FCB4F7}"/>
                </a:ext>
              </a:extLst>
            </p:cNvPr>
            <p:cNvGrpSpPr/>
            <p:nvPr/>
          </p:nvGrpSpPr>
          <p:grpSpPr>
            <a:xfrm>
              <a:off x="6086582" y="1676116"/>
              <a:ext cx="337630" cy="473435"/>
              <a:chOff x="6086582" y="1676116"/>
              <a:chExt cx="337630" cy="473435"/>
            </a:xfrm>
          </p:grpSpPr>
          <p:sp>
            <p:nvSpPr>
              <p:cNvPr id="101" name="Google Shape;1182;p28">
                <a:extLst>
                  <a:ext uri="{FF2B5EF4-FFF2-40B4-BE49-F238E27FC236}">
                    <a16:creationId xmlns:a16="http://schemas.microsoft.com/office/drawing/2014/main" id="{07AFAA24-89E9-29B3-B55B-37B214D1C1C0}"/>
                  </a:ext>
                </a:extLst>
              </p:cNvPr>
              <p:cNvSpPr/>
              <p:nvPr/>
            </p:nvSpPr>
            <p:spPr>
              <a:xfrm>
                <a:off x="6248185" y="1819526"/>
                <a:ext cx="63923" cy="111750"/>
              </a:xfrm>
              <a:custGeom>
                <a:avLst/>
                <a:gdLst/>
                <a:ahLst/>
                <a:cxnLst/>
                <a:rect l="l" t="t" r="r" b="b"/>
                <a:pathLst>
                  <a:path w="1799" h="3145" extrusionOk="0">
                    <a:moveTo>
                      <a:pt x="841" y="1"/>
                    </a:moveTo>
                    <a:cubicBezTo>
                      <a:pt x="574" y="1"/>
                      <a:pt x="127" y="12"/>
                      <a:pt x="12" y="632"/>
                    </a:cubicBezTo>
                    <a:cubicBezTo>
                      <a:pt x="0" y="691"/>
                      <a:pt x="36" y="751"/>
                      <a:pt x="96" y="763"/>
                    </a:cubicBezTo>
                    <a:cubicBezTo>
                      <a:pt x="103" y="764"/>
                      <a:pt x="111" y="765"/>
                      <a:pt x="119" y="765"/>
                    </a:cubicBezTo>
                    <a:cubicBezTo>
                      <a:pt x="170" y="765"/>
                      <a:pt x="216" y="731"/>
                      <a:pt x="227" y="680"/>
                    </a:cubicBezTo>
                    <a:cubicBezTo>
                      <a:pt x="310" y="215"/>
                      <a:pt x="596" y="215"/>
                      <a:pt x="858" y="215"/>
                    </a:cubicBezTo>
                    <a:lnTo>
                      <a:pt x="929" y="215"/>
                    </a:lnTo>
                    <a:cubicBezTo>
                      <a:pt x="1108" y="215"/>
                      <a:pt x="1584" y="322"/>
                      <a:pt x="1584" y="799"/>
                    </a:cubicBezTo>
                    <a:lnTo>
                      <a:pt x="1584" y="3037"/>
                    </a:lnTo>
                    <a:cubicBezTo>
                      <a:pt x="1584" y="3097"/>
                      <a:pt x="1631" y="3144"/>
                      <a:pt x="1691" y="3144"/>
                    </a:cubicBezTo>
                    <a:cubicBezTo>
                      <a:pt x="1751" y="3144"/>
                      <a:pt x="1798" y="3097"/>
                      <a:pt x="1798" y="3037"/>
                    </a:cubicBezTo>
                    <a:lnTo>
                      <a:pt x="1798" y="799"/>
                    </a:lnTo>
                    <a:cubicBezTo>
                      <a:pt x="1798" y="215"/>
                      <a:pt x="1262" y="1"/>
                      <a:pt x="929" y="1"/>
                    </a:cubicBezTo>
                    <a:lnTo>
                      <a:pt x="869" y="1"/>
                    </a:lnTo>
                    <a:cubicBezTo>
                      <a:pt x="860" y="1"/>
                      <a:pt x="850" y="1"/>
                      <a:pt x="841" y="1"/>
                    </a:cubicBezTo>
                    <a:close/>
                  </a:path>
                </a:pathLst>
              </a:custGeom>
              <a:solidFill>
                <a:srgbClr val="EC3A3B"/>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02" name="Google Shape;1183;p28">
                <a:extLst>
                  <a:ext uri="{FF2B5EF4-FFF2-40B4-BE49-F238E27FC236}">
                    <a16:creationId xmlns:a16="http://schemas.microsoft.com/office/drawing/2014/main" id="{ECB7326C-28AB-D4D6-E474-602D018B6A99}"/>
                  </a:ext>
                </a:extLst>
              </p:cNvPr>
              <p:cNvSpPr/>
              <p:nvPr/>
            </p:nvSpPr>
            <p:spPr>
              <a:xfrm>
                <a:off x="6304008" y="1819526"/>
                <a:ext cx="63923" cy="111750"/>
              </a:xfrm>
              <a:custGeom>
                <a:avLst/>
                <a:gdLst/>
                <a:ahLst/>
                <a:cxnLst/>
                <a:rect l="l" t="t" r="r" b="b"/>
                <a:pathLst>
                  <a:path w="1799" h="3145" extrusionOk="0">
                    <a:moveTo>
                      <a:pt x="841" y="1"/>
                    </a:moveTo>
                    <a:cubicBezTo>
                      <a:pt x="575" y="1"/>
                      <a:pt x="128" y="12"/>
                      <a:pt x="13" y="632"/>
                    </a:cubicBezTo>
                    <a:cubicBezTo>
                      <a:pt x="1" y="691"/>
                      <a:pt x="37" y="751"/>
                      <a:pt x="96" y="763"/>
                    </a:cubicBezTo>
                    <a:cubicBezTo>
                      <a:pt x="104" y="764"/>
                      <a:pt x="112" y="765"/>
                      <a:pt x="119" y="765"/>
                    </a:cubicBezTo>
                    <a:cubicBezTo>
                      <a:pt x="170" y="765"/>
                      <a:pt x="217" y="731"/>
                      <a:pt x="227" y="680"/>
                    </a:cubicBezTo>
                    <a:cubicBezTo>
                      <a:pt x="311" y="215"/>
                      <a:pt x="596" y="215"/>
                      <a:pt x="870" y="215"/>
                    </a:cubicBezTo>
                    <a:lnTo>
                      <a:pt x="930" y="215"/>
                    </a:lnTo>
                    <a:cubicBezTo>
                      <a:pt x="1108" y="215"/>
                      <a:pt x="1584" y="322"/>
                      <a:pt x="1584" y="799"/>
                    </a:cubicBezTo>
                    <a:lnTo>
                      <a:pt x="1584" y="3037"/>
                    </a:lnTo>
                    <a:cubicBezTo>
                      <a:pt x="1584" y="3097"/>
                      <a:pt x="1632" y="3144"/>
                      <a:pt x="1692" y="3144"/>
                    </a:cubicBezTo>
                    <a:cubicBezTo>
                      <a:pt x="1751" y="3144"/>
                      <a:pt x="1799" y="3097"/>
                      <a:pt x="1799" y="3037"/>
                    </a:cubicBezTo>
                    <a:lnTo>
                      <a:pt x="1799" y="799"/>
                    </a:lnTo>
                    <a:cubicBezTo>
                      <a:pt x="1799" y="215"/>
                      <a:pt x="1263" y="1"/>
                      <a:pt x="930" y="1"/>
                    </a:cubicBezTo>
                    <a:lnTo>
                      <a:pt x="870" y="1"/>
                    </a:lnTo>
                    <a:cubicBezTo>
                      <a:pt x="861" y="1"/>
                      <a:pt x="851" y="1"/>
                      <a:pt x="841" y="1"/>
                    </a:cubicBezTo>
                    <a:close/>
                  </a:path>
                </a:pathLst>
              </a:custGeom>
              <a:solidFill>
                <a:srgbClr val="EC3A3B"/>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03" name="Google Shape;1184;p28">
                <a:extLst>
                  <a:ext uri="{FF2B5EF4-FFF2-40B4-BE49-F238E27FC236}">
                    <a16:creationId xmlns:a16="http://schemas.microsoft.com/office/drawing/2014/main" id="{22C28AFD-BACD-C7EA-24CD-30BF02E0BA72}"/>
                  </a:ext>
                </a:extLst>
              </p:cNvPr>
              <p:cNvSpPr/>
              <p:nvPr/>
            </p:nvSpPr>
            <p:spPr>
              <a:xfrm>
                <a:off x="6086582" y="1676116"/>
                <a:ext cx="337630" cy="473435"/>
              </a:xfrm>
              <a:custGeom>
                <a:avLst/>
                <a:gdLst/>
                <a:ahLst/>
                <a:cxnLst/>
                <a:rect l="l" t="t" r="r" b="b"/>
                <a:pathLst>
                  <a:path w="9502" h="13324" extrusionOk="0">
                    <a:moveTo>
                      <a:pt x="3846" y="1"/>
                    </a:moveTo>
                    <a:cubicBezTo>
                      <a:pt x="3274" y="1"/>
                      <a:pt x="2941" y="382"/>
                      <a:pt x="2941" y="1025"/>
                    </a:cubicBezTo>
                    <a:lnTo>
                      <a:pt x="2941" y="8180"/>
                    </a:lnTo>
                    <a:cubicBezTo>
                      <a:pt x="2631" y="7883"/>
                      <a:pt x="1977" y="7252"/>
                      <a:pt x="1500" y="6859"/>
                    </a:cubicBezTo>
                    <a:cubicBezTo>
                      <a:pt x="1375" y="6754"/>
                      <a:pt x="1227" y="6702"/>
                      <a:pt x="1073" y="6702"/>
                    </a:cubicBezTo>
                    <a:cubicBezTo>
                      <a:pt x="878" y="6702"/>
                      <a:pt x="674" y="6787"/>
                      <a:pt x="500" y="6954"/>
                    </a:cubicBezTo>
                    <a:cubicBezTo>
                      <a:pt x="179" y="7263"/>
                      <a:pt x="0" y="7823"/>
                      <a:pt x="381" y="8371"/>
                    </a:cubicBezTo>
                    <a:cubicBezTo>
                      <a:pt x="1012" y="9240"/>
                      <a:pt x="3882" y="12395"/>
                      <a:pt x="4013" y="12526"/>
                    </a:cubicBezTo>
                    <a:cubicBezTo>
                      <a:pt x="4548" y="13098"/>
                      <a:pt x="5417" y="13324"/>
                      <a:pt x="6239" y="13324"/>
                    </a:cubicBezTo>
                    <a:cubicBezTo>
                      <a:pt x="6858" y="13324"/>
                      <a:pt x="7442" y="13205"/>
                      <a:pt x="7858" y="13002"/>
                    </a:cubicBezTo>
                    <a:cubicBezTo>
                      <a:pt x="8727" y="12574"/>
                      <a:pt x="9501" y="11240"/>
                      <a:pt x="9501" y="10133"/>
                    </a:cubicBezTo>
                    <a:lnTo>
                      <a:pt x="9501" y="5382"/>
                    </a:lnTo>
                    <a:cubicBezTo>
                      <a:pt x="9501" y="4799"/>
                      <a:pt x="8954" y="4585"/>
                      <a:pt x="8620" y="4585"/>
                    </a:cubicBezTo>
                    <a:lnTo>
                      <a:pt x="8561" y="4585"/>
                    </a:lnTo>
                    <a:cubicBezTo>
                      <a:pt x="8551" y="4585"/>
                      <a:pt x="8542" y="4585"/>
                      <a:pt x="8532" y="4585"/>
                    </a:cubicBezTo>
                    <a:cubicBezTo>
                      <a:pt x="8265" y="4585"/>
                      <a:pt x="7818" y="4596"/>
                      <a:pt x="7703" y="5216"/>
                    </a:cubicBezTo>
                    <a:cubicBezTo>
                      <a:pt x="7692" y="5275"/>
                      <a:pt x="7739" y="5335"/>
                      <a:pt x="7799" y="5347"/>
                    </a:cubicBezTo>
                    <a:cubicBezTo>
                      <a:pt x="7805" y="5348"/>
                      <a:pt x="7811" y="5349"/>
                      <a:pt x="7818" y="5349"/>
                    </a:cubicBezTo>
                    <a:cubicBezTo>
                      <a:pt x="7861" y="5349"/>
                      <a:pt x="7907" y="5315"/>
                      <a:pt x="7918" y="5263"/>
                    </a:cubicBezTo>
                    <a:cubicBezTo>
                      <a:pt x="8013" y="4799"/>
                      <a:pt x="8287" y="4799"/>
                      <a:pt x="8561" y="4799"/>
                    </a:cubicBezTo>
                    <a:lnTo>
                      <a:pt x="8620" y="4799"/>
                    </a:lnTo>
                    <a:cubicBezTo>
                      <a:pt x="8799" y="4799"/>
                      <a:pt x="9275" y="4906"/>
                      <a:pt x="9275" y="5382"/>
                    </a:cubicBezTo>
                    <a:lnTo>
                      <a:pt x="9275" y="10133"/>
                    </a:lnTo>
                    <a:cubicBezTo>
                      <a:pt x="9275" y="11169"/>
                      <a:pt x="8573" y="12407"/>
                      <a:pt x="7763" y="12800"/>
                    </a:cubicBezTo>
                    <a:cubicBezTo>
                      <a:pt x="7380" y="12989"/>
                      <a:pt x="6821" y="13106"/>
                      <a:pt x="6240" y="13106"/>
                    </a:cubicBezTo>
                    <a:cubicBezTo>
                      <a:pt x="5468" y="13106"/>
                      <a:pt x="4657" y="12900"/>
                      <a:pt x="4167" y="12383"/>
                    </a:cubicBezTo>
                    <a:cubicBezTo>
                      <a:pt x="4144" y="12347"/>
                      <a:pt x="1191" y="9109"/>
                      <a:pt x="560" y="8240"/>
                    </a:cubicBezTo>
                    <a:cubicBezTo>
                      <a:pt x="250" y="7811"/>
                      <a:pt x="381" y="7359"/>
                      <a:pt x="643" y="7109"/>
                    </a:cubicBezTo>
                    <a:cubicBezTo>
                      <a:pt x="758" y="7001"/>
                      <a:pt x="912" y="6924"/>
                      <a:pt x="1068" y="6924"/>
                    </a:cubicBezTo>
                    <a:cubicBezTo>
                      <a:pt x="1171" y="6924"/>
                      <a:pt x="1275" y="6957"/>
                      <a:pt x="1369" y="7037"/>
                    </a:cubicBezTo>
                    <a:cubicBezTo>
                      <a:pt x="1988" y="7549"/>
                      <a:pt x="2965" y="8514"/>
                      <a:pt x="2977" y="8526"/>
                    </a:cubicBezTo>
                    <a:lnTo>
                      <a:pt x="3167" y="8704"/>
                    </a:lnTo>
                    <a:lnTo>
                      <a:pt x="3167" y="1025"/>
                    </a:lnTo>
                    <a:cubicBezTo>
                      <a:pt x="3167" y="501"/>
                      <a:pt x="3405" y="215"/>
                      <a:pt x="3846" y="215"/>
                    </a:cubicBezTo>
                    <a:cubicBezTo>
                      <a:pt x="4060" y="215"/>
                      <a:pt x="4251" y="286"/>
                      <a:pt x="4382" y="417"/>
                    </a:cubicBezTo>
                    <a:cubicBezTo>
                      <a:pt x="4489" y="536"/>
                      <a:pt x="4560" y="691"/>
                      <a:pt x="4560" y="858"/>
                    </a:cubicBezTo>
                    <a:lnTo>
                      <a:pt x="4560" y="7168"/>
                    </a:lnTo>
                    <a:cubicBezTo>
                      <a:pt x="4560" y="7228"/>
                      <a:pt x="4608" y="7275"/>
                      <a:pt x="4667" y="7275"/>
                    </a:cubicBezTo>
                    <a:cubicBezTo>
                      <a:pt x="4727" y="7275"/>
                      <a:pt x="4775" y="7228"/>
                      <a:pt x="4775" y="7168"/>
                    </a:cubicBezTo>
                    <a:lnTo>
                      <a:pt x="4775" y="858"/>
                    </a:lnTo>
                    <a:cubicBezTo>
                      <a:pt x="4775" y="632"/>
                      <a:pt x="4691" y="417"/>
                      <a:pt x="4536" y="263"/>
                    </a:cubicBezTo>
                    <a:cubicBezTo>
                      <a:pt x="4358" y="96"/>
                      <a:pt x="4120" y="1"/>
                      <a:pt x="3846" y="1"/>
                    </a:cubicBezTo>
                    <a:close/>
                  </a:path>
                </a:pathLst>
              </a:custGeom>
              <a:solidFill>
                <a:srgbClr val="EC3A3B"/>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04" name="Google Shape;1185;p28">
                <a:extLst>
                  <a:ext uri="{FF2B5EF4-FFF2-40B4-BE49-F238E27FC236}">
                    <a16:creationId xmlns:a16="http://schemas.microsoft.com/office/drawing/2014/main" id="{1BF60D97-4BD8-7E0D-9142-CAA1D9FC919E}"/>
                  </a:ext>
                </a:extLst>
              </p:cNvPr>
              <p:cNvSpPr/>
              <p:nvPr/>
            </p:nvSpPr>
            <p:spPr>
              <a:xfrm>
                <a:off x="6331936" y="1996302"/>
                <a:ext cx="74085" cy="122374"/>
              </a:xfrm>
              <a:custGeom>
                <a:avLst/>
                <a:gdLst/>
                <a:ahLst/>
                <a:cxnLst/>
                <a:rect l="l" t="t" r="r" b="b"/>
                <a:pathLst>
                  <a:path w="2085" h="3444" extrusionOk="0">
                    <a:moveTo>
                      <a:pt x="1710" y="1"/>
                    </a:moveTo>
                    <a:cubicBezTo>
                      <a:pt x="1704" y="1"/>
                      <a:pt x="1698" y="1"/>
                      <a:pt x="1691" y="3"/>
                    </a:cubicBezTo>
                    <a:cubicBezTo>
                      <a:pt x="1632" y="3"/>
                      <a:pt x="1584" y="62"/>
                      <a:pt x="1596" y="122"/>
                    </a:cubicBezTo>
                    <a:cubicBezTo>
                      <a:pt x="1596" y="146"/>
                      <a:pt x="1846" y="2539"/>
                      <a:pt x="84" y="3229"/>
                    </a:cubicBezTo>
                    <a:cubicBezTo>
                      <a:pt x="25" y="3253"/>
                      <a:pt x="1" y="3313"/>
                      <a:pt x="25" y="3372"/>
                    </a:cubicBezTo>
                    <a:cubicBezTo>
                      <a:pt x="36" y="3408"/>
                      <a:pt x="72" y="3444"/>
                      <a:pt x="120" y="3444"/>
                    </a:cubicBezTo>
                    <a:cubicBezTo>
                      <a:pt x="132" y="3444"/>
                      <a:pt x="144" y="3432"/>
                      <a:pt x="156" y="3432"/>
                    </a:cubicBezTo>
                    <a:cubicBezTo>
                      <a:pt x="2084" y="2682"/>
                      <a:pt x="1811" y="122"/>
                      <a:pt x="1811" y="98"/>
                    </a:cubicBezTo>
                    <a:cubicBezTo>
                      <a:pt x="1800" y="45"/>
                      <a:pt x="1761" y="1"/>
                      <a:pt x="1710" y="1"/>
                    </a:cubicBezTo>
                    <a:close/>
                  </a:path>
                </a:pathLst>
              </a:custGeom>
              <a:solidFill>
                <a:srgbClr val="EC3A3B"/>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grpSp>
        <p:sp>
          <p:nvSpPr>
            <p:cNvPr id="98" name="Google Shape;1186;p28">
              <a:extLst>
                <a:ext uri="{FF2B5EF4-FFF2-40B4-BE49-F238E27FC236}">
                  <a16:creationId xmlns:a16="http://schemas.microsoft.com/office/drawing/2014/main" id="{A3585137-67E6-5535-AEFA-907D745D14CA}"/>
                </a:ext>
              </a:extLst>
            </p:cNvPr>
            <p:cNvSpPr/>
            <p:nvPr/>
          </p:nvSpPr>
          <p:spPr>
            <a:xfrm>
              <a:off x="5677456" y="2732081"/>
              <a:ext cx="1291216" cy="440034"/>
            </a:xfrm>
            <a:custGeom>
              <a:avLst/>
              <a:gdLst/>
              <a:ahLst/>
              <a:cxnLst/>
              <a:rect l="l" t="t" r="r" b="b"/>
              <a:pathLst>
                <a:path w="36339" h="12384" extrusionOk="0">
                  <a:moveTo>
                    <a:pt x="1" y="1"/>
                  </a:moveTo>
                  <a:lnTo>
                    <a:pt x="1" y="1358"/>
                  </a:lnTo>
                  <a:cubicBezTo>
                    <a:pt x="2418" y="1644"/>
                    <a:pt x="4299" y="3692"/>
                    <a:pt x="4299" y="6192"/>
                  </a:cubicBezTo>
                  <a:cubicBezTo>
                    <a:pt x="4299" y="8692"/>
                    <a:pt x="2418" y="10752"/>
                    <a:pt x="1" y="11038"/>
                  </a:cubicBezTo>
                  <a:lnTo>
                    <a:pt x="1" y="12383"/>
                  </a:lnTo>
                  <a:lnTo>
                    <a:pt x="32041" y="12383"/>
                  </a:lnTo>
                  <a:lnTo>
                    <a:pt x="32041" y="10502"/>
                  </a:lnTo>
                  <a:cubicBezTo>
                    <a:pt x="34422" y="10502"/>
                    <a:pt x="36339" y="8573"/>
                    <a:pt x="36339" y="6192"/>
                  </a:cubicBezTo>
                  <a:cubicBezTo>
                    <a:pt x="36339" y="3823"/>
                    <a:pt x="34422" y="1894"/>
                    <a:pt x="32041" y="1894"/>
                  </a:cubicBezTo>
                  <a:lnTo>
                    <a:pt x="32041" y="1"/>
                  </a:lnTo>
                  <a:close/>
                </a:path>
              </a:pathLst>
            </a:custGeom>
            <a:solidFill>
              <a:schemeClr val="accent1"/>
            </a:solidFill>
            <a:ln>
              <a:noFill/>
            </a:ln>
          </p:spPr>
          <p:txBody>
            <a:bodyPr spcFirstLastPara="1" wrap="square" lIns="91425" tIns="91425" rIns="91425" bIns="91425" anchor="ctr" anchorCtr="0">
              <a:noAutofit/>
            </a:bodyPr>
            <a:lstStyle/>
            <a:p>
              <a:pPr algn="ctr">
                <a:buClr>
                  <a:srgbClr val="000000"/>
                </a:buClr>
                <a:buFont typeface="Arial"/>
                <a:buNone/>
              </a:pPr>
              <a:r>
                <a:rPr lang="en" sz="1400" kern="0">
                  <a:solidFill>
                    <a:srgbClr val="FFFFFF"/>
                  </a:solidFill>
                  <a:latin typeface="Oswald" panose="00000500000000000000" pitchFamily="2" charset="0"/>
                  <a:ea typeface="Fira Sans Extra Condensed Medium"/>
                  <a:cs typeface="Fira Sans Extra Condensed Medium"/>
                  <a:sym typeface="Fira Sans Extra Condensed Medium"/>
                </a:rPr>
                <a:t>Phase 5</a:t>
              </a:r>
              <a:endParaRPr sz="1400" kern="0">
                <a:solidFill>
                  <a:srgbClr val="FFFFFF"/>
                </a:solidFill>
                <a:latin typeface="Oswald" panose="00000500000000000000" pitchFamily="2" charset="0"/>
                <a:ea typeface="Fira Sans Extra Condensed Medium"/>
                <a:cs typeface="Fira Sans Extra Condensed Medium"/>
                <a:sym typeface="Fira Sans Extra Condensed Medium"/>
              </a:endParaRPr>
            </a:p>
          </p:txBody>
        </p:sp>
        <p:sp>
          <p:nvSpPr>
            <p:cNvPr id="99" name="Google Shape;1187;p28">
              <a:extLst>
                <a:ext uri="{FF2B5EF4-FFF2-40B4-BE49-F238E27FC236}">
                  <a16:creationId xmlns:a16="http://schemas.microsoft.com/office/drawing/2014/main" id="{97F43694-0890-C155-45AB-2019188B526D}"/>
                </a:ext>
              </a:extLst>
            </p:cNvPr>
            <p:cNvSpPr/>
            <p:nvPr/>
          </p:nvSpPr>
          <p:spPr>
            <a:xfrm>
              <a:off x="6287520" y="2235403"/>
              <a:ext cx="63497" cy="63070"/>
            </a:xfrm>
            <a:custGeom>
              <a:avLst/>
              <a:gdLst/>
              <a:ahLst/>
              <a:cxnLst/>
              <a:rect l="l" t="t" r="r" b="b"/>
              <a:pathLst>
                <a:path w="1787" h="1775" extrusionOk="0">
                  <a:moveTo>
                    <a:pt x="894" y="1"/>
                  </a:moveTo>
                  <a:cubicBezTo>
                    <a:pt x="405" y="1"/>
                    <a:pt x="1" y="394"/>
                    <a:pt x="1" y="882"/>
                  </a:cubicBezTo>
                  <a:cubicBezTo>
                    <a:pt x="1" y="1382"/>
                    <a:pt x="405" y="1775"/>
                    <a:pt x="894" y="1775"/>
                  </a:cubicBezTo>
                  <a:cubicBezTo>
                    <a:pt x="1382" y="1775"/>
                    <a:pt x="1787" y="1382"/>
                    <a:pt x="1787" y="882"/>
                  </a:cubicBezTo>
                  <a:cubicBezTo>
                    <a:pt x="1787" y="394"/>
                    <a:pt x="1382" y="1"/>
                    <a:pt x="894"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00" name="Google Shape;1188;p28">
              <a:extLst>
                <a:ext uri="{FF2B5EF4-FFF2-40B4-BE49-F238E27FC236}">
                  <a16:creationId xmlns:a16="http://schemas.microsoft.com/office/drawing/2014/main" id="{87791E86-D3DA-0DD6-EE7C-4FAD9E33066C}"/>
                </a:ext>
              </a:extLst>
            </p:cNvPr>
            <p:cNvSpPr txBox="1"/>
            <p:nvPr/>
          </p:nvSpPr>
          <p:spPr>
            <a:xfrm>
              <a:off x="5656323" y="1070674"/>
              <a:ext cx="1355430" cy="534900"/>
            </a:xfrm>
            <a:prstGeom prst="rect">
              <a:avLst/>
            </a:prstGeom>
            <a:noFill/>
            <a:ln>
              <a:noFill/>
            </a:ln>
          </p:spPr>
          <p:txBody>
            <a:bodyPr spcFirstLastPara="1" wrap="square" lIns="91425" tIns="91425" rIns="91425" bIns="91425" anchor="ctr" anchorCtr="0">
              <a:noAutofit/>
            </a:bodyPr>
            <a:lstStyle/>
            <a:p>
              <a:pPr algn="ctr">
                <a:buClr>
                  <a:srgbClr val="000000"/>
                </a:buClr>
                <a:buFont typeface="Arial"/>
                <a:buNone/>
              </a:pPr>
              <a:r>
                <a:rPr lang="en" sz="1500" kern="0">
                  <a:solidFill>
                    <a:srgbClr val="434343"/>
                  </a:solidFill>
                  <a:latin typeface="Oswald" panose="00000500000000000000" pitchFamily="2" charset="0"/>
                  <a:ea typeface="Roboto"/>
                  <a:cs typeface="Roboto"/>
                  <a:sym typeface="Roboto"/>
                </a:rPr>
                <a:t>Employee Engagement</a:t>
              </a:r>
              <a:endParaRPr sz="1500" kern="0">
                <a:solidFill>
                  <a:srgbClr val="434343"/>
                </a:solidFill>
                <a:latin typeface="Oswald" panose="00000500000000000000" pitchFamily="2" charset="0"/>
                <a:ea typeface="Roboto"/>
                <a:cs typeface="Roboto"/>
                <a:sym typeface="Roboto"/>
              </a:endParaRPr>
            </a:p>
          </p:txBody>
        </p:sp>
      </p:grpSp>
      <p:grpSp>
        <p:nvGrpSpPr>
          <p:cNvPr id="105" name="Google Shape;1189;p28">
            <a:extLst>
              <a:ext uri="{FF2B5EF4-FFF2-40B4-BE49-F238E27FC236}">
                <a16:creationId xmlns:a16="http://schemas.microsoft.com/office/drawing/2014/main" id="{3A9C801D-9595-2D1E-2FA0-D61396213E25}"/>
              </a:ext>
            </a:extLst>
          </p:cNvPr>
          <p:cNvGrpSpPr/>
          <p:nvPr/>
        </p:nvGrpSpPr>
        <p:grpSpPr>
          <a:xfrm>
            <a:off x="6474047" y="1179772"/>
            <a:ext cx="1318849" cy="2072389"/>
            <a:chOff x="6845138" y="1099726"/>
            <a:chExt cx="1318849" cy="2072389"/>
          </a:xfrm>
        </p:grpSpPr>
        <p:sp>
          <p:nvSpPr>
            <p:cNvPr id="106" name="Google Shape;1190;p28">
              <a:extLst>
                <a:ext uri="{FF2B5EF4-FFF2-40B4-BE49-F238E27FC236}">
                  <a16:creationId xmlns:a16="http://schemas.microsoft.com/office/drawing/2014/main" id="{FB6D0D85-D9EC-1A06-FBDF-0446DD88558D}"/>
                </a:ext>
              </a:extLst>
            </p:cNvPr>
            <p:cNvSpPr/>
            <p:nvPr/>
          </p:nvSpPr>
          <p:spPr>
            <a:xfrm>
              <a:off x="7480999" y="2261200"/>
              <a:ext cx="11441" cy="704858"/>
            </a:xfrm>
            <a:custGeom>
              <a:avLst/>
              <a:gdLst/>
              <a:ahLst/>
              <a:cxnLst/>
              <a:rect l="l" t="t" r="r" b="b"/>
              <a:pathLst>
                <a:path w="322" h="19837" extrusionOk="0">
                  <a:moveTo>
                    <a:pt x="155" y="1"/>
                  </a:moveTo>
                  <a:cubicBezTo>
                    <a:pt x="72" y="1"/>
                    <a:pt x="0" y="72"/>
                    <a:pt x="0" y="156"/>
                  </a:cubicBezTo>
                  <a:lnTo>
                    <a:pt x="0" y="19682"/>
                  </a:lnTo>
                  <a:cubicBezTo>
                    <a:pt x="0" y="19765"/>
                    <a:pt x="72" y="19837"/>
                    <a:pt x="155" y="19837"/>
                  </a:cubicBezTo>
                  <a:cubicBezTo>
                    <a:pt x="250" y="19837"/>
                    <a:pt x="322" y="19765"/>
                    <a:pt x="322" y="19682"/>
                  </a:cubicBezTo>
                  <a:lnTo>
                    <a:pt x="322" y="156"/>
                  </a:lnTo>
                  <a:cubicBezTo>
                    <a:pt x="322" y="72"/>
                    <a:pt x="250" y="1"/>
                    <a:pt x="155"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grpSp>
          <p:nvGrpSpPr>
            <p:cNvPr id="107" name="Google Shape;1191;p28">
              <a:extLst>
                <a:ext uri="{FF2B5EF4-FFF2-40B4-BE49-F238E27FC236}">
                  <a16:creationId xmlns:a16="http://schemas.microsoft.com/office/drawing/2014/main" id="{E24BB692-ABAC-0026-5997-D1C5BC423CDF}"/>
                </a:ext>
              </a:extLst>
            </p:cNvPr>
            <p:cNvGrpSpPr/>
            <p:nvPr/>
          </p:nvGrpSpPr>
          <p:grpSpPr>
            <a:xfrm>
              <a:off x="7307954" y="1698963"/>
              <a:ext cx="365560" cy="450589"/>
              <a:chOff x="7307954" y="1698963"/>
              <a:chExt cx="365560" cy="450589"/>
            </a:xfrm>
          </p:grpSpPr>
          <p:sp>
            <p:nvSpPr>
              <p:cNvPr id="111" name="Google Shape;1192;p28">
                <a:extLst>
                  <a:ext uri="{FF2B5EF4-FFF2-40B4-BE49-F238E27FC236}">
                    <a16:creationId xmlns:a16="http://schemas.microsoft.com/office/drawing/2014/main" id="{4D4540B5-DF73-D250-1D59-71043298944A}"/>
                  </a:ext>
                </a:extLst>
              </p:cNvPr>
              <p:cNvSpPr/>
              <p:nvPr/>
            </p:nvSpPr>
            <p:spPr>
              <a:xfrm>
                <a:off x="7432319" y="1819526"/>
                <a:ext cx="241195" cy="330026"/>
              </a:xfrm>
              <a:custGeom>
                <a:avLst/>
                <a:gdLst/>
                <a:ahLst/>
                <a:cxnLst/>
                <a:rect l="l" t="t" r="r" b="b"/>
                <a:pathLst>
                  <a:path w="6788" h="9288" extrusionOk="0">
                    <a:moveTo>
                      <a:pt x="3609" y="1"/>
                    </a:moveTo>
                    <a:cubicBezTo>
                      <a:pt x="3549" y="1"/>
                      <a:pt x="3501" y="49"/>
                      <a:pt x="3501" y="120"/>
                    </a:cubicBezTo>
                    <a:cubicBezTo>
                      <a:pt x="3501" y="179"/>
                      <a:pt x="3549" y="227"/>
                      <a:pt x="3609" y="227"/>
                    </a:cubicBezTo>
                    <a:lnTo>
                      <a:pt x="6561" y="227"/>
                    </a:lnTo>
                    <a:lnTo>
                      <a:pt x="6561" y="9073"/>
                    </a:lnTo>
                    <a:lnTo>
                      <a:pt x="215" y="9073"/>
                    </a:lnTo>
                    <a:lnTo>
                      <a:pt x="215" y="7383"/>
                    </a:lnTo>
                    <a:cubicBezTo>
                      <a:pt x="215" y="7323"/>
                      <a:pt x="168" y="7276"/>
                      <a:pt x="108" y="7276"/>
                    </a:cubicBezTo>
                    <a:cubicBezTo>
                      <a:pt x="49" y="7276"/>
                      <a:pt x="1" y="7323"/>
                      <a:pt x="1" y="7383"/>
                    </a:cubicBezTo>
                    <a:lnTo>
                      <a:pt x="1" y="9288"/>
                    </a:lnTo>
                    <a:lnTo>
                      <a:pt x="6787" y="9288"/>
                    </a:lnTo>
                    <a:lnTo>
                      <a:pt x="6787" y="1"/>
                    </a:ln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12" name="Google Shape;1193;p28">
                <a:extLst>
                  <a:ext uri="{FF2B5EF4-FFF2-40B4-BE49-F238E27FC236}">
                    <a16:creationId xmlns:a16="http://schemas.microsoft.com/office/drawing/2014/main" id="{67C3277B-9E77-9CCC-239E-AF96A4AA9EF1}"/>
                  </a:ext>
                </a:extLst>
              </p:cNvPr>
              <p:cNvSpPr/>
              <p:nvPr/>
            </p:nvSpPr>
            <p:spPr>
              <a:xfrm>
                <a:off x="7307954" y="1698963"/>
                <a:ext cx="256403" cy="387127"/>
              </a:xfrm>
              <a:custGeom>
                <a:avLst/>
                <a:gdLst/>
                <a:ahLst/>
                <a:cxnLst/>
                <a:rect l="l" t="t" r="r" b="b"/>
                <a:pathLst>
                  <a:path w="7216" h="10895" extrusionOk="0">
                    <a:moveTo>
                      <a:pt x="7001" y="215"/>
                    </a:moveTo>
                    <a:lnTo>
                      <a:pt x="7001" y="10669"/>
                    </a:lnTo>
                    <a:lnTo>
                      <a:pt x="215" y="10669"/>
                    </a:lnTo>
                    <a:lnTo>
                      <a:pt x="215" y="215"/>
                    </a:lnTo>
                    <a:close/>
                    <a:moveTo>
                      <a:pt x="0" y="1"/>
                    </a:moveTo>
                    <a:lnTo>
                      <a:pt x="0" y="10895"/>
                    </a:lnTo>
                    <a:lnTo>
                      <a:pt x="7216" y="10895"/>
                    </a:lnTo>
                    <a:lnTo>
                      <a:pt x="7216" y="1"/>
                    </a:ln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13" name="Google Shape;1194;p28">
                <a:extLst>
                  <a:ext uri="{FF2B5EF4-FFF2-40B4-BE49-F238E27FC236}">
                    <a16:creationId xmlns:a16="http://schemas.microsoft.com/office/drawing/2014/main" id="{DC89F1EE-43AD-820E-6AFD-275385905905}"/>
                  </a:ext>
                </a:extLst>
              </p:cNvPr>
              <p:cNvSpPr/>
              <p:nvPr/>
            </p:nvSpPr>
            <p:spPr>
              <a:xfrm>
                <a:off x="7343487" y="1739577"/>
                <a:ext cx="185338" cy="7639"/>
              </a:xfrm>
              <a:custGeom>
                <a:avLst/>
                <a:gdLst/>
                <a:ahLst/>
                <a:cxnLst/>
                <a:rect l="l" t="t" r="r" b="b"/>
                <a:pathLst>
                  <a:path w="5216" h="215" extrusionOk="0">
                    <a:moveTo>
                      <a:pt x="108" y="1"/>
                    </a:moveTo>
                    <a:cubicBezTo>
                      <a:pt x="48" y="1"/>
                      <a:pt x="1" y="48"/>
                      <a:pt x="1" y="108"/>
                    </a:cubicBezTo>
                    <a:cubicBezTo>
                      <a:pt x="1" y="167"/>
                      <a:pt x="48" y="215"/>
                      <a:pt x="108" y="215"/>
                    </a:cubicBezTo>
                    <a:lnTo>
                      <a:pt x="5096" y="215"/>
                    </a:lnTo>
                    <a:cubicBezTo>
                      <a:pt x="5168" y="215"/>
                      <a:pt x="5216" y="167"/>
                      <a:pt x="5216" y="108"/>
                    </a:cubicBezTo>
                    <a:cubicBezTo>
                      <a:pt x="5216" y="48"/>
                      <a:pt x="5168" y="1"/>
                      <a:pt x="5096" y="1"/>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14" name="Google Shape;1195;p28">
                <a:extLst>
                  <a:ext uri="{FF2B5EF4-FFF2-40B4-BE49-F238E27FC236}">
                    <a16:creationId xmlns:a16="http://schemas.microsoft.com/office/drawing/2014/main" id="{0130EE85-89ED-FC67-CB3D-1087A7872EFF}"/>
                  </a:ext>
                </a:extLst>
              </p:cNvPr>
              <p:cNvSpPr/>
              <p:nvPr/>
            </p:nvSpPr>
            <p:spPr>
              <a:xfrm>
                <a:off x="7343487" y="1775963"/>
                <a:ext cx="185338" cy="7639"/>
              </a:xfrm>
              <a:custGeom>
                <a:avLst/>
                <a:gdLst/>
                <a:ahLst/>
                <a:cxnLst/>
                <a:rect l="l" t="t" r="r" b="b"/>
                <a:pathLst>
                  <a:path w="5216" h="215" extrusionOk="0">
                    <a:moveTo>
                      <a:pt x="108" y="1"/>
                    </a:moveTo>
                    <a:cubicBezTo>
                      <a:pt x="48" y="1"/>
                      <a:pt x="1" y="48"/>
                      <a:pt x="1" y="108"/>
                    </a:cubicBezTo>
                    <a:cubicBezTo>
                      <a:pt x="1" y="167"/>
                      <a:pt x="48" y="215"/>
                      <a:pt x="108" y="215"/>
                    </a:cubicBezTo>
                    <a:lnTo>
                      <a:pt x="5096" y="215"/>
                    </a:lnTo>
                    <a:cubicBezTo>
                      <a:pt x="5168" y="215"/>
                      <a:pt x="5216" y="167"/>
                      <a:pt x="5216" y="108"/>
                    </a:cubicBezTo>
                    <a:cubicBezTo>
                      <a:pt x="5216" y="48"/>
                      <a:pt x="5168" y="1"/>
                      <a:pt x="5096" y="1"/>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15" name="Google Shape;1196;p28">
                <a:extLst>
                  <a:ext uri="{FF2B5EF4-FFF2-40B4-BE49-F238E27FC236}">
                    <a16:creationId xmlns:a16="http://schemas.microsoft.com/office/drawing/2014/main" id="{E4B53581-2DBB-A8CB-0381-AFC101758407}"/>
                  </a:ext>
                </a:extLst>
              </p:cNvPr>
              <p:cNvSpPr/>
              <p:nvPr/>
            </p:nvSpPr>
            <p:spPr>
              <a:xfrm>
                <a:off x="7343487" y="1812349"/>
                <a:ext cx="185338" cy="7639"/>
              </a:xfrm>
              <a:custGeom>
                <a:avLst/>
                <a:gdLst/>
                <a:ahLst/>
                <a:cxnLst/>
                <a:rect l="l" t="t" r="r" b="b"/>
                <a:pathLst>
                  <a:path w="5216" h="215" extrusionOk="0">
                    <a:moveTo>
                      <a:pt x="108" y="0"/>
                    </a:moveTo>
                    <a:cubicBezTo>
                      <a:pt x="48" y="0"/>
                      <a:pt x="1" y="48"/>
                      <a:pt x="1" y="108"/>
                    </a:cubicBezTo>
                    <a:cubicBezTo>
                      <a:pt x="1" y="167"/>
                      <a:pt x="48" y="215"/>
                      <a:pt x="108" y="215"/>
                    </a:cubicBezTo>
                    <a:lnTo>
                      <a:pt x="5096" y="215"/>
                    </a:lnTo>
                    <a:cubicBezTo>
                      <a:pt x="5168" y="215"/>
                      <a:pt x="5216" y="167"/>
                      <a:pt x="5216" y="108"/>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16" name="Google Shape;1197;p28">
                <a:extLst>
                  <a:ext uri="{FF2B5EF4-FFF2-40B4-BE49-F238E27FC236}">
                    <a16:creationId xmlns:a16="http://schemas.microsoft.com/office/drawing/2014/main" id="{4E745A48-9514-C2A9-C521-BE9EE6AB0D98}"/>
                  </a:ext>
                </a:extLst>
              </p:cNvPr>
              <p:cNvSpPr/>
              <p:nvPr/>
            </p:nvSpPr>
            <p:spPr>
              <a:xfrm>
                <a:off x="7343487" y="1848734"/>
                <a:ext cx="185338" cy="7639"/>
              </a:xfrm>
              <a:custGeom>
                <a:avLst/>
                <a:gdLst/>
                <a:ahLst/>
                <a:cxnLst/>
                <a:rect l="l" t="t" r="r" b="b"/>
                <a:pathLst>
                  <a:path w="5216" h="215" extrusionOk="0">
                    <a:moveTo>
                      <a:pt x="108" y="0"/>
                    </a:moveTo>
                    <a:cubicBezTo>
                      <a:pt x="48" y="0"/>
                      <a:pt x="1" y="48"/>
                      <a:pt x="1" y="108"/>
                    </a:cubicBezTo>
                    <a:cubicBezTo>
                      <a:pt x="1" y="167"/>
                      <a:pt x="48" y="215"/>
                      <a:pt x="108" y="215"/>
                    </a:cubicBezTo>
                    <a:lnTo>
                      <a:pt x="5096" y="215"/>
                    </a:lnTo>
                    <a:cubicBezTo>
                      <a:pt x="5168" y="215"/>
                      <a:pt x="5216" y="167"/>
                      <a:pt x="5216" y="108"/>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17" name="Google Shape;1198;p28">
                <a:extLst>
                  <a:ext uri="{FF2B5EF4-FFF2-40B4-BE49-F238E27FC236}">
                    <a16:creationId xmlns:a16="http://schemas.microsoft.com/office/drawing/2014/main" id="{7680EA58-6C02-8B80-ABFD-4EC3573AAABF}"/>
                  </a:ext>
                </a:extLst>
              </p:cNvPr>
              <p:cNvSpPr/>
              <p:nvPr/>
            </p:nvSpPr>
            <p:spPr>
              <a:xfrm>
                <a:off x="7343487" y="1885120"/>
                <a:ext cx="185338" cy="7639"/>
              </a:xfrm>
              <a:custGeom>
                <a:avLst/>
                <a:gdLst/>
                <a:ahLst/>
                <a:cxnLst/>
                <a:rect l="l" t="t" r="r" b="b"/>
                <a:pathLst>
                  <a:path w="5216" h="215" extrusionOk="0">
                    <a:moveTo>
                      <a:pt x="108" y="0"/>
                    </a:moveTo>
                    <a:cubicBezTo>
                      <a:pt x="48" y="0"/>
                      <a:pt x="1" y="48"/>
                      <a:pt x="1" y="108"/>
                    </a:cubicBezTo>
                    <a:cubicBezTo>
                      <a:pt x="1" y="167"/>
                      <a:pt x="48" y="215"/>
                      <a:pt x="108" y="215"/>
                    </a:cubicBezTo>
                    <a:lnTo>
                      <a:pt x="5096" y="215"/>
                    </a:lnTo>
                    <a:cubicBezTo>
                      <a:pt x="5168" y="215"/>
                      <a:pt x="5216" y="167"/>
                      <a:pt x="5216" y="108"/>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18" name="Google Shape;1199;p28">
                <a:extLst>
                  <a:ext uri="{FF2B5EF4-FFF2-40B4-BE49-F238E27FC236}">
                    <a16:creationId xmlns:a16="http://schemas.microsoft.com/office/drawing/2014/main" id="{72CCB8EF-64B5-4379-9184-CF95CA85A5F5}"/>
                  </a:ext>
                </a:extLst>
              </p:cNvPr>
              <p:cNvSpPr/>
              <p:nvPr/>
            </p:nvSpPr>
            <p:spPr>
              <a:xfrm>
                <a:off x="7343487" y="1921506"/>
                <a:ext cx="185338" cy="8066"/>
              </a:xfrm>
              <a:custGeom>
                <a:avLst/>
                <a:gdLst/>
                <a:ahLst/>
                <a:cxnLst/>
                <a:rect l="l" t="t" r="r" b="b"/>
                <a:pathLst>
                  <a:path w="5216" h="227" extrusionOk="0">
                    <a:moveTo>
                      <a:pt x="108" y="0"/>
                    </a:moveTo>
                    <a:cubicBezTo>
                      <a:pt x="48" y="0"/>
                      <a:pt x="1" y="48"/>
                      <a:pt x="1" y="107"/>
                    </a:cubicBezTo>
                    <a:cubicBezTo>
                      <a:pt x="1" y="179"/>
                      <a:pt x="48" y="227"/>
                      <a:pt x="108" y="227"/>
                    </a:cubicBezTo>
                    <a:lnTo>
                      <a:pt x="5096" y="227"/>
                    </a:lnTo>
                    <a:cubicBezTo>
                      <a:pt x="5168" y="227"/>
                      <a:pt x="5216" y="179"/>
                      <a:pt x="5216" y="107"/>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19" name="Google Shape;1200;p28">
                <a:extLst>
                  <a:ext uri="{FF2B5EF4-FFF2-40B4-BE49-F238E27FC236}">
                    <a16:creationId xmlns:a16="http://schemas.microsoft.com/office/drawing/2014/main" id="{917A3234-7418-CFD5-AC80-3A5EF96B4F56}"/>
                  </a:ext>
                </a:extLst>
              </p:cNvPr>
              <p:cNvSpPr/>
              <p:nvPr/>
            </p:nvSpPr>
            <p:spPr>
              <a:xfrm>
                <a:off x="7343487" y="1957891"/>
                <a:ext cx="185338" cy="8066"/>
              </a:xfrm>
              <a:custGeom>
                <a:avLst/>
                <a:gdLst/>
                <a:ahLst/>
                <a:cxnLst/>
                <a:rect l="l" t="t" r="r" b="b"/>
                <a:pathLst>
                  <a:path w="5216" h="227" extrusionOk="0">
                    <a:moveTo>
                      <a:pt x="108" y="0"/>
                    </a:moveTo>
                    <a:cubicBezTo>
                      <a:pt x="48" y="0"/>
                      <a:pt x="1" y="60"/>
                      <a:pt x="1" y="119"/>
                    </a:cubicBezTo>
                    <a:cubicBezTo>
                      <a:pt x="1" y="179"/>
                      <a:pt x="48" y="226"/>
                      <a:pt x="108" y="226"/>
                    </a:cubicBezTo>
                    <a:lnTo>
                      <a:pt x="5096" y="226"/>
                    </a:lnTo>
                    <a:cubicBezTo>
                      <a:pt x="5168" y="226"/>
                      <a:pt x="5216" y="179"/>
                      <a:pt x="5216" y="119"/>
                    </a:cubicBezTo>
                    <a:cubicBezTo>
                      <a:pt x="5216" y="60"/>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20" name="Google Shape;1201;p28">
                <a:extLst>
                  <a:ext uri="{FF2B5EF4-FFF2-40B4-BE49-F238E27FC236}">
                    <a16:creationId xmlns:a16="http://schemas.microsoft.com/office/drawing/2014/main" id="{14951EEF-C771-295C-058F-0D90F1D6B217}"/>
                  </a:ext>
                </a:extLst>
              </p:cNvPr>
              <p:cNvSpPr/>
              <p:nvPr/>
            </p:nvSpPr>
            <p:spPr>
              <a:xfrm>
                <a:off x="7343487" y="1994703"/>
                <a:ext cx="185338" cy="7639"/>
              </a:xfrm>
              <a:custGeom>
                <a:avLst/>
                <a:gdLst/>
                <a:ahLst/>
                <a:cxnLst/>
                <a:rect l="l" t="t" r="r" b="b"/>
                <a:pathLst>
                  <a:path w="5216" h="215" extrusionOk="0">
                    <a:moveTo>
                      <a:pt x="108" y="0"/>
                    </a:moveTo>
                    <a:cubicBezTo>
                      <a:pt x="48" y="0"/>
                      <a:pt x="1" y="48"/>
                      <a:pt x="1" y="107"/>
                    </a:cubicBezTo>
                    <a:cubicBezTo>
                      <a:pt x="1" y="167"/>
                      <a:pt x="48" y="214"/>
                      <a:pt x="108" y="214"/>
                    </a:cubicBezTo>
                    <a:lnTo>
                      <a:pt x="5096" y="214"/>
                    </a:lnTo>
                    <a:cubicBezTo>
                      <a:pt x="5168" y="214"/>
                      <a:pt x="5216" y="167"/>
                      <a:pt x="5216" y="107"/>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21" name="Google Shape;1202;p28">
                <a:extLst>
                  <a:ext uri="{FF2B5EF4-FFF2-40B4-BE49-F238E27FC236}">
                    <a16:creationId xmlns:a16="http://schemas.microsoft.com/office/drawing/2014/main" id="{0A0CA42F-4F4C-C151-CF36-1CF53AD35F96}"/>
                  </a:ext>
                </a:extLst>
              </p:cNvPr>
              <p:cNvSpPr/>
              <p:nvPr/>
            </p:nvSpPr>
            <p:spPr>
              <a:xfrm>
                <a:off x="7343487" y="2031053"/>
                <a:ext cx="185338" cy="7675"/>
              </a:xfrm>
              <a:custGeom>
                <a:avLst/>
                <a:gdLst/>
                <a:ahLst/>
                <a:cxnLst/>
                <a:rect l="l" t="t" r="r" b="b"/>
                <a:pathLst>
                  <a:path w="5216" h="216" extrusionOk="0">
                    <a:moveTo>
                      <a:pt x="108" y="1"/>
                    </a:moveTo>
                    <a:cubicBezTo>
                      <a:pt x="48" y="1"/>
                      <a:pt x="1" y="49"/>
                      <a:pt x="1" y="108"/>
                    </a:cubicBezTo>
                    <a:cubicBezTo>
                      <a:pt x="1" y="168"/>
                      <a:pt x="48" y="215"/>
                      <a:pt x="108" y="215"/>
                    </a:cubicBezTo>
                    <a:lnTo>
                      <a:pt x="5096" y="215"/>
                    </a:lnTo>
                    <a:cubicBezTo>
                      <a:pt x="5168" y="215"/>
                      <a:pt x="5216" y="168"/>
                      <a:pt x="5216" y="108"/>
                    </a:cubicBezTo>
                    <a:cubicBezTo>
                      <a:pt x="5216" y="49"/>
                      <a:pt x="5168" y="1"/>
                      <a:pt x="5096" y="1"/>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grpSp>
        <p:sp>
          <p:nvSpPr>
            <p:cNvPr id="108" name="Google Shape;1203;p28">
              <a:extLst>
                <a:ext uri="{FF2B5EF4-FFF2-40B4-BE49-F238E27FC236}">
                  <a16:creationId xmlns:a16="http://schemas.microsoft.com/office/drawing/2014/main" id="{83A987A5-D40D-7A01-C7A5-D21B8AB0CE0E}"/>
                </a:ext>
              </a:extLst>
            </p:cNvPr>
            <p:cNvSpPr/>
            <p:nvPr/>
          </p:nvSpPr>
          <p:spPr>
            <a:xfrm>
              <a:off x="6845138" y="2732081"/>
              <a:ext cx="1291180" cy="440034"/>
            </a:xfrm>
            <a:custGeom>
              <a:avLst/>
              <a:gdLst/>
              <a:ahLst/>
              <a:cxnLst/>
              <a:rect l="l" t="t" r="r" b="b"/>
              <a:pathLst>
                <a:path w="36338" h="12384" extrusionOk="0">
                  <a:moveTo>
                    <a:pt x="0" y="1"/>
                  </a:moveTo>
                  <a:lnTo>
                    <a:pt x="0" y="1358"/>
                  </a:lnTo>
                  <a:cubicBezTo>
                    <a:pt x="2417" y="1644"/>
                    <a:pt x="4298" y="3692"/>
                    <a:pt x="4298" y="6192"/>
                  </a:cubicBezTo>
                  <a:cubicBezTo>
                    <a:pt x="4298" y="8692"/>
                    <a:pt x="2417" y="10752"/>
                    <a:pt x="0" y="11038"/>
                  </a:cubicBezTo>
                  <a:lnTo>
                    <a:pt x="0" y="12383"/>
                  </a:lnTo>
                  <a:lnTo>
                    <a:pt x="32040" y="12383"/>
                  </a:lnTo>
                  <a:lnTo>
                    <a:pt x="32040" y="10502"/>
                  </a:lnTo>
                  <a:cubicBezTo>
                    <a:pt x="34409" y="10502"/>
                    <a:pt x="36338" y="8573"/>
                    <a:pt x="36338" y="6192"/>
                  </a:cubicBezTo>
                  <a:cubicBezTo>
                    <a:pt x="36338" y="3823"/>
                    <a:pt x="34409" y="1894"/>
                    <a:pt x="32040" y="1894"/>
                  </a:cubicBezTo>
                  <a:lnTo>
                    <a:pt x="32040" y="1"/>
                  </a:lnTo>
                  <a:close/>
                </a:path>
              </a:pathLst>
            </a:custGeom>
            <a:solidFill>
              <a:schemeClr val="accent1"/>
            </a:solidFill>
            <a:ln>
              <a:noFill/>
            </a:ln>
          </p:spPr>
          <p:txBody>
            <a:bodyPr spcFirstLastPara="1" wrap="square" lIns="91425" tIns="91425" rIns="91425" bIns="91425" anchor="ctr" anchorCtr="0">
              <a:noAutofit/>
            </a:bodyPr>
            <a:lstStyle/>
            <a:p>
              <a:pPr algn="ctr">
                <a:buClr>
                  <a:srgbClr val="000000"/>
                </a:buClr>
                <a:buFont typeface="Arial"/>
                <a:buNone/>
              </a:pPr>
              <a:r>
                <a:rPr lang="en" sz="1400" kern="0">
                  <a:solidFill>
                    <a:srgbClr val="FFFFFF"/>
                  </a:solidFill>
                  <a:latin typeface="Oswald" panose="00000500000000000000" pitchFamily="2" charset="0"/>
                  <a:ea typeface="Fira Sans Extra Condensed Medium"/>
                  <a:cs typeface="Fira Sans Extra Condensed Medium"/>
                  <a:sym typeface="Fira Sans Extra Condensed Medium"/>
                </a:rPr>
                <a:t>Phase 6</a:t>
              </a:r>
              <a:endParaRPr sz="1400" kern="0">
                <a:solidFill>
                  <a:srgbClr val="FFFFFF"/>
                </a:solidFill>
                <a:latin typeface="Oswald" panose="00000500000000000000" pitchFamily="2" charset="0"/>
                <a:ea typeface="Fira Sans Extra Condensed Medium"/>
                <a:cs typeface="Fira Sans Extra Condensed Medium"/>
                <a:sym typeface="Fira Sans Extra Condensed Medium"/>
              </a:endParaRPr>
            </a:p>
          </p:txBody>
        </p:sp>
        <p:sp>
          <p:nvSpPr>
            <p:cNvPr id="109" name="Google Shape;1204;p28">
              <a:extLst>
                <a:ext uri="{FF2B5EF4-FFF2-40B4-BE49-F238E27FC236}">
                  <a16:creationId xmlns:a16="http://schemas.microsoft.com/office/drawing/2014/main" id="{CBF4B274-AB7B-3E9B-C224-EB6292378E3C}"/>
                </a:ext>
              </a:extLst>
            </p:cNvPr>
            <p:cNvSpPr/>
            <p:nvPr/>
          </p:nvSpPr>
          <p:spPr>
            <a:xfrm>
              <a:off x="7455167" y="2235403"/>
              <a:ext cx="63070" cy="63070"/>
            </a:xfrm>
            <a:custGeom>
              <a:avLst/>
              <a:gdLst/>
              <a:ahLst/>
              <a:cxnLst/>
              <a:rect l="l" t="t" r="r" b="b"/>
              <a:pathLst>
                <a:path w="1775" h="1775" extrusionOk="0">
                  <a:moveTo>
                    <a:pt x="882" y="1"/>
                  </a:moveTo>
                  <a:cubicBezTo>
                    <a:pt x="394" y="1"/>
                    <a:pt x="1" y="394"/>
                    <a:pt x="1" y="882"/>
                  </a:cubicBezTo>
                  <a:cubicBezTo>
                    <a:pt x="1" y="1382"/>
                    <a:pt x="394" y="1775"/>
                    <a:pt x="882" y="1775"/>
                  </a:cubicBezTo>
                  <a:cubicBezTo>
                    <a:pt x="1382" y="1775"/>
                    <a:pt x="1775" y="1382"/>
                    <a:pt x="1775" y="882"/>
                  </a:cubicBezTo>
                  <a:cubicBezTo>
                    <a:pt x="1775" y="394"/>
                    <a:pt x="1382" y="1"/>
                    <a:pt x="882"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10" name="Google Shape;1205;p28">
              <a:extLst>
                <a:ext uri="{FF2B5EF4-FFF2-40B4-BE49-F238E27FC236}">
                  <a16:creationId xmlns:a16="http://schemas.microsoft.com/office/drawing/2014/main" id="{9BC774F1-119B-6F70-F432-181C4D80A201}"/>
                </a:ext>
              </a:extLst>
            </p:cNvPr>
            <p:cNvSpPr txBox="1"/>
            <p:nvPr/>
          </p:nvSpPr>
          <p:spPr>
            <a:xfrm>
              <a:off x="6872487" y="1099726"/>
              <a:ext cx="1291500" cy="534900"/>
            </a:xfrm>
            <a:prstGeom prst="rect">
              <a:avLst/>
            </a:prstGeom>
            <a:noFill/>
            <a:ln>
              <a:noFill/>
            </a:ln>
          </p:spPr>
          <p:txBody>
            <a:bodyPr spcFirstLastPara="1" wrap="square" lIns="91425" tIns="91425" rIns="91425" bIns="91425" anchor="ctr" anchorCtr="0">
              <a:noAutofit/>
            </a:bodyPr>
            <a:lstStyle/>
            <a:p>
              <a:pPr algn="ctr">
                <a:buClr>
                  <a:srgbClr val="000000"/>
                </a:buClr>
                <a:buFont typeface="Arial"/>
                <a:buNone/>
              </a:pPr>
              <a:r>
                <a:rPr lang="en" sz="1500" kern="0">
                  <a:solidFill>
                    <a:srgbClr val="434343"/>
                  </a:solidFill>
                  <a:latin typeface="Oswald" panose="00000500000000000000" pitchFamily="2" charset="0"/>
                  <a:ea typeface="Roboto"/>
                  <a:cs typeface="Roboto"/>
                  <a:sym typeface="Roboto"/>
                </a:rPr>
                <a:t>Onboarding</a:t>
              </a:r>
              <a:endParaRPr sz="1500" kern="0">
                <a:solidFill>
                  <a:srgbClr val="434343"/>
                </a:solidFill>
                <a:latin typeface="Oswald" panose="00000500000000000000" pitchFamily="2" charset="0"/>
                <a:ea typeface="Roboto"/>
                <a:cs typeface="Roboto"/>
                <a:sym typeface="Roboto"/>
              </a:endParaRPr>
            </a:p>
          </p:txBody>
        </p:sp>
      </p:grpSp>
      <p:grpSp>
        <p:nvGrpSpPr>
          <p:cNvPr id="122" name="Google Shape;1206;p28">
            <a:extLst>
              <a:ext uri="{FF2B5EF4-FFF2-40B4-BE49-F238E27FC236}">
                <a16:creationId xmlns:a16="http://schemas.microsoft.com/office/drawing/2014/main" id="{B2554248-DF1C-379B-EA12-9AD5870B36A4}"/>
              </a:ext>
            </a:extLst>
          </p:cNvPr>
          <p:cNvGrpSpPr/>
          <p:nvPr/>
        </p:nvGrpSpPr>
        <p:grpSpPr>
          <a:xfrm>
            <a:off x="636597" y="1176666"/>
            <a:ext cx="1291216" cy="2075495"/>
            <a:chOff x="1007688" y="1096620"/>
            <a:chExt cx="1291216" cy="2075495"/>
          </a:xfrm>
        </p:grpSpPr>
        <p:sp>
          <p:nvSpPr>
            <p:cNvPr id="123" name="Google Shape;1207;p28">
              <a:extLst>
                <a:ext uri="{FF2B5EF4-FFF2-40B4-BE49-F238E27FC236}">
                  <a16:creationId xmlns:a16="http://schemas.microsoft.com/office/drawing/2014/main" id="{BD782012-A3FA-2281-775A-9A6AEB215088}"/>
                </a:ext>
              </a:extLst>
            </p:cNvPr>
            <p:cNvSpPr/>
            <p:nvPr/>
          </p:nvSpPr>
          <p:spPr>
            <a:xfrm>
              <a:off x="1643549" y="2261200"/>
              <a:ext cx="11477" cy="704858"/>
            </a:xfrm>
            <a:custGeom>
              <a:avLst/>
              <a:gdLst/>
              <a:ahLst/>
              <a:cxnLst/>
              <a:rect l="l" t="t" r="r" b="b"/>
              <a:pathLst>
                <a:path w="323" h="19837" extrusionOk="0">
                  <a:moveTo>
                    <a:pt x="167" y="1"/>
                  </a:moveTo>
                  <a:cubicBezTo>
                    <a:pt x="72" y="1"/>
                    <a:pt x="1" y="72"/>
                    <a:pt x="1" y="156"/>
                  </a:cubicBezTo>
                  <a:lnTo>
                    <a:pt x="1" y="19682"/>
                  </a:lnTo>
                  <a:cubicBezTo>
                    <a:pt x="1" y="19765"/>
                    <a:pt x="72" y="19837"/>
                    <a:pt x="167" y="19837"/>
                  </a:cubicBezTo>
                  <a:cubicBezTo>
                    <a:pt x="251" y="19837"/>
                    <a:pt x="322" y="19765"/>
                    <a:pt x="322" y="19682"/>
                  </a:cubicBezTo>
                  <a:lnTo>
                    <a:pt x="322" y="156"/>
                  </a:lnTo>
                  <a:cubicBezTo>
                    <a:pt x="322" y="72"/>
                    <a:pt x="251" y="1"/>
                    <a:pt x="167"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24" name="Google Shape;1208;p28">
              <a:extLst>
                <a:ext uri="{FF2B5EF4-FFF2-40B4-BE49-F238E27FC236}">
                  <a16:creationId xmlns:a16="http://schemas.microsoft.com/office/drawing/2014/main" id="{B4808649-F3D9-640A-E517-1A6416430ACE}"/>
                </a:ext>
              </a:extLst>
            </p:cNvPr>
            <p:cNvSpPr/>
            <p:nvPr/>
          </p:nvSpPr>
          <p:spPr>
            <a:xfrm>
              <a:off x="1440905" y="1674446"/>
              <a:ext cx="426497" cy="222540"/>
            </a:xfrm>
            <a:custGeom>
              <a:avLst/>
              <a:gdLst/>
              <a:ahLst/>
              <a:cxnLst/>
              <a:rect l="l" t="t" r="r" b="b"/>
              <a:pathLst>
                <a:path w="12003" h="6263" extrusionOk="0">
                  <a:moveTo>
                    <a:pt x="5918" y="298"/>
                  </a:moveTo>
                  <a:lnTo>
                    <a:pt x="11645" y="5525"/>
                  </a:lnTo>
                  <a:cubicBezTo>
                    <a:pt x="11752" y="5632"/>
                    <a:pt x="11764" y="5810"/>
                    <a:pt x="11657" y="5929"/>
                  </a:cubicBezTo>
                  <a:cubicBezTo>
                    <a:pt x="11609" y="5989"/>
                    <a:pt x="11538" y="6025"/>
                    <a:pt x="11454" y="6025"/>
                  </a:cubicBezTo>
                  <a:cubicBezTo>
                    <a:pt x="11383" y="6025"/>
                    <a:pt x="11312" y="6001"/>
                    <a:pt x="11252" y="5953"/>
                  </a:cubicBezTo>
                  <a:lnTo>
                    <a:pt x="5918" y="1084"/>
                  </a:lnTo>
                  <a:lnTo>
                    <a:pt x="691" y="5965"/>
                  </a:lnTo>
                  <a:cubicBezTo>
                    <a:pt x="641" y="6016"/>
                    <a:pt x="574" y="6040"/>
                    <a:pt x="507" y="6040"/>
                  </a:cubicBezTo>
                  <a:cubicBezTo>
                    <a:pt x="431" y="6040"/>
                    <a:pt x="355" y="6010"/>
                    <a:pt x="298" y="5953"/>
                  </a:cubicBezTo>
                  <a:cubicBezTo>
                    <a:pt x="251" y="5906"/>
                    <a:pt x="215" y="5834"/>
                    <a:pt x="215" y="5751"/>
                  </a:cubicBezTo>
                  <a:cubicBezTo>
                    <a:pt x="215" y="5667"/>
                    <a:pt x="251" y="5596"/>
                    <a:pt x="310" y="5548"/>
                  </a:cubicBezTo>
                  <a:lnTo>
                    <a:pt x="5918" y="298"/>
                  </a:lnTo>
                  <a:close/>
                  <a:moveTo>
                    <a:pt x="5918" y="0"/>
                  </a:moveTo>
                  <a:lnTo>
                    <a:pt x="155" y="5394"/>
                  </a:lnTo>
                  <a:cubicBezTo>
                    <a:pt x="60" y="5477"/>
                    <a:pt x="1" y="5608"/>
                    <a:pt x="1" y="5751"/>
                  </a:cubicBezTo>
                  <a:cubicBezTo>
                    <a:pt x="1" y="5882"/>
                    <a:pt x="48" y="6013"/>
                    <a:pt x="143" y="6108"/>
                  </a:cubicBezTo>
                  <a:cubicBezTo>
                    <a:pt x="239" y="6215"/>
                    <a:pt x="370" y="6263"/>
                    <a:pt x="501" y="6263"/>
                  </a:cubicBezTo>
                  <a:cubicBezTo>
                    <a:pt x="620" y="6263"/>
                    <a:pt x="751" y="6215"/>
                    <a:pt x="846" y="6120"/>
                  </a:cubicBezTo>
                  <a:lnTo>
                    <a:pt x="5918" y="1381"/>
                  </a:lnTo>
                  <a:lnTo>
                    <a:pt x="11109" y="6108"/>
                  </a:lnTo>
                  <a:cubicBezTo>
                    <a:pt x="11195" y="6194"/>
                    <a:pt x="11309" y="6241"/>
                    <a:pt x="11427" y="6241"/>
                  </a:cubicBezTo>
                  <a:cubicBezTo>
                    <a:pt x="11440" y="6241"/>
                    <a:pt x="11453" y="6240"/>
                    <a:pt x="11466" y="6239"/>
                  </a:cubicBezTo>
                  <a:cubicBezTo>
                    <a:pt x="11609" y="6239"/>
                    <a:pt x="11728" y="6179"/>
                    <a:pt x="11824" y="6072"/>
                  </a:cubicBezTo>
                  <a:cubicBezTo>
                    <a:pt x="12002" y="5870"/>
                    <a:pt x="11990" y="5548"/>
                    <a:pt x="11788" y="5370"/>
                  </a:cubicBezTo>
                  <a:lnTo>
                    <a:pt x="5918" y="0"/>
                  </a:lnTo>
                  <a:close/>
                </a:path>
              </a:pathLst>
            </a:custGeom>
            <a:solidFill>
              <a:srgbClr val="FCBD24"/>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25" name="Google Shape;1209;p28">
              <a:extLst>
                <a:ext uri="{FF2B5EF4-FFF2-40B4-BE49-F238E27FC236}">
                  <a16:creationId xmlns:a16="http://schemas.microsoft.com/office/drawing/2014/main" id="{BFC693B5-6365-8068-76F9-D65CC8364606}"/>
                </a:ext>
              </a:extLst>
            </p:cNvPr>
            <p:cNvSpPr/>
            <p:nvPr/>
          </p:nvSpPr>
          <p:spPr>
            <a:xfrm>
              <a:off x="1498859" y="1712928"/>
              <a:ext cx="305082" cy="436623"/>
            </a:xfrm>
            <a:custGeom>
              <a:avLst/>
              <a:gdLst/>
              <a:ahLst/>
              <a:cxnLst/>
              <a:rect l="l" t="t" r="r" b="b"/>
              <a:pathLst>
                <a:path w="8586" h="12288" extrusionOk="0">
                  <a:moveTo>
                    <a:pt x="4287" y="298"/>
                  </a:moveTo>
                  <a:lnTo>
                    <a:pt x="8371" y="4132"/>
                  </a:lnTo>
                  <a:lnTo>
                    <a:pt x="8371" y="12073"/>
                  </a:lnTo>
                  <a:lnTo>
                    <a:pt x="6204" y="12073"/>
                  </a:lnTo>
                  <a:lnTo>
                    <a:pt x="6204" y="6989"/>
                  </a:lnTo>
                  <a:cubicBezTo>
                    <a:pt x="6204" y="5954"/>
                    <a:pt x="5370" y="5120"/>
                    <a:pt x="4347" y="5120"/>
                  </a:cubicBezTo>
                  <a:cubicBezTo>
                    <a:pt x="3323" y="5120"/>
                    <a:pt x="2477" y="5954"/>
                    <a:pt x="2477" y="6989"/>
                  </a:cubicBezTo>
                  <a:lnTo>
                    <a:pt x="2477" y="12073"/>
                  </a:lnTo>
                  <a:lnTo>
                    <a:pt x="215" y="12073"/>
                  </a:lnTo>
                  <a:lnTo>
                    <a:pt x="215" y="4132"/>
                  </a:lnTo>
                  <a:lnTo>
                    <a:pt x="4287" y="298"/>
                  </a:lnTo>
                  <a:close/>
                  <a:moveTo>
                    <a:pt x="4287" y="1"/>
                  </a:moveTo>
                  <a:lnTo>
                    <a:pt x="1" y="4037"/>
                  </a:lnTo>
                  <a:lnTo>
                    <a:pt x="1" y="12288"/>
                  </a:lnTo>
                  <a:lnTo>
                    <a:pt x="2703" y="12288"/>
                  </a:lnTo>
                  <a:lnTo>
                    <a:pt x="2703" y="6989"/>
                  </a:lnTo>
                  <a:cubicBezTo>
                    <a:pt x="2703" y="6085"/>
                    <a:pt x="3442" y="5346"/>
                    <a:pt x="4347" y="5346"/>
                  </a:cubicBezTo>
                  <a:cubicBezTo>
                    <a:pt x="5251" y="5346"/>
                    <a:pt x="5990" y="6085"/>
                    <a:pt x="5990" y="6989"/>
                  </a:cubicBezTo>
                  <a:lnTo>
                    <a:pt x="5990" y="12288"/>
                  </a:lnTo>
                  <a:lnTo>
                    <a:pt x="8585" y="12288"/>
                  </a:lnTo>
                  <a:lnTo>
                    <a:pt x="8585" y="4037"/>
                  </a:lnTo>
                  <a:lnTo>
                    <a:pt x="4287" y="1"/>
                  </a:lnTo>
                  <a:close/>
                </a:path>
              </a:pathLst>
            </a:custGeom>
            <a:solidFill>
              <a:schemeClr val="tx2"/>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26" name="Google Shape;1210;p28">
              <a:extLst>
                <a:ext uri="{FF2B5EF4-FFF2-40B4-BE49-F238E27FC236}">
                  <a16:creationId xmlns:a16="http://schemas.microsoft.com/office/drawing/2014/main" id="{7779BF20-05FF-0052-74B8-7423A714ADAA}"/>
                </a:ext>
              </a:extLst>
            </p:cNvPr>
            <p:cNvSpPr/>
            <p:nvPr/>
          </p:nvSpPr>
          <p:spPr>
            <a:xfrm>
              <a:off x="1649056" y="1869876"/>
              <a:ext cx="93095" cy="192941"/>
            </a:xfrm>
            <a:custGeom>
              <a:avLst/>
              <a:gdLst/>
              <a:ahLst/>
              <a:cxnLst/>
              <a:rect l="l" t="t" r="r" b="b"/>
              <a:pathLst>
                <a:path w="2620" h="5430" extrusionOk="0">
                  <a:moveTo>
                    <a:pt x="120" y="1"/>
                  </a:moveTo>
                  <a:cubicBezTo>
                    <a:pt x="72" y="1"/>
                    <a:pt x="12" y="48"/>
                    <a:pt x="12" y="108"/>
                  </a:cubicBezTo>
                  <a:cubicBezTo>
                    <a:pt x="0" y="167"/>
                    <a:pt x="48" y="215"/>
                    <a:pt x="108" y="227"/>
                  </a:cubicBezTo>
                  <a:cubicBezTo>
                    <a:pt x="120" y="227"/>
                    <a:pt x="965" y="286"/>
                    <a:pt x="1620" y="846"/>
                  </a:cubicBezTo>
                  <a:cubicBezTo>
                    <a:pt x="2286" y="1406"/>
                    <a:pt x="2406" y="1953"/>
                    <a:pt x="2406" y="2834"/>
                  </a:cubicBezTo>
                  <a:lnTo>
                    <a:pt x="2406" y="5323"/>
                  </a:lnTo>
                  <a:cubicBezTo>
                    <a:pt x="2406" y="5382"/>
                    <a:pt x="2453" y="5430"/>
                    <a:pt x="2513" y="5430"/>
                  </a:cubicBezTo>
                  <a:cubicBezTo>
                    <a:pt x="2572" y="5430"/>
                    <a:pt x="2620" y="5382"/>
                    <a:pt x="2620" y="5323"/>
                  </a:cubicBezTo>
                  <a:lnTo>
                    <a:pt x="2620" y="2834"/>
                  </a:lnTo>
                  <a:cubicBezTo>
                    <a:pt x="2620" y="1906"/>
                    <a:pt x="2489" y="1287"/>
                    <a:pt x="1763" y="679"/>
                  </a:cubicBezTo>
                  <a:cubicBezTo>
                    <a:pt x="1060" y="84"/>
                    <a:pt x="167" y="13"/>
                    <a:pt x="120" y="1"/>
                  </a:cubicBezTo>
                  <a:close/>
                </a:path>
              </a:pathLst>
            </a:custGeom>
            <a:solidFill>
              <a:srgbClr val="FCBD24"/>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27" name="Google Shape;1211;p28">
              <a:extLst>
                <a:ext uri="{FF2B5EF4-FFF2-40B4-BE49-F238E27FC236}">
                  <a16:creationId xmlns:a16="http://schemas.microsoft.com/office/drawing/2014/main" id="{A8FC2BBA-78D1-5DCD-E247-C4511248F9EE}"/>
                </a:ext>
              </a:extLst>
            </p:cNvPr>
            <p:cNvSpPr/>
            <p:nvPr/>
          </p:nvSpPr>
          <p:spPr>
            <a:xfrm>
              <a:off x="1007688" y="2732081"/>
              <a:ext cx="1291216" cy="440034"/>
            </a:xfrm>
            <a:custGeom>
              <a:avLst/>
              <a:gdLst/>
              <a:ahLst/>
              <a:cxnLst/>
              <a:rect l="l" t="t" r="r" b="b"/>
              <a:pathLst>
                <a:path w="36339" h="12384" extrusionOk="0">
                  <a:moveTo>
                    <a:pt x="1" y="1"/>
                  </a:moveTo>
                  <a:lnTo>
                    <a:pt x="1" y="1358"/>
                  </a:lnTo>
                  <a:cubicBezTo>
                    <a:pt x="2418" y="1644"/>
                    <a:pt x="4299" y="3692"/>
                    <a:pt x="4299" y="6192"/>
                  </a:cubicBezTo>
                  <a:cubicBezTo>
                    <a:pt x="4299" y="8692"/>
                    <a:pt x="2418" y="10752"/>
                    <a:pt x="1" y="11038"/>
                  </a:cubicBezTo>
                  <a:lnTo>
                    <a:pt x="1" y="12383"/>
                  </a:lnTo>
                  <a:lnTo>
                    <a:pt x="32040" y="12383"/>
                  </a:lnTo>
                  <a:lnTo>
                    <a:pt x="32040" y="10502"/>
                  </a:lnTo>
                  <a:cubicBezTo>
                    <a:pt x="34410" y="10502"/>
                    <a:pt x="36338" y="8573"/>
                    <a:pt x="36338" y="6192"/>
                  </a:cubicBezTo>
                  <a:cubicBezTo>
                    <a:pt x="36338" y="3823"/>
                    <a:pt x="34410" y="1894"/>
                    <a:pt x="32040" y="1894"/>
                  </a:cubicBezTo>
                  <a:lnTo>
                    <a:pt x="32040" y="1"/>
                  </a:lnTo>
                  <a:close/>
                </a:path>
              </a:pathLst>
            </a:custGeom>
            <a:solidFill>
              <a:schemeClr val="accent1"/>
            </a:solidFill>
            <a:ln>
              <a:noFill/>
            </a:ln>
          </p:spPr>
          <p:txBody>
            <a:bodyPr spcFirstLastPara="1" wrap="square" lIns="91425" tIns="91425" rIns="91425" bIns="91425" anchor="ctr" anchorCtr="0">
              <a:noAutofit/>
            </a:bodyPr>
            <a:lstStyle/>
            <a:p>
              <a:pPr algn="ctr">
                <a:buClr>
                  <a:srgbClr val="000000"/>
                </a:buClr>
                <a:buFont typeface="Arial"/>
                <a:buNone/>
              </a:pPr>
              <a:r>
                <a:rPr lang="en" sz="1400" kern="0">
                  <a:solidFill>
                    <a:srgbClr val="FFFFFF"/>
                  </a:solidFill>
                  <a:latin typeface="Oswald" panose="00000500000000000000" pitchFamily="2" charset="0"/>
                  <a:ea typeface="Fira Sans Extra Condensed Medium"/>
                  <a:cs typeface="Fira Sans Extra Condensed Medium"/>
                  <a:sym typeface="Fira Sans Extra Condensed Medium"/>
                </a:rPr>
                <a:t>Phase 1</a:t>
              </a:r>
              <a:endParaRPr sz="1400" kern="0">
                <a:solidFill>
                  <a:srgbClr val="FFFFFF"/>
                </a:solidFill>
                <a:latin typeface="Oswald" panose="00000500000000000000" pitchFamily="2" charset="0"/>
                <a:ea typeface="Fira Sans Extra Condensed Medium"/>
                <a:cs typeface="Fira Sans Extra Condensed Medium"/>
                <a:sym typeface="Fira Sans Extra Condensed Medium"/>
              </a:endParaRPr>
            </a:p>
          </p:txBody>
        </p:sp>
        <p:sp>
          <p:nvSpPr>
            <p:cNvPr id="128" name="Google Shape;1212;p28">
              <a:extLst>
                <a:ext uri="{FF2B5EF4-FFF2-40B4-BE49-F238E27FC236}">
                  <a16:creationId xmlns:a16="http://schemas.microsoft.com/office/drawing/2014/main" id="{8122203B-067A-2960-B16C-E7760D2CBC30}"/>
                </a:ext>
              </a:extLst>
            </p:cNvPr>
            <p:cNvSpPr/>
            <p:nvPr/>
          </p:nvSpPr>
          <p:spPr>
            <a:xfrm>
              <a:off x="1617752" y="2235403"/>
              <a:ext cx="63070" cy="63070"/>
            </a:xfrm>
            <a:custGeom>
              <a:avLst/>
              <a:gdLst/>
              <a:ahLst/>
              <a:cxnLst/>
              <a:rect l="l" t="t" r="r" b="b"/>
              <a:pathLst>
                <a:path w="1775" h="1775" extrusionOk="0">
                  <a:moveTo>
                    <a:pt x="893" y="1"/>
                  </a:moveTo>
                  <a:cubicBezTo>
                    <a:pt x="393" y="1"/>
                    <a:pt x="0" y="394"/>
                    <a:pt x="0" y="882"/>
                  </a:cubicBezTo>
                  <a:cubicBezTo>
                    <a:pt x="0" y="1382"/>
                    <a:pt x="393" y="1775"/>
                    <a:pt x="893" y="1775"/>
                  </a:cubicBezTo>
                  <a:cubicBezTo>
                    <a:pt x="1382" y="1775"/>
                    <a:pt x="1774" y="1382"/>
                    <a:pt x="1774" y="882"/>
                  </a:cubicBezTo>
                  <a:cubicBezTo>
                    <a:pt x="1774" y="394"/>
                    <a:pt x="1382" y="1"/>
                    <a:pt x="893"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29" name="Google Shape;1213;p28">
              <a:extLst>
                <a:ext uri="{FF2B5EF4-FFF2-40B4-BE49-F238E27FC236}">
                  <a16:creationId xmlns:a16="http://schemas.microsoft.com/office/drawing/2014/main" id="{98A37D5D-4C74-82FE-3933-8353A8B0E91C}"/>
                </a:ext>
              </a:extLst>
            </p:cNvPr>
            <p:cNvSpPr txBox="1"/>
            <p:nvPr/>
          </p:nvSpPr>
          <p:spPr>
            <a:xfrm>
              <a:off x="1111953" y="1096620"/>
              <a:ext cx="1167300" cy="534900"/>
            </a:xfrm>
            <a:prstGeom prst="rect">
              <a:avLst/>
            </a:prstGeom>
            <a:noFill/>
            <a:ln>
              <a:noFill/>
            </a:ln>
          </p:spPr>
          <p:txBody>
            <a:bodyPr spcFirstLastPara="1" wrap="square" lIns="91425" tIns="91425" rIns="91425" bIns="91425" anchor="ctr" anchorCtr="0">
              <a:noAutofit/>
            </a:bodyPr>
            <a:lstStyle/>
            <a:p>
              <a:pPr algn="ctr">
                <a:buClr>
                  <a:srgbClr val="000000"/>
                </a:buClr>
                <a:buFont typeface="Arial"/>
                <a:buNone/>
              </a:pPr>
              <a:r>
                <a:rPr lang="en" sz="1500" kern="0">
                  <a:solidFill>
                    <a:srgbClr val="434343"/>
                  </a:solidFill>
                  <a:latin typeface="Oswald" panose="00000500000000000000" pitchFamily="2" charset="0"/>
                  <a:ea typeface="Roboto"/>
                  <a:cs typeface="Roboto"/>
                  <a:sym typeface="Roboto"/>
                </a:rPr>
                <a:t>Profile Screening</a:t>
              </a:r>
              <a:endParaRPr sz="1500" kern="0">
                <a:solidFill>
                  <a:srgbClr val="434343"/>
                </a:solidFill>
                <a:latin typeface="Oswald" panose="00000500000000000000" pitchFamily="2" charset="0"/>
                <a:ea typeface="Roboto"/>
                <a:cs typeface="Roboto"/>
                <a:sym typeface="Roboto"/>
              </a:endParaRPr>
            </a:p>
          </p:txBody>
        </p:sp>
      </p:grpSp>
      <p:grpSp>
        <p:nvGrpSpPr>
          <p:cNvPr id="130" name="Google Shape;1214;p28">
            <a:extLst>
              <a:ext uri="{FF2B5EF4-FFF2-40B4-BE49-F238E27FC236}">
                <a16:creationId xmlns:a16="http://schemas.microsoft.com/office/drawing/2014/main" id="{6FAA4335-4B7A-1304-578E-0E702615CD76}"/>
              </a:ext>
            </a:extLst>
          </p:cNvPr>
          <p:cNvGrpSpPr/>
          <p:nvPr/>
        </p:nvGrpSpPr>
        <p:grpSpPr>
          <a:xfrm>
            <a:off x="1803817" y="1152069"/>
            <a:ext cx="1291642" cy="2100092"/>
            <a:chOff x="2174908" y="1072023"/>
            <a:chExt cx="1291642" cy="2100092"/>
          </a:xfrm>
        </p:grpSpPr>
        <p:grpSp>
          <p:nvGrpSpPr>
            <p:cNvPr id="131" name="Google Shape;1215;p28">
              <a:extLst>
                <a:ext uri="{FF2B5EF4-FFF2-40B4-BE49-F238E27FC236}">
                  <a16:creationId xmlns:a16="http://schemas.microsoft.com/office/drawing/2014/main" id="{385FEA3F-10EB-B5FB-C333-4EB9AE32F0BA}"/>
                </a:ext>
              </a:extLst>
            </p:cNvPr>
            <p:cNvGrpSpPr/>
            <p:nvPr/>
          </p:nvGrpSpPr>
          <p:grpSpPr>
            <a:xfrm>
              <a:off x="2567937" y="1575025"/>
              <a:ext cx="505596" cy="574530"/>
              <a:chOff x="2567937" y="1575025"/>
              <a:chExt cx="505596" cy="574530"/>
            </a:xfrm>
          </p:grpSpPr>
          <p:sp>
            <p:nvSpPr>
              <p:cNvPr id="135" name="Google Shape;1216;p28">
                <a:extLst>
                  <a:ext uri="{FF2B5EF4-FFF2-40B4-BE49-F238E27FC236}">
                    <a16:creationId xmlns:a16="http://schemas.microsoft.com/office/drawing/2014/main" id="{6E7809C4-2F0E-8382-D044-A183FFB32EBF}"/>
                  </a:ext>
                </a:extLst>
              </p:cNvPr>
              <p:cNvSpPr/>
              <p:nvPr/>
            </p:nvSpPr>
            <p:spPr>
              <a:xfrm>
                <a:off x="2667358" y="1687344"/>
                <a:ext cx="302950" cy="396223"/>
              </a:xfrm>
              <a:custGeom>
                <a:avLst/>
                <a:gdLst/>
                <a:ahLst/>
                <a:cxnLst/>
                <a:rect l="l" t="t" r="r" b="b"/>
                <a:pathLst>
                  <a:path w="8526" h="11151" extrusionOk="0">
                    <a:moveTo>
                      <a:pt x="4326" y="218"/>
                    </a:moveTo>
                    <a:cubicBezTo>
                      <a:pt x="5309" y="218"/>
                      <a:pt x="6237" y="574"/>
                      <a:pt x="6978" y="1232"/>
                    </a:cubicBezTo>
                    <a:cubicBezTo>
                      <a:pt x="7823" y="1994"/>
                      <a:pt x="8299" y="3078"/>
                      <a:pt x="8299" y="4209"/>
                    </a:cubicBezTo>
                    <a:cubicBezTo>
                      <a:pt x="8299" y="5316"/>
                      <a:pt x="7859" y="6340"/>
                      <a:pt x="7061" y="7102"/>
                    </a:cubicBezTo>
                    <a:cubicBezTo>
                      <a:pt x="6299" y="7829"/>
                      <a:pt x="5871" y="8769"/>
                      <a:pt x="5871" y="9769"/>
                    </a:cubicBezTo>
                    <a:lnTo>
                      <a:pt x="5871" y="10924"/>
                    </a:lnTo>
                    <a:lnTo>
                      <a:pt x="2763" y="10924"/>
                    </a:lnTo>
                    <a:lnTo>
                      <a:pt x="2763" y="9734"/>
                    </a:lnTo>
                    <a:cubicBezTo>
                      <a:pt x="2763" y="8757"/>
                      <a:pt x="2346" y="7829"/>
                      <a:pt x="1584" y="7114"/>
                    </a:cubicBezTo>
                    <a:cubicBezTo>
                      <a:pt x="668" y="6257"/>
                      <a:pt x="227" y="5054"/>
                      <a:pt x="346" y="3804"/>
                    </a:cubicBezTo>
                    <a:cubicBezTo>
                      <a:pt x="537" y="1947"/>
                      <a:pt x="2013" y="447"/>
                      <a:pt x="3858" y="244"/>
                    </a:cubicBezTo>
                    <a:cubicBezTo>
                      <a:pt x="4015" y="226"/>
                      <a:pt x="4171" y="218"/>
                      <a:pt x="4326" y="218"/>
                    </a:cubicBezTo>
                    <a:close/>
                    <a:moveTo>
                      <a:pt x="4334" y="0"/>
                    </a:moveTo>
                    <a:cubicBezTo>
                      <a:pt x="4169" y="0"/>
                      <a:pt x="4002" y="10"/>
                      <a:pt x="3835" y="30"/>
                    </a:cubicBezTo>
                    <a:cubicBezTo>
                      <a:pt x="1882" y="244"/>
                      <a:pt x="322" y="1816"/>
                      <a:pt x="132" y="3780"/>
                    </a:cubicBezTo>
                    <a:cubicBezTo>
                      <a:pt x="1" y="5090"/>
                      <a:pt x="477" y="6364"/>
                      <a:pt x="1430" y="7269"/>
                    </a:cubicBezTo>
                    <a:cubicBezTo>
                      <a:pt x="2144" y="7936"/>
                      <a:pt x="2537" y="8817"/>
                      <a:pt x="2537" y="9734"/>
                    </a:cubicBezTo>
                    <a:lnTo>
                      <a:pt x="2537" y="11150"/>
                    </a:lnTo>
                    <a:lnTo>
                      <a:pt x="6097" y="11150"/>
                    </a:lnTo>
                    <a:lnTo>
                      <a:pt x="6097" y="9769"/>
                    </a:lnTo>
                    <a:cubicBezTo>
                      <a:pt x="6097" y="8829"/>
                      <a:pt x="6490" y="7948"/>
                      <a:pt x="7216" y="7257"/>
                    </a:cubicBezTo>
                    <a:cubicBezTo>
                      <a:pt x="8061" y="6459"/>
                      <a:pt x="8526" y="5376"/>
                      <a:pt x="8526" y="4209"/>
                    </a:cubicBezTo>
                    <a:cubicBezTo>
                      <a:pt x="8526" y="3018"/>
                      <a:pt x="8014" y="1875"/>
                      <a:pt x="7121" y="1078"/>
                    </a:cubicBezTo>
                    <a:cubicBezTo>
                      <a:pt x="6341" y="380"/>
                      <a:pt x="5366" y="0"/>
                      <a:pt x="4334" y="0"/>
                    </a:cubicBezTo>
                    <a:close/>
                  </a:path>
                </a:pathLst>
              </a:custGeom>
              <a:solidFill>
                <a:srgbClr val="69E781"/>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36" name="Google Shape;1217;p28">
                <a:extLst>
                  <a:ext uri="{FF2B5EF4-FFF2-40B4-BE49-F238E27FC236}">
                    <a16:creationId xmlns:a16="http://schemas.microsoft.com/office/drawing/2014/main" id="{ABADEFD6-B62D-B1A1-C346-0ABB41DA906E}"/>
                  </a:ext>
                </a:extLst>
              </p:cNvPr>
              <p:cNvSpPr/>
              <p:nvPr/>
            </p:nvSpPr>
            <p:spPr>
              <a:xfrm>
                <a:off x="2766779" y="2075505"/>
                <a:ext cx="109191" cy="74050"/>
              </a:xfrm>
              <a:custGeom>
                <a:avLst/>
                <a:gdLst/>
                <a:ahLst/>
                <a:cxnLst/>
                <a:rect l="l" t="t" r="r" b="b"/>
                <a:pathLst>
                  <a:path w="3073" h="2084" extrusionOk="0">
                    <a:moveTo>
                      <a:pt x="2858" y="226"/>
                    </a:moveTo>
                    <a:lnTo>
                      <a:pt x="2858" y="1548"/>
                    </a:lnTo>
                    <a:cubicBezTo>
                      <a:pt x="2858" y="1727"/>
                      <a:pt x="2715" y="1869"/>
                      <a:pt x="2537" y="1869"/>
                    </a:cubicBezTo>
                    <a:lnTo>
                      <a:pt x="537" y="1869"/>
                    </a:lnTo>
                    <a:cubicBezTo>
                      <a:pt x="358" y="1869"/>
                      <a:pt x="215" y="1727"/>
                      <a:pt x="215" y="1548"/>
                    </a:cubicBezTo>
                    <a:lnTo>
                      <a:pt x="215" y="226"/>
                    </a:lnTo>
                    <a:close/>
                    <a:moveTo>
                      <a:pt x="1" y="0"/>
                    </a:moveTo>
                    <a:lnTo>
                      <a:pt x="1" y="1548"/>
                    </a:lnTo>
                    <a:cubicBezTo>
                      <a:pt x="1" y="1846"/>
                      <a:pt x="239" y="2084"/>
                      <a:pt x="537" y="2084"/>
                    </a:cubicBezTo>
                    <a:lnTo>
                      <a:pt x="2537" y="2084"/>
                    </a:lnTo>
                    <a:cubicBezTo>
                      <a:pt x="2834" y="2084"/>
                      <a:pt x="3073" y="1846"/>
                      <a:pt x="3073" y="1548"/>
                    </a:cubicBezTo>
                    <a:lnTo>
                      <a:pt x="3073" y="0"/>
                    </a:lnTo>
                    <a:close/>
                  </a:path>
                </a:pathLst>
              </a:custGeom>
              <a:solidFill>
                <a:srgbClr val="69E781"/>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37" name="Google Shape;1218;p28">
                <a:extLst>
                  <a:ext uri="{FF2B5EF4-FFF2-40B4-BE49-F238E27FC236}">
                    <a16:creationId xmlns:a16="http://schemas.microsoft.com/office/drawing/2014/main" id="{291AA5F3-454C-92C3-05AB-D881B18DBF21}"/>
                  </a:ext>
                </a:extLst>
              </p:cNvPr>
              <p:cNvSpPr/>
              <p:nvPr/>
            </p:nvSpPr>
            <p:spPr>
              <a:xfrm>
                <a:off x="2770190" y="2084815"/>
                <a:ext cx="101978" cy="15243"/>
              </a:xfrm>
              <a:custGeom>
                <a:avLst/>
                <a:gdLst/>
                <a:ahLst/>
                <a:cxnLst/>
                <a:rect l="l" t="t" r="r" b="b"/>
                <a:pathLst>
                  <a:path w="2870" h="429" extrusionOk="0">
                    <a:moveTo>
                      <a:pt x="12" y="0"/>
                    </a:moveTo>
                    <a:lnTo>
                      <a:pt x="0" y="214"/>
                    </a:lnTo>
                    <a:lnTo>
                      <a:pt x="2846" y="429"/>
                    </a:lnTo>
                    <a:lnTo>
                      <a:pt x="2869" y="214"/>
                    </a:lnTo>
                    <a:lnTo>
                      <a:pt x="12" y="0"/>
                    </a:lnTo>
                    <a:close/>
                  </a:path>
                </a:pathLst>
              </a:custGeom>
              <a:solidFill>
                <a:srgbClr val="69E781"/>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38" name="Google Shape;1219;p28">
                <a:extLst>
                  <a:ext uri="{FF2B5EF4-FFF2-40B4-BE49-F238E27FC236}">
                    <a16:creationId xmlns:a16="http://schemas.microsoft.com/office/drawing/2014/main" id="{BED2FA48-4A04-B793-1096-B3E9DBA8F4F7}"/>
                  </a:ext>
                </a:extLst>
              </p:cNvPr>
              <p:cNvSpPr/>
              <p:nvPr/>
            </p:nvSpPr>
            <p:spPr>
              <a:xfrm>
                <a:off x="2770190" y="2102581"/>
                <a:ext cx="101978" cy="15243"/>
              </a:xfrm>
              <a:custGeom>
                <a:avLst/>
                <a:gdLst/>
                <a:ahLst/>
                <a:cxnLst/>
                <a:rect l="l" t="t" r="r" b="b"/>
                <a:pathLst>
                  <a:path w="2870" h="429" extrusionOk="0">
                    <a:moveTo>
                      <a:pt x="12" y="0"/>
                    </a:moveTo>
                    <a:lnTo>
                      <a:pt x="0" y="214"/>
                    </a:lnTo>
                    <a:lnTo>
                      <a:pt x="2846" y="429"/>
                    </a:lnTo>
                    <a:lnTo>
                      <a:pt x="2869" y="214"/>
                    </a:lnTo>
                    <a:lnTo>
                      <a:pt x="12" y="0"/>
                    </a:lnTo>
                    <a:close/>
                  </a:path>
                </a:pathLst>
              </a:custGeom>
              <a:solidFill>
                <a:srgbClr val="69E781"/>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39" name="Google Shape;1220;p28">
                <a:extLst>
                  <a:ext uri="{FF2B5EF4-FFF2-40B4-BE49-F238E27FC236}">
                    <a16:creationId xmlns:a16="http://schemas.microsoft.com/office/drawing/2014/main" id="{00DEA7E1-73FA-D39D-EBCD-EC047EFFBDE4}"/>
                  </a:ext>
                </a:extLst>
              </p:cNvPr>
              <p:cNvSpPr/>
              <p:nvPr/>
            </p:nvSpPr>
            <p:spPr>
              <a:xfrm>
                <a:off x="2770190" y="2120348"/>
                <a:ext cx="101978" cy="15670"/>
              </a:xfrm>
              <a:custGeom>
                <a:avLst/>
                <a:gdLst/>
                <a:ahLst/>
                <a:cxnLst/>
                <a:rect l="l" t="t" r="r" b="b"/>
                <a:pathLst>
                  <a:path w="2870" h="441" extrusionOk="0">
                    <a:moveTo>
                      <a:pt x="12" y="0"/>
                    </a:moveTo>
                    <a:lnTo>
                      <a:pt x="0" y="215"/>
                    </a:lnTo>
                    <a:lnTo>
                      <a:pt x="2846" y="441"/>
                    </a:lnTo>
                    <a:lnTo>
                      <a:pt x="2869" y="215"/>
                    </a:lnTo>
                    <a:lnTo>
                      <a:pt x="12" y="0"/>
                    </a:lnTo>
                    <a:close/>
                  </a:path>
                </a:pathLst>
              </a:custGeom>
              <a:solidFill>
                <a:srgbClr val="69E781"/>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40" name="Google Shape;1221;p28">
                <a:extLst>
                  <a:ext uri="{FF2B5EF4-FFF2-40B4-BE49-F238E27FC236}">
                    <a16:creationId xmlns:a16="http://schemas.microsoft.com/office/drawing/2014/main" id="{C3A6C29F-9675-53EB-1E55-3FD90501166F}"/>
                  </a:ext>
                </a:extLst>
              </p:cNvPr>
              <p:cNvSpPr/>
              <p:nvPr/>
            </p:nvSpPr>
            <p:spPr>
              <a:xfrm>
                <a:off x="2795987" y="1817003"/>
                <a:ext cx="49106" cy="266565"/>
              </a:xfrm>
              <a:custGeom>
                <a:avLst/>
                <a:gdLst/>
                <a:ahLst/>
                <a:cxnLst/>
                <a:rect l="l" t="t" r="r" b="b"/>
                <a:pathLst>
                  <a:path w="1382" h="7502" extrusionOk="0">
                    <a:moveTo>
                      <a:pt x="691" y="215"/>
                    </a:moveTo>
                    <a:cubicBezTo>
                      <a:pt x="953" y="215"/>
                      <a:pt x="1167" y="429"/>
                      <a:pt x="1167" y="691"/>
                    </a:cubicBezTo>
                    <a:lnTo>
                      <a:pt x="1167" y="7275"/>
                    </a:lnTo>
                    <a:lnTo>
                      <a:pt x="227" y="7275"/>
                    </a:lnTo>
                    <a:lnTo>
                      <a:pt x="227" y="691"/>
                    </a:lnTo>
                    <a:cubicBezTo>
                      <a:pt x="227" y="429"/>
                      <a:pt x="429" y="215"/>
                      <a:pt x="691" y="215"/>
                    </a:cubicBezTo>
                    <a:close/>
                    <a:moveTo>
                      <a:pt x="691" y="0"/>
                    </a:moveTo>
                    <a:cubicBezTo>
                      <a:pt x="310" y="0"/>
                      <a:pt x="0" y="310"/>
                      <a:pt x="0" y="691"/>
                    </a:cubicBezTo>
                    <a:lnTo>
                      <a:pt x="0" y="7501"/>
                    </a:lnTo>
                    <a:lnTo>
                      <a:pt x="1381" y="7501"/>
                    </a:lnTo>
                    <a:lnTo>
                      <a:pt x="1381" y="691"/>
                    </a:lnTo>
                    <a:cubicBezTo>
                      <a:pt x="1381" y="310"/>
                      <a:pt x="1072" y="0"/>
                      <a:pt x="691" y="0"/>
                    </a:cubicBezTo>
                    <a:close/>
                  </a:path>
                </a:pathLst>
              </a:custGeom>
              <a:solidFill>
                <a:srgbClr val="69E781"/>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41" name="Google Shape;1222;p28">
                <a:extLst>
                  <a:ext uri="{FF2B5EF4-FFF2-40B4-BE49-F238E27FC236}">
                    <a16:creationId xmlns:a16="http://schemas.microsoft.com/office/drawing/2014/main" id="{9200000B-E4B9-924F-6E5B-529B0435D03F}"/>
                  </a:ext>
                </a:extLst>
              </p:cNvPr>
              <p:cNvSpPr/>
              <p:nvPr/>
            </p:nvSpPr>
            <p:spPr>
              <a:xfrm>
                <a:off x="2567937" y="1823755"/>
                <a:ext cx="83395" cy="8101"/>
              </a:xfrm>
              <a:custGeom>
                <a:avLst/>
                <a:gdLst/>
                <a:ahLst/>
                <a:cxnLst/>
                <a:rect l="l" t="t" r="r" b="b"/>
                <a:pathLst>
                  <a:path w="2347" h="228" extrusionOk="0">
                    <a:moveTo>
                      <a:pt x="108" y="1"/>
                    </a:moveTo>
                    <a:cubicBezTo>
                      <a:pt x="48" y="1"/>
                      <a:pt x="1" y="49"/>
                      <a:pt x="1" y="120"/>
                    </a:cubicBezTo>
                    <a:cubicBezTo>
                      <a:pt x="1" y="180"/>
                      <a:pt x="48" y="227"/>
                      <a:pt x="108" y="227"/>
                    </a:cubicBezTo>
                    <a:lnTo>
                      <a:pt x="2239" y="227"/>
                    </a:lnTo>
                    <a:cubicBezTo>
                      <a:pt x="2299" y="227"/>
                      <a:pt x="2346" y="180"/>
                      <a:pt x="2346" y="120"/>
                    </a:cubicBezTo>
                    <a:cubicBezTo>
                      <a:pt x="2346" y="49"/>
                      <a:pt x="2299" y="1"/>
                      <a:pt x="2239" y="1"/>
                    </a:cubicBezTo>
                    <a:close/>
                  </a:path>
                </a:pathLst>
              </a:custGeom>
              <a:solidFill>
                <a:srgbClr val="69E781"/>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42" name="Google Shape;1223;p28">
                <a:extLst>
                  <a:ext uri="{FF2B5EF4-FFF2-40B4-BE49-F238E27FC236}">
                    <a16:creationId xmlns:a16="http://schemas.microsoft.com/office/drawing/2014/main" id="{7D7197D7-C5E4-2088-EAD5-E1C4F0FBFDC2}"/>
                  </a:ext>
                </a:extLst>
              </p:cNvPr>
              <p:cNvSpPr/>
              <p:nvPr/>
            </p:nvSpPr>
            <p:spPr>
              <a:xfrm>
                <a:off x="2990174" y="1823755"/>
                <a:ext cx="83359" cy="8101"/>
              </a:xfrm>
              <a:custGeom>
                <a:avLst/>
                <a:gdLst/>
                <a:ahLst/>
                <a:cxnLst/>
                <a:rect l="l" t="t" r="r" b="b"/>
                <a:pathLst>
                  <a:path w="2346" h="228" extrusionOk="0">
                    <a:moveTo>
                      <a:pt x="107" y="1"/>
                    </a:moveTo>
                    <a:cubicBezTo>
                      <a:pt x="48" y="1"/>
                      <a:pt x="0" y="49"/>
                      <a:pt x="0" y="120"/>
                    </a:cubicBezTo>
                    <a:cubicBezTo>
                      <a:pt x="0" y="180"/>
                      <a:pt x="48" y="227"/>
                      <a:pt x="107" y="227"/>
                    </a:cubicBezTo>
                    <a:lnTo>
                      <a:pt x="2239" y="227"/>
                    </a:lnTo>
                    <a:cubicBezTo>
                      <a:pt x="2298" y="227"/>
                      <a:pt x="2346" y="180"/>
                      <a:pt x="2346" y="120"/>
                    </a:cubicBezTo>
                    <a:cubicBezTo>
                      <a:pt x="2346" y="49"/>
                      <a:pt x="2298" y="1"/>
                      <a:pt x="2239" y="1"/>
                    </a:cubicBezTo>
                    <a:close/>
                  </a:path>
                </a:pathLst>
              </a:custGeom>
              <a:solidFill>
                <a:srgbClr val="69E781"/>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43" name="Google Shape;1224;p28">
                <a:extLst>
                  <a:ext uri="{FF2B5EF4-FFF2-40B4-BE49-F238E27FC236}">
                    <a16:creationId xmlns:a16="http://schemas.microsoft.com/office/drawing/2014/main" id="{7E71D27C-512E-13AB-2139-9826548B5FC6}"/>
                  </a:ext>
                </a:extLst>
              </p:cNvPr>
              <p:cNvSpPr/>
              <p:nvPr/>
            </p:nvSpPr>
            <p:spPr>
              <a:xfrm>
                <a:off x="2640282" y="1946450"/>
                <a:ext cx="62253" cy="61400"/>
              </a:xfrm>
              <a:custGeom>
                <a:avLst/>
                <a:gdLst/>
                <a:ahLst/>
                <a:cxnLst/>
                <a:rect l="l" t="t" r="r" b="b"/>
                <a:pathLst>
                  <a:path w="1752" h="1728" extrusionOk="0">
                    <a:moveTo>
                      <a:pt x="1630" y="1"/>
                    </a:moveTo>
                    <a:cubicBezTo>
                      <a:pt x="1602" y="1"/>
                      <a:pt x="1572" y="13"/>
                      <a:pt x="1549" y="36"/>
                    </a:cubicBezTo>
                    <a:lnTo>
                      <a:pt x="48" y="1537"/>
                    </a:lnTo>
                    <a:cubicBezTo>
                      <a:pt x="1" y="1584"/>
                      <a:pt x="1" y="1656"/>
                      <a:pt x="48" y="1691"/>
                    </a:cubicBezTo>
                    <a:cubicBezTo>
                      <a:pt x="60" y="1715"/>
                      <a:pt x="96" y="1727"/>
                      <a:pt x="120" y="1727"/>
                    </a:cubicBezTo>
                    <a:cubicBezTo>
                      <a:pt x="156" y="1727"/>
                      <a:pt x="179" y="1715"/>
                      <a:pt x="203" y="1691"/>
                    </a:cubicBezTo>
                    <a:lnTo>
                      <a:pt x="1703" y="191"/>
                    </a:lnTo>
                    <a:cubicBezTo>
                      <a:pt x="1751" y="144"/>
                      <a:pt x="1751" y="72"/>
                      <a:pt x="1703" y="36"/>
                    </a:cubicBezTo>
                    <a:cubicBezTo>
                      <a:pt x="1686" y="13"/>
                      <a:pt x="1659" y="1"/>
                      <a:pt x="1630" y="1"/>
                    </a:cubicBezTo>
                    <a:close/>
                  </a:path>
                </a:pathLst>
              </a:custGeom>
              <a:solidFill>
                <a:srgbClr val="69E781"/>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44" name="Google Shape;1225;p28">
                <a:extLst>
                  <a:ext uri="{FF2B5EF4-FFF2-40B4-BE49-F238E27FC236}">
                    <a16:creationId xmlns:a16="http://schemas.microsoft.com/office/drawing/2014/main" id="{CCACFCA8-750E-1EE2-7EED-98DFF3B5A44A}"/>
                  </a:ext>
                </a:extLst>
              </p:cNvPr>
              <p:cNvSpPr/>
              <p:nvPr/>
            </p:nvSpPr>
            <p:spPr>
              <a:xfrm>
                <a:off x="2938971" y="1647760"/>
                <a:ext cx="62217" cy="61400"/>
              </a:xfrm>
              <a:custGeom>
                <a:avLst/>
                <a:gdLst/>
                <a:ahLst/>
                <a:cxnLst/>
                <a:rect l="l" t="t" r="r" b="b"/>
                <a:pathLst>
                  <a:path w="1751" h="1728" extrusionOk="0">
                    <a:moveTo>
                      <a:pt x="1626" y="1"/>
                    </a:moveTo>
                    <a:cubicBezTo>
                      <a:pt x="1599" y="1"/>
                      <a:pt x="1572" y="13"/>
                      <a:pt x="1548" y="37"/>
                    </a:cubicBezTo>
                    <a:lnTo>
                      <a:pt x="48" y="1537"/>
                    </a:lnTo>
                    <a:cubicBezTo>
                      <a:pt x="1" y="1584"/>
                      <a:pt x="1" y="1656"/>
                      <a:pt x="48" y="1692"/>
                    </a:cubicBezTo>
                    <a:cubicBezTo>
                      <a:pt x="60" y="1715"/>
                      <a:pt x="96" y="1727"/>
                      <a:pt x="120" y="1727"/>
                    </a:cubicBezTo>
                    <a:cubicBezTo>
                      <a:pt x="144" y="1727"/>
                      <a:pt x="179" y="1715"/>
                      <a:pt x="191" y="1692"/>
                    </a:cubicBezTo>
                    <a:lnTo>
                      <a:pt x="1703" y="191"/>
                    </a:lnTo>
                    <a:cubicBezTo>
                      <a:pt x="1751" y="144"/>
                      <a:pt x="1751" y="72"/>
                      <a:pt x="1703" y="37"/>
                    </a:cubicBezTo>
                    <a:cubicBezTo>
                      <a:pt x="1679" y="13"/>
                      <a:pt x="1653" y="1"/>
                      <a:pt x="1626" y="1"/>
                    </a:cubicBezTo>
                    <a:close/>
                  </a:path>
                </a:pathLst>
              </a:custGeom>
              <a:solidFill>
                <a:srgbClr val="69E781"/>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45" name="Google Shape;1226;p28">
                <a:extLst>
                  <a:ext uri="{FF2B5EF4-FFF2-40B4-BE49-F238E27FC236}">
                    <a16:creationId xmlns:a16="http://schemas.microsoft.com/office/drawing/2014/main" id="{627D19A3-483B-7204-2CC8-08740FAB504A}"/>
                  </a:ext>
                </a:extLst>
              </p:cNvPr>
              <p:cNvSpPr/>
              <p:nvPr/>
            </p:nvSpPr>
            <p:spPr>
              <a:xfrm>
                <a:off x="2816703" y="1575025"/>
                <a:ext cx="8066" cy="83359"/>
              </a:xfrm>
              <a:custGeom>
                <a:avLst/>
                <a:gdLst/>
                <a:ahLst/>
                <a:cxnLst/>
                <a:rect l="l" t="t" r="r" b="b"/>
                <a:pathLst>
                  <a:path w="227" h="2346" extrusionOk="0">
                    <a:moveTo>
                      <a:pt x="108" y="0"/>
                    </a:moveTo>
                    <a:cubicBezTo>
                      <a:pt x="48" y="0"/>
                      <a:pt x="1" y="48"/>
                      <a:pt x="1" y="107"/>
                    </a:cubicBezTo>
                    <a:lnTo>
                      <a:pt x="1" y="2238"/>
                    </a:lnTo>
                    <a:cubicBezTo>
                      <a:pt x="1" y="2298"/>
                      <a:pt x="48" y="2346"/>
                      <a:pt x="108" y="2346"/>
                    </a:cubicBezTo>
                    <a:cubicBezTo>
                      <a:pt x="167" y="2346"/>
                      <a:pt x="227" y="2298"/>
                      <a:pt x="227" y="2238"/>
                    </a:cubicBezTo>
                    <a:lnTo>
                      <a:pt x="227" y="107"/>
                    </a:lnTo>
                    <a:cubicBezTo>
                      <a:pt x="227" y="48"/>
                      <a:pt x="167" y="0"/>
                      <a:pt x="108" y="0"/>
                    </a:cubicBezTo>
                    <a:close/>
                  </a:path>
                </a:pathLst>
              </a:custGeom>
              <a:solidFill>
                <a:srgbClr val="69E781"/>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46" name="Google Shape;1227;p28">
                <a:extLst>
                  <a:ext uri="{FF2B5EF4-FFF2-40B4-BE49-F238E27FC236}">
                    <a16:creationId xmlns:a16="http://schemas.microsoft.com/office/drawing/2014/main" id="{C8E199C7-CC9F-96A4-F32B-3E93AFB4DC78}"/>
                  </a:ext>
                </a:extLst>
              </p:cNvPr>
              <p:cNvSpPr/>
              <p:nvPr/>
            </p:nvSpPr>
            <p:spPr>
              <a:xfrm>
                <a:off x="2938971" y="1946450"/>
                <a:ext cx="62217" cy="61400"/>
              </a:xfrm>
              <a:custGeom>
                <a:avLst/>
                <a:gdLst/>
                <a:ahLst/>
                <a:cxnLst/>
                <a:rect l="l" t="t" r="r" b="b"/>
                <a:pathLst>
                  <a:path w="1751" h="1728" extrusionOk="0">
                    <a:moveTo>
                      <a:pt x="120" y="1"/>
                    </a:moveTo>
                    <a:cubicBezTo>
                      <a:pt x="93" y="1"/>
                      <a:pt x="66" y="13"/>
                      <a:pt x="48" y="36"/>
                    </a:cubicBezTo>
                    <a:cubicBezTo>
                      <a:pt x="1" y="72"/>
                      <a:pt x="1" y="144"/>
                      <a:pt x="48" y="191"/>
                    </a:cubicBezTo>
                    <a:lnTo>
                      <a:pt x="1548" y="1691"/>
                    </a:lnTo>
                    <a:cubicBezTo>
                      <a:pt x="1572" y="1715"/>
                      <a:pt x="1596" y="1727"/>
                      <a:pt x="1632" y="1727"/>
                    </a:cubicBezTo>
                    <a:cubicBezTo>
                      <a:pt x="1656" y="1727"/>
                      <a:pt x="1679" y="1715"/>
                      <a:pt x="1703" y="1691"/>
                    </a:cubicBezTo>
                    <a:cubicBezTo>
                      <a:pt x="1751" y="1656"/>
                      <a:pt x="1751" y="1584"/>
                      <a:pt x="1703" y="1537"/>
                    </a:cubicBezTo>
                    <a:lnTo>
                      <a:pt x="191" y="36"/>
                    </a:lnTo>
                    <a:cubicBezTo>
                      <a:pt x="173" y="13"/>
                      <a:pt x="146" y="1"/>
                      <a:pt x="120" y="1"/>
                    </a:cubicBezTo>
                    <a:close/>
                  </a:path>
                </a:pathLst>
              </a:custGeom>
              <a:solidFill>
                <a:srgbClr val="69E781"/>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47" name="Google Shape;1228;p28">
                <a:extLst>
                  <a:ext uri="{FF2B5EF4-FFF2-40B4-BE49-F238E27FC236}">
                    <a16:creationId xmlns:a16="http://schemas.microsoft.com/office/drawing/2014/main" id="{88440CCA-21CA-49C3-EFFD-ECE450B2E7B7}"/>
                  </a:ext>
                </a:extLst>
              </p:cNvPr>
              <p:cNvSpPr/>
              <p:nvPr/>
            </p:nvSpPr>
            <p:spPr>
              <a:xfrm>
                <a:off x="2640282" y="1647760"/>
                <a:ext cx="62253" cy="61400"/>
              </a:xfrm>
              <a:custGeom>
                <a:avLst/>
                <a:gdLst/>
                <a:ahLst/>
                <a:cxnLst/>
                <a:rect l="l" t="t" r="r" b="b"/>
                <a:pathLst>
                  <a:path w="1752" h="1728" extrusionOk="0">
                    <a:moveTo>
                      <a:pt x="121" y="1"/>
                    </a:moveTo>
                    <a:cubicBezTo>
                      <a:pt x="93" y="1"/>
                      <a:pt x="66" y="13"/>
                      <a:pt x="48" y="37"/>
                    </a:cubicBezTo>
                    <a:cubicBezTo>
                      <a:pt x="1" y="72"/>
                      <a:pt x="1" y="144"/>
                      <a:pt x="48" y="191"/>
                    </a:cubicBezTo>
                    <a:lnTo>
                      <a:pt x="1549" y="1692"/>
                    </a:lnTo>
                    <a:cubicBezTo>
                      <a:pt x="1572" y="1715"/>
                      <a:pt x="1596" y="1727"/>
                      <a:pt x="1632" y="1727"/>
                    </a:cubicBezTo>
                    <a:cubicBezTo>
                      <a:pt x="1656" y="1727"/>
                      <a:pt x="1680" y="1715"/>
                      <a:pt x="1703" y="1692"/>
                    </a:cubicBezTo>
                    <a:cubicBezTo>
                      <a:pt x="1751" y="1656"/>
                      <a:pt x="1751" y="1584"/>
                      <a:pt x="1703" y="1537"/>
                    </a:cubicBezTo>
                    <a:lnTo>
                      <a:pt x="203" y="37"/>
                    </a:lnTo>
                    <a:cubicBezTo>
                      <a:pt x="179" y="13"/>
                      <a:pt x="150" y="1"/>
                      <a:pt x="121" y="1"/>
                    </a:cubicBezTo>
                    <a:close/>
                  </a:path>
                </a:pathLst>
              </a:custGeom>
              <a:solidFill>
                <a:srgbClr val="69E781"/>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48" name="Google Shape;1229;p28">
                <a:extLst>
                  <a:ext uri="{FF2B5EF4-FFF2-40B4-BE49-F238E27FC236}">
                    <a16:creationId xmlns:a16="http://schemas.microsoft.com/office/drawing/2014/main" id="{21C9B174-FE83-DFD6-0D00-6A4E1AD103AD}"/>
                  </a:ext>
                </a:extLst>
              </p:cNvPr>
              <p:cNvSpPr/>
              <p:nvPr/>
            </p:nvSpPr>
            <p:spPr>
              <a:xfrm>
                <a:off x="2853515" y="1726217"/>
                <a:ext cx="84638" cy="109440"/>
              </a:xfrm>
              <a:custGeom>
                <a:avLst/>
                <a:gdLst/>
                <a:ahLst/>
                <a:cxnLst/>
                <a:rect l="l" t="t" r="r" b="b"/>
                <a:pathLst>
                  <a:path w="2382" h="3080" extrusionOk="0">
                    <a:moveTo>
                      <a:pt x="118" y="0"/>
                    </a:moveTo>
                    <a:cubicBezTo>
                      <a:pt x="72" y="0"/>
                      <a:pt x="31" y="32"/>
                      <a:pt x="12" y="79"/>
                    </a:cubicBezTo>
                    <a:cubicBezTo>
                      <a:pt x="1" y="138"/>
                      <a:pt x="36" y="198"/>
                      <a:pt x="96" y="210"/>
                    </a:cubicBezTo>
                    <a:cubicBezTo>
                      <a:pt x="108" y="222"/>
                      <a:pt x="1894" y="734"/>
                      <a:pt x="2156" y="2984"/>
                    </a:cubicBezTo>
                    <a:cubicBezTo>
                      <a:pt x="2156" y="3032"/>
                      <a:pt x="2203" y="3079"/>
                      <a:pt x="2263" y="3079"/>
                    </a:cubicBezTo>
                    <a:lnTo>
                      <a:pt x="2275" y="3079"/>
                    </a:lnTo>
                    <a:cubicBezTo>
                      <a:pt x="2334" y="3067"/>
                      <a:pt x="2382" y="3020"/>
                      <a:pt x="2370" y="2960"/>
                    </a:cubicBezTo>
                    <a:cubicBezTo>
                      <a:pt x="2096" y="567"/>
                      <a:pt x="167" y="8"/>
                      <a:pt x="155" y="8"/>
                    </a:cubicBezTo>
                    <a:cubicBezTo>
                      <a:pt x="143" y="2"/>
                      <a:pt x="130" y="0"/>
                      <a:pt x="118" y="0"/>
                    </a:cubicBezTo>
                    <a:close/>
                  </a:path>
                </a:pathLst>
              </a:custGeom>
              <a:solidFill>
                <a:srgbClr val="69E781"/>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grpSp>
        <p:sp>
          <p:nvSpPr>
            <p:cNvPr id="132" name="Google Shape;1230;p28">
              <a:extLst>
                <a:ext uri="{FF2B5EF4-FFF2-40B4-BE49-F238E27FC236}">
                  <a16:creationId xmlns:a16="http://schemas.microsoft.com/office/drawing/2014/main" id="{4AB608ED-C160-6606-695C-CA0D0225554A}"/>
                </a:ext>
              </a:extLst>
            </p:cNvPr>
            <p:cNvSpPr/>
            <p:nvPr/>
          </p:nvSpPr>
          <p:spPr>
            <a:xfrm>
              <a:off x="2174908" y="2732081"/>
              <a:ext cx="1291642" cy="440034"/>
            </a:xfrm>
            <a:custGeom>
              <a:avLst/>
              <a:gdLst/>
              <a:ahLst/>
              <a:cxnLst/>
              <a:rect l="l" t="t" r="r" b="b"/>
              <a:pathLst>
                <a:path w="36351" h="12384" extrusionOk="0">
                  <a:moveTo>
                    <a:pt x="1" y="1"/>
                  </a:moveTo>
                  <a:lnTo>
                    <a:pt x="1" y="1358"/>
                  </a:lnTo>
                  <a:cubicBezTo>
                    <a:pt x="2430" y="1644"/>
                    <a:pt x="4311" y="3692"/>
                    <a:pt x="4311" y="6192"/>
                  </a:cubicBezTo>
                  <a:cubicBezTo>
                    <a:pt x="4311" y="8692"/>
                    <a:pt x="2430" y="10752"/>
                    <a:pt x="1" y="11038"/>
                  </a:cubicBezTo>
                  <a:lnTo>
                    <a:pt x="1" y="12383"/>
                  </a:lnTo>
                  <a:lnTo>
                    <a:pt x="32041" y="12383"/>
                  </a:lnTo>
                  <a:lnTo>
                    <a:pt x="32041" y="10502"/>
                  </a:lnTo>
                  <a:cubicBezTo>
                    <a:pt x="34422" y="10502"/>
                    <a:pt x="36351" y="8573"/>
                    <a:pt x="36351" y="6192"/>
                  </a:cubicBezTo>
                  <a:cubicBezTo>
                    <a:pt x="36351" y="3823"/>
                    <a:pt x="34422" y="1894"/>
                    <a:pt x="32041" y="1894"/>
                  </a:cubicBezTo>
                  <a:lnTo>
                    <a:pt x="32041" y="1"/>
                  </a:lnTo>
                  <a:close/>
                </a:path>
              </a:pathLst>
            </a:custGeom>
            <a:solidFill>
              <a:schemeClr val="accent1"/>
            </a:solidFill>
            <a:ln>
              <a:noFill/>
            </a:ln>
          </p:spPr>
          <p:txBody>
            <a:bodyPr spcFirstLastPara="1" wrap="square" lIns="91425" tIns="91425" rIns="91425" bIns="91425" anchor="ctr" anchorCtr="0">
              <a:noAutofit/>
            </a:bodyPr>
            <a:lstStyle/>
            <a:p>
              <a:pPr algn="ctr">
                <a:buClr>
                  <a:srgbClr val="000000"/>
                </a:buClr>
                <a:buFont typeface="Arial"/>
                <a:buNone/>
              </a:pPr>
              <a:r>
                <a:rPr lang="en" sz="1400" kern="0">
                  <a:solidFill>
                    <a:srgbClr val="FFFFFF"/>
                  </a:solidFill>
                  <a:latin typeface="Oswald" panose="00000500000000000000" pitchFamily="2" charset="0"/>
                  <a:ea typeface="Fira Sans Extra Condensed Medium"/>
                  <a:cs typeface="Fira Sans Extra Condensed Medium"/>
                  <a:sym typeface="Fira Sans Extra Condensed Medium"/>
                </a:rPr>
                <a:t>Phase 2</a:t>
              </a:r>
              <a:endParaRPr sz="1400" kern="0">
                <a:solidFill>
                  <a:srgbClr val="FFFFFF"/>
                </a:solidFill>
                <a:latin typeface="Oswald" panose="00000500000000000000" pitchFamily="2" charset="0"/>
                <a:ea typeface="Fira Sans Extra Condensed Medium"/>
                <a:cs typeface="Fira Sans Extra Condensed Medium"/>
                <a:sym typeface="Fira Sans Extra Condensed Medium"/>
              </a:endParaRPr>
            </a:p>
          </p:txBody>
        </p:sp>
        <p:sp>
          <p:nvSpPr>
            <p:cNvPr id="133" name="Google Shape;1231;p28">
              <a:extLst>
                <a:ext uri="{FF2B5EF4-FFF2-40B4-BE49-F238E27FC236}">
                  <a16:creationId xmlns:a16="http://schemas.microsoft.com/office/drawing/2014/main" id="{AD13FD47-7823-BC40-DE88-960FC0E94AAA}"/>
                </a:ext>
              </a:extLst>
            </p:cNvPr>
            <p:cNvSpPr/>
            <p:nvPr/>
          </p:nvSpPr>
          <p:spPr>
            <a:xfrm>
              <a:off x="2785398" y="2235403"/>
              <a:ext cx="63070" cy="63070"/>
            </a:xfrm>
            <a:custGeom>
              <a:avLst/>
              <a:gdLst/>
              <a:ahLst/>
              <a:cxnLst/>
              <a:rect l="l" t="t" r="r" b="b"/>
              <a:pathLst>
                <a:path w="1775" h="1775" extrusionOk="0">
                  <a:moveTo>
                    <a:pt x="882" y="1"/>
                  </a:moveTo>
                  <a:cubicBezTo>
                    <a:pt x="394" y="1"/>
                    <a:pt x="1" y="394"/>
                    <a:pt x="1" y="882"/>
                  </a:cubicBezTo>
                  <a:cubicBezTo>
                    <a:pt x="1" y="1382"/>
                    <a:pt x="394" y="1775"/>
                    <a:pt x="882" y="1775"/>
                  </a:cubicBezTo>
                  <a:cubicBezTo>
                    <a:pt x="1370" y="1775"/>
                    <a:pt x="1775" y="1382"/>
                    <a:pt x="1775" y="882"/>
                  </a:cubicBezTo>
                  <a:cubicBezTo>
                    <a:pt x="1775" y="394"/>
                    <a:pt x="1370" y="1"/>
                    <a:pt x="882"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34" name="Google Shape;1232;p28">
              <a:extLst>
                <a:ext uri="{FF2B5EF4-FFF2-40B4-BE49-F238E27FC236}">
                  <a16:creationId xmlns:a16="http://schemas.microsoft.com/office/drawing/2014/main" id="{5BD2F1ED-D2A5-47E5-5938-0F18D7DB09E3}"/>
                </a:ext>
              </a:extLst>
            </p:cNvPr>
            <p:cNvSpPr txBox="1"/>
            <p:nvPr/>
          </p:nvSpPr>
          <p:spPr>
            <a:xfrm>
              <a:off x="2279253" y="1072023"/>
              <a:ext cx="1167300" cy="534900"/>
            </a:xfrm>
            <a:prstGeom prst="rect">
              <a:avLst/>
            </a:prstGeom>
            <a:noFill/>
            <a:ln>
              <a:noFill/>
            </a:ln>
          </p:spPr>
          <p:txBody>
            <a:bodyPr spcFirstLastPara="1" wrap="square" lIns="91425" tIns="91425" rIns="91425" bIns="91425" anchor="ctr" anchorCtr="0">
              <a:noAutofit/>
            </a:bodyPr>
            <a:lstStyle/>
            <a:p>
              <a:pPr algn="ctr">
                <a:buClr>
                  <a:srgbClr val="000000"/>
                </a:buClr>
                <a:buFont typeface="Arial"/>
                <a:buNone/>
              </a:pPr>
              <a:r>
                <a:rPr lang="en" sz="1500" kern="0">
                  <a:solidFill>
                    <a:srgbClr val="434343"/>
                  </a:solidFill>
                  <a:latin typeface="Oswald" panose="00000500000000000000" pitchFamily="2" charset="0"/>
                  <a:ea typeface="Roboto"/>
                  <a:cs typeface="Roboto"/>
                  <a:sym typeface="Roboto"/>
                </a:rPr>
                <a:t>Interview Schudiling</a:t>
              </a:r>
              <a:endParaRPr sz="1500" kern="0">
                <a:solidFill>
                  <a:srgbClr val="434343"/>
                </a:solidFill>
                <a:latin typeface="Oswald" panose="00000500000000000000" pitchFamily="2" charset="0"/>
                <a:ea typeface="Roboto"/>
                <a:cs typeface="Roboto"/>
                <a:sym typeface="Roboto"/>
              </a:endParaRPr>
            </a:p>
          </p:txBody>
        </p:sp>
      </p:grpSp>
      <p:grpSp>
        <p:nvGrpSpPr>
          <p:cNvPr id="149" name="Google Shape;1233;p28">
            <a:extLst>
              <a:ext uri="{FF2B5EF4-FFF2-40B4-BE49-F238E27FC236}">
                <a16:creationId xmlns:a16="http://schemas.microsoft.com/office/drawing/2014/main" id="{55E5F40E-773D-4BD2-0836-63033FADC633}"/>
              </a:ext>
            </a:extLst>
          </p:cNvPr>
          <p:cNvGrpSpPr/>
          <p:nvPr/>
        </p:nvGrpSpPr>
        <p:grpSpPr>
          <a:xfrm>
            <a:off x="2971499" y="1201366"/>
            <a:ext cx="1291216" cy="2050795"/>
            <a:chOff x="3342590" y="1121320"/>
            <a:chExt cx="1291216" cy="2050795"/>
          </a:xfrm>
        </p:grpSpPr>
        <p:sp>
          <p:nvSpPr>
            <p:cNvPr id="150" name="Google Shape;1234;p28">
              <a:extLst>
                <a:ext uri="{FF2B5EF4-FFF2-40B4-BE49-F238E27FC236}">
                  <a16:creationId xmlns:a16="http://schemas.microsoft.com/office/drawing/2014/main" id="{8F1AC92B-2F4B-82C4-CA4E-8B92DD6474BD}"/>
                </a:ext>
              </a:extLst>
            </p:cNvPr>
            <p:cNvSpPr/>
            <p:nvPr/>
          </p:nvSpPr>
          <p:spPr>
            <a:xfrm>
              <a:off x="3978451" y="2261200"/>
              <a:ext cx="11441" cy="704858"/>
            </a:xfrm>
            <a:custGeom>
              <a:avLst/>
              <a:gdLst/>
              <a:ahLst/>
              <a:cxnLst/>
              <a:rect l="l" t="t" r="r" b="b"/>
              <a:pathLst>
                <a:path w="322" h="19837" extrusionOk="0">
                  <a:moveTo>
                    <a:pt x="167" y="1"/>
                  </a:moveTo>
                  <a:cubicBezTo>
                    <a:pt x="72" y="1"/>
                    <a:pt x="0" y="72"/>
                    <a:pt x="0" y="156"/>
                  </a:cubicBezTo>
                  <a:lnTo>
                    <a:pt x="0" y="19682"/>
                  </a:lnTo>
                  <a:cubicBezTo>
                    <a:pt x="0" y="19765"/>
                    <a:pt x="72" y="19837"/>
                    <a:pt x="167" y="19837"/>
                  </a:cubicBezTo>
                  <a:cubicBezTo>
                    <a:pt x="250" y="19837"/>
                    <a:pt x="322" y="19765"/>
                    <a:pt x="322" y="19682"/>
                  </a:cubicBezTo>
                  <a:lnTo>
                    <a:pt x="322" y="156"/>
                  </a:lnTo>
                  <a:cubicBezTo>
                    <a:pt x="322" y="72"/>
                    <a:pt x="250" y="1"/>
                    <a:pt x="167"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grpSp>
          <p:nvGrpSpPr>
            <p:cNvPr id="151" name="Google Shape;1235;p28">
              <a:extLst>
                <a:ext uri="{FF2B5EF4-FFF2-40B4-BE49-F238E27FC236}">
                  <a16:creationId xmlns:a16="http://schemas.microsoft.com/office/drawing/2014/main" id="{50B345B6-E339-579D-C4FB-F7AF9129A03A}"/>
                </a:ext>
              </a:extLst>
            </p:cNvPr>
            <p:cNvGrpSpPr/>
            <p:nvPr/>
          </p:nvGrpSpPr>
          <p:grpSpPr>
            <a:xfrm>
              <a:off x="3826157" y="1650745"/>
              <a:ext cx="324092" cy="498805"/>
              <a:chOff x="3826157" y="1650745"/>
              <a:chExt cx="324092" cy="498805"/>
            </a:xfrm>
          </p:grpSpPr>
          <p:sp>
            <p:nvSpPr>
              <p:cNvPr id="155" name="Google Shape;1236;p28">
                <a:extLst>
                  <a:ext uri="{FF2B5EF4-FFF2-40B4-BE49-F238E27FC236}">
                    <a16:creationId xmlns:a16="http://schemas.microsoft.com/office/drawing/2014/main" id="{94E76AF2-1C26-5E85-CBCF-A75BCE3938D9}"/>
                  </a:ext>
                </a:extLst>
              </p:cNvPr>
              <p:cNvSpPr/>
              <p:nvPr/>
            </p:nvSpPr>
            <p:spPr>
              <a:xfrm>
                <a:off x="3850248" y="1674446"/>
                <a:ext cx="275874" cy="275839"/>
              </a:xfrm>
              <a:custGeom>
                <a:avLst/>
                <a:gdLst/>
                <a:ahLst/>
                <a:cxnLst/>
                <a:rect l="l" t="t" r="r" b="b"/>
                <a:pathLst>
                  <a:path w="7764" h="7763" extrusionOk="0">
                    <a:moveTo>
                      <a:pt x="3882" y="226"/>
                    </a:moveTo>
                    <a:cubicBezTo>
                      <a:pt x="5906" y="226"/>
                      <a:pt x="7549" y="1869"/>
                      <a:pt x="7549" y="3881"/>
                    </a:cubicBezTo>
                    <a:cubicBezTo>
                      <a:pt x="7549" y="5906"/>
                      <a:pt x="5906" y="7549"/>
                      <a:pt x="3882" y="7549"/>
                    </a:cubicBezTo>
                    <a:cubicBezTo>
                      <a:pt x="1858" y="7549"/>
                      <a:pt x="215" y="5906"/>
                      <a:pt x="215" y="3881"/>
                    </a:cubicBezTo>
                    <a:cubicBezTo>
                      <a:pt x="215" y="1869"/>
                      <a:pt x="1858" y="226"/>
                      <a:pt x="3882" y="226"/>
                    </a:cubicBezTo>
                    <a:close/>
                    <a:moveTo>
                      <a:pt x="3882" y="0"/>
                    </a:moveTo>
                    <a:cubicBezTo>
                      <a:pt x="1739" y="0"/>
                      <a:pt x="1" y="1750"/>
                      <a:pt x="1" y="3881"/>
                    </a:cubicBezTo>
                    <a:cubicBezTo>
                      <a:pt x="1" y="6025"/>
                      <a:pt x="1739" y="7763"/>
                      <a:pt x="3882" y="7763"/>
                    </a:cubicBezTo>
                    <a:cubicBezTo>
                      <a:pt x="6025" y="7763"/>
                      <a:pt x="7764" y="6025"/>
                      <a:pt x="7764" y="3881"/>
                    </a:cubicBezTo>
                    <a:cubicBezTo>
                      <a:pt x="7764" y="1750"/>
                      <a:pt x="6025" y="0"/>
                      <a:pt x="3882" y="0"/>
                    </a:cubicBezTo>
                    <a:close/>
                  </a:path>
                </a:pathLst>
              </a:custGeom>
              <a:solidFill>
                <a:srgbClr val="869FB2"/>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56" name="Google Shape;1237;p28">
                <a:extLst>
                  <a:ext uri="{FF2B5EF4-FFF2-40B4-BE49-F238E27FC236}">
                    <a16:creationId xmlns:a16="http://schemas.microsoft.com/office/drawing/2014/main" id="{D39CE082-70D2-ADAC-E2EA-6AB2F728304B}"/>
                  </a:ext>
                </a:extLst>
              </p:cNvPr>
              <p:cNvSpPr/>
              <p:nvPr/>
            </p:nvSpPr>
            <p:spPr>
              <a:xfrm>
                <a:off x="3826157" y="1650745"/>
                <a:ext cx="324092" cy="498805"/>
              </a:xfrm>
              <a:custGeom>
                <a:avLst/>
                <a:gdLst/>
                <a:ahLst/>
                <a:cxnLst/>
                <a:rect l="l" t="t" r="r" b="b"/>
                <a:pathLst>
                  <a:path w="9121" h="14038" extrusionOk="0">
                    <a:moveTo>
                      <a:pt x="4560" y="215"/>
                    </a:moveTo>
                    <a:cubicBezTo>
                      <a:pt x="6953" y="215"/>
                      <a:pt x="8894" y="2167"/>
                      <a:pt x="8894" y="4548"/>
                    </a:cubicBezTo>
                    <a:cubicBezTo>
                      <a:pt x="8894" y="6573"/>
                      <a:pt x="7501" y="8275"/>
                      <a:pt x="5620" y="8751"/>
                    </a:cubicBezTo>
                    <a:cubicBezTo>
                      <a:pt x="5548" y="8775"/>
                      <a:pt x="5477" y="8787"/>
                      <a:pt x="5405" y="8811"/>
                    </a:cubicBezTo>
                    <a:cubicBezTo>
                      <a:pt x="5132" y="8859"/>
                      <a:pt x="4846" y="8894"/>
                      <a:pt x="4560" y="8894"/>
                    </a:cubicBezTo>
                    <a:cubicBezTo>
                      <a:pt x="4274" y="8894"/>
                      <a:pt x="3989" y="8859"/>
                      <a:pt x="3715" y="8811"/>
                    </a:cubicBezTo>
                    <a:cubicBezTo>
                      <a:pt x="3643" y="8787"/>
                      <a:pt x="3572" y="8775"/>
                      <a:pt x="3489" y="8751"/>
                    </a:cubicBezTo>
                    <a:cubicBezTo>
                      <a:pt x="1619" y="8275"/>
                      <a:pt x="226" y="6573"/>
                      <a:pt x="226" y="4548"/>
                    </a:cubicBezTo>
                    <a:cubicBezTo>
                      <a:pt x="226" y="2167"/>
                      <a:pt x="2167" y="215"/>
                      <a:pt x="4560" y="215"/>
                    </a:cubicBezTo>
                    <a:close/>
                    <a:moveTo>
                      <a:pt x="5405" y="9025"/>
                    </a:moveTo>
                    <a:lnTo>
                      <a:pt x="5405" y="12978"/>
                    </a:lnTo>
                    <a:cubicBezTo>
                      <a:pt x="5405" y="13442"/>
                      <a:pt x="5024" y="13823"/>
                      <a:pt x="4560" y="13823"/>
                    </a:cubicBezTo>
                    <a:cubicBezTo>
                      <a:pt x="4096" y="13823"/>
                      <a:pt x="3715" y="13442"/>
                      <a:pt x="3715" y="12978"/>
                    </a:cubicBezTo>
                    <a:lnTo>
                      <a:pt x="3715" y="9025"/>
                    </a:lnTo>
                    <a:cubicBezTo>
                      <a:pt x="3989" y="9073"/>
                      <a:pt x="4274" y="9109"/>
                      <a:pt x="4560" y="9109"/>
                    </a:cubicBezTo>
                    <a:cubicBezTo>
                      <a:pt x="4846" y="9109"/>
                      <a:pt x="5132" y="9073"/>
                      <a:pt x="5405" y="9025"/>
                    </a:cubicBezTo>
                    <a:close/>
                    <a:moveTo>
                      <a:pt x="4560" y="0"/>
                    </a:moveTo>
                    <a:cubicBezTo>
                      <a:pt x="2048" y="0"/>
                      <a:pt x="0" y="2036"/>
                      <a:pt x="0" y="4548"/>
                    </a:cubicBezTo>
                    <a:cubicBezTo>
                      <a:pt x="0" y="6704"/>
                      <a:pt x="1500" y="8501"/>
                      <a:pt x="3489" y="8978"/>
                    </a:cubicBezTo>
                    <a:lnTo>
                      <a:pt x="3489" y="12978"/>
                    </a:lnTo>
                    <a:cubicBezTo>
                      <a:pt x="3489" y="13561"/>
                      <a:pt x="3977" y="14038"/>
                      <a:pt x="4560" y="14038"/>
                    </a:cubicBezTo>
                    <a:cubicBezTo>
                      <a:pt x="5144" y="14038"/>
                      <a:pt x="5620" y="13561"/>
                      <a:pt x="5620" y="12978"/>
                    </a:cubicBezTo>
                    <a:lnTo>
                      <a:pt x="5620" y="8978"/>
                    </a:lnTo>
                    <a:cubicBezTo>
                      <a:pt x="7620" y="8501"/>
                      <a:pt x="9120" y="6704"/>
                      <a:pt x="9120" y="4548"/>
                    </a:cubicBezTo>
                    <a:cubicBezTo>
                      <a:pt x="9120" y="2036"/>
                      <a:pt x="7072" y="0"/>
                      <a:pt x="4560" y="0"/>
                    </a:cubicBezTo>
                    <a:close/>
                  </a:path>
                </a:pathLst>
              </a:custGeom>
              <a:solidFill>
                <a:srgbClr val="869FB2"/>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57" name="Google Shape;1238;p28">
                <a:extLst>
                  <a:ext uri="{FF2B5EF4-FFF2-40B4-BE49-F238E27FC236}">
                    <a16:creationId xmlns:a16="http://schemas.microsoft.com/office/drawing/2014/main" id="{217ECB6E-337E-2B64-3C8B-4709887FC5E5}"/>
                  </a:ext>
                </a:extLst>
              </p:cNvPr>
              <p:cNvSpPr/>
              <p:nvPr/>
            </p:nvSpPr>
            <p:spPr>
              <a:xfrm>
                <a:off x="4003821" y="1713781"/>
                <a:ext cx="104110" cy="183206"/>
              </a:xfrm>
              <a:custGeom>
                <a:avLst/>
                <a:gdLst/>
                <a:ahLst/>
                <a:cxnLst/>
                <a:rect l="l" t="t" r="r" b="b"/>
                <a:pathLst>
                  <a:path w="2930" h="5156" extrusionOk="0">
                    <a:moveTo>
                      <a:pt x="108" y="0"/>
                    </a:moveTo>
                    <a:cubicBezTo>
                      <a:pt x="48" y="0"/>
                      <a:pt x="1" y="48"/>
                      <a:pt x="1" y="107"/>
                    </a:cubicBezTo>
                    <a:cubicBezTo>
                      <a:pt x="1" y="167"/>
                      <a:pt x="48" y="215"/>
                      <a:pt x="108" y="215"/>
                    </a:cubicBezTo>
                    <a:cubicBezTo>
                      <a:pt x="822" y="215"/>
                      <a:pt x="1989" y="834"/>
                      <a:pt x="2299" y="2001"/>
                    </a:cubicBezTo>
                    <a:cubicBezTo>
                      <a:pt x="2691" y="3501"/>
                      <a:pt x="1977" y="4572"/>
                      <a:pt x="1489" y="4965"/>
                    </a:cubicBezTo>
                    <a:cubicBezTo>
                      <a:pt x="1441" y="5001"/>
                      <a:pt x="1441" y="5072"/>
                      <a:pt x="1477" y="5120"/>
                    </a:cubicBezTo>
                    <a:cubicBezTo>
                      <a:pt x="1501" y="5144"/>
                      <a:pt x="1525" y="5156"/>
                      <a:pt x="1560" y="5156"/>
                    </a:cubicBezTo>
                    <a:cubicBezTo>
                      <a:pt x="1584" y="5156"/>
                      <a:pt x="1608" y="5156"/>
                      <a:pt x="1632" y="5132"/>
                    </a:cubicBezTo>
                    <a:cubicBezTo>
                      <a:pt x="2156" y="4703"/>
                      <a:pt x="2930" y="3548"/>
                      <a:pt x="2501" y="1953"/>
                    </a:cubicBezTo>
                    <a:cubicBezTo>
                      <a:pt x="2168" y="679"/>
                      <a:pt x="894" y="0"/>
                      <a:pt x="108" y="0"/>
                    </a:cubicBezTo>
                    <a:close/>
                  </a:path>
                </a:pathLst>
              </a:custGeom>
              <a:solidFill>
                <a:srgbClr val="869FB2"/>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grpSp>
        <p:sp>
          <p:nvSpPr>
            <p:cNvPr id="152" name="Google Shape;1239;p28">
              <a:extLst>
                <a:ext uri="{FF2B5EF4-FFF2-40B4-BE49-F238E27FC236}">
                  <a16:creationId xmlns:a16="http://schemas.microsoft.com/office/drawing/2014/main" id="{6858F742-6140-2ABB-A784-D0808C0F9C7C}"/>
                </a:ext>
              </a:extLst>
            </p:cNvPr>
            <p:cNvSpPr/>
            <p:nvPr/>
          </p:nvSpPr>
          <p:spPr>
            <a:xfrm>
              <a:off x="3342590" y="2732081"/>
              <a:ext cx="1291216" cy="440034"/>
            </a:xfrm>
            <a:custGeom>
              <a:avLst/>
              <a:gdLst/>
              <a:ahLst/>
              <a:cxnLst/>
              <a:rect l="l" t="t" r="r" b="b"/>
              <a:pathLst>
                <a:path w="36339" h="12384" extrusionOk="0">
                  <a:moveTo>
                    <a:pt x="0" y="1"/>
                  </a:moveTo>
                  <a:lnTo>
                    <a:pt x="0" y="1358"/>
                  </a:lnTo>
                  <a:cubicBezTo>
                    <a:pt x="2417" y="1644"/>
                    <a:pt x="4298" y="3692"/>
                    <a:pt x="4298" y="6192"/>
                  </a:cubicBezTo>
                  <a:cubicBezTo>
                    <a:pt x="4298" y="8692"/>
                    <a:pt x="2417" y="10752"/>
                    <a:pt x="0" y="11038"/>
                  </a:cubicBezTo>
                  <a:lnTo>
                    <a:pt x="0" y="12383"/>
                  </a:lnTo>
                  <a:lnTo>
                    <a:pt x="32040" y="12383"/>
                  </a:lnTo>
                  <a:lnTo>
                    <a:pt x="32040" y="10502"/>
                  </a:lnTo>
                  <a:cubicBezTo>
                    <a:pt x="34409" y="10502"/>
                    <a:pt x="36338" y="8573"/>
                    <a:pt x="36338" y="6192"/>
                  </a:cubicBezTo>
                  <a:cubicBezTo>
                    <a:pt x="36338" y="3823"/>
                    <a:pt x="34409" y="1894"/>
                    <a:pt x="32040" y="1894"/>
                  </a:cubicBezTo>
                  <a:lnTo>
                    <a:pt x="32040" y="1"/>
                  </a:lnTo>
                  <a:close/>
                </a:path>
              </a:pathLst>
            </a:custGeom>
            <a:solidFill>
              <a:schemeClr val="accent1"/>
            </a:solidFill>
            <a:ln>
              <a:noFill/>
            </a:ln>
          </p:spPr>
          <p:txBody>
            <a:bodyPr spcFirstLastPara="1" wrap="square" lIns="91425" tIns="91425" rIns="91425" bIns="91425" anchor="ctr" anchorCtr="0">
              <a:noAutofit/>
            </a:bodyPr>
            <a:lstStyle/>
            <a:p>
              <a:pPr algn="ctr">
                <a:buClr>
                  <a:srgbClr val="000000"/>
                </a:buClr>
                <a:buFont typeface="Arial"/>
                <a:buNone/>
              </a:pPr>
              <a:r>
                <a:rPr lang="en" sz="1400" kern="0">
                  <a:solidFill>
                    <a:srgbClr val="FFFFFF"/>
                  </a:solidFill>
                  <a:latin typeface="Oswald" panose="00000500000000000000" pitchFamily="2" charset="0"/>
                  <a:ea typeface="Fira Sans Extra Condensed Medium"/>
                  <a:cs typeface="Fira Sans Extra Condensed Medium"/>
                  <a:sym typeface="Fira Sans Extra Condensed Medium"/>
                </a:rPr>
                <a:t>Phase 3</a:t>
              </a:r>
              <a:endParaRPr sz="1400" kern="0">
                <a:solidFill>
                  <a:srgbClr val="FFFFFF"/>
                </a:solidFill>
                <a:latin typeface="Oswald" panose="00000500000000000000" pitchFamily="2" charset="0"/>
                <a:ea typeface="Fira Sans Extra Condensed Medium"/>
                <a:cs typeface="Fira Sans Extra Condensed Medium"/>
                <a:sym typeface="Fira Sans Extra Condensed Medium"/>
              </a:endParaRPr>
            </a:p>
          </p:txBody>
        </p:sp>
        <p:sp>
          <p:nvSpPr>
            <p:cNvPr id="153" name="Google Shape;1240;p28">
              <a:extLst>
                <a:ext uri="{FF2B5EF4-FFF2-40B4-BE49-F238E27FC236}">
                  <a16:creationId xmlns:a16="http://schemas.microsoft.com/office/drawing/2014/main" id="{AC727B32-DEC6-CAFC-C98E-C640EB1BEDF1}"/>
                </a:ext>
              </a:extLst>
            </p:cNvPr>
            <p:cNvSpPr/>
            <p:nvPr/>
          </p:nvSpPr>
          <p:spPr>
            <a:xfrm>
              <a:off x="3952654" y="2235403"/>
              <a:ext cx="63070" cy="63070"/>
            </a:xfrm>
            <a:custGeom>
              <a:avLst/>
              <a:gdLst/>
              <a:ahLst/>
              <a:cxnLst/>
              <a:rect l="l" t="t" r="r" b="b"/>
              <a:pathLst>
                <a:path w="1775" h="1775" extrusionOk="0">
                  <a:moveTo>
                    <a:pt x="893" y="1"/>
                  </a:moveTo>
                  <a:cubicBezTo>
                    <a:pt x="405" y="1"/>
                    <a:pt x="0" y="394"/>
                    <a:pt x="0" y="882"/>
                  </a:cubicBezTo>
                  <a:cubicBezTo>
                    <a:pt x="0" y="1382"/>
                    <a:pt x="405" y="1775"/>
                    <a:pt x="893" y="1775"/>
                  </a:cubicBezTo>
                  <a:cubicBezTo>
                    <a:pt x="1381" y="1775"/>
                    <a:pt x="1774" y="1382"/>
                    <a:pt x="1774" y="882"/>
                  </a:cubicBezTo>
                  <a:cubicBezTo>
                    <a:pt x="1774" y="394"/>
                    <a:pt x="1381" y="1"/>
                    <a:pt x="893"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54" name="Google Shape;1241;p28">
              <a:extLst>
                <a:ext uri="{FF2B5EF4-FFF2-40B4-BE49-F238E27FC236}">
                  <a16:creationId xmlns:a16="http://schemas.microsoft.com/office/drawing/2014/main" id="{8C9FF1E5-BA6C-7EC9-3B4B-82F9227D0145}"/>
                </a:ext>
              </a:extLst>
            </p:cNvPr>
            <p:cNvSpPr txBox="1"/>
            <p:nvPr/>
          </p:nvSpPr>
          <p:spPr>
            <a:xfrm>
              <a:off x="3432074" y="1121320"/>
              <a:ext cx="1167300" cy="534900"/>
            </a:xfrm>
            <a:prstGeom prst="rect">
              <a:avLst/>
            </a:prstGeom>
            <a:noFill/>
            <a:ln>
              <a:noFill/>
            </a:ln>
          </p:spPr>
          <p:txBody>
            <a:bodyPr spcFirstLastPara="1" wrap="square" lIns="91425" tIns="91425" rIns="91425" bIns="91425" anchor="ctr" anchorCtr="0">
              <a:noAutofit/>
            </a:bodyPr>
            <a:lstStyle/>
            <a:p>
              <a:pPr algn="ctr">
                <a:buClr>
                  <a:srgbClr val="000000"/>
                </a:buClr>
                <a:buFont typeface="Arial"/>
                <a:buNone/>
              </a:pPr>
              <a:r>
                <a:rPr lang="en" sz="1500" kern="0">
                  <a:solidFill>
                    <a:srgbClr val="434343"/>
                  </a:solidFill>
                  <a:latin typeface="Oswald" panose="00000500000000000000" pitchFamily="2" charset="0"/>
                  <a:ea typeface="Roboto"/>
                  <a:cs typeface="Roboto"/>
                  <a:sym typeface="Roboto"/>
                </a:rPr>
                <a:t>Candidate</a:t>
              </a:r>
            </a:p>
            <a:p>
              <a:pPr algn="ctr">
                <a:buClr>
                  <a:srgbClr val="000000"/>
                </a:buClr>
                <a:buFont typeface="Arial"/>
                <a:buNone/>
              </a:pPr>
              <a:r>
                <a:rPr lang="en" sz="1500" kern="0">
                  <a:solidFill>
                    <a:srgbClr val="434343"/>
                  </a:solidFill>
                  <a:latin typeface="Oswald" panose="00000500000000000000" pitchFamily="2" charset="0"/>
                  <a:ea typeface="Roboto"/>
                  <a:cs typeface="Roboto"/>
                  <a:sym typeface="Roboto"/>
                </a:rPr>
                <a:t>Selection</a:t>
              </a:r>
              <a:endParaRPr sz="1500" kern="0">
                <a:solidFill>
                  <a:srgbClr val="434343"/>
                </a:solidFill>
                <a:latin typeface="Oswald" panose="00000500000000000000" pitchFamily="2" charset="0"/>
                <a:ea typeface="Roboto"/>
                <a:cs typeface="Roboto"/>
                <a:sym typeface="Roboto"/>
              </a:endParaRPr>
            </a:p>
          </p:txBody>
        </p:sp>
      </p:grpSp>
      <p:grpSp>
        <p:nvGrpSpPr>
          <p:cNvPr id="158" name="Google Shape;1189;p28">
            <a:extLst>
              <a:ext uri="{FF2B5EF4-FFF2-40B4-BE49-F238E27FC236}">
                <a16:creationId xmlns:a16="http://schemas.microsoft.com/office/drawing/2014/main" id="{98C4F42F-6D82-A48E-86DF-33684BB9CEF1}"/>
              </a:ext>
            </a:extLst>
          </p:cNvPr>
          <p:cNvGrpSpPr/>
          <p:nvPr/>
        </p:nvGrpSpPr>
        <p:grpSpPr>
          <a:xfrm>
            <a:off x="7651891" y="1208824"/>
            <a:ext cx="1291500" cy="2049876"/>
            <a:chOff x="6844818" y="1122239"/>
            <a:chExt cx="1291500" cy="2049876"/>
          </a:xfrm>
        </p:grpSpPr>
        <p:sp>
          <p:nvSpPr>
            <p:cNvPr id="159" name="Google Shape;1190;p28">
              <a:extLst>
                <a:ext uri="{FF2B5EF4-FFF2-40B4-BE49-F238E27FC236}">
                  <a16:creationId xmlns:a16="http://schemas.microsoft.com/office/drawing/2014/main" id="{9B2F1AB9-EDE3-0C72-8135-DD5F1D0B71A3}"/>
                </a:ext>
              </a:extLst>
            </p:cNvPr>
            <p:cNvSpPr/>
            <p:nvPr/>
          </p:nvSpPr>
          <p:spPr>
            <a:xfrm>
              <a:off x="7480999" y="2261200"/>
              <a:ext cx="11441" cy="704858"/>
            </a:xfrm>
            <a:custGeom>
              <a:avLst/>
              <a:gdLst/>
              <a:ahLst/>
              <a:cxnLst/>
              <a:rect l="l" t="t" r="r" b="b"/>
              <a:pathLst>
                <a:path w="322" h="19837" extrusionOk="0">
                  <a:moveTo>
                    <a:pt x="155" y="1"/>
                  </a:moveTo>
                  <a:cubicBezTo>
                    <a:pt x="72" y="1"/>
                    <a:pt x="0" y="72"/>
                    <a:pt x="0" y="156"/>
                  </a:cubicBezTo>
                  <a:lnTo>
                    <a:pt x="0" y="19682"/>
                  </a:lnTo>
                  <a:cubicBezTo>
                    <a:pt x="0" y="19765"/>
                    <a:pt x="72" y="19837"/>
                    <a:pt x="155" y="19837"/>
                  </a:cubicBezTo>
                  <a:cubicBezTo>
                    <a:pt x="250" y="19837"/>
                    <a:pt x="322" y="19765"/>
                    <a:pt x="322" y="19682"/>
                  </a:cubicBezTo>
                  <a:lnTo>
                    <a:pt x="322" y="156"/>
                  </a:lnTo>
                  <a:cubicBezTo>
                    <a:pt x="322" y="72"/>
                    <a:pt x="250" y="1"/>
                    <a:pt x="155"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grpSp>
          <p:nvGrpSpPr>
            <p:cNvPr id="160" name="Google Shape;1191;p28">
              <a:extLst>
                <a:ext uri="{FF2B5EF4-FFF2-40B4-BE49-F238E27FC236}">
                  <a16:creationId xmlns:a16="http://schemas.microsoft.com/office/drawing/2014/main" id="{861BADA9-9485-9720-28D1-1D523A69360F}"/>
                </a:ext>
              </a:extLst>
            </p:cNvPr>
            <p:cNvGrpSpPr/>
            <p:nvPr/>
          </p:nvGrpSpPr>
          <p:grpSpPr>
            <a:xfrm>
              <a:off x="7307954" y="1698963"/>
              <a:ext cx="365560" cy="450589"/>
              <a:chOff x="7307954" y="1698963"/>
              <a:chExt cx="365560" cy="450589"/>
            </a:xfrm>
          </p:grpSpPr>
          <p:sp>
            <p:nvSpPr>
              <p:cNvPr id="164" name="Google Shape;1192;p28">
                <a:extLst>
                  <a:ext uri="{FF2B5EF4-FFF2-40B4-BE49-F238E27FC236}">
                    <a16:creationId xmlns:a16="http://schemas.microsoft.com/office/drawing/2014/main" id="{E7AE7FC5-D147-1219-F91A-373F2AF71DA7}"/>
                  </a:ext>
                </a:extLst>
              </p:cNvPr>
              <p:cNvSpPr/>
              <p:nvPr/>
            </p:nvSpPr>
            <p:spPr>
              <a:xfrm>
                <a:off x="7432319" y="1819526"/>
                <a:ext cx="241195" cy="330026"/>
              </a:xfrm>
              <a:custGeom>
                <a:avLst/>
                <a:gdLst/>
                <a:ahLst/>
                <a:cxnLst/>
                <a:rect l="l" t="t" r="r" b="b"/>
                <a:pathLst>
                  <a:path w="6788" h="9288" extrusionOk="0">
                    <a:moveTo>
                      <a:pt x="3609" y="1"/>
                    </a:moveTo>
                    <a:cubicBezTo>
                      <a:pt x="3549" y="1"/>
                      <a:pt x="3501" y="49"/>
                      <a:pt x="3501" y="120"/>
                    </a:cubicBezTo>
                    <a:cubicBezTo>
                      <a:pt x="3501" y="179"/>
                      <a:pt x="3549" y="227"/>
                      <a:pt x="3609" y="227"/>
                    </a:cubicBezTo>
                    <a:lnTo>
                      <a:pt x="6561" y="227"/>
                    </a:lnTo>
                    <a:lnTo>
                      <a:pt x="6561" y="9073"/>
                    </a:lnTo>
                    <a:lnTo>
                      <a:pt x="215" y="9073"/>
                    </a:lnTo>
                    <a:lnTo>
                      <a:pt x="215" y="7383"/>
                    </a:lnTo>
                    <a:cubicBezTo>
                      <a:pt x="215" y="7323"/>
                      <a:pt x="168" y="7276"/>
                      <a:pt x="108" y="7276"/>
                    </a:cubicBezTo>
                    <a:cubicBezTo>
                      <a:pt x="49" y="7276"/>
                      <a:pt x="1" y="7323"/>
                      <a:pt x="1" y="7383"/>
                    </a:cubicBezTo>
                    <a:lnTo>
                      <a:pt x="1" y="9288"/>
                    </a:lnTo>
                    <a:lnTo>
                      <a:pt x="6787" y="9288"/>
                    </a:lnTo>
                    <a:lnTo>
                      <a:pt x="6787" y="1"/>
                    </a:ln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65" name="Google Shape;1193;p28">
                <a:extLst>
                  <a:ext uri="{FF2B5EF4-FFF2-40B4-BE49-F238E27FC236}">
                    <a16:creationId xmlns:a16="http://schemas.microsoft.com/office/drawing/2014/main" id="{8028112C-D71C-CCA7-4EC6-44555A9F272B}"/>
                  </a:ext>
                </a:extLst>
              </p:cNvPr>
              <p:cNvSpPr/>
              <p:nvPr/>
            </p:nvSpPr>
            <p:spPr>
              <a:xfrm>
                <a:off x="7307954" y="1698963"/>
                <a:ext cx="256403" cy="387127"/>
              </a:xfrm>
              <a:custGeom>
                <a:avLst/>
                <a:gdLst/>
                <a:ahLst/>
                <a:cxnLst/>
                <a:rect l="l" t="t" r="r" b="b"/>
                <a:pathLst>
                  <a:path w="7216" h="10895" extrusionOk="0">
                    <a:moveTo>
                      <a:pt x="7001" y="215"/>
                    </a:moveTo>
                    <a:lnTo>
                      <a:pt x="7001" y="10669"/>
                    </a:lnTo>
                    <a:lnTo>
                      <a:pt x="215" y="10669"/>
                    </a:lnTo>
                    <a:lnTo>
                      <a:pt x="215" y="215"/>
                    </a:lnTo>
                    <a:close/>
                    <a:moveTo>
                      <a:pt x="0" y="1"/>
                    </a:moveTo>
                    <a:lnTo>
                      <a:pt x="0" y="10895"/>
                    </a:lnTo>
                    <a:lnTo>
                      <a:pt x="7216" y="10895"/>
                    </a:lnTo>
                    <a:lnTo>
                      <a:pt x="7216" y="1"/>
                    </a:ln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66" name="Google Shape;1194;p28">
                <a:extLst>
                  <a:ext uri="{FF2B5EF4-FFF2-40B4-BE49-F238E27FC236}">
                    <a16:creationId xmlns:a16="http://schemas.microsoft.com/office/drawing/2014/main" id="{AD150857-6F0C-7F74-F6D1-A8CE9895667E}"/>
                  </a:ext>
                </a:extLst>
              </p:cNvPr>
              <p:cNvSpPr/>
              <p:nvPr/>
            </p:nvSpPr>
            <p:spPr>
              <a:xfrm>
                <a:off x="7343487" y="1739577"/>
                <a:ext cx="185338" cy="7639"/>
              </a:xfrm>
              <a:custGeom>
                <a:avLst/>
                <a:gdLst/>
                <a:ahLst/>
                <a:cxnLst/>
                <a:rect l="l" t="t" r="r" b="b"/>
                <a:pathLst>
                  <a:path w="5216" h="215" extrusionOk="0">
                    <a:moveTo>
                      <a:pt x="108" y="1"/>
                    </a:moveTo>
                    <a:cubicBezTo>
                      <a:pt x="48" y="1"/>
                      <a:pt x="1" y="48"/>
                      <a:pt x="1" y="108"/>
                    </a:cubicBezTo>
                    <a:cubicBezTo>
                      <a:pt x="1" y="167"/>
                      <a:pt x="48" y="215"/>
                      <a:pt x="108" y="215"/>
                    </a:cubicBezTo>
                    <a:lnTo>
                      <a:pt x="5096" y="215"/>
                    </a:lnTo>
                    <a:cubicBezTo>
                      <a:pt x="5168" y="215"/>
                      <a:pt x="5216" y="167"/>
                      <a:pt x="5216" y="108"/>
                    </a:cubicBezTo>
                    <a:cubicBezTo>
                      <a:pt x="5216" y="48"/>
                      <a:pt x="5168" y="1"/>
                      <a:pt x="5096" y="1"/>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67" name="Google Shape;1195;p28">
                <a:extLst>
                  <a:ext uri="{FF2B5EF4-FFF2-40B4-BE49-F238E27FC236}">
                    <a16:creationId xmlns:a16="http://schemas.microsoft.com/office/drawing/2014/main" id="{12E86D8F-E083-240B-C607-97B06FAB9A88}"/>
                  </a:ext>
                </a:extLst>
              </p:cNvPr>
              <p:cNvSpPr/>
              <p:nvPr/>
            </p:nvSpPr>
            <p:spPr>
              <a:xfrm>
                <a:off x="7343487" y="1775963"/>
                <a:ext cx="185338" cy="7639"/>
              </a:xfrm>
              <a:custGeom>
                <a:avLst/>
                <a:gdLst/>
                <a:ahLst/>
                <a:cxnLst/>
                <a:rect l="l" t="t" r="r" b="b"/>
                <a:pathLst>
                  <a:path w="5216" h="215" extrusionOk="0">
                    <a:moveTo>
                      <a:pt x="108" y="1"/>
                    </a:moveTo>
                    <a:cubicBezTo>
                      <a:pt x="48" y="1"/>
                      <a:pt x="1" y="48"/>
                      <a:pt x="1" y="108"/>
                    </a:cubicBezTo>
                    <a:cubicBezTo>
                      <a:pt x="1" y="167"/>
                      <a:pt x="48" y="215"/>
                      <a:pt x="108" y="215"/>
                    </a:cubicBezTo>
                    <a:lnTo>
                      <a:pt x="5096" y="215"/>
                    </a:lnTo>
                    <a:cubicBezTo>
                      <a:pt x="5168" y="215"/>
                      <a:pt x="5216" y="167"/>
                      <a:pt x="5216" y="108"/>
                    </a:cubicBezTo>
                    <a:cubicBezTo>
                      <a:pt x="5216" y="48"/>
                      <a:pt x="5168" y="1"/>
                      <a:pt x="5096" y="1"/>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68" name="Google Shape;1196;p28">
                <a:extLst>
                  <a:ext uri="{FF2B5EF4-FFF2-40B4-BE49-F238E27FC236}">
                    <a16:creationId xmlns:a16="http://schemas.microsoft.com/office/drawing/2014/main" id="{17A05F95-871D-FBA0-8B56-4E0E3553098A}"/>
                  </a:ext>
                </a:extLst>
              </p:cNvPr>
              <p:cNvSpPr/>
              <p:nvPr/>
            </p:nvSpPr>
            <p:spPr>
              <a:xfrm>
                <a:off x="7343487" y="1812349"/>
                <a:ext cx="185338" cy="7639"/>
              </a:xfrm>
              <a:custGeom>
                <a:avLst/>
                <a:gdLst/>
                <a:ahLst/>
                <a:cxnLst/>
                <a:rect l="l" t="t" r="r" b="b"/>
                <a:pathLst>
                  <a:path w="5216" h="215" extrusionOk="0">
                    <a:moveTo>
                      <a:pt x="108" y="0"/>
                    </a:moveTo>
                    <a:cubicBezTo>
                      <a:pt x="48" y="0"/>
                      <a:pt x="1" y="48"/>
                      <a:pt x="1" y="108"/>
                    </a:cubicBezTo>
                    <a:cubicBezTo>
                      <a:pt x="1" y="167"/>
                      <a:pt x="48" y="215"/>
                      <a:pt x="108" y="215"/>
                    </a:cubicBezTo>
                    <a:lnTo>
                      <a:pt x="5096" y="215"/>
                    </a:lnTo>
                    <a:cubicBezTo>
                      <a:pt x="5168" y="215"/>
                      <a:pt x="5216" y="167"/>
                      <a:pt x="5216" y="108"/>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69" name="Google Shape;1197;p28">
                <a:extLst>
                  <a:ext uri="{FF2B5EF4-FFF2-40B4-BE49-F238E27FC236}">
                    <a16:creationId xmlns:a16="http://schemas.microsoft.com/office/drawing/2014/main" id="{7801B434-43AC-9C77-A2C3-DB882D4B5F39}"/>
                  </a:ext>
                </a:extLst>
              </p:cNvPr>
              <p:cNvSpPr/>
              <p:nvPr/>
            </p:nvSpPr>
            <p:spPr>
              <a:xfrm>
                <a:off x="7343487" y="1848734"/>
                <a:ext cx="185338" cy="7639"/>
              </a:xfrm>
              <a:custGeom>
                <a:avLst/>
                <a:gdLst/>
                <a:ahLst/>
                <a:cxnLst/>
                <a:rect l="l" t="t" r="r" b="b"/>
                <a:pathLst>
                  <a:path w="5216" h="215" extrusionOk="0">
                    <a:moveTo>
                      <a:pt x="108" y="0"/>
                    </a:moveTo>
                    <a:cubicBezTo>
                      <a:pt x="48" y="0"/>
                      <a:pt x="1" y="48"/>
                      <a:pt x="1" y="108"/>
                    </a:cubicBezTo>
                    <a:cubicBezTo>
                      <a:pt x="1" y="167"/>
                      <a:pt x="48" y="215"/>
                      <a:pt x="108" y="215"/>
                    </a:cubicBezTo>
                    <a:lnTo>
                      <a:pt x="5096" y="215"/>
                    </a:lnTo>
                    <a:cubicBezTo>
                      <a:pt x="5168" y="215"/>
                      <a:pt x="5216" y="167"/>
                      <a:pt x="5216" y="108"/>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70" name="Google Shape;1198;p28">
                <a:extLst>
                  <a:ext uri="{FF2B5EF4-FFF2-40B4-BE49-F238E27FC236}">
                    <a16:creationId xmlns:a16="http://schemas.microsoft.com/office/drawing/2014/main" id="{BEDBBA74-8480-7835-DABA-C035BF1788E2}"/>
                  </a:ext>
                </a:extLst>
              </p:cNvPr>
              <p:cNvSpPr/>
              <p:nvPr/>
            </p:nvSpPr>
            <p:spPr>
              <a:xfrm>
                <a:off x="7343487" y="1885120"/>
                <a:ext cx="185338" cy="7639"/>
              </a:xfrm>
              <a:custGeom>
                <a:avLst/>
                <a:gdLst/>
                <a:ahLst/>
                <a:cxnLst/>
                <a:rect l="l" t="t" r="r" b="b"/>
                <a:pathLst>
                  <a:path w="5216" h="215" extrusionOk="0">
                    <a:moveTo>
                      <a:pt x="108" y="0"/>
                    </a:moveTo>
                    <a:cubicBezTo>
                      <a:pt x="48" y="0"/>
                      <a:pt x="1" y="48"/>
                      <a:pt x="1" y="108"/>
                    </a:cubicBezTo>
                    <a:cubicBezTo>
                      <a:pt x="1" y="167"/>
                      <a:pt x="48" y="215"/>
                      <a:pt x="108" y="215"/>
                    </a:cubicBezTo>
                    <a:lnTo>
                      <a:pt x="5096" y="215"/>
                    </a:lnTo>
                    <a:cubicBezTo>
                      <a:pt x="5168" y="215"/>
                      <a:pt x="5216" y="167"/>
                      <a:pt x="5216" y="108"/>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71" name="Google Shape;1199;p28">
                <a:extLst>
                  <a:ext uri="{FF2B5EF4-FFF2-40B4-BE49-F238E27FC236}">
                    <a16:creationId xmlns:a16="http://schemas.microsoft.com/office/drawing/2014/main" id="{AAD5E79A-640F-761D-326B-A2450708D7B9}"/>
                  </a:ext>
                </a:extLst>
              </p:cNvPr>
              <p:cNvSpPr/>
              <p:nvPr/>
            </p:nvSpPr>
            <p:spPr>
              <a:xfrm>
                <a:off x="7343487" y="1921506"/>
                <a:ext cx="185338" cy="8066"/>
              </a:xfrm>
              <a:custGeom>
                <a:avLst/>
                <a:gdLst/>
                <a:ahLst/>
                <a:cxnLst/>
                <a:rect l="l" t="t" r="r" b="b"/>
                <a:pathLst>
                  <a:path w="5216" h="227" extrusionOk="0">
                    <a:moveTo>
                      <a:pt x="108" y="0"/>
                    </a:moveTo>
                    <a:cubicBezTo>
                      <a:pt x="48" y="0"/>
                      <a:pt x="1" y="48"/>
                      <a:pt x="1" y="107"/>
                    </a:cubicBezTo>
                    <a:cubicBezTo>
                      <a:pt x="1" y="179"/>
                      <a:pt x="48" y="227"/>
                      <a:pt x="108" y="227"/>
                    </a:cubicBezTo>
                    <a:lnTo>
                      <a:pt x="5096" y="227"/>
                    </a:lnTo>
                    <a:cubicBezTo>
                      <a:pt x="5168" y="227"/>
                      <a:pt x="5216" y="179"/>
                      <a:pt x="5216" y="107"/>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72" name="Google Shape;1200;p28">
                <a:extLst>
                  <a:ext uri="{FF2B5EF4-FFF2-40B4-BE49-F238E27FC236}">
                    <a16:creationId xmlns:a16="http://schemas.microsoft.com/office/drawing/2014/main" id="{435D180E-0806-94AC-263B-F6525EB551A8}"/>
                  </a:ext>
                </a:extLst>
              </p:cNvPr>
              <p:cNvSpPr/>
              <p:nvPr/>
            </p:nvSpPr>
            <p:spPr>
              <a:xfrm>
                <a:off x="7343487" y="1957891"/>
                <a:ext cx="185338" cy="8066"/>
              </a:xfrm>
              <a:custGeom>
                <a:avLst/>
                <a:gdLst/>
                <a:ahLst/>
                <a:cxnLst/>
                <a:rect l="l" t="t" r="r" b="b"/>
                <a:pathLst>
                  <a:path w="5216" h="227" extrusionOk="0">
                    <a:moveTo>
                      <a:pt x="108" y="0"/>
                    </a:moveTo>
                    <a:cubicBezTo>
                      <a:pt x="48" y="0"/>
                      <a:pt x="1" y="60"/>
                      <a:pt x="1" y="119"/>
                    </a:cubicBezTo>
                    <a:cubicBezTo>
                      <a:pt x="1" y="179"/>
                      <a:pt x="48" y="226"/>
                      <a:pt x="108" y="226"/>
                    </a:cubicBezTo>
                    <a:lnTo>
                      <a:pt x="5096" y="226"/>
                    </a:lnTo>
                    <a:cubicBezTo>
                      <a:pt x="5168" y="226"/>
                      <a:pt x="5216" y="179"/>
                      <a:pt x="5216" y="119"/>
                    </a:cubicBezTo>
                    <a:cubicBezTo>
                      <a:pt x="5216" y="60"/>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73" name="Google Shape;1201;p28">
                <a:extLst>
                  <a:ext uri="{FF2B5EF4-FFF2-40B4-BE49-F238E27FC236}">
                    <a16:creationId xmlns:a16="http://schemas.microsoft.com/office/drawing/2014/main" id="{AB574B4B-8946-7C62-2AAE-8E5E92FD1713}"/>
                  </a:ext>
                </a:extLst>
              </p:cNvPr>
              <p:cNvSpPr/>
              <p:nvPr/>
            </p:nvSpPr>
            <p:spPr>
              <a:xfrm>
                <a:off x="7343487" y="1994703"/>
                <a:ext cx="185338" cy="7639"/>
              </a:xfrm>
              <a:custGeom>
                <a:avLst/>
                <a:gdLst/>
                <a:ahLst/>
                <a:cxnLst/>
                <a:rect l="l" t="t" r="r" b="b"/>
                <a:pathLst>
                  <a:path w="5216" h="215" extrusionOk="0">
                    <a:moveTo>
                      <a:pt x="108" y="0"/>
                    </a:moveTo>
                    <a:cubicBezTo>
                      <a:pt x="48" y="0"/>
                      <a:pt x="1" y="48"/>
                      <a:pt x="1" y="107"/>
                    </a:cubicBezTo>
                    <a:cubicBezTo>
                      <a:pt x="1" y="167"/>
                      <a:pt x="48" y="214"/>
                      <a:pt x="108" y="214"/>
                    </a:cubicBezTo>
                    <a:lnTo>
                      <a:pt x="5096" y="214"/>
                    </a:lnTo>
                    <a:cubicBezTo>
                      <a:pt x="5168" y="214"/>
                      <a:pt x="5216" y="167"/>
                      <a:pt x="5216" y="107"/>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74" name="Google Shape;1202;p28">
                <a:extLst>
                  <a:ext uri="{FF2B5EF4-FFF2-40B4-BE49-F238E27FC236}">
                    <a16:creationId xmlns:a16="http://schemas.microsoft.com/office/drawing/2014/main" id="{EE1F65A9-AC15-54CC-23C9-49896E1C9A0F}"/>
                  </a:ext>
                </a:extLst>
              </p:cNvPr>
              <p:cNvSpPr/>
              <p:nvPr/>
            </p:nvSpPr>
            <p:spPr>
              <a:xfrm>
                <a:off x="7343487" y="2031053"/>
                <a:ext cx="185338" cy="7675"/>
              </a:xfrm>
              <a:custGeom>
                <a:avLst/>
                <a:gdLst/>
                <a:ahLst/>
                <a:cxnLst/>
                <a:rect l="l" t="t" r="r" b="b"/>
                <a:pathLst>
                  <a:path w="5216" h="216" extrusionOk="0">
                    <a:moveTo>
                      <a:pt x="108" y="1"/>
                    </a:moveTo>
                    <a:cubicBezTo>
                      <a:pt x="48" y="1"/>
                      <a:pt x="1" y="49"/>
                      <a:pt x="1" y="108"/>
                    </a:cubicBezTo>
                    <a:cubicBezTo>
                      <a:pt x="1" y="168"/>
                      <a:pt x="48" y="215"/>
                      <a:pt x="108" y="215"/>
                    </a:cubicBezTo>
                    <a:lnTo>
                      <a:pt x="5096" y="215"/>
                    </a:lnTo>
                    <a:cubicBezTo>
                      <a:pt x="5168" y="215"/>
                      <a:pt x="5216" y="168"/>
                      <a:pt x="5216" y="108"/>
                    </a:cubicBezTo>
                    <a:cubicBezTo>
                      <a:pt x="5216" y="49"/>
                      <a:pt x="5168" y="1"/>
                      <a:pt x="5096" y="1"/>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grpSp>
        <p:sp>
          <p:nvSpPr>
            <p:cNvPr id="161" name="Google Shape;1203;p28">
              <a:extLst>
                <a:ext uri="{FF2B5EF4-FFF2-40B4-BE49-F238E27FC236}">
                  <a16:creationId xmlns:a16="http://schemas.microsoft.com/office/drawing/2014/main" id="{82D1B619-5F65-765C-6C93-B9944B919DFF}"/>
                </a:ext>
              </a:extLst>
            </p:cNvPr>
            <p:cNvSpPr/>
            <p:nvPr/>
          </p:nvSpPr>
          <p:spPr>
            <a:xfrm>
              <a:off x="6845138" y="2732081"/>
              <a:ext cx="1291180" cy="440034"/>
            </a:xfrm>
            <a:custGeom>
              <a:avLst/>
              <a:gdLst/>
              <a:ahLst/>
              <a:cxnLst/>
              <a:rect l="l" t="t" r="r" b="b"/>
              <a:pathLst>
                <a:path w="36338" h="12384" extrusionOk="0">
                  <a:moveTo>
                    <a:pt x="0" y="1"/>
                  </a:moveTo>
                  <a:lnTo>
                    <a:pt x="0" y="1358"/>
                  </a:lnTo>
                  <a:cubicBezTo>
                    <a:pt x="2417" y="1644"/>
                    <a:pt x="4298" y="3692"/>
                    <a:pt x="4298" y="6192"/>
                  </a:cubicBezTo>
                  <a:cubicBezTo>
                    <a:pt x="4298" y="8692"/>
                    <a:pt x="2417" y="10752"/>
                    <a:pt x="0" y="11038"/>
                  </a:cubicBezTo>
                  <a:lnTo>
                    <a:pt x="0" y="12383"/>
                  </a:lnTo>
                  <a:lnTo>
                    <a:pt x="32040" y="12383"/>
                  </a:lnTo>
                  <a:lnTo>
                    <a:pt x="32040" y="10502"/>
                  </a:lnTo>
                  <a:cubicBezTo>
                    <a:pt x="34409" y="10502"/>
                    <a:pt x="36338" y="8573"/>
                    <a:pt x="36338" y="6192"/>
                  </a:cubicBezTo>
                  <a:cubicBezTo>
                    <a:pt x="36338" y="3823"/>
                    <a:pt x="34409" y="1894"/>
                    <a:pt x="32040" y="1894"/>
                  </a:cubicBezTo>
                  <a:lnTo>
                    <a:pt x="32040" y="1"/>
                  </a:lnTo>
                  <a:close/>
                </a:path>
              </a:pathLst>
            </a:custGeom>
            <a:solidFill>
              <a:schemeClr val="accent1"/>
            </a:solidFill>
            <a:ln>
              <a:noFill/>
            </a:ln>
          </p:spPr>
          <p:txBody>
            <a:bodyPr spcFirstLastPara="1" wrap="square" lIns="91425" tIns="91425" rIns="91425" bIns="91425" anchor="ctr" anchorCtr="0">
              <a:noAutofit/>
            </a:bodyPr>
            <a:lstStyle/>
            <a:p>
              <a:pPr algn="ctr">
                <a:buClr>
                  <a:srgbClr val="000000"/>
                </a:buClr>
                <a:buFont typeface="Arial"/>
                <a:buNone/>
              </a:pPr>
              <a:r>
                <a:rPr lang="en" sz="1400" kern="0">
                  <a:solidFill>
                    <a:srgbClr val="FFFFFF"/>
                  </a:solidFill>
                  <a:latin typeface="Oswald" panose="00000500000000000000" pitchFamily="2" charset="0"/>
                  <a:ea typeface="Fira Sans Extra Condensed Medium"/>
                  <a:cs typeface="Fira Sans Extra Condensed Medium"/>
                  <a:sym typeface="Fira Sans Extra Condensed Medium"/>
                </a:rPr>
                <a:t>Phase 7</a:t>
              </a:r>
              <a:endParaRPr sz="1400" kern="0">
                <a:solidFill>
                  <a:srgbClr val="FFFFFF"/>
                </a:solidFill>
                <a:latin typeface="Oswald" panose="00000500000000000000" pitchFamily="2" charset="0"/>
                <a:ea typeface="Fira Sans Extra Condensed Medium"/>
                <a:cs typeface="Fira Sans Extra Condensed Medium"/>
                <a:sym typeface="Fira Sans Extra Condensed Medium"/>
              </a:endParaRPr>
            </a:p>
          </p:txBody>
        </p:sp>
        <p:sp>
          <p:nvSpPr>
            <p:cNvPr id="162" name="Google Shape;1204;p28">
              <a:extLst>
                <a:ext uri="{FF2B5EF4-FFF2-40B4-BE49-F238E27FC236}">
                  <a16:creationId xmlns:a16="http://schemas.microsoft.com/office/drawing/2014/main" id="{CA8E1562-EA24-166D-F10C-416C394EA8BC}"/>
                </a:ext>
              </a:extLst>
            </p:cNvPr>
            <p:cNvSpPr/>
            <p:nvPr/>
          </p:nvSpPr>
          <p:spPr>
            <a:xfrm>
              <a:off x="7455167" y="2235403"/>
              <a:ext cx="63070" cy="63070"/>
            </a:xfrm>
            <a:custGeom>
              <a:avLst/>
              <a:gdLst/>
              <a:ahLst/>
              <a:cxnLst/>
              <a:rect l="l" t="t" r="r" b="b"/>
              <a:pathLst>
                <a:path w="1775" h="1775" extrusionOk="0">
                  <a:moveTo>
                    <a:pt x="882" y="1"/>
                  </a:moveTo>
                  <a:cubicBezTo>
                    <a:pt x="394" y="1"/>
                    <a:pt x="1" y="394"/>
                    <a:pt x="1" y="882"/>
                  </a:cubicBezTo>
                  <a:cubicBezTo>
                    <a:pt x="1" y="1382"/>
                    <a:pt x="394" y="1775"/>
                    <a:pt x="882" y="1775"/>
                  </a:cubicBezTo>
                  <a:cubicBezTo>
                    <a:pt x="1382" y="1775"/>
                    <a:pt x="1775" y="1382"/>
                    <a:pt x="1775" y="882"/>
                  </a:cubicBezTo>
                  <a:cubicBezTo>
                    <a:pt x="1775" y="394"/>
                    <a:pt x="1382" y="1"/>
                    <a:pt x="882"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63" name="Google Shape;1205;p28">
              <a:extLst>
                <a:ext uri="{FF2B5EF4-FFF2-40B4-BE49-F238E27FC236}">
                  <a16:creationId xmlns:a16="http://schemas.microsoft.com/office/drawing/2014/main" id="{9234B4A4-ADAC-ED44-7C47-492488E739CD}"/>
                </a:ext>
              </a:extLst>
            </p:cNvPr>
            <p:cNvSpPr txBox="1"/>
            <p:nvPr/>
          </p:nvSpPr>
          <p:spPr>
            <a:xfrm>
              <a:off x="6844818" y="1122239"/>
              <a:ext cx="1291500" cy="534900"/>
            </a:xfrm>
            <a:prstGeom prst="rect">
              <a:avLst/>
            </a:prstGeom>
            <a:noFill/>
            <a:ln>
              <a:noFill/>
            </a:ln>
          </p:spPr>
          <p:txBody>
            <a:bodyPr spcFirstLastPara="1" wrap="square" lIns="91425" tIns="91425" rIns="91425" bIns="91425" anchor="ctr" anchorCtr="0">
              <a:noAutofit/>
            </a:bodyPr>
            <a:lstStyle/>
            <a:p>
              <a:pPr algn="ctr">
                <a:buClr>
                  <a:srgbClr val="000000"/>
                </a:buClr>
                <a:buFont typeface="Arial"/>
                <a:buNone/>
              </a:pPr>
              <a:r>
                <a:rPr lang="en" sz="1500" kern="0">
                  <a:solidFill>
                    <a:srgbClr val="434343"/>
                  </a:solidFill>
                  <a:latin typeface="Oswald" panose="00000500000000000000" pitchFamily="2" charset="0"/>
                  <a:ea typeface="Roboto"/>
                  <a:cs typeface="Roboto"/>
                  <a:sym typeface="Roboto"/>
                </a:rPr>
                <a:t>Induction</a:t>
              </a:r>
              <a:endParaRPr sz="1500" kern="0">
                <a:solidFill>
                  <a:srgbClr val="434343"/>
                </a:solidFill>
                <a:latin typeface="Oswald" panose="00000500000000000000" pitchFamily="2" charset="0"/>
                <a:ea typeface="Roboto"/>
                <a:cs typeface="Roboto"/>
                <a:sym typeface="Roboto"/>
              </a:endParaRPr>
            </a:p>
          </p:txBody>
        </p:sp>
      </p:grpSp>
      <p:grpSp>
        <p:nvGrpSpPr>
          <p:cNvPr id="209" name="Google Shape;1189;p28">
            <a:extLst>
              <a:ext uri="{FF2B5EF4-FFF2-40B4-BE49-F238E27FC236}">
                <a16:creationId xmlns:a16="http://schemas.microsoft.com/office/drawing/2014/main" id="{FD24C92F-8C3D-68C9-30B4-B226EADF4CB4}"/>
              </a:ext>
            </a:extLst>
          </p:cNvPr>
          <p:cNvGrpSpPr/>
          <p:nvPr/>
        </p:nvGrpSpPr>
        <p:grpSpPr>
          <a:xfrm>
            <a:off x="8728789" y="1221362"/>
            <a:ext cx="1397312" cy="2035620"/>
            <a:chOff x="6739006" y="1136495"/>
            <a:chExt cx="1397312" cy="2035620"/>
          </a:xfrm>
        </p:grpSpPr>
        <p:sp>
          <p:nvSpPr>
            <p:cNvPr id="210" name="Google Shape;1190;p28">
              <a:extLst>
                <a:ext uri="{FF2B5EF4-FFF2-40B4-BE49-F238E27FC236}">
                  <a16:creationId xmlns:a16="http://schemas.microsoft.com/office/drawing/2014/main" id="{F3166A78-8782-5F2C-E67B-90167905DC9F}"/>
                </a:ext>
              </a:extLst>
            </p:cNvPr>
            <p:cNvSpPr/>
            <p:nvPr/>
          </p:nvSpPr>
          <p:spPr>
            <a:xfrm>
              <a:off x="7480999" y="2261200"/>
              <a:ext cx="11441" cy="704858"/>
            </a:xfrm>
            <a:custGeom>
              <a:avLst/>
              <a:gdLst/>
              <a:ahLst/>
              <a:cxnLst/>
              <a:rect l="l" t="t" r="r" b="b"/>
              <a:pathLst>
                <a:path w="322" h="19837" extrusionOk="0">
                  <a:moveTo>
                    <a:pt x="155" y="1"/>
                  </a:moveTo>
                  <a:cubicBezTo>
                    <a:pt x="72" y="1"/>
                    <a:pt x="0" y="72"/>
                    <a:pt x="0" y="156"/>
                  </a:cubicBezTo>
                  <a:lnTo>
                    <a:pt x="0" y="19682"/>
                  </a:lnTo>
                  <a:cubicBezTo>
                    <a:pt x="0" y="19765"/>
                    <a:pt x="72" y="19837"/>
                    <a:pt x="155" y="19837"/>
                  </a:cubicBezTo>
                  <a:cubicBezTo>
                    <a:pt x="250" y="19837"/>
                    <a:pt x="322" y="19765"/>
                    <a:pt x="322" y="19682"/>
                  </a:cubicBezTo>
                  <a:lnTo>
                    <a:pt x="322" y="156"/>
                  </a:lnTo>
                  <a:cubicBezTo>
                    <a:pt x="322" y="72"/>
                    <a:pt x="250" y="1"/>
                    <a:pt x="155"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grpSp>
          <p:nvGrpSpPr>
            <p:cNvPr id="211" name="Google Shape;1191;p28">
              <a:extLst>
                <a:ext uri="{FF2B5EF4-FFF2-40B4-BE49-F238E27FC236}">
                  <a16:creationId xmlns:a16="http://schemas.microsoft.com/office/drawing/2014/main" id="{1A76A9B5-4037-0C77-5D46-CA79EF9B6837}"/>
                </a:ext>
              </a:extLst>
            </p:cNvPr>
            <p:cNvGrpSpPr/>
            <p:nvPr/>
          </p:nvGrpSpPr>
          <p:grpSpPr>
            <a:xfrm>
              <a:off x="7307954" y="1698963"/>
              <a:ext cx="365560" cy="450589"/>
              <a:chOff x="7307954" y="1698963"/>
              <a:chExt cx="365560" cy="450589"/>
            </a:xfrm>
          </p:grpSpPr>
          <p:sp>
            <p:nvSpPr>
              <p:cNvPr id="215" name="Google Shape;1192;p28">
                <a:extLst>
                  <a:ext uri="{FF2B5EF4-FFF2-40B4-BE49-F238E27FC236}">
                    <a16:creationId xmlns:a16="http://schemas.microsoft.com/office/drawing/2014/main" id="{CC323FEA-7A96-944D-57A7-D43B2A1AA3C8}"/>
                  </a:ext>
                </a:extLst>
              </p:cNvPr>
              <p:cNvSpPr/>
              <p:nvPr/>
            </p:nvSpPr>
            <p:spPr>
              <a:xfrm>
                <a:off x="7432319" y="1819526"/>
                <a:ext cx="241195" cy="330026"/>
              </a:xfrm>
              <a:custGeom>
                <a:avLst/>
                <a:gdLst/>
                <a:ahLst/>
                <a:cxnLst/>
                <a:rect l="l" t="t" r="r" b="b"/>
                <a:pathLst>
                  <a:path w="6788" h="9288" extrusionOk="0">
                    <a:moveTo>
                      <a:pt x="3609" y="1"/>
                    </a:moveTo>
                    <a:cubicBezTo>
                      <a:pt x="3549" y="1"/>
                      <a:pt x="3501" y="49"/>
                      <a:pt x="3501" y="120"/>
                    </a:cubicBezTo>
                    <a:cubicBezTo>
                      <a:pt x="3501" y="179"/>
                      <a:pt x="3549" y="227"/>
                      <a:pt x="3609" y="227"/>
                    </a:cubicBezTo>
                    <a:lnTo>
                      <a:pt x="6561" y="227"/>
                    </a:lnTo>
                    <a:lnTo>
                      <a:pt x="6561" y="9073"/>
                    </a:lnTo>
                    <a:lnTo>
                      <a:pt x="215" y="9073"/>
                    </a:lnTo>
                    <a:lnTo>
                      <a:pt x="215" y="7383"/>
                    </a:lnTo>
                    <a:cubicBezTo>
                      <a:pt x="215" y="7323"/>
                      <a:pt x="168" y="7276"/>
                      <a:pt x="108" y="7276"/>
                    </a:cubicBezTo>
                    <a:cubicBezTo>
                      <a:pt x="49" y="7276"/>
                      <a:pt x="1" y="7323"/>
                      <a:pt x="1" y="7383"/>
                    </a:cubicBezTo>
                    <a:lnTo>
                      <a:pt x="1" y="9288"/>
                    </a:lnTo>
                    <a:lnTo>
                      <a:pt x="6787" y="9288"/>
                    </a:lnTo>
                    <a:lnTo>
                      <a:pt x="6787" y="1"/>
                    </a:ln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16" name="Google Shape;1193;p28">
                <a:extLst>
                  <a:ext uri="{FF2B5EF4-FFF2-40B4-BE49-F238E27FC236}">
                    <a16:creationId xmlns:a16="http://schemas.microsoft.com/office/drawing/2014/main" id="{E769DD15-D638-7D11-EBC9-F814A9C734C8}"/>
                  </a:ext>
                </a:extLst>
              </p:cNvPr>
              <p:cNvSpPr/>
              <p:nvPr/>
            </p:nvSpPr>
            <p:spPr>
              <a:xfrm>
                <a:off x="7307954" y="1698963"/>
                <a:ext cx="256403" cy="387127"/>
              </a:xfrm>
              <a:custGeom>
                <a:avLst/>
                <a:gdLst/>
                <a:ahLst/>
                <a:cxnLst/>
                <a:rect l="l" t="t" r="r" b="b"/>
                <a:pathLst>
                  <a:path w="7216" h="10895" extrusionOk="0">
                    <a:moveTo>
                      <a:pt x="7001" y="215"/>
                    </a:moveTo>
                    <a:lnTo>
                      <a:pt x="7001" y="10669"/>
                    </a:lnTo>
                    <a:lnTo>
                      <a:pt x="215" y="10669"/>
                    </a:lnTo>
                    <a:lnTo>
                      <a:pt x="215" y="215"/>
                    </a:lnTo>
                    <a:close/>
                    <a:moveTo>
                      <a:pt x="0" y="1"/>
                    </a:moveTo>
                    <a:lnTo>
                      <a:pt x="0" y="10895"/>
                    </a:lnTo>
                    <a:lnTo>
                      <a:pt x="7216" y="10895"/>
                    </a:lnTo>
                    <a:lnTo>
                      <a:pt x="7216" y="1"/>
                    </a:ln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17" name="Google Shape;1194;p28">
                <a:extLst>
                  <a:ext uri="{FF2B5EF4-FFF2-40B4-BE49-F238E27FC236}">
                    <a16:creationId xmlns:a16="http://schemas.microsoft.com/office/drawing/2014/main" id="{2B904047-EC6F-A433-C4D1-7E5CBB91DA59}"/>
                  </a:ext>
                </a:extLst>
              </p:cNvPr>
              <p:cNvSpPr/>
              <p:nvPr/>
            </p:nvSpPr>
            <p:spPr>
              <a:xfrm>
                <a:off x="7343487" y="1739577"/>
                <a:ext cx="185338" cy="7639"/>
              </a:xfrm>
              <a:custGeom>
                <a:avLst/>
                <a:gdLst/>
                <a:ahLst/>
                <a:cxnLst/>
                <a:rect l="l" t="t" r="r" b="b"/>
                <a:pathLst>
                  <a:path w="5216" h="215" extrusionOk="0">
                    <a:moveTo>
                      <a:pt x="108" y="1"/>
                    </a:moveTo>
                    <a:cubicBezTo>
                      <a:pt x="48" y="1"/>
                      <a:pt x="1" y="48"/>
                      <a:pt x="1" y="108"/>
                    </a:cubicBezTo>
                    <a:cubicBezTo>
                      <a:pt x="1" y="167"/>
                      <a:pt x="48" y="215"/>
                      <a:pt x="108" y="215"/>
                    </a:cubicBezTo>
                    <a:lnTo>
                      <a:pt x="5096" y="215"/>
                    </a:lnTo>
                    <a:cubicBezTo>
                      <a:pt x="5168" y="215"/>
                      <a:pt x="5216" y="167"/>
                      <a:pt x="5216" y="108"/>
                    </a:cubicBezTo>
                    <a:cubicBezTo>
                      <a:pt x="5216" y="48"/>
                      <a:pt x="5168" y="1"/>
                      <a:pt x="5096" y="1"/>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18" name="Google Shape;1195;p28">
                <a:extLst>
                  <a:ext uri="{FF2B5EF4-FFF2-40B4-BE49-F238E27FC236}">
                    <a16:creationId xmlns:a16="http://schemas.microsoft.com/office/drawing/2014/main" id="{C78EE463-5B20-596C-591E-463163FEA272}"/>
                  </a:ext>
                </a:extLst>
              </p:cNvPr>
              <p:cNvSpPr/>
              <p:nvPr/>
            </p:nvSpPr>
            <p:spPr>
              <a:xfrm>
                <a:off x="7343487" y="1775963"/>
                <a:ext cx="185338" cy="7639"/>
              </a:xfrm>
              <a:custGeom>
                <a:avLst/>
                <a:gdLst/>
                <a:ahLst/>
                <a:cxnLst/>
                <a:rect l="l" t="t" r="r" b="b"/>
                <a:pathLst>
                  <a:path w="5216" h="215" extrusionOk="0">
                    <a:moveTo>
                      <a:pt x="108" y="1"/>
                    </a:moveTo>
                    <a:cubicBezTo>
                      <a:pt x="48" y="1"/>
                      <a:pt x="1" y="48"/>
                      <a:pt x="1" y="108"/>
                    </a:cubicBezTo>
                    <a:cubicBezTo>
                      <a:pt x="1" y="167"/>
                      <a:pt x="48" y="215"/>
                      <a:pt x="108" y="215"/>
                    </a:cubicBezTo>
                    <a:lnTo>
                      <a:pt x="5096" y="215"/>
                    </a:lnTo>
                    <a:cubicBezTo>
                      <a:pt x="5168" y="215"/>
                      <a:pt x="5216" y="167"/>
                      <a:pt x="5216" y="108"/>
                    </a:cubicBezTo>
                    <a:cubicBezTo>
                      <a:pt x="5216" y="48"/>
                      <a:pt x="5168" y="1"/>
                      <a:pt x="5096" y="1"/>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19" name="Google Shape;1196;p28">
                <a:extLst>
                  <a:ext uri="{FF2B5EF4-FFF2-40B4-BE49-F238E27FC236}">
                    <a16:creationId xmlns:a16="http://schemas.microsoft.com/office/drawing/2014/main" id="{D8DE4272-CCF5-26C2-637D-F9B29E9D24D6}"/>
                  </a:ext>
                </a:extLst>
              </p:cNvPr>
              <p:cNvSpPr/>
              <p:nvPr/>
            </p:nvSpPr>
            <p:spPr>
              <a:xfrm>
                <a:off x="7343487" y="1812349"/>
                <a:ext cx="185338" cy="7639"/>
              </a:xfrm>
              <a:custGeom>
                <a:avLst/>
                <a:gdLst/>
                <a:ahLst/>
                <a:cxnLst/>
                <a:rect l="l" t="t" r="r" b="b"/>
                <a:pathLst>
                  <a:path w="5216" h="215" extrusionOk="0">
                    <a:moveTo>
                      <a:pt x="108" y="0"/>
                    </a:moveTo>
                    <a:cubicBezTo>
                      <a:pt x="48" y="0"/>
                      <a:pt x="1" y="48"/>
                      <a:pt x="1" y="108"/>
                    </a:cubicBezTo>
                    <a:cubicBezTo>
                      <a:pt x="1" y="167"/>
                      <a:pt x="48" y="215"/>
                      <a:pt x="108" y="215"/>
                    </a:cubicBezTo>
                    <a:lnTo>
                      <a:pt x="5096" y="215"/>
                    </a:lnTo>
                    <a:cubicBezTo>
                      <a:pt x="5168" y="215"/>
                      <a:pt x="5216" y="167"/>
                      <a:pt x="5216" y="108"/>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20" name="Google Shape;1197;p28">
                <a:extLst>
                  <a:ext uri="{FF2B5EF4-FFF2-40B4-BE49-F238E27FC236}">
                    <a16:creationId xmlns:a16="http://schemas.microsoft.com/office/drawing/2014/main" id="{55CFAC17-5016-FD3B-A07E-D82B46F4E490}"/>
                  </a:ext>
                </a:extLst>
              </p:cNvPr>
              <p:cNvSpPr/>
              <p:nvPr/>
            </p:nvSpPr>
            <p:spPr>
              <a:xfrm>
                <a:off x="7343487" y="1848734"/>
                <a:ext cx="185338" cy="7639"/>
              </a:xfrm>
              <a:custGeom>
                <a:avLst/>
                <a:gdLst/>
                <a:ahLst/>
                <a:cxnLst/>
                <a:rect l="l" t="t" r="r" b="b"/>
                <a:pathLst>
                  <a:path w="5216" h="215" extrusionOk="0">
                    <a:moveTo>
                      <a:pt x="108" y="0"/>
                    </a:moveTo>
                    <a:cubicBezTo>
                      <a:pt x="48" y="0"/>
                      <a:pt x="1" y="48"/>
                      <a:pt x="1" y="108"/>
                    </a:cubicBezTo>
                    <a:cubicBezTo>
                      <a:pt x="1" y="167"/>
                      <a:pt x="48" y="215"/>
                      <a:pt x="108" y="215"/>
                    </a:cubicBezTo>
                    <a:lnTo>
                      <a:pt x="5096" y="215"/>
                    </a:lnTo>
                    <a:cubicBezTo>
                      <a:pt x="5168" y="215"/>
                      <a:pt x="5216" y="167"/>
                      <a:pt x="5216" y="108"/>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21" name="Google Shape;1198;p28">
                <a:extLst>
                  <a:ext uri="{FF2B5EF4-FFF2-40B4-BE49-F238E27FC236}">
                    <a16:creationId xmlns:a16="http://schemas.microsoft.com/office/drawing/2014/main" id="{C9DDE432-9C9C-BFAF-EDB4-B4EBDA883801}"/>
                  </a:ext>
                </a:extLst>
              </p:cNvPr>
              <p:cNvSpPr/>
              <p:nvPr/>
            </p:nvSpPr>
            <p:spPr>
              <a:xfrm>
                <a:off x="7343487" y="1885120"/>
                <a:ext cx="185338" cy="7639"/>
              </a:xfrm>
              <a:custGeom>
                <a:avLst/>
                <a:gdLst/>
                <a:ahLst/>
                <a:cxnLst/>
                <a:rect l="l" t="t" r="r" b="b"/>
                <a:pathLst>
                  <a:path w="5216" h="215" extrusionOk="0">
                    <a:moveTo>
                      <a:pt x="108" y="0"/>
                    </a:moveTo>
                    <a:cubicBezTo>
                      <a:pt x="48" y="0"/>
                      <a:pt x="1" y="48"/>
                      <a:pt x="1" y="108"/>
                    </a:cubicBezTo>
                    <a:cubicBezTo>
                      <a:pt x="1" y="167"/>
                      <a:pt x="48" y="215"/>
                      <a:pt x="108" y="215"/>
                    </a:cubicBezTo>
                    <a:lnTo>
                      <a:pt x="5096" y="215"/>
                    </a:lnTo>
                    <a:cubicBezTo>
                      <a:pt x="5168" y="215"/>
                      <a:pt x="5216" y="167"/>
                      <a:pt x="5216" y="108"/>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22" name="Google Shape;1199;p28">
                <a:extLst>
                  <a:ext uri="{FF2B5EF4-FFF2-40B4-BE49-F238E27FC236}">
                    <a16:creationId xmlns:a16="http://schemas.microsoft.com/office/drawing/2014/main" id="{600D1562-51F5-72C1-B6BD-A29CC083CB0F}"/>
                  </a:ext>
                </a:extLst>
              </p:cNvPr>
              <p:cNvSpPr/>
              <p:nvPr/>
            </p:nvSpPr>
            <p:spPr>
              <a:xfrm>
                <a:off x="7343487" y="1921506"/>
                <a:ext cx="185338" cy="8066"/>
              </a:xfrm>
              <a:custGeom>
                <a:avLst/>
                <a:gdLst/>
                <a:ahLst/>
                <a:cxnLst/>
                <a:rect l="l" t="t" r="r" b="b"/>
                <a:pathLst>
                  <a:path w="5216" h="227" extrusionOk="0">
                    <a:moveTo>
                      <a:pt x="108" y="0"/>
                    </a:moveTo>
                    <a:cubicBezTo>
                      <a:pt x="48" y="0"/>
                      <a:pt x="1" y="48"/>
                      <a:pt x="1" y="107"/>
                    </a:cubicBezTo>
                    <a:cubicBezTo>
                      <a:pt x="1" y="179"/>
                      <a:pt x="48" y="227"/>
                      <a:pt x="108" y="227"/>
                    </a:cubicBezTo>
                    <a:lnTo>
                      <a:pt x="5096" y="227"/>
                    </a:lnTo>
                    <a:cubicBezTo>
                      <a:pt x="5168" y="227"/>
                      <a:pt x="5216" y="179"/>
                      <a:pt x="5216" y="107"/>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23" name="Google Shape;1200;p28">
                <a:extLst>
                  <a:ext uri="{FF2B5EF4-FFF2-40B4-BE49-F238E27FC236}">
                    <a16:creationId xmlns:a16="http://schemas.microsoft.com/office/drawing/2014/main" id="{C5B52FC9-D44E-428D-BE06-3FE5E9D8ABE1}"/>
                  </a:ext>
                </a:extLst>
              </p:cNvPr>
              <p:cNvSpPr/>
              <p:nvPr/>
            </p:nvSpPr>
            <p:spPr>
              <a:xfrm>
                <a:off x="7343487" y="1957891"/>
                <a:ext cx="185338" cy="8066"/>
              </a:xfrm>
              <a:custGeom>
                <a:avLst/>
                <a:gdLst/>
                <a:ahLst/>
                <a:cxnLst/>
                <a:rect l="l" t="t" r="r" b="b"/>
                <a:pathLst>
                  <a:path w="5216" h="227" extrusionOk="0">
                    <a:moveTo>
                      <a:pt x="108" y="0"/>
                    </a:moveTo>
                    <a:cubicBezTo>
                      <a:pt x="48" y="0"/>
                      <a:pt x="1" y="60"/>
                      <a:pt x="1" y="119"/>
                    </a:cubicBezTo>
                    <a:cubicBezTo>
                      <a:pt x="1" y="179"/>
                      <a:pt x="48" y="226"/>
                      <a:pt x="108" y="226"/>
                    </a:cubicBezTo>
                    <a:lnTo>
                      <a:pt x="5096" y="226"/>
                    </a:lnTo>
                    <a:cubicBezTo>
                      <a:pt x="5168" y="226"/>
                      <a:pt x="5216" y="179"/>
                      <a:pt x="5216" y="119"/>
                    </a:cubicBezTo>
                    <a:cubicBezTo>
                      <a:pt x="5216" y="60"/>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24" name="Google Shape;1201;p28">
                <a:extLst>
                  <a:ext uri="{FF2B5EF4-FFF2-40B4-BE49-F238E27FC236}">
                    <a16:creationId xmlns:a16="http://schemas.microsoft.com/office/drawing/2014/main" id="{F848D5EB-42B1-02A9-6CED-006AB7C48F0B}"/>
                  </a:ext>
                </a:extLst>
              </p:cNvPr>
              <p:cNvSpPr/>
              <p:nvPr/>
            </p:nvSpPr>
            <p:spPr>
              <a:xfrm>
                <a:off x="7343487" y="1994703"/>
                <a:ext cx="185338" cy="7639"/>
              </a:xfrm>
              <a:custGeom>
                <a:avLst/>
                <a:gdLst/>
                <a:ahLst/>
                <a:cxnLst/>
                <a:rect l="l" t="t" r="r" b="b"/>
                <a:pathLst>
                  <a:path w="5216" h="215" extrusionOk="0">
                    <a:moveTo>
                      <a:pt x="108" y="0"/>
                    </a:moveTo>
                    <a:cubicBezTo>
                      <a:pt x="48" y="0"/>
                      <a:pt x="1" y="48"/>
                      <a:pt x="1" y="107"/>
                    </a:cubicBezTo>
                    <a:cubicBezTo>
                      <a:pt x="1" y="167"/>
                      <a:pt x="48" y="214"/>
                      <a:pt x="108" y="214"/>
                    </a:cubicBezTo>
                    <a:lnTo>
                      <a:pt x="5096" y="214"/>
                    </a:lnTo>
                    <a:cubicBezTo>
                      <a:pt x="5168" y="214"/>
                      <a:pt x="5216" y="167"/>
                      <a:pt x="5216" y="107"/>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25" name="Google Shape;1202;p28">
                <a:extLst>
                  <a:ext uri="{FF2B5EF4-FFF2-40B4-BE49-F238E27FC236}">
                    <a16:creationId xmlns:a16="http://schemas.microsoft.com/office/drawing/2014/main" id="{80C4AD59-9EFB-1D49-11E5-7672E5A98927}"/>
                  </a:ext>
                </a:extLst>
              </p:cNvPr>
              <p:cNvSpPr/>
              <p:nvPr/>
            </p:nvSpPr>
            <p:spPr>
              <a:xfrm>
                <a:off x="7343487" y="2031053"/>
                <a:ext cx="185338" cy="7675"/>
              </a:xfrm>
              <a:custGeom>
                <a:avLst/>
                <a:gdLst/>
                <a:ahLst/>
                <a:cxnLst/>
                <a:rect l="l" t="t" r="r" b="b"/>
                <a:pathLst>
                  <a:path w="5216" h="216" extrusionOk="0">
                    <a:moveTo>
                      <a:pt x="108" y="1"/>
                    </a:moveTo>
                    <a:cubicBezTo>
                      <a:pt x="48" y="1"/>
                      <a:pt x="1" y="49"/>
                      <a:pt x="1" y="108"/>
                    </a:cubicBezTo>
                    <a:cubicBezTo>
                      <a:pt x="1" y="168"/>
                      <a:pt x="48" y="215"/>
                      <a:pt x="108" y="215"/>
                    </a:cubicBezTo>
                    <a:lnTo>
                      <a:pt x="5096" y="215"/>
                    </a:lnTo>
                    <a:cubicBezTo>
                      <a:pt x="5168" y="215"/>
                      <a:pt x="5216" y="168"/>
                      <a:pt x="5216" y="108"/>
                    </a:cubicBezTo>
                    <a:cubicBezTo>
                      <a:pt x="5216" y="49"/>
                      <a:pt x="5168" y="1"/>
                      <a:pt x="5096" y="1"/>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grpSp>
        <p:sp>
          <p:nvSpPr>
            <p:cNvPr id="212" name="Google Shape;1203;p28">
              <a:extLst>
                <a:ext uri="{FF2B5EF4-FFF2-40B4-BE49-F238E27FC236}">
                  <a16:creationId xmlns:a16="http://schemas.microsoft.com/office/drawing/2014/main" id="{6DB132E0-6681-057D-A215-134A59F965E6}"/>
                </a:ext>
              </a:extLst>
            </p:cNvPr>
            <p:cNvSpPr/>
            <p:nvPr/>
          </p:nvSpPr>
          <p:spPr>
            <a:xfrm>
              <a:off x="6845138" y="2732081"/>
              <a:ext cx="1291180" cy="440034"/>
            </a:xfrm>
            <a:custGeom>
              <a:avLst/>
              <a:gdLst/>
              <a:ahLst/>
              <a:cxnLst/>
              <a:rect l="l" t="t" r="r" b="b"/>
              <a:pathLst>
                <a:path w="36338" h="12384" extrusionOk="0">
                  <a:moveTo>
                    <a:pt x="0" y="1"/>
                  </a:moveTo>
                  <a:lnTo>
                    <a:pt x="0" y="1358"/>
                  </a:lnTo>
                  <a:cubicBezTo>
                    <a:pt x="2417" y="1644"/>
                    <a:pt x="4298" y="3692"/>
                    <a:pt x="4298" y="6192"/>
                  </a:cubicBezTo>
                  <a:cubicBezTo>
                    <a:pt x="4298" y="8692"/>
                    <a:pt x="2417" y="10752"/>
                    <a:pt x="0" y="11038"/>
                  </a:cubicBezTo>
                  <a:lnTo>
                    <a:pt x="0" y="12383"/>
                  </a:lnTo>
                  <a:lnTo>
                    <a:pt x="32040" y="12383"/>
                  </a:lnTo>
                  <a:lnTo>
                    <a:pt x="32040" y="10502"/>
                  </a:lnTo>
                  <a:cubicBezTo>
                    <a:pt x="34409" y="10502"/>
                    <a:pt x="36338" y="8573"/>
                    <a:pt x="36338" y="6192"/>
                  </a:cubicBezTo>
                  <a:cubicBezTo>
                    <a:pt x="36338" y="3823"/>
                    <a:pt x="34409" y="1894"/>
                    <a:pt x="32040" y="1894"/>
                  </a:cubicBezTo>
                  <a:lnTo>
                    <a:pt x="32040" y="1"/>
                  </a:lnTo>
                  <a:close/>
                </a:path>
              </a:pathLst>
            </a:custGeom>
            <a:solidFill>
              <a:schemeClr val="accent1"/>
            </a:solidFill>
            <a:ln>
              <a:noFill/>
            </a:ln>
          </p:spPr>
          <p:txBody>
            <a:bodyPr spcFirstLastPara="1" wrap="square" lIns="91425" tIns="91425" rIns="91425" bIns="91425" anchor="ctr" anchorCtr="0">
              <a:noAutofit/>
            </a:bodyPr>
            <a:lstStyle/>
            <a:p>
              <a:pPr algn="ctr">
                <a:buClr>
                  <a:srgbClr val="000000"/>
                </a:buClr>
                <a:buFont typeface="Arial"/>
                <a:buNone/>
              </a:pPr>
              <a:r>
                <a:rPr lang="en" sz="1400" kern="0">
                  <a:solidFill>
                    <a:srgbClr val="FFFFFF"/>
                  </a:solidFill>
                  <a:latin typeface="Oswald" panose="00000500000000000000" pitchFamily="2" charset="0"/>
                  <a:ea typeface="Fira Sans Extra Condensed Medium"/>
                  <a:cs typeface="Fira Sans Extra Condensed Medium"/>
                  <a:sym typeface="Fira Sans Extra Condensed Medium"/>
                </a:rPr>
                <a:t>Phase 8</a:t>
              </a:r>
              <a:endParaRPr sz="1400" kern="0">
                <a:solidFill>
                  <a:srgbClr val="FFFFFF"/>
                </a:solidFill>
                <a:latin typeface="Oswald" panose="00000500000000000000" pitchFamily="2" charset="0"/>
                <a:ea typeface="Fira Sans Extra Condensed Medium"/>
                <a:cs typeface="Fira Sans Extra Condensed Medium"/>
                <a:sym typeface="Fira Sans Extra Condensed Medium"/>
              </a:endParaRPr>
            </a:p>
          </p:txBody>
        </p:sp>
        <p:sp>
          <p:nvSpPr>
            <p:cNvPr id="213" name="Google Shape;1204;p28">
              <a:extLst>
                <a:ext uri="{FF2B5EF4-FFF2-40B4-BE49-F238E27FC236}">
                  <a16:creationId xmlns:a16="http://schemas.microsoft.com/office/drawing/2014/main" id="{F5FF3D33-74FA-AF93-3EC6-AB8EE901510B}"/>
                </a:ext>
              </a:extLst>
            </p:cNvPr>
            <p:cNvSpPr/>
            <p:nvPr/>
          </p:nvSpPr>
          <p:spPr>
            <a:xfrm>
              <a:off x="7455167" y="2235403"/>
              <a:ext cx="63070" cy="63070"/>
            </a:xfrm>
            <a:custGeom>
              <a:avLst/>
              <a:gdLst/>
              <a:ahLst/>
              <a:cxnLst/>
              <a:rect l="l" t="t" r="r" b="b"/>
              <a:pathLst>
                <a:path w="1775" h="1775" extrusionOk="0">
                  <a:moveTo>
                    <a:pt x="882" y="1"/>
                  </a:moveTo>
                  <a:cubicBezTo>
                    <a:pt x="394" y="1"/>
                    <a:pt x="1" y="394"/>
                    <a:pt x="1" y="882"/>
                  </a:cubicBezTo>
                  <a:cubicBezTo>
                    <a:pt x="1" y="1382"/>
                    <a:pt x="394" y="1775"/>
                    <a:pt x="882" y="1775"/>
                  </a:cubicBezTo>
                  <a:cubicBezTo>
                    <a:pt x="1382" y="1775"/>
                    <a:pt x="1775" y="1382"/>
                    <a:pt x="1775" y="882"/>
                  </a:cubicBezTo>
                  <a:cubicBezTo>
                    <a:pt x="1775" y="394"/>
                    <a:pt x="1382" y="1"/>
                    <a:pt x="882"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14" name="Google Shape;1205;p28">
              <a:extLst>
                <a:ext uri="{FF2B5EF4-FFF2-40B4-BE49-F238E27FC236}">
                  <a16:creationId xmlns:a16="http://schemas.microsoft.com/office/drawing/2014/main" id="{BDBE60E0-D28D-8F85-1389-37C5D8FA6512}"/>
                </a:ext>
              </a:extLst>
            </p:cNvPr>
            <p:cNvSpPr txBox="1"/>
            <p:nvPr/>
          </p:nvSpPr>
          <p:spPr>
            <a:xfrm>
              <a:off x="6739006" y="1136495"/>
              <a:ext cx="1291500" cy="534900"/>
            </a:xfrm>
            <a:prstGeom prst="rect">
              <a:avLst/>
            </a:prstGeom>
            <a:noFill/>
            <a:ln>
              <a:noFill/>
            </a:ln>
          </p:spPr>
          <p:txBody>
            <a:bodyPr spcFirstLastPara="1" wrap="square" lIns="91425" tIns="91425" rIns="91425" bIns="91425" anchor="ctr" anchorCtr="0">
              <a:noAutofit/>
            </a:bodyPr>
            <a:lstStyle/>
            <a:p>
              <a:pPr algn="ctr">
                <a:buClr>
                  <a:srgbClr val="000000"/>
                </a:buClr>
                <a:buFont typeface="Arial"/>
                <a:buNone/>
              </a:pPr>
              <a:r>
                <a:rPr lang="en" sz="1500" kern="0">
                  <a:solidFill>
                    <a:srgbClr val="434343"/>
                  </a:solidFill>
                  <a:latin typeface="Oswald" panose="00000500000000000000" pitchFamily="2" charset="0"/>
                  <a:ea typeface="Roboto"/>
                  <a:cs typeface="Roboto"/>
                  <a:sym typeface="Roboto"/>
                </a:rPr>
                <a:t>Process Training</a:t>
              </a:r>
              <a:endParaRPr sz="1500" kern="0">
                <a:solidFill>
                  <a:srgbClr val="434343"/>
                </a:solidFill>
                <a:latin typeface="Oswald" panose="00000500000000000000" pitchFamily="2" charset="0"/>
                <a:ea typeface="Roboto"/>
                <a:cs typeface="Roboto"/>
                <a:sym typeface="Roboto"/>
              </a:endParaRPr>
            </a:p>
          </p:txBody>
        </p:sp>
      </p:grpSp>
      <p:grpSp>
        <p:nvGrpSpPr>
          <p:cNvPr id="226" name="Google Shape;1189;p28">
            <a:extLst>
              <a:ext uri="{FF2B5EF4-FFF2-40B4-BE49-F238E27FC236}">
                <a16:creationId xmlns:a16="http://schemas.microsoft.com/office/drawing/2014/main" id="{DA197626-712E-D5E1-58E5-852BF9D14CCD}"/>
              </a:ext>
            </a:extLst>
          </p:cNvPr>
          <p:cNvGrpSpPr/>
          <p:nvPr/>
        </p:nvGrpSpPr>
        <p:grpSpPr>
          <a:xfrm>
            <a:off x="9910716" y="1223080"/>
            <a:ext cx="1397312" cy="2035620"/>
            <a:chOff x="6739006" y="1136495"/>
            <a:chExt cx="1397312" cy="2035620"/>
          </a:xfrm>
        </p:grpSpPr>
        <p:sp>
          <p:nvSpPr>
            <p:cNvPr id="227" name="Google Shape;1190;p28">
              <a:extLst>
                <a:ext uri="{FF2B5EF4-FFF2-40B4-BE49-F238E27FC236}">
                  <a16:creationId xmlns:a16="http://schemas.microsoft.com/office/drawing/2014/main" id="{7E525721-8335-C85D-2371-3A82DFCD597D}"/>
                </a:ext>
              </a:extLst>
            </p:cNvPr>
            <p:cNvSpPr/>
            <p:nvPr/>
          </p:nvSpPr>
          <p:spPr>
            <a:xfrm>
              <a:off x="7480999" y="2261200"/>
              <a:ext cx="11441" cy="704858"/>
            </a:xfrm>
            <a:custGeom>
              <a:avLst/>
              <a:gdLst/>
              <a:ahLst/>
              <a:cxnLst/>
              <a:rect l="l" t="t" r="r" b="b"/>
              <a:pathLst>
                <a:path w="322" h="19837" extrusionOk="0">
                  <a:moveTo>
                    <a:pt x="155" y="1"/>
                  </a:moveTo>
                  <a:cubicBezTo>
                    <a:pt x="72" y="1"/>
                    <a:pt x="0" y="72"/>
                    <a:pt x="0" y="156"/>
                  </a:cubicBezTo>
                  <a:lnTo>
                    <a:pt x="0" y="19682"/>
                  </a:lnTo>
                  <a:cubicBezTo>
                    <a:pt x="0" y="19765"/>
                    <a:pt x="72" y="19837"/>
                    <a:pt x="155" y="19837"/>
                  </a:cubicBezTo>
                  <a:cubicBezTo>
                    <a:pt x="250" y="19837"/>
                    <a:pt x="322" y="19765"/>
                    <a:pt x="322" y="19682"/>
                  </a:cubicBezTo>
                  <a:lnTo>
                    <a:pt x="322" y="156"/>
                  </a:lnTo>
                  <a:cubicBezTo>
                    <a:pt x="322" y="72"/>
                    <a:pt x="250" y="1"/>
                    <a:pt x="155"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grpSp>
          <p:nvGrpSpPr>
            <p:cNvPr id="228" name="Google Shape;1191;p28">
              <a:extLst>
                <a:ext uri="{FF2B5EF4-FFF2-40B4-BE49-F238E27FC236}">
                  <a16:creationId xmlns:a16="http://schemas.microsoft.com/office/drawing/2014/main" id="{D1208399-531F-38A5-1FCE-3FE271A37C50}"/>
                </a:ext>
              </a:extLst>
            </p:cNvPr>
            <p:cNvGrpSpPr/>
            <p:nvPr/>
          </p:nvGrpSpPr>
          <p:grpSpPr>
            <a:xfrm>
              <a:off x="7307954" y="1698963"/>
              <a:ext cx="365560" cy="450589"/>
              <a:chOff x="7307954" y="1698963"/>
              <a:chExt cx="365560" cy="450589"/>
            </a:xfrm>
          </p:grpSpPr>
          <p:sp>
            <p:nvSpPr>
              <p:cNvPr id="232" name="Google Shape;1192;p28">
                <a:extLst>
                  <a:ext uri="{FF2B5EF4-FFF2-40B4-BE49-F238E27FC236}">
                    <a16:creationId xmlns:a16="http://schemas.microsoft.com/office/drawing/2014/main" id="{631F29CF-A516-0B34-48AF-DB63D27AF3C9}"/>
                  </a:ext>
                </a:extLst>
              </p:cNvPr>
              <p:cNvSpPr/>
              <p:nvPr/>
            </p:nvSpPr>
            <p:spPr>
              <a:xfrm>
                <a:off x="7432319" y="1819526"/>
                <a:ext cx="241195" cy="330026"/>
              </a:xfrm>
              <a:custGeom>
                <a:avLst/>
                <a:gdLst/>
                <a:ahLst/>
                <a:cxnLst/>
                <a:rect l="l" t="t" r="r" b="b"/>
                <a:pathLst>
                  <a:path w="6788" h="9288" extrusionOk="0">
                    <a:moveTo>
                      <a:pt x="3609" y="1"/>
                    </a:moveTo>
                    <a:cubicBezTo>
                      <a:pt x="3549" y="1"/>
                      <a:pt x="3501" y="49"/>
                      <a:pt x="3501" y="120"/>
                    </a:cubicBezTo>
                    <a:cubicBezTo>
                      <a:pt x="3501" y="179"/>
                      <a:pt x="3549" y="227"/>
                      <a:pt x="3609" y="227"/>
                    </a:cubicBezTo>
                    <a:lnTo>
                      <a:pt x="6561" y="227"/>
                    </a:lnTo>
                    <a:lnTo>
                      <a:pt x="6561" y="9073"/>
                    </a:lnTo>
                    <a:lnTo>
                      <a:pt x="215" y="9073"/>
                    </a:lnTo>
                    <a:lnTo>
                      <a:pt x="215" y="7383"/>
                    </a:lnTo>
                    <a:cubicBezTo>
                      <a:pt x="215" y="7323"/>
                      <a:pt x="168" y="7276"/>
                      <a:pt x="108" y="7276"/>
                    </a:cubicBezTo>
                    <a:cubicBezTo>
                      <a:pt x="49" y="7276"/>
                      <a:pt x="1" y="7323"/>
                      <a:pt x="1" y="7383"/>
                    </a:cubicBezTo>
                    <a:lnTo>
                      <a:pt x="1" y="9288"/>
                    </a:lnTo>
                    <a:lnTo>
                      <a:pt x="6787" y="9288"/>
                    </a:lnTo>
                    <a:lnTo>
                      <a:pt x="6787" y="1"/>
                    </a:ln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33" name="Google Shape;1193;p28">
                <a:extLst>
                  <a:ext uri="{FF2B5EF4-FFF2-40B4-BE49-F238E27FC236}">
                    <a16:creationId xmlns:a16="http://schemas.microsoft.com/office/drawing/2014/main" id="{6DDB7ED4-3B4D-FE72-11B4-052B9DF7B160}"/>
                  </a:ext>
                </a:extLst>
              </p:cNvPr>
              <p:cNvSpPr/>
              <p:nvPr/>
            </p:nvSpPr>
            <p:spPr>
              <a:xfrm>
                <a:off x="7307954" y="1698963"/>
                <a:ext cx="256403" cy="387127"/>
              </a:xfrm>
              <a:custGeom>
                <a:avLst/>
                <a:gdLst/>
                <a:ahLst/>
                <a:cxnLst/>
                <a:rect l="l" t="t" r="r" b="b"/>
                <a:pathLst>
                  <a:path w="7216" h="10895" extrusionOk="0">
                    <a:moveTo>
                      <a:pt x="7001" y="215"/>
                    </a:moveTo>
                    <a:lnTo>
                      <a:pt x="7001" y="10669"/>
                    </a:lnTo>
                    <a:lnTo>
                      <a:pt x="215" y="10669"/>
                    </a:lnTo>
                    <a:lnTo>
                      <a:pt x="215" y="215"/>
                    </a:lnTo>
                    <a:close/>
                    <a:moveTo>
                      <a:pt x="0" y="1"/>
                    </a:moveTo>
                    <a:lnTo>
                      <a:pt x="0" y="10895"/>
                    </a:lnTo>
                    <a:lnTo>
                      <a:pt x="7216" y="10895"/>
                    </a:lnTo>
                    <a:lnTo>
                      <a:pt x="7216" y="1"/>
                    </a:ln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34" name="Google Shape;1194;p28">
                <a:extLst>
                  <a:ext uri="{FF2B5EF4-FFF2-40B4-BE49-F238E27FC236}">
                    <a16:creationId xmlns:a16="http://schemas.microsoft.com/office/drawing/2014/main" id="{3FAD3A8F-F89D-E5B7-6CD3-52B4319634A0}"/>
                  </a:ext>
                </a:extLst>
              </p:cNvPr>
              <p:cNvSpPr/>
              <p:nvPr/>
            </p:nvSpPr>
            <p:spPr>
              <a:xfrm>
                <a:off x="7343487" y="1739577"/>
                <a:ext cx="185338" cy="7639"/>
              </a:xfrm>
              <a:custGeom>
                <a:avLst/>
                <a:gdLst/>
                <a:ahLst/>
                <a:cxnLst/>
                <a:rect l="l" t="t" r="r" b="b"/>
                <a:pathLst>
                  <a:path w="5216" h="215" extrusionOk="0">
                    <a:moveTo>
                      <a:pt x="108" y="1"/>
                    </a:moveTo>
                    <a:cubicBezTo>
                      <a:pt x="48" y="1"/>
                      <a:pt x="1" y="48"/>
                      <a:pt x="1" y="108"/>
                    </a:cubicBezTo>
                    <a:cubicBezTo>
                      <a:pt x="1" y="167"/>
                      <a:pt x="48" y="215"/>
                      <a:pt x="108" y="215"/>
                    </a:cubicBezTo>
                    <a:lnTo>
                      <a:pt x="5096" y="215"/>
                    </a:lnTo>
                    <a:cubicBezTo>
                      <a:pt x="5168" y="215"/>
                      <a:pt x="5216" y="167"/>
                      <a:pt x="5216" y="108"/>
                    </a:cubicBezTo>
                    <a:cubicBezTo>
                      <a:pt x="5216" y="48"/>
                      <a:pt x="5168" y="1"/>
                      <a:pt x="5096" y="1"/>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35" name="Google Shape;1195;p28">
                <a:extLst>
                  <a:ext uri="{FF2B5EF4-FFF2-40B4-BE49-F238E27FC236}">
                    <a16:creationId xmlns:a16="http://schemas.microsoft.com/office/drawing/2014/main" id="{3F876EB3-831F-89B5-5D10-60A0A1D0AF43}"/>
                  </a:ext>
                </a:extLst>
              </p:cNvPr>
              <p:cNvSpPr/>
              <p:nvPr/>
            </p:nvSpPr>
            <p:spPr>
              <a:xfrm>
                <a:off x="7343487" y="1775963"/>
                <a:ext cx="185338" cy="7639"/>
              </a:xfrm>
              <a:custGeom>
                <a:avLst/>
                <a:gdLst/>
                <a:ahLst/>
                <a:cxnLst/>
                <a:rect l="l" t="t" r="r" b="b"/>
                <a:pathLst>
                  <a:path w="5216" h="215" extrusionOk="0">
                    <a:moveTo>
                      <a:pt x="108" y="1"/>
                    </a:moveTo>
                    <a:cubicBezTo>
                      <a:pt x="48" y="1"/>
                      <a:pt x="1" y="48"/>
                      <a:pt x="1" y="108"/>
                    </a:cubicBezTo>
                    <a:cubicBezTo>
                      <a:pt x="1" y="167"/>
                      <a:pt x="48" y="215"/>
                      <a:pt x="108" y="215"/>
                    </a:cubicBezTo>
                    <a:lnTo>
                      <a:pt x="5096" y="215"/>
                    </a:lnTo>
                    <a:cubicBezTo>
                      <a:pt x="5168" y="215"/>
                      <a:pt x="5216" y="167"/>
                      <a:pt x="5216" y="108"/>
                    </a:cubicBezTo>
                    <a:cubicBezTo>
                      <a:pt x="5216" y="48"/>
                      <a:pt x="5168" y="1"/>
                      <a:pt x="5096" y="1"/>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36" name="Google Shape;1196;p28">
                <a:extLst>
                  <a:ext uri="{FF2B5EF4-FFF2-40B4-BE49-F238E27FC236}">
                    <a16:creationId xmlns:a16="http://schemas.microsoft.com/office/drawing/2014/main" id="{FC94DCF4-5109-EC6C-ADFC-5B48991D996C}"/>
                  </a:ext>
                </a:extLst>
              </p:cNvPr>
              <p:cNvSpPr/>
              <p:nvPr/>
            </p:nvSpPr>
            <p:spPr>
              <a:xfrm>
                <a:off x="7343487" y="1812349"/>
                <a:ext cx="185338" cy="7639"/>
              </a:xfrm>
              <a:custGeom>
                <a:avLst/>
                <a:gdLst/>
                <a:ahLst/>
                <a:cxnLst/>
                <a:rect l="l" t="t" r="r" b="b"/>
                <a:pathLst>
                  <a:path w="5216" h="215" extrusionOk="0">
                    <a:moveTo>
                      <a:pt x="108" y="0"/>
                    </a:moveTo>
                    <a:cubicBezTo>
                      <a:pt x="48" y="0"/>
                      <a:pt x="1" y="48"/>
                      <a:pt x="1" y="108"/>
                    </a:cubicBezTo>
                    <a:cubicBezTo>
                      <a:pt x="1" y="167"/>
                      <a:pt x="48" y="215"/>
                      <a:pt x="108" y="215"/>
                    </a:cubicBezTo>
                    <a:lnTo>
                      <a:pt x="5096" y="215"/>
                    </a:lnTo>
                    <a:cubicBezTo>
                      <a:pt x="5168" y="215"/>
                      <a:pt x="5216" y="167"/>
                      <a:pt x="5216" y="108"/>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37" name="Google Shape;1197;p28">
                <a:extLst>
                  <a:ext uri="{FF2B5EF4-FFF2-40B4-BE49-F238E27FC236}">
                    <a16:creationId xmlns:a16="http://schemas.microsoft.com/office/drawing/2014/main" id="{12924D8E-1CE7-3ECB-3372-3C498803C9D2}"/>
                  </a:ext>
                </a:extLst>
              </p:cNvPr>
              <p:cNvSpPr/>
              <p:nvPr/>
            </p:nvSpPr>
            <p:spPr>
              <a:xfrm>
                <a:off x="7343487" y="1848734"/>
                <a:ext cx="185338" cy="7639"/>
              </a:xfrm>
              <a:custGeom>
                <a:avLst/>
                <a:gdLst/>
                <a:ahLst/>
                <a:cxnLst/>
                <a:rect l="l" t="t" r="r" b="b"/>
                <a:pathLst>
                  <a:path w="5216" h="215" extrusionOk="0">
                    <a:moveTo>
                      <a:pt x="108" y="0"/>
                    </a:moveTo>
                    <a:cubicBezTo>
                      <a:pt x="48" y="0"/>
                      <a:pt x="1" y="48"/>
                      <a:pt x="1" y="108"/>
                    </a:cubicBezTo>
                    <a:cubicBezTo>
                      <a:pt x="1" y="167"/>
                      <a:pt x="48" y="215"/>
                      <a:pt x="108" y="215"/>
                    </a:cubicBezTo>
                    <a:lnTo>
                      <a:pt x="5096" y="215"/>
                    </a:lnTo>
                    <a:cubicBezTo>
                      <a:pt x="5168" y="215"/>
                      <a:pt x="5216" y="167"/>
                      <a:pt x="5216" y="108"/>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38" name="Google Shape;1198;p28">
                <a:extLst>
                  <a:ext uri="{FF2B5EF4-FFF2-40B4-BE49-F238E27FC236}">
                    <a16:creationId xmlns:a16="http://schemas.microsoft.com/office/drawing/2014/main" id="{2164B9C4-75C7-63B2-F58F-E185A143C60B}"/>
                  </a:ext>
                </a:extLst>
              </p:cNvPr>
              <p:cNvSpPr/>
              <p:nvPr/>
            </p:nvSpPr>
            <p:spPr>
              <a:xfrm>
                <a:off x="7343487" y="1885120"/>
                <a:ext cx="185338" cy="7639"/>
              </a:xfrm>
              <a:custGeom>
                <a:avLst/>
                <a:gdLst/>
                <a:ahLst/>
                <a:cxnLst/>
                <a:rect l="l" t="t" r="r" b="b"/>
                <a:pathLst>
                  <a:path w="5216" h="215" extrusionOk="0">
                    <a:moveTo>
                      <a:pt x="108" y="0"/>
                    </a:moveTo>
                    <a:cubicBezTo>
                      <a:pt x="48" y="0"/>
                      <a:pt x="1" y="48"/>
                      <a:pt x="1" y="108"/>
                    </a:cubicBezTo>
                    <a:cubicBezTo>
                      <a:pt x="1" y="167"/>
                      <a:pt x="48" y="215"/>
                      <a:pt x="108" y="215"/>
                    </a:cubicBezTo>
                    <a:lnTo>
                      <a:pt x="5096" y="215"/>
                    </a:lnTo>
                    <a:cubicBezTo>
                      <a:pt x="5168" y="215"/>
                      <a:pt x="5216" y="167"/>
                      <a:pt x="5216" y="108"/>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39" name="Google Shape;1199;p28">
                <a:extLst>
                  <a:ext uri="{FF2B5EF4-FFF2-40B4-BE49-F238E27FC236}">
                    <a16:creationId xmlns:a16="http://schemas.microsoft.com/office/drawing/2014/main" id="{875A8EF2-3E64-03A0-E322-203AAEB8AE2D}"/>
                  </a:ext>
                </a:extLst>
              </p:cNvPr>
              <p:cNvSpPr/>
              <p:nvPr/>
            </p:nvSpPr>
            <p:spPr>
              <a:xfrm>
                <a:off x="7343487" y="1921506"/>
                <a:ext cx="185338" cy="8066"/>
              </a:xfrm>
              <a:custGeom>
                <a:avLst/>
                <a:gdLst/>
                <a:ahLst/>
                <a:cxnLst/>
                <a:rect l="l" t="t" r="r" b="b"/>
                <a:pathLst>
                  <a:path w="5216" h="227" extrusionOk="0">
                    <a:moveTo>
                      <a:pt x="108" y="0"/>
                    </a:moveTo>
                    <a:cubicBezTo>
                      <a:pt x="48" y="0"/>
                      <a:pt x="1" y="48"/>
                      <a:pt x="1" y="107"/>
                    </a:cubicBezTo>
                    <a:cubicBezTo>
                      <a:pt x="1" y="179"/>
                      <a:pt x="48" y="227"/>
                      <a:pt x="108" y="227"/>
                    </a:cubicBezTo>
                    <a:lnTo>
                      <a:pt x="5096" y="227"/>
                    </a:lnTo>
                    <a:cubicBezTo>
                      <a:pt x="5168" y="227"/>
                      <a:pt x="5216" y="179"/>
                      <a:pt x="5216" y="107"/>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40" name="Google Shape;1200;p28">
                <a:extLst>
                  <a:ext uri="{FF2B5EF4-FFF2-40B4-BE49-F238E27FC236}">
                    <a16:creationId xmlns:a16="http://schemas.microsoft.com/office/drawing/2014/main" id="{F44CCCFB-6BAB-33AF-2C47-D9416781FB1C}"/>
                  </a:ext>
                </a:extLst>
              </p:cNvPr>
              <p:cNvSpPr/>
              <p:nvPr/>
            </p:nvSpPr>
            <p:spPr>
              <a:xfrm>
                <a:off x="7343487" y="1957891"/>
                <a:ext cx="185338" cy="8066"/>
              </a:xfrm>
              <a:custGeom>
                <a:avLst/>
                <a:gdLst/>
                <a:ahLst/>
                <a:cxnLst/>
                <a:rect l="l" t="t" r="r" b="b"/>
                <a:pathLst>
                  <a:path w="5216" h="227" extrusionOk="0">
                    <a:moveTo>
                      <a:pt x="108" y="0"/>
                    </a:moveTo>
                    <a:cubicBezTo>
                      <a:pt x="48" y="0"/>
                      <a:pt x="1" y="60"/>
                      <a:pt x="1" y="119"/>
                    </a:cubicBezTo>
                    <a:cubicBezTo>
                      <a:pt x="1" y="179"/>
                      <a:pt x="48" y="226"/>
                      <a:pt x="108" y="226"/>
                    </a:cubicBezTo>
                    <a:lnTo>
                      <a:pt x="5096" y="226"/>
                    </a:lnTo>
                    <a:cubicBezTo>
                      <a:pt x="5168" y="226"/>
                      <a:pt x="5216" y="179"/>
                      <a:pt x="5216" y="119"/>
                    </a:cubicBezTo>
                    <a:cubicBezTo>
                      <a:pt x="5216" y="60"/>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41" name="Google Shape;1201;p28">
                <a:extLst>
                  <a:ext uri="{FF2B5EF4-FFF2-40B4-BE49-F238E27FC236}">
                    <a16:creationId xmlns:a16="http://schemas.microsoft.com/office/drawing/2014/main" id="{DF0D9D1F-0C17-F634-548A-E3379AB24EEC}"/>
                  </a:ext>
                </a:extLst>
              </p:cNvPr>
              <p:cNvSpPr/>
              <p:nvPr/>
            </p:nvSpPr>
            <p:spPr>
              <a:xfrm>
                <a:off x="7343487" y="1994703"/>
                <a:ext cx="185338" cy="7639"/>
              </a:xfrm>
              <a:custGeom>
                <a:avLst/>
                <a:gdLst/>
                <a:ahLst/>
                <a:cxnLst/>
                <a:rect l="l" t="t" r="r" b="b"/>
                <a:pathLst>
                  <a:path w="5216" h="215" extrusionOk="0">
                    <a:moveTo>
                      <a:pt x="108" y="0"/>
                    </a:moveTo>
                    <a:cubicBezTo>
                      <a:pt x="48" y="0"/>
                      <a:pt x="1" y="48"/>
                      <a:pt x="1" y="107"/>
                    </a:cubicBezTo>
                    <a:cubicBezTo>
                      <a:pt x="1" y="167"/>
                      <a:pt x="48" y="214"/>
                      <a:pt x="108" y="214"/>
                    </a:cubicBezTo>
                    <a:lnTo>
                      <a:pt x="5096" y="214"/>
                    </a:lnTo>
                    <a:cubicBezTo>
                      <a:pt x="5168" y="214"/>
                      <a:pt x="5216" y="167"/>
                      <a:pt x="5216" y="107"/>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42" name="Google Shape;1202;p28">
                <a:extLst>
                  <a:ext uri="{FF2B5EF4-FFF2-40B4-BE49-F238E27FC236}">
                    <a16:creationId xmlns:a16="http://schemas.microsoft.com/office/drawing/2014/main" id="{36589A87-D79E-0EF4-9804-D023D6D47730}"/>
                  </a:ext>
                </a:extLst>
              </p:cNvPr>
              <p:cNvSpPr/>
              <p:nvPr/>
            </p:nvSpPr>
            <p:spPr>
              <a:xfrm>
                <a:off x="7343487" y="2031053"/>
                <a:ext cx="185338" cy="7675"/>
              </a:xfrm>
              <a:custGeom>
                <a:avLst/>
                <a:gdLst/>
                <a:ahLst/>
                <a:cxnLst/>
                <a:rect l="l" t="t" r="r" b="b"/>
                <a:pathLst>
                  <a:path w="5216" h="216" extrusionOk="0">
                    <a:moveTo>
                      <a:pt x="108" y="1"/>
                    </a:moveTo>
                    <a:cubicBezTo>
                      <a:pt x="48" y="1"/>
                      <a:pt x="1" y="49"/>
                      <a:pt x="1" y="108"/>
                    </a:cubicBezTo>
                    <a:cubicBezTo>
                      <a:pt x="1" y="168"/>
                      <a:pt x="48" y="215"/>
                      <a:pt x="108" y="215"/>
                    </a:cubicBezTo>
                    <a:lnTo>
                      <a:pt x="5096" y="215"/>
                    </a:lnTo>
                    <a:cubicBezTo>
                      <a:pt x="5168" y="215"/>
                      <a:pt x="5216" y="168"/>
                      <a:pt x="5216" y="108"/>
                    </a:cubicBezTo>
                    <a:cubicBezTo>
                      <a:pt x="5216" y="49"/>
                      <a:pt x="5168" y="1"/>
                      <a:pt x="5096" y="1"/>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grpSp>
        <p:sp>
          <p:nvSpPr>
            <p:cNvPr id="229" name="Google Shape;1203;p28">
              <a:extLst>
                <a:ext uri="{FF2B5EF4-FFF2-40B4-BE49-F238E27FC236}">
                  <a16:creationId xmlns:a16="http://schemas.microsoft.com/office/drawing/2014/main" id="{51857CE3-7CF9-37DC-4AD5-355273C403C5}"/>
                </a:ext>
              </a:extLst>
            </p:cNvPr>
            <p:cNvSpPr/>
            <p:nvPr/>
          </p:nvSpPr>
          <p:spPr>
            <a:xfrm>
              <a:off x="6845138" y="2732081"/>
              <a:ext cx="1291180" cy="440034"/>
            </a:xfrm>
            <a:custGeom>
              <a:avLst/>
              <a:gdLst/>
              <a:ahLst/>
              <a:cxnLst/>
              <a:rect l="l" t="t" r="r" b="b"/>
              <a:pathLst>
                <a:path w="36338" h="12384" extrusionOk="0">
                  <a:moveTo>
                    <a:pt x="0" y="1"/>
                  </a:moveTo>
                  <a:lnTo>
                    <a:pt x="0" y="1358"/>
                  </a:lnTo>
                  <a:cubicBezTo>
                    <a:pt x="2417" y="1644"/>
                    <a:pt x="4298" y="3692"/>
                    <a:pt x="4298" y="6192"/>
                  </a:cubicBezTo>
                  <a:cubicBezTo>
                    <a:pt x="4298" y="8692"/>
                    <a:pt x="2417" y="10752"/>
                    <a:pt x="0" y="11038"/>
                  </a:cubicBezTo>
                  <a:lnTo>
                    <a:pt x="0" y="12383"/>
                  </a:lnTo>
                  <a:lnTo>
                    <a:pt x="32040" y="12383"/>
                  </a:lnTo>
                  <a:lnTo>
                    <a:pt x="32040" y="10502"/>
                  </a:lnTo>
                  <a:cubicBezTo>
                    <a:pt x="34409" y="10502"/>
                    <a:pt x="36338" y="8573"/>
                    <a:pt x="36338" y="6192"/>
                  </a:cubicBezTo>
                  <a:cubicBezTo>
                    <a:pt x="36338" y="3823"/>
                    <a:pt x="34409" y="1894"/>
                    <a:pt x="32040" y="1894"/>
                  </a:cubicBezTo>
                  <a:lnTo>
                    <a:pt x="32040" y="1"/>
                  </a:lnTo>
                  <a:close/>
                </a:path>
              </a:pathLst>
            </a:custGeom>
            <a:solidFill>
              <a:schemeClr val="accent1"/>
            </a:solidFill>
            <a:ln>
              <a:noFill/>
            </a:ln>
          </p:spPr>
          <p:txBody>
            <a:bodyPr spcFirstLastPara="1" wrap="square" lIns="91425" tIns="91425" rIns="91425" bIns="91425" anchor="ctr" anchorCtr="0">
              <a:noAutofit/>
            </a:bodyPr>
            <a:lstStyle/>
            <a:p>
              <a:pPr algn="ctr">
                <a:buClr>
                  <a:srgbClr val="000000"/>
                </a:buClr>
                <a:buFont typeface="Arial"/>
                <a:buNone/>
              </a:pPr>
              <a:r>
                <a:rPr lang="en" sz="1400" kern="0">
                  <a:solidFill>
                    <a:srgbClr val="FFFFFF"/>
                  </a:solidFill>
                  <a:latin typeface="Oswald" panose="00000500000000000000" pitchFamily="2" charset="0"/>
                  <a:ea typeface="Fira Sans Extra Condensed Medium"/>
                  <a:cs typeface="Fira Sans Extra Condensed Medium"/>
                  <a:sym typeface="Fira Sans Extra Condensed Medium"/>
                </a:rPr>
                <a:t>Phase 9</a:t>
              </a:r>
              <a:endParaRPr sz="1400" kern="0">
                <a:solidFill>
                  <a:srgbClr val="FFFFFF"/>
                </a:solidFill>
                <a:latin typeface="Oswald" panose="00000500000000000000" pitchFamily="2" charset="0"/>
                <a:ea typeface="Fira Sans Extra Condensed Medium"/>
                <a:cs typeface="Fira Sans Extra Condensed Medium"/>
                <a:sym typeface="Fira Sans Extra Condensed Medium"/>
              </a:endParaRPr>
            </a:p>
          </p:txBody>
        </p:sp>
        <p:sp>
          <p:nvSpPr>
            <p:cNvPr id="230" name="Google Shape;1204;p28">
              <a:extLst>
                <a:ext uri="{FF2B5EF4-FFF2-40B4-BE49-F238E27FC236}">
                  <a16:creationId xmlns:a16="http://schemas.microsoft.com/office/drawing/2014/main" id="{18DF79D3-F65B-B191-BFD4-39DBC533BA87}"/>
                </a:ext>
              </a:extLst>
            </p:cNvPr>
            <p:cNvSpPr/>
            <p:nvPr/>
          </p:nvSpPr>
          <p:spPr>
            <a:xfrm>
              <a:off x="7455167" y="2235403"/>
              <a:ext cx="63070" cy="63070"/>
            </a:xfrm>
            <a:custGeom>
              <a:avLst/>
              <a:gdLst/>
              <a:ahLst/>
              <a:cxnLst/>
              <a:rect l="l" t="t" r="r" b="b"/>
              <a:pathLst>
                <a:path w="1775" h="1775" extrusionOk="0">
                  <a:moveTo>
                    <a:pt x="882" y="1"/>
                  </a:moveTo>
                  <a:cubicBezTo>
                    <a:pt x="394" y="1"/>
                    <a:pt x="1" y="394"/>
                    <a:pt x="1" y="882"/>
                  </a:cubicBezTo>
                  <a:cubicBezTo>
                    <a:pt x="1" y="1382"/>
                    <a:pt x="394" y="1775"/>
                    <a:pt x="882" y="1775"/>
                  </a:cubicBezTo>
                  <a:cubicBezTo>
                    <a:pt x="1382" y="1775"/>
                    <a:pt x="1775" y="1382"/>
                    <a:pt x="1775" y="882"/>
                  </a:cubicBezTo>
                  <a:cubicBezTo>
                    <a:pt x="1775" y="394"/>
                    <a:pt x="1382" y="1"/>
                    <a:pt x="882"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31" name="Google Shape;1205;p28">
              <a:extLst>
                <a:ext uri="{FF2B5EF4-FFF2-40B4-BE49-F238E27FC236}">
                  <a16:creationId xmlns:a16="http://schemas.microsoft.com/office/drawing/2014/main" id="{EAC4B42D-1E06-2008-678E-2E28E8D3B3F2}"/>
                </a:ext>
              </a:extLst>
            </p:cNvPr>
            <p:cNvSpPr txBox="1"/>
            <p:nvPr/>
          </p:nvSpPr>
          <p:spPr>
            <a:xfrm>
              <a:off x="6739006" y="1136495"/>
              <a:ext cx="1291500" cy="534900"/>
            </a:xfrm>
            <a:prstGeom prst="rect">
              <a:avLst/>
            </a:prstGeom>
            <a:noFill/>
            <a:ln>
              <a:noFill/>
            </a:ln>
          </p:spPr>
          <p:txBody>
            <a:bodyPr spcFirstLastPara="1" wrap="square" lIns="91425" tIns="91425" rIns="91425" bIns="91425" anchor="ctr" anchorCtr="0">
              <a:noAutofit/>
            </a:bodyPr>
            <a:lstStyle/>
            <a:p>
              <a:pPr algn="ctr">
                <a:buClr>
                  <a:srgbClr val="000000"/>
                </a:buClr>
                <a:buFont typeface="Arial"/>
                <a:buNone/>
              </a:pPr>
              <a:r>
                <a:rPr lang="en" sz="1500" kern="0">
                  <a:solidFill>
                    <a:srgbClr val="434343"/>
                  </a:solidFill>
                  <a:latin typeface="Oswald" panose="00000500000000000000" pitchFamily="2" charset="0"/>
                  <a:ea typeface="Roboto"/>
                  <a:cs typeface="Roboto"/>
                  <a:sym typeface="Roboto"/>
                </a:rPr>
                <a:t>Production</a:t>
              </a:r>
              <a:endParaRPr sz="1500" kern="0">
                <a:solidFill>
                  <a:srgbClr val="434343"/>
                </a:solidFill>
                <a:latin typeface="Oswald" panose="00000500000000000000" pitchFamily="2" charset="0"/>
                <a:ea typeface="Roboto"/>
                <a:cs typeface="Roboto"/>
                <a:sym typeface="Roboto"/>
              </a:endParaRPr>
            </a:p>
          </p:txBody>
        </p:sp>
      </p:grpSp>
      <p:grpSp>
        <p:nvGrpSpPr>
          <p:cNvPr id="8" name="Group 7">
            <a:extLst>
              <a:ext uri="{FF2B5EF4-FFF2-40B4-BE49-F238E27FC236}">
                <a16:creationId xmlns:a16="http://schemas.microsoft.com/office/drawing/2014/main" id="{278E79C9-75E1-A512-7D1F-86028DA75C7E}"/>
              </a:ext>
            </a:extLst>
          </p:cNvPr>
          <p:cNvGrpSpPr/>
          <p:nvPr/>
        </p:nvGrpSpPr>
        <p:grpSpPr>
          <a:xfrm>
            <a:off x="229416" y="3290913"/>
            <a:ext cx="11692000" cy="3480000"/>
            <a:chOff x="200000" y="690000"/>
            <a:chExt cx="11692000" cy="3480000"/>
          </a:xfrm>
        </p:grpSpPr>
        <p:sp>
          <p:nvSpPr>
            <p:cNvPr id="9" name="Rectangle 8">
              <a:extLst>
                <a:ext uri="{FF2B5EF4-FFF2-40B4-BE49-F238E27FC236}">
                  <a16:creationId xmlns:a16="http://schemas.microsoft.com/office/drawing/2014/main" id="{C1EE569C-5CB3-8F31-A87A-8EFBF6EF61B5}"/>
                </a:ext>
              </a:extLst>
            </p:cNvPr>
            <p:cNvSpPr/>
            <p:nvPr/>
          </p:nvSpPr>
          <p:spPr>
            <a:xfrm>
              <a:off x="200000" y="700000"/>
              <a:ext cx="3864000" cy="480000"/>
            </a:xfrm>
            <a:prstGeom prst="rect">
              <a:avLst/>
            </a:prstGeom>
            <a:solidFill>
              <a:srgbClr val="D62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latin typeface="Raleway" pitchFamily="2" charset="0"/>
                <a:ea typeface="Calibri" panose="020F0502020204030204" pitchFamily="34" charset="0"/>
                <a:cs typeface="Calibri" panose="020F0502020204030204" pitchFamily="34" charset="0"/>
              </a:endParaRPr>
            </a:p>
          </p:txBody>
        </p:sp>
        <p:sp>
          <p:nvSpPr>
            <p:cNvPr id="10" name="TextBox 9">
              <a:extLst>
                <a:ext uri="{FF2B5EF4-FFF2-40B4-BE49-F238E27FC236}">
                  <a16:creationId xmlns:a16="http://schemas.microsoft.com/office/drawing/2014/main" id="{39FD9D7A-39C1-CE48-442E-E07DCC63C6B5}"/>
                </a:ext>
              </a:extLst>
            </p:cNvPr>
            <p:cNvSpPr txBox="1"/>
            <p:nvPr/>
          </p:nvSpPr>
          <p:spPr>
            <a:xfrm>
              <a:off x="260000" y="700000"/>
              <a:ext cx="3744000" cy="360000"/>
            </a:xfrm>
            <a:prstGeom prst="rect">
              <a:avLst/>
            </a:prstGeom>
            <a:noFill/>
          </p:spPr>
          <p:txBody>
            <a:bodyPr wrap="square"/>
            <a:lstStyle/>
            <a:p>
              <a:pPr algn="ctr"/>
              <a:r>
                <a:rPr sz="1200" b="1" i="0">
                  <a:solidFill>
                    <a:srgbClr val="FFFFFF"/>
                  </a:solidFill>
                  <a:latin typeface="Raleway" pitchFamily="2" charset="0"/>
                  <a:ea typeface="Calibri" panose="020F0502020204030204" pitchFamily="34" charset="0"/>
                  <a:cs typeface="Calibri" panose="020F0502020204030204" pitchFamily="34" charset="0"/>
                </a:rPr>
                <a:t>Stage 1
Capability Building</a:t>
              </a:r>
            </a:p>
          </p:txBody>
        </p:sp>
        <p:sp>
          <p:nvSpPr>
            <p:cNvPr id="11" name="Rectangle 10">
              <a:extLst>
                <a:ext uri="{FF2B5EF4-FFF2-40B4-BE49-F238E27FC236}">
                  <a16:creationId xmlns:a16="http://schemas.microsoft.com/office/drawing/2014/main" id="{6873A8AA-646A-F455-41F4-3FC77FF86900}"/>
                </a:ext>
              </a:extLst>
            </p:cNvPr>
            <p:cNvSpPr/>
            <p:nvPr/>
          </p:nvSpPr>
          <p:spPr>
            <a:xfrm>
              <a:off x="200000" y="1200000"/>
              <a:ext cx="1932000" cy="220000"/>
            </a:xfrm>
            <a:prstGeom prst="rect">
              <a:avLst/>
            </a:prstGeom>
            <a:solidFill>
              <a:srgbClr val="ECF0F1"/>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0D4B6D"/>
                  </a:solidFill>
                  <a:latin typeface="Raleway" pitchFamily="2" charset="0"/>
                  <a:ea typeface="Calibri" panose="020F0502020204030204" pitchFamily="34" charset="0"/>
                  <a:cs typeface="Calibri" panose="020F0502020204030204" pitchFamily="34" charset="0"/>
                </a:rPr>
                <a:t>Deliverables</a:t>
              </a:r>
            </a:p>
          </p:txBody>
        </p:sp>
        <p:sp>
          <p:nvSpPr>
            <p:cNvPr id="12" name="Rectangle 11">
              <a:extLst>
                <a:ext uri="{FF2B5EF4-FFF2-40B4-BE49-F238E27FC236}">
                  <a16:creationId xmlns:a16="http://schemas.microsoft.com/office/drawing/2014/main" id="{4CC01B1A-197E-4362-9368-4C6794C80BA2}"/>
                </a:ext>
              </a:extLst>
            </p:cNvPr>
            <p:cNvSpPr/>
            <p:nvPr/>
          </p:nvSpPr>
          <p:spPr>
            <a:xfrm>
              <a:off x="2132000" y="1200000"/>
              <a:ext cx="1932000" cy="220000"/>
            </a:xfrm>
            <a:prstGeom prst="rect">
              <a:avLst/>
            </a:prstGeom>
            <a:solidFill>
              <a:srgbClr val="ECF0F1"/>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0D4B6D"/>
                  </a:solidFill>
                  <a:latin typeface="Raleway" pitchFamily="2" charset="0"/>
                  <a:ea typeface="Calibri" panose="020F0502020204030204" pitchFamily="34" charset="0"/>
                  <a:cs typeface="Calibri" panose="020F0502020204030204" pitchFamily="34" charset="0"/>
                </a:rPr>
                <a:t>Ownership</a:t>
              </a:r>
            </a:p>
          </p:txBody>
        </p:sp>
        <p:sp>
          <p:nvSpPr>
            <p:cNvPr id="13" name="Rectangle 12">
              <a:extLst>
                <a:ext uri="{FF2B5EF4-FFF2-40B4-BE49-F238E27FC236}">
                  <a16:creationId xmlns:a16="http://schemas.microsoft.com/office/drawing/2014/main" id="{C2031A21-8333-829A-FD2F-E339F0DF507A}"/>
                </a:ext>
              </a:extLst>
            </p:cNvPr>
            <p:cNvSpPr/>
            <p:nvPr/>
          </p:nvSpPr>
          <p:spPr>
            <a:xfrm>
              <a:off x="200000" y="14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Requirement &amp; JD</a:t>
              </a:r>
            </a:p>
          </p:txBody>
        </p:sp>
        <p:sp>
          <p:nvSpPr>
            <p:cNvPr id="16" name="Rectangle 15">
              <a:extLst>
                <a:ext uri="{FF2B5EF4-FFF2-40B4-BE49-F238E27FC236}">
                  <a16:creationId xmlns:a16="http://schemas.microsoft.com/office/drawing/2014/main" id="{23E13ABF-1CB5-36EE-31CA-1428DAFA6FD3}"/>
                </a:ext>
              </a:extLst>
            </p:cNvPr>
            <p:cNvSpPr/>
            <p:nvPr/>
          </p:nvSpPr>
          <p:spPr>
            <a:xfrm>
              <a:off x="2132000" y="14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200" b="1">
                  <a:solidFill>
                    <a:srgbClr val="16A085"/>
                  </a:solidFill>
                  <a:latin typeface="Raleway" pitchFamily="2" charset="0"/>
                  <a:ea typeface="Calibri" panose="020F0502020204030204" pitchFamily="34" charset="0"/>
                  <a:cs typeface="Calibri" panose="020F0502020204030204" pitchFamily="34" charset="0"/>
                </a:rPr>
                <a:t>Client</a:t>
              </a:r>
              <a:endParaRPr sz="1200" b="1">
                <a:solidFill>
                  <a:srgbClr val="16A085"/>
                </a:solidFill>
                <a:latin typeface="Raleway" pitchFamily="2" charset="0"/>
                <a:ea typeface="Calibri" panose="020F0502020204030204" pitchFamily="34" charset="0"/>
                <a:cs typeface="Calibri" panose="020F0502020204030204" pitchFamily="34" charset="0"/>
              </a:endParaRPr>
            </a:p>
          </p:txBody>
        </p:sp>
        <p:sp>
          <p:nvSpPr>
            <p:cNvPr id="17" name="Rectangle 16">
              <a:extLst>
                <a:ext uri="{FF2B5EF4-FFF2-40B4-BE49-F238E27FC236}">
                  <a16:creationId xmlns:a16="http://schemas.microsoft.com/office/drawing/2014/main" id="{0CB8E481-023D-85DC-05A0-1E434D131DF5}"/>
                </a:ext>
              </a:extLst>
            </p:cNvPr>
            <p:cNvSpPr/>
            <p:nvPr/>
          </p:nvSpPr>
          <p:spPr>
            <a:xfrm>
              <a:off x="200000" y="16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Hiring Plan</a:t>
              </a:r>
            </a:p>
          </p:txBody>
        </p:sp>
        <p:sp>
          <p:nvSpPr>
            <p:cNvPr id="18" name="Rectangle 17">
              <a:extLst>
                <a:ext uri="{FF2B5EF4-FFF2-40B4-BE49-F238E27FC236}">
                  <a16:creationId xmlns:a16="http://schemas.microsoft.com/office/drawing/2014/main" id="{7B7D2481-0B3B-35D6-64C4-CDC549080D67}"/>
                </a:ext>
              </a:extLst>
            </p:cNvPr>
            <p:cNvSpPr/>
            <p:nvPr/>
          </p:nvSpPr>
          <p:spPr>
            <a:xfrm>
              <a:off x="2132000" y="16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chemeClr val="tx1"/>
                  </a:solidFill>
                  <a:latin typeface="Raleway" pitchFamily="2" charset="0"/>
                  <a:ea typeface="Calibri" panose="020F0502020204030204" pitchFamily="34" charset="0"/>
                  <a:cs typeface="Calibri" panose="020F0502020204030204" pitchFamily="34" charset="0"/>
                </a:rPr>
                <a:t>J2W</a:t>
              </a:r>
            </a:p>
          </p:txBody>
        </p:sp>
        <p:sp>
          <p:nvSpPr>
            <p:cNvPr id="19" name="Rectangle 18">
              <a:extLst>
                <a:ext uri="{FF2B5EF4-FFF2-40B4-BE49-F238E27FC236}">
                  <a16:creationId xmlns:a16="http://schemas.microsoft.com/office/drawing/2014/main" id="{9FD1BF87-0287-4D10-265F-332AEADB989E}"/>
                </a:ext>
              </a:extLst>
            </p:cNvPr>
            <p:cNvSpPr/>
            <p:nvPr/>
          </p:nvSpPr>
          <p:spPr>
            <a:xfrm>
              <a:off x="200000" y="19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Sourcing</a:t>
              </a:r>
            </a:p>
          </p:txBody>
        </p:sp>
        <p:sp>
          <p:nvSpPr>
            <p:cNvPr id="20" name="Rectangle 19">
              <a:extLst>
                <a:ext uri="{FF2B5EF4-FFF2-40B4-BE49-F238E27FC236}">
                  <a16:creationId xmlns:a16="http://schemas.microsoft.com/office/drawing/2014/main" id="{2B2E587F-8CB5-1EC1-9064-C02DABA082AD}"/>
                </a:ext>
              </a:extLst>
            </p:cNvPr>
            <p:cNvSpPr/>
            <p:nvPr/>
          </p:nvSpPr>
          <p:spPr>
            <a:xfrm>
              <a:off x="2132000" y="19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chemeClr val="tx1"/>
                  </a:solidFill>
                  <a:latin typeface="Raleway" pitchFamily="2" charset="0"/>
                  <a:ea typeface="Calibri" panose="020F0502020204030204" pitchFamily="34" charset="0"/>
                  <a:cs typeface="Calibri" panose="020F0502020204030204" pitchFamily="34" charset="0"/>
                </a:rPr>
                <a:t>J2W</a:t>
              </a:r>
            </a:p>
          </p:txBody>
        </p:sp>
        <p:sp>
          <p:nvSpPr>
            <p:cNvPr id="21" name="Rectangle 20">
              <a:extLst>
                <a:ext uri="{FF2B5EF4-FFF2-40B4-BE49-F238E27FC236}">
                  <a16:creationId xmlns:a16="http://schemas.microsoft.com/office/drawing/2014/main" id="{CAAAE071-89FC-AB21-A58B-5D6692DFAA59}"/>
                </a:ext>
              </a:extLst>
            </p:cNvPr>
            <p:cNvSpPr/>
            <p:nvPr/>
          </p:nvSpPr>
          <p:spPr>
            <a:xfrm>
              <a:off x="200000" y="21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Interviews &amp; Selections</a:t>
              </a:r>
            </a:p>
          </p:txBody>
        </p:sp>
        <p:sp>
          <p:nvSpPr>
            <p:cNvPr id="22" name="Rectangle 21">
              <a:extLst>
                <a:ext uri="{FF2B5EF4-FFF2-40B4-BE49-F238E27FC236}">
                  <a16:creationId xmlns:a16="http://schemas.microsoft.com/office/drawing/2014/main" id="{A300BE8D-74FD-E328-2128-92F7393A9B19}"/>
                </a:ext>
              </a:extLst>
            </p:cNvPr>
            <p:cNvSpPr/>
            <p:nvPr/>
          </p:nvSpPr>
          <p:spPr>
            <a:xfrm>
              <a:off x="2132000" y="21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200" b="1">
                  <a:solidFill>
                    <a:srgbClr val="16A085"/>
                  </a:solidFill>
                  <a:latin typeface="Raleway" pitchFamily="2" charset="0"/>
                  <a:ea typeface="Calibri" panose="020F0502020204030204" pitchFamily="34" charset="0"/>
                  <a:cs typeface="Calibri" panose="020F0502020204030204" pitchFamily="34" charset="0"/>
                </a:rPr>
                <a:t>Client</a:t>
              </a:r>
              <a:endParaRPr sz="1200" b="1">
                <a:solidFill>
                  <a:srgbClr val="16A085"/>
                </a:solidFill>
                <a:latin typeface="Raleway" pitchFamily="2" charset="0"/>
                <a:ea typeface="Calibri" panose="020F0502020204030204" pitchFamily="34" charset="0"/>
                <a:cs typeface="Calibri" panose="020F0502020204030204" pitchFamily="34" charset="0"/>
              </a:endParaRPr>
            </a:p>
          </p:txBody>
        </p:sp>
        <p:sp>
          <p:nvSpPr>
            <p:cNvPr id="23" name="Rectangle 22">
              <a:extLst>
                <a:ext uri="{FF2B5EF4-FFF2-40B4-BE49-F238E27FC236}">
                  <a16:creationId xmlns:a16="http://schemas.microsoft.com/office/drawing/2014/main" id="{F1668957-6D95-2C8C-A16C-01607C6C10A9}"/>
                </a:ext>
              </a:extLst>
            </p:cNvPr>
            <p:cNvSpPr/>
            <p:nvPr/>
          </p:nvSpPr>
          <p:spPr>
            <a:xfrm>
              <a:off x="200000" y="24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Warm Calls</a:t>
              </a:r>
            </a:p>
          </p:txBody>
        </p:sp>
        <p:sp>
          <p:nvSpPr>
            <p:cNvPr id="24" name="Rectangle 23">
              <a:extLst>
                <a:ext uri="{FF2B5EF4-FFF2-40B4-BE49-F238E27FC236}">
                  <a16:creationId xmlns:a16="http://schemas.microsoft.com/office/drawing/2014/main" id="{C6FAA010-F37E-857B-1354-74D6FD0DFD91}"/>
                </a:ext>
              </a:extLst>
            </p:cNvPr>
            <p:cNvSpPr/>
            <p:nvPr/>
          </p:nvSpPr>
          <p:spPr>
            <a:xfrm>
              <a:off x="2132000" y="24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chemeClr val="tx1"/>
                  </a:solidFill>
                  <a:latin typeface="Raleway" pitchFamily="2" charset="0"/>
                  <a:ea typeface="Calibri" panose="020F0502020204030204" pitchFamily="34" charset="0"/>
                  <a:cs typeface="Calibri" panose="020F0502020204030204" pitchFamily="34" charset="0"/>
                </a:rPr>
                <a:t>J2W</a:t>
              </a:r>
            </a:p>
          </p:txBody>
        </p:sp>
        <p:sp>
          <p:nvSpPr>
            <p:cNvPr id="25" name="Rectangle 24">
              <a:extLst>
                <a:ext uri="{FF2B5EF4-FFF2-40B4-BE49-F238E27FC236}">
                  <a16:creationId xmlns:a16="http://schemas.microsoft.com/office/drawing/2014/main" id="{9B64D7C1-4358-343A-220C-0CA372E489B9}"/>
                </a:ext>
              </a:extLst>
            </p:cNvPr>
            <p:cNvSpPr/>
            <p:nvPr/>
          </p:nvSpPr>
          <p:spPr>
            <a:xfrm>
              <a:off x="200000" y="26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BGVs</a:t>
              </a:r>
            </a:p>
          </p:txBody>
        </p:sp>
        <p:sp>
          <p:nvSpPr>
            <p:cNvPr id="26" name="Rectangle 25">
              <a:extLst>
                <a:ext uri="{FF2B5EF4-FFF2-40B4-BE49-F238E27FC236}">
                  <a16:creationId xmlns:a16="http://schemas.microsoft.com/office/drawing/2014/main" id="{023CCBD1-563B-0451-4803-D02156E8FB63}"/>
                </a:ext>
              </a:extLst>
            </p:cNvPr>
            <p:cNvSpPr/>
            <p:nvPr/>
          </p:nvSpPr>
          <p:spPr>
            <a:xfrm>
              <a:off x="2132000" y="26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chemeClr val="tx1"/>
                  </a:solidFill>
                  <a:latin typeface="Raleway" pitchFamily="2" charset="0"/>
                  <a:ea typeface="Calibri" panose="020F0502020204030204" pitchFamily="34" charset="0"/>
                  <a:cs typeface="Calibri" panose="020F0502020204030204" pitchFamily="34" charset="0"/>
                </a:rPr>
                <a:t>J2W</a:t>
              </a:r>
            </a:p>
          </p:txBody>
        </p:sp>
        <p:sp>
          <p:nvSpPr>
            <p:cNvPr id="27" name="Rectangle 26">
              <a:extLst>
                <a:ext uri="{FF2B5EF4-FFF2-40B4-BE49-F238E27FC236}">
                  <a16:creationId xmlns:a16="http://schemas.microsoft.com/office/drawing/2014/main" id="{227614DA-06F9-BC8C-4B2B-7DA6970F7514}"/>
                </a:ext>
              </a:extLst>
            </p:cNvPr>
            <p:cNvSpPr/>
            <p:nvPr/>
          </p:nvSpPr>
          <p:spPr>
            <a:xfrm>
              <a:off x="4114000" y="700000"/>
              <a:ext cx="3864000" cy="480000"/>
            </a:xfrm>
            <a:prstGeom prst="rect">
              <a:avLst/>
            </a:prstGeom>
            <a:solidFill>
              <a:srgbClr val="16A0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latin typeface="Raleway" pitchFamily="2" charset="0"/>
                <a:ea typeface="Calibri" panose="020F0502020204030204" pitchFamily="34" charset="0"/>
                <a:cs typeface="Calibri" panose="020F0502020204030204" pitchFamily="34" charset="0"/>
              </a:endParaRPr>
            </a:p>
          </p:txBody>
        </p:sp>
        <p:sp>
          <p:nvSpPr>
            <p:cNvPr id="28" name="TextBox 27">
              <a:extLst>
                <a:ext uri="{FF2B5EF4-FFF2-40B4-BE49-F238E27FC236}">
                  <a16:creationId xmlns:a16="http://schemas.microsoft.com/office/drawing/2014/main" id="{A79AB300-EBD5-4508-5433-8DF3CB162C38}"/>
                </a:ext>
              </a:extLst>
            </p:cNvPr>
            <p:cNvSpPr txBox="1"/>
            <p:nvPr/>
          </p:nvSpPr>
          <p:spPr>
            <a:xfrm>
              <a:off x="4174000" y="720000"/>
              <a:ext cx="3744000" cy="360000"/>
            </a:xfrm>
            <a:prstGeom prst="rect">
              <a:avLst/>
            </a:prstGeom>
            <a:noFill/>
          </p:spPr>
          <p:txBody>
            <a:bodyPr wrap="square"/>
            <a:lstStyle/>
            <a:p>
              <a:pPr algn="ctr"/>
              <a:r>
                <a:rPr sz="1200" b="1" i="0">
                  <a:solidFill>
                    <a:srgbClr val="FFFFFF"/>
                  </a:solidFill>
                  <a:latin typeface="Raleway" pitchFamily="2" charset="0"/>
                  <a:ea typeface="Calibri" panose="020F0502020204030204" pitchFamily="34" charset="0"/>
                  <a:cs typeface="Calibri" panose="020F0502020204030204" pitchFamily="34" charset="0"/>
                </a:rPr>
                <a:t>Stage 2
Resource Management</a:t>
              </a:r>
            </a:p>
          </p:txBody>
        </p:sp>
        <p:sp>
          <p:nvSpPr>
            <p:cNvPr id="29" name="Rectangle 28">
              <a:extLst>
                <a:ext uri="{FF2B5EF4-FFF2-40B4-BE49-F238E27FC236}">
                  <a16:creationId xmlns:a16="http://schemas.microsoft.com/office/drawing/2014/main" id="{CA37F4D6-7EB5-DE72-9C74-E9B8B0694B43}"/>
                </a:ext>
              </a:extLst>
            </p:cNvPr>
            <p:cNvSpPr/>
            <p:nvPr/>
          </p:nvSpPr>
          <p:spPr>
            <a:xfrm>
              <a:off x="4114000" y="1200000"/>
              <a:ext cx="1932000" cy="220000"/>
            </a:xfrm>
            <a:prstGeom prst="rect">
              <a:avLst/>
            </a:prstGeom>
            <a:solidFill>
              <a:srgbClr val="ECF0F1"/>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0D4B6D"/>
                  </a:solidFill>
                  <a:latin typeface="Raleway" pitchFamily="2" charset="0"/>
                  <a:ea typeface="Calibri" panose="020F0502020204030204" pitchFamily="34" charset="0"/>
                  <a:cs typeface="Calibri" panose="020F0502020204030204" pitchFamily="34" charset="0"/>
                </a:rPr>
                <a:t>Deliverables</a:t>
              </a:r>
            </a:p>
          </p:txBody>
        </p:sp>
        <p:sp>
          <p:nvSpPr>
            <p:cNvPr id="30" name="Rectangle 29">
              <a:extLst>
                <a:ext uri="{FF2B5EF4-FFF2-40B4-BE49-F238E27FC236}">
                  <a16:creationId xmlns:a16="http://schemas.microsoft.com/office/drawing/2014/main" id="{F85AD9D0-D70F-7C40-E072-9EF7551BBDF2}"/>
                </a:ext>
              </a:extLst>
            </p:cNvPr>
            <p:cNvSpPr/>
            <p:nvPr/>
          </p:nvSpPr>
          <p:spPr>
            <a:xfrm>
              <a:off x="6046000" y="1200000"/>
              <a:ext cx="1932000" cy="220000"/>
            </a:xfrm>
            <a:prstGeom prst="rect">
              <a:avLst/>
            </a:prstGeom>
            <a:solidFill>
              <a:srgbClr val="ECF0F1"/>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0D4B6D"/>
                  </a:solidFill>
                  <a:latin typeface="Raleway" pitchFamily="2" charset="0"/>
                  <a:ea typeface="Calibri" panose="020F0502020204030204" pitchFamily="34" charset="0"/>
                  <a:cs typeface="Calibri" panose="020F0502020204030204" pitchFamily="34" charset="0"/>
                </a:rPr>
                <a:t>Ownership</a:t>
              </a:r>
            </a:p>
          </p:txBody>
        </p:sp>
        <p:sp>
          <p:nvSpPr>
            <p:cNvPr id="31" name="Rectangle 30">
              <a:extLst>
                <a:ext uri="{FF2B5EF4-FFF2-40B4-BE49-F238E27FC236}">
                  <a16:creationId xmlns:a16="http://schemas.microsoft.com/office/drawing/2014/main" id="{BE709A32-DA30-D182-94B3-6B7BF3923A9C}"/>
                </a:ext>
              </a:extLst>
            </p:cNvPr>
            <p:cNvSpPr/>
            <p:nvPr/>
          </p:nvSpPr>
          <p:spPr>
            <a:xfrm>
              <a:off x="4114000" y="1420000"/>
              <a:ext cx="2389464" cy="171907"/>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Orientation &amp; Onboarding</a:t>
              </a:r>
            </a:p>
          </p:txBody>
        </p:sp>
        <p:sp>
          <p:nvSpPr>
            <p:cNvPr id="32" name="Rectangle 31">
              <a:extLst>
                <a:ext uri="{FF2B5EF4-FFF2-40B4-BE49-F238E27FC236}">
                  <a16:creationId xmlns:a16="http://schemas.microsoft.com/office/drawing/2014/main" id="{03E00FB4-2225-D725-43D1-4CF731973797}"/>
                </a:ext>
              </a:extLst>
            </p:cNvPr>
            <p:cNvSpPr/>
            <p:nvPr/>
          </p:nvSpPr>
          <p:spPr>
            <a:xfrm>
              <a:off x="6046000" y="14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chemeClr val="tx1"/>
                  </a:solidFill>
                  <a:latin typeface="Raleway" pitchFamily="2" charset="0"/>
                  <a:ea typeface="Calibri" panose="020F0502020204030204" pitchFamily="34" charset="0"/>
                  <a:cs typeface="Calibri" panose="020F0502020204030204" pitchFamily="34" charset="0"/>
                </a:rPr>
                <a:t>J2W</a:t>
              </a:r>
            </a:p>
          </p:txBody>
        </p:sp>
        <p:sp>
          <p:nvSpPr>
            <p:cNvPr id="33" name="Rectangle 32">
              <a:extLst>
                <a:ext uri="{FF2B5EF4-FFF2-40B4-BE49-F238E27FC236}">
                  <a16:creationId xmlns:a16="http://schemas.microsoft.com/office/drawing/2014/main" id="{1E44F05A-B6CC-D54E-BE62-825ED8F28CAF}"/>
                </a:ext>
              </a:extLst>
            </p:cNvPr>
            <p:cNvSpPr/>
            <p:nvPr/>
          </p:nvSpPr>
          <p:spPr>
            <a:xfrm>
              <a:off x="4114000" y="16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Asset Allocation</a:t>
              </a:r>
            </a:p>
          </p:txBody>
        </p:sp>
        <p:sp>
          <p:nvSpPr>
            <p:cNvPr id="34" name="Rectangle 33">
              <a:extLst>
                <a:ext uri="{FF2B5EF4-FFF2-40B4-BE49-F238E27FC236}">
                  <a16:creationId xmlns:a16="http://schemas.microsoft.com/office/drawing/2014/main" id="{8D8BA504-3CBB-AD86-8529-2BC718E89338}"/>
                </a:ext>
              </a:extLst>
            </p:cNvPr>
            <p:cNvSpPr/>
            <p:nvPr/>
          </p:nvSpPr>
          <p:spPr>
            <a:xfrm>
              <a:off x="6046000" y="16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200" b="1">
                  <a:solidFill>
                    <a:srgbClr val="16A085"/>
                  </a:solidFill>
                  <a:latin typeface="Raleway" pitchFamily="2" charset="0"/>
                  <a:ea typeface="Calibri" panose="020F0502020204030204" pitchFamily="34" charset="0"/>
                  <a:cs typeface="Calibri" panose="020F0502020204030204" pitchFamily="34" charset="0"/>
                </a:rPr>
                <a:t>Client</a:t>
              </a:r>
              <a:endParaRPr sz="1200" b="1">
                <a:solidFill>
                  <a:srgbClr val="16A085"/>
                </a:solidFill>
                <a:latin typeface="Raleway" pitchFamily="2" charset="0"/>
                <a:ea typeface="Calibri" panose="020F0502020204030204" pitchFamily="34" charset="0"/>
                <a:cs typeface="Calibri" panose="020F0502020204030204" pitchFamily="34" charset="0"/>
              </a:endParaRPr>
            </a:p>
          </p:txBody>
        </p:sp>
        <p:sp>
          <p:nvSpPr>
            <p:cNvPr id="35" name="Rectangle 34">
              <a:extLst>
                <a:ext uri="{FF2B5EF4-FFF2-40B4-BE49-F238E27FC236}">
                  <a16:creationId xmlns:a16="http://schemas.microsoft.com/office/drawing/2014/main" id="{E09A53D6-1163-25AD-9F9B-6E921C119504}"/>
                </a:ext>
              </a:extLst>
            </p:cNvPr>
            <p:cNvSpPr/>
            <p:nvPr/>
          </p:nvSpPr>
          <p:spPr>
            <a:xfrm>
              <a:off x="4114000" y="19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Access Controls</a:t>
              </a:r>
            </a:p>
          </p:txBody>
        </p:sp>
        <p:sp>
          <p:nvSpPr>
            <p:cNvPr id="36" name="Rectangle 35">
              <a:extLst>
                <a:ext uri="{FF2B5EF4-FFF2-40B4-BE49-F238E27FC236}">
                  <a16:creationId xmlns:a16="http://schemas.microsoft.com/office/drawing/2014/main" id="{CD021EE4-B1F9-3F8B-2080-4CE6320A9C36}"/>
                </a:ext>
              </a:extLst>
            </p:cNvPr>
            <p:cNvSpPr/>
            <p:nvPr/>
          </p:nvSpPr>
          <p:spPr>
            <a:xfrm>
              <a:off x="6046000" y="19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200" b="1">
                  <a:solidFill>
                    <a:srgbClr val="16A085"/>
                  </a:solidFill>
                  <a:latin typeface="Raleway" pitchFamily="2" charset="0"/>
                  <a:ea typeface="Calibri" panose="020F0502020204030204" pitchFamily="34" charset="0"/>
                  <a:cs typeface="Calibri" panose="020F0502020204030204" pitchFamily="34" charset="0"/>
                </a:rPr>
                <a:t>Client</a:t>
              </a:r>
              <a:endParaRPr sz="1200" b="1">
                <a:solidFill>
                  <a:srgbClr val="16A085"/>
                </a:solidFill>
                <a:latin typeface="Raleway" pitchFamily="2" charset="0"/>
                <a:ea typeface="Calibri" panose="020F0502020204030204" pitchFamily="34" charset="0"/>
                <a:cs typeface="Calibri" panose="020F0502020204030204" pitchFamily="34" charset="0"/>
              </a:endParaRPr>
            </a:p>
          </p:txBody>
        </p:sp>
        <p:sp>
          <p:nvSpPr>
            <p:cNvPr id="37" name="Rectangle 36">
              <a:extLst>
                <a:ext uri="{FF2B5EF4-FFF2-40B4-BE49-F238E27FC236}">
                  <a16:creationId xmlns:a16="http://schemas.microsoft.com/office/drawing/2014/main" id="{6BA5F09A-2AA7-1DFD-B623-CD131739A0DD}"/>
                </a:ext>
              </a:extLst>
            </p:cNvPr>
            <p:cNvSpPr/>
            <p:nvPr/>
          </p:nvSpPr>
          <p:spPr>
            <a:xfrm>
              <a:off x="4114000" y="21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Training</a:t>
              </a:r>
            </a:p>
          </p:txBody>
        </p:sp>
        <p:sp>
          <p:nvSpPr>
            <p:cNvPr id="38" name="Rectangle 37">
              <a:extLst>
                <a:ext uri="{FF2B5EF4-FFF2-40B4-BE49-F238E27FC236}">
                  <a16:creationId xmlns:a16="http://schemas.microsoft.com/office/drawing/2014/main" id="{D4C543B1-5560-D63F-DC5F-75C3B1F7897F}"/>
                </a:ext>
              </a:extLst>
            </p:cNvPr>
            <p:cNvSpPr/>
            <p:nvPr/>
          </p:nvSpPr>
          <p:spPr>
            <a:xfrm>
              <a:off x="6046000" y="21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200" b="1">
                  <a:solidFill>
                    <a:srgbClr val="16A085"/>
                  </a:solidFill>
                  <a:latin typeface="Raleway" pitchFamily="2" charset="0"/>
                  <a:ea typeface="Calibri" panose="020F0502020204030204" pitchFamily="34" charset="0"/>
                  <a:cs typeface="Calibri" panose="020F0502020204030204" pitchFamily="34" charset="0"/>
                </a:rPr>
                <a:t>Client</a:t>
              </a:r>
              <a:endParaRPr sz="1200" b="1">
                <a:solidFill>
                  <a:srgbClr val="16A085"/>
                </a:solidFill>
                <a:latin typeface="Raleway" pitchFamily="2" charset="0"/>
                <a:ea typeface="Calibri" panose="020F0502020204030204" pitchFamily="34" charset="0"/>
                <a:cs typeface="Calibri" panose="020F0502020204030204" pitchFamily="34" charset="0"/>
              </a:endParaRPr>
            </a:p>
          </p:txBody>
        </p:sp>
        <p:sp>
          <p:nvSpPr>
            <p:cNvPr id="39" name="Rectangle 38">
              <a:extLst>
                <a:ext uri="{FF2B5EF4-FFF2-40B4-BE49-F238E27FC236}">
                  <a16:creationId xmlns:a16="http://schemas.microsoft.com/office/drawing/2014/main" id="{D00BE44A-6826-5394-0967-A67FD8F14611}"/>
                </a:ext>
              </a:extLst>
            </p:cNvPr>
            <p:cNvSpPr/>
            <p:nvPr/>
          </p:nvSpPr>
          <p:spPr>
            <a:xfrm>
              <a:off x="4114000" y="24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OJT Support</a:t>
              </a:r>
            </a:p>
          </p:txBody>
        </p:sp>
        <p:sp>
          <p:nvSpPr>
            <p:cNvPr id="40" name="Rectangle 39">
              <a:extLst>
                <a:ext uri="{FF2B5EF4-FFF2-40B4-BE49-F238E27FC236}">
                  <a16:creationId xmlns:a16="http://schemas.microsoft.com/office/drawing/2014/main" id="{C75E524F-4BB2-C6E1-75B5-9CA1CFCA34DC}"/>
                </a:ext>
              </a:extLst>
            </p:cNvPr>
            <p:cNvSpPr/>
            <p:nvPr/>
          </p:nvSpPr>
          <p:spPr>
            <a:xfrm>
              <a:off x="6046000" y="24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200" b="1">
                  <a:solidFill>
                    <a:srgbClr val="16A085"/>
                  </a:solidFill>
                  <a:latin typeface="Raleway" pitchFamily="2" charset="0"/>
                  <a:ea typeface="Calibri" panose="020F0502020204030204" pitchFamily="34" charset="0"/>
                  <a:cs typeface="Calibri" panose="020F0502020204030204" pitchFamily="34" charset="0"/>
                </a:rPr>
                <a:t>Client</a:t>
              </a:r>
              <a:endParaRPr sz="1200" b="1">
                <a:solidFill>
                  <a:srgbClr val="16A085"/>
                </a:solidFill>
                <a:latin typeface="Raleway" pitchFamily="2" charset="0"/>
                <a:ea typeface="Calibri" panose="020F0502020204030204" pitchFamily="34" charset="0"/>
                <a:cs typeface="Calibri" panose="020F0502020204030204" pitchFamily="34" charset="0"/>
              </a:endParaRPr>
            </a:p>
          </p:txBody>
        </p:sp>
        <p:sp>
          <p:nvSpPr>
            <p:cNvPr id="41" name="Rectangle 40">
              <a:extLst>
                <a:ext uri="{FF2B5EF4-FFF2-40B4-BE49-F238E27FC236}">
                  <a16:creationId xmlns:a16="http://schemas.microsoft.com/office/drawing/2014/main" id="{75215FB6-91E3-ECAC-637F-D892F6A79550}"/>
                </a:ext>
              </a:extLst>
            </p:cNvPr>
            <p:cNvSpPr/>
            <p:nvPr/>
          </p:nvSpPr>
          <p:spPr>
            <a:xfrm>
              <a:off x="4114000" y="26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Attendance &amp; Shrinkage</a:t>
              </a:r>
            </a:p>
          </p:txBody>
        </p:sp>
        <p:sp>
          <p:nvSpPr>
            <p:cNvPr id="42" name="Rectangle 41">
              <a:extLst>
                <a:ext uri="{FF2B5EF4-FFF2-40B4-BE49-F238E27FC236}">
                  <a16:creationId xmlns:a16="http://schemas.microsoft.com/office/drawing/2014/main" id="{53AF9549-EF18-11E8-E763-C2F96F47C62F}"/>
                </a:ext>
              </a:extLst>
            </p:cNvPr>
            <p:cNvSpPr/>
            <p:nvPr/>
          </p:nvSpPr>
          <p:spPr>
            <a:xfrm>
              <a:off x="6046000" y="26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chemeClr val="tx1"/>
                  </a:solidFill>
                  <a:latin typeface="Raleway" pitchFamily="2" charset="0"/>
                  <a:ea typeface="Calibri" panose="020F0502020204030204" pitchFamily="34" charset="0"/>
                  <a:cs typeface="Calibri" panose="020F0502020204030204" pitchFamily="34" charset="0"/>
                </a:rPr>
                <a:t>J2W</a:t>
              </a:r>
            </a:p>
          </p:txBody>
        </p:sp>
        <p:sp>
          <p:nvSpPr>
            <p:cNvPr id="43" name="Rectangle 42">
              <a:extLst>
                <a:ext uri="{FF2B5EF4-FFF2-40B4-BE49-F238E27FC236}">
                  <a16:creationId xmlns:a16="http://schemas.microsoft.com/office/drawing/2014/main" id="{C8F2EC72-ED28-A860-42CE-01189A4CE73E}"/>
                </a:ext>
              </a:extLst>
            </p:cNvPr>
            <p:cNvSpPr/>
            <p:nvPr/>
          </p:nvSpPr>
          <p:spPr>
            <a:xfrm>
              <a:off x="4114000" y="29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Performance Mgmt</a:t>
              </a:r>
            </a:p>
          </p:txBody>
        </p:sp>
        <p:sp>
          <p:nvSpPr>
            <p:cNvPr id="44" name="Rectangle 43">
              <a:extLst>
                <a:ext uri="{FF2B5EF4-FFF2-40B4-BE49-F238E27FC236}">
                  <a16:creationId xmlns:a16="http://schemas.microsoft.com/office/drawing/2014/main" id="{90609F77-7B43-A935-906E-4F4A320A8F26}"/>
                </a:ext>
              </a:extLst>
            </p:cNvPr>
            <p:cNvSpPr/>
            <p:nvPr/>
          </p:nvSpPr>
          <p:spPr>
            <a:xfrm>
              <a:off x="6046000" y="29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chemeClr val="tx1"/>
                  </a:solidFill>
                  <a:latin typeface="Raleway" pitchFamily="2" charset="0"/>
                  <a:ea typeface="Calibri" panose="020F0502020204030204" pitchFamily="34" charset="0"/>
                  <a:cs typeface="Calibri" panose="020F0502020204030204" pitchFamily="34" charset="0"/>
                </a:rPr>
                <a:t>J2W</a:t>
              </a:r>
            </a:p>
          </p:txBody>
        </p:sp>
        <p:sp>
          <p:nvSpPr>
            <p:cNvPr id="45" name="Rectangle 44">
              <a:extLst>
                <a:ext uri="{FF2B5EF4-FFF2-40B4-BE49-F238E27FC236}">
                  <a16:creationId xmlns:a16="http://schemas.microsoft.com/office/drawing/2014/main" id="{2B843C6D-C09F-B3C4-A38F-29A8ED4452BE}"/>
                </a:ext>
              </a:extLst>
            </p:cNvPr>
            <p:cNvSpPr/>
            <p:nvPr/>
          </p:nvSpPr>
          <p:spPr>
            <a:xfrm>
              <a:off x="4114000" y="31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Engagement Activities</a:t>
              </a:r>
            </a:p>
          </p:txBody>
        </p:sp>
        <p:sp>
          <p:nvSpPr>
            <p:cNvPr id="46" name="Rectangle 45">
              <a:extLst>
                <a:ext uri="{FF2B5EF4-FFF2-40B4-BE49-F238E27FC236}">
                  <a16:creationId xmlns:a16="http://schemas.microsoft.com/office/drawing/2014/main" id="{2DB13160-573D-85AB-A4ED-C5873638F3B0}"/>
                </a:ext>
              </a:extLst>
            </p:cNvPr>
            <p:cNvSpPr/>
            <p:nvPr/>
          </p:nvSpPr>
          <p:spPr>
            <a:xfrm>
              <a:off x="6046000" y="31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chemeClr val="tx1"/>
                  </a:solidFill>
                  <a:latin typeface="Raleway" pitchFamily="2" charset="0"/>
                  <a:ea typeface="Calibri" panose="020F0502020204030204" pitchFamily="34" charset="0"/>
                  <a:cs typeface="Calibri" panose="020F0502020204030204" pitchFamily="34" charset="0"/>
                </a:rPr>
                <a:t>J2W</a:t>
              </a:r>
            </a:p>
          </p:txBody>
        </p:sp>
        <p:sp>
          <p:nvSpPr>
            <p:cNvPr id="47" name="Rectangle 46">
              <a:extLst>
                <a:ext uri="{FF2B5EF4-FFF2-40B4-BE49-F238E27FC236}">
                  <a16:creationId xmlns:a16="http://schemas.microsoft.com/office/drawing/2014/main" id="{83936EB0-7C54-F8AA-6964-33B7D3B7E850}"/>
                </a:ext>
              </a:extLst>
            </p:cNvPr>
            <p:cNvSpPr/>
            <p:nvPr/>
          </p:nvSpPr>
          <p:spPr>
            <a:xfrm>
              <a:off x="4114000" y="34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Attrition Management</a:t>
              </a:r>
            </a:p>
          </p:txBody>
        </p:sp>
        <p:sp>
          <p:nvSpPr>
            <p:cNvPr id="48" name="Rectangle 47">
              <a:extLst>
                <a:ext uri="{FF2B5EF4-FFF2-40B4-BE49-F238E27FC236}">
                  <a16:creationId xmlns:a16="http://schemas.microsoft.com/office/drawing/2014/main" id="{95BDF308-0D3D-0A6E-6D2C-32CCF8B36ED4}"/>
                </a:ext>
              </a:extLst>
            </p:cNvPr>
            <p:cNvSpPr/>
            <p:nvPr/>
          </p:nvSpPr>
          <p:spPr>
            <a:xfrm>
              <a:off x="6046000" y="34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chemeClr val="tx1"/>
                  </a:solidFill>
                  <a:latin typeface="Raleway" pitchFamily="2" charset="0"/>
                  <a:ea typeface="Calibri" panose="020F0502020204030204" pitchFamily="34" charset="0"/>
                  <a:cs typeface="Calibri" panose="020F0502020204030204" pitchFamily="34" charset="0"/>
                </a:rPr>
                <a:t>J2W</a:t>
              </a:r>
            </a:p>
          </p:txBody>
        </p:sp>
        <p:sp>
          <p:nvSpPr>
            <p:cNvPr id="49" name="Rectangle 48">
              <a:extLst>
                <a:ext uri="{FF2B5EF4-FFF2-40B4-BE49-F238E27FC236}">
                  <a16:creationId xmlns:a16="http://schemas.microsoft.com/office/drawing/2014/main" id="{32E3FA25-BE27-57B5-A55E-56A051BDCB8C}"/>
                </a:ext>
              </a:extLst>
            </p:cNvPr>
            <p:cNvSpPr/>
            <p:nvPr/>
          </p:nvSpPr>
          <p:spPr>
            <a:xfrm>
              <a:off x="4114000" y="36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Asset Management</a:t>
              </a:r>
            </a:p>
          </p:txBody>
        </p:sp>
        <p:sp>
          <p:nvSpPr>
            <p:cNvPr id="50" name="Rectangle 49">
              <a:extLst>
                <a:ext uri="{FF2B5EF4-FFF2-40B4-BE49-F238E27FC236}">
                  <a16:creationId xmlns:a16="http://schemas.microsoft.com/office/drawing/2014/main" id="{0256F9D0-FAB7-AB83-E07C-DC81D70A05ED}"/>
                </a:ext>
              </a:extLst>
            </p:cNvPr>
            <p:cNvSpPr/>
            <p:nvPr/>
          </p:nvSpPr>
          <p:spPr>
            <a:xfrm>
              <a:off x="6046000" y="36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chemeClr val="tx1"/>
                  </a:solidFill>
                  <a:latin typeface="Raleway" pitchFamily="2" charset="0"/>
                  <a:ea typeface="Calibri" panose="020F0502020204030204" pitchFamily="34" charset="0"/>
                  <a:cs typeface="Calibri" panose="020F0502020204030204" pitchFamily="34" charset="0"/>
                </a:rPr>
                <a:t>J2W</a:t>
              </a:r>
            </a:p>
          </p:txBody>
        </p:sp>
        <p:sp>
          <p:nvSpPr>
            <p:cNvPr id="51" name="Rectangle 50">
              <a:extLst>
                <a:ext uri="{FF2B5EF4-FFF2-40B4-BE49-F238E27FC236}">
                  <a16:creationId xmlns:a16="http://schemas.microsoft.com/office/drawing/2014/main" id="{8381714A-B196-14DB-0918-4BA24E6DF5F2}"/>
                </a:ext>
              </a:extLst>
            </p:cNvPr>
            <p:cNvSpPr/>
            <p:nvPr/>
          </p:nvSpPr>
          <p:spPr>
            <a:xfrm>
              <a:off x="4114000" y="39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Governance &amp; Visibility</a:t>
              </a:r>
            </a:p>
          </p:txBody>
        </p:sp>
        <p:sp>
          <p:nvSpPr>
            <p:cNvPr id="52" name="Rectangle 51">
              <a:extLst>
                <a:ext uri="{FF2B5EF4-FFF2-40B4-BE49-F238E27FC236}">
                  <a16:creationId xmlns:a16="http://schemas.microsoft.com/office/drawing/2014/main" id="{CD5DADA5-E0F3-08E6-1BB7-ABAC42BA94FA}"/>
                </a:ext>
              </a:extLst>
            </p:cNvPr>
            <p:cNvSpPr/>
            <p:nvPr/>
          </p:nvSpPr>
          <p:spPr>
            <a:xfrm>
              <a:off x="6046000" y="39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chemeClr val="tx1"/>
                  </a:solidFill>
                  <a:latin typeface="Raleway" pitchFamily="2" charset="0"/>
                  <a:ea typeface="Calibri" panose="020F0502020204030204" pitchFamily="34" charset="0"/>
                  <a:cs typeface="Calibri" panose="020F0502020204030204" pitchFamily="34" charset="0"/>
                </a:rPr>
                <a:t>J2W</a:t>
              </a:r>
            </a:p>
          </p:txBody>
        </p:sp>
        <p:sp>
          <p:nvSpPr>
            <p:cNvPr id="53" name="Rectangle 52">
              <a:extLst>
                <a:ext uri="{FF2B5EF4-FFF2-40B4-BE49-F238E27FC236}">
                  <a16:creationId xmlns:a16="http://schemas.microsoft.com/office/drawing/2014/main" id="{80817510-C915-7197-45F5-29C8D3DFAD12}"/>
                </a:ext>
              </a:extLst>
            </p:cNvPr>
            <p:cNvSpPr/>
            <p:nvPr/>
          </p:nvSpPr>
          <p:spPr>
            <a:xfrm>
              <a:off x="8028000" y="700000"/>
              <a:ext cx="3864000" cy="480000"/>
            </a:xfrm>
            <a:prstGeom prst="rect">
              <a:avLst/>
            </a:prstGeom>
            <a:solidFill>
              <a:schemeClr val="bg2">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latin typeface="Raleway" pitchFamily="2" charset="0"/>
                <a:ea typeface="Calibri" panose="020F0502020204030204" pitchFamily="34" charset="0"/>
                <a:cs typeface="Calibri" panose="020F0502020204030204" pitchFamily="34" charset="0"/>
              </a:endParaRPr>
            </a:p>
          </p:txBody>
        </p:sp>
        <p:sp>
          <p:nvSpPr>
            <p:cNvPr id="54" name="TextBox 53">
              <a:extLst>
                <a:ext uri="{FF2B5EF4-FFF2-40B4-BE49-F238E27FC236}">
                  <a16:creationId xmlns:a16="http://schemas.microsoft.com/office/drawing/2014/main" id="{468F798A-CD8A-7654-6936-59EBE970B0F4}"/>
                </a:ext>
              </a:extLst>
            </p:cNvPr>
            <p:cNvSpPr txBox="1"/>
            <p:nvPr/>
          </p:nvSpPr>
          <p:spPr>
            <a:xfrm>
              <a:off x="8088000" y="690000"/>
              <a:ext cx="3744000" cy="360000"/>
            </a:xfrm>
            <a:prstGeom prst="rect">
              <a:avLst/>
            </a:prstGeom>
            <a:noFill/>
          </p:spPr>
          <p:txBody>
            <a:bodyPr wrap="square"/>
            <a:lstStyle/>
            <a:p>
              <a:pPr algn="ctr"/>
              <a:r>
                <a:rPr sz="1200" b="1" i="0">
                  <a:solidFill>
                    <a:srgbClr val="FFFFFF"/>
                  </a:solidFill>
                  <a:latin typeface="Raleway" pitchFamily="2" charset="0"/>
                  <a:ea typeface="Calibri" panose="020F0502020204030204" pitchFamily="34" charset="0"/>
                  <a:cs typeface="Calibri" panose="020F0502020204030204" pitchFamily="34" charset="0"/>
                </a:rPr>
                <a:t>Stage 3
Exit Management</a:t>
              </a:r>
            </a:p>
          </p:txBody>
        </p:sp>
        <p:sp>
          <p:nvSpPr>
            <p:cNvPr id="55" name="Rectangle 54">
              <a:extLst>
                <a:ext uri="{FF2B5EF4-FFF2-40B4-BE49-F238E27FC236}">
                  <a16:creationId xmlns:a16="http://schemas.microsoft.com/office/drawing/2014/main" id="{5D262037-EC18-8874-8DEF-2FF49DEFAB43}"/>
                </a:ext>
              </a:extLst>
            </p:cNvPr>
            <p:cNvSpPr/>
            <p:nvPr/>
          </p:nvSpPr>
          <p:spPr>
            <a:xfrm>
              <a:off x="8028000" y="1200000"/>
              <a:ext cx="1932000" cy="220000"/>
            </a:xfrm>
            <a:prstGeom prst="rect">
              <a:avLst/>
            </a:prstGeom>
            <a:solidFill>
              <a:srgbClr val="ECF0F1"/>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0D4B6D"/>
                  </a:solidFill>
                  <a:latin typeface="Raleway" pitchFamily="2" charset="0"/>
                  <a:ea typeface="Calibri" panose="020F0502020204030204" pitchFamily="34" charset="0"/>
                  <a:cs typeface="Calibri" panose="020F0502020204030204" pitchFamily="34" charset="0"/>
                </a:rPr>
                <a:t>Deliverables</a:t>
              </a:r>
            </a:p>
          </p:txBody>
        </p:sp>
        <p:sp>
          <p:nvSpPr>
            <p:cNvPr id="56" name="Rectangle 55">
              <a:extLst>
                <a:ext uri="{FF2B5EF4-FFF2-40B4-BE49-F238E27FC236}">
                  <a16:creationId xmlns:a16="http://schemas.microsoft.com/office/drawing/2014/main" id="{65B11852-6F6B-C16C-CF38-E41D33CD5007}"/>
                </a:ext>
              </a:extLst>
            </p:cNvPr>
            <p:cNvSpPr/>
            <p:nvPr/>
          </p:nvSpPr>
          <p:spPr>
            <a:xfrm>
              <a:off x="9960000" y="1200000"/>
              <a:ext cx="1932000" cy="220000"/>
            </a:xfrm>
            <a:prstGeom prst="rect">
              <a:avLst/>
            </a:prstGeom>
            <a:solidFill>
              <a:srgbClr val="ECF0F1"/>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0D4B6D"/>
                  </a:solidFill>
                  <a:latin typeface="Raleway" pitchFamily="2" charset="0"/>
                  <a:ea typeface="Calibri" panose="020F0502020204030204" pitchFamily="34" charset="0"/>
                  <a:cs typeface="Calibri" panose="020F0502020204030204" pitchFamily="34" charset="0"/>
                </a:rPr>
                <a:t>Ownership</a:t>
              </a:r>
            </a:p>
          </p:txBody>
        </p:sp>
        <p:sp>
          <p:nvSpPr>
            <p:cNvPr id="57" name="Rectangle 56">
              <a:extLst>
                <a:ext uri="{FF2B5EF4-FFF2-40B4-BE49-F238E27FC236}">
                  <a16:creationId xmlns:a16="http://schemas.microsoft.com/office/drawing/2014/main" id="{68BB4853-8459-D2D4-B30F-FBCEAC9EDAAD}"/>
                </a:ext>
              </a:extLst>
            </p:cNvPr>
            <p:cNvSpPr/>
            <p:nvPr/>
          </p:nvSpPr>
          <p:spPr>
            <a:xfrm>
              <a:off x="8028000" y="14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Exit Notification</a:t>
              </a:r>
            </a:p>
          </p:txBody>
        </p:sp>
        <p:sp>
          <p:nvSpPr>
            <p:cNvPr id="58" name="Rectangle 57">
              <a:extLst>
                <a:ext uri="{FF2B5EF4-FFF2-40B4-BE49-F238E27FC236}">
                  <a16:creationId xmlns:a16="http://schemas.microsoft.com/office/drawing/2014/main" id="{FFCF0AD7-E18B-B4F9-722F-09C9399346ED}"/>
                </a:ext>
              </a:extLst>
            </p:cNvPr>
            <p:cNvSpPr/>
            <p:nvPr/>
          </p:nvSpPr>
          <p:spPr>
            <a:xfrm>
              <a:off x="9960000" y="14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chemeClr val="tx1"/>
                  </a:solidFill>
                  <a:latin typeface="Raleway" pitchFamily="2" charset="0"/>
                  <a:ea typeface="Calibri" panose="020F0502020204030204" pitchFamily="34" charset="0"/>
                  <a:cs typeface="Calibri" panose="020F0502020204030204" pitchFamily="34" charset="0"/>
                </a:rPr>
                <a:t>J2W</a:t>
              </a:r>
            </a:p>
          </p:txBody>
        </p:sp>
        <p:sp>
          <p:nvSpPr>
            <p:cNvPr id="59" name="Rectangle 58">
              <a:extLst>
                <a:ext uri="{FF2B5EF4-FFF2-40B4-BE49-F238E27FC236}">
                  <a16:creationId xmlns:a16="http://schemas.microsoft.com/office/drawing/2014/main" id="{56462909-F69D-7F0C-FF5A-179F2E3DC812}"/>
                </a:ext>
              </a:extLst>
            </p:cNvPr>
            <p:cNvSpPr/>
            <p:nvPr/>
          </p:nvSpPr>
          <p:spPr>
            <a:xfrm>
              <a:off x="8028000" y="16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Transition &amp; KT</a:t>
              </a:r>
            </a:p>
          </p:txBody>
        </p:sp>
        <p:sp>
          <p:nvSpPr>
            <p:cNvPr id="60" name="Rectangle 59">
              <a:extLst>
                <a:ext uri="{FF2B5EF4-FFF2-40B4-BE49-F238E27FC236}">
                  <a16:creationId xmlns:a16="http://schemas.microsoft.com/office/drawing/2014/main" id="{A6B2F914-9490-C890-6CBD-C5B9CE1E0C6F}"/>
                </a:ext>
              </a:extLst>
            </p:cNvPr>
            <p:cNvSpPr/>
            <p:nvPr/>
          </p:nvSpPr>
          <p:spPr>
            <a:xfrm>
              <a:off x="9960000" y="16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chemeClr val="tx1"/>
                  </a:solidFill>
                  <a:latin typeface="Raleway" pitchFamily="2" charset="0"/>
                  <a:ea typeface="Calibri" panose="020F0502020204030204" pitchFamily="34" charset="0"/>
                  <a:cs typeface="Calibri" panose="020F0502020204030204" pitchFamily="34" charset="0"/>
                </a:rPr>
                <a:t>J2W</a:t>
              </a:r>
            </a:p>
          </p:txBody>
        </p:sp>
        <p:sp>
          <p:nvSpPr>
            <p:cNvPr id="61" name="Rectangle 60">
              <a:extLst>
                <a:ext uri="{FF2B5EF4-FFF2-40B4-BE49-F238E27FC236}">
                  <a16:creationId xmlns:a16="http://schemas.microsoft.com/office/drawing/2014/main" id="{FD4BCF2C-26CD-69D1-B44B-65EA7A54F513}"/>
                </a:ext>
              </a:extLst>
            </p:cNvPr>
            <p:cNvSpPr/>
            <p:nvPr/>
          </p:nvSpPr>
          <p:spPr>
            <a:xfrm>
              <a:off x="8028000" y="19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Redeployments</a:t>
              </a:r>
            </a:p>
          </p:txBody>
        </p:sp>
        <p:sp>
          <p:nvSpPr>
            <p:cNvPr id="62" name="Rectangle 61">
              <a:extLst>
                <a:ext uri="{FF2B5EF4-FFF2-40B4-BE49-F238E27FC236}">
                  <a16:creationId xmlns:a16="http://schemas.microsoft.com/office/drawing/2014/main" id="{8B7A48A4-7436-3045-0AA8-F3D6869DFEB5}"/>
                </a:ext>
              </a:extLst>
            </p:cNvPr>
            <p:cNvSpPr/>
            <p:nvPr/>
          </p:nvSpPr>
          <p:spPr>
            <a:xfrm>
              <a:off x="9960000" y="19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chemeClr val="tx1"/>
                  </a:solidFill>
                  <a:latin typeface="Raleway" pitchFamily="2" charset="0"/>
                  <a:ea typeface="Calibri" panose="020F0502020204030204" pitchFamily="34" charset="0"/>
                  <a:cs typeface="Calibri" panose="020F0502020204030204" pitchFamily="34" charset="0"/>
                </a:rPr>
                <a:t>J2W</a:t>
              </a:r>
            </a:p>
          </p:txBody>
        </p:sp>
        <p:sp>
          <p:nvSpPr>
            <p:cNvPr id="63" name="Rectangle 62">
              <a:extLst>
                <a:ext uri="{FF2B5EF4-FFF2-40B4-BE49-F238E27FC236}">
                  <a16:creationId xmlns:a16="http://schemas.microsoft.com/office/drawing/2014/main" id="{FABAAB48-0027-53F2-5475-063F02F55DAA}"/>
                </a:ext>
              </a:extLst>
            </p:cNvPr>
            <p:cNvSpPr/>
            <p:nvPr/>
          </p:nvSpPr>
          <p:spPr>
            <a:xfrm>
              <a:off x="8028000" y="21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Asset Collection</a:t>
              </a:r>
            </a:p>
          </p:txBody>
        </p:sp>
        <p:sp>
          <p:nvSpPr>
            <p:cNvPr id="64" name="Rectangle 63">
              <a:extLst>
                <a:ext uri="{FF2B5EF4-FFF2-40B4-BE49-F238E27FC236}">
                  <a16:creationId xmlns:a16="http://schemas.microsoft.com/office/drawing/2014/main" id="{63B5B1B9-59C6-EF09-9547-51C0973C930A}"/>
                </a:ext>
              </a:extLst>
            </p:cNvPr>
            <p:cNvSpPr/>
            <p:nvPr/>
          </p:nvSpPr>
          <p:spPr>
            <a:xfrm>
              <a:off x="9960000" y="21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chemeClr val="tx1"/>
                  </a:solidFill>
                  <a:latin typeface="Raleway" pitchFamily="2" charset="0"/>
                  <a:ea typeface="Calibri" panose="020F0502020204030204" pitchFamily="34" charset="0"/>
                  <a:cs typeface="Calibri" panose="020F0502020204030204" pitchFamily="34" charset="0"/>
                </a:rPr>
                <a:t>J2W</a:t>
              </a:r>
            </a:p>
          </p:txBody>
        </p:sp>
        <p:sp>
          <p:nvSpPr>
            <p:cNvPr id="65" name="Rectangle 64">
              <a:extLst>
                <a:ext uri="{FF2B5EF4-FFF2-40B4-BE49-F238E27FC236}">
                  <a16:creationId xmlns:a16="http://schemas.microsoft.com/office/drawing/2014/main" id="{064D736C-41F2-C1C2-3241-4FB34E12981C}"/>
                </a:ext>
              </a:extLst>
            </p:cNvPr>
            <p:cNvSpPr/>
            <p:nvPr/>
          </p:nvSpPr>
          <p:spPr>
            <a:xfrm>
              <a:off x="8028000" y="24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NOCs</a:t>
              </a:r>
            </a:p>
          </p:txBody>
        </p:sp>
        <p:sp>
          <p:nvSpPr>
            <p:cNvPr id="66" name="Rectangle 65">
              <a:extLst>
                <a:ext uri="{FF2B5EF4-FFF2-40B4-BE49-F238E27FC236}">
                  <a16:creationId xmlns:a16="http://schemas.microsoft.com/office/drawing/2014/main" id="{161F0B9C-21D4-C826-B48A-33C07115D9F0}"/>
                </a:ext>
              </a:extLst>
            </p:cNvPr>
            <p:cNvSpPr/>
            <p:nvPr/>
          </p:nvSpPr>
          <p:spPr>
            <a:xfrm>
              <a:off x="9960000" y="24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chemeClr val="tx1"/>
                  </a:solidFill>
                  <a:latin typeface="Raleway" pitchFamily="2" charset="0"/>
                  <a:ea typeface="Calibri" panose="020F0502020204030204" pitchFamily="34" charset="0"/>
                  <a:cs typeface="Calibri" panose="020F0502020204030204" pitchFamily="34" charset="0"/>
                </a:rPr>
                <a:t>J2W</a:t>
              </a:r>
            </a:p>
          </p:txBody>
        </p:sp>
      </p:grpSp>
      <p:pic>
        <p:nvPicPr>
          <p:cNvPr id="4" name="Image 1" descr="gen-dedup-323228122ff92d2332e711a84ca3b40c.png">
            <a:extLst>
              <a:ext uri="{FF2B5EF4-FFF2-40B4-BE49-F238E27FC236}">
                <a16:creationId xmlns:a16="http://schemas.microsoft.com/office/drawing/2014/main" id="{476AB5FF-1605-E1FF-2C16-349745667138}"/>
              </a:ext>
            </a:extLst>
          </p:cNvPr>
          <p:cNvPicPr>
            <a:picLocks noChangeAspect="1"/>
          </p:cNvPicPr>
          <p:nvPr/>
        </p:nvPicPr>
        <p:blipFill>
          <a:blip r:embed="rId3"/>
          <a:srcRect l="-198" r="-198"/>
          <a:stretch/>
        </p:blipFill>
        <p:spPr>
          <a:xfrm>
            <a:off x="0" y="0"/>
            <a:ext cx="8124444" cy="75895"/>
          </a:xfrm>
          <a:prstGeom prst="rect">
            <a:avLst/>
          </a:prstGeom>
        </p:spPr>
      </p:pic>
      <p:pic>
        <p:nvPicPr>
          <p:cNvPr id="7" name="Image 2" descr="gen-dedup-9663ecf744b06e35d4c2cebaab92a2ea.png">
            <a:extLst>
              <a:ext uri="{FF2B5EF4-FFF2-40B4-BE49-F238E27FC236}">
                <a16:creationId xmlns:a16="http://schemas.microsoft.com/office/drawing/2014/main" id="{D456ED6E-AF28-1EB2-A349-6A858D1A4AE1}"/>
              </a:ext>
            </a:extLst>
          </p:cNvPr>
          <p:cNvPicPr>
            <a:picLocks noChangeAspect="1"/>
          </p:cNvPicPr>
          <p:nvPr/>
        </p:nvPicPr>
        <p:blipFill>
          <a:blip r:embed="rId4"/>
          <a:srcRect l="-202" r="-202"/>
          <a:stretch/>
        </p:blipFill>
        <p:spPr>
          <a:xfrm>
            <a:off x="8124444" y="0"/>
            <a:ext cx="4067251" cy="75895"/>
          </a:xfrm>
          <a:prstGeom prst="rect">
            <a:avLst/>
          </a:prstGeom>
        </p:spPr>
      </p:pic>
      <p:pic>
        <p:nvPicPr>
          <p:cNvPr id="5" name="Image 3" descr="gen-dedup-777bf757d895431cabe402fcd34ebd5a.png">
            <a:extLst>
              <a:ext uri="{FF2B5EF4-FFF2-40B4-BE49-F238E27FC236}">
                <a16:creationId xmlns:a16="http://schemas.microsoft.com/office/drawing/2014/main" id="{C54E42E9-E393-93A5-B181-A0FEB655EDF5}"/>
              </a:ext>
            </a:extLst>
          </p:cNvPr>
          <p:cNvPicPr>
            <a:picLocks noChangeAspect="1"/>
          </p:cNvPicPr>
          <p:nvPr/>
        </p:nvPicPr>
        <p:blipFill>
          <a:blip r:embed="rId5">
            <a:biLevel thresh="75000"/>
          </a:blip>
          <a:srcRect l="-384" r="-384"/>
          <a:stretch/>
        </p:blipFill>
        <p:spPr>
          <a:xfrm>
            <a:off x="571500" y="381305"/>
            <a:ext cx="57607" cy="476402"/>
          </a:xfrm>
          <a:prstGeom prst="rect">
            <a:avLst/>
          </a:prstGeom>
        </p:spPr>
      </p:pic>
      <p:sp>
        <p:nvSpPr>
          <p:cNvPr id="14" name="Text 5">
            <a:extLst>
              <a:ext uri="{FF2B5EF4-FFF2-40B4-BE49-F238E27FC236}">
                <a16:creationId xmlns:a16="http://schemas.microsoft.com/office/drawing/2014/main" id="{11E48207-4CBE-E76D-7A7F-C2165C688D0B}"/>
              </a:ext>
            </a:extLst>
          </p:cNvPr>
          <p:cNvSpPr txBox="1"/>
          <p:nvPr/>
        </p:nvSpPr>
        <p:spPr>
          <a:xfrm>
            <a:off x="780897" y="333756"/>
            <a:ext cx="5913817" cy="406908"/>
          </a:xfrm>
          <a:prstGeom prst="rect">
            <a:avLst/>
          </a:prstGeom>
          <a:noFill/>
          <a:ln/>
        </p:spPr>
        <p:txBody>
          <a:bodyPr wrap="none" lIns="0" tIns="0" rIns="0" bIns="0" rtlCol="0" anchor="ctr"/>
          <a:lstStyle/>
          <a:p>
            <a:r>
              <a:rPr lang="en-GB" sz="2400" b="1" kern="0" spc="-67" dirty="0">
                <a:solidFill>
                  <a:srgbClr val="111827"/>
                </a:solidFill>
                <a:latin typeface="Oswald" pitchFamily="34" charset="0"/>
                <a:ea typeface="Oswald" pitchFamily="34" charset="-122"/>
                <a:cs typeface="Oswald" pitchFamily="34" charset="-120"/>
              </a:rPr>
              <a:t>LIFECYCLE FOR OPERATIONS</a:t>
            </a:r>
          </a:p>
        </p:txBody>
      </p:sp>
      <p:sp>
        <p:nvSpPr>
          <p:cNvPr id="68" name="Text 6">
            <a:extLst>
              <a:ext uri="{FF2B5EF4-FFF2-40B4-BE49-F238E27FC236}">
                <a16:creationId xmlns:a16="http://schemas.microsoft.com/office/drawing/2014/main" id="{E3D774AC-9A07-89B7-5217-3F8B716334D1}"/>
              </a:ext>
            </a:extLst>
          </p:cNvPr>
          <p:cNvSpPr txBox="1"/>
          <p:nvPr/>
        </p:nvSpPr>
        <p:spPr>
          <a:xfrm>
            <a:off x="780898" y="740663"/>
            <a:ext cx="5054803" cy="257861"/>
          </a:xfrm>
          <a:prstGeom prst="rect">
            <a:avLst/>
          </a:prstGeom>
          <a:noFill/>
          <a:ln/>
        </p:spPr>
        <p:txBody>
          <a:bodyPr wrap="none" lIns="0" tIns="0" rIns="0" bIns="0" rtlCol="0" anchor="ctr"/>
          <a:lstStyle/>
          <a:p>
            <a:pPr marL="0" indent="0" algn="l">
              <a:buNone/>
            </a:pPr>
            <a:r>
              <a:rPr lang="en-GB" sz="1500" b="1" kern="0" spc="66" dirty="0">
                <a:solidFill>
                  <a:srgbClr val="2A9D8F"/>
                </a:solidFill>
                <a:latin typeface="Roboto Condensed" pitchFamily="34" charset="0"/>
                <a:ea typeface="Roboto Condensed" pitchFamily="34" charset="-122"/>
                <a:cs typeface="Roboto Condensed" pitchFamily="34" charset="-120"/>
              </a:rPr>
              <a:t>End-to-End Workforce Lifecycle Management - From Screening To Exit</a:t>
            </a:r>
          </a:p>
        </p:txBody>
      </p:sp>
    </p:spTree>
    <p:extLst>
      <p:ext uri="{BB962C8B-B14F-4D97-AF65-F5344CB8AC3E}">
        <p14:creationId xmlns:p14="http://schemas.microsoft.com/office/powerpoint/2010/main" val="22544813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gen-dedup-e3e5efede2ea6a135da8da59a828adc3.png"/>
          <p:cNvPicPr>
            <a:picLocks noChangeAspect="1"/>
          </p:cNvPicPr>
          <p:nvPr/>
        </p:nvPicPr>
        <p:blipFill>
          <a:blip r:embed="rId3"/>
          <a:srcRect t="-403" b="-403"/>
          <a:stretch/>
        </p:blipFill>
        <p:spPr>
          <a:xfrm>
            <a:off x="0" y="0"/>
            <a:ext cx="4876495" cy="57607"/>
          </a:xfrm>
          <a:prstGeom prst="rect">
            <a:avLst/>
          </a:prstGeom>
        </p:spPr>
      </p:pic>
      <p:pic>
        <p:nvPicPr>
          <p:cNvPr id="3" name="Image 1" descr="gen-dedup-8f2b51904704db7afbf58c969153d6e7.png"/>
          <p:cNvPicPr>
            <a:picLocks noChangeAspect="1"/>
          </p:cNvPicPr>
          <p:nvPr/>
        </p:nvPicPr>
        <p:blipFill>
          <a:blip r:embed="rId4"/>
          <a:srcRect t="-400" b="-400"/>
          <a:stretch/>
        </p:blipFill>
        <p:spPr>
          <a:xfrm>
            <a:off x="4876495" y="0"/>
            <a:ext cx="7315200" cy="57607"/>
          </a:xfrm>
          <a:prstGeom prst="rect">
            <a:avLst/>
          </a:prstGeom>
        </p:spPr>
      </p:pic>
      <p:sp>
        <p:nvSpPr>
          <p:cNvPr id="5" name="Shape 0"/>
          <p:cNvSpPr/>
          <p:nvPr/>
        </p:nvSpPr>
        <p:spPr>
          <a:xfrm>
            <a:off x="533095" y="1238098"/>
            <a:ext cx="2115007" cy="1571854"/>
          </a:xfrm>
          <a:prstGeom prst="roundRect">
            <a:avLst>
              <a:gd name="adj" fmla="val 4828"/>
            </a:avLst>
          </a:prstGeom>
          <a:solidFill>
            <a:srgbClr val="FFFFFF"/>
          </a:solidFill>
          <a:ln w="12700">
            <a:solidFill>
              <a:srgbClr val="E5E8EE"/>
            </a:solidFill>
            <a:prstDash val="solid"/>
          </a:ln>
          <a:effectLst>
            <a:outerShdw blurRad="114300" dist="38100" dir="16200000" algn="bl" rotWithShape="0">
              <a:srgbClr val="000000">
                <a:alpha val="3000"/>
              </a:srgbClr>
            </a:outerShdw>
          </a:effectLst>
        </p:spPr>
        <p:txBody>
          <a:bodyPr/>
          <a:lstStyle/>
          <a:p>
            <a:endParaRPr lang="en-US">
              <a:latin typeface="Raleway" pitchFamily="2" charset="0"/>
            </a:endParaRPr>
          </a:p>
        </p:txBody>
      </p:sp>
      <p:sp>
        <p:nvSpPr>
          <p:cNvPr id="6" name="Shape 1"/>
          <p:cNvSpPr/>
          <p:nvPr/>
        </p:nvSpPr>
        <p:spPr>
          <a:xfrm>
            <a:off x="533095" y="1238098"/>
            <a:ext cx="2115007" cy="38405"/>
          </a:xfrm>
          <a:prstGeom prst="roundRect">
            <a:avLst>
              <a:gd name="adj" fmla="val 197618"/>
            </a:avLst>
          </a:prstGeom>
          <a:solidFill>
            <a:srgbClr val="289C8F"/>
          </a:solidFill>
          <a:ln w="12700">
            <a:solidFill>
              <a:srgbClr val="289C8F">
                <a:alpha val="0"/>
              </a:srgbClr>
            </a:solidFill>
            <a:prstDash val="solid"/>
          </a:ln>
        </p:spPr>
        <p:txBody>
          <a:bodyPr/>
          <a:lstStyle/>
          <a:p>
            <a:endParaRPr lang="en-US">
              <a:latin typeface="Raleway" pitchFamily="2" charset="0"/>
            </a:endParaRPr>
          </a:p>
        </p:txBody>
      </p:sp>
      <p:sp>
        <p:nvSpPr>
          <p:cNvPr id="7" name="Shape 2"/>
          <p:cNvSpPr/>
          <p:nvPr/>
        </p:nvSpPr>
        <p:spPr>
          <a:xfrm>
            <a:off x="2781605" y="1238098"/>
            <a:ext cx="2115007" cy="1571854"/>
          </a:xfrm>
          <a:prstGeom prst="roundRect">
            <a:avLst>
              <a:gd name="adj" fmla="val 4828"/>
            </a:avLst>
          </a:prstGeom>
          <a:solidFill>
            <a:srgbClr val="FFFFFF"/>
          </a:solidFill>
          <a:ln w="12700">
            <a:solidFill>
              <a:srgbClr val="E5E8EE"/>
            </a:solidFill>
            <a:prstDash val="solid"/>
          </a:ln>
          <a:effectLst>
            <a:outerShdw blurRad="114300" dist="38100" dir="16200000" algn="bl" rotWithShape="0">
              <a:srgbClr val="000000">
                <a:alpha val="3000"/>
              </a:srgbClr>
            </a:outerShdw>
          </a:effectLst>
        </p:spPr>
        <p:txBody>
          <a:bodyPr/>
          <a:lstStyle/>
          <a:p>
            <a:endParaRPr lang="en-US">
              <a:latin typeface="Raleway" pitchFamily="2" charset="0"/>
            </a:endParaRPr>
          </a:p>
        </p:txBody>
      </p:sp>
      <p:sp>
        <p:nvSpPr>
          <p:cNvPr id="8" name="Shape 3"/>
          <p:cNvSpPr/>
          <p:nvPr/>
        </p:nvSpPr>
        <p:spPr>
          <a:xfrm>
            <a:off x="2781605" y="1238098"/>
            <a:ext cx="2115007" cy="38405"/>
          </a:xfrm>
          <a:prstGeom prst="roundRect">
            <a:avLst>
              <a:gd name="adj" fmla="val 197618"/>
            </a:avLst>
          </a:prstGeom>
          <a:solidFill>
            <a:srgbClr val="289C8F"/>
          </a:solidFill>
          <a:ln w="12700">
            <a:solidFill>
              <a:srgbClr val="289C8F">
                <a:alpha val="0"/>
              </a:srgbClr>
            </a:solidFill>
            <a:prstDash val="solid"/>
          </a:ln>
        </p:spPr>
        <p:txBody>
          <a:bodyPr/>
          <a:lstStyle/>
          <a:p>
            <a:endParaRPr lang="en-US">
              <a:latin typeface="Raleway" pitchFamily="2" charset="0"/>
            </a:endParaRPr>
          </a:p>
        </p:txBody>
      </p:sp>
      <p:sp>
        <p:nvSpPr>
          <p:cNvPr id="9" name="Shape 4"/>
          <p:cNvSpPr/>
          <p:nvPr/>
        </p:nvSpPr>
        <p:spPr>
          <a:xfrm>
            <a:off x="5029200" y="1238098"/>
            <a:ext cx="2115007" cy="1571854"/>
          </a:xfrm>
          <a:prstGeom prst="roundRect">
            <a:avLst>
              <a:gd name="adj" fmla="val 4828"/>
            </a:avLst>
          </a:prstGeom>
          <a:solidFill>
            <a:srgbClr val="FFFFFF"/>
          </a:solidFill>
          <a:ln w="12700">
            <a:solidFill>
              <a:srgbClr val="E5E8EE"/>
            </a:solidFill>
            <a:prstDash val="solid"/>
          </a:ln>
          <a:effectLst>
            <a:outerShdw blurRad="114300" dist="38100" dir="16200000" algn="bl" rotWithShape="0">
              <a:srgbClr val="000000">
                <a:alpha val="3000"/>
              </a:srgbClr>
            </a:outerShdw>
          </a:effectLst>
        </p:spPr>
        <p:txBody>
          <a:bodyPr/>
          <a:lstStyle/>
          <a:p>
            <a:endParaRPr lang="en-US">
              <a:latin typeface="Raleway" pitchFamily="2" charset="0"/>
            </a:endParaRPr>
          </a:p>
        </p:txBody>
      </p:sp>
      <p:sp>
        <p:nvSpPr>
          <p:cNvPr id="10" name="Shape 5"/>
          <p:cNvSpPr/>
          <p:nvPr/>
        </p:nvSpPr>
        <p:spPr>
          <a:xfrm>
            <a:off x="5029200" y="1238098"/>
            <a:ext cx="2115007" cy="38405"/>
          </a:xfrm>
          <a:prstGeom prst="roundRect">
            <a:avLst>
              <a:gd name="adj" fmla="val 197618"/>
            </a:avLst>
          </a:prstGeom>
          <a:solidFill>
            <a:srgbClr val="289C8F"/>
          </a:solidFill>
          <a:ln w="12700">
            <a:solidFill>
              <a:srgbClr val="289C8F">
                <a:alpha val="0"/>
              </a:srgbClr>
            </a:solidFill>
            <a:prstDash val="solid"/>
          </a:ln>
        </p:spPr>
        <p:txBody>
          <a:bodyPr/>
          <a:lstStyle/>
          <a:p>
            <a:endParaRPr lang="en-US">
              <a:latin typeface="Raleway" pitchFamily="2" charset="0"/>
            </a:endParaRPr>
          </a:p>
        </p:txBody>
      </p:sp>
      <p:sp>
        <p:nvSpPr>
          <p:cNvPr id="11" name="Shape 6"/>
          <p:cNvSpPr/>
          <p:nvPr/>
        </p:nvSpPr>
        <p:spPr>
          <a:xfrm>
            <a:off x="7276795" y="1238098"/>
            <a:ext cx="2115007" cy="1571854"/>
          </a:xfrm>
          <a:prstGeom prst="roundRect">
            <a:avLst>
              <a:gd name="adj" fmla="val 4828"/>
            </a:avLst>
          </a:prstGeom>
          <a:solidFill>
            <a:srgbClr val="FFFFFF"/>
          </a:solidFill>
          <a:ln w="12700">
            <a:solidFill>
              <a:srgbClr val="E5E8EE"/>
            </a:solidFill>
            <a:prstDash val="solid"/>
          </a:ln>
          <a:effectLst>
            <a:outerShdw blurRad="114300" dist="38100" dir="16200000" algn="bl" rotWithShape="0">
              <a:srgbClr val="000000">
                <a:alpha val="3000"/>
              </a:srgbClr>
            </a:outerShdw>
          </a:effectLst>
        </p:spPr>
        <p:txBody>
          <a:bodyPr/>
          <a:lstStyle/>
          <a:p>
            <a:endParaRPr lang="en-US">
              <a:latin typeface="Raleway" pitchFamily="2" charset="0"/>
            </a:endParaRPr>
          </a:p>
        </p:txBody>
      </p:sp>
      <p:sp>
        <p:nvSpPr>
          <p:cNvPr id="12" name="Shape 7"/>
          <p:cNvSpPr/>
          <p:nvPr/>
        </p:nvSpPr>
        <p:spPr>
          <a:xfrm>
            <a:off x="7276795" y="1238098"/>
            <a:ext cx="2115007" cy="38405"/>
          </a:xfrm>
          <a:prstGeom prst="roundRect">
            <a:avLst>
              <a:gd name="adj" fmla="val 197618"/>
            </a:avLst>
          </a:prstGeom>
          <a:solidFill>
            <a:srgbClr val="289C8F"/>
          </a:solidFill>
          <a:ln w="12700">
            <a:solidFill>
              <a:srgbClr val="289C8F">
                <a:alpha val="0"/>
              </a:srgbClr>
            </a:solidFill>
            <a:prstDash val="solid"/>
          </a:ln>
        </p:spPr>
        <p:txBody>
          <a:bodyPr/>
          <a:lstStyle/>
          <a:p>
            <a:endParaRPr lang="en-US">
              <a:latin typeface="Raleway" pitchFamily="2" charset="0"/>
            </a:endParaRPr>
          </a:p>
        </p:txBody>
      </p:sp>
      <p:sp>
        <p:nvSpPr>
          <p:cNvPr id="13" name="Shape 8"/>
          <p:cNvSpPr/>
          <p:nvPr/>
        </p:nvSpPr>
        <p:spPr>
          <a:xfrm>
            <a:off x="9525305" y="1238098"/>
            <a:ext cx="2115007" cy="1571854"/>
          </a:xfrm>
          <a:prstGeom prst="roundRect">
            <a:avLst>
              <a:gd name="adj" fmla="val 4828"/>
            </a:avLst>
          </a:prstGeom>
          <a:solidFill>
            <a:srgbClr val="FFFFFF"/>
          </a:solidFill>
          <a:ln w="12700">
            <a:solidFill>
              <a:srgbClr val="E5E8EE"/>
            </a:solidFill>
            <a:prstDash val="solid"/>
          </a:ln>
          <a:effectLst>
            <a:outerShdw blurRad="114300" dist="38100" dir="16200000" algn="bl" rotWithShape="0">
              <a:srgbClr val="000000">
                <a:alpha val="3000"/>
              </a:srgbClr>
            </a:outerShdw>
          </a:effectLst>
        </p:spPr>
        <p:txBody>
          <a:bodyPr/>
          <a:lstStyle/>
          <a:p>
            <a:endParaRPr lang="en-US">
              <a:latin typeface="Raleway" pitchFamily="2" charset="0"/>
            </a:endParaRPr>
          </a:p>
        </p:txBody>
      </p:sp>
      <p:sp>
        <p:nvSpPr>
          <p:cNvPr id="14" name="Shape 9"/>
          <p:cNvSpPr/>
          <p:nvPr/>
        </p:nvSpPr>
        <p:spPr>
          <a:xfrm>
            <a:off x="9525305" y="1238098"/>
            <a:ext cx="2115007" cy="38405"/>
          </a:xfrm>
          <a:prstGeom prst="roundRect">
            <a:avLst>
              <a:gd name="adj" fmla="val 197618"/>
            </a:avLst>
          </a:prstGeom>
          <a:solidFill>
            <a:srgbClr val="289C8F"/>
          </a:solidFill>
          <a:ln w="12700">
            <a:solidFill>
              <a:srgbClr val="289C8F">
                <a:alpha val="0"/>
              </a:srgbClr>
            </a:solidFill>
            <a:prstDash val="solid"/>
          </a:ln>
        </p:spPr>
        <p:txBody>
          <a:bodyPr/>
          <a:lstStyle/>
          <a:p>
            <a:endParaRPr lang="en-US">
              <a:latin typeface="Raleway" pitchFamily="2" charset="0"/>
            </a:endParaRPr>
          </a:p>
        </p:txBody>
      </p:sp>
      <p:sp>
        <p:nvSpPr>
          <p:cNvPr id="15" name="Shape 10"/>
          <p:cNvSpPr/>
          <p:nvPr/>
        </p:nvSpPr>
        <p:spPr>
          <a:xfrm>
            <a:off x="533095" y="2952598"/>
            <a:ext cx="2115007" cy="1571854"/>
          </a:xfrm>
          <a:prstGeom prst="roundRect">
            <a:avLst>
              <a:gd name="adj" fmla="val 4828"/>
            </a:avLst>
          </a:prstGeom>
          <a:solidFill>
            <a:srgbClr val="FFFFFF"/>
          </a:solidFill>
          <a:ln w="12700">
            <a:solidFill>
              <a:srgbClr val="E5E8EE"/>
            </a:solidFill>
            <a:prstDash val="solid"/>
          </a:ln>
          <a:effectLst>
            <a:outerShdw blurRad="114300" dist="38100" dir="16200000" algn="bl" rotWithShape="0">
              <a:srgbClr val="000000">
                <a:alpha val="3000"/>
              </a:srgbClr>
            </a:outerShdw>
          </a:effectLst>
        </p:spPr>
        <p:txBody>
          <a:bodyPr/>
          <a:lstStyle/>
          <a:p>
            <a:endParaRPr lang="en-US" sz="1100">
              <a:latin typeface="Raleway" pitchFamily="2" charset="0"/>
            </a:endParaRPr>
          </a:p>
        </p:txBody>
      </p:sp>
      <p:sp>
        <p:nvSpPr>
          <p:cNvPr id="16" name="Shape 11"/>
          <p:cNvSpPr/>
          <p:nvPr/>
        </p:nvSpPr>
        <p:spPr>
          <a:xfrm>
            <a:off x="533095" y="2952598"/>
            <a:ext cx="2115007" cy="38405"/>
          </a:xfrm>
          <a:prstGeom prst="roundRect">
            <a:avLst>
              <a:gd name="adj" fmla="val 197618"/>
            </a:avLst>
          </a:prstGeom>
          <a:solidFill>
            <a:srgbClr val="289C8F"/>
          </a:solidFill>
          <a:ln w="12700">
            <a:solidFill>
              <a:srgbClr val="289C8F">
                <a:alpha val="0"/>
              </a:srgbClr>
            </a:solidFill>
            <a:prstDash val="solid"/>
          </a:ln>
        </p:spPr>
        <p:txBody>
          <a:bodyPr/>
          <a:lstStyle/>
          <a:p>
            <a:endParaRPr lang="en-US" sz="1400">
              <a:latin typeface="Raleway" pitchFamily="2" charset="0"/>
            </a:endParaRPr>
          </a:p>
        </p:txBody>
      </p:sp>
      <p:sp>
        <p:nvSpPr>
          <p:cNvPr id="17" name="Shape 12"/>
          <p:cNvSpPr/>
          <p:nvPr/>
        </p:nvSpPr>
        <p:spPr>
          <a:xfrm>
            <a:off x="2781605" y="2952598"/>
            <a:ext cx="2115007" cy="1571854"/>
          </a:xfrm>
          <a:prstGeom prst="roundRect">
            <a:avLst>
              <a:gd name="adj" fmla="val 4828"/>
            </a:avLst>
          </a:prstGeom>
          <a:solidFill>
            <a:srgbClr val="FFFFFF"/>
          </a:solidFill>
          <a:ln w="12700">
            <a:solidFill>
              <a:srgbClr val="E5E8EE"/>
            </a:solidFill>
            <a:prstDash val="solid"/>
          </a:ln>
          <a:effectLst>
            <a:outerShdw blurRad="114300" dist="38100" dir="16200000" algn="bl" rotWithShape="0">
              <a:srgbClr val="000000">
                <a:alpha val="3000"/>
              </a:srgbClr>
            </a:outerShdw>
          </a:effectLst>
        </p:spPr>
        <p:txBody>
          <a:bodyPr/>
          <a:lstStyle/>
          <a:p>
            <a:endParaRPr lang="en-US" sz="1100">
              <a:latin typeface="Raleway" pitchFamily="2" charset="0"/>
            </a:endParaRPr>
          </a:p>
        </p:txBody>
      </p:sp>
      <p:sp>
        <p:nvSpPr>
          <p:cNvPr id="18" name="Shape 13"/>
          <p:cNvSpPr/>
          <p:nvPr/>
        </p:nvSpPr>
        <p:spPr>
          <a:xfrm>
            <a:off x="2781605" y="2952598"/>
            <a:ext cx="2115007" cy="38405"/>
          </a:xfrm>
          <a:prstGeom prst="roundRect">
            <a:avLst>
              <a:gd name="adj" fmla="val 197618"/>
            </a:avLst>
          </a:prstGeom>
          <a:solidFill>
            <a:srgbClr val="289C8F"/>
          </a:solidFill>
          <a:ln w="12700">
            <a:solidFill>
              <a:srgbClr val="289C8F">
                <a:alpha val="0"/>
              </a:srgbClr>
            </a:solidFill>
            <a:prstDash val="solid"/>
          </a:ln>
        </p:spPr>
        <p:txBody>
          <a:bodyPr/>
          <a:lstStyle/>
          <a:p>
            <a:endParaRPr lang="en-US" sz="1400">
              <a:latin typeface="Raleway" pitchFamily="2" charset="0"/>
            </a:endParaRPr>
          </a:p>
        </p:txBody>
      </p:sp>
      <p:sp>
        <p:nvSpPr>
          <p:cNvPr id="19" name="Shape 14"/>
          <p:cNvSpPr/>
          <p:nvPr/>
        </p:nvSpPr>
        <p:spPr>
          <a:xfrm>
            <a:off x="5029200" y="2952598"/>
            <a:ext cx="2115007" cy="1571854"/>
          </a:xfrm>
          <a:prstGeom prst="roundRect">
            <a:avLst>
              <a:gd name="adj" fmla="val 4828"/>
            </a:avLst>
          </a:prstGeom>
          <a:solidFill>
            <a:srgbClr val="FFFFFF"/>
          </a:solidFill>
          <a:ln w="12700">
            <a:solidFill>
              <a:srgbClr val="E5E8EE"/>
            </a:solidFill>
            <a:prstDash val="solid"/>
          </a:ln>
          <a:effectLst>
            <a:outerShdw blurRad="114300" dist="38100" dir="16200000" algn="bl" rotWithShape="0">
              <a:srgbClr val="000000">
                <a:alpha val="3000"/>
              </a:srgbClr>
            </a:outerShdw>
          </a:effectLst>
        </p:spPr>
        <p:txBody>
          <a:bodyPr/>
          <a:lstStyle/>
          <a:p>
            <a:endParaRPr lang="en-US" sz="1100">
              <a:latin typeface="Raleway" pitchFamily="2" charset="0"/>
            </a:endParaRPr>
          </a:p>
        </p:txBody>
      </p:sp>
      <p:sp>
        <p:nvSpPr>
          <p:cNvPr id="20" name="Shape 15"/>
          <p:cNvSpPr/>
          <p:nvPr/>
        </p:nvSpPr>
        <p:spPr>
          <a:xfrm>
            <a:off x="5029200" y="2952598"/>
            <a:ext cx="2115007" cy="38405"/>
          </a:xfrm>
          <a:prstGeom prst="roundRect">
            <a:avLst>
              <a:gd name="adj" fmla="val 197618"/>
            </a:avLst>
          </a:prstGeom>
          <a:solidFill>
            <a:srgbClr val="289C8F"/>
          </a:solidFill>
          <a:ln w="12700">
            <a:solidFill>
              <a:srgbClr val="289C8F">
                <a:alpha val="0"/>
              </a:srgbClr>
            </a:solidFill>
            <a:prstDash val="solid"/>
          </a:ln>
        </p:spPr>
        <p:txBody>
          <a:bodyPr/>
          <a:lstStyle/>
          <a:p>
            <a:endParaRPr lang="en-US" sz="1400">
              <a:latin typeface="Raleway" pitchFamily="2" charset="0"/>
            </a:endParaRPr>
          </a:p>
        </p:txBody>
      </p:sp>
      <p:sp>
        <p:nvSpPr>
          <p:cNvPr id="21" name="Shape 16"/>
          <p:cNvSpPr/>
          <p:nvPr/>
        </p:nvSpPr>
        <p:spPr>
          <a:xfrm>
            <a:off x="7276795" y="2952598"/>
            <a:ext cx="2115007" cy="1571854"/>
          </a:xfrm>
          <a:prstGeom prst="roundRect">
            <a:avLst>
              <a:gd name="adj" fmla="val 4828"/>
            </a:avLst>
          </a:prstGeom>
          <a:solidFill>
            <a:srgbClr val="FFFFFF"/>
          </a:solidFill>
          <a:ln w="12700">
            <a:solidFill>
              <a:srgbClr val="E5E8EE"/>
            </a:solidFill>
            <a:prstDash val="solid"/>
          </a:ln>
          <a:effectLst>
            <a:outerShdw blurRad="114300" dist="38100" dir="16200000" algn="bl" rotWithShape="0">
              <a:srgbClr val="000000">
                <a:alpha val="3000"/>
              </a:srgbClr>
            </a:outerShdw>
          </a:effectLst>
        </p:spPr>
        <p:txBody>
          <a:bodyPr/>
          <a:lstStyle/>
          <a:p>
            <a:endParaRPr lang="en-US" sz="1100">
              <a:latin typeface="Raleway" pitchFamily="2" charset="0"/>
            </a:endParaRPr>
          </a:p>
        </p:txBody>
      </p:sp>
      <p:sp>
        <p:nvSpPr>
          <p:cNvPr id="22" name="Shape 17"/>
          <p:cNvSpPr/>
          <p:nvPr/>
        </p:nvSpPr>
        <p:spPr>
          <a:xfrm>
            <a:off x="7276795" y="2952598"/>
            <a:ext cx="2115007" cy="38405"/>
          </a:xfrm>
          <a:prstGeom prst="roundRect">
            <a:avLst>
              <a:gd name="adj" fmla="val 197618"/>
            </a:avLst>
          </a:prstGeom>
          <a:solidFill>
            <a:srgbClr val="289C8F"/>
          </a:solidFill>
          <a:ln w="12700">
            <a:solidFill>
              <a:srgbClr val="289C8F">
                <a:alpha val="0"/>
              </a:srgbClr>
            </a:solidFill>
            <a:prstDash val="solid"/>
          </a:ln>
        </p:spPr>
        <p:txBody>
          <a:bodyPr/>
          <a:lstStyle/>
          <a:p>
            <a:endParaRPr lang="en-US" sz="1400">
              <a:latin typeface="Raleway" pitchFamily="2" charset="0"/>
            </a:endParaRPr>
          </a:p>
        </p:txBody>
      </p:sp>
      <p:sp>
        <p:nvSpPr>
          <p:cNvPr id="23" name="Shape 18"/>
          <p:cNvSpPr/>
          <p:nvPr/>
        </p:nvSpPr>
        <p:spPr>
          <a:xfrm>
            <a:off x="9525305" y="2952598"/>
            <a:ext cx="2115007" cy="1571854"/>
          </a:xfrm>
          <a:prstGeom prst="roundRect">
            <a:avLst>
              <a:gd name="adj" fmla="val 4828"/>
            </a:avLst>
          </a:prstGeom>
          <a:solidFill>
            <a:srgbClr val="FFFFFF"/>
          </a:solidFill>
          <a:ln w="12700">
            <a:solidFill>
              <a:srgbClr val="E5E8EE"/>
            </a:solidFill>
            <a:prstDash val="solid"/>
          </a:ln>
          <a:effectLst>
            <a:outerShdw blurRad="114300" dist="38100" dir="16200000" algn="bl" rotWithShape="0">
              <a:srgbClr val="000000">
                <a:alpha val="3000"/>
              </a:srgbClr>
            </a:outerShdw>
          </a:effectLst>
        </p:spPr>
        <p:txBody>
          <a:bodyPr/>
          <a:lstStyle/>
          <a:p>
            <a:endParaRPr lang="en-US">
              <a:latin typeface="Raleway" pitchFamily="2" charset="0"/>
            </a:endParaRPr>
          </a:p>
        </p:txBody>
      </p:sp>
      <p:sp>
        <p:nvSpPr>
          <p:cNvPr id="24" name="Shape 19"/>
          <p:cNvSpPr/>
          <p:nvPr/>
        </p:nvSpPr>
        <p:spPr>
          <a:xfrm>
            <a:off x="9525305" y="2952598"/>
            <a:ext cx="2115007" cy="38405"/>
          </a:xfrm>
          <a:prstGeom prst="roundRect">
            <a:avLst>
              <a:gd name="adj" fmla="val 197618"/>
            </a:avLst>
          </a:prstGeom>
          <a:solidFill>
            <a:srgbClr val="289C8F"/>
          </a:solidFill>
          <a:ln w="12700">
            <a:solidFill>
              <a:srgbClr val="289C8F">
                <a:alpha val="0"/>
              </a:srgbClr>
            </a:solidFill>
            <a:prstDash val="solid"/>
          </a:ln>
        </p:spPr>
        <p:txBody>
          <a:bodyPr/>
          <a:lstStyle/>
          <a:p>
            <a:endParaRPr lang="en-US" sz="1400">
              <a:latin typeface="Raleway" pitchFamily="2" charset="0"/>
            </a:endParaRPr>
          </a:p>
        </p:txBody>
      </p:sp>
      <p:sp>
        <p:nvSpPr>
          <p:cNvPr id="25" name="Shape 20"/>
          <p:cNvSpPr/>
          <p:nvPr/>
        </p:nvSpPr>
        <p:spPr>
          <a:xfrm>
            <a:off x="533095" y="4809744"/>
            <a:ext cx="11087100" cy="571500"/>
          </a:xfrm>
          <a:prstGeom prst="roundRect">
            <a:avLst>
              <a:gd name="adj" fmla="val 13280"/>
            </a:avLst>
          </a:prstGeom>
          <a:solidFill>
            <a:srgbClr val="E0F0EE"/>
          </a:solidFill>
          <a:ln w="12700">
            <a:solidFill>
              <a:srgbClr val="FFFFFF">
                <a:alpha val="0"/>
              </a:srgbClr>
            </a:solidFill>
            <a:prstDash val="solid"/>
          </a:ln>
        </p:spPr>
        <p:txBody>
          <a:bodyPr/>
          <a:lstStyle/>
          <a:p>
            <a:endParaRPr lang="en-US">
              <a:latin typeface="Raleway" pitchFamily="2" charset="0"/>
            </a:endParaRPr>
          </a:p>
        </p:txBody>
      </p:sp>
      <p:sp>
        <p:nvSpPr>
          <p:cNvPr id="26" name="Shape 21"/>
          <p:cNvSpPr/>
          <p:nvPr/>
        </p:nvSpPr>
        <p:spPr>
          <a:xfrm>
            <a:off x="533095" y="5572354"/>
            <a:ext cx="11144707" cy="857707"/>
          </a:xfrm>
          <a:prstGeom prst="roundRect">
            <a:avLst>
              <a:gd name="adj" fmla="val 8849"/>
            </a:avLst>
          </a:prstGeom>
          <a:solidFill>
            <a:srgbClr val="1F2A44"/>
          </a:solidFill>
          <a:ln/>
        </p:spPr>
        <p:txBody>
          <a:bodyPr/>
          <a:lstStyle/>
          <a:p>
            <a:endParaRPr lang="en-US">
              <a:latin typeface="Raleway" pitchFamily="2" charset="0"/>
            </a:endParaRPr>
          </a:p>
        </p:txBody>
      </p:sp>
      <p:sp>
        <p:nvSpPr>
          <p:cNvPr id="27" name="Shape 22"/>
          <p:cNvSpPr/>
          <p:nvPr/>
        </p:nvSpPr>
        <p:spPr>
          <a:xfrm>
            <a:off x="533095" y="5572354"/>
            <a:ext cx="57607" cy="857707"/>
          </a:xfrm>
          <a:prstGeom prst="roundRect">
            <a:avLst>
              <a:gd name="adj" fmla="val 131746"/>
            </a:avLst>
          </a:prstGeom>
          <a:solidFill>
            <a:srgbClr val="D8293A"/>
          </a:solidFill>
          <a:ln w="12700">
            <a:solidFill>
              <a:srgbClr val="D8293A">
                <a:alpha val="0"/>
              </a:srgbClr>
            </a:solidFill>
            <a:prstDash val="solid"/>
          </a:ln>
        </p:spPr>
        <p:txBody>
          <a:bodyPr/>
          <a:lstStyle/>
          <a:p>
            <a:endParaRPr lang="en-US">
              <a:latin typeface="Raleway" pitchFamily="2" charset="0"/>
            </a:endParaRPr>
          </a:p>
        </p:txBody>
      </p:sp>
      <p:pic>
        <p:nvPicPr>
          <p:cNvPr id="31" name="Image 3" descr="gen-dedup-5bb4209ef079b31493c29820114b75a3.png"/>
          <p:cNvPicPr>
            <a:picLocks noChangeAspect="1"/>
          </p:cNvPicPr>
          <p:nvPr/>
        </p:nvPicPr>
        <p:blipFill>
          <a:blip r:embed="rId5"/>
          <a:srcRect t="-33500" b="-33500"/>
          <a:stretch/>
        </p:blipFill>
        <p:spPr>
          <a:xfrm>
            <a:off x="685800" y="1404518"/>
            <a:ext cx="114300" cy="152705"/>
          </a:xfrm>
          <a:prstGeom prst="rect">
            <a:avLst/>
          </a:prstGeom>
        </p:spPr>
      </p:pic>
      <p:sp>
        <p:nvSpPr>
          <p:cNvPr id="32" name="Text 26"/>
          <p:cNvSpPr txBox="1"/>
          <p:nvPr/>
        </p:nvSpPr>
        <p:spPr>
          <a:xfrm>
            <a:off x="875995" y="1390802"/>
            <a:ext cx="975665" cy="181051"/>
          </a:xfrm>
          <a:prstGeom prst="rect">
            <a:avLst/>
          </a:prstGeom>
          <a:noFill/>
          <a:ln/>
        </p:spPr>
        <p:txBody>
          <a:bodyPr wrap="none" lIns="0" tIns="0" rIns="0" bIns="0" rtlCol="0" anchor="ctr"/>
          <a:lstStyle/>
          <a:p>
            <a:pPr marL="0" indent="0" algn="l">
              <a:buNone/>
            </a:pPr>
            <a:r>
              <a:rPr lang="en-US" sz="1400" b="1">
                <a:solidFill>
                  <a:srgbClr val="1F2A44"/>
                </a:solidFill>
                <a:latin typeface="Raleway" pitchFamily="2" charset="0"/>
                <a:ea typeface="Fraunces" pitchFamily="34" charset="-122"/>
                <a:cs typeface="Fraunces" pitchFamily="34" charset="-120"/>
              </a:rPr>
              <a:t>Pre-Joining</a:t>
            </a:r>
            <a:endParaRPr lang="en-US" sz="1400">
              <a:latin typeface="Raleway" pitchFamily="2" charset="0"/>
            </a:endParaRPr>
          </a:p>
        </p:txBody>
      </p:sp>
      <p:sp>
        <p:nvSpPr>
          <p:cNvPr id="33" name="Text 27"/>
          <p:cNvSpPr txBox="1"/>
          <p:nvPr/>
        </p:nvSpPr>
        <p:spPr>
          <a:xfrm>
            <a:off x="698805" y="1661465"/>
            <a:ext cx="1778305" cy="621792"/>
          </a:xfrm>
          <a:prstGeom prst="rect">
            <a:avLst/>
          </a:prstGeom>
          <a:noFill/>
          <a:ln/>
        </p:spPr>
        <p:txBody>
          <a:bodyPr wrap="square" lIns="0" tIns="0" rIns="0" bIns="0" rtlCol="0" anchor="t"/>
          <a:lstStyle/>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​Welcome call</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​Joiner group</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​DOJ reminders</a:t>
            </a:r>
            <a:endParaRPr lang="en-US" sz="1200">
              <a:latin typeface="Raleway" pitchFamily="2" charset="0"/>
            </a:endParaRPr>
          </a:p>
        </p:txBody>
      </p:sp>
      <p:pic>
        <p:nvPicPr>
          <p:cNvPr id="34" name="Image 4" descr="gen-dedup-e7d0b175ce68104e5146ab39d4667527.png"/>
          <p:cNvPicPr>
            <a:picLocks noChangeAspect="1"/>
          </p:cNvPicPr>
          <p:nvPr/>
        </p:nvPicPr>
        <p:blipFill>
          <a:blip r:embed="rId6"/>
          <a:srcRect t="-25150" b="-25150"/>
          <a:stretch/>
        </p:blipFill>
        <p:spPr>
          <a:xfrm>
            <a:off x="2933395" y="1404518"/>
            <a:ext cx="114300" cy="152705"/>
          </a:xfrm>
          <a:prstGeom prst="rect">
            <a:avLst/>
          </a:prstGeom>
        </p:spPr>
      </p:pic>
      <p:sp>
        <p:nvSpPr>
          <p:cNvPr id="35" name="Text 28"/>
          <p:cNvSpPr txBox="1"/>
          <p:nvPr/>
        </p:nvSpPr>
        <p:spPr>
          <a:xfrm>
            <a:off x="3124505" y="1390802"/>
            <a:ext cx="919886" cy="181051"/>
          </a:xfrm>
          <a:prstGeom prst="rect">
            <a:avLst/>
          </a:prstGeom>
          <a:noFill/>
          <a:ln/>
        </p:spPr>
        <p:txBody>
          <a:bodyPr wrap="none" lIns="0" tIns="0" rIns="0" bIns="0" rtlCol="0" anchor="ctr"/>
          <a:lstStyle/>
          <a:p>
            <a:pPr marL="0" indent="0" algn="l">
              <a:buNone/>
            </a:pPr>
            <a:r>
              <a:rPr lang="en-US" sz="1400" b="1">
                <a:solidFill>
                  <a:srgbClr val="1F2A44"/>
                </a:solidFill>
                <a:latin typeface="Raleway" pitchFamily="2" charset="0"/>
                <a:ea typeface="Fraunces" pitchFamily="34" charset="-122"/>
                <a:cs typeface="Fraunces" pitchFamily="34" charset="-120"/>
              </a:rPr>
              <a:t>Onboarding</a:t>
            </a:r>
            <a:endParaRPr lang="en-US" sz="1400">
              <a:latin typeface="Raleway" pitchFamily="2" charset="0"/>
            </a:endParaRPr>
          </a:p>
        </p:txBody>
      </p:sp>
      <p:sp>
        <p:nvSpPr>
          <p:cNvPr id="36" name="Text 29"/>
          <p:cNvSpPr txBox="1"/>
          <p:nvPr/>
        </p:nvSpPr>
        <p:spPr>
          <a:xfrm>
            <a:off x="2946400" y="1661465"/>
            <a:ext cx="1778305" cy="621792"/>
          </a:xfrm>
          <a:prstGeom prst="rect">
            <a:avLst/>
          </a:prstGeom>
          <a:noFill/>
          <a:ln/>
        </p:spPr>
        <p:txBody>
          <a:bodyPr wrap="square" lIns="0" tIns="0" rIns="0" bIns="0" rtlCol="0" anchor="t"/>
          <a:lstStyle/>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​Welcome desk</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​Buddy + SPOC</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​Day-1 feedback</a:t>
            </a:r>
            <a:endParaRPr lang="en-US" sz="1200">
              <a:latin typeface="Raleway" pitchFamily="2" charset="0"/>
            </a:endParaRPr>
          </a:p>
        </p:txBody>
      </p:sp>
      <p:pic>
        <p:nvPicPr>
          <p:cNvPr id="37" name="Image 5" descr="gen-dedup-d1099ec842727c9541224c4cdf2e219e.png"/>
          <p:cNvPicPr>
            <a:picLocks noChangeAspect="1"/>
          </p:cNvPicPr>
          <p:nvPr/>
        </p:nvPicPr>
        <p:blipFill>
          <a:blip r:embed="rId7"/>
          <a:srcRect t="-25150" b="-25150"/>
          <a:stretch/>
        </p:blipFill>
        <p:spPr>
          <a:xfrm>
            <a:off x="5181905" y="1404518"/>
            <a:ext cx="114300" cy="152705"/>
          </a:xfrm>
          <a:prstGeom prst="rect">
            <a:avLst/>
          </a:prstGeom>
        </p:spPr>
      </p:pic>
      <p:sp>
        <p:nvSpPr>
          <p:cNvPr id="38" name="Text 30"/>
          <p:cNvSpPr txBox="1"/>
          <p:nvPr/>
        </p:nvSpPr>
        <p:spPr>
          <a:xfrm>
            <a:off x="5372100" y="1390802"/>
            <a:ext cx="734263" cy="181051"/>
          </a:xfrm>
          <a:prstGeom prst="rect">
            <a:avLst/>
          </a:prstGeom>
          <a:noFill/>
          <a:ln/>
        </p:spPr>
        <p:txBody>
          <a:bodyPr wrap="none" lIns="0" tIns="0" rIns="0" bIns="0" rtlCol="0" anchor="ctr"/>
          <a:lstStyle/>
          <a:p>
            <a:pPr marL="0" indent="0" algn="l">
              <a:buNone/>
            </a:pPr>
            <a:r>
              <a:rPr lang="en-US" sz="1400" b="1">
                <a:solidFill>
                  <a:srgbClr val="1F2A44"/>
                </a:solidFill>
                <a:latin typeface="Raleway" pitchFamily="2" charset="0"/>
                <a:ea typeface="Fraunces" pitchFamily="34" charset="-122"/>
                <a:cs typeface="Fraunces" pitchFamily="34" charset="-120"/>
              </a:rPr>
              <a:t>Learning</a:t>
            </a:r>
            <a:endParaRPr lang="en-US" sz="1400">
              <a:latin typeface="Raleway" pitchFamily="2" charset="0"/>
            </a:endParaRPr>
          </a:p>
        </p:txBody>
      </p:sp>
      <p:sp>
        <p:nvSpPr>
          <p:cNvPr id="39" name="Text 31"/>
          <p:cNvSpPr txBox="1"/>
          <p:nvPr/>
        </p:nvSpPr>
        <p:spPr>
          <a:xfrm>
            <a:off x="5193995" y="1661465"/>
            <a:ext cx="1778305" cy="621792"/>
          </a:xfrm>
          <a:prstGeom prst="rect">
            <a:avLst/>
          </a:prstGeom>
          <a:noFill/>
          <a:ln/>
        </p:spPr>
        <p:txBody>
          <a:bodyPr wrap="square" lIns="0" tIns="0" rIns="0" bIns="0" rtlCol="0" anchor="t"/>
          <a:lstStyle/>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​Skill clinics</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​Career path sessions</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​Coaching calendar</a:t>
            </a:r>
            <a:endParaRPr lang="en-US" sz="1200">
              <a:latin typeface="Raleway" pitchFamily="2" charset="0"/>
            </a:endParaRPr>
          </a:p>
        </p:txBody>
      </p:sp>
      <p:pic>
        <p:nvPicPr>
          <p:cNvPr id="40" name="Image 6" descr="gen-dedup-2e00fa6be7fc495ef2a19099c3871a4d.png"/>
          <p:cNvPicPr>
            <a:picLocks noChangeAspect="1"/>
          </p:cNvPicPr>
          <p:nvPr/>
        </p:nvPicPr>
        <p:blipFill>
          <a:blip r:embed="rId8"/>
          <a:srcRect t="-33500" b="-33500"/>
          <a:stretch/>
        </p:blipFill>
        <p:spPr>
          <a:xfrm>
            <a:off x="7429500" y="1404518"/>
            <a:ext cx="114300" cy="152705"/>
          </a:xfrm>
          <a:prstGeom prst="rect">
            <a:avLst/>
          </a:prstGeom>
        </p:spPr>
      </p:pic>
      <p:sp>
        <p:nvSpPr>
          <p:cNvPr id="41" name="Text 32"/>
          <p:cNvSpPr txBox="1"/>
          <p:nvPr/>
        </p:nvSpPr>
        <p:spPr>
          <a:xfrm>
            <a:off x="7619695" y="1390802"/>
            <a:ext cx="1103681" cy="181051"/>
          </a:xfrm>
          <a:prstGeom prst="rect">
            <a:avLst/>
          </a:prstGeom>
          <a:noFill/>
          <a:ln/>
        </p:spPr>
        <p:txBody>
          <a:bodyPr wrap="none" lIns="0" tIns="0" rIns="0" bIns="0" rtlCol="0" anchor="ctr"/>
          <a:lstStyle/>
          <a:p>
            <a:pPr marL="0" indent="0" algn="l">
              <a:buNone/>
            </a:pPr>
            <a:r>
              <a:rPr lang="en-US" sz="1400" b="1">
                <a:solidFill>
                  <a:srgbClr val="1F2A44"/>
                </a:solidFill>
                <a:latin typeface="Raleway" pitchFamily="2" charset="0"/>
                <a:ea typeface="Fraunces" pitchFamily="34" charset="-122"/>
                <a:cs typeface="Fraunces" pitchFamily="34" charset="-120"/>
              </a:rPr>
              <a:t>Team Bonding</a:t>
            </a:r>
            <a:endParaRPr lang="en-US" sz="1400">
              <a:latin typeface="Raleway" pitchFamily="2" charset="0"/>
            </a:endParaRPr>
          </a:p>
        </p:txBody>
      </p:sp>
      <p:sp>
        <p:nvSpPr>
          <p:cNvPr id="42" name="Text 33"/>
          <p:cNvSpPr txBox="1"/>
          <p:nvPr/>
        </p:nvSpPr>
        <p:spPr>
          <a:xfrm>
            <a:off x="7442505" y="1661465"/>
            <a:ext cx="1778305" cy="621792"/>
          </a:xfrm>
          <a:prstGeom prst="rect">
            <a:avLst/>
          </a:prstGeom>
          <a:noFill/>
          <a:ln/>
        </p:spPr>
        <p:txBody>
          <a:bodyPr wrap="square" lIns="0" tIns="0" rIns="0" bIns="0" rtlCol="0" anchor="t"/>
          <a:lstStyle/>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​Team lunch/dinner</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​Fun Fridays</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​Festival celebrations</a:t>
            </a:r>
            <a:endParaRPr lang="en-US" sz="1200">
              <a:latin typeface="Raleway" pitchFamily="2" charset="0"/>
            </a:endParaRPr>
          </a:p>
        </p:txBody>
      </p:sp>
      <p:pic>
        <p:nvPicPr>
          <p:cNvPr id="43" name="Image 7" descr="gen-dedup-344a0b921b0cf3fcaaba6cc187c7af25.png"/>
          <p:cNvPicPr>
            <a:picLocks noChangeAspect="1"/>
          </p:cNvPicPr>
          <p:nvPr/>
        </p:nvPicPr>
        <p:blipFill>
          <a:blip r:embed="rId9"/>
          <a:srcRect t="-25150" b="-25150"/>
          <a:stretch/>
        </p:blipFill>
        <p:spPr>
          <a:xfrm>
            <a:off x="9677095" y="1404518"/>
            <a:ext cx="114300" cy="152705"/>
          </a:xfrm>
          <a:prstGeom prst="rect">
            <a:avLst/>
          </a:prstGeom>
        </p:spPr>
      </p:pic>
      <p:sp>
        <p:nvSpPr>
          <p:cNvPr id="44" name="Text 34"/>
          <p:cNvSpPr txBox="1"/>
          <p:nvPr/>
        </p:nvSpPr>
        <p:spPr>
          <a:xfrm>
            <a:off x="9868205" y="1390802"/>
            <a:ext cx="333756" cy="181051"/>
          </a:xfrm>
          <a:prstGeom prst="rect">
            <a:avLst/>
          </a:prstGeom>
          <a:noFill/>
          <a:ln/>
        </p:spPr>
        <p:txBody>
          <a:bodyPr wrap="none" lIns="0" tIns="0" rIns="0" bIns="0" rtlCol="0" anchor="ctr"/>
          <a:lstStyle/>
          <a:p>
            <a:pPr marL="0" indent="0" algn="l">
              <a:buNone/>
            </a:pPr>
            <a:r>
              <a:rPr lang="en-US" sz="1400" b="1">
                <a:solidFill>
                  <a:srgbClr val="1F2A44"/>
                </a:solidFill>
                <a:latin typeface="Raleway" pitchFamily="2" charset="0"/>
                <a:ea typeface="Fraunces" pitchFamily="34" charset="-122"/>
                <a:cs typeface="Fraunces" pitchFamily="34" charset="-120"/>
              </a:rPr>
              <a:t>R&amp;R</a:t>
            </a:r>
            <a:endParaRPr lang="en-US" sz="1400">
              <a:latin typeface="Raleway" pitchFamily="2" charset="0"/>
            </a:endParaRPr>
          </a:p>
        </p:txBody>
      </p:sp>
      <p:sp>
        <p:nvSpPr>
          <p:cNvPr id="45" name="Text 35"/>
          <p:cNvSpPr txBox="1"/>
          <p:nvPr/>
        </p:nvSpPr>
        <p:spPr>
          <a:xfrm>
            <a:off x="9690100" y="1661465"/>
            <a:ext cx="1778305" cy="621792"/>
          </a:xfrm>
          <a:prstGeom prst="rect">
            <a:avLst/>
          </a:prstGeom>
          <a:noFill/>
          <a:ln/>
        </p:spPr>
        <p:txBody>
          <a:bodyPr wrap="square" lIns="0" tIns="0" rIns="0" bIns="0" rtlCol="0" anchor="t"/>
          <a:lstStyle/>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​Quarterly champion</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​Spot awards</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​Milestone recognition</a:t>
            </a:r>
            <a:endParaRPr lang="en-US" sz="1200">
              <a:latin typeface="Raleway" pitchFamily="2" charset="0"/>
            </a:endParaRPr>
          </a:p>
        </p:txBody>
      </p:sp>
      <p:pic>
        <p:nvPicPr>
          <p:cNvPr id="46" name="Image 8" descr="gen-dedup-f5be6804941732cc10589279018d51ec.png"/>
          <p:cNvPicPr>
            <a:picLocks noChangeAspect="1"/>
          </p:cNvPicPr>
          <p:nvPr/>
        </p:nvPicPr>
        <p:blipFill>
          <a:blip r:embed="rId10"/>
          <a:srcRect t="-16800" b="-16800"/>
          <a:stretch/>
        </p:blipFill>
        <p:spPr>
          <a:xfrm>
            <a:off x="685800" y="3119018"/>
            <a:ext cx="114300" cy="152705"/>
          </a:xfrm>
          <a:prstGeom prst="rect">
            <a:avLst/>
          </a:prstGeom>
        </p:spPr>
      </p:pic>
      <p:sp>
        <p:nvSpPr>
          <p:cNvPr id="47" name="Text 36"/>
          <p:cNvSpPr txBox="1"/>
          <p:nvPr/>
        </p:nvSpPr>
        <p:spPr>
          <a:xfrm>
            <a:off x="875995" y="3105302"/>
            <a:ext cx="1621231" cy="181051"/>
          </a:xfrm>
          <a:prstGeom prst="rect">
            <a:avLst/>
          </a:prstGeom>
          <a:noFill/>
          <a:ln/>
        </p:spPr>
        <p:txBody>
          <a:bodyPr wrap="none" lIns="0" tIns="0" rIns="0" bIns="0" rtlCol="0" anchor="ctr"/>
          <a:lstStyle/>
          <a:p>
            <a:pPr marL="0" indent="0" algn="l">
              <a:buNone/>
            </a:pPr>
            <a:r>
              <a:rPr lang="en-US" sz="1400" b="1">
                <a:solidFill>
                  <a:srgbClr val="1F2A44"/>
                </a:solidFill>
                <a:latin typeface="Raleway" pitchFamily="2" charset="0"/>
                <a:ea typeface="Fraunces" pitchFamily="34" charset="-122"/>
                <a:cs typeface="Fraunces" pitchFamily="34" charset="-120"/>
              </a:rPr>
              <a:t>Employee Listening</a:t>
            </a:r>
            <a:endParaRPr lang="en-US" sz="1400">
              <a:latin typeface="Raleway" pitchFamily="2" charset="0"/>
            </a:endParaRPr>
          </a:p>
        </p:txBody>
      </p:sp>
      <p:sp>
        <p:nvSpPr>
          <p:cNvPr id="48" name="Text 37"/>
          <p:cNvSpPr txBox="1"/>
          <p:nvPr/>
        </p:nvSpPr>
        <p:spPr>
          <a:xfrm>
            <a:off x="698805" y="3375965"/>
            <a:ext cx="1778305" cy="621792"/>
          </a:xfrm>
          <a:prstGeom prst="rect">
            <a:avLst/>
          </a:prstGeom>
          <a:noFill/>
          <a:ln/>
        </p:spPr>
        <p:txBody>
          <a:bodyPr wrap="square" lIns="0" tIns="0" rIns="0" bIns="0" rtlCol="0" anchor="t"/>
          <a:lstStyle/>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​Pulse surveys</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​Open house</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​Issue tracker</a:t>
            </a:r>
            <a:endParaRPr lang="en-US" sz="1200">
              <a:latin typeface="Raleway" pitchFamily="2" charset="0"/>
            </a:endParaRPr>
          </a:p>
        </p:txBody>
      </p:sp>
      <p:pic>
        <p:nvPicPr>
          <p:cNvPr id="49" name="Image 9" descr="gen-dedup-91ec5b27424a7edc15e84d24cbb8f0d8.png"/>
          <p:cNvPicPr>
            <a:picLocks noChangeAspect="1"/>
          </p:cNvPicPr>
          <p:nvPr/>
        </p:nvPicPr>
        <p:blipFill>
          <a:blip r:embed="rId11"/>
          <a:srcRect t="-16800" b="-16800"/>
          <a:stretch/>
        </p:blipFill>
        <p:spPr>
          <a:xfrm>
            <a:off x="2933395" y="3119018"/>
            <a:ext cx="114300" cy="152705"/>
          </a:xfrm>
          <a:prstGeom prst="rect">
            <a:avLst/>
          </a:prstGeom>
        </p:spPr>
      </p:pic>
      <p:sp>
        <p:nvSpPr>
          <p:cNvPr id="50" name="Text 38"/>
          <p:cNvSpPr txBox="1"/>
          <p:nvPr/>
        </p:nvSpPr>
        <p:spPr>
          <a:xfrm>
            <a:off x="3124505" y="3105302"/>
            <a:ext cx="1463040" cy="181051"/>
          </a:xfrm>
          <a:prstGeom prst="rect">
            <a:avLst/>
          </a:prstGeom>
          <a:noFill/>
          <a:ln/>
        </p:spPr>
        <p:txBody>
          <a:bodyPr wrap="none" lIns="0" tIns="0" rIns="0" bIns="0" rtlCol="0" anchor="ctr"/>
          <a:lstStyle/>
          <a:p>
            <a:pPr marL="0" indent="0" algn="l">
              <a:buNone/>
            </a:pPr>
            <a:r>
              <a:rPr lang="en-US" sz="1400" b="1">
                <a:solidFill>
                  <a:srgbClr val="1F2A44"/>
                </a:solidFill>
                <a:latin typeface="Raleway" pitchFamily="2" charset="0"/>
                <a:ea typeface="Fraunces" pitchFamily="34" charset="-122"/>
                <a:cs typeface="Fraunces" pitchFamily="34" charset="-120"/>
              </a:rPr>
              <a:t>Wellness &amp; Safety</a:t>
            </a:r>
            <a:endParaRPr lang="en-US" sz="1400">
              <a:latin typeface="Raleway" pitchFamily="2" charset="0"/>
            </a:endParaRPr>
          </a:p>
        </p:txBody>
      </p:sp>
      <p:sp>
        <p:nvSpPr>
          <p:cNvPr id="51" name="Text 39"/>
          <p:cNvSpPr txBox="1"/>
          <p:nvPr/>
        </p:nvSpPr>
        <p:spPr>
          <a:xfrm>
            <a:off x="2946400" y="3375965"/>
            <a:ext cx="1778305" cy="621792"/>
          </a:xfrm>
          <a:prstGeom prst="rect">
            <a:avLst/>
          </a:prstGeom>
          <a:noFill/>
          <a:ln/>
        </p:spPr>
        <p:txBody>
          <a:bodyPr wrap="square" lIns="0" tIns="0" rIns="0" bIns="0" rtlCol="0" anchor="t"/>
          <a:lstStyle/>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​Stress sessions</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​Shift fatigue check</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​Late-shift support</a:t>
            </a:r>
            <a:endParaRPr lang="en-US" sz="1200">
              <a:latin typeface="Raleway" pitchFamily="2" charset="0"/>
            </a:endParaRPr>
          </a:p>
        </p:txBody>
      </p:sp>
      <p:pic>
        <p:nvPicPr>
          <p:cNvPr id="52" name="Image 10" descr="gen-dedup-1a6be58cec0ff7a0794675d7f083f4f9.png"/>
          <p:cNvPicPr>
            <a:picLocks noChangeAspect="1"/>
          </p:cNvPicPr>
          <p:nvPr/>
        </p:nvPicPr>
        <p:blipFill>
          <a:blip r:embed="rId12"/>
          <a:srcRect t="-33500" b="-33500"/>
          <a:stretch/>
        </p:blipFill>
        <p:spPr>
          <a:xfrm>
            <a:off x="5181905" y="3119018"/>
            <a:ext cx="114300" cy="152705"/>
          </a:xfrm>
          <a:prstGeom prst="rect">
            <a:avLst/>
          </a:prstGeom>
        </p:spPr>
      </p:pic>
      <p:sp>
        <p:nvSpPr>
          <p:cNvPr id="53" name="Text 40"/>
          <p:cNvSpPr txBox="1"/>
          <p:nvPr/>
        </p:nvSpPr>
        <p:spPr>
          <a:xfrm>
            <a:off x="5372100" y="3105302"/>
            <a:ext cx="1378001" cy="181051"/>
          </a:xfrm>
          <a:prstGeom prst="rect">
            <a:avLst/>
          </a:prstGeom>
          <a:noFill/>
          <a:ln/>
        </p:spPr>
        <p:txBody>
          <a:bodyPr wrap="none" lIns="0" tIns="0" rIns="0" bIns="0" rtlCol="0" anchor="ctr"/>
          <a:lstStyle/>
          <a:p>
            <a:pPr marL="0" indent="0" algn="l">
              <a:buNone/>
            </a:pPr>
            <a:r>
              <a:rPr lang="en-US" sz="1400" b="1">
                <a:solidFill>
                  <a:srgbClr val="1F2A44"/>
                </a:solidFill>
                <a:latin typeface="Raleway" pitchFamily="2" charset="0"/>
                <a:ea typeface="Fraunces" pitchFamily="34" charset="-122"/>
                <a:cs typeface="Fraunces" pitchFamily="34" charset="-120"/>
              </a:rPr>
              <a:t>Manager Connect</a:t>
            </a:r>
            <a:endParaRPr lang="en-US" sz="1400">
              <a:latin typeface="Raleway" pitchFamily="2" charset="0"/>
            </a:endParaRPr>
          </a:p>
        </p:txBody>
      </p:sp>
      <p:sp>
        <p:nvSpPr>
          <p:cNvPr id="54" name="Text 41"/>
          <p:cNvSpPr txBox="1"/>
          <p:nvPr/>
        </p:nvSpPr>
        <p:spPr>
          <a:xfrm>
            <a:off x="5193995" y="3375965"/>
            <a:ext cx="1778305" cy="621792"/>
          </a:xfrm>
          <a:prstGeom prst="rect">
            <a:avLst/>
          </a:prstGeom>
          <a:noFill/>
          <a:ln/>
        </p:spPr>
        <p:txBody>
          <a:bodyPr wrap="square" lIns="0" tIns="0" rIns="0" bIns="0" rtlCol="0" anchor="t"/>
          <a:lstStyle/>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​Huddles</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​Roundtables</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​Skip-level connects</a:t>
            </a:r>
            <a:endParaRPr lang="en-US" sz="1200">
              <a:latin typeface="Raleway" pitchFamily="2" charset="0"/>
            </a:endParaRPr>
          </a:p>
        </p:txBody>
      </p:sp>
      <p:pic>
        <p:nvPicPr>
          <p:cNvPr id="55" name="Image 11" descr="gen-dedup-1ac8d13bd771379683ed8b759ced54e3.png"/>
          <p:cNvPicPr>
            <a:picLocks noChangeAspect="1"/>
          </p:cNvPicPr>
          <p:nvPr/>
        </p:nvPicPr>
        <p:blipFill>
          <a:blip r:embed="rId13"/>
          <a:srcRect t="-16800" b="-16800"/>
          <a:stretch/>
        </p:blipFill>
        <p:spPr>
          <a:xfrm>
            <a:off x="7429500" y="3119018"/>
            <a:ext cx="114300" cy="152705"/>
          </a:xfrm>
          <a:prstGeom prst="rect">
            <a:avLst/>
          </a:prstGeom>
        </p:spPr>
      </p:pic>
      <p:sp>
        <p:nvSpPr>
          <p:cNvPr id="56" name="Text 42"/>
          <p:cNvSpPr txBox="1"/>
          <p:nvPr/>
        </p:nvSpPr>
        <p:spPr>
          <a:xfrm>
            <a:off x="7619695" y="3105302"/>
            <a:ext cx="1194206" cy="181051"/>
          </a:xfrm>
          <a:prstGeom prst="rect">
            <a:avLst/>
          </a:prstGeom>
          <a:noFill/>
          <a:ln/>
        </p:spPr>
        <p:txBody>
          <a:bodyPr wrap="none" lIns="0" tIns="0" rIns="0" bIns="0" rtlCol="0" anchor="ctr"/>
          <a:lstStyle/>
          <a:p>
            <a:pPr marL="0" indent="0" algn="l">
              <a:buNone/>
            </a:pPr>
            <a:r>
              <a:rPr lang="en-US" sz="1400" b="1">
                <a:solidFill>
                  <a:srgbClr val="1F2A44"/>
                </a:solidFill>
                <a:latin typeface="Raleway" pitchFamily="2" charset="0"/>
                <a:ea typeface="Fraunces" pitchFamily="34" charset="-122"/>
                <a:cs typeface="Fraunces" pitchFamily="34" charset="-120"/>
              </a:rPr>
              <a:t>Retention EWS</a:t>
            </a:r>
            <a:endParaRPr lang="en-US" sz="1400">
              <a:latin typeface="Raleway" pitchFamily="2" charset="0"/>
            </a:endParaRPr>
          </a:p>
        </p:txBody>
      </p:sp>
      <p:sp>
        <p:nvSpPr>
          <p:cNvPr id="57" name="Text 43"/>
          <p:cNvSpPr txBox="1"/>
          <p:nvPr/>
        </p:nvSpPr>
        <p:spPr>
          <a:xfrm>
            <a:off x="7442505" y="3375965"/>
            <a:ext cx="1778305" cy="621792"/>
          </a:xfrm>
          <a:prstGeom prst="rect">
            <a:avLst/>
          </a:prstGeom>
          <a:noFill/>
          <a:ln/>
        </p:spPr>
        <p:txBody>
          <a:bodyPr wrap="square" lIns="0" tIns="0" rIns="0" bIns="0" rtlCol="0" anchor="t"/>
          <a:lstStyle/>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​Risk tagging</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​1:1 counselling</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​Backfill tracker</a:t>
            </a:r>
            <a:endParaRPr lang="en-US" sz="1200">
              <a:latin typeface="Raleway" pitchFamily="2" charset="0"/>
            </a:endParaRPr>
          </a:p>
        </p:txBody>
      </p:sp>
      <p:pic>
        <p:nvPicPr>
          <p:cNvPr id="58" name="Image 12" descr="gen-dedup-ef3e2c640eeaaaf90a6fff1b95179db4.png"/>
          <p:cNvPicPr>
            <a:picLocks noChangeAspect="1"/>
          </p:cNvPicPr>
          <p:nvPr/>
        </p:nvPicPr>
        <p:blipFill>
          <a:blip r:embed="rId14"/>
          <a:srcRect t="-25150" b="-25150"/>
          <a:stretch/>
        </p:blipFill>
        <p:spPr>
          <a:xfrm>
            <a:off x="9677095" y="3119018"/>
            <a:ext cx="114300" cy="152705"/>
          </a:xfrm>
          <a:prstGeom prst="rect">
            <a:avLst/>
          </a:prstGeom>
        </p:spPr>
      </p:pic>
      <p:sp>
        <p:nvSpPr>
          <p:cNvPr id="59" name="Text 44"/>
          <p:cNvSpPr txBox="1"/>
          <p:nvPr/>
        </p:nvSpPr>
        <p:spPr>
          <a:xfrm>
            <a:off x="9868205" y="3105302"/>
            <a:ext cx="1270102" cy="181051"/>
          </a:xfrm>
          <a:prstGeom prst="rect">
            <a:avLst/>
          </a:prstGeom>
          <a:noFill/>
          <a:ln/>
        </p:spPr>
        <p:txBody>
          <a:bodyPr wrap="none" lIns="0" tIns="0" rIns="0" bIns="0" rtlCol="0" anchor="ctr"/>
          <a:lstStyle/>
          <a:p>
            <a:pPr marL="0" indent="0" algn="l">
              <a:buNone/>
            </a:pPr>
            <a:r>
              <a:rPr lang="en-US" sz="1400" b="1">
                <a:solidFill>
                  <a:srgbClr val="1F2A44"/>
                </a:solidFill>
                <a:latin typeface="Raleway" pitchFamily="2" charset="0"/>
                <a:ea typeface="Fraunces" pitchFamily="34" charset="-122"/>
                <a:cs typeface="Fraunces" pitchFamily="34" charset="-120"/>
              </a:rPr>
              <a:t>Client Visibility</a:t>
            </a:r>
            <a:endParaRPr lang="en-US" sz="1400">
              <a:latin typeface="Raleway" pitchFamily="2" charset="0"/>
            </a:endParaRPr>
          </a:p>
        </p:txBody>
      </p:sp>
      <p:sp>
        <p:nvSpPr>
          <p:cNvPr id="60" name="Text 45"/>
          <p:cNvSpPr txBox="1"/>
          <p:nvPr/>
        </p:nvSpPr>
        <p:spPr>
          <a:xfrm>
            <a:off x="9690100" y="3375965"/>
            <a:ext cx="1778305" cy="621792"/>
          </a:xfrm>
          <a:prstGeom prst="rect">
            <a:avLst/>
          </a:prstGeom>
          <a:noFill/>
          <a:ln/>
        </p:spPr>
        <p:txBody>
          <a:bodyPr wrap="square" lIns="0" tIns="0" rIns="0" bIns="0" rtlCol="0" anchor="t"/>
          <a:lstStyle/>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​EWS/RAG dashboard</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​No-show tracker</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​Issue closure log</a:t>
            </a:r>
            <a:endParaRPr lang="en-US" sz="1200">
              <a:latin typeface="Raleway" pitchFamily="2" charset="0"/>
            </a:endParaRPr>
          </a:p>
        </p:txBody>
      </p:sp>
      <p:sp>
        <p:nvSpPr>
          <p:cNvPr id="61" name="Text 46"/>
          <p:cNvSpPr txBox="1"/>
          <p:nvPr/>
        </p:nvSpPr>
        <p:spPr>
          <a:xfrm>
            <a:off x="685800" y="4910328"/>
            <a:ext cx="10782605" cy="372161"/>
          </a:xfrm>
          <a:prstGeom prst="rect">
            <a:avLst/>
          </a:prstGeom>
          <a:noFill/>
          <a:ln/>
        </p:spPr>
        <p:txBody>
          <a:bodyPr wrap="square" lIns="0" tIns="0" rIns="0" bIns="0" rtlCol="0" anchor="ctr"/>
          <a:lstStyle/>
          <a:p>
            <a:pPr marL="0" indent="0" algn="ctr">
              <a:buNone/>
            </a:pPr>
            <a:r>
              <a:rPr lang="en-US" sz="1400" b="1">
                <a:solidFill>
                  <a:srgbClr val="1F2A44"/>
                </a:solidFill>
                <a:latin typeface="Raleway" pitchFamily="2" charset="0"/>
                <a:ea typeface="Inter" pitchFamily="34" charset="-122"/>
                <a:cs typeface="Inter" pitchFamily="34" charset="-120"/>
              </a:rPr>
              <a:t>Governance Pack:</a:t>
            </a:r>
            <a:r>
              <a:rPr lang="en-US" sz="1400" b="1">
                <a:solidFill>
                  <a:srgbClr val="289C8F"/>
                </a:solidFill>
                <a:latin typeface="Raleway" pitchFamily="2" charset="0"/>
                <a:ea typeface="Inter" pitchFamily="34" charset="-122"/>
                <a:cs typeface="Inter" pitchFamily="34" charset="-120"/>
              </a:rPr>
              <a:t> Weekly engagement calendar </a:t>
            </a:r>
            <a:r>
              <a:rPr lang="en-US" sz="1400" b="1">
                <a:solidFill>
                  <a:srgbClr val="94A0B5"/>
                </a:solidFill>
                <a:latin typeface="Raleway" pitchFamily="2" charset="0"/>
                <a:ea typeface="Inter" pitchFamily="34" charset="-122"/>
                <a:cs typeface="Inter" pitchFamily="34" charset="-120"/>
              </a:rPr>
              <a:t>|</a:t>
            </a:r>
            <a:r>
              <a:rPr lang="en-US" sz="1400" b="1">
                <a:solidFill>
                  <a:srgbClr val="289C8F"/>
                </a:solidFill>
                <a:latin typeface="Raleway" pitchFamily="2" charset="0"/>
                <a:ea typeface="Inter" pitchFamily="34" charset="-122"/>
                <a:cs typeface="Inter" pitchFamily="34" charset="-120"/>
              </a:rPr>
              <a:t> pulse/EWS dashboard </a:t>
            </a:r>
            <a:r>
              <a:rPr lang="en-US" sz="1400" b="1">
                <a:solidFill>
                  <a:srgbClr val="94A0B5"/>
                </a:solidFill>
                <a:latin typeface="Raleway" pitchFamily="2" charset="0"/>
                <a:ea typeface="Inter" pitchFamily="34" charset="-122"/>
                <a:cs typeface="Inter" pitchFamily="34" charset="-120"/>
              </a:rPr>
              <a:t>|</a:t>
            </a:r>
            <a:r>
              <a:rPr lang="en-US" sz="1400" b="1">
                <a:solidFill>
                  <a:srgbClr val="289C8F"/>
                </a:solidFill>
                <a:latin typeface="Raleway" pitchFamily="2" charset="0"/>
                <a:ea typeface="Inter" pitchFamily="34" charset="-122"/>
                <a:cs typeface="Inter" pitchFamily="34" charset="-120"/>
              </a:rPr>
              <a:t> attendance &amp; no-show tracker </a:t>
            </a:r>
            <a:r>
              <a:rPr lang="en-US" sz="1400" b="1">
                <a:solidFill>
                  <a:srgbClr val="94A0B5"/>
                </a:solidFill>
                <a:latin typeface="Raleway" pitchFamily="2" charset="0"/>
                <a:ea typeface="Inter" pitchFamily="34" charset="-122"/>
                <a:cs typeface="Inter" pitchFamily="34" charset="-120"/>
              </a:rPr>
              <a:t>|</a:t>
            </a:r>
            <a:r>
              <a:rPr lang="en-US" sz="1400" b="1">
                <a:solidFill>
                  <a:srgbClr val="289C8F"/>
                </a:solidFill>
                <a:latin typeface="Raleway" pitchFamily="2" charset="0"/>
                <a:ea typeface="Inter" pitchFamily="34" charset="-122"/>
                <a:cs typeface="Inter" pitchFamily="34" charset="-120"/>
              </a:rPr>
              <a:t> issue closure log </a:t>
            </a:r>
            <a:r>
              <a:rPr lang="en-US" sz="1400" b="1">
                <a:solidFill>
                  <a:srgbClr val="94A0B5"/>
                </a:solidFill>
                <a:latin typeface="Raleway" pitchFamily="2" charset="0"/>
                <a:ea typeface="Inter" pitchFamily="34" charset="-122"/>
                <a:cs typeface="Inter" pitchFamily="34" charset="-120"/>
              </a:rPr>
              <a:t>|</a:t>
            </a:r>
            <a:r>
              <a:rPr lang="en-US" sz="1400" b="1">
                <a:solidFill>
                  <a:srgbClr val="289C8F"/>
                </a:solidFill>
                <a:latin typeface="Raleway" pitchFamily="2" charset="0"/>
                <a:ea typeface="Inter" pitchFamily="34" charset="-122"/>
                <a:cs typeface="Inter" pitchFamily="34" charset="-120"/>
              </a:rPr>
              <a:t> R&amp;R summary </a:t>
            </a:r>
            <a:r>
              <a:rPr lang="en-US" sz="1400" b="1">
                <a:solidFill>
                  <a:srgbClr val="94A0B5"/>
                </a:solidFill>
                <a:latin typeface="Raleway" pitchFamily="2" charset="0"/>
                <a:ea typeface="Inter" pitchFamily="34" charset="-122"/>
                <a:cs typeface="Inter" pitchFamily="34" charset="-120"/>
              </a:rPr>
              <a:t>|</a:t>
            </a:r>
            <a:r>
              <a:rPr lang="en-US" sz="1400" b="1">
                <a:solidFill>
                  <a:srgbClr val="289C8F"/>
                </a:solidFill>
                <a:latin typeface="Raleway" pitchFamily="2" charset="0"/>
                <a:ea typeface="Inter" pitchFamily="34" charset="-122"/>
                <a:cs typeface="Inter" pitchFamily="34" charset="-120"/>
              </a:rPr>
              <a:t> learning calendar </a:t>
            </a:r>
            <a:r>
              <a:rPr lang="en-US" sz="1400" b="1">
                <a:solidFill>
                  <a:srgbClr val="94A0B5"/>
                </a:solidFill>
                <a:latin typeface="Raleway" pitchFamily="2" charset="0"/>
                <a:ea typeface="Inter" pitchFamily="34" charset="-122"/>
                <a:cs typeface="Inter" pitchFamily="34" charset="-120"/>
              </a:rPr>
              <a:t>|</a:t>
            </a:r>
            <a:r>
              <a:rPr lang="en-US" sz="1400" b="1">
                <a:solidFill>
                  <a:srgbClr val="289C8F"/>
                </a:solidFill>
                <a:latin typeface="Raleway" pitchFamily="2" charset="0"/>
                <a:ea typeface="Inter" pitchFamily="34" charset="-122"/>
                <a:cs typeface="Inter" pitchFamily="34" charset="-120"/>
              </a:rPr>
              <a:t> retention action tracker</a:t>
            </a:r>
            <a:endParaRPr lang="en-US" sz="1400">
              <a:latin typeface="Raleway" pitchFamily="2" charset="0"/>
            </a:endParaRPr>
          </a:p>
        </p:txBody>
      </p:sp>
      <p:sp>
        <p:nvSpPr>
          <p:cNvPr id="62" name="Text 47"/>
          <p:cNvSpPr txBox="1"/>
          <p:nvPr/>
        </p:nvSpPr>
        <p:spPr>
          <a:xfrm>
            <a:off x="761695" y="5743346"/>
            <a:ext cx="10668305" cy="514807"/>
          </a:xfrm>
          <a:prstGeom prst="rect">
            <a:avLst/>
          </a:prstGeom>
          <a:noFill/>
          <a:ln/>
        </p:spPr>
        <p:txBody>
          <a:bodyPr wrap="square" lIns="0" tIns="0" rIns="0" bIns="0" rtlCol="0" anchor="ctr"/>
          <a:lstStyle/>
          <a:p>
            <a:pPr marL="0" indent="0" algn="ctr">
              <a:buNone/>
            </a:pPr>
            <a:r>
              <a:rPr lang="en-US" sz="1400" b="1">
                <a:solidFill>
                  <a:srgbClr val="FFFFFF"/>
                </a:solidFill>
                <a:latin typeface="Raleway" pitchFamily="2" charset="0"/>
                <a:ea typeface="Fraunces" pitchFamily="34" charset="-122"/>
                <a:cs typeface="Fraunces" pitchFamily="34" charset="-120"/>
              </a:rPr>
              <a:t>Engagement will be operated as a </a:t>
            </a:r>
            <a:r>
              <a:rPr lang="en-US" sz="1400" b="1">
                <a:solidFill>
                  <a:srgbClr val="289C8F"/>
                </a:solidFill>
                <a:latin typeface="Raleway" pitchFamily="2" charset="0"/>
                <a:ea typeface="Fraunces" pitchFamily="34" charset="-122"/>
                <a:cs typeface="Fraunces" pitchFamily="34" charset="-120"/>
              </a:rPr>
              <a:t>measurable delivery control</a:t>
            </a:r>
            <a:r>
              <a:rPr lang="en-US" sz="1400" b="1">
                <a:solidFill>
                  <a:srgbClr val="FFFFFF"/>
                </a:solidFill>
                <a:latin typeface="Raleway" pitchFamily="2" charset="0"/>
                <a:ea typeface="Fraunces" pitchFamily="34" charset="-122"/>
                <a:cs typeface="Fraunces" pitchFamily="34" charset="-120"/>
              </a:rPr>
              <a:t> - not one-time activities - to improve joining, capability building, morale and early retention.</a:t>
            </a:r>
            <a:endParaRPr lang="en-US" sz="1400">
              <a:latin typeface="Raleway" pitchFamily="2" charset="0"/>
            </a:endParaRPr>
          </a:p>
        </p:txBody>
      </p:sp>
      <p:pic>
        <p:nvPicPr>
          <p:cNvPr id="63" name="Image 3" descr="gen-dedup-777bf757d895431cabe402fcd34ebd5a.png">
            <a:extLst>
              <a:ext uri="{FF2B5EF4-FFF2-40B4-BE49-F238E27FC236}">
                <a16:creationId xmlns:a16="http://schemas.microsoft.com/office/drawing/2014/main" id="{8838E23D-747C-F10F-6B38-8BB56A12A3C5}"/>
              </a:ext>
            </a:extLst>
          </p:cNvPr>
          <p:cNvPicPr>
            <a:picLocks noChangeAspect="1"/>
          </p:cNvPicPr>
          <p:nvPr/>
        </p:nvPicPr>
        <p:blipFill>
          <a:blip r:embed="rId15">
            <a:biLevel thresh="75000"/>
          </a:blip>
          <a:srcRect l="-384" r="-384"/>
          <a:stretch/>
        </p:blipFill>
        <p:spPr>
          <a:xfrm>
            <a:off x="571500" y="381305"/>
            <a:ext cx="57607" cy="476402"/>
          </a:xfrm>
          <a:prstGeom prst="rect">
            <a:avLst/>
          </a:prstGeom>
        </p:spPr>
      </p:pic>
      <p:sp>
        <p:nvSpPr>
          <p:cNvPr id="65" name="Text 5">
            <a:extLst>
              <a:ext uri="{FF2B5EF4-FFF2-40B4-BE49-F238E27FC236}">
                <a16:creationId xmlns:a16="http://schemas.microsoft.com/office/drawing/2014/main" id="{1826C805-32C6-4ABB-3306-68776D8209EE}"/>
              </a:ext>
            </a:extLst>
          </p:cNvPr>
          <p:cNvSpPr txBox="1"/>
          <p:nvPr/>
        </p:nvSpPr>
        <p:spPr>
          <a:xfrm>
            <a:off x="780897" y="333756"/>
            <a:ext cx="5913817" cy="406908"/>
          </a:xfrm>
          <a:prstGeom prst="rect">
            <a:avLst/>
          </a:prstGeom>
          <a:noFill/>
          <a:ln/>
        </p:spPr>
        <p:txBody>
          <a:bodyPr wrap="none" lIns="0" tIns="0" rIns="0" bIns="0" rtlCol="0" anchor="ctr"/>
          <a:lstStyle/>
          <a:p>
            <a:r>
              <a:rPr lang="en-GB" sz="2400" b="1" kern="0" spc="-67" dirty="0">
                <a:solidFill>
                  <a:srgbClr val="111827"/>
                </a:solidFill>
                <a:latin typeface="Oswald" pitchFamily="34" charset="0"/>
                <a:ea typeface="Oswald" pitchFamily="34" charset="-122"/>
                <a:cs typeface="Oswald" pitchFamily="34" charset="-120"/>
              </a:rPr>
              <a:t>ENGAGEMENT &amp; RETENTION OPERATING MODEL</a:t>
            </a:r>
          </a:p>
        </p:txBody>
      </p:sp>
      <p:sp>
        <p:nvSpPr>
          <p:cNvPr id="67" name="Text 6">
            <a:extLst>
              <a:ext uri="{FF2B5EF4-FFF2-40B4-BE49-F238E27FC236}">
                <a16:creationId xmlns:a16="http://schemas.microsoft.com/office/drawing/2014/main" id="{B414F03D-873B-6401-34BB-D58D5AEFDC5E}"/>
              </a:ext>
            </a:extLst>
          </p:cNvPr>
          <p:cNvSpPr txBox="1"/>
          <p:nvPr/>
        </p:nvSpPr>
        <p:spPr>
          <a:xfrm>
            <a:off x="780898" y="740663"/>
            <a:ext cx="5054803" cy="257861"/>
          </a:xfrm>
          <a:prstGeom prst="rect">
            <a:avLst/>
          </a:prstGeom>
          <a:noFill/>
          <a:ln/>
        </p:spPr>
        <p:txBody>
          <a:bodyPr wrap="none" lIns="0" tIns="0" rIns="0" bIns="0" rtlCol="0" anchor="ctr"/>
          <a:lstStyle/>
          <a:p>
            <a:pPr marL="0" indent="0" algn="l">
              <a:buNone/>
            </a:pPr>
            <a:r>
              <a:rPr lang="en-GB" sz="1500" b="1" kern="0" spc="66" dirty="0">
                <a:solidFill>
                  <a:srgbClr val="2A9D8F"/>
                </a:solidFill>
                <a:latin typeface="Roboto Condensed" pitchFamily="34" charset="0"/>
                <a:ea typeface="Roboto Condensed" pitchFamily="34" charset="-122"/>
                <a:cs typeface="Roboto Condensed" pitchFamily="34" charset="-120"/>
              </a:rPr>
              <a:t>Engagement approach to protect offer acceptance, joining, onboarding experience and early retention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pic>
        <p:nvPicPr>
          <p:cNvPr id="4" name="Image 0" descr="gen-dedup-cad3a534ee2971c6a497c9faf59fb5cd.png"/>
          <p:cNvPicPr>
            <a:picLocks noChangeAspect="1"/>
          </p:cNvPicPr>
          <p:nvPr/>
        </p:nvPicPr>
        <p:blipFill>
          <a:blip r:embed="rId3"/>
          <a:srcRect l="-202" r="-202"/>
          <a:stretch/>
        </p:blipFill>
        <p:spPr>
          <a:xfrm>
            <a:off x="0" y="0"/>
            <a:ext cx="8128102" cy="75895"/>
          </a:xfrm>
          <a:prstGeom prst="rect">
            <a:avLst/>
          </a:prstGeom>
        </p:spPr>
      </p:pic>
      <p:pic>
        <p:nvPicPr>
          <p:cNvPr id="5" name="Image 1" descr="gen-dedup-64882feb7a832238af77b962fc7a8538.png"/>
          <p:cNvPicPr>
            <a:picLocks noChangeAspect="1"/>
          </p:cNvPicPr>
          <p:nvPr/>
        </p:nvPicPr>
        <p:blipFill>
          <a:blip r:embed="rId4"/>
          <a:srcRect l="-197" r="-197"/>
          <a:stretch/>
        </p:blipFill>
        <p:spPr>
          <a:xfrm>
            <a:off x="8128102" y="0"/>
            <a:ext cx="4063594" cy="75895"/>
          </a:xfrm>
          <a:prstGeom prst="rect">
            <a:avLst/>
          </a:prstGeom>
        </p:spPr>
      </p:pic>
      <p:sp>
        <p:nvSpPr>
          <p:cNvPr id="6" name="Shape 2"/>
          <p:cNvSpPr/>
          <p:nvPr/>
        </p:nvSpPr>
        <p:spPr>
          <a:xfrm>
            <a:off x="9905695" y="-571500"/>
            <a:ext cx="2857500" cy="2857500"/>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7" name="Image 2" descr="gen-dedup-6da70c599291e253314366a10c094ffa.png"/>
          <p:cNvPicPr>
            <a:picLocks noChangeAspect="1"/>
          </p:cNvPicPr>
          <p:nvPr/>
        </p:nvPicPr>
        <p:blipFill>
          <a:blip r:embed="rId5">
            <a:alphaModFix amt="15000"/>
          </a:blip>
          <a:srcRect/>
          <a:stretch/>
        </p:blipFill>
        <p:spPr>
          <a:xfrm>
            <a:off x="381305" y="1143000"/>
            <a:ext cx="1429207" cy="1429207"/>
          </a:xfrm>
          <a:prstGeom prst="rect">
            <a:avLst/>
          </a:prstGeom>
        </p:spPr>
      </p:pic>
      <p:sp>
        <p:nvSpPr>
          <p:cNvPr id="8" name="Shape 3"/>
          <p:cNvSpPr/>
          <p:nvPr/>
        </p:nvSpPr>
        <p:spPr>
          <a:xfrm>
            <a:off x="609905" y="1143000"/>
            <a:ext cx="5352898" cy="2572207"/>
          </a:xfrm>
          <a:prstGeom prst="roundRect">
            <a:avLst>
              <a:gd name="adj" fmla="val 1580"/>
            </a:avLst>
          </a:prstGeom>
          <a:solidFill>
            <a:srgbClr val="FFFFFF"/>
          </a:solidFill>
          <a:ln w="12700">
            <a:solidFill>
              <a:srgbClr val="E5E7EB"/>
            </a:solidFill>
            <a:prstDash val="solid"/>
          </a:ln>
        </p:spPr>
        <p:txBody>
          <a:bodyPr/>
          <a:lstStyle/>
          <a:p>
            <a:endParaRPr lang="en-US"/>
          </a:p>
        </p:txBody>
      </p:sp>
      <p:sp>
        <p:nvSpPr>
          <p:cNvPr id="9" name="Shape 4"/>
          <p:cNvSpPr/>
          <p:nvPr/>
        </p:nvSpPr>
        <p:spPr>
          <a:xfrm>
            <a:off x="609905" y="1143000"/>
            <a:ext cx="5352898" cy="38405"/>
          </a:xfrm>
          <a:prstGeom prst="roundRect">
            <a:avLst>
              <a:gd name="adj" fmla="val 105820"/>
            </a:avLst>
          </a:prstGeom>
          <a:solidFill>
            <a:srgbClr val="D62839"/>
          </a:solidFill>
          <a:ln w="12700">
            <a:solidFill>
              <a:srgbClr val="D62839">
                <a:alpha val="0"/>
              </a:srgbClr>
            </a:solidFill>
            <a:prstDash val="solid"/>
          </a:ln>
        </p:spPr>
        <p:txBody>
          <a:bodyPr/>
          <a:lstStyle/>
          <a:p>
            <a:endParaRPr lang="en-US"/>
          </a:p>
        </p:txBody>
      </p:sp>
      <p:sp>
        <p:nvSpPr>
          <p:cNvPr id="10" name="Shape 5"/>
          <p:cNvSpPr/>
          <p:nvPr/>
        </p:nvSpPr>
        <p:spPr>
          <a:xfrm>
            <a:off x="6172200" y="1143000"/>
            <a:ext cx="5429707" cy="2667305"/>
          </a:xfrm>
          <a:prstGeom prst="roundRect">
            <a:avLst>
              <a:gd name="adj" fmla="val 1469"/>
            </a:avLst>
          </a:prstGeom>
          <a:solidFill>
            <a:srgbClr val="FFFFFF"/>
          </a:solidFill>
          <a:ln w="12700">
            <a:solidFill>
              <a:srgbClr val="E5E7EB"/>
            </a:solidFill>
            <a:prstDash val="solid"/>
          </a:ln>
        </p:spPr>
        <p:txBody>
          <a:bodyPr/>
          <a:lstStyle/>
          <a:p>
            <a:endParaRPr lang="en-US"/>
          </a:p>
        </p:txBody>
      </p:sp>
      <p:sp>
        <p:nvSpPr>
          <p:cNvPr id="11" name="Shape 6"/>
          <p:cNvSpPr/>
          <p:nvPr/>
        </p:nvSpPr>
        <p:spPr>
          <a:xfrm>
            <a:off x="6172200" y="1143000"/>
            <a:ext cx="5429707" cy="38405"/>
          </a:xfrm>
          <a:prstGeom prst="roundRect">
            <a:avLst>
              <a:gd name="adj" fmla="val 102040"/>
            </a:avLst>
          </a:prstGeom>
          <a:solidFill>
            <a:srgbClr val="2A9D8F"/>
          </a:solidFill>
          <a:ln w="12700">
            <a:solidFill>
              <a:srgbClr val="2A9D8F">
                <a:alpha val="0"/>
              </a:srgbClr>
            </a:solidFill>
            <a:prstDash val="solid"/>
          </a:ln>
        </p:spPr>
        <p:txBody>
          <a:bodyPr/>
          <a:lstStyle/>
          <a:p>
            <a:endParaRPr lang="en-US"/>
          </a:p>
        </p:txBody>
      </p:sp>
      <p:sp>
        <p:nvSpPr>
          <p:cNvPr id="12" name="Shape 7"/>
          <p:cNvSpPr/>
          <p:nvPr/>
        </p:nvSpPr>
        <p:spPr>
          <a:xfrm>
            <a:off x="609905" y="3857854"/>
            <a:ext cx="5352898" cy="2286000"/>
          </a:xfrm>
          <a:prstGeom prst="roundRect">
            <a:avLst>
              <a:gd name="adj" fmla="val 2000"/>
            </a:avLst>
          </a:prstGeom>
          <a:solidFill>
            <a:srgbClr val="FFFFFF"/>
          </a:solidFill>
          <a:ln w="12700">
            <a:solidFill>
              <a:srgbClr val="E5E7EB"/>
            </a:solidFill>
            <a:prstDash val="solid"/>
          </a:ln>
        </p:spPr>
        <p:txBody>
          <a:bodyPr/>
          <a:lstStyle/>
          <a:p>
            <a:endParaRPr lang="en-US"/>
          </a:p>
        </p:txBody>
      </p:sp>
      <p:sp>
        <p:nvSpPr>
          <p:cNvPr id="13" name="Shape 8"/>
          <p:cNvSpPr/>
          <p:nvPr/>
        </p:nvSpPr>
        <p:spPr>
          <a:xfrm>
            <a:off x="609905" y="3857854"/>
            <a:ext cx="5352898" cy="38405"/>
          </a:xfrm>
          <a:prstGeom prst="roundRect">
            <a:avLst>
              <a:gd name="adj" fmla="val 119047"/>
            </a:avLst>
          </a:prstGeom>
          <a:solidFill>
            <a:srgbClr val="2A9D8F"/>
          </a:solidFill>
          <a:ln w="12700">
            <a:solidFill>
              <a:srgbClr val="2A9D8F">
                <a:alpha val="0"/>
              </a:srgbClr>
            </a:solidFill>
            <a:prstDash val="solid"/>
          </a:ln>
        </p:spPr>
        <p:txBody>
          <a:bodyPr/>
          <a:lstStyle/>
          <a:p>
            <a:endParaRPr lang="en-US"/>
          </a:p>
        </p:txBody>
      </p:sp>
      <p:sp>
        <p:nvSpPr>
          <p:cNvPr id="14" name="Shape 9"/>
          <p:cNvSpPr/>
          <p:nvPr/>
        </p:nvSpPr>
        <p:spPr>
          <a:xfrm>
            <a:off x="6172200" y="3857854"/>
            <a:ext cx="5429707" cy="2286000"/>
          </a:xfrm>
          <a:prstGeom prst="roundRect">
            <a:avLst>
              <a:gd name="adj" fmla="val 2000"/>
            </a:avLst>
          </a:prstGeom>
          <a:solidFill>
            <a:srgbClr val="FFFFFF"/>
          </a:solidFill>
          <a:ln w="12700">
            <a:solidFill>
              <a:srgbClr val="E5E7EB"/>
            </a:solidFill>
            <a:prstDash val="solid"/>
          </a:ln>
        </p:spPr>
        <p:txBody>
          <a:bodyPr/>
          <a:lstStyle/>
          <a:p>
            <a:endParaRPr lang="en-US"/>
          </a:p>
        </p:txBody>
      </p:sp>
      <p:sp>
        <p:nvSpPr>
          <p:cNvPr id="15" name="Shape 10"/>
          <p:cNvSpPr/>
          <p:nvPr/>
        </p:nvSpPr>
        <p:spPr>
          <a:xfrm>
            <a:off x="6172200" y="3857854"/>
            <a:ext cx="5429707" cy="38405"/>
          </a:xfrm>
          <a:prstGeom prst="roundRect">
            <a:avLst>
              <a:gd name="adj" fmla="val 119047"/>
            </a:avLst>
          </a:prstGeom>
          <a:solidFill>
            <a:srgbClr val="D62839"/>
          </a:solidFill>
          <a:ln w="12700">
            <a:solidFill>
              <a:srgbClr val="D62839">
                <a:alpha val="0"/>
              </a:srgbClr>
            </a:solidFill>
            <a:prstDash val="solid"/>
          </a:ln>
        </p:spPr>
        <p:txBody>
          <a:bodyPr/>
          <a:lstStyle/>
          <a:p>
            <a:endParaRPr lang="en-US"/>
          </a:p>
        </p:txBody>
      </p:sp>
      <p:sp>
        <p:nvSpPr>
          <p:cNvPr id="16" name="Shape 11"/>
          <p:cNvSpPr/>
          <p:nvPr/>
        </p:nvSpPr>
        <p:spPr>
          <a:xfrm>
            <a:off x="609905" y="6238951"/>
            <a:ext cx="10992002" cy="437998"/>
          </a:xfrm>
          <a:prstGeom prst="roundRect">
            <a:avLst>
              <a:gd name="adj" fmla="val 36307"/>
            </a:avLst>
          </a:prstGeom>
          <a:solidFill>
            <a:srgbClr val="F8FAFC"/>
          </a:solidFill>
          <a:ln w="12700">
            <a:solidFill>
              <a:srgbClr val="E2E8F0"/>
            </a:solidFill>
            <a:prstDash val="solid"/>
          </a:ln>
        </p:spPr>
        <p:txBody>
          <a:bodyPr/>
          <a:lstStyle/>
          <a:p>
            <a:endParaRPr lang="en-US"/>
          </a:p>
        </p:txBody>
      </p:sp>
      <p:pic>
        <p:nvPicPr>
          <p:cNvPr id="20" name="Image 4" descr="gen-dedup-0694d8d7925cf9b99d92b905a7e8c15e.png"/>
          <p:cNvPicPr>
            <a:picLocks noChangeAspect="1"/>
          </p:cNvPicPr>
          <p:nvPr/>
        </p:nvPicPr>
        <p:blipFill>
          <a:blip r:embed="rId6"/>
          <a:srcRect t="-14384" b="-14384"/>
          <a:stretch/>
        </p:blipFill>
        <p:spPr>
          <a:xfrm>
            <a:off x="761695" y="1309421"/>
            <a:ext cx="133502" cy="171907"/>
          </a:xfrm>
          <a:prstGeom prst="rect">
            <a:avLst/>
          </a:prstGeom>
        </p:spPr>
      </p:pic>
      <p:sp>
        <p:nvSpPr>
          <p:cNvPr id="21" name="Text 14"/>
          <p:cNvSpPr txBox="1"/>
          <p:nvPr/>
        </p:nvSpPr>
        <p:spPr>
          <a:xfrm>
            <a:off x="972007" y="1257300"/>
            <a:ext cx="1745590" cy="277063"/>
          </a:xfrm>
          <a:prstGeom prst="rect">
            <a:avLst/>
          </a:prstGeom>
          <a:noFill/>
          <a:ln/>
        </p:spPr>
        <p:txBody>
          <a:bodyPr wrap="none" lIns="0" tIns="0" rIns="0" bIns="0" rtlCol="0" anchor="ctr"/>
          <a:lstStyle/>
          <a:p>
            <a:pPr marL="0" indent="0" algn="l">
              <a:buNone/>
            </a:pPr>
            <a:r>
              <a:rPr lang="en-US" sz="1400" b="1">
                <a:solidFill>
                  <a:srgbClr val="1F2937"/>
                </a:solidFill>
                <a:latin typeface="Oswald" pitchFamily="34" charset="0"/>
                <a:ea typeface="Oswald" pitchFamily="34" charset="-122"/>
                <a:cs typeface="Oswald" pitchFamily="34" charset="-120"/>
              </a:rPr>
              <a:t>PROVEN EXECUTION</a:t>
            </a:r>
            <a:endParaRPr lang="en-US" sz="1400"/>
          </a:p>
        </p:txBody>
      </p:sp>
      <p:sp>
        <p:nvSpPr>
          <p:cNvPr id="22" name="Shape 15"/>
          <p:cNvSpPr/>
          <p:nvPr/>
        </p:nvSpPr>
        <p:spPr>
          <a:xfrm>
            <a:off x="761695" y="1762049"/>
            <a:ext cx="5029200" cy="571500"/>
          </a:xfrm>
          <a:prstGeom prst="rect">
            <a:avLst/>
          </a:prstGeom>
          <a:solidFill>
            <a:srgbClr val="FEF2F2"/>
          </a:solidFill>
          <a:ln/>
        </p:spPr>
        <p:txBody>
          <a:bodyPr/>
          <a:lstStyle/>
          <a:p>
            <a:endParaRPr lang="en-US"/>
          </a:p>
        </p:txBody>
      </p:sp>
      <p:sp>
        <p:nvSpPr>
          <p:cNvPr id="23" name="Shape 16"/>
          <p:cNvSpPr/>
          <p:nvPr/>
        </p:nvSpPr>
        <p:spPr>
          <a:xfrm>
            <a:off x="761695" y="1762049"/>
            <a:ext cx="38405" cy="571500"/>
          </a:xfrm>
          <a:prstGeom prst="rect">
            <a:avLst/>
          </a:prstGeom>
          <a:solidFill>
            <a:srgbClr val="D62839"/>
          </a:solidFill>
          <a:ln w="12700">
            <a:solidFill>
              <a:srgbClr val="D62839">
                <a:alpha val="0"/>
              </a:srgbClr>
            </a:solidFill>
            <a:prstDash val="solid"/>
          </a:ln>
        </p:spPr>
        <p:txBody>
          <a:bodyPr/>
          <a:lstStyle/>
          <a:p>
            <a:endParaRPr lang="en-US"/>
          </a:p>
        </p:txBody>
      </p:sp>
      <p:sp>
        <p:nvSpPr>
          <p:cNvPr id="24" name="Text 17"/>
          <p:cNvSpPr txBox="1"/>
          <p:nvPr/>
        </p:nvSpPr>
        <p:spPr>
          <a:xfrm>
            <a:off x="1028700" y="1914754"/>
            <a:ext cx="5220310" cy="267005"/>
          </a:xfrm>
          <a:prstGeom prst="rect">
            <a:avLst/>
          </a:prstGeom>
          <a:noFill/>
          <a:ln/>
        </p:spPr>
        <p:txBody>
          <a:bodyPr wrap="none" lIns="0" tIns="0" rIns="0" bIns="0" rtlCol="0" anchor="ctr"/>
          <a:lstStyle/>
          <a:p>
            <a:pPr marL="0" indent="0" algn="l">
              <a:buNone/>
            </a:pPr>
            <a:r>
              <a:rPr lang="en-US" sz="1300" b="1" i="1">
                <a:solidFill>
                  <a:srgbClr val="991B1B"/>
                </a:solidFill>
                <a:latin typeface="Raleway" pitchFamily="34" charset="0"/>
                <a:ea typeface="Raleway" pitchFamily="34" charset="-122"/>
                <a:cs typeface="Raleway" pitchFamily="34" charset="-120"/>
              </a:rPr>
              <a:t>"Excellence is not promised - it is demonstrated."</a:t>
            </a:r>
            <a:endParaRPr lang="en-US" sz="1300"/>
          </a:p>
        </p:txBody>
      </p:sp>
      <p:sp>
        <p:nvSpPr>
          <p:cNvPr id="25" name="Text 18"/>
          <p:cNvSpPr txBox="1"/>
          <p:nvPr/>
        </p:nvSpPr>
        <p:spPr>
          <a:xfrm>
            <a:off x="761695" y="2520086"/>
            <a:ext cx="5029200" cy="657454"/>
          </a:xfrm>
          <a:prstGeom prst="rect">
            <a:avLst/>
          </a:prstGeom>
          <a:noFill/>
          <a:ln/>
        </p:spPr>
        <p:txBody>
          <a:bodyPr wrap="square" lIns="0" tIns="0" rIns="0" bIns="0" rtlCol="0" anchor="ctr"/>
          <a:lstStyle/>
          <a:p>
            <a:pPr marL="0" indent="0" algn="l">
              <a:buNone/>
            </a:pPr>
            <a:r>
              <a:rPr lang="en-US" sz="1100">
                <a:solidFill>
                  <a:srgbClr val="4B5563"/>
                </a:solidFill>
                <a:latin typeface="Raleway" pitchFamily="34" charset="0"/>
                <a:ea typeface="Raleway" pitchFamily="34" charset="-122"/>
                <a:cs typeface="Raleway" pitchFamily="34" charset="-120"/>
              </a:rPr>
              <a:t>J2W’s transformational engagements across global enterprises validate our ability to deliver {{client}}’s  talent goals with operational excellence, speed, and precision.</a:t>
            </a:r>
            <a:endParaRPr lang="en-US" sz="1100"/>
          </a:p>
        </p:txBody>
      </p:sp>
      <p:pic>
        <p:nvPicPr>
          <p:cNvPr id="26" name="Image 5" descr="gen-dedup-b496c99a569898132f3e1260cdf9f417.png"/>
          <p:cNvPicPr>
            <a:picLocks noChangeAspect="1"/>
          </p:cNvPicPr>
          <p:nvPr/>
        </p:nvPicPr>
        <p:blipFill>
          <a:blip r:embed="rId7"/>
          <a:srcRect t="-14384" b="-14384"/>
          <a:stretch/>
        </p:blipFill>
        <p:spPr>
          <a:xfrm>
            <a:off x="6324905" y="1309421"/>
            <a:ext cx="133502" cy="171907"/>
          </a:xfrm>
          <a:prstGeom prst="rect">
            <a:avLst/>
          </a:prstGeom>
        </p:spPr>
      </p:pic>
      <p:sp>
        <p:nvSpPr>
          <p:cNvPr id="27" name="Text 19"/>
          <p:cNvSpPr txBox="1"/>
          <p:nvPr/>
        </p:nvSpPr>
        <p:spPr>
          <a:xfrm>
            <a:off x="6534302" y="1257300"/>
            <a:ext cx="2845613" cy="277063"/>
          </a:xfrm>
          <a:prstGeom prst="rect">
            <a:avLst/>
          </a:prstGeom>
          <a:noFill/>
          <a:ln/>
        </p:spPr>
        <p:txBody>
          <a:bodyPr wrap="none" lIns="0" tIns="0" rIns="0" bIns="0" rtlCol="0" anchor="ctr"/>
          <a:lstStyle/>
          <a:p>
            <a:pPr marL="0" indent="0" algn="l">
              <a:buNone/>
            </a:pPr>
            <a:r>
              <a:rPr lang="en-US" sz="1400" b="1">
                <a:solidFill>
                  <a:srgbClr val="1F2937"/>
                </a:solidFill>
                <a:latin typeface="Oswald" pitchFamily="34" charset="0"/>
                <a:ea typeface="Oswald" pitchFamily="34" charset="-122"/>
                <a:cs typeface="Oswald" pitchFamily="34" charset="-120"/>
              </a:rPr>
              <a:t>KEY PERFORMANCE INDICATORS</a:t>
            </a:r>
            <a:endParaRPr lang="en-US" sz="1400"/>
          </a:p>
        </p:txBody>
      </p:sp>
      <p:pic>
        <p:nvPicPr>
          <p:cNvPr id="28" name="Image 6" descr="gen-dedup-a43e574f5ad413a8939cab01d30b4d0c.png"/>
          <p:cNvPicPr>
            <a:picLocks noChangeAspect="1"/>
          </p:cNvPicPr>
          <p:nvPr/>
        </p:nvPicPr>
        <p:blipFill>
          <a:blip r:embed="rId8"/>
          <a:srcRect l="-77" r="-77"/>
          <a:stretch/>
        </p:blipFill>
        <p:spPr>
          <a:xfrm>
            <a:off x="6324905" y="1647749"/>
            <a:ext cx="5105095" cy="237744"/>
          </a:xfrm>
          <a:prstGeom prst="rect">
            <a:avLst/>
          </a:prstGeom>
        </p:spPr>
      </p:pic>
      <p:sp>
        <p:nvSpPr>
          <p:cNvPr id="29" name="Text 20"/>
          <p:cNvSpPr txBox="1"/>
          <p:nvPr/>
        </p:nvSpPr>
        <p:spPr>
          <a:xfrm>
            <a:off x="6400800" y="1695298"/>
            <a:ext cx="1733702" cy="133502"/>
          </a:xfrm>
          <a:prstGeom prst="rect">
            <a:avLst/>
          </a:prstGeom>
          <a:noFill/>
          <a:ln/>
        </p:spPr>
        <p:txBody>
          <a:bodyPr wrap="none" lIns="0" tIns="0" rIns="0" bIns="0" rtlCol="0" anchor="ctr"/>
          <a:lstStyle/>
          <a:p>
            <a:pPr marL="0" indent="0" algn="l">
              <a:buNone/>
            </a:pPr>
            <a:r>
              <a:rPr lang="en-US" sz="900" b="1">
                <a:solidFill>
                  <a:srgbClr val="374151"/>
                </a:solidFill>
                <a:latin typeface="Roboto Condensed" pitchFamily="34" charset="0"/>
                <a:ea typeface="Roboto Condensed" pitchFamily="34" charset="-122"/>
                <a:cs typeface="Roboto Condensed" pitchFamily="34" charset="-120"/>
              </a:rPr>
              <a:t>METRIC</a:t>
            </a:r>
            <a:endParaRPr lang="en-US" sz="900"/>
          </a:p>
        </p:txBody>
      </p:sp>
      <p:sp>
        <p:nvSpPr>
          <p:cNvPr id="30" name="Text 21"/>
          <p:cNvSpPr txBox="1"/>
          <p:nvPr/>
        </p:nvSpPr>
        <p:spPr>
          <a:xfrm>
            <a:off x="8134502" y="1695298"/>
            <a:ext cx="1733702" cy="133502"/>
          </a:xfrm>
          <a:prstGeom prst="rect">
            <a:avLst/>
          </a:prstGeom>
          <a:noFill/>
          <a:ln/>
        </p:spPr>
        <p:txBody>
          <a:bodyPr wrap="none" lIns="0" tIns="0" rIns="0" bIns="0" rtlCol="0" anchor="ctr"/>
          <a:lstStyle/>
          <a:p>
            <a:pPr marL="0" indent="0" algn="l">
              <a:buNone/>
            </a:pPr>
            <a:r>
              <a:rPr lang="en-US" sz="900" b="1">
                <a:solidFill>
                  <a:srgbClr val="374151"/>
                </a:solidFill>
                <a:latin typeface="Roboto Condensed" pitchFamily="34" charset="0"/>
                <a:ea typeface="Roboto Condensed" pitchFamily="34" charset="-122"/>
                <a:cs typeface="Roboto Condensed" pitchFamily="34" charset="-120"/>
              </a:rPr>
              <a:t>J2W ACHIEVEMENT</a:t>
            </a:r>
            <a:endParaRPr lang="en-US" sz="900"/>
          </a:p>
        </p:txBody>
      </p:sp>
      <p:sp>
        <p:nvSpPr>
          <p:cNvPr id="31" name="Text 22"/>
          <p:cNvSpPr txBox="1"/>
          <p:nvPr/>
        </p:nvSpPr>
        <p:spPr>
          <a:xfrm>
            <a:off x="9868205" y="1695298"/>
            <a:ext cx="1485900" cy="133502"/>
          </a:xfrm>
          <a:prstGeom prst="rect">
            <a:avLst/>
          </a:prstGeom>
          <a:noFill/>
          <a:ln/>
        </p:spPr>
        <p:txBody>
          <a:bodyPr wrap="none" lIns="0" tIns="0" rIns="0" bIns="0" rtlCol="0" anchor="ctr"/>
          <a:lstStyle/>
          <a:p>
            <a:r>
              <a:rPr lang="en-US" sz="900" b="1">
                <a:solidFill>
                  <a:srgbClr val="374151"/>
                </a:solidFill>
                <a:latin typeface="Roboto Condensed" pitchFamily="34" charset="0"/>
                <a:ea typeface="Roboto Condensed" pitchFamily="34" charset="-122"/>
                <a:cs typeface="Roboto Condensed" pitchFamily="34" charset="-120"/>
              </a:rPr>
              <a:t>RELEVANCE TO {{CLIENT}}</a:t>
            </a:r>
            <a:endParaRPr lang="en-US" sz="900"/>
          </a:p>
        </p:txBody>
      </p:sp>
      <p:sp>
        <p:nvSpPr>
          <p:cNvPr id="32" name="Shape 23"/>
          <p:cNvSpPr/>
          <p:nvPr/>
        </p:nvSpPr>
        <p:spPr>
          <a:xfrm>
            <a:off x="6324905" y="2077517"/>
            <a:ext cx="5105095" cy="9144"/>
          </a:xfrm>
          <a:prstGeom prst="rect">
            <a:avLst/>
          </a:prstGeom>
          <a:solidFill>
            <a:srgbClr val="F3F4F6"/>
          </a:solidFill>
          <a:ln w="12700">
            <a:solidFill>
              <a:srgbClr val="F3F4F6">
                <a:alpha val="0"/>
              </a:srgbClr>
            </a:solidFill>
            <a:prstDash val="solid"/>
          </a:ln>
        </p:spPr>
        <p:txBody>
          <a:bodyPr/>
          <a:lstStyle/>
          <a:p>
            <a:endParaRPr lang="en-US"/>
          </a:p>
        </p:txBody>
      </p:sp>
      <p:sp>
        <p:nvSpPr>
          <p:cNvPr id="33" name="Text 24"/>
          <p:cNvSpPr txBox="1"/>
          <p:nvPr/>
        </p:nvSpPr>
        <p:spPr>
          <a:xfrm>
            <a:off x="6400800" y="1914754"/>
            <a:ext cx="1733702" cy="133502"/>
          </a:xfrm>
          <a:prstGeom prst="rect">
            <a:avLst/>
          </a:prstGeom>
          <a:noFill/>
          <a:ln/>
        </p:spPr>
        <p:txBody>
          <a:bodyPr wrap="none" lIns="0" tIns="0" rIns="0" bIns="0" rtlCol="0" anchor="ctr"/>
          <a:lstStyle/>
          <a:p>
            <a:pPr marL="0" indent="0" algn="l">
              <a:buNone/>
            </a:pPr>
            <a:r>
              <a:rPr lang="en-US" sz="800" b="1">
                <a:solidFill>
                  <a:srgbClr val="4B5563"/>
                </a:solidFill>
                <a:latin typeface="Raleway" pitchFamily="34" charset="0"/>
                <a:ea typeface="Raleway" pitchFamily="34" charset="-122"/>
                <a:cs typeface="Raleway" pitchFamily="34" charset="-120"/>
              </a:rPr>
              <a:t>GCC Solutions Delivered</a:t>
            </a:r>
            <a:endParaRPr lang="en-US" sz="800"/>
          </a:p>
        </p:txBody>
      </p:sp>
      <p:sp>
        <p:nvSpPr>
          <p:cNvPr id="34" name="Text 25"/>
          <p:cNvSpPr txBox="1"/>
          <p:nvPr/>
        </p:nvSpPr>
        <p:spPr>
          <a:xfrm>
            <a:off x="8134502" y="1914754"/>
            <a:ext cx="1733702" cy="133502"/>
          </a:xfrm>
          <a:prstGeom prst="rect">
            <a:avLst/>
          </a:prstGeom>
          <a:noFill/>
          <a:ln/>
        </p:spPr>
        <p:txBody>
          <a:bodyPr wrap="none" lIns="0" tIns="0" rIns="0" bIns="0" rtlCol="0" anchor="ctr"/>
          <a:lstStyle/>
          <a:p>
            <a:pPr marL="0" indent="0" algn="l">
              <a:buNone/>
            </a:pPr>
            <a:r>
              <a:rPr lang="en-US" sz="800" b="1">
                <a:solidFill>
                  <a:srgbClr val="2A9D8F"/>
                </a:solidFill>
                <a:latin typeface="Raleway" pitchFamily="34" charset="0"/>
                <a:ea typeface="Raleway" pitchFamily="34" charset="-122"/>
                <a:cs typeface="Raleway" pitchFamily="34" charset="-120"/>
              </a:rPr>
              <a:t>India’s Largest Provider</a:t>
            </a:r>
            <a:endParaRPr lang="en-US" sz="800"/>
          </a:p>
        </p:txBody>
      </p:sp>
      <p:sp>
        <p:nvSpPr>
          <p:cNvPr id="35" name="Text 26"/>
          <p:cNvSpPr txBox="1"/>
          <p:nvPr/>
        </p:nvSpPr>
        <p:spPr>
          <a:xfrm>
            <a:off x="9868205" y="1914754"/>
            <a:ext cx="1485900" cy="133502"/>
          </a:xfrm>
          <a:prstGeom prst="rect">
            <a:avLst/>
          </a:prstGeom>
          <a:noFill/>
          <a:ln/>
        </p:spPr>
        <p:txBody>
          <a:bodyPr wrap="none" lIns="0" tIns="0" rIns="0" bIns="0" rtlCol="0" anchor="ctr"/>
          <a:lstStyle/>
          <a:p>
            <a:pPr marL="0" indent="0" algn="l">
              <a:buNone/>
            </a:pPr>
            <a:r>
              <a:rPr lang="en-US" sz="800">
                <a:solidFill>
                  <a:srgbClr val="4B5563"/>
                </a:solidFill>
                <a:latin typeface="Raleway" pitchFamily="34" charset="0"/>
                <a:ea typeface="Raleway" pitchFamily="34" charset="-122"/>
                <a:cs typeface="Raleway" pitchFamily="34" charset="-120"/>
              </a:rPr>
              <a:t>Proven at scale</a:t>
            </a:r>
            <a:endParaRPr lang="en-US" sz="800"/>
          </a:p>
        </p:txBody>
      </p:sp>
      <p:sp>
        <p:nvSpPr>
          <p:cNvPr id="36" name="Shape 27"/>
          <p:cNvSpPr/>
          <p:nvPr/>
        </p:nvSpPr>
        <p:spPr>
          <a:xfrm>
            <a:off x="6324905" y="2276856"/>
            <a:ext cx="5105095" cy="9144"/>
          </a:xfrm>
          <a:prstGeom prst="rect">
            <a:avLst/>
          </a:prstGeom>
          <a:solidFill>
            <a:srgbClr val="F3F4F6"/>
          </a:solidFill>
          <a:ln w="12700">
            <a:solidFill>
              <a:srgbClr val="F3F4F6">
                <a:alpha val="0"/>
              </a:srgbClr>
            </a:solidFill>
            <a:prstDash val="solid"/>
          </a:ln>
        </p:spPr>
        <p:txBody>
          <a:bodyPr/>
          <a:lstStyle/>
          <a:p>
            <a:endParaRPr lang="en-US"/>
          </a:p>
        </p:txBody>
      </p:sp>
      <p:sp>
        <p:nvSpPr>
          <p:cNvPr id="37" name="Text 28"/>
          <p:cNvSpPr txBox="1"/>
          <p:nvPr/>
        </p:nvSpPr>
        <p:spPr>
          <a:xfrm>
            <a:off x="6400800" y="2115007"/>
            <a:ext cx="1733702" cy="133502"/>
          </a:xfrm>
          <a:prstGeom prst="rect">
            <a:avLst/>
          </a:prstGeom>
          <a:noFill/>
          <a:ln/>
        </p:spPr>
        <p:txBody>
          <a:bodyPr wrap="none" lIns="0" tIns="0" rIns="0" bIns="0" rtlCol="0" anchor="ctr"/>
          <a:lstStyle/>
          <a:p>
            <a:pPr marL="0" indent="0" algn="l">
              <a:buNone/>
            </a:pPr>
            <a:r>
              <a:rPr lang="en-US" sz="800" b="1">
                <a:solidFill>
                  <a:srgbClr val="4B5563"/>
                </a:solidFill>
                <a:latin typeface="Raleway" pitchFamily="34" charset="0"/>
                <a:ea typeface="Raleway" pitchFamily="34" charset="-122"/>
                <a:cs typeface="Raleway" pitchFamily="34" charset="-120"/>
              </a:rPr>
              <a:t>AI Capabilities</a:t>
            </a:r>
            <a:endParaRPr lang="en-US" sz="800"/>
          </a:p>
        </p:txBody>
      </p:sp>
      <p:sp>
        <p:nvSpPr>
          <p:cNvPr id="38" name="Text 29"/>
          <p:cNvSpPr txBox="1"/>
          <p:nvPr/>
        </p:nvSpPr>
        <p:spPr>
          <a:xfrm>
            <a:off x="8134502" y="2115007"/>
            <a:ext cx="1733702" cy="133502"/>
          </a:xfrm>
          <a:prstGeom prst="rect">
            <a:avLst/>
          </a:prstGeom>
          <a:noFill/>
          <a:ln/>
        </p:spPr>
        <p:txBody>
          <a:bodyPr wrap="none" lIns="0" tIns="0" rIns="0" bIns="0" rtlCol="0" anchor="ctr"/>
          <a:lstStyle/>
          <a:p>
            <a:pPr marL="0" indent="0" algn="l">
              <a:buNone/>
            </a:pPr>
            <a:r>
              <a:rPr lang="en-US" sz="800" b="1">
                <a:solidFill>
                  <a:srgbClr val="2A9D8F"/>
                </a:solidFill>
                <a:latin typeface="Raleway" pitchFamily="34" charset="0"/>
                <a:ea typeface="Raleway" pitchFamily="34" charset="-122"/>
                <a:cs typeface="Raleway" pitchFamily="34" charset="-120"/>
              </a:rPr>
              <a:t>600 built in 12 months</a:t>
            </a:r>
            <a:endParaRPr lang="en-US" sz="800"/>
          </a:p>
        </p:txBody>
      </p:sp>
      <p:sp>
        <p:nvSpPr>
          <p:cNvPr id="39" name="Text 30"/>
          <p:cNvSpPr txBox="1"/>
          <p:nvPr/>
        </p:nvSpPr>
        <p:spPr>
          <a:xfrm>
            <a:off x="9868205" y="2115007"/>
            <a:ext cx="1485900" cy="133502"/>
          </a:xfrm>
          <a:prstGeom prst="rect">
            <a:avLst/>
          </a:prstGeom>
          <a:noFill/>
          <a:ln/>
        </p:spPr>
        <p:txBody>
          <a:bodyPr wrap="none" lIns="0" tIns="0" rIns="0" bIns="0" rtlCol="0" anchor="ctr"/>
          <a:lstStyle/>
          <a:p>
            <a:pPr marL="0" indent="0" algn="l">
              <a:buNone/>
            </a:pPr>
            <a:r>
              <a:rPr lang="en-US" sz="800">
                <a:solidFill>
                  <a:srgbClr val="4B5563"/>
                </a:solidFill>
                <a:latin typeface="Raleway" pitchFamily="34" charset="0"/>
                <a:ea typeface="Raleway" pitchFamily="34" charset="-122"/>
                <a:cs typeface="Raleway" pitchFamily="34" charset="-120"/>
              </a:rPr>
              <a:t>Accelerated innovation</a:t>
            </a:r>
            <a:endParaRPr lang="en-US" sz="800"/>
          </a:p>
        </p:txBody>
      </p:sp>
      <p:sp>
        <p:nvSpPr>
          <p:cNvPr id="40" name="Shape 31"/>
          <p:cNvSpPr/>
          <p:nvPr/>
        </p:nvSpPr>
        <p:spPr>
          <a:xfrm>
            <a:off x="6324905" y="2477110"/>
            <a:ext cx="5105095" cy="9144"/>
          </a:xfrm>
          <a:prstGeom prst="rect">
            <a:avLst/>
          </a:prstGeom>
          <a:solidFill>
            <a:srgbClr val="F3F4F6"/>
          </a:solidFill>
          <a:ln w="12700">
            <a:solidFill>
              <a:srgbClr val="F3F4F6">
                <a:alpha val="0"/>
              </a:srgbClr>
            </a:solidFill>
            <a:prstDash val="solid"/>
          </a:ln>
        </p:spPr>
        <p:txBody>
          <a:bodyPr/>
          <a:lstStyle/>
          <a:p>
            <a:endParaRPr lang="en-US"/>
          </a:p>
        </p:txBody>
      </p:sp>
      <p:sp>
        <p:nvSpPr>
          <p:cNvPr id="41" name="Text 32"/>
          <p:cNvSpPr txBox="1"/>
          <p:nvPr/>
        </p:nvSpPr>
        <p:spPr>
          <a:xfrm>
            <a:off x="6400800" y="2314346"/>
            <a:ext cx="1733702" cy="133502"/>
          </a:xfrm>
          <a:prstGeom prst="rect">
            <a:avLst/>
          </a:prstGeom>
          <a:noFill/>
          <a:ln/>
        </p:spPr>
        <p:txBody>
          <a:bodyPr wrap="none" lIns="0" tIns="0" rIns="0" bIns="0" rtlCol="0" anchor="ctr"/>
          <a:lstStyle/>
          <a:p>
            <a:pPr marL="0" indent="0" algn="l">
              <a:buNone/>
            </a:pPr>
            <a:r>
              <a:rPr lang="en-US" sz="800" b="1">
                <a:solidFill>
                  <a:srgbClr val="4B5563"/>
                </a:solidFill>
                <a:latin typeface="Raleway" pitchFamily="34" charset="0"/>
                <a:ea typeface="Raleway" pitchFamily="34" charset="-122"/>
                <a:cs typeface="Raleway" pitchFamily="34" charset="-120"/>
              </a:rPr>
              <a:t>Cloud Journeys</a:t>
            </a:r>
            <a:endParaRPr lang="en-US" sz="800"/>
          </a:p>
        </p:txBody>
      </p:sp>
      <p:sp>
        <p:nvSpPr>
          <p:cNvPr id="42" name="Text 33"/>
          <p:cNvSpPr txBox="1"/>
          <p:nvPr/>
        </p:nvSpPr>
        <p:spPr>
          <a:xfrm>
            <a:off x="8134502" y="2314346"/>
            <a:ext cx="1733702" cy="133502"/>
          </a:xfrm>
          <a:prstGeom prst="rect">
            <a:avLst/>
          </a:prstGeom>
          <a:noFill/>
          <a:ln/>
        </p:spPr>
        <p:txBody>
          <a:bodyPr wrap="none" lIns="0" tIns="0" rIns="0" bIns="0" rtlCol="0" anchor="ctr"/>
          <a:lstStyle/>
          <a:p>
            <a:pPr marL="0" indent="0" algn="l">
              <a:buNone/>
            </a:pPr>
            <a:r>
              <a:rPr lang="en-US" sz="800" b="1">
                <a:solidFill>
                  <a:srgbClr val="2A9D8F"/>
                </a:solidFill>
                <a:latin typeface="Raleway" pitchFamily="34" charset="0"/>
                <a:ea typeface="Raleway" pitchFamily="34" charset="-122"/>
                <a:cs typeface="Raleway" pitchFamily="34" charset="-120"/>
              </a:rPr>
              <a:t>4,000+ transformations</a:t>
            </a:r>
            <a:endParaRPr lang="en-US" sz="800"/>
          </a:p>
        </p:txBody>
      </p:sp>
      <p:sp>
        <p:nvSpPr>
          <p:cNvPr id="43" name="Text 34"/>
          <p:cNvSpPr txBox="1"/>
          <p:nvPr/>
        </p:nvSpPr>
        <p:spPr>
          <a:xfrm>
            <a:off x="9868205" y="2314346"/>
            <a:ext cx="1485900" cy="133502"/>
          </a:xfrm>
          <a:prstGeom prst="rect">
            <a:avLst/>
          </a:prstGeom>
          <a:noFill/>
          <a:ln/>
        </p:spPr>
        <p:txBody>
          <a:bodyPr wrap="none" lIns="0" tIns="0" rIns="0" bIns="0" rtlCol="0" anchor="ctr"/>
          <a:lstStyle/>
          <a:p>
            <a:pPr marL="0" indent="0" algn="l">
              <a:buNone/>
            </a:pPr>
            <a:r>
              <a:rPr lang="en-US" sz="800">
                <a:solidFill>
                  <a:srgbClr val="4B5563"/>
                </a:solidFill>
                <a:latin typeface="Raleway" pitchFamily="34" charset="0"/>
                <a:ea typeface="Raleway" pitchFamily="34" charset="-122"/>
                <a:cs typeface="Raleway" pitchFamily="34" charset="-120"/>
              </a:rPr>
              <a:t>Platform readiness</a:t>
            </a:r>
            <a:endParaRPr lang="en-US" sz="800"/>
          </a:p>
        </p:txBody>
      </p:sp>
      <p:sp>
        <p:nvSpPr>
          <p:cNvPr id="44" name="Shape 35"/>
          <p:cNvSpPr/>
          <p:nvPr/>
        </p:nvSpPr>
        <p:spPr>
          <a:xfrm>
            <a:off x="6324905" y="2677363"/>
            <a:ext cx="5105095" cy="9144"/>
          </a:xfrm>
          <a:prstGeom prst="rect">
            <a:avLst/>
          </a:prstGeom>
          <a:solidFill>
            <a:srgbClr val="F3F4F6"/>
          </a:solidFill>
          <a:ln w="12700">
            <a:solidFill>
              <a:srgbClr val="F3F4F6">
                <a:alpha val="0"/>
              </a:srgbClr>
            </a:solidFill>
            <a:prstDash val="solid"/>
          </a:ln>
        </p:spPr>
        <p:txBody>
          <a:bodyPr/>
          <a:lstStyle/>
          <a:p>
            <a:endParaRPr lang="en-US"/>
          </a:p>
        </p:txBody>
      </p:sp>
      <p:sp>
        <p:nvSpPr>
          <p:cNvPr id="45" name="Text 36"/>
          <p:cNvSpPr txBox="1"/>
          <p:nvPr/>
        </p:nvSpPr>
        <p:spPr>
          <a:xfrm>
            <a:off x="6400800" y="2514600"/>
            <a:ext cx="1733702" cy="133502"/>
          </a:xfrm>
          <a:prstGeom prst="rect">
            <a:avLst/>
          </a:prstGeom>
          <a:noFill/>
          <a:ln/>
        </p:spPr>
        <p:txBody>
          <a:bodyPr wrap="none" lIns="0" tIns="0" rIns="0" bIns="0" rtlCol="0" anchor="ctr"/>
          <a:lstStyle/>
          <a:p>
            <a:pPr marL="0" indent="0" algn="l">
              <a:buNone/>
            </a:pPr>
            <a:r>
              <a:rPr lang="en-US" sz="800" b="1">
                <a:solidFill>
                  <a:srgbClr val="4B5563"/>
                </a:solidFill>
                <a:latin typeface="Raleway" pitchFamily="34" charset="0"/>
                <a:ea typeface="Raleway" pitchFamily="34" charset="-122"/>
                <a:cs typeface="Raleway" pitchFamily="34" charset="-120"/>
              </a:rPr>
              <a:t>Captive Centers</a:t>
            </a:r>
            <a:endParaRPr lang="en-US" sz="800"/>
          </a:p>
        </p:txBody>
      </p:sp>
      <p:sp>
        <p:nvSpPr>
          <p:cNvPr id="46" name="Text 37"/>
          <p:cNvSpPr txBox="1"/>
          <p:nvPr/>
        </p:nvSpPr>
        <p:spPr>
          <a:xfrm>
            <a:off x="8134502" y="2514600"/>
            <a:ext cx="1733702" cy="133502"/>
          </a:xfrm>
          <a:prstGeom prst="rect">
            <a:avLst/>
          </a:prstGeom>
          <a:noFill/>
          <a:ln/>
        </p:spPr>
        <p:txBody>
          <a:bodyPr wrap="none" lIns="0" tIns="0" rIns="0" bIns="0" rtlCol="0" anchor="ctr"/>
          <a:lstStyle/>
          <a:p>
            <a:pPr marL="0" indent="0" algn="l">
              <a:buNone/>
            </a:pPr>
            <a:r>
              <a:rPr lang="en-US" sz="800" b="1">
                <a:solidFill>
                  <a:srgbClr val="2A9D8F"/>
                </a:solidFill>
                <a:latin typeface="Raleway" pitchFamily="34" charset="0"/>
                <a:ea typeface="Raleway" pitchFamily="34" charset="-122"/>
                <a:cs typeface="Raleway" pitchFamily="34" charset="-120"/>
              </a:rPr>
              <a:t>250+ established</a:t>
            </a:r>
            <a:endParaRPr lang="en-US" sz="800"/>
          </a:p>
        </p:txBody>
      </p:sp>
      <p:sp>
        <p:nvSpPr>
          <p:cNvPr id="47" name="Text 38"/>
          <p:cNvSpPr txBox="1"/>
          <p:nvPr/>
        </p:nvSpPr>
        <p:spPr>
          <a:xfrm>
            <a:off x="9868205" y="2514600"/>
            <a:ext cx="1485900" cy="133502"/>
          </a:xfrm>
          <a:prstGeom prst="rect">
            <a:avLst/>
          </a:prstGeom>
          <a:noFill/>
          <a:ln/>
        </p:spPr>
        <p:txBody>
          <a:bodyPr wrap="none" lIns="0" tIns="0" rIns="0" bIns="0" rtlCol="0" anchor="ctr"/>
          <a:lstStyle/>
          <a:p>
            <a:pPr marL="0" indent="0" algn="l">
              <a:buNone/>
            </a:pPr>
            <a:r>
              <a:rPr lang="en-US" sz="800">
                <a:solidFill>
                  <a:srgbClr val="4B5563"/>
                </a:solidFill>
                <a:latin typeface="Raleway" pitchFamily="34" charset="0"/>
                <a:ea typeface="Raleway" pitchFamily="34" charset="-122"/>
                <a:cs typeface="Raleway" pitchFamily="34" charset="-120"/>
              </a:rPr>
              <a:t>Execution maturity</a:t>
            </a:r>
            <a:endParaRPr lang="en-US" sz="800"/>
          </a:p>
        </p:txBody>
      </p:sp>
      <p:sp>
        <p:nvSpPr>
          <p:cNvPr id="48" name="Shape 39"/>
          <p:cNvSpPr/>
          <p:nvPr/>
        </p:nvSpPr>
        <p:spPr>
          <a:xfrm>
            <a:off x="6324905" y="2877617"/>
            <a:ext cx="5105095" cy="9144"/>
          </a:xfrm>
          <a:prstGeom prst="rect">
            <a:avLst/>
          </a:prstGeom>
          <a:solidFill>
            <a:srgbClr val="F3F4F6"/>
          </a:solidFill>
          <a:ln w="12700">
            <a:solidFill>
              <a:srgbClr val="F3F4F6">
                <a:alpha val="0"/>
              </a:srgbClr>
            </a:solidFill>
            <a:prstDash val="solid"/>
          </a:ln>
        </p:spPr>
        <p:txBody>
          <a:bodyPr/>
          <a:lstStyle/>
          <a:p>
            <a:endParaRPr lang="en-US"/>
          </a:p>
        </p:txBody>
      </p:sp>
      <p:sp>
        <p:nvSpPr>
          <p:cNvPr id="49" name="Text 40"/>
          <p:cNvSpPr txBox="1"/>
          <p:nvPr/>
        </p:nvSpPr>
        <p:spPr>
          <a:xfrm>
            <a:off x="6400800" y="2714854"/>
            <a:ext cx="1733702" cy="133502"/>
          </a:xfrm>
          <a:prstGeom prst="rect">
            <a:avLst/>
          </a:prstGeom>
          <a:noFill/>
          <a:ln/>
        </p:spPr>
        <p:txBody>
          <a:bodyPr wrap="none" lIns="0" tIns="0" rIns="0" bIns="0" rtlCol="0" anchor="ctr"/>
          <a:lstStyle/>
          <a:p>
            <a:pPr marL="0" indent="0" algn="l">
              <a:buNone/>
            </a:pPr>
            <a:r>
              <a:rPr lang="en-US" sz="800" b="1">
                <a:solidFill>
                  <a:srgbClr val="4B5563"/>
                </a:solidFill>
                <a:latin typeface="Raleway" pitchFamily="34" charset="0"/>
                <a:ea typeface="Raleway" pitchFamily="34" charset="-122"/>
                <a:cs typeface="Raleway" pitchFamily="34" charset="-120"/>
              </a:rPr>
              <a:t>Professionals</a:t>
            </a:r>
            <a:endParaRPr lang="en-US" sz="800"/>
          </a:p>
        </p:txBody>
      </p:sp>
      <p:sp>
        <p:nvSpPr>
          <p:cNvPr id="50" name="Text 41"/>
          <p:cNvSpPr txBox="1"/>
          <p:nvPr/>
        </p:nvSpPr>
        <p:spPr>
          <a:xfrm>
            <a:off x="8134502" y="2714854"/>
            <a:ext cx="1733702" cy="133502"/>
          </a:xfrm>
          <a:prstGeom prst="rect">
            <a:avLst/>
          </a:prstGeom>
          <a:noFill/>
          <a:ln/>
        </p:spPr>
        <p:txBody>
          <a:bodyPr wrap="none" lIns="0" tIns="0" rIns="0" bIns="0" rtlCol="0" anchor="ctr"/>
          <a:lstStyle/>
          <a:p>
            <a:pPr marL="0" indent="0" algn="l">
              <a:buNone/>
            </a:pPr>
            <a:r>
              <a:rPr lang="en-US" sz="800" b="1">
                <a:solidFill>
                  <a:srgbClr val="2A9D8F"/>
                </a:solidFill>
                <a:latin typeface="Raleway" pitchFamily="34" charset="0"/>
                <a:ea typeface="Raleway" pitchFamily="34" charset="-122"/>
                <a:cs typeface="Raleway" pitchFamily="34" charset="-120"/>
              </a:rPr>
              <a:t>7,200+ specialists</a:t>
            </a:r>
            <a:endParaRPr lang="en-US" sz="800"/>
          </a:p>
        </p:txBody>
      </p:sp>
      <p:sp>
        <p:nvSpPr>
          <p:cNvPr id="51" name="Text 42"/>
          <p:cNvSpPr txBox="1"/>
          <p:nvPr/>
        </p:nvSpPr>
        <p:spPr>
          <a:xfrm>
            <a:off x="9868205" y="2714854"/>
            <a:ext cx="1485900" cy="133502"/>
          </a:xfrm>
          <a:prstGeom prst="rect">
            <a:avLst/>
          </a:prstGeom>
          <a:noFill/>
          <a:ln/>
        </p:spPr>
        <p:txBody>
          <a:bodyPr wrap="none" lIns="0" tIns="0" rIns="0" bIns="0" rtlCol="0" anchor="ctr"/>
          <a:lstStyle/>
          <a:p>
            <a:pPr marL="0" indent="0" algn="l">
              <a:buNone/>
            </a:pPr>
            <a:r>
              <a:rPr lang="en-US" sz="800" dirty="0">
                <a:solidFill>
                  <a:srgbClr val="4B5563"/>
                </a:solidFill>
                <a:latin typeface="Raleway" pitchFamily="34" charset="0"/>
                <a:ea typeface="Raleway" pitchFamily="34" charset="-122"/>
                <a:cs typeface="Raleway" pitchFamily="34" charset="-120"/>
              </a:rPr>
              <a:t>Depth and speed</a:t>
            </a:r>
            <a:endParaRPr lang="en-US" sz="800" dirty="0"/>
          </a:p>
        </p:txBody>
      </p:sp>
      <p:sp>
        <p:nvSpPr>
          <p:cNvPr id="52" name="Shape 43"/>
          <p:cNvSpPr/>
          <p:nvPr/>
        </p:nvSpPr>
        <p:spPr>
          <a:xfrm>
            <a:off x="6324905" y="3076956"/>
            <a:ext cx="5105095" cy="9144"/>
          </a:xfrm>
          <a:prstGeom prst="rect">
            <a:avLst/>
          </a:prstGeom>
          <a:solidFill>
            <a:srgbClr val="F3F4F6"/>
          </a:solidFill>
          <a:ln w="12700">
            <a:solidFill>
              <a:srgbClr val="F3F4F6">
                <a:alpha val="0"/>
              </a:srgbClr>
            </a:solidFill>
            <a:prstDash val="solid"/>
          </a:ln>
        </p:spPr>
        <p:txBody>
          <a:bodyPr/>
          <a:lstStyle/>
          <a:p>
            <a:endParaRPr lang="en-US"/>
          </a:p>
        </p:txBody>
      </p:sp>
      <p:sp>
        <p:nvSpPr>
          <p:cNvPr id="53" name="Text 44"/>
          <p:cNvSpPr txBox="1"/>
          <p:nvPr/>
        </p:nvSpPr>
        <p:spPr>
          <a:xfrm>
            <a:off x="6400800" y="2915107"/>
            <a:ext cx="1733702" cy="133502"/>
          </a:xfrm>
          <a:prstGeom prst="rect">
            <a:avLst/>
          </a:prstGeom>
          <a:noFill/>
          <a:ln/>
        </p:spPr>
        <p:txBody>
          <a:bodyPr wrap="none" lIns="0" tIns="0" rIns="0" bIns="0" rtlCol="0" anchor="ctr"/>
          <a:lstStyle/>
          <a:p>
            <a:pPr marL="0" indent="0" algn="l">
              <a:buNone/>
            </a:pPr>
            <a:r>
              <a:rPr lang="en-US" sz="800" b="1">
                <a:solidFill>
                  <a:srgbClr val="4B5563"/>
                </a:solidFill>
                <a:latin typeface="Raleway" pitchFamily="34" charset="0"/>
                <a:ea typeface="Raleway" pitchFamily="34" charset="-122"/>
                <a:cs typeface="Raleway" pitchFamily="34" charset="-120"/>
              </a:rPr>
              <a:t>Engagement Models</a:t>
            </a:r>
            <a:endParaRPr lang="en-US" sz="800"/>
          </a:p>
        </p:txBody>
      </p:sp>
      <p:sp>
        <p:nvSpPr>
          <p:cNvPr id="54" name="Text 45"/>
          <p:cNvSpPr txBox="1"/>
          <p:nvPr/>
        </p:nvSpPr>
        <p:spPr>
          <a:xfrm>
            <a:off x="8134502" y="2915107"/>
            <a:ext cx="1733702" cy="133502"/>
          </a:xfrm>
          <a:prstGeom prst="rect">
            <a:avLst/>
          </a:prstGeom>
          <a:noFill/>
          <a:ln/>
        </p:spPr>
        <p:txBody>
          <a:bodyPr wrap="none" lIns="0" tIns="0" rIns="0" bIns="0" rtlCol="0" anchor="ctr"/>
          <a:lstStyle/>
          <a:p>
            <a:pPr marL="0" indent="0" algn="l">
              <a:buNone/>
            </a:pPr>
            <a:r>
              <a:rPr lang="en-US" sz="800" b="1">
                <a:solidFill>
                  <a:srgbClr val="2A9D8F"/>
                </a:solidFill>
                <a:latin typeface="Raleway" pitchFamily="34" charset="0"/>
                <a:ea typeface="Raleway" pitchFamily="34" charset="-122"/>
                <a:cs typeface="Raleway" pitchFamily="34" charset="-120"/>
              </a:rPr>
              <a:t>30+ proven formats</a:t>
            </a:r>
            <a:endParaRPr lang="en-US" sz="800"/>
          </a:p>
        </p:txBody>
      </p:sp>
      <p:sp>
        <p:nvSpPr>
          <p:cNvPr id="55" name="Text 46"/>
          <p:cNvSpPr txBox="1"/>
          <p:nvPr/>
        </p:nvSpPr>
        <p:spPr>
          <a:xfrm>
            <a:off x="9868205" y="2915107"/>
            <a:ext cx="1723644" cy="133502"/>
          </a:xfrm>
          <a:prstGeom prst="rect">
            <a:avLst/>
          </a:prstGeom>
          <a:noFill/>
          <a:ln/>
        </p:spPr>
        <p:txBody>
          <a:bodyPr wrap="none" lIns="0" tIns="0" rIns="0" bIns="0" rtlCol="0" anchor="ctr"/>
          <a:lstStyle/>
          <a:p>
            <a:pPr marL="0" indent="0" algn="l">
              <a:buNone/>
            </a:pPr>
            <a:r>
              <a:rPr lang="en-US" sz="800">
                <a:solidFill>
                  <a:srgbClr val="4B5563"/>
                </a:solidFill>
                <a:latin typeface="Raleway" pitchFamily="34" charset="0"/>
                <a:ea typeface="Raleway" pitchFamily="34" charset="-122"/>
                <a:cs typeface="Raleway" pitchFamily="34" charset="-120"/>
              </a:rPr>
              <a:t>Risk-mitigated flexibility</a:t>
            </a:r>
            <a:endParaRPr lang="en-US" sz="800"/>
          </a:p>
        </p:txBody>
      </p:sp>
      <p:sp>
        <p:nvSpPr>
          <p:cNvPr id="56" name="Shape 47"/>
          <p:cNvSpPr/>
          <p:nvPr/>
        </p:nvSpPr>
        <p:spPr>
          <a:xfrm>
            <a:off x="6324905" y="3277210"/>
            <a:ext cx="5105095" cy="9144"/>
          </a:xfrm>
          <a:prstGeom prst="rect">
            <a:avLst/>
          </a:prstGeom>
          <a:solidFill>
            <a:srgbClr val="F3F4F6"/>
          </a:solidFill>
          <a:ln w="12700">
            <a:solidFill>
              <a:srgbClr val="F3F4F6">
                <a:alpha val="0"/>
              </a:srgbClr>
            </a:solidFill>
            <a:prstDash val="solid"/>
          </a:ln>
        </p:spPr>
        <p:txBody>
          <a:bodyPr/>
          <a:lstStyle/>
          <a:p>
            <a:endParaRPr lang="en-US"/>
          </a:p>
        </p:txBody>
      </p:sp>
      <p:sp>
        <p:nvSpPr>
          <p:cNvPr id="57" name="Text 48"/>
          <p:cNvSpPr txBox="1"/>
          <p:nvPr/>
        </p:nvSpPr>
        <p:spPr>
          <a:xfrm>
            <a:off x="6400800" y="3114446"/>
            <a:ext cx="1733702" cy="133502"/>
          </a:xfrm>
          <a:prstGeom prst="rect">
            <a:avLst/>
          </a:prstGeom>
          <a:noFill/>
          <a:ln/>
        </p:spPr>
        <p:txBody>
          <a:bodyPr wrap="none" lIns="0" tIns="0" rIns="0" bIns="0" rtlCol="0" anchor="ctr"/>
          <a:lstStyle/>
          <a:p>
            <a:pPr marL="0" indent="0" algn="l">
              <a:buNone/>
            </a:pPr>
            <a:r>
              <a:rPr lang="en-US" sz="800" b="1">
                <a:solidFill>
                  <a:srgbClr val="4B5563"/>
                </a:solidFill>
                <a:latin typeface="Raleway" pitchFamily="34" charset="0"/>
                <a:ea typeface="Raleway" pitchFamily="34" charset="-122"/>
                <a:cs typeface="Raleway" pitchFamily="34" charset="-120"/>
              </a:rPr>
              <a:t>Global Presence</a:t>
            </a:r>
            <a:endParaRPr lang="en-US" sz="800"/>
          </a:p>
        </p:txBody>
      </p:sp>
      <p:sp>
        <p:nvSpPr>
          <p:cNvPr id="58" name="Text 49"/>
          <p:cNvSpPr txBox="1"/>
          <p:nvPr/>
        </p:nvSpPr>
        <p:spPr>
          <a:xfrm>
            <a:off x="8134502" y="3114446"/>
            <a:ext cx="1733702" cy="133502"/>
          </a:xfrm>
          <a:prstGeom prst="rect">
            <a:avLst/>
          </a:prstGeom>
          <a:noFill/>
          <a:ln/>
        </p:spPr>
        <p:txBody>
          <a:bodyPr wrap="none" lIns="0" tIns="0" rIns="0" bIns="0" rtlCol="0" anchor="ctr"/>
          <a:lstStyle/>
          <a:p>
            <a:pPr marL="0" indent="0" algn="l">
              <a:buNone/>
            </a:pPr>
            <a:r>
              <a:rPr lang="en-US" sz="800" b="1">
                <a:solidFill>
                  <a:srgbClr val="2A9D8F"/>
                </a:solidFill>
                <a:latin typeface="Raleway" pitchFamily="34" charset="0"/>
                <a:ea typeface="Raleway" pitchFamily="34" charset="-122"/>
                <a:cs typeface="Raleway" pitchFamily="34" charset="-120"/>
              </a:rPr>
              <a:t>12 countries</a:t>
            </a:r>
            <a:endParaRPr lang="en-US" sz="800"/>
          </a:p>
        </p:txBody>
      </p:sp>
      <p:sp>
        <p:nvSpPr>
          <p:cNvPr id="59" name="Text 50"/>
          <p:cNvSpPr txBox="1"/>
          <p:nvPr/>
        </p:nvSpPr>
        <p:spPr>
          <a:xfrm>
            <a:off x="9868205" y="3114446"/>
            <a:ext cx="1485900" cy="133502"/>
          </a:xfrm>
          <a:prstGeom prst="rect">
            <a:avLst/>
          </a:prstGeom>
          <a:noFill/>
          <a:ln/>
        </p:spPr>
        <p:txBody>
          <a:bodyPr wrap="none" lIns="0" tIns="0" rIns="0" bIns="0" rtlCol="0" anchor="ctr"/>
          <a:lstStyle/>
          <a:p>
            <a:pPr marL="0" indent="0" algn="l">
              <a:buNone/>
            </a:pPr>
            <a:r>
              <a:rPr lang="en-US" sz="800">
                <a:solidFill>
                  <a:srgbClr val="4B5563"/>
                </a:solidFill>
                <a:latin typeface="Raleway" pitchFamily="34" charset="0"/>
                <a:ea typeface="Raleway" pitchFamily="34" charset="-122"/>
                <a:cs typeface="Raleway" pitchFamily="34" charset="-120"/>
              </a:rPr>
              <a:t>Scalable governance</a:t>
            </a:r>
            <a:endParaRPr lang="en-US" sz="800"/>
          </a:p>
        </p:txBody>
      </p:sp>
      <p:sp>
        <p:nvSpPr>
          <p:cNvPr id="60" name="Text 51"/>
          <p:cNvSpPr txBox="1"/>
          <p:nvPr/>
        </p:nvSpPr>
        <p:spPr>
          <a:xfrm>
            <a:off x="6400800" y="3314700"/>
            <a:ext cx="1733702" cy="133502"/>
          </a:xfrm>
          <a:prstGeom prst="rect">
            <a:avLst/>
          </a:prstGeom>
          <a:noFill/>
          <a:ln/>
        </p:spPr>
        <p:txBody>
          <a:bodyPr wrap="none" lIns="0" tIns="0" rIns="0" bIns="0" rtlCol="0" anchor="ctr"/>
          <a:lstStyle/>
          <a:p>
            <a:pPr marL="0" indent="0" algn="l">
              <a:buNone/>
            </a:pPr>
            <a:r>
              <a:rPr lang="en-US" sz="800" b="1">
                <a:solidFill>
                  <a:srgbClr val="4B5563"/>
                </a:solidFill>
                <a:latin typeface="Raleway" pitchFamily="34" charset="0"/>
                <a:ea typeface="Raleway" pitchFamily="34" charset="-122"/>
                <a:cs typeface="Raleway" pitchFamily="34" charset="-120"/>
              </a:rPr>
              <a:t>NPS Rating</a:t>
            </a:r>
            <a:endParaRPr lang="en-US" sz="800"/>
          </a:p>
        </p:txBody>
      </p:sp>
      <p:sp>
        <p:nvSpPr>
          <p:cNvPr id="61" name="Text 52"/>
          <p:cNvSpPr txBox="1"/>
          <p:nvPr/>
        </p:nvSpPr>
        <p:spPr>
          <a:xfrm>
            <a:off x="8134502" y="3314700"/>
            <a:ext cx="1733702" cy="133502"/>
          </a:xfrm>
          <a:prstGeom prst="rect">
            <a:avLst/>
          </a:prstGeom>
          <a:noFill/>
          <a:ln/>
        </p:spPr>
        <p:txBody>
          <a:bodyPr wrap="none" lIns="0" tIns="0" rIns="0" bIns="0" rtlCol="0" anchor="ctr"/>
          <a:lstStyle/>
          <a:p>
            <a:pPr marL="0" indent="0" algn="l">
              <a:buNone/>
            </a:pPr>
            <a:r>
              <a:rPr lang="en-US" sz="800" b="1">
                <a:solidFill>
                  <a:srgbClr val="2A9D8F"/>
                </a:solidFill>
                <a:latin typeface="Raleway" pitchFamily="34" charset="0"/>
                <a:ea typeface="Raleway" pitchFamily="34" charset="-122"/>
                <a:cs typeface="Raleway" pitchFamily="34" charset="-120"/>
              </a:rPr>
              <a:t>Industry-leading</a:t>
            </a:r>
            <a:endParaRPr lang="en-US" sz="800"/>
          </a:p>
        </p:txBody>
      </p:sp>
      <p:sp>
        <p:nvSpPr>
          <p:cNvPr id="62" name="Text 53"/>
          <p:cNvSpPr txBox="1"/>
          <p:nvPr/>
        </p:nvSpPr>
        <p:spPr>
          <a:xfrm>
            <a:off x="9868205" y="3314700"/>
            <a:ext cx="1595628" cy="133502"/>
          </a:xfrm>
          <a:prstGeom prst="rect">
            <a:avLst/>
          </a:prstGeom>
          <a:noFill/>
          <a:ln/>
        </p:spPr>
        <p:txBody>
          <a:bodyPr wrap="none" lIns="0" tIns="0" rIns="0" bIns="0" rtlCol="0" anchor="ctr"/>
          <a:lstStyle/>
          <a:p>
            <a:pPr marL="0" indent="0" algn="l">
              <a:buNone/>
            </a:pPr>
            <a:r>
              <a:rPr lang="en-US" sz="800">
                <a:solidFill>
                  <a:srgbClr val="4B5563"/>
                </a:solidFill>
                <a:latin typeface="Raleway" pitchFamily="34" charset="0"/>
                <a:ea typeface="Raleway" pitchFamily="34" charset="-122"/>
                <a:cs typeface="Raleway" pitchFamily="34" charset="-120"/>
              </a:rPr>
              <a:t>Stakeholder satisfaction</a:t>
            </a:r>
            <a:endParaRPr lang="en-US" sz="800"/>
          </a:p>
        </p:txBody>
      </p:sp>
      <p:pic>
        <p:nvPicPr>
          <p:cNvPr id="63" name="Image 7" descr="gen-dedup-4370ae18ac36aa3a0f4496de6c5c7d66.png"/>
          <p:cNvPicPr>
            <a:picLocks noChangeAspect="1"/>
          </p:cNvPicPr>
          <p:nvPr/>
        </p:nvPicPr>
        <p:blipFill>
          <a:blip r:embed="rId9"/>
          <a:srcRect t="-30480" b="-30480"/>
          <a:stretch/>
        </p:blipFill>
        <p:spPr>
          <a:xfrm>
            <a:off x="761695" y="4024274"/>
            <a:ext cx="133502" cy="171907"/>
          </a:xfrm>
          <a:prstGeom prst="rect">
            <a:avLst/>
          </a:prstGeom>
        </p:spPr>
      </p:pic>
      <p:sp>
        <p:nvSpPr>
          <p:cNvPr id="64" name="Text 54"/>
          <p:cNvSpPr txBox="1"/>
          <p:nvPr/>
        </p:nvSpPr>
        <p:spPr>
          <a:xfrm>
            <a:off x="972007" y="3972154"/>
            <a:ext cx="2414930" cy="277063"/>
          </a:xfrm>
          <a:prstGeom prst="rect">
            <a:avLst/>
          </a:prstGeom>
          <a:noFill/>
          <a:ln/>
        </p:spPr>
        <p:txBody>
          <a:bodyPr wrap="none" lIns="0" tIns="0" rIns="0" bIns="0" rtlCol="0" anchor="ctr"/>
          <a:lstStyle/>
          <a:p>
            <a:pPr marL="0" indent="0" algn="l">
              <a:buNone/>
            </a:pPr>
            <a:r>
              <a:rPr lang="en-US" sz="1400" b="1">
                <a:solidFill>
                  <a:srgbClr val="1F2937"/>
                </a:solidFill>
                <a:latin typeface="Oswald" pitchFamily="34" charset="0"/>
                <a:ea typeface="Oswald" pitchFamily="34" charset="-122"/>
                <a:cs typeface="Oswald" pitchFamily="34" charset="-120"/>
              </a:rPr>
              <a:t>COMPETITIVE COMPARISON</a:t>
            </a:r>
            <a:endParaRPr lang="en-US" sz="1400"/>
          </a:p>
        </p:txBody>
      </p:sp>
      <p:pic>
        <p:nvPicPr>
          <p:cNvPr id="65" name="Image 8" descr="gen-dedup-b7bc75dca3c706f3773680681adcedb5.png"/>
          <p:cNvPicPr>
            <a:picLocks noChangeAspect="1"/>
          </p:cNvPicPr>
          <p:nvPr/>
        </p:nvPicPr>
        <p:blipFill>
          <a:blip r:embed="rId10"/>
          <a:srcRect l="-45" r="-45"/>
          <a:stretch/>
        </p:blipFill>
        <p:spPr>
          <a:xfrm>
            <a:off x="761695" y="4362602"/>
            <a:ext cx="5029200" cy="256946"/>
          </a:xfrm>
          <a:prstGeom prst="rect">
            <a:avLst/>
          </a:prstGeom>
        </p:spPr>
      </p:pic>
      <p:sp>
        <p:nvSpPr>
          <p:cNvPr id="66" name="Text 55"/>
          <p:cNvSpPr txBox="1"/>
          <p:nvPr/>
        </p:nvSpPr>
        <p:spPr>
          <a:xfrm>
            <a:off x="838505" y="4419295"/>
            <a:ext cx="1467612" cy="133502"/>
          </a:xfrm>
          <a:prstGeom prst="rect">
            <a:avLst/>
          </a:prstGeom>
          <a:noFill/>
          <a:ln/>
        </p:spPr>
        <p:txBody>
          <a:bodyPr wrap="none" lIns="0" tIns="0" rIns="0" bIns="0" rtlCol="0" anchor="ctr"/>
          <a:lstStyle/>
          <a:p>
            <a:pPr marL="0" indent="0" algn="l">
              <a:buNone/>
            </a:pPr>
            <a:r>
              <a:rPr lang="en-US" sz="900" b="1">
                <a:solidFill>
                  <a:srgbClr val="374151"/>
                </a:solidFill>
                <a:latin typeface="Roboto Condensed" pitchFamily="34" charset="0"/>
                <a:ea typeface="Roboto Condensed" pitchFamily="34" charset="-122"/>
                <a:cs typeface="Roboto Condensed" pitchFamily="34" charset="-120"/>
              </a:rPr>
              <a:t>PARAMETER</a:t>
            </a:r>
            <a:endParaRPr lang="en-US" sz="900"/>
          </a:p>
        </p:txBody>
      </p:sp>
      <p:sp>
        <p:nvSpPr>
          <p:cNvPr id="67" name="Text 56"/>
          <p:cNvSpPr txBox="1"/>
          <p:nvPr/>
        </p:nvSpPr>
        <p:spPr>
          <a:xfrm>
            <a:off x="2301545" y="4419295"/>
            <a:ext cx="1714500" cy="133502"/>
          </a:xfrm>
          <a:prstGeom prst="rect">
            <a:avLst/>
          </a:prstGeom>
          <a:noFill/>
          <a:ln/>
        </p:spPr>
        <p:txBody>
          <a:bodyPr wrap="none" lIns="0" tIns="0" rIns="0" bIns="0" rtlCol="0" anchor="ctr"/>
          <a:lstStyle/>
          <a:p>
            <a:pPr marL="0" indent="0" algn="l">
              <a:buNone/>
            </a:pPr>
            <a:r>
              <a:rPr lang="en-US" sz="900" b="1">
                <a:solidFill>
                  <a:srgbClr val="374151"/>
                </a:solidFill>
                <a:latin typeface="Roboto Condensed" pitchFamily="34" charset="0"/>
                <a:ea typeface="Roboto Condensed" pitchFamily="34" charset="-122"/>
                <a:cs typeface="Roboto Condensed" pitchFamily="34" charset="-120"/>
              </a:rPr>
              <a:t>TRADITIONAL STAFFING</a:t>
            </a:r>
            <a:endParaRPr lang="en-US" sz="900"/>
          </a:p>
        </p:txBody>
      </p:sp>
      <p:sp>
        <p:nvSpPr>
          <p:cNvPr id="68" name="Text 57"/>
          <p:cNvSpPr txBox="1"/>
          <p:nvPr/>
        </p:nvSpPr>
        <p:spPr>
          <a:xfrm>
            <a:off x="4007815" y="4419295"/>
            <a:ext cx="1714500" cy="133502"/>
          </a:xfrm>
          <a:prstGeom prst="rect">
            <a:avLst/>
          </a:prstGeom>
          <a:noFill/>
          <a:ln/>
        </p:spPr>
        <p:txBody>
          <a:bodyPr wrap="none" lIns="0" tIns="0" rIns="0" bIns="0" rtlCol="0" anchor="ctr"/>
          <a:lstStyle/>
          <a:p>
            <a:pPr marL="0" indent="0" algn="l">
              <a:buNone/>
            </a:pPr>
            <a:r>
              <a:rPr lang="en-US" sz="900" b="1">
                <a:solidFill>
                  <a:srgbClr val="2A9D8F"/>
                </a:solidFill>
                <a:latin typeface="Roboto Condensed" pitchFamily="34" charset="0"/>
                <a:ea typeface="Roboto Condensed" pitchFamily="34" charset="-122"/>
                <a:cs typeface="Roboto Condensed" pitchFamily="34" charset="-120"/>
              </a:rPr>
              <a:t>J2W BOT MODEL</a:t>
            </a:r>
            <a:endParaRPr lang="en-US" sz="900"/>
          </a:p>
        </p:txBody>
      </p:sp>
      <p:sp>
        <p:nvSpPr>
          <p:cNvPr id="69" name="Shape 58"/>
          <p:cNvSpPr/>
          <p:nvPr/>
        </p:nvSpPr>
        <p:spPr>
          <a:xfrm>
            <a:off x="761695" y="4848149"/>
            <a:ext cx="5029200" cy="9144"/>
          </a:xfrm>
          <a:prstGeom prst="rect">
            <a:avLst/>
          </a:prstGeom>
          <a:solidFill>
            <a:srgbClr val="F3F4F6"/>
          </a:solidFill>
          <a:ln w="12700">
            <a:solidFill>
              <a:srgbClr val="F3F4F6">
                <a:alpha val="0"/>
              </a:srgbClr>
            </a:solidFill>
            <a:prstDash val="solid"/>
          </a:ln>
        </p:spPr>
        <p:txBody>
          <a:bodyPr/>
          <a:lstStyle/>
          <a:p>
            <a:endParaRPr lang="en-US"/>
          </a:p>
        </p:txBody>
      </p:sp>
      <p:sp>
        <p:nvSpPr>
          <p:cNvPr id="70" name="Text 59"/>
          <p:cNvSpPr txBox="1"/>
          <p:nvPr/>
        </p:nvSpPr>
        <p:spPr>
          <a:xfrm>
            <a:off x="838505" y="4667098"/>
            <a:ext cx="1467612" cy="133502"/>
          </a:xfrm>
          <a:prstGeom prst="rect">
            <a:avLst/>
          </a:prstGeom>
          <a:noFill/>
          <a:ln/>
        </p:spPr>
        <p:txBody>
          <a:bodyPr wrap="none" lIns="0" tIns="0" rIns="0" bIns="0" rtlCol="0" anchor="ctr"/>
          <a:lstStyle/>
          <a:p>
            <a:pPr marL="0" indent="0" algn="l">
              <a:buNone/>
            </a:pPr>
            <a:r>
              <a:rPr lang="en-US" sz="800" b="1">
                <a:solidFill>
                  <a:srgbClr val="4B5563"/>
                </a:solidFill>
                <a:latin typeface="Raleway" pitchFamily="34" charset="0"/>
                <a:ea typeface="Raleway" pitchFamily="34" charset="-122"/>
                <a:cs typeface="Raleway" pitchFamily="34" charset="-120"/>
              </a:rPr>
              <a:t>Ownership</a:t>
            </a:r>
            <a:endParaRPr lang="en-US" sz="800"/>
          </a:p>
        </p:txBody>
      </p:sp>
      <p:sp>
        <p:nvSpPr>
          <p:cNvPr id="71" name="Text 60"/>
          <p:cNvSpPr txBox="1"/>
          <p:nvPr/>
        </p:nvSpPr>
        <p:spPr>
          <a:xfrm>
            <a:off x="2301545" y="4667098"/>
            <a:ext cx="1714500" cy="133502"/>
          </a:xfrm>
          <a:prstGeom prst="rect">
            <a:avLst/>
          </a:prstGeom>
          <a:noFill/>
          <a:ln/>
        </p:spPr>
        <p:txBody>
          <a:bodyPr wrap="none" lIns="0" tIns="0" rIns="0" bIns="0" rtlCol="0" anchor="ctr"/>
          <a:lstStyle/>
          <a:p>
            <a:pPr marL="0" indent="0" algn="l">
              <a:buNone/>
            </a:pPr>
            <a:r>
              <a:rPr lang="en-US" sz="800">
                <a:solidFill>
                  <a:srgbClr val="6B7280"/>
                </a:solidFill>
                <a:latin typeface="Raleway" pitchFamily="34" charset="0"/>
                <a:ea typeface="Raleway" pitchFamily="34" charset="-122"/>
                <a:cs typeface="Raleway" pitchFamily="34" charset="-120"/>
              </a:rPr>
              <a:t>Resource supply</a:t>
            </a:r>
            <a:endParaRPr lang="en-US" sz="800"/>
          </a:p>
        </p:txBody>
      </p:sp>
      <p:sp>
        <p:nvSpPr>
          <p:cNvPr id="72" name="Text 61"/>
          <p:cNvSpPr txBox="1"/>
          <p:nvPr/>
        </p:nvSpPr>
        <p:spPr>
          <a:xfrm>
            <a:off x="4007815" y="4667098"/>
            <a:ext cx="1788566" cy="133502"/>
          </a:xfrm>
          <a:prstGeom prst="rect">
            <a:avLst/>
          </a:prstGeom>
          <a:noFill/>
          <a:ln/>
        </p:spPr>
        <p:txBody>
          <a:bodyPr wrap="none" lIns="0" tIns="0" rIns="0" bIns="0" rtlCol="0" anchor="ctr"/>
          <a:lstStyle/>
          <a:p>
            <a:pPr marL="0" indent="0" algn="l">
              <a:buNone/>
            </a:pPr>
            <a:r>
              <a:rPr lang="en-US" sz="800" b="1">
                <a:solidFill>
                  <a:srgbClr val="0F766E"/>
                </a:solidFill>
                <a:latin typeface="Raleway" pitchFamily="34" charset="0"/>
                <a:ea typeface="Raleway" pitchFamily="34" charset="-122"/>
                <a:cs typeface="Raleway" pitchFamily="34" charset="-120"/>
              </a:rPr>
              <a:t>Outcome-driven partnership</a:t>
            </a:r>
            <a:endParaRPr lang="en-US" sz="800"/>
          </a:p>
        </p:txBody>
      </p:sp>
      <p:sp>
        <p:nvSpPr>
          <p:cNvPr id="73" name="Shape 62"/>
          <p:cNvSpPr/>
          <p:nvPr/>
        </p:nvSpPr>
        <p:spPr>
          <a:xfrm>
            <a:off x="761695" y="5086807"/>
            <a:ext cx="5029200" cy="9144"/>
          </a:xfrm>
          <a:prstGeom prst="rect">
            <a:avLst/>
          </a:prstGeom>
          <a:solidFill>
            <a:srgbClr val="F3F4F6"/>
          </a:solidFill>
          <a:ln w="12700">
            <a:solidFill>
              <a:srgbClr val="F3F4F6">
                <a:alpha val="0"/>
              </a:srgbClr>
            </a:solidFill>
            <a:prstDash val="solid"/>
          </a:ln>
        </p:spPr>
        <p:txBody>
          <a:bodyPr/>
          <a:lstStyle/>
          <a:p>
            <a:endParaRPr lang="en-US"/>
          </a:p>
        </p:txBody>
      </p:sp>
      <p:sp>
        <p:nvSpPr>
          <p:cNvPr id="74" name="Text 63"/>
          <p:cNvSpPr txBox="1"/>
          <p:nvPr/>
        </p:nvSpPr>
        <p:spPr>
          <a:xfrm>
            <a:off x="838505" y="4905756"/>
            <a:ext cx="1467612" cy="133502"/>
          </a:xfrm>
          <a:prstGeom prst="rect">
            <a:avLst/>
          </a:prstGeom>
          <a:noFill/>
          <a:ln/>
        </p:spPr>
        <p:txBody>
          <a:bodyPr wrap="none" lIns="0" tIns="0" rIns="0" bIns="0" rtlCol="0" anchor="ctr"/>
          <a:lstStyle/>
          <a:p>
            <a:pPr marL="0" indent="0" algn="l">
              <a:buNone/>
            </a:pPr>
            <a:r>
              <a:rPr lang="en-US" sz="800" b="1">
                <a:solidFill>
                  <a:srgbClr val="4B5563"/>
                </a:solidFill>
                <a:latin typeface="Raleway" pitchFamily="34" charset="0"/>
                <a:ea typeface="Raleway" pitchFamily="34" charset="-122"/>
                <a:cs typeface="Raleway" pitchFamily="34" charset="-120"/>
              </a:rPr>
              <a:t>Risk</a:t>
            </a:r>
            <a:endParaRPr lang="en-US" sz="800"/>
          </a:p>
        </p:txBody>
      </p:sp>
      <p:sp>
        <p:nvSpPr>
          <p:cNvPr id="75" name="Text 64"/>
          <p:cNvSpPr txBox="1"/>
          <p:nvPr/>
        </p:nvSpPr>
        <p:spPr>
          <a:xfrm>
            <a:off x="2301545" y="4905756"/>
            <a:ext cx="1714500" cy="133502"/>
          </a:xfrm>
          <a:prstGeom prst="rect">
            <a:avLst/>
          </a:prstGeom>
          <a:noFill/>
          <a:ln/>
        </p:spPr>
        <p:txBody>
          <a:bodyPr wrap="none" lIns="0" tIns="0" rIns="0" bIns="0" rtlCol="0" anchor="ctr"/>
          <a:lstStyle/>
          <a:p>
            <a:pPr marL="0" indent="0" algn="l">
              <a:buNone/>
            </a:pPr>
            <a:r>
              <a:rPr lang="en-US" sz="800">
                <a:solidFill>
                  <a:srgbClr val="6B7280"/>
                </a:solidFill>
                <a:latin typeface="Raleway" pitchFamily="34" charset="0"/>
                <a:ea typeface="Raleway" pitchFamily="34" charset="-122"/>
                <a:cs typeface="Raleway" pitchFamily="34" charset="-120"/>
              </a:rPr>
              <a:t>Client-owned</a:t>
            </a:r>
            <a:endParaRPr lang="en-US" sz="800"/>
          </a:p>
        </p:txBody>
      </p:sp>
      <p:sp>
        <p:nvSpPr>
          <p:cNvPr id="76" name="Text 65"/>
          <p:cNvSpPr txBox="1"/>
          <p:nvPr/>
        </p:nvSpPr>
        <p:spPr>
          <a:xfrm>
            <a:off x="4007815" y="4905756"/>
            <a:ext cx="1714500" cy="133502"/>
          </a:xfrm>
          <a:prstGeom prst="rect">
            <a:avLst/>
          </a:prstGeom>
          <a:noFill/>
          <a:ln/>
        </p:spPr>
        <p:txBody>
          <a:bodyPr wrap="none" lIns="0" tIns="0" rIns="0" bIns="0" rtlCol="0" anchor="ctr"/>
          <a:lstStyle/>
          <a:p>
            <a:pPr marL="0" indent="0" algn="l">
              <a:buNone/>
            </a:pPr>
            <a:r>
              <a:rPr lang="en-US" sz="800" b="1">
                <a:solidFill>
                  <a:srgbClr val="0F766E"/>
                </a:solidFill>
                <a:latin typeface="Raleway" pitchFamily="34" charset="0"/>
                <a:ea typeface="Raleway" pitchFamily="34" charset="-122"/>
                <a:cs typeface="Raleway" pitchFamily="34" charset="-120"/>
              </a:rPr>
              <a:t>J2W-absorbed</a:t>
            </a:r>
            <a:endParaRPr lang="en-US" sz="800"/>
          </a:p>
        </p:txBody>
      </p:sp>
      <p:sp>
        <p:nvSpPr>
          <p:cNvPr id="77" name="Shape 66"/>
          <p:cNvSpPr/>
          <p:nvPr/>
        </p:nvSpPr>
        <p:spPr>
          <a:xfrm>
            <a:off x="761695" y="5324551"/>
            <a:ext cx="5029200" cy="9144"/>
          </a:xfrm>
          <a:prstGeom prst="rect">
            <a:avLst/>
          </a:prstGeom>
          <a:solidFill>
            <a:srgbClr val="F3F4F6"/>
          </a:solidFill>
          <a:ln w="12700">
            <a:solidFill>
              <a:srgbClr val="F3F4F6">
                <a:alpha val="0"/>
              </a:srgbClr>
            </a:solidFill>
            <a:prstDash val="solid"/>
          </a:ln>
        </p:spPr>
        <p:txBody>
          <a:bodyPr/>
          <a:lstStyle/>
          <a:p>
            <a:endParaRPr lang="en-US"/>
          </a:p>
        </p:txBody>
      </p:sp>
      <p:sp>
        <p:nvSpPr>
          <p:cNvPr id="78" name="Text 67"/>
          <p:cNvSpPr txBox="1"/>
          <p:nvPr/>
        </p:nvSpPr>
        <p:spPr>
          <a:xfrm>
            <a:off x="838505" y="5143500"/>
            <a:ext cx="1467612" cy="133502"/>
          </a:xfrm>
          <a:prstGeom prst="rect">
            <a:avLst/>
          </a:prstGeom>
          <a:noFill/>
          <a:ln/>
        </p:spPr>
        <p:txBody>
          <a:bodyPr wrap="none" lIns="0" tIns="0" rIns="0" bIns="0" rtlCol="0" anchor="ctr"/>
          <a:lstStyle/>
          <a:p>
            <a:pPr marL="0" indent="0" algn="l">
              <a:buNone/>
            </a:pPr>
            <a:r>
              <a:rPr lang="en-US" sz="800" b="1">
                <a:solidFill>
                  <a:srgbClr val="4B5563"/>
                </a:solidFill>
                <a:latin typeface="Raleway" pitchFamily="34" charset="0"/>
                <a:ea typeface="Raleway" pitchFamily="34" charset="-122"/>
                <a:cs typeface="Raleway" pitchFamily="34" charset="-120"/>
              </a:rPr>
              <a:t>Technology</a:t>
            </a:r>
            <a:endParaRPr lang="en-US" sz="800"/>
          </a:p>
        </p:txBody>
      </p:sp>
      <p:sp>
        <p:nvSpPr>
          <p:cNvPr id="79" name="Text 68"/>
          <p:cNvSpPr txBox="1"/>
          <p:nvPr/>
        </p:nvSpPr>
        <p:spPr>
          <a:xfrm>
            <a:off x="2301545" y="5143500"/>
            <a:ext cx="1714500" cy="133502"/>
          </a:xfrm>
          <a:prstGeom prst="rect">
            <a:avLst/>
          </a:prstGeom>
          <a:noFill/>
          <a:ln/>
        </p:spPr>
        <p:txBody>
          <a:bodyPr wrap="none" lIns="0" tIns="0" rIns="0" bIns="0" rtlCol="0" anchor="ctr"/>
          <a:lstStyle/>
          <a:p>
            <a:pPr marL="0" indent="0" algn="l">
              <a:buNone/>
            </a:pPr>
            <a:r>
              <a:rPr lang="en-US" sz="800">
                <a:solidFill>
                  <a:srgbClr val="6B7280"/>
                </a:solidFill>
                <a:latin typeface="Raleway" pitchFamily="34" charset="0"/>
                <a:ea typeface="Raleway" pitchFamily="34" charset="-122"/>
                <a:cs typeface="Raleway" pitchFamily="34" charset="-120"/>
              </a:rPr>
              <a:t>Absent</a:t>
            </a:r>
            <a:endParaRPr lang="en-US" sz="800"/>
          </a:p>
        </p:txBody>
      </p:sp>
      <p:sp>
        <p:nvSpPr>
          <p:cNvPr id="80" name="Text 69"/>
          <p:cNvSpPr txBox="1"/>
          <p:nvPr/>
        </p:nvSpPr>
        <p:spPr>
          <a:xfrm>
            <a:off x="4007815" y="5143500"/>
            <a:ext cx="1714500" cy="133502"/>
          </a:xfrm>
          <a:prstGeom prst="rect">
            <a:avLst/>
          </a:prstGeom>
          <a:noFill/>
          <a:ln/>
        </p:spPr>
        <p:txBody>
          <a:bodyPr wrap="none" lIns="0" tIns="0" rIns="0" bIns="0" rtlCol="0" anchor="ctr"/>
          <a:lstStyle/>
          <a:p>
            <a:pPr marL="0" indent="0" algn="l">
              <a:buNone/>
            </a:pPr>
            <a:r>
              <a:rPr lang="en-US" sz="800" b="1">
                <a:solidFill>
                  <a:srgbClr val="0F766E"/>
                </a:solidFill>
                <a:latin typeface="Raleway" pitchFamily="34" charset="0"/>
                <a:ea typeface="Raleway" pitchFamily="34" charset="-122"/>
                <a:cs typeface="Raleway" pitchFamily="34" charset="-120"/>
              </a:rPr>
              <a:t>AI-integrated</a:t>
            </a:r>
            <a:endParaRPr lang="en-US" sz="800"/>
          </a:p>
        </p:txBody>
      </p:sp>
      <p:sp>
        <p:nvSpPr>
          <p:cNvPr id="81" name="Shape 70"/>
          <p:cNvSpPr/>
          <p:nvPr/>
        </p:nvSpPr>
        <p:spPr>
          <a:xfrm>
            <a:off x="761695" y="5562295"/>
            <a:ext cx="5029200" cy="9144"/>
          </a:xfrm>
          <a:prstGeom prst="rect">
            <a:avLst/>
          </a:prstGeom>
          <a:solidFill>
            <a:srgbClr val="F3F4F6"/>
          </a:solidFill>
          <a:ln w="12700">
            <a:solidFill>
              <a:srgbClr val="F3F4F6">
                <a:alpha val="0"/>
              </a:srgbClr>
            </a:solidFill>
            <a:prstDash val="solid"/>
          </a:ln>
        </p:spPr>
        <p:txBody>
          <a:bodyPr/>
          <a:lstStyle/>
          <a:p>
            <a:endParaRPr lang="en-US"/>
          </a:p>
        </p:txBody>
      </p:sp>
      <p:sp>
        <p:nvSpPr>
          <p:cNvPr id="82" name="Text 71"/>
          <p:cNvSpPr txBox="1"/>
          <p:nvPr/>
        </p:nvSpPr>
        <p:spPr>
          <a:xfrm>
            <a:off x="838505" y="5381244"/>
            <a:ext cx="1467612" cy="133502"/>
          </a:xfrm>
          <a:prstGeom prst="rect">
            <a:avLst/>
          </a:prstGeom>
          <a:noFill/>
          <a:ln/>
        </p:spPr>
        <p:txBody>
          <a:bodyPr wrap="none" lIns="0" tIns="0" rIns="0" bIns="0" rtlCol="0" anchor="ctr"/>
          <a:lstStyle/>
          <a:p>
            <a:pPr marL="0" indent="0" algn="l">
              <a:buNone/>
            </a:pPr>
            <a:r>
              <a:rPr lang="en-US" sz="800" b="1">
                <a:solidFill>
                  <a:srgbClr val="4B5563"/>
                </a:solidFill>
                <a:latin typeface="Raleway" pitchFamily="34" charset="0"/>
                <a:ea typeface="Raleway" pitchFamily="34" charset="-122"/>
                <a:cs typeface="Raleway" pitchFamily="34" charset="-120"/>
              </a:rPr>
              <a:t>Accountability</a:t>
            </a:r>
            <a:endParaRPr lang="en-US" sz="800"/>
          </a:p>
        </p:txBody>
      </p:sp>
      <p:sp>
        <p:nvSpPr>
          <p:cNvPr id="83" name="Text 72"/>
          <p:cNvSpPr txBox="1"/>
          <p:nvPr/>
        </p:nvSpPr>
        <p:spPr>
          <a:xfrm>
            <a:off x="2301545" y="5381244"/>
            <a:ext cx="1714500" cy="133502"/>
          </a:xfrm>
          <a:prstGeom prst="rect">
            <a:avLst/>
          </a:prstGeom>
          <a:noFill/>
          <a:ln/>
        </p:spPr>
        <p:txBody>
          <a:bodyPr wrap="none" lIns="0" tIns="0" rIns="0" bIns="0" rtlCol="0" anchor="ctr"/>
          <a:lstStyle/>
          <a:p>
            <a:pPr marL="0" indent="0" algn="l">
              <a:buNone/>
            </a:pPr>
            <a:r>
              <a:rPr lang="en-US" sz="800">
                <a:solidFill>
                  <a:srgbClr val="6B7280"/>
                </a:solidFill>
                <a:latin typeface="Raleway" pitchFamily="34" charset="0"/>
                <a:ea typeface="Raleway" pitchFamily="34" charset="-122"/>
                <a:cs typeface="Raleway" pitchFamily="34" charset="-120"/>
              </a:rPr>
              <a:t>Limited</a:t>
            </a:r>
            <a:endParaRPr lang="en-US" sz="800"/>
          </a:p>
        </p:txBody>
      </p:sp>
      <p:sp>
        <p:nvSpPr>
          <p:cNvPr id="84" name="Text 73"/>
          <p:cNvSpPr txBox="1"/>
          <p:nvPr/>
        </p:nvSpPr>
        <p:spPr>
          <a:xfrm>
            <a:off x="4007815" y="5381244"/>
            <a:ext cx="1714500" cy="133502"/>
          </a:xfrm>
          <a:prstGeom prst="rect">
            <a:avLst/>
          </a:prstGeom>
          <a:noFill/>
          <a:ln/>
        </p:spPr>
        <p:txBody>
          <a:bodyPr wrap="none" lIns="0" tIns="0" rIns="0" bIns="0" rtlCol="0" anchor="ctr"/>
          <a:lstStyle/>
          <a:p>
            <a:pPr marL="0" indent="0" algn="l">
              <a:buNone/>
            </a:pPr>
            <a:r>
              <a:rPr lang="en-US" sz="800" b="1">
                <a:solidFill>
                  <a:srgbClr val="0F766E"/>
                </a:solidFill>
                <a:latin typeface="Raleway" pitchFamily="34" charset="0"/>
                <a:ea typeface="Raleway" pitchFamily="34" charset="-122"/>
                <a:cs typeface="Raleway" pitchFamily="34" charset="-120"/>
              </a:rPr>
              <a:t>SLA-backed</a:t>
            </a:r>
            <a:endParaRPr lang="en-US" sz="800"/>
          </a:p>
        </p:txBody>
      </p:sp>
      <p:sp>
        <p:nvSpPr>
          <p:cNvPr id="85" name="Shape 74"/>
          <p:cNvSpPr/>
          <p:nvPr/>
        </p:nvSpPr>
        <p:spPr>
          <a:xfrm>
            <a:off x="761695" y="5800954"/>
            <a:ext cx="5029200" cy="9144"/>
          </a:xfrm>
          <a:prstGeom prst="rect">
            <a:avLst/>
          </a:prstGeom>
          <a:solidFill>
            <a:srgbClr val="F3F4F6"/>
          </a:solidFill>
          <a:ln w="12700">
            <a:solidFill>
              <a:srgbClr val="F3F4F6">
                <a:alpha val="0"/>
              </a:srgbClr>
            </a:solidFill>
            <a:prstDash val="solid"/>
          </a:ln>
        </p:spPr>
        <p:txBody>
          <a:bodyPr/>
          <a:lstStyle/>
          <a:p>
            <a:endParaRPr lang="en-US"/>
          </a:p>
        </p:txBody>
      </p:sp>
      <p:sp>
        <p:nvSpPr>
          <p:cNvPr id="86" name="Text 75"/>
          <p:cNvSpPr txBox="1"/>
          <p:nvPr/>
        </p:nvSpPr>
        <p:spPr>
          <a:xfrm>
            <a:off x="838505" y="5619902"/>
            <a:ext cx="1467612" cy="133502"/>
          </a:xfrm>
          <a:prstGeom prst="rect">
            <a:avLst/>
          </a:prstGeom>
          <a:noFill/>
          <a:ln/>
        </p:spPr>
        <p:txBody>
          <a:bodyPr wrap="none" lIns="0" tIns="0" rIns="0" bIns="0" rtlCol="0" anchor="ctr"/>
          <a:lstStyle/>
          <a:p>
            <a:pPr marL="0" indent="0" algn="l">
              <a:buNone/>
            </a:pPr>
            <a:r>
              <a:rPr lang="en-US" sz="800" b="1">
                <a:solidFill>
                  <a:srgbClr val="4B5563"/>
                </a:solidFill>
                <a:latin typeface="Raleway" pitchFamily="34" charset="0"/>
                <a:ea typeface="Raleway" pitchFamily="34" charset="-122"/>
                <a:cs typeface="Raleway" pitchFamily="34" charset="-120"/>
              </a:rPr>
              <a:t>Scalability</a:t>
            </a:r>
            <a:endParaRPr lang="en-US" sz="800"/>
          </a:p>
        </p:txBody>
      </p:sp>
      <p:sp>
        <p:nvSpPr>
          <p:cNvPr id="87" name="Text 76"/>
          <p:cNvSpPr txBox="1"/>
          <p:nvPr/>
        </p:nvSpPr>
        <p:spPr>
          <a:xfrm>
            <a:off x="2301545" y="5619902"/>
            <a:ext cx="1714500" cy="133502"/>
          </a:xfrm>
          <a:prstGeom prst="rect">
            <a:avLst/>
          </a:prstGeom>
          <a:noFill/>
          <a:ln/>
        </p:spPr>
        <p:txBody>
          <a:bodyPr wrap="none" lIns="0" tIns="0" rIns="0" bIns="0" rtlCol="0" anchor="ctr"/>
          <a:lstStyle/>
          <a:p>
            <a:pPr marL="0" indent="0" algn="l">
              <a:buNone/>
            </a:pPr>
            <a:r>
              <a:rPr lang="en-US" sz="800">
                <a:solidFill>
                  <a:srgbClr val="6B7280"/>
                </a:solidFill>
                <a:latin typeface="Raleway" pitchFamily="34" charset="0"/>
                <a:ea typeface="Raleway" pitchFamily="34" charset="-122"/>
                <a:cs typeface="Raleway" pitchFamily="34" charset="-120"/>
              </a:rPr>
              <a:t>Ad-hoc</a:t>
            </a:r>
            <a:endParaRPr lang="en-US" sz="800"/>
          </a:p>
        </p:txBody>
      </p:sp>
      <p:sp>
        <p:nvSpPr>
          <p:cNvPr id="88" name="Text 77"/>
          <p:cNvSpPr txBox="1"/>
          <p:nvPr/>
        </p:nvSpPr>
        <p:spPr>
          <a:xfrm>
            <a:off x="4007815" y="5619902"/>
            <a:ext cx="1714500" cy="133502"/>
          </a:xfrm>
          <a:prstGeom prst="rect">
            <a:avLst/>
          </a:prstGeom>
          <a:noFill/>
          <a:ln/>
        </p:spPr>
        <p:txBody>
          <a:bodyPr wrap="none" lIns="0" tIns="0" rIns="0" bIns="0" rtlCol="0" anchor="ctr"/>
          <a:lstStyle/>
          <a:p>
            <a:pPr marL="0" indent="0" algn="l">
              <a:buNone/>
            </a:pPr>
            <a:r>
              <a:rPr lang="en-US" sz="800" b="1">
                <a:solidFill>
                  <a:srgbClr val="0F766E"/>
                </a:solidFill>
                <a:latin typeface="Raleway" pitchFamily="34" charset="0"/>
                <a:ea typeface="Raleway" pitchFamily="34" charset="-122"/>
                <a:cs typeface="Raleway" pitchFamily="34" charset="-120"/>
              </a:rPr>
              <a:t>Built-in</a:t>
            </a:r>
            <a:endParaRPr lang="en-US" sz="800"/>
          </a:p>
        </p:txBody>
      </p:sp>
      <p:sp>
        <p:nvSpPr>
          <p:cNvPr id="89" name="Text 78"/>
          <p:cNvSpPr txBox="1"/>
          <p:nvPr/>
        </p:nvSpPr>
        <p:spPr>
          <a:xfrm>
            <a:off x="838505" y="5857646"/>
            <a:ext cx="1467612" cy="133502"/>
          </a:xfrm>
          <a:prstGeom prst="rect">
            <a:avLst/>
          </a:prstGeom>
          <a:noFill/>
          <a:ln/>
        </p:spPr>
        <p:txBody>
          <a:bodyPr wrap="none" lIns="0" tIns="0" rIns="0" bIns="0" rtlCol="0" anchor="ctr"/>
          <a:lstStyle/>
          <a:p>
            <a:pPr marL="0" indent="0" algn="l">
              <a:buNone/>
            </a:pPr>
            <a:r>
              <a:rPr lang="en-US" sz="800" b="1">
                <a:solidFill>
                  <a:srgbClr val="4B5563"/>
                </a:solidFill>
                <a:latin typeface="Raleway" pitchFamily="34" charset="0"/>
                <a:ea typeface="Raleway" pitchFamily="34" charset="-122"/>
                <a:cs typeface="Raleway" pitchFamily="34" charset="-120"/>
              </a:rPr>
              <a:t>Cost Flexibility</a:t>
            </a:r>
            <a:endParaRPr lang="en-US" sz="800"/>
          </a:p>
        </p:txBody>
      </p:sp>
      <p:sp>
        <p:nvSpPr>
          <p:cNvPr id="90" name="Text 79"/>
          <p:cNvSpPr txBox="1"/>
          <p:nvPr/>
        </p:nvSpPr>
        <p:spPr>
          <a:xfrm>
            <a:off x="2301545" y="5857646"/>
            <a:ext cx="1714500" cy="133502"/>
          </a:xfrm>
          <a:prstGeom prst="rect">
            <a:avLst/>
          </a:prstGeom>
          <a:noFill/>
          <a:ln/>
        </p:spPr>
        <p:txBody>
          <a:bodyPr wrap="none" lIns="0" tIns="0" rIns="0" bIns="0" rtlCol="0" anchor="ctr"/>
          <a:lstStyle/>
          <a:p>
            <a:pPr marL="0" indent="0" algn="l">
              <a:buNone/>
            </a:pPr>
            <a:r>
              <a:rPr lang="en-US" sz="800">
                <a:solidFill>
                  <a:srgbClr val="6B7280"/>
                </a:solidFill>
                <a:latin typeface="Raleway" pitchFamily="34" charset="0"/>
                <a:ea typeface="Raleway" pitchFamily="34" charset="-122"/>
                <a:cs typeface="Raleway" pitchFamily="34" charset="-120"/>
              </a:rPr>
              <a:t>Fixed</a:t>
            </a:r>
            <a:endParaRPr lang="en-US" sz="800"/>
          </a:p>
        </p:txBody>
      </p:sp>
      <p:sp>
        <p:nvSpPr>
          <p:cNvPr id="91" name="Text 80"/>
          <p:cNvSpPr txBox="1"/>
          <p:nvPr/>
        </p:nvSpPr>
        <p:spPr>
          <a:xfrm>
            <a:off x="4007815" y="5857646"/>
            <a:ext cx="1921154" cy="133502"/>
          </a:xfrm>
          <a:prstGeom prst="rect">
            <a:avLst/>
          </a:prstGeom>
          <a:noFill/>
          <a:ln/>
        </p:spPr>
        <p:txBody>
          <a:bodyPr wrap="none" lIns="0" tIns="0" rIns="0" bIns="0" rtlCol="0" anchor="ctr"/>
          <a:lstStyle/>
          <a:p>
            <a:pPr marL="0" indent="0" algn="l">
              <a:buNone/>
            </a:pPr>
            <a:r>
              <a:rPr lang="en-US" sz="800" b="1">
                <a:solidFill>
                  <a:srgbClr val="0F766E"/>
                </a:solidFill>
                <a:latin typeface="Raleway" pitchFamily="34" charset="0"/>
                <a:ea typeface="Raleway" pitchFamily="34" charset="-122"/>
                <a:cs typeface="Raleway" pitchFamily="34" charset="-120"/>
              </a:rPr>
              <a:t>Variable &amp; performance-based</a:t>
            </a:r>
            <a:endParaRPr lang="en-US" sz="800"/>
          </a:p>
        </p:txBody>
      </p:sp>
      <p:pic>
        <p:nvPicPr>
          <p:cNvPr id="92" name="Image 9" descr="gen-dedup-9ab84477f1b24298cf62c9612563352f.png"/>
          <p:cNvPicPr>
            <a:picLocks noChangeAspect="1"/>
          </p:cNvPicPr>
          <p:nvPr/>
        </p:nvPicPr>
        <p:blipFill>
          <a:blip r:embed="rId11"/>
          <a:srcRect t="-30480" b="-30480"/>
          <a:stretch/>
        </p:blipFill>
        <p:spPr>
          <a:xfrm>
            <a:off x="6324905" y="4024274"/>
            <a:ext cx="133502" cy="171907"/>
          </a:xfrm>
          <a:prstGeom prst="rect">
            <a:avLst/>
          </a:prstGeom>
        </p:spPr>
      </p:pic>
      <p:sp>
        <p:nvSpPr>
          <p:cNvPr id="93" name="Text 81"/>
          <p:cNvSpPr txBox="1"/>
          <p:nvPr/>
        </p:nvSpPr>
        <p:spPr>
          <a:xfrm>
            <a:off x="6534302" y="3972154"/>
            <a:ext cx="1825142" cy="277063"/>
          </a:xfrm>
          <a:prstGeom prst="rect">
            <a:avLst/>
          </a:prstGeom>
          <a:noFill/>
          <a:ln/>
        </p:spPr>
        <p:txBody>
          <a:bodyPr wrap="none" lIns="0" tIns="0" rIns="0" bIns="0" rtlCol="0" anchor="ctr"/>
          <a:lstStyle/>
          <a:p>
            <a:pPr marL="0" indent="0" algn="l">
              <a:buNone/>
            </a:pPr>
            <a:r>
              <a:rPr lang="en-US" sz="1400" b="1">
                <a:solidFill>
                  <a:srgbClr val="1F2937"/>
                </a:solidFill>
                <a:latin typeface="Oswald" pitchFamily="34" charset="0"/>
                <a:ea typeface="Oswald" pitchFamily="34" charset="-122"/>
                <a:cs typeface="Oswald" pitchFamily="34" charset="-120"/>
              </a:rPr>
              <a:t>RELEVANCE TO CLIENT</a:t>
            </a:r>
            <a:endParaRPr lang="en-US" sz="1400"/>
          </a:p>
        </p:txBody>
      </p:sp>
      <p:sp>
        <p:nvSpPr>
          <p:cNvPr id="94" name="Shape 82"/>
          <p:cNvSpPr/>
          <p:nvPr/>
        </p:nvSpPr>
        <p:spPr>
          <a:xfrm>
            <a:off x="6324905" y="4362602"/>
            <a:ext cx="5105095" cy="1200607"/>
          </a:xfrm>
          <a:prstGeom prst="roundRect">
            <a:avLst>
              <a:gd name="adj" fmla="val 7253"/>
            </a:avLst>
          </a:prstGeom>
          <a:solidFill>
            <a:srgbClr val="FEF2F2"/>
          </a:solidFill>
          <a:ln w="12700">
            <a:solidFill>
              <a:srgbClr val="FCA5A5"/>
            </a:solidFill>
            <a:prstDash val="solid"/>
          </a:ln>
        </p:spPr>
        <p:txBody>
          <a:bodyPr/>
          <a:lstStyle/>
          <a:p>
            <a:endParaRPr lang="en-US"/>
          </a:p>
        </p:txBody>
      </p:sp>
      <p:sp>
        <p:nvSpPr>
          <p:cNvPr id="95" name="Text 83"/>
          <p:cNvSpPr txBox="1"/>
          <p:nvPr/>
        </p:nvSpPr>
        <p:spPr>
          <a:xfrm>
            <a:off x="7018020" y="4562856"/>
            <a:ext cx="1134770" cy="428854"/>
          </a:xfrm>
          <a:prstGeom prst="rect">
            <a:avLst/>
          </a:prstGeom>
          <a:noFill/>
          <a:ln/>
        </p:spPr>
        <p:txBody>
          <a:bodyPr wrap="none" lIns="0" tIns="0" rIns="0" bIns="0" rtlCol="0" anchor="ctr"/>
          <a:lstStyle/>
          <a:p>
            <a:pPr marL="0" indent="0" algn="ctr">
              <a:buNone/>
            </a:pPr>
            <a:r>
              <a:rPr lang="en-US" sz="3300" b="1">
                <a:solidFill>
                  <a:srgbClr val="D62839"/>
                </a:solidFill>
                <a:latin typeface="Oswald" pitchFamily="34" charset="0"/>
                <a:ea typeface="Oswald" pitchFamily="34" charset="-122"/>
                <a:cs typeface="Oswald" pitchFamily="34" charset="-120"/>
              </a:rPr>
              <a:t>250+</a:t>
            </a:r>
            <a:endParaRPr lang="en-US" sz="3300"/>
          </a:p>
        </p:txBody>
      </p:sp>
      <p:sp>
        <p:nvSpPr>
          <p:cNvPr id="96" name="Text 84"/>
          <p:cNvSpPr txBox="1"/>
          <p:nvPr/>
        </p:nvSpPr>
        <p:spPr>
          <a:xfrm>
            <a:off x="6951269" y="5027371"/>
            <a:ext cx="1267358" cy="152705"/>
          </a:xfrm>
          <a:prstGeom prst="rect">
            <a:avLst/>
          </a:prstGeom>
          <a:noFill/>
          <a:ln/>
        </p:spPr>
        <p:txBody>
          <a:bodyPr wrap="none" lIns="0" tIns="0" rIns="0" bIns="0" rtlCol="0" anchor="ctr"/>
          <a:lstStyle/>
          <a:p>
            <a:pPr marL="0" indent="0" algn="ctr">
              <a:buNone/>
            </a:pPr>
            <a:r>
              <a:rPr lang="en-US" sz="1000" b="1">
                <a:solidFill>
                  <a:srgbClr val="991B1B"/>
                </a:solidFill>
                <a:latin typeface="Roboto Condensed" pitchFamily="34" charset="0"/>
                <a:ea typeface="Roboto Condensed" pitchFamily="34" charset="-122"/>
                <a:cs typeface="Roboto Condensed" pitchFamily="34" charset="-120"/>
              </a:rPr>
              <a:t>Global Centers</a:t>
            </a:r>
            <a:endParaRPr lang="en-US" sz="1000"/>
          </a:p>
        </p:txBody>
      </p:sp>
      <p:pic>
        <p:nvPicPr>
          <p:cNvPr id="97" name="Image 10" descr="gen-dedup-5e9872b339ca97363a052a98d72d331e.png"/>
          <p:cNvPicPr>
            <a:picLocks noChangeAspect="1"/>
          </p:cNvPicPr>
          <p:nvPr/>
        </p:nvPicPr>
        <p:blipFill>
          <a:blip r:embed="rId12"/>
          <a:srcRect t="-2100" b="-2100"/>
          <a:stretch/>
        </p:blipFill>
        <p:spPr>
          <a:xfrm>
            <a:off x="8357616" y="4486046"/>
            <a:ext cx="9144" cy="476402"/>
          </a:xfrm>
          <a:prstGeom prst="rect">
            <a:avLst/>
          </a:prstGeom>
        </p:spPr>
      </p:pic>
      <p:sp>
        <p:nvSpPr>
          <p:cNvPr id="98" name="Text 85"/>
          <p:cNvSpPr txBox="1"/>
          <p:nvPr/>
        </p:nvSpPr>
        <p:spPr>
          <a:xfrm>
            <a:off x="8672170" y="4562856"/>
            <a:ext cx="1981505" cy="428854"/>
          </a:xfrm>
          <a:prstGeom prst="rect">
            <a:avLst/>
          </a:prstGeom>
          <a:noFill/>
          <a:ln/>
        </p:spPr>
        <p:txBody>
          <a:bodyPr wrap="none" lIns="0" tIns="0" rIns="0" bIns="0" rtlCol="0" anchor="ctr"/>
          <a:lstStyle/>
          <a:p>
            <a:pPr marL="0" indent="0" algn="ctr">
              <a:buNone/>
            </a:pPr>
            <a:r>
              <a:rPr lang="en-US" sz="3300" b="1">
                <a:solidFill>
                  <a:srgbClr val="D62839"/>
                </a:solidFill>
                <a:latin typeface="Oswald" pitchFamily="34" charset="0"/>
                <a:ea typeface="Oswald" pitchFamily="34" charset="-122"/>
                <a:cs typeface="Oswald" pitchFamily="34" charset="-120"/>
              </a:rPr>
              <a:t>30–40%</a:t>
            </a:r>
            <a:endParaRPr lang="en-US" sz="3300"/>
          </a:p>
        </p:txBody>
      </p:sp>
      <p:sp>
        <p:nvSpPr>
          <p:cNvPr id="99" name="Text 86"/>
          <p:cNvSpPr txBox="1"/>
          <p:nvPr/>
        </p:nvSpPr>
        <p:spPr>
          <a:xfrm>
            <a:off x="8483803" y="5027371"/>
            <a:ext cx="2358238" cy="152705"/>
          </a:xfrm>
          <a:prstGeom prst="rect">
            <a:avLst/>
          </a:prstGeom>
          <a:noFill/>
          <a:ln/>
        </p:spPr>
        <p:txBody>
          <a:bodyPr wrap="none" lIns="0" tIns="0" rIns="0" bIns="0" rtlCol="0" anchor="ctr"/>
          <a:lstStyle/>
          <a:p>
            <a:pPr marL="0" indent="0" algn="ctr">
              <a:buNone/>
            </a:pPr>
            <a:r>
              <a:rPr lang="en-US" sz="1000" b="1">
                <a:solidFill>
                  <a:srgbClr val="991B1B"/>
                </a:solidFill>
                <a:latin typeface="Roboto Condensed" pitchFamily="34" charset="0"/>
                <a:ea typeface="Roboto Condensed" pitchFamily="34" charset="-122"/>
                <a:cs typeface="Roboto Condensed" pitchFamily="34" charset="-120"/>
              </a:rPr>
              <a:t>Time-to-Excellence Accelerated</a:t>
            </a:r>
            <a:endParaRPr lang="en-US" sz="1000"/>
          </a:p>
        </p:txBody>
      </p:sp>
      <p:sp>
        <p:nvSpPr>
          <p:cNvPr id="100" name="Text 87"/>
          <p:cNvSpPr txBox="1"/>
          <p:nvPr/>
        </p:nvSpPr>
        <p:spPr>
          <a:xfrm>
            <a:off x="6452921" y="5255971"/>
            <a:ext cx="4858207" cy="191110"/>
          </a:xfrm>
          <a:prstGeom prst="rect">
            <a:avLst/>
          </a:prstGeom>
          <a:noFill/>
          <a:ln/>
        </p:spPr>
        <p:txBody>
          <a:bodyPr wrap="none" lIns="0" tIns="0" rIns="0" bIns="0" rtlCol="0" anchor="ctr"/>
          <a:lstStyle/>
          <a:p>
            <a:pPr marL="0" indent="0" algn="ctr">
              <a:buNone/>
            </a:pPr>
            <a:r>
              <a:rPr lang="en-US" sz="1000">
                <a:solidFill>
                  <a:srgbClr val="7F1D1D"/>
                </a:solidFill>
                <a:latin typeface="Raleway" pitchFamily="34" charset="0"/>
                <a:ea typeface="Raleway" pitchFamily="34" charset="-122"/>
                <a:cs typeface="Raleway" pitchFamily="34" charset="-120"/>
              </a:rPr>
              <a:t>{client}  gains institutional knowledge from transformed global centers.</a:t>
            </a:r>
            <a:endParaRPr lang="en-US" sz="1000"/>
          </a:p>
        </p:txBody>
      </p:sp>
      <p:sp>
        <p:nvSpPr>
          <p:cNvPr id="101" name="Text 88"/>
          <p:cNvSpPr txBox="1"/>
          <p:nvPr/>
        </p:nvSpPr>
        <p:spPr>
          <a:xfrm>
            <a:off x="2079346" y="6367882"/>
            <a:ext cx="9238183" cy="162763"/>
          </a:xfrm>
          <a:prstGeom prst="rect">
            <a:avLst/>
          </a:prstGeom>
          <a:noFill/>
          <a:ln/>
        </p:spPr>
        <p:txBody>
          <a:bodyPr wrap="none" lIns="0" tIns="0" rIns="0" bIns="0" rtlCol="0" anchor="ctr"/>
          <a:lstStyle/>
          <a:p>
            <a:pPr marL="0" indent="0" algn="l">
              <a:buNone/>
            </a:pPr>
            <a:r>
              <a:rPr lang="en-US" sz="800" b="1">
                <a:solidFill>
                  <a:srgbClr val="1F2937"/>
                </a:solidFill>
                <a:latin typeface="Raleway" pitchFamily="34" charset="0"/>
                <a:ea typeface="Raleway" pitchFamily="34" charset="-122"/>
                <a:cs typeface="Raleway" pitchFamily="34" charset="-120"/>
              </a:rPr>
              <a:t> J2W has transformed 250+ global centers.  {{client}} gains from this institutional knowledge, accelerating time-to-excellence by 30–40%. </a:t>
            </a:r>
            <a:endParaRPr lang="en-US" sz="1000"/>
          </a:p>
        </p:txBody>
      </p:sp>
      <p:pic>
        <p:nvPicPr>
          <p:cNvPr id="102" name="Image 11" descr="gen-dedup-315c4f0fede1ff4637c888960421344a.png"/>
          <p:cNvPicPr>
            <a:picLocks noChangeAspect="1"/>
          </p:cNvPicPr>
          <p:nvPr/>
        </p:nvPicPr>
        <p:blipFill>
          <a:blip r:embed="rId13"/>
          <a:srcRect t="-5544" b="-5544"/>
          <a:stretch/>
        </p:blipFill>
        <p:spPr>
          <a:xfrm>
            <a:off x="1868119" y="6384341"/>
            <a:ext cx="105156" cy="133502"/>
          </a:xfrm>
          <a:prstGeom prst="rect">
            <a:avLst/>
          </a:prstGeom>
        </p:spPr>
      </p:pic>
      <p:sp>
        <p:nvSpPr>
          <p:cNvPr id="104" name="Text 15">
            <a:extLst>
              <a:ext uri="{FF2B5EF4-FFF2-40B4-BE49-F238E27FC236}">
                <a16:creationId xmlns:a16="http://schemas.microsoft.com/office/drawing/2014/main" id="{588138F4-61E6-C818-E657-35AA3245D5C3}"/>
              </a:ext>
            </a:extLst>
          </p:cNvPr>
          <p:cNvSpPr txBox="1"/>
          <p:nvPr/>
        </p:nvSpPr>
        <p:spPr>
          <a:xfrm flipH="1">
            <a:off x="11778343" y="6515100"/>
            <a:ext cx="283028" cy="255814"/>
          </a:xfrm>
          <a:prstGeom prst="rect">
            <a:avLst/>
          </a:prstGeom>
          <a:noFill/>
          <a:ln/>
        </p:spPr>
        <p:txBody>
          <a:bodyPr wrap="none" lIns="0" tIns="0" rIns="0" bIns="0" rtlCol="0" anchor="ctr"/>
          <a:lstStyle/>
          <a:p>
            <a:pPr marL="0" indent="0" algn="ctr">
              <a:buNone/>
            </a:pPr>
            <a:r>
              <a:rPr lang="en-US" sz="1600" b="1">
                <a:solidFill>
                  <a:schemeClr val="bg1">
                    <a:lumMod val="50000"/>
                  </a:schemeClr>
                </a:solidFill>
                <a:latin typeface="Oswald" pitchFamily="34" charset="0"/>
              </a:rPr>
              <a:t>18</a:t>
            </a:r>
            <a:endParaRPr lang="en-US" sz="1600">
              <a:solidFill>
                <a:schemeClr val="bg1">
                  <a:lumMod val="50000"/>
                </a:schemeClr>
              </a:solidFill>
            </a:endParaRPr>
          </a:p>
        </p:txBody>
      </p:sp>
      <p:pic>
        <p:nvPicPr>
          <p:cNvPr id="105" name="Image 3" descr="gen-dedup-777bf757d895431cabe402fcd34ebd5a.png">
            <a:extLst>
              <a:ext uri="{FF2B5EF4-FFF2-40B4-BE49-F238E27FC236}">
                <a16:creationId xmlns:a16="http://schemas.microsoft.com/office/drawing/2014/main" id="{C1020539-55FA-8380-E314-85692B617E26}"/>
              </a:ext>
            </a:extLst>
          </p:cNvPr>
          <p:cNvPicPr>
            <a:picLocks noChangeAspect="1"/>
          </p:cNvPicPr>
          <p:nvPr/>
        </p:nvPicPr>
        <p:blipFill>
          <a:blip r:embed="rId14">
            <a:biLevel thresh="75000"/>
          </a:blip>
          <a:srcRect l="-384" r="-384"/>
          <a:stretch/>
        </p:blipFill>
        <p:spPr>
          <a:xfrm>
            <a:off x="571500" y="381305"/>
            <a:ext cx="57607" cy="476402"/>
          </a:xfrm>
          <a:prstGeom prst="rect">
            <a:avLst/>
          </a:prstGeom>
        </p:spPr>
      </p:pic>
      <p:sp>
        <p:nvSpPr>
          <p:cNvPr id="107" name="Text 5">
            <a:extLst>
              <a:ext uri="{FF2B5EF4-FFF2-40B4-BE49-F238E27FC236}">
                <a16:creationId xmlns:a16="http://schemas.microsoft.com/office/drawing/2014/main" id="{285BEBDB-BA5B-A5D4-BFDE-68995230D535}"/>
              </a:ext>
            </a:extLst>
          </p:cNvPr>
          <p:cNvSpPr txBox="1"/>
          <p:nvPr/>
        </p:nvSpPr>
        <p:spPr>
          <a:xfrm>
            <a:off x="780897" y="333756"/>
            <a:ext cx="5913817" cy="406908"/>
          </a:xfrm>
          <a:prstGeom prst="rect">
            <a:avLst/>
          </a:prstGeom>
          <a:noFill/>
          <a:ln/>
        </p:spPr>
        <p:txBody>
          <a:bodyPr wrap="none" lIns="0" tIns="0" rIns="0" bIns="0" rtlCol="0" anchor="ctr"/>
          <a:lstStyle/>
          <a:p>
            <a:r>
              <a:rPr lang="en-GB" sz="2400" b="1" kern="0" spc="-67" dirty="0">
                <a:solidFill>
                  <a:srgbClr val="111827"/>
                </a:solidFill>
                <a:latin typeface="Oswald" pitchFamily="34" charset="0"/>
                <a:ea typeface="Oswald" pitchFamily="34" charset="-122"/>
                <a:cs typeface="Oswald" pitchFamily="34" charset="-120"/>
              </a:rPr>
              <a:t>COMPETITIVE ADVANTAGES AT SCALE – EXECUTION PROOF POINTS</a:t>
            </a:r>
          </a:p>
        </p:txBody>
      </p:sp>
      <p:sp>
        <p:nvSpPr>
          <p:cNvPr id="109" name="Text 6">
            <a:extLst>
              <a:ext uri="{FF2B5EF4-FFF2-40B4-BE49-F238E27FC236}">
                <a16:creationId xmlns:a16="http://schemas.microsoft.com/office/drawing/2014/main" id="{88C856C1-378A-9D39-B514-9BB7AA59A07B}"/>
              </a:ext>
            </a:extLst>
          </p:cNvPr>
          <p:cNvSpPr txBox="1"/>
          <p:nvPr/>
        </p:nvSpPr>
        <p:spPr>
          <a:xfrm>
            <a:off x="780898" y="740663"/>
            <a:ext cx="5054803" cy="257861"/>
          </a:xfrm>
          <a:prstGeom prst="rect">
            <a:avLst/>
          </a:prstGeom>
          <a:noFill/>
          <a:ln/>
        </p:spPr>
        <p:txBody>
          <a:bodyPr wrap="none" lIns="0" tIns="0" rIns="0" bIns="0" rtlCol="0" anchor="ctr"/>
          <a:lstStyle/>
          <a:p>
            <a:pPr marL="0" indent="0" algn="l">
              <a:buNone/>
            </a:pPr>
            <a:r>
              <a:rPr lang="en-GB" sz="1500" b="1" kern="0" spc="66" dirty="0">
                <a:solidFill>
                  <a:srgbClr val="2A9D8F"/>
                </a:solidFill>
                <a:latin typeface="Roboto Condensed" pitchFamily="34" charset="0"/>
                <a:ea typeface="Roboto Condensed" pitchFamily="34" charset="-122"/>
                <a:cs typeface="Roboto Condensed" pitchFamily="34" charset="-120"/>
              </a:rPr>
              <a:t>J2W Track Record: From Vision to Operational Excellence</a:t>
            </a:r>
          </a:p>
        </p:txBody>
      </p:sp>
    </p:spTree>
    <p:extLst>
      <p:ext uri="{BB962C8B-B14F-4D97-AF65-F5344CB8AC3E}">
        <p14:creationId xmlns:p14="http://schemas.microsoft.com/office/powerpoint/2010/main" val="202439887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4" name="Shape 2"/>
          <p:cNvSpPr/>
          <p:nvPr/>
        </p:nvSpPr>
        <p:spPr>
          <a:xfrm>
            <a:off x="9334195" y="-952805"/>
            <a:ext cx="3810305" cy="3810305"/>
          </a:xfrm>
          <a:prstGeom prst="ellipse">
            <a:avLst/>
          </a:prstGeom>
          <a:solidFill>
            <a:srgbClr val="2A9D8F">
              <a:alpha val="3000"/>
            </a:srgbClr>
          </a:solidFill>
          <a:ln w="12700">
            <a:solidFill>
              <a:srgbClr val="FFFFFF">
                <a:alpha val="0"/>
              </a:srgbClr>
            </a:solidFill>
            <a:prstDash val="solid"/>
          </a:ln>
        </p:spPr>
        <p:txBody>
          <a:bodyPr/>
          <a:lstStyle/>
          <a:p>
            <a:endParaRPr lang="en-US"/>
          </a:p>
        </p:txBody>
      </p:sp>
      <p:pic>
        <p:nvPicPr>
          <p:cNvPr id="5" name="Image 0" descr="gen-dedup-4ab2116e971fbb9400d0e99205bd0390.png"/>
          <p:cNvPicPr>
            <a:picLocks noChangeAspect="1"/>
          </p:cNvPicPr>
          <p:nvPr/>
        </p:nvPicPr>
        <p:blipFill>
          <a:blip r:embed="rId3">
            <a:alphaModFix amt="5000"/>
          </a:blip>
          <a:srcRect/>
          <a:stretch/>
        </p:blipFill>
        <p:spPr>
          <a:xfrm>
            <a:off x="10001707" y="5238598"/>
            <a:ext cx="1904695" cy="1904695"/>
          </a:xfrm>
          <a:prstGeom prst="rect">
            <a:avLst/>
          </a:prstGeom>
        </p:spPr>
      </p:pic>
      <p:pic>
        <p:nvPicPr>
          <p:cNvPr id="6" name="Image 1" descr="gen-dedup-323228122ff92d2332e711a84ca3b40c.png"/>
          <p:cNvPicPr>
            <a:picLocks noChangeAspect="1"/>
          </p:cNvPicPr>
          <p:nvPr/>
        </p:nvPicPr>
        <p:blipFill>
          <a:blip r:embed="rId4"/>
          <a:srcRect l="-198" r="-198"/>
          <a:stretch/>
        </p:blipFill>
        <p:spPr>
          <a:xfrm>
            <a:off x="0" y="0"/>
            <a:ext cx="8124444" cy="75895"/>
          </a:xfrm>
          <a:prstGeom prst="rect">
            <a:avLst/>
          </a:prstGeom>
        </p:spPr>
      </p:pic>
      <p:pic>
        <p:nvPicPr>
          <p:cNvPr id="7" name="Image 2" descr="gen-dedup-9663ecf744b06e35d4c2cebaab92a2ea.png"/>
          <p:cNvPicPr>
            <a:picLocks noChangeAspect="1"/>
          </p:cNvPicPr>
          <p:nvPr/>
        </p:nvPicPr>
        <p:blipFill>
          <a:blip r:embed="rId5"/>
          <a:srcRect l="-202" r="-202"/>
          <a:stretch/>
        </p:blipFill>
        <p:spPr>
          <a:xfrm>
            <a:off x="8124444" y="0"/>
            <a:ext cx="4067251" cy="75895"/>
          </a:xfrm>
          <a:prstGeom prst="rect">
            <a:avLst/>
          </a:prstGeom>
        </p:spPr>
      </p:pic>
      <p:sp>
        <p:nvSpPr>
          <p:cNvPr id="8" name="Text 3"/>
          <p:cNvSpPr txBox="1"/>
          <p:nvPr/>
        </p:nvSpPr>
        <p:spPr>
          <a:xfrm>
            <a:off x="381305" y="1143000"/>
            <a:ext cx="2382012" cy="1524305"/>
          </a:xfrm>
          <a:prstGeom prst="rect">
            <a:avLst/>
          </a:prstGeom>
          <a:noFill/>
          <a:ln/>
        </p:spPr>
        <p:txBody>
          <a:bodyPr wrap="none" lIns="0" tIns="0" rIns="0" bIns="0" rtlCol="0" anchor="ctr"/>
          <a:lstStyle/>
          <a:p>
            <a:pPr marL="0" indent="0" algn="l">
              <a:buNone/>
            </a:pPr>
            <a:r>
              <a:rPr lang="en-US" sz="12000" b="1">
                <a:solidFill>
                  <a:srgbClr val="F3F4F6"/>
                </a:solidFill>
                <a:latin typeface="Oswald" pitchFamily="34" charset="0"/>
                <a:ea typeface="Oswald" pitchFamily="34" charset="-122"/>
                <a:cs typeface="Oswald" pitchFamily="34" charset="-120"/>
              </a:rPr>
              <a:t>02</a:t>
            </a:r>
            <a:endParaRPr lang="en-US" sz="12000"/>
          </a:p>
        </p:txBody>
      </p:sp>
      <p:pic>
        <p:nvPicPr>
          <p:cNvPr id="11" name="Image 3" descr="gen-dedup-90395934058aa4b7c1bff00d7e70c0a4.png"/>
          <p:cNvPicPr>
            <a:picLocks noChangeAspect="1"/>
          </p:cNvPicPr>
          <p:nvPr/>
        </p:nvPicPr>
        <p:blipFill>
          <a:blip r:embed="rId6"/>
          <a:srcRect l="-416" r="-416"/>
          <a:stretch/>
        </p:blipFill>
        <p:spPr>
          <a:xfrm>
            <a:off x="1143000" y="2428646"/>
            <a:ext cx="57607" cy="714146"/>
          </a:xfrm>
          <a:prstGeom prst="rect">
            <a:avLst/>
          </a:prstGeom>
        </p:spPr>
      </p:pic>
      <p:sp>
        <p:nvSpPr>
          <p:cNvPr id="12" name="Text 6"/>
          <p:cNvSpPr txBox="1"/>
          <p:nvPr/>
        </p:nvSpPr>
        <p:spPr>
          <a:xfrm>
            <a:off x="1429207" y="2333549"/>
            <a:ext cx="9525305" cy="762610"/>
          </a:xfrm>
          <a:prstGeom prst="rect">
            <a:avLst/>
          </a:prstGeom>
          <a:noFill/>
          <a:ln/>
        </p:spPr>
        <p:txBody>
          <a:bodyPr wrap="none" lIns="0" tIns="0" rIns="0" bIns="0" rtlCol="0" anchor="ctr"/>
          <a:lstStyle/>
          <a:p>
            <a:pPr marL="0" indent="0" algn="l">
              <a:buNone/>
            </a:pPr>
            <a:r>
              <a:rPr lang="en-US" sz="5400" b="1" kern="0" spc="108">
                <a:solidFill>
                  <a:srgbClr val="111827"/>
                </a:solidFill>
                <a:latin typeface="Oswald" pitchFamily="34" charset="0"/>
                <a:ea typeface="Oswald" pitchFamily="34" charset="-122"/>
                <a:cs typeface="Oswald" pitchFamily="34" charset="-120"/>
              </a:rPr>
              <a:t>AI PODS</a:t>
            </a:r>
            <a:endParaRPr lang="en-US" sz="5400"/>
          </a:p>
        </p:txBody>
      </p:sp>
      <p:sp>
        <p:nvSpPr>
          <p:cNvPr id="13" name="Text 7"/>
          <p:cNvSpPr txBox="1"/>
          <p:nvPr/>
        </p:nvSpPr>
        <p:spPr>
          <a:xfrm>
            <a:off x="1429207" y="3333902"/>
            <a:ext cx="10687507" cy="352958"/>
          </a:xfrm>
          <a:prstGeom prst="rect">
            <a:avLst/>
          </a:prstGeom>
          <a:noFill/>
          <a:ln/>
        </p:spPr>
        <p:txBody>
          <a:bodyPr wrap="none" lIns="0" tIns="0" rIns="0" bIns="0" rtlCol="0" anchor="ctr"/>
          <a:lstStyle/>
          <a:p>
            <a:pPr marL="0" indent="0" algn="l">
              <a:buNone/>
            </a:pPr>
            <a:r>
              <a:rPr lang="en-US" sz="2100">
                <a:solidFill>
                  <a:srgbClr val="2A9D8F"/>
                </a:solidFill>
                <a:latin typeface="Raleway" pitchFamily="34" charset="0"/>
                <a:ea typeface="Raleway" pitchFamily="34" charset="-122"/>
                <a:cs typeface="Raleway" pitchFamily="34" charset="-120"/>
              </a:rPr>
              <a:t>AI-first engineering pods - governed, certified, and compounding from Day 1</a:t>
            </a:r>
            <a:endParaRPr lang="en-US" sz="2100"/>
          </a:p>
        </p:txBody>
      </p:sp>
      <p:sp>
        <p:nvSpPr>
          <p:cNvPr id="14" name="Text 8"/>
          <p:cNvSpPr txBox="1"/>
          <p:nvPr/>
        </p:nvSpPr>
        <p:spPr>
          <a:xfrm>
            <a:off x="1429207" y="4143146"/>
            <a:ext cx="9335110" cy="553212"/>
          </a:xfrm>
          <a:prstGeom prst="rect">
            <a:avLst/>
          </a:prstGeom>
          <a:noFill/>
          <a:ln/>
        </p:spPr>
        <p:txBody>
          <a:bodyPr wrap="square" lIns="0" tIns="0" rIns="0" bIns="0" rtlCol="0" anchor="ctr"/>
          <a:lstStyle/>
          <a:p>
            <a:pPr marL="0" indent="0" algn="l">
              <a:buNone/>
            </a:pPr>
            <a:r>
              <a:rPr lang="en-US" sz="1300">
                <a:solidFill>
                  <a:srgbClr val="4B5563"/>
                </a:solidFill>
                <a:latin typeface="Raleway" pitchFamily="34" charset="0"/>
                <a:ea typeface="Raleway" pitchFamily="34" charset="-122"/>
                <a:cs typeface="Raleway" pitchFamily="34" charset="-120"/>
              </a:rPr>
              <a:t>This is a fully governed, outcome-bound delivery model-not traditional staff augmentation. We embed complete engineering units that integrate directly into your sprint cycles, governed by strict SLAs and continuous AI upskilling.</a:t>
            </a:r>
            <a:endParaRPr lang="en-US" sz="1300"/>
          </a:p>
        </p:txBody>
      </p:sp>
      <p:pic>
        <p:nvPicPr>
          <p:cNvPr id="15" name="Image 4" descr="gen-dedup-818c62191cf4a66fb5704c7f87e3fedf.png"/>
          <p:cNvPicPr>
            <a:picLocks noChangeAspect="1"/>
          </p:cNvPicPr>
          <p:nvPr/>
        </p:nvPicPr>
        <p:blipFill>
          <a:blip r:embed="rId7"/>
          <a:srcRect l="-166" r="-166"/>
          <a:stretch/>
        </p:blipFill>
        <p:spPr>
          <a:xfrm>
            <a:off x="1429207" y="5143500"/>
            <a:ext cx="1933956" cy="418795"/>
          </a:xfrm>
          <a:prstGeom prst="rect">
            <a:avLst/>
          </a:prstGeom>
        </p:spPr>
      </p:pic>
      <p:sp>
        <p:nvSpPr>
          <p:cNvPr id="16" name="Shape 9"/>
          <p:cNvSpPr/>
          <p:nvPr/>
        </p:nvSpPr>
        <p:spPr>
          <a:xfrm>
            <a:off x="1429207" y="5143500"/>
            <a:ext cx="1933956" cy="418795"/>
          </a:xfrm>
          <a:prstGeom prst="roundRect">
            <a:avLst>
              <a:gd name="adj" fmla="val 13755"/>
            </a:avLst>
          </a:prstGeom>
          <a:noFill/>
          <a:ln w="12700">
            <a:solidFill>
              <a:srgbClr val="E5E7EB"/>
            </a:solidFill>
            <a:prstDash val="solid"/>
          </a:ln>
        </p:spPr>
        <p:txBody>
          <a:bodyPr/>
          <a:lstStyle/>
          <a:p>
            <a:endParaRPr lang="en-US"/>
          </a:p>
        </p:txBody>
      </p:sp>
      <p:sp>
        <p:nvSpPr>
          <p:cNvPr id="17" name="Text 10"/>
          <p:cNvSpPr txBox="1"/>
          <p:nvPr/>
        </p:nvSpPr>
        <p:spPr>
          <a:xfrm>
            <a:off x="1653845" y="5143500"/>
            <a:ext cx="1495958" cy="419710"/>
          </a:xfrm>
          <a:prstGeom prst="rect">
            <a:avLst/>
          </a:prstGeom>
          <a:solidFill>
            <a:srgbClr val="FFFFFF">
              <a:alpha val="0"/>
            </a:srgbClr>
          </a:solidFill>
          <a:ln>
            <a:solidFill>
              <a:srgbClr val="FFFFFF">
                <a:alpha val="0"/>
              </a:srgbClr>
            </a:solidFill>
          </a:ln>
        </p:spPr>
        <p:txBody>
          <a:bodyPr wrap="none" lIns="190500" tIns="114300" rIns="190500" bIns="114300" rtlCol="0" anchor="ctr"/>
          <a:lstStyle/>
          <a:p>
            <a:pPr marL="0" indent="0" algn="l">
              <a:buNone/>
            </a:pPr>
            <a:r>
              <a:rPr lang="en-US" sz="1100" b="1">
                <a:solidFill>
                  <a:srgbClr val="374151"/>
                </a:solidFill>
                <a:latin typeface="Raleway" pitchFamily="34" charset="0"/>
                <a:ea typeface="Raleway" pitchFamily="34" charset="-122"/>
                <a:cs typeface="Raleway" pitchFamily="34" charset="-120"/>
              </a:rPr>
              <a:t> 10-day onboarding </a:t>
            </a:r>
            <a:endParaRPr lang="en-US" sz="1100"/>
          </a:p>
        </p:txBody>
      </p:sp>
      <p:pic>
        <p:nvPicPr>
          <p:cNvPr id="18" name="Image 5" descr="gen-dedup-a287ae7abd092c83dc5f899415c51d00.png"/>
          <p:cNvPicPr>
            <a:picLocks noChangeAspect="1"/>
          </p:cNvPicPr>
          <p:nvPr/>
        </p:nvPicPr>
        <p:blipFill>
          <a:blip r:embed="rId8"/>
          <a:srcRect t="-16800" b="-16800"/>
          <a:stretch/>
        </p:blipFill>
        <p:spPr>
          <a:xfrm>
            <a:off x="1657807" y="5277002"/>
            <a:ext cx="114300" cy="152705"/>
          </a:xfrm>
          <a:prstGeom prst="rect">
            <a:avLst/>
          </a:prstGeom>
        </p:spPr>
      </p:pic>
      <p:pic>
        <p:nvPicPr>
          <p:cNvPr id="19" name="Image 6" descr="gen-dedup-0363cb9fbb55bfd8aa96459f99cffd70.png"/>
          <p:cNvPicPr>
            <a:picLocks noChangeAspect="1"/>
          </p:cNvPicPr>
          <p:nvPr/>
        </p:nvPicPr>
        <p:blipFill>
          <a:blip r:embed="rId9"/>
          <a:srcRect l="-260" r="-260"/>
          <a:stretch/>
        </p:blipFill>
        <p:spPr>
          <a:xfrm>
            <a:off x="3510382" y="5143500"/>
            <a:ext cx="1543507" cy="418795"/>
          </a:xfrm>
          <a:prstGeom prst="rect">
            <a:avLst/>
          </a:prstGeom>
        </p:spPr>
      </p:pic>
      <p:sp>
        <p:nvSpPr>
          <p:cNvPr id="20" name="Shape 11"/>
          <p:cNvSpPr/>
          <p:nvPr/>
        </p:nvSpPr>
        <p:spPr>
          <a:xfrm>
            <a:off x="3510382" y="5143500"/>
            <a:ext cx="1543507" cy="418795"/>
          </a:xfrm>
          <a:prstGeom prst="roundRect">
            <a:avLst>
              <a:gd name="adj" fmla="val 13755"/>
            </a:avLst>
          </a:prstGeom>
          <a:noFill/>
          <a:ln w="12700">
            <a:solidFill>
              <a:srgbClr val="E5E7EB"/>
            </a:solidFill>
            <a:prstDash val="solid"/>
          </a:ln>
        </p:spPr>
        <p:txBody>
          <a:bodyPr/>
          <a:lstStyle/>
          <a:p>
            <a:endParaRPr lang="en-US"/>
          </a:p>
        </p:txBody>
      </p:sp>
      <p:sp>
        <p:nvSpPr>
          <p:cNvPr id="21" name="Text 12"/>
          <p:cNvSpPr txBox="1"/>
          <p:nvPr/>
        </p:nvSpPr>
        <p:spPr>
          <a:xfrm>
            <a:off x="3735019" y="5143500"/>
            <a:ext cx="1105510" cy="419710"/>
          </a:xfrm>
          <a:prstGeom prst="rect">
            <a:avLst/>
          </a:prstGeom>
          <a:solidFill>
            <a:srgbClr val="FFFFFF">
              <a:alpha val="0"/>
            </a:srgbClr>
          </a:solidFill>
          <a:ln>
            <a:solidFill>
              <a:srgbClr val="FFFFFF">
                <a:alpha val="0"/>
              </a:srgbClr>
            </a:solidFill>
          </a:ln>
        </p:spPr>
        <p:txBody>
          <a:bodyPr wrap="none" lIns="190500" tIns="114300" rIns="190500" bIns="114300" rtlCol="0" anchor="ctr"/>
          <a:lstStyle/>
          <a:p>
            <a:pPr marL="0" indent="0" algn="l">
              <a:buNone/>
            </a:pPr>
            <a:r>
              <a:rPr lang="en-US" sz="1100" b="1">
                <a:solidFill>
                  <a:srgbClr val="374151"/>
                </a:solidFill>
                <a:latin typeface="Raleway" pitchFamily="34" charset="0"/>
                <a:ea typeface="Raleway" pitchFamily="34" charset="-122"/>
                <a:cs typeface="Raleway" pitchFamily="34" charset="-120"/>
              </a:rPr>
              <a:t> 90-day POFU </a:t>
            </a:r>
            <a:endParaRPr lang="en-US" sz="1100"/>
          </a:p>
        </p:txBody>
      </p:sp>
      <p:pic>
        <p:nvPicPr>
          <p:cNvPr id="22" name="Image 7" descr="gen-dedup-c395ac9c840728d6470a4a8b33662e6e.png"/>
          <p:cNvPicPr>
            <a:picLocks noChangeAspect="1"/>
          </p:cNvPicPr>
          <p:nvPr/>
        </p:nvPicPr>
        <p:blipFill>
          <a:blip r:embed="rId10"/>
          <a:srcRect t="-16800" b="-16800"/>
          <a:stretch/>
        </p:blipFill>
        <p:spPr>
          <a:xfrm>
            <a:off x="3738982" y="5277002"/>
            <a:ext cx="114300" cy="152705"/>
          </a:xfrm>
          <a:prstGeom prst="rect">
            <a:avLst/>
          </a:prstGeom>
        </p:spPr>
      </p:pic>
      <p:pic>
        <p:nvPicPr>
          <p:cNvPr id="23" name="Image 8" descr="gen-dedup-fe10f786880821f62e6e2a70ff719369.png"/>
          <p:cNvPicPr>
            <a:picLocks noChangeAspect="1"/>
          </p:cNvPicPr>
          <p:nvPr/>
        </p:nvPicPr>
        <p:blipFill>
          <a:blip r:embed="rId11"/>
          <a:srcRect l="-58" r="-58"/>
          <a:stretch/>
        </p:blipFill>
        <p:spPr>
          <a:xfrm>
            <a:off x="5199278" y="5143500"/>
            <a:ext cx="2619756" cy="418795"/>
          </a:xfrm>
          <a:prstGeom prst="rect">
            <a:avLst/>
          </a:prstGeom>
        </p:spPr>
      </p:pic>
      <p:sp>
        <p:nvSpPr>
          <p:cNvPr id="24" name="Shape 13"/>
          <p:cNvSpPr/>
          <p:nvPr/>
        </p:nvSpPr>
        <p:spPr>
          <a:xfrm>
            <a:off x="5199278" y="5143500"/>
            <a:ext cx="2619756" cy="418795"/>
          </a:xfrm>
          <a:prstGeom prst="roundRect">
            <a:avLst>
              <a:gd name="adj" fmla="val 13755"/>
            </a:avLst>
          </a:prstGeom>
          <a:noFill/>
          <a:ln w="12700">
            <a:solidFill>
              <a:srgbClr val="E5E7EB"/>
            </a:solidFill>
            <a:prstDash val="solid"/>
          </a:ln>
        </p:spPr>
        <p:txBody>
          <a:bodyPr/>
          <a:lstStyle/>
          <a:p>
            <a:endParaRPr lang="en-US"/>
          </a:p>
        </p:txBody>
      </p:sp>
      <p:sp>
        <p:nvSpPr>
          <p:cNvPr id="25" name="Text 14"/>
          <p:cNvSpPr txBox="1"/>
          <p:nvPr/>
        </p:nvSpPr>
        <p:spPr>
          <a:xfrm>
            <a:off x="5423916" y="5143500"/>
            <a:ext cx="2181758" cy="419710"/>
          </a:xfrm>
          <a:prstGeom prst="rect">
            <a:avLst/>
          </a:prstGeom>
          <a:solidFill>
            <a:srgbClr val="FFFFFF">
              <a:alpha val="0"/>
            </a:srgbClr>
          </a:solidFill>
          <a:ln>
            <a:solidFill>
              <a:srgbClr val="FFFFFF">
                <a:alpha val="0"/>
              </a:srgbClr>
            </a:solidFill>
          </a:ln>
        </p:spPr>
        <p:txBody>
          <a:bodyPr wrap="none" lIns="190500" tIns="114300" rIns="190500" bIns="114300" rtlCol="0" anchor="ctr"/>
          <a:lstStyle/>
          <a:p>
            <a:pPr marL="0" indent="0" algn="l">
              <a:buNone/>
            </a:pPr>
            <a:r>
              <a:rPr lang="en-US" sz="1100" b="1">
                <a:solidFill>
                  <a:srgbClr val="374151"/>
                </a:solidFill>
                <a:latin typeface="Raleway" pitchFamily="34" charset="0"/>
                <a:ea typeface="Raleway" pitchFamily="34" charset="-122"/>
                <a:cs typeface="Raleway" pitchFamily="34" charset="-120"/>
              </a:rPr>
              <a:t> 85% sprint completion target </a:t>
            </a:r>
            <a:endParaRPr lang="en-US" sz="1100"/>
          </a:p>
        </p:txBody>
      </p:sp>
      <p:pic>
        <p:nvPicPr>
          <p:cNvPr id="26" name="Image 9" descr="gen-dedup-7637b076e607f7218cdb4973c81f38e6.png"/>
          <p:cNvPicPr>
            <a:picLocks noChangeAspect="1"/>
          </p:cNvPicPr>
          <p:nvPr/>
        </p:nvPicPr>
        <p:blipFill>
          <a:blip r:embed="rId12"/>
          <a:srcRect t="-8450" b="-8450"/>
          <a:stretch/>
        </p:blipFill>
        <p:spPr>
          <a:xfrm>
            <a:off x="5427878" y="5277002"/>
            <a:ext cx="114300" cy="152705"/>
          </a:xfrm>
          <a:prstGeom prst="rect">
            <a:avLst/>
          </a:prstGeom>
        </p:spPr>
      </p:pic>
      <p:pic>
        <p:nvPicPr>
          <p:cNvPr id="27" name="Image 10" descr="gen-dedup-4b04481605890cd5e2948f325621428b.png"/>
          <p:cNvPicPr>
            <a:picLocks noChangeAspect="1"/>
          </p:cNvPicPr>
          <p:nvPr/>
        </p:nvPicPr>
        <p:blipFill>
          <a:blip r:embed="rId13"/>
          <a:srcRect l="-216" r="-216"/>
          <a:stretch/>
        </p:blipFill>
        <p:spPr>
          <a:xfrm>
            <a:off x="7969910" y="5143500"/>
            <a:ext cx="2562149" cy="418795"/>
          </a:xfrm>
          <a:prstGeom prst="rect">
            <a:avLst/>
          </a:prstGeom>
        </p:spPr>
      </p:pic>
      <p:sp>
        <p:nvSpPr>
          <p:cNvPr id="28" name="Shape 15"/>
          <p:cNvSpPr/>
          <p:nvPr/>
        </p:nvSpPr>
        <p:spPr>
          <a:xfrm>
            <a:off x="7969910" y="5143500"/>
            <a:ext cx="2562149" cy="418795"/>
          </a:xfrm>
          <a:prstGeom prst="roundRect">
            <a:avLst>
              <a:gd name="adj" fmla="val 13755"/>
            </a:avLst>
          </a:prstGeom>
          <a:noFill/>
          <a:ln w="12700">
            <a:solidFill>
              <a:srgbClr val="E5E7EB"/>
            </a:solidFill>
            <a:prstDash val="solid"/>
          </a:ln>
        </p:spPr>
        <p:txBody>
          <a:bodyPr/>
          <a:lstStyle/>
          <a:p>
            <a:endParaRPr lang="en-US"/>
          </a:p>
        </p:txBody>
      </p:sp>
      <p:sp>
        <p:nvSpPr>
          <p:cNvPr id="29" name="Text 16"/>
          <p:cNvSpPr txBox="1"/>
          <p:nvPr/>
        </p:nvSpPr>
        <p:spPr>
          <a:xfrm>
            <a:off x="8194548" y="5143500"/>
            <a:ext cx="2125066" cy="419710"/>
          </a:xfrm>
          <a:prstGeom prst="rect">
            <a:avLst/>
          </a:prstGeom>
          <a:solidFill>
            <a:srgbClr val="FFFFFF">
              <a:alpha val="0"/>
            </a:srgbClr>
          </a:solidFill>
          <a:ln>
            <a:solidFill>
              <a:srgbClr val="FFFFFF">
                <a:alpha val="0"/>
              </a:srgbClr>
            </a:solidFill>
          </a:ln>
        </p:spPr>
        <p:txBody>
          <a:bodyPr wrap="none" lIns="190500" tIns="114300" rIns="190500" bIns="114300" rtlCol="0" anchor="ctr"/>
          <a:lstStyle/>
          <a:p>
            <a:pPr marL="0" indent="0" algn="l">
              <a:buNone/>
            </a:pPr>
            <a:r>
              <a:rPr lang="en-US" sz="1100" b="1">
                <a:solidFill>
                  <a:srgbClr val="374151"/>
                </a:solidFill>
                <a:latin typeface="Raleway" pitchFamily="34" charset="0"/>
                <a:ea typeface="Raleway" pitchFamily="34" charset="-122"/>
                <a:cs typeface="Raleway" pitchFamily="34" charset="-120"/>
              </a:rPr>
              <a:t> 0.5 defect density threshold </a:t>
            </a:r>
            <a:endParaRPr lang="en-US" sz="1100"/>
          </a:p>
        </p:txBody>
      </p:sp>
      <p:pic>
        <p:nvPicPr>
          <p:cNvPr id="30" name="Image 11" descr="gen-dedup-de4cb59b8211160ed90cebf7a454cebf.png"/>
          <p:cNvPicPr>
            <a:picLocks noChangeAspect="1"/>
          </p:cNvPicPr>
          <p:nvPr/>
        </p:nvPicPr>
        <p:blipFill>
          <a:blip r:embed="rId14"/>
          <a:srcRect t="-16800" b="-16800"/>
          <a:stretch/>
        </p:blipFill>
        <p:spPr>
          <a:xfrm>
            <a:off x="8198510" y="5277002"/>
            <a:ext cx="114300" cy="152705"/>
          </a:xfrm>
          <a:prstGeom prst="rect">
            <a:avLst/>
          </a:prstGeom>
        </p:spPr>
      </p:pic>
      <p:sp>
        <p:nvSpPr>
          <p:cNvPr id="31" name="Shape 17"/>
          <p:cNvSpPr/>
          <p:nvPr/>
        </p:nvSpPr>
        <p:spPr>
          <a:xfrm>
            <a:off x="1143000" y="6096305"/>
            <a:ext cx="9905695" cy="9144"/>
          </a:xfrm>
          <a:prstGeom prst="rect">
            <a:avLst/>
          </a:prstGeom>
          <a:solidFill>
            <a:srgbClr val="E5E7EB"/>
          </a:solidFill>
          <a:ln w="12700">
            <a:solidFill>
              <a:srgbClr val="E5E7EB">
                <a:alpha val="0"/>
              </a:srgbClr>
            </a:solidFill>
            <a:prstDash val="solid"/>
          </a:ln>
        </p:spPr>
        <p:txBody>
          <a:bodyPr/>
          <a:lstStyle/>
          <a:p>
            <a:endParaRPr lang="en-US"/>
          </a:p>
        </p:txBody>
      </p:sp>
      <p:sp>
        <p:nvSpPr>
          <p:cNvPr id="32" name="Text 18"/>
          <p:cNvSpPr txBox="1"/>
          <p:nvPr/>
        </p:nvSpPr>
        <p:spPr>
          <a:xfrm>
            <a:off x="1143000" y="6258154"/>
            <a:ext cx="9906610" cy="181051"/>
          </a:xfrm>
          <a:prstGeom prst="rect">
            <a:avLst/>
          </a:prstGeom>
          <a:noFill/>
          <a:ln/>
        </p:spPr>
        <p:txBody>
          <a:bodyPr wrap="none" lIns="0" tIns="0" rIns="0" bIns="0" rtlCol="0" anchor="ctr"/>
          <a:lstStyle/>
          <a:p>
            <a:pPr marL="0" indent="0" algn="l">
              <a:buNone/>
            </a:pPr>
            <a:r>
              <a:rPr lang="en-US" sz="1200" b="1" kern="0" spc="24">
                <a:solidFill>
                  <a:srgbClr val="6B7280"/>
                </a:solidFill>
                <a:latin typeface="Raleway" pitchFamily="34" charset="0"/>
                <a:ea typeface="Raleway" pitchFamily="34" charset="-122"/>
                <a:cs typeface="Raleway" pitchFamily="34" charset="-120"/>
              </a:rPr>
              <a:t>Scale your engineering footprint with absolute control and measurable outcomes.</a:t>
            </a:r>
            <a:endParaRPr lang="en-US" sz="1200"/>
          </a:p>
        </p:txBody>
      </p:sp>
    </p:spTree>
    <p:extLst>
      <p:ext uri="{BB962C8B-B14F-4D97-AF65-F5344CB8AC3E}">
        <p14:creationId xmlns:p14="http://schemas.microsoft.com/office/powerpoint/2010/main" val="244470622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pic>
        <p:nvPicPr>
          <p:cNvPr id="4" name="Image 0" descr="preencoded.png"/>
          <p:cNvPicPr>
            <a:picLocks noChangeAspect="1"/>
          </p:cNvPicPr>
          <p:nvPr/>
        </p:nvPicPr>
        <p:blipFill>
          <a:blip r:embed="rId3"/>
          <a:srcRect l="-207" r="-207"/>
          <a:stretch/>
        </p:blipFill>
        <p:spPr>
          <a:xfrm>
            <a:off x="0" y="0"/>
            <a:ext cx="4058107" cy="75895"/>
          </a:xfrm>
          <a:prstGeom prst="rect">
            <a:avLst/>
          </a:prstGeom>
        </p:spPr>
      </p:pic>
      <p:pic>
        <p:nvPicPr>
          <p:cNvPr id="5" name="Image 1" descr="preencoded.png"/>
          <p:cNvPicPr>
            <a:picLocks noChangeAspect="1"/>
          </p:cNvPicPr>
          <p:nvPr/>
        </p:nvPicPr>
        <p:blipFill>
          <a:blip r:embed="rId4"/>
          <a:srcRect l="-202" r="-202"/>
          <a:stretch/>
        </p:blipFill>
        <p:spPr>
          <a:xfrm>
            <a:off x="4058107" y="0"/>
            <a:ext cx="8134502" cy="75895"/>
          </a:xfrm>
          <a:prstGeom prst="rect">
            <a:avLst/>
          </a:prstGeom>
        </p:spPr>
      </p:pic>
      <p:sp>
        <p:nvSpPr>
          <p:cNvPr id="7" name="Shape 3"/>
          <p:cNvSpPr/>
          <p:nvPr/>
        </p:nvSpPr>
        <p:spPr>
          <a:xfrm>
            <a:off x="9525305" y="4762195"/>
            <a:ext cx="2857500" cy="2857500"/>
          </a:xfrm>
          <a:prstGeom prst="ellipse">
            <a:avLst/>
          </a:prstGeom>
          <a:solidFill>
            <a:srgbClr val="D62839">
              <a:alpha val="3000"/>
            </a:srgbClr>
          </a:solidFill>
          <a:ln w="12700">
            <a:solidFill>
              <a:srgbClr val="FFFFFF">
                <a:alpha val="0"/>
              </a:srgbClr>
            </a:solidFill>
            <a:prstDash val="solid"/>
          </a:ln>
        </p:spPr>
        <p:txBody>
          <a:bodyPr/>
          <a:lstStyle/>
          <a:p>
            <a:endParaRPr lang="en-US"/>
          </a:p>
        </p:txBody>
      </p:sp>
      <p:sp>
        <p:nvSpPr>
          <p:cNvPr id="9" name="Shape 4"/>
          <p:cNvSpPr/>
          <p:nvPr/>
        </p:nvSpPr>
        <p:spPr>
          <a:xfrm>
            <a:off x="609905" y="1524305"/>
            <a:ext cx="2628900" cy="1962302"/>
          </a:xfrm>
          <a:prstGeom prst="roundRect">
            <a:avLst>
              <a:gd name="adj" fmla="val 36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endParaRPr lang="en-US"/>
          </a:p>
        </p:txBody>
      </p:sp>
      <p:sp>
        <p:nvSpPr>
          <p:cNvPr id="10" name="Shape 5"/>
          <p:cNvSpPr/>
          <p:nvPr/>
        </p:nvSpPr>
        <p:spPr>
          <a:xfrm>
            <a:off x="609905" y="1524305"/>
            <a:ext cx="2628900" cy="47549"/>
          </a:xfrm>
          <a:prstGeom prst="roundRect">
            <a:avLst>
              <a:gd name="adj" fmla="val 149365"/>
            </a:avLst>
          </a:prstGeom>
          <a:solidFill>
            <a:srgbClr val="2A9D8F"/>
          </a:solidFill>
          <a:ln w="12700">
            <a:solidFill>
              <a:srgbClr val="2A9D8F">
                <a:alpha val="0"/>
              </a:srgbClr>
            </a:solidFill>
            <a:prstDash val="solid"/>
          </a:ln>
        </p:spPr>
        <p:txBody>
          <a:bodyPr/>
          <a:lstStyle/>
          <a:p>
            <a:endParaRPr lang="en-US"/>
          </a:p>
        </p:txBody>
      </p:sp>
      <p:sp>
        <p:nvSpPr>
          <p:cNvPr id="11" name="Shape 6"/>
          <p:cNvSpPr/>
          <p:nvPr/>
        </p:nvSpPr>
        <p:spPr>
          <a:xfrm>
            <a:off x="3372307" y="1524305"/>
            <a:ext cx="2628900" cy="1962302"/>
          </a:xfrm>
          <a:prstGeom prst="roundRect">
            <a:avLst>
              <a:gd name="adj" fmla="val 36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endParaRPr lang="en-US"/>
          </a:p>
        </p:txBody>
      </p:sp>
      <p:sp>
        <p:nvSpPr>
          <p:cNvPr id="12" name="Shape 7"/>
          <p:cNvSpPr/>
          <p:nvPr/>
        </p:nvSpPr>
        <p:spPr>
          <a:xfrm>
            <a:off x="3372307" y="1524305"/>
            <a:ext cx="2628900" cy="47549"/>
          </a:xfrm>
          <a:prstGeom prst="roundRect">
            <a:avLst>
              <a:gd name="adj" fmla="val 149365"/>
            </a:avLst>
          </a:prstGeom>
          <a:solidFill>
            <a:srgbClr val="D62839"/>
          </a:solidFill>
          <a:ln w="12700">
            <a:solidFill>
              <a:srgbClr val="D62839">
                <a:alpha val="0"/>
              </a:srgbClr>
            </a:solidFill>
            <a:prstDash val="solid"/>
          </a:ln>
        </p:spPr>
        <p:txBody>
          <a:bodyPr/>
          <a:lstStyle/>
          <a:p>
            <a:endParaRPr lang="en-US"/>
          </a:p>
        </p:txBody>
      </p:sp>
      <p:sp>
        <p:nvSpPr>
          <p:cNvPr id="13" name="Shape 8"/>
          <p:cNvSpPr/>
          <p:nvPr/>
        </p:nvSpPr>
        <p:spPr>
          <a:xfrm>
            <a:off x="6133795" y="1524305"/>
            <a:ext cx="2628900" cy="1962302"/>
          </a:xfrm>
          <a:prstGeom prst="roundRect">
            <a:avLst>
              <a:gd name="adj" fmla="val 36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endParaRPr lang="en-US"/>
          </a:p>
        </p:txBody>
      </p:sp>
      <p:sp>
        <p:nvSpPr>
          <p:cNvPr id="14" name="Shape 9"/>
          <p:cNvSpPr/>
          <p:nvPr/>
        </p:nvSpPr>
        <p:spPr>
          <a:xfrm>
            <a:off x="6133795" y="1524305"/>
            <a:ext cx="2628900" cy="47549"/>
          </a:xfrm>
          <a:prstGeom prst="roundRect">
            <a:avLst>
              <a:gd name="adj" fmla="val 149365"/>
            </a:avLst>
          </a:prstGeom>
          <a:solidFill>
            <a:srgbClr val="2A9D8F"/>
          </a:solidFill>
          <a:ln w="12700">
            <a:solidFill>
              <a:srgbClr val="2A9D8F">
                <a:alpha val="0"/>
              </a:srgbClr>
            </a:solidFill>
            <a:prstDash val="solid"/>
          </a:ln>
        </p:spPr>
        <p:txBody>
          <a:bodyPr/>
          <a:lstStyle/>
          <a:p>
            <a:endParaRPr lang="en-US"/>
          </a:p>
        </p:txBody>
      </p:sp>
      <p:sp>
        <p:nvSpPr>
          <p:cNvPr id="15" name="Shape 10"/>
          <p:cNvSpPr/>
          <p:nvPr/>
        </p:nvSpPr>
        <p:spPr>
          <a:xfrm>
            <a:off x="8896198" y="1524305"/>
            <a:ext cx="2628900" cy="1962302"/>
          </a:xfrm>
          <a:prstGeom prst="roundRect">
            <a:avLst>
              <a:gd name="adj" fmla="val 36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endParaRPr lang="en-US"/>
          </a:p>
        </p:txBody>
      </p:sp>
      <p:sp>
        <p:nvSpPr>
          <p:cNvPr id="16" name="Shape 11"/>
          <p:cNvSpPr/>
          <p:nvPr/>
        </p:nvSpPr>
        <p:spPr>
          <a:xfrm>
            <a:off x="8896198" y="1524305"/>
            <a:ext cx="2628900" cy="47549"/>
          </a:xfrm>
          <a:prstGeom prst="roundRect">
            <a:avLst>
              <a:gd name="adj" fmla="val 149365"/>
            </a:avLst>
          </a:prstGeom>
          <a:solidFill>
            <a:srgbClr val="D62839"/>
          </a:solidFill>
          <a:ln w="12700">
            <a:solidFill>
              <a:srgbClr val="D62839">
                <a:alpha val="0"/>
              </a:srgbClr>
            </a:solidFill>
            <a:prstDash val="solid"/>
          </a:ln>
        </p:spPr>
        <p:txBody>
          <a:bodyPr/>
          <a:lstStyle/>
          <a:p>
            <a:endParaRPr lang="en-US"/>
          </a:p>
        </p:txBody>
      </p:sp>
      <p:sp>
        <p:nvSpPr>
          <p:cNvPr id="17" name="Shape 12"/>
          <p:cNvSpPr/>
          <p:nvPr/>
        </p:nvSpPr>
        <p:spPr>
          <a:xfrm>
            <a:off x="609905" y="3619195"/>
            <a:ext cx="10916107" cy="2876702"/>
          </a:xfrm>
          <a:prstGeom prst="roundRect">
            <a:avLst>
              <a:gd name="adj" fmla="val 1684"/>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endParaRPr lang="en-US"/>
          </a:p>
        </p:txBody>
      </p:sp>
      <p:pic>
        <p:nvPicPr>
          <p:cNvPr id="18" name="Image 3" descr="preencoded.png"/>
          <p:cNvPicPr>
            <a:picLocks noChangeAspect="1"/>
          </p:cNvPicPr>
          <p:nvPr/>
        </p:nvPicPr>
        <p:blipFill>
          <a:blip r:embed="rId5"/>
          <a:srcRect t="-29" b="-29"/>
          <a:stretch/>
        </p:blipFill>
        <p:spPr>
          <a:xfrm>
            <a:off x="609905" y="3619195"/>
            <a:ext cx="10896905" cy="495605"/>
          </a:xfrm>
          <a:prstGeom prst="rect">
            <a:avLst/>
          </a:prstGeom>
        </p:spPr>
      </p:pic>
      <p:sp>
        <p:nvSpPr>
          <p:cNvPr id="19" name="Shape 13"/>
          <p:cNvSpPr/>
          <p:nvPr/>
        </p:nvSpPr>
        <p:spPr>
          <a:xfrm>
            <a:off x="609905" y="4572000"/>
            <a:ext cx="10896905" cy="9144"/>
          </a:xfrm>
          <a:prstGeom prst="rect">
            <a:avLst/>
          </a:prstGeom>
          <a:solidFill>
            <a:srgbClr val="F3F4F6"/>
          </a:solidFill>
          <a:ln w="12700">
            <a:solidFill>
              <a:srgbClr val="F3F4F6">
                <a:alpha val="0"/>
              </a:srgbClr>
            </a:solidFill>
            <a:prstDash val="solid"/>
          </a:ln>
        </p:spPr>
        <p:txBody>
          <a:bodyPr/>
          <a:lstStyle/>
          <a:p>
            <a:endParaRPr lang="en-US"/>
          </a:p>
        </p:txBody>
      </p:sp>
      <p:sp>
        <p:nvSpPr>
          <p:cNvPr id="20" name="Shape 14"/>
          <p:cNvSpPr/>
          <p:nvPr/>
        </p:nvSpPr>
        <p:spPr>
          <a:xfrm>
            <a:off x="609905" y="4572000"/>
            <a:ext cx="10896905" cy="485546"/>
          </a:xfrm>
          <a:prstGeom prst="rect">
            <a:avLst/>
          </a:prstGeom>
          <a:solidFill>
            <a:srgbClr val="2A9D8F">
              <a:alpha val="2000"/>
            </a:srgbClr>
          </a:solidFill>
          <a:ln/>
        </p:spPr>
        <p:txBody>
          <a:bodyPr/>
          <a:lstStyle/>
          <a:p>
            <a:endParaRPr lang="en-US"/>
          </a:p>
        </p:txBody>
      </p:sp>
      <p:sp>
        <p:nvSpPr>
          <p:cNvPr id="21" name="Shape 15"/>
          <p:cNvSpPr/>
          <p:nvPr/>
        </p:nvSpPr>
        <p:spPr>
          <a:xfrm>
            <a:off x="609905" y="5048402"/>
            <a:ext cx="10896905" cy="9144"/>
          </a:xfrm>
          <a:prstGeom prst="rect">
            <a:avLst/>
          </a:prstGeom>
          <a:solidFill>
            <a:srgbClr val="F3F4F6"/>
          </a:solidFill>
          <a:ln w="12700">
            <a:solidFill>
              <a:srgbClr val="F3F4F6">
                <a:alpha val="0"/>
              </a:srgbClr>
            </a:solidFill>
            <a:prstDash val="solid"/>
          </a:ln>
        </p:spPr>
        <p:txBody>
          <a:bodyPr/>
          <a:lstStyle/>
          <a:p>
            <a:endParaRPr lang="en-US"/>
          </a:p>
        </p:txBody>
      </p:sp>
      <p:sp>
        <p:nvSpPr>
          <p:cNvPr id="22" name="Shape 16"/>
          <p:cNvSpPr/>
          <p:nvPr/>
        </p:nvSpPr>
        <p:spPr>
          <a:xfrm>
            <a:off x="609905" y="5524805"/>
            <a:ext cx="10896905" cy="9144"/>
          </a:xfrm>
          <a:prstGeom prst="rect">
            <a:avLst/>
          </a:prstGeom>
          <a:solidFill>
            <a:srgbClr val="F3F4F6"/>
          </a:solidFill>
          <a:ln w="12700">
            <a:solidFill>
              <a:srgbClr val="F3F4F6">
                <a:alpha val="0"/>
              </a:srgbClr>
            </a:solidFill>
            <a:prstDash val="solid"/>
          </a:ln>
        </p:spPr>
        <p:txBody>
          <a:bodyPr/>
          <a:lstStyle/>
          <a:p>
            <a:endParaRPr lang="en-US"/>
          </a:p>
        </p:txBody>
      </p:sp>
      <p:sp>
        <p:nvSpPr>
          <p:cNvPr id="23" name="Shape 17"/>
          <p:cNvSpPr/>
          <p:nvPr/>
        </p:nvSpPr>
        <p:spPr>
          <a:xfrm>
            <a:off x="609905" y="5524805"/>
            <a:ext cx="10896905" cy="485546"/>
          </a:xfrm>
          <a:prstGeom prst="rect">
            <a:avLst/>
          </a:prstGeom>
          <a:solidFill>
            <a:srgbClr val="2A9D8F">
              <a:alpha val="2000"/>
            </a:srgbClr>
          </a:solidFill>
          <a:ln/>
        </p:spPr>
        <p:txBody>
          <a:bodyPr/>
          <a:lstStyle/>
          <a:p>
            <a:endParaRPr lang="en-US"/>
          </a:p>
        </p:txBody>
      </p:sp>
      <p:sp>
        <p:nvSpPr>
          <p:cNvPr id="24" name="Shape 18"/>
          <p:cNvSpPr/>
          <p:nvPr/>
        </p:nvSpPr>
        <p:spPr>
          <a:xfrm>
            <a:off x="609905" y="6001207"/>
            <a:ext cx="10896905" cy="9144"/>
          </a:xfrm>
          <a:prstGeom prst="rect">
            <a:avLst/>
          </a:prstGeom>
          <a:solidFill>
            <a:srgbClr val="F3F4F6"/>
          </a:solidFill>
          <a:ln w="12700">
            <a:solidFill>
              <a:srgbClr val="F3F4F6">
                <a:alpha val="0"/>
              </a:srgbClr>
            </a:solidFill>
            <a:prstDash val="solid"/>
          </a:ln>
        </p:spPr>
        <p:txBody>
          <a:bodyPr/>
          <a:lstStyle/>
          <a:p>
            <a:endParaRPr lang="en-US"/>
          </a:p>
        </p:txBody>
      </p:sp>
      <p:pic>
        <p:nvPicPr>
          <p:cNvPr id="27" name="Image 4" descr="preencoded.png"/>
          <p:cNvPicPr>
            <a:picLocks noChangeAspect="1"/>
          </p:cNvPicPr>
          <p:nvPr/>
        </p:nvPicPr>
        <p:blipFill>
          <a:blip r:embed="rId6"/>
          <a:srcRect/>
          <a:stretch/>
        </p:blipFill>
        <p:spPr>
          <a:xfrm>
            <a:off x="823874" y="1772107"/>
            <a:ext cx="333756" cy="267005"/>
          </a:xfrm>
          <a:prstGeom prst="rect">
            <a:avLst/>
          </a:prstGeom>
        </p:spPr>
      </p:pic>
      <p:sp>
        <p:nvSpPr>
          <p:cNvPr id="28" name="Text 21"/>
          <p:cNvSpPr txBox="1"/>
          <p:nvPr/>
        </p:nvSpPr>
        <p:spPr>
          <a:xfrm>
            <a:off x="800100" y="2190902"/>
            <a:ext cx="2318004" cy="219456"/>
          </a:xfrm>
          <a:prstGeom prst="rect">
            <a:avLst/>
          </a:prstGeom>
          <a:noFill/>
          <a:ln/>
        </p:spPr>
        <p:txBody>
          <a:bodyPr wrap="square" lIns="0" tIns="0" rIns="0" bIns="0" rtlCol="0" anchor="ctr"/>
          <a:lstStyle/>
          <a:p>
            <a:pPr marL="0" indent="0" algn="l">
              <a:buNone/>
            </a:pPr>
            <a:r>
              <a:rPr lang="en-US" sz="1500" b="1">
                <a:solidFill>
                  <a:srgbClr val="1F2937"/>
                </a:solidFill>
                <a:latin typeface="Oswald" pitchFamily="34" charset="0"/>
                <a:ea typeface="Oswald" pitchFamily="34" charset="-122"/>
                <a:cs typeface="Oswald" pitchFamily="34" charset="-120"/>
              </a:rPr>
              <a:t>Engineering Team</a:t>
            </a:r>
            <a:endParaRPr lang="en-US" sz="1500"/>
          </a:p>
        </p:txBody>
      </p:sp>
      <p:sp>
        <p:nvSpPr>
          <p:cNvPr id="29" name="Text 22"/>
          <p:cNvSpPr txBox="1"/>
          <p:nvPr/>
        </p:nvSpPr>
        <p:spPr>
          <a:xfrm>
            <a:off x="800100" y="2514600"/>
            <a:ext cx="2305202" cy="562356"/>
          </a:xfrm>
          <a:prstGeom prst="rect">
            <a:avLst/>
          </a:prstGeom>
          <a:noFill/>
          <a:ln/>
        </p:spPr>
        <p:txBody>
          <a:bodyPr wrap="square" lIns="0" tIns="0" rIns="0" bIns="0" rtlCol="0" anchor="ctr"/>
          <a:lstStyle/>
          <a:p>
            <a:pPr marL="0" indent="0" algn="l">
              <a:buNone/>
            </a:pPr>
            <a:r>
              <a:rPr lang="en-US" sz="1000">
                <a:solidFill>
                  <a:srgbClr val="4B5563"/>
                </a:solidFill>
                <a:latin typeface="Raleway" pitchFamily="34" charset="0"/>
                <a:ea typeface="Raleway" pitchFamily="34" charset="-122"/>
                <a:cs typeface="Raleway" pitchFamily="34" charset="-120"/>
              </a:rPr>
              <a:t>Dedicated engineers (Java, Python, DevOps) - hired, vetted, and onboarded by J2W.</a:t>
            </a:r>
            <a:endParaRPr lang="en-US" sz="1000"/>
          </a:p>
        </p:txBody>
      </p:sp>
      <p:pic>
        <p:nvPicPr>
          <p:cNvPr id="30" name="Image 5" descr="preencoded.png"/>
          <p:cNvPicPr>
            <a:picLocks noChangeAspect="1"/>
          </p:cNvPicPr>
          <p:nvPr/>
        </p:nvPicPr>
        <p:blipFill>
          <a:blip r:embed="rId7"/>
          <a:srcRect l="-881" r="-881"/>
          <a:stretch/>
        </p:blipFill>
        <p:spPr>
          <a:xfrm>
            <a:off x="3633826" y="1772107"/>
            <a:ext cx="237744" cy="267005"/>
          </a:xfrm>
          <a:prstGeom prst="rect">
            <a:avLst/>
          </a:prstGeom>
        </p:spPr>
      </p:pic>
      <p:sp>
        <p:nvSpPr>
          <p:cNvPr id="31" name="Text 23"/>
          <p:cNvSpPr txBox="1"/>
          <p:nvPr/>
        </p:nvSpPr>
        <p:spPr>
          <a:xfrm>
            <a:off x="3562502" y="2190902"/>
            <a:ext cx="2318004" cy="219456"/>
          </a:xfrm>
          <a:prstGeom prst="rect">
            <a:avLst/>
          </a:prstGeom>
          <a:noFill/>
          <a:ln/>
        </p:spPr>
        <p:txBody>
          <a:bodyPr wrap="square" lIns="0" tIns="0" rIns="0" bIns="0" rtlCol="0" anchor="ctr"/>
          <a:lstStyle/>
          <a:p>
            <a:pPr marL="0" indent="0" algn="l">
              <a:buNone/>
            </a:pPr>
            <a:r>
              <a:rPr lang="en-US" sz="1500" b="1">
                <a:solidFill>
                  <a:srgbClr val="1F2937"/>
                </a:solidFill>
                <a:latin typeface="Oswald" pitchFamily="34" charset="0"/>
                <a:ea typeface="Oswald" pitchFamily="34" charset="-122"/>
                <a:cs typeface="Oswald" pitchFamily="34" charset="-120"/>
              </a:rPr>
              <a:t>Pod Lead</a:t>
            </a:r>
            <a:endParaRPr lang="en-US" sz="1500"/>
          </a:p>
        </p:txBody>
      </p:sp>
      <p:sp>
        <p:nvSpPr>
          <p:cNvPr id="32" name="Text 24"/>
          <p:cNvSpPr txBox="1"/>
          <p:nvPr/>
        </p:nvSpPr>
        <p:spPr>
          <a:xfrm>
            <a:off x="3562502" y="2514600"/>
            <a:ext cx="2305202" cy="562356"/>
          </a:xfrm>
          <a:prstGeom prst="rect">
            <a:avLst/>
          </a:prstGeom>
          <a:noFill/>
          <a:ln/>
        </p:spPr>
        <p:txBody>
          <a:bodyPr wrap="square" lIns="0" tIns="0" rIns="0" bIns="0" rtlCol="0" anchor="ctr"/>
          <a:lstStyle/>
          <a:p>
            <a:pPr marL="0" indent="0" algn="l">
              <a:buNone/>
            </a:pPr>
            <a:r>
              <a:rPr lang="en-US" sz="1000">
                <a:solidFill>
                  <a:srgbClr val="4B5563"/>
                </a:solidFill>
                <a:latin typeface="Raleway" pitchFamily="34" charset="0"/>
                <a:ea typeface="Raleway" pitchFamily="34" charset="-122"/>
                <a:cs typeface="Raleway" pitchFamily="34" charset="-120"/>
              </a:rPr>
              <a:t>A J2W program manager who owns delivery, sprint governance, and client alignment.</a:t>
            </a:r>
            <a:endParaRPr lang="en-US" sz="1000"/>
          </a:p>
        </p:txBody>
      </p:sp>
      <p:pic>
        <p:nvPicPr>
          <p:cNvPr id="33" name="Image 6" descr="preencoded.png"/>
          <p:cNvPicPr>
            <a:picLocks noChangeAspect="1"/>
          </p:cNvPicPr>
          <p:nvPr/>
        </p:nvPicPr>
        <p:blipFill>
          <a:blip r:embed="rId8"/>
          <a:srcRect/>
          <a:stretch/>
        </p:blipFill>
        <p:spPr>
          <a:xfrm>
            <a:off x="6381598" y="1772107"/>
            <a:ext cx="267005" cy="267005"/>
          </a:xfrm>
          <a:prstGeom prst="rect">
            <a:avLst/>
          </a:prstGeom>
        </p:spPr>
      </p:pic>
      <p:sp>
        <p:nvSpPr>
          <p:cNvPr id="34" name="Text 25"/>
          <p:cNvSpPr txBox="1"/>
          <p:nvPr/>
        </p:nvSpPr>
        <p:spPr>
          <a:xfrm>
            <a:off x="6324905" y="2190902"/>
            <a:ext cx="2652674" cy="219456"/>
          </a:xfrm>
          <a:prstGeom prst="rect">
            <a:avLst/>
          </a:prstGeom>
          <a:noFill/>
          <a:ln/>
        </p:spPr>
        <p:txBody>
          <a:bodyPr wrap="square" lIns="0" tIns="0" rIns="0" bIns="0" rtlCol="0" anchor="ctr"/>
          <a:lstStyle/>
          <a:p>
            <a:pPr marL="0" indent="0" algn="l">
              <a:buNone/>
            </a:pPr>
            <a:r>
              <a:rPr lang="en-US" sz="1500" b="1">
                <a:solidFill>
                  <a:srgbClr val="1F2937"/>
                </a:solidFill>
                <a:latin typeface="Oswald" pitchFamily="34" charset="0"/>
                <a:ea typeface="Oswald" pitchFamily="34" charset="-122"/>
                <a:cs typeface="Oswald" pitchFamily="34" charset="-120"/>
              </a:rPr>
              <a:t>Performance Governance</a:t>
            </a:r>
            <a:endParaRPr lang="en-US" sz="1500"/>
          </a:p>
        </p:txBody>
      </p:sp>
      <p:sp>
        <p:nvSpPr>
          <p:cNvPr id="35" name="Text 26"/>
          <p:cNvSpPr txBox="1"/>
          <p:nvPr/>
        </p:nvSpPr>
        <p:spPr>
          <a:xfrm>
            <a:off x="6324905" y="2514600"/>
            <a:ext cx="2305202" cy="543154"/>
          </a:xfrm>
          <a:prstGeom prst="rect">
            <a:avLst/>
          </a:prstGeom>
          <a:noFill/>
          <a:ln/>
        </p:spPr>
        <p:txBody>
          <a:bodyPr wrap="square" lIns="0" tIns="0" rIns="0" bIns="0" rtlCol="0" anchor="ctr"/>
          <a:lstStyle/>
          <a:p>
            <a:pPr marL="0" indent="0" algn="l">
              <a:buNone/>
            </a:pPr>
            <a:r>
              <a:rPr lang="en-US" sz="1000">
                <a:solidFill>
                  <a:srgbClr val="4B5563"/>
                </a:solidFill>
                <a:latin typeface="Raleway" pitchFamily="34" charset="0"/>
                <a:ea typeface="Raleway" pitchFamily="34" charset="-122"/>
                <a:cs typeface="Raleway" pitchFamily="34" charset="-120"/>
              </a:rPr>
              <a:t>Weekly performance tracking, SLA metrics, velocity monitoring, proactive resolution.</a:t>
            </a:r>
            <a:endParaRPr lang="en-US" sz="1000"/>
          </a:p>
        </p:txBody>
      </p:sp>
      <p:pic>
        <p:nvPicPr>
          <p:cNvPr id="36" name="Image 7" descr="preencoded.png"/>
          <p:cNvPicPr>
            <a:picLocks noChangeAspect="1"/>
          </p:cNvPicPr>
          <p:nvPr/>
        </p:nvPicPr>
        <p:blipFill>
          <a:blip r:embed="rId9"/>
          <a:srcRect/>
          <a:stretch/>
        </p:blipFill>
        <p:spPr>
          <a:xfrm>
            <a:off x="9144000" y="1772107"/>
            <a:ext cx="267005" cy="267005"/>
          </a:xfrm>
          <a:prstGeom prst="rect">
            <a:avLst/>
          </a:prstGeom>
        </p:spPr>
      </p:pic>
      <p:sp>
        <p:nvSpPr>
          <p:cNvPr id="37" name="Text 27"/>
          <p:cNvSpPr txBox="1"/>
          <p:nvPr/>
        </p:nvSpPr>
        <p:spPr>
          <a:xfrm>
            <a:off x="9087307" y="2190902"/>
            <a:ext cx="2451506" cy="219456"/>
          </a:xfrm>
          <a:prstGeom prst="rect">
            <a:avLst/>
          </a:prstGeom>
          <a:noFill/>
          <a:ln/>
        </p:spPr>
        <p:txBody>
          <a:bodyPr wrap="square" lIns="0" tIns="0" rIns="0" bIns="0" rtlCol="0" anchor="ctr"/>
          <a:lstStyle/>
          <a:p>
            <a:pPr marL="0" indent="0" algn="l">
              <a:buNone/>
            </a:pPr>
            <a:r>
              <a:rPr lang="en-US" sz="1500" b="1">
                <a:solidFill>
                  <a:srgbClr val="1F2937"/>
                </a:solidFill>
                <a:latin typeface="Oswald" pitchFamily="34" charset="0"/>
                <a:ea typeface="Oswald" pitchFamily="34" charset="-122"/>
                <a:cs typeface="Oswald" pitchFamily="34" charset="-120"/>
              </a:rPr>
              <a:t>AI-First L&amp;D Program</a:t>
            </a:r>
            <a:endParaRPr lang="en-US" sz="1500"/>
          </a:p>
        </p:txBody>
      </p:sp>
      <p:sp>
        <p:nvSpPr>
          <p:cNvPr id="38" name="Text 28"/>
          <p:cNvSpPr txBox="1"/>
          <p:nvPr/>
        </p:nvSpPr>
        <p:spPr>
          <a:xfrm>
            <a:off x="9087307" y="2514600"/>
            <a:ext cx="2305202" cy="562356"/>
          </a:xfrm>
          <a:prstGeom prst="rect">
            <a:avLst/>
          </a:prstGeom>
          <a:noFill/>
          <a:ln/>
        </p:spPr>
        <p:txBody>
          <a:bodyPr wrap="square" lIns="0" tIns="0" rIns="0" bIns="0" rtlCol="0" anchor="ctr"/>
          <a:lstStyle/>
          <a:p>
            <a:pPr marL="0" indent="0" algn="l">
              <a:buNone/>
            </a:pPr>
            <a:r>
              <a:rPr lang="en-US" sz="1000">
                <a:solidFill>
                  <a:srgbClr val="4B5563"/>
                </a:solidFill>
                <a:latin typeface="Raleway" pitchFamily="34" charset="0"/>
                <a:ea typeface="Raleway" pitchFamily="34" charset="-122"/>
                <a:cs typeface="Raleway" pitchFamily="34" charset="-120"/>
              </a:rPr>
              <a:t>Continuous AI training - hands-on, contextual upskilling powered by Research Wing.</a:t>
            </a:r>
            <a:endParaRPr lang="en-US" sz="1000"/>
          </a:p>
        </p:txBody>
      </p:sp>
      <p:sp>
        <p:nvSpPr>
          <p:cNvPr id="39" name="Text 29"/>
          <p:cNvSpPr txBox="1"/>
          <p:nvPr/>
        </p:nvSpPr>
        <p:spPr>
          <a:xfrm>
            <a:off x="800100" y="3762756"/>
            <a:ext cx="2774290" cy="228600"/>
          </a:xfrm>
          <a:prstGeom prst="rect">
            <a:avLst/>
          </a:prstGeom>
          <a:noFill/>
          <a:ln/>
        </p:spPr>
        <p:txBody>
          <a:bodyPr wrap="square" lIns="0" tIns="0" rIns="0" bIns="0" rtlCol="0" anchor="ctr"/>
          <a:lstStyle/>
          <a:p>
            <a:pPr marL="0" indent="0" algn="l">
              <a:buNone/>
            </a:pPr>
            <a:r>
              <a:rPr lang="en-US" sz="1200" b="1" kern="0" spc="75">
                <a:solidFill>
                  <a:srgbClr val="4B5563"/>
                </a:solidFill>
                <a:latin typeface="Oswald" pitchFamily="34" charset="0"/>
                <a:ea typeface="Oswald" pitchFamily="34" charset="-122"/>
                <a:cs typeface="Oswald" pitchFamily="34" charset="-120"/>
              </a:rPr>
              <a:t>Dimension</a:t>
            </a:r>
            <a:endParaRPr lang="en-US" sz="1200"/>
          </a:p>
        </p:txBody>
      </p:sp>
      <p:sp>
        <p:nvSpPr>
          <p:cNvPr id="40" name="Text 30"/>
          <p:cNvSpPr txBox="1"/>
          <p:nvPr/>
        </p:nvSpPr>
        <p:spPr>
          <a:xfrm>
            <a:off x="3657600" y="3762756"/>
            <a:ext cx="3543300" cy="228600"/>
          </a:xfrm>
          <a:prstGeom prst="rect">
            <a:avLst/>
          </a:prstGeom>
          <a:noFill/>
          <a:ln/>
        </p:spPr>
        <p:txBody>
          <a:bodyPr wrap="square" lIns="0" tIns="0" rIns="0" bIns="0" rtlCol="0" anchor="ctr"/>
          <a:lstStyle/>
          <a:p>
            <a:pPr marL="0" indent="0" algn="l">
              <a:buNone/>
            </a:pPr>
            <a:r>
              <a:rPr lang="en-US" sz="1200" b="1" kern="0" spc="75">
                <a:solidFill>
                  <a:srgbClr val="4B5563"/>
                </a:solidFill>
                <a:latin typeface="Oswald" pitchFamily="34" charset="0"/>
                <a:ea typeface="Oswald" pitchFamily="34" charset="-122"/>
                <a:cs typeface="Oswald" pitchFamily="34" charset="-120"/>
              </a:rPr>
              <a:t>Traditional Staffing</a:t>
            </a:r>
            <a:endParaRPr lang="en-US" sz="1200"/>
          </a:p>
        </p:txBody>
      </p:sp>
      <p:sp>
        <p:nvSpPr>
          <p:cNvPr id="41" name="Text 31"/>
          <p:cNvSpPr txBox="1"/>
          <p:nvPr/>
        </p:nvSpPr>
        <p:spPr>
          <a:xfrm>
            <a:off x="7276795" y="3762756"/>
            <a:ext cx="4114800" cy="228600"/>
          </a:xfrm>
          <a:prstGeom prst="rect">
            <a:avLst/>
          </a:prstGeom>
          <a:noFill/>
          <a:ln/>
        </p:spPr>
        <p:txBody>
          <a:bodyPr wrap="square" lIns="0" tIns="0" rIns="0" bIns="0" rtlCol="0" anchor="ctr"/>
          <a:lstStyle/>
          <a:p>
            <a:pPr marL="0" indent="0" algn="l">
              <a:buNone/>
            </a:pPr>
            <a:r>
              <a:rPr lang="en-US" sz="1200" b="1" kern="0" spc="75">
                <a:solidFill>
                  <a:srgbClr val="2A9D8F"/>
                </a:solidFill>
                <a:latin typeface="Oswald" pitchFamily="34" charset="0"/>
                <a:ea typeface="Oswald" pitchFamily="34" charset="-122"/>
                <a:cs typeface="Oswald" pitchFamily="34" charset="-120"/>
              </a:rPr>
              <a:t>AI-First Pod</a:t>
            </a:r>
            <a:endParaRPr lang="en-US" sz="1200"/>
          </a:p>
        </p:txBody>
      </p:sp>
      <p:sp>
        <p:nvSpPr>
          <p:cNvPr id="42" name="Text 32"/>
          <p:cNvSpPr txBox="1"/>
          <p:nvPr/>
        </p:nvSpPr>
        <p:spPr>
          <a:xfrm>
            <a:off x="800100" y="4238244"/>
            <a:ext cx="2774290" cy="228600"/>
          </a:xfrm>
          <a:prstGeom prst="rect">
            <a:avLst/>
          </a:prstGeom>
          <a:noFill/>
          <a:ln/>
        </p:spPr>
        <p:txBody>
          <a:bodyPr wrap="square" lIns="0" tIns="0" rIns="0" bIns="0" rtlCol="0" anchor="ctr"/>
          <a:lstStyle/>
          <a:p>
            <a:pPr marL="0" indent="0" algn="l">
              <a:buNone/>
            </a:pPr>
            <a:r>
              <a:rPr lang="en-US" sz="1200" b="1">
                <a:solidFill>
                  <a:srgbClr val="1F2937"/>
                </a:solidFill>
                <a:latin typeface="Oswald" pitchFamily="34" charset="0"/>
                <a:ea typeface="Oswald" pitchFamily="34" charset="-122"/>
                <a:cs typeface="Oswald" pitchFamily="34" charset="-120"/>
              </a:rPr>
              <a:t>Governance</a:t>
            </a:r>
            <a:endParaRPr lang="en-US" sz="1200"/>
          </a:p>
        </p:txBody>
      </p:sp>
      <p:sp>
        <p:nvSpPr>
          <p:cNvPr id="43" name="Text 33"/>
          <p:cNvSpPr txBox="1"/>
          <p:nvPr/>
        </p:nvSpPr>
        <p:spPr>
          <a:xfrm>
            <a:off x="3657600" y="4238244"/>
            <a:ext cx="3543300" cy="171907"/>
          </a:xfrm>
          <a:prstGeom prst="rect">
            <a:avLst/>
          </a:prstGeom>
          <a:noFill/>
          <a:ln/>
        </p:spPr>
        <p:txBody>
          <a:bodyPr wrap="square" lIns="0" tIns="0" rIns="0" bIns="0" rtlCol="0" anchor="ctr"/>
          <a:lstStyle/>
          <a:p>
            <a:pPr marL="0" indent="0" algn="l">
              <a:buNone/>
            </a:pPr>
            <a:r>
              <a:rPr lang="en-US" sz="1100">
                <a:solidFill>
                  <a:srgbClr val="6B7280"/>
                </a:solidFill>
                <a:latin typeface="Raleway" pitchFamily="34" charset="0"/>
                <a:ea typeface="Raleway" pitchFamily="34" charset="-122"/>
                <a:cs typeface="Raleway" pitchFamily="34" charset="-120"/>
              </a:rPr>
              <a:t>Client's burden</a:t>
            </a:r>
            <a:endParaRPr lang="en-US" sz="1100"/>
          </a:p>
        </p:txBody>
      </p:sp>
      <p:pic>
        <p:nvPicPr>
          <p:cNvPr id="44" name="Image 8" descr="preencoded.png"/>
          <p:cNvPicPr>
            <a:picLocks noChangeAspect="1"/>
          </p:cNvPicPr>
          <p:nvPr/>
        </p:nvPicPr>
        <p:blipFill>
          <a:blip r:embed="rId10"/>
          <a:srcRect t="-1100" b="-1100"/>
          <a:stretch/>
        </p:blipFill>
        <p:spPr>
          <a:xfrm>
            <a:off x="7276795" y="4257446"/>
            <a:ext cx="114300" cy="133502"/>
          </a:xfrm>
          <a:prstGeom prst="rect">
            <a:avLst/>
          </a:prstGeom>
        </p:spPr>
      </p:pic>
      <p:sp>
        <p:nvSpPr>
          <p:cNvPr id="45" name="Text 34"/>
          <p:cNvSpPr txBox="1"/>
          <p:nvPr/>
        </p:nvSpPr>
        <p:spPr>
          <a:xfrm>
            <a:off x="7524598" y="4238244"/>
            <a:ext cx="3829507" cy="171907"/>
          </a:xfrm>
          <a:prstGeom prst="rect">
            <a:avLst/>
          </a:prstGeom>
          <a:noFill/>
          <a:ln/>
        </p:spPr>
        <p:txBody>
          <a:bodyPr wrap="square" lIns="0" tIns="0" rIns="0" bIns="0" rtlCol="0" anchor="ctr"/>
          <a:lstStyle/>
          <a:p>
            <a:pPr marL="0" indent="0" algn="l">
              <a:buNone/>
            </a:pPr>
            <a:r>
              <a:rPr lang="en-US" sz="1100" b="1">
                <a:solidFill>
                  <a:srgbClr val="1F2937"/>
                </a:solidFill>
                <a:latin typeface="Raleway" pitchFamily="34" charset="0"/>
                <a:ea typeface="Raleway" pitchFamily="34" charset="-122"/>
                <a:cs typeface="Raleway" pitchFamily="34" charset="-120"/>
              </a:rPr>
              <a:t>J2W-owned</a:t>
            </a:r>
            <a:endParaRPr lang="en-US" sz="1100"/>
          </a:p>
        </p:txBody>
      </p:sp>
      <p:sp>
        <p:nvSpPr>
          <p:cNvPr id="46" name="Text 35"/>
          <p:cNvSpPr txBox="1"/>
          <p:nvPr/>
        </p:nvSpPr>
        <p:spPr>
          <a:xfrm>
            <a:off x="800100" y="4714646"/>
            <a:ext cx="2774290" cy="228600"/>
          </a:xfrm>
          <a:prstGeom prst="rect">
            <a:avLst/>
          </a:prstGeom>
          <a:noFill/>
          <a:ln/>
        </p:spPr>
        <p:txBody>
          <a:bodyPr wrap="square" lIns="0" tIns="0" rIns="0" bIns="0" rtlCol="0" anchor="ctr"/>
          <a:lstStyle/>
          <a:p>
            <a:pPr marL="0" indent="0" algn="l">
              <a:buNone/>
            </a:pPr>
            <a:r>
              <a:rPr lang="en-US" sz="1200" b="1">
                <a:solidFill>
                  <a:srgbClr val="1F2937"/>
                </a:solidFill>
                <a:latin typeface="Oswald" pitchFamily="34" charset="0"/>
                <a:ea typeface="Oswald" pitchFamily="34" charset="-122"/>
                <a:cs typeface="Oswald" pitchFamily="34" charset="-120"/>
              </a:rPr>
              <a:t>Upskilling</a:t>
            </a:r>
            <a:endParaRPr lang="en-US" sz="1200"/>
          </a:p>
        </p:txBody>
      </p:sp>
      <p:sp>
        <p:nvSpPr>
          <p:cNvPr id="47" name="Text 36"/>
          <p:cNvSpPr txBox="1"/>
          <p:nvPr/>
        </p:nvSpPr>
        <p:spPr>
          <a:xfrm>
            <a:off x="3657600" y="4714646"/>
            <a:ext cx="3543300" cy="171907"/>
          </a:xfrm>
          <a:prstGeom prst="rect">
            <a:avLst/>
          </a:prstGeom>
          <a:noFill/>
          <a:ln/>
        </p:spPr>
        <p:txBody>
          <a:bodyPr wrap="square" lIns="0" tIns="0" rIns="0" bIns="0" rtlCol="0" anchor="ctr"/>
          <a:lstStyle/>
          <a:p>
            <a:pPr marL="0" indent="0" algn="l">
              <a:buNone/>
            </a:pPr>
            <a:r>
              <a:rPr lang="en-US" sz="1100">
                <a:solidFill>
                  <a:srgbClr val="6B7280"/>
                </a:solidFill>
                <a:latin typeface="Raleway" pitchFamily="34" charset="0"/>
                <a:ea typeface="Raleway" pitchFamily="34" charset="-122"/>
                <a:cs typeface="Raleway" pitchFamily="34" charset="-120"/>
              </a:rPr>
              <a:t>Engineer's personal initiative</a:t>
            </a:r>
            <a:endParaRPr lang="en-US" sz="1100"/>
          </a:p>
        </p:txBody>
      </p:sp>
      <p:pic>
        <p:nvPicPr>
          <p:cNvPr id="48" name="Image 9" descr="preencoded.png"/>
          <p:cNvPicPr>
            <a:picLocks noChangeAspect="1"/>
          </p:cNvPicPr>
          <p:nvPr/>
        </p:nvPicPr>
        <p:blipFill>
          <a:blip r:embed="rId10"/>
          <a:srcRect t="-1100" b="-1100"/>
          <a:stretch/>
        </p:blipFill>
        <p:spPr>
          <a:xfrm>
            <a:off x="7276795" y="4733849"/>
            <a:ext cx="114300" cy="133502"/>
          </a:xfrm>
          <a:prstGeom prst="rect">
            <a:avLst/>
          </a:prstGeom>
        </p:spPr>
      </p:pic>
      <p:sp>
        <p:nvSpPr>
          <p:cNvPr id="49" name="Text 37"/>
          <p:cNvSpPr txBox="1"/>
          <p:nvPr/>
        </p:nvSpPr>
        <p:spPr>
          <a:xfrm>
            <a:off x="7524598" y="4714646"/>
            <a:ext cx="3829507" cy="171907"/>
          </a:xfrm>
          <a:prstGeom prst="rect">
            <a:avLst/>
          </a:prstGeom>
          <a:noFill/>
          <a:ln/>
        </p:spPr>
        <p:txBody>
          <a:bodyPr wrap="square" lIns="0" tIns="0" rIns="0" bIns="0" rtlCol="0" anchor="ctr"/>
          <a:lstStyle/>
          <a:p>
            <a:pPr marL="0" indent="0" algn="l">
              <a:buNone/>
            </a:pPr>
            <a:r>
              <a:rPr lang="en-US" sz="1100" b="1">
                <a:solidFill>
                  <a:srgbClr val="1F2937"/>
                </a:solidFill>
                <a:latin typeface="Raleway" pitchFamily="34" charset="0"/>
                <a:ea typeface="Raleway" pitchFamily="34" charset="-122"/>
                <a:cs typeface="Raleway" pitchFamily="34" charset="-120"/>
              </a:rPr>
              <a:t>Structured, continuous, AI-focused</a:t>
            </a:r>
            <a:endParaRPr lang="en-US" sz="1100"/>
          </a:p>
        </p:txBody>
      </p:sp>
      <p:sp>
        <p:nvSpPr>
          <p:cNvPr id="50" name="Text 38"/>
          <p:cNvSpPr txBox="1"/>
          <p:nvPr/>
        </p:nvSpPr>
        <p:spPr>
          <a:xfrm>
            <a:off x="800100" y="5191049"/>
            <a:ext cx="2774290" cy="228600"/>
          </a:xfrm>
          <a:prstGeom prst="rect">
            <a:avLst/>
          </a:prstGeom>
          <a:noFill/>
          <a:ln/>
        </p:spPr>
        <p:txBody>
          <a:bodyPr wrap="square" lIns="0" tIns="0" rIns="0" bIns="0" rtlCol="0" anchor="ctr"/>
          <a:lstStyle/>
          <a:p>
            <a:pPr marL="0" indent="0" algn="l">
              <a:buNone/>
            </a:pPr>
            <a:r>
              <a:rPr lang="en-US" sz="1200" b="1">
                <a:solidFill>
                  <a:srgbClr val="1F2937"/>
                </a:solidFill>
                <a:latin typeface="Oswald" pitchFamily="34" charset="0"/>
                <a:ea typeface="Oswald" pitchFamily="34" charset="-122"/>
                <a:cs typeface="Oswald" pitchFamily="34" charset="-120"/>
              </a:rPr>
              <a:t>Performance Issues</a:t>
            </a:r>
            <a:endParaRPr lang="en-US" sz="1200"/>
          </a:p>
        </p:txBody>
      </p:sp>
      <p:sp>
        <p:nvSpPr>
          <p:cNvPr id="51" name="Text 39"/>
          <p:cNvSpPr txBox="1"/>
          <p:nvPr/>
        </p:nvSpPr>
        <p:spPr>
          <a:xfrm>
            <a:off x="3657600" y="5191049"/>
            <a:ext cx="3543300" cy="171907"/>
          </a:xfrm>
          <a:prstGeom prst="rect">
            <a:avLst/>
          </a:prstGeom>
          <a:noFill/>
          <a:ln/>
        </p:spPr>
        <p:txBody>
          <a:bodyPr wrap="square" lIns="0" tIns="0" rIns="0" bIns="0" rtlCol="0" anchor="ctr"/>
          <a:lstStyle/>
          <a:p>
            <a:pPr marL="0" indent="0" algn="l">
              <a:buNone/>
            </a:pPr>
            <a:r>
              <a:rPr lang="en-US" sz="1100">
                <a:solidFill>
                  <a:srgbClr val="6B7280"/>
                </a:solidFill>
                <a:latin typeface="Raleway" pitchFamily="34" charset="0"/>
                <a:ea typeface="Raleway" pitchFamily="34" charset="-122"/>
                <a:cs typeface="Raleway" pitchFamily="34" charset="-120"/>
              </a:rPr>
              <a:t>Escalation after the fact</a:t>
            </a:r>
            <a:endParaRPr lang="en-US" sz="1100"/>
          </a:p>
        </p:txBody>
      </p:sp>
      <p:pic>
        <p:nvPicPr>
          <p:cNvPr id="52" name="Image 10" descr="preencoded.png"/>
          <p:cNvPicPr>
            <a:picLocks noChangeAspect="1"/>
          </p:cNvPicPr>
          <p:nvPr/>
        </p:nvPicPr>
        <p:blipFill>
          <a:blip r:embed="rId10"/>
          <a:srcRect t="-1100" b="-1100"/>
          <a:stretch/>
        </p:blipFill>
        <p:spPr>
          <a:xfrm>
            <a:off x="7276795" y="5210251"/>
            <a:ext cx="114300" cy="133502"/>
          </a:xfrm>
          <a:prstGeom prst="rect">
            <a:avLst/>
          </a:prstGeom>
        </p:spPr>
      </p:pic>
      <p:sp>
        <p:nvSpPr>
          <p:cNvPr id="53" name="Text 40"/>
          <p:cNvSpPr txBox="1"/>
          <p:nvPr/>
        </p:nvSpPr>
        <p:spPr>
          <a:xfrm>
            <a:off x="7524598" y="5191049"/>
            <a:ext cx="3829507" cy="171907"/>
          </a:xfrm>
          <a:prstGeom prst="rect">
            <a:avLst/>
          </a:prstGeom>
          <a:noFill/>
          <a:ln/>
        </p:spPr>
        <p:txBody>
          <a:bodyPr wrap="square" lIns="0" tIns="0" rIns="0" bIns="0" rtlCol="0" anchor="ctr"/>
          <a:lstStyle/>
          <a:p>
            <a:pPr marL="0" indent="0" algn="l">
              <a:buNone/>
            </a:pPr>
            <a:r>
              <a:rPr lang="en-US" sz="1100" b="1">
                <a:solidFill>
                  <a:srgbClr val="1F2937"/>
                </a:solidFill>
                <a:latin typeface="Raleway" pitchFamily="34" charset="0"/>
                <a:ea typeface="Raleway" pitchFamily="34" charset="-122"/>
                <a:cs typeface="Raleway" pitchFamily="34" charset="-120"/>
              </a:rPr>
              <a:t>Proactive monitoring &amp; intervention</a:t>
            </a:r>
            <a:endParaRPr lang="en-US" sz="1100"/>
          </a:p>
        </p:txBody>
      </p:sp>
      <p:sp>
        <p:nvSpPr>
          <p:cNvPr id="54" name="Text 41"/>
          <p:cNvSpPr txBox="1"/>
          <p:nvPr/>
        </p:nvSpPr>
        <p:spPr>
          <a:xfrm>
            <a:off x="800100" y="5667451"/>
            <a:ext cx="2774290" cy="228600"/>
          </a:xfrm>
          <a:prstGeom prst="rect">
            <a:avLst/>
          </a:prstGeom>
          <a:noFill/>
          <a:ln/>
        </p:spPr>
        <p:txBody>
          <a:bodyPr wrap="square" lIns="0" tIns="0" rIns="0" bIns="0" rtlCol="0" anchor="ctr"/>
          <a:lstStyle/>
          <a:p>
            <a:pPr marL="0" indent="0" algn="l">
              <a:buNone/>
            </a:pPr>
            <a:r>
              <a:rPr lang="en-US" sz="1200" b="1">
                <a:solidFill>
                  <a:srgbClr val="1F2937"/>
                </a:solidFill>
                <a:latin typeface="Oswald" pitchFamily="34" charset="0"/>
                <a:ea typeface="Oswald" pitchFamily="34" charset="-122"/>
                <a:cs typeface="Oswald" pitchFamily="34" charset="-120"/>
              </a:rPr>
              <a:t>Knowledge Retention</a:t>
            </a:r>
            <a:endParaRPr lang="en-US" sz="1200"/>
          </a:p>
        </p:txBody>
      </p:sp>
      <p:sp>
        <p:nvSpPr>
          <p:cNvPr id="55" name="Text 42"/>
          <p:cNvSpPr txBox="1"/>
          <p:nvPr/>
        </p:nvSpPr>
        <p:spPr>
          <a:xfrm>
            <a:off x="3657600" y="5667451"/>
            <a:ext cx="3543300" cy="171907"/>
          </a:xfrm>
          <a:prstGeom prst="rect">
            <a:avLst/>
          </a:prstGeom>
          <a:noFill/>
          <a:ln/>
        </p:spPr>
        <p:txBody>
          <a:bodyPr wrap="square" lIns="0" tIns="0" rIns="0" bIns="0" rtlCol="0" anchor="ctr"/>
          <a:lstStyle/>
          <a:p>
            <a:pPr marL="0" indent="0" algn="l">
              <a:buNone/>
            </a:pPr>
            <a:r>
              <a:rPr lang="en-US" sz="1100">
                <a:solidFill>
                  <a:srgbClr val="6B7280"/>
                </a:solidFill>
                <a:latin typeface="Raleway" pitchFamily="34" charset="0"/>
                <a:ea typeface="Raleway" pitchFamily="34" charset="-122"/>
                <a:cs typeface="Raleway" pitchFamily="34" charset="-120"/>
              </a:rPr>
              <a:t>Lost with attrition</a:t>
            </a:r>
            <a:endParaRPr lang="en-US" sz="1100"/>
          </a:p>
        </p:txBody>
      </p:sp>
      <p:pic>
        <p:nvPicPr>
          <p:cNvPr id="56" name="Image 11" descr="preencoded.png"/>
          <p:cNvPicPr>
            <a:picLocks noChangeAspect="1"/>
          </p:cNvPicPr>
          <p:nvPr/>
        </p:nvPicPr>
        <p:blipFill>
          <a:blip r:embed="rId10"/>
          <a:srcRect t="-1100" b="-1100"/>
          <a:stretch/>
        </p:blipFill>
        <p:spPr>
          <a:xfrm>
            <a:off x="7276795" y="5686654"/>
            <a:ext cx="114300" cy="133502"/>
          </a:xfrm>
          <a:prstGeom prst="rect">
            <a:avLst/>
          </a:prstGeom>
        </p:spPr>
      </p:pic>
      <p:sp>
        <p:nvSpPr>
          <p:cNvPr id="57" name="Text 43"/>
          <p:cNvSpPr txBox="1"/>
          <p:nvPr/>
        </p:nvSpPr>
        <p:spPr>
          <a:xfrm>
            <a:off x="7524598" y="5667451"/>
            <a:ext cx="3829507" cy="171907"/>
          </a:xfrm>
          <a:prstGeom prst="rect">
            <a:avLst/>
          </a:prstGeom>
          <a:noFill/>
          <a:ln/>
        </p:spPr>
        <p:txBody>
          <a:bodyPr wrap="square" lIns="0" tIns="0" rIns="0" bIns="0" rtlCol="0" anchor="ctr"/>
          <a:lstStyle/>
          <a:p>
            <a:pPr marL="0" indent="0" algn="l">
              <a:buNone/>
            </a:pPr>
            <a:r>
              <a:rPr lang="en-US" sz="1100" b="1">
                <a:solidFill>
                  <a:srgbClr val="1F2937"/>
                </a:solidFill>
                <a:latin typeface="Raleway" pitchFamily="34" charset="0"/>
                <a:ea typeface="Raleway" pitchFamily="34" charset="-122"/>
                <a:cs typeface="Raleway" pitchFamily="34" charset="-120"/>
              </a:rPr>
              <a:t>Captured in Knowledge Repository</a:t>
            </a:r>
            <a:endParaRPr lang="en-US" sz="1100"/>
          </a:p>
        </p:txBody>
      </p:sp>
      <p:sp>
        <p:nvSpPr>
          <p:cNvPr id="58" name="Text 44"/>
          <p:cNvSpPr txBox="1"/>
          <p:nvPr/>
        </p:nvSpPr>
        <p:spPr>
          <a:xfrm>
            <a:off x="800100" y="6143854"/>
            <a:ext cx="2774290" cy="228600"/>
          </a:xfrm>
          <a:prstGeom prst="rect">
            <a:avLst/>
          </a:prstGeom>
          <a:noFill/>
          <a:ln/>
        </p:spPr>
        <p:txBody>
          <a:bodyPr wrap="square" lIns="0" tIns="0" rIns="0" bIns="0" rtlCol="0" anchor="ctr"/>
          <a:lstStyle/>
          <a:p>
            <a:pPr marL="0" indent="0" algn="l">
              <a:buNone/>
            </a:pPr>
            <a:r>
              <a:rPr lang="en-US" sz="1200" b="1">
                <a:solidFill>
                  <a:srgbClr val="1F2937"/>
                </a:solidFill>
                <a:latin typeface="Oswald" pitchFamily="34" charset="0"/>
                <a:ea typeface="Oswald" pitchFamily="34" charset="-122"/>
                <a:cs typeface="Oswald" pitchFamily="34" charset="-120"/>
              </a:rPr>
              <a:t>AI Readiness</a:t>
            </a:r>
            <a:endParaRPr lang="en-US" sz="1200"/>
          </a:p>
        </p:txBody>
      </p:sp>
      <p:sp>
        <p:nvSpPr>
          <p:cNvPr id="59" name="Text 45"/>
          <p:cNvSpPr txBox="1"/>
          <p:nvPr/>
        </p:nvSpPr>
        <p:spPr>
          <a:xfrm>
            <a:off x="3657600" y="6143854"/>
            <a:ext cx="3543300" cy="171907"/>
          </a:xfrm>
          <a:prstGeom prst="rect">
            <a:avLst/>
          </a:prstGeom>
          <a:noFill/>
          <a:ln/>
        </p:spPr>
        <p:txBody>
          <a:bodyPr wrap="square" lIns="0" tIns="0" rIns="0" bIns="0" rtlCol="0" anchor="ctr"/>
          <a:lstStyle/>
          <a:p>
            <a:pPr marL="0" indent="0" algn="l">
              <a:buNone/>
            </a:pPr>
            <a:r>
              <a:rPr lang="en-US" sz="1100">
                <a:solidFill>
                  <a:srgbClr val="6B7280"/>
                </a:solidFill>
                <a:latin typeface="Raleway" pitchFamily="34" charset="0"/>
                <a:ea typeface="Raleway" pitchFamily="34" charset="-122"/>
                <a:cs typeface="Raleway" pitchFamily="34" charset="-120"/>
              </a:rPr>
              <a:t>Ad hoc</a:t>
            </a:r>
            <a:endParaRPr lang="en-US" sz="1100"/>
          </a:p>
        </p:txBody>
      </p:sp>
      <p:pic>
        <p:nvPicPr>
          <p:cNvPr id="60" name="Image 12" descr="preencoded.png"/>
          <p:cNvPicPr>
            <a:picLocks noChangeAspect="1"/>
          </p:cNvPicPr>
          <p:nvPr/>
        </p:nvPicPr>
        <p:blipFill>
          <a:blip r:embed="rId11"/>
          <a:srcRect t="-1100" b="-1100"/>
          <a:stretch/>
        </p:blipFill>
        <p:spPr>
          <a:xfrm>
            <a:off x="7276795" y="6163056"/>
            <a:ext cx="114300" cy="133502"/>
          </a:xfrm>
          <a:prstGeom prst="rect">
            <a:avLst/>
          </a:prstGeom>
        </p:spPr>
      </p:pic>
      <p:sp>
        <p:nvSpPr>
          <p:cNvPr id="61" name="Text 46"/>
          <p:cNvSpPr txBox="1"/>
          <p:nvPr/>
        </p:nvSpPr>
        <p:spPr>
          <a:xfrm>
            <a:off x="7524598" y="6143854"/>
            <a:ext cx="3829507" cy="171907"/>
          </a:xfrm>
          <a:prstGeom prst="rect">
            <a:avLst/>
          </a:prstGeom>
          <a:noFill/>
          <a:ln/>
        </p:spPr>
        <p:txBody>
          <a:bodyPr wrap="square" lIns="0" tIns="0" rIns="0" bIns="0" rtlCol="0" anchor="ctr"/>
          <a:lstStyle/>
          <a:p>
            <a:pPr marL="0" indent="0" algn="l">
              <a:buNone/>
            </a:pPr>
            <a:r>
              <a:rPr lang="en-US" sz="1100" b="1">
                <a:solidFill>
                  <a:srgbClr val="D62839"/>
                </a:solidFill>
                <a:latin typeface="Raleway" pitchFamily="34" charset="0"/>
                <a:ea typeface="Raleway" pitchFamily="34" charset="-122"/>
                <a:cs typeface="Raleway" pitchFamily="34" charset="-120"/>
              </a:rPr>
              <a:t>Embedded from Day 1</a:t>
            </a:r>
            <a:endParaRPr lang="en-US" sz="1100"/>
          </a:p>
        </p:txBody>
      </p:sp>
      <p:pic>
        <p:nvPicPr>
          <p:cNvPr id="63" name="Image 3" descr="gen-dedup-777bf757d895431cabe402fcd34ebd5a.png">
            <a:extLst>
              <a:ext uri="{FF2B5EF4-FFF2-40B4-BE49-F238E27FC236}">
                <a16:creationId xmlns:a16="http://schemas.microsoft.com/office/drawing/2014/main" id="{08B5C465-7443-4345-1BB8-72ABA2B6ED3E}"/>
              </a:ext>
            </a:extLst>
          </p:cNvPr>
          <p:cNvPicPr>
            <a:picLocks noChangeAspect="1"/>
          </p:cNvPicPr>
          <p:nvPr/>
        </p:nvPicPr>
        <p:blipFill>
          <a:blip r:embed="rId12">
            <a:biLevel thresh="75000"/>
          </a:blip>
          <a:srcRect l="-384" r="-384"/>
          <a:stretch/>
        </p:blipFill>
        <p:spPr>
          <a:xfrm>
            <a:off x="571500" y="381305"/>
            <a:ext cx="57607" cy="476402"/>
          </a:xfrm>
          <a:prstGeom prst="rect">
            <a:avLst/>
          </a:prstGeom>
        </p:spPr>
      </p:pic>
      <p:sp>
        <p:nvSpPr>
          <p:cNvPr id="65" name="Text 5">
            <a:extLst>
              <a:ext uri="{FF2B5EF4-FFF2-40B4-BE49-F238E27FC236}">
                <a16:creationId xmlns:a16="http://schemas.microsoft.com/office/drawing/2014/main" id="{C7053E4A-8CB7-99E1-1680-5BBBE5C62077}"/>
              </a:ext>
            </a:extLst>
          </p:cNvPr>
          <p:cNvSpPr txBox="1"/>
          <p:nvPr/>
        </p:nvSpPr>
        <p:spPr>
          <a:xfrm>
            <a:off x="780897" y="333756"/>
            <a:ext cx="5913817" cy="406908"/>
          </a:xfrm>
          <a:prstGeom prst="rect">
            <a:avLst/>
          </a:prstGeom>
          <a:noFill/>
          <a:ln/>
        </p:spPr>
        <p:txBody>
          <a:bodyPr wrap="none" lIns="0" tIns="0" rIns="0" bIns="0" rtlCol="0" anchor="ctr"/>
          <a:lstStyle/>
          <a:p>
            <a:r>
              <a:rPr lang="en-GB" sz="2400" b="1" kern="0" spc="-67" dirty="0">
                <a:solidFill>
                  <a:srgbClr val="111827"/>
                </a:solidFill>
                <a:latin typeface="Oswald" pitchFamily="34" charset="0"/>
                <a:ea typeface="Oswald" pitchFamily="34" charset="-122"/>
                <a:cs typeface="Oswald" pitchFamily="34" charset="-120"/>
              </a:rPr>
              <a:t>INTRODUCING THE AI-FIRST POD MODEL</a:t>
            </a:r>
          </a:p>
        </p:txBody>
      </p:sp>
      <p:sp>
        <p:nvSpPr>
          <p:cNvPr id="67" name="Text 6">
            <a:extLst>
              <a:ext uri="{FF2B5EF4-FFF2-40B4-BE49-F238E27FC236}">
                <a16:creationId xmlns:a16="http://schemas.microsoft.com/office/drawing/2014/main" id="{1CDE8A67-3CAD-D926-E8FB-ABB9E7B4B103}"/>
              </a:ext>
            </a:extLst>
          </p:cNvPr>
          <p:cNvSpPr txBox="1"/>
          <p:nvPr/>
        </p:nvSpPr>
        <p:spPr>
          <a:xfrm>
            <a:off x="780898" y="740663"/>
            <a:ext cx="5054803" cy="257861"/>
          </a:xfrm>
          <a:prstGeom prst="rect">
            <a:avLst/>
          </a:prstGeom>
          <a:noFill/>
          <a:ln/>
        </p:spPr>
        <p:txBody>
          <a:bodyPr wrap="none" lIns="0" tIns="0" rIns="0" bIns="0" rtlCol="0" anchor="ctr"/>
          <a:lstStyle/>
          <a:p>
            <a:pPr marL="0" indent="0" algn="l">
              <a:buNone/>
            </a:pPr>
            <a:r>
              <a:rPr lang="en-GB" sz="1500" b="1" kern="0" spc="66" dirty="0">
                <a:solidFill>
                  <a:srgbClr val="2A9D8F"/>
                </a:solidFill>
                <a:latin typeface="Roboto Condensed" pitchFamily="34" charset="0"/>
                <a:ea typeface="Roboto Condensed" pitchFamily="34" charset="-122"/>
                <a:cs typeface="Roboto Condensed" pitchFamily="34" charset="-120"/>
              </a:rPr>
              <a:t>A Managed, Governed Engineering Unit - Not Just Staffing With A Wrapper.</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pic>
        <p:nvPicPr>
          <p:cNvPr id="4" name="Image 0" descr="preencoded.png"/>
          <p:cNvPicPr>
            <a:picLocks noChangeAspect="1"/>
          </p:cNvPicPr>
          <p:nvPr/>
        </p:nvPicPr>
        <p:blipFill>
          <a:blip r:embed="rId3"/>
          <a:srcRect l="-207" r="-207"/>
          <a:stretch/>
        </p:blipFill>
        <p:spPr>
          <a:xfrm>
            <a:off x="0" y="0"/>
            <a:ext cx="4058107" cy="75895"/>
          </a:xfrm>
          <a:prstGeom prst="rect">
            <a:avLst/>
          </a:prstGeom>
        </p:spPr>
      </p:pic>
      <p:pic>
        <p:nvPicPr>
          <p:cNvPr id="5" name="Image 1" descr="preencoded.png"/>
          <p:cNvPicPr>
            <a:picLocks noChangeAspect="1"/>
          </p:cNvPicPr>
          <p:nvPr/>
        </p:nvPicPr>
        <p:blipFill>
          <a:blip r:embed="rId4"/>
          <a:srcRect l="-202" r="-202"/>
          <a:stretch/>
        </p:blipFill>
        <p:spPr>
          <a:xfrm>
            <a:off x="4058107" y="0"/>
            <a:ext cx="8134502" cy="75895"/>
          </a:xfrm>
          <a:prstGeom prst="rect">
            <a:avLst/>
          </a:prstGeom>
        </p:spPr>
      </p:pic>
      <p:sp>
        <p:nvSpPr>
          <p:cNvPr id="6" name="Shape 2"/>
          <p:cNvSpPr/>
          <p:nvPr/>
        </p:nvSpPr>
        <p:spPr>
          <a:xfrm>
            <a:off x="9334195" y="-1429207"/>
            <a:ext cx="4762195" cy="4762195"/>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7" name="Image 2" descr="preencoded.png"/>
          <p:cNvPicPr>
            <a:picLocks noChangeAspect="1"/>
          </p:cNvPicPr>
          <p:nvPr/>
        </p:nvPicPr>
        <p:blipFill>
          <a:blip r:embed="rId5">
            <a:alphaModFix amt="15000"/>
          </a:blip>
          <a:srcRect/>
          <a:stretch/>
        </p:blipFill>
        <p:spPr>
          <a:xfrm>
            <a:off x="571500" y="1143000"/>
            <a:ext cx="1429207" cy="1429207"/>
          </a:xfrm>
          <a:prstGeom prst="rect">
            <a:avLst/>
          </a:prstGeom>
        </p:spPr>
      </p:pic>
      <p:sp>
        <p:nvSpPr>
          <p:cNvPr id="9" name="Shape 3"/>
          <p:cNvSpPr/>
          <p:nvPr/>
        </p:nvSpPr>
        <p:spPr>
          <a:xfrm>
            <a:off x="609905" y="1524305"/>
            <a:ext cx="11039551" cy="1752905"/>
          </a:xfrm>
          <a:prstGeom prst="roundRect">
            <a:avLst>
              <a:gd name="adj" fmla="val 4536"/>
            </a:avLst>
          </a:prstGeom>
          <a:solidFill>
            <a:srgbClr val="F8FAFC"/>
          </a:solidFill>
          <a:ln w="12700">
            <a:solidFill>
              <a:srgbClr val="E2E8F0"/>
            </a:solidFill>
            <a:prstDash val="solid"/>
          </a:ln>
          <a:effectLst>
            <a:outerShdw blurRad="63500" dist="38100" dir="16200000" algn="bl" rotWithShape="0">
              <a:srgbClr val="000000">
                <a:alpha val="5000"/>
              </a:srgbClr>
            </a:outerShdw>
          </a:effectLst>
        </p:spPr>
        <p:txBody>
          <a:bodyPr/>
          <a:lstStyle/>
          <a:p>
            <a:endParaRPr lang="en-US"/>
          </a:p>
        </p:txBody>
      </p:sp>
      <p:sp>
        <p:nvSpPr>
          <p:cNvPr id="10" name="Shape 4"/>
          <p:cNvSpPr/>
          <p:nvPr/>
        </p:nvSpPr>
        <p:spPr>
          <a:xfrm>
            <a:off x="609905" y="1524305"/>
            <a:ext cx="57607" cy="1752905"/>
          </a:xfrm>
          <a:prstGeom prst="roundRect">
            <a:avLst>
              <a:gd name="adj" fmla="val 138027"/>
            </a:avLst>
          </a:prstGeom>
          <a:solidFill>
            <a:srgbClr val="2A9D8F"/>
          </a:solidFill>
          <a:ln w="12700">
            <a:solidFill>
              <a:srgbClr val="2A9D8F">
                <a:alpha val="0"/>
              </a:srgbClr>
            </a:solidFill>
            <a:prstDash val="solid"/>
          </a:ln>
        </p:spPr>
        <p:txBody>
          <a:bodyPr/>
          <a:lstStyle/>
          <a:p>
            <a:endParaRPr lang="en-US"/>
          </a:p>
        </p:txBody>
      </p:sp>
      <p:sp>
        <p:nvSpPr>
          <p:cNvPr id="11" name="Shape 5"/>
          <p:cNvSpPr/>
          <p:nvPr/>
        </p:nvSpPr>
        <p:spPr>
          <a:xfrm>
            <a:off x="609905" y="3429000"/>
            <a:ext cx="11039551" cy="2305202"/>
          </a:xfrm>
          <a:prstGeom prst="roundRect">
            <a:avLst>
              <a:gd name="adj" fmla="val 2623"/>
            </a:avLst>
          </a:prstGeom>
          <a:solidFill>
            <a:srgbClr val="FFFFFF"/>
          </a:solidFill>
          <a:ln w="12700">
            <a:solidFill>
              <a:srgbClr val="F3F4F6"/>
            </a:solidFill>
            <a:prstDash val="solid"/>
          </a:ln>
          <a:effectLst>
            <a:outerShdw blurRad="63500" dist="38100" dir="16200000" algn="bl" rotWithShape="0">
              <a:srgbClr val="000000">
                <a:alpha val="5000"/>
              </a:srgbClr>
            </a:outerShdw>
          </a:effectLst>
        </p:spPr>
        <p:txBody>
          <a:bodyPr/>
          <a:lstStyle/>
          <a:p>
            <a:endParaRPr lang="en-US"/>
          </a:p>
        </p:txBody>
      </p:sp>
      <p:sp>
        <p:nvSpPr>
          <p:cNvPr id="12" name="Shape 6"/>
          <p:cNvSpPr/>
          <p:nvPr/>
        </p:nvSpPr>
        <p:spPr>
          <a:xfrm>
            <a:off x="609905" y="3429000"/>
            <a:ext cx="57607" cy="2305202"/>
          </a:xfrm>
          <a:prstGeom prst="roundRect">
            <a:avLst>
              <a:gd name="adj" fmla="val 104946"/>
            </a:avLst>
          </a:prstGeom>
          <a:solidFill>
            <a:srgbClr val="D62839"/>
          </a:solidFill>
          <a:ln w="12700">
            <a:solidFill>
              <a:srgbClr val="D62839">
                <a:alpha val="0"/>
              </a:srgbClr>
            </a:solidFill>
            <a:prstDash val="solid"/>
          </a:ln>
        </p:spPr>
        <p:txBody>
          <a:bodyPr/>
          <a:lstStyle/>
          <a:p>
            <a:endParaRPr lang="en-US"/>
          </a:p>
        </p:txBody>
      </p:sp>
      <p:sp>
        <p:nvSpPr>
          <p:cNvPr id="13" name="Shape 7"/>
          <p:cNvSpPr/>
          <p:nvPr/>
        </p:nvSpPr>
        <p:spPr>
          <a:xfrm>
            <a:off x="609905" y="5905195"/>
            <a:ext cx="10972800" cy="609905"/>
          </a:xfrm>
          <a:prstGeom prst="roundRect">
            <a:avLst>
              <a:gd name="adj" fmla="val 37481"/>
            </a:avLst>
          </a:prstGeom>
          <a:solidFill>
            <a:srgbClr val="2A9D8F"/>
          </a:solidFill>
          <a:ln w="12700">
            <a:solidFill>
              <a:srgbClr val="FFFFFF">
                <a:alpha val="0"/>
              </a:srgbClr>
            </a:solidFill>
            <a:prstDash val="solid"/>
          </a:ln>
          <a:effectLst>
            <a:outerShdw blurRad="101600" dist="38100" dir="16200000" algn="bl" rotWithShape="0">
              <a:srgbClr val="2A9D8F">
                <a:alpha val="20000"/>
              </a:srgbClr>
            </a:outerShdw>
          </a:effectLst>
        </p:spPr>
        <p:txBody>
          <a:bodyPr/>
          <a:lstStyle/>
          <a:p>
            <a:endParaRPr lang="en-US"/>
          </a:p>
        </p:txBody>
      </p:sp>
      <p:sp>
        <p:nvSpPr>
          <p:cNvPr id="16" name="Shape 10"/>
          <p:cNvSpPr/>
          <p:nvPr/>
        </p:nvSpPr>
        <p:spPr>
          <a:xfrm>
            <a:off x="990295" y="2085746"/>
            <a:ext cx="4476902" cy="19202"/>
          </a:xfrm>
          <a:prstGeom prst="rect">
            <a:avLst/>
          </a:prstGeom>
          <a:solidFill>
            <a:srgbClr val="2A9D8F">
              <a:alpha val="20000"/>
            </a:srgbClr>
          </a:solidFill>
          <a:ln w="12700">
            <a:solidFill>
              <a:srgbClr val="2A9D8F">
                <a:alpha val="0"/>
              </a:srgbClr>
            </a:solidFill>
            <a:prstDash val="solid"/>
          </a:ln>
        </p:spPr>
        <p:txBody>
          <a:bodyPr/>
          <a:lstStyle/>
          <a:p>
            <a:endParaRPr lang="en-US"/>
          </a:p>
        </p:txBody>
      </p:sp>
      <p:sp>
        <p:nvSpPr>
          <p:cNvPr id="17" name="Text 11"/>
          <p:cNvSpPr txBox="1"/>
          <p:nvPr/>
        </p:nvSpPr>
        <p:spPr>
          <a:xfrm>
            <a:off x="990295" y="1666951"/>
            <a:ext cx="4562856" cy="343814"/>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l">
              <a:buNone/>
            </a:pPr>
            <a:r>
              <a:rPr lang="en-US" sz="1800" b="1">
                <a:solidFill>
                  <a:srgbClr val="1F2937"/>
                </a:solidFill>
                <a:latin typeface="Oswald" pitchFamily="34" charset="0"/>
                <a:ea typeface="Oswald" pitchFamily="34" charset="-122"/>
                <a:cs typeface="Oswald" pitchFamily="34" charset="-120"/>
              </a:rPr>
              <a:t>What Is the AI Research Wing?</a:t>
            </a:r>
            <a:endParaRPr lang="en-US" sz="1800"/>
          </a:p>
        </p:txBody>
      </p:sp>
      <p:pic>
        <p:nvPicPr>
          <p:cNvPr id="18" name="Image 4" descr="preencoded.png"/>
          <p:cNvPicPr>
            <a:picLocks noChangeAspect="1"/>
          </p:cNvPicPr>
          <p:nvPr/>
        </p:nvPicPr>
        <p:blipFill>
          <a:blip r:embed="rId6"/>
          <a:srcRect/>
          <a:stretch/>
        </p:blipFill>
        <p:spPr>
          <a:xfrm>
            <a:off x="1019556" y="2221992"/>
            <a:ext cx="171907" cy="171907"/>
          </a:xfrm>
          <a:prstGeom prst="rect">
            <a:avLst/>
          </a:prstGeom>
        </p:spPr>
      </p:pic>
      <p:sp>
        <p:nvSpPr>
          <p:cNvPr id="19" name="Text 12"/>
          <p:cNvSpPr txBox="1"/>
          <p:nvPr/>
        </p:nvSpPr>
        <p:spPr>
          <a:xfrm>
            <a:off x="1314907" y="2190902"/>
            <a:ext cx="9982505" cy="391363"/>
          </a:xfrm>
          <a:prstGeom prst="rect">
            <a:avLst/>
          </a:prstGeom>
          <a:noFill/>
          <a:ln/>
        </p:spPr>
        <p:txBody>
          <a:bodyPr wrap="square" lIns="0" tIns="0" rIns="0" bIns="0" rtlCol="0" anchor="ctr"/>
          <a:lstStyle/>
          <a:p>
            <a:pPr marL="0" indent="0" algn="l">
              <a:buNone/>
            </a:pPr>
            <a:r>
              <a:rPr lang="en-US" sz="1100">
                <a:solidFill>
                  <a:srgbClr val="4B5563"/>
                </a:solidFill>
                <a:latin typeface="Raleway" pitchFamily="34" charset="0"/>
                <a:ea typeface="Raleway" pitchFamily="34" charset="-122"/>
                <a:cs typeface="Raleway" pitchFamily="34" charset="-120"/>
              </a:rPr>
              <a:t>A dedicated team of AI researchers and engineers working on cutting-edge enterprise AI - agentic AI systems, LLM orchestration, model governance, and applied ML</a:t>
            </a:r>
            <a:endParaRPr lang="en-US" sz="1100"/>
          </a:p>
        </p:txBody>
      </p:sp>
      <p:pic>
        <p:nvPicPr>
          <p:cNvPr id="20" name="Image 5" descr="preencoded.png"/>
          <p:cNvPicPr>
            <a:picLocks noChangeAspect="1"/>
          </p:cNvPicPr>
          <p:nvPr/>
        </p:nvPicPr>
        <p:blipFill>
          <a:blip r:embed="rId7"/>
          <a:srcRect/>
          <a:stretch/>
        </p:blipFill>
        <p:spPr>
          <a:xfrm>
            <a:off x="1019556" y="2602382"/>
            <a:ext cx="171907" cy="171907"/>
          </a:xfrm>
          <a:prstGeom prst="rect">
            <a:avLst/>
          </a:prstGeom>
        </p:spPr>
      </p:pic>
      <p:sp>
        <p:nvSpPr>
          <p:cNvPr id="21" name="Text 13"/>
          <p:cNvSpPr txBox="1"/>
          <p:nvPr/>
        </p:nvSpPr>
        <p:spPr>
          <a:xfrm>
            <a:off x="1314907" y="2572207"/>
            <a:ext cx="10592410" cy="200254"/>
          </a:xfrm>
          <a:prstGeom prst="rect">
            <a:avLst/>
          </a:prstGeom>
          <a:noFill/>
          <a:ln/>
        </p:spPr>
        <p:txBody>
          <a:bodyPr wrap="square" lIns="0" tIns="0" rIns="0" bIns="0" rtlCol="0" anchor="ctr"/>
          <a:lstStyle/>
          <a:p>
            <a:pPr marL="0" indent="0" algn="l">
              <a:buNone/>
            </a:pPr>
            <a:r>
              <a:rPr lang="en-US" sz="1100" dirty="0">
                <a:solidFill>
                  <a:srgbClr val="4B5563"/>
                </a:solidFill>
                <a:latin typeface="Raleway" pitchFamily="34" charset="0"/>
                <a:ea typeface="Raleway" pitchFamily="34" charset="-122"/>
                <a:cs typeface="Raleway" pitchFamily="34" charset="-120"/>
              </a:rPr>
              <a:t>Currently building and publishing research on agentic AI architectures, prompt engineering frameworks, and enterprise AI adoption strategies</a:t>
            </a:r>
            <a:endParaRPr lang="en-US" sz="1100" dirty="0"/>
          </a:p>
        </p:txBody>
      </p:sp>
      <p:pic>
        <p:nvPicPr>
          <p:cNvPr id="22" name="Image 6" descr="preencoded.png"/>
          <p:cNvPicPr>
            <a:picLocks noChangeAspect="1"/>
          </p:cNvPicPr>
          <p:nvPr/>
        </p:nvPicPr>
        <p:blipFill>
          <a:blip r:embed="rId8"/>
          <a:srcRect/>
          <a:stretch/>
        </p:blipFill>
        <p:spPr>
          <a:xfrm>
            <a:off x="1019556" y="2983687"/>
            <a:ext cx="171907" cy="171907"/>
          </a:xfrm>
          <a:prstGeom prst="rect">
            <a:avLst/>
          </a:prstGeom>
        </p:spPr>
      </p:pic>
      <p:sp>
        <p:nvSpPr>
          <p:cNvPr id="23" name="Text 14"/>
          <p:cNvSpPr txBox="1"/>
          <p:nvPr/>
        </p:nvSpPr>
        <p:spPr>
          <a:xfrm>
            <a:off x="1314907" y="2952598"/>
            <a:ext cx="10592410" cy="200254"/>
          </a:xfrm>
          <a:prstGeom prst="rect">
            <a:avLst/>
          </a:prstGeom>
          <a:noFill/>
          <a:ln/>
        </p:spPr>
        <p:txBody>
          <a:bodyPr wrap="square" lIns="0" tIns="0" rIns="0" bIns="0" rtlCol="0" anchor="ctr"/>
          <a:lstStyle/>
          <a:p>
            <a:pPr marL="0" indent="0" algn="l">
              <a:buNone/>
            </a:pPr>
            <a:r>
              <a:rPr lang="en-US" sz="1100">
                <a:solidFill>
                  <a:srgbClr val="4B5563"/>
                </a:solidFill>
                <a:latin typeface="Raleway" pitchFamily="34" charset="0"/>
                <a:ea typeface="Raleway" pitchFamily="34" charset="-122"/>
                <a:cs typeface="Raleway" pitchFamily="34" charset="-120"/>
              </a:rPr>
              <a:t>Powers J2W's proprietary platforms — </a:t>
            </a:r>
            <a:r>
              <a:rPr lang="en-US" sz="1100" err="1">
                <a:solidFill>
                  <a:srgbClr val="4B5563"/>
                </a:solidFill>
                <a:latin typeface="Raleway" pitchFamily="34" charset="0"/>
                <a:ea typeface="Raleway" pitchFamily="34" charset="-122"/>
                <a:cs typeface="Raleway" pitchFamily="34" charset="-120"/>
              </a:rPr>
              <a:t>AgentShield</a:t>
            </a:r>
            <a:r>
              <a:rPr lang="en-US" sz="1100">
                <a:solidFill>
                  <a:srgbClr val="4B5563"/>
                </a:solidFill>
                <a:latin typeface="Raleway" pitchFamily="34" charset="0"/>
                <a:ea typeface="Raleway" pitchFamily="34" charset="-122"/>
                <a:cs typeface="Raleway" pitchFamily="34" charset="-120"/>
              </a:rPr>
              <a:t> (AI agent discovery &amp; certification), </a:t>
            </a:r>
            <a:r>
              <a:rPr lang="en-US" sz="1100" err="1">
                <a:solidFill>
                  <a:srgbClr val="4B5563"/>
                </a:solidFill>
                <a:latin typeface="Raleway" pitchFamily="34" charset="0"/>
                <a:ea typeface="Raleway" pitchFamily="34" charset="-122"/>
                <a:cs typeface="Raleway" pitchFamily="34" charset="-120"/>
              </a:rPr>
              <a:t>TrustLayer</a:t>
            </a:r>
            <a:r>
              <a:rPr lang="en-US" sz="1100">
                <a:solidFill>
                  <a:srgbClr val="4B5563"/>
                </a:solidFill>
                <a:latin typeface="Raleway" pitchFamily="34" charset="0"/>
                <a:ea typeface="Raleway" pitchFamily="34" charset="-122"/>
                <a:cs typeface="Raleway" pitchFamily="34" charset="-120"/>
              </a:rPr>
              <a:t> AI (production AI observability &amp; guardrails), </a:t>
            </a:r>
            <a:r>
              <a:rPr lang="en-US" sz="1100" err="1">
                <a:solidFill>
                  <a:srgbClr val="4B5563"/>
                </a:solidFill>
                <a:latin typeface="Raleway" pitchFamily="34" charset="0"/>
                <a:ea typeface="Raleway" pitchFamily="34" charset="-122"/>
                <a:cs typeface="Raleway" pitchFamily="34" charset="-120"/>
              </a:rPr>
              <a:t>Qualizen</a:t>
            </a:r>
            <a:r>
              <a:rPr lang="en-US" sz="1100">
                <a:solidFill>
                  <a:srgbClr val="4B5563"/>
                </a:solidFill>
                <a:latin typeface="Raleway" pitchFamily="34" charset="0"/>
                <a:ea typeface="Raleway" pitchFamily="34" charset="-122"/>
                <a:cs typeface="Raleway" pitchFamily="34" charset="-120"/>
              </a:rPr>
              <a:t> (quality engineering), and Data Crystal (data unification &amp; conversational insights)</a:t>
            </a:r>
            <a:endParaRPr lang="en-US" sz="1100"/>
          </a:p>
        </p:txBody>
      </p:sp>
      <p:sp>
        <p:nvSpPr>
          <p:cNvPr id="24" name="Shape 15"/>
          <p:cNvSpPr/>
          <p:nvPr/>
        </p:nvSpPr>
        <p:spPr>
          <a:xfrm>
            <a:off x="990295" y="3990442"/>
            <a:ext cx="4476902" cy="19202"/>
          </a:xfrm>
          <a:prstGeom prst="rect">
            <a:avLst/>
          </a:prstGeom>
          <a:solidFill>
            <a:srgbClr val="D62839">
              <a:alpha val="20000"/>
            </a:srgbClr>
          </a:solidFill>
          <a:ln w="12700">
            <a:solidFill>
              <a:srgbClr val="D62839">
                <a:alpha val="0"/>
              </a:srgbClr>
            </a:solidFill>
            <a:prstDash val="solid"/>
          </a:ln>
        </p:spPr>
        <p:txBody>
          <a:bodyPr/>
          <a:lstStyle/>
          <a:p>
            <a:endParaRPr lang="en-US"/>
          </a:p>
        </p:txBody>
      </p:sp>
      <p:sp>
        <p:nvSpPr>
          <p:cNvPr id="25" name="Text 16"/>
          <p:cNvSpPr txBox="1"/>
          <p:nvPr/>
        </p:nvSpPr>
        <p:spPr>
          <a:xfrm>
            <a:off x="990295" y="3571646"/>
            <a:ext cx="4562856" cy="343814"/>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l">
              <a:buNone/>
            </a:pPr>
            <a:r>
              <a:rPr lang="en-US" sz="1800" b="1">
                <a:solidFill>
                  <a:srgbClr val="1F2937"/>
                </a:solidFill>
                <a:latin typeface="Oswald" pitchFamily="34" charset="0"/>
                <a:ea typeface="Oswald" pitchFamily="34" charset="-122"/>
                <a:cs typeface="Oswald" pitchFamily="34" charset="-120"/>
              </a:rPr>
              <a:t>How Pod Members Benefit</a:t>
            </a:r>
            <a:endParaRPr lang="en-US" sz="1800"/>
          </a:p>
        </p:txBody>
      </p:sp>
      <p:pic>
        <p:nvPicPr>
          <p:cNvPr id="26" name="Image 7" descr="preencoded.png"/>
          <p:cNvPicPr>
            <a:picLocks noChangeAspect="1"/>
          </p:cNvPicPr>
          <p:nvPr/>
        </p:nvPicPr>
        <p:blipFill>
          <a:blip r:embed="rId9"/>
          <a:srcRect l="-1064" r="-1064"/>
          <a:stretch/>
        </p:blipFill>
        <p:spPr>
          <a:xfrm>
            <a:off x="995782" y="4126687"/>
            <a:ext cx="219456" cy="171907"/>
          </a:xfrm>
          <a:prstGeom prst="rect">
            <a:avLst/>
          </a:prstGeom>
        </p:spPr>
      </p:pic>
      <p:sp>
        <p:nvSpPr>
          <p:cNvPr id="27" name="Text 17"/>
          <p:cNvSpPr txBox="1"/>
          <p:nvPr/>
        </p:nvSpPr>
        <p:spPr>
          <a:xfrm>
            <a:off x="1314907" y="4095598"/>
            <a:ext cx="10020910" cy="200254"/>
          </a:xfrm>
          <a:prstGeom prst="rect">
            <a:avLst/>
          </a:prstGeom>
          <a:noFill/>
          <a:ln/>
        </p:spPr>
        <p:txBody>
          <a:bodyPr wrap="square" lIns="0" tIns="0" rIns="0" bIns="0" rtlCol="0" anchor="ctr"/>
          <a:lstStyle/>
          <a:p>
            <a:pPr marL="0" indent="0" algn="l">
              <a:buNone/>
            </a:pPr>
            <a:r>
              <a:rPr lang="en-US" sz="1100" b="1">
                <a:solidFill>
                  <a:srgbClr val="111827"/>
                </a:solidFill>
                <a:latin typeface="Raleway" pitchFamily="34" charset="0"/>
                <a:ea typeface="Raleway" pitchFamily="34" charset="-122"/>
                <a:cs typeface="Raleway" pitchFamily="34" charset="-120"/>
              </a:rPr>
              <a:t>Weekly AI workshops</a:t>
            </a:r>
            <a:r>
              <a:rPr lang="en-US" sz="1100">
                <a:solidFill>
                  <a:srgbClr val="4B5563"/>
                </a:solidFill>
                <a:latin typeface="Raleway" pitchFamily="34" charset="0"/>
                <a:ea typeface="Raleway" pitchFamily="34" charset="-122"/>
                <a:cs typeface="Raleway" pitchFamily="34" charset="-120"/>
              </a:rPr>
              <a:t> led by our research team - covering practical, project-applicable AI skills </a:t>
            </a:r>
            <a:endParaRPr lang="en-US" sz="1100"/>
          </a:p>
        </p:txBody>
      </p:sp>
      <p:pic>
        <p:nvPicPr>
          <p:cNvPr id="28" name="Image 8" descr="preencoded.png"/>
          <p:cNvPicPr>
            <a:picLocks noChangeAspect="1"/>
          </p:cNvPicPr>
          <p:nvPr/>
        </p:nvPicPr>
        <p:blipFill>
          <a:blip r:embed="rId10"/>
          <a:srcRect l="-1773" r="-1773"/>
          <a:stretch/>
        </p:blipFill>
        <p:spPr>
          <a:xfrm>
            <a:off x="1037844" y="4507992"/>
            <a:ext cx="133502" cy="171907"/>
          </a:xfrm>
          <a:prstGeom prst="rect">
            <a:avLst/>
          </a:prstGeom>
        </p:spPr>
      </p:pic>
      <p:sp>
        <p:nvSpPr>
          <p:cNvPr id="29" name="Text 18"/>
          <p:cNvSpPr txBox="1"/>
          <p:nvPr/>
        </p:nvSpPr>
        <p:spPr>
          <a:xfrm>
            <a:off x="1314907" y="4476902"/>
            <a:ext cx="10020910" cy="200254"/>
          </a:xfrm>
          <a:prstGeom prst="rect">
            <a:avLst/>
          </a:prstGeom>
          <a:noFill/>
          <a:ln/>
        </p:spPr>
        <p:txBody>
          <a:bodyPr wrap="square" lIns="0" tIns="0" rIns="0" bIns="0" rtlCol="0" anchor="ctr"/>
          <a:lstStyle/>
          <a:p>
            <a:pPr marL="0" indent="0" algn="l">
              <a:buNone/>
            </a:pPr>
            <a:r>
              <a:rPr lang="en-US" sz="1100" b="1">
                <a:solidFill>
                  <a:srgbClr val="111827"/>
                </a:solidFill>
                <a:latin typeface="Raleway" pitchFamily="34" charset="0"/>
                <a:ea typeface="Raleway" pitchFamily="34" charset="-122"/>
                <a:cs typeface="Raleway" pitchFamily="34" charset="-120"/>
              </a:rPr>
              <a:t>Access to the J2W </a:t>
            </a:r>
            <a:r>
              <a:rPr lang="en-US" sz="1100" b="1" err="1">
                <a:solidFill>
                  <a:srgbClr val="111827"/>
                </a:solidFill>
                <a:latin typeface="Raleway" pitchFamily="34" charset="0"/>
                <a:ea typeface="Raleway" pitchFamily="34" charset="-122"/>
                <a:cs typeface="Raleway" pitchFamily="34" charset="-120"/>
              </a:rPr>
              <a:t>iLAB</a:t>
            </a:r>
            <a:r>
              <a:rPr lang="en-US" sz="1100">
                <a:solidFill>
                  <a:srgbClr val="4B5563"/>
                </a:solidFill>
                <a:latin typeface="Raleway" pitchFamily="34" charset="0"/>
                <a:ea typeface="Raleway" pitchFamily="34" charset="-122"/>
                <a:cs typeface="Raleway" pitchFamily="34" charset="-120"/>
              </a:rPr>
              <a:t> - Innovation Points program for building PoCs, hackathons, and rapid prototyping </a:t>
            </a:r>
            <a:endParaRPr lang="en-US" sz="1100"/>
          </a:p>
        </p:txBody>
      </p:sp>
      <p:pic>
        <p:nvPicPr>
          <p:cNvPr id="30" name="Image 9" descr="preencoded.png"/>
          <p:cNvPicPr>
            <a:picLocks noChangeAspect="1"/>
          </p:cNvPicPr>
          <p:nvPr/>
        </p:nvPicPr>
        <p:blipFill>
          <a:blip r:embed="rId11"/>
          <a:srcRect l="-1064" r="-1064"/>
          <a:stretch/>
        </p:blipFill>
        <p:spPr>
          <a:xfrm>
            <a:off x="995782" y="4888382"/>
            <a:ext cx="219456" cy="171907"/>
          </a:xfrm>
          <a:prstGeom prst="rect">
            <a:avLst/>
          </a:prstGeom>
        </p:spPr>
      </p:pic>
      <p:sp>
        <p:nvSpPr>
          <p:cNvPr id="31" name="Text 19"/>
          <p:cNvSpPr txBox="1"/>
          <p:nvPr/>
        </p:nvSpPr>
        <p:spPr>
          <a:xfrm>
            <a:off x="1314907" y="4858207"/>
            <a:ext cx="10020910" cy="200254"/>
          </a:xfrm>
          <a:prstGeom prst="rect">
            <a:avLst/>
          </a:prstGeom>
          <a:noFill/>
          <a:ln/>
        </p:spPr>
        <p:txBody>
          <a:bodyPr wrap="square" lIns="0" tIns="0" rIns="0" bIns="0" rtlCol="0" anchor="ctr"/>
          <a:lstStyle/>
          <a:p>
            <a:pPr marL="0" indent="0" algn="l">
              <a:buNone/>
            </a:pPr>
            <a:r>
              <a:rPr lang="en-US" sz="1100" b="1">
                <a:solidFill>
                  <a:srgbClr val="111827"/>
                </a:solidFill>
                <a:latin typeface="Raleway" pitchFamily="34" charset="0"/>
                <a:ea typeface="Raleway" pitchFamily="34" charset="-122"/>
                <a:cs typeface="Raleway" pitchFamily="34" charset="-120"/>
              </a:rPr>
              <a:t>Contextual AI training</a:t>
            </a:r>
            <a:r>
              <a:rPr lang="en-US" sz="1100">
                <a:solidFill>
                  <a:srgbClr val="4B5563"/>
                </a:solidFill>
                <a:latin typeface="Raleway" pitchFamily="34" charset="0"/>
                <a:ea typeface="Raleway" pitchFamily="34" charset="-122"/>
                <a:cs typeface="Raleway" pitchFamily="34" charset="-120"/>
              </a:rPr>
              <a:t> - hands-on training tailored to the specific technology stack and domain </a:t>
            </a:r>
            <a:endParaRPr lang="en-US" sz="1100"/>
          </a:p>
        </p:txBody>
      </p:sp>
      <p:pic>
        <p:nvPicPr>
          <p:cNvPr id="32" name="Image 10" descr="preencoded.png"/>
          <p:cNvPicPr>
            <a:picLocks noChangeAspect="1"/>
          </p:cNvPicPr>
          <p:nvPr/>
        </p:nvPicPr>
        <p:blipFill>
          <a:blip r:embed="rId12"/>
          <a:srcRect/>
          <a:stretch/>
        </p:blipFill>
        <p:spPr>
          <a:xfrm>
            <a:off x="1019556" y="5269687"/>
            <a:ext cx="171907" cy="171907"/>
          </a:xfrm>
          <a:prstGeom prst="rect">
            <a:avLst/>
          </a:prstGeom>
        </p:spPr>
      </p:pic>
      <p:sp>
        <p:nvSpPr>
          <p:cNvPr id="33" name="Text 20"/>
          <p:cNvSpPr txBox="1"/>
          <p:nvPr/>
        </p:nvSpPr>
        <p:spPr>
          <a:xfrm>
            <a:off x="1314907" y="5238598"/>
            <a:ext cx="10020910" cy="200254"/>
          </a:xfrm>
          <a:prstGeom prst="rect">
            <a:avLst/>
          </a:prstGeom>
          <a:noFill/>
          <a:ln/>
        </p:spPr>
        <p:txBody>
          <a:bodyPr wrap="square" lIns="0" tIns="0" rIns="0" bIns="0" rtlCol="0" anchor="ctr"/>
          <a:lstStyle/>
          <a:p>
            <a:pPr marL="0" indent="0" algn="l">
              <a:buNone/>
            </a:pPr>
            <a:r>
              <a:rPr lang="en-US" sz="1100" b="1">
                <a:solidFill>
                  <a:srgbClr val="111827"/>
                </a:solidFill>
                <a:latin typeface="Raleway" pitchFamily="34" charset="0"/>
                <a:ea typeface="Raleway" pitchFamily="34" charset="-122"/>
                <a:cs typeface="Raleway" pitchFamily="34" charset="-120"/>
              </a:rPr>
              <a:t>Benchmarking against global best practices</a:t>
            </a:r>
            <a:r>
              <a:rPr lang="en-US" sz="1100">
                <a:solidFill>
                  <a:srgbClr val="4B5563"/>
                </a:solidFill>
                <a:latin typeface="Raleway" pitchFamily="34" charset="0"/>
                <a:ea typeface="Raleway" pitchFamily="34" charset="-122"/>
                <a:cs typeface="Raleway" pitchFamily="34" charset="-120"/>
              </a:rPr>
              <a:t> - continuous measurement against industry-leading standards </a:t>
            </a:r>
            <a:endParaRPr lang="en-US" sz="1100"/>
          </a:p>
        </p:txBody>
      </p:sp>
      <p:sp>
        <p:nvSpPr>
          <p:cNvPr id="34" name="Text 21"/>
          <p:cNvSpPr txBox="1"/>
          <p:nvPr/>
        </p:nvSpPr>
        <p:spPr>
          <a:xfrm>
            <a:off x="952805" y="6010351"/>
            <a:ext cx="10287000" cy="400507"/>
          </a:xfrm>
          <a:prstGeom prst="rect">
            <a:avLst/>
          </a:prstGeom>
          <a:noFill/>
          <a:ln/>
        </p:spPr>
        <p:txBody>
          <a:bodyPr wrap="square" lIns="0" tIns="0" rIns="0" bIns="0" rtlCol="0" anchor="ctr"/>
          <a:lstStyle/>
          <a:p>
            <a:pPr marL="0" indent="0" algn="ctr">
              <a:buNone/>
            </a:pPr>
            <a:r>
              <a:rPr lang="en-US" sz="1400" b="1">
                <a:solidFill>
                  <a:srgbClr val="FFFFFF"/>
                </a:solidFill>
                <a:latin typeface="Raleway" pitchFamily="34" charset="0"/>
                <a:ea typeface="Raleway" pitchFamily="34" charset="-122"/>
                <a:cs typeface="Raleway" pitchFamily="34" charset="-120"/>
              </a:rPr>
              <a:t>The result: Your engineers don't just work - they get better every week. And that compounding improvement is something no staffing model can deliver.</a:t>
            </a:r>
            <a:endParaRPr lang="en-US" sz="1400"/>
          </a:p>
        </p:txBody>
      </p:sp>
      <p:pic>
        <p:nvPicPr>
          <p:cNvPr id="36" name="Image 3" descr="gen-dedup-777bf757d895431cabe402fcd34ebd5a.png">
            <a:extLst>
              <a:ext uri="{FF2B5EF4-FFF2-40B4-BE49-F238E27FC236}">
                <a16:creationId xmlns:a16="http://schemas.microsoft.com/office/drawing/2014/main" id="{D0F6EA86-C845-C74F-D9EC-25C8DE1D713E}"/>
              </a:ext>
            </a:extLst>
          </p:cNvPr>
          <p:cNvPicPr>
            <a:picLocks noChangeAspect="1"/>
          </p:cNvPicPr>
          <p:nvPr/>
        </p:nvPicPr>
        <p:blipFill>
          <a:blip r:embed="rId13">
            <a:biLevel thresh="75000"/>
          </a:blip>
          <a:srcRect l="-384" r="-384"/>
          <a:stretch/>
        </p:blipFill>
        <p:spPr>
          <a:xfrm>
            <a:off x="571500" y="381305"/>
            <a:ext cx="57607" cy="476402"/>
          </a:xfrm>
          <a:prstGeom prst="rect">
            <a:avLst/>
          </a:prstGeom>
        </p:spPr>
      </p:pic>
      <p:sp>
        <p:nvSpPr>
          <p:cNvPr id="38" name="Text 5">
            <a:extLst>
              <a:ext uri="{FF2B5EF4-FFF2-40B4-BE49-F238E27FC236}">
                <a16:creationId xmlns:a16="http://schemas.microsoft.com/office/drawing/2014/main" id="{7DDF8ADF-F094-FFC8-4799-AB089480780E}"/>
              </a:ext>
            </a:extLst>
          </p:cNvPr>
          <p:cNvSpPr txBox="1"/>
          <p:nvPr/>
        </p:nvSpPr>
        <p:spPr>
          <a:xfrm>
            <a:off x="780897" y="333756"/>
            <a:ext cx="5913817" cy="406908"/>
          </a:xfrm>
          <a:prstGeom prst="rect">
            <a:avLst/>
          </a:prstGeom>
          <a:noFill/>
          <a:ln/>
        </p:spPr>
        <p:txBody>
          <a:bodyPr wrap="none" lIns="0" tIns="0" rIns="0" bIns="0" rtlCol="0" anchor="ctr"/>
          <a:lstStyle/>
          <a:p>
            <a:r>
              <a:rPr lang="en-GB" sz="2400" b="1" kern="0" spc="-67" dirty="0">
                <a:solidFill>
                  <a:srgbClr val="111827"/>
                </a:solidFill>
                <a:latin typeface="Oswald" pitchFamily="34" charset="0"/>
                <a:ea typeface="Oswald" pitchFamily="34" charset="-122"/>
                <a:cs typeface="Oswald" pitchFamily="34" charset="-120"/>
              </a:rPr>
              <a:t>THE J2W AI RESEARCH WING</a:t>
            </a:r>
          </a:p>
        </p:txBody>
      </p:sp>
      <p:sp>
        <p:nvSpPr>
          <p:cNvPr id="40" name="Text 6">
            <a:extLst>
              <a:ext uri="{FF2B5EF4-FFF2-40B4-BE49-F238E27FC236}">
                <a16:creationId xmlns:a16="http://schemas.microsoft.com/office/drawing/2014/main" id="{7A86EA03-DEE7-8C48-D601-940CD3014105}"/>
              </a:ext>
            </a:extLst>
          </p:cNvPr>
          <p:cNvSpPr txBox="1"/>
          <p:nvPr/>
        </p:nvSpPr>
        <p:spPr>
          <a:xfrm>
            <a:off x="780898" y="740663"/>
            <a:ext cx="5054803" cy="257861"/>
          </a:xfrm>
          <a:prstGeom prst="rect">
            <a:avLst/>
          </a:prstGeom>
          <a:noFill/>
          <a:ln/>
        </p:spPr>
        <p:txBody>
          <a:bodyPr wrap="none" lIns="0" tIns="0" rIns="0" bIns="0" rtlCol="0" anchor="ctr"/>
          <a:lstStyle/>
          <a:p>
            <a:pPr marL="0" indent="0" algn="l">
              <a:buNone/>
            </a:pPr>
            <a:r>
              <a:rPr lang="en-GB" sz="1500" b="1" kern="0" spc="66" dirty="0">
                <a:solidFill>
                  <a:srgbClr val="2A9D8F"/>
                </a:solidFill>
                <a:latin typeface="Roboto Condensed" pitchFamily="34" charset="0"/>
                <a:ea typeface="Roboto Condensed" pitchFamily="34" charset="-122"/>
                <a:cs typeface="Roboto Condensed" pitchFamily="34" charset="-120"/>
              </a:rPr>
              <a:t>Your Pod's Secret Weapon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Shape 4">
            <a:extLst>
              <a:ext uri="{FF2B5EF4-FFF2-40B4-BE49-F238E27FC236}">
                <a16:creationId xmlns:a16="http://schemas.microsoft.com/office/drawing/2014/main" id="{F52B61E2-5F3C-E58A-B761-FA83C301E75F}"/>
              </a:ext>
            </a:extLst>
          </p:cNvPr>
          <p:cNvSpPr/>
          <p:nvPr/>
        </p:nvSpPr>
        <p:spPr>
          <a:xfrm>
            <a:off x="6263640" y="1423648"/>
            <a:ext cx="5230368" cy="620036"/>
          </a:xfrm>
          <a:prstGeom prst="roundRect">
            <a:avLst>
              <a:gd name="adj" fmla="val 16800"/>
            </a:avLst>
          </a:prstGeom>
          <a:solidFill>
            <a:schemeClr val="bg1">
              <a:lumMod val="50000"/>
            </a:schemeClr>
          </a:solidFill>
          <a:ln w="12700">
            <a:solidFill>
              <a:srgbClr val="FFFFFF">
                <a:alpha val="0"/>
              </a:srgbClr>
            </a:solidFill>
            <a:prstDash val="solid"/>
          </a:ln>
        </p:spPr>
        <p:txBody>
          <a:bodyPr/>
          <a:lstStyle/>
          <a:p>
            <a:endParaRPr lang="en-US">
              <a:latin typeface="Raleway" pitchFamily="2" charset="0"/>
            </a:endParaRPr>
          </a:p>
        </p:txBody>
      </p:sp>
      <p:sp>
        <p:nvSpPr>
          <p:cNvPr id="42" name="Shape 4">
            <a:extLst>
              <a:ext uri="{FF2B5EF4-FFF2-40B4-BE49-F238E27FC236}">
                <a16:creationId xmlns:a16="http://schemas.microsoft.com/office/drawing/2014/main" id="{2C1D4328-ABF1-7607-3876-D88BB1D0AC07}"/>
              </a:ext>
            </a:extLst>
          </p:cNvPr>
          <p:cNvSpPr/>
          <p:nvPr/>
        </p:nvSpPr>
        <p:spPr>
          <a:xfrm>
            <a:off x="648262" y="1454810"/>
            <a:ext cx="5230368" cy="620036"/>
          </a:xfrm>
          <a:prstGeom prst="roundRect">
            <a:avLst>
              <a:gd name="adj" fmla="val 16800"/>
            </a:avLst>
          </a:prstGeom>
          <a:solidFill>
            <a:srgbClr val="2A9D8F"/>
          </a:solidFill>
          <a:ln w="12700">
            <a:solidFill>
              <a:srgbClr val="FFFFFF">
                <a:alpha val="0"/>
              </a:srgbClr>
            </a:solidFill>
            <a:prstDash val="solid"/>
          </a:ln>
        </p:spPr>
        <p:txBody>
          <a:bodyPr/>
          <a:lstStyle/>
          <a:p>
            <a:endParaRPr lang="en-US">
              <a:latin typeface="Raleway" pitchFamily="2" charset="0"/>
            </a:endParaRPr>
          </a:p>
        </p:txBody>
      </p:sp>
      <p:pic>
        <p:nvPicPr>
          <p:cNvPr id="4" name="Image 0" descr="preencoded.png"/>
          <p:cNvPicPr>
            <a:picLocks noChangeAspect="1"/>
          </p:cNvPicPr>
          <p:nvPr/>
        </p:nvPicPr>
        <p:blipFill>
          <a:blip r:embed="rId3"/>
          <a:stretch>
            <a:fillRect/>
          </a:stretch>
        </p:blipFill>
        <p:spPr>
          <a:xfrm>
            <a:off x="896112" y="1545336"/>
            <a:ext cx="310896" cy="310896"/>
          </a:xfrm>
          <a:prstGeom prst="rect">
            <a:avLst/>
          </a:prstGeom>
        </p:spPr>
      </p:pic>
      <p:sp>
        <p:nvSpPr>
          <p:cNvPr id="5" name="Text 2"/>
          <p:cNvSpPr/>
          <p:nvPr/>
        </p:nvSpPr>
        <p:spPr>
          <a:xfrm>
            <a:off x="1353312" y="1426464"/>
            <a:ext cx="4343400" cy="548640"/>
          </a:xfrm>
          <a:prstGeom prst="rect">
            <a:avLst/>
          </a:prstGeom>
          <a:noFill/>
          <a:ln/>
        </p:spPr>
        <p:txBody>
          <a:bodyPr wrap="square" lIns="0" tIns="0" rIns="0" bIns="0" rtlCol="0" anchor="ctr"/>
          <a:lstStyle/>
          <a:p>
            <a:r>
              <a:rPr lang="en-US" sz="1500" b="1" kern="0" spc="200">
                <a:solidFill>
                  <a:srgbClr val="FFFFFF"/>
                </a:solidFill>
                <a:latin typeface="Raleway" pitchFamily="2" charset="0"/>
                <a:ea typeface="Calibri" pitchFamily="34" charset="-122"/>
                <a:cs typeface="Calibri" pitchFamily="34" charset="-120"/>
              </a:rPr>
              <a:t>AI PODS</a:t>
            </a:r>
            <a:endParaRPr lang="en-US" sz="1500">
              <a:latin typeface="Raleway" pitchFamily="2" charset="0"/>
            </a:endParaRPr>
          </a:p>
        </p:txBody>
      </p:sp>
      <p:sp>
        <p:nvSpPr>
          <p:cNvPr id="6" name="Shape 3"/>
          <p:cNvSpPr/>
          <p:nvPr/>
        </p:nvSpPr>
        <p:spPr>
          <a:xfrm>
            <a:off x="640080" y="1975104"/>
            <a:ext cx="5257800" cy="2834640"/>
          </a:xfrm>
          <a:prstGeom prst="rect">
            <a:avLst/>
          </a:prstGeom>
          <a:solidFill>
            <a:srgbClr val="F4F6FA"/>
          </a:solidFill>
          <a:ln/>
          <a:effectLst>
            <a:outerShdw blurRad="88900" dist="25400" dir="8100000" algn="bl" rotWithShape="0">
              <a:srgbClr val="000000">
                <a:alpha val="10000"/>
              </a:srgbClr>
            </a:outerShdw>
          </a:effectLst>
        </p:spPr>
        <p:txBody>
          <a:bodyPr/>
          <a:lstStyle/>
          <a:p>
            <a:endParaRPr lang="en-IN">
              <a:latin typeface="Raleway" pitchFamily="2" charset="0"/>
            </a:endParaRPr>
          </a:p>
        </p:txBody>
      </p:sp>
      <p:sp>
        <p:nvSpPr>
          <p:cNvPr id="7" name="Shape 4"/>
          <p:cNvSpPr/>
          <p:nvPr/>
        </p:nvSpPr>
        <p:spPr>
          <a:xfrm>
            <a:off x="914400" y="2176272"/>
            <a:ext cx="237744" cy="237744"/>
          </a:xfrm>
          <a:prstGeom prst="ellipse">
            <a:avLst/>
          </a:prstGeom>
          <a:solidFill>
            <a:srgbClr val="1A9E8F"/>
          </a:solidFill>
          <a:ln/>
        </p:spPr>
        <p:txBody>
          <a:bodyPr/>
          <a:lstStyle/>
          <a:p>
            <a:endParaRPr lang="en-IN">
              <a:latin typeface="Raleway" pitchFamily="2" charset="0"/>
            </a:endParaRPr>
          </a:p>
        </p:txBody>
      </p:sp>
      <p:pic>
        <p:nvPicPr>
          <p:cNvPr id="8" name="Image 1" descr="preencoded.png"/>
          <p:cNvPicPr>
            <a:picLocks noChangeAspect="1"/>
          </p:cNvPicPr>
          <p:nvPr/>
        </p:nvPicPr>
        <p:blipFill>
          <a:blip r:embed="rId4"/>
          <a:stretch>
            <a:fillRect/>
          </a:stretch>
        </p:blipFill>
        <p:spPr>
          <a:xfrm>
            <a:off x="946404" y="2208276"/>
            <a:ext cx="173736" cy="173736"/>
          </a:xfrm>
          <a:prstGeom prst="rect">
            <a:avLst/>
          </a:prstGeom>
        </p:spPr>
      </p:pic>
      <p:sp>
        <p:nvSpPr>
          <p:cNvPr id="9" name="Text 5"/>
          <p:cNvSpPr/>
          <p:nvPr/>
        </p:nvSpPr>
        <p:spPr>
          <a:xfrm>
            <a:off x="1280160" y="2112264"/>
            <a:ext cx="4389120" cy="548640"/>
          </a:xfrm>
          <a:prstGeom prst="rect">
            <a:avLst/>
          </a:prstGeom>
          <a:noFill/>
          <a:ln/>
        </p:spPr>
        <p:txBody>
          <a:bodyPr wrap="square" lIns="0" tIns="0" rIns="0" bIns="0" rtlCol="0" anchor="ctr"/>
          <a:lstStyle/>
          <a:p>
            <a:pPr>
              <a:lnSpc>
                <a:spcPts val="1351"/>
              </a:lnSpc>
            </a:pPr>
            <a:r>
              <a:rPr lang="en-US" sz="1131" b="1">
                <a:solidFill>
                  <a:srgbClr val="1B2A4A"/>
                </a:solidFill>
                <a:latin typeface="Raleway" pitchFamily="2" charset="0"/>
                <a:ea typeface="Calibri" pitchFamily="34" charset="-122"/>
                <a:cs typeface="Calibri" pitchFamily="34" charset="-120"/>
              </a:rPr>
              <a:t>Human + AI blended pods  </a:t>
            </a:r>
            <a:r>
              <a:rPr lang="en-US" sz="1131">
                <a:solidFill>
                  <a:srgbClr val="5B6B86"/>
                </a:solidFill>
                <a:latin typeface="Raleway" pitchFamily="2" charset="0"/>
                <a:ea typeface="Calibri" pitchFamily="34" charset="-122"/>
                <a:cs typeface="Calibri" pitchFamily="34" charset="-120"/>
              </a:rPr>
              <a:t>Sized to mandate - small teams, larger mandates.</a:t>
            </a:r>
            <a:endParaRPr lang="en-US" sz="1131">
              <a:latin typeface="Raleway" pitchFamily="2" charset="0"/>
            </a:endParaRPr>
          </a:p>
        </p:txBody>
      </p:sp>
      <p:sp>
        <p:nvSpPr>
          <p:cNvPr id="10" name="Shape 6"/>
          <p:cNvSpPr/>
          <p:nvPr/>
        </p:nvSpPr>
        <p:spPr>
          <a:xfrm>
            <a:off x="914400" y="2834640"/>
            <a:ext cx="237744" cy="237744"/>
          </a:xfrm>
          <a:prstGeom prst="ellipse">
            <a:avLst/>
          </a:prstGeom>
          <a:solidFill>
            <a:srgbClr val="1A9E8F"/>
          </a:solidFill>
          <a:ln/>
        </p:spPr>
        <p:txBody>
          <a:bodyPr/>
          <a:lstStyle/>
          <a:p>
            <a:endParaRPr lang="en-IN">
              <a:latin typeface="Raleway" pitchFamily="2" charset="0"/>
            </a:endParaRPr>
          </a:p>
        </p:txBody>
      </p:sp>
      <p:pic>
        <p:nvPicPr>
          <p:cNvPr id="11" name="Image 2" descr="preencoded.png"/>
          <p:cNvPicPr>
            <a:picLocks noChangeAspect="1"/>
          </p:cNvPicPr>
          <p:nvPr/>
        </p:nvPicPr>
        <p:blipFill>
          <a:blip r:embed="rId4"/>
          <a:stretch>
            <a:fillRect/>
          </a:stretch>
        </p:blipFill>
        <p:spPr>
          <a:xfrm>
            <a:off x="946404" y="2866644"/>
            <a:ext cx="173736" cy="173736"/>
          </a:xfrm>
          <a:prstGeom prst="rect">
            <a:avLst/>
          </a:prstGeom>
        </p:spPr>
      </p:pic>
      <p:sp>
        <p:nvSpPr>
          <p:cNvPr id="12" name="Text 7"/>
          <p:cNvSpPr/>
          <p:nvPr/>
        </p:nvSpPr>
        <p:spPr>
          <a:xfrm>
            <a:off x="1280160" y="2770632"/>
            <a:ext cx="4389120" cy="548640"/>
          </a:xfrm>
          <a:prstGeom prst="rect">
            <a:avLst/>
          </a:prstGeom>
          <a:noFill/>
          <a:ln/>
        </p:spPr>
        <p:txBody>
          <a:bodyPr wrap="square" lIns="0" tIns="0" rIns="0" bIns="0" rtlCol="0" anchor="ctr"/>
          <a:lstStyle/>
          <a:p>
            <a:pPr>
              <a:lnSpc>
                <a:spcPts val="1351"/>
              </a:lnSpc>
            </a:pPr>
            <a:r>
              <a:rPr lang="en-US" sz="1131" b="1">
                <a:solidFill>
                  <a:srgbClr val="1B2A4A"/>
                </a:solidFill>
                <a:latin typeface="Raleway" pitchFamily="2" charset="0"/>
                <a:ea typeface="Calibri" pitchFamily="34" charset="-122"/>
                <a:cs typeface="Calibri" pitchFamily="34" charset="-120"/>
              </a:rPr>
              <a:t>Embedded tech lead  </a:t>
            </a:r>
            <a:r>
              <a:rPr lang="en-US" sz="1131">
                <a:solidFill>
                  <a:srgbClr val="5B6B86"/>
                </a:solidFill>
                <a:latin typeface="Raleway" pitchFamily="2" charset="0"/>
                <a:ea typeface="Calibri" pitchFamily="34" charset="-122"/>
                <a:cs typeface="Calibri" pitchFamily="34" charset="-120"/>
              </a:rPr>
              <a:t>At J2W's cost; sets velocity, quality bar and KPIs.</a:t>
            </a:r>
            <a:endParaRPr lang="en-US" sz="1131">
              <a:latin typeface="Raleway" pitchFamily="2" charset="0"/>
            </a:endParaRPr>
          </a:p>
        </p:txBody>
      </p:sp>
      <p:sp>
        <p:nvSpPr>
          <p:cNvPr id="13" name="Shape 8"/>
          <p:cNvSpPr/>
          <p:nvPr/>
        </p:nvSpPr>
        <p:spPr>
          <a:xfrm>
            <a:off x="914400" y="3493008"/>
            <a:ext cx="237744" cy="237744"/>
          </a:xfrm>
          <a:prstGeom prst="ellipse">
            <a:avLst/>
          </a:prstGeom>
          <a:solidFill>
            <a:srgbClr val="1A9E8F"/>
          </a:solidFill>
          <a:ln/>
        </p:spPr>
        <p:txBody>
          <a:bodyPr/>
          <a:lstStyle/>
          <a:p>
            <a:endParaRPr lang="en-IN">
              <a:latin typeface="Raleway" pitchFamily="2" charset="0"/>
            </a:endParaRPr>
          </a:p>
        </p:txBody>
      </p:sp>
      <p:pic>
        <p:nvPicPr>
          <p:cNvPr id="14" name="Image 3" descr="preencoded.png"/>
          <p:cNvPicPr>
            <a:picLocks noChangeAspect="1"/>
          </p:cNvPicPr>
          <p:nvPr/>
        </p:nvPicPr>
        <p:blipFill>
          <a:blip r:embed="rId4"/>
          <a:stretch>
            <a:fillRect/>
          </a:stretch>
        </p:blipFill>
        <p:spPr>
          <a:xfrm>
            <a:off x="946404" y="3525012"/>
            <a:ext cx="173736" cy="173736"/>
          </a:xfrm>
          <a:prstGeom prst="rect">
            <a:avLst/>
          </a:prstGeom>
        </p:spPr>
      </p:pic>
      <p:sp>
        <p:nvSpPr>
          <p:cNvPr id="15" name="Text 9"/>
          <p:cNvSpPr/>
          <p:nvPr/>
        </p:nvSpPr>
        <p:spPr>
          <a:xfrm>
            <a:off x="1280160" y="3429000"/>
            <a:ext cx="4389120" cy="548640"/>
          </a:xfrm>
          <a:prstGeom prst="rect">
            <a:avLst/>
          </a:prstGeom>
          <a:noFill/>
          <a:ln/>
        </p:spPr>
        <p:txBody>
          <a:bodyPr wrap="square" lIns="0" tIns="0" rIns="0" bIns="0" rtlCol="0" anchor="ctr"/>
          <a:lstStyle/>
          <a:p>
            <a:pPr>
              <a:lnSpc>
                <a:spcPts val="1351"/>
              </a:lnSpc>
            </a:pPr>
            <a:r>
              <a:rPr lang="en-US" sz="1131" b="1">
                <a:solidFill>
                  <a:srgbClr val="1B2A4A"/>
                </a:solidFill>
                <a:latin typeface="Raleway" pitchFamily="2" charset="0"/>
                <a:ea typeface="Calibri" pitchFamily="34" charset="-122"/>
                <a:cs typeface="Calibri" pitchFamily="34" charset="-120"/>
              </a:rPr>
              <a:t>AI tooling from Day 1  </a:t>
            </a:r>
            <a:r>
              <a:rPr lang="en-US" sz="1131">
                <a:solidFill>
                  <a:srgbClr val="5B6B86"/>
                </a:solidFill>
                <a:latin typeface="Raleway" pitchFamily="2" charset="0"/>
                <a:ea typeface="Calibri" pitchFamily="34" charset="-122"/>
                <a:cs typeface="Calibri" pitchFamily="34" charset="-120"/>
              </a:rPr>
              <a:t>Code review, test generation, agentic workflows in CI/CD.</a:t>
            </a:r>
            <a:endParaRPr lang="en-US" sz="1131">
              <a:latin typeface="Raleway" pitchFamily="2" charset="0"/>
            </a:endParaRPr>
          </a:p>
        </p:txBody>
      </p:sp>
      <p:sp>
        <p:nvSpPr>
          <p:cNvPr id="16" name="Shape 10"/>
          <p:cNvSpPr/>
          <p:nvPr/>
        </p:nvSpPr>
        <p:spPr>
          <a:xfrm>
            <a:off x="914400" y="4151376"/>
            <a:ext cx="237744" cy="237744"/>
          </a:xfrm>
          <a:prstGeom prst="ellipse">
            <a:avLst/>
          </a:prstGeom>
          <a:solidFill>
            <a:srgbClr val="1A9E8F"/>
          </a:solidFill>
          <a:ln/>
        </p:spPr>
        <p:txBody>
          <a:bodyPr/>
          <a:lstStyle/>
          <a:p>
            <a:endParaRPr lang="en-IN">
              <a:latin typeface="Raleway" pitchFamily="2" charset="0"/>
            </a:endParaRPr>
          </a:p>
        </p:txBody>
      </p:sp>
      <p:pic>
        <p:nvPicPr>
          <p:cNvPr id="17" name="Image 4" descr="preencoded.png"/>
          <p:cNvPicPr>
            <a:picLocks noChangeAspect="1"/>
          </p:cNvPicPr>
          <p:nvPr/>
        </p:nvPicPr>
        <p:blipFill>
          <a:blip r:embed="rId4"/>
          <a:stretch>
            <a:fillRect/>
          </a:stretch>
        </p:blipFill>
        <p:spPr>
          <a:xfrm>
            <a:off x="946404" y="4183380"/>
            <a:ext cx="173736" cy="173736"/>
          </a:xfrm>
          <a:prstGeom prst="rect">
            <a:avLst/>
          </a:prstGeom>
        </p:spPr>
      </p:pic>
      <p:sp>
        <p:nvSpPr>
          <p:cNvPr id="18" name="Text 11"/>
          <p:cNvSpPr/>
          <p:nvPr/>
        </p:nvSpPr>
        <p:spPr>
          <a:xfrm>
            <a:off x="1280160" y="4087368"/>
            <a:ext cx="4389120" cy="548640"/>
          </a:xfrm>
          <a:prstGeom prst="rect">
            <a:avLst/>
          </a:prstGeom>
          <a:noFill/>
          <a:ln/>
        </p:spPr>
        <p:txBody>
          <a:bodyPr wrap="square" lIns="0" tIns="0" rIns="0" bIns="0" rtlCol="0" anchor="ctr"/>
          <a:lstStyle/>
          <a:p>
            <a:pPr>
              <a:lnSpc>
                <a:spcPts val="1351"/>
              </a:lnSpc>
            </a:pPr>
            <a:r>
              <a:rPr lang="en-US" sz="1131" b="1">
                <a:solidFill>
                  <a:srgbClr val="1B2A4A"/>
                </a:solidFill>
                <a:latin typeface="Raleway" pitchFamily="2" charset="0"/>
                <a:ea typeface="Calibri" pitchFamily="34" charset="-122"/>
                <a:cs typeface="Calibri" pitchFamily="34" charset="-120"/>
              </a:rPr>
              <a:t>Pod governance  </a:t>
            </a:r>
            <a:r>
              <a:rPr lang="en-US" sz="1131">
                <a:solidFill>
                  <a:srgbClr val="5B6B86"/>
                </a:solidFill>
                <a:latin typeface="Raleway" pitchFamily="2" charset="0"/>
                <a:ea typeface="Calibri" pitchFamily="34" charset="-122"/>
                <a:cs typeface="Calibri" pitchFamily="34" charset="-120"/>
              </a:rPr>
              <a:t>Weekly scorecards, sprint accountability, 24-hr escalation SLA.</a:t>
            </a:r>
            <a:endParaRPr lang="en-US" sz="1131">
              <a:latin typeface="Raleway" pitchFamily="2" charset="0"/>
            </a:endParaRPr>
          </a:p>
        </p:txBody>
      </p:sp>
      <p:pic>
        <p:nvPicPr>
          <p:cNvPr id="20" name="Image 5" descr="preencoded.png"/>
          <p:cNvPicPr>
            <a:picLocks noChangeAspect="1"/>
          </p:cNvPicPr>
          <p:nvPr/>
        </p:nvPicPr>
        <p:blipFill>
          <a:blip r:embed="rId5"/>
          <a:stretch>
            <a:fillRect/>
          </a:stretch>
        </p:blipFill>
        <p:spPr>
          <a:xfrm>
            <a:off x="6519672" y="1545336"/>
            <a:ext cx="310896" cy="310896"/>
          </a:xfrm>
          <a:prstGeom prst="rect">
            <a:avLst/>
          </a:prstGeom>
        </p:spPr>
      </p:pic>
      <p:sp>
        <p:nvSpPr>
          <p:cNvPr id="21" name="Text 13"/>
          <p:cNvSpPr/>
          <p:nvPr/>
        </p:nvSpPr>
        <p:spPr>
          <a:xfrm>
            <a:off x="6976872" y="1426464"/>
            <a:ext cx="4343400" cy="548640"/>
          </a:xfrm>
          <a:prstGeom prst="rect">
            <a:avLst/>
          </a:prstGeom>
          <a:noFill/>
          <a:ln/>
        </p:spPr>
        <p:txBody>
          <a:bodyPr wrap="square" lIns="0" tIns="0" rIns="0" bIns="0" rtlCol="0" anchor="ctr"/>
          <a:lstStyle/>
          <a:p>
            <a:r>
              <a:rPr lang="en-US" sz="1500" b="1" kern="0" spc="200">
                <a:solidFill>
                  <a:srgbClr val="FFFFFF"/>
                </a:solidFill>
                <a:latin typeface="Raleway" pitchFamily="2" charset="0"/>
                <a:ea typeface="Calibri" pitchFamily="34" charset="-122"/>
                <a:cs typeface="Calibri" pitchFamily="34" charset="-120"/>
              </a:rPr>
              <a:t>INTERVIEW-AS-A-SERVICE</a:t>
            </a:r>
            <a:endParaRPr lang="en-US" sz="1500">
              <a:latin typeface="Raleway" pitchFamily="2" charset="0"/>
            </a:endParaRPr>
          </a:p>
        </p:txBody>
      </p:sp>
      <p:sp>
        <p:nvSpPr>
          <p:cNvPr id="22" name="Shape 14"/>
          <p:cNvSpPr/>
          <p:nvPr/>
        </p:nvSpPr>
        <p:spPr>
          <a:xfrm>
            <a:off x="6263640" y="1975104"/>
            <a:ext cx="5257800" cy="2834640"/>
          </a:xfrm>
          <a:prstGeom prst="rect">
            <a:avLst/>
          </a:prstGeom>
          <a:solidFill>
            <a:srgbClr val="F4F6FA"/>
          </a:solidFill>
          <a:ln/>
          <a:effectLst>
            <a:outerShdw blurRad="88900" dist="25400" dir="8100000" algn="bl" rotWithShape="0">
              <a:srgbClr val="000000">
                <a:alpha val="10000"/>
              </a:srgbClr>
            </a:outerShdw>
          </a:effectLst>
        </p:spPr>
        <p:txBody>
          <a:bodyPr/>
          <a:lstStyle/>
          <a:p>
            <a:endParaRPr lang="en-IN">
              <a:latin typeface="Raleway" pitchFamily="2" charset="0"/>
            </a:endParaRPr>
          </a:p>
        </p:txBody>
      </p:sp>
      <p:sp>
        <p:nvSpPr>
          <p:cNvPr id="23" name="Shape 15"/>
          <p:cNvSpPr/>
          <p:nvPr/>
        </p:nvSpPr>
        <p:spPr>
          <a:xfrm>
            <a:off x="6537960" y="2176272"/>
            <a:ext cx="237744" cy="237744"/>
          </a:xfrm>
          <a:prstGeom prst="ellipse">
            <a:avLst/>
          </a:prstGeom>
          <a:solidFill>
            <a:srgbClr val="E8A33D"/>
          </a:solidFill>
          <a:ln/>
        </p:spPr>
        <p:txBody>
          <a:bodyPr/>
          <a:lstStyle/>
          <a:p>
            <a:endParaRPr lang="en-IN">
              <a:latin typeface="Raleway" pitchFamily="2" charset="0"/>
            </a:endParaRPr>
          </a:p>
        </p:txBody>
      </p:sp>
      <p:pic>
        <p:nvPicPr>
          <p:cNvPr id="24" name="Image 6" descr="preencoded.png"/>
          <p:cNvPicPr>
            <a:picLocks noChangeAspect="1"/>
          </p:cNvPicPr>
          <p:nvPr/>
        </p:nvPicPr>
        <p:blipFill>
          <a:blip r:embed="rId4"/>
          <a:stretch>
            <a:fillRect/>
          </a:stretch>
        </p:blipFill>
        <p:spPr>
          <a:xfrm>
            <a:off x="6569964" y="2208276"/>
            <a:ext cx="173736" cy="173736"/>
          </a:xfrm>
          <a:prstGeom prst="rect">
            <a:avLst/>
          </a:prstGeom>
        </p:spPr>
      </p:pic>
      <p:sp>
        <p:nvSpPr>
          <p:cNvPr id="25" name="Text 16"/>
          <p:cNvSpPr/>
          <p:nvPr/>
        </p:nvSpPr>
        <p:spPr>
          <a:xfrm>
            <a:off x="6903720" y="2112264"/>
            <a:ext cx="4389120" cy="548640"/>
          </a:xfrm>
          <a:prstGeom prst="rect">
            <a:avLst/>
          </a:prstGeom>
          <a:noFill/>
          <a:ln/>
        </p:spPr>
        <p:txBody>
          <a:bodyPr wrap="square" lIns="0" tIns="0" rIns="0" bIns="0" rtlCol="0" anchor="ctr"/>
          <a:lstStyle/>
          <a:p>
            <a:pPr>
              <a:lnSpc>
                <a:spcPts val="1351"/>
              </a:lnSpc>
            </a:pPr>
            <a:r>
              <a:rPr lang="en-US" sz="1131" b="1">
                <a:solidFill>
                  <a:srgbClr val="1B2A4A"/>
                </a:solidFill>
                <a:latin typeface="Raleway" pitchFamily="2" charset="0"/>
                <a:ea typeface="Calibri" pitchFamily="34" charset="-122"/>
                <a:cs typeface="Calibri" pitchFamily="34" charset="-120"/>
              </a:rPr>
              <a:t>Standing domain-vetted capacity  </a:t>
            </a:r>
            <a:r>
              <a:rPr lang="en-US" sz="1131">
                <a:solidFill>
                  <a:srgbClr val="5B6B86"/>
                </a:solidFill>
                <a:latin typeface="Raleway" pitchFamily="2" charset="0"/>
                <a:ea typeface="Calibri" pitchFamily="34" charset="-122"/>
                <a:cs typeface="Calibri" pitchFamily="34" charset="-120"/>
              </a:rPr>
              <a:t>Interview slots pre-blocked, not scheduled on demand.</a:t>
            </a:r>
            <a:endParaRPr lang="en-US" sz="1131">
              <a:latin typeface="Raleway" pitchFamily="2" charset="0"/>
            </a:endParaRPr>
          </a:p>
        </p:txBody>
      </p:sp>
      <p:sp>
        <p:nvSpPr>
          <p:cNvPr id="26" name="Shape 17"/>
          <p:cNvSpPr/>
          <p:nvPr/>
        </p:nvSpPr>
        <p:spPr>
          <a:xfrm>
            <a:off x="6537960" y="2834640"/>
            <a:ext cx="237744" cy="237744"/>
          </a:xfrm>
          <a:prstGeom prst="ellipse">
            <a:avLst/>
          </a:prstGeom>
          <a:solidFill>
            <a:srgbClr val="E8A33D"/>
          </a:solidFill>
          <a:ln/>
        </p:spPr>
        <p:txBody>
          <a:bodyPr/>
          <a:lstStyle/>
          <a:p>
            <a:endParaRPr lang="en-IN">
              <a:latin typeface="Raleway" pitchFamily="2" charset="0"/>
            </a:endParaRPr>
          </a:p>
        </p:txBody>
      </p:sp>
      <p:pic>
        <p:nvPicPr>
          <p:cNvPr id="27" name="Image 7" descr="preencoded.png"/>
          <p:cNvPicPr>
            <a:picLocks noChangeAspect="1"/>
          </p:cNvPicPr>
          <p:nvPr/>
        </p:nvPicPr>
        <p:blipFill>
          <a:blip r:embed="rId4"/>
          <a:stretch>
            <a:fillRect/>
          </a:stretch>
        </p:blipFill>
        <p:spPr>
          <a:xfrm>
            <a:off x="6569964" y="2866644"/>
            <a:ext cx="173736" cy="173736"/>
          </a:xfrm>
          <a:prstGeom prst="rect">
            <a:avLst/>
          </a:prstGeom>
        </p:spPr>
      </p:pic>
      <p:sp>
        <p:nvSpPr>
          <p:cNvPr id="28" name="Text 18"/>
          <p:cNvSpPr/>
          <p:nvPr/>
        </p:nvSpPr>
        <p:spPr>
          <a:xfrm>
            <a:off x="6903720" y="2770632"/>
            <a:ext cx="4389120" cy="548640"/>
          </a:xfrm>
          <a:prstGeom prst="rect">
            <a:avLst/>
          </a:prstGeom>
          <a:noFill/>
          <a:ln/>
        </p:spPr>
        <p:txBody>
          <a:bodyPr wrap="square" lIns="0" tIns="0" rIns="0" bIns="0" rtlCol="0" anchor="ctr"/>
          <a:lstStyle/>
          <a:p>
            <a:pPr>
              <a:lnSpc>
                <a:spcPts val="1351"/>
              </a:lnSpc>
            </a:pPr>
            <a:r>
              <a:rPr lang="en-US" sz="1131" b="1">
                <a:solidFill>
                  <a:srgbClr val="1B2A4A"/>
                </a:solidFill>
                <a:latin typeface="Raleway" pitchFamily="2" charset="0"/>
                <a:ea typeface="Calibri" pitchFamily="34" charset="-122"/>
                <a:cs typeface="Calibri" pitchFamily="34" charset="-120"/>
              </a:rPr>
              <a:t>Decision cycles 2–3 wks → 3–5 days  </a:t>
            </a:r>
            <a:r>
              <a:rPr lang="en-US" sz="1131">
                <a:solidFill>
                  <a:srgbClr val="5B6B86"/>
                </a:solidFill>
                <a:latin typeface="Raleway" pitchFamily="2" charset="0"/>
                <a:ea typeface="Calibri" pitchFamily="34" charset="-122"/>
                <a:cs typeface="Calibri" pitchFamily="34" charset="-120"/>
              </a:rPr>
              <a:t>Candidates clear the domain bar before reaching you.</a:t>
            </a:r>
            <a:endParaRPr lang="en-US" sz="1131">
              <a:latin typeface="Raleway" pitchFamily="2" charset="0"/>
            </a:endParaRPr>
          </a:p>
        </p:txBody>
      </p:sp>
      <p:sp>
        <p:nvSpPr>
          <p:cNvPr id="29" name="Shape 19"/>
          <p:cNvSpPr/>
          <p:nvPr/>
        </p:nvSpPr>
        <p:spPr>
          <a:xfrm>
            <a:off x="6537960" y="3493008"/>
            <a:ext cx="237744" cy="237744"/>
          </a:xfrm>
          <a:prstGeom prst="ellipse">
            <a:avLst/>
          </a:prstGeom>
          <a:solidFill>
            <a:srgbClr val="E8A33D"/>
          </a:solidFill>
          <a:ln/>
        </p:spPr>
        <p:txBody>
          <a:bodyPr/>
          <a:lstStyle/>
          <a:p>
            <a:endParaRPr lang="en-IN">
              <a:latin typeface="Raleway" pitchFamily="2" charset="0"/>
            </a:endParaRPr>
          </a:p>
        </p:txBody>
      </p:sp>
      <p:pic>
        <p:nvPicPr>
          <p:cNvPr id="30" name="Image 8" descr="preencoded.png"/>
          <p:cNvPicPr>
            <a:picLocks noChangeAspect="1"/>
          </p:cNvPicPr>
          <p:nvPr/>
        </p:nvPicPr>
        <p:blipFill>
          <a:blip r:embed="rId4"/>
          <a:stretch>
            <a:fillRect/>
          </a:stretch>
        </p:blipFill>
        <p:spPr>
          <a:xfrm>
            <a:off x="6569964" y="3525012"/>
            <a:ext cx="173736" cy="173736"/>
          </a:xfrm>
          <a:prstGeom prst="rect">
            <a:avLst/>
          </a:prstGeom>
        </p:spPr>
      </p:pic>
      <p:sp>
        <p:nvSpPr>
          <p:cNvPr id="31" name="Text 20"/>
          <p:cNvSpPr/>
          <p:nvPr/>
        </p:nvSpPr>
        <p:spPr>
          <a:xfrm>
            <a:off x="6903720" y="3429000"/>
            <a:ext cx="4389120" cy="548640"/>
          </a:xfrm>
          <a:prstGeom prst="rect">
            <a:avLst/>
          </a:prstGeom>
          <a:noFill/>
          <a:ln/>
        </p:spPr>
        <p:txBody>
          <a:bodyPr wrap="square" lIns="0" tIns="0" rIns="0" bIns="0" rtlCol="0" anchor="ctr"/>
          <a:lstStyle/>
          <a:p>
            <a:pPr>
              <a:lnSpc>
                <a:spcPts val="1351"/>
              </a:lnSpc>
            </a:pPr>
            <a:r>
              <a:rPr lang="en-US" sz="1131" b="1">
                <a:solidFill>
                  <a:srgbClr val="1B2A4A"/>
                </a:solidFill>
                <a:latin typeface="Raleway" pitchFamily="2" charset="0"/>
                <a:ea typeface="Calibri" pitchFamily="34" charset="-122"/>
                <a:cs typeface="Calibri" pitchFamily="34" charset="-120"/>
              </a:rPr>
              <a:t>Manager time for judgment  </a:t>
            </a:r>
            <a:r>
              <a:rPr lang="en-US" sz="1131">
                <a:solidFill>
                  <a:srgbClr val="5B6B86"/>
                </a:solidFill>
                <a:latin typeface="Raleway" pitchFamily="2" charset="0"/>
                <a:ea typeface="Calibri" pitchFamily="34" charset="-122"/>
                <a:cs typeface="Calibri" pitchFamily="34" charset="-120"/>
              </a:rPr>
              <a:t>Not first-pass filtering - experts catch mismatches early.</a:t>
            </a:r>
            <a:endParaRPr lang="en-US" sz="1131">
              <a:latin typeface="Raleway" pitchFamily="2" charset="0"/>
            </a:endParaRPr>
          </a:p>
        </p:txBody>
      </p:sp>
      <p:sp>
        <p:nvSpPr>
          <p:cNvPr id="32" name="Shape 21"/>
          <p:cNvSpPr/>
          <p:nvPr/>
        </p:nvSpPr>
        <p:spPr>
          <a:xfrm>
            <a:off x="6537960" y="4151376"/>
            <a:ext cx="237744" cy="237744"/>
          </a:xfrm>
          <a:prstGeom prst="ellipse">
            <a:avLst/>
          </a:prstGeom>
          <a:solidFill>
            <a:srgbClr val="E8A33D"/>
          </a:solidFill>
          <a:ln/>
        </p:spPr>
        <p:txBody>
          <a:bodyPr/>
          <a:lstStyle/>
          <a:p>
            <a:endParaRPr lang="en-IN">
              <a:latin typeface="Raleway" pitchFamily="2" charset="0"/>
            </a:endParaRPr>
          </a:p>
        </p:txBody>
      </p:sp>
      <p:pic>
        <p:nvPicPr>
          <p:cNvPr id="33" name="Image 9" descr="preencoded.png"/>
          <p:cNvPicPr>
            <a:picLocks noChangeAspect="1"/>
          </p:cNvPicPr>
          <p:nvPr/>
        </p:nvPicPr>
        <p:blipFill>
          <a:blip r:embed="rId4"/>
          <a:stretch>
            <a:fillRect/>
          </a:stretch>
        </p:blipFill>
        <p:spPr>
          <a:xfrm>
            <a:off x="6569964" y="4183380"/>
            <a:ext cx="173736" cy="173736"/>
          </a:xfrm>
          <a:prstGeom prst="rect">
            <a:avLst/>
          </a:prstGeom>
        </p:spPr>
      </p:pic>
      <p:sp>
        <p:nvSpPr>
          <p:cNvPr id="34" name="Text 22"/>
          <p:cNvSpPr/>
          <p:nvPr/>
        </p:nvSpPr>
        <p:spPr>
          <a:xfrm>
            <a:off x="6903720" y="4087368"/>
            <a:ext cx="4389120" cy="548640"/>
          </a:xfrm>
          <a:prstGeom prst="rect">
            <a:avLst/>
          </a:prstGeom>
          <a:noFill/>
          <a:ln/>
        </p:spPr>
        <p:txBody>
          <a:bodyPr wrap="square" lIns="0" tIns="0" rIns="0" bIns="0" rtlCol="0" anchor="ctr"/>
          <a:lstStyle/>
          <a:p>
            <a:pPr>
              <a:lnSpc>
                <a:spcPts val="1351"/>
              </a:lnSpc>
            </a:pPr>
            <a:r>
              <a:rPr lang="en-US" sz="1131" b="1">
                <a:solidFill>
                  <a:srgbClr val="1B2A4A"/>
                </a:solidFill>
                <a:latin typeface="Raleway" pitchFamily="2" charset="0"/>
                <a:ea typeface="Calibri" pitchFamily="34" charset="-122"/>
                <a:cs typeface="Calibri" pitchFamily="34" charset="-120"/>
              </a:rPr>
              <a:t>Structured, recorded, scored  </a:t>
            </a:r>
            <a:r>
              <a:rPr lang="en-US" sz="1131">
                <a:solidFill>
                  <a:srgbClr val="5B6B86"/>
                </a:solidFill>
                <a:latin typeface="Raleway" pitchFamily="2" charset="0"/>
                <a:ea typeface="Calibri" pitchFamily="34" charset="-122"/>
                <a:cs typeface="Calibri" pitchFamily="34" charset="-120"/>
              </a:rPr>
              <a:t>Rubrics by role &amp; seniority; async review reports.</a:t>
            </a:r>
            <a:endParaRPr lang="en-US" sz="1131">
              <a:latin typeface="Raleway" pitchFamily="2" charset="0"/>
            </a:endParaRPr>
          </a:p>
        </p:txBody>
      </p:sp>
      <p:sp>
        <p:nvSpPr>
          <p:cNvPr id="35" name="Text 23"/>
          <p:cNvSpPr/>
          <p:nvPr/>
        </p:nvSpPr>
        <p:spPr>
          <a:xfrm>
            <a:off x="640080" y="4974336"/>
            <a:ext cx="10881360" cy="320040"/>
          </a:xfrm>
          <a:prstGeom prst="rect">
            <a:avLst/>
          </a:prstGeom>
          <a:noFill/>
          <a:ln/>
        </p:spPr>
        <p:txBody>
          <a:bodyPr wrap="square" lIns="0" tIns="0" rIns="0" bIns="0" rtlCol="0" anchor="ctr"/>
          <a:lstStyle/>
          <a:p>
            <a:r>
              <a:rPr lang="en-US" sz="1200" b="1">
                <a:solidFill>
                  <a:srgbClr val="1A9E8F"/>
                </a:solidFill>
                <a:latin typeface="Raleway" pitchFamily="2" charset="0"/>
                <a:ea typeface="Calibri" pitchFamily="34" charset="-122"/>
                <a:cs typeface="Calibri" pitchFamily="34" charset="-120"/>
              </a:rPr>
              <a:t>Why it matters for Southwest:  </a:t>
            </a:r>
            <a:r>
              <a:rPr lang="en-US" sz="1200" i="1">
                <a:solidFill>
                  <a:srgbClr val="5B6B86"/>
                </a:solidFill>
                <a:latin typeface="Raleway" pitchFamily="2" charset="0"/>
                <a:ea typeface="Calibri" pitchFamily="34" charset="-122"/>
                <a:cs typeface="Calibri" pitchFamily="34" charset="-120"/>
              </a:rPr>
              <a:t>every early hire defines trajectory - only domain-credible candidates reach your leadership.</a:t>
            </a:r>
            <a:endParaRPr lang="en-US" sz="1200">
              <a:latin typeface="Raleway" pitchFamily="2" charset="0"/>
            </a:endParaRPr>
          </a:p>
        </p:txBody>
      </p:sp>
      <p:pic>
        <p:nvPicPr>
          <p:cNvPr id="45" name="Image 1" descr="gen-dedup-323228122ff92d2332e711a84ca3b40c.png">
            <a:extLst>
              <a:ext uri="{FF2B5EF4-FFF2-40B4-BE49-F238E27FC236}">
                <a16:creationId xmlns:a16="http://schemas.microsoft.com/office/drawing/2014/main" id="{B93A69ED-69E0-3FB6-1D82-83C984D0EC90}"/>
              </a:ext>
            </a:extLst>
          </p:cNvPr>
          <p:cNvPicPr>
            <a:picLocks noChangeAspect="1"/>
          </p:cNvPicPr>
          <p:nvPr/>
        </p:nvPicPr>
        <p:blipFill>
          <a:blip r:embed="rId6"/>
          <a:srcRect l="-198" r="-198"/>
          <a:stretch/>
        </p:blipFill>
        <p:spPr>
          <a:xfrm>
            <a:off x="0" y="0"/>
            <a:ext cx="8124444" cy="75895"/>
          </a:xfrm>
          <a:prstGeom prst="rect">
            <a:avLst/>
          </a:prstGeom>
        </p:spPr>
      </p:pic>
      <p:pic>
        <p:nvPicPr>
          <p:cNvPr id="47" name="Image 2" descr="gen-dedup-9663ecf744b06e35d4c2cebaab92a2ea.png">
            <a:extLst>
              <a:ext uri="{FF2B5EF4-FFF2-40B4-BE49-F238E27FC236}">
                <a16:creationId xmlns:a16="http://schemas.microsoft.com/office/drawing/2014/main" id="{277D5448-BEF8-7099-D1CD-B740E6A6C850}"/>
              </a:ext>
            </a:extLst>
          </p:cNvPr>
          <p:cNvPicPr>
            <a:picLocks noChangeAspect="1"/>
          </p:cNvPicPr>
          <p:nvPr/>
        </p:nvPicPr>
        <p:blipFill>
          <a:blip r:embed="rId7"/>
          <a:srcRect l="-202" r="-202"/>
          <a:stretch/>
        </p:blipFill>
        <p:spPr>
          <a:xfrm>
            <a:off x="8124444" y="0"/>
            <a:ext cx="4067251" cy="75895"/>
          </a:xfrm>
          <a:prstGeom prst="rect">
            <a:avLst/>
          </a:prstGeom>
        </p:spPr>
      </p:pic>
      <p:pic>
        <p:nvPicPr>
          <p:cNvPr id="19" name="Image 3" descr="gen-dedup-777bf757d895431cabe402fcd34ebd5a.png">
            <a:extLst>
              <a:ext uri="{FF2B5EF4-FFF2-40B4-BE49-F238E27FC236}">
                <a16:creationId xmlns:a16="http://schemas.microsoft.com/office/drawing/2014/main" id="{AD1B0BD0-1864-75D1-29A8-0A3B72A0AA27}"/>
              </a:ext>
            </a:extLst>
          </p:cNvPr>
          <p:cNvPicPr>
            <a:picLocks noChangeAspect="1"/>
          </p:cNvPicPr>
          <p:nvPr/>
        </p:nvPicPr>
        <p:blipFill>
          <a:blip r:embed="rId8">
            <a:biLevel thresh="75000"/>
          </a:blip>
          <a:srcRect l="-384" r="-384"/>
          <a:stretch/>
        </p:blipFill>
        <p:spPr>
          <a:xfrm>
            <a:off x="571500" y="381305"/>
            <a:ext cx="57607" cy="476402"/>
          </a:xfrm>
          <a:prstGeom prst="rect">
            <a:avLst/>
          </a:prstGeom>
        </p:spPr>
      </p:pic>
      <p:sp>
        <p:nvSpPr>
          <p:cNvPr id="37" name="Text 5">
            <a:extLst>
              <a:ext uri="{FF2B5EF4-FFF2-40B4-BE49-F238E27FC236}">
                <a16:creationId xmlns:a16="http://schemas.microsoft.com/office/drawing/2014/main" id="{FD7ED6E2-10DE-F9EC-9640-0D946337721A}"/>
              </a:ext>
            </a:extLst>
          </p:cNvPr>
          <p:cNvSpPr txBox="1"/>
          <p:nvPr/>
        </p:nvSpPr>
        <p:spPr>
          <a:xfrm>
            <a:off x="780897" y="333756"/>
            <a:ext cx="5913817" cy="406908"/>
          </a:xfrm>
          <a:prstGeom prst="rect">
            <a:avLst/>
          </a:prstGeom>
          <a:noFill/>
          <a:ln/>
        </p:spPr>
        <p:txBody>
          <a:bodyPr wrap="none" lIns="0" tIns="0" rIns="0" bIns="0" rtlCol="0" anchor="ctr"/>
          <a:lstStyle/>
          <a:p>
            <a:r>
              <a:rPr lang="en-GB" sz="2400" b="1" kern="0" spc="-67" dirty="0">
                <a:solidFill>
                  <a:srgbClr val="111827"/>
                </a:solidFill>
                <a:latin typeface="Oswald" pitchFamily="34" charset="0"/>
                <a:ea typeface="Oswald" pitchFamily="34" charset="-122"/>
                <a:cs typeface="Oswald" pitchFamily="34" charset="-120"/>
              </a:rPr>
              <a:t>AI PODS + INTERVIEW-AS-A-SERVICE</a:t>
            </a:r>
          </a:p>
        </p:txBody>
      </p:sp>
    </p:spTree>
    <p:extLst>
      <p:ext uri="{BB962C8B-B14F-4D97-AF65-F5344CB8AC3E}">
        <p14:creationId xmlns:p14="http://schemas.microsoft.com/office/powerpoint/2010/main" val="36641115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4" name="Shape 2"/>
          <p:cNvSpPr/>
          <p:nvPr/>
        </p:nvSpPr>
        <p:spPr>
          <a:xfrm>
            <a:off x="9905695" y="-571500"/>
            <a:ext cx="2857500" cy="2857500"/>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5" name="Image 0" descr="gen-dedup-4ab2116e971fbb9400d0e99205bd0390.png"/>
          <p:cNvPicPr>
            <a:picLocks noChangeAspect="1"/>
          </p:cNvPicPr>
          <p:nvPr/>
        </p:nvPicPr>
        <p:blipFill>
          <a:blip r:embed="rId3">
            <a:alphaModFix amt="5000"/>
          </a:blip>
          <a:srcRect/>
          <a:stretch/>
        </p:blipFill>
        <p:spPr>
          <a:xfrm>
            <a:off x="-381305" y="4190695"/>
            <a:ext cx="1904695" cy="1904695"/>
          </a:xfrm>
          <a:prstGeom prst="rect">
            <a:avLst/>
          </a:prstGeom>
        </p:spPr>
      </p:pic>
      <p:pic>
        <p:nvPicPr>
          <p:cNvPr id="6" name="Image 1" descr="gen-dedup-323228122ff92d2332e711a84ca3b40c.png"/>
          <p:cNvPicPr>
            <a:picLocks noChangeAspect="1"/>
          </p:cNvPicPr>
          <p:nvPr/>
        </p:nvPicPr>
        <p:blipFill>
          <a:blip r:embed="rId4"/>
          <a:srcRect l="-198" r="-198"/>
          <a:stretch/>
        </p:blipFill>
        <p:spPr>
          <a:xfrm>
            <a:off x="0" y="0"/>
            <a:ext cx="8124444" cy="75895"/>
          </a:xfrm>
          <a:prstGeom prst="rect">
            <a:avLst/>
          </a:prstGeom>
        </p:spPr>
      </p:pic>
      <p:pic>
        <p:nvPicPr>
          <p:cNvPr id="7" name="Image 2" descr="gen-dedup-9663ecf744b06e35d4c2cebaab92a2ea.png"/>
          <p:cNvPicPr>
            <a:picLocks noChangeAspect="1"/>
          </p:cNvPicPr>
          <p:nvPr/>
        </p:nvPicPr>
        <p:blipFill>
          <a:blip r:embed="rId5"/>
          <a:srcRect l="-202" r="-202"/>
          <a:stretch/>
        </p:blipFill>
        <p:spPr>
          <a:xfrm>
            <a:off x="8124444" y="0"/>
            <a:ext cx="4067251" cy="75895"/>
          </a:xfrm>
          <a:prstGeom prst="rect">
            <a:avLst/>
          </a:prstGeom>
        </p:spPr>
      </p:pic>
      <p:sp>
        <p:nvSpPr>
          <p:cNvPr id="9" name="Shape 3"/>
          <p:cNvSpPr/>
          <p:nvPr/>
        </p:nvSpPr>
        <p:spPr>
          <a:xfrm>
            <a:off x="609905" y="1657807"/>
            <a:ext cx="3543300" cy="1809598"/>
          </a:xfrm>
          <a:prstGeom prst="roundRect">
            <a:avLst>
              <a:gd name="adj" fmla="val 2122"/>
            </a:avLst>
          </a:prstGeom>
          <a:solidFill>
            <a:srgbClr val="F8FAFC"/>
          </a:solidFill>
          <a:ln w="12700">
            <a:solidFill>
              <a:srgbClr val="E2E8F0"/>
            </a:solidFill>
            <a:prstDash val="solid"/>
          </a:ln>
        </p:spPr>
        <p:txBody>
          <a:bodyPr/>
          <a:lstStyle/>
          <a:p>
            <a:endParaRPr lang="en-US"/>
          </a:p>
        </p:txBody>
      </p:sp>
      <p:sp>
        <p:nvSpPr>
          <p:cNvPr id="10" name="Shape 4"/>
          <p:cNvSpPr/>
          <p:nvPr/>
        </p:nvSpPr>
        <p:spPr>
          <a:xfrm>
            <a:off x="609905" y="1657807"/>
            <a:ext cx="3543300" cy="38405"/>
          </a:xfrm>
          <a:prstGeom prst="roundRect">
            <a:avLst>
              <a:gd name="adj" fmla="val 99999"/>
            </a:avLst>
          </a:prstGeom>
          <a:solidFill>
            <a:srgbClr val="111827"/>
          </a:solidFill>
          <a:ln w="12700">
            <a:solidFill>
              <a:srgbClr val="111827">
                <a:alpha val="0"/>
              </a:srgbClr>
            </a:solidFill>
            <a:prstDash val="solid"/>
          </a:ln>
        </p:spPr>
        <p:txBody>
          <a:bodyPr/>
          <a:lstStyle/>
          <a:p>
            <a:endParaRPr lang="en-US"/>
          </a:p>
        </p:txBody>
      </p:sp>
      <p:sp>
        <p:nvSpPr>
          <p:cNvPr id="11" name="Shape 5"/>
          <p:cNvSpPr/>
          <p:nvPr/>
        </p:nvSpPr>
        <p:spPr>
          <a:xfrm>
            <a:off x="4343400" y="1657807"/>
            <a:ext cx="3543300" cy="1809598"/>
          </a:xfrm>
          <a:prstGeom prst="roundRect">
            <a:avLst>
              <a:gd name="adj" fmla="val 2122"/>
            </a:avLst>
          </a:prstGeom>
          <a:solidFill>
            <a:srgbClr val="F8FAFC"/>
          </a:solidFill>
          <a:ln w="12700">
            <a:solidFill>
              <a:srgbClr val="E2E8F0"/>
            </a:solidFill>
            <a:prstDash val="solid"/>
          </a:ln>
        </p:spPr>
        <p:txBody>
          <a:bodyPr/>
          <a:lstStyle/>
          <a:p>
            <a:endParaRPr lang="en-US"/>
          </a:p>
        </p:txBody>
      </p:sp>
      <p:sp>
        <p:nvSpPr>
          <p:cNvPr id="12" name="Shape 6"/>
          <p:cNvSpPr/>
          <p:nvPr/>
        </p:nvSpPr>
        <p:spPr>
          <a:xfrm>
            <a:off x="4343400" y="1657807"/>
            <a:ext cx="3543300" cy="38405"/>
          </a:xfrm>
          <a:prstGeom prst="roundRect">
            <a:avLst>
              <a:gd name="adj" fmla="val 99999"/>
            </a:avLst>
          </a:prstGeom>
          <a:solidFill>
            <a:srgbClr val="2A9D8F"/>
          </a:solidFill>
          <a:ln w="12700">
            <a:solidFill>
              <a:srgbClr val="2A9D8F">
                <a:alpha val="0"/>
              </a:srgbClr>
            </a:solidFill>
            <a:prstDash val="solid"/>
          </a:ln>
        </p:spPr>
        <p:txBody>
          <a:bodyPr/>
          <a:lstStyle/>
          <a:p>
            <a:endParaRPr lang="en-US"/>
          </a:p>
        </p:txBody>
      </p:sp>
      <p:sp>
        <p:nvSpPr>
          <p:cNvPr id="13" name="Shape 7"/>
          <p:cNvSpPr/>
          <p:nvPr/>
        </p:nvSpPr>
        <p:spPr>
          <a:xfrm>
            <a:off x="8076895" y="1657807"/>
            <a:ext cx="3543300" cy="1809598"/>
          </a:xfrm>
          <a:prstGeom prst="roundRect">
            <a:avLst>
              <a:gd name="adj" fmla="val 2122"/>
            </a:avLst>
          </a:prstGeom>
          <a:solidFill>
            <a:srgbClr val="F8FAFC"/>
          </a:solidFill>
          <a:ln w="12700">
            <a:solidFill>
              <a:srgbClr val="E2E8F0"/>
            </a:solidFill>
            <a:prstDash val="solid"/>
          </a:ln>
        </p:spPr>
        <p:txBody>
          <a:bodyPr/>
          <a:lstStyle/>
          <a:p>
            <a:endParaRPr lang="en-US"/>
          </a:p>
        </p:txBody>
      </p:sp>
      <p:sp>
        <p:nvSpPr>
          <p:cNvPr id="14" name="Shape 8"/>
          <p:cNvSpPr/>
          <p:nvPr/>
        </p:nvSpPr>
        <p:spPr>
          <a:xfrm>
            <a:off x="8076895" y="1657807"/>
            <a:ext cx="3543300" cy="38405"/>
          </a:xfrm>
          <a:prstGeom prst="roundRect">
            <a:avLst>
              <a:gd name="adj" fmla="val 99999"/>
            </a:avLst>
          </a:prstGeom>
          <a:solidFill>
            <a:srgbClr val="D62839"/>
          </a:solidFill>
          <a:ln w="12700">
            <a:solidFill>
              <a:srgbClr val="D62839">
                <a:alpha val="0"/>
              </a:srgbClr>
            </a:solidFill>
            <a:prstDash val="solid"/>
          </a:ln>
        </p:spPr>
        <p:txBody>
          <a:bodyPr/>
          <a:lstStyle/>
          <a:p>
            <a:endParaRPr lang="en-US"/>
          </a:p>
        </p:txBody>
      </p:sp>
      <p:sp>
        <p:nvSpPr>
          <p:cNvPr id="15" name="Shape 9"/>
          <p:cNvSpPr/>
          <p:nvPr/>
        </p:nvSpPr>
        <p:spPr>
          <a:xfrm>
            <a:off x="609905" y="3571646"/>
            <a:ext cx="3543300" cy="1809598"/>
          </a:xfrm>
          <a:prstGeom prst="roundRect">
            <a:avLst>
              <a:gd name="adj" fmla="val 2122"/>
            </a:avLst>
          </a:prstGeom>
          <a:solidFill>
            <a:srgbClr val="F8FAFC"/>
          </a:solidFill>
          <a:ln w="12700">
            <a:solidFill>
              <a:srgbClr val="E2E8F0"/>
            </a:solidFill>
            <a:prstDash val="solid"/>
          </a:ln>
        </p:spPr>
        <p:txBody>
          <a:bodyPr/>
          <a:lstStyle/>
          <a:p>
            <a:endParaRPr lang="en-US"/>
          </a:p>
        </p:txBody>
      </p:sp>
      <p:sp>
        <p:nvSpPr>
          <p:cNvPr id="16" name="Shape 10"/>
          <p:cNvSpPr/>
          <p:nvPr/>
        </p:nvSpPr>
        <p:spPr>
          <a:xfrm>
            <a:off x="609905" y="3571646"/>
            <a:ext cx="3543300" cy="38405"/>
          </a:xfrm>
          <a:prstGeom prst="roundRect">
            <a:avLst>
              <a:gd name="adj" fmla="val 99999"/>
            </a:avLst>
          </a:prstGeom>
          <a:solidFill>
            <a:srgbClr val="111827"/>
          </a:solidFill>
          <a:ln w="12700">
            <a:solidFill>
              <a:srgbClr val="111827">
                <a:alpha val="0"/>
              </a:srgbClr>
            </a:solidFill>
            <a:prstDash val="solid"/>
          </a:ln>
        </p:spPr>
        <p:txBody>
          <a:bodyPr/>
          <a:lstStyle/>
          <a:p>
            <a:endParaRPr lang="en-US"/>
          </a:p>
        </p:txBody>
      </p:sp>
      <p:sp>
        <p:nvSpPr>
          <p:cNvPr id="17" name="Shape 11"/>
          <p:cNvSpPr/>
          <p:nvPr/>
        </p:nvSpPr>
        <p:spPr>
          <a:xfrm>
            <a:off x="4343400" y="3571646"/>
            <a:ext cx="3543300" cy="1809598"/>
          </a:xfrm>
          <a:prstGeom prst="roundRect">
            <a:avLst>
              <a:gd name="adj" fmla="val 2122"/>
            </a:avLst>
          </a:prstGeom>
          <a:solidFill>
            <a:srgbClr val="F8FAFC"/>
          </a:solidFill>
          <a:ln w="12700">
            <a:solidFill>
              <a:srgbClr val="E2E8F0"/>
            </a:solidFill>
            <a:prstDash val="solid"/>
          </a:ln>
        </p:spPr>
        <p:txBody>
          <a:bodyPr/>
          <a:lstStyle/>
          <a:p>
            <a:endParaRPr lang="en-US"/>
          </a:p>
        </p:txBody>
      </p:sp>
      <p:sp>
        <p:nvSpPr>
          <p:cNvPr id="18" name="Shape 12"/>
          <p:cNvSpPr/>
          <p:nvPr/>
        </p:nvSpPr>
        <p:spPr>
          <a:xfrm>
            <a:off x="4343400" y="3571646"/>
            <a:ext cx="3543300" cy="38405"/>
          </a:xfrm>
          <a:prstGeom prst="roundRect">
            <a:avLst>
              <a:gd name="adj" fmla="val 99999"/>
            </a:avLst>
          </a:prstGeom>
          <a:solidFill>
            <a:srgbClr val="2A9D8F"/>
          </a:solidFill>
          <a:ln w="12700">
            <a:solidFill>
              <a:srgbClr val="2A9D8F">
                <a:alpha val="0"/>
              </a:srgbClr>
            </a:solidFill>
            <a:prstDash val="solid"/>
          </a:ln>
        </p:spPr>
        <p:txBody>
          <a:bodyPr/>
          <a:lstStyle/>
          <a:p>
            <a:endParaRPr lang="en-US"/>
          </a:p>
        </p:txBody>
      </p:sp>
      <p:sp>
        <p:nvSpPr>
          <p:cNvPr id="19" name="Shape 13"/>
          <p:cNvSpPr/>
          <p:nvPr/>
        </p:nvSpPr>
        <p:spPr>
          <a:xfrm>
            <a:off x="8076895" y="3571646"/>
            <a:ext cx="3543300" cy="1809598"/>
          </a:xfrm>
          <a:prstGeom prst="roundRect">
            <a:avLst>
              <a:gd name="adj" fmla="val 2122"/>
            </a:avLst>
          </a:prstGeom>
          <a:solidFill>
            <a:srgbClr val="F8FAFC"/>
          </a:solidFill>
          <a:ln w="12700">
            <a:solidFill>
              <a:srgbClr val="E2E8F0"/>
            </a:solidFill>
            <a:prstDash val="solid"/>
          </a:ln>
        </p:spPr>
        <p:txBody>
          <a:bodyPr/>
          <a:lstStyle/>
          <a:p>
            <a:endParaRPr lang="en-US"/>
          </a:p>
        </p:txBody>
      </p:sp>
      <p:sp>
        <p:nvSpPr>
          <p:cNvPr id="20" name="Shape 14"/>
          <p:cNvSpPr/>
          <p:nvPr/>
        </p:nvSpPr>
        <p:spPr>
          <a:xfrm>
            <a:off x="8076895" y="3571646"/>
            <a:ext cx="3543300" cy="38405"/>
          </a:xfrm>
          <a:prstGeom prst="roundRect">
            <a:avLst>
              <a:gd name="adj" fmla="val 99999"/>
            </a:avLst>
          </a:prstGeom>
          <a:solidFill>
            <a:srgbClr val="D62839"/>
          </a:solidFill>
          <a:ln w="12700">
            <a:solidFill>
              <a:srgbClr val="D62839">
                <a:alpha val="0"/>
              </a:srgbClr>
            </a:solidFill>
            <a:prstDash val="solid"/>
          </a:ln>
        </p:spPr>
        <p:txBody>
          <a:bodyPr/>
          <a:lstStyle/>
          <a:p>
            <a:endParaRPr lang="en-US"/>
          </a:p>
        </p:txBody>
      </p:sp>
      <p:sp>
        <p:nvSpPr>
          <p:cNvPr id="21" name="Shape 15"/>
          <p:cNvSpPr/>
          <p:nvPr/>
        </p:nvSpPr>
        <p:spPr>
          <a:xfrm>
            <a:off x="609905" y="5619902"/>
            <a:ext cx="10972800" cy="761695"/>
          </a:xfrm>
          <a:prstGeom prst="roundRect">
            <a:avLst>
              <a:gd name="adj" fmla="val 5042"/>
            </a:avLst>
          </a:prstGeom>
          <a:solidFill>
            <a:srgbClr val="111827"/>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en-US"/>
          </a:p>
        </p:txBody>
      </p:sp>
      <p:sp>
        <p:nvSpPr>
          <p:cNvPr id="26" name="Text 20"/>
          <p:cNvSpPr txBox="1"/>
          <p:nvPr/>
        </p:nvSpPr>
        <p:spPr>
          <a:xfrm>
            <a:off x="761695" y="1772107"/>
            <a:ext cx="3200400" cy="381305"/>
          </a:xfrm>
          <a:prstGeom prst="rect">
            <a:avLst/>
          </a:prstGeom>
          <a:noFill/>
          <a:ln/>
        </p:spPr>
        <p:txBody>
          <a:bodyPr wrap="none" lIns="0" tIns="0" rIns="0" bIns="0" rtlCol="0" anchor="ctr"/>
          <a:lstStyle/>
          <a:p>
            <a:pPr marL="0" indent="0" algn="l">
              <a:buNone/>
            </a:pPr>
            <a:r>
              <a:rPr lang="en-US" sz="2700" b="1">
                <a:solidFill>
                  <a:srgbClr val="111827"/>
                </a:solidFill>
                <a:latin typeface="Oswald" pitchFamily="34" charset="0"/>
                <a:ea typeface="Oswald" pitchFamily="34" charset="-122"/>
                <a:cs typeface="Oswald" pitchFamily="34" charset="-120"/>
              </a:rPr>
              <a:t>85%+</a:t>
            </a:r>
            <a:endParaRPr lang="en-US" sz="2700"/>
          </a:p>
        </p:txBody>
      </p:sp>
      <p:sp>
        <p:nvSpPr>
          <p:cNvPr id="27" name="Text 21"/>
          <p:cNvSpPr txBox="1"/>
          <p:nvPr/>
        </p:nvSpPr>
        <p:spPr>
          <a:xfrm>
            <a:off x="761695" y="2187245"/>
            <a:ext cx="3200400" cy="152705"/>
          </a:xfrm>
          <a:prstGeom prst="rect">
            <a:avLst/>
          </a:prstGeom>
          <a:noFill/>
          <a:ln/>
        </p:spPr>
        <p:txBody>
          <a:bodyPr wrap="none" lIns="0" tIns="0" rIns="0" bIns="0" rtlCol="0" anchor="ctr"/>
          <a:lstStyle/>
          <a:p>
            <a:pPr marL="0" indent="0" algn="l">
              <a:buNone/>
            </a:pPr>
            <a:r>
              <a:rPr lang="en-US" sz="1000" b="1">
                <a:solidFill>
                  <a:srgbClr val="2A9D8F"/>
                </a:solidFill>
                <a:latin typeface="Roboto Condensed" pitchFamily="34" charset="0"/>
                <a:ea typeface="Roboto Condensed" pitchFamily="34" charset="-122"/>
                <a:cs typeface="Roboto Condensed" pitchFamily="34" charset="-120"/>
              </a:rPr>
              <a:t>Sprint Completion</a:t>
            </a:r>
            <a:endParaRPr lang="en-US" sz="1000"/>
          </a:p>
        </p:txBody>
      </p:sp>
      <p:sp>
        <p:nvSpPr>
          <p:cNvPr id="28" name="Text 22"/>
          <p:cNvSpPr txBox="1"/>
          <p:nvPr/>
        </p:nvSpPr>
        <p:spPr>
          <a:xfrm>
            <a:off x="761695" y="2415845"/>
            <a:ext cx="3200400" cy="352958"/>
          </a:xfrm>
          <a:prstGeom prst="rect">
            <a:avLst/>
          </a:prstGeom>
          <a:noFill/>
          <a:ln/>
        </p:spPr>
        <p:txBody>
          <a:bodyPr wrap="square" lIns="0" tIns="0" rIns="0" bIns="0" rtlCol="0" anchor="ctr"/>
          <a:lstStyle/>
          <a:p>
            <a:pPr marL="0" indent="0" algn="l">
              <a:buNone/>
            </a:pPr>
            <a:r>
              <a:rPr lang="en-US" sz="900">
                <a:solidFill>
                  <a:srgbClr val="4B5563"/>
                </a:solidFill>
                <a:latin typeface="Raleway" pitchFamily="34" charset="0"/>
                <a:ea typeface="Raleway" pitchFamily="34" charset="-122"/>
                <a:cs typeface="Raleway" pitchFamily="34" charset="-120"/>
              </a:rPr>
              <a:t>Tracked weekly. Below 80% triggers immediate escalation to Practice Head.</a:t>
            </a:r>
            <a:endParaRPr lang="en-US" sz="900"/>
          </a:p>
        </p:txBody>
      </p:sp>
      <p:sp>
        <p:nvSpPr>
          <p:cNvPr id="29" name="Text 23"/>
          <p:cNvSpPr txBox="1"/>
          <p:nvPr/>
        </p:nvSpPr>
        <p:spPr>
          <a:xfrm>
            <a:off x="4496105" y="1772107"/>
            <a:ext cx="3200400" cy="381305"/>
          </a:xfrm>
          <a:prstGeom prst="rect">
            <a:avLst/>
          </a:prstGeom>
          <a:noFill/>
          <a:ln/>
        </p:spPr>
        <p:txBody>
          <a:bodyPr wrap="none" lIns="0" tIns="0" rIns="0" bIns="0" rtlCol="0" anchor="ctr"/>
          <a:lstStyle/>
          <a:p>
            <a:pPr marL="0" indent="0" algn="l">
              <a:buNone/>
            </a:pPr>
            <a:r>
              <a:rPr lang="en-US" sz="2700" b="1">
                <a:solidFill>
                  <a:srgbClr val="2A9D8F"/>
                </a:solidFill>
                <a:latin typeface="Oswald" pitchFamily="34" charset="0"/>
                <a:ea typeface="Oswald" pitchFamily="34" charset="-122"/>
                <a:cs typeface="Oswald" pitchFamily="34" charset="-120"/>
              </a:rPr>
              <a:t>&lt;=0.5</a:t>
            </a:r>
            <a:endParaRPr lang="en-US" sz="2700"/>
          </a:p>
        </p:txBody>
      </p:sp>
      <p:sp>
        <p:nvSpPr>
          <p:cNvPr id="30" name="Text 24"/>
          <p:cNvSpPr txBox="1"/>
          <p:nvPr/>
        </p:nvSpPr>
        <p:spPr>
          <a:xfrm>
            <a:off x="4496105" y="2187245"/>
            <a:ext cx="3200400" cy="152705"/>
          </a:xfrm>
          <a:prstGeom prst="rect">
            <a:avLst/>
          </a:prstGeom>
          <a:noFill/>
          <a:ln/>
        </p:spPr>
        <p:txBody>
          <a:bodyPr wrap="none" lIns="0" tIns="0" rIns="0" bIns="0" rtlCol="0" anchor="ctr"/>
          <a:lstStyle/>
          <a:p>
            <a:pPr marL="0" indent="0" algn="l">
              <a:buNone/>
            </a:pPr>
            <a:r>
              <a:rPr lang="en-US" sz="1000" b="1">
                <a:solidFill>
                  <a:srgbClr val="111827"/>
                </a:solidFill>
                <a:latin typeface="Roboto Condensed" pitchFamily="34" charset="0"/>
                <a:ea typeface="Roboto Condensed" pitchFamily="34" charset="-122"/>
                <a:cs typeface="Roboto Condensed" pitchFamily="34" charset="-120"/>
              </a:rPr>
              <a:t>Defect Density</a:t>
            </a:r>
            <a:endParaRPr lang="en-US" sz="1000"/>
          </a:p>
        </p:txBody>
      </p:sp>
      <p:sp>
        <p:nvSpPr>
          <p:cNvPr id="31" name="Text 25"/>
          <p:cNvSpPr txBox="1"/>
          <p:nvPr/>
        </p:nvSpPr>
        <p:spPr>
          <a:xfrm>
            <a:off x="4496105" y="2415845"/>
            <a:ext cx="3200400" cy="352958"/>
          </a:xfrm>
          <a:prstGeom prst="rect">
            <a:avLst/>
          </a:prstGeom>
          <a:noFill/>
          <a:ln/>
        </p:spPr>
        <p:txBody>
          <a:bodyPr wrap="square" lIns="0" tIns="0" rIns="0" bIns="0" rtlCol="0" anchor="ctr"/>
          <a:lstStyle/>
          <a:p>
            <a:pPr marL="0" indent="0" algn="l">
              <a:buNone/>
            </a:pPr>
            <a:r>
              <a:rPr lang="en-US" sz="900">
                <a:solidFill>
                  <a:srgbClr val="4B5563"/>
                </a:solidFill>
                <a:latin typeface="Raleway" pitchFamily="34" charset="0"/>
                <a:ea typeface="Raleway" pitchFamily="34" charset="-122"/>
                <a:cs typeface="Raleway" pitchFamily="34" charset="-120"/>
              </a:rPr>
              <a:t>Code quality benchmark (per KLOC). Reviewed at monthly performance scorecard.</a:t>
            </a:r>
            <a:endParaRPr lang="en-US" sz="900"/>
          </a:p>
        </p:txBody>
      </p:sp>
      <p:sp>
        <p:nvSpPr>
          <p:cNvPr id="32" name="Text 26"/>
          <p:cNvSpPr txBox="1"/>
          <p:nvPr/>
        </p:nvSpPr>
        <p:spPr>
          <a:xfrm>
            <a:off x="8229600" y="1772107"/>
            <a:ext cx="3200400" cy="381305"/>
          </a:xfrm>
          <a:prstGeom prst="rect">
            <a:avLst/>
          </a:prstGeom>
          <a:noFill/>
          <a:ln/>
        </p:spPr>
        <p:txBody>
          <a:bodyPr wrap="none" lIns="0" tIns="0" rIns="0" bIns="0" rtlCol="0" anchor="ctr"/>
          <a:lstStyle/>
          <a:p>
            <a:pPr marL="0" indent="0" algn="l">
              <a:buNone/>
            </a:pPr>
            <a:r>
              <a:rPr lang="en-US" sz="2700" b="1">
                <a:solidFill>
                  <a:srgbClr val="D62839"/>
                </a:solidFill>
                <a:latin typeface="Oswald" pitchFamily="34" charset="0"/>
                <a:ea typeface="Oswald" pitchFamily="34" charset="-122"/>
                <a:cs typeface="Oswald" pitchFamily="34" charset="-120"/>
              </a:rPr>
              <a:t>10-Day</a:t>
            </a:r>
            <a:endParaRPr lang="en-US" sz="2700"/>
          </a:p>
        </p:txBody>
      </p:sp>
      <p:sp>
        <p:nvSpPr>
          <p:cNvPr id="33" name="Text 27"/>
          <p:cNvSpPr txBox="1"/>
          <p:nvPr/>
        </p:nvSpPr>
        <p:spPr>
          <a:xfrm>
            <a:off x="8229600" y="2187245"/>
            <a:ext cx="3200400" cy="152705"/>
          </a:xfrm>
          <a:prstGeom prst="rect">
            <a:avLst/>
          </a:prstGeom>
          <a:noFill/>
          <a:ln/>
        </p:spPr>
        <p:txBody>
          <a:bodyPr wrap="none" lIns="0" tIns="0" rIns="0" bIns="0" rtlCol="0" anchor="ctr"/>
          <a:lstStyle/>
          <a:p>
            <a:pPr marL="0" indent="0" algn="l">
              <a:buNone/>
            </a:pPr>
            <a:r>
              <a:rPr lang="en-US" sz="1000" b="1">
                <a:solidFill>
                  <a:srgbClr val="111827"/>
                </a:solidFill>
                <a:latin typeface="Roboto Condensed" pitchFamily="34" charset="0"/>
                <a:ea typeface="Roboto Condensed" pitchFamily="34" charset="-122"/>
                <a:cs typeface="Roboto Condensed" pitchFamily="34" charset="-120"/>
              </a:rPr>
              <a:t>Onboarding</a:t>
            </a:r>
            <a:endParaRPr lang="en-US" sz="1000"/>
          </a:p>
        </p:txBody>
      </p:sp>
      <p:sp>
        <p:nvSpPr>
          <p:cNvPr id="34" name="Text 28"/>
          <p:cNvSpPr txBox="1"/>
          <p:nvPr/>
        </p:nvSpPr>
        <p:spPr>
          <a:xfrm>
            <a:off x="8229600" y="2415845"/>
            <a:ext cx="3200400" cy="352958"/>
          </a:xfrm>
          <a:prstGeom prst="rect">
            <a:avLst/>
          </a:prstGeom>
          <a:noFill/>
          <a:ln/>
        </p:spPr>
        <p:txBody>
          <a:bodyPr wrap="square" lIns="0" tIns="0" rIns="0" bIns="0" rtlCol="0" anchor="ctr"/>
          <a:lstStyle/>
          <a:p>
            <a:pPr marL="0" indent="0" algn="l">
              <a:buNone/>
            </a:pPr>
            <a:r>
              <a:rPr lang="en-US" sz="900">
                <a:solidFill>
                  <a:srgbClr val="4B5563"/>
                </a:solidFill>
                <a:latin typeface="Raleway" pitchFamily="34" charset="0"/>
                <a:ea typeface="Raleway" pitchFamily="34" charset="-122"/>
                <a:cs typeface="Raleway" pitchFamily="34" charset="-120"/>
              </a:rPr>
              <a:t>New engineers contributing to sprint by Day 10 via GenAI knowledge repo.</a:t>
            </a:r>
            <a:endParaRPr lang="en-US" sz="900"/>
          </a:p>
        </p:txBody>
      </p:sp>
      <p:sp>
        <p:nvSpPr>
          <p:cNvPr id="35" name="Text 29"/>
          <p:cNvSpPr txBox="1"/>
          <p:nvPr/>
        </p:nvSpPr>
        <p:spPr>
          <a:xfrm>
            <a:off x="761695" y="3685946"/>
            <a:ext cx="3200400" cy="381305"/>
          </a:xfrm>
          <a:prstGeom prst="rect">
            <a:avLst/>
          </a:prstGeom>
          <a:noFill/>
          <a:ln/>
        </p:spPr>
        <p:txBody>
          <a:bodyPr wrap="none" lIns="0" tIns="0" rIns="0" bIns="0" rtlCol="0" anchor="ctr"/>
          <a:lstStyle/>
          <a:p>
            <a:pPr marL="0" indent="0" algn="l">
              <a:buNone/>
            </a:pPr>
            <a:r>
              <a:rPr lang="en-US" sz="2700" b="1">
                <a:solidFill>
                  <a:srgbClr val="111827"/>
                </a:solidFill>
                <a:latin typeface="Oswald" pitchFamily="34" charset="0"/>
                <a:ea typeface="Oswald" pitchFamily="34" charset="-122"/>
                <a:cs typeface="Oswald" pitchFamily="34" charset="-120"/>
              </a:rPr>
              <a:t>90-Day</a:t>
            </a:r>
            <a:endParaRPr lang="en-US" sz="2700"/>
          </a:p>
        </p:txBody>
      </p:sp>
      <p:sp>
        <p:nvSpPr>
          <p:cNvPr id="36" name="Text 30"/>
          <p:cNvSpPr txBox="1"/>
          <p:nvPr/>
        </p:nvSpPr>
        <p:spPr>
          <a:xfrm>
            <a:off x="761695" y="4101084"/>
            <a:ext cx="3200400" cy="152705"/>
          </a:xfrm>
          <a:prstGeom prst="rect">
            <a:avLst/>
          </a:prstGeom>
          <a:noFill/>
          <a:ln/>
        </p:spPr>
        <p:txBody>
          <a:bodyPr wrap="none" lIns="0" tIns="0" rIns="0" bIns="0" rtlCol="0" anchor="ctr"/>
          <a:lstStyle/>
          <a:p>
            <a:pPr marL="0" indent="0" algn="l">
              <a:buNone/>
            </a:pPr>
            <a:r>
              <a:rPr lang="en-US" sz="1000" b="1">
                <a:solidFill>
                  <a:srgbClr val="2A9D8F"/>
                </a:solidFill>
                <a:latin typeface="Roboto Condensed" pitchFamily="34" charset="0"/>
                <a:ea typeface="Roboto Condensed" pitchFamily="34" charset="-122"/>
                <a:cs typeface="Roboto Condensed" pitchFamily="34" charset="-120"/>
              </a:rPr>
              <a:t>POFU</a:t>
            </a:r>
            <a:endParaRPr lang="en-US" sz="1000"/>
          </a:p>
        </p:txBody>
      </p:sp>
      <p:sp>
        <p:nvSpPr>
          <p:cNvPr id="37" name="Text 31"/>
          <p:cNvSpPr txBox="1"/>
          <p:nvPr/>
        </p:nvSpPr>
        <p:spPr>
          <a:xfrm>
            <a:off x="761695" y="4329684"/>
            <a:ext cx="3200400" cy="352958"/>
          </a:xfrm>
          <a:prstGeom prst="rect">
            <a:avLst/>
          </a:prstGeom>
          <a:noFill/>
          <a:ln/>
        </p:spPr>
        <p:txBody>
          <a:bodyPr wrap="square" lIns="0" tIns="0" rIns="0" bIns="0" rtlCol="0" anchor="ctr"/>
          <a:lstStyle/>
          <a:p>
            <a:pPr marL="0" indent="0" algn="l">
              <a:buNone/>
            </a:pPr>
            <a:r>
              <a:rPr lang="en-US" sz="900">
                <a:solidFill>
                  <a:srgbClr val="4B5563"/>
                </a:solidFill>
                <a:latin typeface="Raleway" pitchFamily="34" charset="0"/>
                <a:ea typeface="Raleway" pitchFamily="34" charset="-122"/>
                <a:cs typeface="Raleway" pitchFamily="34" charset="-120"/>
              </a:rPr>
              <a:t>Post-Offer Follow-Up management. Milestone touchpoints ensure offer dropout stays in single digits.</a:t>
            </a:r>
            <a:endParaRPr lang="en-US" sz="900"/>
          </a:p>
        </p:txBody>
      </p:sp>
      <p:sp>
        <p:nvSpPr>
          <p:cNvPr id="38" name="Text 32"/>
          <p:cNvSpPr txBox="1"/>
          <p:nvPr/>
        </p:nvSpPr>
        <p:spPr>
          <a:xfrm>
            <a:off x="4496105" y="3685946"/>
            <a:ext cx="3200400" cy="381305"/>
          </a:xfrm>
          <a:prstGeom prst="rect">
            <a:avLst/>
          </a:prstGeom>
          <a:noFill/>
          <a:ln/>
        </p:spPr>
        <p:txBody>
          <a:bodyPr wrap="none" lIns="0" tIns="0" rIns="0" bIns="0" rtlCol="0" anchor="ctr"/>
          <a:lstStyle/>
          <a:p>
            <a:pPr marL="0" indent="0" algn="l">
              <a:buNone/>
            </a:pPr>
            <a:r>
              <a:rPr lang="en-US" sz="2700" b="1">
                <a:solidFill>
                  <a:srgbClr val="2A9D8F"/>
                </a:solidFill>
                <a:latin typeface="Oswald" pitchFamily="34" charset="0"/>
                <a:ea typeface="Oswald" pitchFamily="34" charset="-122"/>
                <a:cs typeface="Oswald" pitchFamily="34" charset="-120"/>
              </a:rPr>
              <a:t>&lt;5%</a:t>
            </a:r>
            <a:endParaRPr lang="en-US" sz="2700"/>
          </a:p>
        </p:txBody>
      </p:sp>
      <p:sp>
        <p:nvSpPr>
          <p:cNvPr id="39" name="Text 33"/>
          <p:cNvSpPr txBox="1"/>
          <p:nvPr/>
        </p:nvSpPr>
        <p:spPr>
          <a:xfrm>
            <a:off x="4496105" y="4101084"/>
            <a:ext cx="3200400" cy="152705"/>
          </a:xfrm>
          <a:prstGeom prst="rect">
            <a:avLst/>
          </a:prstGeom>
          <a:noFill/>
          <a:ln/>
        </p:spPr>
        <p:txBody>
          <a:bodyPr wrap="none" lIns="0" tIns="0" rIns="0" bIns="0" rtlCol="0" anchor="ctr"/>
          <a:lstStyle/>
          <a:p>
            <a:pPr marL="0" indent="0" algn="l">
              <a:buNone/>
            </a:pPr>
            <a:r>
              <a:rPr lang="en-US" sz="1000" b="1">
                <a:solidFill>
                  <a:srgbClr val="111827"/>
                </a:solidFill>
                <a:latin typeface="Roboto Condensed" pitchFamily="34" charset="0"/>
                <a:ea typeface="Roboto Condensed" pitchFamily="34" charset="-122"/>
                <a:cs typeface="Roboto Condensed" pitchFamily="34" charset="-120"/>
              </a:rPr>
              <a:t>Unplanned Carryover</a:t>
            </a:r>
            <a:endParaRPr lang="en-US" sz="1000"/>
          </a:p>
        </p:txBody>
      </p:sp>
      <p:sp>
        <p:nvSpPr>
          <p:cNvPr id="40" name="Text 34"/>
          <p:cNvSpPr txBox="1"/>
          <p:nvPr/>
        </p:nvSpPr>
        <p:spPr>
          <a:xfrm>
            <a:off x="4496105" y="4329684"/>
            <a:ext cx="3200400" cy="352958"/>
          </a:xfrm>
          <a:prstGeom prst="rect">
            <a:avLst/>
          </a:prstGeom>
          <a:noFill/>
          <a:ln/>
        </p:spPr>
        <p:txBody>
          <a:bodyPr wrap="square" lIns="0" tIns="0" rIns="0" bIns="0" rtlCol="0" anchor="ctr"/>
          <a:lstStyle/>
          <a:p>
            <a:pPr marL="0" indent="0" algn="l">
              <a:buNone/>
            </a:pPr>
            <a:r>
              <a:rPr lang="en-US" sz="900">
                <a:solidFill>
                  <a:srgbClr val="4B5563"/>
                </a:solidFill>
                <a:latin typeface="Raleway" pitchFamily="34" charset="0"/>
                <a:ea typeface="Raleway" pitchFamily="34" charset="-122"/>
                <a:cs typeface="Raleway" pitchFamily="34" charset="-120"/>
              </a:rPr>
              <a:t>Strict backlog management to ensure sprint commitments are reliably met.</a:t>
            </a:r>
            <a:endParaRPr lang="en-US" sz="900"/>
          </a:p>
        </p:txBody>
      </p:sp>
      <p:sp>
        <p:nvSpPr>
          <p:cNvPr id="41" name="Text 35"/>
          <p:cNvSpPr txBox="1"/>
          <p:nvPr/>
        </p:nvSpPr>
        <p:spPr>
          <a:xfrm>
            <a:off x="8229600" y="3685946"/>
            <a:ext cx="3200400" cy="381305"/>
          </a:xfrm>
          <a:prstGeom prst="rect">
            <a:avLst/>
          </a:prstGeom>
          <a:noFill/>
          <a:ln/>
        </p:spPr>
        <p:txBody>
          <a:bodyPr wrap="none" lIns="0" tIns="0" rIns="0" bIns="0" rtlCol="0" anchor="ctr"/>
          <a:lstStyle/>
          <a:p>
            <a:pPr marL="0" indent="0" algn="l">
              <a:buNone/>
            </a:pPr>
            <a:r>
              <a:rPr lang="en-US" sz="2700" b="1">
                <a:solidFill>
                  <a:srgbClr val="D62839"/>
                </a:solidFill>
                <a:latin typeface="Oswald" pitchFamily="34" charset="0"/>
                <a:ea typeface="Oswald" pitchFamily="34" charset="-122"/>
                <a:cs typeface="Oswald" pitchFamily="34" charset="-120"/>
              </a:rPr>
              <a:t>100%</a:t>
            </a:r>
            <a:endParaRPr lang="en-US" sz="2700"/>
          </a:p>
        </p:txBody>
      </p:sp>
      <p:sp>
        <p:nvSpPr>
          <p:cNvPr id="42" name="Text 36"/>
          <p:cNvSpPr txBox="1"/>
          <p:nvPr/>
        </p:nvSpPr>
        <p:spPr>
          <a:xfrm>
            <a:off x="8229600" y="4101084"/>
            <a:ext cx="3200400" cy="152705"/>
          </a:xfrm>
          <a:prstGeom prst="rect">
            <a:avLst/>
          </a:prstGeom>
          <a:noFill/>
          <a:ln/>
        </p:spPr>
        <p:txBody>
          <a:bodyPr wrap="none" lIns="0" tIns="0" rIns="0" bIns="0" rtlCol="0" anchor="ctr"/>
          <a:lstStyle/>
          <a:p>
            <a:pPr marL="0" indent="0" algn="l">
              <a:buNone/>
            </a:pPr>
            <a:r>
              <a:rPr lang="en-US" sz="1000" b="1">
                <a:solidFill>
                  <a:srgbClr val="111827"/>
                </a:solidFill>
                <a:latin typeface="Roboto Condensed" pitchFamily="34" charset="0"/>
                <a:ea typeface="Roboto Condensed" pitchFamily="34" charset="-122"/>
                <a:cs typeface="Roboto Condensed" pitchFamily="34" charset="-120"/>
              </a:rPr>
              <a:t>Governance Cadence Adherence</a:t>
            </a:r>
            <a:endParaRPr lang="en-US" sz="1000"/>
          </a:p>
        </p:txBody>
      </p:sp>
      <p:sp>
        <p:nvSpPr>
          <p:cNvPr id="43" name="Text 37"/>
          <p:cNvSpPr txBox="1"/>
          <p:nvPr/>
        </p:nvSpPr>
        <p:spPr>
          <a:xfrm>
            <a:off x="8229600" y="4329684"/>
            <a:ext cx="3200400" cy="352958"/>
          </a:xfrm>
          <a:prstGeom prst="rect">
            <a:avLst/>
          </a:prstGeom>
          <a:noFill/>
          <a:ln/>
        </p:spPr>
        <p:txBody>
          <a:bodyPr wrap="square" lIns="0" tIns="0" rIns="0" bIns="0" rtlCol="0" anchor="ctr"/>
          <a:lstStyle/>
          <a:p>
            <a:pPr marL="0" indent="0" algn="l">
              <a:buNone/>
            </a:pPr>
            <a:r>
              <a:rPr lang="en-US" sz="900">
                <a:solidFill>
                  <a:srgbClr val="4B5563"/>
                </a:solidFill>
                <a:latin typeface="Raleway" pitchFamily="34" charset="0"/>
                <a:ea typeface="Raleway" pitchFamily="34" charset="-122"/>
                <a:cs typeface="Raleway" pitchFamily="34" charset="-120"/>
              </a:rPr>
              <a:t>Mandatory participation in standups, sprint reviews, and quarterly ROI QBRs.</a:t>
            </a:r>
            <a:endParaRPr lang="en-US" sz="900"/>
          </a:p>
        </p:txBody>
      </p:sp>
      <p:sp>
        <p:nvSpPr>
          <p:cNvPr id="44" name="Text 38"/>
          <p:cNvSpPr txBox="1"/>
          <p:nvPr/>
        </p:nvSpPr>
        <p:spPr>
          <a:xfrm>
            <a:off x="2202790" y="5880506"/>
            <a:ext cx="7791602" cy="247802"/>
          </a:xfrm>
          <a:prstGeom prst="rect">
            <a:avLst/>
          </a:prstGeom>
          <a:noFill/>
          <a:ln/>
        </p:spPr>
        <p:txBody>
          <a:bodyPr wrap="none" lIns="0" tIns="0" rIns="0" bIns="0" rtlCol="0" anchor="ctr"/>
          <a:lstStyle/>
          <a:p>
            <a:pPr marL="0" indent="0" algn="ctr">
              <a:buNone/>
            </a:pPr>
            <a:r>
              <a:rPr lang="en-US" sz="1300" b="1">
                <a:solidFill>
                  <a:srgbClr val="FFFFFF"/>
                </a:solidFill>
                <a:latin typeface="Raleway" pitchFamily="34" charset="0"/>
                <a:ea typeface="Raleway" pitchFamily="34" charset="-122"/>
                <a:cs typeface="Raleway" pitchFamily="34" charset="-120"/>
              </a:rPr>
              <a:t>These metrics convert pods from staffing cost centers into predictable delivery engines.</a:t>
            </a:r>
            <a:endParaRPr lang="en-US" sz="1300"/>
          </a:p>
        </p:txBody>
      </p:sp>
      <p:pic>
        <p:nvPicPr>
          <p:cNvPr id="45" name="Image 3" descr="gen-dedup-777bf757d895431cabe402fcd34ebd5a.png">
            <a:extLst>
              <a:ext uri="{FF2B5EF4-FFF2-40B4-BE49-F238E27FC236}">
                <a16:creationId xmlns:a16="http://schemas.microsoft.com/office/drawing/2014/main" id="{91F48C81-2F3A-28E1-1B2D-E55F832E5138}"/>
              </a:ext>
            </a:extLst>
          </p:cNvPr>
          <p:cNvPicPr>
            <a:picLocks noChangeAspect="1"/>
          </p:cNvPicPr>
          <p:nvPr/>
        </p:nvPicPr>
        <p:blipFill>
          <a:blip r:embed="rId6">
            <a:biLevel thresh="75000"/>
          </a:blip>
          <a:srcRect l="-384" r="-384"/>
          <a:stretch/>
        </p:blipFill>
        <p:spPr>
          <a:xfrm>
            <a:off x="571500" y="381305"/>
            <a:ext cx="57607" cy="476402"/>
          </a:xfrm>
          <a:prstGeom prst="rect">
            <a:avLst/>
          </a:prstGeom>
        </p:spPr>
      </p:pic>
      <p:sp>
        <p:nvSpPr>
          <p:cNvPr id="47" name="Text 5">
            <a:extLst>
              <a:ext uri="{FF2B5EF4-FFF2-40B4-BE49-F238E27FC236}">
                <a16:creationId xmlns:a16="http://schemas.microsoft.com/office/drawing/2014/main" id="{02BD81C3-B306-A31C-6E3F-0C1B45D6F069}"/>
              </a:ext>
            </a:extLst>
          </p:cNvPr>
          <p:cNvSpPr txBox="1"/>
          <p:nvPr/>
        </p:nvSpPr>
        <p:spPr>
          <a:xfrm>
            <a:off x="780897" y="333756"/>
            <a:ext cx="5913817" cy="406908"/>
          </a:xfrm>
          <a:prstGeom prst="rect">
            <a:avLst/>
          </a:prstGeom>
          <a:noFill/>
          <a:ln/>
        </p:spPr>
        <p:txBody>
          <a:bodyPr wrap="none" lIns="0" tIns="0" rIns="0" bIns="0" rtlCol="0" anchor="ctr"/>
          <a:lstStyle/>
          <a:p>
            <a:r>
              <a:rPr lang="en-GB" sz="2400" b="1" kern="0" spc="-67" dirty="0">
                <a:solidFill>
                  <a:srgbClr val="111827"/>
                </a:solidFill>
                <a:latin typeface="Oswald" pitchFamily="34" charset="0"/>
                <a:ea typeface="Oswald" pitchFamily="34" charset="-122"/>
                <a:cs typeface="Oswald" pitchFamily="34" charset="-120"/>
              </a:rPr>
              <a:t>WHAT WE HOLD OURSELVES ACCOUNTABLE TO</a:t>
            </a:r>
          </a:p>
        </p:txBody>
      </p:sp>
      <p:sp>
        <p:nvSpPr>
          <p:cNvPr id="49" name="Text 6">
            <a:extLst>
              <a:ext uri="{FF2B5EF4-FFF2-40B4-BE49-F238E27FC236}">
                <a16:creationId xmlns:a16="http://schemas.microsoft.com/office/drawing/2014/main" id="{E23F7730-158A-FEAD-68F3-29DA14BD5DB8}"/>
              </a:ext>
            </a:extLst>
          </p:cNvPr>
          <p:cNvSpPr txBox="1"/>
          <p:nvPr/>
        </p:nvSpPr>
        <p:spPr>
          <a:xfrm>
            <a:off x="780898" y="740663"/>
            <a:ext cx="5054803" cy="257861"/>
          </a:xfrm>
          <a:prstGeom prst="rect">
            <a:avLst/>
          </a:prstGeom>
          <a:noFill/>
          <a:ln/>
        </p:spPr>
        <p:txBody>
          <a:bodyPr wrap="none" lIns="0" tIns="0" rIns="0" bIns="0" rtlCol="0" anchor="ctr"/>
          <a:lstStyle/>
          <a:p>
            <a:pPr marL="0" indent="0" algn="l">
              <a:buNone/>
            </a:pPr>
            <a:r>
              <a:rPr lang="en-GB" sz="1500" b="1" kern="0" spc="66" dirty="0">
                <a:solidFill>
                  <a:srgbClr val="2A9D8F"/>
                </a:solidFill>
                <a:latin typeface="Roboto Condensed" pitchFamily="34" charset="0"/>
                <a:ea typeface="Roboto Condensed" pitchFamily="34" charset="-122"/>
                <a:cs typeface="Roboto Condensed" pitchFamily="34" charset="-120"/>
              </a:rPr>
              <a:t>Measured monthly, governed weekly, escalated immediately.</a:t>
            </a:r>
          </a:p>
        </p:txBody>
      </p:sp>
    </p:spTree>
    <p:extLst>
      <p:ext uri="{BB962C8B-B14F-4D97-AF65-F5344CB8AC3E}">
        <p14:creationId xmlns:p14="http://schemas.microsoft.com/office/powerpoint/2010/main" val="18158700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736FEC-3F04-EFFB-9494-939530E6ACE6}"/>
            </a:ext>
          </a:extLst>
        </p:cNvPr>
        <p:cNvGrpSpPr/>
        <p:nvPr/>
      </p:nvGrpSpPr>
      <p:grpSpPr>
        <a:xfrm>
          <a:off x="0" y="0"/>
          <a:ext cx="0" cy="0"/>
          <a:chOff x="0" y="0"/>
          <a:chExt cx="0" cy="0"/>
        </a:xfrm>
      </p:grpSpPr>
      <p:sp>
        <p:nvSpPr>
          <p:cNvPr id="4" name="Shape 2">
            <a:extLst>
              <a:ext uri="{FF2B5EF4-FFF2-40B4-BE49-F238E27FC236}">
                <a16:creationId xmlns:a16="http://schemas.microsoft.com/office/drawing/2014/main" id="{7C26CA67-5AC5-033E-F7C6-8741632D395F}"/>
              </a:ext>
            </a:extLst>
          </p:cNvPr>
          <p:cNvSpPr/>
          <p:nvPr/>
        </p:nvSpPr>
        <p:spPr>
          <a:xfrm>
            <a:off x="9334195" y="-952805"/>
            <a:ext cx="3810305" cy="3810305"/>
          </a:xfrm>
          <a:prstGeom prst="ellipse">
            <a:avLst/>
          </a:prstGeom>
          <a:solidFill>
            <a:srgbClr val="2A9D8F">
              <a:alpha val="3000"/>
            </a:srgbClr>
          </a:solidFill>
          <a:ln w="12700">
            <a:solidFill>
              <a:srgbClr val="FFFFFF">
                <a:alpha val="0"/>
              </a:srgbClr>
            </a:solidFill>
            <a:prstDash val="solid"/>
          </a:ln>
        </p:spPr>
        <p:txBody>
          <a:bodyPr/>
          <a:lstStyle/>
          <a:p>
            <a:endParaRPr lang="en-US"/>
          </a:p>
        </p:txBody>
      </p:sp>
      <p:pic>
        <p:nvPicPr>
          <p:cNvPr id="5" name="Image 0" descr="gen-dedup-4ab2116e971fbb9400d0e99205bd0390.png">
            <a:extLst>
              <a:ext uri="{FF2B5EF4-FFF2-40B4-BE49-F238E27FC236}">
                <a16:creationId xmlns:a16="http://schemas.microsoft.com/office/drawing/2014/main" id="{08E93300-66C1-83DC-0D75-3663638B5410}"/>
              </a:ext>
            </a:extLst>
          </p:cNvPr>
          <p:cNvPicPr>
            <a:picLocks noChangeAspect="1"/>
          </p:cNvPicPr>
          <p:nvPr/>
        </p:nvPicPr>
        <p:blipFill>
          <a:blip r:embed="rId3">
            <a:alphaModFix amt="5000"/>
          </a:blip>
          <a:srcRect/>
          <a:stretch/>
        </p:blipFill>
        <p:spPr>
          <a:xfrm>
            <a:off x="10001707" y="5238598"/>
            <a:ext cx="1904695" cy="1904695"/>
          </a:xfrm>
          <a:prstGeom prst="rect">
            <a:avLst/>
          </a:prstGeom>
        </p:spPr>
      </p:pic>
      <p:pic>
        <p:nvPicPr>
          <p:cNvPr id="6" name="Image 1" descr="gen-dedup-323228122ff92d2332e711a84ca3b40c.png">
            <a:extLst>
              <a:ext uri="{FF2B5EF4-FFF2-40B4-BE49-F238E27FC236}">
                <a16:creationId xmlns:a16="http://schemas.microsoft.com/office/drawing/2014/main" id="{F1659A7B-21C5-E18B-E3B3-532B1CAA7859}"/>
              </a:ext>
            </a:extLst>
          </p:cNvPr>
          <p:cNvPicPr>
            <a:picLocks noChangeAspect="1"/>
          </p:cNvPicPr>
          <p:nvPr/>
        </p:nvPicPr>
        <p:blipFill>
          <a:blip r:embed="rId4"/>
          <a:srcRect l="-198" r="-198"/>
          <a:stretch/>
        </p:blipFill>
        <p:spPr>
          <a:xfrm>
            <a:off x="0" y="0"/>
            <a:ext cx="8124444" cy="75895"/>
          </a:xfrm>
          <a:prstGeom prst="rect">
            <a:avLst/>
          </a:prstGeom>
        </p:spPr>
      </p:pic>
      <p:pic>
        <p:nvPicPr>
          <p:cNvPr id="7" name="Image 2" descr="gen-dedup-9663ecf744b06e35d4c2cebaab92a2ea.png">
            <a:extLst>
              <a:ext uri="{FF2B5EF4-FFF2-40B4-BE49-F238E27FC236}">
                <a16:creationId xmlns:a16="http://schemas.microsoft.com/office/drawing/2014/main" id="{787AB771-F031-FC72-9428-7C4E26C42059}"/>
              </a:ext>
            </a:extLst>
          </p:cNvPr>
          <p:cNvPicPr>
            <a:picLocks noChangeAspect="1"/>
          </p:cNvPicPr>
          <p:nvPr/>
        </p:nvPicPr>
        <p:blipFill>
          <a:blip r:embed="rId5"/>
          <a:srcRect l="-202" r="-202"/>
          <a:stretch/>
        </p:blipFill>
        <p:spPr>
          <a:xfrm>
            <a:off x="8124444" y="0"/>
            <a:ext cx="4067251" cy="75895"/>
          </a:xfrm>
          <a:prstGeom prst="rect">
            <a:avLst/>
          </a:prstGeom>
        </p:spPr>
      </p:pic>
      <p:sp>
        <p:nvSpPr>
          <p:cNvPr id="8" name="Text 3">
            <a:extLst>
              <a:ext uri="{FF2B5EF4-FFF2-40B4-BE49-F238E27FC236}">
                <a16:creationId xmlns:a16="http://schemas.microsoft.com/office/drawing/2014/main" id="{8B088AAD-A287-6BD5-6078-F68C935297D8}"/>
              </a:ext>
            </a:extLst>
          </p:cNvPr>
          <p:cNvSpPr txBox="1"/>
          <p:nvPr/>
        </p:nvSpPr>
        <p:spPr>
          <a:xfrm>
            <a:off x="381305" y="1143000"/>
            <a:ext cx="2382012" cy="1524305"/>
          </a:xfrm>
          <a:prstGeom prst="rect">
            <a:avLst/>
          </a:prstGeom>
          <a:noFill/>
          <a:ln/>
        </p:spPr>
        <p:txBody>
          <a:bodyPr wrap="none" lIns="0" tIns="0" rIns="0" bIns="0" rtlCol="0" anchor="ctr"/>
          <a:lstStyle/>
          <a:p>
            <a:pPr marL="0" indent="0" algn="l">
              <a:buNone/>
            </a:pPr>
            <a:r>
              <a:rPr lang="en-US" sz="12000" b="1">
                <a:solidFill>
                  <a:srgbClr val="F3F4F6"/>
                </a:solidFill>
                <a:latin typeface="Oswald" pitchFamily="34" charset="0"/>
                <a:ea typeface="Oswald" pitchFamily="34" charset="-122"/>
                <a:cs typeface="Oswald" pitchFamily="34" charset="-120"/>
              </a:rPr>
              <a:t>03</a:t>
            </a:r>
            <a:endParaRPr lang="en-US" sz="12000"/>
          </a:p>
        </p:txBody>
      </p:sp>
      <p:pic>
        <p:nvPicPr>
          <p:cNvPr id="11" name="Image 3" descr="gen-dedup-90395934058aa4b7c1bff00d7e70c0a4.png">
            <a:extLst>
              <a:ext uri="{FF2B5EF4-FFF2-40B4-BE49-F238E27FC236}">
                <a16:creationId xmlns:a16="http://schemas.microsoft.com/office/drawing/2014/main" id="{796B9E8C-F151-F8F0-BEDC-37F1FA0B5F06}"/>
              </a:ext>
            </a:extLst>
          </p:cNvPr>
          <p:cNvPicPr>
            <a:picLocks noChangeAspect="1"/>
          </p:cNvPicPr>
          <p:nvPr/>
        </p:nvPicPr>
        <p:blipFill>
          <a:blip r:embed="rId6"/>
          <a:srcRect l="-416" r="-416"/>
          <a:stretch/>
        </p:blipFill>
        <p:spPr>
          <a:xfrm>
            <a:off x="1143000" y="2428646"/>
            <a:ext cx="57607" cy="714146"/>
          </a:xfrm>
          <a:prstGeom prst="rect">
            <a:avLst/>
          </a:prstGeom>
        </p:spPr>
      </p:pic>
      <p:sp>
        <p:nvSpPr>
          <p:cNvPr id="12" name="Text 6">
            <a:extLst>
              <a:ext uri="{FF2B5EF4-FFF2-40B4-BE49-F238E27FC236}">
                <a16:creationId xmlns:a16="http://schemas.microsoft.com/office/drawing/2014/main" id="{493B0B9E-4EAF-B775-BD2D-124ECC0CC2B7}"/>
              </a:ext>
            </a:extLst>
          </p:cNvPr>
          <p:cNvSpPr txBox="1"/>
          <p:nvPr/>
        </p:nvSpPr>
        <p:spPr>
          <a:xfrm>
            <a:off x="1429207" y="2333549"/>
            <a:ext cx="9525305" cy="762610"/>
          </a:xfrm>
          <a:prstGeom prst="rect">
            <a:avLst/>
          </a:prstGeom>
          <a:noFill/>
          <a:ln/>
        </p:spPr>
        <p:txBody>
          <a:bodyPr wrap="none" lIns="0" tIns="0" rIns="0" bIns="0" rtlCol="0" anchor="ctr"/>
          <a:lstStyle/>
          <a:p>
            <a:pPr marL="0" indent="0" algn="l">
              <a:buNone/>
            </a:pPr>
            <a:r>
              <a:rPr lang="en-US" sz="5400" b="1" kern="0" spc="108">
                <a:solidFill>
                  <a:srgbClr val="111827"/>
                </a:solidFill>
                <a:latin typeface="Oswald" pitchFamily="34" charset="0"/>
                <a:ea typeface="Oswald" pitchFamily="34" charset="-122"/>
                <a:cs typeface="Oswald" pitchFamily="34" charset="-120"/>
              </a:rPr>
              <a:t>MANAGED SERVICE SOLUTIONS</a:t>
            </a:r>
          </a:p>
        </p:txBody>
      </p:sp>
      <p:sp>
        <p:nvSpPr>
          <p:cNvPr id="13" name="Text 7">
            <a:extLst>
              <a:ext uri="{FF2B5EF4-FFF2-40B4-BE49-F238E27FC236}">
                <a16:creationId xmlns:a16="http://schemas.microsoft.com/office/drawing/2014/main" id="{D1E95E23-50BF-2585-6188-7EA29589DA1C}"/>
              </a:ext>
            </a:extLst>
          </p:cNvPr>
          <p:cNvSpPr txBox="1"/>
          <p:nvPr/>
        </p:nvSpPr>
        <p:spPr>
          <a:xfrm>
            <a:off x="1429207" y="3333902"/>
            <a:ext cx="9127033" cy="170993"/>
          </a:xfrm>
          <a:prstGeom prst="rect">
            <a:avLst/>
          </a:prstGeom>
          <a:noFill/>
          <a:ln/>
        </p:spPr>
        <p:txBody>
          <a:bodyPr wrap="none" lIns="0" tIns="0" rIns="0" bIns="0" rtlCol="0" anchor="ctr"/>
          <a:lstStyle/>
          <a:p>
            <a:pPr marL="0" indent="0" algn="l">
              <a:buNone/>
            </a:pPr>
            <a:r>
              <a:rPr lang="en-US" sz="2100">
                <a:solidFill>
                  <a:srgbClr val="2A9D8F"/>
                </a:solidFill>
                <a:latin typeface="Raleway" pitchFamily="34" charset="0"/>
                <a:ea typeface="Raleway" pitchFamily="34" charset="-122"/>
                <a:cs typeface="Raleway" pitchFamily="34" charset="-120"/>
              </a:rPr>
              <a:t>Outcome-owned delivery across your most critical enterprise stacks - </a:t>
            </a:r>
          </a:p>
          <a:p>
            <a:pPr marL="0" indent="0" algn="l">
              <a:buNone/>
            </a:pPr>
            <a:r>
              <a:rPr lang="en-US" sz="2100">
                <a:solidFill>
                  <a:srgbClr val="2A9D8F"/>
                </a:solidFill>
                <a:latin typeface="Raleway" pitchFamily="34" charset="0"/>
                <a:ea typeface="Raleway" pitchFamily="34" charset="-122"/>
                <a:cs typeface="Raleway" pitchFamily="34" charset="-120"/>
              </a:rPr>
              <a:t>we own the SLOs, not just the seats.</a:t>
            </a:r>
          </a:p>
        </p:txBody>
      </p:sp>
      <p:sp>
        <p:nvSpPr>
          <p:cNvPr id="14" name="Text 8">
            <a:extLst>
              <a:ext uri="{FF2B5EF4-FFF2-40B4-BE49-F238E27FC236}">
                <a16:creationId xmlns:a16="http://schemas.microsoft.com/office/drawing/2014/main" id="{1852004E-001E-9611-F364-77841D88018F}"/>
              </a:ext>
            </a:extLst>
          </p:cNvPr>
          <p:cNvSpPr txBox="1"/>
          <p:nvPr/>
        </p:nvSpPr>
        <p:spPr>
          <a:xfrm>
            <a:off x="1429207" y="4143146"/>
            <a:ext cx="9335110" cy="553212"/>
          </a:xfrm>
          <a:prstGeom prst="rect">
            <a:avLst/>
          </a:prstGeom>
          <a:noFill/>
          <a:ln/>
        </p:spPr>
        <p:txBody>
          <a:bodyPr wrap="square" lIns="0" tIns="0" rIns="0" bIns="0" rtlCol="0" anchor="ctr"/>
          <a:lstStyle/>
          <a:p>
            <a:pPr marL="0" indent="0" algn="l">
              <a:buNone/>
            </a:pPr>
            <a:r>
              <a:rPr lang="en-US" sz="1300">
                <a:solidFill>
                  <a:srgbClr val="4B5563"/>
                </a:solidFill>
                <a:latin typeface="Raleway" pitchFamily="34" charset="0"/>
                <a:ea typeface="Raleway" pitchFamily="34" charset="-122"/>
                <a:cs typeface="Raleway" pitchFamily="34" charset="-120"/>
              </a:rPr>
              <a:t>This is not a staffing engagement with a governance wrapper. We bring pre-built accelerators, embedded domain expertise, and a hard 40% improvement threshold - so every engagement moves a metric, not just a milestone.</a:t>
            </a:r>
            <a:endParaRPr lang="en-US" sz="1300"/>
          </a:p>
        </p:txBody>
      </p:sp>
      <p:pic>
        <p:nvPicPr>
          <p:cNvPr id="15" name="Image 4" descr="gen-dedup-818c62191cf4a66fb5704c7f87e3fedf.png">
            <a:extLst>
              <a:ext uri="{FF2B5EF4-FFF2-40B4-BE49-F238E27FC236}">
                <a16:creationId xmlns:a16="http://schemas.microsoft.com/office/drawing/2014/main" id="{E8F83646-DE63-E358-1F6F-53BDCE9C510A}"/>
              </a:ext>
            </a:extLst>
          </p:cNvPr>
          <p:cNvPicPr>
            <a:picLocks noChangeAspect="1"/>
          </p:cNvPicPr>
          <p:nvPr/>
        </p:nvPicPr>
        <p:blipFill>
          <a:blip r:embed="rId7"/>
          <a:srcRect l="-166" r="-166"/>
          <a:stretch/>
        </p:blipFill>
        <p:spPr>
          <a:xfrm>
            <a:off x="1429207" y="5143500"/>
            <a:ext cx="1933956" cy="418795"/>
          </a:xfrm>
          <a:prstGeom prst="rect">
            <a:avLst/>
          </a:prstGeom>
        </p:spPr>
      </p:pic>
      <p:sp>
        <p:nvSpPr>
          <p:cNvPr id="16" name="Shape 9">
            <a:extLst>
              <a:ext uri="{FF2B5EF4-FFF2-40B4-BE49-F238E27FC236}">
                <a16:creationId xmlns:a16="http://schemas.microsoft.com/office/drawing/2014/main" id="{F371CEAE-1742-792F-2C3C-3EE3A14928CC}"/>
              </a:ext>
            </a:extLst>
          </p:cNvPr>
          <p:cNvSpPr/>
          <p:nvPr/>
        </p:nvSpPr>
        <p:spPr>
          <a:xfrm>
            <a:off x="1429207" y="5143500"/>
            <a:ext cx="1933956" cy="418795"/>
          </a:xfrm>
          <a:prstGeom prst="roundRect">
            <a:avLst>
              <a:gd name="adj" fmla="val 13755"/>
            </a:avLst>
          </a:prstGeom>
          <a:noFill/>
          <a:ln w="12700">
            <a:solidFill>
              <a:srgbClr val="E5E7EB"/>
            </a:solidFill>
            <a:prstDash val="solid"/>
          </a:ln>
        </p:spPr>
        <p:txBody>
          <a:bodyPr/>
          <a:lstStyle/>
          <a:p>
            <a:endParaRPr lang="en-US"/>
          </a:p>
        </p:txBody>
      </p:sp>
      <p:sp>
        <p:nvSpPr>
          <p:cNvPr id="17" name="Text 10">
            <a:extLst>
              <a:ext uri="{FF2B5EF4-FFF2-40B4-BE49-F238E27FC236}">
                <a16:creationId xmlns:a16="http://schemas.microsoft.com/office/drawing/2014/main" id="{A4DB6210-1039-8E9B-BA17-6D3D6EDB4D79}"/>
              </a:ext>
            </a:extLst>
          </p:cNvPr>
          <p:cNvSpPr txBox="1"/>
          <p:nvPr/>
        </p:nvSpPr>
        <p:spPr>
          <a:xfrm>
            <a:off x="1653845" y="5143500"/>
            <a:ext cx="1495958" cy="419710"/>
          </a:xfrm>
          <a:prstGeom prst="rect">
            <a:avLst/>
          </a:prstGeom>
          <a:solidFill>
            <a:srgbClr val="FFFFFF">
              <a:alpha val="0"/>
            </a:srgbClr>
          </a:solidFill>
          <a:ln>
            <a:solidFill>
              <a:srgbClr val="FFFFFF">
                <a:alpha val="0"/>
              </a:srgbClr>
            </a:solidFill>
          </a:ln>
        </p:spPr>
        <p:txBody>
          <a:bodyPr wrap="none" lIns="190500" tIns="114300" rIns="190500" bIns="114300" rtlCol="0" anchor="ctr"/>
          <a:lstStyle/>
          <a:p>
            <a:pPr marL="0" indent="0" algn="l">
              <a:buNone/>
            </a:pPr>
            <a:r>
              <a:rPr lang="en-US" sz="1100" b="1">
                <a:solidFill>
                  <a:srgbClr val="374151"/>
                </a:solidFill>
                <a:latin typeface="Raleway" pitchFamily="34" charset="0"/>
                <a:ea typeface="Raleway" pitchFamily="34" charset="-122"/>
                <a:cs typeface="Raleway" pitchFamily="34" charset="-120"/>
              </a:rPr>
              <a:t>60+ pre-built solution </a:t>
            </a:r>
          </a:p>
          <a:p>
            <a:pPr marL="0" indent="0" algn="l">
              <a:buNone/>
            </a:pPr>
            <a:r>
              <a:rPr lang="en-US" sz="1100" b="1">
                <a:solidFill>
                  <a:srgbClr val="374151"/>
                </a:solidFill>
                <a:latin typeface="Raleway" pitchFamily="34" charset="0"/>
                <a:ea typeface="Raleway" pitchFamily="34" charset="-122"/>
                <a:cs typeface="Raleway" pitchFamily="34" charset="-120"/>
              </a:rPr>
              <a:t>accelerators</a:t>
            </a:r>
            <a:endParaRPr lang="en-US" sz="1100"/>
          </a:p>
        </p:txBody>
      </p:sp>
      <p:pic>
        <p:nvPicPr>
          <p:cNvPr id="18" name="Image 5" descr="gen-dedup-a287ae7abd092c83dc5f899415c51d00.png">
            <a:extLst>
              <a:ext uri="{FF2B5EF4-FFF2-40B4-BE49-F238E27FC236}">
                <a16:creationId xmlns:a16="http://schemas.microsoft.com/office/drawing/2014/main" id="{B8EBDEE0-CA2B-2977-B786-BF2F31C196AE}"/>
              </a:ext>
            </a:extLst>
          </p:cNvPr>
          <p:cNvPicPr>
            <a:picLocks noChangeAspect="1"/>
          </p:cNvPicPr>
          <p:nvPr/>
        </p:nvPicPr>
        <p:blipFill>
          <a:blip r:embed="rId8"/>
          <a:srcRect t="-16800" b="-16800"/>
          <a:stretch/>
        </p:blipFill>
        <p:spPr>
          <a:xfrm>
            <a:off x="1657807" y="5277002"/>
            <a:ext cx="114300" cy="152705"/>
          </a:xfrm>
          <a:prstGeom prst="rect">
            <a:avLst/>
          </a:prstGeom>
        </p:spPr>
      </p:pic>
      <p:pic>
        <p:nvPicPr>
          <p:cNvPr id="19" name="Image 6" descr="gen-dedup-0363cb9fbb55bfd8aa96459f99cffd70.png">
            <a:extLst>
              <a:ext uri="{FF2B5EF4-FFF2-40B4-BE49-F238E27FC236}">
                <a16:creationId xmlns:a16="http://schemas.microsoft.com/office/drawing/2014/main" id="{70961C1D-5594-5681-CAB0-8FC218329E9A}"/>
              </a:ext>
            </a:extLst>
          </p:cNvPr>
          <p:cNvPicPr>
            <a:picLocks noChangeAspect="1"/>
          </p:cNvPicPr>
          <p:nvPr/>
        </p:nvPicPr>
        <p:blipFill>
          <a:blip r:embed="rId9"/>
          <a:srcRect l="-260" r="-260"/>
          <a:stretch/>
        </p:blipFill>
        <p:spPr>
          <a:xfrm>
            <a:off x="3510382" y="5143500"/>
            <a:ext cx="2430170" cy="418795"/>
          </a:xfrm>
          <a:prstGeom prst="rect">
            <a:avLst/>
          </a:prstGeom>
        </p:spPr>
      </p:pic>
      <p:sp>
        <p:nvSpPr>
          <p:cNvPr id="20" name="Shape 11">
            <a:extLst>
              <a:ext uri="{FF2B5EF4-FFF2-40B4-BE49-F238E27FC236}">
                <a16:creationId xmlns:a16="http://schemas.microsoft.com/office/drawing/2014/main" id="{457818EF-B619-D54A-AD34-A2E5256A6011}"/>
              </a:ext>
            </a:extLst>
          </p:cNvPr>
          <p:cNvSpPr/>
          <p:nvPr/>
        </p:nvSpPr>
        <p:spPr>
          <a:xfrm>
            <a:off x="3510382" y="5143500"/>
            <a:ext cx="2430170" cy="418795"/>
          </a:xfrm>
          <a:prstGeom prst="roundRect">
            <a:avLst>
              <a:gd name="adj" fmla="val 13755"/>
            </a:avLst>
          </a:prstGeom>
          <a:noFill/>
          <a:ln w="12700">
            <a:solidFill>
              <a:srgbClr val="E5E7EB"/>
            </a:solidFill>
            <a:prstDash val="solid"/>
          </a:ln>
        </p:spPr>
        <p:txBody>
          <a:bodyPr/>
          <a:lstStyle/>
          <a:p>
            <a:endParaRPr lang="en-US"/>
          </a:p>
        </p:txBody>
      </p:sp>
      <p:sp>
        <p:nvSpPr>
          <p:cNvPr id="21" name="Text 12">
            <a:extLst>
              <a:ext uri="{FF2B5EF4-FFF2-40B4-BE49-F238E27FC236}">
                <a16:creationId xmlns:a16="http://schemas.microsoft.com/office/drawing/2014/main" id="{F4429C0E-1902-5910-9BDD-8ABBCB86B1EB}"/>
              </a:ext>
            </a:extLst>
          </p:cNvPr>
          <p:cNvSpPr txBox="1"/>
          <p:nvPr/>
        </p:nvSpPr>
        <p:spPr>
          <a:xfrm>
            <a:off x="3735018" y="5143500"/>
            <a:ext cx="1740567" cy="419710"/>
          </a:xfrm>
          <a:prstGeom prst="rect">
            <a:avLst/>
          </a:prstGeom>
          <a:solidFill>
            <a:srgbClr val="FFFFFF">
              <a:alpha val="0"/>
            </a:srgbClr>
          </a:solidFill>
          <a:ln>
            <a:solidFill>
              <a:srgbClr val="FFFFFF">
                <a:alpha val="0"/>
              </a:srgbClr>
            </a:solidFill>
          </a:ln>
        </p:spPr>
        <p:txBody>
          <a:bodyPr wrap="none" lIns="190500" tIns="114300" rIns="190500" bIns="114300" rtlCol="0" anchor="ctr"/>
          <a:lstStyle/>
          <a:p>
            <a:pPr marL="0" indent="0" algn="l">
              <a:buNone/>
            </a:pPr>
            <a:r>
              <a:rPr lang="en-US" sz="1100" b="1">
                <a:solidFill>
                  <a:srgbClr val="374151"/>
                </a:solidFill>
                <a:latin typeface="Raleway" pitchFamily="34" charset="0"/>
                <a:ea typeface="Raleway" pitchFamily="34" charset="-122"/>
                <a:cs typeface="Raleway" pitchFamily="34" charset="-120"/>
              </a:rPr>
              <a:t>AI &amp; Data, QE, SAP, </a:t>
            </a:r>
          </a:p>
          <a:p>
            <a:pPr marL="0" indent="0" algn="l">
              <a:buNone/>
            </a:pPr>
            <a:r>
              <a:rPr lang="en-US" sz="1100" b="1">
                <a:solidFill>
                  <a:srgbClr val="374151"/>
                </a:solidFill>
                <a:latin typeface="Raleway" pitchFamily="34" charset="0"/>
                <a:ea typeface="Raleway" pitchFamily="34" charset="-122"/>
                <a:cs typeface="Raleway" pitchFamily="34" charset="-120"/>
              </a:rPr>
              <a:t>ServiceNow &amp; industry stacks</a:t>
            </a:r>
            <a:endParaRPr lang="en-US" sz="1100"/>
          </a:p>
        </p:txBody>
      </p:sp>
      <p:pic>
        <p:nvPicPr>
          <p:cNvPr id="22" name="Image 7" descr="gen-dedup-c395ac9c840728d6470a4a8b33662e6e.png">
            <a:extLst>
              <a:ext uri="{FF2B5EF4-FFF2-40B4-BE49-F238E27FC236}">
                <a16:creationId xmlns:a16="http://schemas.microsoft.com/office/drawing/2014/main" id="{04CB1D1A-103F-1623-0D66-FF28427C6C4F}"/>
              </a:ext>
            </a:extLst>
          </p:cNvPr>
          <p:cNvPicPr>
            <a:picLocks noChangeAspect="1"/>
          </p:cNvPicPr>
          <p:nvPr/>
        </p:nvPicPr>
        <p:blipFill>
          <a:blip r:embed="rId10"/>
          <a:srcRect t="-16800" b="-16800"/>
          <a:stretch/>
        </p:blipFill>
        <p:spPr>
          <a:xfrm>
            <a:off x="3738981" y="5277002"/>
            <a:ext cx="179959" cy="152705"/>
          </a:xfrm>
          <a:prstGeom prst="rect">
            <a:avLst/>
          </a:prstGeom>
        </p:spPr>
      </p:pic>
      <p:pic>
        <p:nvPicPr>
          <p:cNvPr id="23" name="Image 8" descr="gen-dedup-fe10f786880821f62e6e2a70ff719369.png">
            <a:extLst>
              <a:ext uri="{FF2B5EF4-FFF2-40B4-BE49-F238E27FC236}">
                <a16:creationId xmlns:a16="http://schemas.microsoft.com/office/drawing/2014/main" id="{5B947CD5-F90B-9E4C-3474-D5534455F9E9}"/>
              </a:ext>
            </a:extLst>
          </p:cNvPr>
          <p:cNvPicPr>
            <a:picLocks noChangeAspect="1"/>
          </p:cNvPicPr>
          <p:nvPr/>
        </p:nvPicPr>
        <p:blipFill>
          <a:blip r:embed="rId11"/>
          <a:srcRect l="-58" r="-58"/>
          <a:stretch/>
        </p:blipFill>
        <p:spPr>
          <a:xfrm>
            <a:off x="6080150" y="5143500"/>
            <a:ext cx="2619756" cy="418795"/>
          </a:xfrm>
          <a:prstGeom prst="rect">
            <a:avLst/>
          </a:prstGeom>
        </p:spPr>
      </p:pic>
      <p:sp>
        <p:nvSpPr>
          <p:cNvPr id="24" name="Shape 13">
            <a:extLst>
              <a:ext uri="{FF2B5EF4-FFF2-40B4-BE49-F238E27FC236}">
                <a16:creationId xmlns:a16="http://schemas.microsoft.com/office/drawing/2014/main" id="{1F6B1423-0E90-CE64-5BD3-9705DDC9D739}"/>
              </a:ext>
            </a:extLst>
          </p:cNvPr>
          <p:cNvSpPr/>
          <p:nvPr/>
        </p:nvSpPr>
        <p:spPr>
          <a:xfrm>
            <a:off x="6080150" y="5143500"/>
            <a:ext cx="2619756" cy="418795"/>
          </a:xfrm>
          <a:prstGeom prst="roundRect">
            <a:avLst>
              <a:gd name="adj" fmla="val 13755"/>
            </a:avLst>
          </a:prstGeom>
          <a:noFill/>
          <a:ln w="12700">
            <a:solidFill>
              <a:srgbClr val="E5E7EB"/>
            </a:solidFill>
            <a:prstDash val="solid"/>
          </a:ln>
        </p:spPr>
        <p:txBody>
          <a:bodyPr/>
          <a:lstStyle/>
          <a:p>
            <a:endParaRPr lang="en-US"/>
          </a:p>
        </p:txBody>
      </p:sp>
      <p:sp>
        <p:nvSpPr>
          <p:cNvPr id="25" name="Text 14">
            <a:extLst>
              <a:ext uri="{FF2B5EF4-FFF2-40B4-BE49-F238E27FC236}">
                <a16:creationId xmlns:a16="http://schemas.microsoft.com/office/drawing/2014/main" id="{DF7B60D6-7803-AB8C-3D29-B56F3A615CAE}"/>
              </a:ext>
            </a:extLst>
          </p:cNvPr>
          <p:cNvSpPr txBox="1"/>
          <p:nvPr/>
        </p:nvSpPr>
        <p:spPr>
          <a:xfrm>
            <a:off x="6304788" y="5143500"/>
            <a:ext cx="2181758" cy="419710"/>
          </a:xfrm>
          <a:prstGeom prst="rect">
            <a:avLst/>
          </a:prstGeom>
          <a:solidFill>
            <a:srgbClr val="FFFFFF">
              <a:alpha val="0"/>
            </a:srgbClr>
          </a:solidFill>
          <a:ln>
            <a:solidFill>
              <a:srgbClr val="FFFFFF">
                <a:alpha val="0"/>
              </a:srgbClr>
            </a:solidFill>
          </a:ln>
        </p:spPr>
        <p:txBody>
          <a:bodyPr wrap="none" lIns="190500" tIns="114300" rIns="190500" bIns="114300" rtlCol="0" anchor="ctr"/>
          <a:lstStyle/>
          <a:p>
            <a:pPr marL="0" indent="0" algn="l">
              <a:buNone/>
            </a:pPr>
            <a:r>
              <a:rPr lang="en-US" sz="1100" b="1">
                <a:solidFill>
                  <a:srgbClr val="374151"/>
                </a:solidFill>
                <a:latin typeface="Raleway" pitchFamily="34" charset="0"/>
                <a:ea typeface="Raleway" pitchFamily="34" charset="-122"/>
                <a:cs typeface="Raleway" pitchFamily="34" charset="-120"/>
              </a:rPr>
              <a:t>Outcome-bound SLOs - </a:t>
            </a:r>
          </a:p>
          <a:p>
            <a:pPr marL="0" indent="0" algn="l">
              <a:buNone/>
            </a:pPr>
            <a:r>
              <a:rPr lang="en-US" sz="1100" b="1">
                <a:solidFill>
                  <a:srgbClr val="374151"/>
                </a:solidFill>
                <a:latin typeface="Raleway" pitchFamily="34" charset="0"/>
                <a:ea typeface="Raleway" pitchFamily="34" charset="-122"/>
                <a:cs typeface="Raleway" pitchFamily="34" charset="-120"/>
              </a:rPr>
              <a:t>not rigid headcount</a:t>
            </a:r>
            <a:endParaRPr lang="en-US" sz="1100"/>
          </a:p>
        </p:txBody>
      </p:sp>
      <p:pic>
        <p:nvPicPr>
          <p:cNvPr id="26" name="Image 9" descr="gen-dedup-7637b076e607f7218cdb4973c81f38e6.png">
            <a:extLst>
              <a:ext uri="{FF2B5EF4-FFF2-40B4-BE49-F238E27FC236}">
                <a16:creationId xmlns:a16="http://schemas.microsoft.com/office/drawing/2014/main" id="{9A3BB248-7EFA-E322-7669-BBCFE8258323}"/>
              </a:ext>
            </a:extLst>
          </p:cNvPr>
          <p:cNvPicPr>
            <a:picLocks noChangeAspect="1"/>
          </p:cNvPicPr>
          <p:nvPr/>
        </p:nvPicPr>
        <p:blipFill>
          <a:blip r:embed="rId12"/>
          <a:srcRect t="-8450" b="-8450"/>
          <a:stretch/>
        </p:blipFill>
        <p:spPr>
          <a:xfrm>
            <a:off x="6308750" y="5277002"/>
            <a:ext cx="114300" cy="152705"/>
          </a:xfrm>
          <a:prstGeom prst="rect">
            <a:avLst/>
          </a:prstGeom>
        </p:spPr>
      </p:pic>
      <p:pic>
        <p:nvPicPr>
          <p:cNvPr id="27" name="Image 10" descr="gen-dedup-4b04481605890cd5e2948f325621428b.png">
            <a:extLst>
              <a:ext uri="{FF2B5EF4-FFF2-40B4-BE49-F238E27FC236}">
                <a16:creationId xmlns:a16="http://schemas.microsoft.com/office/drawing/2014/main" id="{53B8E985-0D54-46C0-B850-F55F0F43B24D}"/>
              </a:ext>
            </a:extLst>
          </p:cNvPr>
          <p:cNvPicPr>
            <a:picLocks noChangeAspect="1"/>
          </p:cNvPicPr>
          <p:nvPr/>
        </p:nvPicPr>
        <p:blipFill>
          <a:blip r:embed="rId13"/>
          <a:srcRect l="-216" r="-216"/>
          <a:stretch/>
        </p:blipFill>
        <p:spPr>
          <a:xfrm>
            <a:off x="8850782" y="5143500"/>
            <a:ext cx="2562149" cy="418795"/>
          </a:xfrm>
          <a:prstGeom prst="rect">
            <a:avLst/>
          </a:prstGeom>
        </p:spPr>
      </p:pic>
      <p:sp>
        <p:nvSpPr>
          <p:cNvPr id="28" name="Shape 15">
            <a:extLst>
              <a:ext uri="{FF2B5EF4-FFF2-40B4-BE49-F238E27FC236}">
                <a16:creationId xmlns:a16="http://schemas.microsoft.com/office/drawing/2014/main" id="{E9A59155-F9A1-AD80-A65B-F9ECD10439EE}"/>
              </a:ext>
            </a:extLst>
          </p:cNvPr>
          <p:cNvSpPr/>
          <p:nvPr/>
        </p:nvSpPr>
        <p:spPr>
          <a:xfrm>
            <a:off x="8850782" y="5143500"/>
            <a:ext cx="2562149" cy="418795"/>
          </a:xfrm>
          <a:prstGeom prst="roundRect">
            <a:avLst>
              <a:gd name="adj" fmla="val 13755"/>
            </a:avLst>
          </a:prstGeom>
          <a:noFill/>
          <a:ln w="12700">
            <a:solidFill>
              <a:srgbClr val="E5E7EB"/>
            </a:solidFill>
            <a:prstDash val="solid"/>
          </a:ln>
        </p:spPr>
        <p:txBody>
          <a:bodyPr/>
          <a:lstStyle/>
          <a:p>
            <a:endParaRPr lang="en-US"/>
          </a:p>
        </p:txBody>
      </p:sp>
      <p:sp>
        <p:nvSpPr>
          <p:cNvPr id="29" name="Text 16">
            <a:extLst>
              <a:ext uri="{FF2B5EF4-FFF2-40B4-BE49-F238E27FC236}">
                <a16:creationId xmlns:a16="http://schemas.microsoft.com/office/drawing/2014/main" id="{BE549BED-29A0-2ADD-A972-CA7D06BA8631}"/>
              </a:ext>
            </a:extLst>
          </p:cNvPr>
          <p:cNvSpPr txBox="1"/>
          <p:nvPr/>
        </p:nvSpPr>
        <p:spPr>
          <a:xfrm>
            <a:off x="9075420" y="5143500"/>
            <a:ext cx="2125066" cy="419710"/>
          </a:xfrm>
          <a:prstGeom prst="rect">
            <a:avLst/>
          </a:prstGeom>
          <a:solidFill>
            <a:srgbClr val="FFFFFF">
              <a:alpha val="0"/>
            </a:srgbClr>
          </a:solidFill>
          <a:ln>
            <a:solidFill>
              <a:srgbClr val="FFFFFF">
                <a:alpha val="0"/>
              </a:srgbClr>
            </a:solidFill>
          </a:ln>
        </p:spPr>
        <p:txBody>
          <a:bodyPr wrap="none" lIns="190500" tIns="114300" rIns="190500" bIns="114300" rtlCol="0" anchor="ctr"/>
          <a:lstStyle/>
          <a:p>
            <a:pPr marL="0" indent="0" algn="l">
              <a:buNone/>
            </a:pPr>
            <a:r>
              <a:rPr lang="en-US" sz="1100" b="1">
                <a:solidFill>
                  <a:srgbClr val="374151"/>
                </a:solidFill>
                <a:latin typeface="Raleway" pitchFamily="34" charset="0"/>
                <a:ea typeface="Raleway" pitchFamily="34" charset="-122"/>
                <a:cs typeface="Raleway" pitchFamily="34" charset="-120"/>
              </a:rPr>
              <a:t>40% improvement threshold - </a:t>
            </a:r>
          </a:p>
          <a:p>
            <a:pPr marL="0" indent="0" algn="l">
              <a:buNone/>
            </a:pPr>
            <a:r>
              <a:rPr lang="en-US" sz="1100" b="1">
                <a:solidFill>
                  <a:srgbClr val="374151"/>
                </a:solidFill>
                <a:latin typeface="Raleway" pitchFamily="34" charset="0"/>
                <a:ea typeface="Raleway" pitchFamily="34" charset="-122"/>
                <a:cs typeface="Raleway" pitchFamily="34" charset="-120"/>
              </a:rPr>
              <a:t>our standard</a:t>
            </a:r>
            <a:endParaRPr lang="en-US" sz="1100"/>
          </a:p>
        </p:txBody>
      </p:sp>
      <p:pic>
        <p:nvPicPr>
          <p:cNvPr id="30" name="Image 11" descr="gen-dedup-de4cb59b8211160ed90cebf7a454cebf.png">
            <a:extLst>
              <a:ext uri="{FF2B5EF4-FFF2-40B4-BE49-F238E27FC236}">
                <a16:creationId xmlns:a16="http://schemas.microsoft.com/office/drawing/2014/main" id="{3B400595-3ACA-18C0-3A49-7171B2960ECC}"/>
              </a:ext>
            </a:extLst>
          </p:cNvPr>
          <p:cNvPicPr>
            <a:picLocks noChangeAspect="1"/>
          </p:cNvPicPr>
          <p:nvPr/>
        </p:nvPicPr>
        <p:blipFill>
          <a:blip r:embed="rId14"/>
          <a:srcRect t="-16800" b="-16800"/>
          <a:stretch/>
        </p:blipFill>
        <p:spPr>
          <a:xfrm>
            <a:off x="9079382" y="5277002"/>
            <a:ext cx="114300" cy="152705"/>
          </a:xfrm>
          <a:prstGeom prst="rect">
            <a:avLst/>
          </a:prstGeom>
        </p:spPr>
      </p:pic>
      <p:sp>
        <p:nvSpPr>
          <p:cNvPr id="31" name="Shape 17">
            <a:extLst>
              <a:ext uri="{FF2B5EF4-FFF2-40B4-BE49-F238E27FC236}">
                <a16:creationId xmlns:a16="http://schemas.microsoft.com/office/drawing/2014/main" id="{3EAF0254-0893-8027-5616-80FDE995E4DA}"/>
              </a:ext>
            </a:extLst>
          </p:cNvPr>
          <p:cNvSpPr/>
          <p:nvPr/>
        </p:nvSpPr>
        <p:spPr>
          <a:xfrm>
            <a:off x="1143000" y="6096305"/>
            <a:ext cx="9905695" cy="9144"/>
          </a:xfrm>
          <a:prstGeom prst="rect">
            <a:avLst/>
          </a:prstGeom>
          <a:solidFill>
            <a:srgbClr val="E5E7EB"/>
          </a:solidFill>
          <a:ln w="12700">
            <a:solidFill>
              <a:srgbClr val="E5E7EB">
                <a:alpha val="0"/>
              </a:srgbClr>
            </a:solidFill>
            <a:prstDash val="solid"/>
          </a:ln>
        </p:spPr>
        <p:txBody>
          <a:bodyPr/>
          <a:lstStyle/>
          <a:p>
            <a:endParaRPr lang="en-US"/>
          </a:p>
        </p:txBody>
      </p:sp>
      <p:sp>
        <p:nvSpPr>
          <p:cNvPr id="32" name="Text 18">
            <a:extLst>
              <a:ext uri="{FF2B5EF4-FFF2-40B4-BE49-F238E27FC236}">
                <a16:creationId xmlns:a16="http://schemas.microsoft.com/office/drawing/2014/main" id="{3166FB85-E816-D8A3-12F5-2636818EBBCD}"/>
              </a:ext>
            </a:extLst>
          </p:cNvPr>
          <p:cNvSpPr txBox="1"/>
          <p:nvPr/>
        </p:nvSpPr>
        <p:spPr>
          <a:xfrm>
            <a:off x="1143000" y="6258154"/>
            <a:ext cx="9906610" cy="181051"/>
          </a:xfrm>
          <a:prstGeom prst="rect">
            <a:avLst/>
          </a:prstGeom>
          <a:noFill/>
          <a:ln/>
        </p:spPr>
        <p:txBody>
          <a:bodyPr wrap="none" lIns="0" tIns="0" rIns="0" bIns="0" rtlCol="0" anchor="ctr"/>
          <a:lstStyle/>
          <a:p>
            <a:pPr marL="0" indent="0" algn="l">
              <a:buNone/>
            </a:pPr>
            <a:r>
              <a:rPr lang="en-US" sz="1200" b="1" kern="0" spc="24">
                <a:solidFill>
                  <a:srgbClr val="6B7280"/>
                </a:solidFill>
                <a:latin typeface="Raleway" pitchFamily="34" charset="0"/>
                <a:ea typeface="Raleway" pitchFamily="34" charset="-122"/>
                <a:cs typeface="Raleway" pitchFamily="34" charset="-120"/>
              </a:rPr>
              <a:t>Turn your most complex enterprise operations into a competitive advantage - with outcomes we sign off on.</a:t>
            </a:r>
            <a:endParaRPr lang="en-US" sz="1200"/>
          </a:p>
        </p:txBody>
      </p:sp>
    </p:spTree>
    <p:extLst>
      <p:ext uri="{BB962C8B-B14F-4D97-AF65-F5344CB8AC3E}">
        <p14:creationId xmlns:p14="http://schemas.microsoft.com/office/powerpoint/2010/main" val="26258959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pic>
        <p:nvPicPr>
          <p:cNvPr id="4" name="Image 0" descr="gen-dedup-323228122ff92d2332e711a84ca3b40c.png"/>
          <p:cNvPicPr>
            <a:picLocks noChangeAspect="1"/>
          </p:cNvPicPr>
          <p:nvPr/>
        </p:nvPicPr>
        <p:blipFill>
          <a:blip r:embed="rId3"/>
          <a:srcRect l="-202" r="-202"/>
          <a:stretch/>
        </p:blipFill>
        <p:spPr>
          <a:xfrm>
            <a:off x="0" y="0"/>
            <a:ext cx="8127187" cy="75895"/>
          </a:xfrm>
          <a:prstGeom prst="rect">
            <a:avLst/>
          </a:prstGeom>
        </p:spPr>
      </p:pic>
      <p:pic>
        <p:nvPicPr>
          <p:cNvPr id="5" name="Image 1" descr="gen-dedup-64882feb7a832238af77b962fc7a8538.png"/>
          <p:cNvPicPr>
            <a:picLocks noChangeAspect="1"/>
          </p:cNvPicPr>
          <p:nvPr/>
        </p:nvPicPr>
        <p:blipFill>
          <a:blip r:embed="rId4"/>
          <a:srcRect l="-203" r="-203"/>
          <a:stretch/>
        </p:blipFill>
        <p:spPr>
          <a:xfrm>
            <a:off x="8127187" y="0"/>
            <a:ext cx="4063594" cy="75895"/>
          </a:xfrm>
          <a:prstGeom prst="rect">
            <a:avLst/>
          </a:prstGeom>
        </p:spPr>
      </p:pic>
      <p:sp>
        <p:nvSpPr>
          <p:cNvPr id="6" name="Shape 2"/>
          <p:cNvSpPr/>
          <p:nvPr/>
        </p:nvSpPr>
        <p:spPr>
          <a:xfrm>
            <a:off x="9905695" y="-571500"/>
            <a:ext cx="2857500" cy="2857500"/>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7" name="Image 2" descr="gen-dedup-6da70c599291e253314366a10c094ffa.png"/>
          <p:cNvPicPr>
            <a:picLocks noChangeAspect="1"/>
          </p:cNvPicPr>
          <p:nvPr/>
        </p:nvPicPr>
        <p:blipFill>
          <a:blip r:embed="rId5">
            <a:alphaModFix amt="15000"/>
          </a:blip>
          <a:srcRect/>
          <a:stretch/>
        </p:blipFill>
        <p:spPr>
          <a:xfrm>
            <a:off x="381305" y="1143000"/>
            <a:ext cx="1429207" cy="1429207"/>
          </a:xfrm>
          <a:prstGeom prst="rect">
            <a:avLst/>
          </a:prstGeom>
        </p:spPr>
      </p:pic>
      <p:sp>
        <p:nvSpPr>
          <p:cNvPr id="11" name="Shape 5"/>
          <p:cNvSpPr/>
          <p:nvPr/>
        </p:nvSpPr>
        <p:spPr>
          <a:xfrm>
            <a:off x="609905" y="1524305"/>
            <a:ext cx="5524805" cy="1028700"/>
          </a:xfrm>
          <a:prstGeom prst="roundRect">
            <a:avLst>
              <a:gd name="adj" fmla="val 13169"/>
            </a:avLst>
          </a:prstGeom>
          <a:solidFill>
            <a:srgbClr val="FFFFFF"/>
          </a:solidFill>
          <a:ln w="12700">
            <a:solidFill>
              <a:srgbClr val="E5E7EB"/>
            </a:solidFill>
            <a:prstDash val="solid"/>
          </a:ln>
        </p:spPr>
        <p:txBody>
          <a:bodyPr/>
          <a:lstStyle/>
          <a:p>
            <a:endParaRPr lang="en-US"/>
          </a:p>
        </p:txBody>
      </p:sp>
      <p:sp>
        <p:nvSpPr>
          <p:cNvPr id="12" name="Shape 6"/>
          <p:cNvSpPr/>
          <p:nvPr/>
        </p:nvSpPr>
        <p:spPr>
          <a:xfrm>
            <a:off x="609905" y="1524305"/>
            <a:ext cx="38405" cy="1028700"/>
          </a:xfrm>
          <a:prstGeom prst="roundRect">
            <a:avLst>
              <a:gd name="adj" fmla="val 352732"/>
            </a:avLst>
          </a:prstGeom>
          <a:solidFill>
            <a:srgbClr val="2A9D8F"/>
          </a:solidFill>
          <a:ln w="12700">
            <a:solidFill>
              <a:srgbClr val="2A9D8F">
                <a:alpha val="0"/>
              </a:srgbClr>
            </a:solidFill>
            <a:prstDash val="solid"/>
          </a:ln>
        </p:spPr>
        <p:txBody>
          <a:bodyPr/>
          <a:lstStyle/>
          <a:p>
            <a:endParaRPr lang="en-US"/>
          </a:p>
        </p:txBody>
      </p:sp>
      <p:sp>
        <p:nvSpPr>
          <p:cNvPr id="15" name="Shape 9"/>
          <p:cNvSpPr/>
          <p:nvPr/>
        </p:nvSpPr>
        <p:spPr>
          <a:xfrm>
            <a:off x="609905" y="2699308"/>
            <a:ext cx="5524805" cy="1028700"/>
          </a:xfrm>
          <a:prstGeom prst="roundRect">
            <a:avLst>
              <a:gd name="adj" fmla="val 13169"/>
            </a:avLst>
          </a:prstGeom>
          <a:solidFill>
            <a:srgbClr val="FFFFFF"/>
          </a:solidFill>
          <a:ln w="12700">
            <a:solidFill>
              <a:srgbClr val="E5E7EB"/>
            </a:solidFill>
            <a:prstDash val="solid"/>
          </a:ln>
        </p:spPr>
        <p:txBody>
          <a:bodyPr/>
          <a:lstStyle/>
          <a:p>
            <a:endParaRPr lang="en-US"/>
          </a:p>
        </p:txBody>
      </p:sp>
      <p:sp>
        <p:nvSpPr>
          <p:cNvPr id="16" name="Shape 10"/>
          <p:cNvSpPr/>
          <p:nvPr/>
        </p:nvSpPr>
        <p:spPr>
          <a:xfrm>
            <a:off x="609905" y="2699308"/>
            <a:ext cx="38405" cy="1028700"/>
          </a:xfrm>
          <a:prstGeom prst="roundRect">
            <a:avLst>
              <a:gd name="adj" fmla="val 352732"/>
            </a:avLst>
          </a:prstGeom>
          <a:solidFill>
            <a:srgbClr val="2A9D8F"/>
          </a:solidFill>
          <a:ln w="12700">
            <a:solidFill>
              <a:srgbClr val="2A9D8F">
                <a:alpha val="0"/>
              </a:srgbClr>
            </a:solidFill>
            <a:prstDash val="solid"/>
          </a:ln>
        </p:spPr>
        <p:txBody>
          <a:bodyPr/>
          <a:lstStyle/>
          <a:p>
            <a:endParaRPr lang="en-US"/>
          </a:p>
        </p:txBody>
      </p:sp>
      <p:sp>
        <p:nvSpPr>
          <p:cNvPr id="17" name="Shape 11"/>
          <p:cNvSpPr/>
          <p:nvPr/>
        </p:nvSpPr>
        <p:spPr>
          <a:xfrm>
            <a:off x="609905" y="3823105"/>
            <a:ext cx="5524805" cy="1162202"/>
          </a:xfrm>
          <a:prstGeom prst="roundRect">
            <a:avLst>
              <a:gd name="adj" fmla="val 10318"/>
            </a:avLst>
          </a:prstGeom>
          <a:solidFill>
            <a:srgbClr val="FFFFFF"/>
          </a:solidFill>
          <a:ln w="12700">
            <a:solidFill>
              <a:srgbClr val="E5E7EB"/>
            </a:solidFill>
            <a:prstDash val="solid"/>
          </a:ln>
        </p:spPr>
        <p:txBody>
          <a:bodyPr/>
          <a:lstStyle/>
          <a:p>
            <a:endParaRPr lang="en-US"/>
          </a:p>
        </p:txBody>
      </p:sp>
      <p:sp>
        <p:nvSpPr>
          <p:cNvPr id="18" name="Shape 12"/>
          <p:cNvSpPr/>
          <p:nvPr/>
        </p:nvSpPr>
        <p:spPr>
          <a:xfrm>
            <a:off x="609905" y="3823105"/>
            <a:ext cx="38405" cy="1162202"/>
          </a:xfrm>
          <a:prstGeom prst="roundRect">
            <a:avLst>
              <a:gd name="adj" fmla="val 312254"/>
            </a:avLst>
          </a:prstGeom>
          <a:solidFill>
            <a:srgbClr val="D62839"/>
          </a:solidFill>
          <a:ln w="12700">
            <a:solidFill>
              <a:srgbClr val="D62839">
                <a:alpha val="0"/>
              </a:srgbClr>
            </a:solidFill>
            <a:prstDash val="solid"/>
          </a:ln>
        </p:spPr>
        <p:txBody>
          <a:bodyPr/>
          <a:lstStyle/>
          <a:p>
            <a:endParaRPr lang="en-US"/>
          </a:p>
        </p:txBody>
      </p:sp>
      <p:sp>
        <p:nvSpPr>
          <p:cNvPr id="19" name="Shape 13"/>
          <p:cNvSpPr/>
          <p:nvPr/>
        </p:nvSpPr>
        <p:spPr>
          <a:xfrm>
            <a:off x="6381598" y="1524305"/>
            <a:ext cx="5201107" cy="4572000"/>
          </a:xfrm>
          <a:prstGeom prst="roundRect">
            <a:avLst>
              <a:gd name="adj" fmla="val 667"/>
            </a:avLst>
          </a:prstGeom>
          <a:solidFill>
            <a:srgbClr val="F8FAFC"/>
          </a:solidFill>
          <a:ln w="12700">
            <a:solidFill>
              <a:srgbClr val="E2E8F0"/>
            </a:solidFill>
            <a:prstDash val="solid"/>
          </a:ln>
          <a:effectLst>
            <a:outerShdw blurRad="63500" dist="38100" dir="16200000" algn="bl" rotWithShape="0">
              <a:srgbClr val="000000">
                <a:alpha val="5000"/>
              </a:srgbClr>
            </a:outerShdw>
          </a:effectLst>
        </p:spPr>
        <p:txBody>
          <a:bodyPr/>
          <a:lstStyle/>
          <a:p>
            <a:endParaRPr lang="en-US"/>
          </a:p>
        </p:txBody>
      </p:sp>
      <p:sp>
        <p:nvSpPr>
          <p:cNvPr id="20" name="Shape 14"/>
          <p:cNvSpPr/>
          <p:nvPr/>
        </p:nvSpPr>
        <p:spPr>
          <a:xfrm>
            <a:off x="6391656" y="1533449"/>
            <a:ext cx="5181905" cy="552298"/>
          </a:xfrm>
          <a:prstGeom prst="roundRect">
            <a:avLst>
              <a:gd name="adj" fmla="val 45672"/>
            </a:avLst>
          </a:prstGeom>
          <a:solidFill>
            <a:srgbClr val="1F2937"/>
          </a:solidFill>
          <a:ln w="12700">
            <a:solidFill>
              <a:srgbClr val="FFFFFF">
                <a:alpha val="0"/>
              </a:srgbClr>
            </a:solidFill>
            <a:prstDash val="solid"/>
          </a:ln>
        </p:spPr>
        <p:txBody>
          <a:bodyPr/>
          <a:lstStyle/>
          <a:p>
            <a:endParaRPr lang="en-US"/>
          </a:p>
        </p:txBody>
      </p:sp>
      <p:sp>
        <p:nvSpPr>
          <p:cNvPr id="21" name="Text 15"/>
          <p:cNvSpPr txBox="1"/>
          <p:nvPr/>
        </p:nvSpPr>
        <p:spPr>
          <a:xfrm>
            <a:off x="6543446" y="1593692"/>
            <a:ext cx="4877410" cy="324612"/>
          </a:xfrm>
          <a:prstGeom prst="rect">
            <a:avLst/>
          </a:prstGeom>
          <a:noFill/>
          <a:ln/>
        </p:spPr>
        <p:txBody>
          <a:bodyPr wrap="none" lIns="0" tIns="0" rIns="0" bIns="0" rtlCol="0" anchor="ctr"/>
          <a:lstStyle/>
          <a:p>
            <a:pPr marL="0" indent="0" algn="ctr">
              <a:buNone/>
            </a:pPr>
            <a:r>
              <a:rPr lang="en-US" sz="1100">
                <a:solidFill>
                  <a:srgbClr val="FFFFFF"/>
                </a:solidFill>
                <a:latin typeface="Oswald" pitchFamily="34" charset="0"/>
                <a:ea typeface="Oswald" pitchFamily="34" charset="-122"/>
                <a:cs typeface="Oswald" pitchFamily="34" charset="-120"/>
              </a:rPr>
              <a:t>Service Model Comparison</a:t>
            </a:r>
            <a:endParaRPr lang="en-US" sz="1100"/>
          </a:p>
        </p:txBody>
      </p:sp>
      <p:sp>
        <p:nvSpPr>
          <p:cNvPr id="22" name="Shape 16"/>
          <p:cNvSpPr/>
          <p:nvPr/>
        </p:nvSpPr>
        <p:spPr>
          <a:xfrm>
            <a:off x="609905" y="6229807"/>
            <a:ext cx="10972800" cy="437998"/>
          </a:xfrm>
          <a:prstGeom prst="roundRect">
            <a:avLst>
              <a:gd name="adj" fmla="val 36307"/>
            </a:avLst>
          </a:prstGeom>
          <a:solidFill>
            <a:srgbClr val="F8FAFC"/>
          </a:solidFill>
          <a:ln/>
        </p:spPr>
        <p:txBody>
          <a:bodyPr/>
          <a:lstStyle/>
          <a:p>
            <a:endParaRPr lang="en-US"/>
          </a:p>
        </p:txBody>
      </p:sp>
      <p:sp>
        <p:nvSpPr>
          <p:cNvPr id="23" name="Shape 17"/>
          <p:cNvSpPr/>
          <p:nvPr/>
        </p:nvSpPr>
        <p:spPr>
          <a:xfrm>
            <a:off x="609905" y="6229807"/>
            <a:ext cx="38405" cy="437998"/>
          </a:xfrm>
          <a:prstGeom prst="roundRect">
            <a:avLst>
              <a:gd name="adj" fmla="val 414077"/>
            </a:avLst>
          </a:prstGeom>
          <a:solidFill>
            <a:srgbClr val="111827"/>
          </a:solidFill>
          <a:ln w="12700">
            <a:solidFill>
              <a:srgbClr val="111827">
                <a:alpha val="0"/>
              </a:srgbClr>
            </a:solidFill>
            <a:prstDash val="solid"/>
          </a:ln>
        </p:spPr>
        <p:txBody>
          <a:bodyPr/>
          <a:lstStyle/>
          <a:p>
            <a:endParaRPr lang="en-US"/>
          </a:p>
        </p:txBody>
      </p:sp>
      <p:sp>
        <p:nvSpPr>
          <p:cNvPr id="24" name="Text 18"/>
          <p:cNvSpPr txBox="1"/>
          <p:nvPr/>
        </p:nvSpPr>
        <p:spPr>
          <a:xfrm>
            <a:off x="981151" y="1638605"/>
            <a:ext cx="5000854" cy="277063"/>
          </a:xfrm>
          <a:prstGeom prst="rect">
            <a:avLst/>
          </a:prstGeom>
          <a:noFill/>
          <a:ln/>
        </p:spPr>
        <p:txBody>
          <a:bodyPr wrap="none" lIns="0" tIns="0" rIns="0" bIns="0" rtlCol="0" anchor="ctr"/>
          <a:lstStyle/>
          <a:p>
            <a:pPr marL="0" indent="0" algn="l">
              <a:buNone/>
            </a:pPr>
            <a:r>
              <a:rPr lang="en-US" sz="1400" b="1">
                <a:solidFill>
                  <a:srgbClr val="1F2937"/>
                </a:solidFill>
                <a:latin typeface="Oswald" pitchFamily="34" charset="0"/>
                <a:ea typeface="Oswald" pitchFamily="34" charset="-122"/>
                <a:cs typeface="Oswald" pitchFamily="34" charset="-120"/>
              </a:rPr>
              <a:t>Solution Accelerators</a:t>
            </a:r>
            <a:endParaRPr lang="en-US" sz="1400"/>
          </a:p>
        </p:txBody>
      </p:sp>
      <p:sp>
        <p:nvSpPr>
          <p:cNvPr id="25" name="Text 19"/>
          <p:cNvSpPr txBox="1"/>
          <p:nvPr/>
        </p:nvSpPr>
        <p:spPr>
          <a:xfrm>
            <a:off x="761695" y="1950415"/>
            <a:ext cx="5220310" cy="391363"/>
          </a:xfrm>
          <a:prstGeom prst="rect">
            <a:avLst/>
          </a:prstGeom>
          <a:noFill/>
          <a:ln/>
        </p:spPr>
        <p:txBody>
          <a:bodyPr wrap="square" lIns="0" tIns="0" rIns="0" bIns="0" rtlCol="0" anchor="ctr"/>
          <a:lstStyle/>
          <a:p>
            <a:pPr marL="0" indent="0" algn="l">
              <a:buNone/>
            </a:pPr>
            <a:r>
              <a:rPr lang="en-US" sz="1100">
                <a:solidFill>
                  <a:srgbClr val="4B5563"/>
                </a:solidFill>
                <a:latin typeface="Raleway" pitchFamily="34" charset="0"/>
                <a:ea typeface="Raleway" pitchFamily="34" charset="-122"/>
                <a:cs typeface="Raleway" pitchFamily="34" charset="-120"/>
              </a:rPr>
              <a:t>60+ pre-built accelerators across AI, Data, Quality Engineering, SAP, ServiceNow, Salesforce, and industry stacks - deployed fast, customized to fit, never forced.</a:t>
            </a:r>
            <a:endParaRPr lang="en-US" sz="1100"/>
          </a:p>
        </p:txBody>
      </p:sp>
      <p:pic>
        <p:nvPicPr>
          <p:cNvPr id="26" name="Image 4" descr="gen-dedup-aaaf743a9627457c5a8ecc39eba03c50.png"/>
          <p:cNvPicPr>
            <a:picLocks noChangeAspect="1"/>
          </p:cNvPicPr>
          <p:nvPr/>
        </p:nvPicPr>
        <p:blipFill>
          <a:blip r:embed="rId6"/>
          <a:srcRect t="-13462" b="-13462"/>
          <a:stretch/>
        </p:blipFill>
        <p:spPr>
          <a:xfrm>
            <a:off x="761695" y="1689811"/>
            <a:ext cx="142646" cy="181051"/>
          </a:xfrm>
          <a:prstGeom prst="rect">
            <a:avLst/>
          </a:prstGeom>
        </p:spPr>
      </p:pic>
      <p:sp>
        <p:nvSpPr>
          <p:cNvPr id="30" name="Text 22"/>
          <p:cNvSpPr txBox="1"/>
          <p:nvPr/>
        </p:nvSpPr>
        <p:spPr>
          <a:xfrm>
            <a:off x="981151" y="2813608"/>
            <a:ext cx="5000854" cy="277063"/>
          </a:xfrm>
          <a:prstGeom prst="rect">
            <a:avLst/>
          </a:prstGeom>
          <a:noFill/>
          <a:ln/>
        </p:spPr>
        <p:txBody>
          <a:bodyPr wrap="none" lIns="0" tIns="0" rIns="0" bIns="0" rtlCol="0" anchor="ctr"/>
          <a:lstStyle/>
          <a:p>
            <a:pPr marL="0" indent="0" algn="l">
              <a:buNone/>
            </a:pPr>
            <a:r>
              <a:rPr lang="en-US" sz="1400" b="1">
                <a:solidFill>
                  <a:srgbClr val="1F2937"/>
                </a:solidFill>
                <a:latin typeface="Oswald" pitchFamily="34" charset="0"/>
                <a:ea typeface="Oswald" pitchFamily="34" charset="-122"/>
                <a:cs typeface="Oswald" pitchFamily="34" charset="-120"/>
              </a:rPr>
              <a:t>Cross-Function Coverage</a:t>
            </a:r>
            <a:endParaRPr lang="en-US" sz="1400"/>
          </a:p>
        </p:txBody>
      </p:sp>
      <p:sp>
        <p:nvSpPr>
          <p:cNvPr id="31" name="Text 23"/>
          <p:cNvSpPr txBox="1"/>
          <p:nvPr/>
        </p:nvSpPr>
        <p:spPr>
          <a:xfrm>
            <a:off x="761695" y="3125418"/>
            <a:ext cx="5220310" cy="391363"/>
          </a:xfrm>
          <a:prstGeom prst="rect">
            <a:avLst/>
          </a:prstGeom>
          <a:noFill/>
          <a:ln/>
        </p:spPr>
        <p:txBody>
          <a:bodyPr wrap="square" lIns="0" tIns="0" rIns="0" bIns="0" rtlCol="0" anchor="ctr"/>
          <a:lstStyle/>
          <a:p>
            <a:pPr marL="0" indent="0" algn="l">
              <a:buNone/>
            </a:pPr>
            <a:r>
              <a:rPr lang="en-US" sz="1100">
                <a:solidFill>
                  <a:srgbClr val="4B5563"/>
                </a:solidFill>
                <a:latin typeface="Raleway" pitchFamily="34" charset="0"/>
                <a:ea typeface="Raleway" pitchFamily="34" charset="-122"/>
                <a:cs typeface="Raleway" pitchFamily="34" charset="-120"/>
              </a:rPr>
              <a:t>From AI CoE and Data CoE to Digital Engineering, Quality, and Cybersecurity - we operate across the full enterprise function map, not just the easy wins.</a:t>
            </a:r>
            <a:endParaRPr lang="en-US" sz="1100"/>
          </a:p>
        </p:txBody>
      </p:sp>
      <p:pic>
        <p:nvPicPr>
          <p:cNvPr id="32" name="Image 6" descr="gen-dedup-f27d894a2aa16499d7ef79199ddd11dd.png"/>
          <p:cNvPicPr>
            <a:picLocks noChangeAspect="1"/>
          </p:cNvPicPr>
          <p:nvPr/>
        </p:nvPicPr>
        <p:blipFill>
          <a:blip r:embed="rId7"/>
          <a:srcRect t="-21395" b="-21395"/>
          <a:stretch/>
        </p:blipFill>
        <p:spPr>
          <a:xfrm>
            <a:off x="761695" y="2864814"/>
            <a:ext cx="142646" cy="181051"/>
          </a:xfrm>
          <a:prstGeom prst="rect">
            <a:avLst/>
          </a:prstGeom>
        </p:spPr>
      </p:pic>
      <p:sp>
        <p:nvSpPr>
          <p:cNvPr id="33" name="Text 24"/>
          <p:cNvSpPr txBox="1"/>
          <p:nvPr/>
        </p:nvSpPr>
        <p:spPr>
          <a:xfrm>
            <a:off x="981151" y="3937405"/>
            <a:ext cx="5000854" cy="277063"/>
          </a:xfrm>
          <a:prstGeom prst="rect">
            <a:avLst/>
          </a:prstGeom>
          <a:noFill/>
          <a:ln/>
        </p:spPr>
        <p:txBody>
          <a:bodyPr wrap="none" lIns="0" tIns="0" rIns="0" bIns="0" rtlCol="0" anchor="ctr"/>
          <a:lstStyle/>
          <a:p>
            <a:pPr marL="0" indent="0" algn="l">
              <a:buNone/>
            </a:pPr>
            <a:r>
              <a:rPr lang="en-US" sz="1400" b="1">
                <a:solidFill>
                  <a:srgbClr val="1F2937"/>
                </a:solidFill>
                <a:latin typeface="Oswald" pitchFamily="34" charset="0"/>
                <a:ea typeface="Oswald" pitchFamily="34" charset="-122"/>
                <a:cs typeface="Oswald" pitchFamily="34" charset="-120"/>
              </a:rPr>
              <a:t>Proven ROI, Not Projections</a:t>
            </a:r>
            <a:endParaRPr lang="en-US" sz="1400"/>
          </a:p>
        </p:txBody>
      </p:sp>
      <p:sp>
        <p:nvSpPr>
          <p:cNvPr id="34" name="Text 25"/>
          <p:cNvSpPr txBox="1"/>
          <p:nvPr/>
        </p:nvSpPr>
        <p:spPr>
          <a:xfrm>
            <a:off x="761695" y="4249216"/>
            <a:ext cx="5220310" cy="581558"/>
          </a:xfrm>
          <a:prstGeom prst="rect">
            <a:avLst/>
          </a:prstGeom>
          <a:noFill/>
          <a:ln/>
        </p:spPr>
        <p:txBody>
          <a:bodyPr wrap="square" lIns="0" tIns="0" rIns="0" bIns="0" rtlCol="0" anchor="ctr"/>
          <a:lstStyle/>
          <a:p>
            <a:pPr marL="0" indent="0" algn="l">
              <a:buNone/>
            </a:pPr>
            <a:r>
              <a:rPr lang="en-US" sz="1100">
                <a:solidFill>
                  <a:srgbClr val="4B5563"/>
                </a:solidFill>
                <a:latin typeface="Raleway" pitchFamily="34" charset="0"/>
                <a:ea typeface="Raleway" pitchFamily="34" charset="-122"/>
                <a:cs typeface="Raleway" pitchFamily="34" charset="-120"/>
              </a:rPr>
              <a:t>Every accelerator comes with a benchmark from prior deployments. 80% reduction in reporting effort. 55% faster month-end close. 65% faster testing cycles. Numbers you inherit, not numbers we promise.</a:t>
            </a:r>
            <a:endParaRPr lang="en-US" sz="1100"/>
          </a:p>
        </p:txBody>
      </p:sp>
      <p:pic>
        <p:nvPicPr>
          <p:cNvPr id="35" name="Image 7" descr="gen-dedup-0d12da8ebc0b959d48949b1e6044d332.png"/>
          <p:cNvPicPr>
            <a:picLocks noChangeAspect="1"/>
          </p:cNvPicPr>
          <p:nvPr/>
        </p:nvPicPr>
        <p:blipFill>
          <a:blip r:embed="rId8"/>
          <a:srcRect t="-13462" b="-13462"/>
          <a:stretch/>
        </p:blipFill>
        <p:spPr>
          <a:xfrm>
            <a:off x="761695" y="3988612"/>
            <a:ext cx="142646" cy="181051"/>
          </a:xfrm>
          <a:prstGeom prst="rect">
            <a:avLst/>
          </a:prstGeom>
        </p:spPr>
      </p:pic>
      <p:sp>
        <p:nvSpPr>
          <p:cNvPr id="36" name="Shape 26"/>
          <p:cNvSpPr/>
          <p:nvPr/>
        </p:nvSpPr>
        <p:spPr>
          <a:xfrm>
            <a:off x="6381598" y="1952244"/>
            <a:ext cx="5201107" cy="599846"/>
          </a:xfrm>
          <a:prstGeom prst="rect">
            <a:avLst/>
          </a:prstGeom>
          <a:solidFill>
            <a:srgbClr val="F1F5F9"/>
          </a:solidFill>
          <a:ln/>
        </p:spPr>
        <p:txBody>
          <a:bodyPr/>
          <a:lstStyle/>
          <a:p>
            <a:endParaRPr lang="en-US"/>
          </a:p>
        </p:txBody>
      </p:sp>
      <p:sp>
        <p:nvSpPr>
          <p:cNvPr id="37" name="Shape 27"/>
          <p:cNvSpPr/>
          <p:nvPr/>
        </p:nvSpPr>
        <p:spPr>
          <a:xfrm>
            <a:off x="6381598" y="2532888"/>
            <a:ext cx="5201107" cy="19202"/>
          </a:xfrm>
          <a:prstGeom prst="rect">
            <a:avLst/>
          </a:prstGeom>
          <a:solidFill>
            <a:srgbClr val="E5E7EB"/>
          </a:solidFill>
          <a:ln w="12700">
            <a:solidFill>
              <a:srgbClr val="E5E7EB">
                <a:alpha val="0"/>
              </a:srgbClr>
            </a:solidFill>
            <a:prstDash val="solid"/>
          </a:ln>
        </p:spPr>
        <p:txBody>
          <a:bodyPr/>
          <a:lstStyle/>
          <a:p>
            <a:endParaRPr lang="en-US"/>
          </a:p>
        </p:txBody>
      </p:sp>
      <p:sp>
        <p:nvSpPr>
          <p:cNvPr id="38" name="Text 28"/>
          <p:cNvSpPr txBox="1"/>
          <p:nvPr/>
        </p:nvSpPr>
        <p:spPr>
          <a:xfrm>
            <a:off x="6534302" y="2048256"/>
            <a:ext cx="1228954" cy="391363"/>
          </a:xfrm>
          <a:prstGeom prst="rect">
            <a:avLst/>
          </a:prstGeom>
          <a:noFill/>
          <a:ln/>
        </p:spPr>
        <p:txBody>
          <a:bodyPr wrap="square" lIns="0" tIns="0" rIns="0" bIns="0" rtlCol="0" anchor="ctr"/>
          <a:lstStyle/>
          <a:p>
            <a:pPr marL="0" indent="0" algn="l">
              <a:buNone/>
            </a:pPr>
            <a:r>
              <a:rPr lang="en-US" sz="1000" b="1">
                <a:solidFill>
                  <a:srgbClr val="4B5563"/>
                </a:solidFill>
                <a:latin typeface="Roboto Condensed" pitchFamily="34" charset="0"/>
                <a:ea typeface="Roboto Condensed" pitchFamily="34" charset="-122"/>
                <a:cs typeface="Roboto Condensed" pitchFamily="34" charset="-120"/>
              </a:rPr>
              <a:t>Dimension</a:t>
            </a:r>
            <a:endParaRPr lang="en-US" sz="1000"/>
          </a:p>
        </p:txBody>
      </p:sp>
      <p:sp>
        <p:nvSpPr>
          <p:cNvPr id="39" name="Text 29"/>
          <p:cNvSpPr txBox="1"/>
          <p:nvPr/>
        </p:nvSpPr>
        <p:spPr>
          <a:xfrm>
            <a:off x="7757770" y="2048256"/>
            <a:ext cx="1714500" cy="391363"/>
          </a:xfrm>
          <a:prstGeom prst="rect">
            <a:avLst/>
          </a:prstGeom>
          <a:noFill/>
          <a:ln/>
        </p:spPr>
        <p:txBody>
          <a:bodyPr wrap="square" lIns="0" tIns="0" rIns="0" bIns="0" rtlCol="0" anchor="ctr"/>
          <a:lstStyle/>
          <a:p>
            <a:pPr marL="0" indent="0" algn="l">
              <a:buNone/>
            </a:pPr>
            <a:r>
              <a:rPr lang="en-US" sz="1000" b="1">
                <a:solidFill>
                  <a:srgbClr val="D62839"/>
                </a:solidFill>
                <a:latin typeface="Roboto Condensed" pitchFamily="34" charset="0"/>
                <a:ea typeface="Roboto Condensed" pitchFamily="34" charset="-122"/>
                <a:cs typeface="Roboto Condensed" pitchFamily="34" charset="-120"/>
              </a:rPr>
              <a:t>Traditional Managed Services</a:t>
            </a:r>
            <a:endParaRPr lang="en-US" sz="1000"/>
          </a:p>
        </p:txBody>
      </p:sp>
      <p:sp>
        <p:nvSpPr>
          <p:cNvPr id="40" name="Text 30"/>
          <p:cNvSpPr txBox="1"/>
          <p:nvPr/>
        </p:nvSpPr>
        <p:spPr>
          <a:xfrm>
            <a:off x="9471355" y="2048256"/>
            <a:ext cx="1962302" cy="391363"/>
          </a:xfrm>
          <a:prstGeom prst="rect">
            <a:avLst/>
          </a:prstGeom>
          <a:noFill/>
          <a:ln/>
        </p:spPr>
        <p:txBody>
          <a:bodyPr wrap="square" lIns="0" tIns="0" rIns="0" bIns="0" rtlCol="0" anchor="ctr"/>
          <a:lstStyle/>
          <a:p>
            <a:pPr marL="0" indent="0" algn="l">
              <a:buNone/>
            </a:pPr>
            <a:r>
              <a:rPr lang="en-US" sz="1000" b="1">
                <a:solidFill>
                  <a:srgbClr val="2A9D8F"/>
                </a:solidFill>
                <a:latin typeface="Roboto Condensed" pitchFamily="34" charset="0"/>
                <a:ea typeface="Roboto Condensed" pitchFamily="34" charset="-122"/>
                <a:cs typeface="Roboto Condensed" pitchFamily="34" charset="-120"/>
              </a:rPr>
              <a:t>J2W Managed Solutions</a:t>
            </a:r>
            <a:endParaRPr lang="en-US" sz="1000"/>
          </a:p>
        </p:txBody>
      </p:sp>
      <p:sp>
        <p:nvSpPr>
          <p:cNvPr id="41" name="Shape 31"/>
          <p:cNvSpPr/>
          <p:nvPr/>
        </p:nvSpPr>
        <p:spPr>
          <a:xfrm>
            <a:off x="6381598" y="3134563"/>
            <a:ext cx="5201107" cy="9144"/>
          </a:xfrm>
          <a:prstGeom prst="rect">
            <a:avLst/>
          </a:prstGeom>
          <a:solidFill>
            <a:srgbClr val="E5E7EB"/>
          </a:solidFill>
          <a:ln w="12700">
            <a:solidFill>
              <a:srgbClr val="E5E7EB">
                <a:alpha val="0"/>
              </a:srgbClr>
            </a:solidFill>
            <a:prstDash val="solid"/>
          </a:ln>
        </p:spPr>
        <p:txBody>
          <a:bodyPr/>
          <a:lstStyle/>
          <a:p>
            <a:endParaRPr lang="en-US"/>
          </a:p>
        </p:txBody>
      </p:sp>
      <p:sp>
        <p:nvSpPr>
          <p:cNvPr id="42" name="Text 32"/>
          <p:cNvSpPr txBox="1"/>
          <p:nvPr/>
        </p:nvSpPr>
        <p:spPr>
          <a:xfrm>
            <a:off x="6534302" y="2667305"/>
            <a:ext cx="1228954" cy="352958"/>
          </a:xfrm>
          <a:prstGeom prst="rect">
            <a:avLst/>
          </a:prstGeom>
          <a:noFill/>
          <a:ln/>
        </p:spPr>
        <p:txBody>
          <a:bodyPr wrap="square" lIns="0" tIns="0" rIns="0" bIns="0" rtlCol="0" anchor="ctr"/>
          <a:lstStyle/>
          <a:p>
            <a:pPr marL="0" indent="0" algn="l">
              <a:buNone/>
            </a:pPr>
            <a:r>
              <a:rPr lang="en-US" sz="1000" b="1">
                <a:solidFill>
                  <a:srgbClr val="374151"/>
                </a:solidFill>
                <a:latin typeface="Raleway" pitchFamily="34" charset="0"/>
                <a:ea typeface="Raleway" pitchFamily="34" charset="-122"/>
                <a:cs typeface="Raleway" pitchFamily="34" charset="-120"/>
              </a:rPr>
              <a:t>Engagement </a:t>
            </a:r>
          </a:p>
          <a:p>
            <a:pPr marL="0" indent="0" algn="l">
              <a:buNone/>
            </a:pPr>
            <a:r>
              <a:rPr lang="en-US" sz="1000" b="1">
                <a:solidFill>
                  <a:srgbClr val="374151"/>
                </a:solidFill>
                <a:latin typeface="Raleway" pitchFamily="34" charset="0"/>
                <a:ea typeface="Raleway" pitchFamily="34" charset="-122"/>
                <a:cs typeface="Raleway" pitchFamily="34" charset="-120"/>
              </a:rPr>
              <a:t>Model</a:t>
            </a:r>
            <a:endParaRPr lang="en-US" sz="1000"/>
          </a:p>
        </p:txBody>
      </p:sp>
      <p:sp>
        <p:nvSpPr>
          <p:cNvPr id="43" name="Text 33"/>
          <p:cNvSpPr txBox="1"/>
          <p:nvPr/>
        </p:nvSpPr>
        <p:spPr>
          <a:xfrm>
            <a:off x="7757770" y="2667305"/>
            <a:ext cx="1714500" cy="352958"/>
          </a:xfrm>
          <a:prstGeom prst="rect">
            <a:avLst/>
          </a:prstGeom>
          <a:noFill/>
          <a:ln/>
        </p:spPr>
        <p:txBody>
          <a:bodyPr wrap="square" lIns="0" tIns="0" rIns="0" bIns="0" rtlCol="0" anchor="ctr"/>
          <a:lstStyle/>
          <a:p>
            <a:pPr marL="0" indent="0" algn="l">
              <a:buNone/>
            </a:pPr>
            <a:r>
              <a:rPr lang="en-US" sz="1000">
                <a:solidFill>
                  <a:srgbClr val="6B7280"/>
                </a:solidFill>
                <a:latin typeface="Raleway" pitchFamily="34" charset="0"/>
                <a:ea typeface="Raleway" pitchFamily="34" charset="-122"/>
                <a:cs typeface="Raleway" pitchFamily="34" charset="-120"/>
              </a:rPr>
              <a:t>SOW-based, scope-</a:t>
            </a:r>
          </a:p>
          <a:p>
            <a:pPr marL="0" indent="0" algn="l">
              <a:buNone/>
            </a:pPr>
            <a:r>
              <a:rPr lang="en-US" sz="1000">
                <a:solidFill>
                  <a:srgbClr val="6B7280"/>
                </a:solidFill>
                <a:latin typeface="Raleway" pitchFamily="34" charset="0"/>
                <a:ea typeface="Raleway" pitchFamily="34" charset="-122"/>
                <a:cs typeface="Raleway" pitchFamily="34" charset="-120"/>
              </a:rPr>
              <a:t>locked</a:t>
            </a:r>
            <a:endParaRPr lang="en-US" sz="1000"/>
          </a:p>
        </p:txBody>
      </p:sp>
      <p:sp>
        <p:nvSpPr>
          <p:cNvPr id="44" name="Text 34"/>
          <p:cNvSpPr txBox="1"/>
          <p:nvPr/>
        </p:nvSpPr>
        <p:spPr>
          <a:xfrm>
            <a:off x="9471355" y="2667305"/>
            <a:ext cx="1962302" cy="352958"/>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Outcome-bound, SLO-governed</a:t>
            </a:r>
            <a:endParaRPr lang="en-US" sz="1000"/>
          </a:p>
        </p:txBody>
      </p:sp>
      <p:sp>
        <p:nvSpPr>
          <p:cNvPr id="45" name="Shape 35"/>
          <p:cNvSpPr/>
          <p:nvPr/>
        </p:nvSpPr>
        <p:spPr>
          <a:xfrm>
            <a:off x="6381598" y="3143707"/>
            <a:ext cx="5201107" cy="590702"/>
          </a:xfrm>
          <a:prstGeom prst="rect">
            <a:avLst/>
          </a:prstGeom>
          <a:solidFill>
            <a:srgbClr val="2A9D8F">
              <a:alpha val="3000"/>
            </a:srgbClr>
          </a:solidFill>
          <a:ln/>
        </p:spPr>
        <p:txBody>
          <a:bodyPr/>
          <a:lstStyle/>
          <a:p>
            <a:endParaRPr lang="en-US"/>
          </a:p>
        </p:txBody>
      </p:sp>
      <p:sp>
        <p:nvSpPr>
          <p:cNvPr id="46" name="Shape 36"/>
          <p:cNvSpPr/>
          <p:nvPr/>
        </p:nvSpPr>
        <p:spPr>
          <a:xfrm>
            <a:off x="6381598" y="3725266"/>
            <a:ext cx="5201107" cy="9144"/>
          </a:xfrm>
          <a:prstGeom prst="rect">
            <a:avLst/>
          </a:prstGeom>
          <a:solidFill>
            <a:srgbClr val="E5E7EB"/>
          </a:solidFill>
          <a:ln w="12700">
            <a:solidFill>
              <a:srgbClr val="E5E7EB">
                <a:alpha val="0"/>
              </a:srgbClr>
            </a:solidFill>
            <a:prstDash val="solid"/>
          </a:ln>
        </p:spPr>
        <p:txBody>
          <a:bodyPr/>
          <a:lstStyle/>
          <a:p>
            <a:endParaRPr lang="en-US"/>
          </a:p>
        </p:txBody>
      </p:sp>
      <p:sp>
        <p:nvSpPr>
          <p:cNvPr id="47" name="Text 37"/>
          <p:cNvSpPr txBox="1"/>
          <p:nvPr/>
        </p:nvSpPr>
        <p:spPr>
          <a:xfrm>
            <a:off x="6534302" y="3258007"/>
            <a:ext cx="1228954" cy="352958"/>
          </a:xfrm>
          <a:prstGeom prst="rect">
            <a:avLst/>
          </a:prstGeom>
          <a:noFill/>
          <a:ln/>
        </p:spPr>
        <p:txBody>
          <a:bodyPr wrap="square" lIns="0" tIns="0" rIns="0" bIns="0" rtlCol="0" anchor="ctr"/>
          <a:lstStyle/>
          <a:p>
            <a:pPr marL="0" indent="0" algn="l">
              <a:buNone/>
            </a:pPr>
            <a:r>
              <a:rPr lang="en-US" sz="1000" b="1">
                <a:solidFill>
                  <a:srgbClr val="374151"/>
                </a:solidFill>
                <a:latin typeface="Raleway" pitchFamily="34" charset="0"/>
                <a:ea typeface="Raleway" pitchFamily="34" charset="-122"/>
                <a:cs typeface="Raleway" pitchFamily="34" charset="-120"/>
              </a:rPr>
              <a:t>Starting Point</a:t>
            </a:r>
            <a:endParaRPr lang="en-US" sz="1000"/>
          </a:p>
        </p:txBody>
      </p:sp>
      <p:sp>
        <p:nvSpPr>
          <p:cNvPr id="48" name="Text 38"/>
          <p:cNvSpPr txBox="1"/>
          <p:nvPr/>
        </p:nvSpPr>
        <p:spPr>
          <a:xfrm>
            <a:off x="7757770" y="3258007"/>
            <a:ext cx="1714500" cy="352958"/>
          </a:xfrm>
          <a:prstGeom prst="rect">
            <a:avLst/>
          </a:prstGeom>
          <a:noFill/>
          <a:ln/>
        </p:spPr>
        <p:txBody>
          <a:bodyPr wrap="square" lIns="0" tIns="0" rIns="0" bIns="0" rtlCol="0" anchor="ctr"/>
          <a:lstStyle/>
          <a:p>
            <a:pPr marL="0" indent="0" algn="l">
              <a:buNone/>
            </a:pPr>
            <a:r>
              <a:rPr lang="en-US" sz="1000">
                <a:solidFill>
                  <a:srgbClr val="6B7280"/>
                </a:solidFill>
                <a:latin typeface="Raleway" pitchFamily="34" charset="0"/>
                <a:ea typeface="Raleway" pitchFamily="34" charset="-122"/>
                <a:cs typeface="Raleway" pitchFamily="34" charset="-120"/>
              </a:rPr>
              <a:t>Build from scratch</a:t>
            </a:r>
            <a:endParaRPr lang="en-US" sz="1000"/>
          </a:p>
        </p:txBody>
      </p:sp>
      <p:sp>
        <p:nvSpPr>
          <p:cNvPr id="49" name="Text 39"/>
          <p:cNvSpPr txBox="1"/>
          <p:nvPr/>
        </p:nvSpPr>
        <p:spPr>
          <a:xfrm>
            <a:off x="9471355" y="3258007"/>
            <a:ext cx="1962302" cy="352958"/>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60+ accelerators, deploy in weeks</a:t>
            </a:r>
            <a:endParaRPr lang="en-US" sz="1000"/>
          </a:p>
        </p:txBody>
      </p:sp>
      <p:sp>
        <p:nvSpPr>
          <p:cNvPr id="50" name="Shape 40"/>
          <p:cNvSpPr/>
          <p:nvPr/>
        </p:nvSpPr>
        <p:spPr>
          <a:xfrm>
            <a:off x="6381598" y="4315054"/>
            <a:ext cx="5201107" cy="9144"/>
          </a:xfrm>
          <a:prstGeom prst="rect">
            <a:avLst/>
          </a:prstGeom>
          <a:solidFill>
            <a:srgbClr val="E5E7EB"/>
          </a:solidFill>
          <a:ln w="12700">
            <a:solidFill>
              <a:srgbClr val="E5E7EB">
                <a:alpha val="0"/>
              </a:srgbClr>
            </a:solidFill>
            <a:prstDash val="solid"/>
          </a:ln>
        </p:spPr>
        <p:txBody>
          <a:bodyPr/>
          <a:lstStyle/>
          <a:p>
            <a:endParaRPr lang="en-US"/>
          </a:p>
        </p:txBody>
      </p:sp>
      <p:sp>
        <p:nvSpPr>
          <p:cNvPr id="51" name="Text 41"/>
          <p:cNvSpPr txBox="1"/>
          <p:nvPr/>
        </p:nvSpPr>
        <p:spPr>
          <a:xfrm>
            <a:off x="6534302" y="3847795"/>
            <a:ext cx="1228954" cy="352958"/>
          </a:xfrm>
          <a:prstGeom prst="rect">
            <a:avLst/>
          </a:prstGeom>
          <a:noFill/>
          <a:ln/>
        </p:spPr>
        <p:txBody>
          <a:bodyPr wrap="square" lIns="0" tIns="0" rIns="0" bIns="0" rtlCol="0" anchor="ctr"/>
          <a:lstStyle/>
          <a:p>
            <a:pPr marL="0" indent="0" algn="l">
              <a:buNone/>
            </a:pPr>
            <a:r>
              <a:rPr lang="en-US" sz="1000" b="1">
                <a:solidFill>
                  <a:srgbClr val="374151"/>
                </a:solidFill>
                <a:latin typeface="Raleway" pitchFamily="34" charset="0"/>
                <a:ea typeface="Raleway" pitchFamily="34" charset="-122"/>
                <a:cs typeface="Raleway" pitchFamily="34" charset="-120"/>
              </a:rPr>
              <a:t>Performance Standard</a:t>
            </a:r>
            <a:endParaRPr lang="en-US" sz="1000"/>
          </a:p>
        </p:txBody>
      </p:sp>
      <p:sp>
        <p:nvSpPr>
          <p:cNvPr id="52" name="Text 42"/>
          <p:cNvSpPr txBox="1"/>
          <p:nvPr/>
        </p:nvSpPr>
        <p:spPr>
          <a:xfrm>
            <a:off x="7757770" y="3847795"/>
            <a:ext cx="1714500" cy="352958"/>
          </a:xfrm>
          <a:prstGeom prst="rect">
            <a:avLst/>
          </a:prstGeom>
          <a:noFill/>
          <a:ln/>
        </p:spPr>
        <p:txBody>
          <a:bodyPr wrap="square" lIns="0" tIns="0" rIns="0" bIns="0" rtlCol="0" anchor="ctr"/>
          <a:lstStyle/>
          <a:p>
            <a:pPr marL="0" indent="0" algn="l">
              <a:buNone/>
            </a:pPr>
            <a:r>
              <a:rPr lang="en-US" sz="1000">
                <a:solidFill>
                  <a:srgbClr val="6B7280"/>
                </a:solidFill>
                <a:latin typeface="Raleway" pitchFamily="34" charset="0"/>
                <a:ea typeface="Raleway" pitchFamily="34" charset="-122"/>
                <a:cs typeface="Raleway" pitchFamily="34" charset="-120"/>
              </a:rPr>
              <a:t>Contractual minimums</a:t>
            </a:r>
            <a:endParaRPr lang="en-US" sz="1000"/>
          </a:p>
        </p:txBody>
      </p:sp>
      <p:sp>
        <p:nvSpPr>
          <p:cNvPr id="53" name="Text 43"/>
          <p:cNvSpPr txBox="1"/>
          <p:nvPr/>
        </p:nvSpPr>
        <p:spPr>
          <a:xfrm>
            <a:off x="9471355" y="3847795"/>
            <a:ext cx="1962302" cy="352958"/>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40% improvement threshold</a:t>
            </a:r>
            <a:endParaRPr lang="en-US" sz="1000"/>
          </a:p>
        </p:txBody>
      </p:sp>
      <p:sp>
        <p:nvSpPr>
          <p:cNvPr id="54" name="Shape 44"/>
          <p:cNvSpPr/>
          <p:nvPr/>
        </p:nvSpPr>
        <p:spPr>
          <a:xfrm>
            <a:off x="6381598" y="4324198"/>
            <a:ext cx="5201107" cy="590702"/>
          </a:xfrm>
          <a:prstGeom prst="rect">
            <a:avLst/>
          </a:prstGeom>
          <a:solidFill>
            <a:srgbClr val="2A9D8F">
              <a:alpha val="3000"/>
            </a:srgbClr>
          </a:solidFill>
          <a:ln/>
        </p:spPr>
        <p:txBody>
          <a:bodyPr/>
          <a:lstStyle/>
          <a:p>
            <a:endParaRPr lang="en-US"/>
          </a:p>
        </p:txBody>
      </p:sp>
      <p:sp>
        <p:nvSpPr>
          <p:cNvPr id="55" name="Shape 45"/>
          <p:cNvSpPr/>
          <p:nvPr/>
        </p:nvSpPr>
        <p:spPr>
          <a:xfrm>
            <a:off x="6381598" y="4905756"/>
            <a:ext cx="5201107" cy="9144"/>
          </a:xfrm>
          <a:prstGeom prst="rect">
            <a:avLst/>
          </a:prstGeom>
          <a:solidFill>
            <a:srgbClr val="E5E7EB"/>
          </a:solidFill>
          <a:ln w="12700">
            <a:solidFill>
              <a:srgbClr val="E5E7EB">
                <a:alpha val="0"/>
              </a:srgbClr>
            </a:solidFill>
            <a:prstDash val="solid"/>
          </a:ln>
        </p:spPr>
        <p:txBody>
          <a:bodyPr/>
          <a:lstStyle/>
          <a:p>
            <a:endParaRPr lang="en-US"/>
          </a:p>
        </p:txBody>
      </p:sp>
      <p:sp>
        <p:nvSpPr>
          <p:cNvPr id="56" name="Text 46"/>
          <p:cNvSpPr txBox="1"/>
          <p:nvPr/>
        </p:nvSpPr>
        <p:spPr>
          <a:xfrm>
            <a:off x="6534302" y="4438498"/>
            <a:ext cx="1228954" cy="352958"/>
          </a:xfrm>
          <a:prstGeom prst="rect">
            <a:avLst/>
          </a:prstGeom>
          <a:noFill/>
          <a:ln/>
        </p:spPr>
        <p:txBody>
          <a:bodyPr wrap="square" lIns="0" tIns="0" rIns="0" bIns="0" rtlCol="0" anchor="ctr"/>
          <a:lstStyle/>
          <a:p>
            <a:pPr marL="0" indent="0" algn="l">
              <a:buNone/>
            </a:pPr>
            <a:r>
              <a:rPr lang="en-US" sz="1000" b="1">
                <a:solidFill>
                  <a:srgbClr val="374151"/>
                </a:solidFill>
                <a:latin typeface="Raleway" pitchFamily="34" charset="0"/>
                <a:ea typeface="Raleway" pitchFamily="34" charset="-122"/>
                <a:cs typeface="Raleway" pitchFamily="34" charset="-120"/>
              </a:rPr>
              <a:t>Coverage</a:t>
            </a:r>
            <a:endParaRPr lang="en-US" sz="1000"/>
          </a:p>
        </p:txBody>
      </p:sp>
      <p:sp>
        <p:nvSpPr>
          <p:cNvPr id="57" name="Text 47"/>
          <p:cNvSpPr txBox="1"/>
          <p:nvPr/>
        </p:nvSpPr>
        <p:spPr>
          <a:xfrm>
            <a:off x="7757770" y="4438498"/>
            <a:ext cx="1714500" cy="352958"/>
          </a:xfrm>
          <a:prstGeom prst="rect">
            <a:avLst/>
          </a:prstGeom>
          <a:noFill/>
          <a:ln/>
        </p:spPr>
        <p:txBody>
          <a:bodyPr wrap="square" lIns="0" tIns="0" rIns="0" bIns="0" rtlCol="0" anchor="ctr"/>
          <a:lstStyle/>
          <a:p>
            <a:pPr marL="0" indent="0" algn="l">
              <a:buNone/>
            </a:pPr>
            <a:r>
              <a:rPr lang="en-US" sz="1000">
                <a:solidFill>
                  <a:srgbClr val="6B7280"/>
                </a:solidFill>
                <a:latin typeface="Raleway" pitchFamily="34" charset="0"/>
                <a:ea typeface="Raleway" pitchFamily="34" charset="-122"/>
                <a:cs typeface="Raleway" pitchFamily="34" charset="-120"/>
              </a:rPr>
              <a:t>Single-function specialization</a:t>
            </a:r>
            <a:endParaRPr lang="en-US" sz="1000"/>
          </a:p>
        </p:txBody>
      </p:sp>
      <p:sp>
        <p:nvSpPr>
          <p:cNvPr id="58" name="Text 48"/>
          <p:cNvSpPr txBox="1"/>
          <p:nvPr/>
        </p:nvSpPr>
        <p:spPr>
          <a:xfrm>
            <a:off x="9471355" y="4438498"/>
            <a:ext cx="1962302" cy="352958"/>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Cross-stack: SAP, ServiceNow, Salesforce + more</a:t>
            </a:r>
            <a:endParaRPr lang="en-US" sz="1000"/>
          </a:p>
        </p:txBody>
      </p:sp>
      <p:sp>
        <p:nvSpPr>
          <p:cNvPr id="59" name="Shape 49"/>
          <p:cNvSpPr/>
          <p:nvPr/>
        </p:nvSpPr>
        <p:spPr>
          <a:xfrm>
            <a:off x="6381598" y="5496458"/>
            <a:ext cx="5201107" cy="9144"/>
          </a:xfrm>
          <a:prstGeom prst="rect">
            <a:avLst/>
          </a:prstGeom>
          <a:solidFill>
            <a:srgbClr val="E5E7EB"/>
          </a:solidFill>
          <a:ln w="12700">
            <a:solidFill>
              <a:srgbClr val="E5E7EB">
                <a:alpha val="0"/>
              </a:srgbClr>
            </a:solidFill>
            <a:prstDash val="solid"/>
          </a:ln>
        </p:spPr>
        <p:txBody>
          <a:bodyPr/>
          <a:lstStyle/>
          <a:p>
            <a:endParaRPr lang="en-US"/>
          </a:p>
        </p:txBody>
      </p:sp>
      <p:sp>
        <p:nvSpPr>
          <p:cNvPr id="60" name="Text 50"/>
          <p:cNvSpPr txBox="1"/>
          <p:nvPr/>
        </p:nvSpPr>
        <p:spPr>
          <a:xfrm>
            <a:off x="6534302" y="5029200"/>
            <a:ext cx="1228954" cy="352958"/>
          </a:xfrm>
          <a:prstGeom prst="rect">
            <a:avLst/>
          </a:prstGeom>
          <a:noFill/>
          <a:ln/>
        </p:spPr>
        <p:txBody>
          <a:bodyPr wrap="square" lIns="0" tIns="0" rIns="0" bIns="0" rtlCol="0" anchor="ctr"/>
          <a:lstStyle/>
          <a:p>
            <a:pPr marL="0" indent="0" algn="l">
              <a:buNone/>
            </a:pPr>
            <a:r>
              <a:rPr lang="en-US" sz="1000" b="1">
                <a:solidFill>
                  <a:srgbClr val="374151"/>
                </a:solidFill>
                <a:latin typeface="Raleway" pitchFamily="34" charset="0"/>
                <a:ea typeface="Raleway" pitchFamily="34" charset="-122"/>
                <a:cs typeface="Raleway" pitchFamily="34" charset="-120"/>
              </a:rPr>
              <a:t>Knowledge Retention</a:t>
            </a:r>
            <a:endParaRPr lang="en-US" sz="1000"/>
          </a:p>
        </p:txBody>
      </p:sp>
      <p:sp>
        <p:nvSpPr>
          <p:cNvPr id="61" name="Text 51"/>
          <p:cNvSpPr txBox="1"/>
          <p:nvPr/>
        </p:nvSpPr>
        <p:spPr>
          <a:xfrm>
            <a:off x="7757770" y="5029200"/>
            <a:ext cx="1714500" cy="352958"/>
          </a:xfrm>
          <a:prstGeom prst="rect">
            <a:avLst/>
          </a:prstGeom>
          <a:noFill/>
          <a:ln/>
        </p:spPr>
        <p:txBody>
          <a:bodyPr wrap="square" lIns="0" tIns="0" rIns="0" bIns="0" rtlCol="0" anchor="ctr"/>
          <a:lstStyle/>
          <a:p>
            <a:pPr marL="0" indent="0" algn="l">
              <a:buNone/>
            </a:pPr>
            <a:r>
              <a:rPr lang="en-US" sz="1000">
                <a:solidFill>
                  <a:srgbClr val="6B7280"/>
                </a:solidFill>
                <a:latin typeface="Raleway" pitchFamily="34" charset="0"/>
                <a:ea typeface="Raleway" pitchFamily="34" charset="-122"/>
                <a:cs typeface="Raleway" pitchFamily="34" charset="-120"/>
              </a:rPr>
              <a:t>Exits with the team</a:t>
            </a:r>
            <a:endParaRPr lang="en-US" sz="1000"/>
          </a:p>
        </p:txBody>
      </p:sp>
      <p:sp>
        <p:nvSpPr>
          <p:cNvPr id="62" name="Text 52"/>
          <p:cNvSpPr txBox="1"/>
          <p:nvPr/>
        </p:nvSpPr>
        <p:spPr>
          <a:xfrm>
            <a:off x="9471355" y="5029200"/>
            <a:ext cx="1962302" cy="352958"/>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Captured, compounding, stays with you</a:t>
            </a:r>
            <a:endParaRPr lang="en-US" sz="1000"/>
          </a:p>
        </p:txBody>
      </p:sp>
      <p:sp>
        <p:nvSpPr>
          <p:cNvPr id="63" name="Shape 53"/>
          <p:cNvSpPr/>
          <p:nvPr/>
        </p:nvSpPr>
        <p:spPr>
          <a:xfrm>
            <a:off x="6381598" y="5505602"/>
            <a:ext cx="5201107" cy="590702"/>
          </a:xfrm>
          <a:prstGeom prst="rect">
            <a:avLst/>
          </a:prstGeom>
          <a:solidFill>
            <a:srgbClr val="2A9D8F">
              <a:alpha val="3000"/>
            </a:srgbClr>
          </a:solidFill>
          <a:ln w="12700">
            <a:solidFill>
              <a:srgbClr val="FFFFFF">
                <a:alpha val="0"/>
              </a:srgbClr>
            </a:solidFill>
            <a:prstDash val="solid"/>
          </a:ln>
        </p:spPr>
        <p:txBody>
          <a:bodyPr/>
          <a:lstStyle/>
          <a:p>
            <a:endParaRPr lang="en-US"/>
          </a:p>
        </p:txBody>
      </p:sp>
      <p:sp>
        <p:nvSpPr>
          <p:cNvPr id="64" name="Text 54"/>
          <p:cNvSpPr txBox="1"/>
          <p:nvPr/>
        </p:nvSpPr>
        <p:spPr>
          <a:xfrm>
            <a:off x="6534302" y="5619902"/>
            <a:ext cx="1228954" cy="362102"/>
          </a:xfrm>
          <a:prstGeom prst="rect">
            <a:avLst/>
          </a:prstGeom>
          <a:noFill/>
          <a:ln/>
        </p:spPr>
        <p:txBody>
          <a:bodyPr wrap="square" lIns="0" tIns="0" rIns="0" bIns="0" rtlCol="0" anchor="ctr"/>
          <a:lstStyle/>
          <a:p>
            <a:pPr marL="0" indent="0" algn="l">
              <a:buNone/>
            </a:pPr>
            <a:r>
              <a:rPr lang="en-US" sz="1000" b="1">
                <a:solidFill>
                  <a:srgbClr val="374151"/>
                </a:solidFill>
                <a:latin typeface="Raleway" pitchFamily="34" charset="0"/>
                <a:ea typeface="Raleway" pitchFamily="34" charset="-122"/>
                <a:cs typeface="Raleway" pitchFamily="34" charset="-120"/>
              </a:rPr>
              <a:t>AI Readiness</a:t>
            </a:r>
            <a:endParaRPr lang="en-US" sz="1000"/>
          </a:p>
        </p:txBody>
      </p:sp>
      <p:sp>
        <p:nvSpPr>
          <p:cNvPr id="65" name="Text 55"/>
          <p:cNvSpPr txBox="1"/>
          <p:nvPr/>
        </p:nvSpPr>
        <p:spPr>
          <a:xfrm>
            <a:off x="7757770" y="5619902"/>
            <a:ext cx="1714500" cy="362102"/>
          </a:xfrm>
          <a:prstGeom prst="rect">
            <a:avLst/>
          </a:prstGeom>
          <a:noFill/>
          <a:ln/>
        </p:spPr>
        <p:txBody>
          <a:bodyPr wrap="square" lIns="0" tIns="0" rIns="0" bIns="0" rtlCol="0" anchor="ctr"/>
          <a:lstStyle/>
          <a:p>
            <a:pPr marL="0" indent="0" algn="l">
              <a:buNone/>
            </a:pPr>
            <a:r>
              <a:rPr lang="en-US" sz="1000">
                <a:solidFill>
                  <a:srgbClr val="6B7280"/>
                </a:solidFill>
                <a:latin typeface="Raleway" pitchFamily="34" charset="0"/>
                <a:ea typeface="Raleway" pitchFamily="34" charset="-122"/>
                <a:cs typeface="Raleway" pitchFamily="34" charset="-120"/>
              </a:rPr>
              <a:t>Optional add-on</a:t>
            </a:r>
            <a:endParaRPr lang="en-US" sz="1000"/>
          </a:p>
        </p:txBody>
      </p:sp>
      <p:sp>
        <p:nvSpPr>
          <p:cNvPr id="66" name="Text 56"/>
          <p:cNvSpPr txBox="1"/>
          <p:nvPr/>
        </p:nvSpPr>
        <p:spPr>
          <a:xfrm>
            <a:off x="9471355" y="5619902"/>
            <a:ext cx="1962302" cy="362102"/>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Embedded from Day 1</a:t>
            </a:r>
            <a:endParaRPr lang="en-US" sz="1000"/>
          </a:p>
        </p:txBody>
      </p:sp>
      <p:sp>
        <p:nvSpPr>
          <p:cNvPr id="67" name="Text 57"/>
          <p:cNvSpPr txBox="1"/>
          <p:nvPr/>
        </p:nvSpPr>
        <p:spPr>
          <a:xfrm>
            <a:off x="800100" y="6245352"/>
            <a:ext cx="10592410" cy="409651"/>
          </a:xfrm>
          <a:prstGeom prst="rect">
            <a:avLst/>
          </a:prstGeom>
          <a:noFill/>
          <a:ln/>
        </p:spPr>
        <p:txBody>
          <a:bodyPr wrap="square" lIns="0" tIns="0" rIns="0" bIns="0" rtlCol="0" anchor="ctr"/>
          <a:lstStyle/>
          <a:p>
            <a:pPr marL="0" indent="0" algn="ctr">
              <a:buNone/>
            </a:pPr>
            <a:r>
              <a:rPr lang="en-US" sz="800" b="1">
                <a:solidFill>
                  <a:srgbClr val="111827"/>
                </a:solidFill>
                <a:latin typeface="Raleway" pitchFamily="34" charset="0"/>
                <a:ea typeface="Raleway" pitchFamily="34" charset="-122"/>
                <a:cs typeface="Raleway" pitchFamily="34" charset="-120"/>
              </a:rPr>
              <a:t>From scattered pilots to governed programs. From manual reporting to real-time intelligence. From legacy stacks to modernized platforms. </a:t>
            </a:r>
            <a:r>
              <a:rPr lang="en-US" sz="1100" b="1">
                <a:solidFill>
                  <a:srgbClr val="2A9D8F"/>
                </a:solidFill>
                <a:latin typeface="Raleway" pitchFamily="34" charset="0"/>
                <a:ea typeface="Raleway" pitchFamily="34" charset="-122"/>
                <a:cs typeface="Raleway" pitchFamily="34" charset="-120"/>
              </a:rPr>
              <a:t>J2W Managed Solutions operate until the outcome is real - then keep compounding.</a:t>
            </a:r>
            <a:endParaRPr lang="en-US" sz="1100"/>
          </a:p>
        </p:txBody>
      </p:sp>
      <p:pic>
        <p:nvPicPr>
          <p:cNvPr id="14" name="Image 3" descr="gen-dedup-777bf757d895431cabe402fcd34ebd5a.png">
            <a:extLst>
              <a:ext uri="{FF2B5EF4-FFF2-40B4-BE49-F238E27FC236}">
                <a16:creationId xmlns:a16="http://schemas.microsoft.com/office/drawing/2014/main" id="{2A634BF6-1028-4B39-6875-59CC1F74A676}"/>
              </a:ext>
            </a:extLst>
          </p:cNvPr>
          <p:cNvPicPr>
            <a:picLocks noChangeAspect="1"/>
          </p:cNvPicPr>
          <p:nvPr/>
        </p:nvPicPr>
        <p:blipFill>
          <a:blip r:embed="rId9">
            <a:biLevel thresh="75000"/>
          </a:blip>
          <a:srcRect l="-384" r="-384"/>
          <a:stretch/>
        </p:blipFill>
        <p:spPr>
          <a:xfrm>
            <a:off x="571500" y="381305"/>
            <a:ext cx="57607" cy="476402"/>
          </a:xfrm>
          <a:prstGeom prst="rect">
            <a:avLst/>
          </a:prstGeom>
        </p:spPr>
      </p:pic>
      <p:sp>
        <p:nvSpPr>
          <p:cNvPr id="28" name="Text 5">
            <a:extLst>
              <a:ext uri="{FF2B5EF4-FFF2-40B4-BE49-F238E27FC236}">
                <a16:creationId xmlns:a16="http://schemas.microsoft.com/office/drawing/2014/main" id="{62747FAF-8343-A40A-D00F-DCAB04819A96}"/>
              </a:ext>
            </a:extLst>
          </p:cNvPr>
          <p:cNvSpPr txBox="1"/>
          <p:nvPr/>
        </p:nvSpPr>
        <p:spPr>
          <a:xfrm>
            <a:off x="780897" y="333756"/>
            <a:ext cx="5913817" cy="406908"/>
          </a:xfrm>
          <a:prstGeom prst="rect">
            <a:avLst/>
          </a:prstGeom>
          <a:noFill/>
          <a:ln/>
        </p:spPr>
        <p:txBody>
          <a:bodyPr wrap="none" lIns="0" tIns="0" rIns="0" bIns="0" rtlCol="0" anchor="ctr"/>
          <a:lstStyle/>
          <a:p>
            <a:r>
              <a:rPr lang="en-GB" sz="2400" b="1" kern="0" spc="-67" dirty="0">
                <a:solidFill>
                  <a:srgbClr val="111827"/>
                </a:solidFill>
                <a:latin typeface="Oswald" pitchFamily="34" charset="0"/>
                <a:ea typeface="Oswald" pitchFamily="34" charset="-122"/>
                <a:cs typeface="Oswald" pitchFamily="34" charset="-120"/>
              </a:rPr>
              <a:t>MANAGED SERVICE SOLUTIONS</a:t>
            </a:r>
          </a:p>
        </p:txBody>
      </p:sp>
      <p:sp>
        <p:nvSpPr>
          <p:cNvPr id="68" name="Text 6">
            <a:extLst>
              <a:ext uri="{FF2B5EF4-FFF2-40B4-BE49-F238E27FC236}">
                <a16:creationId xmlns:a16="http://schemas.microsoft.com/office/drawing/2014/main" id="{5F8B4E81-BED7-1A2B-1E9E-B312E58E4F5C}"/>
              </a:ext>
            </a:extLst>
          </p:cNvPr>
          <p:cNvSpPr txBox="1"/>
          <p:nvPr/>
        </p:nvSpPr>
        <p:spPr>
          <a:xfrm>
            <a:off x="780898" y="740663"/>
            <a:ext cx="5054803" cy="257861"/>
          </a:xfrm>
          <a:prstGeom prst="rect">
            <a:avLst/>
          </a:prstGeom>
          <a:noFill/>
          <a:ln/>
        </p:spPr>
        <p:txBody>
          <a:bodyPr wrap="none" lIns="0" tIns="0" rIns="0" bIns="0" rtlCol="0" anchor="ctr"/>
          <a:lstStyle/>
          <a:p>
            <a:pPr marL="0" indent="0" algn="l">
              <a:buNone/>
            </a:pPr>
            <a:r>
              <a:rPr lang="en-GB" sz="1500" b="1" kern="0" spc="66" dirty="0">
                <a:solidFill>
                  <a:srgbClr val="2A9D8F"/>
                </a:solidFill>
                <a:latin typeface="Roboto Condensed" pitchFamily="34" charset="0"/>
                <a:ea typeface="Roboto Condensed" pitchFamily="34" charset="-122"/>
                <a:cs typeface="Roboto Condensed" pitchFamily="34" charset="-120"/>
              </a:rPr>
              <a:t>Outcome-bound Delivery - Not Just A Vendor With A Statement Of Work.</a:t>
            </a:r>
          </a:p>
        </p:txBody>
      </p:sp>
    </p:spTree>
    <p:extLst>
      <p:ext uri="{BB962C8B-B14F-4D97-AF65-F5344CB8AC3E}">
        <p14:creationId xmlns:p14="http://schemas.microsoft.com/office/powerpoint/2010/main" val="374368341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8382305" y="-1429207"/>
            <a:ext cx="4762195" cy="4762195"/>
          </a:xfrm>
          <a:prstGeom prst="ellipse">
            <a:avLst/>
          </a:prstGeom>
          <a:noFill/>
          <a:ln w="508000">
            <a:solidFill>
              <a:srgbClr val="D62839">
                <a:alpha val="3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5"/>
          <p:cNvSpPr/>
          <p:nvPr/>
        </p:nvSpPr>
        <p:spPr>
          <a:xfrm>
            <a:off x="609905" y="1257300"/>
            <a:ext cx="5372100" cy="952805"/>
          </a:xfrm>
          <a:prstGeom prst="roundRect">
            <a:avLst>
              <a:gd name="adj" fmla="val 15355"/>
            </a:avLst>
          </a:prstGeom>
          <a:solidFill>
            <a:srgbClr val="FFFFFF"/>
          </a:solidFill>
          <a:ln w="12700">
            <a:solidFill>
              <a:srgbClr val="F3F4F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Shape 6"/>
          <p:cNvSpPr/>
          <p:nvPr/>
        </p:nvSpPr>
        <p:spPr>
          <a:xfrm>
            <a:off x="609905" y="1257300"/>
            <a:ext cx="38405" cy="952805"/>
          </a:xfrm>
          <a:prstGeom prst="roundRect">
            <a:avLst>
              <a:gd name="adj" fmla="val 380950"/>
            </a:avLst>
          </a:prstGeom>
          <a:solidFill>
            <a:srgbClr val="2A9D8F"/>
          </a:solidFill>
          <a:ln w="12700">
            <a:solidFill>
              <a:srgbClr val="2A9D8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Shape 7"/>
          <p:cNvSpPr/>
          <p:nvPr/>
        </p:nvSpPr>
        <p:spPr>
          <a:xfrm>
            <a:off x="790956" y="1380744"/>
            <a:ext cx="400507" cy="400507"/>
          </a:xfrm>
          <a:prstGeom prst="ellipse">
            <a:avLst/>
          </a:prstGeom>
          <a:solidFill>
            <a:srgbClr val="2A9D8F">
              <a:alpha val="8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1" name="Image 1" descr="preencoded.png"/>
          <p:cNvPicPr>
            <a:picLocks noChangeAspect="1"/>
          </p:cNvPicPr>
          <p:nvPr/>
        </p:nvPicPr>
        <p:blipFill>
          <a:blip r:embed="rId3"/>
          <a:srcRect/>
          <a:stretch/>
        </p:blipFill>
        <p:spPr>
          <a:xfrm>
            <a:off x="905256" y="1495044"/>
            <a:ext cx="171907" cy="171907"/>
          </a:xfrm>
          <a:prstGeom prst="rect">
            <a:avLst/>
          </a:prstGeom>
        </p:spPr>
      </p:pic>
      <p:sp>
        <p:nvSpPr>
          <p:cNvPr id="12" name="Text 8"/>
          <p:cNvSpPr txBox="1"/>
          <p:nvPr/>
        </p:nvSpPr>
        <p:spPr>
          <a:xfrm>
            <a:off x="926287" y="1819656"/>
            <a:ext cx="210312"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2A9D8F">
                    <a:alpha val="60000"/>
                  </a:srgbClr>
                </a:solidFill>
                <a:effectLst/>
                <a:uLnTx/>
                <a:uFillTx/>
                <a:latin typeface="Oswald" pitchFamily="34" charset="0"/>
                <a:ea typeface="Oswald" pitchFamily="34" charset="-122"/>
                <a:cs typeface="Oswald" pitchFamily="34" charset="-120"/>
              </a:rPr>
              <a:t>01</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9"/>
          <p:cNvSpPr txBox="1"/>
          <p:nvPr/>
        </p:nvSpPr>
        <p:spPr>
          <a:xfrm>
            <a:off x="1371600" y="1380744"/>
            <a:ext cx="4601261" cy="19111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4" normalizeH="0" baseline="0" noProof="0">
                <a:ln>
                  <a:noFill/>
                </a:ln>
                <a:solidFill>
                  <a:srgbClr val="1F2937"/>
                </a:solidFill>
                <a:effectLst/>
                <a:uLnTx/>
                <a:uFillTx/>
                <a:latin typeface="Oswald" pitchFamily="34" charset="0"/>
                <a:ea typeface="Oswald" pitchFamily="34" charset="-122"/>
                <a:cs typeface="Oswald" pitchFamily="34" charset="-120"/>
              </a:rPr>
              <a:t>AI Solutions (AI CoE)</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0"/>
          <p:cNvSpPr txBox="1"/>
          <p:nvPr/>
        </p:nvSpPr>
        <p:spPr>
          <a:xfrm>
            <a:off x="1371600" y="1602029"/>
            <a:ext cx="4562856" cy="31455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555555"/>
                </a:solidFill>
                <a:effectLst/>
                <a:uLnTx/>
                <a:uFillTx/>
                <a:latin typeface="Raleway" pitchFamily="34" charset="0"/>
                <a:ea typeface="Raleway" pitchFamily="34" charset="-122"/>
                <a:cs typeface="Raleway" pitchFamily="34" charset="-120"/>
              </a:rPr>
              <a:t>GenAI strategies, agents, LLM workflows, predictive models, knowledge bots, and enterprise-grade AI governance &amp; value realization frameworks.</a:t>
            </a:r>
            <a:endParaRPr kumimoji="0" lang="en-US" sz="9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Shape 11"/>
          <p:cNvSpPr/>
          <p:nvPr/>
        </p:nvSpPr>
        <p:spPr>
          <a:xfrm>
            <a:off x="6210605" y="1257300"/>
            <a:ext cx="5372100" cy="952805"/>
          </a:xfrm>
          <a:prstGeom prst="roundRect">
            <a:avLst>
              <a:gd name="adj" fmla="val 15355"/>
            </a:avLst>
          </a:prstGeom>
          <a:solidFill>
            <a:srgbClr val="FFFFFF"/>
          </a:solidFill>
          <a:ln w="12700">
            <a:solidFill>
              <a:srgbClr val="F3F4F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Shape 12"/>
          <p:cNvSpPr/>
          <p:nvPr/>
        </p:nvSpPr>
        <p:spPr>
          <a:xfrm>
            <a:off x="6210605" y="1257300"/>
            <a:ext cx="38405" cy="952805"/>
          </a:xfrm>
          <a:prstGeom prst="roundRect">
            <a:avLst>
              <a:gd name="adj" fmla="val 380950"/>
            </a:avLst>
          </a:prstGeom>
          <a:solidFill>
            <a:srgbClr val="D62839"/>
          </a:solidFill>
          <a:ln w="12700">
            <a:solidFill>
              <a:srgbClr val="D62839">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Shape 13"/>
          <p:cNvSpPr/>
          <p:nvPr/>
        </p:nvSpPr>
        <p:spPr>
          <a:xfrm>
            <a:off x="6391656" y="1380744"/>
            <a:ext cx="400507" cy="400507"/>
          </a:xfrm>
          <a:prstGeom prst="ellipse">
            <a:avLst/>
          </a:prstGeom>
          <a:solidFill>
            <a:srgbClr val="D62839">
              <a:alpha val="8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8" name="Image 2" descr="preencoded.png"/>
          <p:cNvPicPr>
            <a:picLocks noChangeAspect="1"/>
          </p:cNvPicPr>
          <p:nvPr/>
        </p:nvPicPr>
        <p:blipFill>
          <a:blip r:embed="rId4"/>
          <a:srcRect/>
          <a:stretch/>
        </p:blipFill>
        <p:spPr>
          <a:xfrm>
            <a:off x="6505956" y="1495044"/>
            <a:ext cx="171907" cy="171907"/>
          </a:xfrm>
          <a:prstGeom prst="rect">
            <a:avLst/>
          </a:prstGeom>
        </p:spPr>
      </p:pic>
      <p:sp>
        <p:nvSpPr>
          <p:cNvPr id="19" name="Text 14"/>
          <p:cNvSpPr txBox="1"/>
          <p:nvPr/>
        </p:nvSpPr>
        <p:spPr>
          <a:xfrm>
            <a:off x="6516929" y="1819656"/>
            <a:ext cx="22860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D62839">
                    <a:alpha val="60000"/>
                  </a:srgbClr>
                </a:solidFill>
                <a:effectLst/>
                <a:uLnTx/>
                <a:uFillTx/>
                <a:latin typeface="Oswald" pitchFamily="34" charset="0"/>
                <a:ea typeface="Oswald" pitchFamily="34" charset="-122"/>
                <a:cs typeface="Oswald" pitchFamily="34" charset="-120"/>
              </a:rPr>
              <a:t>06</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5"/>
          <p:cNvSpPr txBox="1"/>
          <p:nvPr/>
        </p:nvSpPr>
        <p:spPr>
          <a:xfrm>
            <a:off x="6972300" y="1380744"/>
            <a:ext cx="4601261" cy="19111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4" normalizeH="0" baseline="0" noProof="0">
                <a:ln>
                  <a:noFill/>
                </a:ln>
                <a:solidFill>
                  <a:srgbClr val="1F2937"/>
                </a:solidFill>
                <a:effectLst/>
                <a:uLnTx/>
                <a:uFillTx/>
                <a:latin typeface="Oswald" pitchFamily="34" charset="0"/>
                <a:ea typeface="Oswald" pitchFamily="34" charset="-122"/>
                <a:cs typeface="Oswald" pitchFamily="34" charset="-120"/>
              </a:rPr>
              <a:t>Quality Engineering</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Text 16"/>
          <p:cNvSpPr txBox="1"/>
          <p:nvPr/>
        </p:nvSpPr>
        <p:spPr>
          <a:xfrm>
            <a:off x="6972300" y="1602029"/>
            <a:ext cx="4562856" cy="31455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555555"/>
                </a:solidFill>
                <a:effectLst/>
                <a:uLnTx/>
                <a:uFillTx/>
                <a:latin typeface="Raleway" pitchFamily="34" charset="0"/>
                <a:ea typeface="Raleway" pitchFamily="34" charset="-122"/>
                <a:cs typeface="Raleway" pitchFamily="34" charset="-120"/>
              </a:rPr>
              <a:t>Intelligent QA and Test Automation at scale - covering functional, performance, security, CI/CD pipelines, and TaaS delivery pods.</a:t>
            </a:r>
            <a:endParaRPr kumimoji="0" lang="en-US" sz="9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17"/>
          <p:cNvSpPr/>
          <p:nvPr/>
        </p:nvSpPr>
        <p:spPr>
          <a:xfrm>
            <a:off x="609905" y="2324405"/>
            <a:ext cx="5372100" cy="952805"/>
          </a:xfrm>
          <a:prstGeom prst="roundRect">
            <a:avLst>
              <a:gd name="adj" fmla="val 15355"/>
            </a:avLst>
          </a:prstGeom>
          <a:solidFill>
            <a:srgbClr val="FFFFFF"/>
          </a:solidFill>
          <a:ln w="12700">
            <a:solidFill>
              <a:srgbClr val="F3F4F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Shape 18"/>
          <p:cNvSpPr/>
          <p:nvPr/>
        </p:nvSpPr>
        <p:spPr>
          <a:xfrm>
            <a:off x="609905" y="2324405"/>
            <a:ext cx="38405" cy="952805"/>
          </a:xfrm>
          <a:prstGeom prst="roundRect">
            <a:avLst>
              <a:gd name="adj" fmla="val 380950"/>
            </a:avLst>
          </a:prstGeom>
          <a:solidFill>
            <a:srgbClr val="D62839"/>
          </a:solidFill>
          <a:ln w="12700">
            <a:solidFill>
              <a:srgbClr val="D62839">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Shape 19"/>
          <p:cNvSpPr/>
          <p:nvPr/>
        </p:nvSpPr>
        <p:spPr>
          <a:xfrm>
            <a:off x="790956" y="2447849"/>
            <a:ext cx="400507" cy="400507"/>
          </a:xfrm>
          <a:prstGeom prst="ellipse">
            <a:avLst/>
          </a:prstGeom>
          <a:solidFill>
            <a:srgbClr val="D62839">
              <a:alpha val="8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25" name="Image 3" descr="preencoded.png"/>
          <p:cNvPicPr>
            <a:picLocks noChangeAspect="1"/>
          </p:cNvPicPr>
          <p:nvPr/>
        </p:nvPicPr>
        <p:blipFill>
          <a:blip r:embed="rId5"/>
          <a:srcRect t="-2725" b="-2725"/>
          <a:stretch/>
        </p:blipFill>
        <p:spPr>
          <a:xfrm>
            <a:off x="918972" y="2562149"/>
            <a:ext cx="142646" cy="171907"/>
          </a:xfrm>
          <a:prstGeom prst="rect">
            <a:avLst/>
          </a:prstGeom>
        </p:spPr>
      </p:pic>
      <p:sp>
        <p:nvSpPr>
          <p:cNvPr id="26" name="Text 20"/>
          <p:cNvSpPr txBox="1"/>
          <p:nvPr/>
        </p:nvSpPr>
        <p:spPr>
          <a:xfrm>
            <a:off x="918058" y="2885846"/>
            <a:ext cx="22860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D62839">
                    <a:alpha val="60000"/>
                  </a:srgbClr>
                </a:solidFill>
                <a:effectLst/>
                <a:uLnTx/>
                <a:uFillTx/>
                <a:latin typeface="Oswald" pitchFamily="34" charset="0"/>
                <a:ea typeface="Oswald" pitchFamily="34" charset="-122"/>
                <a:cs typeface="Oswald" pitchFamily="34" charset="-120"/>
              </a:rPr>
              <a:t>02</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1"/>
          <p:cNvSpPr txBox="1"/>
          <p:nvPr/>
        </p:nvSpPr>
        <p:spPr>
          <a:xfrm>
            <a:off x="1371600" y="2447849"/>
            <a:ext cx="4601261" cy="19111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4" normalizeH="0" baseline="0" noProof="0">
                <a:ln>
                  <a:noFill/>
                </a:ln>
                <a:solidFill>
                  <a:srgbClr val="1F2937"/>
                </a:solidFill>
                <a:effectLst/>
                <a:uLnTx/>
                <a:uFillTx/>
                <a:latin typeface="Oswald" pitchFamily="34" charset="0"/>
                <a:ea typeface="Oswald" pitchFamily="34" charset="-122"/>
                <a:cs typeface="Oswald" pitchFamily="34" charset="-120"/>
              </a:rPr>
              <a:t>Data Migration &amp; Infra Support</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2"/>
          <p:cNvSpPr txBox="1"/>
          <p:nvPr/>
        </p:nvSpPr>
        <p:spPr>
          <a:xfrm>
            <a:off x="1371600" y="2669134"/>
            <a:ext cx="4562856" cy="31455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555555"/>
                </a:solidFill>
                <a:effectLst/>
                <a:uLnTx/>
                <a:uFillTx/>
                <a:latin typeface="Raleway" pitchFamily="34" charset="0"/>
                <a:ea typeface="Raleway" pitchFamily="34" charset="-122"/>
                <a:cs typeface="Raleway" pitchFamily="34" charset="-120"/>
              </a:rPr>
              <a:t>Seamless migration across on-prem &amp; cloud, with data quality, cleansing, secure pipelines, infra ops, and cloud governance across AWS/Azure/GCP.</a:t>
            </a:r>
            <a:endParaRPr kumimoji="0" lang="en-US" sz="9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Shape 23"/>
          <p:cNvSpPr/>
          <p:nvPr/>
        </p:nvSpPr>
        <p:spPr>
          <a:xfrm>
            <a:off x="6210605" y="2324405"/>
            <a:ext cx="5372100" cy="952805"/>
          </a:xfrm>
          <a:prstGeom prst="roundRect">
            <a:avLst>
              <a:gd name="adj" fmla="val 15355"/>
            </a:avLst>
          </a:prstGeom>
          <a:solidFill>
            <a:srgbClr val="FFFFFF"/>
          </a:solidFill>
          <a:ln w="12700">
            <a:solidFill>
              <a:srgbClr val="F3F4F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4"/>
          <p:cNvSpPr/>
          <p:nvPr/>
        </p:nvSpPr>
        <p:spPr>
          <a:xfrm>
            <a:off x="6210605" y="2324405"/>
            <a:ext cx="38405" cy="952805"/>
          </a:xfrm>
          <a:prstGeom prst="roundRect">
            <a:avLst>
              <a:gd name="adj" fmla="val 380950"/>
            </a:avLst>
          </a:prstGeom>
          <a:solidFill>
            <a:srgbClr val="2A9D8F"/>
          </a:solidFill>
          <a:ln w="12700">
            <a:solidFill>
              <a:srgbClr val="2A9D8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Shape 25"/>
          <p:cNvSpPr/>
          <p:nvPr/>
        </p:nvSpPr>
        <p:spPr>
          <a:xfrm>
            <a:off x="6391656" y="2447849"/>
            <a:ext cx="400507" cy="400507"/>
          </a:xfrm>
          <a:prstGeom prst="ellipse">
            <a:avLst/>
          </a:prstGeom>
          <a:solidFill>
            <a:srgbClr val="2A9D8F">
              <a:alpha val="8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32" name="Image 4" descr="preencoded.png"/>
          <p:cNvPicPr>
            <a:picLocks noChangeAspect="1"/>
          </p:cNvPicPr>
          <p:nvPr/>
        </p:nvPicPr>
        <p:blipFill>
          <a:blip r:embed="rId6"/>
          <a:srcRect/>
          <a:stretch/>
        </p:blipFill>
        <p:spPr>
          <a:xfrm>
            <a:off x="6505956" y="2562149"/>
            <a:ext cx="171907" cy="171907"/>
          </a:xfrm>
          <a:prstGeom prst="rect">
            <a:avLst/>
          </a:prstGeom>
        </p:spPr>
      </p:pic>
      <p:sp>
        <p:nvSpPr>
          <p:cNvPr id="33" name="Text 26"/>
          <p:cNvSpPr txBox="1"/>
          <p:nvPr/>
        </p:nvSpPr>
        <p:spPr>
          <a:xfrm>
            <a:off x="6523330" y="2885846"/>
            <a:ext cx="219456"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2A9D8F">
                    <a:alpha val="60000"/>
                  </a:srgbClr>
                </a:solidFill>
                <a:effectLst/>
                <a:uLnTx/>
                <a:uFillTx/>
                <a:latin typeface="Oswald" pitchFamily="34" charset="0"/>
                <a:ea typeface="Oswald" pitchFamily="34" charset="-122"/>
                <a:cs typeface="Oswald" pitchFamily="34" charset="-120"/>
              </a:rPr>
              <a:t>07</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Text 27"/>
          <p:cNvSpPr txBox="1"/>
          <p:nvPr/>
        </p:nvSpPr>
        <p:spPr>
          <a:xfrm>
            <a:off x="6972300" y="2447849"/>
            <a:ext cx="4601261" cy="19111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4" normalizeH="0" baseline="0" noProof="0">
                <a:ln>
                  <a:noFill/>
                </a:ln>
                <a:solidFill>
                  <a:srgbClr val="1F2937"/>
                </a:solidFill>
                <a:effectLst/>
                <a:uLnTx/>
                <a:uFillTx/>
                <a:latin typeface="Oswald" pitchFamily="34" charset="0"/>
                <a:ea typeface="Oswald" pitchFamily="34" charset="-122"/>
                <a:cs typeface="Oswald" pitchFamily="34" charset="-120"/>
              </a:rPr>
              <a:t>Call Centre Optimization</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28"/>
          <p:cNvSpPr txBox="1"/>
          <p:nvPr/>
        </p:nvSpPr>
        <p:spPr>
          <a:xfrm>
            <a:off x="6972300" y="2669134"/>
            <a:ext cx="4562856" cy="31455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555555"/>
                </a:solidFill>
                <a:effectLst/>
                <a:uLnTx/>
                <a:uFillTx/>
                <a:latin typeface="Raleway" pitchFamily="34" charset="0"/>
                <a:ea typeface="Raleway" pitchFamily="34" charset="-122"/>
                <a:cs typeface="Raleway" pitchFamily="34" charset="-120"/>
              </a:rPr>
              <a:t>Transforming contact centers through operational assessment, workforce analytics, real-time dashboards, agent assist AI, and IVA-based automation.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Shape 29"/>
          <p:cNvSpPr/>
          <p:nvPr/>
        </p:nvSpPr>
        <p:spPr>
          <a:xfrm>
            <a:off x="609905" y="3390595"/>
            <a:ext cx="5372100" cy="952805"/>
          </a:xfrm>
          <a:prstGeom prst="roundRect">
            <a:avLst>
              <a:gd name="adj" fmla="val 15355"/>
            </a:avLst>
          </a:prstGeom>
          <a:solidFill>
            <a:srgbClr val="FFFFFF"/>
          </a:solidFill>
          <a:ln w="12700">
            <a:solidFill>
              <a:srgbClr val="F3F4F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Shape 30"/>
          <p:cNvSpPr/>
          <p:nvPr/>
        </p:nvSpPr>
        <p:spPr>
          <a:xfrm>
            <a:off x="609905" y="3390595"/>
            <a:ext cx="38405" cy="952805"/>
          </a:xfrm>
          <a:prstGeom prst="roundRect">
            <a:avLst>
              <a:gd name="adj" fmla="val 380950"/>
            </a:avLst>
          </a:prstGeom>
          <a:solidFill>
            <a:srgbClr val="2A9D8F"/>
          </a:solidFill>
          <a:ln w="12700">
            <a:solidFill>
              <a:srgbClr val="2A9D8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Shape 31"/>
          <p:cNvSpPr/>
          <p:nvPr/>
        </p:nvSpPr>
        <p:spPr>
          <a:xfrm>
            <a:off x="790956" y="3514954"/>
            <a:ext cx="400507" cy="400507"/>
          </a:xfrm>
          <a:prstGeom prst="ellipse">
            <a:avLst/>
          </a:prstGeom>
          <a:solidFill>
            <a:srgbClr val="2A9D8F">
              <a:alpha val="8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39" name="Image 5" descr="preencoded.png"/>
          <p:cNvPicPr>
            <a:picLocks noChangeAspect="1"/>
          </p:cNvPicPr>
          <p:nvPr/>
        </p:nvPicPr>
        <p:blipFill>
          <a:blip r:embed="rId7"/>
          <a:srcRect/>
          <a:stretch/>
        </p:blipFill>
        <p:spPr>
          <a:xfrm>
            <a:off x="905256" y="3629254"/>
            <a:ext cx="171907" cy="171907"/>
          </a:xfrm>
          <a:prstGeom prst="rect">
            <a:avLst/>
          </a:prstGeom>
        </p:spPr>
      </p:pic>
      <p:sp>
        <p:nvSpPr>
          <p:cNvPr id="40" name="Text 32"/>
          <p:cNvSpPr txBox="1"/>
          <p:nvPr/>
        </p:nvSpPr>
        <p:spPr>
          <a:xfrm>
            <a:off x="918058" y="3952951"/>
            <a:ext cx="22860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2A9D8F">
                    <a:alpha val="60000"/>
                  </a:srgbClr>
                </a:solidFill>
                <a:effectLst/>
                <a:uLnTx/>
                <a:uFillTx/>
                <a:latin typeface="Oswald" pitchFamily="34" charset="0"/>
                <a:ea typeface="Oswald" pitchFamily="34" charset="-122"/>
                <a:cs typeface="Oswald" pitchFamily="34" charset="-120"/>
              </a:rPr>
              <a:t>03</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 name="Text 33"/>
          <p:cNvSpPr txBox="1"/>
          <p:nvPr/>
        </p:nvSpPr>
        <p:spPr>
          <a:xfrm>
            <a:off x="1371600" y="3514954"/>
            <a:ext cx="4601261" cy="19111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4" normalizeH="0" baseline="0" noProof="0">
                <a:ln>
                  <a:noFill/>
                </a:ln>
                <a:solidFill>
                  <a:srgbClr val="1F2937"/>
                </a:solidFill>
                <a:effectLst/>
                <a:uLnTx/>
                <a:uFillTx/>
                <a:latin typeface="Oswald" pitchFamily="34" charset="0"/>
                <a:ea typeface="Oswald" pitchFamily="34" charset="-122"/>
                <a:cs typeface="Oswald" pitchFamily="34" charset="-120"/>
              </a:rPr>
              <a:t>Cybersecurity</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 name="Text 34"/>
          <p:cNvSpPr txBox="1"/>
          <p:nvPr/>
        </p:nvSpPr>
        <p:spPr>
          <a:xfrm>
            <a:off x="1371600" y="3735324"/>
            <a:ext cx="4562856" cy="31455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555555"/>
                </a:solidFill>
                <a:effectLst/>
                <a:uLnTx/>
                <a:uFillTx/>
                <a:latin typeface="Raleway" pitchFamily="34" charset="0"/>
                <a:ea typeface="Raleway" pitchFamily="34" charset="-122"/>
                <a:cs typeface="Raleway" pitchFamily="34" charset="-120"/>
              </a:rPr>
              <a:t>Full-spectrum security including assessment, red-team, cloud security, managed SOC/MDR, compliance (ISO, PCI, RBI), incident response &amp; digital forensics.</a:t>
            </a:r>
            <a:endParaRPr kumimoji="0" lang="en-US" sz="9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Shape 35"/>
          <p:cNvSpPr/>
          <p:nvPr/>
        </p:nvSpPr>
        <p:spPr>
          <a:xfrm>
            <a:off x="6210605" y="3390595"/>
            <a:ext cx="5372100" cy="952805"/>
          </a:xfrm>
          <a:prstGeom prst="roundRect">
            <a:avLst>
              <a:gd name="adj" fmla="val 15355"/>
            </a:avLst>
          </a:prstGeom>
          <a:solidFill>
            <a:srgbClr val="FFFFFF"/>
          </a:solidFill>
          <a:ln w="12700">
            <a:solidFill>
              <a:srgbClr val="F3F4F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 name="Shape 36"/>
          <p:cNvSpPr/>
          <p:nvPr/>
        </p:nvSpPr>
        <p:spPr>
          <a:xfrm>
            <a:off x="6210605" y="3390595"/>
            <a:ext cx="38405" cy="952805"/>
          </a:xfrm>
          <a:prstGeom prst="roundRect">
            <a:avLst>
              <a:gd name="adj" fmla="val 380950"/>
            </a:avLst>
          </a:prstGeom>
          <a:solidFill>
            <a:srgbClr val="D62839"/>
          </a:solidFill>
          <a:ln w="12700">
            <a:solidFill>
              <a:srgbClr val="D62839">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 name="Shape 37"/>
          <p:cNvSpPr/>
          <p:nvPr/>
        </p:nvSpPr>
        <p:spPr>
          <a:xfrm>
            <a:off x="6391656" y="3514954"/>
            <a:ext cx="400507" cy="400507"/>
          </a:xfrm>
          <a:prstGeom prst="ellipse">
            <a:avLst/>
          </a:prstGeom>
          <a:solidFill>
            <a:srgbClr val="D62839">
              <a:alpha val="8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46" name="Image 6" descr="preencoded.png"/>
          <p:cNvPicPr>
            <a:picLocks noChangeAspect="1"/>
          </p:cNvPicPr>
          <p:nvPr/>
        </p:nvPicPr>
        <p:blipFill>
          <a:blip r:embed="rId8"/>
          <a:srcRect t="-2725" b="-2725"/>
          <a:stretch/>
        </p:blipFill>
        <p:spPr>
          <a:xfrm>
            <a:off x="6519672" y="3629254"/>
            <a:ext cx="142646" cy="171907"/>
          </a:xfrm>
          <a:prstGeom prst="rect">
            <a:avLst/>
          </a:prstGeom>
        </p:spPr>
      </p:pic>
      <p:sp>
        <p:nvSpPr>
          <p:cNvPr id="47" name="Text 38"/>
          <p:cNvSpPr txBox="1"/>
          <p:nvPr/>
        </p:nvSpPr>
        <p:spPr>
          <a:xfrm>
            <a:off x="6517843" y="3952951"/>
            <a:ext cx="22860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D62839">
                    <a:alpha val="60000"/>
                  </a:srgbClr>
                </a:solidFill>
                <a:effectLst/>
                <a:uLnTx/>
                <a:uFillTx/>
                <a:latin typeface="Oswald" pitchFamily="34" charset="0"/>
                <a:ea typeface="Oswald" pitchFamily="34" charset="-122"/>
                <a:cs typeface="Oswald" pitchFamily="34" charset="-120"/>
              </a:rPr>
              <a:t>08</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 name="Text 39"/>
          <p:cNvSpPr txBox="1"/>
          <p:nvPr/>
        </p:nvSpPr>
        <p:spPr>
          <a:xfrm>
            <a:off x="6972300" y="3514954"/>
            <a:ext cx="4601261" cy="19111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4" normalizeH="0" baseline="0" noProof="0">
                <a:ln>
                  <a:noFill/>
                </a:ln>
                <a:solidFill>
                  <a:srgbClr val="1F2937"/>
                </a:solidFill>
                <a:effectLst/>
                <a:uLnTx/>
                <a:uFillTx/>
                <a:latin typeface="Oswald" pitchFamily="34" charset="0"/>
                <a:ea typeface="Oswald" pitchFamily="34" charset="-122"/>
                <a:cs typeface="Oswald" pitchFamily="34" charset="-120"/>
              </a:rPr>
              <a:t>SAP Services</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 name="Text 40"/>
          <p:cNvSpPr txBox="1"/>
          <p:nvPr/>
        </p:nvSpPr>
        <p:spPr>
          <a:xfrm>
            <a:off x="6972300" y="3735324"/>
            <a:ext cx="4562856" cy="31455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555555"/>
                </a:solidFill>
                <a:effectLst/>
                <a:uLnTx/>
                <a:uFillTx/>
                <a:latin typeface="Raleway" pitchFamily="34" charset="0"/>
                <a:ea typeface="Raleway" pitchFamily="34" charset="-122"/>
                <a:cs typeface="Raleway" pitchFamily="34" charset="-120"/>
              </a:rPr>
              <a:t>End-to-end SAP modernization - from S/4HANA migrations to BTP, Fiori, SuccessFactors, and enterprise-wide rollout with managed SAP support.</a:t>
            </a:r>
            <a:endParaRPr kumimoji="0" lang="en-US" sz="9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 name="Shape 41"/>
          <p:cNvSpPr/>
          <p:nvPr/>
        </p:nvSpPr>
        <p:spPr>
          <a:xfrm>
            <a:off x="609905" y="4457700"/>
            <a:ext cx="5372100" cy="952805"/>
          </a:xfrm>
          <a:prstGeom prst="roundRect">
            <a:avLst>
              <a:gd name="adj" fmla="val 15355"/>
            </a:avLst>
          </a:prstGeom>
          <a:solidFill>
            <a:srgbClr val="FFFFFF"/>
          </a:solidFill>
          <a:ln w="12700">
            <a:solidFill>
              <a:srgbClr val="F3F4F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 name="Shape 42"/>
          <p:cNvSpPr/>
          <p:nvPr/>
        </p:nvSpPr>
        <p:spPr>
          <a:xfrm>
            <a:off x="609905" y="4457700"/>
            <a:ext cx="38405" cy="952805"/>
          </a:xfrm>
          <a:prstGeom prst="roundRect">
            <a:avLst>
              <a:gd name="adj" fmla="val 380950"/>
            </a:avLst>
          </a:prstGeom>
          <a:solidFill>
            <a:srgbClr val="D62839"/>
          </a:solidFill>
          <a:ln w="12700">
            <a:solidFill>
              <a:srgbClr val="D62839">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 name="Shape 43"/>
          <p:cNvSpPr/>
          <p:nvPr/>
        </p:nvSpPr>
        <p:spPr>
          <a:xfrm>
            <a:off x="790956" y="4581144"/>
            <a:ext cx="400507" cy="400507"/>
          </a:xfrm>
          <a:prstGeom prst="ellipse">
            <a:avLst/>
          </a:prstGeom>
          <a:solidFill>
            <a:srgbClr val="D62839">
              <a:alpha val="8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53" name="Image 7" descr="preencoded.png"/>
          <p:cNvPicPr>
            <a:picLocks noChangeAspect="1"/>
          </p:cNvPicPr>
          <p:nvPr/>
        </p:nvPicPr>
        <p:blipFill>
          <a:blip r:embed="rId9"/>
          <a:srcRect t="-1310" b="-1310"/>
          <a:stretch/>
        </p:blipFill>
        <p:spPr>
          <a:xfrm>
            <a:off x="886054" y="4695444"/>
            <a:ext cx="209398" cy="171907"/>
          </a:xfrm>
          <a:prstGeom prst="rect">
            <a:avLst/>
          </a:prstGeom>
        </p:spPr>
      </p:pic>
      <p:sp>
        <p:nvSpPr>
          <p:cNvPr id="54" name="Text 44"/>
          <p:cNvSpPr txBox="1"/>
          <p:nvPr/>
        </p:nvSpPr>
        <p:spPr>
          <a:xfrm>
            <a:off x="917143" y="5020056"/>
            <a:ext cx="22860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D62839">
                    <a:alpha val="60000"/>
                  </a:srgbClr>
                </a:solidFill>
                <a:effectLst/>
                <a:uLnTx/>
                <a:uFillTx/>
                <a:latin typeface="Oswald" pitchFamily="34" charset="0"/>
                <a:ea typeface="Oswald" pitchFamily="34" charset="-122"/>
                <a:cs typeface="Oswald" pitchFamily="34" charset="-120"/>
              </a:rPr>
              <a:t>04</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 name="Text 45"/>
          <p:cNvSpPr txBox="1"/>
          <p:nvPr/>
        </p:nvSpPr>
        <p:spPr>
          <a:xfrm>
            <a:off x="1371600" y="4581144"/>
            <a:ext cx="4601261" cy="19111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4" normalizeH="0" baseline="0" noProof="0">
                <a:ln>
                  <a:noFill/>
                </a:ln>
                <a:solidFill>
                  <a:srgbClr val="1F2937"/>
                </a:solidFill>
                <a:effectLst/>
                <a:uLnTx/>
                <a:uFillTx/>
                <a:latin typeface="Oswald" pitchFamily="34" charset="0"/>
                <a:ea typeface="Oswald" pitchFamily="34" charset="-122"/>
                <a:cs typeface="Oswald" pitchFamily="34" charset="-120"/>
              </a:rPr>
              <a:t>Digital Engineering &amp; Automation</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 name="Text 46"/>
          <p:cNvSpPr txBox="1"/>
          <p:nvPr/>
        </p:nvSpPr>
        <p:spPr>
          <a:xfrm>
            <a:off x="1371600" y="4802429"/>
            <a:ext cx="4562856" cy="31455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555555"/>
                </a:solidFill>
                <a:effectLst/>
                <a:uLnTx/>
                <a:uFillTx/>
                <a:latin typeface="Raleway" pitchFamily="34" charset="0"/>
                <a:ea typeface="Raleway" pitchFamily="34" charset="-122"/>
                <a:cs typeface="Raleway" pitchFamily="34" charset="-120"/>
              </a:rPr>
              <a:t>Spanning full-stack &amp; UI/UX development, intelligent automation, AI-augmented RPA, and end-to-end process orchestration.</a:t>
            </a:r>
            <a:endParaRPr kumimoji="0" lang="en-US" sz="9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 name="Shape 47"/>
          <p:cNvSpPr/>
          <p:nvPr/>
        </p:nvSpPr>
        <p:spPr>
          <a:xfrm>
            <a:off x="6210605" y="4457700"/>
            <a:ext cx="5372100" cy="952805"/>
          </a:xfrm>
          <a:prstGeom prst="roundRect">
            <a:avLst>
              <a:gd name="adj" fmla="val 15355"/>
            </a:avLst>
          </a:prstGeom>
          <a:solidFill>
            <a:srgbClr val="FFFFFF"/>
          </a:solidFill>
          <a:ln w="12700">
            <a:solidFill>
              <a:srgbClr val="F3F4F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 name="Shape 48"/>
          <p:cNvSpPr/>
          <p:nvPr/>
        </p:nvSpPr>
        <p:spPr>
          <a:xfrm>
            <a:off x="6210605" y="4457700"/>
            <a:ext cx="38405" cy="952805"/>
          </a:xfrm>
          <a:prstGeom prst="roundRect">
            <a:avLst>
              <a:gd name="adj" fmla="val 380950"/>
            </a:avLst>
          </a:prstGeom>
          <a:solidFill>
            <a:srgbClr val="2A9D8F"/>
          </a:solidFill>
          <a:ln w="12700">
            <a:solidFill>
              <a:srgbClr val="2A9D8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 name="Shape 49"/>
          <p:cNvSpPr/>
          <p:nvPr/>
        </p:nvSpPr>
        <p:spPr>
          <a:xfrm>
            <a:off x="6391656" y="4581144"/>
            <a:ext cx="400507" cy="400507"/>
          </a:xfrm>
          <a:prstGeom prst="ellipse">
            <a:avLst/>
          </a:prstGeom>
          <a:solidFill>
            <a:srgbClr val="2A9D8F">
              <a:alpha val="8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60" name="Image 8" descr="preencoded.png"/>
          <p:cNvPicPr>
            <a:picLocks noChangeAspect="1"/>
          </p:cNvPicPr>
          <p:nvPr/>
        </p:nvPicPr>
        <p:blipFill>
          <a:blip r:embed="rId10"/>
          <a:srcRect t="-1310" b="-1310"/>
          <a:stretch/>
        </p:blipFill>
        <p:spPr>
          <a:xfrm>
            <a:off x="6486754" y="4695444"/>
            <a:ext cx="209398" cy="171907"/>
          </a:xfrm>
          <a:prstGeom prst="rect">
            <a:avLst/>
          </a:prstGeom>
        </p:spPr>
      </p:pic>
      <p:sp>
        <p:nvSpPr>
          <p:cNvPr id="61" name="Text 50"/>
          <p:cNvSpPr txBox="1"/>
          <p:nvPr/>
        </p:nvSpPr>
        <p:spPr>
          <a:xfrm>
            <a:off x="6516929" y="5020056"/>
            <a:ext cx="22860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2A9D8F">
                    <a:alpha val="60000"/>
                  </a:srgbClr>
                </a:solidFill>
                <a:effectLst/>
                <a:uLnTx/>
                <a:uFillTx/>
                <a:latin typeface="Oswald" pitchFamily="34" charset="0"/>
                <a:ea typeface="Oswald" pitchFamily="34" charset="-122"/>
                <a:cs typeface="Oswald" pitchFamily="34" charset="-120"/>
              </a:rPr>
              <a:t>09</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 name="Text 51"/>
          <p:cNvSpPr txBox="1"/>
          <p:nvPr/>
        </p:nvSpPr>
        <p:spPr>
          <a:xfrm>
            <a:off x="6972300" y="4581144"/>
            <a:ext cx="4601261" cy="19111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4" normalizeH="0" baseline="0" noProof="0">
                <a:ln>
                  <a:noFill/>
                </a:ln>
                <a:solidFill>
                  <a:srgbClr val="1F2937"/>
                </a:solidFill>
                <a:effectLst/>
                <a:uLnTx/>
                <a:uFillTx/>
                <a:latin typeface="Oswald" pitchFamily="34" charset="0"/>
                <a:ea typeface="Oswald" pitchFamily="34" charset="-122"/>
                <a:cs typeface="Oswald" pitchFamily="34" charset="-120"/>
              </a:rPr>
              <a:t>Salesforce Services</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 name="Text 52"/>
          <p:cNvSpPr txBox="1"/>
          <p:nvPr/>
        </p:nvSpPr>
        <p:spPr>
          <a:xfrm>
            <a:off x="6972300" y="4802429"/>
            <a:ext cx="4562856" cy="31455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555555"/>
                </a:solidFill>
                <a:effectLst/>
                <a:uLnTx/>
                <a:uFillTx/>
                <a:latin typeface="Raleway" pitchFamily="34" charset="0"/>
                <a:ea typeface="Raleway" pitchFamily="34" charset="-122"/>
                <a:cs typeface="Raleway" pitchFamily="34" charset="-120"/>
              </a:rPr>
              <a:t>Complete Salesforce transformation across Sales, Service, Marketing, Financial Services Cloud, and MuleSoft - backed by org audits and managed support.</a:t>
            </a:r>
            <a:endParaRPr kumimoji="0" lang="en-US" sz="9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 name="Shape 53"/>
          <p:cNvSpPr/>
          <p:nvPr/>
        </p:nvSpPr>
        <p:spPr>
          <a:xfrm>
            <a:off x="609905" y="5524805"/>
            <a:ext cx="5372100" cy="952805"/>
          </a:xfrm>
          <a:prstGeom prst="roundRect">
            <a:avLst>
              <a:gd name="adj" fmla="val 15355"/>
            </a:avLst>
          </a:prstGeom>
          <a:solidFill>
            <a:srgbClr val="FFFFFF"/>
          </a:solidFill>
          <a:ln w="12700">
            <a:solidFill>
              <a:srgbClr val="F3F4F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 name="Shape 54"/>
          <p:cNvSpPr/>
          <p:nvPr/>
        </p:nvSpPr>
        <p:spPr>
          <a:xfrm>
            <a:off x="609905" y="5524805"/>
            <a:ext cx="38405" cy="952805"/>
          </a:xfrm>
          <a:prstGeom prst="roundRect">
            <a:avLst>
              <a:gd name="adj" fmla="val 380950"/>
            </a:avLst>
          </a:prstGeom>
          <a:solidFill>
            <a:srgbClr val="2A9D8F"/>
          </a:solidFill>
          <a:ln w="12700">
            <a:solidFill>
              <a:srgbClr val="2A9D8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 name="Shape 55"/>
          <p:cNvSpPr/>
          <p:nvPr/>
        </p:nvSpPr>
        <p:spPr>
          <a:xfrm>
            <a:off x="790956" y="5648249"/>
            <a:ext cx="400507" cy="400507"/>
          </a:xfrm>
          <a:prstGeom prst="ellipse">
            <a:avLst/>
          </a:prstGeom>
          <a:solidFill>
            <a:srgbClr val="2A9D8F">
              <a:alpha val="8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67" name="Image 9" descr="preencoded.png"/>
          <p:cNvPicPr>
            <a:picLocks noChangeAspect="1"/>
          </p:cNvPicPr>
          <p:nvPr/>
        </p:nvPicPr>
        <p:blipFill>
          <a:blip r:embed="rId11"/>
          <a:srcRect/>
          <a:stretch/>
        </p:blipFill>
        <p:spPr>
          <a:xfrm>
            <a:off x="905256" y="5762549"/>
            <a:ext cx="171907" cy="171907"/>
          </a:xfrm>
          <a:prstGeom prst="rect">
            <a:avLst/>
          </a:prstGeom>
        </p:spPr>
      </p:pic>
      <p:sp>
        <p:nvSpPr>
          <p:cNvPr id="68" name="Text 56"/>
          <p:cNvSpPr txBox="1"/>
          <p:nvPr/>
        </p:nvSpPr>
        <p:spPr>
          <a:xfrm>
            <a:off x="918058" y="6086246"/>
            <a:ext cx="22860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2A9D8F">
                    <a:alpha val="60000"/>
                  </a:srgbClr>
                </a:solidFill>
                <a:effectLst/>
                <a:uLnTx/>
                <a:uFillTx/>
                <a:latin typeface="Oswald" pitchFamily="34" charset="0"/>
                <a:ea typeface="Oswald" pitchFamily="34" charset="-122"/>
                <a:cs typeface="Oswald" pitchFamily="34" charset="-120"/>
              </a:rPr>
              <a:t>05</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 name="Text 57"/>
          <p:cNvSpPr txBox="1"/>
          <p:nvPr/>
        </p:nvSpPr>
        <p:spPr>
          <a:xfrm>
            <a:off x="1371600" y="5648249"/>
            <a:ext cx="4601261" cy="19111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4" normalizeH="0" baseline="0" noProof="0">
                <a:ln>
                  <a:noFill/>
                </a:ln>
                <a:solidFill>
                  <a:srgbClr val="1F2937"/>
                </a:solidFill>
                <a:effectLst/>
                <a:uLnTx/>
                <a:uFillTx/>
                <a:latin typeface="Oswald" pitchFamily="34" charset="0"/>
                <a:ea typeface="Oswald" pitchFamily="34" charset="-122"/>
                <a:cs typeface="Oswald" pitchFamily="34" charset="-120"/>
              </a:rPr>
              <a:t>Data Analytics &amp; Dashboarding</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 name="Text 58"/>
          <p:cNvSpPr txBox="1"/>
          <p:nvPr/>
        </p:nvSpPr>
        <p:spPr>
          <a:xfrm>
            <a:off x="1371600" y="5869534"/>
            <a:ext cx="4562856" cy="31455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555555"/>
                </a:solidFill>
                <a:effectLst/>
                <a:uLnTx/>
                <a:uFillTx/>
                <a:latin typeface="Raleway" pitchFamily="34" charset="0"/>
                <a:ea typeface="Raleway" pitchFamily="34" charset="-122"/>
                <a:cs typeface="Raleway" pitchFamily="34" charset="-120"/>
              </a:rPr>
              <a:t>Interactive dashboards across Power BI, Tableau, and Qlik - enabling real-time operational, financial, and leadership insights.</a:t>
            </a:r>
            <a:endParaRPr kumimoji="0" lang="en-US" sz="9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 name="Shape 59"/>
          <p:cNvSpPr/>
          <p:nvPr/>
        </p:nvSpPr>
        <p:spPr>
          <a:xfrm>
            <a:off x="6210605" y="5524805"/>
            <a:ext cx="5372100" cy="952805"/>
          </a:xfrm>
          <a:prstGeom prst="roundRect">
            <a:avLst>
              <a:gd name="adj" fmla="val 15355"/>
            </a:avLst>
          </a:prstGeom>
          <a:solidFill>
            <a:srgbClr val="FFFFFF"/>
          </a:solidFill>
          <a:ln w="12700">
            <a:solidFill>
              <a:srgbClr val="F3F4F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 name="Shape 60"/>
          <p:cNvSpPr/>
          <p:nvPr/>
        </p:nvSpPr>
        <p:spPr>
          <a:xfrm>
            <a:off x="6210605" y="5524805"/>
            <a:ext cx="38405" cy="952805"/>
          </a:xfrm>
          <a:prstGeom prst="roundRect">
            <a:avLst>
              <a:gd name="adj" fmla="val 380950"/>
            </a:avLst>
          </a:prstGeom>
          <a:solidFill>
            <a:srgbClr val="D62839"/>
          </a:solidFill>
          <a:ln w="12700">
            <a:solidFill>
              <a:srgbClr val="D62839">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3" name="Shape 61"/>
          <p:cNvSpPr/>
          <p:nvPr/>
        </p:nvSpPr>
        <p:spPr>
          <a:xfrm>
            <a:off x="6391656" y="5648249"/>
            <a:ext cx="400507" cy="400507"/>
          </a:xfrm>
          <a:prstGeom prst="ellipse">
            <a:avLst/>
          </a:prstGeom>
          <a:solidFill>
            <a:srgbClr val="D62839">
              <a:alpha val="8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74" name="Image 10" descr="preencoded.png"/>
          <p:cNvPicPr>
            <a:picLocks noChangeAspect="1"/>
          </p:cNvPicPr>
          <p:nvPr/>
        </p:nvPicPr>
        <p:blipFill>
          <a:blip r:embed="rId12"/>
          <a:srcRect/>
          <a:stretch/>
        </p:blipFill>
        <p:spPr>
          <a:xfrm>
            <a:off x="6505956" y="5762549"/>
            <a:ext cx="171907" cy="171907"/>
          </a:xfrm>
          <a:prstGeom prst="rect">
            <a:avLst/>
          </a:prstGeom>
        </p:spPr>
      </p:pic>
      <p:sp>
        <p:nvSpPr>
          <p:cNvPr id="75" name="Text 62"/>
          <p:cNvSpPr txBox="1"/>
          <p:nvPr/>
        </p:nvSpPr>
        <p:spPr>
          <a:xfrm>
            <a:off x="6526987" y="6086246"/>
            <a:ext cx="210312"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D62839">
                    <a:alpha val="60000"/>
                  </a:srgbClr>
                </a:solidFill>
                <a:effectLst/>
                <a:uLnTx/>
                <a:uFillTx/>
                <a:latin typeface="Oswald" pitchFamily="34" charset="0"/>
                <a:ea typeface="Oswald" pitchFamily="34" charset="-122"/>
                <a:cs typeface="Oswald" pitchFamily="34" charset="-120"/>
              </a:rPr>
              <a:t>10</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 name="Text 63"/>
          <p:cNvSpPr txBox="1"/>
          <p:nvPr/>
        </p:nvSpPr>
        <p:spPr>
          <a:xfrm>
            <a:off x="6972300" y="5648249"/>
            <a:ext cx="4601261" cy="19111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4" normalizeH="0" baseline="0" noProof="0">
                <a:ln>
                  <a:noFill/>
                </a:ln>
                <a:solidFill>
                  <a:srgbClr val="1F2937"/>
                </a:solidFill>
                <a:effectLst/>
                <a:uLnTx/>
                <a:uFillTx/>
                <a:latin typeface="Oswald" pitchFamily="34" charset="0"/>
                <a:ea typeface="Oswald" pitchFamily="34" charset="-122"/>
                <a:cs typeface="Oswald" pitchFamily="34" charset="-120"/>
              </a:rPr>
              <a:t>ServiceNow</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 name="Text 64"/>
          <p:cNvSpPr txBox="1"/>
          <p:nvPr/>
        </p:nvSpPr>
        <p:spPr>
          <a:xfrm>
            <a:off x="6972300" y="5869534"/>
            <a:ext cx="4562856" cy="31455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555555"/>
                </a:solidFill>
                <a:effectLst/>
                <a:uLnTx/>
                <a:uFillTx/>
                <a:latin typeface="Raleway" pitchFamily="34" charset="0"/>
                <a:ea typeface="Raleway" pitchFamily="34" charset="-122"/>
                <a:cs typeface="Raleway" pitchFamily="34" charset="-120"/>
              </a:rPr>
              <a:t>End-to-end ServiceNow enablement across ITSM, ITOM, CSM, CMDB, automation workflows, and CoE setup for scalable, multi-instance operations.</a:t>
            </a:r>
            <a:endParaRPr kumimoji="0" lang="en-US" sz="9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78" name="Image 11" descr="preencoded.png"/>
          <p:cNvPicPr>
            <a:picLocks noChangeAspect="1"/>
          </p:cNvPicPr>
          <p:nvPr/>
        </p:nvPicPr>
        <p:blipFill>
          <a:blip r:embed="rId13"/>
          <a:srcRect l="-202" r="-202"/>
          <a:stretch/>
        </p:blipFill>
        <p:spPr>
          <a:xfrm>
            <a:off x="0" y="0"/>
            <a:ext cx="8128102" cy="75895"/>
          </a:xfrm>
          <a:prstGeom prst="rect">
            <a:avLst/>
          </a:prstGeom>
        </p:spPr>
      </p:pic>
      <p:pic>
        <p:nvPicPr>
          <p:cNvPr id="79" name="Image 12" descr="preencoded.png"/>
          <p:cNvPicPr>
            <a:picLocks noChangeAspect="1"/>
          </p:cNvPicPr>
          <p:nvPr/>
        </p:nvPicPr>
        <p:blipFill>
          <a:blip r:embed="rId14"/>
          <a:srcRect l="-197" r="-197"/>
          <a:stretch/>
        </p:blipFill>
        <p:spPr>
          <a:xfrm>
            <a:off x="8128102" y="0"/>
            <a:ext cx="4063594" cy="75895"/>
          </a:xfrm>
          <a:prstGeom prst="rect">
            <a:avLst/>
          </a:prstGeom>
        </p:spPr>
      </p:pic>
      <p:pic>
        <p:nvPicPr>
          <p:cNvPr id="81" name="Image 3" descr="gen-dedup-777bf757d895431cabe402fcd34ebd5a.png">
            <a:extLst>
              <a:ext uri="{FF2B5EF4-FFF2-40B4-BE49-F238E27FC236}">
                <a16:creationId xmlns:a16="http://schemas.microsoft.com/office/drawing/2014/main" id="{9CA39ED8-71A9-9399-1CD5-9EF159D1BC84}"/>
              </a:ext>
            </a:extLst>
          </p:cNvPr>
          <p:cNvPicPr>
            <a:picLocks noChangeAspect="1"/>
          </p:cNvPicPr>
          <p:nvPr/>
        </p:nvPicPr>
        <p:blipFill>
          <a:blip r:embed="rId15">
            <a:biLevel thresh="75000"/>
          </a:blip>
          <a:srcRect l="-384" r="-384"/>
          <a:stretch/>
        </p:blipFill>
        <p:spPr>
          <a:xfrm>
            <a:off x="571500" y="381305"/>
            <a:ext cx="57607" cy="476402"/>
          </a:xfrm>
          <a:prstGeom prst="rect">
            <a:avLst/>
          </a:prstGeom>
        </p:spPr>
      </p:pic>
      <p:sp>
        <p:nvSpPr>
          <p:cNvPr id="83" name="Text 5">
            <a:extLst>
              <a:ext uri="{FF2B5EF4-FFF2-40B4-BE49-F238E27FC236}">
                <a16:creationId xmlns:a16="http://schemas.microsoft.com/office/drawing/2014/main" id="{884D4CDD-B8F7-B817-1A73-D09A2A49651A}"/>
              </a:ext>
            </a:extLst>
          </p:cNvPr>
          <p:cNvSpPr txBox="1"/>
          <p:nvPr/>
        </p:nvSpPr>
        <p:spPr>
          <a:xfrm>
            <a:off x="780897" y="333756"/>
            <a:ext cx="5913817" cy="406908"/>
          </a:xfrm>
          <a:prstGeom prst="rect">
            <a:avLst/>
          </a:prstGeom>
          <a:noFill/>
          <a:ln/>
        </p:spPr>
        <p:txBody>
          <a:bodyPr wrap="none" lIns="0" tIns="0" rIns="0" bIns="0" rtlCol="0" anchor="ctr"/>
          <a:lstStyle/>
          <a:p>
            <a:r>
              <a:rPr lang="en-GB" sz="2400" b="1" kern="0" spc="-67" dirty="0">
                <a:solidFill>
                  <a:srgbClr val="111827"/>
                </a:solidFill>
                <a:latin typeface="Oswald" pitchFamily="34" charset="0"/>
                <a:ea typeface="Oswald" pitchFamily="34" charset="-122"/>
                <a:cs typeface="Oswald" pitchFamily="34" charset="-120"/>
              </a:rPr>
              <a:t>STRATEGIC MANAGED SERVICES OFFERINGS</a:t>
            </a:r>
          </a:p>
        </p:txBody>
      </p:sp>
      <p:sp>
        <p:nvSpPr>
          <p:cNvPr id="85" name="Text 6">
            <a:extLst>
              <a:ext uri="{FF2B5EF4-FFF2-40B4-BE49-F238E27FC236}">
                <a16:creationId xmlns:a16="http://schemas.microsoft.com/office/drawing/2014/main" id="{BD5C3A5A-9720-AA75-02BE-D3CA3E91F5CB}"/>
              </a:ext>
            </a:extLst>
          </p:cNvPr>
          <p:cNvSpPr txBox="1"/>
          <p:nvPr/>
        </p:nvSpPr>
        <p:spPr>
          <a:xfrm>
            <a:off x="780898" y="740663"/>
            <a:ext cx="5054803" cy="257861"/>
          </a:xfrm>
          <a:prstGeom prst="rect">
            <a:avLst/>
          </a:prstGeom>
          <a:noFill/>
          <a:ln/>
        </p:spPr>
        <p:txBody>
          <a:bodyPr wrap="none" lIns="0" tIns="0" rIns="0" bIns="0" rtlCol="0" anchor="ctr"/>
          <a:lstStyle/>
          <a:p>
            <a:pPr marL="0" indent="0" algn="l">
              <a:buNone/>
            </a:pPr>
            <a:r>
              <a:rPr lang="en-GB" sz="1500" b="1" kern="0" spc="66" dirty="0">
                <a:solidFill>
                  <a:srgbClr val="2A9D8F"/>
                </a:solidFill>
                <a:latin typeface="Roboto Condensed" pitchFamily="34" charset="0"/>
                <a:ea typeface="Roboto Condensed" pitchFamily="34" charset="-122"/>
                <a:cs typeface="Roboto Condensed" pitchFamily="34" charset="-120"/>
              </a:rPr>
              <a:t>Comprehensive Capabilities Driving Digital Transformation</a:t>
            </a:r>
          </a:p>
        </p:txBody>
      </p:sp>
    </p:spTree>
    <p:extLst>
      <p:ext uri="{BB962C8B-B14F-4D97-AF65-F5344CB8AC3E}">
        <p14:creationId xmlns:p14="http://schemas.microsoft.com/office/powerpoint/2010/main" val="50476753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gen-dedup-9d9df24ea47cddb7d0fdf53525bde3b5.png"/>
          <p:cNvPicPr>
            <a:picLocks noChangeAspect="1"/>
          </p:cNvPicPr>
          <p:nvPr/>
        </p:nvPicPr>
        <p:blipFill>
          <a:blip r:embed="rId3"/>
          <a:srcRect t="-2" b="-2"/>
          <a:stretch/>
        </p:blipFill>
        <p:spPr>
          <a:xfrm>
            <a:off x="0" y="0"/>
            <a:ext cx="8124444" cy="114300"/>
          </a:xfrm>
          <a:prstGeom prst="rect">
            <a:avLst/>
          </a:prstGeom>
        </p:spPr>
      </p:pic>
      <p:pic>
        <p:nvPicPr>
          <p:cNvPr id="3" name="Image 1" descr="gen-dedup-aca74248d2fbe032a73ba742e976ed37.png"/>
          <p:cNvPicPr>
            <a:picLocks noChangeAspect="1"/>
          </p:cNvPicPr>
          <p:nvPr/>
        </p:nvPicPr>
        <p:blipFill>
          <a:blip r:embed="rId4"/>
          <a:srcRect l="-1" r="-1"/>
          <a:stretch/>
        </p:blipFill>
        <p:spPr>
          <a:xfrm>
            <a:off x="8124444" y="0"/>
            <a:ext cx="4067251" cy="114300"/>
          </a:xfrm>
          <a:prstGeom prst="rect">
            <a:avLst/>
          </a:prstGeom>
        </p:spPr>
      </p:pic>
      <p:sp>
        <p:nvSpPr>
          <p:cNvPr id="4" name="Shape 0"/>
          <p:cNvSpPr/>
          <p:nvPr/>
        </p:nvSpPr>
        <p:spPr>
          <a:xfrm>
            <a:off x="8858707" y="-1429207"/>
            <a:ext cx="4762195" cy="4762195"/>
          </a:xfrm>
          <a:prstGeom prst="ellipse">
            <a:avLst/>
          </a:prstGeom>
          <a:solidFill>
            <a:srgbClr val="2A9D8F">
              <a:alpha val="4000"/>
            </a:srgbClr>
          </a:solidFill>
          <a:ln w="12700">
            <a:solidFill>
              <a:srgbClr val="FFFFFF">
                <a:alpha val="0"/>
              </a:srgbClr>
            </a:solidFill>
            <a:prstDash val="solid"/>
          </a:ln>
        </p:spPr>
        <p:txBody>
          <a:bodyPr/>
          <a:lstStyle/>
          <a:p>
            <a:endParaRPr lang="en-US"/>
          </a:p>
        </p:txBody>
      </p:sp>
      <p:sp>
        <p:nvSpPr>
          <p:cNvPr id="5" name="Shape 1"/>
          <p:cNvSpPr/>
          <p:nvPr/>
        </p:nvSpPr>
        <p:spPr>
          <a:xfrm>
            <a:off x="-952805" y="3047695"/>
            <a:ext cx="5715000" cy="5715000"/>
          </a:xfrm>
          <a:prstGeom prst="ellipse">
            <a:avLst/>
          </a:prstGeom>
          <a:solidFill>
            <a:srgbClr val="D62839">
              <a:alpha val="3000"/>
            </a:srgbClr>
          </a:solidFill>
          <a:ln w="12700">
            <a:solidFill>
              <a:srgbClr val="FFFFFF">
                <a:alpha val="0"/>
              </a:srgbClr>
            </a:solidFill>
            <a:prstDash val="solid"/>
          </a:ln>
        </p:spPr>
        <p:txBody>
          <a:bodyPr/>
          <a:lstStyle/>
          <a:p>
            <a:endParaRPr lang="en-US"/>
          </a:p>
        </p:txBody>
      </p:sp>
      <p:pic>
        <p:nvPicPr>
          <p:cNvPr id="6" name="Image 2" descr="gen-dedup-dbb8812bbf9685dd99bfa1af8113e7f1.png"/>
          <p:cNvPicPr>
            <a:picLocks noChangeAspect="1"/>
          </p:cNvPicPr>
          <p:nvPr/>
        </p:nvPicPr>
        <p:blipFill>
          <a:blip r:embed="rId5"/>
          <a:srcRect l="-400" r="-400"/>
          <a:stretch/>
        </p:blipFill>
        <p:spPr>
          <a:xfrm>
            <a:off x="3262782" y="2049323"/>
            <a:ext cx="38405" cy="571500"/>
          </a:xfrm>
          <a:prstGeom prst="rect">
            <a:avLst/>
          </a:prstGeom>
        </p:spPr>
      </p:pic>
      <p:sp>
        <p:nvSpPr>
          <p:cNvPr id="7" name="Text 2"/>
          <p:cNvSpPr txBox="1"/>
          <p:nvPr/>
        </p:nvSpPr>
        <p:spPr>
          <a:xfrm>
            <a:off x="1333195" y="2011375"/>
            <a:ext cx="9525305" cy="800100"/>
          </a:xfrm>
          <a:prstGeom prst="rect">
            <a:avLst/>
          </a:prstGeom>
          <a:noFill/>
          <a:ln/>
        </p:spPr>
        <p:txBody>
          <a:bodyPr wrap="none" lIns="0" tIns="0" rIns="0" bIns="0" rtlCol="0" anchor="ctr"/>
          <a:lstStyle/>
          <a:p>
            <a:pPr marL="0" indent="0" algn="ctr">
              <a:buNone/>
            </a:pPr>
            <a:r>
              <a:rPr lang="en-US" sz="6300" b="1" kern="0" spc="315">
                <a:solidFill>
                  <a:srgbClr val="111827"/>
                </a:solidFill>
                <a:latin typeface="Oswald" pitchFamily="34" charset="0"/>
                <a:ea typeface="Oswald" pitchFamily="34" charset="-122"/>
                <a:cs typeface="Oswald" pitchFamily="34" charset="-120"/>
              </a:rPr>
              <a:t>CASE STUDIES</a:t>
            </a:r>
            <a:endParaRPr lang="en-US" sz="6300"/>
          </a:p>
        </p:txBody>
      </p:sp>
      <p:sp>
        <p:nvSpPr>
          <p:cNvPr id="8" name="Text 3"/>
          <p:cNvSpPr txBox="1"/>
          <p:nvPr/>
        </p:nvSpPr>
        <p:spPr>
          <a:xfrm>
            <a:off x="1333195" y="3002585"/>
            <a:ext cx="9525305" cy="286207"/>
          </a:xfrm>
          <a:prstGeom prst="rect">
            <a:avLst/>
          </a:prstGeom>
          <a:noFill/>
          <a:ln/>
        </p:spPr>
        <p:txBody>
          <a:bodyPr wrap="none" lIns="0" tIns="0" rIns="0" bIns="0" rtlCol="0" anchor="ctr"/>
          <a:lstStyle/>
          <a:p>
            <a:pPr marL="0" indent="0" algn="ctr">
              <a:buNone/>
            </a:pPr>
            <a:r>
              <a:rPr lang="en-US" sz="1900" b="1" kern="0" spc="156">
                <a:solidFill>
                  <a:srgbClr val="2A9D8F"/>
                </a:solidFill>
                <a:latin typeface="Roboto Condensed" pitchFamily="34" charset="0"/>
                <a:ea typeface="Roboto Condensed" pitchFamily="34" charset="-122"/>
                <a:cs typeface="Roboto Condensed" pitchFamily="34" charset="-120"/>
              </a:rPr>
              <a:t>Real problems. Real clients. Measurable outcomes.</a:t>
            </a:r>
            <a:endParaRPr lang="en-US" sz="1900"/>
          </a:p>
        </p:txBody>
      </p:sp>
      <p:pic>
        <p:nvPicPr>
          <p:cNvPr id="9" name="Image 3" descr="gen-dedup-de680169e7c3927b717e44a8a690f2a5.png"/>
          <p:cNvPicPr>
            <a:picLocks noChangeAspect="1"/>
          </p:cNvPicPr>
          <p:nvPr/>
        </p:nvPicPr>
        <p:blipFill>
          <a:blip r:embed="rId6"/>
          <a:srcRect t="-400" b="-400"/>
          <a:stretch/>
        </p:blipFill>
        <p:spPr>
          <a:xfrm>
            <a:off x="5810098" y="3574085"/>
            <a:ext cx="571500" cy="19202"/>
          </a:xfrm>
          <a:prstGeom prst="rect">
            <a:avLst/>
          </a:prstGeom>
        </p:spPr>
      </p:pic>
      <p:sp>
        <p:nvSpPr>
          <p:cNvPr id="10" name="Text 4"/>
          <p:cNvSpPr txBox="1"/>
          <p:nvPr/>
        </p:nvSpPr>
        <p:spPr>
          <a:xfrm>
            <a:off x="1333195" y="3878580"/>
            <a:ext cx="9525305" cy="228600"/>
          </a:xfrm>
          <a:prstGeom prst="rect">
            <a:avLst/>
          </a:prstGeom>
          <a:noFill/>
          <a:ln/>
        </p:spPr>
        <p:txBody>
          <a:bodyPr wrap="none" lIns="0" tIns="0" rIns="0" bIns="0" rtlCol="0" anchor="ctr"/>
          <a:lstStyle/>
          <a:p>
            <a:pPr marL="0" indent="0" algn="ctr">
              <a:buNone/>
            </a:pPr>
            <a:r>
              <a:rPr lang="en-US" sz="1500" i="1">
                <a:solidFill>
                  <a:srgbClr val="475569"/>
                </a:solidFill>
                <a:latin typeface="Raleway" pitchFamily="34" charset="0"/>
                <a:ea typeface="Raleway" pitchFamily="34" charset="-122"/>
                <a:cs typeface="Raleway" pitchFamily="34" charset="-120"/>
              </a:rPr>
              <a:t>"Every engagement below moved a metric that mattered — not just a milestone."</a:t>
            </a:r>
            <a:endParaRPr lang="en-US" sz="1500"/>
          </a:p>
        </p:txBody>
      </p:sp>
      <p:sp>
        <p:nvSpPr>
          <p:cNvPr id="11" name="Shape 5"/>
          <p:cNvSpPr/>
          <p:nvPr/>
        </p:nvSpPr>
        <p:spPr>
          <a:xfrm>
            <a:off x="609905" y="6096305"/>
            <a:ext cx="10972800" cy="9144"/>
          </a:xfrm>
          <a:prstGeom prst="rect">
            <a:avLst/>
          </a:prstGeom>
          <a:solidFill>
            <a:srgbClr val="E2E8F0"/>
          </a:solidFill>
          <a:ln w="12700">
            <a:solidFill>
              <a:srgbClr val="E2E8F0">
                <a:alpha val="0"/>
              </a:srgbClr>
            </a:solidFill>
            <a:prstDash val="solid"/>
          </a:ln>
        </p:spPr>
        <p:txBody>
          <a:bodyPr/>
          <a:lstStyle/>
          <a:p>
            <a:endParaRPr lang="en-US"/>
          </a:p>
        </p:txBody>
      </p:sp>
      <p:sp>
        <p:nvSpPr>
          <p:cNvPr id="12" name="Text 6"/>
          <p:cNvSpPr txBox="1"/>
          <p:nvPr/>
        </p:nvSpPr>
        <p:spPr>
          <a:xfrm>
            <a:off x="609905" y="6295644"/>
            <a:ext cx="1292962" cy="228600"/>
          </a:xfrm>
          <a:prstGeom prst="rect">
            <a:avLst/>
          </a:prstGeom>
          <a:noFill/>
          <a:ln/>
        </p:spPr>
        <p:txBody>
          <a:bodyPr wrap="none" lIns="0" tIns="0" rIns="0" bIns="0" rtlCol="0" anchor="ctr"/>
          <a:lstStyle/>
          <a:p>
            <a:pPr marL="0" indent="0" algn="l">
              <a:buNone/>
            </a:pPr>
            <a:r>
              <a:rPr lang="en-US" sz="1200" b="1" kern="0" spc="60">
                <a:solidFill>
                  <a:srgbClr val="111827"/>
                </a:solidFill>
                <a:latin typeface="Oswald" pitchFamily="34" charset="0"/>
                <a:ea typeface="Oswald" pitchFamily="34" charset="-122"/>
                <a:cs typeface="Oswald" pitchFamily="34" charset="-120"/>
              </a:rPr>
              <a:t>JOULESTOWATTS</a:t>
            </a:r>
            <a:endParaRPr lang="en-US" sz="1200"/>
          </a:p>
        </p:txBody>
      </p:sp>
      <p:sp>
        <p:nvSpPr>
          <p:cNvPr id="13" name="Text 7"/>
          <p:cNvSpPr txBox="1"/>
          <p:nvPr/>
        </p:nvSpPr>
        <p:spPr>
          <a:xfrm>
            <a:off x="9755734" y="6334049"/>
            <a:ext cx="1975104" cy="152705"/>
          </a:xfrm>
          <a:prstGeom prst="rect">
            <a:avLst/>
          </a:prstGeom>
          <a:noFill/>
          <a:ln/>
        </p:spPr>
        <p:txBody>
          <a:bodyPr wrap="none" lIns="0" tIns="0" rIns="0" bIns="0" rtlCol="0" anchor="ctr"/>
          <a:lstStyle/>
          <a:p>
            <a:pPr marL="0" indent="0" algn="l">
              <a:buNone/>
            </a:pPr>
            <a:r>
              <a:rPr lang="en-US" sz="1000" b="1">
                <a:solidFill>
                  <a:srgbClr val="64748B"/>
                </a:solidFill>
                <a:latin typeface="Raleway" pitchFamily="34" charset="0"/>
                <a:ea typeface="Raleway" pitchFamily="34" charset="-122"/>
                <a:cs typeface="Raleway" pitchFamily="34" charset="-120"/>
              </a:rPr>
              <a:t>PORTFOLIO OF EXCELLENCE</a:t>
            </a:r>
            <a:endParaRPr lang="en-US" sz="10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pic>
        <p:nvPicPr>
          <p:cNvPr id="4" name="Image 0" descr="gen-dedup-9663ecf744b06e35d4c2cebaab92a2ea.png"/>
          <p:cNvPicPr>
            <a:picLocks noChangeAspect="1"/>
          </p:cNvPicPr>
          <p:nvPr/>
        </p:nvPicPr>
        <p:blipFill>
          <a:blip r:embed="rId3"/>
          <a:srcRect l="-202" r="-202"/>
          <a:stretch/>
        </p:blipFill>
        <p:spPr>
          <a:xfrm>
            <a:off x="0" y="0"/>
            <a:ext cx="4067251" cy="75895"/>
          </a:xfrm>
          <a:prstGeom prst="rect">
            <a:avLst/>
          </a:prstGeom>
        </p:spPr>
      </p:pic>
      <p:pic>
        <p:nvPicPr>
          <p:cNvPr id="5" name="Image 1" descr="gen-dedup-323228122ff92d2332e711a84ca3b40c.png"/>
          <p:cNvPicPr>
            <a:picLocks noChangeAspect="1"/>
          </p:cNvPicPr>
          <p:nvPr/>
        </p:nvPicPr>
        <p:blipFill>
          <a:blip r:embed="rId4"/>
          <a:srcRect l="-198" r="-198"/>
          <a:stretch/>
        </p:blipFill>
        <p:spPr>
          <a:xfrm>
            <a:off x="4067251" y="0"/>
            <a:ext cx="8124444" cy="75895"/>
          </a:xfrm>
          <a:prstGeom prst="rect">
            <a:avLst/>
          </a:prstGeom>
        </p:spPr>
      </p:pic>
      <p:sp>
        <p:nvSpPr>
          <p:cNvPr id="6" name="Shape 2"/>
          <p:cNvSpPr/>
          <p:nvPr/>
        </p:nvSpPr>
        <p:spPr>
          <a:xfrm>
            <a:off x="9334195" y="-476402"/>
            <a:ext cx="3810305" cy="3810305"/>
          </a:xfrm>
          <a:prstGeom prst="ellipse">
            <a:avLst/>
          </a:prstGeom>
          <a:solidFill>
            <a:srgbClr val="2A9D8F">
              <a:alpha val="2000"/>
            </a:srgbClr>
          </a:solidFill>
          <a:ln w="12700">
            <a:solidFill>
              <a:srgbClr val="FFFFFF">
                <a:alpha val="0"/>
              </a:srgbClr>
            </a:solidFill>
            <a:prstDash val="solid"/>
          </a:ln>
        </p:spPr>
        <p:txBody>
          <a:bodyPr/>
          <a:lstStyle/>
          <a:p>
            <a:endParaRPr lang="en-US"/>
          </a:p>
        </p:txBody>
      </p:sp>
      <p:sp>
        <p:nvSpPr>
          <p:cNvPr id="7" name="Shape 3"/>
          <p:cNvSpPr/>
          <p:nvPr/>
        </p:nvSpPr>
        <p:spPr>
          <a:xfrm>
            <a:off x="-1429207" y="3047695"/>
            <a:ext cx="3333902" cy="3333902"/>
          </a:xfrm>
          <a:prstGeom prst="ellipse">
            <a:avLst/>
          </a:prstGeom>
          <a:solidFill>
            <a:srgbClr val="D62839">
              <a:alpha val="2000"/>
            </a:srgbClr>
          </a:solidFill>
          <a:ln w="12700">
            <a:solidFill>
              <a:srgbClr val="FFFFFF">
                <a:alpha val="0"/>
              </a:srgbClr>
            </a:solidFill>
            <a:prstDash val="solid"/>
          </a:ln>
        </p:spPr>
        <p:txBody>
          <a:bodyPr/>
          <a:lstStyle/>
          <a:p>
            <a:endParaRPr lang="en-US"/>
          </a:p>
        </p:txBody>
      </p:sp>
      <p:sp>
        <p:nvSpPr>
          <p:cNvPr id="8" name="Shape 4"/>
          <p:cNvSpPr/>
          <p:nvPr/>
        </p:nvSpPr>
        <p:spPr>
          <a:xfrm>
            <a:off x="647395" y="4619549"/>
            <a:ext cx="10916107" cy="1781251"/>
          </a:xfrm>
          <a:prstGeom prst="roundRect">
            <a:avLst>
              <a:gd name="adj" fmla="val 4392"/>
            </a:avLst>
          </a:prstGeom>
          <a:solidFill>
            <a:srgbClr val="F8FAFC"/>
          </a:solidFill>
          <a:ln w="12700">
            <a:solidFill>
              <a:srgbClr val="E2E8F0"/>
            </a:solidFill>
            <a:prstDash val="solid"/>
          </a:ln>
        </p:spPr>
        <p:txBody>
          <a:bodyPr/>
          <a:lstStyle/>
          <a:p>
            <a:endParaRPr lang="en-US"/>
          </a:p>
        </p:txBody>
      </p:sp>
      <p:sp>
        <p:nvSpPr>
          <p:cNvPr id="9" name="Shape 5"/>
          <p:cNvSpPr/>
          <p:nvPr/>
        </p:nvSpPr>
        <p:spPr>
          <a:xfrm>
            <a:off x="647395" y="1571854"/>
            <a:ext cx="3524098" cy="2809951"/>
          </a:xfrm>
          <a:prstGeom prst="roundRect">
            <a:avLst>
              <a:gd name="adj" fmla="val 1324"/>
            </a:avLst>
          </a:prstGeom>
          <a:solidFill>
            <a:srgbClr val="FFFFFF"/>
          </a:solidFill>
          <a:ln w="12700">
            <a:solidFill>
              <a:srgbClr val="E2E8F0"/>
            </a:solidFill>
            <a:prstDash val="solid"/>
          </a:ln>
          <a:effectLst>
            <a:outerShdw blurRad="139700" dist="38100" dir="16200000" algn="bl" rotWithShape="0">
              <a:srgbClr val="000000">
                <a:alpha val="3000"/>
              </a:srgbClr>
            </a:outerShdw>
          </a:effectLst>
        </p:spPr>
        <p:txBody>
          <a:bodyPr/>
          <a:lstStyle/>
          <a:p>
            <a:endParaRPr lang="en-US"/>
          </a:p>
        </p:txBody>
      </p:sp>
      <p:sp>
        <p:nvSpPr>
          <p:cNvPr id="10" name="Shape 6"/>
          <p:cNvSpPr/>
          <p:nvPr/>
        </p:nvSpPr>
        <p:spPr>
          <a:xfrm>
            <a:off x="647395" y="1571854"/>
            <a:ext cx="3524098" cy="38405"/>
          </a:xfrm>
          <a:prstGeom prst="roundRect">
            <a:avLst>
              <a:gd name="adj" fmla="val 96852"/>
            </a:avLst>
          </a:prstGeom>
          <a:solidFill>
            <a:srgbClr val="2A9D8F"/>
          </a:solidFill>
          <a:ln w="12700">
            <a:solidFill>
              <a:srgbClr val="2A9D8F">
                <a:alpha val="0"/>
              </a:srgbClr>
            </a:solidFill>
            <a:prstDash val="solid"/>
          </a:ln>
        </p:spPr>
        <p:txBody>
          <a:bodyPr/>
          <a:lstStyle/>
          <a:p>
            <a:endParaRPr lang="en-US"/>
          </a:p>
        </p:txBody>
      </p:sp>
      <p:sp>
        <p:nvSpPr>
          <p:cNvPr id="11" name="Shape 7"/>
          <p:cNvSpPr/>
          <p:nvPr/>
        </p:nvSpPr>
        <p:spPr>
          <a:xfrm>
            <a:off x="4343400" y="1571854"/>
            <a:ext cx="3524098" cy="2809951"/>
          </a:xfrm>
          <a:prstGeom prst="roundRect">
            <a:avLst>
              <a:gd name="adj" fmla="val 1324"/>
            </a:avLst>
          </a:prstGeom>
          <a:solidFill>
            <a:srgbClr val="FFFFFF"/>
          </a:solidFill>
          <a:ln w="12700">
            <a:solidFill>
              <a:srgbClr val="E2E8F0"/>
            </a:solidFill>
            <a:prstDash val="solid"/>
          </a:ln>
          <a:effectLst>
            <a:outerShdw blurRad="139700" dist="38100" dir="16200000" algn="bl" rotWithShape="0">
              <a:srgbClr val="000000">
                <a:alpha val="3000"/>
              </a:srgbClr>
            </a:outerShdw>
          </a:effectLst>
        </p:spPr>
        <p:txBody>
          <a:bodyPr/>
          <a:lstStyle/>
          <a:p>
            <a:endParaRPr lang="en-US"/>
          </a:p>
        </p:txBody>
      </p:sp>
      <p:sp>
        <p:nvSpPr>
          <p:cNvPr id="12" name="Shape 8"/>
          <p:cNvSpPr/>
          <p:nvPr/>
        </p:nvSpPr>
        <p:spPr>
          <a:xfrm>
            <a:off x="4343400" y="1571854"/>
            <a:ext cx="3524098" cy="38405"/>
          </a:xfrm>
          <a:prstGeom prst="roundRect">
            <a:avLst>
              <a:gd name="adj" fmla="val 96852"/>
            </a:avLst>
          </a:prstGeom>
          <a:solidFill>
            <a:srgbClr val="D62839"/>
          </a:solidFill>
          <a:ln w="12700">
            <a:solidFill>
              <a:srgbClr val="D62839">
                <a:alpha val="0"/>
              </a:srgbClr>
            </a:solidFill>
            <a:prstDash val="solid"/>
          </a:ln>
        </p:spPr>
        <p:txBody>
          <a:bodyPr/>
          <a:lstStyle/>
          <a:p>
            <a:endParaRPr lang="en-US"/>
          </a:p>
        </p:txBody>
      </p:sp>
      <p:sp>
        <p:nvSpPr>
          <p:cNvPr id="13" name="Shape 9"/>
          <p:cNvSpPr/>
          <p:nvPr/>
        </p:nvSpPr>
        <p:spPr>
          <a:xfrm>
            <a:off x="8039405" y="1571854"/>
            <a:ext cx="3524098" cy="2809951"/>
          </a:xfrm>
          <a:prstGeom prst="roundRect">
            <a:avLst>
              <a:gd name="adj" fmla="val 1324"/>
            </a:avLst>
          </a:prstGeom>
          <a:solidFill>
            <a:srgbClr val="FFFFFF"/>
          </a:solidFill>
          <a:ln w="12700">
            <a:solidFill>
              <a:srgbClr val="E2E8F0"/>
            </a:solidFill>
            <a:prstDash val="solid"/>
          </a:ln>
          <a:effectLst>
            <a:outerShdw blurRad="139700" dist="38100" dir="16200000" algn="bl" rotWithShape="0">
              <a:srgbClr val="000000">
                <a:alpha val="3000"/>
              </a:srgbClr>
            </a:outerShdw>
          </a:effectLst>
        </p:spPr>
        <p:txBody>
          <a:bodyPr/>
          <a:lstStyle/>
          <a:p>
            <a:endParaRPr lang="en-US"/>
          </a:p>
        </p:txBody>
      </p:sp>
      <p:sp>
        <p:nvSpPr>
          <p:cNvPr id="14" name="Shape 10"/>
          <p:cNvSpPr/>
          <p:nvPr/>
        </p:nvSpPr>
        <p:spPr>
          <a:xfrm>
            <a:off x="8039405" y="1571854"/>
            <a:ext cx="3524098" cy="38405"/>
          </a:xfrm>
          <a:prstGeom prst="roundRect">
            <a:avLst>
              <a:gd name="adj" fmla="val 96852"/>
            </a:avLst>
          </a:prstGeom>
          <a:solidFill>
            <a:srgbClr val="111827"/>
          </a:solidFill>
          <a:ln w="12700">
            <a:solidFill>
              <a:srgbClr val="111827">
                <a:alpha val="0"/>
              </a:srgbClr>
            </a:solidFill>
            <a:prstDash val="solid"/>
          </a:ln>
        </p:spPr>
        <p:txBody>
          <a:bodyPr/>
          <a:lstStyle/>
          <a:p>
            <a:endParaRPr lang="en-US"/>
          </a:p>
        </p:txBody>
      </p:sp>
      <p:sp>
        <p:nvSpPr>
          <p:cNvPr id="15" name="Shape 11"/>
          <p:cNvSpPr/>
          <p:nvPr/>
        </p:nvSpPr>
        <p:spPr>
          <a:xfrm>
            <a:off x="905256" y="5143500"/>
            <a:ext cx="2467051" cy="1114654"/>
          </a:xfrm>
          <a:prstGeom prst="roundRect">
            <a:avLst>
              <a:gd name="adj" fmla="val 5609"/>
            </a:avLst>
          </a:prstGeom>
          <a:solidFill>
            <a:srgbClr val="FFFFFF"/>
          </a:solidFill>
          <a:ln w="12700">
            <a:solidFill>
              <a:srgbClr val="E2E8F0"/>
            </a:solidFill>
            <a:prstDash val="solid"/>
          </a:ln>
          <a:effectLst>
            <a:outerShdw blurRad="76200" dist="25400" dir="16200000" algn="bl" rotWithShape="0">
              <a:srgbClr val="000000">
                <a:alpha val="2000"/>
              </a:srgbClr>
            </a:outerShdw>
          </a:effectLst>
        </p:spPr>
        <p:txBody>
          <a:bodyPr/>
          <a:lstStyle/>
          <a:p>
            <a:endParaRPr lang="en-US"/>
          </a:p>
        </p:txBody>
      </p:sp>
      <p:sp>
        <p:nvSpPr>
          <p:cNvPr id="16" name="Shape 12"/>
          <p:cNvSpPr/>
          <p:nvPr/>
        </p:nvSpPr>
        <p:spPr>
          <a:xfrm>
            <a:off x="3666744" y="5143500"/>
            <a:ext cx="2467051" cy="1114654"/>
          </a:xfrm>
          <a:prstGeom prst="roundRect">
            <a:avLst>
              <a:gd name="adj" fmla="val 5609"/>
            </a:avLst>
          </a:prstGeom>
          <a:solidFill>
            <a:srgbClr val="FFFFFF"/>
          </a:solidFill>
          <a:ln w="12700">
            <a:solidFill>
              <a:srgbClr val="E2E8F0"/>
            </a:solidFill>
            <a:prstDash val="solid"/>
          </a:ln>
          <a:effectLst>
            <a:outerShdw blurRad="76200" dist="25400" dir="16200000" algn="bl" rotWithShape="0">
              <a:srgbClr val="000000">
                <a:alpha val="2000"/>
              </a:srgbClr>
            </a:outerShdw>
          </a:effectLst>
        </p:spPr>
        <p:txBody>
          <a:bodyPr/>
          <a:lstStyle/>
          <a:p>
            <a:endParaRPr lang="en-US"/>
          </a:p>
        </p:txBody>
      </p:sp>
      <p:sp>
        <p:nvSpPr>
          <p:cNvPr id="17" name="Shape 13"/>
          <p:cNvSpPr/>
          <p:nvPr/>
        </p:nvSpPr>
        <p:spPr>
          <a:xfrm>
            <a:off x="6429146" y="5143500"/>
            <a:ext cx="2467051" cy="1114654"/>
          </a:xfrm>
          <a:prstGeom prst="roundRect">
            <a:avLst>
              <a:gd name="adj" fmla="val 5609"/>
            </a:avLst>
          </a:prstGeom>
          <a:solidFill>
            <a:srgbClr val="FFFFFF"/>
          </a:solidFill>
          <a:ln w="12700">
            <a:solidFill>
              <a:srgbClr val="E2E8F0"/>
            </a:solidFill>
            <a:prstDash val="solid"/>
          </a:ln>
          <a:effectLst>
            <a:outerShdw blurRad="76200" dist="25400" dir="16200000" algn="bl" rotWithShape="0">
              <a:srgbClr val="000000">
                <a:alpha val="2000"/>
              </a:srgbClr>
            </a:outerShdw>
          </a:effectLst>
        </p:spPr>
        <p:txBody>
          <a:bodyPr/>
          <a:lstStyle/>
          <a:p>
            <a:endParaRPr lang="en-US"/>
          </a:p>
        </p:txBody>
      </p:sp>
      <p:sp>
        <p:nvSpPr>
          <p:cNvPr id="18" name="Shape 14"/>
          <p:cNvSpPr/>
          <p:nvPr/>
        </p:nvSpPr>
        <p:spPr>
          <a:xfrm>
            <a:off x="9191549" y="5143500"/>
            <a:ext cx="2180844" cy="1114654"/>
          </a:xfrm>
          <a:prstGeom prst="roundRect">
            <a:avLst>
              <a:gd name="adj" fmla="val 5609"/>
            </a:avLst>
          </a:prstGeom>
          <a:solidFill>
            <a:srgbClr val="FFFFFF"/>
          </a:solidFill>
          <a:ln w="12700">
            <a:solidFill>
              <a:srgbClr val="E2E8F0"/>
            </a:solidFill>
            <a:prstDash val="solid"/>
          </a:ln>
          <a:effectLst>
            <a:outerShdw blurRad="76200" dist="25400" dir="16200000" algn="bl" rotWithShape="0">
              <a:srgbClr val="000000">
                <a:alpha val="2000"/>
              </a:srgbClr>
            </a:outerShdw>
          </a:effectLst>
        </p:spPr>
        <p:txBody>
          <a:bodyPr/>
          <a:lstStyle/>
          <a:p>
            <a:endParaRPr lang="en-US"/>
          </a:p>
        </p:txBody>
      </p:sp>
      <p:sp>
        <p:nvSpPr>
          <p:cNvPr id="22" name="Shape 17"/>
          <p:cNvSpPr/>
          <p:nvPr/>
        </p:nvSpPr>
        <p:spPr>
          <a:xfrm>
            <a:off x="838505" y="1762049"/>
            <a:ext cx="457200" cy="457200"/>
          </a:xfrm>
          <a:prstGeom prst="roundRect">
            <a:avLst>
              <a:gd name="adj" fmla="val 66667"/>
            </a:avLst>
          </a:prstGeom>
          <a:solidFill>
            <a:srgbClr val="E6F3F1"/>
          </a:solidFill>
          <a:ln w="12700">
            <a:solidFill>
              <a:srgbClr val="FFFFFF">
                <a:alpha val="0"/>
              </a:srgbClr>
            </a:solidFill>
            <a:prstDash val="solid"/>
          </a:ln>
        </p:spPr>
        <p:txBody>
          <a:bodyPr/>
          <a:lstStyle/>
          <a:p>
            <a:endParaRPr lang="en-US"/>
          </a:p>
        </p:txBody>
      </p:sp>
      <p:pic>
        <p:nvPicPr>
          <p:cNvPr id="23" name="Image 3" descr="gen-dedup-fa5d0b435e79f3035aaec6593bf7cfb3.png"/>
          <p:cNvPicPr>
            <a:picLocks noChangeAspect="1"/>
          </p:cNvPicPr>
          <p:nvPr/>
        </p:nvPicPr>
        <p:blipFill>
          <a:blip r:embed="rId5"/>
          <a:srcRect l="-3526" r="-3526"/>
          <a:stretch/>
        </p:blipFill>
        <p:spPr>
          <a:xfrm>
            <a:off x="990295" y="1895551"/>
            <a:ext cx="152705" cy="190195"/>
          </a:xfrm>
          <a:prstGeom prst="rect">
            <a:avLst/>
          </a:prstGeom>
        </p:spPr>
      </p:pic>
      <p:sp>
        <p:nvSpPr>
          <p:cNvPr id="24" name="Text 18"/>
          <p:cNvSpPr txBox="1"/>
          <p:nvPr/>
        </p:nvSpPr>
        <p:spPr>
          <a:xfrm>
            <a:off x="1447495" y="1794967"/>
            <a:ext cx="1995221" cy="238658"/>
          </a:xfrm>
          <a:prstGeom prst="rect">
            <a:avLst/>
          </a:prstGeom>
          <a:noFill/>
          <a:ln/>
        </p:spPr>
        <p:txBody>
          <a:bodyPr wrap="square" lIns="0" tIns="0" rIns="0" bIns="0" rtlCol="0" anchor="ctr"/>
          <a:lstStyle/>
          <a:p>
            <a:pPr marL="0" indent="0" algn="l">
              <a:buNone/>
            </a:pPr>
            <a:r>
              <a:rPr lang="en-US" sz="1600" b="1">
                <a:solidFill>
                  <a:srgbClr val="111827"/>
                </a:solidFill>
                <a:latin typeface="Oswald" pitchFamily="34" charset="0"/>
                <a:ea typeface="Oswald" pitchFamily="34" charset="-122"/>
                <a:cs typeface="Oswald" pitchFamily="34" charset="-120"/>
              </a:rPr>
              <a:t>Discovery Workshop</a:t>
            </a:r>
            <a:endParaRPr lang="en-US" sz="1600"/>
          </a:p>
        </p:txBody>
      </p:sp>
      <p:sp>
        <p:nvSpPr>
          <p:cNvPr id="25" name="Text 19"/>
          <p:cNvSpPr txBox="1"/>
          <p:nvPr/>
        </p:nvSpPr>
        <p:spPr>
          <a:xfrm>
            <a:off x="1447495" y="2043684"/>
            <a:ext cx="1677010" cy="143561"/>
          </a:xfrm>
          <a:prstGeom prst="rect">
            <a:avLst/>
          </a:prstGeom>
          <a:noFill/>
          <a:ln/>
        </p:spPr>
        <p:txBody>
          <a:bodyPr wrap="square" lIns="0" tIns="0" rIns="0" bIns="0" rtlCol="0" anchor="ctr"/>
          <a:lstStyle/>
          <a:p>
            <a:pPr marL="0" indent="0" algn="l">
              <a:buNone/>
            </a:pPr>
            <a:r>
              <a:rPr lang="en-US" sz="900">
                <a:solidFill>
                  <a:srgbClr val="64748B"/>
                </a:solidFill>
                <a:latin typeface="Raleway" pitchFamily="34" charset="0"/>
                <a:ea typeface="Raleway" pitchFamily="34" charset="-122"/>
                <a:cs typeface="Raleway" pitchFamily="34" charset="-120"/>
              </a:rPr>
              <a:t>Duration: ~90 Minutes</a:t>
            </a:r>
            <a:endParaRPr lang="en-US" sz="900"/>
          </a:p>
        </p:txBody>
      </p:sp>
      <p:sp>
        <p:nvSpPr>
          <p:cNvPr id="26" name="Shape 20"/>
          <p:cNvSpPr/>
          <p:nvPr/>
        </p:nvSpPr>
        <p:spPr>
          <a:xfrm>
            <a:off x="3259836" y="1762049"/>
            <a:ext cx="705002" cy="256946"/>
          </a:xfrm>
          <a:prstGeom prst="roundRect">
            <a:avLst>
              <a:gd name="adj" fmla="val 316331"/>
            </a:avLst>
          </a:prstGeom>
          <a:solidFill>
            <a:srgbClr val="E6F3F1"/>
          </a:solidFill>
          <a:ln w="12700">
            <a:solidFill>
              <a:srgbClr val="FFFFFF">
                <a:alpha val="0"/>
              </a:srgbClr>
            </a:solidFill>
            <a:prstDash val="solid"/>
          </a:ln>
        </p:spPr>
        <p:txBody>
          <a:bodyPr/>
          <a:lstStyle/>
          <a:p>
            <a:endParaRPr lang="en-US"/>
          </a:p>
        </p:txBody>
      </p:sp>
      <p:sp>
        <p:nvSpPr>
          <p:cNvPr id="27" name="Text 21"/>
          <p:cNvSpPr txBox="1"/>
          <p:nvPr/>
        </p:nvSpPr>
        <p:spPr>
          <a:xfrm>
            <a:off x="838505" y="2447849"/>
            <a:ext cx="3124505" cy="133502"/>
          </a:xfrm>
          <a:prstGeom prst="rect">
            <a:avLst/>
          </a:prstGeom>
          <a:noFill/>
          <a:ln/>
        </p:spPr>
        <p:txBody>
          <a:bodyPr wrap="square" lIns="0" tIns="0" rIns="0" bIns="0" rtlCol="0" anchor="ctr"/>
          <a:lstStyle/>
          <a:p>
            <a:pPr marL="0" indent="0" algn="l">
              <a:buNone/>
            </a:pPr>
            <a:r>
              <a:rPr lang="en-US" sz="900" b="1" kern="0" spc="45">
                <a:solidFill>
                  <a:srgbClr val="94A3B8"/>
                </a:solidFill>
                <a:latin typeface="Roboto Condensed" pitchFamily="34" charset="0"/>
                <a:ea typeface="Roboto Condensed" pitchFamily="34" charset="-122"/>
                <a:cs typeface="Roboto Condensed" pitchFamily="34" charset="-120"/>
              </a:rPr>
              <a:t>KEY DELIVERABLES</a:t>
            </a:r>
            <a:endParaRPr lang="en-US" sz="900"/>
          </a:p>
        </p:txBody>
      </p:sp>
      <p:pic>
        <p:nvPicPr>
          <p:cNvPr id="28" name="Image 4" descr="gen-dedup-2910efa1624004b251a6644ba5a6ae47.png"/>
          <p:cNvPicPr>
            <a:picLocks noChangeAspect="1"/>
          </p:cNvPicPr>
          <p:nvPr/>
        </p:nvPicPr>
        <p:blipFill>
          <a:blip r:embed="rId6"/>
          <a:srcRect t="-27726" b="-27726"/>
          <a:stretch/>
        </p:blipFill>
        <p:spPr>
          <a:xfrm>
            <a:off x="838505" y="2734056"/>
            <a:ext cx="85954" cy="152705"/>
          </a:xfrm>
          <a:prstGeom prst="rect">
            <a:avLst/>
          </a:prstGeom>
        </p:spPr>
      </p:pic>
      <p:sp>
        <p:nvSpPr>
          <p:cNvPr id="29" name="Text 22"/>
          <p:cNvSpPr txBox="1"/>
          <p:nvPr/>
        </p:nvSpPr>
        <p:spPr>
          <a:xfrm>
            <a:off x="1019556" y="2695651"/>
            <a:ext cx="2732227" cy="191110"/>
          </a:xfrm>
          <a:prstGeom prst="rect">
            <a:avLst/>
          </a:prstGeom>
          <a:noFill/>
          <a:ln/>
        </p:spPr>
        <p:txBody>
          <a:bodyPr wrap="squar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Use case identification &amp; prioritization</a:t>
            </a:r>
            <a:endParaRPr lang="en-US" sz="1000"/>
          </a:p>
        </p:txBody>
      </p:sp>
      <p:pic>
        <p:nvPicPr>
          <p:cNvPr id="30" name="Image 5" descr="gen-dedup-2910efa1624004b251a6644ba5a6ae47.png"/>
          <p:cNvPicPr>
            <a:picLocks noChangeAspect="1"/>
          </p:cNvPicPr>
          <p:nvPr/>
        </p:nvPicPr>
        <p:blipFill>
          <a:blip r:embed="rId6"/>
          <a:srcRect t="-27726" b="-27726"/>
          <a:stretch/>
        </p:blipFill>
        <p:spPr>
          <a:xfrm>
            <a:off x="838505" y="3019349"/>
            <a:ext cx="85954" cy="152705"/>
          </a:xfrm>
          <a:prstGeom prst="rect">
            <a:avLst/>
          </a:prstGeom>
        </p:spPr>
      </p:pic>
      <p:sp>
        <p:nvSpPr>
          <p:cNvPr id="31" name="Text 23"/>
          <p:cNvSpPr txBox="1"/>
          <p:nvPr/>
        </p:nvSpPr>
        <p:spPr>
          <a:xfrm>
            <a:off x="1019556" y="2980944"/>
            <a:ext cx="1972361" cy="191110"/>
          </a:xfrm>
          <a:prstGeom prst="rect">
            <a:avLst/>
          </a:prstGeom>
          <a:noFill/>
          <a:ln/>
        </p:spPr>
        <p:txBody>
          <a:bodyPr wrap="squar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Value hypothesis definition</a:t>
            </a:r>
            <a:endParaRPr lang="en-US" sz="1000"/>
          </a:p>
        </p:txBody>
      </p:sp>
      <p:pic>
        <p:nvPicPr>
          <p:cNvPr id="32" name="Image 6" descr="gen-dedup-2910efa1624004b251a6644ba5a6ae47.png"/>
          <p:cNvPicPr>
            <a:picLocks noChangeAspect="1"/>
          </p:cNvPicPr>
          <p:nvPr/>
        </p:nvPicPr>
        <p:blipFill>
          <a:blip r:embed="rId6"/>
          <a:srcRect t="-27726" b="-27726"/>
          <a:stretch/>
        </p:blipFill>
        <p:spPr>
          <a:xfrm>
            <a:off x="838505" y="3305556"/>
            <a:ext cx="85954" cy="152705"/>
          </a:xfrm>
          <a:prstGeom prst="rect">
            <a:avLst/>
          </a:prstGeom>
        </p:spPr>
      </p:pic>
      <p:sp>
        <p:nvSpPr>
          <p:cNvPr id="33" name="Text 24"/>
          <p:cNvSpPr txBox="1"/>
          <p:nvPr/>
        </p:nvSpPr>
        <p:spPr>
          <a:xfrm>
            <a:off x="1019556" y="3267151"/>
            <a:ext cx="3377794" cy="191110"/>
          </a:xfrm>
          <a:prstGeom prst="rect">
            <a:avLst/>
          </a:prstGeom>
          <a:noFill/>
          <a:ln/>
        </p:spPr>
        <p:txBody>
          <a:bodyPr wrap="squar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High-level roadmap aligned to 70/30 strategy</a:t>
            </a:r>
            <a:endParaRPr lang="en-US" sz="1000"/>
          </a:p>
        </p:txBody>
      </p:sp>
      <p:sp>
        <p:nvSpPr>
          <p:cNvPr id="34" name="Text 25"/>
          <p:cNvSpPr txBox="1"/>
          <p:nvPr/>
        </p:nvSpPr>
        <p:spPr>
          <a:xfrm>
            <a:off x="3354934" y="1848002"/>
            <a:ext cx="662026" cy="124358"/>
          </a:xfrm>
          <a:prstGeom prst="rect">
            <a:avLst/>
          </a:prstGeom>
          <a:noFill/>
          <a:ln/>
        </p:spPr>
        <p:txBody>
          <a:bodyPr wrap="square" lIns="0" tIns="0" rIns="0" bIns="0" rtlCol="0" anchor="ctr"/>
          <a:lstStyle/>
          <a:p>
            <a:pPr marL="0" indent="0" algn="l">
              <a:buNone/>
            </a:pPr>
            <a:r>
              <a:rPr lang="en-US" sz="800" b="1">
                <a:solidFill>
                  <a:srgbClr val="2A9D8F"/>
                </a:solidFill>
                <a:latin typeface="Roboto Condensed" pitchFamily="34" charset="0"/>
                <a:ea typeface="Roboto Condensed" pitchFamily="34" charset="-122"/>
                <a:cs typeface="Roboto Condensed" pitchFamily="34" charset="-120"/>
              </a:rPr>
              <a:t>LOW TOUCH</a:t>
            </a:r>
            <a:endParaRPr lang="en-US" sz="800"/>
          </a:p>
        </p:txBody>
      </p:sp>
      <p:sp>
        <p:nvSpPr>
          <p:cNvPr id="35" name="Shape 26"/>
          <p:cNvSpPr/>
          <p:nvPr/>
        </p:nvSpPr>
        <p:spPr>
          <a:xfrm>
            <a:off x="4533595" y="1762049"/>
            <a:ext cx="457200" cy="457200"/>
          </a:xfrm>
          <a:prstGeom prst="roundRect">
            <a:avLst>
              <a:gd name="adj" fmla="val 66667"/>
            </a:avLst>
          </a:prstGeom>
          <a:solidFill>
            <a:srgbClr val="FBE6E8"/>
          </a:solidFill>
          <a:ln w="12700">
            <a:solidFill>
              <a:srgbClr val="FFFFFF">
                <a:alpha val="0"/>
              </a:srgbClr>
            </a:solidFill>
            <a:prstDash val="solid"/>
          </a:ln>
        </p:spPr>
        <p:txBody>
          <a:bodyPr/>
          <a:lstStyle/>
          <a:p>
            <a:endParaRPr lang="en-US"/>
          </a:p>
        </p:txBody>
      </p:sp>
      <p:pic>
        <p:nvPicPr>
          <p:cNvPr id="36" name="Image 7" descr="gen-dedup-302cf04975ca72dffec5134ed5b99fbe.png"/>
          <p:cNvPicPr>
            <a:picLocks noChangeAspect="1"/>
          </p:cNvPicPr>
          <p:nvPr/>
        </p:nvPicPr>
        <p:blipFill>
          <a:blip r:embed="rId7"/>
          <a:srcRect t="-4491" b="-4491"/>
          <a:stretch/>
        </p:blipFill>
        <p:spPr>
          <a:xfrm>
            <a:off x="4686300" y="1895551"/>
            <a:ext cx="152705" cy="190195"/>
          </a:xfrm>
          <a:prstGeom prst="rect">
            <a:avLst/>
          </a:prstGeom>
        </p:spPr>
      </p:pic>
      <p:sp>
        <p:nvSpPr>
          <p:cNvPr id="37" name="Text 27"/>
          <p:cNvSpPr txBox="1"/>
          <p:nvPr/>
        </p:nvSpPr>
        <p:spPr>
          <a:xfrm>
            <a:off x="5143500" y="1794967"/>
            <a:ext cx="1825142" cy="238658"/>
          </a:xfrm>
          <a:prstGeom prst="rect">
            <a:avLst/>
          </a:prstGeom>
          <a:noFill/>
          <a:ln/>
        </p:spPr>
        <p:txBody>
          <a:bodyPr wrap="square" lIns="0" tIns="0" rIns="0" bIns="0" rtlCol="0" anchor="ctr"/>
          <a:lstStyle/>
          <a:p>
            <a:pPr marL="0" indent="0" algn="l">
              <a:buNone/>
            </a:pPr>
            <a:r>
              <a:rPr lang="en-US" sz="1600" b="1">
                <a:solidFill>
                  <a:srgbClr val="111827"/>
                </a:solidFill>
                <a:latin typeface="Oswald" pitchFamily="34" charset="0"/>
                <a:ea typeface="Oswald" pitchFamily="34" charset="-122"/>
                <a:cs typeface="Oswald" pitchFamily="34" charset="-120"/>
              </a:rPr>
              <a:t>Assessment &amp; PoC</a:t>
            </a:r>
            <a:endParaRPr lang="en-US" sz="1600"/>
          </a:p>
        </p:txBody>
      </p:sp>
      <p:sp>
        <p:nvSpPr>
          <p:cNvPr id="38" name="Text 28"/>
          <p:cNvSpPr txBox="1"/>
          <p:nvPr/>
        </p:nvSpPr>
        <p:spPr>
          <a:xfrm>
            <a:off x="5143500" y="2043684"/>
            <a:ext cx="1534363" cy="143561"/>
          </a:xfrm>
          <a:prstGeom prst="rect">
            <a:avLst/>
          </a:prstGeom>
          <a:noFill/>
          <a:ln/>
        </p:spPr>
        <p:txBody>
          <a:bodyPr wrap="square" lIns="0" tIns="0" rIns="0" bIns="0" rtlCol="0" anchor="ctr"/>
          <a:lstStyle/>
          <a:p>
            <a:pPr marL="0" indent="0" algn="l">
              <a:buNone/>
            </a:pPr>
            <a:r>
              <a:rPr lang="en-US" sz="900">
                <a:solidFill>
                  <a:srgbClr val="64748B"/>
                </a:solidFill>
                <a:latin typeface="Raleway" pitchFamily="34" charset="0"/>
                <a:ea typeface="Raleway" pitchFamily="34" charset="-122"/>
                <a:cs typeface="Raleway" pitchFamily="34" charset="-120"/>
              </a:rPr>
              <a:t>Duration: 4 Weeks</a:t>
            </a:r>
            <a:endParaRPr lang="en-US" sz="900"/>
          </a:p>
        </p:txBody>
      </p:sp>
      <p:sp>
        <p:nvSpPr>
          <p:cNvPr id="39" name="Shape 29"/>
          <p:cNvSpPr/>
          <p:nvPr/>
        </p:nvSpPr>
        <p:spPr>
          <a:xfrm>
            <a:off x="6982358" y="1762049"/>
            <a:ext cx="676656" cy="256946"/>
          </a:xfrm>
          <a:prstGeom prst="roundRect">
            <a:avLst>
              <a:gd name="adj" fmla="val 316331"/>
            </a:avLst>
          </a:prstGeom>
          <a:solidFill>
            <a:srgbClr val="FBE6E8"/>
          </a:solidFill>
          <a:ln w="12700">
            <a:solidFill>
              <a:srgbClr val="FFFFFF">
                <a:alpha val="0"/>
              </a:srgbClr>
            </a:solidFill>
            <a:prstDash val="solid"/>
          </a:ln>
        </p:spPr>
        <p:txBody>
          <a:bodyPr/>
          <a:lstStyle/>
          <a:p>
            <a:endParaRPr lang="en-US"/>
          </a:p>
        </p:txBody>
      </p:sp>
      <p:sp>
        <p:nvSpPr>
          <p:cNvPr id="40" name="Text 30"/>
          <p:cNvSpPr txBox="1"/>
          <p:nvPr/>
        </p:nvSpPr>
        <p:spPr>
          <a:xfrm>
            <a:off x="4533595" y="2447849"/>
            <a:ext cx="3124505" cy="133502"/>
          </a:xfrm>
          <a:prstGeom prst="rect">
            <a:avLst/>
          </a:prstGeom>
          <a:noFill/>
          <a:ln/>
        </p:spPr>
        <p:txBody>
          <a:bodyPr wrap="square" lIns="0" tIns="0" rIns="0" bIns="0" rtlCol="0" anchor="ctr"/>
          <a:lstStyle/>
          <a:p>
            <a:pPr marL="0" indent="0" algn="l">
              <a:buNone/>
            </a:pPr>
            <a:r>
              <a:rPr lang="en-US" sz="900" b="1" kern="0" spc="45">
                <a:solidFill>
                  <a:srgbClr val="94A3B8"/>
                </a:solidFill>
                <a:latin typeface="Roboto Condensed" pitchFamily="34" charset="0"/>
                <a:ea typeface="Roboto Condensed" pitchFamily="34" charset="-122"/>
                <a:cs typeface="Roboto Condensed" pitchFamily="34" charset="-120"/>
              </a:rPr>
              <a:t>KEY DELIVERABLES</a:t>
            </a:r>
            <a:endParaRPr lang="en-US" sz="900"/>
          </a:p>
        </p:txBody>
      </p:sp>
      <p:pic>
        <p:nvPicPr>
          <p:cNvPr id="41" name="Image 8" descr="gen-dedup-3f480c66afa147b2245dea2610bb3896.png"/>
          <p:cNvPicPr>
            <a:picLocks noChangeAspect="1"/>
          </p:cNvPicPr>
          <p:nvPr/>
        </p:nvPicPr>
        <p:blipFill>
          <a:blip r:embed="rId8"/>
          <a:srcRect t="-12832" b="-12832"/>
          <a:stretch/>
        </p:blipFill>
        <p:spPr>
          <a:xfrm>
            <a:off x="4533595" y="2734056"/>
            <a:ext cx="85954" cy="123444"/>
          </a:xfrm>
          <a:prstGeom prst="rect">
            <a:avLst/>
          </a:prstGeom>
        </p:spPr>
      </p:pic>
      <p:sp>
        <p:nvSpPr>
          <p:cNvPr id="42" name="Text 31"/>
          <p:cNvSpPr txBox="1"/>
          <p:nvPr/>
        </p:nvSpPr>
        <p:spPr>
          <a:xfrm>
            <a:off x="4714646" y="2695651"/>
            <a:ext cx="2154326" cy="162763"/>
          </a:xfrm>
          <a:prstGeom prst="rect">
            <a:avLst/>
          </a:prstGeom>
          <a:noFill/>
          <a:ln/>
        </p:spPr>
        <p:txBody>
          <a:bodyPr wrap="square" lIns="0" tIns="0" rIns="0" bIns="0" rtlCol="0" anchor="ctr"/>
          <a:lstStyle/>
          <a:p>
            <a:pPr marL="0" indent="0" algn="l">
              <a:buNone/>
            </a:pPr>
            <a:r>
              <a:rPr lang="en-US" sz="900">
                <a:solidFill>
                  <a:srgbClr val="475569"/>
                </a:solidFill>
                <a:latin typeface="Raleway" pitchFamily="34" charset="0"/>
                <a:ea typeface="Raleway" pitchFamily="34" charset="-122"/>
                <a:cs typeface="Raleway" pitchFamily="34" charset="-120"/>
              </a:rPr>
              <a:t>Target state architecture design</a:t>
            </a:r>
            <a:endParaRPr lang="en-US" sz="900"/>
          </a:p>
        </p:txBody>
      </p:sp>
      <p:pic>
        <p:nvPicPr>
          <p:cNvPr id="43" name="Image 9" descr="gen-dedup-3f480c66afa147b2245dea2610bb3896.png"/>
          <p:cNvPicPr>
            <a:picLocks noChangeAspect="1"/>
          </p:cNvPicPr>
          <p:nvPr/>
        </p:nvPicPr>
        <p:blipFill>
          <a:blip r:embed="rId8"/>
          <a:srcRect t="-12832" b="-12832"/>
          <a:stretch/>
        </p:blipFill>
        <p:spPr>
          <a:xfrm>
            <a:off x="4533595" y="2971800"/>
            <a:ext cx="85954" cy="123444"/>
          </a:xfrm>
          <a:prstGeom prst="rect">
            <a:avLst/>
          </a:prstGeom>
        </p:spPr>
      </p:pic>
      <p:sp>
        <p:nvSpPr>
          <p:cNvPr id="44" name="Text 32"/>
          <p:cNvSpPr txBox="1"/>
          <p:nvPr/>
        </p:nvSpPr>
        <p:spPr>
          <a:xfrm>
            <a:off x="4714646" y="2933395"/>
            <a:ext cx="2505456" cy="162763"/>
          </a:xfrm>
          <a:prstGeom prst="rect">
            <a:avLst/>
          </a:prstGeom>
          <a:noFill/>
          <a:ln/>
        </p:spPr>
        <p:txBody>
          <a:bodyPr wrap="square" lIns="0" tIns="0" rIns="0" bIns="0" rtlCol="0" anchor="ctr"/>
          <a:lstStyle/>
          <a:p>
            <a:pPr marL="0" indent="0" algn="l">
              <a:buNone/>
            </a:pPr>
            <a:r>
              <a:rPr lang="en-US" sz="900">
                <a:solidFill>
                  <a:srgbClr val="475569"/>
                </a:solidFill>
                <a:latin typeface="Raleway" pitchFamily="34" charset="0"/>
                <a:ea typeface="Raleway" pitchFamily="34" charset="-122"/>
                <a:cs typeface="Raleway" pitchFamily="34" charset="-120"/>
              </a:rPr>
              <a:t>Working pilot / MVP implementation</a:t>
            </a:r>
            <a:endParaRPr lang="en-US" sz="900"/>
          </a:p>
        </p:txBody>
      </p:sp>
      <p:pic>
        <p:nvPicPr>
          <p:cNvPr id="45" name="Image 10" descr="gen-dedup-3f480c66afa147b2245dea2610bb3896.png"/>
          <p:cNvPicPr>
            <a:picLocks noChangeAspect="1"/>
          </p:cNvPicPr>
          <p:nvPr/>
        </p:nvPicPr>
        <p:blipFill>
          <a:blip r:embed="rId8"/>
          <a:srcRect t="-12832" b="-12832"/>
          <a:stretch/>
        </p:blipFill>
        <p:spPr>
          <a:xfrm>
            <a:off x="4533595" y="3209544"/>
            <a:ext cx="85954" cy="123444"/>
          </a:xfrm>
          <a:prstGeom prst="rect">
            <a:avLst/>
          </a:prstGeom>
        </p:spPr>
      </p:pic>
      <p:sp>
        <p:nvSpPr>
          <p:cNvPr id="46" name="Text 33"/>
          <p:cNvSpPr txBox="1"/>
          <p:nvPr/>
        </p:nvSpPr>
        <p:spPr>
          <a:xfrm>
            <a:off x="4714646" y="3172054"/>
            <a:ext cx="2278685" cy="162763"/>
          </a:xfrm>
          <a:prstGeom prst="rect">
            <a:avLst/>
          </a:prstGeom>
          <a:noFill/>
          <a:ln/>
        </p:spPr>
        <p:txBody>
          <a:bodyPr wrap="square" lIns="0" tIns="0" rIns="0" bIns="0" rtlCol="0" anchor="ctr"/>
          <a:lstStyle/>
          <a:p>
            <a:pPr marL="0" indent="0" algn="l">
              <a:buNone/>
            </a:pPr>
            <a:r>
              <a:rPr lang="en-US" sz="900">
                <a:solidFill>
                  <a:srgbClr val="475569"/>
                </a:solidFill>
                <a:latin typeface="Raleway" pitchFamily="34" charset="0"/>
                <a:ea typeface="Raleway" pitchFamily="34" charset="-122"/>
                <a:cs typeface="Raleway" pitchFamily="34" charset="-120"/>
              </a:rPr>
              <a:t>Detailed ROI model &amp; rollout plan</a:t>
            </a:r>
            <a:endParaRPr lang="en-US" sz="900"/>
          </a:p>
        </p:txBody>
      </p:sp>
      <p:pic>
        <p:nvPicPr>
          <p:cNvPr id="47" name="Image 11" descr="gen-dedup-3f480c66afa147b2245dea2610bb3896.png"/>
          <p:cNvPicPr>
            <a:picLocks noChangeAspect="1"/>
          </p:cNvPicPr>
          <p:nvPr/>
        </p:nvPicPr>
        <p:blipFill>
          <a:blip r:embed="rId8"/>
          <a:srcRect t="-12832" b="-12832"/>
          <a:stretch/>
        </p:blipFill>
        <p:spPr>
          <a:xfrm>
            <a:off x="4533595" y="3448202"/>
            <a:ext cx="85954" cy="123444"/>
          </a:xfrm>
          <a:prstGeom prst="rect">
            <a:avLst/>
          </a:prstGeom>
        </p:spPr>
      </p:pic>
      <p:sp>
        <p:nvSpPr>
          <p:cNvPr id="48" name="Text 34"/>
          <p:cNvSpPr txBox="1"/>
          <p:nvPr/>
        </p:nvSpPr>
        <p:spPr>
          <a:xfrm>
            <a:off x="4714646" y="3409798"/>
            <a:ext cx="2108606" cy="162763"/>
          </a:xfrm>
          <a:prstGeom prst="rect">
            <a:avLst/>
          </a:prstGeom>
          <a:noFill/>
          <a:ln/>
        </p:spPr>
        <p:txBody>
          <a:bodyPr wrap="square" lIns="0" tIns="0" rIns="0" bIns="0" rtlCol="0" anchor="ctr"/>
          <a:lstStyle/>
          <a:p>
            <a:pPr marL="0" indent="0" algn="l">
              <a:buNone/>
            </a:pPr>
            <a:r>
              <a:rPr lang="en-US" sz="900">
                <a:solidFill>
                  <a:srgbClr val="475569"/>
                </a:solidFill>
                <a:latin typeface="Raleway" pitchFamily="34" charset="0"/>
                <a:ea typeface="Raleway" pitchFamily="34" charset="-122"/>
                <a:cs typeface="Raleway" pitchFamily="34" charset="-120"/>
              </a:rPr>
              <a:t>Vendor integration assessment</a:t>
            </a:r>
            <a:endParaRPr lang="en-US" sz="900"/>
          </a:p>
        </p:txBody>
      </p:sp>
      <p:sp>
        <p:nvSpPr>
          <p:cNvPr id="49" name="Text 35"/>
          <p:cNvSpPr txBox="1"/>
          <p:nvPr/>
        </p:nvSpPr>
        <p:spPr>
          <a:xfrm>
            <a:off x="7077456" y="1848002"/>
            <a:ext cx="658368" cy="124358"/>
          </a:xfrm>
          <a:prstGeom prst="rect">
            <a:avLst/>
          </a:prstGeom>
          <a:noFill/>
          <a:ln/>
        </p:spPr>
        <p:txBody>
          <a:bodyPr wrap="square" lIns="0" tIns="0" rIns="0" bIns="0" rtlCol="0" anchor="ctr"/>
          <a:lstStyle/>
          <a:p>
            <a:pPr marL="0" indent="0" algn="l">
              <a:buNone/>
            </a:pPr>
            <a:r>
              <a:rPr lang="en-US" sz="800" b="1">
                <a:solidFill>
                  <a:srgbClr val="D62839"/>
                </a:solidFill>
                <a:latin typeface="Roboto Condensed" pitchFamily="34" charset="0"/>
                <a:ea typeface="Roboto Condensed" pitchFamily="34" charset="-122"/>
                <a:cs typeface="Roboto Condensed" pitchFamily="34" charset="-120"/>
              </a:rPr>
              <a:t>STRATEGIC</a:t>
            </a:r>
            <a:endParaRPr lang="en-US" sz="800"/>
          </a:p>
        </p:txBody>
      </p:sp>
      <p:sp>
        <p:nvSpPr>
          <p:cNvPr id="50" name="Shape 36"/>
          <p:cNvSpPr/>
          <p:nvPr/>
        </p:nvSpPr>
        <p:spPr>
          <a:xfrm>
            <a:off x="8229600" y="1762049"/>
            <a:ext cx="457200" cy="457200"/>
          </a:xfrm>
          <a:prstGeom prst="roundRect">
            <a:avLst>
              <a:gd name="adj" fmla="val 66667"/>
            </a:avLst>
          </a:prstGeom>
          <a:solidFill>
            <a:srgbClr val="F1F5F9"/>
          </a:solidFill>
          <a:ln w="12700">
            <a:solidFill>
              <a:srgbClr val="FFFFFF">
                <a:alpha val="0"/>
              </a:srgbClr>
            </a:solidFill>
            <a:prstDash val="solid"/>
          </a:ln>
        </p:spPr>
        <p:txBody>
          <a:bodyPr/>
          <a:lstStyle/>
          <a:p>
            <a:endParaRPr lang="en-US"/>
          </a:p>
        </p:txBody>
      </p:sp>
      <p:pic>
        <p:nvPicPr>
          <p:cNvPr id="51" name="Image 12" descr="gen-dedup-e104b6e838315a11dc2d3bf260faf00b.png"/>
          <p:cNvPicPr>
            <a:picLocks noChangeAspect="1"/>
          </p:cNvPicPr>
          <p:nvPr/>
        </p:nvPicPr>
        <p:blipFill>
          <a:blip r:embed="rId9"/>
          <a:srcRect t="-27844" b="-27844"/>
          <a:stretch/>
        </p:blipFill>
        <p:spPr>
          <a:xfrm>
            <a:off x="8382305" y="1895551"/>
            <a:ext cx="152705" cy="190195"/>
          </a:xfrm>
          <a:prstGeom prst="rect">
            <a:avLst/>
          </a:prstGeom>
        </p:spPr>
      </p:pic>
      <p:sp>
        <p:nvSpPr>
          <p:cNvPr id="52" name="Text 37"/>
          <p:cNvSpPr txBox="1"/>
          <p:nvPr/>
        </p:nvSpPr>
        <p:spPr>
          <a:xfrm>
            <a:off x="8839505" y="1794967"/>
            <a:ext cx="1938528" cy="238658"/>
          </a:xfrm>
          <a:prstGeom prst="rect">
            <a:avLst/>
          </a:prstGeom>
          <a:noFill/>
          <a:ln/>
        </p:spPr>
        <p:txBody>
          <a:bodyPr wrap="square" lIns="0" tIns="0" rIns="0" bIns="0" rtlCol="0" anchor="ctr"/>
          <a:lstStyle/>
          <a:p>
            <a:pPr marL="0" indent="0" algn="l">
              <a:buNone/>
            </a:pPr>
            <a:r>
              <a:rPr lang="en-US" sz="1600" b="1">
                <a:solidFill>
                  <a:srgbClr val="111827"/>
                </a:solidFill>
                <a:latin typeface="Oswald" pitchFamily="34" charset="0"/>
                <a:ea typeface="Oswald" pitchFamily="34" charset="-122"/>
                <a:cs typeface="Oswald" pitchFamily="34" charset="-120"/>
              </a:rPr>
              <a:t>Build &amp; Run Models</a:t>
            </a:r>
            <a:endParaRPr lang="en-US" sz="1600"/>
          </a:p>
        </p:txBody>
      </p:sp>
      <p:sp>
        <p:nvSpPr>
          <p:cNvPr id="53" name="Text 38"/>
          <p:cNvSpPr txBox="1"/>
          <p:nvPr/>
        </p:nvSpPr>
        <p:spPr>
          <a:xfrm>
            <a:off x="8839505" y="2043684"/>
            <a:ext cx="1629461" cy="143561"/>
          </a:xfrm>
          <a:prstGeom prst="rect">
            <a:avLst/>
          </a:prstGeom>
          <a:noFill/>
          <a:ln/>
        </p:spPr>
        <p:txBody>
          <a:bodyPr wrap="square" lIns="0" tIns="0" rIns="0" bIns="0" rtlCol="0" anchor="ctr"/>
          <a:lstStyle/>
          <a:p>
            <a:pPr marL="0" indent="0" algn="l">
              <a:buNone/>
            </a:pPr>
            <a:r>
              <a:rPr lang="en-US" sz="900">
                <a:solidFill>
                  <a:srgbClr val="64748B"/>
                </a:solidFill>
                <a:latin typeface="Raleway" pitchFamily="34" charset="0"/>
                <a:ea typeface="Raleway" pitchFamily="34" charset="-122"/>
                <a:cs typeface="Raleway" pitchFamily="34" charset="-120"/>
              </a:rPr>
              <a:t>Duration: Multi-Year</a:t>
            </a:r>
            <a:endParaRPr lang="en-US" sz="900"/>
          </a:p>
        </p:txBody>
      </p:sp>
      <p:sp>
        <p:nvSpPr>
          <p:cNvPr id="54" name="Shape 39"/>
          <p:cNvSpPr/>
          <p:nvPr/>
        </p:nvSpPr>
        <p:spPr>
          <a:xfrm>
            <a:off x="10555834" y="1762049"/>
            <a:ext cx="800100" cy="256946"/>
          </a:xfrm>
          <a:prstGeom prst="roundRect">
            <a:avLst>
              <a:gd name="adj" fmla="val 316331"/>
            </a:avLst>
          </a:prstGeom>
          <a:solidFill>
            <a:srgbClr val="F1F5F9"/>
          </a:solidFill>
          <a:ln w="12700">
            <a:solidFill>
              <a:srgbClr val="FFFFFF">
                <a:alpha val="0"/>
              </a:srgbClr>
            </a:solidFill>
            <a:prstDash val="solid"/>
          </a:ln>
        </p:spPr>
        <p:txBody>
          <a:bodyPr/>
          <a:lstStyle/>
          <a:p>
            <a:endParaRPr lang="en-US"/>
          </a:p>
        </p:txBody>
      </p:sp>
      <p:sp>
        <p:nvSpPr>
          <p:cNvPr id="55" name="Text 40"/>
          <p:cNvSpPr txBox="1"/>
          <p:nvPr/>
        </p:nvSpPr>
        <p:spPr>
          <a:xfrm>
            <a:off x="8229600" y="2447849"/>
            <a:ext cx="3124505" cy="133502"/>
          </a:xfrm>
          <a:prstGeom prst="rect">
            <a:avLst/>
          </a:prstGeom>
          <a:noFill/>
          <a:ln/>
        </p:spPr>
        <p:txBody>
          <a:bodyPr wrap="square" lIns="0" tIns="0" rIns="0" bIns="0" rtlCol="0" anchor="ctr"/>
          <a:lstStyle/>
          <a:p>
            <a:pPr marL="0" indent="0" algn="l">
              <a:buNone/>
            </a:pPr>
            <a:r>
              <a:rPr lang="en-US" sz="900" b="1" kern="0" spc="45">
                <a:solidFill>
                  <a:srgbClr val="94A3B8"/>
                </a:solidFill>
                <a:latin typeface="Roboto Condensed" pitchFamily="34" charset="0"/>
                <a:ea typeface="Roboto Condensed" pitchFamily="34" charset="-122"/>
                <a:cs typeface="Roboto Condensed" pitchFamily="34" charset="-120"/>
              </a:rPr>
              <a:t>COMMERCIAL MODELS</a:t>
            </a:r>
            <a:endParaRPr lang="en-US" sz="900"/>
          </a:p>
        </p:txBody>
      </p:sp>
      <p:pic>
        <p:nvPicPr>
          <p:cNvPr id="56" name="Image 13" descr="gen-dedup-06c19e2f143b52e69c4653630769d291.png"/>
          <p:cNvPicPr>
            <a:picLocks noChangeAspect="1"/>
          </p:cNvPicPr>
          <p:nvPr/>
        </p:nvPicPr>
        <p:blipFill>
          <a:blip r:embed="rId10"/>
          <a:srcRect t="-27726" b="-27726"/>
          <a:stretch/>
        </p:blipFill>
        <p:spPr>
          <a:xfrm>
            <a:off x="8229600" y="2734056"/>
            <a:ext cx="85954" cy="152705"/>
          </a:xfrm>
          <a:prstGeom prst="rect">
            <a:avLst/>
          </a:prstGeom>
        </p:spPr>
      </p:pic>
      <p:sp>
        <p:nvSpPr>
          <p:cNvPr id="57" name="Text 41"/>
          <p:cNvSpPr txBox="1"/>
          <p:nvPr/>
        </p:nvSpPr>
        <p:spPr>
          <a:xfrm>
            <a:off x="8410651" y="2695651"/>
            <a:ext cx="2879446" cy="191110"/>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Fixed Scope:</a:t>
            </a:r>
            <a:r>
              <a:rPr lang="en-US" sz="1000">
                <a:solidFill>
                  <a:srgbClr val="475569"/>
                </a:solidFill>
                <a:latin typeface="Raleway" pitchFamily="34" charset="0"/>
                <a:ea typeface="Raleway" pitchFamily="34" charset="-122"/>
                <a:cs typeface="Raleway" pitchFamily="34" charset="-120"/>
              </a:rPr>
              <a:t> For defined project builds</a:t>
            </a:r>
            <a:endParaRPr lang="en-US" sz="1000"/>
          </a:p>
        </p:txBody>
      </p:sp>
      <p:pic>
        <p:nvPicPr>
          <p:cNvPr id="58" name="Image 14" descr="gen-dedup-06c19e2f143b52e69c4653630769d291.png"/>
          <p:cNvPicPr>
            <a:picLocks noChangeAspect="1"/>
          </p:cNvPicPr>
          <p:nvPr/>
        </p:nvPicPr>
        <p:blipFill>
          <a:blip r:embed="rId10"/>
          <a:srcRect t="-27726" b="-27726"/>
          <a:stretch/>
        </p:blipFill>
        <p:spPr>
          <a:xfrm>
            <a:off x="8229600" y="3038551"/>
            <a:ext cx="85954" cy="152705"/>
          </a:xfrm>
          <a:prstGeom prst="rect">
            <a:avLst/>
          </a:prstGeom>
        </p:spPr>
      </p:pic>
      <p:sp>
        <p:nvSpPr>
          <p:cNvPr id="59" name="Text 42"/>
          <p:cNvSpPr txBox="1"/>
          <p:nvPr/>
        </p:nvSpPr>
        <p:spPr>
          <a:xfrm>
            <a:off x="8410651" y="3000146"/>
            <a:ext cx="3038551" cy="191110"/>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Managed Service:</a:t>
            </a:r>
            <a:r>
              <a:rPr lang="en-US" sz="1000">
                <a:solidFill>
                  <a:srgbClr val="475569"/>
                </a:solidFill>
                <a:latin typeface="Raleway" pitchFamily="34" charset="0"/>
                <a:ea typeface="Raleway" pitchFamily="34" charset="-122"/>
                <a:cs typeface="Raleway" pitchFamily="34" charset="-120"/>
              </a:rPr>
              <a:t> SLA-driven operations</a:t>
            </a:r>
            <a:endParaRPr lang="en-US" sz="1000"/>
          </a:p>
        </p:txBody>
      </p:sp>
      <p:pic>
        <p:nvPicPr>
          <p:cNvPr id="60" name="Image 15" descr="gen-dedup-3678629b4a5ad6139a7cc5dcf1ee97ee.png"/>
          <p:cNvPicPr>
            <a:picLocks noChangeAspect="1"/>
          </p:cNvPicPr>
          <p:nvPr/>
        </p:nvPicPr>
        <p:blipFill>
          <a:blip r:embed="rId11"/>
          <a:srcRect t="-119879" b="-119879"/>
          <a:stretch/>
        </p:blipFill>
        <p:spPr>
          <a:xfrm>
            <a:off x="8229600" y="3343046"/>
            <a:ext cx="85954" cy="333756"/>
          </a:xfrm>
          <a:prstGeom prst="rect">
            <a:avLst/>
          </a:prstGeom>
        </p:spPr>
      </p:pic>
      <p:sp>
        <p:nvSpPr>
          <p:cNvPr id="61" name="Text 43"/>
          <p:cNvSpPr txBox="1"/>
          <p:nvPr/>
        </p:nvSpPr>
        <p:spPr>
          <a:xfrm>
            <a:off x="8410651" y="3305556"/>
            <a:ext cx="2943454" cy="381305"/>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Outcome-Based:</a:t>
            </a:r>
            <a:r>
              <a:rPr lang="en-US" sz="1000">
                <a:solidFill>
                  <a:srgbClr val="475569"/>
                </a:solidFill>
                <a:latin typeface="Raleway" pitchFamily="34" charset="0"/>
                <a:ea typeface="Raleway" pitchFamily="34" charset="-122"/>
                <a:cs typeface="Raleway" pitchFamily="34" charset="-120"/>
              </a:rPr>
              <a:t> Gain-share pricing tied to value</a:t>
            </a:r>
            <a:endParaRPr lang="en-US" sz="1000"/>
          </a:p>
        </p:txBody>
      </p:sp>
      <p:sp>
        <p:nvSpPr>
          <p:cNvPr id="62" name="Text 44"/>
          <p:cNvSpPr txBox="1"/>
          <p:nvPr/>
        </p:nvSpPr>
        <p:spPr>
          <a:xfrm>
            <a:off x="10650931" y="1848002"/>
            <a:ext cx="806501" cy="124358"/>
          </a:xfrm>
          <a:prstGeom prst="rect">
            <a:avLst/>
          </a:prstGeom>
          <a:noFill/>
          <a:ln/>
        </p:spPr>
        <p:txBody>
          <a:bodyPr wrap="square" lIns="0" tIns="0" rIns="0" bIns="0" rtlCol="0" anchor="ctr"/>
          <a:lstStyle/>
          <a:p>
            <a:pPr marL="0" indent="0" algn="l">
              <a:buNone/>
            </a:pPr>
            <a:r>
              <a:rPr lang="en-US" sz="800" b="1">
                <a:solidFill>
                  <a:srgbClr val="334155"/>
                </a:solidFill>
                <a:latin typeface="Roboto Condensed" pitchFamily="34" charset="0"/>
                <a:ea typeface="Roboto Condensed" pitchFamily="34" charset="-122"/>
                <a:cs typeface="Roboto Condensed" pitchFamily="34" charset="-120"/>
              </a:rPr>
              <a:t>PARTNERSHIP</a:t>
            </a:r>
            <a:endParaRPr lang="en-US" sz="800"/>
          </a:p>
        </p:txBody>
      </p:sp>
      <p:pic>
        <p:nvPicPr>
          <p:cNvPr id="63" name="Image 16" descr="gen-dedup-a2699a036d9634824b4953ceddf6835e.png"/>
          <p:cNvPicPr>
            <a:picLocks noChangeAspect="1"/>
          </p:cNvPicPr>
          <p:nvPr/>
        </p:nvPicPr>
        <p:blipFill>
          <a:blip r:embed="rId12"/>
          <a:srcRect t="-16800" b="-16800"/>
          <a:stretch/>
        </p:blipFill>
        <p:spPr>
          <a:xfrm>
            <a:off x="905256" y="4809744"/>
            <a:ext cx="114300" cy="152705"/>
          </a:xfrm>
          <a:prstGeom prst="rect">
            <a:avLst/>
          </a:prstGeom>
        </p:spPr>
      </p:pic>
      <p:sp>
        <p:nvSpPr>
          <p:cNvPr id="64" name="Text 45"/>
          <p:cNvSpPr txBox="1"/>
          <p:nvPr/>
        </p:nvSpPr>
        <p:spPr>
          <a:xfrm>
            <a:off x="1114654" y="4762195"/>
            <a:ext cx="3151937" cy="247802"/>
          </a:xfrm>
          <a:prstGeom prst="rect">
            <a:avLst/>
          </a:prstGeom>
          <a:noFill/>
          <a:ln/>
        </p:spPr>
        <p:txBody>
          <a:bodyPr wrap="square" lIns="0" tIns="0" rIns="0" bIns="0" rtlCol="0" anchor="ctr"/>
          <a:lstStyle/>
          <a:p>
            <a:pPr marL="0" indent="0" algn="l">
              <a:buNone/>
            </a:pPr>
            <a:r>
              <a:rPr lang="en-US" sz="1300" b="1" kern="0" spc="27">
                <a:solidFill>
                  <a:srgbClr val="1E293B"/>
                </a:solidFill>
                <a:latin typeface="Oswald" pitchFamily="34" charset="0"/>
                <a:ea typeface="Oswald" pitchFamily="34" charset="-122"/>
                <a:cs typeface="Oswald" pitchFamily="34" charset="-120"/>
              </a:rPr>
              <a:t>SAMPLE IMPLEMENTATION ROADMAP</a:t>
            </a:r>
            <a:endParaRPr lang="en-US" sz="1300"/>
          </a:p>
        </p:txBody>
      </p:sp>
      <p:sp>
        <p:nvSpPr>
          <p:cNvPr id="65" name="Text 46"/>
          <p:cNvSpPr txBox="1"/>
          <p:nvPr/>
        </p:nvSpPr>
        <p:spPr>
          <a:xfrm>
            <a:off x="1047902" y="5315407"/>
            <a:ext cx="719633" cy="133502"/>
          </a:xfrm>
          <a:prstGeom prst="rect">
            <a:avLst/>
          </a:prstGeom>
          <a:noFill/>
          <a:ln/>
        </p:spPr>
        <p:txBody>
          <a:bodyPr wrap="square" lIns="0" tIns="0" rIns="0" bIns="0" rtlCol="0" anchor="ctr"/>
          <a:lstStyle/>
          <a:p>
            <a:pPr marL="0" indent="0" algn="l">
              <a:buNone/>
            </a:pPr>
            <a:r>
              <a:rPr lang="en-US" sz="900" b="1">
                <a:solidFill>
                  <a:srgbClr val="2A9D8F"/>
                </a:solidFill>
                <a:latin typeface="Roboto Condensed" pitchFamily="34" charset="0"/>
                <a:ea typeface="Roboto Condensed" pitchFamily="34" charset="-122"/>
                <a:cs typeface="Roboto Condensed" pitchFamily="34" charset="-120"/>
              </a:rPr>
              <a:t>DISCOVERY</a:t>
            </a:r>
            <a:endParaRPr lang="en-US" sz="900"/>
          </a:p>
        </p:txBody>
      </p:sp>
      <p:sp>
        <p:nvSpPr>
          <p:cNvPr id="66" name="Text 47"/>
          <p:cNvSpPr txBox="1"/>
          <p:nvPr/>
        </p:nvSpPr>
        <p:spPr>
          <a:xfrm>
            <a:off x="3063240" y="5238598"/>
            <a:ext cx="181966" cy="228600"/>
          </a:xfrm>
          <a:prstGeom prst="rect">
            <a:avLst/>
          </a:prstGeom>
          <a:noFill/>
          <a:ln/>
        </p:spPr>
        <p:txBody>
          <a:bodyPr wrap="square" lIns="0" tIns="0" rIns="0" bIns="0" rtlCol="0" anchor="ctr"/>
          <a:lstStyle/>
          <a:p>
            <a:pPr marL="0" indent="0" algn="l">
              <a:buNone/>
            </a:pPr>
            <a:r>
              <a:rPr lang="en-US" sz="1200" b="1">
                <a:solidFill>
                  <a:srgbClr val="CBD5E1"/>
                </a:solidFill>
                <a:latin typeface="Oswald" pitchFamily="34" charset="0"/>
                <a:ea typeface="Oswald" pitchFamily="34" charset="-122"/>
                <a:cs typeface="Oswald" pitchFamily="34" charset="-120"/>
              </a:rPr>
              <a:t>Q1</a:t>
            </a:r>
            <a:endParaRPr lang="en-US" sz="1200"/>
          </a:p>
        </p:txBody>
      </p:sp>
      <p:sp>
        <p:nvSpPr>
          <p:cNvPr id="67" name="Text 48"/>
          <p:cNvSpPr txBox="1"/>
          <p:nvPr/>
        </p:nvSpPr>
        <p:spPr>
          <a:xfrm>
            <a:off x="1047902" y="5505602"/>
            <a:ext cx="2162556" cy="305410"/>
          </a:xfrm>
          <a:prstGeom prst="rect">
            <a:avLst/>
          </a:prstGeom>
          <a:noFill/>
          <a:ln/>
        </p:spPr>
        <p:txBody>
          <a:bodyPr wrap="square" lIns="0" tIns="0" rIns="0" bIns="0" rtlCol="0" anchor="ctr"/>
          <a:lstStyle/>
          <a:p>
            <a:pPr marL="0" indent="0" algn="l">
              <a:buNone/>
            </a:pPr>
            <a:r>
              <a:rPr lang="en-US" sz="900">
                <a:solidFill>
                  <a:srgbClr val="475569"/>
                </a:solidFill>
                <a:latin typeface="Raleway" pitchFamily="34" charset="0"/>
                <a:ea typeface="Raleway" pitchFamily="34" charset="-122"/>
                <a:cs typeface="Raleway" pitchFamily="34" charset="-120"/>
              </a:rPr>
              <a:t>Assess readiness, define scope, select initial use cases</a:t>
            </a:r>
            <a:endParaRPr lang="en-US" sz="900"/>
          </a:p>
        </p:txBody>
      </p:sp>
      <p:sp>
        <p:nvSpPr>
          <p:cNvPr id="68" name="Shape 49"/>
          <p:cNvSpPr/>
          <p:nvPr/>
        </p:nvSpPr>
        <p:spPr>
          <a:xfrm>
            <a:off x="1047902" y="6117336"/>
            <a:ext cx="562356" cy="9144"/>
          </a:xfrm>
          <a:prstGeom prst="rect">
            <a:avLst/>
          </a:prstGeom>
          <a:solidFill>
            <a:srgbClr val="E6F3F1"/>
          </a:solidFill>
          <a:ln w="12700">
            <a:solidFill>
              <a:srgbClr val="E6F3F1">
                <a:alpha val="0"/>
              </a:srgbClr>
            </a:solidFill>
            <a:prstDash val="solid"/>
          </a:ln>
        </p:spPr>
        <p:txBody>
          <a:bodyPr/>
          <a:lstStyle/>
          <a:p>
            <a:endParaRPr lang="en-US"/>
          </a:p>
        </p:txBody>
      </p:sp>
      <p:sp>
        <p:nvSpPr>
          <p:cNvPr id="69" name="Text 50"/>
          <p:cNvSpPr txBox="1"/>
          <p:nvPr/>
        </p:nvSpPr>
        <p:spPr>
          <a:xfrm>
            <a:off x="1104595" y="5964631"/>
            <a:ext cx="716890" cy="124358"/>
          </a:xfrm>
          <a:prstGeom prst="rect">
            <a:avLst/>
          </a:prstGeom>
          <a:noFill/>
          <a:ln/>
        </p:spPr>
        <p:txBody>
          <a:bodyPr wrap="square" lIns="0" tIns="0" rIns="0" bIns="0" rtlCol="0" anchor="ctr"/>
          <a:lstStyle/>
          <a:p>
            <a:pPr marL="0" indent="0" algn="l">
              <a:buNone/>
            </a:pPr>
            <a:r>
              <a:rPr lang="en-US" sz="800" b="1">
                <a:solidFill>
                  <a:srgbClr val="2A9D8F"/>
                </a:solidFill>
                <a:latin typeface="Raleway" pitchFamily="34" charset="0"/>
                <a:ea typeface="Raleway" pitchFamily="34" charset="-122"/>
                <a:cs typeface="Raleway" pitchFamily="34" charset="-120"/>
              </a:rPr>
              <a:t>Initiation</a:t>
            </a:r>
            <a:endParaRPr lang="en-US" sz="800"/>
          </a:p>
        </p:txBody>
      </p:sp>
      <p:pic>
        <p:nvPicPr>
          <p:cNvPr id="70" name="Image 17" descr="gen-dedup-6bab9f986820d248c4d42c53288c0e5d.png"/>
          <p:cNvPicPr>
            <a:picLocks noChangeAspect="1"/>
          </p:cNvPicPr>
          <p:nvPr/>
        </p:nvPicPr>
        <p:blipFill>
          <a:blip r:embed="rId13"/>
          <a:srcRect t="-5544" b="-5544"/>
          <a:stretch/>
        </p:blipFill>
        <p:spPr>
          <a:xfrm>
            <a:off x="3452774" y="5627218"/>
            <a:ext cx="105156" cy="133502"/>
          </a:xfrm>
          <a:prstGeom prst="rect">
            <a:avLst/>
          </a:prstGeom>
        </p:spPr>
      </p:pic>
      <p:sp>
        <p:nvSpPr>
          <p:cNvPr id="71" name="Text 51"/>
          <p:cNvSpPr txBox="1"/>
          <p:nvPr/>
        </p:nvSpPr>
        <p:spPr>
          <a:xfrm>
            <a:off x="3810305" y="5315407"/>
            <a:ext cx="864108" cy="133502"/>
          </a:xfrm>
          <a:prstGeom prst="rect">
            <a:avLst/>
          </a:prstGeom>
          <a:noFill/>
          <a:ln/>
        </p:spPr>
        <p:txBody>
          <a:bodyPr wrap="square" lIns="0" tIns="0" rIns="0" bIns="0" rtlCol="0" anchor="ctr"/>
          <a:lstStyle/>
          <a:p>
            <a:pPr marL="0" indent="0" algn="l">
              <a:buNone/>
            </a:pPr>
            <a:r>
              <a:rPr lang="en-US" sz="900" b="1">
                <a:solidFill>
                  <a:srgbClr val="D62839"/>
                </a:solidFill>
                <a:latin typeface="Roboto Condensed" pitchFamily="34" charset="0"/>
                <a:ea typeface="Roboto Condensed" pitchFamily="34" charset="-122"/>
                <a:cs typeface="Roboto Condensed" pitchFamily="34" charset="-120"/>
              </a:rPr>
              <a:t>PILOT / POC</a:t>
            </a:r>
            <a:endParaRPr lang="en-US" sz="900"/>
          </a:p>
        </p:txBody>
      </p:sp>
      <p:sp>
        <p:nvSpPr>
          <p:cNvPr id="72" name="Text 52"/>
          <p:cNvSpPr txBox="1"/>
          <p:nvPr/>
        </p:nvSpPr>
        <p:spPr>
          <a:xfrm>
            <a:off x="5807354" y="5238598"/>
            <a:ext cx="196596" cy="228600"/>
          </a:xfrm>
          <a:prstGeom prst="rect">
            <a:avLst/>
          </a:prstGeom>
          <a:noFill/>
          <a:ln/>
        </p:spPr>
        <p:txBody>
          <a:bodyPr wrap="square" lIns="0" tIns="0" rIns="0" bIns="0" rtlCol="0" anchor="ctr"/>
          <a:lstStyle/>
          <a:p>
            <a:pPr marL="0" indent="0" algn="l">
              <a:buNone/>
            </a:pPr>
            <a:r>
              <a:rPr lang="en-US" sz="1200" b="1">
                <a:solidFill>
                  <a:srgbClr val="CBD5E1"/>
                </a:solidFill>
                <a:latin typeface="Oswald" pitchFamily="34" charset="0"/>
                <a:ea typeface="Oswald" pitchFamily="34" charset="-122"/>
                <a:cs typeface="Oswald" pitchFamily="34" charset="-120"/>
              </a:rPr>
              <a:t>Q2</a:t>
            </a:r>
            <a:endParaRPr lang="en-US" sz="1200"/>
          </a:p>
        </p:txBody>
      </p:sp>
      <p:sp>
        <p:nvSpPr>
          <p:cNvPr id="73" name="Text 53"/>
          <p:cNvSpPr txBox="1"/>
          <p:nvPr/>
        </p:nvSpPr>
        <p:spPr>
          <a:xfrm>
            <a:off x="3810305" y="5505602"/>
            <a:ext cx="2162556" cy="305410"/>
          </a:xfrm>
          <a:prstGeom prst="rect">
            <a:avLst/>
          </a:prstGeom>
          <a:noFill/>
          <a:ln/>
        </p:spPr>
        <p:txBody>
          <a:bodyPr wrap="square" lIns="0" tIns="0" rIns="0" bIns="0" rtlCol="0" anchor="ctr"/>
          <a:lstStyle/>
          <a:p>
            <a:pPr marL="0" indent="0" algn="l">
              <a:buNone/>
            </a:pPr>
            <a:r>
              <a:rPr lang="en-US" sz="900">
                <a:solidFill>
                  <a:srgbClr val="475569"/>
                </a:solidFill>
                <a:latin typeface="Raleway" pitchFamily="34" charset="0"/>
                <a:ea typeface="Raleway" pitchFamily="34" charset="-122"/>
                <a:cs typeface="Raleway" pitchFamily="34" charset="-120"/>
              </a:rPr>
              <a:t>MVP build, user testing, architecture validation</a:t>
            </a:r>
            <a:endParaRPr lang="en-US" sz="900"/>
          </a:p>
        </p:txBody>
      </p:sp>
      <p:sp>
        <p:nvSpPr>
          <p:cNvPr id="74" name="Shape 54"/>
          <p:cNvSpPr/>
          <p:nvPr/>
        </p:nvSpPr>
        <p:spPr>
          <a:xfrm>
            <a:off x="3810305" y="5897880"/>
            <a:ext cx="629107" cy="219456"/>
          </a:xfrm>
          <a:prstGeom prst="roundRect">
            <a:avLst>
              <a:gd name="adj" fmla="val 144928"/>
            </a:avLst>
          </a:prstGeom>
          <a:solidFill>
            <a:srgbClr val="FEF2F2"/>
          </a:solidFill>
          <a:ln w="12700">
            <a:solidFill>
              <a:srgbClr val="FFFFFF">
                <a:alpha val="0"/>
              </a:srgbClr>
            </a:solidFill>
            <a:prstDash val="solid"/>
          </a:ln>
        </p:spPr>
        <p:txBody>
          <a:bodyPr/>
          <a:lstStyle/>
          <a:p>
            <a:endParaRPr lang="en-US"/>
          </a:p>
        </p:txBody>
      </p:sp>
      <p:sp>
        <p:nvSpPr>
          <p:cNvPr id="75" name="Text 55"/>
          <p:cNvSpPr txBox="1"/>
          <p:nvPr/>
        </p:nvSpPr>
        <p:spPr>
          <a:xfrm>
            <a:off x="3866998" y="5964631"/>
            <a:ext cx="726948" cy="124358"/>
          </a:xfrm>
          <a:prstGeom prst="rect">
            <a:avLst/>
          </a:prstGeom>
          <a:noFill/>
          <a:ln/>
        </p:spPr>
        <p:txBody>
          <a:bodyPr wrap="square" lIns="0" tIns="0" rIns="0" bIns="0" rtlCol="0" anchor="ctr"/>
          <a:lstStyle/>
          <a:p>
            <a:pPr marL="0" indent="0" algn="l">
              <a:buNone/>
            </a:pPr>
            <a:r>
              <a:rPr lang="en-US" sz="800" b="1">
                <a:solidFill>
                  <a:srgbClr val="D62839"/>
                </a:solidFill>
                <a:latin typeface="Raleway" pitchFamily="34" charset="0"/>
                <a:ea typeface="Raleway" pitchFamily="34" charset="-122"/>
                <a:cs typeface="Raleway" pitchFamily="34" charset="-120"/>
              </a:rPr>
              <a:t>Validation</a:t>
            </a:r>
            <a:endParaRPr lang="en-US" sz="800"/>
          </a:p>
        </p:txBody>
      </p:sp>
      <p:pic>
        <p:nvPicPr>
          <p:cNvPr id="76" name="Image 18" descr="gen-dedup-6bab9f986820d248c4d42c53288c0e5d.png"/>
          <p:cNvPicPr>
            <a:picLocks noChangeAspect="1"/>
          </p:cNvPicPr>
          <p:nvPr/>
        </p:nvPicPr>
        <p:blipFill>
          <a:blip r:embed="rId13"/>
          <a:srcRect t="-5544" b="-5544"/>
          <a:stretch/>
        </p:blipFill>
        <p:spPr>
          <a:xfrm>
            <a:off x="6215177" y="5627218"/>
            <a:ext cx="105156" cy="133502"/>
          </a:xfrm>
          <a:prstGeom prst="rect">
            <a:avLst/>
          </a:prstGeom>
        </p:spPr>
      </p:pic>
      <p:sp>
        <p:nvSpPr>
          <p:cNvPr id="77" name="Text 56"/>
          <p:cNvSpPr txBox="1"/>
          <p:nvPr/>
        </p:nvSpPr>
        <p:spPr>
          <a:xfrm>
            <a:off x="6572707" y="5315407"/>
            <a:ext cx="402336" cy="133502"/>
          </a:xfrm>
          <a:prstGeom prst="rect">
            <a:avLst/>
          </a:prstGeom>
          <a:noFill/>
          <a:ln/>
        </p:spPr>
        <p:txBody>
          <a:bodyPr wrap="square" lIns="0" tIns="0" rIns="0" bIns="0" rtlCol="0" anchor="ctr"/>
          <a:lstStyle/>
          <a:p>
            <a:pPr marL="0" indent="0" algn="l">
              <a:buNone/>
            </a:pPr>
            <a:r>
              <a:rPr lang="en-US" sz="900" b="1">
                <a:solidFill>
                  <a:srgbClr val="1E293B"/>
                </a:solidFill>
                <a:latin typeface="Roboto Condensed" pitchFamily="34" charset="0"/>
                <a:ea typeface="Roboto Condensed" pitchFamily="34" charset="-122"/>
                <a:cs typeface="Roboto Condensed" pitchFamily="34" charset="-120"/>
              </a:rPr>
              <a:t>SCALE</a:t>
            </a:r>
            <a:endParaRPr lang="en-US" sz="900"/>
          </a:p>
        </p:txBody>
      </p:sp>
      <p:sp>
        <p:nvSpPr>
          <p:cNvPr id="78" name="Text 57"/>
          <p:cNvSpPr txBox="1"/>
          <p:nvPr/>
        </p:nvSpPr>
        <p:spPr>
          <a:xfrm>
            <a:off x="8569757" y="5238598"/>
            <a:ext cx="196596" cy="228600"/>
          </a:xfrm>
          <a:prstGeom prst="rect">
            <a:avLst/>
          </a:prstGeom>
          <a:noFill/>
          <a:ln/>
        </p:spPr>
        <p:txBody>
          <a:bodyPr wrap="square" lIns="0" tIns="0" rIns="0" bIns="0" rtlCol="0" anchor="ctr"/>
          <a:lstStyle/>
          <a:p>
            <a:pPr marL="0" indent="0" algn="l">
              <a:buNone/>
            </a:pPr>
            <a:r>
              <a:rPr lang="en-US" sz="1200" b="1">
                <a:solidFill>
                  <a:srgbClr val="CBD5E1"/>
                </a:solidFill>
                <a:latin typeface="Oswald" pitchFamily="34" charset="0"/>
                <a:ea typeface="Oswald" pitchFamily="34" charset="-122"/>
                <a:cs typeface="Oswald" pitchFamily="34" charset="-120"/>
              </a:rPr>
              <a:t>Q3</a:t>
            </a:r>
            <a:endParaRPr lang="en-US" sz="1200"/>
          </a:p>
        </p:txBody>
      </p:sp>
      <p:sp>
        <p:nvSpPr>
          <p:cNvPr id="79" name="Text 58"/>
          <p:cNvSpPr txBox="1"/>
          <p:nvPr/>
        </p:nvSpPr>
        <p:spPr>
          <a:xfrm>
            <a:off x="6572707" y="5505602"/>
            <a:ext cx="2162556" cy="305410"/>
          </a:xfrm>
          <a:prstGeom prst="rect">
            <a:avLst/>
          </a:prstGeom>
          <a:noFill/>
          <a:ln/>
        </p:spPr>
        <p:txBody>
          <a:bodyPr wrap="square" lIns="0" tIns="0" rIns="0" bIns="0" rtlCol="0" anchor="ctr"/>
          <a:lstStyle/>
          <a:p>
            <a:pPr marL="0" indent="0" algn="l">
              <a:buNone/>
            </a:pPr>
            <a:r>
              <a:rPr lang="en-US" sz="900">
                <a:solidFill>
                  <a:srgbClr val="475569"/>
                </a:solidFill>
                <a:latin typeface="Raleway" pitchFamily="34" charset="0"/>
                <a:ea typeface="Raleway" pitchFamily="34" charset="-122"/>
                <a:cs typeface="Raleway" pitchFamily="34" charset="-120"/>
              </a:rPr>
              <a:t>Production deployment, integration, vendor onboarding</a:t>
            </a:r>
            <a:endParaRPr lang="en-US" sz="900"/>
          </a:p>
        </p:txBody>
      </p:sp>
      <p:sp>
        <p:nvSpPr>
          <p:cNvPr id="80" name="Shape 59"/>
          <p:cNvSpPr/>
          <p:nvPr/>
        </p:nvSpPr>
        <p:spPr>
          <a:xfrm>
            <a:off x="6572707" y="5897880"/>
            <a:ext cx="619049" cy="219456"/>
          </a:xfrm>
          <a:prstGeom prst="roundRect">
            <a:avLst>
              <a:gd name="adj" fmla="val 144928"/>
            </a:avLst>
          </a:prstGeom>
          <a:solidFill>
            <a:srgbClr val="F1F5F9"/>
          </a:solidFill>
          <a:ln w="12700">
            <a:solidFill>
              <a:srgbClr val="FFFFFF">
                <a:alpha val="0"/>
              </a:srgbClr>
            </a:solidFill>
            <a:prstDash val="solid"/>
          </a:ln>
        </p:spPr>
        <p:txBody>
          <a:bodyPr/>
          <a:lstStyle/>
          <a:p>
            <a:endParaRPr lang="en-US"/>
          </a:p>
        </p:txBody>
      </p:sp>
      <p:sp>
        <p:nvSpPr>
          <p:cNvPr id="81" name="Text 60"/>
          <p:cNvSpPr txBox="1"/>
          <p:nvPr/>
        </p:nvSpPr>
        <p:spPr>
          <a:xfrm>
            <a:off x="6629400" y="5964631"/>
            <a:ext cx="661111" cy="124358"/>
          </a:xfrm>
          <a:prstGeom prst="rect">
            <a:avLst/>
          </a:prstGeom>
          <a:noFill/>
          <a:ln/>
        </p:spPr>
        <p:txBody>
          <a:bodyPr wrap="square" lIns="0" tIns="0" rIns="0" bIns="0" rtlCol="0" anchor="ctr"/>
          <a:lstStyle/>
          <a:p>
            <a:pPr marL="0" indent="0" algn="l">
              <a:buNone/>
            </a:pPr>
            <a:r>
              <a:rPr lang="en-US" sz="800" b="1">
                <a:solidFill>
                  <a:srgbClr val="475569"/>
                </a:solidFill>
                <a:latin typeface="Raleway" pitchFamily="34" charset="0"/>
                <a:ea typeface="Raleway" pitchFamily="34" charset="-122"/>
                <a:cs typeface="Raleway" pitchFamily="34" charset="-120"/>
              </a:rPr>
              <a:t>Execution</a:t>
            </a:r>
            <a:endParaRPr lang="en-US" sz="800"/>
          </a:p>
        </p:txBody>
      </p:sp>
      <p:pic>
        <p:nvPicPr>
          <p:cNvPr id="82" name="Image 19" descr="gen-dedup-6bab9f986820d248c4d42c53288c0e5d.png"/>
          <p:cNvPicPr>
            <a:picLocks noChangeAspect="1"/>
          </p:cNvPicPr>
          <p:nvPr/>
        </p:nvPicPr>
        <p:blipFill>
          <a:blip r:embed="rId13"/>
          <a:srcRect t="-5544" b="-5544"/>
          <a:stretch/>
        </p:blipFill>
        <p:spPr>
          <a:xfrm>
            <a:off x="8977579" y="5627218"/>
            <a:ext cx="105156" cy="133502"/>
          </a:xfrm>
          <a:prstGeom prst="rect">
            <a:avLst/>
          </a:prstGeom>
        </p:spPr>
      </p:pic>
      <p:sp>
        <p:nvSpPr>
          <p:cNvPr id="83" name="Text 61"/>
          <p:cNvSpPr txBox="1"/>
          <p:nvPr/>
        </p:nvSpPr>
        <p:spPr>
          <a:xfrm>
            <a:off x="9334195" y="5315407"/>
            <a:ext cx="637337" cy="133502"/>
          </a:xfrm>
          <a:prstGeom prst="rect">
            <a:avLst/>
          </a:prstGeom>
          <a:noFill/>
          <a:ln/>
        </p:spPr>
        <p:txBody>
          <a:bodyPr wrap="square" lIns="0" tIns="0" rIns="0" bIns="0" rtlCol="0" anchor="ctr"/>
          <a:lstStyle/>
          <a:p>
            <a:pPr marL="0" indent="0" algn="l">
              <a:buNone/>
            </a:pPr>
            <a:r>
              <a:rPr lang="en-US" sz="900" b="1">
                <a:solidFill>
                  <a:srgbClr val="1E293B"/>
                </a:solidFill>
                <a:latin typeface="Roboto Condensed" pitchFamily="34" charset="0"/>
                <a:ea typeface="Roboto Condensed" pitchFamily="34" charset="-122"/>
                <a:cs typeface="Roboto Condensed" pitchFamily="34" charset="-120"/>
              </a:rPr>
              <a:t>OPTIMIZE</a:t>
            </a:r>
            <a:endParaRPr lang="en-US" sz="900"/>
          </a:p>
        </p:txBody>
      </p:sp>
      <p:sp>
        <p:nvSpPr>
          <p:cNvPr id="84" name="Text 62"/>
          <p:cNvSpPr txBox="1"/>
          <p:nvPr/>
        </p:nvSpPr>
        <p:spPr>
          <a:xfrm>
            <a:off x="11044123" y="5238598"/>
            <a:ext cx="196596" cy="228600"/>
          </a:xfrm>
          <a:prstGeom prst="rect">
            <a:avLst/>
          </a:prstGeom>
          <a:noFill/>
          <a:ln/>
        </p:spPr>
        <p:txBody>
          <a:bodyPr wrap="square" lIns="0" tIns="0" rIns="0" bIns="0" rtlCol="0" anchor="ctr"/>
          <a:lstStyle/>
          <a:p>
            <a:pPr marL="0" indent="0" algn="l">
              <a:buNone/>
            </a:pPr>
            <a:r>
              <a:rPr lang="en-US" sz="1200" b="1">
                <a:solidFill>
                  <a:srgbClr val="CBD5E1"/>
                </a:solidFill>
                <a:latin typeface="Oswald" pitchFamily="34" charset="0"/>
                <a:ea typeface="Oswald" pitchFamily="34" charset="-122"/>
                <a:cs typeface="Oswald" pitchFamily="34" charset="-120"/>
              </a:rPr>
              <a:t>Q4</a:t>
            </a:r>
            <a:endParaRPr lang="en-US" sz="1200"/>
          </a:p>
        </p:txBody>
      </p:sp>
      <p:sp>
        <p:nvSpPr>
          <p:cNvPr id="85" name="Text 63"/>
          <p:cNvSpPr txBox="1"/>
          <p:nvPr/>
        </p:nvSpPr>
        <p:spPr>
          <a:xfrm>
            <a:off x="9334195" y="5505602"/>
            <a:ext cx="1877263" cy="305410"/>
          </a:xfrm>
          <a:prstGeom prst="rect">
            <a:avLst/>
          </a:prstGeom>
          <a:noFill/>
          <a:ln/>
        </p:spPr>
        <p:txBody>
          <a:bodyPr wrap="square" lIns="0" tIns="0" rIns="0" bIns="0" rtlCol="0" anchor="ctr"/>
          <a:lstStyle/>
          <a:p>
            <a:pPr marL="0" indent="0" algn="l">
              <a:buNone/>
            </a:pPr>
            <a:r>
              <a:rPr lang="en-US" sz="900">
                <a:solidFill>
                  <a:srgbClr val="475569"/>
                </a:solidFill>
                <a:latin typeface="Raleway" pitchFamily="34" charset="0"/>
                <a:ea typeface="Raleway" pitchFamily="34" charset="-122"/>
                <a:cs typeface="Raleway" pitchFamily="34" charset="-120"/>
              </a:rPr>
              <a:t>Run ops, process tuning, continuous improvement</a:t>
            </a:r>
            <a:endParaRPr lang="en-US" sz="900"/>
          </a:p>
        </p:txBody>
      </p:sp>
      <p:sp>
        <p:nvSpPr>
          <p:cNvPr id="86" name="Text 64"/>
          <p:cNvSpPr txBox="1"/>
          <p:nvPr/>
        </p:nvSpPr>
        <p:spPr>
          <a:xfrm>
            <a:off x="9391802" y="5964631"/>
            <a:ext cx="737006" cy="124358"/>
          </a:xfrm>
          <a:prstGeom prst="rect">
            <a:avLst/>
          </a:prstGeom>
          <a:noFill/>
          <a:ln/>
        </p:spPr>
        <p:txBody>
          <a:bodyPr wrap="square" lIns="0" tIns="0" rIns="0" bIns="0" rtlCol="0" anchor="ctr"/>
          <a:lstStyle/>
          <a:p>
            <a:pPr marL="0" indent="0" algn="l">
              <a:buNone/>
            </a:pPr>
            <a:r>
              <a:rPr lang="en-US" sz="800" b="1">
                <a:solidFill>
                  <a:srgbClr val="64748B"/>
                </a:solidFill>
                <a:latin typeface="Raleway" pitchFamily="34" charset="0"/>
                <a:ea typeface="Raleway" pitchFamily="34" charset="-122"/>
                <a:cs typeface="Raleway" pitchFamily="34" charset="-120"/>
              </a:rPr>
              <a:t>Refinement</a:t>
            </a:r>
            <a:endParaRPr lang="en-US" sz="800"/>
          </a:p>
        </p:txBody>
      </p:sp>
      <p:pic>
        <p:nvPicPr>
          <p:cNvPr id="88" name="Image 3" descr="gen-dedup-777bf757d895431cabe402fcd34ebd5a.png">
            <a:extLst>
              <a:ext uri="{FF2B5EF4-FFF2-40B4-BE49-F238E27FC236}">
                <a16:creationId xmlns:a16="http://schemas.microsoft.com/office/drawing/2014/main" id="{A1F11D37-BDE2-3712-A7D3-C679CDE17EA7}"/>
              </a:ext>
            </a:extLst>
          </p:cNvPr>
          <p:cNvPicPr>
            <a:picLocks noChangeAspect="1"/>
          </p:cNvPicPr>
          <p:nvPr/>
        </p:nvPicPr>
        <p:blipFill>
          <a:blip r:embed="rId14">
            <a:biLevel thresh="75000"/>
          </a:blip>
          <a:srcRect l="-384" r="-384"/>
          <a:stretch/>
        </p:blipFill>
        <p:spPr>
          <a:xfrm>
            <a:off x="571500" y="381305"/>
            <a:ext cx="57607" cy="476402"/>
          </a:xfrm>
          <a:prstGeom prst="rect">
            <a:avLst/>
          </a:prstGeom>
        </p:spPr>
      </p:pic>
      <p:sp>
        <p:nvSpPr>
          <p:cNvPr id="90" name="Text 5">
            <a:extLst>
              <a:ext uri="{FF2B5EF4-FFF2-40B4-BE49-F238E27FC236}">
                <a16:creationId xmlns:a16="http://schemas.microsoft.com/office/drawing/2014/main" id="{99F216BA-98E1-9713-3442-D130083236B4}"/>
              </a:ext>
            </a:extLst>
          </p:cNvPr>
          <p:cNvSpPr txBox="1"/>
          <p:nvPr/>
        </p:nvSpPr>
        <p:spPr>
          <a:xfrm>
            <a:off x="780897" y="333756"/>
            <a:ext cx="5913817" cy="406908"/>
          </a:xfrm>
          <a:prstGeom prst="rect">
            <a:avLst/>
          </a:prstGeom>
          <a:noFill/>
          <a:ln/>
        </p:spPr>
        <p:txBody>
          <a:bodyPr wrap="none" lIns="0" tIns="0" rIns="0" bIns="0" rtlCol="0" anchor="ctr"/>
          <a:lstStyle/>
          <a:p>
            <a:r>
              <a:rPr lang="en-GB" sz="2400" b="1" kern="0" spc="-67" dirty="0">
                <a:solidFill>
                  <a:srgbClr val="111827"/>
                </a:solidFill>
                <a:latin typeface="Oswald" pitchFamily="34" charset="0"/>
                <a:ea typeface="Oswald" pitchFamily="34" charset="-122"/>
                <a:cs typeface="Oswald" pitchFamily="34" charset="-120"/>
              </a:rPr>
              <a:t>NEXT STEPS</a:t>
            </a:r>
          </a:p>
        </p:txBody>
      </p:sp>
      <p:sp>
        <p:nvSpPr>
          <p:cNvPr id="92" name="Text 6">
            <a:extLst>
              <a:ext uri="{FF2B5EF4-FFF2-40B4-BE49-F238E27FC236}">
                <a16:creationId xmlns:a16="http://schemas.microsoft.com/office/drawing/2014/main" id="{063D790E-12FB-9B51-AAAE-A04D625A7E6D}"/>
              </a:ext>
            </a:extLst>
          </p:cNvPr>
          <p:cNvSpPr txBox="1"/>
          <p:nvPr/>
        </p:nvSpPr>
        <p:spPr>
          <a:xfrm>
            <a:off x="780898" y="740663"/>
            <a:ext cx="5054803" cy="257861"/>
          </a:xfrm>
          <a:prstGeom prst="rect">
            <a:avLst/>
          </a:prstGeom>
          <a:noFill/>
          <a:ln/>
        </p:spPr>
        <p:txBody>
          <a:bodyPr wrap="none" lIns="0" tIns="0" rIns="0" bIns="0" rtlCol="0" anchor="ctr"/>
          <a:lstStyle/>
          <a:p>
            <a:pPr marL="0" indent="0" algn="l">
              <a:buNone/>
            </a:pPr>
            <a:r>
              <a:rPr lang="en-GB" sz="1500" b="1" kern="0" spc="66" dirty="0">
                <a:solidFill>
                  <a:srgbClr val="2A9D8F"/>
                </a:solidFill>
                <a:latin typeface="Roboto Condensed" pitchFamily="34" charset="0"/>
                <a:ea typeface="Roboto Condensed" pitchFamily="34" charset="-122"/>
                <a:cs typeface="Roboto Condensed" pitchFamily="34" charset="-120"/>
              </a:rPr>
              <a:t>Flexible Engagement Models Tailored To Your Three-year Roadmap</a:t>
            </a:r>
          </a:p>
        </p:txBody>
      </p:sp>
    </p:spTree>
    <p:extLst>
      <p:ext uri="{BB962C8B-B14F-4D97-AF65-F5344CB8AC3E}">
        <p14:creationId xmlns:p14="http://schemas.microsoft.com/office/powerpoint/2010/main" val="11530500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4" name="Shape 2"/>
          <p:cNvSpPr/>
          <p:nvPr/>
        </p:nvSpPr>
        <p:spPr>
          <a:xfrm>
            <a:off x="8858707" y="4000500"/>
            <a:ext cx="3810305" cy="3810305"/>
          </a:xfrm>
          <a:prstGeom prst="ellipse">
            <a:avLst/>
          </a:prstGeom>
          <a:noFill/>
          <a:ln w="508000">
            <a:solidFill>
              <a:srgbClr val="D62839">
                <a:alpha val="3000"/>
              </a:srgbClr>
            </a:solidFill>
            <a:prstDash val="solid"/>
          </a:ln>
        </p:spPr>
        <p:txBody>
          <a:bodyPr/>
          <a:lstStyle/>
          <a:p>
            <a:endParaRPr lang="en-US"/>
          </a:p>
        </p:txBody>
      </p:sp>
      <p:pic>
        <p:nvPicPr>
          <p:cNvPr id="8" name="Image 1" descr="preencoded.png"/>
          <p:cNvPicPr>
            <a:picLocks noChangeAspect="1"/>
          </p:cNvPicPr>
          <p:nvPr/>
        </p:nvPicPr>
        <p:blipFill>
          <a:blip r:embed="rId3"/>
          <a:srcRect l="-2111" r="-2111"/>
          <a:stretch/>
        </p:blipFill>
        <p:spPr>
          <a:xfrm>
            <a:off x="2175358" y="4538167"/>
            <a:ext cx="609905" cy="9144"/>
          </a:xfrm>
          <a:prstGeom prst="rect">
            <a:avLst/>
          </a:prstGeom>
        </p:spPr>
      </p:pic>
      <p:sp>
        <p:nvSpPr>
          <p:cNvPr id="9" name="Text 5"/>
          <p:cNvSpPr txBox="1"/>
          <p:nvPr/>
        </p:nvSpPr>
        <p:spPr>
          <a:xfrm>
            <a:off x="2556662" y="4390949"/>
            <a:ext cx="7086600" cy="305410"/>
          </a:xfrm>
          <a:prstGeom prst="rect">
            <a:avLst/>
          </a:prstGeom>
          <a:noFill/>
          <a:ln/>
        </p:spPr>
        <p:txBody>
          <a:bodyPr wrap="square" lIns="0" tIns="0" rIns="0" bIns="0" rtlCol="0" anchor="ctr"/>
          <a:lstStyle/>
          <a:p>
            <a:pPr marL="0" indent="0" algn="ctr">
              <a:buNone/>
            </a:pPr>
            <a:r>
              <a:rPr lang="en-US" sz="1800" b="1" kern="0" spc="45">
                <a:solidFill>
                  <a:srgbClr val="2A9D8F"/>
                </a:solidFill>
                <a:latin typeface="Oswald" pitchFamily="34" charset="0"/>
                <a:ea typeface="Oswald" pitchFamily="34" charset="-122"/>
                <a:cs typeface="Oswald" pitchFamily="34" charset="-120"/>
              </a:rPr>
              <a:t>This Partnership Allows Your GCC to Compound Over Time</a:t>
            </a:r>
            <a:endParaRPr lang="en-US" sz="1800"/>
          </a:p>
        </p:txBody>
      </p:sp>
      <p:pic>
        <p:nvPicPr>
          <p:cNvPr id="10" name="Image 2" descr="preencoded.png"/>
          <p:cNvPicPr>
            <a:picLocks noChangeAspect="1"/>
          </p:cNvPicPr>
          <p:nvPr/>
        </p:nvPicPr>
        <p:blipFill>
          <a:blip r:embed="rId3"/>
          <a:srcRect l="-2111" r="-2111"/>
          <a:stretch/>
        </p:blipFill>
        <p:spPr>
          <a:xfrm>
            <a:off x="9407347" y="4538167"/>
            <a:ext cx="609905" cy="9144"/>
          </a:xfrm>
          <a:prstGeom prst="rect">
            <a:avLst/>
          </a:prstGeom>
        </p:spPr>
      </p:pic>
      <p:sp>
        <p:nvSpPr>
          <p:cNvPr id="11" name="Shape 6"/>
          <p:cNvSpPr/>
          <p:nvPr/>
        </p:nvSpPr>
        <p:spPr>
          <a:xfrm>
            <a:off x="457200" y="1238098"/>
            <a:ext cx="2648102" cy="2743200"/>
          </a:xfrm>
          <a:prstGeom prst="roundRect">
            <a:avLst>
              <a:gd name="adj" fmla="val 2981"/>
            </a:avLst>
          </a:prstGeom>
          <a:solidFill>
            <a:srgbClr val="FFFFFF"/>
          </a:solidFill>
          <a:ln w="12700">
            <a:solidFill>
              <a:srgbClr val="F3F4F6"/>
            </a:solidFill>
            <a:prstDash val="solid"/>
          </a:ln>
          <a:effectLst>
            <a:outerShdw blurRad="63500" dist="38100" dir="16200000" algn="bl" rotWithShape="0">
              <a:srgbClr val="000000">
                <a:alpha val="5000"/>
              </a:srgbClr>
            </a:outerShdw>
          </a:effectLst>
        </p:spPr>
        <p:txBody>
          <a:bodyPr/>
          <a:lstStyle/>
          <a:p>
            <a:endParaRPr lang="en-US"/>
          </a:p>
        </p:txBody>
      </p:sp>
      <p:sp>
        <p:nvSpPr>
          <p:cNvPr id="12" name="Shape 7"/>
          <p:cNvSpPr/>
          <p:nvPr/>
        </p:nvSpPr>
        <p:spPr>
          <a:xfrm>
            <a:off x="457200" y="1238098"/>
            <a:ext cx="2648102" cy="57607"/>
          </a:xfrm>
          <a:prstGeom prst="roundRect">
            <a:avLst>
              <a:gd name="adj" fmla="val 137034"/>
            </a:avLst>
          </a:prstGeom>
          <a:solidFill>
            <a:srgbClr val="2A9D8F"/>
          </a:solidFill>
          <a:ln w="12700">
            <a:solidFill>
              <a:srgbClr val="2A9D8F">
                <a:alpha val="0"/>
              </a:srgbClr>
            </a:solidFill>
            <a:prstDash val="solid"/>
          </a:ln>
        </p:spPr>
        <p:txBody>
          <a:bodyPr/>
          <a:lstStyle/>
          <a:p>
            <a:endParaRPr lang="en-US"/>
          </a:p>
        </p:txBody>
      </p:sp>
      <p:sp>
        <p:nvSpPr>
          <p:cNvPr id="13" name="Text 8"/>
          <p:cNvSpPr txBox="1"/>
          <p:nvPr/>
        </p:nvSpPr>
        <p:spPr>
          <a:xfrm>
            <a:off x="2591410" y="1333195"/>
            <a:ext cx="601675" cy="457200"/>
          </a:xfrm>
          <a:prstGeom prst="rect">
            <a:avLst/>
          </a:prstGeom>
          <a:noFill/>
          <a:ln/>
        </p:spPr>
        <p:txBody>
          <a:bodyPr wrap="square" lIns="0" tIns="0" rIns="0" bIns="0" rtlCol="0" anchor="ctr"/>
          <a:lstStyle/>
          <a:p>
            <a:pPr marL="0" indent="0" algn="l">
              <a:buNone/>
            </a:pPr>
            <a:r>
              <a:rPr lang="en-US" sz="3600" b="1">
                <a:solidFill>
                  <a:srgbClr val="2A9D8F">
                    <a:alpha val="8000"/>
                  </a:srgbClr>
                </a:solidFill>
                <a:latin typeface="Oswald" pitchFamily="34" charset="0"/>
                <a:ea typeface="Oswald" pitchFamily="34" charset="-122"/>
                <a:cs typeface="Oswald" pitchFamily="34" charset="-120"/>
              </a:rPr>
              <a:t>01</a:t>
            </a:r>
            <a:endParaRPr lang="en-US" sz="3600"/>
          </a:p>
        </p:txBody>
      </p:sp>
      <p:sp>
        <p:nvSpPr>
          <p:cNvPr id="14" name="Shape 9"/>
          <p:cNvSpPr/>
          <p:nvPr/>
        </p:nvSpPr>
        <p:spPr>
          <a:xfrm>
            <a:off x="3333902" y="1238098"/>
            <a:ext cx="2648102" cy="2743200"/>
          </a:xfrm>
          <a:prstGeom prst="roundRect">
            <a:avLst>
              <a:gd name="adj" fmla="val 2981"/>
            </a:avLst>
          </a:prstGeom>
          <a:solidFill>
            <a:srgbClr val="FFFFFF"/>
          </a:solidFill>
          <a:ln w="12700">
            <a:solidFill>
              <a:srgbClr val="F3F4F6"/>
            </a:solidFill>
            <a:prstDash val="solid"/>
          </a:ln>
          <a:effectLst>
            <a:outerShdw blurRad="63500" dist="38100" dir="16200000" algn="bl" rotWithShape="0">
              <a:srgbClr val="000000">
                <a:alpha val="5000"/>
              </a:srgbClr>
            </a:outerShdw>
          </a:effectLst>
        </p:spPr>
        <p:txBody>
          <a:bodyPr/>
          <a:lstStyle/>
          <a:p>
            <a:endParaRPr lang="en-US"/>
          </a:p>
        </p:txBody>
      </p:sp>
      <p:sp>
        <p:nvSpPr>
          <p:cNvPr id="15" name="Shape 10"/>
          <p:cNvSpPr/>
          <p:nvPr/>
        </p:nvSpPr>
        <p:spPr>
          <a:xfrm>
            <a:off x="3333902" y="1238098"/>
            <a:ext cx="2648102" cy="57607"/>
          </a:xfrm>
          <a:prstGeom prst="roundRect">
            <a:avLst>
              <a:gd name="adj" fmla="val 137034"/>
            </a:avLst>
          </a:prstGeom>
          <a:solidFill>
            <a:srgbClr val="D62839"/>
          </a:solidFill>
          <a:ln w="12700">
            <a:solidFill>
              <a:srgbClr val="D62839">
                <a:alpha val="0"/>
              </a:srgbClr>
            </a:solidFill>
            <a:prstDash val="solid"/>
          </a:ln>
        </p:spPr>
        <p:txBody>
          <a:bodyPr/>
          <a:lstStyle/>
          <a:p>
            <a:endParaRPr lang="en-US"/>
          </a:p>
        </p:txBody>
      </p:sp>
      <p:sp>
        <p:nvSpPr>
          <p:cNvPr id="16" name="Text 11"/>
          <p:cNvSpPr txBox="1"/>
          <p:nvPr/>
        </p:nvSpPr>
        <p:spPr>
          <a:xfrm>
            <a:off x="5409590" y="1333195"/>
            <a:ext cx="607162" cy="457200"/>
          </a:xfrm>
          <a:prstGeom prst="rect">
            <a:avLst/>
          </a:prstGeom>
          <a:noFill/>
          <a:ln/>
        </p:spPr>
        <p:txBody>
          <a:bodyPr wrap="square" lIns="0" tIns="0" rIns="0" bIns="0" rtlCol="0" anchor="ctr"/>
          <a:lstStyle/>
          <a:p>
            <a:pPr marL="0" indent="0" algn="l">
              <a:buNone/>
            </a:pPr>
            <a:r>
              <a:rPr lang="en-US" sz="3600" b="1">
                <a:solidFill>
                  <a:srgbClr val="D62839">
                    <a:alpha val="8000"/>
                  </a:srgbClr>
                </a:solidFill>
                <a:latin typeface="Oswald" pitchFamily="34" charset="0"/>
                <a:ea typeface="Oswald" pitchFamily="34" charset="-122"/>
                <a:cs typeface="Oswald" pitchFamily="34" charset="-120"/>
              </a:rPr>
              <a:t>02</a:t>
            </a:r>
            <a:endParaRPr lang="en-US" sz="3600"/>
          </a:p>
        </p:txBody>
      </p:sp>
      <p:sp>
        <p:nvSpPr>
          <p:cNvPr id="17" name="Shape 12"/>
          <p:cNvSpPr/>
          <p:nvPr/>
        </p:nvSpPr>
        <p:spPr>
          <a:xfrm>
            <a:off x="6210605" y="1238098"/>
            <a:ext cx="2648102" cy="2743200"/>
          </a:xfrm>
          <a:prstGeom prst="roundRect">
            <a:avLst>
              <a:gd name="adj" fmla="val 2981"/>
            </a:avLst>
          </a:prstGeom>
          <a:solidFill>
            <a:srgbClr val="FFFFFF"/>
          </a:solidFill>
          <a:ln w="12700">
            <a:solidFill>
              <a:srgbClr val="F3F4F6"/>
            </a:solidFill>
            <a:prstDash val="solid"/>
          </a:ln>
          <a:effectLst>
            <a:outerShdw blurRad="63500" dist="38100" dir="16200000" algn="bl" rotWithShape="0">
              <a:srgbClr val="000000">
                <a:alpha val="5000"/>
              </a:srgbClr>
            </a:outerShdw>
          </a:effectLst>
        </p:spPr>
        <p:txBody>
          <a:bodyPr/>
          <a:lstStyle/>
          <a:p>
            <a:endParaRPr lang="en-US"/>
          </a:p>
        </p:txBody>
      </p:sp>
      <p:sp>
        <p:nvSpPr>
          <p:cNvPr id="18" name="Shape 13"/>
          <p:cNvSpPr/>
          <p:nvPr/>
        </p:nvSpPr>
        <p:spPr>
          <a:xfrm>
            <a:off x="6210605" y="1238098"/>
            <a:ext cx="2648102" cy="57607"/>
          </a:xfrm>
          <a:prstGeom prst="roundRect">
            <a:avLst>
              <a:gd name="adj" fmla="val 137034"/>
            </a:avLst>
          </a:prstGeom>
          <a:solidFill>
            <a:srgbClr val="2A9D8F"/>
          </a:solidFill>
          <a:ln w="12700">
            <a:solidFill>
              <a:srgbClr val="2A9D8F">
                <a:alpha val="0"/>
              </a:srgbClr>
            </a:solidFill>
            <a:prstDash val="solid"/>
          </a:ln>
        </p:spPr>
        <p:txBody>
          <a:bodyPr/>
          <a:lstStyle/>
          <a:p>
            <a:endParaRPr lang="en-US"/>
          </a:p>
        </p:txBody>
      </p:sp>
      <p:sp>
        <p:nvSpPr>
          <p:cNvPr id="19" name="Text 14"/>
          <p:cNvSpPr txBox="1"/>
          <p:nvPr/>
        </p:nvSpPr>
        <p:spPr>
          <a:xfrm>
            <a:off x="8286293" y="1333195"/>
            <a:ext cx="607162" cy="457200"/>
          </a:xfrm>
          <a:prstGeom prst="rect">
            <a:avLst/>
          </a:prstGeom>
          <a:noFill/>
          <a:ln/>
        </p:spPr>
        <p:txBody>
          <a:bodyPr wrap="square" lIns="0" tIns="0" rIns="0" bIns="0" rtlCol="0" anchor="ctr"/>
          <a:lstStyle/>
          <a:p>
            <a:pPr marL="0" indent="0" algn="l">
              <a:buNone/>
            </a:pPr>
            <a:r>
              <a:rPr lang="en-US" sz="3600" b="1">
                <a:solidFill>
                  <a:srgbClr val="2A9D8F">
                    <a:alpha val="8000"/>
                  </a:srgbClr>
                </a:solidFill>
                <a:latin typeface="Oswald" pitchFamily="34" charset="0"/>
                <a:ea typeface="Oswald" pitchFamily="34" charset="-122"/>
                <a:cs typeface="Oswald" pitchFamily="34" charset="-120"/>
              </a:rPr>
              <a:t>03</a:t>
            </a:r>
            <a:endParaRPr lang="en-US" sz="3600"/>
          </a:p>
        </p:txBody>
      </p:sp>
      <p:sp>
        <p:nvSpPr>
          <p:cNvPr id="20" name="Shape 15"/>
          <p:cNvSpPr/>
          <p:nvPr/>
        </p:nvSpPr>
        <p:spPr>
          <a:xfrm>
            <a:off x="9087307" y="1238098"/>
            <a:ext cx="2648102" cy="2743200"/>
          </a:xfrm>
          <a:prstGeom prst="roundRect">
            <a:avLst>
              <a:gd name="adj" fmla="val 2981"/>
            </a:avLst>
          </a:prstGeom>
          <a:solidFill>
            <a:srgbClr val="FFFFFF"/>
          </a:solidFill>
          <a:ln w="12700">
            <a:solidFill>
              <a:srgbClr val="F3F4F6"/>
            </a:solidFill>
            <a:prstDash val="solid"/>
          </a:ln>
          <a:effectLst>
            <a:outerShdw blurRad="63500" dist="38100" dir="16200000" algn="bl" rotWithShape="0">
              <a:srgbClr val="000000">
                <a:alpha val="5000"/>
              </a:srgbClr>
            </a:outerShdw>
          </a:effectLst>
        </p:spPr>
        <p:txBody>
          <a:bodyPr/>
          <a:lstStyle/>
          <a:p>
            <a:endParaRPr lang="en-US"/>
          </a:p>
        </p:txBody>
      </p:sp>
      <p:sp>
        <p:nvSpPr>
          <p:cNvPr id="21" name="Shape 16"/>
          <p:cNvSpPr/>
          <p:nvPr/>
        </p:nvSpPr>
        <p:spPr>
          <a:xfrm>
            <a:off x="9087307" y="1238098"/>
            <a:ext cx="2648102" cy="57607"/>
          </a:xfrm>
          <a:prstGeom prst="roundRect">
            <a:avLst>
              <a:gd name="adj" fmla="val 137034"/>
            </a:avLst>
          </a:prstGeom>
          <a:solidFill>
            <a:srgbClr val="D62839"/>
          </a:solidFill>
          <a:ln w="12700">
            <a:solidFill>
              <a:srgbClr val="D62839">
                <a:alpha val="0"/>
              </a:srgbClr>
            </a:solidFill>
            <a:prstDash val="solid"/>
          </a:ln>
        </p:spPr>
        <p:txBody>
          <a:bodyPr/>
          <a:lstStyle/>
          <a:p>
            <a:endParaRPr lang="en-US"/>
          </a:p>
        </p:txBody>
      </p:sp>
      <p:sp>
        <p:nvSpPr>
          <p:cNvPr id="22" name="Text 17"/>
          <p:cNvSpPr txBox="1"/>
          <p:nvPr/>
        </p:nvSpPr>
        <p:spPr>
          <a:xfrm>
            <a:off x="11157509" y="1333195"/>
            <a:ext cx="607162" cy="457200"/>
          </a:xfrm>
          <a:prstGeom prst="rect">
            <a:avLst/>
          </a:prstGeom>
          <a:noFill/>
          <a:ln/>
        </p:spPr>
        <p:txBody>
          <a:bodyPr wrap="square" lIns="0" tIns="0" rIns="0" bIns="0" rtlCol="0" anchor="ctr"/>
          <a:lstStyle/>
          <a:p>
            <a:pPr marL="0" indent="0" algn="l">
              <a:buNone/>
            </a:pPr>
            <a:r>
              <a:rPr lang="en-US" sz="3600" b="1">
                <a:solidFill>
                  <a:srgbClr val="D62839">
                    <a:alpha val="8000"/>
                  </a:srgbClr>
                </a:solidFill>
                <a:latin typeface="Oswald" pitchFamily="34" charset="0"/>
                <a:ea typeface="Oswald" pitchFamily="34" charset="-122"/>
                <a:cs typeface="Oswald" pitchFamily="34" charset="-120"/>
              </a:rPr>
              <a:t>04</a:t>
            </a:r>
            <a:endParaRPr lang="en-US" sz="3600"/>
          </a:p>
        </p:txBody>
      </p:sp>
      <p:sp>
        <p:nvSpPr>
          <p:cNvPr id="23" name="Shape 18"/>
          <p:cNvSpPr/>
          <p:nvPr/>
        </p:nvSpPr>
        <p:spPr>
          <a:xfrm>
            <a:off x="457200" y="4809744"/>
            <a:ext cx="2704795" cy="1524305"/>
          </a:xfrm>
          <a:prstGeom prst="roundRect">
            <a:avLst>
              <a:gd name="adj" fmla="val 5999"/>
            </a:avLst>
          </a:prstGeom>
          <a:solidFill>
            <a:srgbClr val="FFFFFF"/>
          </a:solidFill>
          <a:ln w="12700">
            <a:solidFill>
              <a:srgbClr val="F3F4F6"/>
            </a:solidFill>
            <a:prstDash val="solid"/>
          </a:ln>
        </p:spPr>
        <p:txBody>
          <a:bodyPr/>
          <a:lstStyle/>
          <a:p>
            <a:endParaRPr lang="en-US"/>
          </a:p>
        </p:txBody>
      </p:sp>
      <p:sp>
        <p:nvSpPr>
          <p:cNvPr id="24" name="Shape 19"/>
          <p:cNvSpPr/>
          <p:nvPr/>
        </p:nvSpPr>
        <p:spPr>
          <a:xfrm>
            <a:off x="457200" y="4809744"/>
            <a:ext cx="38405" cy="1505102"/>
          </a:xfrm>
          <a:prstGeom prst="rect">
            <a:avLst/>
          </a:prstGeom>
          <a:solidFill>
            <a:srgbClr val="2A9D8F"/>
          </a:solidFill>
          <a:ln w="12700">
            <a:solidFill>
              <a:srgbClr val="FFFFFF">
                <a:alpha val="0"/>
              </a:srgbClr>
            </a:solidFill>
            <a:prstDash val="solid"/>
          </a:ln>
        </p:spPr>
        <p:txBody>
          <a:bodyPr/>
          <a:lstStyle/>
          <a:p>
            <a:endParaRPr lang="en-US"/>
          </a:p>
        </p:txBody>
      </p:sp>
      <p:pic>
        <p:nvPicPr>
          <p:cNvPr id="25" name="Image 3" descr="preencoded.png"/>
          <p:cNvPicPr>
            <a:picLocks noChangeAspect="1"/>
          </p:cNvPicPr>
          <p:nvPr/>
        </p:nvPicPr>
        <p:blipFill>
          <a:blip r:embed="rId4"/>
          <a:srcRect l="-133" r="-133"/>
          <a:stretch/>
        </p:blipFill>
        <p:spPr>
          <a:xfrm>
            <a:off x="1723644" y="5140757"/>
            <a:ext cx="171907" cy="228600"/>
          </a:xfrm>
          <a:prstGeom prst="rect">
            <a:avLst/>
          </a:prstGeom>
        </p:spPr>
      </p:pic>
      <p:sp>
        <p:nvSpPr>
          <p:cNvPr id="26" name="Text 20"/>
          <p:cNvSpPr txBox="1"/>
          <p:nvPr/>
        </p:nvSpPr>
        <p:spPr>
          <a:xfrm>
            <a:off x="580644" y="5550408"/>
            <a:ext cx="2457907" cy="505663"/>
          </a:xfrm>
          <a:prstGeom prst="rect">
            <a:avLst/>
          </a:prstGeom>
          <a:noFill/>
          <a:ln/>
        </p:spPr>
        <p:txBody>
          <a:bodyPr wrap="square" lIns="0" tIns="0" rIns="0" bIns="0" rtlCol="0" anchor="ctr"/>
          <a:lstStyle/>
          <a:p>
            <a:pPr marL="0" indent="0" algn="ctr">
              <a:buNone/>
            </a:pPr>
            <a:r>
              <a:rPr lang="en-US" sz="1000">
                <a:solidFill>
                  <a:srgbClr val="374151"/>
                </a:solidFill>
                <a:latin typeface="Raleway" pitchFamily="34" charset="0"/>
                <a:ea typeface="Raleway" pitchFamily="34" charset="-122"/>
                <a:cs typeface="Raleway" pitchFamily="34" charset="-120"/>
              </a:rPr>
              <a:t>Institutional memory outperforms headcount growth by preserving critical knowledge and expertise</a:t>
            </a:r>
            <a:endParaRPr lang="en-US" sz="1000"/>
          </a:p>
        </p:txBody>
      </p:sp>
      <p:sp>
        <p:nvSpPr>
          <p:cNvPr id="27" name="Shape 21"/>
          <p:cNvSpPr/>
          <p:nvPr/>
        </p:nvSpPr>
        <p:spPr>
          <a:xfrm>
            <a:off x="3314700" y="4809744"/>
            <a:ext cx="2704795" cy="1524305"/>
          </a:xfrm>
          <a:prstGeom prst="roundRect">
            <a:avLst>
              <a:gd name="adj" fmla="val 5999"/>
            </a:avLst>
          </a:prstGeom>
          <a:solidFill>
            <a:srgbClr val="FFFFFF"/>
          </a:solidFill>
          <a:ln w="12700">
            <a:solidFill>
              <a:srgbClr val="F3F4F6"/>
            </a:solidFill>
            <a:prstDash val="solid"/>
          </a:ln>
        </p:spPr>
        <p:txBody>
          <a:bodyPr/>
          <a:lstStyle/>
          <a:p>
            <a:endParaRPr lang="en-US"/>
          </a:p>
        </p:txBody>
      </p:sp>
      <p:sp>
        <p:nvSpPr>
          <p:cNvPr id="28" name="Shape 22"/>
          <p:cNvSpPr/>
          <p:nvPr/>
        </p:nvSpPr>
        <p:spPr>
          <a:xfrm>
            <a:off x="3314700" y="4809744"/>
            <a:ext cx="38405" cy="1505102"/>
          </a:xfrm>
          <a:prstGeom prst="rect">
            <a:avLst/>
          </a:prstGeom>
          <a:solidFill>
            <a:srgbClr val="D62839"/>
          </a:solidFill>
          <a:ln w="12700">
            <a:solidFill>
              <a:srgbClr val="FFFFFF">
                <a:alpha val="0"/>
              </a:srgbClr>
            </a:solidFill>
            <a:prstDash val="solid"/>
          </a:ln>
        </p:spPr>
        <p:txBody>
          <a:bodyPr/>
          <a:lstStyle/>
          <a:p>
            <a:endParaRPr lang="en-US"/>
          </a:p>
        </p:txBody>
      </p:sp>
      <p:pic>
        <p:nvPicPr>
          <p:cNvPr id="29" name="Image 4" descr="preencoded.png"/>
          <p:cNvPicPr>
            <a:picLocks noChangeAspect="1"/>
          </p:cNvPicPr>
          <p:nvPr/>
        </p:nvPicPr>
        <p:blipFill>
          <a:blip r:embed="rId5"/>
          <a:srcRect/>
          <a:stretch/>
        </p:blipFill>
        <p:spPr>
          <a:xfrm>
            <a:off x="4552798" y="5140757"/>
            <a:ext cx="228600" cy="228600"/>
          </a:xfrm>
          <a:prstGeom prst="rect">
            <a:avLst/>
          </a:prstGeom>
        </p:spPr>
      </p:pic>
      <p:sp>
        <p:nvSpPr>
          <p:cNvPr id="30" name="Text 23"/>
          <p:cNvSpPr txBox="1"/>
          <p:nvPr/>
        </p:nvSpPr>
        <p:spPr>
          <a:xfrm>
            <a:off x="3438144" y="5550408"/>
            <a:ext cx="2457907" cy="505663"/>
          </a:xfrm>
          <a:prstGeom prst="rect">
            <a:avLst/>
          </a:prstGeom>
          <a:noFill/>
          <a:ln/>
        </p:spPr>
        <p:txBody>
          <a:bodyPr wrap="square" lIns="0" tIns="0" rIns="0" bIns="0" rtlCol="0" anchor="ctr"/>
          <a:lstStyle/>
          <a:p>
            <a:pPr marL="0" indent="0" algn="ctr">
              <a:buNone/>
            </a:pPr>
            <a:r>
              <a:rPr lang="en-US" sz="1000">
                <a:solidFill>
                  <a:srgbClr val="374151"/>
                </a:solidFill>
                <a:latin typeface="Raleway" pitchFamily="34" charset="0"/>
                <a:ea typeface="Raleway" pitchFamily="34" charset="-122"/>
                <a:cs typeface="Raleway" pitchFamily="34" charset="-120"/>
              </a:rPr>
              <a:t>Signals beat noise in decision-making through data governance and platform leverage</a:t>
            </a:r>
            <a:endParaRPr lang="en-US" sz="1000"/>
          </a:p>
        </p:txBody>
      </p:sp>
      <p:sp>
        <p:nvSpPr>
          <p:cNvPr id="31" name="Shape 24"/>
          <p:cNvSpPr/>
          <p:nvPr/>
        </p:nvSpPr>
        <p:spPr>
          <a:xfrm>
            <a:off x="6172200" y="4809744"/>
            <a:ext cx="2704795" cy="1524305"/>
          </a:xfrm>
          <a:prstGeom prst="roundRect">
            <a:avLst>
              <a:gd name="adj" fmla="val 5999"/>
            </a:avLst>
          </a:prstGeom>
          <a:solidFill>
            <a:srgbClr val="FFFFFF"/>
          </a:solidFill>
          <a:ln w="12700">
            <a:solidFill>
              <a:srgbClr val="F3F4F6"/>
            </a:solidFill>
            <a:prstDash val="solid"/>
          </a:ln>
        </p:spPr>
        <p:txBody>
          <a:bodyPr/>
          <a:lstStyle/>
          <a:p>
            <a:endParaRPr lang="en-US"/>
          </a:p>
        </p:txBody>
      </p:sp>
      <p:sp>
        <p:nvSpPr>
          <p:cNvPr id="32" name="Shape 25"/>
          <p:cNvSpPr/>
          <p:nvPr/>
        </p:nvSpPr>
        <p:spPr>
          <a:xfrm>
            <a:off x="6172200" y="4809744"/>
            <a:ext cx="38405" cy="1505102"/>
          </a:xfrm>
          <a:prstGeom prst="rect">
            <a:avLst/>
          </a:prstGeom>
          <a:solidFill>
            <a:srgbClr val="2A9D8F"/>
          </a:solidFill>
          <a:ln w="12700">
            <a:solidFill>
              <a:srgbClr val="FFFFFF">
                <a:alpha val="0"/>
              </a:srgbClr>
            </a:solidFill>
            <a:prstDash val="solid"/>
          </a:ln>
        </p:spPr>
        <p:txBody>
          <a:bodyPr/>
          <a:lstStyle/>
          <a:p>
            <a:endParaRPr lang="en-US"/>
          </a:p>
        </p:txBody>
      </p:sp>
      <p:pic>
        <p:nvPicPr>
          <p:cNvPr id="33" name="Image 5" descr="preencoded.png"/>
          <p:cNvPicPr>
            <a:picLocks noChangeAspect="1"/>
          </p:cNvPicPr>
          <p:nvPr/>
        </p:nvPicPr>
        <p:blipFill>
          <a:blip r:embed="rId6"/>
          <a:srcRect/>
          <a:stretch/>
        </p:blipFill>
        <p:spPr>
          <a:xfrm>
            <a:off x="7410298" y="5140757"/>
            <a:ext cx="228600" cy="228600"/>
          </a:xfrm>
          <a:prstGeom prst="rect">
            <a:avLst/>
          </a:prstGeom>
        </p:spPr>
      </p:pic>
      <p:sp>
        <p:nvSpPr>
          <p:cNvPr id="34" name="Text 26"/>
          <p:cNvSpPr txBox="1"/>
          <p:nvPr/>
        </p:nvSpPr>
        <p:spPr>
          <a:xfrm>
            <a:off x="6295644" y="5550408"/>
            <a:ext cx="2457907" cy="505663"/>
          </a:xfrm>
          <a:prstGeom prst="rect">
            <a:avLst/>
          </a:prstGeom>
          <a:noFill/>
          <a:ln/>
        </p:spPr>
        <p:txBody>
          <a:bodyPr wrap="square" lIns="0" tIns="0" rIns="0" bIns="0" rtlCol="0" anchor="ctr"/>
          <a:lstStyle/>
          <a:p>
            <a:pPr marL="0" indent="0" algn="ctr">
              <a:buNone/>
            </a:pPr>
            <a:r>
              <a:rPr lang="en-US" sz="1000">
                <a:solidFill>
                  <a:srgbClr val="374151"/>
                </a:solidFill>
                <a:latin typeface="Raleway" pitchFamily="34" charset="0"/>
                <a:ea typeface="Raleway" pitchFamily="34" charset="-122"/>
                <a:cs typeface="Raleway" pitchFamily="34" charset="-120"/>
              </a:rPr>
              <a:t>Platforms enable non-linear productivity gains beyond traditional pod-based scaling</a:t>
            </a:r>
            <a:endParaRPr lang="en-US" sz="1000"/>
          </a:p>
        </p:txBody>
      </p:sp>
      <p:sp>
        <p:nvSpPr>
          <p:cNvPr id="35" name="Shape 27"/>
          <p:cNvSpPr/>
          <p:nvPr/>
        </p:nvSpPr>
        <p:spPr>
          <a:xfrm>
            <a:off x="9029700" y="4809744"/>
            <a:ext cx="2704795" cy="1524305"/>
          </a:xfrm>
          <a:prstGeom prst="roundRect">
            <a:avLst>
              <a:gd name="adj" fmla="val 5999"/>
            </a:avLst>
          </a:prstGeom>
          <a:solidFill>
            <a:srgbClr val="FFFFFF"/>
          </a:solidFill>
          <a:ln w="12700">
            <a:solidFill>
              <a:srgbClr val="F3F4F6"/>
            </a:solidFill>
            <a:prstDash val="solid"/>
          </a:ln>
        </p:spPr>
        <p:txBody>
          <a:bodyPr/>
          <a:lstStyle/>
          <a:p>
            <a:endParaRPr lang="en-US"/>
          </a:p>
        </p:txBody>
      </p:sp>
      <p:sp>
        <p:nvSpPr>
          <p:cNvPr id="36" name="Shape 28"/>
          <p:cNvSpPr/>
          <p:nvPr/>
        </p:nvSpPr>
        <p:spPr>
          <a:xfrm>
            <a:off x="9029700" y="4809744"/>
            <a:ext cx="38405" cy="1505102"/>
          </a:xfrm>
          <a:prstGeom prst="rect">
            <a:avLst/>
          </a:prstGeom>
          <a:solidFill>
            <a:srgbClr val="D62839"/>
          </a:solidFill>
          <a:ln w="12700">
            <a:solidFill>
              <a:srgbClr val="FFFFFF">
                <a:alpha val="0"/>
              </a:srgbClr>
            </a:solidFill>
            <a:prstDash val="solid"/>
          </a:ln>
        </p:spPr>
        <p:txBody>
          <a:bodyPr/>
          <a:lstStyle/>
          <a:p>
            <a:endParaRPr lang="en-US"/>
          </a:p>
        </p:txBody>
      </p:sp>
      <p:pic>
        <p:nvPicPr>
          <p:cNvPr id="37" name="Image 6" descr="preencoded.png"/>
          <p:cNvPicPr>
            <a:picLocks noChangeAspect="1"/>
          </p:cNvPicPr>
          <p:nvPr/>
        </p:nvPicPr>
        <p:blipFill>
          <a:blip r:embed="rId7"/>
          <a:srcRect t="-45" b="-45"/>
          <a:stretch/>
        </p:blipFill>
        <p:spPr>
          <a:xfrm>
            <a:off x="10254082" y="5140757"/>
            <a:ext cx="256946" cy="228600"/>
          </a:xfrm>
          <a:prstGeom prst="rect">
            <a:avLst/>
          </a:prstGeom>
        </p:spPr>
      </p:pic>
      <p:sp>
        <p:nvSpPr>
          <p:cNvPr id="38" name="Text 29"/>
          <p:cNvSpPr txBox="1"/>
          <p:nvPr/>
        </p:nvSpPr>
        <p:spPr>
          <a:xfrm>
            <a:off x="9153144" y="5550408"/>
            <a:ext cx="2457907" cy="505663"/>
          </a:xfrm>
          <a:prstGeom prst="rect">
            <a:avLst/>
          </a:prstGeom>
          <a:noFill/>
          <a:ln/>
        </p:spPr>
        <p:txBody>
          <a:bodyPr wrap="square" lIns="0" tIns="0" rIns="0" bIns="0" rtlCol="0" anchor="ctr"/>
          <a:lstStyle/>
          <a:p>
            <a:pPr marL="0" indent="0" algn="ctr">
              <a:buNone/>
            </a:pPr>
            <a:r>
              <a:rPr lang="en-US" sz="1000">
                <a:solidFill>
                  <a:srgbClr val="374151"/>
                </a:solidFill>
                <a:latin typeface="Raleway" pitchFamily="34" charset="0"/>
                <a:ea typeface="Raleway" pitchFamily="34" charset="-122"/>
                <a:cs typeface="Raleway" pitchFamily="34" charset="-120"/>
              </a:rPr>
              <a:t>The GCC operates as a strategic asset, driving sustained value rather than being a cost centre</a:t>
            </a:r>
            <a:endParaRPr lang="en-US" sz="1000"/>
          </a:p>
        </p:txBody>
      </p:sp>
      <p:sp>
        <p:nvSpPr>
          <p:cNvPr id="39" name="Shape 30"/>
          <p:cNvSpPr/>
          <p:nvPr/>
        </p:nvSpPr>
        <p:spPr>
          <a:xfrm>
            <a:off x="1514246" y="1561795"/>
            <a:ext cx="533095" cy="533095"/>
          </a:xfrm>
          <a:prstGeom prst="ellipse">
            <a:avLst/>
          </a:prstGeom>
          <a:solidFill>
            <a:srgbClr val="2A9D8F">
              <a:alpha val="10000"/>
            </a:srgbClr>
          </a:solidFill>
          <a:ln w="12700">
            <a:solidFill>
              <a:srgbClr val="FFFFFF">
                <a:alpha val="0"/>
              </a:srgbClr>
            </a:solidFill>
            <a:prstDash val="solid"/>
          </a:ln>
        </p:spPr>
        <p:txBody>
          <a:bodyPr/>
          <a:lstStyle/>
          <a:p>
            <a:endParaRPr lang="en-US"/>
          </a:p>
        </p:txBody>
      </p:sp>
      <p:pic>
        <p:nvPicPr>
          <p:cNvPr id="40" name="Image 7" descr="preencoded.png"/>
          <p:cNvPicPr>
            <a:picLocks noChangeAspect="1"/>
          </p:cNvPicPr>
          <p:nvPr/>
        </p:nvPicPr>
        <p:blipFill>
          <a:blip r:embed="rId8"/>
          <a:srcRect l="-133" r="-133"/>
          <a:stretch/>
        </p:blipFill>
        <p:spPr>
          <a:xfrm>
            <a:off x="1695298" y="1714500"/>
            <a:ext cx="171907" cy="228600"/>
          </a:xfrm>
          <a:prstGeom prst="rect">
            <a:avLst/>
          </a:prstGeom>
        </p:spPr>
      </p:pic>
      <p:sp>
        <p:nvSpPr>
          <p:cNvPr id="41" name="Text 31"/>
          <p:cNvSpPr txBox="1"/>
          <p:nvPr/>
        </p:nvSpPr>
        <p:spPr>
          <a:xfrm>
            <a:off x="612648" y="2247595"/>
            <a:ext cx="2338121" cy="305410"/>
          </a:xfrm>
          <a:prstGeom prst="rect">
            <a:avLst/>
          </a:prstGeom>
          <a:noFill/>
          <a:ln/>
        </p:spPr>
        <p:txBody>
          <a:bodyPr wrap="square" lIns="0" tIns="0" rIns="0" bIns="0" rtlCol="0" anchor="ctr"/>
          <a:lstStyle/>
          <a:p>
            <a:pPr marL="0" indent="0" algn="ctr">
              <a:buNone/>
            </a:pPr>
            <a:r>
              <a:rPr lang="en-US" sz="1800" b="1">
                <a:solidFill>
                  <a:srgbClr val="1F2937"/>
                </a:solidFill>
                <a:latin typeface="Oswald" pitchFamily="34" charset="0"/>
                <a:ea typeface="Oswald" pitchFamily="34" charset="-122"/>
                <a:cs typeface="Oswald" pitchFamily="34" charset="-120"/>
              </a:rPr>
              <a:t>Assess</a:t>
            </a:r>
            <a:endParaRPr lang="en-US" sz="1800"/>
          </a:p>
        </p:txBody>
      </p:sp>
      <p:sp>
        <p:nvSpPr>
          <p:cNvPr id="42" name="Text 32"/>
          <p:cNvSpPr txBox="1"/>
          <p:nvPr/>
        </p:nvSpPr>
        <p:spPr>
          <a:xfrm>
            <a:off x="619049" y="2667305"/>
            <a:ext cx="2324405" cy="1047902"/>
          </a:xfrm>
          <a:prstGeom prst="rect">
            <a:avLst/>
          </a:prstGeom>
          <a:noFill/>
          <a:ln/>
        </p:spPr>
        <p:txBody>
          <a:bodyPr wrap="square" lIns="0" tIns="0" rIns="0" bIns="0" rtlCol="0" anchor="ctr"/>
          <a:lstStyle/>
          <a:p>
            <a:pPr marL="0" indent="0" algn="ctr">
              <a:buNone/>
            </a:pPr>
            <a:r>
              <a:rPr lang="en-US" sz="1200">
                <a:solidFill>
                  <a:srgbClr val="4B5563"/>
                </a:solidFill>
                <a:latin typeface="Raleway" pitchFamily="34" charset="0"/>
                <a:ea typeface="Raleway" pitchFamily="34" charset="-122"/>
                <a:cs typeface="Raleway" pitchFamily="34" charset="-120"/>
              </a:rPr>
              <a:t>Map your current GCC capability maturity. Identify what's working, what's plateauing, and where AI-readiness gaps exist.</a:t>
            </a:r>
            <a:endParaRPr lang="en-US" sz="1200"/>
          </a:p>
        </p:txBody>
      </p:sp>
      <p:sp>
        <p:nvSpPr>
          <p:cNvPr id="43" name="Shape 33"/>
          <p:cNvSpPr/>
          <p:nvPr/>
        </p:nvSpPr>
        <p:spPr>
          <a:xfrm>
            <a:off x="4390949" y="1561795"/>
            <a:ext cx="533095" cy="533095"/>
          </a:xfrm>
          <a:prstGeom prst="ellipse">
            <a:avLst/>
          </a:prstGeom>
          <a:solidFill>
            <a:srgbClr val="D62839">
              <a:alpha val="10000"/>
            </a:srgbClr>
          </a:solidFill>
          <a:ln w="12700">
            <a:solidFill>
              <a:srgbClr val="FFFFFF">
                <a:alpha val="0"/>
              </a:srgbClr>
            </a:solidFill>
            <a:prstDash val="solid"/>
          </a:ln>
        </p:spPr>
        <p:txBody>
          <a:bodyPr/>
          <a:lstStyle/>
          <a:p>
            <a:endParaRPr lang="en-US"/>
          </a:p>
        </p:txBody>
      </p:sp>
      <p:pic>
        <p:nvPicPr>
          <p:cNvPr id="44" name="Image 8" descr="preencoded.png"/>
          <p:cNvPicPr>
            <a:picLocks noChangeAspect="1"/>
          </p:cNvPicPr>
          <p:nvPr/>
        </p:nvPicPr>
        <p:blipFill>
          <a:blip r:embed="rId9"/>
          <a:srcRect/>
          <a:stretch/>
        </p:blipFill>
        <p:spPr>
          <a:xfrm>
            <a:off x="4543654" y="1714500"/>
            <a:ext cx="228600" cy="228600"/>
          </a:xfrm>
          <a:prstGeom prst="rect">
            <a:avLst/>
          </a:prstGeom>
        </p:spPr>
      </p:pic>
      <p:sp>
        <p:nvSpPr>
          <p:cNvPr id="45" name="Text 34"/>
          <p:cNvSpPr txBox="1"/>
          <p:nvPr/>
        </p:nvSpPr>
        <p:spPr>
          <a:xfrm>
            <a:off x="3488436" y="2247595"/>
            <a:ext cx="2338121" cy="305410"/>
          </a:xfrm>
          <a:prstGeom prst="rect">
            <a:avLst/>
          </a:prstGeom>
          <a:noFill/>
          <a:ln/>
        </p:spPr>
        <p:txBody>
          <a:bodyPr wrap="square" lIns="0" tIns="0" rIns="0" bIns="0" rtlCol="0" anchor="ctr"/>
          <a:lstStyle/>
          <a:p>
            <a:pPr marL="0" indent="0" algn="ctr">
              <a:buNone/>
            </a:pPr>
            <a:r>
              <a:rPr lang="en-US" sz="1800" b="1">
                <a:solidFill>
                  <a:srgbClr val="1F2937"/>
                </a:solidFill>
                <a:latin typeface="Oswald" pitchFamily="34" charset="0"/>
                <a:ea typeface="Oswald" pitchFamily="34" charset="-122"/>
                <a:cs typeface="Oswald" pitchFamily="34" charset="-120"/>
              </a:rPr>
              <a:t>Identify</a:t>
            </a:r>
            <a:endParaRPr lang="en-US" sz="1800"/>
          </a:p>
        </p:txBody>
      </p:sp>
      <p:sp>
        <p:nvSpPr>
          <p:cNvPr id="46" name="Text 35"/>
          <p:cNvSpPr txBox="1"/>
          <p:nvPr/>
        </p:nvSpPr>
        <p:spPr>
          <a:xfrm>
            <a:off x="3495751" y="2667305"/>
            <a:ext cx="2324405" cy="1047902"/>
          </a:xfrm>
          <a:prstGeom prst="rect">
            <a:avLst/>
          </a:prstGeom>
          <a:noFill/>
          <a:ln/>
        </p:spPr>
        <p:txBody>
          <a:bodyPr wrap="square" lIns="0" tIns="0" rIns="0" bIns="0" rtlCol="0" anchor="ctr"/>
          <a:lstStyle/>
          <a:p>
            <a:pPr marL="0" indent="0" algn="ctr">
              <a:buNone/>
            </a:pPr>
            <a:r>
              <a:rPr lang="en-US" sz="1200">
                <a:solidFill>
                  <a:srgbClr val="4B5563"/>
                </a:solidFill>
                <a:latin typeface="Raleway" pitchFamily="34" charset="0"/>
                <a:ea typeface="Raleway" pitchFamily="34" charset="-122"/>
                <a:cs typeface="Raleway" pitchFamily="34" charset="-120"/>
              </a:rPr>
              <a:t>Pinpoint high-judgment domains where Human+AI pods deliver highest leverage — not everything at once, right things first.</a:t>
            </a:r>
            <a:endParaRPr lang="en-US" sz="1200"/>
          </a:p>
        </p:txBody>
      </p:sp>
      <p:sp>
        <p:nvSpPr>
          <p:cNvPr id="47" name="Shape 36"/>
          <p:cNvSpPr/>
          <p:nvPr/>
        </p:nvSpPr>
        <p:spPr>
          <a:xfrm>
            <a:off x="7267651" y="1561795"/>
            <a:ext cx="533095" cy="533095"/>
          </a:xfrm>
          <a:prstGeom prst="ellipse">
            <a:avLst/>
          </a:prstGeom>
          <a:solidFill>
            <a:srgbClr val="2A9D8F">
              <a:alpha val="10000"/>
            </a:srgbClr>
          </a:solidFill>
          <a:ln w="12700">
            <a:solidFill>
              <a:srgbClr val="FFFFFF">
                <a:alpha val="0"/>
              </a:srgbClr>
            </a:solidFill>
            <a:prstDash val="solid"/>
          </a:ln>
        </p:spPr>
        <p:txBody>
          <a:bodyPr/>
          <a:lstStyle/>
          <a:p>
            <a:endParaRPr lang="en-US"/>
          </a:p>
        </p:txBody>
      </p:sp>
      <p:pic>
        <p:nvPicPr>
          <p:cNvPr id="48" name="Image 9" descr="preencoded.png"/>
          <p:cNvPicPr>
            <a:picLocks noChangeAspect="1"/>
          </p:cNvPicPr>
          <p:nvPr/>
        </p:nvPicPr>
        <p:blipFill>
          <a:blip r:embed="rId6"/>
          <a:srcRect/>
          <a:stretch/>
        </p:blipFill>
        <p:spPr>
          <a:xfrm>
            <a:off x="7420356" y="1714500"/>
            <a:ext cx="228600" cy="228600"/>
          </a:xfrm>
          <a:prstGeom prst="rect">
            <a:avLst/>
          </a:prstGeom>
        </p:spPr>
      </p:pic>
      <p:sp>
        <p:nvSpPr>
          <p:cNvPr id="49" name="Text 37"/>
          <p:cNvSpPr txBox="1"/>
          <p:nvPr/>
        </p:nvSpPr>
        <p:spPr>
          <a:xfrm>
            <a:off x="6365138" y="2247595"/>
            <a:ext cx="2338121" cy="305410"/>
          </a:xfrm>
          <a:prstGeom prst="rect">
            <a:avLst/>
          </a:prstGeom>
          <a:noFill/>
          <a:ln/>
        </p:spPr>
        <p:txBody>
          <a:bodyPr wrap="square" lIns="0" tIns="0" rIns="0" bIns="0" rtlCol="0" anchor="ctr"/>
          <a:lstStyle/>
          <a:p>
            <a:pPr marL="0" indent="0" algn="ctr">
              <a:buNone/>
            </a:pPr>
            <a:r>
              <a:rPr lang="en-US" sz="1800" b="1">
                <a:solidFill>
                  <a:srgbClr val="1F2937"/>
                </a:solidFill>
                <a:latin typeface="Oswald" pitchFamily="34" charset="0"/>
                <a:ea typeface="Oswald" pitchFamily="34" charset="-122"/>
                <a:cs typeface="Oswald" pitchFamily="34" charset="-120"/>
              </a:rPr>
              <a:t>Pilot</a:t>
            </a:r>
            <a:endParaRPr lang="en-US" sz="1800"/>
          </a:p>
        </p:txBody>
      </p:sp>
      <p:sp>
        <p:nvSpPr>
          <p:cNvPr id="50" name="Text 38"/>
          <p:cNvSpPr txBox="1"/>
          <p:nvPr/>
        </p:nvSpPr>
        <p:spPr>
          <a:xfrm>
            <a:off x="6372454" y="2667305"/>
            <a:ext cx="2324405" cy="1047902"/>
          </a:xfrm>
          <a:prstGeom prst="rect">
            <a:avLst/>
          </a:prstGeom>
          <a:noFill/>
          <a:ln/>
        </p:spPr>
        <p:txBody>
          <a:bodyPr wrap="square" lIns="0" tIns="0" rIns="0" bIns="0" rtlCol="0" anchor="ctr"/>
          <a:lstStyle/>
          <a:p>
            <a:pPr marL="0" indent="0" algn="ctr">
              <a:buNone/>
            </a:pPr>
            <a:r>
              <a:rPr lang="en-US" sz="1200">
                <a:solidFill>
                  <a:srgbClr val="4B5563"/>
                </a:solidFill>
                <a:latin typeface="Raleway" pitchFamily="34" charset="0"/>
                <a:ea typeface="Raleway" pitchFamily="34" charset="-122"/>
                <a:cs typeface="Raleway" pitchFamily="34" charset="-120"/>
              </a:rPr>
              <a:t>Launch a blended Human+AI pod in one business unit. Measure decision cycle time, productivity uplift, and innovation output.</a:t>
            </a:r>
            <a:endParaRPr lang="en-US" sz="1200"/>
          </a:p>
        </p:txBody>
      </p:sp>
      <p:sp>
        <p:nvSpPr>
          <p:cNvPr id="51" name="Shape 39"/>
          <p:cNvSpPr/>
          <p:nvPr/>
        </p:nvSpPr>
        <p:spPr>
          <a:xfrm>
            <a:off x="10144354" y="1561795"/>
            <a:ext cx="533095" cy="533095"/>
          </a:xfrm>
          <a:prstGeom prst="ellipse">
            <a:avLst/>
          </a:prstGeom>
          <a:solidFill>
            <a:srgbClr val="D62839">
              <a:alpha val="10000"/>
            </a:srgbClr>
          </a:solidFill>
          <a:ln w="12700">
            <a:solidFill>
              <a:srgbClr val="FFFFFF">
                <a:alpha val="0"/>
              </a:srgbClr>
            </a:solidFill>
            <a:prstDash val="solid"/>
          </a:ln>
        </p:spPr>
        <p:txBody>
          <a:bodyPr/>
          <a:lstStyle/>
          <a:p>
            <a:endParaRPr lang="en-US"/>
          </a:p>
        </p:txBody>
      </p:sp>
      <p:pic>
        <p:nvPicPr>
          <p:cNvPr id="52" name="Image 10" descr="preencoded.png"/>
          <p:cNvPicPr>
            <a:picLocks noChangeAspect="1"/>
          </p:cNvPicPr>
          <p:nvPr/>
        </p:nvPicPr>
        <p:blipFill>
          <a:blip r:embed="rId10"/>
          <a:srcRect l="-80" r="-80"/>
          <a:stretch/>
        </p:blipFill>
        <p:spPr>
          <a:xfrm>
            <a:off x="10267798" y="1714500"/>
            <a:ext cx="286207" cy="228600"/>
          </a:xfrm>
          <a:prstGeom prst="rect">
            <a:avLst/>
          </a:prstGeom>
        </p:spPr>
      </p:pic>
      <p:sp>
        <p:nvSpPr>
          <p:cNvPr id="53" name="Text 40"/>
          <p:cNvSpPr txBox="1"/>
          <p:nvPr/>
        </p:nvSpPr>
        <p:spPr>
          <a:xfrm>
            <a:off x="9241841" y="2247595"/>
            <a:ext cx="2338121" cy="305410"/>
          </a:xfrm>
          <a:prstGeom prst="rect">
            <a:avLst/>
          </a:prstGeom>
          <a:noFill/>
          <a:ln/>
        </p:spPr>
        <p:txBody>
          <a:bodyPr wrap="square" lIns="0" tIns="0" rIns="0" bIns="0" rtlCol="0" anchor="ctr"/>
          <a:lstStyle/>
          <a:p>
            <a:pPr marL="0" indent="0" algn="ctr">
              <a:buNone/>
            </a:pPr>
            <a:r>
              <a:rPr lang="en-US" sz="1800" b="1">
                <a:solidFill>
                  <a:srgbClr val="1F2937"/>
                </a:solidFill>
                <a:latin typeface="Oswald" pitchFamily="34" charset="0"/>
                <a:ea typeface="Oswald" pitchFamily="34" charset="-122"/>
                <a:cs typeface="Oswald" pitchFamily="34" charset="-120"/>
              </a:rPr>
              <a:t>Align</a:t>
            </a:r>
            <a:endParaRPr lang="en-US" sz="1800"/>
          </a:p>
        </p:txBody>
      </p:sp>
      <p:sp>
        <p:nvSpPr>
          <p:cNvPr id="54" name="Text 41"/>
          <p:cNvSpPr txBox="1"/>
          <p:nvPr/>
        </p:nvSpPr>
        <p:spPr>
          <a:xfrm>
            <a:off x="9249156" y="2667305"/>
            <a:ext cx="2324405" cy="838505"/>
          </a:xfrm>
          <a:prstGeom prst="rect">
            <a:avLst/>
          </a:prstGeom>
          <a:noFill/>
          <a:ln/>
        </p:spPr>
        <p:txBody>
          <a:bodyPr wrap="square" lIns="0" tIns="0" rIns="0" bIns="0" rtlCol="0" anchor="ctr"/>
          <a:lstStyle/>
          <a:p>
            <a:pPr marL="0" indent="0" algn="ctr">
              <a:buNone/>
            </a:pPr>
            <a:r>
              <a:rPr lang="en-US" sz="1200">
                <a:solidFill>
                  <a:srgbClr val="4B5563"/>
                </a:solidFill>
                <a:latin typeface="Raleway" pitchFamily="34" charset="0"/>
                <a:ea typeface="Raleway" pitchFamily="34" charset="-122"/>
                <a:cs typeface="Raleway" pitchFamily="34" charset="-120"/>
              </a:rPr>
              <a:t>Restructure contracts from FTE-based pricing to outcome-aligned models. Tie value to results, not headcount.</a:t>
            </a:r>
            <a:endParaRPr lang="en-US" sz="1200"/>
          </a:p>
        </p:txBody>
      </p:sp>
      <p:pic>
        <p:nvPicPr>
          <p:cNvPr id="55" name="Image 11" descr="preencoded.png"/>
          <p:cNvPicPr>
            <a:picLocks noChangeAspect="1"/>
          </p:cNvPicPr>
          <p:nvPr/>
        </p:nvPicPr>
        <p:blipFill>
          <a:blip r:embed="rId11"/>
          <a:srcRect/>
          <a:stretch/>
        </p:blipFill>
        <p:spPr>
          <a:xfrm>
            <a:off x="3180283" y="2457907"/>
            <a:ext cx="304495" cy="304495"/>
          </a:xfrm>
          <a:prstGeom prst="rect">
            <a:avLst/>
          </a:prstGeom>
        </p:spPr>
      </p:pic>
      <p:pic>
        <p:nvPicPr>
          <p:cNvPr id="56" name="Image 12" descr="preencoded.png"/>
          <p:cNvPicPr>
            <a:picLocks noChangeAspect="1"/>
          </p:cNvPicPr>
          <p:nvPr/>
        </p:nvPicPr>
        <p:blipFill>
          <a:blip r:embed="rId12"/>
          <a:srcRect l="-2838" r="-2838"/>
          <a:stretch/>
        </p:blipFill>
        <p:spPr>
          <a:xfrm>
            <a:off x="3270809" y="2542946"/>
            <a:ext cx="123444" cy="133502"/>
          </a:xfrm>
          <a:prstGeom prst="rect">
            <a:avLst/>
          </a:prstGeom>
        </p:spPr>
      </p:pic>
      <p:pic>
        <p:nvPicPr>
          <p:cNvPr id="57" name="Image 13" descr="preencoded.png"/>
          <p:cNvPicPr>
            <a:picLocks noChangeAspect="1"/>
          </p:cNvPicPr>
          <p:nvPr/>
        </p:nvPicPr>
        <p:blipFill>
          <a:blip r:embed="rId11"/>
          <a:srcRect/>
          <a:stretch/>
        </p:blipFill>
        <p:spPr>
          <a:xfrm>
            <a:off x="6000293" y="2457907"/>
            <a:ext cx="304495" cy="304495"/>
          </a:xfrm>
          <a:prstGeom prst="rect">
            <a:avLst/>
          </a:prstGeom>
        </p:spPr>
      </p:pic>
      <p:pic>
        <p:nvPicPr>
          <p:cNvPr id="58" name="Image 14" descr="preencoded.png"/>
          <p:cNvPicPr>
            <a:picLocks noChangeAspect="1"/>
          </p:cNvPicPr>
          <p:nvPr/>
        </p:nvPicPr>
        <p:blipFill>
          <a:blip r:embed="rId12"/>
          <a:srcRect l="-2838" r="-2838"/>
          <a:stretch/>
        </p:blipFill>
        <p:spPr>
          <a:xfrm>
            <a:off x="6089904" y="2542946"/>
            <a:ext cx="123444" cy="133502"/>
          </a:xfrm>
          <a:prstGeom prst="rect">
            <a:avLst/>
          </a:prstGeom>
        </p:spPr>
      </p:pic>
      <p:pic>
        <p:nvPicPr>
          <p:cNvPr id="59" name="Image 15" descr="preencoded.png"/>
          <p:cNvPicPr>
            <a:picLocks noChangeAspect="1"/>
          </p:cNvPicPr>
          <p:nvPr/>
        </p:nvPicPr>
        <p:blipFill>
          <a:blip r:embed="rId11"/>
          <a:srcRect/>
          <a:stretch/>
        </p:blipFill>
        <p:spPr>
          <a:xfrm>
            <a:off x="8819388" y="2457907"/>
            <a:ext cx="304495" cy="304495"/>
          </a:xfrm>
          <a:prstGeom prst="rect">
            <a:avLst/>
          </a:prstGeom>
        </p:spPr>
      </p:pic>
      <p:pic>
        <p:nvPicPr>
          <p:cNvPr id="60" name="Image 16" descr="preencoded.png"/>
          <p:cNvPicPr>
            <a:picLocks noChangeAspect="1"/>
          </p:cNvPicPr>
          <p:nvPr/>
        </p:nvPicPr>
        <p:blipFill>
          <a:blip r:embed="rId12"/>
          <a:srcRect l="-2838" r="-2838"/>
          <a:stretch/>
        </p:blipFill>
        <p:spPr>
          <a:xfrm>
            <a:off x="8909914" y="2542946"/>
            <a:ext cx="123444" cy="133502"/>
          </a:xfrm>
          <a:prstGeom prst="rect">
            <a:avLst/>
          </a:prstGeom>
        </p:spPr>
      </p:pic>
      <p:pic>
        <p:nvPicPr>
          <p:cNvPr id="61" name="Image 17" descr="preencoded.png"/>
          <p:cNvPicPr>
            <a:picLocks noChangeAspect="1"/>
          </p:cNvPicPr>
          <p:nvPr/>
        </p:nvPicPr>
        <p:blipFill>
          <a:blip r:embed="rId13"/>
          <a:srcRect l="-202" r="-202"/>
          <a:stretch/>
        </p:blipFill>
        <p:spPr>
          <a:xfrm>
            <a:off x="0" y="0"/>
            <a:ext cx="8128102" cy="75895"/>
          </a:xfrm>
          <a:prstGeom prst="rect">
            <a:avLst/>
          </a:prstGeom>
        </p:spPr>
      </p:pic>
      <p:pic>
        <p:nvPicPr>
          <p:cNvPr id="62" name="Image 18" descr="preencoded.png"/>
          <p:cNvPicPr>
            <a:picLocks noChangeAspect="1"/>
          </p:cNvPicPr>
          <p:nvPr/>
        </p:nvPicPr>
        <p:blipFill>
          <a:blip r:embed="rId14"/>
          <a:srcRect l="-197" r="-197"/>
          <a:stretch/>
        </p:blipFill>
        <p:spPr>
          <a:xfrm>
            <a:off x="8128102" y="0"/>
            <a:ext cx="4063594" cy="75895"/>
          </a:xfrm>
          <a:prstGeom prst="rect">
            <a:avLst/>
          </a:prstGeom>
        </p:spPr>
      </p:pic>
      <p:pic>
        <p:nvPicPr>
          <p:cNvPr id="64" name="Image 3" descr="gen-dedup-777bf757d895431cabe402fcd34ebd5a.png">
            <a:extLst>
              <a:ext uri="{FF2B5EF4-FFF2-40B4-BE49-F238E27FC236}">
                <a16:creationId xmlns:a16="http://schemas.microsoft.com/office/drawing/2014/main" id="{98320252-2E72-2BAC-B017-5350E961933E}"/>
              </a:ext>
            </a:extLst>
          </p:cNvPr>
          <p:cNvPicPr>
            <a:picLocks noChangeAspect="1"/>
          </p:cNvPicPr>
          <p:nvPr/>
        </p:nvPicPr>
        <p:blipFill>
          <a:blip r:embed="rId15">
            <a:biLevel thresh="75000"/>
          </a:blip>
          <a:srcRect l="-384" r="-384"/>
          <a:stretch/>
        </p:blipFill>
        <p:spPr>
          <a:xfrm>
            <a:off x="571500" y="381305"/>
            <a:ext cx="57607" cy="476402"/>
          </a:xfrm>
          <a:prstGeom prst="rect">
            <a:avLst/>
          </a:prstGeom>
        </p:spPr>
      </p:pic>
      <p:sp>
        <p:nvSpPr>
          <p:cNvPr id="66" name="Text 5">
            <a:extLst>
              <a:ext uri="{FF2B5EF4-FFF2-40B4-BE49-F238E27FC236}">
                <a16:creationId xmlns:a16="http://schemas.microsoft.com/office/drawing/2014/main" id="{B1355EE8-B7B4-933B-B44C-3AE0972FA240}"/>
              </a:ext>
            </a:extLst>
          </p:cNvPr>
          <p:cNvSpPr txBox="1"/>
          <p:nvPr/>
        </p:nvSpPr>
        <p:spPr>
          <a:xfrm>
            <a:off x="780897" y="333756"/>
            <a:ext cx="5913817" cy="406908"/>
          </a:xfrm>
          <a:prstGeom prst="rect">
            <a:avLst/>
          </a:prstGeom>
          <a:noFill/>
          <a:ln/>
        </p:spPr>
        <p:txBody>
          <a:bodyPr wrap="none" lIns="0" tIns="0" rIns="0" bIns="0" rtlCol="0" anchor="ctr"/>
          <a:lstStyle/>
          <a:p>
            <a:r>
              <a:rPr lang="en-GB" sz="2400" b="1" kern="0" spc="-67" dirty="0">
                <a:solidFill>
                  <a:srgbClr val="111827"/>
                </a:solidFill>
                <a:latin typeface="Oswald" pitchFamily="34" charset="0"/>
                <a:ea typeface="Oswald" pitchFamily="34" charset="-122"/>
                <a:cs typeface="Oswald" pitchFamily="34" charset="-120"/>
              </a:rPr>
              <a:t>HOW WE MOVE FORWARD</a:t>
            </a:r>
          </a:p>
        </p:txBody>
      </p:sp>
      <p:sp>
        <p:nvSpPr>
          <p:cNvPr id="68" name="Text 6">
            <a:extLst>
              <a:ext uri="{FF2B5EF4-FFF2-40B4-BE49-F238E27FC236}">
                <a16:creationId xmlns:a16="http://schemas.microsoft.com/office/drawing/2014/main" id="{A2F8002E-BFDF-0EBF-1682-3B330FE91207}"/>
              </a:ext>
            </a:extLst>
          </p:cNvPr>
          <p:cNvSpPr txBox="1"/>
          <p:nvPr/>
        </p:nvSpPr>
        <p:spPr>
          <a:xfrm>
            <a:off x="780898" y="740663"/>
            <a:ext cx="5054803" cy="257861"/>
          </a:xfrm>
          <a:prstGeom prst="rect">
            <a:avLst/>
          </a:prstGeom>
          <a:noFill/>
          <a:ln/>
        </p:spPr>
        <p:txBody>
          <a:bodyPr wrap="none" lIns="0" tIns="0" rIns="0" bIns="0" rtlCol="0" anchor="ctr"/>
          <a:lstStyle/>
          <a:p>
            <a:pPr marL="0" indent="0" algn="l">
              <a:buNone/>
            </a:pPr>
            <a:r>
              <a:rPr lang="en-GB" sz="1500" b="1" kern="0" spc="66" dirty="0">
                <a:solidFill>
                  <a:srgbClr val="2A9D8F"/>
                </a:solidFill>
                <a:latin typeface="Roboto Condensed" pitchFamily="34" charset="0"/>
                <a:ea typeface="Roboto Condensed" pitchFamily="34" charset="-122"/>
                <a:cs typeface="Roboto Condensed" pitchFamily="34" charset="-120"/>
              </a:rPr>
              <a:t>From Conversation To Capability In Four Steps</a:t>
            </a:r>
          </a:p>
        </p:txBody>
      </p:sp>
    </p:spTree>
    <p:extLst>
      <p:ext uri="{BB962C8B-B14F-4D97-AF65-F5344CB8AC3E}">
        <p14:creationId xmlns:p14="http://schemas.microsoft.com/office/powerpoint/2010/main" val="168944264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8382305" y="-1429207"/>
            <a:ext cx="4762195" cy="4762195"/>
          </a:xfrm>
          <a:prstGeom prst="ellipse">
            <a:avLst/>
          </a:prstGeom>
          <a:solidFill>
            <a:srgbClr val="2A9D8F">
              <a:alpha val="3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52805" y="4476902"/>
            <a:ext cx="3810305" cy="3810305"/>
          </a:xfrm>
          <a:prstGeom prst="ellipse">
            <a:avLst/>
          </a:prstGeom>
          <a:solidFill>
            <a:srgbClr val="D62839">
              <a:alpha val="2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6" name="Image 0" descr="preencoded.png"/>
          <p:cNvPicPr>
            <a:picLocks noChangeAspect="1"/>
          </p:cNvPicPr>
          <p:nvPr/>
        </p:nvPicPr>
        <p:blipFill>
          <a:blip r:embed="rId3"/>
          <a:srcRect l="-202" r="-202"/>
          <a:stretch/>
        </p:blipFill>
        <p:spPr>
          <a:xfrm>
            <a:off x="0" y="6782105"/>
            <a:ext cx="8128102" cy="75895"/>
          </a:xfrm>
          <a:prstGeom prst="rect">
            <a:avLst/>
          </a:prstGeom>
        </p:spPr>
      </p:pic>
      <p:pic>
        <p:nvPicPr>
          <p:cNvPr id="7" name="Image 1" descr="preencoded.png"/>
          <p:cNvPicPr>
            <a:picLocks noChangeAspect="1"/>
          </p:cNvPicPr>
          <p:nvPr/>
        </p:nvPicPr>
        <p:blipFill>
          <a:blip r:embed="rId4"/>
          <a:srcRect l="-197" r="-197"/>
          <a:stretch/>
        </p:blipFill>
        <p:spPr>
          <a:xfrm>
            <a:off x="8128102" y="6782105"/>
            <a:ext cx="4063594" cy="75895"/>
          </a:xfrm>
          <a:prstGeom prst="rect">
            <a:avLst/>
          </a:prstGeom>
        </p:spPr>
      </p:pic>
      <p:pic>
        <p:nvPicPr>
          <p:cNvPr id="8" name="Image 2" descr="preencoded.png"/>
          <p:cNvPicPr>
            <a:picLocks noChangeAspect="1"/>
          </p:cNvPicPr>
          <p:nvPr/>
        </p:nvPicPr>
        <p:blipFill>
          <a:blip r:embed="rId5"/>
          <a:srcRect t="60" b="60"/>
          <a:stretch/>
        </p:blipFill>
        <p:spPr>
          <a:xfrm>
            <a:off x="4121201" y="914400"/>
            <a:ext cx="3952951" cy="1904695"/>
          </a:xfrm>
          <a:prstGeom prst="rect">
            <a:avLst/>
          </a:prstGeom>
        </p:spPr>
      </p:pic>
      <p:pic>
        <p:nvPicPr>
          <p:cNvPr id="9" name="Image 3" descr="preencoded.png"/>
          <p:cNvPicPr>
            <a:picLocks noChangeAspect="1"/>
          </p:cNvPicPr>
          <p:nvPr/>
        </p:nvPicPr>
        <p:blipFill>
          <a:blip r:embed="rId6"/>
          <a:srcRect t="-420" b="-420"/>
          <a:stretch/>
        </p:blipFill>
        <p:spPr>
          <a:xfrm>
            <a:off x="5715000" y="3276295"/>
            <a:ext cx="761695" cy="38405"/>
          </a:xfrm>
          <a:prstGeom prst="rect">
            <a:avLst/>
          </a:prstGeom>
        </p:spPr>
      </p:pic>
      <p:sp>
        <p:nvSpPr>
          <p:cNvPr id="10" name="Text 4"/>
          <p:cNvSpPr txBox="1"/>
          <p:nvPr/>
        </p:nvSpPr>
        <p:spPr>
          <a:xfrm>
            <a:off x="3536899" y="3619195"/>
            <a:ext cx="5125212" cy="5715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000" b="0" i="1" u="none" strike="noStrike" kern="0" cap="none" spc="150" normalizeH="0" baseline="0" noProof="0">
                <a:ln>
                  <a:noFill/>
                </a:ln>
                <a:solidFill>
                  <a:srgbClr val="4B5563"/>
                </a:solidFill>
                <a:effectLst/>
                <a:uLnTx/>
                <a:uFillTx/>
                <a:latin typeface="Raleway" pitchFamily="34" charset="0"/>
                <a:ea typeface="Raleway" pitchFamily="34" charset="-122"/>
                <a:cs typeface="Raleway" pitchFamily="34" charset="-120"/>
              </a:rPr>
              <a:t>"Let's win together"</a:t>
            </a:r>
            <a:endParaRPr kumimoji="0" lang="en-US" sz="30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1" name="Image 4" descr="preencoded.png"/>
          <p:cNvPicPr>
            <a:picLocks noChangeAspect="1"/>
          </p:cNvPicPr>
          <p:nvPr/>
        </p:nvPicPr>
        <p:blipFill>
          <a:blip r:embed="rId7"/>
          <a:srcRect/>
          <a:stretch/>
        </p:blipFill>
        <p:spPr>
          <a:xfrm>
            <a:off x="761695" y="5410505"/>
            <a:ext cx="761695" cy="761695"/>
          </a:xfrm>
          <a:prstGeom prst="rect">
            <a:avLst/>
          </a:prstGeom>
        </p:spPr>
      </p:pic>
      <p:pic>
        <p:nvPicPr>
          <p:cNvPr id="12" name="Image 5" descr="preencoded.png"/>
          <p:cNvPicPr>
            <a:picLocks noChangeAspect="1"/>
          </p:cNvPicPr>
          <p:nvPr/>
        </p:nvPicPr>
        <p:blipFill>
          <a:blip r:embed="rId8"/>
          <a:srcRect l="81" r="81"/>
          <a:stretch/>
        </p:blipFill>
        <p:spPr>
          <a:xfrm>
            <a:off x="3189427" y="5658307"/>
            <a:ext cx="809244" cy="267005"/>
          </a:xfrm>
          <a:prstGeom prst="rect">
            <a:avLst/>
          </a:prstGeom>
        </p:spPr>
      </p:pic>
      <p:pic>
        <p:nvPicPr>
          <p:cNvPr id="13" name="Image 6" descr="preencoded.png"/>
          <p:cNvPicPr>
            <a:picLocks noChangeAspect="1"/>
          </p:cNvPicPr>
          <p:nvPr/>
        </p:nvPicPr>
        <p:blipFill>
          <a:blip r:embed="rId9"/>
          <a:srcRect l="7" r="7"/>
          <a:stretch/>
        </p:blipFill>
        <p:spPr>
          <a:xfrm>
            <a:off x="5665622" y="5453482"/>
            <a:ext cx="724205" cy="676656"/>
          </a:xfrm>
          <a:prstGeom prst="rect">
            <a:avLst/>
          </a:prstGeom>
        </p:spPr>
      </p:pic>
      <p:pic>
        <p:nvPicPr>
          <p:cNvPr id="14" name="Image 7" descr="preencoded.png"/>
          <p:cNvPicPr>
            <a:picLocks noChangeAspect="1"/>
          </p:cNvPicPr>
          <p:nvPr/>
        </p:nvPicPr>
        <p:blipFill>
          <a:blip r:embed="rId10"/>
          <a:srcRect t="236" b="236"/>
          <a:stretch/>
        </p:blipFill>
        <p:spPr>
          <a:xfrm>
            <a:off x="8054950" y="5410505"/>
            <a:ext cx="1257300" cy="761695"/>
          </a:xfrm>
          <a:prstGeom prst="rect">
            <a:avLst/>
          </a:prstGeom>
        </p:spPr>
      </p:pic>
      <p:pic>
        <p:nvPicPr>
          <p:cNvPr id="15" name="Image 8" descr="preencoded.png"/>
          <p:cNvPicPr>
            <a:picLocks noChangeAspect="1"/>
          </p:cNvPicPr>
          <p:nvPr/>
        </p:nvPicPr>
        <p:blipFill>
          <a:blip r:embed="rId11"/>
          <a:srcRect t="23" b="24"/>
          <a:stretch/>
        </p:blipFill>
        <p:spPr>
          <a:xfrm>
            <a:off x="10972800" y="5548579"/>
            <a:ext cx="457200" cy="485546"/>
          </a:xfrm>
          <a:prstGeom prst="rect">
            <a:avLst/>
          </a:prstGeom>
        </p:spPr>
      </p:pic>
      <p:pic>
        <p:nvPicPr>
          <p:cNvPr id="16" name="Image 9" descr="preencoded.png"/>
          <p:cNvPicPr>
            <a:picLocks noChangeAspect="1"/>
          </p:cNvPicPr>
          <p:nvPr/>
        </p:nvPicPr>
        <p:blipFill>
          <a:blip r:embed="rId4"/>
          <a:srcRect l="-197" r="-197"/>
          <a:stretch/>
        </p:blipFill>
        <p:spPr>
          <a:xfrm>
            <a:off x="0" y="0"/>
            <a:ext cx="4063594" cy="75895"/>
          </a:xfrm>
          <a:prstGeom prst="rect">
            <a:avLst/>
          </a:prstGeom>
        </p:spPr>
      </p:pic>
      <p:pic>
        <p:nvPicPr>
          <p:cNvPr id="17" name="Image 10" descr="preencoded.png"/>
          <p:cNvPicPr>
            <a:picLocks noChangeAspect="1"/>
          </p:cNvPicPr>
          <p:nvPr/>
        </p:nvPicPr>
        <p:blipFill>
          <a:blip r:embed="rId3"/>
          <a:srcRect l="-202" r="-202"/>
          <a:stretch/>
        </p:blipFill>
        <p:spPr>
          <a:xfrm>
            <a:off x="4063594" y="0"/>
            <a:ext cx="8128102" cy="75895"/>
          </a:xfrm>
          <a:prstGeom prst="rect">
            <a:avLst/>
          </a:prstGeom>
        </p:spPr>
      </p:pic>
    </p:spTree>
    <p:extLst>
      <p:ext uri="{BB962C8B-B14F-4D97-AF65-F5344CB8AC3E}">
        <p14:creationId xmlns:p14="http://schemas.microsoft.com/office/powerpoint/2010/main" val="246747475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gen-dedup-37abb9d8cc081a24feb608c288538026.png"/>
          <p:cNvPicPr>
            <a:picLocks noChangeAspect="1"/>
          </p:cNvPicPr>
          <p:nvPr/>
        </p:nvPicPr>
        <p:blipFill>
          <a:blip r:embed="rId3"/>
          <a:srcRect l="-198" r="-198"/>
          <a:stretch/>
        </p:blipFill>
        <p:spPr>
          <a:xfrm>
            <a:off x="0" y="0"/>
            <a:ext cx="8124444" cy="75895"/>
          </a:xfrm>
          <a:prstGeom prst="rect">
            <a:avLst/>
          </a:prstGeom>
        </p:spPr>
      </p:pic>
      <p:pic>
        <p:nvPicPr>
          <p:cNvPr id="3" name="Image 1" descr="gen-dedup-c2c9136402f20c216bf7cbcc052ad1a0.png"/>
          <p:cNvPicPr>
            <a:picLocks noChangeAspect="1"/>
          </p:cNvPicPr>
          <p:nvPr/>
        </p:nvPicPr>
        <p:blipFill>
          <a:blip r:embed="rId4"/>
          <a:srcRect l="-202" r="-202"/>
          <a:stretch/>
        </p:blipFill>
        <p:spPr>
          <a:xfrm>
            <a:off x="8124444" y="0"/>
            <a:ext cx="4067251" cy="75895"/>
          </a:xfrm>
          <a:prstGeom prst="rect">
            <a:avLst/>
          </a:prstGeom>
        </p:spPr>
      </p:pic>
      <p:pic>
        <p:nvPicPr>
          <p:cNvPr id="4" name="Image 2" descr="gen-dedup-e46db74a4f97e080e2ee84f868b11606.png"/>
          <p:cNvPicPr>
            <a:picLocks noChangeAspect="1"/>
          </p:cNvPicPr>
          <p:nvPr/>
        </p:nvPicPr>
        <p:blipFill>
          <a:blip r:embed="rId5"/>
          <a:srcRect t="-384" b="-384"/>
          <a:stretch/>
        </p:blipFill>
        <p:spPr>
          <a:xfrm>
            <a:off x="5619902" y="2678278"/>
            <a:ext cx="952805" cy="38405"/>
          </a:xfrm>
          <a:prstGeom prst="rect">
            <a:avLst/>
          </a:prstGeom>
        </p:spPr>
      </p:pic>
      <p:sp>
        <p:nvSpPr>
          <p:cNvPr id="5" name="Text 0"/>
          <p:cNvSpPr txBox="1"/>
          <p:nvPr/>
        </p:nvSpPr>
        <p:spPr>
          <a:xfrm>
            <a:off x="190195" y="3238805"/>
            <a:ext cx="11811305" cy="419710"/>
          </a:xfrm>
          <a:prstGeom prst="rect">
            <a:avLst/>
          </a:prstGeom>
          <a:noFill/>
          <a:ln/>
        </p:spPr>
        <p:txBody>
          <a:bodyPr wrap="none" lIns="0" tIns="0" rIns="0" bIns="0" rtlCol="0" anchor="ctr"/>
          <a:lstStyle/>
          <a:p>
            <a:pPr marL="0" indent="0" algn="ctr">
              <a:buNone/>
            </a:pPr>
            <a:r>
              <a:rPr lang="en-US" sz="6300" b="1" kern="0" spc="405">
                <a:solidFill>
                  <a:srgbClr val="111827"/>
                </a:solidFill>
                <a:latin typeface="Oswald" pitchFamily="34" charset="0"/>
                <a:ea typeface="Oswald" pitchFamily="34" charset="-122"/>
                <a:cs typeface="Oswald" pitchFamily="34" charset="-120"/>
              </a:rPr>
              <a:t>APPENDIX</a:t>
            </a:r>
            <a:endParaRPr lang="en-US" sz="6300"/>
          </a:p>
        </p:txBody>
      </p:sp>
      <p:sp>
        <p:nvSpPr>
          <p:cNvPr id="7" name="Shape 0">
            <a:extLst>
              <a:ext uri="{FF2B5EF4-FFF2-40B4-BE49-F238E27FC236}">
                <a16:creationId xmlns:a16="http://schemas.microsoft.com/office/drawing/2014/main" id="{D269D29B-7F06-0A31-386E-55DE177850FF}"/>
              </a:ext>
            </a:extLst>
          </p:cNvPr>
          <p:cNvSpPr/>
          <p:nvPr/>
        </p:nvSpPr>
        <p:spPr>
          <a:xfrm>
            <a:off x="8858707" y="-1429207"/>
            <a:ext cx="4762195" cy="4762195"/>
          </a:xfrm>
          <a:prstGeom prst="ellipse">
            <a:avLst/>
          </a:prstGeom>
          <a:solidFill>
            <a:srgbClr val="2A9D8F">
              <a:alpha val="4000"/>
            </a:srgbClr>
          </a:solidFill>
          <a:ln w="12700">
            <a:solidFill>
              <a:srgbClr val="FFFFFF">
                <a:alpha val="0"/>
              </a:srgbClr>
            </a:solidFill>
            <a:prstDash val="solid"/>
          </a:ln>
        </p:spPr>
        <p:txBody>
          <a:bodyPr/>
          <a:lstStyle/>
          <a:p>
            <a:endParaRPr lang="en-US"/>
          </a:p>
        </p:txBody>
      </p:sp>
      <p:sp>
        <p:nvSpPr>
          <p:cNvPr id="9" name="Shape 1">
            <a:extLst>
              <a:ext uri="{FF2B5EF4-FFF2-40B4-BE49-F238E27FC236}">
                <a16:creationId xmlns:a16="http://schemas.microsoft.com/office/drawing/2014/main" id="{22F98600-C71A-D446-B3E2-556E703264C2}"/>
              </a:ext>
            </a:extLst>
          </p:cNvPr>
          <p:cNvSpPr/>
          <p:nvPr/>
        </p:nvSpPr>
        <p:spPr>
          <a:xfrm>
            <a:off x="-952805" y="3047695"/>
            <a:ext cx="5715000" cy="5715000"/>
          </a:xfrm>
          <a:prstGeom prst="ellipse">
            <a:avLst/>
          </a:prstGeom>
          <a:solidFill>
            <a:srgbClr val="D62839">
              <a:alpha val="3000"/>
            </a:srgbClr>
          </a:solidFill>
          <a:ln w="12700">
            <a:solidFill>
              <a:srgbClr val="FFFFFF">
                <a:alpha val="0"/>
              </a:srgbClr>
            </a:solidFill>
            <a:prstDash val="solid"/>
          </a:ln>
        </p:spPr>
        <p:txBody>
          <a:bodyPr/>
          <a:lstStyle/>
          <a:p>
            <a:endParaRPr lang="en-US"/>
          </a:p>
        </p:txBody>
      </p:sp>
      <p:sp>
        <p:nvSpPr>
          <p:cNvPr id="11" name="Shape 5">
            <a:extLst>
              <a:ext uri="{FF2B5EF4-FFF2-40B4-BE49-F238E27FC236}">
                <a16:creationId xmlns:a16="http://schemas.microsoft.com/office/drawing/2014/main" id="{E747F538-7189-52CD-A0B8-237E8B53D1A9}"/>
              </a:ext>
            </a:extLst>
          </p:cNvPr>
          <p:cNvSpPr/>
          <p:nvPr/>
        </p:nvSpPr>
        <p:spPr>
          <a:xfrm>
            <a:off x="609905" y="6096305"/>
            <a:ext cx="10972800" cy="9144"/>
          </a:xfrm>
          <a:prstGeom prst="rect">
            <a:avLst/>
          </a:prstGeom>
          <a:solidFill>
            <a:srgbClr val="E2E8F0"/>
          </a:solidFill>
          <a:ln w="12700">
            <a:solidFill>
              <a:srgbClr val="E2E8F0">
                <a:alpha val="0"/>
              </a:srgbClr>
            </a:solidFill>
            <a:prstDash val="solid"/>
          </a:ln>
        </p:spPr>
        <p:txBody>
          <a:bodyPr/>
          <a:lstStyle/>
          <a:p>
            <a:endParaRPr lang="en-US"/>
          </a:p>
        </p:txBody>
      </p:sp>
      <p:sp>
        <p:nvSpPr>
          <p:cNvPr id="13" name="Text 6">
            <a:extLst>
              <a:ext uri="{FF2B5EF4-FFF2-40B4-BE49-F238E27FC236}">
                <a16:creationId xmlns:a16="http://schemas.microsoft.com/office/drawing/2014/main" id="{31311054-91AE-5A3A-AACE-A0F31187E99D}"/>
              </a:ext>
            </a:extLst>
          </p:cNvPr>
          <p:cNvSpPr txBox="1"/>
          <p:nvPr/>
        </p:nvSpPr>
        <p:spPr>
          <a:xfrm>
            <a:off x="609905" y="6295644"/>
            <a:ext cx="1292962" cy="228600"/>
          </a:xfrm>
          <a:prstGeom prst="rect">
            <a:avLst/>
          </a:prstGeom>
          <a:noFill/>
          <a:ln/>
        </p:spPr>
        <p:txBody>
          <a:bodyPr wrap="none" lIns="0" tIns="0" rIns="0" bIns="0" rtlCol="0" anchor="ctr"/>
          <a:lstStyle/>
          <a:p>
            <a:pPr marL="0" indent="0" algn="l">
              <a:buNone/>
            </a:pPr>
            <a:r>
              <a:rPr lang="en-US" sz="1200" b="1" kern="0" spc="60">
                <a:solidFill>
                  <a:srgbClr val="111827"/>
                </a:solidFill>
                <a:latin typeface="Oswald" pitchFamily="34" charset="0"/>
                <a:ea typeface="Oswald" pitchFamily="34" charset="-122"/>
                <a:cs typeface="Oswald" pitchFamily="34" charset="-120"/>
              </a:rPr>
              <a:t>JOULESTOWATTS</a:t>
            </a:r>
            <a:endParaRPr lang="en-US" sz="120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34">
            <a:extLst>
              <a:ext uri="{FF2B5EF4-FFF2-40B4-BE49-F238E27FC236}">
                <a16:creationId xmlns:a16="http://schemas.microsoft.com/office/drawing/2014/main" id="{B8A4FE25-4256-56C6-B36D-63EAA246C01E}"/>
              </a:ext>
            </a:extLst>
          </p:cNvPr>
          <p:cNvSpPr txBox="1"/>
          <p:nvPr/>
        </p:nvSpPr>
        <p:spPr>
          <a:xfrm>
            <a:off x="780440" y="734481"/>
            <a:ext cx="6869887" cy="267005"/>
          </a:xfrm>
          <a:prstGeom prst="rect">
            <a:avLst/>
          </a:prstGeom>
          <a:noFill/>
          <a:ln/>
        </p:spPr>
        <p:txBody>
          <a:bodyPr wrap="square" lIns="0" tIns="0" rIns="0" bIns="0" rtlCol="0" anchor="ctr"/>
          <a:lstStyle/>
          <a:p>
            <a:r>
              <a:rPr lang="en-US" sz="1500" b="1" kern="0" spc="75">
                <a:solidFill>
                  <a:srgbClr val="2A9D8F"/>
                </a:solidFill>
                <a:latin typeface="Roboto Condensed"/>
                <a:ea typeface="Roboto Condensed"/>
                <a:cs typeface="Roboto Condensed"/>
                <a:hlinkClick r:id="rId3"/>
              </a:rPr>
              <a:t>Explore the Capability</a:t>
            </a:r>
            <a:endParaRPr lang="en-US" sz="1500">
              <a:latin typeface="Roboto Condensed"/>
              <a:ea typeface="Roboto Condensed"/>
              <a:cs typeface="Roboto Condensed"/>
            </a:endParaRPr>
          </a:p>
        </p:txBody>
      </p:sp>
      <p:pic>
        <p:nvPicPr>
          <p:cNvPr id="7" name="Image 7" descr="preencoded.png">
            <a:extLst>
              <a:ext uri="{FF2B5EF4-FFF2-40B4-BE49-F238E27FC236}">
                <a16:creationId xmlns:a16="http://schemas.microsoft.com/office/drawing/2014/main" id="{F786F71B-2A7F-FF73-A96B-76931B442E13}"/>
              </a:ext>
            </a:extLst>
          </p:cNvPr>
          <p:cNvPicPr>
            <a:picLocks noChangeAspect="1"/>
          </p:cNvPicPr>
          <p:nvPr/>
        </p:nvPicPr>
        <p:blipFill>
          <a:blip r:embed="rId4"/>
          <a:srcRect l="-197" r="-197"/>
          <a:stretch/>
        </p:blipFill>
        <p:spPr>
          <a:xfrm>
            <a:off x="0" y="0"/>
            <a:ext cx="4063594" cy="75895"/>
          </a:xfrm>
          <a:prstGeom prst="rect">
            <a:avLst/>
          </a:prstGeom>
        </p:spPr>
      </p:pic>
      <p:pic>
        <p:nvPicPr>
          <p:cNvPr id="8" name="Image 8" descr="preencoded.png">
            <a:extLst>
              <a:ext uri="{FF2B5EF4-FFF2-40B4-BE49-F238E27FC236}">
                <a16:creationId xmlns:a16="http://schemas.microsoft.com/office/drawing/2014/main" id="{EAC53FD3-9115-514C-5187-6CF2F10A5AA5}"/>
              </a:ext>
            </a:extLst>
          </p:cNvPr>
          <p:cNvPicPr>
            <a:picLocks noChangeAspect="1"/>
          </p:cNvPicPr>
          <p:nvPr/>
        </p:nvPicPr>
        <p:blipFill>
          <a:blip r:embed="rId5"/>
          <a:srcRect l="-202" r="-202"/>
          <a:stretch/>
        </p:blipFill>
        <p:spPr>
          <a:xfrm>
            <a:off x="4063594" y="0"/>
            <a:ext cx="8128102" cy="75895"/>
          </a:xfrm>
          <a:prstGeom prst="rect">
            <a:avLst/>
          </a:prstGeom>
        </p:spPr>
      </p:pic>
      <p:pic>
        <p:nvPicPr>
          <p:cNvPr id="14" name="Picture 13">
            <a:hlinkClick r:id="rId6"/>
            <a:extLst>
              <a:ext uri="{FF2B5EF4-FFF2-40B4-BE49-F238E27FC236}">
                <a16:creationId xmlns:a16="http://schemas.microsoft.com/office/drawing/2014/main" id="{4D3E195F-DE22-F9F6-E5FC-8445191F5ED3}"/>
              </a:ext>
            </a:extLst>
          </p:cNvPr>
          <p:cNvPicPr>
            <a:picLocks noChangeAspect="1"/>
          </p:cNvPicPr>
          <p:nvPr/>
        </p:nvPicPr>
        <p:blipFill>
          <a:blip r:embed="rId7"/>
          <a:stretch>
            <a:fillRect/>
          </a:stretch>
        </p:blipFill>
        <p:spPr>
          <a:xfrm>
            <a:off x="1265540" y="1231900"/>
            <a:ext cx="9660919" cy="5490028"/>
          </a:xfrm>
          <a:prstGeom prst="rect">
            <a:avLst/>
          </a:prstGeom>
        </p:spPr>
      </p:pic>
      <p:pic>
        <p:nvPicPr>
          <p:cNvPr id="3" name="Image 3" descr="gen-dedup-777bf757d895431cabe402fcd34ebd5a.png">
            <a:extLst>
              <a:ext uri="{FF2B5EF4-FFF2-40B4-BE49-F238E27FC236}">
                <a16:creationId xmlns:a16="http://schemas.microsoft.com/office/drawing/2014/main" id="{83AFA8D8-11C5-56C4-FC81-D72BED533098}"/>
              </a:ext>
            </a:extLst>
          </p:cNvPr>
          <p:cNvPicPr>
            <a:picLocks noChangeAspect="1"/>
          </p:cNvPicPr>
          <p:nvPr/>
        </p:nvPicPr>
        <p:blipFill>
          <a:blip r:embed="rId8">
            <a:biLevel thresh="75000"/>
          </a:blip>
          <a:srcRect l="-384" r="-384"/>
          <a:stretch/>
        </p:blipFill>
        <p:spPr>
          <a:xfrm>
            <a:off x="571500" y="381305"/>
            <a:ext cx="57607" cy="476402"/>
          </a:xfrm>
          <a:prstGeom prst="rect">
            <a:avLst/>
          </a:prstGeom>
        </p:spPr>
      </p:pic>
      <p:sp>
        <p:nvSpPr>
          <p:cNvPr id="10" name="Text 5">
            <a:extLst>
              <a:ext uri="{FF2B5EF4-FFF2-40B4-BE49-F238E27FC236}">
                <a16:creationId xmlns:a16="http://schemas.microsoft.com/office/drawing/2014/main" id="{C41CAF9D-6A16-3808-E3EA-1C850CD88016}"/>
              </a:ext>
            </a:extLst>
          </p:cNvPr>
          <p:cNvSpPr txBox="1"/>
          <p:nvPr/>
        </p:nvSpPr>
        <p:spPr>
          <a:xfrm>
            <a:off x="780897" y="333756"/>
            <a:ext cx="5913817" cy="406908"/>
          </a:xfrm>
          <a:prstGeom prst="rect">
            <a:avLst/>
          </a:prstGeom>
          <a:noFill/>
          <a:ln/>
        </p:spPr>
        <p:txBody>
          <a:bodyPr wrap="none" lIns="0" tIns="0" rIns="0" bIns="0" rtlCol="0" anchor="ctr"/>
          <a:lstStyle/>
          <a:p>
            <a:r>
              <a:rPr lang="en-GB" sz="2400" b="1" kern="0" spc="-67" dirty="0">
                <a:solidFill>
                  <a:srgbClr val="111827"/>
                </a:solidFill>
                <a:latin typeface="Oswald" pitchFamily="34" charset="0"/>
                <a:ea typeface="Oswald" pitchFamily="34" charset="-122"/>
                <a:cs typeface="Oswald" pitchFamily="34" charset="-120"/>
              </a:rPr>
              <a:t>DATA COE FRAMEWORK</a:t>
            </a:r>
          </a:p>
        </p:txBody>
      </p:sp>
    </p:spTree>
    <p:extLst>
      <p:ext uri="{BB962C8B-B14F-4D97-AF65-F5344CB8AC3E}">
        <p14:creationId xmlns:p14="http://schemas.microsoft.com/office/powerpoint/2010/main" val="299671942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810598" y="-952805"/>
            <a:ext cx="4286707" cy="4286707"/>
          </a:xfrm>
          <a:prstGeom prst="ellipse">
            <a:avLst/>
          </a:prstGeom>
          <a:solidFill>
            <a:srgbClr val="F0FDFA">
              <a:alpha val="30000"/>
            </a:srgbClr>
          </a:solidFill>
          <a:ln w="12700">
            <a:solidFill>
              <a:srgbClr val="FFFFFF">
                <a:alpha val="0"/>
              </a:srgbClr>
            </a:solidFill>
            <a:prstDash val="solid"/>
          </a:ln>
        </p:spPr>
        <p:txBody>
          <a:bodyPr/>
          <a:lstStyle/>
          <a:p>
            <a:endParaRPr lang="en-IN"/>
          </a:p>
        </p:txBody>
      </p:sp>
      <p:sp>
        <p:nvSpPr>
          <p:cNvPr id="3" name="Shape 1"/>
          <p:cNvSpPr/>
          <p:nvPr/>
        </p:nvSpPr>
        <p:spPr>
          <a:xfrm>
            <a:off x="-952805" y="4476902"/>
            <a:ext cx="3333902" cy="3333902"/>
          </a:xfrm>
          <a:prstGeom prst="ellipse">
            <a:avLst/>
          </a:prstGeom>
          <a:solidFill>
            <a:srgbClr val="FEF2F2">
              <a:alpha val="20000"/>
            </a:srgbClr>
          </a:solidFill>
          <a:ln w="12700">
            <a:solidFill>
              <a:srgbClr val="FFFFFF">
                <a:alpha val="0"/>
              </a:srgbClr>
            </a:solidFill>
            <a:prstDash val="solid"/>
          </a:ln>
        </p:spPr>
        <p:txBody>
          <a:bodyPr/>
          <a:lstStyle/>
          <a:p>
            <a:endParaRPr lang="en-IN"/>
          </a:p>
        </p:txBody>
      </p:sp>
      <p:pic>
        <p:nvPicPr>
          <p:cNvPr id="4" name="Image 0" descr="gen-dedup-be1cb091bc9e8f0495955e933e645e9d.png"/>
          <p:cNvPicPr>
            <a:picLocks noChangeAspect="1"/>
          </p:cNvPicPr>
          <p:nvPr/>
        </p:nvPicPr>
        <p:blipFill>
          <a:blip r:embed="rId3"/>
          <a:srcRect l="-207" r="-207"/>
          <a:stretch/>
        </p:blipFill>
        <p:spPr>
          <a:xfrm>
            <a:off x="0" y="0"/>
            <a:ext cx="4058107" cy="75895"/>
          </a:xfrm>
          <a:prstGeom prst="rect">
            <a:avLst/>
          </a:prstGeom>
        </p:spPr>
      </p:pic>
      <p:pic>
        <p:nvPicPr>
          <p:cNvPr id="5" name="Image 1" descr="gen-dedup-f2129b90ae8f1ca3912ea926e519aa31.png"/>
          <p:cNvPicPr>
            <a:picLocks noChangeAspect="1"/>
          </p:cNvPicPr>
          <p:nvPr/>
        </p:nvPicPr>
        <p:blipFill>
          <a:blip r:embed="rId4"/>
          <a:srcRect l="-202" r="-202"/>
          <a:stretch/>
        </p:blipFill>
        <p:spPr>
          <a:xfrm>
            <a:off x="4058107" y="0"/>
            <a:ext cx="8134502" cy="75895"/>
          </a:xfrm>
          <a:prstGeom prst="rect">
            <a:avLst/>
          </a:prstGeom>
        </p:spPr>
      </p:pic>
      <p:sp>
        <p:nvSpPr>
          <p:cNvPr id="6" name="Shape 2"/>
          <p:cNvSpPr/>
          <p:nvPr/>
        </p:nvSpPr>
        <p:spPr>
          <a:xfrm>
            <a:off x="571500" y="1857146"/>
            <a:ext cx="11048695" cy="724205"/>
          </a:xfrm>
          <a:prstGeom prst="rect">
            <a:avLst/>
          </a:prstGeom>
          <a:solidFill>
            <a:srgbClr val="FFFFFF"/>
          </a:solidFill>
          <a:ln/>
        </p:spPr>
        <p:txBody>
          <a:bodyPr/>
          <a:lstStyle/>
          <a:p>
            <a:endParaRPr lang="en-IN"/>
          </a:p>
        </p:txBody>
      </p:sp>
      <p:sp>
        <p:nvSpPr>
          <p:cNvPr id="7" name="Shape 3"/>
          <p:cNvSpPr/>
          <p:nvPr/>
        </p:nvSpPr>
        <p:spPr>
          <a:xfrm>
            <a:off x="571500" y="1857146"/>
            <a:ext cx="11048695" cy="9144"/>
          </a:xfrm>
          <a:prstGeom prst="rect">
            <a:avLst/>
          </a:prstGeom>
          <a:solidFill>
            <a:srgbClr val="F3F4F6"/>
          </a:solidFill>
          <a:ln w="12700">
            <a:solidFill>
              <a:srgbClr val="F3F4F6">
                <a:alpha val="0"/>
              </a:srgbClr>
            </a:solidFill>
            <a:prstDash val="solid"/>
          </a:ln>
        </p:spPr>
        <p:txBody>
          <a:bodyPr/>
          <a:lstStyle/>
          <a:p>
            <a:endParaRPr lang="en-IN"/>
          </a:p>
        </p:txBody>
      </p:sp>
      <p:sp>
        <p:nvSpPr>
          <p:cNvPr id="8" name="Shape 4"/>
          <p:cNvSpPr/>
          <p:nvPr/>
        </p:nvSpPr>
        <p:spPr>
          <a:xfrm>
            <a:off x="571500" y="2572207"/>
            <a:ext cx="11048695" cy="724205"/>
          </a:xfrm>
          <a:prstGeom prst="rect">
            <a:avLst/>
          </a:prstGeom>
          <a:solidFill>
            <a:srgbClr val="F9FAFB"/>
          </a:solidFill>
          <a:ln/>
        </p:spPr>
        <p:txBody>
          <a:bodyPr/>
          <a:lstStyle/>
          <a:p>
            <a:endParaRPr lang="en-IN"/>
          </a:p>
        </p:txBody>
      </p:sp>
      <p:sp>
        <p:nvSpPr>
          <p:cNvPr id="9" name="Shape 5"/>
          <p:cNvSpPr/>
          <p:nvPr/>
        </p:nvSpPr>
        <p:spPr>
          <a:xfrm>
            <a:off x="571500" y="2572207"/>
            <a:ext cx="11048695" cy="9144"/>
          </a:xfrm>
          <a:prstGeom prst="rect">
            <a:avLst/>
          </a:prstGeom>
          <a:solidFill>
            <a:srgbClr val="F3F4F6"/>
          </a:solidFill>
          <a:ln w="12700">
            <a:solidFill>
              <a:srgbClr val="F3F4F6">
                <a:alpha val="0"/>
              </a:srgbClr>
            </a:solidFill>
            <a:prstDash val="solid"/>
          </a:ln>
        </p:spPr>
        <p:txBody>
          <a:bodyPr/>
          <a:lstStyle/>
          <a:p>
            <a:endParaRPr lang="en-IN"/>
          </a:p>
        </p:txBody>
      </p:sp>
      <p:sp>
        <p:nvSpPr>
          <p:cNvPr id="10" name="Shape 6"/>
          <p:cNvSpPr/>
          <p:nvPr/>
        </p:nvSpPr>
        <p:spPr>
          <a:xfrm>
            <a:off x="571500" y="3286354"/>
            <a:ext cx="11048695" cy="724205"/>
          </a:xfrm>
          <a:prstGeom prst="rect">
            <a:avLst/>
          </a:prstGeom>
          <a:solidFill>
            <a:srgbClr val="FFFFFF"/>
          </a:solidFill>
          <a:ln/>
        </p:spPr>
        <p:txBody>
          <a:bodyPr/>
          <a:lstStyle/>
          <a:p>
            <a:endParaRPr lang="en-IN"/>
          </a:p>
        </p:txBody>
      </p:sp>
      <p:sp>
        <p:nvSpPr>
          <p:cNvPr id="11" name="Shape 7"/>
          <p:cNvSpPr/>
          <p:nvPr/>
        </p:nvSpPr>
        <p:spPr>
          <a:xfrm>
            <a:off x="571500" y="3286354"/>
            <a:ext cx="11048695" cy="9144"/>
          </a:xfrm>
          <a:prstGeom prst="rect">
            <a:avLst/>
          </a:prstGeom>
          <a:solidFill>
            <a:srgbClr val="F3F4F6"/>
          </a:solidFill>
          <a:ln w="12700">
            <a:solidFill>
              <a:srgbClr val="F3F4F6">
                <a:alpha val="0"/>
              </a:srgbClr>
            </a:solidFill>
            <a:prstDash val="solid"/>
          </a:ln>
        </p:spPr>
        <p:txBody>
          <a:bodyPr/>
          <a:lstStyle/>
          <a:p>
            <a:endParaRPr lang="en-IN"/>
          </a:p>
        </p:txBody>
      </p:sp>
      <p:sp>
        <p:nvSpPr>
          <p:cNvPr id="12" name="Shape 8"/>
          <p:cNvSpPr/>
          <p:nvPr/>
        </p:nvSpPr>
        <p:spPr>
          <a:xfrm>
            <a:off x="571500" y="4000500"/>
            <a:ext cx="11048695" cy="724205"/>
          </a:xfrm>
          <a:prstGeom prst="rect">
            <a:avLst/>
          </a:prstGeom>
          <a:solidFill>
            <a:srgbClr val="F9FAFB"/>
          </a:solidFill>
          <a:ln/>
        </p:spPr>
        <p:txBody>
          <a:bodyPr/>
          <a:lstStyle/>
          <a:p>
            <a:endParaRPr lang="en-IN"/>
          </a:p>
        </p:txBody>
      </p:sp>
      <p:sp>
        <p:nvSpPr>
          <p:cNvPr id="13" name="Shape 9"/>
          <p:cNvSpPr/>
          <p:nvPr/>
        </p:nvSpPr>
        <p:spPr>
          <a:xfrm>
            <a:off x="571500" y="4000500"/>
            <a:ext cx="11048695" cy="9144"/>
          </a:xfrm>
          <a:prstGeom prst="rect">
            <a:avLst/>
          </a:prstGeom>
          <a:solidFill>
            <a:srgbClr val="F3F4F6"/>
          </a:solidFill>
          <a:ln w="12700">
            <a:solidFill>
              <a:srgbClr val="F3F4F6">
                <a:alpha val="0"/>
              </a:srgbClr>
            </a:solidFill>
            <a:prstDash val="solid"/>
          </a:ln>
        </p:spPr>
        <p:txBody>
          <a:bodyPr/>
          <a:lstStyle/>
          <a:p>
            <a:endParaRPr lang="en-IN"/>
          </a:p>
        </p:txBody>
      </p:sp>
      <p:sp>
        <p:nvSpPr>
          <p:cNvPr id="14" name="Shape 10"/>
          <p:cNvSpPr/>
          <p:nvPr/>
        </p:nvSpPr>
        <p:spPr>
          <a:xfrm>
            <a:off x="571500" y="4714646"/>
            <a:ext cx="11048695" cy="724205"/>
          </a:xfrm>
          <a:prstGeom prst="rect">
            <a:avLst/>
          </a:prstGeom>
          <a:solidFill>
            <a:srgbClr val="FFFFFF"/>
          </a:solidFill>
          <a:ln/>
        </p:spPr>
        <p:txBody>
          <a:bodyPr/>
          <a:lstStyle/>
          <a:p>
            <a:endParaRPr lang="en-IN"/>
          </a:p>
        </p:txBody>
      </p:sp>
      <p:sp>
        <p:nvSpPr>
          <p:cNvPr id="15" name="Shape 11"/>
          <p:cNvSpPr/>
          <p:nvPr/>
        </p:nvSpPr>
        <p:spPr>
          <a:xfrm>
            <a:off x="571500" y="4714646"/>
            <a:ext cx="11048695" cy="9144"/>
          </a:xfrm>
          <a:prstGeom prst="rect">
            <a:avLst/>
          </a:prstGeom>
          <a:solidFill>
            <a:srgbClr val="F3F4F6"/>
          </a:solidFill>
          <a:ln w="12700">
            <a:solidFill>
              <a:srgbClr val="F3F4F6">
                <a:alpha val="0"/>
              </a:srgbClr>
            </a:solidFill>
            <a:prstDash val="solid"/>
          </a:ln>
        </p:spPr>
        <p:txBody>
          <a:bodyPr/>
          <a:lstStyle/>
          <a:p>
            <a:endParaRPr lang="en-IN"/>
          </a:p>
        </p:txBody>
      </p:sp>
      <p:sp>
        <p:nvSpPr>
          <p:cNvPr id="16" name="Shape 12"/>
          <p:cNvSpPr/>
          <p:nvPr/>
        </p:nvSpPr>
        <p:spPr>
          <a:xfrm>
            <a:off x="571500" y="5667451"/>
            <a:ext cx="11067898" cy="1019556"/>
          </a:xfrm>
          <a:prstGeom prst="roundRect">
            <a:avLst>
              <a:gd name="adj" fmla="val 7444"/>
            </a:avLst>
          </a:prstGeom>
          <a:solidFill>
            <a:srgbClr val="F8FAFC"/>
          </a:solidFill>
          <a:ln w="12700">
            <a:solidFill>
              <a:srgbClr val="E5E7EB"/>
            </a:solidFill>
            <a:prstDash val="solid"/>
          </a:ln>
        </p:spPr>
        <p:txBody>
          <a:bodyPr/>
          <a:lstStyle/>
          <a:p>
            <a:endParaRPr lang="en-IN"/>
          </a:p>
        </p:txBody>
      </p:sp>
      <p:pic>
        <p:nvPicPr>
          <p:cNvPr id="18" name="Image 3" descr="gen-dedup-61333e6c1fae0e78438b991dca337f09.png"/>
          <p:cNvPicPr>
            <a:picLocks noChangeAspect="1"/>
          </p:cNvPicPr>
          <p:nvPr/>
        </p:nvPicPr>
        <p:blipFill>
          <a:blip r:embed="rId5"/>
          <a:srcRect t="-7" b="-7"/>
          <a:stretch/>
        </p:blipFill>
        <p:spPr>
          <a:xfrm>
            <a:off x="2381098" y="1285646"/>
            <a:ext cx="4762195" cy="4267505"/>
          </a:xfrm>
          <a:prstGeom prst="rect">
            <a:avLst/>
          </a:prstGeom>
        </p:spPr>
      </p:pic>
      <p:pic>
        <p:nvPicPr>
          <p:cNvPr id="19" name="Image 4" descr="gen-dedup-59b406a1d2cd5cfb7416a885436b706c.png"/>
          <p:cNvPicPr>
            <a:picLocks noChangeAspect="1"/>
          </p:cNvPicPr>
          <p:nvPr/>
        </p:nvPicPr>
        <p:blipFill>
          <a:blip r:embed="rId6"/>
          <a:srcRect t="-2111" b="-2111"/>
          <a:stretch/>
        </p:blipFill>
        <p:spPr>
          <a:xfrm>
            <a:off x="4095598" y="5952744"/>
            <a:ext cx="9144" cy="428854"/>
          </a:xfrm>
          <a:prstGeom prst="rect">
            <a:avLst/>
          </a:prstGeom>
        </p:spPr>
      </p:pic>
      <p:pic>
        <p:nvPicPr>
          <p:cNvPr id="20" name="Image 5" descr="gen-dedup-59b406a1d2cd5cfb7416a885436b706c.png"/>
          <p:cNvPicPr>
            <a:picLocks noChangeAspect="1"/>
          </p:cNvPicPr>
          <p:nvPr/>
        </p:nvPicPr>
        <p:blipFill>
          <a:blip r:embed="rId6"/>
          <a:srcRect t="-2111" b="-2111"/>
          <a:stretch/>
        </p:blipFill>
        <p:spPr>
          <a:xfrm>
            <a:off x="6001207" y="5952744"/>
            <a:ext cx="9144" cy="428854"/>
          </a:xfrm>
          <a:prstGeom prst="rect">
            <a:avLst/>
          </a:prstGeom>
        </p:spPr>
      </p:pic>
      <p:pic>
        <p:nvPicPr>
          <p:cNvPr id="21" name="Image 6" descr="gen-dedup-59b406a1d2cd5cfb7416a885436b706c.png"/>
          <p:cNvPicPr>
            <a:picLocks noChangeAspect="1"/>
          </p:cNvPicPr>
          <p:nvPr/>
        </p:nvPicPr>
        <p:blipFill>
          <a:blip r:embed="rId6"/>
          <a:srcRect t="-2111" b="-2111"/>
          <a:stretch/>
        </p:blipFill>
        <p:spPr>
          <a:xfrm>
            <a:off x="7905902" y="5952744"/>
            <a:ext cx="9144" cy="428854"/>
          </a:xfrm>
          <a:prstGeom prst="rect">
            <a:avLst/>
          </a:prstGeom>
        </p:spPr>
      </p:pic>
      <p:pic>
        <p:nvPicPr>
          <p:cNvPr id="22" name="Image 7" descr="gen-dedup-59b406a1d2cd5cfb7416a885436b706c.png"/>
          <p:cNvPicPr>
            <a:picLocks noChangeAspect="1"/>
          </p:cNvPicPr>
          <p:nvPr/>
        </p:nvPicPr>
        <p:blipFill>
          <a:blip r:embed="rId6"/>
          <a:srcRect t="-2111" b="-2111"/>
          <a:stretch/>
        </p:blipFill>
        <p:spPr>
          <a:xfrm>
            <a:off x="9810598" y="5952744"/>
            <a:ext cx="9144" cy="428854"/>
          </a:xfrm>
          <a:prstGeom prst="rect">
            <a:avLst/>
          </a:prstGeom>
        </p:spPr>
      </p:pic>
      <p:sp>
        <p:nvSpPr>
          <p:cNvPr id="25" name="Text 15"/>
          <p:cNvSpPr txBox="1"/>
          <p:nvPr/>
        </p:nvSpPr>
        <p:spPr>
          <a:xfrm>
            <a:off x="2476195" y="1380744"/>
            <a:ext cx="4572000" cy="314554"/>
          </a:xfrm>
          <a:prstGeom prst="rect">
            <a:avLst/>
          </a:prstGeom>
          <a:noFill/>
          <a:ln/>
        </p:spPr>
        <p:txBody>
          <a:bodyPr wrap="none" lIns="0" tIns="0" rIns="0" bIns="0" rtlCol="0" anchor="ctr"/>
          <a:lstStyle/>
          <a:p>
            <a:pPr marL="0" indent="0" algn="ctr">
              <a:buNone/>
            </a:pPr>
            <a:r>
              <a:rPr lang="en-US" sz="1600" b="1" dirty="0">
                <a:solidFill>
                  <a:srgbClr val="111827"/>
                </a:solidFill>
                <a:latin typeface="Oswald" pitchFamily="34" charset="0"/>
                <a:ea typeface="Oswald" pitchFamily="34" charset="-122"/>
                <a:cs typeface="Oswald" pitchFamily="34" charset="-120"/>
              </a:rPr>
              <a:t>JoulesToWatts </a:t>
            </a:r>
            <a:endParaRPr lang="en-US" sz="1600" dirty="0"/>
          </a:p>
        </p:txBody>
      </p:sp>
      <p:sp>
        <p:nvSpPr>
          <p:cNvPr id="26" name="Text 16"/>
          <p:cNvSpPr txBox="1"/>
          <p:nvPr/>
        </p:nvSpPr>
        <p:spPr>
          <a:xfrm>
            <a:off x="7239305" y="1380744"/>
            <a:ext cx="4381805" cy="314554"/>
          </a:xfrm>
          <a:prstGeom prst="rect">
            <a:avLst/>
          </a:prstGeom>
          <a:noFill/>
          <a:ln/>
        </p:spPr>
        <p:txBody>
          <a:bodyPr wrap="none" lIns="0" tIns="0" rIns="0" bIns="0" rtlCol="0" anchor="ctr"/>
          <a:lstStyle/>
          <a:p>
            <a:pPr marL="0" indent="0" algn="ctr">
              <a:buNone/>
            </a:pPr>
            <a:r>
              <a:rPr lang="en-US" sz="1600" b="1">
                <a:solidFill>
                  <a:srgbClr val="6B7280"/>
                </a:solidFill>
                <a:latin typeface="Oswald" pitchFamily="34" charset="0"/>
                <a:ea typeface="Oswald" pitchFamily="34" charset="-122"/>
                <a:cs typeface="Oswald" pitchFamily="34" charset="-120"/>
              </a:rPr>
              <a:t>Big 4 / Top IT SIs</a:t>
            </a:r>
            <a:endParaRPr lang="en-US" sz="1600"/>
          </a:p>
        </p:txBody>
      </p:sp>
      <p:sp>
        <p:nvSpPr>
          <p:cNvPr id="27" name="Text 17"/>
          <p:cNvSpPr txBox="1"/>
          <p:nvPr/>
        </p:nvSpPr>
        <p:spPr>
          <a:xfrm>
            <a:off x="666598" y="1952244"/>
            <a:ext cx="1957730" cy="238658"/>
          </a:xfrm>
          <a:prstGeom prst="rect">
            <a:avLst/>
          </a:prstGeom>
          <a:noFill/>
          <a:ln/>
        </p:spPr>
        <p:txBody>
          <a:bodyPr wrap="none" lIns="0" tIns="0" rIns="0" bIns="0" rtlCol="0" anchor="ctr"/>
          <a:lstStyle/>
          <a:p>
            <a:pPr marL="0" indent="0" algn="l">
              <a:buNone/>
            </a:pPr>
            <a:r>
              <a:rPr lang="en-US" sz="1200" b="1">
                <a:solidFill>
                  <a:srgbClr val="374151"/>
                </a:solidFill>
                <a:latin typeface="Oswald" pitchFamily="34" charset="0"/>
                <a:ea typeface="Oswald" pitchFamily="34" charset="-122"/>
                <a:cs typeface="Oswald" pitchFamily="34" charset="-120"/>
              </a:rPr>
              <a:t>ROI &amp; Outcome Model</a:t>
            </a:r>
            <a:endParaRPr lang="en-US" sz="1200"/>
          </a:p>
        </p:txBody>
      </p:sp>
      <p:sp>
        <p:nvSpPr>
          <p:cNvPr id="28" name="Text 18"/>
          <p:cNvSpPr txBox="1"/>
          <p:nvPr/>
        </p:nvSpPr>
        <p:spPr>
          <a:xfrm>
            <a:off x="2476195" y="1952244"/>
            <a:ext cx="4572000" cy="419710"/>
          </a:xfrm>
          <a:prstGeom prst="rect">
            <a:avLst/>
          </a:prstGeom>
          <a:noFill/>
          <a:ln/>
        </p:spPr>
        <p:txBody>
          <a:bodyPr wrap="square" lIns="0" tIns="0" rIns="0" bIns="0" rtlCol="0" anchor="ctr"/>
          <a:lstStyle/>
          <a:p>
            <a:pPr marL="0" indent="0" algn="l">
              <a:buNone/>
            </a:pPr>
            <a:r>
              <a:rPr lang="en-US" sz="1200" b="1">
                <a:solidFill>
                  <a:srgbClr val="111827"/>
                </a:solidFill>
                <a:latin typeface="Raleway" pitchFamily="34" charset="0"/>
                <a:ea typeface="Raleway" pitchFamily="34" charset="-122"/>
                <a:cs typeface="Raleway" pitchFamily="34" charset="-120"/>
              </a:rPr>
              <a:t>Outcome-driven from Day 1 – aligned to your milestones, CXO ROI expectations &amp; project KPIs</a:t>
            </a:r>
            <a:endParaRPr lang="en-US" sz="1200"/>
          </a:p>
        </p:txBody>
      </p:sp>
      <p:sp>
        <p:nvSpPr>
          <p:cNvPr id="29" name="Text 19"/>
          <p:cNvSpPr txBox="1"/>
          <p:nvPr/>
        </p:nvSpPr>
        <p:spPr>
          <a:xfrm>
            <a:off x="7239305" y="1952244"/>
            <a:ext cx="4381805" cy="419710"/>
          </a:xfrm>
          <a:prstGeom prst="rect">
            <a:avLst/>
          </a:prstGeom>
          <a:noFill/>
          <a:ln/>
        </p:spPr>
        <p:txBody>
          <a:bodyPr wrap="square" lIns="0" tIns="0" rIns="0" bIns="0" rtlCol="0" anchor="ctr"/>
          <a:lstStyle/>
          <a:p>
            <a:pPr marL="0" indent="0" algn="l">
              <a:buNone/>
            </a:pPr>
            <a:r>
              <a:rPr lang="en-US" sz="1200">
                <a:solidFill>
                  <a:srgbClr val="6B7280"/>
                </a:solidFill>
                <a:latin typeface="Raleway" pitchFamily="34" charset="0"/>
                <a:ea typeface="Raleway" pitchFamily="34" charset="-122"/>
                <a:cs typeface="Raleway" pitchFamily="34" charset="-120"/>
              </a:rPr>
              <a:t>Heavy retainers and longer payback cycles. High technical debt risk on failed transformations</a:t>
            </a:r>
            <a:endParaRPr lang="en-US" sz="1200"/>
          </a:p>
        </p:txBody>
      </p:sp>
      <p:sp>
        <p:nvSpPr>
          <p:cNvPr id="30" name="Text 20"/>
          <p:cNvSpPr txBox="1"/>
          <p:nvPr/>
        </p:nvSpPr>
        <p:spPr>
          <a:xfrm>
            <a:off x="666598" y="2667305"/>
            <a:ext cx="1810512" cy="238658"/>
          </a:xfrm>
          <a:prstGeom prst="rect">
            <a:avLst/>
          </a:prstGeom>
          <a:noFill/>
          <a:ln/>
        </p:spPr>
        <p:txBody>
          <a:bodyPr wrap="none" lIns="0" tIns="0" rIns="0" bIns="0" rtlCol="0" anchor="ctr"/>
          <a:lstStyle/>
          <a:p>
            <a:pPr marL="0" indent="0" algn="l">
              <a:buNone/>
            </a:pPr>
            <a:r>
              <a:rPr lang="en-US" sz="1200" b="1">
                <a:solidFill>
                  <a:srgbClr val="374151"/>
                </a:solidFill>
                <a:latin typeface="Oswald" pitchFamily="34" charset="0"/>
                <a:ea typeface="Oswald" pitchFamily="34" charset="-122"/>
                <a:cs typeface="Oswald" pitchFamily="34" charset="-120"/>
              </a:rPr>
              <a:t>Time-to-Value</a:t>
            </a:r>
            <a:endParaRPr lang="en-US" sz="1200"/>
          </a:p>
        </p:txBody>
      </p:sp>
      <p:sp>
        <p:nvSpPr>
          <p:cNvPr id="31" name="Text 21"/>
          <p:cNvSpPr txBox="1"/>
          <p:nvPr/>
        </p:nvSpPr>
        <p:spPr>
          <a:xfrm>
            <a:off x="2476195" y="2667305"/>
            <a:ext cx="4572000" cy="419710"/>
          </a:xfrm>
          <a:prstGeom prst="rect">
            <a:avLst/>
          </a:prstGeom>
          <a:noFill/>
          <a:ln/>
        </p:spPr>
        <p:txBody>
          <a:bodyPr wrap="square" lIns="0" tIns="0" rIns="0" bIns="0" rtlCol="0" anchor="ctr"/>
          <a:lstStyle/>
          <a:p>
            <a:pPr marL="0" indent="0" algn="l">
              <a:buNone/>
            </a:pPr>
            <a:r>
              <a:rPr lang="en-US" sz="1200" b="1">
                <a:solidFill>
                  <a:srgbClr val="111827"/>
                </a:solidFill>
                <a:latin typeface="Raleway" pitchFamily="34" charset="0"/>
                <a:ea typeface="Raleway" pitchFamily="34" charset="-122"/>
                <a:cs typeface="Raleway" pitchFamily="34" charset="-120"/>
              </a:rPr>
              <a:t>Production-ready Gen &amp; Agentic AI PoCs in weeks via 50+ accelerators across SAP, Oracle, ServiceNow &amp; more</a:t>
            </a:r>
            <a:endParaRPr lang="en-US" sz="1200"/>
          </a:p>
        </p:txBody>
      </p:sp>
      <p:sp>
        <p:nvSpPr>
          <p:cNvPr id="32" name="Text 22"/>
          <p:cNvSpPr txBox="1"/>
          <p:nvPr/>
        </p:nvSpPr>
        <p:spPr>
          <a:xfrm>
            <a:off x="7239305" y="2667305"/>
            <a:ext cx="4381805" cy="419710"/>
          </a:xfrm>
          <a:prstGeom prst="rect">
            <a:avLst/>
          </a:prstGeom>
          <a:noFill/>
          <a:ln/>
        </p:spPr>
        <p:txBody>
          <a:bodyPr wrap="square" lIns="0" tIns="0" rIns="0" bIns="0" rtlCol="0" anchor="ctr"/>
          <a:lstStyle/>
          <a:p>
            <a:pPr marL="0" indent="0" algn="l">
              <a:buNone/>
            </a:pPr>
            <a:r>
              <a:rPr lang="en-US" sz="1200">
                <a:solidFill>
                  <a:srgbClr val="6B7280"/>
                </a:solidFill>
                <a:latin typeface="Raleway" pitchFamily="34" charset="0"/>
                <a:ea typeface="Raleway" pitchFamily="34" charset="-122"/>
                <a:cs typeface="Raleway" pitchFamily="34" charset="-120"/>
              </a:rPr>
              <a:t>Lengthy consulting cycles with SI-driven models – higher costs and slower results</a:t>
            </a:r>
            <a:endParaRPr lang="en-US" sz="1200"/>
          </a:p>
        </p:txBody>
      </p:sp>
      <p:sp>
        <p:nvSpPr>
          <p:cNvPr id="33" name="Text 23"/>
          <p:cNvSpPr txBox="1"/>
          <p:nvPr/>
        </p:nvSpPr>
        <p:spPr>
          <a:xfrm>
            <a:off x="666598" y="3381451"/>
            <a:ext cx="2057400" cy="238658"/>
          </a:xfrm>
          <a:prstGeom prst="rect">
            <a:avLst/>
          </a:prstGeom>
          <a:noFill/>
          <a:ln/>
        </p:spPr>
        <p:txBody>
          <a:bodyPr wrap="none" lIns="0" tIns="0" rIns="0" bIns="0" rtlCol="0" anchor="ctr"/>
          <a:lstStyle/>
          <a:p>
            <a:pPr marL="0" indent="0" algn="l">
              <a:buNone/>
            </a:pPr>
            <a:r>
              <a:rPr lang="en-US" sz="1200" b="1">
                <a:solidFill>
                  <a:srgbClr val="374151"/>
                </a:solidFill>
                <a:latin typeface="Oswald" pitchFamily="34" charset="0"/>
                <a:ea typeface="Oswald" pitchFamily="34" charset="-122"/>
                <a:cs typeface="Oswald" pitchFamily="34" charset="-120"/>
              </a:rPr>
              <a:t>AI / Data Governance</a:t>
            </a:r>
            <a:endParaRPr lang="en-US" sz="1200"/>
          </a:p>
        </p:txBody>
      </p:sp>
      <p:sp>
        <p:nvSpPr>
          <p:cNvPr id="34" name="Text 24"/>
          <p:cNvSpPr txBox="1"/>
          <p:nvPr/>
        </p:nvSpPr>
        <p:spPr>
          <a:xfrm>
            <a:off x="2476195" y="3381451"/>
            <a:ext cx="4572000" cy="381305"/>
          </a:xfrm>
          <a:prstGeom prst="rect">
            <a:avLst/>
          </a:prstGeom>
          <a:noFill/>
          <a:ln/>
        </p:spPr>
        <p:txBody>
          <a:bodyPr wrap="square" lIns="0" tIns="0" rIns="0" bIns="0" rtlCol="0" anchor="ctr"/>
          <a:lstStyle/>
          <a:p>
            <a:pPr marL="0" indent="0" algn="l">
              <a:buNone/>
            </a:pPr>
            <a:r>
              <a:rPr lang="en-US" sz="1100" b="1">
                <a:solidFill>
                  <a:srgbClr val="111827"/>
                </a:solidFill>
                <a:latin typeface="Raleway" pitchFamily="34" charset="0"/>
                <a:ea typeface="Raleway" pitchFamily="34" charset="-122"/>
                <a:cs typeface="Raleway" pitchFamily="34" charset="-120"/>
              </a:rPr>
              <a:t>Pre-built guardrails. Mission-critical delivery in regulated industries (Fortune 500 MedTech). Data stays in your environment</a:t>
            </a:r>
            <a:endParaRPr lang="en-US" sz="1100"/>
          </a:p>
        </p:txBody>
      </p:sp>
      <p:sp>
        <p:nvSpPr>
          <p:cNvPr id="35" name="Text 25"/>
          <p:cNvSpPr txBox="1"/>
          <p:nvPr/>
        </p:nvSpPr>
        <p:spPr>
          <a:xfrm>
            <a:off x="7239305" y="3381451"/>
            <a:ext cx="4381805" cy="419710"/>
          </a:xfrm>
          <a:prstGeom prst="rect">
            <a:avLst/>
          </a:prstGeom>
          <a:noFill/>
          <a:ln/>
        </p:spPr>
        <p:txBody>
          <a:bodyPr wrap="square" lIns="0" tIns="0" rIns="0" bIns="0" rtlCol="0" anchor="ctr"/>
          <a:lstStyle/>
          <a:p>
            <a:pPr marL="0" indent="0" algn="l">
              <a:buNone/>
            </a:pPr>
            <a:r>
              <a:rPr lang="en-US" sz="1200">
                <a:solidFill>
                  <a:srgbClr val="6B7280"/>
                </a:solidFill>
                <a:latin typeface="Raleway" pitchFamily="34" charset="0"/>
                <a:ea typeface="Raleway" pitchFamily="34" charset="-122"/>
                <a:cs typeface="Raleway" pitchFamily="34" charset="-120"/>
              </a:rPr>
              <a:t>Claims excellence, but multiple public incidents undermining credibility</a:t>
            </a:r>
            <a:endParaRPr lang="en-US" sz="1200"/>
          </a:p>
        </p:txBody>
      </p:sp>
      <p:sp>
        <p:nvSpPr>
          <p:cNvPr id="36" name="Text 26"/>
          <p:cNvSpPr txBox="1"/>
          <p:nvPr/>
        </p:nvSpPr>
        <p:spPr>
          <a:xfrm>
            <a:off x="666598" y="4095598"/>
            <a:ext cx="2057400" cy="238658"/>
          </a:xfrm>
          <a:prstGeom prst="rect">
            <a:avLst/>
          </a:prstGeom>
          <a:noFill/>
          <a:ln/>
        </p:spPr>
        <p:txBody>
          <a:bodyPr wrap="none" lIns="0" tIns="0" rIns="0" bIns="0" rtlCol="0" anchor="ctr"/>
          <a:lstStyle/>
          <a:p>
            <a:pPr marL="0" indent="0" algn="l">
              <a:buNone/>
            </a:pPr>
            <a:r>
              <a:rPr lang="en-US" sz="1200" b="1">
                <a:solidFill>
                  <a:srgbClr val="374151"/>
                </a:solidFill>
                <a:latin typeface="Oswald" pitchFamily="34" charset="0"/>
                <a:ea typeface="Oswald" pitchFamily="34" charset="-122"/>
                <a:cs typeface="Oswald" pitchFamily="34" charset="-120"/>
              </a:rPr>
              <a:t>AI OPEX Optimisation</a:t>
            </a:r>
            <a:endParaRPr lang="en-US" sz="1200"/>
          </a:p>
        </p:txBody>
      </p:sp>
      <p:sp>
        <p:nvSpPr>
          <p:cNvPr id="37" name="Text 27"/>
          <p:cNvSpPr txBox="1"/>
          <p:nvPr/>
        </p:nvSpPr>
        <p:spPr>
          <a:xfrm>
            <a:off x="2476195" y="4095598"/>
            <a:ext cx="4572000" cy="419710"/>
          </a:xfrm>
          <a:prstGeom prst="rect">
            <a:avLst/>
          </a:prstGeom>
          <a:noFill/>
          <a:ln/>
        </p:spPr>
        <p:txBody>
          <a:bodyPr wrap="square" lIns="0" tIns="0" rIns="0" bIns="0" rtlCol="0" anchor="ctr"/>
          <a:lstStyle/>
          <a:p>
            <a:pPr marL="0" indent="0" algn="l">
              <a:buNone/>
            </a:pPr>
            <a:r>
              <a:rPr lang="en-US" sz="1200" b="1">
                <a:solidFill>
                  <a:srgbClr val="111827"/>
                </a:solidFill>
                <a:latin typeface="Raleway" pitchFamily="34" charset="0"/>
                <a:ea typeface="Raleway" pitchFamily="34" charset="-122"/>
                <a:cs typeface="Raleway" pitchFamily="34" charset="-120"/>
              </a:rPr>
              <a:t>30–40% reduction in AI OPEX via Query Routing, Semantic Caching, Precision RAG &amp; in-house SLMs</a:t>
            </a:r>
            <a:endParaRPr lang="en-US" sz="1200"/>
          </a:p>
        </p:txBody>
      </p:sp>
      <p:sp>
        <p:nvSpPr>
          <p:cNvPr id="38" name="Text 28"/>
          <p:cNvSpPr txBox="1"/>
          <p:nvPr/>
        </p:nvSpPr>
        <p:spPr>
          <a:xfrm>
            <a:off x="7239305" y="4095598"/>
            <a:ext cx="4381805" cy="419710"/>
          </a:xfrm>
          <a:prstGeom prst="rect">
            <a:avLst/>
          </a:prstGeom>
          <a:noFill/>
          <a:ln/>
        </p:spPr>
        <p:txBody>
          <a:bodyPr wrap="square" lIns="0" tIns="0" rIns="0" bIns="0" rtlCol="0" anchor="ctr"/>
          <a:lstStyle/>
          <a:p>
            <a:pPr marL="0" indent="0" algn="l">
              <a:buNone/>
            </a:pPr>
            <a:r>
              <a:rPr lang="en-US" sz="1200">
                <a:solidFill>
                  <a:srgbClr val="6B7280"/>
                </a:solidFill>
                <a:latin typeface="Raleway" pitchFamily="34" charset="0"/>
                <a:ea typeface="Raleway" pitchFamily="34" charset="-122"/>
                <a:cs typeface="Raleway" pitchFamily="34" charset="-120"/>
              </a:rPr>
              <a:t>SI incentivised to maximise licences and tokens—not to optimise your cost</a:t>
            </a:r>
            <a:endParaRPr lang="en-US" sz="1200"/>
          </a:p>
        </p:txBody>
      </p:sp>
      <p:sp>
        <p:nvSpPr>
          <p:cNvPr id="39" name="Text 29"/>
          <p:cNvSpPr txBox="1"/>
          <p:nvPr/>
        </p:nvSpPr>
        <p:spPr>
          <a:xfrm>
            <a:off x="666598" y="4809744"/>
            <a:ext cx="2154326" cy="238658"/>
          </a:xfrm>
          <a:prstGeom prst="rect">
            <a:avLst/>
          </a:prstGeom>
          <a:noFill/>
          <a:ln/>
        </p:spPr>
        <p:txBody>
          <a:bodyPr wrap="none" lIns="0" tIns="0" rIns="0" bIns="0" rtlCol="0" anchor="ctr"/>
          <a:lstStyle/>
          <a:p>
            <a:pPr marL="0" indent="0" algn="l">
              <a:buNone/>
            </a:pPr>
            <a:r>
              <a:rPr lang="en-US" sz="1200" b="1">
                <a:solidFill>
                  <a:srgbClr val="374151"/>
                </a:solidFill>
                <a:latin typeface="Oswald" pitchFamily="34" charset="0"/>
                <a:ea typeface="Oswald" pitchFamily="34" charset="-122"/>
                <a:cs typeface="Oswald" pitchFamily="34" charset="-120"/>
              </a:rPr>
              <a:t>Talent &amp; Managed Services</a:t>
            </a:r>
            <a:endParaRPr lang="en-US" sz="1200"/>
          </a:p>
        </p:txBody>
      </p:sp>
      <p:sp>
        <p:nvSpPr>
          <p:cNvPr id="40" name="Text 30"/>
          <p:cNvSpPr txBox="1"/>
          <p:nvPr/>
        </p:nvSpPr>
        <p:spPr>
          <a:xfrm>
            <a:off x="2476195" y="4809744"/>
            <a:ext cx="4572000" cy="419710"/>
          </a:xfrm>
          <a:prstGeom prst="rect">
            <a:avLst/>
          </a:prstGeom>
          <a:noFill/>
          <a:ln/>
        </p:spPr>
        <p:txBody>
          <a:bodyPr wrap="square" lIns="0" tIns="0" rIns="0" bIns="0" rtlCol="0" anchor="ctr"/>
          <a:lstStyle/>
          <a:p>
            <a:pPr marL="0" indent="0" algn="l">
              <a:buNone/>
            </a:pPr>
            <a:r>
              <a:rPr lang="en-US" sz="1200" b="1">
                <a:solidFill>
                  <a:srgbClr val="111827"/>
                </a:solidFill>
                <a:latin typeface="Raleway" pitchFamily="34" charset="0"/>
                <a:ea typeface="Raleway" pitchFamily="34" charset="-122"/>
                <a:cs typeface="Raleway" pitchFamily="34" charset="-120"/>
              </a:rPr>
              <a:t>7,200+ in-house consultants, 300+ recruiters, 2 proprietary hiring platforms, no subcontracting</a:t>
            </a:r>
            <a:endParaRPr lang="en-US" sz="1200"/>
          </a:p>
        </p:txBody>
      </p:sp>
      <p:sp>
        <p:nvSpPr>
          <p:cNvPr id="41" name="Text 31"/>
          <p:cNvSpPr txBox="1"/>
          <p:nvPr/>
        </p:nvSpPr>
        <p:spPr>
          <a:xfrm>
            <a:off x="7239305" y="4809744"/>
            <a:ext cx="5067605" cy="210312"/>
          </a:xfrm>
          <a:prstGeom prst="rect">
            <a:avLst/>
          </a:prstGeom>
          <a:noFill/>
          <a:ln/>
        </p:spPr>
        <p:txBody>
          <a:bodyPr wrap="none" lIns="0" tIns="0" rIns="0" bIns="0" rtlCol="0" anchor="ctr"/>
          <a:lstStyle/>
          <a:p>
            <a:pPr marL="0" indent="0" algn="l">
              <a:buNone/>
            </a:pPr>
            <a:r>
              <a:rPr lang="en-US" sz="1200">
                <a:solidFill>
                  <a:srgbClr val="6B7280"/>
                </a:solidFill>
                <a:latin typeface="Raleway" pitchFamily="34" charset="0"/>
                <a:ea typeface="Raleway" pitchFamily="34" charset="-122"/>
                <a:cs typeface="Raleway" pitchFamily="34" charset="-120"/>
              </a:rPr>
              <a:t>Frequently subcontract. No proprietary hiring platforms</a:t>
            </a:r>
            <a:endParaRPr lang="en-US" sz="1200"/>
          </a:p>
        </p:txBody>
      </p:sp>
      <p:pic>
        <p:nvPicPr>
          <p:cNvPr id="42" name="Image 8" descr="gen-dedup-29a145fcb957a3f4a2bc1cb5a2ec94cd.png"/>
          <p:cNvPicPr>
            <a:picLocks noChangeAspect="1"/>
          </p:cNvPicPr>
          <p:nvPr/>
        </p:nvPicPr>
        <p:blipFill>
          <a:blip r:embed="rId7"/>
          <a:srcRect t="-13462" b="-13462"/>
          <a:stretch/>
        </p:blipFill>
        <p:spPr>
          <a:xfrm>
            <a:off x="841248" y="6077102"/>
            <a:ext cx="142646" cy="181051"/>
          </a:xfrm>
          <a:prstGeom prst="rect">
            <a:avLst/>
          </a:prstGeom>
        </p:spPr>
      </p:pic>
      <p:sp>
        <p:nvSpPr>
          <p:cNvPr id="43" name="Text 32"/>
          <p:cNvSpPr txBox="1"/>
          <p:nvPr/>
        </p:nvSpPr>
        <p:spPr>
          <a:xfrm>
            <a:off x="1059790" y="6029554"/>
            <a:ext cx="1144829" cy="277063"/>
          </a:xfrm>
          <a:prstGeom prst="rect">
            <a:avLst/>
          </a:prstGeom>
          <a:noFill/>
          <a:ln/>
        </p:spPr>
        <p:txBody>
          <a:bodyPr wrap="none" lIns="0" tIns="0" rIns="0" bIns="0" rtlCol="0" anchor="ctr"/>
          <a:lstStyle/>
          <a:p>
            <a:pPr marL="0" indent="0" algn="l">
              <a:buNone/>
            </a:pPr>
            <a:r>
              <a:rPr lang="en-US" sz="1400" b="1">
                <a:solidFill>
                  <a:srgbClr val="6B7280"/>
                </a:solidFill>
                <a:latin typeface="Oswald" pitchFamily="34" charset="0"/>
                <a:ea typeface="Oswald" pitchFamily="34" charset="-122"/>
                <a:cs typeface="Oswald" pitchFamily="34" charset="-120"/>
              </a:rPr>
              <a:t>KEY METRICS</a:t>
            </a:r>
            <a:endParaRPr lang="en-US" sz="1400"/>
          </a:p>
        </p:txBody>
      </p:sp>
      <p:sp>
        <p:nvSpPr>
          <p:cNvPr id="44" name="Text 33"/>
          <p:cNvSpPr txBox="1"/>
          <p:nvPr/>
        </p:nvSpPr>
        <p:spPr>
          <a:xfrm>
            <a:off x="2286000" y="5810098"/>
            <a:ext cx="1714500" cy="324612"/>
          </a:xfrm>
          <a:prstGeom prst="rect">
            <a:avLst/>
          </a:prstGeom>
          <a:noFill/>
          <a:ln/>
        </p:spPr>
        <p:txBody>
          <a:bodyPr wrap="none" lIns="0" tIns="0" rIns="0" bIns="0" rtlCol="0" anchor="ctr"/>
          <a:lstStyle/>
          <a:p>
            <a:pPr marL="0" indent="0" algn="ctr">
              <a:buNone/>
            </a:pPr>
            <a:r>
              <a:rPr lang="en-US" sz="2200" b="1">
                <a:solidFill>
                  <a:srgbClr val="D62839"/>
                </a:solidFill>
                <a:latin typeface="Oswald" pitchFamily="34" charset="0"/>
                <a:ea typeface="Oswald" pitchFamily="34" charset="-122"/>
                <a:cs typeface="Oswald" pitchFamily="34" charset="-120"/>
              </a:rPr>
              <a:t>5,500</a:t>
            </a:r>
            <a:endParaRPr lang="en-US" sz="2200"/>
          </a:p>
        </p:txBody>
      </p:sp>
      <p:sp>
        <p:nvSpPr>
          <p:cNvPr id="45" name="Text 34"/>
          <p:cNvSpPr txBox="1"/>
          <p:nvPr/>
        </p:nvSpPr>
        <p:spPr>
          <a:xfrm>
            <a:off x="2286000" y="6166714"/>
            <a:ext cx="1714500" cy="162763"/>
          </a:xfrm>
          <a:prstGeom prst="rect">
            <a:avLst/>
          </a:prstGeom>
          <a:noFill/>
          <a:ln/>
        </p:spPr>
        <p:txBody>
          <a:bodyPr wrap="none" lIns="0" tIns="0" rIns="0" bIns="0" rtlCol="0" anchor="ctr"/>
          <a:lstStyle/>
          <a:p>
            <a:pPr marL="0" indent="0" algn="ctr">
              <a:buNone/>
            </a:pPr>
            <a:r>
              <a:rPr lang="en-US" sz="1000" b="1">
                <a:solidFill>
                  <a:srgbClr val="6B7280"/>
                </a:solidFill>
                <a:latin typeface="Roboto Condensed" pitchFamily="34" charset="0"/>
                <a:ea typeface="Roboto Condensed" pitchFamily="34" charset="-122"/>
                <a:cs typeface="Roboto Condensed" pitchFamily="34" charset="-120"/>
              </a:rPr>
              <a:t>In-house Consultants</a:t>
            </a:r>
            <a:endParaRPr lang="en-US" sz="1000"/>
          </a:p>
        </p:txBody>
      </p:sp>
      <p:sp>
        <p:nvSpPr>
          <p:cNvPr id="46" name="Text 35"/>
          <p:cNvSpPr txBox="1"/>
          <p:nvPr/>
        </p:nvSpPr>
        <p:spPr>
          <a:xfrm>
            <a:off x="4190695" y="5810098"/>
            <a:ext cx="1714500" cy="324612"/>
          </a:xfrm>
          <a:prstGeom prst="rect">
            <a:avLst/>
          </a:prstGeom>
          <a:noFill/>
          <a:ln/>
        </p:spPr>
        <p:txBody>
          <a:bodyPr wrap="none" lIns="0" tIns="0" rIns="0" bIns="0" rtlCol="0" anchor="ctr"/>
          <a:lstStyle/>
          <a:p>
            <a:pPr marL="0" indent="0" algn="ctr">
              <a:buNone/>
            </a:pPr>
            <a:r>
              <a:rPr lang="en-US" sz="2200" b="1">
                <a:solidFill>
                  <a:srgbClr val="D62839"/>
                </a:solidFill>
                <a:latin typeface="Oswald" pitchFamily="34" charset="0"/>
                <a:ea typeface="Oswald" pitchFamily="34" charset="-122"/>
                <a:cs typeface="Oswald" pitchFamily="34" charset="-120"/>
              </a:rPr>
              <a:t>60+</a:t>
            </a:r>
            <a:endParaRPr lang="en-US" sz="2200"/>
          </a:p>
        </p:txBody>
      </p:sp>
      <p:sp>
        <p:nvSpPr>
          <p:cNvPr id="47" name="Text 36"/>
          <p:cNvSpPr txBox="1"/>
          <p:nvPr/>
        </p:nvSpPr>
        <p:spPr>
          <a:xfrm>
            <a:off x="4190695" y="6166714"/>
            <a:ext cx="1714500" cy="162763"/>
          </a:xfrm>
          <a:prstGeom prst="rect">
            <a:avLst/>
          </a:prstGeom>
          <a:noFill/>
          <a:ln/>
        </p:spPr>
        <p:txBody>
          <a:bodyPr wrap="none" lIns="0" tIns="0" rIns="0" bIns="0" rtlCol="0" anchor="ctr"/>
          <a:lstStyle/>
          <a:p>
            <a:pPr marL="0" indent="0" algn="ctr">
              <a:buNone/>
            </a:pPr>
            <a:r>
              <a:rPr lang="en-US" sz="1000" b="1">
                <a:solidFill>
                  <a:srgbClr val="6B7280"/>
                </a:solidFill>
                <a:latin typeface="Roboto Condensed" pitchFamily="34" charset="0"/>
                <a:ea typeface="Roboto Condensed" pitchFamily="34" charset="-122"/>
                <a:cs typeface="Roboto Condensed" pitchFamily="34" charset="-120"/>
              </a:rPr>
              <a:t>AI Accelerators</a:t>
            </a:r>
            <a:endParaRPr lang="en-US" sz="1000"/>
          </a:p>
        </p:txBody>
      </p:sp>
      <p:sp>
        <p:nvSpPr>
          <p:cNvPr id="48" name="Text 37"/>
          <p:cNvSpPr txBox="1"/>
          <p:nvPr/>
        </p:nvSpPr>
        <p:spPr>
          <a:xfrm>
            <a:off x="6096305" y="5810098"/>
            <a:ext cx="1714500" cy="324612"/>
          </a:xfrm>
          <a:prstGeom prst="rect">
            <a:avLst/>
          </a:prstGeom>
          <a:noFill/>
          <a:ln/>
        </p:spPr>
        <p:txBody>
          <a:bodyPr wrap="none" lIns="0" tIns="0" rIns="0" bIns="0" rtlCol="0" anchor="ctr"/>
          <a:lstStyle/>
          <a:p>
            <a:pPr marL="0" indent="0" algn="ctr">
              <a:buNone/>
            </a:pPr>
            <a:r>
              <a:rPr lang="en-US" sz="2200" b="1">
                <a:solidFill>
                  <a:srgbClr val="D62839"/>
                </a:solidFill>
                <a:latin typeface="Oswald" pitchFamily="34" charset="0"/>
                <a:ea typeface="Oswald" pitchFamily="34" charset="-122"/>
                <a:cs typeface="Oswald" pitchFamily="34" charset="-120"/>
              </a:rPr>
              <a:t>30–40%</a:t>
            </a:r>
            <a:endParaRPr lang="en-US" sz="2200"/>
          </a:p>
        </p:txBody>
      </p:sp>
      <p:sp>
        <p:nvSpPr>
          <p:cNvPr id="49" name="Text 38"/>
          <p:cNvSpPr txBox="1"/>
          <p:nvPr/>
        </p:nvSpPr>
        <p:spPr>
          <a:xfrm>
            <a:off x="6096305" y="6166714"/>
            <a:ext cx="1714500" cy="162763"/>
          </a:xfrm>
          <a:prstGeom prst="rect">
            <a:avLst/>
          </a:prstGeom>
          <a:noFill/>
          <a:ln/>
        </p:spPr>
        <p:txBody>
          <a:bodyPr wrap="none" lIns="0" tIns="0" rIns="0" bIns="0" rtlCol="0" anchor="ctr"/>
          <a:lstStyle/>
          <a:p>
            <a:pPr marL="0" indent="0" algn="ctr">
              <a:buNone/>
            </a:pPr>
            <a:r>
              <a:rPr lang="en-US" sz="1000" b="1">
                <a:solidFill>
                  <a:srgbClr val="6B7280"/>
                </a:solidFill>
                <a:latin typeface="Roboto Condensed" pitchFamily="34" charset="0"/>
                <a:ea typeface="Roboto Condensed" pitchFamily="34" charset="-122"/>
                <a:cs typeface="Roboto Condensed" pitchFamily="34" charset="-120"/>
              </a:rPr>
              <a:t>AI OPEX Reduction</a:t>
            </a:r>
            <a:endParaRPr lang="en-US" sz="1000"/>
          </a:p>
        </p:txBody>
      </p:sp>
      <p:sp>
        <p:nvSpPr>
          <p:cNvPr id="50" name="Text 39"/>
          <p:cNvSpPr txBox="1"/>
          <p:nvPr/>
        </p:nvSpPr>
        <p:spPr>
          <a:xfrm>
            <a:off x="8001000" y="5810098"/>
            <a:ext cx="1714500" cy="324612"/>
          </a:xfrm>
          <a:prstGeom prst="rect">
            <a:avLst/>
          </a:prstGeom>
          <a:noFill/>
          <a:ln/>
        </p:spPr>
        <p:txBody>
          <a:bodyPr wrap="none" lIns="0" tIns="0" rIns="0" bIns="0" rtlCol="0" anchor="ctr"/>
          <a:lstStyle/>
          <a:p>
            <a:pPr marL="0" indent="0" algn="ctr">
              <a:buNone/>
            </a:pPr>
            <a:r>
              <a:rPr lang="en-US" sz="2200" b="1">
                <a:solidFill>
                  <a:srgbClr val="2A9D8F"/>
                </a:solidFill>
                <a:latin typeface="Oswald" pitchFamily="34" charset="0"/>
                <a:ea typeface="Oswald" pitchFamily="34" charset="-122"/>
                <a:cs typeface="Oswald" pitchFamily="34" charset="-120"/>
              </a:rPr>
              <a:t>Weeks</a:t>
            </a:r>
            <a:endParaRPr lang="en-US" sz="2200"/>
          </a:p>
        </p:txBody>
      </p:sp>
      <p:sp>
        <p:nvSpPr>
          <p:cNvPr id="51" name="Text 40"/>
          <p:cNvSpPr txBox="1"/>
          <p:nvPr/>
        </p:nvSpPr>
        <p:spPr>
          <a:xfrm>
            <a:off x="8001000" y="6166714"/>
            <a:ext cx="1714500" cy="162763"/>
          </a:xfrm>
          <a:prstGeom prst="rect">
            <a:avLst/>
          </a:prstGeom>
          <a:noFill/>
          <a:ln/>
        </p:spPr>
        <p:txBody>
          <a:bodyPr wrap="none" lIns="0" tIns="0" rIns="0" bIns="0" rtlCol="0" anchor="ctr"/>
          <a:lstStyle/>
          <a:p>
            <a:pPr marL="0" indent="0" algn="ctr">
              <a:buNone/>
            </a:pPr>
            <a:r>
              <a:rPr lang="en-US" sz="1000" b="1">
                <a:solidFill>
                  <a:srgbClr val="6B7280"/>
                </a:solidFill>
                <a:latin typeface="Roboto Condensed" pitchFamily="34" charset="0"/>
                <a:ea typeface="Roboto Condensed" pitchFamily="34" charset="-122"/>
                <a:cs typeface="Roboto Condensed" pitchFamily="34" charset="-120"/>
              </a:rPr>
              <a:t>PoC to Production</a:t>
            </a:r>
            <a:endParaRPr lang="en-US" sz="1000"/>
          </a:p>
        </p:txBody>
      </p:sp>
      <p:sp>
        <p:nvSpPr>
          <p:cNvPr id="52" name="Text 41"/>
          <p:cNvSpPr txBox="1"/>
          <p:nvPr/>
        </p:nvSpPr>
        <p:spPr>
          <a:xfrm>
            <a:off x="9905695" y="5810098"/>
            <a:ext cx="1524305" cy="324612"/>
          </a:xfrm>
          <a:prstGeom prst="rect">
            <a:avLst/>
          </a:prstGeom>
          <a:noFill/>
          <a:ln/>
        </p:spPr>
        <p:txBody>
          <a:bodyPr wrap="none" lIns="0" tIns="0" rIns="0" bIns="0" rtlCol="0" anchor="ctr"/>
          <a:lstStyle/>
          <a:p>
            <a:pPr marL="0" indent="0" algn="ctr">
              <a:buNone/>
            </a:pPr>
            <a:r>
              <a:rPr lang="en-US" sz="2200" b="1">
                <a:solidFill>
                  <a:srgbClr val="D62839"/>
                </a:solidFill>
                <a:latin typeface="Oswald" pitchFamily="34" charset="0"/>
                <a:ea typeface="Oswald" pitchFamily="34" charset="-122"/>
                <a:cs typeface="Oswald" pitchFamily="34" charset="-120"/>
              </a:rPr>
              <a:t>0</a:t>
            </a:r>
            <a:endParaRPr lang="en-US" sz="2200"/>
          </a:p>
        </p:txBody>
      </p:sp>
      <p:sp>
        <p:nvSpPr>
          <p:cNvPr id="53" name="Text 42"/>
          <p:cNvSpPr txBox="1"/>
          <p:nvPr/>
        </p:nvSpPr>
        <p:spPr>
          <a:xfrm>
            <a:off x="9905695" y="6166714"/>
            <a:ext cx="1524305" cy="162763"/>
          </a:xfrm>
          <a:prstGeom prst="rect">
            <a:avLst/>
          </a:prstGeom>
          <a:noFill/>
          <a:ln/>
        </p:spPr>
        <p:txBody>
          <a:bodyPr wrap="none" lIns="0" tIns="0" rIns="0" bIns="0" rtlCol="0" anchor="ctr"/>
          <a:lstStyle/>
          <a:p>
            <a:pPr marL="0" indent="0" algn="ctr">
              <a:buNone/>
            </a:pPr>
            <a:r>
              <a:rPr lang="en-US" sz="1000" b="1">
                <a:solidFill>
                  <a:srgbClr val="6B7280"/>
                </a:solidFill>
                <a:latin typeface="Roboto Condensed" pitchFamily="34" charset="0"/>
                <a:ea typeface="Roboto Condensed" pitchFamily="34" charset="-122"/>
                <a:cs typeface="Roboto Condensed" pitchFamily="34" charset="-120"/>
              </a:rPr>
              <a:t>Subcontracting</a:t>
            </a:r>
            <a:endParaRPr lang="en-US" sz="1000"/>
          </a:p>
        </p:txBody>
      </p:sp>
      <p:pic>
        <p:nvPicPr>
          <p:cNvPr id="55" name="Image 3" descr="gen-dedup-777bf757d895431cabe402fcd34ebd5a.png">
            <a:extLst>
              <a:ext uri="{FF2B5EF4-FFF2-40B4-BE49-F238E27FC236}">
                <a16:creationId xmlns:a16="http://schemas.microsoft.com/office/drawing/2014/main" id="{694EDD5F-CC4B-939F-09AB-7E475B9CD8B3}"/>
              </a:ext>
            </a:extLst>
          </p:cNvPr>
          <p:cNvPicPr>
            <a:picLocks noChangeAspect="1"/>
          </p:cNvPicPr>
          <p:nvPr/>
        </p:nvPicPr>
        <p:blipFill>
          <a:blip r:embed="rId8">
            <a:biLevel thresh="75000"/>
          </a:blip>
          <a:srcRect l="-384" r="-384"/>
          <a:stretch/>
        </p:blipFill>
        <p:spPr>
          <a:xfrm>
            <a:off x="571500" y="381305"/>
            <a:ext cx="57607" cy="476402"/>
          </a:xfrm>
          <a:prstGeom prst="rect">
            <a:avLst/>
          </a:prstGeom>
        </p:spPr>
      </p:pic>
      <p:sp>
        <p:nvSpPr>
          <p:cNvPr id="57" name="Text 5">
            <a:extLst>
              <a:ext uri="{FF2B5EF4-FFF2-40B4-BE49-F238E27FC236}">
                <a16:creationId xmlns:a16="http://schemas.microsoft.com/office/drawing/2014/main" id="{B382FF3B-2329-E7D6-BD3F-54517A1D5995}"/>
              </a:ext>
            </a:extLst>
          </p:cNvPr>
          <p:cNvSpPr txBox="1"/>
          <p:nvPr/>
        </p:nvSpPr>
        <p:spPr>
          <a:xfrm>
            <a:off x="780897" y="333756"/>
            <a:ext cx="5913817" cy="406908"/>
          </a:xfrm>
          <a:prstGeom prst="rect">
            <a:avLst/>
          </a:prstGeom>
          <a:noFill/>
          <a:ln/>
        </p:spPr>
        <p:txBody>
          <a:bodyPr wrap="none" lIns="0" tIns="0" rIns="0" bIns="0" rtlCol="0" anchor="ctr"/>
          <a:lstStyle/>
          <a:p>
            <a:r>
              <a:rPr lang="en-GB" sz="2400" b="1" kern="0" spc="-67" dirty="0">
                <a:solidFill>
                  <a:srgbClr val="111827"/>
                </a:solidFill>
                <a:latin typeface="Oswald" pitchFamily="34" charset="0"/>
                <a:ea typeface="Oswald" pitchFamily="34" charset="-122"/>
                <a:cs typeface="Oswald" pitchFamily="34" charset="-120"/>
              </a:rPr>
              <a:t>WHY J2W – NOT THE BIG 4 OR LARGE SIs</a:t>
            </a:r>
          </a:p>
        </p:txBody>
      </p:sp>
      <p:sp>
        <p:nvSpPr>
          <p:cNvPr id="59" name="Text 6">
            <a:extLst>
              <a:ext uri="{FF2B5EF4-FFF2-40B4-BE49-F238E27FC236}">
                <a16:creationId xmlns:a16="http://schemas.microsoft.com/office/drawing/2014/main" id="{F9BB3131-8E9A-5775-303E-839FB981DFDE}"/>
              </a:ext>
            </a:extLst>
          </p:cNvPr>
          <p:cNvSpPr txBox="1"/>
          <p:nvPr/>
        </p:nvSpPr>
        <p:spPr>
          <a:xfrm>
            <a:off x="780898" y="740663"/>
            <a:ext cx="5054803" cy="257861"/>
          </a:xfrm>
          <a:prstGeom prst="rect">
            <a:avLst/>
          </a:prstGeom>
          <a:noFill/>
          <a:ln/>
        </p:spPr>
        <p:txBody>
          <a:bodyPr wrap="none" lIns="0" tIns="0" rIns="0" bIns="0" rtlCol="0" anchor="ctr"/>
          <a:lstStyle/>
          <a:p>
            <a:pPr marL="0" indent="0" algn="l">
              <a:buNone/>
            </a:pPr>
            <a:r>
              <a:rPr lang="en-GB" sz="1500" b="1" kern="0" spc="66" dirty="0">
                <a:solidFill>
                  <a:srgbClr val="2A9D8F"/>
                </a:solidFill>
                <a:latin typeface="Roboto Condensed" pitchFamily="34" charset="0"/>
                <a:ea typeface="Roboto Condensed" pitchFamily="34" charset="-122"/>
                <a:cs typeface="Roboto Condensed" pitchFamily="34" charset="-120"/>
              </a:rPr>
              <a:t>The Smarter Choice For Ai &amp; Digital Transformation At Scale</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gen-dedup-eae513f7589b684705cecd0a1fd419bd.png"/>
          <p:cNvPicPr>
            <a:picLocks noChangeAspect="1"/>
          </p:cNvPicPr>
          <p:nvPr/>
        </p:nvPicPr>
        <p:blipFill>
          <a:blip r:embed="rId3">
            <a:alphaModFix amt="15000"/>
          </a:blip>
          <a:srcRect l="-38540" r="-38540"/>
          <a:stretch/>
        </p:blipFill>
        <p:spPr>
          <a:xfrm>
            <a:off x="286207" y="1143000"/>
            <a:ext cx="8096098" cy="4572000"/>
          </a:xfrm>
          <a:prstGeom prst="rect">
            <a:avLst/>
          </a:prstGeom>
        </p:spPr>
      </p:pic>
      <p:pic>
        <p:nvPicPr>
          <p:cNvPr id="3" name="Image 1" descr="gen-dedup-37abb9d8cc081a24feb608c288538026.png"/>
          <p:cNvPicPr>
            <a:picLocks noChangeAspect="1"/>
          </p:cNvPicPr>
          <p:nvPr/>
        </p:nvPicPr>
        <p:blipFill>
          <a:blip r:embed="rId4"/>
          <a:srcRect l="-198" r="-198"/>
          <a:stretch/>
        </p:blipFill>
        <p:spPr>
          <a:xfrm>
            <a:off x="0" y="0"/>
            <a:ext cx="8124444" cy="75895"/>
          </a:xfrm>
          <a:prstGeom prst="rect">
            <a:avLst/>
          </a:prstGeom>
        </p:spPr>
      </p:pic>
      <p:pic>
        <p:nvPicPr>
          <p:cNvPr id="4" name="Image 2" descr="gen-dedup-c2c9136402f20c216bf7cbcc052ad1a0.png"/>
          <p:cNvPicPr>
            <a:picLocks noChangeAspect="1"/>
          </p:cNvPicPr>
          <p:nvPr/>
        </p:nvPicPr>
        <p:blipFill>
          <a:blip r:embed="rId5"/>
          <a:srcRect l="-202" r="-202"/>
          <a:stretch/>
        </p:blipFill>
        <p:spPr>
          <a:xfrm>
            <a:off x="8124444" y="0"/>
            <a:ext cx="4067251" cy="75895"/>
          </a:xfrm>
          <a:prstGeom prst="rect">
            <a:avLst/>
          </a:prstGeom>
        </p:spPr>
      </p:pic>
      <p:pic>
        <p:nvPicPr>
          <p:cNvPr id="5" name="Image 3" descr="gen-dedup-c8fa2eb184fc8de7f554dc71374b921a.png"/>
          <p:cNvPicPr>
            <a:picLocks noChangeAspect="1"/>
          </p:cNvPicPr>
          <p:nvPr/>
        </p:nvPicPr>
        <p:blipFill>
          <a:blip r:embed="rId6"/>
          <a:srcRect t="-1" b="-1"/>
          <a:stretch/>
        </p:blipFill>
        <p:spPr>
          <a:xfrm>
            <a:off x="0" y="0"/>
            <a:ext cx="12191695" cy="6858000"/>
          </a:xfrm>
          <a:prstGeom prst="rect">
            <a:avLst/>
          </a:prstGeom>
        </p:spPr>
      </p:pic>
      <p:sp>
        <p:nvSpPr>
          <p:cNvPr id="6" name="Shape 0"/>
          <p:cNvSpPr/>
          <p:nvPr/>
        </p:nvSpPr>
        <p:spPr>
          <a:xfrm>
            <a:off x="8715146" y="1333195"/>
            <a:ext cx="2924251" cy="4781398"/>
          </a:xfrm>
          <a:prstGeom prst="roundRect">
            <a:avLst>
              <a:gd name="adj" fmla="val 2595"/>
            </a:avLst>
          </a:prstGeom>
          <a:solidFill>
            <a:srgbClr val="FFFFFF"/>
          </a:solidFill>
          <a:ln w="12700">
            <a:solidFill>
              <a:srgbClr val="E2E8F0"/>
            </a:solidFill>
            <a:prstDash val="solid"/>
          </a:ln>
          <a:effectLst>
            <a:outerShdw blurRad="63500" dist="38100" dir="16200000" algn="bl" rotWithShape="0">
              <a:srgbClr val="000000">
                <a:alpha val="5000"/>
              </a:srgbClr>
            </a:outerShdw>
          </a:effectLst>
        </p:spPr>
        <p:txBody>
          <a:bodyPr/>
          <a:lstStyle/>
          <a:p>
            <a:endParaRPr lang="en-US"/>
          </a:p>
        </p:txBody>
      </p:sp>
      <p:sp>
        <p:nvSpPr>
          <p:cNvPr id="7" name="Shape 1"/>
          <p:cNvSpPr/>
          <p:nvPr/>
        </p:nvSpPr>
        <p:spPr>
          <a:xfrm>
            <a:off x="609905" y="6286500"/>
            <a:ext cx="10992002" cy="400507"/>
          </a:xfrm>
          <a:prstGeom prst="roundRect">
            <a:avLst>
              <a:gd name="adj" fmla="val 14384"/>
            </a:avLst>
          </a:prstGeom>
          <a:solidFill>
            <a:srgbClr val="F8FAFC"/>
          </a:solidFill>
          <a:ln w="12700">
            <a:solidFill>
              <a:srgbClr val="E2E8F0"/>
            </a:solidFill>
            <a:prstDash val="solid"/>
          </a:ln>
        </p:spPr>
        <p:txBody>
          <a:bodyPr/>
          <a:lstStyle/>
          <a:p>
            <a:endParaRPr lang="en-US"/>
          </a:p>
        </p:txBody>
      </p:sp>
      <p:sp>
        <p:nvSpPr>
          <p:cNvPr id="8" name="Shape 2"/>
          <p:cNvSpPr/>
          <p:nvPr/>
        </p:nvSpPr>
        <p:spPr>
          <a:xfrm>
            <a:off x="1714500" y="3000146"/>
            <a:ext cx="95098" cy="95098"/>
          </a:xfrm>
          <a:prstGeom prst="ellipse">
            <a:avLst/>
          </a:prstGeom>
          <a:solidFill>
            <a:srgbClr val="2A9D8F"/>
          </a:solidFill>
          <a:ln w="12700">
            <a:solidFill>
              <a:srgbClr val="FFFFFF">
                <a:alpha val="0"/>
              </a:srgbClr>
            </a:solidFill>
            <a:prstDash val="solid"/>
          </a:ln>
        </p:spPr>
        <p:txBody>
          <a:bodyPr/>
          <a:lstStyle/>
          <a:p>
            <a:endParaRPr lang="en-US"/>
          </a:p>
        </p:txBody>
      </p:sp>
      <p:sp>
        <p:nvSpPr>
          <p:cNvPr id="9" name="Shape 3"/>
          <p:cNvSpPr/>
          <p:nvPr/>
        </p:nvSpPr>
        <p:spPr>
          <a:xfrm>
            <a:off x="4190695" y="2238451"/>
            <a:ext cx="95098" cy="95098"/>
          </a:xfrm>
          <a:prstGeom prst="ellipse">
            <a:avLst/>
          </a:prstGeom>
          <a:solidFill>
            <a:srgbClr val="2A9D8F"/>
          </a:solidFill>
          <a:ln w="12700">
            <a:solidFill>
              <a:srgbClr val="FFFFFF">
                <a:alpha val="0"/>
              </a:srgbClr>
            </a:solidFill>
            <a:prstDash val="solid"/>
          </a:ln>
        </p:spPr>
        <p:txBody>
          <a:bodyPr/>
          <a:lstStyle/>
          <a:p>
            <a:endParaRPr lang="en-US"/>
          </a:p>
        </p:txBody>
      </p:sp>
      <p:sp>
        <p:nvSpPr>
          <p:cNvPr id="10" name="Shape 4"/>
          <p:cNvSpPr/>
          <p:nvPr/>
        </p:nvSpPr>
        <p:spPr>
          <a:xfrm>
            <a:off x="4762195" y="2333549"/>
            <a:ext cx="95098" cy="95098"/>
          </a:xfrm>
          <a:prstGeom prst="ellipse">
            <a:avLst/>
          </a:prstGeom>
          <a:solidFill>
            <a:srgbClr val="2A9D8F"/>
          </a:solidFill>
          <a:ln w="12700">
            <a:solidFill>
              <a:srgbClr val="FFFFFF">
                <a:alpha val="0"/>
              </a:srgbClr>
            </a:solidFill>
            <a:prstDash val="solid"/>
          </a:ln>
        </p:spPr>
        <p:txBody>
          <a:bodyPr/>
          <a:lstStyle/>
          <a:p>
            <a:endParaRPr lang="en-US"/>
          </a:p>
        </p:txBody>
      </p:sp>
      <p:sp>
        <p:nvSpPr>
          <p:cNvPr id="11" name="Shape 5"/>
          <p:cNvSpPr/>
          <p:nvPr/>
        </p:nvSpPr>
        <p:spPr>
          <a:xfrm>
            <a:off x="5524805" y="3191256"/>
            <a:ext cx="95098" cy="95098"/>
          </a:xfrm>
          <a:prstGeom prst="ellipse">
            <a:avLst/>
          </a:prstGeom>
          <a:solidFill>
            <a:srgbClr val="2A9D8F"/>
          </a:solidFill>
          <a:ln w="12700">
            <a:solidFill>
              <a:srgbClr val="FFFFFF">
                <a:alpha val="0"/>
              </a:srgbClr>
            </a:solidFill>
            <a:prstDash val="solid"/>
          </a:ln>
        </p:spPr>
        <p:txBody>
          <a:bodyPr/>
          <a:lstStyle/>
          <a:p>
            <a:endParaRPr lang="en-US"/>
          </a:p>
        </p:txBody>
      </p:sp>
      <p:sp>
        <p:nvSpPr>
          <p:cNvPr id="12" name="Shape 6"/>
          <p:cNvSpPr/>
          <p:nvPr/>
        </p:nvSpPr>
        <p:spPr>
          <a:xfrm>
            <a:off x="7810805" y="3666744"/>
            <a:ext cx="95098" cy="95098"/>
          </a:xfrm>
          <a:prstGeom prst="ellipse">
            <a:avLst/>
          </a:prstGeom>
          <a:solidFill>
            <a:srgbClr val="2A9D8F"/>
          </a:solidFill>
          <a:ln w="12700">
            <a:solidFill>
              <a:srgbClr val="FFFFFF">
                <a:alpha val="0"/>
              </a:srgbClr>
            </a:solidFill>
            <a:prstDash val="solid"/>
          </a:ln>
        </p:spPr>
        <p:txBody>
          <a:bodyPr/>
          <a:lstStyle/>
          <a:p>
            <a:endParaRPr lang="en-US"/>
          </a:p>
        </p:txBody>
      </p:sp>
      <p:sp>
        <p:nvSpPr>
          <p:cNvPr id="13" name="Shape 7"/>
          <p:cNvSpPr/>
          <p:nvPr/>
        </p:nvSpPr>
        <p:spPr>
          <a:xfrm>
            <a:off x="6858000" y="4143146"/>
            <a:ext cx="95098" cy="95098"/>
          </a:xfrm>
          <a:prstGeom prst="ellipse">
            <a:avLst/>
          </a:prstGeom>
          <a:solidFill>
            <a:srgbClr val="2A9D8F"/>
          </a:solidFill>
          <a:ln w="12700">
            <a:solidFill>
              <a:srgbClr val="FFFFFF">
                <a:alpha val="0"/>
              </a:srgbClr>
            </a:solidFill>
            <a:prstDash val="solid"/>
          </a:ln>
        </p:spPr>
        <p:txBody>
          <a:bodyPr/>
          <a:lstStyle/>
          <a:p>
            <a:endParaRPr lang="en-US"/>
          </a:p>
        </p:txBody>
      </p:sp>
      <p:sp>
        <p:nvSpPr>
          <p:cNvPr id="14" name="Shape 8"/>
          <p:cNvSpPr/>
          <p:nvPr/>
        </p:nvSpPr>
        <p:spPr>
          <a:xfrm>
            <a:off x="6953098" y="4429354"/>
            <a:ext cx="95098" cy="95098"/>
          </a:xfrm>
          <a:prstGeom prst="ellipse">
            <a:avLst/>
          </a:prstGeom>
          <a:solidFill>
            <a:srgbClr val="2A9D8F"/>
          </a:solidFill>
          <a:ln w="12700">
            <a:solidFill>
              <a:srgbClr val="FFFFFF">
                <a:alpha val="0"/>
              </a:srgbClr>
            </a:solidFill>
            <a:prstDash val="solid"/>
          </a:ln>
        </p:spPr>
        <p:txBody>
          <a:bodyPr/>
          <a:lstStyle/>
          <a:p>
            <a:endParaRPr lang="en-US"/>
          </a:p>
        </p:txBody>
      </p:sp>
      <p:pic>
        <p:nvPicPr>
          <p:cNvPr id="15" name="Image 4" descr="gen-dedup-f6de3db2c0e3a0458fdfe03bdecc5f42.png"/>
          <p:cNvPicPr>
            <a:picLocks noChangeAspect="1"/>
          </p:cNvPicPr>
          <p:nvPr/>
        </p:nvPicPr>
        <p:blipFill>
          <a:blip r:embed="rId7"/>
          <a:srcRect/>
          <a:stretch/>
        </p:blipFill>
        <p:spPr>
          <a:xfrm>
            <a:off x="6163056" y="3400654"/>
            <a:ext cx="209398" cy="209398"/>
          </a:xfrm>
          <a:prstGeom prst="rect">
            <a:avLst/>
          </a:prstGeom>
        </p:spPr>
      </p:pic>
      <p:sp>
        <p:nvSpPr>
          <p:cNvPr id="19" name="Shape 11"/>
          <p:cNvSpPr/>
          <p:nvPr/>
        </p:nvSpPr>
        <p:spPr>
          <a:xfrm>
            <a:off x="1538935" y="3143707"/>
            <a:ext cx="448056" cy="286207"/>
          </a:xfrm>
          <a:prstGeom prst="roundRect">
            <a:avLst>
              <a:gd name="adj" fmla="val 13419"/>
            </a:avLst>
          </a:prstGeom>
          <a:solidFill>
            <a:srgbClr val="FFFFFF"/>
          </a:solidFill>
          <a:ln w="12700">
            <a:solidFill>
              <a:srgbClr val="2A9D8F"/>
            </a:solidFill>
            <a:prstDash val="solid"/>
          </a:ln>
        </p:spPr>
        <p:txBody>
          <a:bodyPr/>
          <a:lstStyle/>
          <a:p>
            <a:endParaRPr lang="en-US"/>
          </a:p>
        </p:txBody>
      </p:sp>
      <p:sp>
        <p:nvSpPr>
          <p:cNvPr id="20" name="Text 12"/>
          <p:cNvSpPr txBox="1"/>
          <p:nvPr/>
        </p:nvSpPr>
        <p:spPr>
          <a:xfrm>
            <a:off x="1538935" y="3143707"/>
            <a:ext cx="448056" cy="286207"/>
          </a:xfrm>
          <a:prstGeom prst="rect">
            <a:avLst/>
          </a:prstGeom>
          <a:solidFill>
            <a:srgbClr val="FFFFFF">
              <a:alpha val="0"/>
            </a:srgbClr>
          </a:solidFill>
          <a:ln>
            <a:solidFill>
              <a:srgbClr val="FFFFFF">
                <a:alpha val="0"/>
              </a:srgbClr>
            </a:solidFill>
          </a:ln>
        </p:spPr>
        <p:txBody>
          <a:bodyPr wrap="square" lIns="63500" tIns="25400" rIns="63500" bIns="25400" rtlCol="0" anchor="ctr"/>
          <a:lstStyle/>
          <a:p>
            <a:pPr marL="0" indent="0" algn="ctr">
              <a:buNone/>
            </a:pPr>
            <a:r>
              <a:rPr lang="en-US" sz="800" b="1">
                <a:solidFill>
                  <a:srgbClr val="2A9D8F"/>
                </a:solidFill>
                <a:latin typeface="Raleway" pitchFamily="34" charset="0"/>
                <a:ea typeface="Raleway" pitchFamily="34" charset="-122"/>
                <a:cs typeface="Raleway" pitchFamily="34" charset="-120"/>
              </a:rPr>
              <a:t>Dallas</a:t>
            </a:r>
            <a:endParaRPr lang="en-US" sz="800"/>
          </a:p>
        </p:txBody>
      </p:sp>
      <p:sp>
        <p:nvSpPr>
          <p:cNvPr id="21" name="Shape 13"/>
          <p:cNvSpPr/>
          <p:nvPr/>
        </p:nvSpPr>
        <p:spPr>
          <a:xfrm>
            <a:off x="4097426" y="2000707"/>
            <a:ext cx="286207" cy="286207"/>
          </a:xfrm>
          <a:prstGeom prst="roundRect">
            <a:avLst>
              <a:gd name="adj" fmla="val 13419"/>
            </a:avLst>
          </a:prstGeom>
          <a:solidFill>
            <a:srgbClr val="FFFFFF"/>
          </a:solidFill>
          <a:ln w="12700">
            <a:solidFill>
              <a:srgbClr val="2A9D8F"/>
            </a:solidFill>
            <a:prstDash val="solid"/>
          </a:ln>
        </p:spPr>
        <p:txBody>
          <a:bodyPr/>
          <a:lstStyle/>
          <a:p>
            <a:endParaRPr lang="en-US"/>
          </a:p>
        </p:txBody>
      </p:sp>
      <p:sp>
        <p:nvSpPr>
          <p:cNvPr id="22" name="Text 14"/>
          <p:cNvSpPr txBox="1"/>
          <p:nvPr/>
        </p:nvSpPr>
        <p:spPr>
          <a:xfrm>
            <a:off x="4097426" y="2000707"/>
            <a:ext cx="286207" cy="286207"/>
          </a:xfrm>
          <a:prstGeom prst="rect">
            <a:avLst/>
          </a:prstGeom>
          <a:solidFill>
            <a:srgbClr val="FFFFFF">
              <a:alpha val="0"/>
            </a:srgbClr>
          </a:solidFill>
          <a:ln>
            <a:solidFill>
              <a:srgbClr val="FFFFFF">
                <a:alpha val="0"/>
              </a:srgbClr>
            </a:solidFill>
          </a:ln>
        </p:spPr>
        <p:txBody>
          <a:bodyPr wrap="square" lIns="63500" tIns="25400" rIns="63500" bIns="25400" rtlCol="0" anchor="ctr"/>
          <a:lstStyle/>
          <a:p>
            <a:pPr marL="0" indent="0" algn="ctr">
              <a:buNone/>
            </a:pPr>
            <a:r>
              <a:rPr lang="en-US" sz="800" b="1">
                <a:solidFill>
                  <a:srgbClr val="2A9D8F"/>
                </a:solidFill>
                <a:latin typeface="Raleway" pitchFamily="34" charset="0"/>
                <a:ea typeface="Raleway" pitchFamily="34" charset="-122"/>
                <a:cs typeface="Raleway" pitchFamily="34" charset="-120"/>
              </a:rPr>
              <a:t>UK</a:t>
            </a:r>
            <a:endParaRPr lang="en-US" sz="800"/>
          </a:p>
        </p:txBody>
      </p:sp>
      <p:sp>
        <p:nvSpPr>
          <p:cNvPr id="23" name="Shape 15"/>
          <p:cNvSpPr/>
          <p:nvPr/>
        </p:nvSpPr>
        <p:spPr>
          <a:xfrm>
            <a:off x="4567428" y="2095805"/>
            <a:ext cx="485546" cy="286207"/>
          </a:xfrm>
          <a:prstGeom prst="roundRect">
            <a:avLst>
              <a:gd name="adj" fmla="val 13419"/>
            </a:avLst>
          </a:prstGeom>
          <a:solidFill>
            <a:srgbClr val="FFFFFF"/>
          </a:solidFill>
          <a:ln w="12700">
            <a:solidFill>
              <a:srgbClr val="2A9D8F"/>
            </a:solidFill>
            <a:prstDash val="solid"/>
          </a:ln>
        </p:spPr>
        <p:txBody>
          <a:bodyPr/>
          <a:lstStyle/>
          <a:p>
            <a:endParaRPr lang="en-US"/>
          </a:p>
        </p:txBody>
      </p:sp>
      <p:sp>
        <p:nvSpPr>
          <p:cNvPr id="24" name="Text 16"/>
          <p:cNvSpPr txBox="1"/>
          <p:nvPr/>
        </p:nvSpPr>
        <p:spPr>
          <a:xfrm>
            <a:off x="4567428" y="2095805"/>
            <a:ext cx="486461" cy="286207"/>
          </a:xfrm>
          <a:prstGeom prst="rect">
            <a:avLst/>
          </a:prstGeom>
          <a:solidFill>
            <a:srgbClr val="FFFFFF">
              <a:alpha val="0"/>
            </a:srgbClr>
          </a:solidFill>
          <a:ln>
            <a:solidFill>
              <a:srgbClr val="FFFFFF">
                <a:alpha val="0"/>
              </a:srgbClr>
            </a:solidFill>
          </a:ln>
        </p:spPr>
        <p:txBody>
          <a:bodyPr wrap="square" lIns="63500" tIns="25400" rIns="63500" bIns="25400" rtlCol="0" anchor="ctr"/>
          <a:lstStyle/>
          <a:p>
            <a:pPr marL="0" indent="0" algn="ctr">
              <a:buNone/>
            </a:pPr>
            <a:r>
              <a:rPr lang="en-US" sz="800" b="1">
                <a:solidFill>
                  <a:srgbClr val="2A9D8F"/>
                </a:solidFill>
                <a:latin typeface="Raleway" pitchFamily="34" charset="0"/>
                <a:ea typeface="Raleway" pitchFamily="34" charset="-122"/>
                <a:cs typeface="Raleway" pitchFamily="34" charset="-120"/>
              </a:rPr>
              <a:t>Poland</a:t>
            </a:r>
            <a:endParaRPr lang="en-US" sz="800"/>
          </a:p>
        </p:txBody>
      </p:sp>
      <p:sp>
        <p:nvSpPr>
          <p:cNvPr id="25" name="Shape 17"/>
          <p:cNvSpPr/>
          <p:nvPr/>
        </p:nvSpPr>
        <p:spPr>
          <a:xfrm>
            <a:off x="5400446" y="3333902"/>
            <a:ext cx="342900" cy="286207"/>
          </a:xfrm>
          <a:prstGeom prst="roundRect">
            <a:avLst>
              <a:gd name="adj" fmla="val 13419"/>
            </a:avLst>
          </a:prstGeom>
          <a:solidFill>
            <a:srgbClr val="FFFFFF"/>
          </a:solidFill>
          <a:ln w="12700">
            <a:solidFill>
              <a:srgbClr val="2A9D8F"/>
            </a:solidFill>
            <a:prstDash val="solid"/>
          </a:ln>
        </p:spPr>
        <p:txBody>
          <a:bodyPr/>
          <a:lstStyle/>
          <a:p>
            <a:endParaRPr lang="en-US"/>
          </a:p>
        </p:txBody>
      </p:sp>
      <p:sp>
        <p:nvSpPr>
          <p:cNvPr id="26" name="Text 18"/>
          <p:cNvSpPr txBox="1"/>
          <p:nvPr/>
        </p:nvSpPr>
        <p:spPr>
          <a:xfrm>
            <a:off x="5400446" y="3333902"/>
            <a:ext cx="342900" cy="286207"/>
          </a:xfrm>
          <a:prstGeom prst="rect">
            <a:avLst/>
          </a:prstGeom>
          <a:solidFill>
            <a:srgbClr val="FFFFFF">
              <a:alpha val="0"/>
            </a:srgbClr>
          </a:solidFill>
          <a:ln>
            <a:solidFill>
              <a:srgbClr val="FFFFFF">
                <a:alpha val="0"/>
              </a:srgbClr>
            </a:solidFill>
          </a:ln>
        </p:spPr>
        <p:txBody>
          <a:bodyPr wrap="square" lIns="63500" tIns="25400" rIns="63500" bIns="25400" rtlCol="0" anchor="ctr"/>
          <a:lstStyle/>
          <a:p>
            <a:pPr marL="0" indent="0" algn="ctr">
              <a:buNone/>
            </a:pPr>
            <a:r>
              <a:rPr lang="en-US" sz="800" b="1">
                <a:solidFill>
                  <a:srgbClr val="2A9D8F"/>
                </a:solidFill>
                <a:latin typeface="Raleway" pitchFamily="34" charset="0"/>
                <a:ea typeface="Raleway" pitchFamily="34" charset="-122"/>
                <a:cs typeface="Raleway" pitchFamily="34" charset="-120"/>
              </a:rPr>
              <a:t>UAE</a:t>
            </a:r>
            <a:endParaRPr lang="en-US" sz="800"/>
          </a:p>
        </p:txBody>
      </p:sp>
      <p:sp>
        <p:nvSpPr>
          <p:cNvPr id="27" name="Shape 19"/>
          <p:cNvSpPr/>
          <p:nvPr/>
        </p:nvSpPr>
        <p:spPr>
          <a:xfrm>
            <a:off x="7467905" y="3810305"/>
            <a:ext cx="694944" cy="286207"/>
          </a:xfrm>
          <a:prstGeom prst="roundRect">
            <a:avLst>
              <a:gd name="adj" fmla="val 13419"/>
            </a:avLst>
          </a:prstGeom>
          <a:solidFill>
            <a:srgbClr val="FFFFFF"/>
          </a:solidFill>
          <a:ln w="12700">
            <a:solidFill>
              <a:srgbClr val="2A9D8F"/>
            </a:solidFill>
            <a:prstDash val="solid"/>
          </a:ln>
        </p:spPr>
        <p:txBody>
          <a:bodyPr/>
          <a:lstStyle/>
          <a:p>
            <a:endParaRPr lang="en-US"/>
          </a:p>
        </p:txBody>
      </p:sp>
      <p:sp>
        <p:nvSpPr>
          <p:cNvPr id="28" name="Text 20"/>
          <p:cNvSpPr txBox="1"/>
          <p:nvPr/>
        </p:nvSpPr>
        <p:spPr>
          <a:xfrm>
            <a:off x="7467905" y="3810305"/>
            <a:ext cx="695858" cy="286207"/>
          </a:xfrm>
          <a:prstGeom prst="rect">
            <a:avLst/>
          </a:prstGeom>
          <a:solidFill>
            <a:srgbClr val="FFFFFF">
              <a:alpha val="0"/>
            </a:srgbClr>
          </a:solidFill>
          <a:ln>
            <a:solidFill>
              <a:srgbClr val="FFFFFF">
                <a:alpha val="0"/>
              </a:srgbClr>
            </a:solidFill>
          </a:ln>
        </p:spPr>
        <p:txBody>
          <a:bodyPr wrap="square" lIns="63500" tIns="25400" rIns="63500" bIns="25400" rtlCol="0" anchor="ctr"/>
          <a:lstStyle/>
          <a:p>
            <a:pPr marL="0" indent="0" algn="ctr">
              <a:buNone/>
            </a:pPr>
            <a:r>
              <a:rPr lang="en-US" sz="800" b="1">
                <a:solidFill>
                  <a:srgbClr val="2A9D8F"/>
                </a:solidFill>
                <a:latin typeface="Raleway" pitchFamily="34" charset="0"/>
                <a:ea typeface="Raleway" pitchFamily="34" charset="-122"/>
                <a:cs typeface="Raleway" pitchFamily="34" charset="-120"/>
              </a:rPr>
              <a:t>Philippines</a:t>
            </a:r>
            <a:endParaRPr lang="en-US" sz="800"/>
          </a:p>
        </p:txBody>
      </p:sp>
      <p:sp>
        <p:nvSpPr>
          <p:cNvPr id="29" name="Shape 21"/>
          <p:cNvSpPr/>
          <p:nvPr/>
        </p:nvSpPr>
        <p:spPr>
          <a:xfrm>
            <a:off x="6477610" y="4286707"/>
            <a:ext cx="571500" cy="286207"/>
          </a:xfrm>
          <a:prstGeom prst="roundRect">
            <a:avLst>
              <a:gd name="adj" fmla="val 13419"/>
            </a:avLst>
          </a:prstGeom>
          <a:solidFill>
            <a:srgbClr val="FFFFFF"/>
          </a:solidFill>
          <a:ln w="12700">
            <a:solidFill>
              <a:srgbClr val="2A9D8F"/>
            </a:solidFill>
            <a:prstDash val="solid"/>
          </a:ln>
        </p:spPr>
        <p:txBody>
          <a:bodyPr/>
          <a:lstStyle/>
          <a:p>
            <a:endParaRPr lang="en-US"/>
          </a:p>
        </p:txBody>
      </p:sp>
      <p:sp>
        <p:nvSpPr>
          <p:cNvPr id="30" name="Text 22"/>
          <p:cNvSpPr txBox="1"/>
          <p:nvPr/>
        </p:nvSpPr>
        <p:spPr>
          <a:xfrm>
            <a:off x="6477610" y="4286707"/>
            <a:ext cx="571500" cy="286207"/>
          </a:xfrm>
          <a:prstGeom prst="rect">
            <a:avLst/>
          </a:prstGeom>
          <a:solidFill>
            <a:srgbClr val="FFFFFF">
              <a:alpha val="0"/>
            </a:srgbClr>
          </a:solidFill>
          <a:ln>
            <a:solidFill>
              <a:srgbClr val="FFFFFF">
                <a:alpha val="0"/>
              </a:srgbClr>
            </a:solidFill>
          </a:ln>
        </p:spPr>
        <p:txBody>
          <a:bodyPr wrap="square" lIns="63500" tIns="25400" rIns="63500" bIns="25400" rtlCol="0" anchor="ctr"/>
          <a:lstStyle/>
          <a:p>
            <a:pPr marL="0" indent="0" algn="ctr">
              <a:buNone/>
            </a:pPr>
            <a:r>
              <a:rPr lang="en-US" sz="800" b="1">
                <a:solidFill>
                  <a:srgbClr val="2A9D8F"/>
                </a:solidFill>
                <a:latin typeface="Raleway" pitchFamily="34" charset="0"/>
                <a:ea typeface="Raleway" pitchFamily="34" charset="-122"/>
                <a:cs typeface="Raleway" pitchFamily="34" charset="-120"/>
              </a:rPr>
              <a:t>Malaysia</a:t>
            </a:r>
            <a:endParaRPr lang="en-US" sz="800"/>
          </a:p>
        </p:txBody>
      </p:sp>
      <p:sp>
        <p:nvSpPr>
          <p:cNvPr id="31" name="Shape 23"/>
          <p:cNvSpPr/>
          <p:nvPr/>
        </p:nvSpPr>
        <p:spPr>
          <a:xfrm>
            <a:off x="6725412" y="4572000"/>
            <a:ext cx="647395" cy="286207"/>
          </a:xfrm>
          <a:prstGeom prst="roundRect">
            <a:avLst>
              <a:gd name="adj" fmla="val 13419"/>
            </a:avLst>
          </a:prstGeom>
          <a:solidFill>
            <a:srgbClr val="FFFFFF"/>
          </a:solidFill>
          <a:ln w="12700">
            <a:solidFill>
              <a:srgbClr val="2A9D8F"/>
            </a:solidFill>
            <a:prstDash val="solid"/>
          </a:ln>
        </p:spPr>
        <p:txBody>
          <a:bodyPr/>
          <a:lstStyle/>
          <a:p>
            <a:endParaRPr lang="en-US"/>
          </a:p>
        </p:txBody>
      </p:sp>
      <p:sp>
        <p:nvSpPr>
          <p:cNvPr id="32" name="Text 24"/>
          <p:cNvSpPr txBox="1"/>
          <p:nvPr/>
        </p:nvSpPr>
        <p:spPr>
          <a:xfrm>
            <a:off x="6725412" y="4572000"/>
            <a:ext cx="648310" cy="286207"/>
          </a:xfrm>
          <a:prstGeom prst="rect">
            <a:avLst/>
          </a:prstGeom>
          <a:solidFill>
            <a:srgbClr val="FFFFFF">
              <a:alpha val="0"/>
            </a:srgbClr>
          </a:solidFill>
          <a:ln>
            <a:solidFill>
              <a:srgbClr val="FFFFFF">
                <a:alpha val="0"/>
              </a:srgbClr>
            </a:solidFill>
          </a:ln>
        </p:spPr>
        <p:txBody>
          <a:bodyPr wrap="square" lIns="63500" tIns="25400" rIns="63500" bIns="25400" rtlCol="0" anchor="ctr"/>
          <a:lstStyle/>
          <a:p>
            <a:pPr marL="0" indent="0" algn="ctr">
              <a:buNone/>
            </a:pPr>
            <a:r>
              <a:rPr lang="en-US" sz="800" b="1">
                <a:solidFill>
                  <a:srgbClr val="2A9D8F"/>
                </a:solidFill>
                <a:latin typeface="Raleway" pitchFamily="34" charset="0"/>
                <a:ea typeface="Raleway" pitchFamily="34" charset="-122"/>
                <a:cs typeface="Raleway" pitchFamily="34" charset="-120"/>
              </a:rPr>
              <a:t>Singapore</a:t>
            </a:r>
            <a:endParaRPr lang="en-US" sz="800"/>
          </a:p>
        </p:txBody>
      </p:sp>
      <p:sp>
        <p:nvSpPr>
          <p:cNvPr id="33" name="Shape 25"/>
          <p:cNvSpPr/>
          <p:nvPr/>
        </p:nvSpPr>
        <p:spPr>
          <a:xfrm>
            <a:off x="5898794" y="3619195"/>
            <a:ext cx="685800" cy="333756"/>
          </a:xfrm>
          <a:prstGeom prst="roundRect">
            <a:avLst>
              <a:gd name="adj" fmla="val 11507"/>
            </a:avLst>
          </a:prstGeom>
          <a:solidFill>
            <a:srgbClr val="D62839"/>
          </a:solidFill>
          <a:ln w="12700">
            <a:solidFill>
              <a:srgbClr val="FFFFFF">
                <a:alpha val="0"/>
              </a:srgbClr>
            </a:solidFill>
            <a:prstDash val="solid"/>
          </a:ln>
        </p:spPr>
        <p:txBody>
          <a:bodyPr/>
          <a:lstStyle/>
          <a:p>
            <a:endParaRPr lang="en-US"/>
          </a:p>
        </p:txBody>
      </p:sp>
      <p:sp>
        <p:nvSpPr>
          <p:cNvPr id="34" name="Text 26"/>
          <p:cNvSpPr txBox="1"/>
          <p:nvPr/>
        </p:nvSpPr>
        <p:spPr>
          <a:xfrm>
            <a:off x="5898794" y="3619195"/>
            <a:ext cx="685800" cy="333756"/>
          </a:xfrm>
          <a:prstGeom prst="rect">
            <a:avLst/>
          </a:prstGeom>
          <a:solidFill>
            <a:srgbClr val="FFFFFF">
              <a:alpha val="0"/>
            </a:srgbClr>
          </a:solidFill>
          <a:ln>
            <a:solidFill>
              <a:srgbClr val="FFFFFF">
                <a:alpha val="0"/>
              </a:srgbClr>
            </a:solidFill>
          </a:ln>
        </p:spPr>
        <p:txBody>
          <a:bodyPr wrap="square" lIns="101600" tIns="38100" rIns="101600" bIns="38100" rtlCol="0" anchor="ctr"/>
          <a:lstStyle/>
          <a:p>
            <a:pPr marL="0" indent="0" algn="ctr">
              <a:buNone/>
            </a:pPr>
            <a:r>
              <a:rPr lang="en-US" sz="800" b="1">
                <a:solidFill>
                  <a:srgbClr val="FFFFFF"/>
                </a:solidFill>
                <a:latin typeface="Raleway" pitchFamily="34" charset="0"/>
                <a:ea typeface="Raleway" pitchFamily="34" charset="-122"/>
                <a:cs typeface="Raleway" pitchFamily="34" charset="-120"/>
              </a:rPr>
              <a:t>India Hub</a:t>
            </a:r>
            <a:endParaRPr lang="en-US" sz="800"/>
          </a:p>
        </p:txBody>
      </p:sp>
      <p:sp>
        <p:nvSpPr>
          <p:cNvPr id="35" name="Shape 27"/>
          <p:cNvSpPr/>
          <p:nvPr/>
        </p:nvSpPr>
        <p:spPr>
          <a:xfrm>
            <a:off x="8906256" y="1867205"/>
            <a:ext cx="2523744" cy="9144"/>
          </a:xfrm>
          <a:prstGeom prst="rect">
            <a:avLst/>
          </a:prstGeom>
          <a:solidFill>
            <a:srgbClr val="E2E8F0"/>
          </a:solidFill>
          <a:ln w="12700">
            <a:solidFill>
              <a:srgbClr val="E2E8F0">
                <a:alpha val="0"/>
              </a:srgbClr>
            </a:solidFill>
            <a:prstDash val="solid"/>
          </a:ln>
        </p:spPr>
        <p:txBody>
          <a:bodyPr/>
          <a:lstStyle/>
          <a:p>
            <a:endParaRPr lang="en-US"/>
          </a:p>
        </p:txBody>
      </p:sp>
      <p:sp>
        <p:nvSpPr>
          <p:cNvPr id="36" name="Text 28"/>
          <p:cNvSpPr txBox="1"/>
          <p:nvPr/>
        </p:nvSpPr>
        <p:spPr>
          <a:xfrm>
            <a:off x="9158630" y="1524305"/>
            <a:ext cx="2272284" cy="248717"/>
          </a:xfrm>
          <a:prstGeom prst="rect">
            <a:avLst/>
          </a:prstGeom>
          <a:solidFill>
            <a:srgbClr val="FFFFFF">
              <a:alpha val="0"/>
            </a:srgbClr>
          </a:solidFill>
          <a:ln>
            <a:solidFill>
              <a:srgbClr val="FFFFFF">
                <a:alpha val="0"/>
              </a:srgbClr>
            </a:solidFill>
          </a:ln>
        </p:spPr>
        <p:txBody>
          <a:bodyPr wrap="none" lIns="0" tIns="0" rIns="0" bIns="0" rtlCol="0" anchor="ctr"/>
          <a:lstStyle/>
          <a:p>
            <a:pPr marL="0" indent="0" algn="l">
              <a:buNone/>
            </a:pPr>
            <a:r>
              <a:rPr lang="en-US" sz="1300" b="1">
                <a:solidFill>
                  <a:srgbClr val="111827"/>
                </a:solidFill>
                <a:latin typeface="Oswald" pitchFamily="34" charset="0"/>
                <a:ea typeface="Oswald" pitchFamily="34" charset="-122"/>
                <a:cs typeface="Oswald" pitchFamily="34" charset="-120"/>
              </a:rPr>
              <a:t>INDUSTRIES WE SERVE</a:t>
            </a:r>
            <a:endParaRPr lang="en-US" sz="1300"/>
          </a:p>
        </p:txBody>
      </p:sp>
      <p:pic>
        <p:nvPicPr>
          <p:cNvPr id="37" name="Image 6" descr="gen-dedup-a3ba9c707eb1f0939238c0b2ee690b47.png"/>
          <p:cNvPicPr>
            <a:picLocks noChangeAspect="1"/>
          </p:cNvPicPr>
          <p:nvPr/>
        </p:nvPicPr>
        <p:blipFill>
          <a:blip r:embed="rId8"/>
          <a:srcRect t="-20" b="-20"/>
          <a:stretch/>
        </p:blipFill>
        <p:spPr>
          <a:xfrm>
            <a:off x="8906256" y="2018995"/>
            <a:ext cx="2523744" cy="295351"/>
          </a:xfrm>
          <a:prstGeom prst="rect">
            <a:avLst/>
          </a:prstGeom>
        </p:spPr>
      </p:pic>
      <p:pic>
        <p:nvPicPr>
          <p:cNvPr id="38" name="Image 7" descr="gen-dedup-2bd0b0fa7484346ccc3fd816b7451a75.png"/>
          <p:cNvPicPr>
            <a:picLocks noChangeAspect="1"/>
          </p:cNvPicPr>
          <p:nvPr/>
        </p:nvPicPr>
        <p:blipFill>
          <a:blip r:embed="rId9"/>
          <a:srcRect l="-21233" r="-21233"/>
          <a:stretch/>
        </p:blipFill>
        <p:spPr>
          <a:xfrm>
            <a:off x="9048902" y="2100377"/>
            <a:ext cx="190195" cy="133502"/>
          </a:xfrm>
          <a:prstGeom prst="rect">
            <a:avLst/>
          </a:prstGeom>
        </p:spPr>
      </p:pic>
      <p:sp>
        <p:nvSpPr>
          <p:cNvPr id="39" name="Text 29"/>
          <p:cNvSpPr txBox="1"/>
          <p:nvPr/>
        </p:nvSpPr>
        <p:spPr>
          <a:xfrm>
            <a:off x="9353398" y="2018995"/>
            <a:ext cx="267005" cy="295351"/>
          </a:xfrm>
          <a:prstGeom prst="rect">
            <a:avLst/>
          </a:prstGeom>
          <a:noFill/>
          <a:ln/>
        </p:spPr>
        <p:txBody>
          <a:bodyPr wrap="square" lIns="0" tIns="0" rIns="0" bIns="0" rtlCol="0" anchor="ctr"/>
          <a:lstStyle/>
          <a:p>
            <a:pPr marL="0" indent="0" algn="l">
              <a:buNone/>
            </a:pPr>
            <a:r>
              <a:rPr lang="en-US" sz="900" b="1">
                <a:solidFill>
                  <a:srgbClr val="111827"/>
                </a:solidFill>
                <a:latin typeface="Raleway" pitchFamily="34" charset="0"/>
                <a:ea typeface="Raleway" pitchFamily="34" charset="-122"/>
                <a:cs typeface="Raleway" pitchFamily="34" charset="-120"/>
              </a:rPr>
              <a:t>BFSI</a:t>
            </a:r>
            <a:endParaRPr lang="en-US" sz="900"/>
          </a:p>
        </p:txBody>
      </p:sp>
      <p:pic>
        <p:nvPicPr>
          <p:cNvPr id="40" name="Image 8" descr="gen-dedup-a3ba9c707eb1f0939238c0b2ee690b47.png"/>
          <p:cNvPicPr>
            <a:picLocks noChangeAspect="1"/>
          </p:cNvPicPr>
          <p:nvPr/>
        </p:nvPicPr>
        <p:blipFill>
          <a:blip r:embed="rId8"/>
          <a:srcRect t="-20" b="-20"/>
          <a:stretch/>
        </p:blipFill>
        <p:spPr>
          <a:xfrm>
            <a:off x="8906256" y="2391156"/>
            <a:ext cx="2523744" cy="295351"/>
          </a:xfrm>
          <a:prstGeom prst="rect">
            <a:avLst/>
          </a:prstGeom>
        </p:spPr>
      </p:pic>
      <p:pic>
        <p:nvPicPr>
          <p:cNvPr id="41" name="Image 9" descr="gen-dedup-87254bd47463b9ac5fc2428135379ff4.png"/>
          <p:cNvPicPr>
            <a:picLocks noChangeAspect="1"/>
          </p:cNvPicPr>
          <p:nvPr/>
        </p:nvPicPr>
        <p:blipFill>
          <a:blip r:embed="rId10"/>
          <a:srcRect l="-21233" r="-21233"/>
          <a:stretch/>
        </p:blipFill>
        <p:spPr>
          <a:xfrm>
            <a:off x="9048902" y="2471623"/>
            <a:ext cx="190195" cy="133502"/>
          </a:xfrm>
          <a:prstGeom prst="rect">
            <a:avLst/>
          </a:prstGeom>
        </p:spPr>
      </p:pic>
      <p:sp>
        <p:nvSpPr>
          <p:cNvPr id="42" name="Text 30"/>
          <p:cNvSpPr txBox="1"/>
          <p:nvPr/>
        </p:nvSpPr>
        <p:spPr>
          <a:xfrm>
            <a:off x="9353398" y="2391156"/>
            <a:ext cx="1515161" cy="295351"/>
          </a:xfrm>
          <a:prstGeom prst="rect">
            <a:avLst/>
          </a:prstGeom>
          <a:noFill/>
          <a:ln/>
        </p:spPr>
        <p:txBody>
          <a:bodyPr wrap="square" lIns="0" tIns="0" rIns="0" bIns="0" rtlCol="0" anchor="ctr"/>
          <a:lstStyle/>
          <a:p>
            <a:pPr marL="0" indent="0" algn="l">
              <a:buNone/>
            </a:pPr>
            <a:r>
              <a:rPr lang="en-US" sz="900" b="1">
                <a:solidFill>
                  <a:srgbClr val="111827"/>
                </a:solidFill>
                <a:latin typeface="Raleway" pitchFamily="34" charset="0"/>
                <a:ea typeface="Raleway" pitchFamily="34" charset="-122"/>
                <a:cs typeface="Raleway" pitchFamily="34" charset="-120"/>
              </a:rPr>
              <a:t>Healthcare &amp; Life Science</a:t>
            </a:r>
            <a:endParaRPr lang="en-US" sz="900"/>
          </a:p>
        </p:txBody>
      </p:sp>
      <p:pic>
        <p:nvPicPr>
          <p:cNvPr id="43" name="Image 10" descr="gen-dedup-a3ba9c707eb1f0939238c0b2ee690b47.png"/>
          <p:cNvPicPr>
            <a:picLocks noChangeAspect="1"/>
          </p:cNvPicPr>
          <p:nvPr/>
        </p:nvPicPr>
        <p:blipFill>
          <a:blip r:embed="rId8"/>
          <a:srcRect t="-20" b="-20"/>
          <a:stretch/>
        </p:blipFill>
        <p:spPr>
          <a:xfrm>
            <a:off x="8906256" y="2762402"/>
            <a:ext cx="2523744" cy="295351"/>
          </a:xfrm>
          <a:prstGeom prst="rect">
            <a:avLst/>
          </a:prstGeom>
        </p:spPr>
      </p:pic>
      <p:pic>
        <p:nvPicPr>
          <p:cNvPr id="44" name="Image 11" descr="gen-dedup-6a9e002375939ddd6a79ac98f2a4d902.png"/>
          <p:cNvPicPr>
            <a:picLocks noChangeAspect="1"/>
          </p:cNvPicPr>
          <p:nvPr/>
        </p:nvPicPr>
        <p:blipFill>
          <a:blip r:embed="rId11"/>
          <a:srcRect l="-13318" r="-13318"/>
          <a:stretch/>
        </p:blipFill>
        <p:spPr>
          <a:xfrm>
            <a:off x="9048902" y="2842870"/>
            <a:ext cx="190195" cy="133502"/>
          </a:xfrm>
          <a:prstGeom prst="rect">
            <a:avLst/>
          </a:prstGeom>
        </p:spPr>
      </p:pic>
      <p:sp>
        <p:nvSpPr>
          <p:cNvPr id="45" name="Text 31"/>
          <p:cNvSpPr txBox="1"/>
          <p:nvPr/>
        </p:nvSpPr>
        <p:spPr>
          <a:xfrm>
            <a:off x="9353398" y="2762402"/>
            <a:ext cx="1086307" cy="295351"/>
          </a:xfrm>
          <a:prstGeom prst="rect">
            <a:avLst/>
          </a:prstGeom>
          <a:noFill/>
          <a:ln/>
        </p:spPr>
        <p:txBody>
          <a:bodyPr wrap="square" lIns="0" tIns="0" rIns="0" bIns="0" rtlCol="0" anchor="ctr"/>
          <a:lstStyle/>
          <a:p>
            <a:pPr marL="0" indent="0" algn="l">
              <a:buNone/>
            </a:pPr>
            <a:r>
              <a:rPr lang="en-US" sz="900" b="1">
                <a:solidFill>
                  <a:srgbClr val="111827"/>
                </a:solidFill>
                <a:latin typeface="Raleway" pitchFamily="34" charset="0"/>
                <a:ea typeface="Raleway" pitchFamily="34" charset="-122"/>
                <a:cs typeface="Raleway" pitchFamily="34" charset="-120"/>
              </a:rPr>
              <a:t>Retail &amp; Consumer</a:t>
            </a:r>
            <a:endParaRPr lang="en-US" sz="900"/>
          </a:p>
        </p:txBody>
      </p:sp>
      <p:pic>
        <p:nvPicPr>
          <p:cNvPr id="46" name="Image 12" descr="gen-dedup-a3ba9c707eb1f0939238c0b2ee690b47.png"/>
          <p:cNvPicPr>
            <a:picLocks noChangeAspect="1"/>
          </p:cNvPicPr>
          <p:nvPr/>
        </p:nvPicPr>
        <p:blipFill>
          <a:blip r:embed="rId8"/>
          <a:srcRect t="-20" b="-20"/>
          <a:stretch/>
        </p:blipFill>
        <p:spPr>
          <a:xfrm>
            <a:off x="8906256" y="3133649"/>
            <a:ext cx="2523744" cy="295351"/>
          </a:xfrm>
          <a:prstGeom prst="rect">
            <a:avLst/>
          </a:prstGeom>
        </p:spPr>
      </p:pic>
      <p:pic>
        <p:nvPicPr>
          <p:cNvPr id="47" name="Image 13" descr="gen-dedup-1ac84738dfd443b955249e948e0d73ca.png"/>
          <p:cNvPicPr>
            <a:picLocks noChangeAspect="1"/>
          </p:cNvPicPr>
          <p:nvPr/>
        </p:nvPicPr>
        <p:blipFill>
          <a:blip r:embed="rId12"/>
          <a:srcRect l="-21233" r="-21233"/>
          <a:stretch/>
        </p:blipFill>
        <p:spPr>
          <a:xfrm>
            <a:off x="9048902" y="3215030"/>
            <a:ext cx="190195" cy="133502"/>
          </a:xfrm>
          <a:prstGeom prst="rect">
            <a:avLst/>
          </a:prstGeom>
        </p:spPr>
      </p:pic>
      <p:sp>
        <p:nvSpPr>
          <p:cNvPr id="48" name="Text 32"/>
          <p:cNvSpPr txBox="1"/>
          <p:nvPr/>
        </p:nvSpPr>
        <p:spPr>
          <a:xfrm>
            <a:off x="9353398" y="3133649"/>
            <a:ext cx="1686154" cy="295351"/>
          </a:xfrm>
          <a:prstGeom prst="rect">
            <a:avLst/>
          </a:prstGeom>
          <a:noFill/>
          <a:ln/>
        </p:spPr>
        <p:txBody>
          <a:bodyPr wrap="square" lIns="0" tIns="0" rIns="0" bIns="0" rtlCol="0" anchor="ctr"/>
          <a:lstStyle/>
          <a:p>
            <a:pPr marL="0" indent="0" algn="l">
              <a:buNone/>
            </a:pPr>
            <a:r>
              <a:rPr lang="en-US" sz="900" b="1">
                <a:solidFill>
                  <a:srgbClr val="111827"/>
                </a:solidFill>
                <a:latin typeface="Raleway" pitchFamily="34" charset="0"/>
                <a:ea typeface="Raleway" pitchFamily="34" charset="-122"/>
                <a:cs typeface="Raleway" pitchFamily="34" charset="-120"/>
              </a:rPr>
              <a:t>Automotive &amp; Manufacturing</a:t>
            </a:r>
            <a:endParaRPr lang="en-US" sz="900"/>
          </a:p>
        </p:txBody>
      </p:sp>
      <p:pic>
        <p:nvPicPr>
          <p:cNvPr id="49" name="Image 14" descr="gen-dedup-a3ba9c707eb1f0939238c0b2ee690b47.png"/>
          <p:cNvPicPr>
            <a:picLocks noChangeAspect="1"/>
          </p:cNvPicPr>
          <p:nvPr/>
        </p:nvPicPr>
        <p:blipFill>
          <a:blip r:embed="rId8"/>
          <a:srcRect t="-20" b="-20"/>
          <a:stretch/>
        </p:blipFill>
        <p:spPr>
          <a:xfrm>
            <a:off x="8906256" y="3504895"/>
            <a:ext cx="2523744" cy="295351"/>
          </a:xfrm>
          <a:prstGeom prst="rect">
            <a:avLst/>
          </a:prstGeom>
        </p:spPr>
      </p:pic>
      <p:pic>
        <p:nvPicPr>
          <p:cNvPr id="50" name="Image 15" descr="gen-dedup-a6d5727770eb2c467ca0fcfb922fbe99.png"/>
          <p:cNvPicPr>
            <a:picLocks noChangeAspect="1"/>
          </p:cNvPicPr>
          <p:nvPr/>
        </p:nvPicPr>
        <p:blipFill>
          <a:blip r:embed="rId13"/>
          <a:srcRect l="-6986" r="-6986"/>
          <a:stretch/>
        </p:blipFill>
        <p:spPr>
          <a:xfrm>
            <a:off x="9048902" y="3586277"/>
            <a:ext cx="190195" cy="133502"/>
          </a:xfrm>
          <a:prstGeom prst="rect">
            <a:avLst/>
          </a:prstGeom>
        </p:spPr>
      </p:pic>
      <p:sp>
        <p:nvSpPr>
          <p:cNvPr id="51" name="Text 33"/>
          <p:cNvSpPr txBox="1"/>
          <p:nvPr/>
        </p:nvSpPr>
        <p:spPr>
          <a:xfrm>
            <a:off x="9353398" y="3504895"/>
            <a:ext cx="1124712" cy="295351"/>
          </a:xfrm>
          <a:prstGeom prst="rect">
            <a:avLst/>
          </a:prstGeom>
          <a:noFill/>
          <a:ln/>
        </p:spPr>
        <p:txBody>
          <a:bodyPr wrap="square" lIns="0" tIns="0" rIns="0" bIns="0" rtlCol="0" anchor="ctr"/>
          <a:lstStyle/>
          <a:p>
            <a:pPr marL="0" indent="0" algn="l">
              <a:buNone/>
            </a:pPr>
            <a:r>
              <a:rPr lang="en-US" sz="900" b="1">
                <a:solidFill>
                  <a:srgbClr val="111827"/>
                </a:solidFill>
                <a:latin typeface="Raleway" pitchFamily="34" charset="0"/>
                <a:ea typeface="Raleway" pitchFamily="34" charset="-122"/>
                <a:cs typeface="Raleway" pitchFamily="34" charset="-120"/>
              </a:rPr>
              <a:t>Technology &amp; SaaS</a:t>
            </a:r>
            <a:endParaRPr lang="en-US" sz="900"/>
          </a:p>
        </p:txBody>
      </p:sp>
      <p:pic>
        <p:nvPicPr>
          <p:cNvPr id="52" name="Image 16" descr="gen-dedup-a3ba9c707eb1f0939238c0b2ee690b47.png"/>
          <p:cNvPicPr>
            <a:picLocks noChangeAspect="1"/>
          </p:cNvPicPr>
          <p:nvPr/>
        </p:nvPicPr>
        <p:blipFill>
          <a:blip r:embed="rId8"/>
          <a:srcRect t="-20" b="-20"/>
          <a:stretch/>
        </p:blipFill>
        <p:spPr>
          <a:xfrm>
            <a:off x="8906256" y="3877056"/>
            <a:ext cx="2523744" cy="295351"/>
          </a:xfrm>
          <a:prstGeom prst="rect">
            <a:avLst/>
          </a:prstGeom>
        </p:spPr>
      </p:pic>
      <p:pic>
        <p:nvPicPr>
          <p:cNvPr id="53" name="Image 17" descr="gen-dedup-f9e079124fd14560a869c5b2316619e3.png"/>
          <p:cNvPicPr>
            <a:picLocks noChangeAspect="1"/>
          </p:cNvPicPr>
          <p:nvPr/>
        </p:nvPicPr>
        <p:blipFill>
          <a:blip r:embed="rId14"/>
          <a:srcRect l="-13318" r="-13318"/>
          <a:stretch/>
        </p:blipFill>
        <p:spPr>
          <a:xfrm>
            <a:off x="9048902" y="3957523"/>
            <a:ext cx="190195" cy="133502"/>
          </a:xfrm>
          <a:prstGeom prst="rect">
            <a:avLst/>
          </a:prstGeom>
        </p:spPr>
      </p:pic>
      <p:sp>
        <p:nvSpPr>
          <p:cNvPr id="54" name="Text 34"/>
          <p:cNvSpPr txBox="1"/>
          <p:nvPr/>
        </p:nvSpPr>
        <p:spPr>
          <a:xfrm>
            <a:off x="9353398" y="3877056"/>
            <a:ext cx="1228954" cy="295351"/>
          </a:xfrm>
          <a:prstGeom prst="rect">
            <a:avLst/>
          </a:prstGeom>
          <a:noFill/>
          <a:ln/>
        </p:spPr>
        <p:txBody>
          <a:bodyPr wrap="square" lIns="0" tIns="0" rIns="0" bIns="0" rtlCol="0" anchor="ctr"/>
          <a:lstStyle/>
          <a:p>
            <a:pPr marL="0" indent="0" algn="l">
              <a:buNone/>
            </a:pPr>
            <a:r>
              <a:rPr lang="en-US" sz="900" b="1">
                <a:solidFill>
                  <a:srgbClr val="111827"/>
                </a:solidFill>
                <a:latin typeface="Raleway" pitchFamily="34" charset="0"/>
                <a:ea typeface="Raleway" pitchFamily="34" charset="-122"/>
                <a:cs typeface="Raleway" pitchFamily="34" charset="-120"/>
              </a:rPr>
              <a:t>Telecommunications</a:t>
            </a:r>
            <a:endParaRPr lang="en-US" sz="900"/>
          </a:p>
        </p:txBody>
      </p:sp>
      <p:pic>
        <p:nvPicPr>
          <p:cNvPr id="55" name="Image 18" descr="gen-dedup-a3ba9c707eb1f0939238c0b2ee690b47.png"/>
          <p:cNvPicPr>
            <a:picLocks noChangeAspect="1"/>
          </p:cNvPicPr>
          <p:nvPr/>
        </p:nvPicPr>
        <p:blipFill>
          <a:blip r:embed="rId8"/>
          <a:srcRect t="-20" b="-20"/>
          <a:stretch/>
        </p:blipFill>
        <p:spPr>
          <a:xfrm>
            <a:off x="8906256" y="4248302"/>
            <a:ext cx="2523744" cy="295351"/>
          </a:xfrm>
          <a:prstGeom prst="rect">
            <a:avLst/>
          </a:prstGeom>
        </p:spPr>
      </p:pic>
      <p:pic>
        <p:nvPicPr>
          <p:cNvPr id="56" name="Image 19" descr="gen-dedup-451e9eae7293a4bc33edf7b5ccafce38.png"/>
          <p:cNvPicPr>
            <a:picLocks noChangeAspect="1"/>
          </p:cNvPicPr>
          <p:nvPr/>
        </p:nvPicPr>
        <p:blipFill>
          <a:blip r:embed="rId15"/>
          <a:srcRect l="-31409" r="-31409"/>
          <a:stretch/>
        </p:blipFill>
        <p:spPr>
          <a:xfrm>
            <a:off x="9048902" y="4328770"/>
            <a:ext cx="190195" cy="133502"/>
          </a:xfrm>
          <a:prstGeom prst="rect">
            <a:avLst/>
          </a:prstGeom>
        </p:spPr>
      </p:pic>
      <p:sp>
        <p:nvSpPr>
          <p:cNvPr id="57" name="Text 35"/>
          <p:cNvSpPr txBox="1"/>
          <p:nvPr/>
        </p:nvSpPr>
        <p:spPr>
          <a:xfrm>
            <a:off x="9353398" y="4248302"/>
            <a:ext cx="1105510" cy="295351"/>
          </a:xfrm>
          <a:prstGeom prst="rect">
            <a:avLst/>
          </a:prstGeom>
          <a:noFill/>
          <a:ln/>
        </p:spPr>
        <p:txBody>
          <a:bodyPr wrap="square" lIns="0" tIns="0" rIns="0" bIns="0" rtlCol="0" anchor="ctr"/>
          <a:lstStyle/>
          <a:p>
            <a:pPr marL="0" indent="0" algn="l">
              <a:buNone/>
            </a:pPr>
            <a:r>
              <a:rPr lang="en-US" sz="900" b="1">
                <a:solidFill>
                  <a:srgbClr val="111827"/>
                </a:solidFill>
                <a:latin typeface="Raleway" pitchFamily="34" charset="0"/>
                <a:ea typeface="Raleway" pitchFamily="34" charset="-122"/>
                <a:cs typeface="Raleway" pitchFamily="34" charset="-120"/>
              </a:rPr>
              <a:t>Energies &amp; Utilities</a:t>
            </a:r>
            <a:endParaRPr lang="en-US" sz="900"/>
          </a:p>
        </p:txBody>
      </p:sp>
      <p:pic>
        <p:nvPicPr>
          <p:cNvPr id="58" name="Image 20" descr="gen-dedup-a3ba9c707eb1f0939238c0b2ee690b47.png"/>
          <p:cNvPicPr>
            <a:picLocks noChangeAspect="1"/>
          </p:cNvPicPr>
          <p:nvPr/>
        </p:nvPicPr>
        <p:blipFill>
          <a:blip r:embed="rId8"/>
          <a:srcRect t="-20" b="-20"/>
          <a:stretch/>
        </p:blipFill>
        <p:spPr>
          <a:xfrm>
            <a:off x="8906256" y="4619549"/>
            <a:ext cx="2523744" cy="295351"/>
          </a:xfrm>
          <a:prstGeom prst="rect">
            <a:avLst/>
          </a:prstGeom>
        </p:spPr>
      </p:pic>
      <p:pic>
        <p:nvPicPr>
          <p:cNvPr id="59" name="Image 21" descr="gen-dedup-40abce9d65960ad896b885d7512e550b.png"/>
          <p:cNvPicPr>
            <a:picLocks noChangeAspect="1"/>
          </p:cNvPicPr>
          <p:nvPr/>
        </p:nvPicPr>
        <p:blipFill>
          <a:blip r:embed="rId16"/>
          <a:srcRect l="-21233" r="-21233"/>
          <a:stretch/>
        </p:blipFill>
        <p:spPr>
          <a:xfrm>
            <a:off x="9048902" y="4700930"/>
            <a:ext cx="190195" cy="133502"/>
          </a:xfrm>
          <a:prstGeom prst="rect">
            <a:avLst/>
          </a:prstGeom>
        </p:spPr>
      </p:pic>
      <p:sp>
        <p:nvSpPr>
          <p:cNvPr id="60" name="Text 36"/>
          <p:cNvSpPr txBox="1"/>
          <p:nvPr/>
        </p:nvSpPr>
        <p:spPr>
          <a:xfrm>
            <a:off x="9353398" y="4619549"/>
            <a:ext cx="1248156" cy="295351"/>
          </a:xfrm>
          <a:prstGeom prst="rect">
            <a:avLst/>
          </a:prstGeom>
          <a:noFill/>
          <a:ln/>
        </p:spPr>
        <p:txBody>
          <a:bodyPr wrap="square" lIns="0" tIns="0" rIns="0" bIns="0" rtlCol="0" anchor="ctr"/>
          <a:lstStyle/>
          <a:p>
            <a:pPr marL="0" indent="0" algn="l">
              <a:buNone/>
            </a:pPr>
            <a:r>
              <a:rPr lang="en-US" sz="900" b="1">
                <a:solidFill>
                  <a:srgbClr val="111827"/>
                </a:solidFill>
                <a:latin typeface="Raleway" pitchFamily="34" charset="0"/>
                <a:ea typeface="Raleway" pitchFamily="34" charset="-122"/>
                <a:cs typeface="Raleway" pitchFamily="34" charset="-120"/>
              </a:rPr>
              <a:t>Professional Services</a:t>
            </a:r>
            <a:endParaRPr lang="en-US" sz="900"/>
          </a:p>
        </p:txBody>
      </p:sp>
      <p:pic>
        <p:nvPicPr>
          <p:cNvPr id="61" name="Image 22" descr="gen-dedup-a24ca5efa244217182f79dc248b17d8b.png"/>
          <p:cNvPicPr>
            <a:picLocks noChangeAspect="1"/>
          </p:cNvPicPr>
          <p:nvPr/>
        </p:nvPicPr>
        <p:blipFill>
          <a:blip r:embed="rId17"/>
          <a:srcRect t="-22432" b="-22432"/>
          <a:stretch/>
        </p:blipFill>
        <p:spPr>
          <a:xfrm>
            <a:off x="8906256" y="1573682"/>
            <a:ext cx="133502" cy="171907"/>
          </a:xfrm>
          <a:prstGeom prst="rect">
            <a:avLst/>
          </a:prstGeom>
        </p:spPr>
      </p:pic>
      <p:sp>
        <p:nvSpPr>
          <p:cNvPr id="62" name="Text 37"/>
          <p:cNvSpPr txBox="1"/>
          <p:nvPr/>
        </p:nvSpPr>
        <p:spPr>
          <a:xfrm>
            <a:off x="942746" y="6362395"/>
            <a:ext cx="3224174" cy="124358"/>
          </a:xfrm>
          <a:prstGeom prst="rect">
            <a:avLst/>
          </a:prstGeom>
          <a:noFill/>
          <a:ln/>
        </p:spPr>
        <p:txBody>
          <a:bodyPr wrap="none" lIns="0" tIns="0" rIns="0" bIns="0" rtlCol="0" anchor="ctr"/>
          <a:lstStyle/>
          <a:p>
            <a:pPr marL="0" indent="0" algn="l">
              <a:buNone/>
            </a:pPr>
            <a:r>
              <a:rPr lang="en-US" sz="800">
                <a:solidFill>
                  <a:srgbClr val="64748B"/>
                </a:solidFill>
                <a:latin typeface="Raleway" pitchFamily="34" charset="0"/>
                <a:ea typeface="Raleway" pitchFamily="34" charset="-122"/>
                <a:cs typeface="Raleway" pitchFamily="34" charset="-120"/>
              </a:rPr>
              <a:t>Connecting global expertise with the India Delivery Hub</a:t>
            </a:r>
            <a:endParaRPr lang="en-US" sz="800"/>
          </a:p>
        </p:txBody>
      </p:sp>
      <p:sp>
        <p:nvSpPr>
          <p:cNvPr id="63" name="Text 38"/>
          <p:cNvSpPr txBox="1"/>
          <p:nvPr/>
        </p:nvSpPr>
        <p:spPr>
          <a:xfrm>
            <a:off x="9831629" y="6362395"/>
            <a:ext cx="1886407" cy="124358"/>
          </a:xfrm>
          <a:prstGeom prst="rect">
            <a:avLst/>
          </a:prstGeom>
          <a:noFill/>
          <a:ln/>
        </p:spPr>
        <p:txBody>
          <a:bodyPr wrap="none" lIns="0" tIns="0" rIns="0" bIns="0" rtlCol="0" anchor="ctr"/>
          <a:lstStyle/>
          <a:p>
            <a:pPr marL="0" indent="0" algn="l">
              <a:buNone/>
            </a:pPr>
            <a:r>
              <a:rPr lang="en-US" sz="800">
                <a:solidFill>
                  <a:srgbClr val="64748B"/>
                </a:solidFill>
                <a:latin typeface="Raleway" pitchFamily="34" charset="0"/>
                <a:ea typeface="Raleway" pitchFamily="34" charset="-122"/>
                <a:cs typeface="Raleway" pitchFamily="34" charset="-120"/>
              </a:rPr>
              <a:t>Proven cross-industry scalability</a:t>
            </a:r>
            <a:endParaRPr lang="en-US" sz="800"/>
          </a:p>
        </p:txBody>
      </p:sp>
      <p:pic>
        <p:nvPicPr>
          <p:cNvPr id="64" name="Image 23" descr="gen-dedup-1a59845541d7fd4fb2a1972088c3d49f.png"/>
          <p:cNvPicPr>
            <a:picLocks noChangeAspect="1"/>
          </p:cNvPicPr>
          <p:nvPr/>
        </p:nvPicPr>
        <p:blipFill>
          <a:blip r:embed="rId18"/>
          <a:srcRect t="-11170" b="-11170"/>
          <a:stretch/>
        </p:blipFill>
        <p:spPr>
          <a:xfrm>
            <a:off x="800100" y="6366053"/>
            <a:ext cx="85954" cy="105156"/>
          </a:xfrm>
          <a:prstGeom prst="rect">
            <a:avLst/>
          </a:prstGeom>
        </p:spPr>
      </p:pic>
      <p:pic>
        <p:nvPicPr>
          <p:cNvPr id="65" name="Image 24" descr="gen-dedup-d522b7b7ebdde5571aa98d9631dd96ee.png"/>
          <p:cNvPicPr>
            <a:picLocks noChangeAspect="1"/>
          </p:cNvPicPr>
          <p:nvPr/>
        </p:nvPicPr>
        <p:blipFill>
          <a:blip r:embed="rId19"/>
          <a:srcRect t="-11170" b="-11170"/>
          <a:stretch/>
        </p:blipFill>
        <p:spPr>
          <a:xfrm>
            <a:off x="9688982" y="6366053"/>
            <a:ext cx="85954" cy="105156"/>
          </a:xfrm>
          <a:prstGeom prst="rect">
            <a:avLst/>
          </a:prstGeom>
        </p:spPr>
      </p:pic>
      <p:pic>
        <p:nvPicPr>
          <p:cNvPr id="67" name="Image 3" descr="gen-dedup-777bf757d895431cabe402fcd34ebd5a.png">
            <a:extLst>
              <a:ext uri="{FF2B5EF4-FFF2-40B4-BE49-F238E27FC236}">
                <a16:creationId xmlns:a16="http://schemas.microsoft.com/office/drawing/2014/main" id="{F9405BC2-4922-F22B-B835-1987B0447C6F}"/>
              </a:ext>
            </a:extLst>
          </p:cNvPr>
          <p:cNvPicPr>
            <a:picLocks noChangeAspect="1"/>
          </p:cNvPicPr>
          <p:nvPr/>
        </p:nvPicPr>
        <p:blipFill>
          <a:blip r:embed="rId20">
            <a:biLevel thresh="75000"/>
          </a:blip>
          <a:srcRect l="-384" r="-384"/>
          <a:stretch/>
        </p:blipFill>
        <p:spPr>
          <a:xfrm>
            <a:off x="571500" y="381305"/>
            <a:ext cx="57607" cy="476402"/>
          </a:xfrm>
          <a:prstGeom prst="rect">
            <a:avLst/>
          </a:prstGeom>
        </p:spPr>
      </p:pic>
      <p:sp>
        <p:nvSpPr>
          <p:cNvPr id="69" name="Text 5">
            <a:extLst>
              <a:ext uri="{FF2B5EF4-FFF2-40B4-BE49-F238E27FC236}">
                <a16:creationId xmlns:a16="http://schemas.microsoft.com/office/drawing/2014/main" id="{E8AAB0FA-5DE8-5022-3930-73E8BD14ED20}"/>
              </a:ext>
            </a:extLst>
          </p:cNvPr>
          <p:cNvSpPr txBox="1"/>
          <p:nvPr/>
        </p:nvSpPr>
        <p:spPr>
          <a:xfrm>
            <a:off x="780897" y="333756"/>
            <a:ext cx="5913817" cy="406908"/>
          </a:xfrm>
          <a:prstGeom prst="rect">
            <a:avLst/>
          </a:prstGeom>
          <a:noFill/>
          <a:ln/>
        </p:spPr>
        <p:txBody>
          <a:bodyPr wrap="none" lIns="0" tIns="0" rIns="0" bIns="0" rtlCol="0" anchor="ctr"/>
          <a:lstStyle/>
          <a:p>
            <a:r>
              <a:rPr lang="en-GB" sz="2400" b="1" kern="0" spc="-67" dirty="0">
                <a:solidFill>
                  <a:srgbClr val="111827"/>
                </a:solidFill>
                <a:latin typeface="Oswald" pitchFamily="34" charset="0"/>
                <a:ea typeface="Oswald" pitchFamily="34" charset="-122"/>
                <a:cs typeface="Oswald" pitchFamily="34" charset="-120"/>
              </a:rPr>
              <a:t>GLOBAL FOOTPRINT &amp; INDUSTRIES WE SERVE</a:t>
            </a:r>
          </a:p>
        </p:txBody>
      </p:sp>
      <p:sp>
        <p:nvSpPr>
          <p:cNvPr id="71" name="Text 6">
            <a:extLst>
              <a:ext uri="{FF2B5EF4-FFF2-40B4-BE49-F238E27FC236}">
                <a16:creationId xmlns:a16="http://schemas.microsoft.com/office/drawing/2014/main" id="{73AF1B63-2022-F891-2CCC-2033C57285CB}"/>
              </a:ext>
            </a:extLst>
          </p:cNvPr>
          <p:cNvSpPr txBox="1"/>
          <p:nvPr/>
        </p:nvSpPr>
        <p:spPr>
          <a:xfrm>
            <a:off x="780898" y="740663"/>
            <a:ext cx="5054803" cy="257861"/>
          </a:xfrm>
          <a:prstGeom prst="rect">
            <a:avLst/>
          </a:prstGeom>
          <a:noFill/>
          <a:ln/>
        </p:spPr>
        <p:txBody>
          <a:bodyPr wrap="none" lIns="0" tIns="0" rIns="0" bIns="0" rtlCol="0" anchor="ctr"/>
          <a:lstStyle/>
          <a:p>
            <a:pPr marL="0" indent="0" algn="l">
              <a:buNone/>
            </a:pPr>
            <a:r>
              <a:rPr lang="en-GB" sz="1500" b="1" kern="0" spc="66" dirty="0">
                <a:solidFill>
                  <a:srgbClr val="2A9D8F"/>
                </a:solidFill>
                <a:latin typeface="Roboto Condensed" pitchFamily="34" charset="0"/>
                <a:ea typeface="Roboto Condensed" pitchFamily="34" charset="-122"/>
                <a:cs typeface="Roboto Condensed" pitchFamily="34" charset="-120"/>
              </a:rPr>
              <a:t>8 Global Locations | 8 Core Industries</a:t>
            </a:r>
          </a:p>
        </p:txBody>
      </p:sp>
    </p:spTree>
    <p:extLst>
      <p:ext uri="{BB962C8B-B14F-4D97-AF65-F5344CB8AC3E}">
        <p14:creationId xmlns:p14="http://schemas.microsoft.com/office/powerpoint/2010/main" val="103423859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8123327" cy="75895"/>
          </a:xfrm>
          <a:prstGeom prst="rect">
            <a:avLst/>
          </a:prstGeom>
          <a:solidFill>
            <a:srgbClr val="2A9D8F"/>
          </a:solidFill>
          <a:ln/>
        </p:spPr>
        <p:txBody>
          <a:bodyPr/>
          <a:lstStyle/>
          <a:p>
            <a:endParaRPr lang="en-IN"/>
          </a:p>
        </p:txBody>
      </p:sp>
      <p:sp>
        <p:nvSpPr>
          <p:cNvPr id="3" name="Shape 1"/>
          <p:cNvSpPr/>
          <p:nvPr/>
        </p:nvSpPr>
        <p:spPr>
          <a:xfrm>
            <a:off x="8123327" y="0"/>
            <a:ext cx="4068369" cy="75895"/>
          </a:xfrm>
          <a:prstGeom prst="rect">
            <a:avLst/>
          </a:prstGeom>
          <a:solidFill>
            <a:srgbClr val="D62839"/>
          </a:solidFill>
          <a:ln/>
        </p:spPr>
        <p:txBody>
          <a:bodyPr/>
          <a:lstStyle/>
          <a:p>
            <a:endParaRPr lang="en-IN"/>
          </a:p>
        </p:txBody>
      </p:sp>
      <p:sp>
        <p:nvSpPr>
          <p:cNvPr id="4" name="Shape 2"/>
          <p:cNvSpPr/>
          <p:nvPr/>
        </p:nvSpPr>
        <p:spPr>
          <a:xfrm>
            <a:off x="9265615" y="-1463040"/>
            <a:ext cx="3840480" cy="3840480"/>
          </a:xfrm>
          <a:prstGeom prst="ellipse">
            <a:avLst/>
          </a:prstGeom>
          <a:solidFill>
            <a:srgbClr val="2A9D8F">
              <a:alpha val="4000"/>
            </a:srgbClr>
          </a:solidFill>
          <a:ln/>
        </p:spPr>
        <p:txBody>
          <a:bodyPr/>
          <a:lstStyle/>
          <a:p>
            <a:endParaRPr lang="en-IN"/>
          </a:p>
        </p:txBody>
      </p:sp>
      <p:sp>
        <p:nvSpPr>
          <p:cNvPr id="8" name="Text 6"/>
          <p:cNvSpPr/>
          <p:nvPr/>
        </p:nvSpPr>
        <p:spPr>
          <a:xfrm>
            <a:off x="502920" y="1051560"/>
            <a:ext cx="11185855" cy="365760"/>
          </a:xfrm>
          <a:prstGeom prst="rect">
            <a:avLst/>
          </a:prstGeom>
          <a:noFill/>
          <a:ln/>
        </p:spPr>
        <p:txBody>
          <a:bodyPr wrap="square" lIns="0" tIns="0" rIns="0" bIns="0" rtlCol="0" anchor="ctr"/>
          <a:lstStyle/>
          <a:p>
            <a:pPr marL="0" indent="0" algn="l">
              <a:buNone/>
            </a:pPr>
            <a:r>
              <a:rPr lang="en-US" sz="1250" dirty="0">
                <a:solidFill>
                  <a:srgbClr val="4B5563"/>
                </a:solidFill>
                <a:latin typeface="Raleway" pitchFamily="34" charset="0"/>
                <a:ea typeface="Raleway" pitchFamily="34" charset="-122"/>
                <a:cs typeface="Raleway" pitchFamily="34" charset="-120"/>
              </a:rPr>
              <a:t>India has emerged as the dominant destination for global capability centers, now accounting for nearly half of the world’s GCC footprint.</a:t>
            </a:r>
            <a:endParaRPr lang="en-US" sz="1250" dirty="0"/>
          </a:p>
        </p:txBody>
      </p:sp>
      <p:sp>
        <p:nvSpPr>
          <p:cNvPr id="9" name="Shape 7"/>
          <p:cNvSpPr/>
          <p:nvPr/>
        </p:nvSpPr>
        <p:spPr>
          <a:xfrm>
            <a:off x="502920" y="1536192"/>
            <a:ext cx="3545738" cy="1234440"/>
          </a:xfrm>
          <a:prstGeom prst="roundRect">
            <a:avLst>
              <a:gd name="adj" fmla="val 4444"/>
            </a:avLst>
          </a:prstGeom>
          <a:solidFill>
            <a:srgbClr val="F8FAFC"/>
          </a:solidFill>
          <a:ln w="12700">
            <a:solidFill>
              <a:srgbClr val="E2E8F0"/>
            </a:solidFill>
            <a:prstDash val="solid"/>
          </a:ln>
        </p:spPr>
        <p:txBody>
          <a:bodyPr/>
          <a:lstStyle/>
          <a:p>
            <a:endParaRPr lang="en-IN"/>
          </a:p>
        </p:txBody>
      </p:sp>
      <p:sp>
        <p:nvSpPr>
          <p:cNvPr id="10" name="Shape 8"/>
          <p:cNvSpPr/>
          <p:nvPr/>
        </p:nvSpPr>
        <p:spPr>
          <a:xfrm>
            <a:off x="502920" y="1536192"/>
            <a:ext cx="41148" cy="1234440"/>
          </a:xfrm>
          <a:prstGeom prst="roundRect">
            <a:avLst>
              <a:gd name="adj" fmla="val 44444"/>
            </a:avLst>
          </a:prstGeom>
          <a:solidFill>
            <a:srgbClr val="D62839"/>
          </a:solidFill>
          <a:ln/>
        </p:spPr>
        <p:txBody>
          <a:bodyPr/>
          <a:lstStyle/>
          <a:p>
            <a:endParaRPr lang="en-IN"/>
          </a:p>
        </p:txBody>
      </p:sp>
      <p:sp>
        <p:nvSpPr>
          <p:cNvPr id="11" name="Text 9"/>
          <p:cNvSpPr/>
          <p:nvPr/>
        </p:nvSpPr>
        <p:spPr>
          <a:xfrm>
            <a:off x="758952" y="1700784"/>
            <a:ext cx="3088538" cy="457200"/>
          </a:xfrm>
          <a:prstGeom prst="rect">
            <a:avLst/>
          </a:prstGeom>
          <a:noFill/>
          <a:ln/>
        </p:spPr>
        <p:txBody>
          <a:bodyPr wrap="square" lIns="0" tIns="0" rIns="0" bIns="0" rtlCol="0" anchor="ctr"/>
          <a:lstStyle/>
          <a:p>
            <a:pPr marL="0" indent="0" algn="l">
              <a:buNone/>
            </a:pPr>
            <a:r>
              <a:rPr lang="en-US" sz="3200" b="1" dirty="0">
                <a:solidFill>
                  <a:srgbClr val="D62839"/>
                </a:solidFill>
                <a:latin typeface="Oswald" pitchFamily="34" charset="0"/>
                <a:ea typeface="Oswald" pitchFamily="34" charset="-122"/>
                <a:cs typeface="Oswald" pitchFamily="34" charset="-120"/>
              </a:rPr>
              <a:t>2,100+</a:t>
            </a:r>
            <a:endParaRPr lang="en-US" sz="3200" dirty="0"/>
          </a:p>
        </p:txBody>
      </p:sp>
      <p:sp>
        <p:nvSpPr>
          <p:cNvPr id="12" name="Text 10"/>
          <p:cNvSpPr/>
          <p:nvPr/>
        </p:nvSpPr>
        <p:spPr>
          <a:xfrm>
            <a:off x="758952" y="2139696"/>
            <a:ext cx="3088538" cy="384048"/>
          </a:xfrm>
          <a:prstGeom prst="rect">
            <a:avLst/>
          </a:prstGeom>
          <a:noFill/>
          <a:ln/>
        </p:spPr>
        <p:txBody>
          <a:bodyPr wrap="square" lIns="0" tIns="0" rIns="0" bIns="0" rtlCol="0" anchor="t"/>
          <a:lstStyle/>
          <a:p>
            <a:pPr marL="0" indent="0" algn="l">
              <a:buNone/>
            </a:pPr>
            <a:r>
              <a:rPr lang="en-US" sz="1150" b="1" dirty="0">
                <a:solidFill>
                  <a:srgbClr val="1E293B"/>
                </a:solidFill>
                <a:latin typeface="Raleway" pitchFamily="34" charset="0"/>
                <a:ea typeface="Raleway" pitchFamily="34" charset="-122"/>
                <a:cs typeface="Raleway" pitchFamily="34" charset="-120"/>
              </a:rPr>
              <a:t>Total GCCs operating in India (2026)</a:t>
            </a:r>
            <a:endParaRPr lang="en-US" sz="1150" dirty="0"/>
          </a:p>
        </p:txBody>
      </p:sp>
      <p:sp>
        <p:nvSpPr>
          <p:cNvPr id="13" name="Shape 11"/>
          <p:cNvSpPr/>
          <p:nvPr/>
        </p:nvSpPr>
        <p:spPr>
          <a:xfrm>
            <a:off x="4322978" y="1536192"/>
            <a:ext cx="3545738" cy="1234440"/>
          </a:xfrm>
          <a:prstGeom prst="roundRect">
            <a:avLst>
              <a:gd name="adj" fmla="val 4444"/>
            </a:avLst>
          </a:prstGeom>
          <a:solidFill>
            <a:srgbClr val="F8FAFC"/>
          </a:solidFill>
          <a:ln w="12700">
            <a:solidFill>
              <a:srgbClr val="E2E8F0"/>
            </a:solidFill>
            <a:prstDash val="solid"/>
          </a:ln>
        </p:spPr>
        <p:txBody>
          <a:bodyPr/>
          <a:lstStyle/>
          <a:p>
            <a:endParaRPr lang="en-IN"/>
          </a:p>
        </p:txBody>
      </p:sp>
      <p:sp>
        <p:nvSpPr>
          <p:cNvPr id="14" name="Shape 12"/>
          <p:cNvSpPr/>
          <p:nvPr/>
        </p:nvSpPr>
        <p:spPr>
          <a:xfrm>
            <a:off x="4322978" y="1536192"/>
            <a:ext cx="41148" cy="1234440"/>
          </a:xfrm>
          <a:prstGeom prst="roundRect">
            <a:avLst>
              <a:gd name="adj" fmla="val 44444"/>
            </a:avLst>
          </a:prstGeom>
          <a:solidFill>
            <a:srgbClr val="2A9D8F"/>
          </a:solidFill>
          <a:ln/>
        </p:spPr>
        <p:txBody>
          <a:bodyPr/>
          <a:lstStyle/>
          <a:p>
            <a:endParaRPr lang="en-IN"/>
          </a:p>
        </p:txBody>
      </p:sp>
      <p:sp>
        <p:nvSpPr>
          <p:cNvPr id="15" name="Text 13"/>
          <p:cNvSpPr/>
          <p:nvPr/>
        </p:nvSpPr>
        <p:spPr>
          <a:xfrm>
            <a:off x="4579010" y="1700784"/>
            <a:ext cx="3088538" cy="457200"/>
          </a:xfrm>
          <a:prstGeom prst="rect">
            <a:avLst/>
          </a:prstGeom>
          <a:noFill/>
          <a:ln/>
        </p:spPr>
        <p:txBody>
          <a:bodyPr wrap="square" lIns="0" tIns="0" rIns="0" bIns="0" rtlCol="0" anchor="ctr"/>
          <a:lstStyle/>
          <a:p>
            <a:pPr marL="0" indent="0" algn="l">
              <a:buNone/>
            </a:pPr>
            <a:r>
              <a:rPr lang="en-US" sz="3200" b="1" dirty="0">
                <a:solidFill>
                  <a:srgbClr val="2A9D8F"/>
                </a:solidFill>
                <a:latin typeface="Oswald" pitchFamily="34" charset="0"/>
                <a:ea typeface="Oswald" pitchFamily="34" charset="-122"/>
                <a:cs typeface="Oswald" pitchFamily="34" charset="-120"/>
              </a:rPr>
              <a:t>2.3M+</a:t>
            </a:r>
            <a:endParaRPr lang="en-US" sz="3200" dirty="0"/>
          </a:p>
        </p:txBody>
      </p:sp>
      <p:sp>
        <p:nvSpPr>
          <p:cNvPr id="16" name="Text 14"/>
          <p:cNvSpPr/>
          <p:nvPr/>
        </p:nvSpPr>
        <p:spPr>
          <a:xfrm>
            <a:off x="4579010" y="2139696"/>
            <a:ext cx="3088538" cy="384048"/>
          </a:xfrm>
          <a:prstGeom prst="rect">
            <a:avLst/>
          </a:prstGeom>
          <a:noFill/>
          <a:ln/>
        </p:spPr>
        <p:txBody>
          <a:bodyPr wrap="square" lIns="0" tIns="0" rIns="0" bIns="0" rtlCol="0" anchor="t"/>
          <a:lstStyle/>
          <a:p>
            <a:pPr marL="0" indent="0" algn="l">
              <a:buNone/>
            </a:pPr>
            <a:r>
              <a:rPr lang="en-US" sz="1150" b="1" dirty="0">
                <a:solidFill>
                  <a:srgbClr val="1E293B"/>
                </a:solidFill>
                <a:latin typeface="Raleway" pitchFamily="34" charset="0"/>
                <a:ea typeface="Raleway" pitchFamily="34" charset="-122"/>
                <a:cs typeface="Raleway" pitchFamily="34" charset="-120"/>
              </a:rPr>
              <a:t>Professionals employed across India’s GCCs</a:t>
            </a:r>
            <a:endParaRPr lang="en-US" sz="1150" dirty="0"/>
          </a:p>
        </p:txBody>
      </p:sp>
      <p:sp>
        <p:nvSpPr>
          <p:cNvPr id="17" name="Shape 15"/>
          <p:cNvSpPr/>
          <p:nvPr/>
        </p:nvSpPr>
        <p:spPr>
          <a:xfrm>
            <a:off x="8143037" y="1536192"/>
            <a:ext cx="3545738" cy="1234440"/>
          </a:xfrm>
          <a:prstGeom prst="roundRect">
            <a:avLst>
              <a:gd name="adj" fmla="val 4444"/>
            </a:avLst>
          </a:prstGeom>
          <a:solidFill>
            <a:srgbClr val="F8FAFC"/>
          </a:solidFill>
          <a:ln w="12700">
            <a:solidFill>
              <a:srgbClr val="E2E8F0"/>
            </a:solidFill>
            <a:prstDash val="solid"/>
          </a:ln>
        </p:spPr>
        <p:txBody>
          <a:bodyPr/>
          <a:lstStyle/>
          <a:p>
            <a:endParaRPr lang="en-IN"/>
          </a:p>
        </p:txBody>
      </p:sp>
      <p:sp>
        <p:nvSpPr>
          <p:cNvPr id="18" name="Shape 16"/>
          <p:cNvSpPr/>
          <p:nvPr/>
        </p:nvSpPr>
        <p:spPr>
          <a:xfrm>
            <a:off x="8143037" y="1536192"/>
            <a:ext cx="41148" cy="1234440"/>
          </a:xfrm>
          <a:prstGeom prst="roundRect">
            <a:avLst>
              <a:gd name="adj" fmla="val 44444"/>
            </a:avLst>
          </a:prstGeom>
          <a:solidFill>
            <a:srgbClr val="D62839"/>
          </a:solidFill>
          <a:ln/>
        </p:spPr>
        <p:txBody>
          <a:bodyPr/>
          <a:lstStyle/>
          <a:p>
            <a:endParaRPr lang="en-IN"/>
          </a:p>
        </p:txBody>
      </p:sp>
      <p:sp>
        <p:nvSpPr>
          <p:cNvPr id="19" name="Text 17"/>
          <p:cNvSpPr/>
          <p:nvPr/>
        </p:nvSpPr>
        <p:spPr>
          <a:xfrm>
            <a:off x="8399069" y="1700784"/>
            <a:ext cx="3088538" cy="457200"/>
          </a:xfrm>
          <a:prstGeom prst="rect">
            <a:avLst/>
          </a:prstGeom>
          <a:noFill/>
          <a:ln/>
        </p:spPr>
        <p:txBody>
          <a:bodyPr wrap="square" lIns="0" tIns="0" rIns="0" bIns="0" rtlCol="0" anchor="ctr"/>
          <a:lstStyle/>
          <a:p>
            <a:pPr marL="0" indent="0" algn="l">
              <a:buNone/>
            </a:pPr>
            <a:r>
              <a:rPr lang="en-US" sz="3200" b="1" dirty="0">
                <a:solidFill>
                  <a:srgbClr val="D62839"/>
                </a:solidFill>
                <a:latin typeface="Oswald" pitchFamily="34" charset="0"/>
                <a:ea typeface="Oswald" pitchFamily="34" charset="-122"/>
                <a:cs typeface="Oswald" pitchFamily="34" charset="-120"/>
              </a:rPr>
              <a:t>~50%</a:t>
            </a:r>
            <a:endParaRPr lang="en-US" sz="3200" dirty="0"/>
          </a:p>
        </p:txBody>
      </p:sp>
      <p:sp>
        <p:nvSpPr>
          <p:cNvPr id="20" name="Text 18"/>
          <p:cNvSpPr/>
          <p:nvPr/>
        </p:nvSpPr>
        <p:spPr>
          <a:xfrm>
            <a:off x="8399069" y="2139696"/>
            <a:ext cx="3088538" cy="384048"/>
          </a:xfrm>
          <a:prstGeom prst="rect">
            <a:avLst/>
          </a:prstGeom>
          <a:noFill/>
          <a:ln/>
        </p:spPr>
        <p:txBody>
          <a:bodyPr wrap="square" lIns="0" tIns="0" rIns="0" bIns="0" rtlCol="0" anchor="t"/>
          <a:lstStyle/>
          <a:p>
            <a:pPr marL="0" indent="0" algn="l">
              <a:buNone/>
            </a:pPr>
            <a:r>
              <a:rPr lang="en-US" sz="1150" b="1" dirty="0">
                <a:solidFill>
                  <a:srgbClr val="1E293B"/>
                </a:solidFill>
                <a:latin typeface="Raleway" pitchFamily="34" charset="0"/>
                <a:ea typeface="Raleway" pitchFamily="34" charset="-122"/>
                <a:cs typeface="Raleway" pitchFamily="34" charset="-120"/>
              </a:rPr>
              <a:t>Of all new global GCCs now based in India</a:t>
            </a:r>
            <a:endParaRPr lang="en-US" sz="1150" dirty="0"/>
          </a:p>
        </p:txBody>
      </p:sp>
      <p:sp>
        <p:nvSpPr>
          <p:cNvPr id="21" name="Shape 19"/>
          <p:cNvSpPr/>
          <p:nvPr/>
        </p:nvSpPr>
        <p:spPr>
          <a:xfrm>
            <a:off x="502920" y="3017520"/>
            <a:ext cx="11185855" cy="1371600"/>
          </a:xfrm>
          <a:prstGeom prst="roundRect">
            <a:avLst>
              <a:gd name="adj" fmla="val 4000"/>
            </a:avLst>
          </a:prstGeom>
          <a:solidFill>
            <a:srgbClr val="111827"/>
          </a:solidFill>
          <a:ln w="12700">
            <a:solidFill>
              <a:srgbClr val="111827"/>
            </a:solidFill>
            <a:prstDash val="solid"/>
          </a:ln>
        </p:spPr>
        <p:txBody>
          <a:bodyPr/>
          <a:lstStyle/>
          <a:p>
            <a:endParaRPr lang="en-IN"/>
          </a:p>
        </p:txBody>
      </p:sp>
      <p:pic>
        <p:nvPicPr>
          <p:cNvPr id="22" name="Image 0" descr="/home/claude/work/assets/icons/building_white.png"/>
          <p:cNvPicPr>
            <a:picLocks noChangeAspect="1"/>
          </p:cNvPicPr>
          <p:nvPr/>
        </p:nvPicPr>
        <p:blipFill>
          <a:blip r:embed="rId3"/>
          <a:stretch>
            <a:fillRect/>
          </a:stretch>
        </p:blipFill>
        <p:spPr>
          <a:xfrm>
            <a:off x="795528" y="3337560"/>
            <a:ext cx="731520" cy="731520"/>
          </a:xfrm>
          <a:prstGeom prst="rect">
            <a:avLst/>
          </a:prstGeom>
        </p:spPr>
      </p:pic>
      <p:sp>
        <p:nvSpPr>
          <p:cNvPr id="23" name="Text 20"/>
          <p:cNvSpPr/>
          <p:nvPr/>
        </p:nvSpPr>
        <p:spPr>
          <a:xfrm>
            <a:off x="1737360" y="3182112"/>
            <a:ext cx="9631375" cy="1042416"/>
          </a:xfrm>
          <a:prstGeom prst="rect">
            <a:avLst/>
          </a:prstGeom>
          <a:noFill/>
          <a:ln/>
        </p:spPr>
        <p:txBody>
          <a:bodyPr wrap="square" lIns="0" tIns="0" rIns="0" bIns="0" rtlCol="0" anchor="ctr"/>
          <a:lstStyle/>
          <a:p>
            <a:pPr marL="0" indent="0" algn="l">
              <a:buNone/>
            </a:pPr>
            <a:r>
              <a:rPr lang="en-US" sz="1700" b="1" i="1" dirty="0">
                <a:solidFill>
                  <a:srgbClr val="FFFFFF"/>
                </a:solidFill>
                <a:latin typeface="Oswald" pitchFamily="34" charset="0"/>
                <a:ea typeface="Oswald" pitchFamily="34" charset="-122"/>
                <a:cs typeface="Oswald" pitchFamily="34" charset="-120"/>
              </a:rPr>
              <a:t>GCCs are no longer back-offices; they are now strategic hubs of transformation and innovation.</a:t>
            </a:r>
            <a:endParaRPr lang="en-US" sz="1700" dirty="0"/>
          </a:p>
        </p:txBody>
      </p:sp>
      <p:sp>
        <p:nvSpPr>
          <p:cNvPr id="24" name="Text 21"/>
          <p:cNvSpPr/>
          <p:nvPr/>
        </p:nvSpPr>
        <p:spPr>
          <a:xfrm>
            <a:off x="502920" y="4572000"/>
            <a:ext cx="3657600" cy="292608"/>
          </a:xfrm>
          <a:prstGeom prst="rect">
            <a:avLst/>
          </a:prstGeom>
          <a:noFill/>
          <a:ln/>
        </p:spPr>
        <p:txBody>
          <a:bodyPr wrap="square" lIns="0" tIns="0" rIns="0" bIns="0" rtlCol="0" anchor="ctr"/>
          <a:lstStyle/>
          <a:p>
            <a:pPr marL="0" indent="0">
              <a:buNone/>
            </a:pPr>
            <a:r>
              <a:rPr lang="en-US" sz="1300" b="1" dirty="0">
                <a:solidFill>
                  <a:srgbClr val="2A9D8F"/>
                </a:solidFill>
                <a:latin typeface="Roboto Condensed" pitchFamily="34" charset="0"/>
                <a:ea typeface="Roboto Condensed" pitchFamily="34" charset="-122"/>
                <a:cs typeface="Roboto Condensed" pitchFamily="34" charset="-120"/>
              </a:rPr>
              <a:t>TIER-2 STRATEGY</a:t>
            </a:r>
            <a:endParaRPr lang="en-US" sz="1300" dirty="0"/>
          </a:p>
        </p:txBody>
      </p:sp>
      <p:sp>
        <p:nvSpPr>
          <p:cNvPr id="25" name="Text 22"/>
          <p:cNvSpPr/>
          <p:nvPr/>
        </p:nvSpPr>
        <p:spPr>
          <a:xfrm>
            <a:off x="502920" y="4864608"/>
            <a:ext cx="11185855" cy="274320"/>
          </a:xfrm>
          <a:prstGeom prst="rect">
            <a:avLst/>
          </a:prstGeom>
          <a:noFill/>
          <a:ln/>
        </p:spPr>
        <p:txBody>
          <a:bodyPr wrap="square" lIns="0" tIns="0" rIns="0" bIns="0" rtlCol="0" anchor="ctr"/>
          <a:lstStyle/>
          <a:p>
            <a:pPr marL="0" indent="0">
              <a:buNone/>
            </a:pPr>
            <a:r>
              <a:rPr lang="en-US" sz="1150" dirty="0">
                <a:solidFill>
                  <a:srgbClr val="4B5563"/>
                </a:solidFill>
                <a:latin typeface="Raleway" pitchFamily="34" charset="0"/>
                <a:ea typeface="Raleway" pitchFamily="34" charset="-122"/>
                <a:cs typeface="Raleway" pitchFamily="34" charset="-120"/>
              </a:rPr>
              <a:t>Expansion into Tier-II/III cities is accelerating due to:</a:t>
            </a:r>
            <a:endParaRPr lang="en-US" sz="1150" dirty="0"/>
          </a:p>
        </p:txBody>
      </p:sp>
      <p:sp>
        <p:nvSpPr>
          <p:cNvPr id="26" name="Shape 23"/>
          <p:cNvSpPr/>
          <p:nvPr/>
        </p:nvSpPr>
        <p:spPr>
          <a:xfrm>
            <a:off x="502920" y="5193792"/>
            <a:ext cx="5455768" cy="914400"/>
          </a:xfrm>
          <a:prstGeom prst="roundRect">
            <a:avLst>
              <a:gd name="adj" fmla="val 6000"/>
            </a:avLst>
          </a:prstGeom>
          <a:solidFill>
            <a:srgbClr val="E9F5F3"/>
          </a:solidFill>
          <a:ln w="12700">
            <a:solidFill>
              <a:srgbClr val="2A9D8F"/>
            </a:solidFill>
            <a:prstDash val="solid"/>
          </a:ln>
        </p:spPr>
        <p:txBody>
          <a:bodyPr/>
          <a:lstStyle/>
          <a:p>
            <a:endParaRPr lang="en-IN"/>
          </a:p>
        </p:txBody>
      </p:sp>
      <p:pic>
        <p:nvPicPr>
          <p:cNvPr id="27" name="Image 1" descr="/home/claude/work/assets/icons/coins_teal.png"/>
          <p:cNvPicPr>
            <a:picLocks noChangeAspect="1"/>
          </p:cNvPicPr>
          <p:nvPr/>
        </p:nvPicPr>
        <p:blipFill>
          <a:blip r:embed="rId4"/>
          <a:stretch>
            <a:fillRect/>
          </a:stretch>
        </p:blipFill>
        <p:spPr>
          <a:xfrm>
            <a:off x="731520" y="5449824"/>
            <a:ext cx="411480" cy="411480"/>
          </a:xfrm>
          <a:prstGeom prst="rect">
            <a:avLst/>
          </a:prstGeom>
        </p:spPr>
      </p:pic>
      <p:sp>
        <p:nvSpPr>
          <p:cNvPr id="28" name="Text 24"/>
          <p:cNvSpPr/>
          <p:nvPr/>
        </p:nvSpPr>
        <p:spPr>
          <a:xfrm>
            <a:off x="1280160" y="5321808"/>
            <a:ext cx="4495648" cy="658368"/>
          </a:xfrm>
          <a:prstGeom prst="rect">
            <a:avLst/>
          </a:prstGeom>
          <a:noFill/>
          <a:ln/>
        </p:spPr>
        <p:txBody>
          <a:bodyPr wrap="square" lIns="0" tIns="0" rIns="0" bIns="0" rtlCol="0" anchor="ctr"/>
          <a:lstStyle/>
          <a:p>
            <a:pPr marL="0" indent="0">
              <a:lnSpc>
                <a:spcPct val="115000"/>
              </a:lnSpc>
              <a:buNone/>
            </a:pPr>
            <a:r>
              <a:rPr lang="en-US" sz="1300" b="1" dirty="0">
                <a:solidFill>
                  <a:srgbClr val="111827"/>
                </a:solidFill>
                <a:latin typeface="Raleway" pitchFamily="34" charset="0"/>
                <a:ea typeface="Raleway" pitchFamily="34" charset="-122"/>
                <a:cs typeface="Raleway" pitchFamily="34" charset="-120"/>
              </a:rPr>
              <a:t>Cost Efficiencies
</a:t>
            </a:r>
            <a:r>
              <a:rPr lang="en-US" sz="1050" dirty="0">
                <a:solidFill>
                  <a:srgbClr val="4B5563"/>
                </a:solidFill>
                <a:latin typeface="Raleway" pitchFamily="34" charset="0"/>
                <a:ea typeface="Raleway" pitchFamily="34" charset="-122"/>
                <a:cs typeface="Raleway" pitchFamily="34" charset="-120"/>
              </a:rPr>
              <a:t>Driving smarter growth through optimized operational costs.</a:t>
            </a:r>
            <a:endParaRPr lang="en-US" sz="1300" dirty="0"/>
          </a:p>
        </p:txBody>
      </p:sp>
      <p:sp>
        <p:nvSpPr>
          <p:cNvPr id="29" name="Shape 25"/>
          <p:cNvSpPr/>
          <p:nvPr/>
        </p:nvSpPr>
        <p:spPr>
          <a:xfrm>
            <a:off x="6233008" y="5193792"/>
            <a:ext cx="5455768" cy="914400"/>
          </a:xfrm>
          <a:prstGeom prst="roundRect">
            <a:avLst>
              <a:gd name="adj" fmla="val 6000"/>
            </a:avLst>
          </a:prstGeom>
          <a:solidFill>
            <a:srgbClr val="FCEBED"/>
          </a:solidFill>
          <a:ln w="12700">
            <a:solidFill>
              <a:srgbClr val="D62839"/>
            </a:solidFill>
            <a:prstDash val="solid"/>
          </a:ln>
        </p:spPr>
        <p:txBody>
          <a:bodyPr/>
          <a:lstStyle/>
          <a:p>
            <a:endParaRPr lang="en-IN"/>
          </a:p>
        </p:txBody>
      </p:sp>
      <p:pic>
        <p:nvPicPr>
          <p:cNvPr id="30" name="Image 2" descr="/home/claude/work/assets/icons/users_red.png"/>
          <p:cNvPicPr>
            <a:picLocks noChangeAspect="1"/>
          </p:cNvPicPr>
          <p:nvPr/>
        </p:nvPicPr>
        <p:blipFill>
          <a:blip r:embed="rId5"/>
          <a:stretch>
            <a:fillRect/>
          </a:stretch>
        </p:blipFill>
        <p:spPr>
          <a:xfrm>
            <a:off x="6461608" y="5449824"/>
            <a:ext cx="411480" cy="411480"/>
          </a:xfrm>
          <a:prstGeom prst="rect">
            <a:avLst/>
          </a:prstGeom>
        </p:spPr>
      </p:pic>
      <p:sp>
        <p:nvSpPr>
          <p:cNvPr id="31" name="Text 26"/>
          <p:cNvSpPr/>
          <p:nvPr/>
        </p:nvSpPr>
        <p:spPr>
          <a:xfrm>
            <a:off x="7010248" y="5321808"/>
            <a:ext cx="4495648" cy="658368"/>
          </a:xfrm>
          <a:prstGeom prst="rect">
            <a:avLst/>
          </a:prstGeom>
          <a:noFill/>
          <a:ln/>
        </p:spPr>
        <p:txBody>
          <a:bodyPr wrap="square" lIns="0" tIns="0" rIns="0" bIns="0" rtlCol="0" anchor="ctr"/>
          <a:lstStyle/>
          <a:p>
            <a:pPr marL="0" indent="0">
              <a:lnSpc>
                <a:spcPct val="115000"/>
              </a:lnSpc>
              <a:buNone/>
            </a:pPr>
            <a:r>
              <a:rPr lang="en-US" sz="1300" b="1" dirty="0">
                <a:solidFill>
                  <a:srgbClr val="111827"/>
                </a:solidFill>
                <a:latin typeface="Raleway" pitchFamily="34" charset="0"/>
                <a:ea typeface="Raleway" pitchFamily="34" charset="-122"/>
                <a:cs typeface="Raleway" pitchFamily="34" charset="-120"/>
              </a:rPr>
              <a:t>Deep Local Talent Pools
</a:t>
            </a:r>
            <a:r>
              <a:rPr lang="en-US" sz="1050" dirty="0">
                <a:solidFill>
                  <a:srgbClr val="4B5563"/>
                </a:solidFill>
                <a:latin typeface="Raleway" pitchFamily="34" charset="0"/>
                <a:ea typeface="Raleway" pitchFamily="34" charset="-122"/>
                <a:cs typeface="Raleway" pitchFamily="34" charset="-120"/>
              </a:rPr>
              <a:t>Strong local workforce that is ready to scale.</a:t>
            </a:r>
            <a:endParaRPr lang="en-US" sz="1300" dirty="0"/>
          </a:p>
        </p:txBody>
      </p:sp>
      <p:sp>
        <p:nvSpPr>
          <p:cNvPr id="32" name="Text 27"/>
          <p:cNvSpPr/>
          <p:nvPr/>
        </p:nvSpPr>
        <p:spPr>
          <a:xfrm>
            <a:off x="502920" y="6263640"/>
            <a:ext cx="11185855" cy="320040"/>
          </a:xfrm>
          <a:prstGeom prst="rect">
            <a:avLst/>
          </a:prstGeom>
          <a:noFill/>
          <a:ln/>
        </p:spPr>
        <p:txBody>
          <a:bodyPr wrap="square" lIns="0" tIns="0" rIns="0" bIns="0" rtlCol="0" anchor="ctr"/>
          <a:lstStyle/>
          <a:p>
            <a:pPr marL="0" indent="0" algn="l">
              <a:buNone/>
            </a:pPr>
            <a:r>
              <a:rPr lang="en-US" sz="1050" i="1" dirty="0">
                <a:solidFill>
                  <a:srgbClr val="4B5563"/>
                </a:solidFill>
                <a:latin typeface="Raleway" pitchFamily="34" charset="0"/>
                <a:ea typeface="Raleway" pitchFamily="34" charset="-122"/>
                <a:cs typeface="Raleway" pitchFamily="34" charset="-120"/>
              </a:rPr>
              <a:t>India’s GCC market is projected to reach $105B in value by 2030, positioning it as the core hub for companies seeking scale, innovation, and value creation.</a:t>
            </a:r>
            <a:endParaRPr lang="en-US" sz="1050" dirty="0"/>
          </a:p>
        </p:txBody>
      </p:sp>
      <p:sp>
        <p:nvSpPr>
          <p:cNvPr id="33" name="Text 28"/>
          <p:cNvSpPr/>
          <p:nvPr/>
        </p:nvSpPr>
        <p:spPr>
          <a:xfrm>
            <a:off x="502920" y="6547104"/>
            <a:ext cx="2743200" cy="201168"/>
          </a:xfrm>
          <a:prstGeom prst="rect">
            <a:avLst/>
          </a:prstGeom>
          <a:noFill/>
          <a:ln/>
        </p:spPr>
        <p:txBody>
          <a:bodyPr wrap="square" lIns="0" tIns="0" rIns="0" bIns="0" rtlCol="0" anchor="ctr"/>
          <a:lstStyle/>
          <a:p>
            <a:pPr marL="0" indent="0" algn="l">
              <a:buNone/>
            </a:pPr>
            <a:r>
              <a:rPr lang="en-US" sz="800" kern="0" spc="100" dirty="0">
                <a:solidFill>
                  <a:srgbClr val="A1A1AA"/>
                </a:solidFill>
                <a:latin typeface="Roboto Condensed" pitchFamily="34" charset="0"/>
                <a:ea typeface="Roboto Condensed" pitchFamily="34" charset="-122"/>
                <a:cs typeface="Roboto Condensed" pitchFamily="34" charset="-120"/>
              </a:rPr>
              <a:t>JOULESTOWATTS</a:t>
            </a:r>
            <a:endParaRPr lang="en-US" sz="800" dirty="0"/>
          </a:p>
        </p:txBody>
      </p:sp>
      <p:sp>
        <p:nvSpPr>
          <p:cNvPr id="34" name="Text 29"/>
          <p:cNvSpPr/>
          <p:nvPr/>
        </p:nvSpPr>
        <p:spPr>
          <a:xfrm>
            <a:off x="11140135" y="6547104"/>
            <a:ext cx="548640" cy="201168"/>
          </a:xfrm>
          <a:prstGeom prst="rect">
            <a:avLst/>
          </a:prstGeom>
          <a:noFill/>
          <a:ln/>
        </p:spPr>
        <p:txBody>
          <a:bodyPr wrap="square" lIns="0" tIns="0" rIns="0" bIns="0" rtlCol="0" anchor="ctr"/>
          <a:lstStyle/>
          <a:p>
            <a:pPr marL="0" indent="0" algn="r">
              <a:buNone/>
            </a:pPr>
            <a:r>
              <a:rPr lang="en-US" sz="800" dirty="0">
                <a:solidFill>
                  <a:srgbClr val="A1A1AA"/>
                </a:solidFill>
                <a:latin typeface="Roboto Condensed" pitchFamily="34" charset="0"/>
                <a:ea typeface="Roboto Condensed" pitchFamily="34" charset="-122"/>
                <a:cs typeface="Roboto Condensed" pitchFamily="34" charset="-120"/>
              </a:rPr>
              <a:t>2</a:t>
            </a:r>
            <a:endParaRPr lang="en-US" sz="800" dirty="0"/>
          </a:p>
        </p:txBody>
      </p:sp>
      <p:pic>
        <p:nvPicPr>
          <p:cNvPr id="36" name="Image 3" descr="gen-dedup-777bf757d895431cabe402fcd34ebd5a.png">
            <a:extLst>
              <a:ext uri="{FF2B5EF4-FFF2-40B4-BE49-F238E27FC236}">
                <a16:creationId xmlns:a16="http://schemas.microsoft.com/office/drawing/2014/main" id="{936D7C35-8782-3782-19CB-95B332D0D057}"/>
              </a:ext>
            </a:extLst>
          </p:cNvPr>
          <p:cNvPicPr>
            <a:picLocks noChangeAspect="1"/>
          </p:cNvPicPr>
          <p:nvPr/>
        </p:nvPicPr>
        <p:blipFill>
          <a:blip r:embed="rId6">
            <a:biLevel thresh="75000"/>
          </a:blip>
          <a:srcRect l="-384" r="-384"/>
          <a:stretch/>
        </p:blipFill>
        <p:spPr>
          <a:xfrm>
            <a:off x="571500" y="381305"/>
            <a:ext cx="57607" cy="476402"/>
          </a:xfrm>
          <a:prstGeom prst="rect">
            <a:avLst/>
          </a:prstGeom>
        </p:spPr>
      </p:pic>
      <p:sp>
        <p:nvSpPr>
          <p:cNvPr id="38" name="Text 5">
            <a:extLst>
              <a:ext uri="{FF2B5EF4-FFF2-40B4-BE49-F238E27FC236}">
                <a16:creationId xmlns:a16="http://schemas.microsoft.com/office/drawing/2014/main" id="{4843B97B-AE23-B7D5-329F-79819B550528}"/>
              </a:ext>
            </a:extLst>
          </p:cNvPr>
          <p:cNvSpPr txBox="1"/>
          <p:nvPr/>
        </p:nvSpPr>
        <p:spPr>
          <a:xfrm>
            <a:off x="780897" y="333756"/>
            <a:ext cx="5913817" cy="406908"/>
          </a:xfrm>
          <a:prstGeom prst="rect">
            <a:avLst/>
          </a:prstGeom>
          <a:noFill/>
          <a:ln/>
        </p:spPr>
        <p:txBody>
          <a:bodyPr wrap="none" lIns="0" tIns="0" rIns="0" bIns="0" rtlCol="0" anchor="ctr"/>
          <a:lstStyle/>
          <a:p>
            <a:r>
              <a:rPr lang="en-GB" sz="2400" b="1" kern="0" spc="-67" dirty="0">
                <a:solidFill>
                  <a:srgbClr val="111827"/>
                </a:solidFill>
                <a:latin typeface="Oswald" pitchFamily="34" charset="0"/>
                <a:ea typeface="Oswald" pitchFamily="34" charset="-122"/>
                <a:cs typeface="Oswald" pitchFamily="34" charset="-120"/>
              </a:rPr>
              <a:t>GLOBAL GCC LANDSCAPE</a:t>
            </a:r>
          </a:p>
        </p:txBody>
      </p:sp>
      <p:sp>
        <p:nvSpPr>
          <p:cNvPr id="40" name="Text 6">
            <a:extLst>
              <a:ext uri="{FF2B5EF4-FFF2-40B4-BE49-F238E27FC236}">
                <a16:creationId xmlns:a16="http://schemas.microsoft.com/office/drawing/2014/main" id="{995978DE-E6B9-24A9-FD41-C5B3AEE0E6A9}"/>
              </a:ext>
            </a:extLst>
          </p:cNvPr>
          <p:cNvSpPr txBox="1"/>
          <p:nvPr/>
        </p:nvSpPr>
        <p:spPr>
          <a:xfrm>
            <a:off x="780898" y="740663"/>
            <a:ext cx="5054803" cy="257861"/>
          </a:xfrm>
          <a:prstGeom prst="rect">
            <a:avLst/>
          </a:prstGeom>
          <a:noFill/>
          <a:ln/>
        </p:spPr>
        <p:txBody>
          <a:bodyPr wrap="none" lIns="0" tIns="0" rIns="0" bIns="0" rtlCol="0" anchor="ctr"/>
          <a:lstStyle/>
          <a:p>
            <a:pPr marL="0" indent="0" algn="l">
              <a:buNone/>
            </a:pPr>
            <a:r>
              <a:rPr lang="en-GB" sz="1500" b="1" kern="0" spc="66" dirty="0">
                <a:solidFill>
                  <a:srgbClr val="2A9D8F"/>
                </a:solidFill>
                <a:latin typeface="Roboto Condensed" pitchFamily="34" charset="0"/>
                <a:ea typeface="Roboto Condensed" pitchFamily="34" charset="-122"/>
                <a:cs typeface="Roboto Condensed" pitchFamily="34" charset="-120"/>
              </a:rPr>
              <a:t>India – The World’s GCC Growth Engine</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8123327" cy="75895"/>
          </a:xfrm>
          <a:prstGeom prst="rect">
            <a:avLst/>
          </a:prstGeom>
          <a:solidFill>
            <a:srgbClr val="2A9D8F"/>
          </a:solidFill>
          <a:ln/>
        </p:spPr>
        <p:txBody>
          <a:bodyPr/>
          <a:lstStyle/>
          <a:p>
            <a:endParaRPr lang="en-IN"/>
          </a:p>
        </p:txBody>
      </p:sp>
      <p:sp>
        <p:nvSpPr>
          <p:cNvPr id="3" name="Shape 1"/>
          <p:cNvSpPr/>
          <p:nvPr/>
        </p:nvSpPr>
        <p:spPr>
          <a:xfrm>
            <a:off x="8123327" y="0"/>
            <a:ext cx="4068369" cy="75895"/>
          </a:xfrm>
          <a:prstGeom prst="rect">
            <a:avLst/>
          </a:prstGeom>
          <a:solidFill>
            <a:srgbClr val="D62839"/>
          </a:solidFill>
          <a:ln/>
        </p:spPr>
        <p:txBody>
          <a:bodyPr/>
          <a:lstStyle/>
          <a:p>
            <a:endParaRPr lang="en-IN"/>
          </a:p>
        </p:txBody>
      </p:sp>
      <p:sp>
        <p:nvSpPr>
          <p:cNvPr id="4" name="Shape 2"/>
          <p:cNvSpPr/>
          <p:nvPr/>
        </p:nvSpPr>
        <p:spPr>
          <a:xfrm>
            <a:off x="9265615" y="-1463040"/>
            <a:ext cx="3840480" cy="3840480"/>
          </a:xfrm>
          <a:prstGeom prst="ellipse">
            <a:avLst/>
          </a:prstGeom>
          <a:solidFill>
            <a:srgbClr val="2A9D8F">
              <a:alpha val="4000"/>
            </a:srgbClr>
          </a:solidFill>
          <a:ln/>
        </p:spPr>
        <p:txBody>
          <a:bodyPr/>
          <a:lstStyle/>
          <a:p>
            <a:endParaRPr lang="en-IN"/>
          </a:p>
        </p:txBody>
      </p:sp>
      <p:sp>
        <p:nvSpPr>
          <p:cNvPr id="5" name="Shape 3"/>
          <p:cNvSpPr/>
          <p:nvPr/>
        </p:nvSpPr>
        <p:spPr>
          <a:xfrm>
            <a:off x="502920" y="329184"/>
            <a:ext cx="54864" cy="310896"/>
          </a:xfrm>
          <a:prstGeom prst="rect">
            <a:avLst/>
          </a:prstGeom>
          <a:solidFill>
            <a:srgbClr val="111827"/>
          </a:solidFill>
          <a:ln/>
        </p:spPr>
        <p:txBody>
          <a:bodyPr/>
          <a:lstStyle/>
          <a:p>
            <a:endParaRPr lang="en-IN"/>
          </a:p>
        </p:txBody>
      </p:sp>
      <p:sp>
        <p:nvSpPr>
          <p:cNvPr id="6" name="Text 4"/>
          <p:cNvSpPr/>
          <p:nvPr/>
        </p:nvSpPr>
        <p:spPr>
          <a:xfrm>
            <a:off x="667512" y="265176"/>
            <a:ext cx="11021263" cy="384048"/>
          </a:xfrm>
          <a:prstGeom prst="rect">
            <a:avLst/>
          </a:prstGeom>
          <a:noFill/>
          <a:ln/>
        </p:spPr>
        <p:txBody>
          <a:bodyPr wrap="square" lIns="0" tIns="0" rIns="0" bIns="0" rtlCol="0" anchor="ctr"/>
          <a:lstStyle/>
          <a:p>
            <a:pPr marL="0" indent="0" algn="l">
              <a:buNone/>
            </a:pPr>
            <a:r>
              <a:rPr lang="en-US" sz="2200" b="1" dirty="0">
                <a:solidFill>
                  <a:srgbClr val="111827"/>
                </a:solidFill>
                <a:latin typeface="Oswald" pitchFamily="34" charset="0"/>
                <a:ea typeface="Oswald" pitchFamily="34" charset="-122"/>
                <a:cs typeface="Oswald" pitchFamily="34" charset="-120"/>
              </a:rPr>
              <a:t>JOULESTOWATTS: INDIA’S NO.1 GCC SOLUTIONS PROVIDER</a:t>
            </a:r>
            <a:endParaRPr lang="en-US" sz="2200" dirty="0"/>
          </a:p>
        </p:txBody>
      </p:sp>
      <p:sp>
        <p:nvSpPr>
          <p:cNvPr id="7" name="Text 5"/>
          <p:cNvSpPr/>
          <p:nvPr/>
        </p:nvSpPr>
        <p:spPr>
          <a:xfrm>
            <a:off x="667512" y="658368"/>
            <a:ext cx="11021263" cy="237744"/>
          </a:xfrm>
          <a:prstGeom prst="rect">
            <a:avLst/>
          </a:prstGeom>
          <a:noFill/>
          <a:ln/>
        </p:spPr>
        <p:txBody>
          <a:bodyPr wrap="square" lIns="0" tIns="0" rIns="0" bIns="0" rtlCol="0" anchor="ctr"/>
          <a:lstStyle/>
          <a:p>
            <a:pPr marL="0" indent="0" algn="l">
              <a:buNone/>
            </a:pPr>
            <a:r>
              <a:rPr lang="en-US" sz="1250" b="1" dirty="0">
                <a:solidFill>
                  <a:srgbClr val="2A9D8F"/>
                </a:solidFill>
                <a:latin typeface="Roboto Condensed" pitchFamily="34" charset="0"/>
                <a:ea typeface="Roboto Condensed" pitchFamily="34" charset="-122"/>
                <a:cs typeface="Roboto Condensed" pitchFamily="34" charset="-120"/>
              </a:rPr>
              <a:t>1st-of-its-kind, powered by 4 proprietary in-house IP platforms</a:t>
            </a:r>
            <a:endParaRPr lang="en-US" sz="1250" dirty="0"/>
          </a:p>
        </p:txBody>
      </p:sp>
      <p:sp>
        <p:nvSpPr>
          <p:cNvPr id="8" name="Shape 6"/>
          <p:cNvSpPr/>
          <p:nvPr/>
        </p:nvSpPr>
        <p:spPr>
          <a:xfrm>
            <a:off x="502920" y="1051560"/>
            <a:ext cx="2331720" cy="1417320"/>
          </a:xfrm>
          <a:prstGeom prst="roundRect">
            <a:avLst>
              <a:gd name="adj" fmla="val 3871"/>
            </a:avLst>
          </a:prstGeom>
          <a:solidFill>
            <a:srgbClr val="111827"/>
          </a:solidFill>
          <a:ln w="12700">
            <a:solidFill>
              <a:srgbClr val="111827"/>
            </a:solidFill>
            <a:prstDash val="solid"/>
          </a:ln>
        </p:spPr>
        <p:txBody>
          <a:bodyPr/>
          <a:lstStyle/>
          <a:p>
            <a:endParaRPr lang="en-IN"/>
          </a:p>
        </p:txBody>
      </p:sp>
      <p:sp>
        <p:nvSpPr>
          <p:cNvPr id="9" name="Text 7"/>
          <p:cNvSpPr/>
          <p:nvPr/>
        </p:nvSpPr>
        <p:spPr>
          <a:xfrm>
            <a:off x="685800" y="1188720"/>
            <a:ext cx="1965960" cy="548640"/>
          </a:xfrm>
          <a:prstGeom prst="rect">
            <a:avLst/>
          </a:prstGeom>
          <a:noFill/>
          <a:ln/>
        </p:spPr>
        <p:txBody>
          <a:bodyPr wrap="square" lIns="0" tIns="0" rIns="0" bIns="0" rtlCol="0" anchor="ctr"/>
          <a:lstStyle/>
          <a:p>
            <a:pPr marL="0" indent="0">
              <a:buNone/>
            </a:pPr>
            <a:r>
              <a:rPr lang="en-US" sz="3400" b="1" dirty="0">
                <a:solidFill>
                  <a:srgbClr val="FFFFFF"/>
                </a:solidFill>
                <a:latin typeface="Oswald" pitchFamily="34" charset="0"/>
                <a:ea typeface="Oswald" pitchFamily="34" charset="-122"/>
                <a:cs typeface="Oswald" pitchFamily="34" charset="-120"/>
              </a:rPr>
              <a:t>No.1</a:t>
            </a:r>
            <a:endParaRPr lang="en-US" sz="3400" dirty="0"/>
          </a:p>
        </p:txBody>
      </p:sp>
      <p:sp>
        <p:nvSpPr>
          <p:cNvPr id="10" name="Text 8"/>
          <p:cNvSpPr/>
          <p:nvPr/>
        </p:nvSpPr>
        <p:spPr>
          <a:xfrm>
            <a:off x="685800" y="1783080"/>
            <a:ext cx="1965960" cy="621792"/>
          </a:xfrm>
          <a:prstGeom prst="rect">
            <a:avLst/>
          </a:prstGeom>
          <a:noFill/>
          <a:ln/>
        </p:spPr>
        <p:txBody>
          <a:bodyPr wrap="square" lIns="0" tIns="0" rIns="0" bIns="0" rtlCol="0" anchor="ctr"/>
          <a:lstStyle/>
          <a:p>
            <a:pPr marL="0" indent="0">
              <a:lnSpc>
                <a:spcPct val="110000"/>
              </a:lnSpc>
              <a:buNone/>
            </a:pPr>
            <a:r>
              <a:rPr lang="en-US" sz="1100" dirty="0">
                <a:solidFill>
                  <a:srgbClr val="D1D5DB"/>
                </a:solidFill>
                <a:latin typeface="Raleway" pitchFamily="34" charset="0"/>
                <a:ea typeface="Raleway" pitchFamily="34" charset="-122"/>
                <a:cs typeface="Raleway" pitchFamily="34" charset="-120"/>
              </a:rPr>
              <a:t>India’s largest GCC Solutions Provider</a:t>
            </a:r>
            <a:endParaRPr lang="en-US" sz="1100" dirty="0"/>
          </a:p>
        </p:txBody>
      </p:sp>
      <p:sp>
        <p:nvSpPr>
          <p:cNvPr id="11" name="Shape 9"/>
          <p:cNvSpPr/>
          <p:nvPr/>
        </p:nvSpPr>
        <p:spPr>
          <a:xfrm>
            <a:off x="3063240" y="1051560"/>
            <a:ext cx="2005508" cy="1417320"/>
          </a:xfrm>
          <a:prstGeom prst="roundRect">
            <a:avLst>
              <a:gd name="adj" fmla="val 3871"/>
            </a:avLst>
          </a:prstGeom>
          <a:solidFill>
            <a:srgbClr val="F8FAFC"/>
          </a:solidFill>
          <a:ln w="12700">
            <a:solidFill>
              <a:srgbClr val="E2E8F0"/>
            </a:solidFill>
            <a:prstDash val="solid"/>
          </a:ln>
        </p:spPr>
        <p:txBody>
          <a:bodyPr/>
          <a:lstStyle/>
          <a:p>
            <a:endParaRPr lang="en-IN"/>
          </a:p>
        </p:txBody>
      </p:sp>
      <p:sp>
        <p:nvSpPr>
          <p:cNvPr id="12" name="Shape 10"/>
          <p:cNvSpPr/>
          <p:nvPr/>
        </p:nvSpPr>
        <p:spPr>
          <a:xfrm>
            <a:off x="3063240" y="1051560"/>
            <a:ext cx="41148" cy="1417320"/>
          </a:xfrm>
          <a:prstGeom prst="roundRect">
            <a:avLst>
              <a:gd name="adj" fmla="val 44444"/>
            </a:avLst>
          </a:prstGeom>
          <a:solidFill>
            <a:srgbClr val="2A9D8F"/>
          </a:solidFill>
          <a:ln/>
        </p:spPr>
        <p:txBody>
          <a:bodyPr/>
          <a:lstStyle/>
          <a:p>
            <a:endParaRPr lang="en-IN"/>
          </a:p>
        </p:txBody>
      </p:sp>
      <p:sp>
        <p:nvSpPr>
          <p:cNvPr id="13" name="Text 11"/>
          <p:cNvSpPr/>
          <p:nvPr/>
        </p:nvSpPr>
        <p:spPr>
          <a:xfrm>
            <a:off x="3264408" y="1307592"/>
            <a:ext cx="1639748" cy="457200"/>
          </a:xfrm>
          <a:prstGeom prst="rect">
            <a:avLst/>
          </a:prstGeom>
          <a:noFill/>
          <a:ln/>
        </p:spPr>
        <p:txBody>
          <a:bodyPr wrap="square" lIns="0" tIns="0" rIns="0" bIns="0" rtlCol="0" anchor="ctr"/>
          <a:lstStyle/>
          <a:p>
            <a:pPr marL="0" indent="0" algn="l">
              <a:buNone/>
            </a:pPr>
            <a:r>
              <a:rPr lang="en-US" sz="2200" b="1" dirty="0">
                <a:solidFill>
                  <a:srgbClr val="2A9D8F"/>
                </a:solidFill>
                <a:latin typeface="Oswald" pitchFamily="34" charset="0"/>
                <a:ea typeface="Oswald" pitchFamily="34" charset="-122"/>
                <a:cs typeface="Oswald" pitchFamily="34" charset="-120"/>
              </a:rPr>
              <a:t>5,800+</a:t>
            </a:r>
            <a:endParaRPr lang="en-US" sz="2200" dirty="0"/>
          </a:p>
        </p:txBody>
      </p:sp>
      <p:sp>
        <p:nvSpPr>
          <p:cNvPr id="14" name="Text 12"/>
          <p:cNvSpPr/>
          <p:nvPr/>
        </p:nvSpPr>
        <p:spPr>
          <a:xfrm>
            <a:off x="3264408" y="1746504"/>
            <a:ext cx="1639748" cy="384048"/>
          </a:xfrm>
          <a:prstGeom prst="rect">
            <a:avLst/>
          </a:prstGeom>
          <a:noFill/>
          <a:ln/>
        </p:spPr>
        <p:txBody>
          <a:bodyPr wrap="square" lIns="0" tIns="0" rIns="0" bIns="0" rtlCol="0" anchor="t"/>
          <a:lstStyle/>
          <a:p>
            <a:pPr marL="0" indent="0" algn="l">
              <a:buNone/>
            </a:pPr>
            <a:r>
              <a:rPr lang="en-US" sz="1000" b="1" dirty="0">
                <a:solidFill>
                  <a:srgbClr val="1E293B"/>
                </a:solidFill>
                <a:latin typeface="Raleway" pitchFamily="34" charset="0"/>
                <a:ea typeface="Raleway" pitchFamily="34" charset="-122"/>
                <a:cs typeface="Raleway" pitchFamily="34" charset="-120"/>
              </a:rPr>
              <a:t>Industry &amp; tech experts</a:t>
            </a:r>
            <a:endParaRPr lang="en-US" sz="1000" dirty="0"/>
          </a:p>
        </p:txBody>
      </p:sp>
      <p:sp>
        <p:nvSpPr>
          <p:cNvPr id="15" name="Shape 13"/>
          <p:cNvSpPr/>
          <p:nvPr/>
        </p:nvSpPr>
        <p:spPr>
          <a:xfrm>
            <a:off x="5269916" y="1051560"/>
            <a:ext cx="2005508" cy="1417320"/>
          </a:xfrm>
          <a:prstGeom prst="roundRect">
            <a:avLst>
              <a:gd name="adj" fmla="val 3871"/>
            </a:avLst>
          </a:prstGeom>
          <a:solidFill>
            <a:srgbClr val="F8FAFC"/>
          </a:solidFill>
          <a:ln w="12700">
            <a:solidFill>
              <a:srgbClr val="E2E8F0"/>
            </a:solidFill>
            <a:prstDash val="solid"/>
          </a:ln>
        </p:spPr>
        <p:txBody>
          <a:bodyPr/>
          <a:lstStyle/>
          <a:p>
            <a:endParaRPr lang="en-IN"/>
          </a:p>
        </p:txBody>
      </p:sp>
      <p:sp>
        <p:nvSpPr>
          <p:cNvPr id="16" name="Shape 14"/>
          <p:cNvSpPr/>
          <p:nvPr/>
        </p:nvSpPr>
        <p:spPr>
          <a:xfrm>
            <a:off x="5269916" y="1051560"/>
            <a:ext cx="41148" cy="1417320"/>
          </a:xfrm>
          <a:prstGeom prst="roundRect">
            <a:avLst>
              <a:gd name="adj" fmla="val 44444"/>
            </a:avLst>
          </a:prstGeom>
          <a:solidFill>
            <a:srgbClr val="D62839"/>
          </a:solidFill>
          <a:ln/>
        </p:spPr>
        <p:txBody>
          <a:bodyPr/>
          <a:lstStyle/>
          <a:p>
            <a:endParaRPr lang="en-IN"/>
          </a:p>
        </p:txBody>
      </p:sp>
      <p:sp>
        <p:nvSpPr>
          <p:cNvPr id="17" name="Text 15"/>
          <p:cNvSpPr/>
          <p:nvPr/>
        </p:nvSpPr>
        <p:spPr>
          <a:xfrm>
            <a:off x="5471084" y="1307592"/>
            <a:ext cx="1639748" cy="457200"/>
          </a:xfrm>
          <a:prstGeom prst="rect">
            <a:avLst/>
          </a:prstGeom>
          <a:noFill/>
          <a:ln/>
        </p:spPr>
        <p:txBody>
          <a:bodyPr wrap="square" lIns="0" tIns="0" rIns="0" bIns="0" rtlCol="0" anchor="ctr"/>
          <a:lstStyle/>
          <a:p>
            <a:pPr marL="0" indent="0" algn="l">
              <a:buNone/>
            </a:pPr>
            <a:r>
              <a:rPr lang="en-US" sz="2200" b="1" dirty="0">
                <a:solidFill>
                  <a:srgbClr val="D62839"/>
                </a:solidFill>
                <a:latin typeface="Oswald" pitchFamily="34" charset="0"/>
                <a:ea typeface="Oswald" pitchFamily="34" charset="-122"/>
                <a:cs typeface="Oswald" pitchFamily="34" charset="-120"/>
              </a:rPr>
              <a:t>330+</a:t>
            </a:r>
            <a:endParaRPr lang="en-US" sz="2200" dirty="0"/>
          </a:p>
        </p:txBody>
      </p:sp>
      <p:sp>
        <p:nvSpPr>
          <p:cNvPr id="18" name="Text 16"/>
          <p:cNvSpPr/>
          <p:nvPr/>
        </p:nvSpPr>
        <p:spPr>
          <a:xfrm>
            <a:off x="5471084" y="1746504"/>
            <a:ext cx="1639748" cy="384048"/>
          </a:xfrm>
          <a:prstGeom prst="rect">
            <a:avLst/>
          </a:prstGeom>
          <a:noFill/>
          <a:ln/>
        </p:spPr>
        <p:txBody>
          <a:bodyPr wrap="square" lIns="0" tIns="0" rIns="0" bIns="0" rtlCol="0" anchor="t"/>
          <a:lstStyle/>
          <a:p>
            <a:pPr marL="0" indent="0" algn="l">
              <a:buNone/>
            </a:pPr>
            <a:r>
              <a:rPr lang="en-US" sz="1000" b="1" dirty="0">
                <a:solidFill>
                  <a:srgbClr val="1E293B"/>
                </a:solidFill>
                <a:latin typeface="Raleway" pitchFamily="34" charset="0"/>
                <a:ea typeface="Raleway" pitchFamily="34" charset="-122"/>
                <a:cs typeface="Raleway" pitchFamily="34" charset="-120"/>
              </a:rPr>
              <a:t>Clients, 75% GCCs across all stages</a:t>
            </a:r>
            <a:endParaRPr lang="en-US" sz="1000" dirty="0"/>
          </a:p>
        </p:txBody>
      </p:sp>
      <p:sp>
        <p:nvSpPr>
          <p:cNvPr id="19" name="Shape 17"/>
          <p:cNvSpPr/>
          <p:nvPr/>
        </p:nvSpPr>
        <p:spPr>
          <a:xfrm>
            <a:off x="7476592" y="1051560"/>
            <a:ext cx="2005508" cy="1417320"/>
          </a:xfrm>
          <a:prstGeom prst="roundRect">
            <a:avLst>
              <a:gd name="adj" fmla="val 3871"/>
            </a:avLst>
          </a:prstGeom>
          <a:solidFill>
            <a:srgbClr val="F8FAFC"/>
          </a:solidFill>
          <a:ln w="12700">
            <a:solidFill>
              <a:srgbClr val="E2E8F0"/>
            </a:solidFill>
            <a:prstDash val="solid"/>
          </a:ln>
        </p:spPr>
        <p:txBody>
          <a:bodyPr/>
          <a:lstStyle/>
          <a:p>
            <a:endParaRPr lang="en-IN"/>
          </a:p>
        </p:txBody>
      </p:sp>
      <p:sp>
        <p:nvSpPr>
          <p:cNvPr id="20" name="Shape 18"/>
          <p:cNvSpPr/>
          <p:nvPr/>
        </p:nvSpPr>
        <p:spPr>
          <a:xfrm>
            <a:off x="7476592" y="1051560"/>
            <a:ext cx="41148" cy="1417320"/>
          </a:xfrm>
          <a:prstGeom prst="roundRect">
            <a:avLst>
              <a:gd name="adj" fmla="val 44444"/>
            </a:avLst>
          </a:prstGeom>
          <a:solidFill>
            <a:srgbClr val="2A9D8F"/>
          </a:solidFill>
          <a:ln/>
        </p:spPr>
        <p:txBody>
          <a:bodyPr/>
          <a:lstStyle/>
          <a:p>
            <a:endParaRPr lang="en-IN"/>
          </a:p>
        </p:txBody>
      </p:sp>
      <p:sp>
        <p:nvSpPr>
          <p:cNvPr id="21" name="Text 19"/>
          <p:cNvSpPr/>
          <p:nvPr/>
        </p:nvSpPr>
        <p:spPr>
          <a:xfrm>
            <a:off x="7677760" y="1307592"/>
            <a:ext cx="1639748" cy="457200"/>
          </a:xfrm>
          <a:prstGeom prst="rect">
            <a:avLst/>
          </a:prstGeom>
          <a:noFill/>
          <a:ln/>
        </p:spPr>
        <p:txBody>
          <a:bodyPr wrap="square" lIns="0" tIns="0" rIns="0" bIns="0" rtlCol="0" anchor="ctr"/>
          <a:lstStyle/>
          <a:p>
            <a:pPr marL="0" indent="0" algn="l">
              <a:buNone/>
            </a:pPr>
            <a:r>
              <a:rPr lang="en-US" sz="2200" b="1" dirty="0">
                <a:solidFill>
                  <a:srgbClr val="2A9D8F"/>
                </a:solidFill>
                <a:latin typeface="Oswald" pitchFamily="34" charset="0"/>
                <a:ea typeface="Oswald" pitchFamily="34" charset="-122"/>
                <a:cs typeface="Oswald" pitchFamily="34" charset="-120"/>
              </a:rPr>
              <a:t>13 / 8</a:t>
            </a:r>
            <a:endParaRPr lang="en-US" sz="2200" dirty="0"/>
          </a:p>
        </p:txBody>
      </p:sp>
      <p:sp>
        <p:nvSpPr>
          <p:cNvPr id="22" name="Text 20"/>
          <p:cNvSpPr/>
          <p:nvPr/>
        </p:nvSpPr>
        <p:spPr>
          <a:xfrm>
            <a:off x="7677760" y="1746504"/>
            <a:ext cx="1639748" cy="384048"/>
          </a:xfrm>
          <a:prstGeom prst="rect">
            <a:avLst/>
          </a:prstGeom>
          <a:noFill/>
          <a:ln/>
        </p:spPr>
        <p:txBody>
          <a:bodyPr wrap="square" lIns="0" tIns="0" rIns="0" bIns="0" rtlCol="0" anchor="t"/>
          <a:lstStyle/>
          <a:p>
            <a:pPr marL="0" indent="0" algn="l">
              <a:buNone/>
            </a:pPr>
            <a:r>
              <a:rPr lang="en-US" sz="1000" b="1" dirty="0">
                <a:solidFill>
                  <a:srgbClr val="1E293B"/>
                </a:solidFill>
                <a:latin typeface="Raleway" pitchFamily="34" charset="0"/>
                <a:ea typeface="Raleway" pitchFamily="34" charset="-122"/>
                <a:cs typeface="Raleway" pitchFamily="34" charset="-120"/>
              </a:rPr>
              <a:t>Offices / countries with presence</a:t>
            </a:r>
            <a:endParaRPr lang="en-US" sz="1000" dirty="0"/>
          </a:p>
        </p:txBody>
      </p:sp>
      <p:sp>
        <p:nvSpPr>
          <p:cNvPr id="23" name="Shape 21"/>
          <p:cNvSpPr/>
          <p:nvPr/>
        </p:nvSpPr>
        <p:spPr>
          <a:xfrm>
            <a:off x="9683267" y="1051560"/>
            <a:ext cx="2005508" cy="1417320"/>
          </a:xfrm>
          <a:prstGeom prst="roundRect">
            <a:avLst>
              <a:gd name="adj" fmla="val 3871"/>
            </a:avLst>
          </a:prstGeom>
          <a:solidFill>
            <a:srgbClr val="F8FAFC"/>
          </a:solidFill>
          <a:ln w="12700">
            <a:solidFill>
              <a:srgbClr val="E2E8F0"/>
            </a:solidFill>
            <a:prstDash val="solid"/>
          </a:ln>
        </p:spPr>
        <p:txBody>
          <a:bodyPr/>
          <a:lstStyle/>
          <a:p>
            <a:endParaRPr lang="en-IN"/>
          </a:p>
        </p:txBody>
      </p:sp>
      <p:sp>
        <p:nvSpPr>
          <p:cNvPr id="24" name="Shape 22"/>
          <p:cNvSpPr/>
          <p:nvPr/>
        </p:nvSpPr>
        <p:spPr>
          <a:xfrm>
            <a:off x="9683267" y="1051560"/>
            <a:ext cx="41148" cy="1417320"/>
          </a:xfrm>
          <a:prstGeom prst="roundRect">
            <a:avLst>
              <a:gd name="adj" fmla="val 44444"/>
            </a:avLst>
          </a:prstGeom>
          <a:solidFill>
            <a:srgbClr val="D62839"/>
          </a:solidFill>
          <a:ln/>
        </p:spPr>
        <p:txBody>
          <a:bodyPr/>
          <a:lstStyle/>
          <a:p>
            <a:endParaRPr lang="en-IN"/>
          </a:p>
        </p:txBody>
      </p:sp>
      <p:sp>
        <p:nvSpPr>
          <p:cNvPr id="25" name="Text 23"/>
          <p:cNvSpPr/>
          <p:nvPr/>
        </p:nvSpPr>
        <p:spPr>
          <a:xfrm>
            <a:off x="9884435" y="1307592"/>
            <a:ext cx="1639748" cy="457200"/>
          </a:xfrm>
          <a:prstGeom prst="rect">
            <a:avLst/>
          </a:prstGeom>
          <a:noFill/>
          <a:ln/>
        </p:spPr>
        <p:txBody>
          <a:bodyPr wrap="square" lIns="0" tIns="0" rIns="0" bIns="0" rtlCol="0" anchor="ctr"/>
          <a:lstStyle/>
          <a:p>
            <a:pPr marL="0" indent="0" algn="l">
              <a:buNone/>
            </a:pPr>
            <a:r>
              <a:rPr lang="en-US" sz="2200" b="1" dirty="0">
                <a:solidFill>
                  <a:srgbClr val="D62839"/>
                </a:solidFill>
                <a:latin typeface="Oswald" pitchFamily="34" charset="0"/>
                <a:ea typeface="Oswald" pitchFamily="34" charset="-122"/>
                <a:cs typeface="Oswald" pitchFamily="34" charset="-120"/>
              </a:rPr>
              <a:t>2023</a:t>
            </a:r>
            <a:endParaRPr lang="en-US" sz="2200" dirty="0"/>
          </a:p>
        </p:txBody>
      </p:sp>
      <p:sp>
        <p:nvSpPr>
          <p:cNvPr id="26" name="Text 24"/>
          <p:cNvSpPr/>
          <p:nvPr/>
        </p:nvSpPr>
        <p:spPr>
          <a:xfrm>
            <a:off x="9884435" y="1746504"/>
            <a:ext cx="1639748" cy="384048"/>
          </a:xfrm>
          <a:prstGeom prst="rect">
            <a:avLst/>
          </a:prstGeom>
          <a:noFill/>
          <a:ln/>
        </p:spPr>
        <p:txBody>
          <a:bodyPr wrap="square" lIns="0" tIns="0" rIns="0" bIns="0" rtlCol="0" anchor="t"/>
          <a:lstStyle/>
          <a:p>
            <a:pPr marL="0" indent="0" algn="l">
              <a:buNone/>
            </a:pPr>
            <a:r>
              <a:rPr lang="en-US" sz="1000" b="1" dirty="0">
                <a:solidFill>
                  <a:srgbClr val="1E293B"/>
                </a:solidFill>
                <a:latin typeface="Raleway" pitchFamily="34" charset="0"/>
                <a:ea typeface="Raleway" pitchFamily="34" charset="-122"/>
                <a:cs typeface="Raleway" pitchFamily="34" charset="-120"/>
              </a:rPr>
              <a:t>GE Collaboration &amp; Innovation Award</a:t>
            </a:r>
            <a:endParaRPr lang="en-US" sz="1000" dirty="0"/>
          </a:p>
        </p:txBody>
      </p:sp>
      <p:sp>
        <p:nvSpPr>
          <p:cNvPr id="27" name="Shape 25"/>
          <p:cNvSpPr/>
          <p:nvPr/>
        </p:nvSpPr>
        <p:spPr>
          <a:xfrm>
            <a:off x="502920" y="2788920"/>
            <a:ext cx="54864" cy="274320"/>
          </a:xfrm>
          <a:prstGeom prst="rect">
            <a:avLst/>
          </a:prstGeom>
          <a:solidFill>
            <a:srgbClr val="2A9D8F"/>
          </a:solidFill>
          <a:ln/>
        </p:spPr>
        <p:txBody>
          <a:bodyPr/>
          <a:lstStyle/>
          <a:p>
            <a:endParaRPr lang="en-IN"/>
          </a:p>
        </p:txBody>
      </p:sp>
      <p:sp>
        <p:nvSpPr>
          <p:cNvPr id="28" name="Text 26"/>
          <p:cNvSpPr/>
          <p:nvPr/>
        </p:nvSpPr>
        <p:spPr>
          <a:xfrm>
            <a:off x="667512" y="2761488"/>
            <a:ext cx="5486400" cy="310896"/>
          </a:xfrm>
          <a:prstGeom prst="rect">
            <a:avLst/>
          </a:prstGeom>
          <a:noFill/>
          <a:ln/>
        </p:spPr>
        <p:txBody>
          <a:bodyPr wrap="square" lIns="0" tIns="0" rIns="0" bIns="0" rtlCol="0" anchor="ctr"/>
          <a:lstStyle/>
          <a:p>
            <a:pPr marL="0" indent="0">
              <a:buNone/>
            </a:pPr>
            <a:r>
              <a:rPr lang="en-US" sz="1300" b="1" dirty="0">
                <a:solidFill>
                  <a:srgbClr val="111827"/>
                </a:solidFill>
                <a:latin typeface="Roboto Condensed" pitchFamily="34" charset="0"/>
                <a:ea typeface="Roboto Condensed" pitchFamily="34" charset="-122"/>
                <a:cs typeface="Roboto Condensed" pitchFamily="34" charset="-120"/>
              </a:rPr>
              <a:t>WHAT SETS J2W APART</a:t>
            </a:r>
            <a:endParaRPr lang="en-US" sz="1300" dirty="0"/>
          </a:p>
        </p:txBody>
      </p:sp>
      <p:sp>
        <p:nvSpPr>
          <p:cNvPr id="29" name="Shape 27"/>
          <p:cNvSpPr/>
          <p:nvPr/>
        </p:nvSpPr>
        <p:spPr>
          <a:xfrm>
            <a:off x="502920" y="3172968"/>
            <a:ext cx="3576218" cy="1417320"/>
          </a:xfrm>
          <a:prstGeom prst="roundRect">
            <a:avLst>
              <a:gd name="adj" fmla="val 3871"/>
            </a:avLst>
          </a:prstGeom>
          <a:solidFill>
            <a:srgbClr val="F8FAFC"/>
          </a:solidFill>
          <a:ln w="12700">
            <a:solidFill>
              <a:srgbClr val="E2E8F0"/>
            </a:solidFill>
            <a:prstDash val="solid"/>
          </a:ln>
        </p:spPr>
        <p:txBody>
          <a:bodyPr/>
          <a:lstStyle/>
          <a:p>
            <a:endParaRPr lang="en-IN"/>
          </a:p>
        </p:txBody>
      </p:sp>
      <p:pic>
        <p:nvPicPr>
          <p:cNvPr id="30" name="Image 0" descr="/home/claude/work/assets/icons/award_teal.png"/>
          <p:cNvPicPr>
            <a:picLocks noChangeAspect="1"/>
          </p:cNvPicPr>
          <p:nvPr/>
        </p:nvPicPr>
        <p:blipFill>
          <a:blip r:embed="rId3"/>
          <a:stretch>
            <a:fillRect/>
          </a:stretch>
        </p:blipFill>
        <p:spPr>
          <a:xfrm>
            <a:off x="685800" y="3337560"/>
            <a:ext cx="329184" cy="329184"/>
          </a:xfrm>
          <a:prstGeom prst="rect">
            <a:avLst/>
          </a:prstGeom>
        </p:spPr>
      </p:pic>
      <p:sp>
        <p:nvSpPr>
          <p:cNvPr id="31" name="Text 28"/>
          <p:cNvSpPr/>
          <p:nvPr/>
        </p:nvSpPr>
        <p:spPr>
          <a:xfrm>
            <a:off x="1106424" y="3310128"/>
            <a:ext cx="2798978" cy="365760"/>
          </a:xfrm>
          <a:prstGeom prst="rect">
            <a:avLst/>
          </a:prstGeom>
          <a:noFill/>
          <a:ln/>
        </p:spPr>
        <p:txBody>
          <a:bodyPr wrap="square" lIns="0" tIns="0" rIns="0" bIns="0" rtlCol="0" anchor="ctr"/>
          <a:lstStyle/>
          <a:p>
            <a:pPr marL="0" indent="0">
              <a:buNone/>
            </a:pPr>
            <a:r>
              <a:rPr lang="en-US" sz="1250" b="1" dirty="0">
                <a:solidFill>
                  <a:srgbClr val="111827"/>
                </a:solidFill>
                <a:latin typeface="Oswald" pitchFamily="34" charset="0"/>
                <a:ea typeface="Oswald" pitchFamily="34" charset="-122"/>
                <a:cs typeface="Oswald" pitchFamily="34" charset="-120"/>
              </a:rPr>
              <a:t>10+ Years Leadership</a:t>
            </a:r>
            <a:endParaRPr lang="en-US" sz="1250" dirty="0"/>
          </a:p>
        </p:txBody>
      </p:sp>
      <p:sp>
        <p:nvSpPr>
          <p:cNvPr id="32" name="Text 29"/>
          <p:cNvSpPr/>
          <p:nvPr/>
        </p:nvSpPr>
        <p:spPr>
          <a:xfrm>
            <a:off x="685800" y="3739896"/>
            <a:ext cx="3210458" cy="731520"/>
          </a:xfrm>
          <a:prstGeom prst="rect">
            <a:avLst/>
          </a:prstGeom>
          <a:noFill/>
          <a:ln/>
        </p:spPr>
        <p:txBody>
          <a:bodyPr wrap="square" lIns="0" tIns="0" rIns="0" bIns="0" rtlCol="0" anchor="ctr"/>
          <a:lstStyle/>
          <a:p>
            <a:pPr marL="0" indent="0">
              <a:lnSpc>
                <a:spcPct val="112000"/>
              </a:lnSpc>
              <a:buNone/>
            </a:pPr>
            <a:r>
              <a:rPr lang="en-US" sz="970" dirty="0">
                <a:solidFill>
                  <a:srgbClr val="4B5563"/>
                </a:solidFill>
                <a:latin typeface="Raleway" pitchFamily="34" charset="0"/>
                <a:ea typeface="Raleway" pitchFamily="34" charset="-122"/>
                <a:cs typeface="Raleway" pitchFamily="34" charset="-120"/>
              </a:rPr>
              <a:t>A decade of leadership in digital innovation and talent transformation.</a:t>
            </a:r>
            <a:endParaRPr lang="en-US" sz="970" dirty="0"/>
          </a:p>
        </p:txBody>
      </p:sp>
      <p:sp>
        <p:nvSpPr>
          <p:cNvPr id="33" name="Shape 30"/>
          <p:cNvSpPr/>
          <p:nvPr/>
        </p:nvSpPr>
        <p:spPr>
          <a:xfrm>
            <a:off x="4307738" y="3172968"/>
            <a:ext cx="3576218" cy="1417320"/>
          </a:xfrm>
          <a:prstGeom prst="roundRect">
            <a:avLst>
              <a:gd name="adj" fmla="val 3871"/>
            </a:avLst>
          </a:prstGeom>
          <a:solidFill>
            <a:srgbClr val="F8FAFC"/>
          </a:solidFill>
          <a:ln w="12700">
            <a:solidFill>
              <a:srgbClr val="E2E8F0"/>
            </a:solidFill>
            <a:prstDash val="solid"/>
          </a:ln>
        </p:spPr>
        <p:txBody>
          <a:bodyPr/>
          <a:lstStyle/>
          <a:p>
            <a:endParaRPr lang="en-IN"/>
          </a:p>
        </p:txBody>
      </p:sp>
      <p:pic>
        <p:nvPicPr>
          <p:cNvPr id="34" name="Image 1" descr="/home/claude/work/assets/icons/clipboard_teal.png"/>
          <p:cNvPicPr>
            <a:picLocks noChangeAspect="1"/>
          </p:cNvPicPr>
          <p:nvPr/>
        </p:nvPicPr>
        <p:blipFill>
          <a:blip r:embed="rId4"/>
          <a:stretch>
            <a:fillRect/>
          </a:stretch>
        </p:blipFill>
        <p:spPr>
          <a:xfrm>
            <a:off x="4490618" y="3337560"/>
            <a:ext cx="329184" cy="329184"/>
          </a:xfrm>
          <a:prstGeom prst="rect">
            <a:avLst/>
          </a:prstGeom>
        </p:spPr>
      </p:pic>
      <p:sp>
        <p:nvSpPr>
          <p:cNvPr id="35" name="Text 31"/>
          <p:cNvSpPr/>
          <p:nvPr/>
        </p:nvSpPr>
        <p:spPr>
          <a:xfrm>
            <a:off x="4911242" y="3310128"/>
            <a:ext cx="2798978" cy="365760"/>
          </a:xfrm>
          <a:prstGeom prst="rect">
            <a:avLst/>
          </a:prstGeom>
          <a:noFill/>
          <a:ln/>
        </p:spPr>
        <p:txBody>
          <a:bodyPr wrap="square" lIns="0" tIns="0" rIns="0" bIns="0" rtlCol="0" anchor="ctr"/>
          <a:lstStyle/>
          <a:p>
            <a:pPr marL="0" indent="0">
              <a:buNone/>
            </a:pPr>
            <a:r>
              <a:rPr lang="en-US" sz="1250" b="1" dirty="0">
                <a:solidFill>
                  <a:srgbClr val="111827"/>
                </a:solidFill>
                <a:latin typeface="Oswald" pitchFamily="34" charset="0"/>
                <a:ea typeface="Oswald" pitchFamily="34" charset="-122"/>
                <a:cs typeface="Oswald" pitchFamily="34" charset="-120"/>
              </a:rPr>
              <a:t>1st-of-its-Kind Playbook</a:t>
            </a:r>
            <a:endParaRPr lang="en-US" sz="1250" dirty="0"/>
          </a:p>
        </p:txBody>
      </p:sp>
      <p:sp>
        <p:nvSpPr>
          <p:cNvPr id="36" name="Text 32"/>
          <p:cNvSpPr/>
          <p:nvPr/>
        </p:nvSpPr>
        <p:spPr>
          <a:xfrm>
            <a:off x="4490618" y="3739896"/>
            <a:ext cx="3210458" cy="731520"/>
          </a:xfrm>
          <a:prstGeom prst="rect">
            <a:avLst/>
          </a:prstGeom>
          <a:noFill/>
          <a:ln/>
        </p:spPr>
        <p:txBody>
          <a:bodyPr wrap="square" lIns="0" tIns="0" rIns="0" bIns="0" rtlCol="0" anchor="ctr"/>
          <a:lstStyle/>
          <a:p>
            <a:pPr marL="0" indent="0">
              <a:lnSpc>
                <a:spcPct val="112000"/>
              </a:lnSpc>
              <a:buNone/>
            </a:pPr>
            <a:r>
              <a:rPr lang="en-US" sz="970" dirty="0">
                <a:solidFill>
                  <a:srgbClr val="4B5563"/>
                </a:solidFill>
                <a:latin typeface="Raleway" pitchFamily="34" charset="0"/>
                <a:ea typeface="Raleway" pitchFamily="34" charset="-122"/>
                <a:cs typeface="Raleway" pitchFamily="34" charset="-120"/>
              </a:rPr>
              <a:t>End-to-end frameworks across greenfield, brownfield, and extended GCC models.</a:t>
            </a:r>
            <a:endParaRPr lang="en-US" sz="970" dirty="0"/>
          </a:p>
        </p:txBody>
      </p:sp>
      <p:sp>
        <p:nvSpPr>
          <p:cNvPr id="37" name="Shape 33"/>
          <p:cNvSpPr/>
          <p:nvPr/>
        </p:nvSpPr>
        <p:spPr>
          <a:xfrm>
            <a:off x="8112557" y="3172968"/>
            <a:ext cx="3576218" cy="1417320"/>
          </a:xfrm>
          <a:prstGeom prst="roundRect">
            <a:avLst>
              <a:gd name="adj" fmla="val 3871"/>
            </a:avLst>
          </a:prstGeom>
          <a:solidFill>
            <a:srgbClr val="F8FAFC"/>
          </a:solidFill>
          <a:ln w="12700">
            <a:solidFill>
              <a:srgbClr val="E2E8F0"/>
            </a:solidFill>
            <a:prstDash val="solid"/>
          </a:ln>
        </p:spPr>
        <p:txBody>
          <a:bodyPr/>
          <a:lstStyle/>
          <a:p>
            <a:endParaRPr lang="en-IN"/>
          </a:p>
        </p:txBody>
      </p:sp>
      <p:pic>
        <p:nvPicPr>
          <p:cNvPr id="38" name="Image 2" descr="/home/claude/work/assets/icons/handshake_teal.png"/>
          <p:cNvPicPr>
            <a:picLocks noChangeAspect="1"/>
          </p:cNvPicPr>
          <p:nvPr/>
        </p:nvPicPr>
        <p:blipFill>
          <a:blip r:embed="rId5"/>
          <a:stretch>
            <a:fillRect/>
          </a:stretch>
        </p:blipFill>
        <p:spPr>
          <a:xfrm>
            <a:off x="8295437" y="3337560"/>
            <a:ext cx="329184" cy="329184"/>
          </a:xfrm>
          <a:prstGeom prst="rect">
            <a:avLst/>
          </a:prstGeom>
        </p:spPr>
      </p:pic>
      <p:sp>
        <p:nvSpPr>
          <p:cNvPr id="39" name="Text 34"/>
          <p:cNvSpPr/>
          <p:nvPr/>
        </p:nvSpPr>
        <p:spPr>
          <a:xfrm>
            <a:off x="8716061" y="3310128"/>
            <a:ext cx="2798978" cy="365760"/>
          </a:xfrm>
          <a:prstGeom prst="rect">
            <a:avLst/>
          </a:prstGeom>
          <a:noFill/>
          <a:ln/>
        </p:spPr>
        <p:txBody>
          <a:bodyPr wrap="square" lIns="0" tIns="0" rIns="0" bIns="0" rtlCol="0" anchor="ctr"/>
          <a:lstStyle/>
          <a:p>
            <a:pPr marL="0" indent="0">
              <a:buNone/>
            </a:pPr>
            <a:r>
              <a:rPr lang="en-US" sz="1250" b="1" dirty="0">
                <a:solidFill>
                  <a:srgbClr val="111827"/>
                </a:solidFill>
                <a:latin typeface="Oswald" pitchFamily="34" charset="0"/>
                <a:ea typeface="Oswald" pitchFamily="34" charset="-122"/>
                <a:cs typeface="Oswald" pitchFamily="34" charset="-120"/>
              </a:rPr>
              <a:t>Partner of Choice</a:t>
            </a:r>
            <a:endParaRPr lang="en-US" sz="1250" dirty="0"/>
          </a:p>
        </p:txBody>
      </p:sp>
      <p:sp>
        <p:nvSpPr>
          <p:cNvPr id="40" name="Text 35"/>
          <p:cNvSpPr/>
          <p:nvPr/>
        </p:nvSpPr>
        <p:spPr>
          <a:xfrm>
            <a:off x="8295437" y="3739896"/>
            <a:ext cx="3210458" cy="731520"/>
          </a:xfrm>
          <a:prstGeom prst="rect">
            <a:avLst/>
          </a:prstGeom>
          <a:noFill/>
          <a:ln/>
        </p:spPr>
        <p:txBody>
          <a:bodyPr wrap="square" lIns="0" tIns="0" rIns="0" bIns="0" rtlCol="0" anchor="ctr"/>
          <a:lstStyle/>
          <a:p>
            <a:pPr marL="0" indent="0">
              <a:lnSpc>
                <a:spcPct val="112000"/>
              </a:lnSpc>
              <a:buNone/>
            </a:pPr>
            <a:r>
              <a:rPr lang="en-US" sz="970" dirty="0">
                <a:solidFill>
                  <a:srgbClr val="4B5563"/>
                </a:solidFill>
                <a:latin typeface="Raleway" pitchFamily="34" charset="0"/>
                <a:ea typeface="Raleway" pitchFamily="34" charset="-122"/>
                <a:cs typeface="Raleway" pitchFamily="34" charset="-120"/>
              </a:rPr>
              <a:t>330+ clients, 75% being GCCs across setups, scaling, and hub optimization.</a:t>
            </a:r>
            <a:endParaRPr lang="en-US" sz="970" dirty="0"/>
          </a:p>
        </p:txBody>
      </p:sp>
      <p:sp>
        <p:nvSpPr>
          <p:cNvPr id="41" name="Shape 36"/>
          <p:cNvSpPr/>
          <p:nvPr/>
        </p:nvSpPr>
        <p:spPr>
          <a:xfrm>
            <a:off x="502920" y="4754880"/>
            <a:ext cx="3576218" cy="1417320"/>
          </a:xfrm>
          <a:prstGeom prst="roundRect">
            <a:avLst>
              <a:gd name="adj" fmla="val 3871"/>
            </a:avLst>
          </a:prstGeom>
          <a:solidFill>
            <a:srgbClr val="F8FAFC"/>
          </a:solidFill>
          <a:ln w="12700">
            <a:solidFill>
              <a:srgbClr val="E2E8F0"/>
            </a:solidFill>
            <a:prstDash val="solid"/>
          </a:ln>
        </p:spPr>
        <p:txBody>
          <a:bodyPr/>
          <a:lstStyle/>
          <a:p>
            <a:endParaRPr lang="en-IN"/>
          </a:p>
        </p:txBody>
      </p:sp>
      <p:pic>
        <p:nvPicPr>
          <p:cNvPr id="42" name="Image 3" descr="/home/claude/work/assets/icons/layers_red.png"/>
          <p:cNvPicPr>
            <a:picLocks noChangeAspect="1"/>
          </p:cNvPicPr>
          <p:nvPr/>
        </p:nvPicPr>
        <p:blipFill>
          <a:blip r:embed="rId6"/>
          <a:stretch>
            <a:fillRect/>
          </a:stretch>
        </p:blipFill>
        <p:spPr>
          <a:xfrm>
            <a:off x="685800" y="4919472"/>
            <a:ext cx="329184" cy="329184"/>
          </a:xfrm>
          <a:prstGeom prst="rect">
            <a:avLst/>
          </a:prstGeom>
        </p:spPr>
      </p:pic>
      <p:sp>
        <p:nvSpPr>
          <p:cNvPr id="43" name="Text 37"/>
          <p:cNvSpPr/>
          <p:nvPr/>
        </p:nvSpPr>
        <p:spPr>
          <a:xfrm>
            <a:off x="1106424" y="4892040"/>
            <a:ext cx="2798978" cy="365760"/>
          </a:xfrm>
          <a:prstGeom prst="rect">
            <a:avLst/>
          </a:prstGeom>
          <a:noFill/>
          <a:ln/>
        </p:spPr>
        <p:txBody>
          <a:bodyPr wrap="square" lIns="0" tIns="0" rIns="0" bIns="0" rtlCol="0" anchor="ctr"/>
          <a:lstStyle/>
          <a:p>
            <a:pPr marL="0" indent="0">
              <a:buNone/>
            </a:pPr>
            <a:r>
              <a:rPr lang="en-US" sz="1250" b="1" dirty="0">
                <a:solidFill>
                  <a:srgbClr val="111827"/>
                </a:solidFill>
                <a:latin typeface="Oswald" pitchFamily="34" charset="0"/>
                <a:ea typeface="Oswald" pitchFamily="34" charset="-122"/>
                <a:cs typeface="Oswald" pitchFamily="34" charset="-120"/>
              </a:rPr>
              <a:t>4 In-house IP Platforms</a:t>
            </a:r>
            <a:endParaRPr lang="en-US" sz="1250" dirty="0"/>
          </a:p>
        </p:txBody>
      </p:sp>
      <p:sp>
        <p:nvSpPr>
          <p:cNvPr id="44" name="Text 38"/>
          <p:cNvSpPr/>
          <p:nvPr/>
        </p:nvSpPr>
        <p:spPr>
          <a:xfrm>
            <a:off x="685800" y="5321808"/>
            <a:ext cx="3210458" cy="731520"/>
          </a:xfrm>
          <a:prstGeom prst="rect">
            <a:avLst/>
          </a:prstGeom>
          <a:noFill/>
          <a:ln/>
        </p:spPr>
        <p:txBody>
          <a:bodyPr wrap="square" lIns="0" tIns="0" rIns="0" bIns="0" rtlCol="0" anchor="ctr"/>
          <a:lstStyle/>
          <a:p>
            <a:pPr marL="0" indent="0">
              <a:lnSpc>
                <a:spcPct val="112000"/>
              </a:lnSpc>
              <a:buNone/>
            </a:pPr>
            <a:r>
              <a:rPr lang="en-US" sz="970" dirty="0">
                <a:solidFill>
                  <a:srgbClr val="4B5563"/>
                </a:solidFill>
                <a:latin typeface="Raleway" pitchFamily="34" charset="0"/>
                <a:ea typeface="Raleway" pitchFamily="34" charset="-122"/>
                <a:cs typeface="Raleway" pitchFamily="34" charset="-120"/>
              </a:rPr>
              <a:t>Proprietary AI-driven accelerators purpose-built for GCC scale and transformation.</a:t>
            </a:r>
            <a:endParaRPr lang="en-US" sz="970" dirty="0"/>
          </a:p>
        </p:txBody>
      </p:sp>
      <p:sp>
        <p:nvSpPr>
          <p:cNvPr id="45" name="Shape 39"/>
          <p:cNvSpPr/>
          <p:nvPr/>
        </p:nvSpPr>
        <p:spPr>
          <a:xfrm>
            <a:off x="4307738" y="4754880"/>
            <a:ext cx="3576218" cy="1417320"/>
          </a:xfrm>
          <a:prstGeom prst="roundRect">
            <a:avLst>
              <a:gd name="adj" fmla="val 3871"/>
            </a:avLst>
          </a:prstGeom>
          <a:solidFill>
            <a:srgbClr val="F8FAFC"/>
          </a:solidFill>
          <a:ln w="12700">
            <a:solidFill>
              <a:srgbClr val="E2E8F0"/>
            </a:solidFill>
            <a:prstDash val="solid"/>
          </a:ln>
        </p:spPr>
        <p:txBody>
          <a:bodyPr/>
          <a:lstStyle/>
          <a:p>
            <a:endParaRPr lang="en-IN"/>
          </a:p>
        </p:txBody>
      </p:sp>
      <p:pic>
        <p:nvPicPr>
          <p:cNvPr id="46" name="Image 4" descr="/home/claude/work/assets/icons/chartpie_red.png"/>
          <p:cNvPicPr>
            <a:picLocks noChangeAspect="1"/>
          </p:cNvPicPr>
          <p:nvPr/>
        </p:nvPicPr>
        <p:blipFill>
          <a:blip r:embed="rId7"/>
          <a:stretch>
            <a:fillRect/>
          </a:stretch>
        </p:blipFill>
        <p:spPr>
          <a:xfrm>
            <a:off x="4490618" y="4919472"/>
            <a:ext cx="329184" cy="329184"/>
          </a:xfrm>
          <a:prstGeom prst="rect">
            <a:avLst/>
          </a:prstGeom>
        </p:spPr>
      </p:pic>
      <p:sp>
        <p:nvSpPr>
          <p:cNvPr id="47" name="Text 40"/>
          <p:cNvSpPr/>
          <p:nvPr/>
        </p:nvSpPr>
        <p:spPr>
          <a:xfrm>
            <a:off x="4911242" y="4892040"/>
            <a:ext cx="2798978" cy="365760"/>
          </a:xfrm>
          <a:prstGeom prst="rect">
            <a:avLst/>
          </a:prstGeom>
          <a:noFill/>
          <a:ln/>
        </p:spPr>
        <p:txBody>
          <a:bodyPr wrap="square" lIns="0" tIns="0" rIns="0" bIns="0" rtlCol="0" anchor="ctr"/>
          <a:lstStyle/>
          <a:p>
            <a:pPr marL="0" indent="0">
              <a:buNone/>
            </a:pPr>
            <a:r>
              <a:rPr lang="en-US" sz="1250" b="1" dirty="0">
                <a:solidFill>
                  <a:srgbClr val="111827"/>
                </a:solidFill>
                <a:latin typeface="Oswald" pitchFamily="34" charset="0"/>
                <a:ea typeface="Oswald" pitchFamily="34" charset="-122"/>
                <a:cs typeface="Oswald" pitchFamily="34" charset="-120"/>
              </a:rPr>
              <a:t>Proven Impact</a:t>
            </a:r>
            <a:endParaRPr lang="en-US" sz="1250" dirty="0"/>
          </a:p>
        </p:txBody>
      </p:sp>
      <p:sp>
        <p:nvSpPr>
          <p:cNvPr id="48" name="Text 41"/>
          <p:cNvSpPr/>
          <p:nvPr/>
        </p:nvSpPr>
        <p:spPr>
          <a:xfrm>
            <a:off x="4490618" y="5321808"/>
            <a:ext cx="3210458" cy="731520"/>
          </a:xfrm>
          <a:prstGeom prst="rect">
            <a:avLst/>
          </a:prstGeom>
          <a:noFill/>
          <a:ln/>
        </p:spPr>
        <p:txBody>
          <a:bodyPr wrap="square" lIns="0" tIns="0" rIns="0" bIns="0" rtlCol="0" anchor="ctr"/>
          <a:lstStyle/>
          <a:p>
            <a:pPr marL="0" indent="0">
              <a:lnSpc>
                <a:spcPct val="112000"/>
              </a:lnSpc>
              <a:buNone/>
            </a:pPr>
            <a:r>
              <a:rPr lang="en-US" sz="970" dirty="0">
                <a:solidFill>
                  <a:srgbClr val="4B5563"/>
                </a:solidFill>
                <a:latin typeface="Raleway" pitchFamily="34" charset="0"/>
                <a:ea typeface="Raleway" pitchFamily="34" charset="-122"/>
                <a:cs typeface="Raleway" pitchFamily="34" charset="-120"/>
              </a:rPr>
              <a:t>100% regulatory compliance, 100%+ CAGR, and high repeat business.</a:t>
            </a:r>
            <a:endParaRPr lang="en-US" sz="970" dirty="0"/>
          </a:p>
        </p:txBody>
      </p:sp>
      <p:sp>
        <p:nvSpPr>
          <p:cNvPr id="49" name="Shape 42"/>
          <p:cNvSpPr/>
          <p:nvPr/>
        </p:nvSpPr>
        <p:spPr>
          <a:xfrm>
            <a:off x="8112557" y="4754880"/>
            <a:ext cx="3576218" cy="1417320"/>
          </a:xfrm>
          <a:prstGeom prst="roundRect">
            <a:avLst>
              <a:gd name="adj" fmla="val 3871"/>
            </a:avLst>
          </a:prstGeom>
          <a:solidFill>
            <a:srgbClr val="F8FAFC"/>
          </a:solidFill>
          <a:ln w="12700">
            <a:solidFill>
              <a:srgbClr val="E2E8F0"/>
            </a:solidFill>
            <a:prstDash val="solid"/>
          </a:ln>
        </p:spPr>
        <p:txBody>
          <a:bodyPr/>
          <a:lstStyle/>
          <a:p>
            <a:endParaRPr lang="en-IN"/>
          </a:p>
        </p:txBody>
      </p:sp>
      <p:pic>
        <p:nvPicPr>
          <p:cNvPr id="50" name="Image 5" descr="/home/claude/work/assets/icons/rocket_red.png"/>
          <p:cNvPicPr>
            <a:picLocks noChangeAspect="1"/>
          </p:cNvPicPr>
          <p:nvPr/>
        </p:nvPicPr>
        <p:blipFill>
          <a:blip r:embed="rId8"/>
          <a:stretch>
            <a:fillRect/>
          </a:stretch>
        </p:blipFill>
        <p:spPr>
          <a:xfrm>
            <a:off x="8295437" y="4919472"/>
            <a:ext cx="329184" cy="329184"/>
          </a:xfrm>
          <a:prstGeom prst="rect">
            <a:avLst/>
          </a:prstGeom>
        </p:spPr>
      </p:pic>
      <p:sp>
        <p:nvSpPr>
          <p:cNvPr id="51" name="Text 43"/>
          <p:cNvSpPr/>
          <p:nvPr/>
        </p:nvSpPr>
        <p:spPr>
          <a:xfrm>
            <a:off x="8716061" y="4892040"/>
            <a:ext cx="2798978" cy="365760"/>
          </a:xfrm>
          <a:prstGeom prst="rect">
            <a:avLst/>
          </a:prstGeom>
          <a:noFill/>
          <a:ln/>
        </p:spPr>
        <p:txBody>
          <a:bodyPr wrap="square" lIns="0" tIns="0" rIns="0" bIns="0" rtlCol="0" anchor="ctr"/>
          <a:lstStyle/>
          <a:p>
            <a:pPr marL="0" indent="0">
              <a:buNone/>
            </a:pPr>
            <a:r>
              <a:rPr lang="en-US" sz="1250" b="1" dirty="0">
                <a:solidFill>
                  <a:srgbClr val="111827"/>
                </a:solidFill>
                <a:latin typeface="Oswald" pitchFamily="34" charset="0"/>
                <a:ea typeface="Oswald" pitchFamily="34" charset="-122"/>
                <a:cs typeface="Oswald" pitchFamily="34" charset="-120"/>
              </a:rPr>
              <a:t>On Track for $100M+</a:t>
            </a:r>
            <a:endParaRPr lang="en-US" sz="1250" dirty="0"/>
          </a:p>
        </p:txBody>
      </p:sp>
      <p:sp>
        <p:nvSpPr>
          <p:cNvPr id="52" name="Text 44"/>
          <p:cNvSpPr/>
          <p:nvPr/>
        </p:nvSpPr>
        <p:spPr>
          <a:xfrm>
            <a:off x="8295437" y="5321808"/>
            <a:ext cx="3210458" cy="731520"/>
          </a:xfrm>
          <a:prstGeom prst="rect">
            <a:avLst/>
          </a:prstGeom>
          <a:noFill/>
          <a:ln/>
        </p:spPr>
        <p:txBody>
          <a:bodyPr wrap="square" lIns="0" tIns="0" rIns="0" bIns="0" rtlCol="0" anchor="ctr"/>
          <a:lstStyle/>
          <a:p>
            <a:pPr marL="0" indent="0">
              <a:lnSpc>
                <a:spcPct val="112000"/>
              </a:lnSpc>
              <a:buNone/>
            </a:pPr>
            <a:r>
              <a:rPr lang="en-US" sz="970" dirty="0">
                <a:solidFill>
                  <a:srgbClr val="4B5563"/>
                </a:solidFill>
                <a:latin typeface="Raleway" pitchFamily="34" charset="0"/>
                <a:ea typeface="Raleway" pitchFamily="34" charset="-122"/>
                <a:cs typeface="Raleway" pitchFamily="34" charset="-120"/>
              </a:rPr>
              <a:t>On pace to become India’s first $100M+ GCC-focused company by 2025.</a:t>
            </a:r>
            <a:endParaRPr lang="en-US" sz="970" dirty="0"/>
          </a:p>
        </p:txBody>
      </p:sp>
      <p:sp>
        <p:nvSpPr>
          <p:cNvPr id="53" name="Text 45"/>
          <p:cNvSpPr/>
          <p:nvPr/>
        </p:nvSpPr>
        <p:spPr>
          <a:xfrm>
            <a:off x="502920" y="6547104"/>
            <a:ext cx="2743200" cy="201168"/>
          </a:xfrm>
          <a:prstGeom prst="rect">
            <a:avLst/>
          </a:prstGeom>
          <a:noFill/>
          <a:ln/>
        </p:spPr>
        <p:txBody>
          <a:bodyPr wrap="square" lIns="0" tIns="0" rIns="0" bIns="0" rtlCol="0" anchor="ctr"/>
          <a:lstStyle/>
          <a:p>
            <a:pPr marL="0" indent="0" algn="l">
              <a:buNone/>
            </a:pPr>
            <a:r>
              <a:rPr lang="en-US" sz="800" kern="0" spc="100" dirty="0">
                <a:solidFill>
                  <a:srgbClr val="A1A1AA"/>
                </a:solidFill>
                <a:latin typeface="Roboto Condensed" pitchFamily="34" charset="0"/>
                <a:ea typeface="Roboto Condensed" pitchFamily="34" charset="-122"/>
                <a:cs typeface="Roboto Condensed" pitchFamily="34" charset="-120"/>
              </a:rPr>
              <a:t>JOULESTOWATTS</a:t>
            </a:r>
            <a:endParaRPr lang="en-US" sz="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8123327" cy="75895"/>
          </a:xfrm>
          <a:prstGeom prst="rect">
            <a:avLst/>
          </a:prstGeom>
          <a:solidFill>
            <a:srgbClr val="2A9D8F"/>
          </a:solidFill>
          <a:ln/>
        </p:spPr>
        <p:txBody>
          <a:bodyPr/>
          <a:lstStyle/>
          <a:p>
            <a:endParaRPr lang="en-IN"/>
          </a:p>
        </p:txBody>
      </p:sp>
      <p:sp>
        <p:nvSpPr>
          <p:cNvPr id="3" name="Shape 1"/>
          <p:cNvSpPr/>
          <p:nvPr/>
        </p:nvSpPr>
        <p:spPr>
          <a:xfrm>
            <a:off x="8123327" y="0"/>
            <a:ext cx="4068369" cy="75895"/>
          </a:xfrm>
          <a:prstGeom prst="rect">
            <a:avLst/>
          </a:prstGeom>
          <a:solidFill>
            <a:srgbClr val="D62839"/>
          </a:solidFill>
          <a:ln/>
        </p:spPr>
        <p:txBody>
          <a:bodyPr/>
          <a:lstStyle/>
          <a:p>
            <a:endParaRPr lang="en-IN"/>
          </a:p>
        </p:txBody>
      </p:sp>
      <p:sp>
        <p:nvSpPr>
          <p:cNvPr id="4" name="Shape 2"/>
          <p:cNvSpPr/>
          <p:nvPr/>
        </p:nvSpPr>
        <p:spPr>
          <a:xfrm>
            <a:off x="9265615" y="-1463040"/>
            <a:ext cx="3840480" cy="3840480"/>
          </a:xfrm>
          <a:prstGeom prst="ellipse">
            <a:avLst/>
          </a:prstGeom>
          <a:solidFill>
            <a:srgbClr val="2A9D8F">
              <a:alpha val="4000"/>
            </a:srgbClr>
          </a:solidFill>
          <a:ln/>
        </p:spPr>
        <p:txBody>
          <a:bodyPr/>
          <a:lstStyle/>
          <a:p>
            <a:endParaRPr lang="en-IN"/>
          </a:p>
        </p:txBody>
      </p:sp>
      <p:sp>
        <p:nvSpPr>
          <p:cNvPr id="5" name="Shape 3"/>
          <p:cNvSpPr/>
          <p:nvPr/>
        </p:nvSpPr>
        <p:spPr>
          <a:xfrm>
            <a:off x="502920" y="329184"/>
            <a:ext cx="54864" cy="310896"/>
          </a:xfrm>
          <a:prstGeom prst="rect">
            <a:avLst/>
          </a:prstGeom>
          <a:solidFill>
            <a:srgbClr val="111827"/>
          </a:solidFill>
          <a:ln/>
        </p:spPr>
        <p:txBody>
          <a:bodyPr/>
          <a:lstStyle/>
          <a:p>
            <a:endParaRPr lang="en-IN"/>
          </a:p>
        </p:txBody>
      </p:sp>
      <p:sp>
        <p:nvSpPr>
          <p:cNvPr id="6" name="Text 4"/>
          <p:cNvSpPr/>
          <p:nvPr/>
        </p:nvSpPr>
        <p:spPr>
          <a:xfrm>
            <a:off x="667512" y="265176"/>
            <a:ext cx="11021263" cy="384048"/>
          </a:xfrm>
          <a:prstGeom prst="rect">
            <a:avLst/>
          </a:prstGeom>
          <a:noFill/>
          <a:ln/>
        </p:spPr>
        <p:txBody>
          <a:bodyPr wrap="square" lIns="0" tIns="0" rIns="0" bIns="0" rtlCol="0" anchor="ctr"/>
          <a:lstStyle/>
          <a:p>
            <a:pPr marL="0" indent="0" algn="l">
              <a:buNone/>
            </a:pPr>
            <a:r>
              <a:rPr lang="en-US" sz="2200" b="1" dirty="0">
                <a:solidFill>
                  <a:srgbClr val="111827"/>
                </a:solidFill>
                <a:latin typeface="Oswald" pitchFamily="34" charset="0"/>
                <a:ea typeface="Oswald" pitchFamily="34" charset="-122"/>
                <a:cs typeface="Oswald" pitchFamily="34" charset="-120"/>
              </a:rPr>
              <a:t>WHY PARTNER WITH JOULESTOWATTS?</a:t>
            </a:r>
            <a:endParaRPr lang="en-US" sz="2200" dirty="0"/>
          </a:p>
        </p:txBody>
      </p:sp>
      <p:sp>
        <p:nvSpPr>
          <p:cNvPr id="7" name="Text 5"/>
          <p:cNvSpPr/>
          <p:nvPr/>
        </p:nvSpPr>
        <p:spPr>
          <a:xfrm>
            <a:off x="667512" y="658368"/>
            <a:ext cx="11021263" cy="237744"/>
          </a:xfrm>
          <a:prstGeom prst="rect">
            <a:avLst/>
          </a:prstGeom>
          <a:noFill/>
          <a:ln/>
        </p:spPr>
        <p:txBody>
          <a:bodyPr wrap="square" lIns="0" tIns="0" rIns="0" bIns="0" rtlCol="0" anchor="ctr"/>
          <a:lstStyle/>
          <a:p>
            <a:pPr marL="0" indent="0" algn="l">
              <a:buNone/>
            </a:pPr>
            <a:r>
              <a:rPr lang="en-US" sz="1250" b="1" dirty="0">
                <a:solidFill>
                  <a:srgbClr val="2A9D8F"/>
                </a:solidFill>
                <a:latin typeface="Roboto Condensed" pitchFamily="34" charset="0"/>
                <a:ea typeface="Roboto Condensed" pitchFamily="34" charset="-122"/>
                <a:cs typeface="Roboto Condensed" pitchFamily="34" charset="-120"/>
              </a:rPr>
              <a:t>Experience the J2W edge in GCC transformation &amp; expansion</a:t>
            </a:r>
            <a:endParaRPr lang="en-US" sz="1250" dirty="0"/>
          </a:p>
        </p:txBody>
      </p:sp>
      <p:sp>
        <p:nvSpPr>
          <p:cNvPr id="8" name="Text 6"/>
          <p:cNvSpPr/>
          <p:nvPr/>
        </p:nvSpPr>
        <p:spPr>
          <a:xfrm>
            <a:off x="502920" y="1051560"/>
            <a:ext cx="11185855" cy="320040"/>
          </a:xfrm>
          <a:prstGeom prst="rect">
            <a:avLst/>
          </a:prstGeom>
          <a:noFill/>
          <a:ln/>
        </p:spPr>
        <p:txBody>
          <a:bodyPr wrap="square" lIns="0" tIns="0" rIns="0" bIns="0" rtlCol="0" anchor="ctr"/>
          <a:lstStyle/>
          <a:p>
            <a:pPr marL="0" indent="0">
              <a:buNone/>
            </a:pPr>
            <a:r>
              <a:rPr lang="en-US" sz="1150" dirty="0">
                <a:solidFill>
                  <a:srgbClr val="4B5563"/>
                </a:solidFill>
                <a:latin typeface="Raleway" pitchFamily="34" charset="0"/>
                <a:ea typeface="Raleway" pitchFamily="34" charset="-122"/>
                <a:cs typeface="Raleway" pitchFamily="34" charset="-120"/>
              </a:rPr>
              <a:t>J2W is your trusted partner in establishing and operating your new delivery center, with comprehensive services and a proven track record.</a:t>
            </a:r>
            <a:endParaRPr lang="en-US" sz="1150" dirty="0"/>
          </a:p>
        </p:txBody>
      </p:sp>
      <p:sp>
        <p:nvSpPr>
          <p:cNvPr id="9" name="Shape 7"/>
          <p:cNvSpPr/>
          <p:nvPr/>
        </p:nvSpPr>
        <p:spPr>
          <a:xfrm>
            <a:off x="502920" y="1481328"/>
            <a:ext cx="5455768" cy="457200"/>
          </a:xfrm>
          <a:prstGeom prst="roundRect">
            <a:avLst>
              <a:gd name="adj" fmla="val 10000"/>
            </a:avLst>
          </a:prstGeom>
          <a:solidFill>
            <a:srgbClr val="D62839"/>
          </a:solidFill>
          <a:ln w="12700">
            <a:solidFill>
              <a:srgbClr val="D62839"/>
            </a:solidFill>
            <a:prstDash val="solid"/>
          </a:ln>
        </p:spPr>
        <p:txBody>
          <a:bodyPr/>
          <a:lstStyle/>
          <a:p>
            <a:endParaRPr lang="en-IN"/>
          </a:p>
        </p:txBody>
      </p:sp>
      <p:sp>
        <p:nvSpPr>
          <p:cNvPr id="10" name="Text 8"/>
          <p:cNvSpPr/>
          <p:nvPr/>
        </p:nvSpPr>
        <p:spPr>
          <a:xfrm>
            <a:off x="502920" y="1481328"/>
            <a:ext cx="5455768"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Oswald" pitchFamily="34" charset="0"/>
                <a:ea typeface="Oswald" pitchFamily="34" charset="-122"/>
                <a:cs typeface="Oswald" pitchFamily="34" charset="-120"/>
              </a:rPr>
              <a:t>THE INDUSTRY APPROACH</a:t>
            </a:r>
            <a:endParaRPr lang="en-US" sz="1500" dirty="0"/>
          </a:p>
        </p:txBody>
      </p:sp>
      <p:sp>
        <p:nvSpPr>
          <p:cNvPr id="11" name="Shape 9"/>
          <p:cNvSpPr/>
          <p:nvPr/>
        </p:nvSpPr>
        <p:spPr>
          <a:xfrm>
            <a:off x="502920" y="1993392"/>
            <a:ext cx="5455768" cy="768096"/>
          </a:xfrm>
          <a:prstGeom prst="roundRect">
            <a:avLst>
              <a:gd name="adj" fmla="val 7143"/>
            </a:avLst>
          </a:prstGeom>
          <a:solidFill>
            <a:srgbClr val="FCEBED"/>
          </a:solidFill>
          <a:ln w="12700">
            <a:solidFill>
              <a:srgbClr val="E2E8F0"/>
            </a:solidFill>
            <a:prstDash val="solid"/>
          </a:ln>
        </p:spPr>
        <p:txBody>
          <a:bodyPr/>
          <a:lstStyle/>
          <a:p>
            <a:endParaRPr lang="en-IN"/>
          </a:p>
        </p:txBody>
      </p:sp>
      <p:pic>
        <p:nvPicPr>
          <p:cNvPr id="12" name="Image 0" descr="/home/claude/work/assets/icons/clock_red.png"/>
          <p:cNvPicPr>
            <a:picLocks noChangeAspect="1"/>
          </p:cNvPicPr>
          <p:nvPr/>
        </p:nvPicPr>
        <p:blipFill>
          <a:blip r:embed="rId3"/>
          <a:stretch>
            <a:fillRect/>
          </a:stretch>
        </p:blipFill>
        <p:spPr>
          <a:xfrm>
            <a:off x="667512" y="2212848"/>
            <a:ext cx="310896" cy="310896"/>
          </a:xfrm>
          <a:prstGeom prst="rect">
            <a:avLst/>
          </a:prstGeom>
        </p:spPr>
      </p:pic>
      <p:sp>
        <p:nvSpPr>
          <p:cNvPr id="13" name="Text 10"/>
          <p:cNvSpPr/>
          <p:nvPr/>
        </p:nvSpPr>
        <p:spPr>
          <a:xfrm>
            <a:off x="1069848" y="2029968"/>
            <a:ext cx="4705960" cy="694944"/>
          </a:xfrm>
          <a:prstGeom prst="rect">
            <a:avLst/>
          </a:prstGeom>
          <a:noFill/>
          <a:ln/>
        </p:spPr>
        <p:txBody>
          <a:bodyPr wrap="square" lIns="0" tIns="0" rIns="0" bIns="0" rtlCol="0" anchor="ctr"/>
          <a:lstStyle/>
          <a:p>
            <a:pPr marL="0" indent="0">
              <a:lnSpc>
                <a:spcPct val="108000"/>
              </a:lnSpc>
              <a:buNone/>
            </a:pPr>
            <a:r>
              <a:rPr lang="en-US" sz="1130" b="1" dirty="0">
                <a:solidFill>
                  <a:srgbClr val="111827"/>
                </a:solidFill>
                <a:latin typeface="Raleway" pitchFamily="34" charset="0"/>
                <a:ea typeface="Raleway" pitchFamily="34" charset="-122"/>
                <a:cs typeface="Raleway" pitchFamily="34" charset="-120"/>
              </a:rPr>
              <a:t>One-Size-Fits-All Delivery: </a:t>
            </a:r>
            <a:r>
              <a:rPr lang="en-US" sz="1050" dirty="0">
                <a:solidFill>
                  <a:srgbClr val="4B5563"/>
                </a:solidFill>
                <a:latin typeface="Raleway" pitchFamily="34" charset="0"/>
                <a:ea typeface="Raleway" pitchFamily="34" charset="-122"/>
                <a:cs typeface="Raleway" pitchFamily="34" charset="-120"/>
              </a:rPr>
              <a:t>No personalization, no alignment with business priorities.</a:t>
            </a:r>
            <a:endParaRPr lang="en-US" sz="1130" dirty="0"/>
          </a:p>
        </p:txBody>
      </p:sp>
      <p:sp>
        <p:nvSpPr>
          <p:cNvPr id="14" name="Shape 11"/>
          <p:cNvSpPr/>
          <p:nvPr/>
        </p:nvSpPr>
        <p:spPr>
          <a:xfrm>
            <a:off x="502920" y="2834640"/>
            <a:ext cx="5455768" cy="768096"/>
          </a:xfrm>
          <a:prstGeom prst="roundRect">
            <a:avLst>
              <a:gd name="adj" fmla="val 7143"/>
            </a:avLst>
          </a:prstGeom>
          <a:solidFill>
            <a:srgbClr val="FCEBED"/>
          </a:solidFill>
          <a:ln w="12700">
            <a:solidFill>
              <a:srgbClr val="E2E8F0"/>
            </a:solidFill>
            <a:prstDash val="solid"/>
          </a:ln>
        </p:spPr>
        <p:txBody>
          <a:bodyPr/>
          <a:lstStyle/>
          <a:p>
            <a:endParaRPr lang="en-IN"/>
          </a:p>
        </p:txBody>
      </p:sp>
      <p:pic>
        <p:nvPicPr>
          <p:cNvPr id="15" name="Image 1" descr="/home/claude/work/assets/icons/xcircle_red.png"/>
          <p:cNvPicPr>
            <a:picLocks noChangeAspect="1"/>
          </p:cNvPicPr>
          <p:nvPr/>
        </p:nvPicPr>
        <p:blipFill>
          <a:blip r:embed="rId4"/>
          <a:stretch>
            <a:fillRect/>
          </a:stretch>
        </p:blipFill>
        <p:spPr>
          <a:xfrm>
            <a:off x="667512" y="3054096"/>
            <a:ext cx="310896" cy="310896"/>
          </a:xfrm>
          <a:prstGeom prst="rect">
            <a:avLst/>
          </a:prstGeom>
        </p:spPr>
      </p:pic>
      <p:sp>
        <p:nvSpPr>
          <p:cNvPr id="16" name="Text 12"/>
          <p:cNvSpPr/>
          <p:nvPr/>
        </p:nvSpPr>
        <p:spPr>
          <a:xfrm>
            <a:off x="1069848" y="2871216"/>
            <a:ext cx="4705960" cy="694944"/>
          </a:xfrm>
          <a:prstGeom prst="rect">
            <a:avLst/>
          </a:prstGeom>
          <a:noFill/>
          <a:ln/>
        </p:spPr>
        <p:txBody>
          <a:bodyPr wrap="square" lIns="0" tIns="0" rIns="0" bIns="0" rtlCol="0" anchor="ctr"/>
          <a:lstStyle/>
          <a:p>
            <a:pPr marL="0" indent="0">
              <a:lnSpc>
                <a:spcPct val="108000"/>
              </a:lnSpc>
              <a:buNone/>
            </a:pPr>
            <a:r>
              <a:rPr lang="en-US" sz="1130" b="1" dirty="0">
                <a:solidFill>
                  <a:srgbClr val="111827"/>
                </a:solidFill>
                <a:latin typeface="Raleway" pitchFamily="34" charset="0"/>
                <a:ea typeface="Raleway" pitchFamily="34" charset="-122"/>
                <a:cs typeface="Raleway" pitchFamily="34" charset="-120"/>
              </a:rPr>
              <a:t>Dependence on 3rd-Party Recruiters: </a:t>
            </a:r>
            <a:r>
              <a:rPr lang="en-US" sz="1050" dirty="0">
                <a:solidFill>
                  <a:srgbClr val="4B5563"/>
                </a:solidFill>
                <a:latin typeface="Raleway" pitchFamily="34" charset="0"/>
                <a:ea typeface="Raleway" pitchFamily="34" charset="-122"/>
                <a:cs typeface="Raleway" pitchFamily="34" charset="-120"/>
              </a:rPr>
              <a:t>Inconsistent quality, lack of control.</a:t>
            </a:r>
            <a:endParaRPr lang="en-US" sz="1130" dirty="0"/>
          </a:p>
        </p:txBody>
      </p:sp>
      <p:sp>
        <p:nvSpPr>
          <p:cNvPr id="17" name="Shape 13"/>
          <p:cNvSpPr/>
          <p:nvPr/>
        </p:nvSpPr>
        <p:spPr>
          <a:xfrm>
            <a:off x="502920" y="3675888"/>
            <a:ext cx="5455768" cy="768096"/>
          </a:xfrm>
          <a:prstGeom prst="roundRect">
            <a:avLst>
              <a:gd name="adj" fmla="val 7143"/>
            </a:avLst>
          </a:prstGeom>
          <a:solidFill>
            <a:srgbClr val="FCEBED"/>
          </a:solidFill>
          <a:ln w="12700">
            <a:solidFill>
              <a:srgbClr val="E2E8F0"/>
            </a:solidFill>
            <a:prstDash val="solid"/>
          </a:ln>
        </p:spPr>
        <p:txBody>
          <a:bodyPr/>
          <a:lstStyle/>
          <a:p>
            <a:endParaRPr lang="en-IN"/>
          </a:p>
        </p:txBody>
      </p:sp>
      <p:pic>
        <p:nvPicPr>
          <p:cNvPr id="18" name="Image 2" descr="/home/claude/work/assets/icons/sitemap_red.png"/>
          <p:cNvPicPr>
            <a:picLocks noChangeAspect="1"/>
          </p:cNvPicPr>
          <p:nvPr/>
        </p:nvPicPr>
        <p:blipFill>
          <a:blip r:embed="rId5"/>
          <a:stretch>
            <a:fillRect/>
          </a:stretch>
        </p:blipFill>
        <p:spPr>
          <a:xfrm>
            <a:off x="667512" y="3895344"/>
            <a:ext cx="310896" cy="310896"/>
          </a:xfrm>
          <a:prstGeom prst="rect">
            <a:avLst/>
          </a:prstGeom>
        </p:spPr>
      </p:pic>
      <p:sp>
        <p:nvSpPr>
          <p:cNvPr id="19" name="Text 14"/>
          <p:cNvSpPr/>
          <p:nvPr/>
        </p:nvSpPr>
        <p:spPr>
          <a:xfrm>
            <a:off x="1069848" y="3712464"/>
            <a:ext cx="4705960" cy="694944"/>
          </a:xfrm>
          <a:prstGeom prst="rect">
            <a:avLst/>
          </a:prstGeom>
          <a:noFill/>
          <a:ln/>
        </p:spPr>
        <p:txBody>
          <a:bodyPr wrap="square" lIns="0" tIns="0" rIns="0" bIns="0" rtlCol="0" anchor="ctr"/>
          <a:lstStyle/>
          <a:p>
            <a:pPr marL="0" indent="0">
              <a:lnSpc>
                <a:spcPct val="108000"/>
              </a:lnSpc>
              <a:buNone/>
            </a:pPr>
            <a:r>
              <a:rPr lang="en-US" sz="1130" b="1" dirty="0">
                <a:solidFill>
                  <a:srgbClr val="111827"/>
                </a:solidFill>
                <a:latin typeface="Raleway" pitchFamily="34" charset="0"/>
                <a:ea typeface="Raleway" pitchFamily="34" charset="-122"/>
                <a:cs typeface="Raleway" pitchFamily="34" charset="-120"/>
              </a:rPr>
              <a:t>Outdated Project Delivery: </a:t>
            </a:r>
            <a:r>
              <a:rPr lang="en-US" sz="1050" dirty="0">
                <a:solidFill>
                  <a:srgbClr val="4B5563"/>
                </a:solidFill>
                <a:latin typeface="Raleway" pitchFamily="34" charset="0"/>
                <a:ea typeface="Raleway" pitchFamily="34" charset="-122"/>
                <a:cs typeface="Raleway" pitchFamily="34" charset="-120"/>
              </a:rPr>
              <a:t>Siloed teams, traditional Gantt-led execution.</a:t>
            </a:r>
            <a:endParaRPr lang="en-US" sz="1130" dirty="0"/>
          </a:p>
        </p:txBody>
      </p:sp>
      <p:sp>
        <p:nvSpPr>
          <p:cNvPr id="20" name="Shape 15"/>
          <p:cNvSpPr/>
          <p:nvPr/>
        </p:nvSpPr>
        <p:spPr>
          <a:xfrm>
            <a:off x="502920" y="4517136"/>
            <a:ext cx="5455768" cy="768096"/>
          </a:xfrm>
          <a:prstGeom prst="roundRect">
            <a:avLst>
              <a:gd name="adj" fmla="val 7143"/>
            </a:avLst>
          </a:prstGeom>
          <a:solidFill>
            <a:srgbClr val="FCEBED"/>
          </a:solidFill>
          <a:ln w="12700">
            <a:solidFill>
              <a:srgbClr val="E2E8F0"/>
            </a:solidFill>
            <a:prstDash val="solid"/>
          </a:ln>
        </p:spPr>
        <p:txBody>
          <a:bodyPr/>
          <a:lstStyle/>
          <a:p>
            <a:endParaRPr lang="en-IN"/>
          </a:p>
        </p:txBody>
      </p:sp>
      <p:pic>
        <p:nvPicPr>
          <p:cNvPr id="21" name="Image 3" descr="/home/claude/work/assets/icons/cloud_red.png"/>
          <p:cNvPicPr>
            <a:picLocks noChangeAspect="1"/>
          </p:cNvPicPr>
          <p:nvPr/>
        </p:nvPicPr>
        <p:blipFill>
          <a:blip r:embed="rId6"/>
          <a:stretch>
            <a:fillRect/>
          </a:stretch>
        </p:blipFill>
        <p:spPr>
          <a:xfrm>
            <a:off x="667512" y="4736592"/>
            <a:ext cx="310896" cy="310896"/>
          </a:xfrm>
          <a:prstGeom prst="rect">
            <a:avLst/>
          </a:prstGeom>
        </p:spPr>
      </p:pic>
      <p:sp>
        <p:nvSpPr>
          <p:cNvPr id="22" name="Text 16"/>
          <p:cNvSpPr/>
          <p:nvPr/>
        </p:nvSpPr>
        <p:spPr>
          <a:xfrm>
            <a:off x="1069848" y="4553712"/>
            <a:ext cx="4705960" cy="694944"/>
          </a:xfrm>
          <a:prstGeom prst="rect">
            <a:avLst/>
          </a:prstGeom>
          <a:noFill/>
          <a:ln/>
        </p:spPr>
        <p:txBody>
          <a:bodyPr wrap="square" lIns="0" tIns="0" rIns="0" bIns="0" rtlCol="0" anchor="ctr"/>
          <a:lstStyle/>
          <a:p>
            <a:pPr marL="0" indent="0">
              <a:lnSpc>
                <a:spcPct val="108000"/>
              </a:lnSpc>
              <a:buNone/>
            </a:pPr>
            <a:r>
              <a:rPr lang="en-US" sz="1130" b="1" dirty="0">
                <a:solidFill>
                  <a:srgbClr val="111827"/>
                </a:solidFill>
                <a:latin typeface="Raleway" pitchFamily="34" charset="0"/>
                <a:ea typeface="Raleway" pitchFamily="34" charset="-122"/>
                <a:cs typeface="Raleway" pitchFamily="34" charset="-120"/>
              </a:rPr>
              <a:t>Minimal Tech Integration: </a:t>
            </a:r>
            <a:r>
              <a:rPr lang="en-US" sz="1050" dirty="0">
                <a:solidFill>
                  <a:srgbClr val="4B5563"/>
                </a:solidFill>
                <a:latin typeface="Raleway" pitchFamily="34" charset="0"/>
                <a:ea typeface="Raleway" pitchFamily="34" charset="-122"/>
                <a:cs typeface="Raleway" pitchFamily="34" charset="-120"/>
              </a:rPr>
              <a:t>Weak automation, no digital intelligence.</a:t>
            </a:r>
            <a:endParaRPr lang="en-US" sz="1130" dirty="0"/>
          </a:p>
        </p:txBody>
      </p:sp>
      <p:sp>
        <p:nvSpPr>
          <p:cNvPr id="23" name="Shape 17"/>
          <p:cNvSpPr/>
          <p:nvPr/>
        </p:nvSpPr>
        <p:spPr>
          <a:xfrm>
            <a:off x="502920" y="5358384"/>
            <a:ext cx="5455768" cy="768096"/>
          </a:xfrm>
          <a:prstGeom prst="roundRect">
            <a:avLst>
              <a:gd name="adj" fmla="val 7143"/>
            </a:avLst>
          </a:prstGeom>
          <a:solidFill>
            <a:srgbClr val="FCEBED"/>
          </a:solidFill>
          <a:ln w="12700">
            <a:solidFill>
              <a:srgbClr val="E2E8F0"/>
            </a:solidFill>
            <a:prstDash val="solid"/>
          </a:ln>
        </p:spPr>
        <p:txBody>
          <a:bodyPr/>
          <a:lstStyle/>
          <a:p>
            <a:endParaRPr lang="en-IN"/>
          </a:p>
        </p:txBody>
      </p:sp>
      <p:pic>
        <p:nvPicPr>
          <p:cNvPr id="24" name="Image 4" descr="/home/claude/work/assets/icons/chartpie_red.png"/>
          <p:cNvPicPr>
            <a:picLocks noChangeAspect="1"/>
          </p:cNvPicPr>
          <p:nvPr/>
        </p:nvPicPr>
        <p:blipFill>
          <a:blip r:embed="rId7"/>
          <a:stretch>
            <a:fillRect/>
          </a:stretch>
        </p:blipFill>
        <p:spPr>
          <a:xfrm>
            <a:off x="667512" y="5577840"/>
            <a:ext cx="310896" cy="310896"/>
          </a:xfrm>
          <a:prstGeom prst="rect">
            <a:avLst/>
          </a:prstGeom>
        </p:spPr>
      </p:pic>
      <p:sp>
        <p:nvSpPr>
          <p:cNvPr id="25" name="Text 18"/>
          <p:cNvSpPr/>
          <p:nvPr/>
        </p:nvSpPr>
        <p:spPr>
          <a:xfrm>
            <a:off x="1069848" y="5394960"/>
            <a:ext cx="4705960" cy="694944"/>
          </a:xfrm>
          <a:prstGeom prst="rect">
            <a:avLst/>
          </a:prstGeom>
          <a:noFill/>
          <a:ln/>
        </p:spPr>
        <p:txBody>
          <a:bodyPr wrap="square" lIns="0" tIns="0" rIns="0" bIns="0" rtlCol="0" anchor="ctr"/>
          <a:lstStyle/>
          <a:p>
            <a:pPr marL="0" indent="0">
              <a:lnSpc>
                <a:spcPct val="108000"/>
              </a:lnSpc>
              <a:buNone/>
            </a:pPr>
            <a:r>
              <a:rPr lang="en-US" sz="1130" b="1" dirty="0">
                <a:solidFill>
                  <a:srgbClr val="111827"/>
                </a:solidFill>
                <a:latin typeface="Raleway" pitchFamily="34" charset="0"/>
                <a:ea typeface="Raleway" pitchFamily="34" charset="-122"/>
                <a:cs typeface="Raleway" pitchFamily="34" charset="-120"/>
              </a:rPr>
              <a:t>Delayed Value Realization: </a:t>
            </a:r>
            <a:r>
              <a:rPr lang="en-US" sz="1050" dirty="0">
                <a:solidFill>
                  <a:srgbClr val="4B5563"/>
                </a:solidFill>
                <a:latin typeface="Raleway" pitchFamily="34" charset="0"/>
                <a:ea typeface="Raleway" pitchFamily="34" charset="-122"/>
                <a:cs typeface="Raleway" pitchFamily="34" charset="-120"/>
              </a:rPr>
              <a:t>Linear outcomes, no acceleration levers.</a:t>
            </a:r>
            <a:endParaRPr lang="en-US" sz="1130" dirty="0"/>
          </a:p>
        </p:txBody>
      </p:sp>
      <p:sp>
        <p:nvSpPr>
          <p:cNvPr id="26" name="Shape 19"/>
          <p:cNvSpPr/>
          <p:nvPr/>
        </p:nvSpPr>
        <p:spPr>
          <a:xfrm>
            <a:off x="6233008" y="1481328"/>
            <a:ext cx="5455768" cy="457200"/>
          </a:xfrm>
          <a:prstGeom prst="roundRect">
            <a:avLst>
              <a:gd name="adj" fmla="val 10000"/>
            </a:avLst>
          </a:prstGeom>
          <a:solidFill>
            <a:srgbClr val="2A9D8F"/>
          </a:solidFill>
          <a:ln w="12700">
            <a:solidFill>
              <a:srgbClr val="2A9D8F"/>
            </a:solidFill>
            <a:prstDash val="solid"/>
          </a:ln>
        </p:spPr>
        <p:txBody>
          <a:bodyPr/>
          <a:lstStyle/>
          <a:p>
            <a:endParaRPr lang="en-IN"/>
          </a:p>
        </p:txBody>
      </p:sp>
      <p:sp>
        <p:nvSpPr>
          <p:cNvPr id="27" name="Text 20"/>
          <p:cNvSpPr/>
          <p:nvPr/>
        </p:nvSpPr>
        <p:spPr>
          <a:xfrm>
            <a:off x="6233008" y="1481328"/>
            <a:ext cx="5455768"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Oswald" pitchFamily="34" charset="0"/>
                <a:ea typeface="Oswald" pitchFamily="34" charset="-122"/>
                <a:cs typeface="Oswald" pitchFamily="34" charset="-120"/>
              </a:rPr>
              <a:t>THE J2W APPROACH</a:t>
            </a:r>
            <a:endParaRPr lang="en-US" sz="1500" dirty="0"/>
          </a:p>
        </p:txBody>
      </p:sp>
      <p:sp>
        <p:nvSpPr>
          <p:cNvPr id="28" name="Shape 21"/>
          <p:cNvSpPr/>
          <p:nvPr/>
        </p:nvSpPr>
        <p:spPr>
          <a:xfrm>
            <a:off x="6233008" y="1993392"/>
            <a:ext cx="5455768" cy="768096"/>
          </a:xfrm>
          <a:prstGeom prst="roundRect">
            <a:avLst>
              <a:gd name="adj" fmla="val 7143"/>
            </a:avLst>
          </a:prstGeom>
          <a:solidFill>
            <a:srgbClr val="E9F5F3"/>
          </a:solidFill>
          <a:ln w="12700">
            <a:solidFill>
              <a:srgbClr val="E2E8F0"/>
            </a:solidFill>
            <a:prstDash val="solid"/>
          </a:ln>
        </p:spPr>
        <p:txBody>
          <a:bodyPr/>
          <a:lstStyle/>
          <a:p>
            <a:endParaRPr lang="en-IN"/>
          </a:p>
        </p:txBody>
      </p:sp>
      <p:pic>
        <p:nvPicPr>
          <p:cNvPr id="29" name="Image 5" descr="/home/claude/work/assets/icons/clipboard_teal.png"/>
          <p:cNvPicPr>
            <a:picLocks noChangeAspect="1"/>
          </p:cNvPicPr>
          <p:nvPr/>
        </p:nvPicPr>
        <p:blipFill>
          <a:blip r:embed="rId8"/>
          <a:stretch>
            <a:fillRect/>
          </a:stretch>
        </p:blipFill>
        <p:spPr>
          <a:xfrm>
            <a:off x="6397600" y="2212848"/>
            <a:ext cx="310896" cy="310896"/>
          </a:xfrm>
          <a:prstGeom prst="rect">
            <a:avLst/>
          </a:prstGeom>
        </p:spPr>
      </p:pic>
      <p:sp>
        <p:nvSpPr>
          <p:cNvPr id="30" name="Text 22"/>
          <p:cNvSpPr/>
          <p:nvPr/>
        </p:nvSpPr>
        <p:spPr>
          <a:xfrm>
            <a:off x="6799936" y="2029968"/>
            <a:ext cx="4705960" cy="694944"/>
          </a:xfrm>
          <a:prstGeom prst="rect">
            <a:avLst/>
          </a:prstGeom>
          <a:noFill/>
          <a:ln/>
        </p:spPr>
        <p:txBody>
          <a:bodyPr wrap="square" lIns="0" tIns="0" rIns="0" bIns="0" rtlCol="0" anchor="ctr"/>
          <a:lstStyle/>
          <a:p>
            <a:pPr marL="0" indent="0">
              <a:lnSpc>
                <a:spcPct val="108000"/>
              </a:lnSpc>
              <a:buNone/>
            </a:pPr>
            <a:r>
              <a:rPr lang="en-US" sz="1130" b="1" dirty="0">
                <a:solidFill>
                  <a:srgbClr val="111827"/>
                </a:solidFill>
                <a:latin typeface="Raleway" pitchFamily="34" charset="0"/>
                <a:ea typeface="Raleway" pitchFamily="34" charset="-122"/>
                <a:cs typeface="Raleway" pitchFamily="34" charset="-120"/>
              </a:rPr>
              <a:t>No Minimum Requirement: </a:t>
            </a:r>
            <a:r>
              <a:rPr lang="en-US" sz="1050" dirty="0">
                <a:solidFill>
                  <a:srgbClr val="4B5563"/>
                </a:solidFill>
                <a:latin typeface="Raleway" pitchFamily="34" charset="0"/>
                <a:ea typeface="Raleway" pitchFamily="34" charset="-122"/>
                <a:cs typeface="Raleway" pitchFamily="34" charset="-120"/>
              </a:rPr>
              <a:t>Tailored solutions without any minimum commitment.</a:t>
            </a:r>
            <a:endParaRPr lang="en-US" sz="1130" dirty="0"/>
          </a:p>
        </p:txBody>
      </p:sp>
      <p:sp>
        <p:nvSpPr>
          <p:cNvPr id="31" name="Shape 23"/>
          <p:cNvSpPr/>
          <p:nvPr/>
        </p:nvSpPr>
        <p:spPr>
          <a:xfrm>
            <a:off x="6233008" y="2834640"/>
            <a:ext cx="5455768" cy="768096"/>
          </a:xfrm>
          <a:prstGeom prst="roundRect">
            <a:avLst>
              <a:gd name="adj" fmla="val 7143"/>
            </a:avLst>
          </a:prstGeom>
          <a:solidFill>
            <a:srgbClr val="E9F5F3"/>
          </a:solidFill>
          <a:ln w="12700">
            <a:solidFill>
              <a:srgbClr val="E2E8F0"/>
            </a:solidFill>
            <a:prstDash val="solid"/>
          </a:ln>
        </p:spPr>
        <p:txBody>
          <a:bodyPr/>
          <a:lstStyle/>
          <a:p>
            <a:endParaRPr lang="en-IN"/>
          </a:p>
        </p:txBody>
      </p:sp>
      <p:pic>
        <p:nvPicPr>
          <p:cNvPr id="32" name="Image 6" descr="/home/claude/work/assets/icons/usercheck_teal.png"/>
          <p:cNvPicPr>
            <a:picLocks noChangeAspect="1"/>
          </p:cNvPicPr>
          <p:nvPr/>
        </p:nvPicPr>
        <p:blipFill>
          <a:blip r:embed="rId9"/>
          <a:stretch>
            <a:fillRect/>
          </a:stretch>
        </p:blipFill>
        <p:spPr>
          <a:xfrm>
            <a:off x="6397600" y="3054096"/>
            <a:ext cx="310896" cy="310896"/>
          </a:xfrm>
          <a:prstGeom prst="rect">
            <a:avLst/>
          </a:prstGeom>
        </p:spPr>
      </p:pic>
      <p:sp>
        <p:nvSpPr>
          <p:cNvPr id="33" name="Text 24"/>
          <p:cNvSpPr/>
          <p:nvPr/>
        </p:nvSpPr>
        <p:spPr>
          <a:xfrm>
            <a:off x="6799936" y="2871216"/>
            <a:ext cx="4705960" cy="694944"/>
          </a:xfrm>
          <a:prstGeom prst="rect">
            <a:avLst/>
          </a:prstGeom>
          <a:noFill/>
          <a:ln/>
        </p:spPr>
        <p:txBody>
          <a:bodyPr wrap="square" lIns="0" tIns="0" rIns="0" bIns="0" rtlCol="0" anchor="ctr"/>
          <a:lstStyle/>
          <a:p>
            <a:pPr marL="0" indent="0">
              <a:lnSpc>
                <a:spcPct val="108000"/>
              </a:lnSpc>
              <a:buNone/>
            </a:pPr>
            <a:r>
              <a:rPr lang="en-US" sz="1130" b="1" dirty="0">
                <a:solidFill>
                  <a:srgbClr val="111827"/>
                </a:solidFill>
                <a:latin typeface="Raleway" pitchFamily="34" charset="0"/>
                <a:ea typeface="Raleway" pitchFamily="34" charset="-122"/>
                <a:cs typeface="Raleway" pitchFamily="34" charset="-120"/>
              </a:rPr>
              <a:t>Recruiter Engine In-House: </a:t>
            </a:r>
            <a:r>
              <a:rPr lang="en-US" sz="1050" dirty="0">
                <a:solidFill>
                  <a:srgbClr val="4B5563"/>
                </a:solidFill>
                <a:latin typeface="Raleway" pitchFamily="34" charset="0"/>
                <a:ea typeface="Raleway" pitchFamily="34" charset="-122"/>
                <a:cs typeface="Raleway" pitchFamily="34" charset="-120"/>
              </a:rPr>
              <a:t>250 skilled in-house recruiters ensuring high service standards.</a:t>
            </a:r>
            <a:endParaRPr lang="en-US" sz="1130" dirty="0"/>
          </a:p>
        </p:txBody>
      </p:sp>
      <p:sp>
        <p:nvSpPr>
          <p:cNvPr id="34" name="Shape 25"/>
          <p:cNvSpPr/>
          <p:nvPr/>
        </p:nvSpPr>
        <p:spPr>
          <a:xfrm>
            <a:off x="6233008" y="3675888"/>
            <a:ext cx="5455768" cy="768096"/>
          </a:xfrm>
          <a:prstGeom prst="roundRect">
            <a:avLst>
              <a:gd name="adj" fmla="val 7143"/>
            </a:avLst>
          </a:prstGeom>
          <a:solidFill>
            <a:srgbClr val="E9F5F3"/>
          </a:solidFill>
          <a:ln w="12700">
            <a:solidFill>
              <a:srgbClr val="E2E8F0"/>
            </a:solidFill>
            <a:prstDash val="solid"/>
          </a:ln>
        </p:spPr>
        <p:txBody>
          <a:bodyPr/>
          <a:lstStyle/>
          <a:p>
            <a:endParaRPr lang="en-IN"/>
          </a:p>
        </p:txBody>
      </p:sp>
      <p:pic>
        <p:nvPicPr>
          <p:cNvPr id="35" name="Image 7" descr="/home/claude/work/assets/icons/handshake_teal.png"/>
          <p:cNvPicPr>
            <a:picLocks noChangeAspect="1"/>
          </p:cNvPicPr>
          <p:nvPr/>
        </p:nvPicPr>
        <p:blipFill>
          <a:blip r:embed="rId10"/>
          <a:stretch>
            <a:fillRect/>
          </a:stretch>
        </p:blipFill>
        <p:spPr>
          <a:xfrm>
            <a:off x="6397600" y="3895344"/>
            <a:ext cx="310896" cy="310896"/>
          </a:xfrm>
          <a:prstGeom prst="rect">
            <a:avLst/>
          </a:prstGeom>
        </p:spPr>
      </p:pic>
      <p:sp>
        <p:nvSpPr>
          <p:cNvPr id="36" name="Text 26"/>
          <p:cNvSpPr/>
          <p:nvPr/>
        </p:nvSpPr>
        <p:spPr>
          <a:xfrm>
            <a:off x="6799936" y="3712464"/>
            <a:ext cx="4705960" cy="694944"/>
          </a:xfrm>
          <a:prstGeom prst="rect">
            <a:avLst/>
          </a:prstGeom>
          <a:noFill/>
          <a:ln/>
        </p:spPr>
        <p:txBody>
          <a:bodyPr wrap="square" lIns="0" tIns="0" rIns="0" bIns="0" rtlCol="0" anchor="ctr"/>
          <a:lstStyle/>
          <a:p>
            <a:pPr marL="0" indent="0">
              <a:lnSpc>
                <a:spcPct val="108000"/>
              </a:lnSpc>
              <a:buNone/>
            </a:pPr>
            <a:r>
              <a:rPr lang="en-US" sz="1130" b="1" dirty="0">
                <a:solidFill>
                  <a:srgbClr val="111827"/>
                </a:solidFill>
                <a:latin typeface="Raleway" pitchFamily="34" charset="0"/>
                <a:ea typeface="Raleway" pitchFamily="34" charset="-122"/>
                <a:cs typeface="Raleway" pitchFamily="34" charset="-120"/>
              </a:rPr>
              <a:t>Program-Based Pod Model: </a:t>
            </a:r>
            <a:r>
              <a:rPr lang="en-US" sz="1050" dirty="0">
                <a:solidFill>
                  <a:srgbClr val="4B5563"/>
                </a:solidFill>
                <a:latin typeface="Raleway" pitchFamily="34" charset="0"/>
                <a:ea typeface="Raleway" pitchFamily="34" charset="-122"/>
                <a:cs typeface="Raleway" pitchFamily="34" charset="-120"/>
              </a:rPr>
              <a:t>Maximizes project management efficiency and effectiveness.</a:t>
            </a:r>
            <a:endParaRPr lang="en-US" sz="1130" dirty="0"/>
          </a:p>
        </p:txBody>
      </p:sp>
      <p:sp>
        <p:nvSpPr>
          <p:cNvPr id="37" name="Shape 27"/>
          <p:cNvSpPr/>
          <p:nvPr/>
        </p:nvSpPr>
        <p:spPr>
          <a:xfrm>
            <a:off x="6233008" y="4517136"/>
            <a:ext cx="5455768" cy="768096"/>
          </a:xfrm>
          <a:prstGeom prst="roundRect">
            <a:avLst>
              <a:gd name="adj" fmla="val 7143"/>
            </a:avLst>
          </a:prstGeom>
          <a:solidFill>
            <a:srgbClr val="E9F5F3"/>
          </a:solidFill>
          <a:ln w="12700">
            <a:solidFill>
              <a:srgbClr val="E2E8F0"/>
            </a:solidFill>
            <a:prstDash val="solid"/>
          </a:ln>
        </p:spPr>
        <p:txBody>
          <a:bodyPr/>
          <a:lstStyle/>
          <a:p>
            <a:endParaRPr lang="en-IN"/>
          </a:p>
        </p:txBody>
      </p:sp>
      <p:pic>
        <p:nvPicPr>
          <p:cNvPr id="38" name="Image 8" descr="/home/claude/work/assets/icons/layers_teal.png"/>
          <p:cNvPicPr>
            <a:picLocks noChangeAspect="1"/>
          </p:cNvPicPr>
          <p:nvPr/>
        </p:nvPicPr>
        <p:blipFill>
          <a:blip r:embed="rId11"/>
          <a:stretch>
            <a:fillRect/>
          </a:stretch>
        </p:blipFill>
        <p:spPr>
          <a:xfrm>
            <a:off x="6397600" y="4736592"/>
            <a:ext cx="310896" cy="310896"/>
          </a:xfrm>
          <a:prstGeom prst="rect">
            <a:avLst/>
          </a:prstGeom>
        </p:spPr>
      </p:pic>
      <p:sp>
        <p:nvSpPr>
          <p:cNvPr id="39" name="Text 28"/>
          <p:cNvSpPr/>
          <p:nvPr/>
        </p:nvSpPr>
        <p:spPr>
          <a:xfrm>
            <a:off x="6799936" y="4553712"/>
            <a:ext cx="4705960" cy="694944"/>
          </a:xfrm>
          <a:prstGeom prst="rect">
            <a:avLst/>
          </a:prstGeom>
          <a:noFill/>
          <a:ln/>
        </p:spPr>
        <p:txBody>
          <a:bodyPr wrap="square" lIns="0" tIns="0" rIns="0" bIns="0" rtlCol="0" anchor="ctr"/>
          <a:lstStyle/>
          <a:p>
            <a:pPr marL="0" indent="0">
              <a:lnSpc>
                <a:spcPct val="108000"/>
              </a:lnSpc>
              <a:buNone/>
            </a:pPr>
            <a:r>
              <a:rPr lang="en-US" sz="1130" b="1" dirty="0">
                <a:solidFill>
                  <a:srgbClr val="111827"/>
                </a:solidFill>
                <a:latin typeface="Raleway" pitchFamily="34" charset="0"/>
                <a:ea typeface="Raleway" pitchFamily="34" charset="-122"/>
                <a:cs typeface="Raleway" pitchFamily="34" charset="-120"/>
              </a:rPr>
              <a:t>Four In-House Tech Products: </a:t>
            </a:r>
            <a:r>
              <a:rPr lang="en-US" sz="1050" dirty="0">
                <a:solidFill>
                  <a:srgbClr val="4B5563"/>
                </a:solidFill>
                <a:latin typeface="Raleway" pitchFamily="34" charset="0"/>
                <a:ea typeface="Raleway" pitchFamily="34" charset="-122"/>
                <a:cs typeface="Raleway" pitchFamily="34" charset="-120"/>
              </a:rPr>
              <a:t>Advanced technology to boost productivity and drive innovation.</a:t>
            </a:r>
            <a:endParaRPr lang="en-US" sz="1130" dirty="0"/>
          </a:p>
        </p:txBody>
      </p:sp>
      <p:sp>
        <p:nvSpPr>
          <p:cNvPr id="40" name="Shape 29"/>
          <p:cNvSpPr/>
          <p:nvPr/>
        </p:nvSpPr>
        <p:spPr>
          <a:xfrm>
            <a:off x="6233008" y="5358384"/>
            <a:ext cx="5455768" cy="768096"/>
          </a:xfrm>
          <a:prstGeom prst="roundRect">
            <a:avLst>
              <a:gd name="adj" fmla="val 7143"/>
            </a:avLst>
          </a:prstGeom>
          <a:solidFill>
            <a:srgbClr val="E9F5F3"/>
          </a:solidFill>
          <a:ln w="12700">
            <a:solidFill>
              <a:srgbClr val="E2E8F0"/>
            </a:solidFill>
            <a:prstDash val="solid"/>
          </a:ln>
        </p:spPr>
        <p:txBody>
          <a:bodyPr/>
          <a:lstStyle/>
          <a:p>
            <a:endParaRPr lang="en-IN"/>
          </a:p>
        </p:txBody>
      </p:sp>
      <p:pic>
        <p:nvPicPr>
          <p:cNvPr id="41" name="Image 9" descr="/home/claude/work/assets/icons/bolt_teal.png"/>
          <p:cNvPicPr>
            <a:picLocks noChangeAspect="1"/>
          </p:cNvPicPr>
          <p:nvPr/>
        </p:nvPicPr>
        <p:blipFill>
          <a:blip r:embed="rId12"/>
          <a:stretch>
            <a:fillRect/>
          </a:stretch>
        </p:blipFill>
        <p:spPr>
          <a:xfrm>
            <a:off x="6397600" y="5577840"/>
            <a:ext cx="310896" cy="310896"/>
          </a:xfrm>
          <a:prstGeom prst="rect">
            <a:avLst/>
          </a:prstGeom>
        </p:spPr>
      </p:pic>
      <p:sp>
        <p:nvSpPr>
          <p:cNvPr id="42" name="Text 30"/>
          <p:cNvSpPr/>
          <p:nvPr/>
        </p:nvSpPr>
        <p:spPr>
          <a:xfrm>
            <a:off x="6799936" y="5394960"/>
            <a:ext cx="4705960" cy="694944"/>
          </a:xfrm>
          <a:prstGeom prst="rect">
            <a:avLst/>
          </a:prstGeom>
          <a:noFill/>
          <a:ln/>
        </p:spPr>
        <p:txBody>
          <a:bodyPr wrap="square" lIns="0" tIns="0" rIns="0" bIns="0" rtlCol="0" anchor="ctr"/>
          <a:lstStyle/>
          <a:p>
            <a:pPr marL="0" indent="0">
              <a:lnSpc>
                <a:spcPct val="108000"/>
              </a:lnSpc>
              <a:buNone/>
            </a:pPr>
            <a:r>
              <a:rPr lang="en-US" sz="1130" b="1" dirty="0">
                <a:solidFill>
                  <a:srgbClr val="111827"/>
                </a:solidFill>
                <a:latin typeface="Raleway" pitchFamily="34" charset="0"/>
                <a:ea typeface="Raleway" pitchFamily="34" charset="-122"/>
                <a:cs typeface="Raleway" pitchFamily="34" charset="-120"/>
              </a:rPr>
              <a:t>Accelerated Outcomes: </a:t>
            </a:r>
            <a:r>
              <a:rPr lang="en-US" sz="1050" dirty="0">
                <a:solidFill>
                  <a:srgbClr val="4B5563"/>
                </a:solidFill>
                <a:latin typeface="Raleway" pitchFamily="34" charset="0"/>
                <a:ea typeface="Raleway" pitchFamily="34" charset="-122"/>
                <a:cs typeface="Raleway" pitchFamily="34" charset="-120"/>
              </a:rPr>
              <a:t>Fast results, exceeding expectations, driving success.</a:t>
            </a:r>
            <a:endParaRPr lang="en-US" sz="1130" dirty="0"/>
          </a:p>
        </p:txBody>
      </p:sp>
      <p:sp>
        <p:nvSpPr>
          <p:cNvPr id="43" name="Text 31"/>
          <p:cNvSpPr/>
          <p:nvPr/>
        </p:nvSpPr>
        <p:spPr>
          <a:xfrm>
            <a:off x="502920" y="6547104"/>
            <a:ext cx="2743200" cy="201168"/>
          </a:xfrm>
          <a:prstGeom prst="rect">
            <a:avLst/>
          </a:prstGeom>
          <a:noFill/>
          <a:ln/>
        </p:spPr>
        <p:txBody>
          <a:bodyPr wrap="square" lIns="0" tIns="0" rIns="0" bIns="0" rtlCol="0" anchor="ctr"/>
          <a:lstStyle/>
          <a:p>
            <a:pPr marL="0" indent="0" algn="l">
              <a:buNone/>
            </a:pPr>
            <a:r>
              <a:rPr lang="en-US" sz="800" kern="0" spc="100" dirty="0">
                <a:solidFill>
                  <a:srgbClr val="A1A1AA"/>
                </a:solidFill>
                <a:latin typeface="Roboto Condensed" pitchFamily="34" charset="0"/>
                <a:ea typeface="Roboto Condensed" pitchFamily="34" charset="-122"/>
                <a:cs typeface="Roboto Condensed" pitchFamily="34" charset="-120"/>
              </a:rPr>
              <a:t>JOULESTOWATTS</a:t>
            </a:r>
            <a:endParaRPr lang="en-US" sz="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8123327" cy="75895"/>
          </a:xfrm>
          <a:prstGeom prst="rect">
            <a:avLst/>
          </a:prstGeom>
          <a:solidFill>
            <a:srgbClr val="2A9D8F"/>
          </a:solidFill>
          <a:ln/>
        </p:spPr>
        <p:txBody>
          <a:bodyPr/>
          <a:lstStyle/>
          <a:p>
            <a:endParaRPr lang="en-IN"/>
          </a:p>
        </p:txBody>
      </p:sp>
      <p:sp>
        <p:nvSpPr>
          <p:cNvPr id="3" name="Shape 1"/>
          <p:cNvSpPr/>
          <p:nvPr/>
        </p:nvSpPr>
        <p:spPr>
          <a:xfrm>
            <a:off x="8123327" y="0"/>
            <a:ext cx="4068369" cy="75895"/>
          </a:xfrm>
          <a:prstGeom prst="rect">
            <a:avLst/>
          </a:prstGeom>
          <a:solidFill>
            <a:srgbClr val="D62839"/>
          </a:solidFill>
          <a:ln/>
        </p:spPr>
        <p:txBody>
          <a:bodyPr/>
          <a:lstStyle/>
          <a:p>
            <a:endParaRPr lang="en-IN"/>
          </a:p>
        </p:txBody>
      </p:sp>
      <p:sp>
        <p:nvSpPr>
          <p:cNvPr id="4" name="Shape 2"/>
          <p:cNvSpPr/>
          <p:nvPr/>
        </p:nvSpPr>
        <p:spPr>
          <a:xfrm>
            <a:off x="9265615" y="-1463040"/>
            <a:ext cx="3840480" cy="3840480"/>
          </a:xfrm>
          <a:prstGeom prst="ellipse">
            <a:avLst/>
          </a:prstGeom>
          <a:solidFill>
            <a:srgbClr val="2A9D8F">
              <a:alpha val="4000"/>
            </a:srgbClr>
          </a:solidFill>
          <a:ln/>
        </p:spPr>
        <p:txBody>
          <a:bodyPr/>
          <a:lstStyle/>
          <a:p>
            <a:endParaRPr lang="en-IN"/>
          </a:p>
        </p:txBody>
      </p:sp>
      <p:sp>
        <p:nvSpPr>
          <p:cNvPr id="5" name="Shape 3"/>
          <p:cNvSpPr/>
          <p:nvPr/>
        </p:nvSpPr>
        <p:spPr>
          <a:xfrm>
            <a:off x="502920" y="329184"/>
            <a:ext cx="54864" cy="310896"/>
          </a:xfrm>
          <a:prstGeom prst="rect">
            <a:avLst/>
          </a:prstGeom>
          <a:solidFill>
            <a:srgbClr val="111827"/>
          </a:solidFill>
          <a:ln/>
        </p:spPr>
        <p:txBody>
          <a:bodyPr/>
          <a:lstStyle/>
          <a:p>
            <a:endParaRPr lang="en-IN"/>
          </a:p>
        </p:txBody>
      </p:sp>
      <p:sp>
        <p:nvSpPr>
          <p:cNvPr id="6" name="Text 4"/>
          <p:cNvSpPr/>
          <p:nvPr/>
        </p:nvSpPr>
        <p:spPr>
          <a:xfrm>
            <a:off x="667512" y="265176"/>
            <a:ext cx="11021263" cy="384048"/>
          </a:xfrm>
          <a:prstGeom prst="rect">
            <a:avLst/>
          </a:prstGeom>
          <a:noFill/>
          <a:ln/>
        </p:spPr>
        <p:txBody>
          <a:bodyPr wrap="square" lIns="0" tIns="0" rIns="0" bIns="0" rtlCol="0" anchor="ctr"/>
          <a:lstStyle/>
          <a:p>
            <a:pPr marL="0" indent="0" algn="l">
              <a:buNone/>
            </a:pPr>
            <a:r>
              <a:rPr lang="en-US" sz="2200" b="1" dirty="0">
                <a:solidFill>
                  <a:srgbClr val="111827"/>
                </a:solidFill>
                <a:latin typeface="Oswald" pitchFamily="34" charset="0"/>
                <a:ea typeface="Oswald" pitchFamily="34" charset="-122"/>
                <a:cs typeface="Oswald" pitchFamily="34" charset="-120"/>
              </a:rPr>
              <a:t>GCC ENABLEMENT: J2W’S EARLY-MOVER ADVANTAGE</a:t>
            </a:r>
            <a:endParaRPr lang="en-US" sz="2200" dirty="0"/>
          </a:p>
        </p:txBody>
      </p:sp>
      <p:sp>
        <p:nvSpPr>
          <p:cNvPr id="7" name="Text 5"/>
          <p:cNvSpPr/>
          <p:nvPr/>
        </p:nvSpPr>
        <p:spPr>
          <a:xfrm>
            <a:off x="667512" y="658368"/>
            <a:ext cx="11021263" cy="237744"/>
          </a:xfrm>
          <a:prstGeom prst="rect">
            <a:avLst/>
          </a:prstGeom>
          <a:noFill/>
          <a:ln/>
        </p:spPr>
        <p:txBody>
          <a:bodyPr wrap="square" lIns="0" tIns="0" rIns="0" bIns="0" rtlCol="0" anchor="ctr"/>
          <a:lstStyle/>
          <a:p>
            <a:pPr marL="0" indent="0" algn="l">
              <a:buNone/>
            </a:pPr>
            <a:r>
              <a:rPr lang="en-US" sz="1250" b="1" dirty="0">
                <a:solidFill>
                  <a:srgbClr val="2A9D8F"/>
                </a:solidFill>
                <a:latin typeface="Roboto Condensed" pitchFamily="34" charset="0"/>
                <a:ea typeface="Roboto Condensed" pitchFamily="34" charset="-122"/>
                <a:cs typeface="Roboto Condensed" pitchFamily="34" charset="-120"/>
              </a:rPr>
              <a:t>Driving India’s GCC growth journey since 2015</a:t>
            </a:r>
            <a:endParaRPr lang="en-US" sz="1250" dirty="0"/>
          </a:p>
        </p:txBody>
      </p:sp>
      <p:sp>
        <p:nvSpPr>
          <p:cNvPr id="8" name="Shape 6"/>
          <p:cNvSpPr/>
          <p:nvPr/>
        </p:nvSpPr>
        <p:spPr>
          <a:xfrm>
            <a:off x="502920" y="1097280"/>
            <a:ext cx="4160520" cy="1243584"/>
          </a:xfrm>
          <a:prstGeom prst="roundRect">
            <a:avLst>
              <a:gd name="adj" fmla="val 4412"/>
            </a:avLst>
          </a:prstGeom>
          <a:solidFill>
            <a:srgbClr val="F8FAFC"/>
          </a:solidFill>
          <a:ln w="12700">
            <a:solidFill>
              <a:srgbClr val="E2E8F0"/>
            </a:solidFill>
            <a:prstDash val="solid"/>
          </a:ln>
        </p:spPr>
        <p:txBody>
          <a:bodyPr/>
          <a:lstStyle/>
          <a:p>
            <a:endParaRPr lang="en-IN"/>
          </a:p>
        </p:txBody>
      </p:sp>
      <p:sp>
        <p:nvSpPr>
          <p:cNvPr id="9" name="Shape 7"/>
          <p:cNvSpPr/>
          <p:nvPr/>
        </p:nvSpPr>
        <p:spPr>
          <a:xfrm>
            <a:off x="502920" y="1097280"/>
            <a:ext cx="41148" cy="1243584"/>
          </a:xfrm>
          <a:prstGeom prst="roundRect">
            <a:avLst>
              <a:gd name="adj" fmla="val 44444"/>
            </a:avLst>
          </a:prstGeom>
          <a:solidFill>
            <a:srgbClr val="2A9D8F"/>
          </a:solidFill>
          <a:ln/>
        </p:spPr>
        <p:txBody>
          <a:bodyPr/>
          <a:lstStyle/>
          <a:p>
            <a:endParaRPr lang="en-IN"/>
          </a:p>
        </p:txBody>
      </p:sp>
      <p:sp>
        <p:nvSpPr>
          <p:cNvPr id="10" name="Text 8"/>
          <p:cNvSpPr/>
          <p:nvPr/>
        </p:nvSpPr>
        <p:spPr>
          <a:xfrm>
            <a:off x="704088" y="1179576"/>
            <a:ext cx="3794760" cy="274320"/>
          </a:xfrm>
          <a:prstGeom prst="rect">
            <a:avLst/>
          </a:prstGeom>
          <a:noFill/>
          <a:ln/>
        </p:spPr>
        <p:txBody>
          <a:bodyPr wrap="square" lIns="0" tIns="0" rIns="0" bIns="0" rtlCol="0" anchor="ctr"/>
          <a:lstStyle/>
          <a:p>
            <a:pPr marL="0" indent="0">
              <a:buNone/>
            </a:pPr>
            <a:r>
              <a:rPr lang="en-US" sz="1400" b="1" dirty="0">
                <a:solidFill>
                  <a:srgbClr val="2A9D8F"/>
                </a:solidFill>
                <a:latin typeface="Oswald" pitchFamily="34" charset="0"/>
                <a:ea typeface="Oswald" pitchFamily="34" charset="-122"/>
                <a:cs typeface="Oswald" pitchFamily="34" charset="-120"/>
              </a:rPr>
              <a:t>2015</a:t>
            </a:r>
            <a:endParaRPr lang="en-US" sz="1400" dirty="0"/>
          </a:p>
        </p:txBody>
      </p:sp>
      <p:sp>
        <p:nvSpPr>
          <p:cNvPr id="11" name="Text 9"/>
          <p:cNvSpPr/>
          <p:nvPr/>
        </p:nvSpPr>
        <p:spPr>
          <a:xfrm>
            <a:off x="704088" y="1463040"/>
            <a:ext cx="3794760" cy="256032"/>
          </a:xfrm>
          <a:prstGeom prst="rect">
            <a:avLst/>
          </a:prstGeom>
          <a:noFill/>
          <a:ln/>
        </p:spPr>
        <p:txBody>
          <a:bodyPr wrap="square" lIns="0" tIns="0" rIns="0" bIns="0" rtlCol="0" anchor="ctr"/>
          <a:lstStyle/>
          <a:p>
            <a:pPr marL="0" indent="0">
              <a:buNone/>
            </a:pPr>
            <a:r>
              <a:rPr lang="en-US" sz="1150" b="1" dirty="0">
                <a:solidFill>
                  <a:srgbClr val="111827"/>
                </a:solidFill>
                <a:latin typeface="Oswald" pitchFamily="34" charset="0"/>
                <a:ea typeface="Oswald" pitchFamily="34" charset="-122"/>
                <a:cs typeface="Oswald" pitchFamily="34" charset="-120"/>
              </a:rPr>
              <a:t>Early GCC Enablement</a:t>
            </a:r>
            <a:endParaRPr lang="en-US" sz="1150" dirty="0"/>
          </a:p>
        </p:txBody>
      </p:sp>
      <p:sp>
        <p:nvSpPr>
          <p:cNvPr id="12" name="Text 10"/>
          <p:cNvSpPr/>
          <p:nvPr/>
        </p:nvSpPr>
        <p:spPr>
          <a:xfrm>
            <a:off x="704088" y="1737360"/>
            <a:ext cx="3794760" cy="548640"/>
          </a:xfrm>
          <a:prstGeom prst="rect">
            <a:avLst/>
          </a:prstGeom>
          <a:noFill/>
          <a:ln/>
        </p:spPr>
        <p:txBody>
          <a:bodyPr wrap="square" lIns="0" tIns="0" rIns="0" bIns="0" rtlCol="0" anchor="ctr"/>
          <a:lstStyle/>
          <a:p>
            <a:pPr marL="0" indent="0">
              <a:lnSpc>
                <a:spcPct val="108000"/>
              </a:lnSpc>
              <a:buNone/>
            </a:pPr>
            <a:r>
              <a:rPr lang="en-US" sz="900" i="1" dirty="0">
                <a:solidFill>
                  <a:srgbClr val="4B5563"/>
                </a:solidFill>
                <a:latin typeface="Raleway" pitchFamily="34" charset="0"/>
                <a:ea typeface="Raleway" pitchFamily="34" charset="-122"/>
                <a:cs typeface="Raleway" pitchFamily="34" charset="-120"/>
              </a:rPr>
              <a:t>J2W begins enabling GCCs when the ecosystem was still nascent (India had ~200 GCCs).</a:t>
            </a:r>
            <a:endParaRPr lang="en-US" sz="900" dirty="0"/>
          </a:p>
        </p:txBody>
      </p:sp>
      <p:sp>
        <p:nvSpPr>
          <p:cNvPr id="13" name="Shape 11"/>
          <p:cNvSpPr/>
          <p:nvPr/>
        </p:nvSpPr>
        <p:spPr>
          <a:xfrm>
            <a:off x="502920" y="2423160"/>
            <a:ext cx="4160520" cy="1243584"/>
          </a:xfrm>
          <a:prstGeom prst="roundRect">
            <a:avLst>
              <a:gd name="adj" fmla="val 4412"/>
            </a:avLst>
          </a:prstGeom>
          <a:solidFill>
            <a:srgbClr val="F8FAFC"/>
          </a:solidFill>
          <a:ln w="12700">
            <a:solidFill>
              <a:srgbClr val="E2E8F0"/>
            </a:solidFill>
            <a:prstDash val="solid"/>
          </a:ln>
        </p:spPr>
        <p:txBody>
          <a:bodyPr/>
          <a:lstStyle/>
          <a:p>
            <a:endParaRPr lang="en-IN"/>
          </a:p>
        </p:txBody>
      </p:sp>
      <p:sp>
        <p:nvSpPr>
          <p:cNvPr id="14" name="Shape 12"/>
          <p:cNvSpPr/>
          <p:nvPr/>
        </p:nvSpPr>
        <p:spPr>
          <a:xfrm>
            <a:off x="502920" y="2423160"/>
            <a:ext cx="41148" cy="1243584"/>
          </a:xfrm>
          <a:prstGeom prst="roundRect">
            <a:avLst>
              <a:gd name="adj" fmla="val 44444"/>
            </a:avLst>
          </a:prstGeom>
          <a:solidFill>
            <a:srgbClr val="D62839"/>
          </a:solidFill>
          <a:ln/>
        </p:spPr>
        <p:txBody>
          <a:bodyPr/>
          <a:lstStyle/>
          <a:p>
            <a:endParaRPr lang="en-IN"/>
          </a:p>
        </p:txBody>
      </p:sp>
      <p:sp>
        <p:nvSpPr>
          <p:cNvPr id="15" name="Text 13"/>
          <p:cNvSpPr/>
          <p:nvPr/>
        </p:nvSpPr>
        <p:spPr>
          <a:xfrm>
            <a:off x="704088" y="2505456"/>
            <a:ext cx="3794760" cy="274320"/>
          </a:xfrm>
          <a:prstGeom prst="rect">
            <a:avLst/>
          </a:prstGeom>
          <a:noFill/>
          <a:ln/>
        </p:spPr>
        <p:txBody>
          <a:bodyPr wrap="square" lIns="0" tIns="0" rIns="0" bIns="0" rtlCol="0" anchor="ctr"/>
          <a:lstStyle/>
          <a:p>
            <a:pPr marL="0" indent="0">
              <a:buNone/>
            </a:pPr>
            <a:r>
              <a:rPr lang="en-US" sz="1400" b="1" dirty="0">
                <a:solidFill>
                  <a:srgbClr val="D62839"/>
                </a:solidFill>
                <a:latin typeface="Oswald" pitchFamily="34" charset="0"/>
                <a:ea typeface="Oswald" pitchFamily="34" charset="-122"/>
                <a:cs typeface="Oswald" pitchFamily="34" charset="-120"/>
              </a:rPr>
              <a:t>2018–2020</a:t>
            </a:r>
            <a:endParaRPr lang="en-US" sz="1400" dirty="0"/>
          </a:p>
        </p:txBody>
      </p:sp>
      <p:sp>
        <p:nvSpPr>
          <p:cNvPr id="16" name="Text 14"/>
          <p:cNvSpPr/>
          <p:nvPr/>
        </p:nvSpPr>
        <p:spPr>
          <a:xfrm>
            <a:off x="704088" y="2788920"/>
            <a:ext cx="3794760" cy="256032"/>
          </a:xfrm>
          <a:prstGeom prst="rect">
            <a:avLst/>
          </a:prstGeom>
          <a:noFill/>
          <a:ln/>
        </p:spPr>
        <p:txBody>
          <a:bodyPr wrap="square" lIns="0" tIns="0" rIns="0" bIns="0" rtlCol="0" anchor="ctr"/>
          <a:lstStyle/>
          <a:p>
            <a:pPr marL="0" indent="0">
              <a:buNone/>
            </a:pPr>
            <a:r>
              <a:rPr lang="en-US" sz="1150" b="1" dirty="0">
                <a:solidFill>
                  <a:srgbClr val="111827"/>
                </a:solidFill>
                <a:latin typeface="Oswald" pitchFamily="34" charset="0"/>
                <a:ea typeface="Oswald" pitchFamily="34" charset="-122"/>
                <a:cs typeface="Oswald" pitchFamily="34" charset="-120"/>
              </a:rPr>
              <a:t>Scaling &amp; Expansion</a:t>
            </a:r>
            <a:endParaRPr lang="en-US" sz="1150" dirty="0"/>
          </a:p>
        </p:txBody>
      </p:sp>
      <p:sp>
        <p:nvSpPr>
          <p:cNvPr id="17" name="Text 15"/>
          <p:cNvSpPr/>
          <p:nvPr/>
        </p:nvSpPr>
        <p:spPr>
          <a:xfrm>
            <a:off x="704088" y="3063240"/>
            <a:ext cx="3794760" cy="548640"/>
          </a:xfrm>
          <a:prstGeom prst="rect">
            <a:avLst/>
          </a:prstGeom>
          <a:noFill/>
          <a:ln/>
        </p:spPr>
        <p:txBody>
          <a:bodyPr wrap="square" lIns="0" tIns="0" rIns="0" bIns="0" rtlCol="0" anchor="ctr"/>
          <a:lstStyle/>
          <a:p>
            <a:pPr marL="0" indent="0">
              <a:lnSpc>
                <a:spcPct val="108000"/>
              </a:lnSpc>
              <a:buNone/>
            </a:pPr>
            <a:r>
              <a:rPr lang="en-US" sz="900" i="1" dirty="0">
                <a:solidFill>
                  <a:srgbClr val="4B5563"/>
                </a:solidFill>
                <a:latin typeface="Raleway" pitchFamily="34" charset="0"/>
                <a:ea typeface="Raleway" pitchFamily="34" charset="-122"/>
                <a:cs typeface="Raleway" pitchFamily="34" charset="-120"/>
              </a:rPr>
              <a:t>Supporting Tier-1 &amp; Tier-2 cities, hybrid models, and BOT engagements.</a:t>
            </a:r>
            <a:endParaRPr lang="en-US" sz="900" dirty="0"/>
          </a:p>
        </p:txBody>
      </p:sp>
      <p:sp>
        <p:nvSpPr>
          <p:cNvPr id="18" name="Shape 16"/>
          <p:cNvSpPr/>
          <p:nvPr/>
        </p:nvSpPr>
        <p:spPr>
          <a:xfrm>
            <a:off x="502920" y="3749040"/>
            <a:ext cx="4160520" cy="1243584"/>
          </a:xfrm>
          <a:prstGeom prst="roundRect">
            <a:avLst>
              <a:gd name="adj" fmla="val 4412"/>
            </a:avLst>
          </a:prstGeom>
          <a:solidFill>
            <a:srgbClr val="F8FAFC"/>
          </a:solidFill>
          <a:ln w="12700">
            <a:solidFill>
              <a:srgbClr val="E2E8F0"/>
            </a:solidFill>
            <a:prstDash val="solid"/>
          </a:ln>
        </p:spPr>
        <p:txBody>
          <a:bodyPr/>
          <a:lstStyle/>
          <a:p>
            <a:endParaRPr lang="en-IN"/>
          </a:p>
        </p:txBody>
      </p:sp>
      <p:sp>
        <p:nvSpPr>
          <p:cNvPr id="19" name="Shape 17"/>
          <p:cNvSpPr/>
          <p:nvPr/>
        </p:nvSpPr>
        <p:spPr>
          <a:xfrm>
            <a:off x="502920" y="3749040"/>
            <a:ext cx="41148" cy="1243584"/>
          </a:xfrm>
          <a:prstGeom prst="roundRect">
            <a:avLst>
              <a:gd name="adj" fmla="val 44444"/>
            </a:avLst>
          </a:prstGeom>
          <a:solidFill>
            <a:srgbClr val="2A9D8F"/>
          </a:solidFill>
          <a:ln/>
        </p:spPr>
        <p:txBody>
          <a:bodyPr/>
          <a:lstStyle/>
          <a:p>
            <a:endParaRPr lang="en-IN"/>
          </a:p>
        </p:txBody>
      </p:sp>
      <p:sp>
        <p:nvSpPr>
          <p:cNvPr id="20" name="Text 18"/>
          <p:cNvSpPr/>
          <p:nvPr/>
        </p:nvSpPr>
        <p:spPr>
          <a:xfrm>
            <a:off x="704088" y="3831336"/>
            <a:ext cx="3794760" cy="274320"/>
          </a:xfrm>
          <a:prstGeom prst="rect">
            <a:avLst/>
          </a:prstGeom>
          <a:noFill/>
          <a:ln/>
        </p:spPr>
        <p:txBody>
          <a:bodyPr wrap="square" lIns="0" tIns="0" rIns="0" bIns="0" rtlCol="0" anchor="ctr"/>
          <a:lstStyle/>
          <a:p>
            <a:pPr marL="0" indent="0">
              <a:buNone/>
            </a:pPr>
            <a:r>
              <a:rPr lang="en-US" sz="1400" b="1" dirty="0">
                <a:solidFill>
                  <a:srgbClr val="2A9D8F"/>
                </a:solidFill>
                <a:latin typeface="Oswald" pitchFamily="34" charset="0"/>
                <a:ea typeface="Oswald" pitchFamily="34" charset="-122"/>
                <a:cs typeface="Oswald" pitchFamily="34" charset="-120"/>
              </a:rPr>
              <a:t>2021–Present</a:t>
            </a:r>
            <a:endParaRPr lang="en-US" sz="1400" dirty="0"/>
          </a:p>
        </p:txBody>
      </p:sp>
      <p:sp>
        <p:nvSpPr>
          <p:cNvPr id="21" name="Text 19"/>
          <p:cNvSpPr/>
          <p:nvPr/>
        </p:nvSpPr>
        <p:spPr>
          <a:xfrm>
            <a:off x="704088" y="4114800"/>
            <a:ext cx="3794760" cy="256032"/>
          </a:xfrm>
          <a:prstGeom prst="rect">
            <a:avLst/>
          </a:prstGeom>
          <a:noFill/>
          <a:ln/>
        </p:spPr>
        <p:txBody>
          <a:bodyPr wrap="square" lIns="0" tIns="0" rIns="0" bIns="0" rtlCol="0" anchor="ctr"/>
          <a:lstStyle/>
          <a:p>
            <a:pPr marL="0" indent="0">
              <a:buNone/>
            </a:pPr>
            <a:r>
              <a:rPr lang="en-US" sz="1150" b="1" dirty="0">
                <a:solidFill>
                  <a:srgbClr val="111827"/>
                </a:solidFill>
                <a:latin typeface="Oswald" pitchFamily="34" charset="0"/>
                <a:ea typeface="Oswald" pitchFamily="34" charset="-122"/>
                <a:cs typeface="Oswald" pitchFamily="34" charset="-120"/>
              </a:rPr>
              <a:t>Strategic Transformation Partner</a:t>
            </a:r>
            <a:endParaRPr lang="en-US" sz="1150" dirty="0"/>
          </a:p>
        </p:txBody>
      </p:sp>
      <p:sp>
        <p:nvSpPr>
          <p:cNvPr id="22" name="Text 20"/>
          <p:cNvSpPr/>
          <p:nvPr/>
        </p:nvSpPr>
        <p:spPr>
          <a:xfrm>
            <a:off x="704088" y="4389120"/>
            <a:ext cx="3794760" cy="548640"/>
          </a:xfrm>
          <a:prstGeom prst="rect">
            <a:avLst/>
          </a:prstGeom>
          <a:noFill/>
          <a:ln/>
        </p:spPr>
        <p:txBody>
          <a:bodyPr wrap="square" lIns="0" tIns="0" rIns="0" bIns="0" rtlCol="0" anchor="ctr"/>
          <a:lstStyle/>
          <a:p>
            <a:pPr marL="0" indent="0">
              <a:lnSpc>
                <a:spcPct val="108000"/>
              </a:lnSpc>
              <a:buNone/>
            </a:pPr>
            <a:r>
              <a:rPr lang="en-US" sz="900" i="1" dirty="0">
                <a:solidFill>
                  <a:srgbClr val="4B5563"/>
                </a:solidFill>
                <a:latin typeface="Raleway" pitchFamily="34" charset="0"/>
                <a:ea typeface="Raleway" pitchFamily="34" charset="-122"/>
                <a:cs typeface="Raleway" pitchFamily="34" charset="-120"/>
              </a:rPr>
              <a:t>End-to-end GCC enablement: setup, scale, transform, automate.</a:t>
            </a:r>
            <a:endParaRPr lang="en-US" sz="900" dirty="0"/>
          </a:p>
        </p:txBody>
      </p:sp>
      <p:sp>
        <p:nvSpPr>
          <p:cNvPr id="23" name="Text 21"/>
          <p:cNvSpPr/>
          <p:nvPr/>
        </p:nvSpPr>
        <p:spPr>
          <a:xfrm>
            <a:off x="4983480" y="1097280"/>
            <a:ext cx="6705295" cy="274320"/>
          </a:xfrm>
          <a:prstGeom prst="rect">
            <a:avLst/>
          </a:prstGeom>
          <a:noFill/>
          <a:ln/>
        </p:spPr>
        <p:txBody>
          <a:bodyPr wrap="square" lIns="0" tIns="0" rIns="0" bIns="0" rtlCol="0" anchor="ctr"/>
          <a:lstStyle/>
          <a:p>
            <a:pPr marL="0" indent="0">
              <a:buNone/>
            </a:pPr>
            <a:r>
              <a:rPr lang="en-US" sz="1200" b="1" dirty="0">
                <a:solidFill>
                  <a:srgbClr val="111827"/>
                </a:solidFill>
                <a:latin typeface="Roboto Condensed" pitchFamily="34" charset="0"/>
                <a:ea typeface="Roboto Condensed" pitchFamily="34" charset="-122"/>
                <a:cs typeface="Roboto Condensed" pitchFamily="34" charset="-120"/>
              </a:rPr>
              <a:t>GLOBAL GCC GROWTH → J2W’S EARLY ENTRY ADVANTAGE</a:t>
            </a:r>
            <a:endParaRPr lang="en-US" sz="1200" dirty="0"/>
          </a:p>
        </p:txBody>
      </p:sp>
      <p:sp>
        <p:nvSpPr>
          <p:cNvPr id="24" name="Shape 22"/>
          <p:cNvSpPr/>
          <p:nvPr/>
        </p:nvSpPr>
        <p:spPr>
          <a:xfrm>
            <a:off x="4983480" y="1463040"/>
            <a:ext cx="3078328" cy="960120"/>
          </a:xfrm>
          <a:prstGeom prst="roundRect">
            <a:avLst>
              <a:gd name="adj" fmla="val 5714"/>
            </a:avLst>
          </a:prstGeom>
          <a:solidFill>
            <a:srgbClr val="111827"/>
          </a:solidFill>
          <a:ln w="12700">
            <a:solidFill>
              <a:srgbClr val="111827"/>
            </a:solidFill>
            <a:prstDash val="solid"/>
          </a:ln>
        </p:spPr>
        <p:txBody>
          <a:bodyPr/>
          <a:lstStyle/>
          <a:p>
            <a:endParaRPr lang="en-IN"/>
          </a:p>
        </p:txBody>
      </p:sp>
      <p:sp>
        <p:nvSpPr>
          <p:cNvPr id="25" name="Text 23"/>
          <p:cNvSpPr/>
          <p:nvPr/>
        </p:nvSpPr>
        <p:spPr>
          <a:xfrm>
            <a:off x="5148072" y="1536192"/>
            <a:ext cx="2804008" cy="256032"/>
          </a:xfrm>
          <a:prstGeom prst="rect">
            <a:avLst/>
          </a:prstGeom>
          <a:noFill/>
          <a:ln/>
        </p:spPr>
        <p:txBody>
          <a:bodyPr wrap="square" lIns="0" tIns="0" rIns="0" bIns="0" rtlCol="0" anchor="ctr"/>
          <a:lstStyle/>
          <a:p>
            <a:pPr marL="0" indent="0">
              <a:buNone/>
            </a:pPr>
            <a:r>
              <a:rPr lang="en-US" sz="1100" b="1" dirty="0">
                <a:solidFill>
                  <a:srgbClr val="D1D5DB"/>
                </a:solidFill>
                <a:latin typeface="Roboto Condensed" pitchFamily="34" charset="0"/>
                <a:ea typeface="Roboto Condensed" pitchFamily="34" charset="-122"/>
                <a:cs typeface="Roboto Condensed" pitchFamily="34" charset="-120"/>
              </a:rPr>
              <a:t>2015</a:t>
            </a:r>
            <a:endParaRPr lang="en-US" sz="1100" dirty="0"/>
          </a:p>
        </p:txBody>
      </p:sp>
      <p:sp>
        <p:nvSpPr>
          <p:cNvPr id="26" name="Text 24"/>
          <p:cNvSpPr/>
          <p:nvPr/>
        </p:nvSpPr>
        <p:spPr>
          <a:xfrm>
            <a:off x="5148072" y="1755648"/>
            <a:ext cx="2804008" cy="548640"/>
          </a:xfrm>
          <a:prstGeom prst="rect">
            <a:avLst/>
          </a:prstGeom>
          <a:noFill/>
          <a:ln/>
        </p:spPr>
        <p:txBody>
          <a:bodyPr wrap="square" lIns="0" tIns="0" rIns="0" bIns="0" rtlCol="0" anchor="ctr"/>
          <a:lstStyle/>
          <a:p>
            <a:pPr marL="0" indent="0">
              <a:buNone/>
            </a:pPr>
            <a:r>
              <a:rPr lang="en-US" sz="2000" b="1" dirty="0">
                <a:solidFill>
                  <a:srgbClr val="FFFFFF"/>
                </a:solidFill>
                <a:latin typeface="Oswald" pitchFamily="34" charset="0"/>
                <a:ea typeface="Oswald" pitchFamily="34" charset="-122"/>
                <a:cs typeface="Oswald" pitchFamily="34" charset="-120"/>
              </a:rPr>
              <a:t>~200 GCCs</a:t>
            </a:r>
            <a:endParaRPr lang="en-US" sz="2000" dirty="0"/>
          </a:p>
        </p:txBody>
      </p:sp>
      <p:pic>
        <p:nvPicPr>
          <p:cNvPr id="27" name="Image 0" descr="/home/claude/work/assets/icons/arrowright_teal.png"/>
          <p:cNvPicPr>
            <a:picLocks noChangeAspect="1"/>
          </p:cNvPicPr>
          <p:nvPr/>
        </p:nvPicPr>
        <p:blipFill>
          <a:blip r:embed="rId3"/>
          <a:stretch>
            <a:fillRect/>
          </a:stretch>
        </p:blipFill>
        <p:spPr>
          <a:xfrm>
            <a:off x="8189824" y="1755648"/>
            <a:ext cx="292608" cy="292608"/>
          </a:xfrm>
          <a:prstGeom prst="rect">
            <a:avLst/>
          </a:prstGeom>
        </p:spPr>
      </p:pic>
      <p:sp>
        <p:nvSpPr>
          <p:cNvPr id="28" name="Shape 25"/>
          <p:cNvSpPr/>
          <p:nvPr/>
        </p:nvSpPr>
        <p:spPr>
          <a:xfrm>
            <a:off x="8610448" y="1463040"/>
            <a:ext cx="3078328" cy="960120"/>
          </a:xfrm>
          <a:prstGeom prst="roundRect">
            <a:avLst>
              <a:gd name="adj" fmla="val 5714"/>
            </a:avLst>
          </a:prstGeom>
          <a:solidFill>
            <a:srgbClr val="2A9D8F"/>
          </a:solidFill>
          <a:ln w="12700">
            <a:solidFill>
              <a:srgbClr val="2A9D8F"/>
            </a:solidFill>
            <a:prstDash val="solid"/>
          </a:ln>
        </p:spPr>
        <p:txBody>
          <a:bodyPr/>
          <a:lstStyle/>
          <a:p>
            <a:endParaRPr lang="en-IN"/>
          </a:p>
        </p:txBody>
      </p:sp>
      <p:sp>
        <p:nvSpPr>
          <p:cNvPr id="29" name="Text 26"/>
          <p:cNvSpPr/>
          <p:nvPr/>
        </p:nvSpPr>
        <p:spPr>
          <a:xfrm>
            <a:off x="8775040" y="1536192"/>
            <a:ext cx="2804008" cy="256032"/>
          </a:xfrm>
          <a:prstGeom prst="rect">
            <a:avLst/>
          </a:prstGeom>
          <a:noFill/>
          <a:ln/>
        </p:spPr>
        <p:txBody>
          <a:bodyPr wrap="square" lIns="0" tIns="0" rIns="0" bIns="0" rtlCol="0" anchor="ctr"/>
          <a:lstStyle/>
          <a:p>
            <a:pPr marL="0" indent="0">
              <a:buNone/>
            </a:pPr>
            <a:r>
              <a:rPr lang="en-US" sz="1100" b="1" dirty="0">
                <a:solidFill>
                  <a:srgbClr val="E9F5F3"/>
                </a:solidFill>
                <a:latin typeface="Roboto Condensed" pitchFamily="34" charset="0"/>
                <a:ea typeface="Roboto Condensed" pitchFamily="34" charset="-122"/>
                <a:cs typeface="Roboto Condensed" pitchFamily="34" charset="-120"/>
              </a:rPr>
              <a:t>2026</a:t>
            </a:r>
            <a:endParaRPr lang="en-US" sz="1100" dirty="0"/>
          </a:p>
        </p:txBody>
      </p:sp>
      <p:sp>
        <p:nvSpPr>
          <p:cNvPr id="30" name="Text 27"/>
          <p:cNvSpPr/>
          <p:nvPr/>
        </p:nvSpPr>
        <p:spPr>
          <a:xfrm>
            <a:off x="8775040" y="1755648"/>
            <a:ext cx="2804008" cy="548640"/>
          </a:xfrm>
          <a:prstGeom prst="rect">
            <a:avLst/>
          </a:prstGeom>
          <a:noFill/>
          <a:ln/>
        </p:spPr>
        <p:txBody>
          <a:bodyPr wrap="square" lIns="0" tIns="0" rIns="0" bIns="0" rtlCol="0" anchor="ctr"/>
          <a:lstStyle/>
          <a:p>
            <a:pPr marL="0" indent="0">
              <a:buNone/>
            </a:pPr>
            <a:r>
              <a:rPr lang="en-US" sz="2000" b="1" dirty="0">
                <a:solidFill>
                  <a:srgbClr val="FFFFFF"/>
                </a:solidFill>
                <a:latin typeface="Oswald" pitchFamily="34" charset="0"/>
                <a:ea typeface="Oswald" pitchFamily="34" charset="-122"/>
                <a:cs typeface="Oswald" pitchFamily="34" charset="-120"/>
              </a:rPr>
              <a:t>&gt;1,800 GCCs</a:t>
            </a:r>
            <a:endParaRPr lang="en-US" sz="2000" dirty="0"/>
          </a:p>
        </p:txBody>
      </p:sp>
      <p:sp>
        <p:nvSpPr>
          <p:cNvPr id="31" name="Shape 28"/>
          <p:cNvSpPr/>
          <p:nvPr/>
        </p:nvSpPr>
        <p:spPr>
          <a:xfrm>
            <a:off x="4983480" y="2560320"/>
            <a:ext cx="6705295" cy="502920"/>
          </a:xfrm>
          <a:prstGeom prst="roundRect">
            <a:avLst>
              <a:gd name="adj" fmla="val 10909"/>
            </a:avLst>
          </a:prstGeom>
          <a:solidFill>
            <a:srgbClr val="E9F5F3"/>
          </a:solidFill>
          <a:ln w="12700">
            <a:solidFill>
              <a:srgbClr val="2A9D8F"/>
            </a:solidFill>
            <a:prstDash val="solid"/>
          </a:ln>
        </p:spPr>
        <p:txBody>
          <a:bodyPr/>
          <a:lstStyle/>
          <a:p>
            <a:endParaRPr lang="en-IN"/>
          </a:p>
        </p:txBody>
      </p:sp>
      <p:sp>
        <p:nvSpPr>
          <p:cNvPr id="32" name="Text 29"/>
          <p:cNvSpPr/>
          <p:nvPr/>
        </p:nvSpPr>
        <p:spPr>
          <a:xfrm>
            <a:off x="5120640" y="2560320"/>
            <a:ext cx="6430975" cy="502920"/>
          </a:xfrm>
          <a:prstGeom prst="rect">
            <a:avLst/>
          </a:prstGeom>
          <a:noFill/>
          <a:ln/>
        </p:spPr>
        <p:txBody>
          <a:bodyPr wrap="square" lIns="0" tIns="0" rIns="0" bIns="0" rtlCol="0" anchor="ctr"/>
          <a:lstStyle/>
          <a:p>
            <a:pPr marL="0" indent="0" algn="ctr">
              <a:buNone/>
            </a:pPr>
            <a:r>
              <a:rPr lang="en-US" sz="1250" b="1" i="1" dirty="0">
                <a:solidFill>
                  <a:srgbClr val="111827"/>
                </a:solidFill>
                <a:latin typeface="Oswald" pitchFamily="34" charset="0"/>
                <a:ea typeface="Oswald" pitchFamily="34" charset="-122"/>
                <a:cs typeface="Oswald" pitchFamily="34" charset="-120"/>
              </a:rPr>
              <a:t>J2W has been part of this journey from 200 → 1,800+ GCCs</a:t>
            </a:r>
            <a:endParaRPr lang="en-US" sz="1250" dirty="0"/>
          </a:p>
        </p:txBody>
      </p:sp>
      <p:sp>
        <p:nvSpPr>
          <p:cNvPr id="33" name="Text 30"/>
          <p:cNvSpPr/>
          <p:nvPr/>
        </p:nvSpPr>
        <p:spPr>
          <a:xfrm>
            <a:off x="4983480" y="3218688"/>
            <a:ext cx="6705295" cy="256032"/>
          </a:xfrm>
          <a:prstGeom prst="rect">
            <a:avLst/>
          </a:prstGeom>
          <a:noFill/>
          <a:ln/>
        </p:spPr>
        <p:txBody>
          <a:bodyPr wrap="square" lIns="0" tIns="0" rIns="0" bIns="0" rtlCol="0" anchor="ctr"/>
          <a:lstStyle/>
          <a:p>
            <a:pPr marL="0" indent="0">
              <a:buNone/>
            </a:pPr>
            <a:r>
              <a:rPr lang="en-US" sz="1150" b="1" dirty="0">
                <a:solidFill>
                  <a:srgbClr val="2A9D8F"/>
                </a:solidFill>
                <a:latin typeface="Roboto Condensed" pitchFamily="34" charset="0"/>
                <a:ea typeface="Roboto Condensed" pitchFamily="34" charset="-122"/>
                <a:cs typeface="Roboto Condensed" pitchFamily="34" charset="-120"/>
              </a:rPr>
              <a:t>KEY DELIVERABLES SINCE 2015</a:t>
            </a:r>
            <a:endParaRPr lang="en-US" sz="1150" dirty="0"/>
          </a:p>
        </p:txBody>
      </p:sp>
      <p:pic>
        <p:nvPicPr>
          <p:cNvPr id="34" name="Image 1" descr="/home/claude/work/assets/icons/check_teal.png"/>
          <p:cNvPicPr>
            <a:picLocks noChangeAspect="1"/>
          </p:cNvPicPr>
          <p:nvPr/>
        </p:nvPicPr>
        <p:blipFill>
          <a:blip r:embed="rId4"/>
          <a:stretch>
            <a:fillRect/>
          </a:stretch>
        </p:blipFill>
        <p:spPr>
          <a:xfrm>
            <a:off x="4983480" y="3529584"/>
            <a:ext cx="155448" cy="155448"/>
          </a:xfrm>
          <a:prstGeom prst="rect">
            <a:avLst/>
          </a:prstGeom>
        </p:spPr>
      </p:pic>
      <p:sp>
        <p:nvSpPr>
          <p:cNvPr id="35" name="Text 31"/>
          <p:cNvSpPr/>
          <p:nvPr/>
        </p:nvSpPr>
        <p:spPr>
          <a:xfrm>
            <a:off x="5212080" y="3465576"/>
            <a:ext cx="6476695" cy="256032"/>
          </a:xfrm>
          <a:prstGeom prst="rect">
            <a:avLst/>
          </a:prstGeom>
          <a:noFill/>
          <a:ln/>
        </p:spPr>
        <p:txBody>
          <a:bodyPr wrap="square" lIns="0" tIns="0" rIns="0" bIns="0" rtlCol="0" anchor="ctr"/>
          <a:lstStyle/>
          <a:p>
            <a:pPr marL="0" indent="0">
              <a:buNone/>
            </a:pPr>
            <a:r>
              <a:rPr lang="en-US" sz="1000" dirty="0">
                <a:solidFill>
                  <a:srgbClr val="4B5563"/>
                </a:solidFill>
                <a:latin typeface="Raleway" pitchFamily="34" charset="0"/>
                <a:ea typeface="Raleway" pitchFamily="34" charset="-122"/>
                <a:cs typeface="Raleway" pitchFamily="34" charset="-120"/>
              </a:rPr>
              <a:t>End-to-end GCC setup (infra + workforce)</a:t>
            </a:r>
            <a:endParaRPr lang="en-US" sz="1000" dirty="0"/>
          </a:p>
        </p:txBody>
      </p:sp>
      <p:pic>
        <p:nvPicPr>
          <p:cNvPr id="36" name="Image 2" descr="/home/claude/work/assets/icons/check_teal.png"/>
          <p:cNvPicPr>
            <a:picLocks noChangeAspect="1"/>
          </p:cNvPicPr>
          <p:nvPr/>
        </p:nvPicPr>
        <p:blipFill>
          <a:blip r:embed="rId4"/>
          <a:stretch>
            <a:fillRect/>
          </a:stretch>
        </p:blipFill>
        <p:spPr>
          <a:xfrm>
            <a:off x="4983480" y="3794760"/>
            <a:ext cx="155448" cy="155448"/>
          </a:xfrm>
          <a:prstGeom prst="rect">
            <a:avLst/>
          </a:prstGeom>
        </p:spPr>
      </p:pic>
      <p:sp>
        <p:nvSpPr>
          <p:cNvPr id="37" name="Text 32"/>
          <p:cNvSpPr/>
          <p:nvPr/>
        </p:nvSpPr>
        <p:spPr>
          <a:xfrm>
            <a:off x="5212080" y="3730752"/>
            <a:ext cx="6476695" cy="256032"/>
          </a:xfrm>
          <a:prstGeom prst="rect">
            <a:avLst/>
          </a:prstGeom>
          <a:noFill/>
          <a:ln/>
        </p:spPr>
        <p:txBody>
          <a:bodyPr wrap="square" lIns="0" tIns="0" rIns="0" bIns="0" rtlCol="0" anchor="ctr"/>
          <a:lstStyle/>
          <a:p>
            <a:pPr marL="0" indent="0">
              <a:buNone/>
            </a:pPr>
            <a:r>
              <a:rPr lang="en-US" sz="1000" dirty="0">
                <a:solidFill>
                  <a:srgbClr val="4B5563"/>
                </a:solidFill>
                <a:latin typeface="Raleway" pitchFamily="34" charset="0"/>
                <a:ea typeface="Raleway" pitchFamily="34" charset="-122"/>
                <a:cs typeface="Raleway" pitchFamily="34" charset="-120"/>
              </a:rPr>
              <a:t>BOT model delivery (12–24 month transfers)</a:t>
            </a:r>
            <a:endParaRPr lang="en-US" sz="1000" dirty="0"/>
          </a:p>
        </p:txBody>
      </p:sp>
      <p:pic>
        <p:nvPicPr>
          <p:cNvPr id="38" name="Image 3" descr="/home/claude/work/assets/icons/check_teal.png"/>
          <p:cNvPicPr>
            <a:picLocks noChangeAspect="1"/>
          </p:cNvPicPr>
          <p:nvPr/>
        </p:nvPicPr>
        <p:blipFill>
          <a:blip r:embed="rId4"/>
          <a:stretch>
            <a:fillRect/>
          </a:stretch>
        </p:blipFill>
        <p:spPr>
          <a:xfrm>
            <a:off x="4983480" y="4059936"/>
            <a:ext cx="155448" cy="155448"/>
          </a:xfrm>
          <a:prstGeom prst="rect">
            <a:avLst/>
          </a:prstGeom>
        </p:spPr>
      </p:pic>
      <p:sp>
        <p:nvSpPr>
          <p:cNvPr id="39" name="Text 33"/>
          <p:cNvSpPr/>
          <p:nvPr/>
        </p:nvSpPr>
        <p:spPr>
          <a:xfrm>
            <a:off x="5212080" y="3995928"/>
            <a:ext cx="6476695" cy="256032"/>
          </a:xfrm>
          <a:prstGeom prst="rect">
            <a:avLst/>
          </a:prstGeom>
          <a:noFill/>
          <a:ln/>
        </p:spPr>
        <p:txBody>
          <a:bodyPr wrap="square" lIns="0" tIns="0" rIns="0" bIns="0" rtlCol="0" anchor="ctr"/>
          <a:lstStyle/>
          <a:p>
            <a:pPr marL="0" indent="0">
              <a:buNone/>
            </a:pPr>
            <a:r>
              <a:rPr lang="en-US" sz="1000" dirty="0">
                <a:solidFill>
                  <a:srgbClr val="4B5563"/>
                </a:solidFill>
                <a:latin typeface="Raleway" pitchFamily="34" charset="0"/>
                <a:ea typeface="Raleway" pitchFamily="34" charset="-122"/>
                <a:cs typeface="Raleway" pitchFamily="34" charset="-120"/>
              </a:rPr>
              <a:t>Tier-2 city expansions &amp; dual-city models</a:t>
            </a:r>
            <a:endParaRPr lang="en-US" sz="1000" dirty="0"/>
          </a:p>
        </p:txBody>
      </p:sp>
      <p:pic>
        <p:nvPicPr>
          <p:cNvPr id="40" name="Image 4" descr="/home/claude/work/assets/icons/check_teal.png"/>
          <p:cNvPicPr>
            <a:picLocks noChangeAspect="1"/>
          </p:cNvPicPr>
          <p:nvPr/>
        </p:nvPicPr>
        <p:blipFill>
          <a:blip r:embed="rId4"/>
          <a:stretch>
            <a:fillRect/>
          </a:stretch>
        </p:blipFill>
        <p:spPr>
          <a:xfrm>
            <a:off x="4983480" y="4325112"/>
            <a:ext cx="155448" cy="155448"/>
          </a:xfrm>
          <a:prstGeom prst="rect">
            <a:avLst/>
          </a:prstGeom>
        </p:spPr>
      </p:pic>
      <p:sp>
        <p:nvSpPr>
          <p:cNvPr id="41" name="Text 34"/>
          <p:cNvSpPr/>
          <p:nvPr/>
        </p:nvSpPr>
        <p:spPr>
          <a:xfrm>
            <a:off x="5212080" y="4261104"/>
            <a:ext cx="6476695" cy="256032"/>
          </a:xfrm>
          <a:prstGeom prst="rect">
            <a:avLst/>
          </a:prstGeom>
          <a:noFill/>
          <a:ln/>
        </p:spPr>
        <p:txBody>
          <a:bodyPr wrap="square" lIns="0" tIns="0" rIns="0" bIns="0" rtlCol="0" anchor="ctr"/>
          <a:lstStyle/>
          <a:p>
            <a:pPr marL="0" indent="0">
              <a:buNone/>
            </a:pPr>
            <a:r>
              <a:rPr lang="en-US" sz="1000" dirty="0">
                <a:solidFill>
                  <a:srgbClr val="4B5563"/>
                </a:solidFill>
                <a:latin typeface="Raleway" pitchFamily="34" charset="0"/>
                <a:ea typeface="Raleway" pitchFamily="34" charset="-122"/>
                <a:cs typeface="Raleway" pitchFamily="34" charset="-120"/>
              </a:rPr>
              <a:t>Governance, compliance &amp; scale programs</a:t>
            </a:r>
            <a:endParaRPr lang="en-US" sz="1000" dirty="0"/>
          </a:p>
        </p:txBody>
      </p:sp>
      <p:sp>
        <p:nvSpPr>
          <p:cNvPr id="42" name="Shape 35"/>
          <p:cNvSpPr/>
          <p:nvPr/>
        </p:nvSpPr>
        <p:spPr>
          <a:xfrm>
            <a:off x="502920" y="5074920"/>
            <a:ext cx="54864" cy="274320"/>
          </a:xfrm>
          <a:prstGeom prst="rect">
            <a:avLst/>
          </a:prstGeom>
          <a:solidFill>
            <a:srgbClr val="111827"/>
          </a:solidFill>
          <a:ln/>
        </p:spPr>
        <p:txBody>
          <a:bodyPr/>
          <a:lstStyle/>
          <a:p>
            <a:endParaRPr lang="en-IN"/>
          </a:p>
        </p:txBody>
      </p:sp>
      <p:sp>
        <p:nvSpPr>
          <p:cNvPr id="43" name="Text 36"/>
          <p:cNvSpPr/>
          <p:nvPr/>
        </p:nvSpPr>
        <p:spPr>
          <a:xfrm>
            <a:off x="667512" y="5047488"/>
            <a:ext cx="5486400" cy="310896"/>
          </a:xfrm>
          <a:prstGeom prst="rect">
            <a:avLst/>
          </a:prstGeom>
          <a:noFill/>
          <a:ln/>
        </p:spPr>
        <p:txBody>
          <a:bodyPr wrap="square" lIns="0" tIns="0" rIns="0" bIns="0" rtlCol="0" anchor="ctr"/>
          <a:lstStyle/>
          <a:p>
            <a:pPr marL="0" indent="0">
              <a:buNone/>
            </a:pPr>
            <a:r>
              <a:rPr lang="en-US" sz="1300" b="1" dirty="0">
                <a:solidFill>
                  <a:srgbClr val="111827"/>
                </a:solidFill>
                <a:latin typeface="Roboto Condensed" pitchFamily="34" charset="0"/>
                <a:ea typeface="Roboto Condensed" pitchFamily="34" charset="-122"/>
                <a:cs typeface="Roboto Condensed" pitchFamily="34" charset="-120"/>
              </a:rPr>
              <a:t>J2W DIFFERENTIATORS</a:t>
            </a:r>
            <a:endParaRPr lang="en-US" sz="1300" dirty="0"/>
          </a:p>
        </p:txBody>
      </p:sp>
      <p:sp>
        <p:nvSpPr>
          <p:cNvPr id="44" name="Shape 37"/>
          <p:cNvSpPr/>
          <p:nvPr/>
        </p:nvSpPr>
        <p:spPr>
          <a:xfrm>
            <a:off x="502920" y="5440680"/>
            <a:ext cx="2625014" cy="932688"/>
          </a:xfrm>
          <a:prstGeom prst="roundRect">
            <a:avLst>
              <a:gd name="adj" fmla="val 5882"/>
            </a:avLst>
          </a:prstGeom>
          <a:solidFill>
            <a:srgbClr val="F8FAFC"/>
          </a:solidFill>
          <a:ln w="12700">
            <a:solidFill>
              <a:srgbClr val="E2E8F0"/>
            </a:solidFill>
            <a:prstDash val="solid"/>
          </a:ln>
        </p:spPr>
        <p:txBody>
          <a:bodyPr/>
          <a:lstStyle/>
          <a:p>
            <a:endParaRPr lang="en-IN"/>
          </a:p>
        </p:txBody>
      </p:sp>
      <p:sp>
        <p:nvSpPr>
          <p:cNvPr id="45" name="Text 38"/>
          <p:cNvSpPr/>
          <p:nvPr/>
        </p:nvSpPr>
        <p:spPr>
          <a:xfrm>
            <a:off x="640080" y="5504688"/>
            <a:ext cx="2350694" cy="274320"/>
          </a:xfrm>
          <a:prstGeom prst="rect">
            <a:avLst/>
          </a:prstGeom>
          <a:noFill/>
          <a:ln/>
        </p:spPr>
        <p:txBody>
          <a:bodyPr wrap="square" lIns="0" tIns="0" rIns="0" bIns="0" rtlCol="0" anchor="ctr"/>
          <a:lstStyle/>
          <a:p>
            <a:pPr marL="0" indent="0">
              <a:buNone/>
            </a:pPr>
            <a:r>
              <a:rPr lang="en-US" sz="1400" b="1" dirty="0">
                <a:solidFill>
                  <a:srgbClr val="2A9D8F"/>
                </a:solidFill>
                <a:latin typeface="Oswald" pitchFamily="34" charset="0"/>
                <a:ea typeface="Oswald" pitchFamily="34" charset="-122"/>
                <a:cs typeface="Oswald" pitchFamily="34" charset="-120"/>
              </a:rPr>
              <a:t>01</a:t>
            </a:r>
            <a:endParaRPr lang="en-US" sz="1400" dirty="0"/>
          </a:p>
        </p:txBody>
      </p:sp>
      <p:sp>
        <p:nvSpPr>
          <p:cNvPr id="46" name="Text 39"/>
          <p:cNvSpPr/>
          <p:nvPr/>
        </p:nvSpPr>
        <p:spPr>
          <a:xfrm>
            <a:off x="640080" y="5788152"/>
            <a:ext cx="2350694" cy="347472"/>
          </a:xfrm>
          <a:prstGeom prst="rect">
            <a:avLst/>
          </a:prstGeom>
          <a:noFill/>
          <a:ln/>
        </p:spPr>
        <p:txBody>
          <a:bodyPr wrap="square" lIns="0" tIns="0" rIns="0" bIns="0" rtlCol="0" anchor="ctr"/>
          <a:lstStyle/>
          <a:p>
            <a:pPr marL="0" indent="0">
              <a:lnSpc>
                <a:spcPct val="100000"/>
              </a:lnSpc>
              <a:buNone/>
            </a:pPr>
            <a:r>
              <a:rPr lang="en-US" sz="1030" b="1" dirty="0">
                <a:solidFill>
                  <a:srgbClr val="111827"/>
                </a:solidFill>
                <a:latin typeface="Oswald" pitchFamily="34" charset="0"/>
                <a:ea typeface="Oswald" pitchFamily="34" charset="-122"/>
                <a:cs typeface="Oswald" pitchFamily="34" charset="-120"/>
              </a:rPr>
              <a:t>First Mover Since 2015</a:t>
            </a:r>
            <a:endParaRPr lang="en-US" sz="1030" dirty="0"/>
          </a:p>
        </p:txBody>
      </p:sp>
      <p:sp>
        <p:nvSpPr>
          <p:cNvPr id="47" name="Text 40"/>
          <p:cNvSpPr/>
          <p:nvPr/>
        </p:nvSpPr>
        <p:spPr>
          <a:xfrm>
            <a:off x="640080" y="6126480"/>
            <a:ext cx="2350694" cy="228600"/>
          </a:xfrm>
          <a:prstGeom prst="rect">
            <a:avLst/>
          </a:prstGeom>
          <a:noFill/>
          <a:ln/>
        </p:spPr>
        <p:txBody>
          <a:bodyPr wrap="square" lIns="0" tIns="0" rIns="0" bIns="0" rtlCol="0" anchor="ctr"/>
          <a:lstStyle/>
          <a:p>
            <a:pPr marL="0" indent="0">
              <a:buNone/>
            </a:pPr>
            <a:r>
              <a:rPr lang="en-US" sz="870" dirty="0">
                <a:solidFill>
                  <a:srgbClr val="4B5563"/>
                </a:solidFill>
                <a:latin typeface="Raleway" pitchFamily="34" charset="0"/>
                <a:ea typeface="Raleway" pitchFamily="34" charset="-122"/>
                <a:cs typeface="Raleway" pitchFamily="34" charset="-120"/>
              </a:rPr>
              <a:t>Industry credibility &amp; depth</a:t>
            </a:r>
            <a:endParaRPr lang="en-US" sz="870" dirty="0"/>
          </a:p>
        </p:txBody>
      </p:sp>
      <p:sp>
        <p:nvSpPr>
          <p:cNvPr id="48" name="Shape 41"/>
          <p:cNvSpPr/>
          <p:nvPr/>
        </p:nvSpPr>
        <p:spPr>
          <a:xfrm>
            <a:off x="3356534" y="5440680"/>
            <a:ext cx="2625014" cy="932688"/>
          </a:xfrm>
          <a:prstGeom prst="roundRect">
            <a:avLst>
              <a:gd name="adj" fmla="val 5882"/>
            </a:avLst>
          </a:prstGeom>
          <a:solidFill>
            <a:srgbClr val="F8FAFC"/>
          </a:solidFill>
          <a:ln w="12700">
            <a:solidFill>
              <a:srgbClr val="E2E8F0"/>
            </a:solidFill>
            <a:prstDash val="solid"/>
          </a:ln>
        </p:spPr>
        <p:txBody>
          <a:bodyPr/>
          <a:lstStyle/>
          <a:p>
            <a:endParaRPr lang="en-IN"/>
          </a:p>
        </p:txBody>
      </p:sp>
      <p:sp>
        <p:nvSpPr>
          <p:cNvPr id="49" name="Text 42"/>
          <p:cNvSpPr/>
          <p:nvPr/>
        </p:nvSpPr>
        <p:spPr>
          <a:xfrm>
            <a:off x="3493694" y="5504688"/>
            <a:ext cx="2350694" cy="274320"/>
          </a:xfrm>
          <a:prstGeom prst="rect">
            <a:avLst/>
          </a:prstGeom>
          <a:noFill/>
          <a:ln/>
        </p:spPr>
        <p:txBody>
          <a:bodyPr wrap="square" lIns="0" tIns="0" rIns="0" bIns="0" rtlCol="0" anchor="ctr"/>
          <a:lstStyle/>
          <a:p>
            <a:pPr marL="0" indent="0">
              <a:buNone/>
            </a:pPr>
            <a:r>
              <a:rPr lang="en-US" sz="1400" b="1" dirty="0">
                <a:solidFill>
                  <a:srgbClr val="D62839"/>
                </a:solidFill>
                <a:latin typeface="Oswald" pitchFamily="34" charset="0"/>
                <a:ea typeface="Oswald" pitchFamily="34" charset="-122"/>
                <a:cs typeface="Oswald" pitchFamily="34" charset="-120"/>
              </a:rPr>
              <a:t>02</a:t>
            </a:r>
            <a:endParaRPr lang="en-US" sz="1400" dirty="0"/>
          </a:p>
        </p:txBody>
      </p:sp>
      <p:sp>
        <p:nvSpPr>
          <p:cNvPr id="50" name="Text 43"/>
          <p:cNvSpPr/>
          <p:nvPr/>
        </p:nvSpPr>
        <p:spPr>
          <a:xfrm>
            <a:off x="3493694" y="5788152"/>
            <a:ext cx="2350694" cy="347472"/>
          </a:xfrm>
          <a:prstGeom prst="rect">
            <a:avLst/>
          </a:prstGeom>
          <a:noFill/>
          <a:ln/>
        </p:spPr>
        <p:txBody>
          <a:bodyPr wrap="square" lIns="0" tIns="0" rIns="0" bIns="0" rtlCol="0" anchor="ctr"/>
          <a:lstStyle/>
          <a:p>
            <a:pPr marL="0" indent="0">
              <a:lnSpc>
                <a:spcPct val="100000"/>
              </a:lnSpc>
              <a:buNone/>
            </a:pPr>
            <a:r>
              <a:rPr lang="en-US" sz="1030" b="1" dirty="0">
                <a:solidFill>
                  <a:srgbClr val="111827"/>
                </a:solidFill>
                <a:latin typeface="Oswald" pitchFamily="34" charset="0"/>
                <a:ea typeface="Oswald" pitchFamily="34" charset="-122"/>
                <a:cs typeface="Oswald" pitchFamily="34" charset="-120"/>
              </a:rPr>
              <a:t>Customized Operating Models</a:t>
            </a:r>
            <a:endParaRPr lang="en-US" sz="1030" dirty="0"/>
          </a:p>
        </p:txBody>
      </p:sp>
      <p:sp>
        <p:nvSpPr>
          <p:cNvPr id="51" name="Text 44"/>
          <p:cNvSpPr/>
          <p:nvPr/>
        </p:nvSpPr>
        <p:spPr>
          <a:xfrm>
            <a:off x="3493694" y="6126480"/>
            <a:ext cx="2350694" cy="228600"/>
          </a:xfrm>
          <a:prstGeom prst="rect">
            <a:avLst/>
          </a:prstGeom>
          <a:noFill/>
          <a:ln/>
        </p:spPr>
        <p:txBody>
          <a:bodyPr wrap="square" lIns="0" tIns="0" rIns="0" bIns="0" rtlCol="0" anchor="ctr"/>
          <a:lstStyle/>
          <a:p>
            <a:pPr marL="0" indent="0">
              <a:buNone/>
            </a:pPr>
            <a:r>
              <a:rPr lang="en-US" sz="870" dirty="0">
                <a:solidFill>
                  <a:srgbClr val="4B5563"/>
                </a:solidFill>
                <a:latin typeface="Raleway" pitchFamily="34" charset="0"/>
                <a:ea typeface="Raleway" pitchFamily="34" charset="-122"/>
                <a:cs typeface="Raleway" pitchFamily="34" charset="-120"/>
              </a:rPr>
              <a:t>BOT, Hybrid, Captive</a:t>
            </a:r>
            <a:endParaRPr lang="en-US" sz="870" dirty="0"/>
          </a:p>
        </p:txBody>
      </p:sp>
      <p:sp>
        <p:nvSpPr>
          <p:cNvPr id="52" name="Shape 45"/>
          <p:cNvSpPr/>
          <p:nvPr/>
        </p:nvSpPr>
        <p:spPr>
          <a:xfrm>
            <a:off x="6210148" y="5440680"/>
            <a:ext cx="2625014" cy="932688"/>
          </a:xfrm>
          <a:prstGeom prst="roundRect">
            <a:avLst>
              <a:gd name="adj" fmla="val 5882"/>
            </a:avLst>
          </a:prstGeom>
          <a:solidFill>
            <a:srgbClr val="F8FAFC"/>
          </a:solidFill>
          <a:ln w="12700">
            <a:solidFill>
              <a:srgbClr val="E2E8F0"/>
            </a:solidFill>
            <a:prstDash val="solid"/>
          </a:ln>
        </p:spPr>
        <p:txBody>
          <a:bodyPr/>
          <a:lstStyle/>
          <a:p>
            <a:endParaRPr lang="en-IN"/>
          </a:p>
        </p:txBody>
      </p:sp>
      <p:sp>
        <p:nvSpPr>
          <p:cNvPr id="53" name="Text 46"/>
          <p:cNvSpPr/>
          <p:nvPr/>
        </p:nvSpPr>
        <p:spPr>
          <a:xfrm>
            <a:off x="6347308" y="5504688"/>
            <a:ext cx="2350694" cy="274320"/>
          </a:xfrm>
          <a:prstGeom prst="rect">
            <a:avLst/>
          </a:prstGeom>
          <a:noFill/>
          <a:ln/>
        </p:spPr>
        <p:txBody>
          <a:bodyPr wrap="square" lIns="0" tIns="0" rIns="0" bIns="0" rtlCol="0" anchor="ctr"/>
          <a:lstStyle/>
          <a:p>
            <a:pPr marL="0" indent="0">
              <a:buNone/>
            </a:pPr>
            <a:r>
              <a:rPr lang="en-US" sz="1400" b="1" dirty="0">
                <a:solidFill>
                  <a:srgbClr val="2A9D8F"/>
                </a:solidFill>
                <a:latin typeface="Oswald" pitchFamily="34" charset="0"/>
                <a:ea typeface="Oswald" pitchFamily="34" charset="-122"/>
                <a:cs typeface="Oswald" pitchFamily="34" charset="-120"/>
              </a:rPr>
              <a:t>03</a:t>
            </a:r>
            <a:endParaRPr lang="en-US" sz="1400" dirty="0"/>
          </a:p>
        </p:txBody>
      </p:sp>
      <p:sp>
        <p:nvSpPr>
          <p:cNvPr id="54" name="Text 47"/>
          <p:cNvSpPr/>
          <p:nvPr/>
        </p:nvSpPr>
        <p:spPr>
          <a:xfrm>
            <a:off x="6347308" y="5788152"/>
            <a:ext cx="2350694" cy="347472"/>
          </a:xfrm>
          <a:prstGeom prst="rect">
            <a:avLst/>
          </a:prstGeom>
          <a:noFill/>
          <a:ln/>
        </p:spPr>
        <p:txBody>
          <a:bodyPr wrap="square" lIns="0" tIns="0" rIns="0" bIns="0" rtlCol="0" anchor="ctr"/>
          <a:lstStyle/>
          <a:p>
            <a:pPr marL="0" indent="0">
              <a:lnSpc>
                <a:spcPct val="100000"/>
              </a:lnSpc>
              <a:buNone/>
            </a:pPr>
            <a:r>
              <a:rPr lang="en-US" sz="1030" b="1" dirty="0">
                <a:solidFill>
                  <a:srgbClr val="111827"/>
                </a:solidFill>
                <a:latin typeface="Oswald" pitchFamily="34" charset="0"/>
                <a:ea typeface="Oswald" pitchFamily="34" charset="-122"/>
                <a:cs typeface="Oswald" pitchFamily="34" charset="-120"/>
              </a:rPr>
              <a:t>Access to Tier-2 Talent Pools</a:t>
            </a:r>
            <a:endParaRPr lang="en-US" sz="1030" dirty="0"/>
          </a:p>
        </p:txBody>
      </p:sp>
      <p:sp>
        <p:nvSpPr>
          <p:cNvPr id="55" name="Text 48"/>
          <p:cNvSpPr/>
          <p:nvPr/>
        </p:nvSpPr>
        <p:spPr>
          <a:xfrm>
            <a:off x="6347308" y="6126480"/>
            <a:ext cx="2350694" cy="228600"/>
          </a:xfrm>
          <a:prstGeom prst="rect">
            <a:avLst/>
          </a:prstGeom>
          <a:noFill/>
          <a:ln/>
        </p:spPr>
        <p:txBody>
          <a:bodyPr wrap="square" lIns="0" tIns="0" rIns="0" bIns="0" rtlCol="0" anchor="ctr"/>
          <a:lstStyle/>
          <a:p>
            <a:pPr marL="0" indent="0">
              <a:buNone/>
            </a:pPr>
            <a:r>
              <a:rPr lang="en-US" sz="870" dirty="0">
                <a:solidFill>
                  <a:srgbClr val="4B5563"/>
                </a:solidFill>
                <a:latin typeface="Raleway" pitchFamily="34" charset="0"/>
                <a:ea typeface="Raleway" pitchFamily="34" charset="-122"/>
                <a:cs typeface="Raleway" pitchFamily="34" charset="-120"/>
              </a:rPr>
              <a:t>Cost &amp; scalability advantage</a:t>
            </a:r>
            <a:endParaRPr lang="en-US" sz="870" dirty="0"/>
          </a:p>
        </p:txBody>
      </p:sp>
      <p:sp>
        <p:nvSpPr>
          <p:cNvPr id="56" name="Shape 49"/>
          <p:cNvSpPr/>
          <p:nvPr/>
        </p:nvSpPr>
        <p:spPr>
          <a:xfrm>
            <a:off x="9063761" y="5440680"/>
            <a:ext cx="2625014" cy="932688"/>
          </a:xfrm>
          <a:prstGeom prst="roundRect">
            <a:avLst>
              <a:gd name="adj" fmla="val 5882"/>
            </a:avLst>
          </a:prstGeom>
          <a:solidFill>
            <a:srgbClr val="F8FAFC"/>
          </a:solidFill>
          <a:ln w="12700">
            <a:solidFill>
              <a:srgbClr val="E2E8F0"/>
            </a:solidFill>
            <a:prstDash val="solid"/>
          </a:ln>
        </p:spPr>
        <p:txBody>
          <a:bodyPr/>
          <a:lstStyle/>
          <a:p>
            <a:endParaRPr lang="en-IN"/>
          </a:p>
        </p:txBody>
      </p:sp>
      <p:sp>
        <p:nvSpPr>
          <p:cNvPr id="57" name="Text 50"/>
          <p:cNvSpPr/>
          <p:nvPr/>
        </p:nvSpPr>
        <p:spPr>
          <a:xfrm>
            <a:off x="9200921" y="5504688"/>
            <a:ext cx="2350694" cy="274320"/>
          </a:xfrm>
          <a:prstGeom prst="rect">
            <a:avLst/>
          </a:prstGeom>
          <a:noFill/>
          <a:ln/>
        </p:spPr>
        <p:txBody>
          <a:bodyPr wrap="square" lIns="0" tIns="0" rIns="0" bIns="0" rtlCol="0" anchor="ctr"/>
          <a:lstStyle/>
          <a:p>
            <a:pPr marL="0" indent="0">
              <a:buNone/>
            </a:pPr>
            <a:r>
              <a:rPr lang="en-US" sz="1400" b="1" dirty="0">
                <a:solidFill>
                  <a:srgbClr val="D62839"/>
                </a:solidFill>
                <a:latin typeface="Oswald" pitchFamily="34" charset="0"/>
                <a:ea typeface="Oswald" pitchFamily="34" charset="-122"/>
                <a:cs typeface="Oswald" pitchFamily="34" charset="-120"/>
              </a:rPr>
              <a:t>04</a:t>
            </a:r>
            <a:endParaRPr lang="en-US" sz="1400" dirty="0"/>
          </a:p>
        </p:txBody>
      </p:sp>
      <p:sp>
        <p:nvSpPr>
          <p:cNvPr id="58" name="Text 51"/>
          <p:cNvSpPr/>
          <p:nvPr/>
        </p:nvSpPr>
        <p:spPr>
          <a:xfrm>
            <a:off x="9200921" y="5788152"/>
            <a:ext cx="2350694" cy="347472"/>
          </a:xfrm>
          <a:prstGeom prst="rect">
            <a:avLst/>
          </a:prstGeom>
          <a:noFill/>
          <a:ln/>
        </p:spPr>
        <p:txBody>
          <a:bodyPr wrap="square" lIns="0" tIns="0" rIns="0" bIns="0" rtlCol="0" anchor="ctr"/>
          <a:lstStyle/>
          <a:p>
            <a:pPr marL="0" indent="0">
              <a:lnSpc>
                <a:spcPct val="100000"/>
              </a:lnSpc>
              <a:buNone/>
            </a:pPr>
            <a:r>
              <a:rPr lang="en-US" sz="1030" b="1" dirty="0">
                <a:solidFill>
                  <a:srgbClr val="111827"/>
                </a:solidFill>
                <a:latin typeface="Oswald" pitchFamily="34" charset="0"/>
                <a:ea typeface="Oswald" pitchFamily="34" charset="-122"/>
                <a:cs typeface="Oswald" pitchFamily="34" charset="-120"/>
              </a:rPr>
              <a:t>Technology-Driven Workforce</a:t>
            </a:r>
            <a:endParaRPr lang="en-US" sz="1030" dirty="0"/>
          </a:p>
        </p:txBody>
      </p:sp>
      <p:sp>
        <p:nvSpPr>
          <p:cNvPr id="59" name="Text 52"/>
          <p:cNvSpPr/>
          <p:nvPr/>
        </p:nvSpPr>
        <p:spPr>
          <a:xfrm>
            <a:off x="9200921" y="6126480"/>
            <a:ext cx="2350694" cy="228600"/>
          </a:xfrm>
          <a:prstGeom prst="rect">
            <a:avLst/>
          </a:prstGeom>
          <a:noFill/>
          <a:ln/>
        </p:spPr>
        <p:txBody>
          <a:bodyPr wrap="square" lIns="0" tIns="0" rIns="0" bIns="0" rtlCol="0" anchor="ctr"/>
          <a:lstStyle/>
          <a:p>
            <a:pPr marL="0" indent="0">
              <a:buNone/>
            </a:pPr>
            <a:r>
              <a:rPr lang="en-US" sz="870" dirty="0">
                <a:solidFill>
                  <a:srgbClr val="4B5563"/>
                </a:solidFill>
                <a:latin typeface="Raleway" pitchFamily="34" charset="0"/>
                <a:ea typeface="Raleway" pitchFamily="34" charset="-122"/>
                <a:cs typeface="Raleway" pitchFamily="34" charset="-120"/>
              </a:rPr>
              <a:t>Automation, AI-led support</a:t>
            </a:r>
            <a:endParaRPr lang="en-US" sz="870" dirty="0"/>
          </a:p>
        </p:txBody>
      </p:sp>
      <p:sp>
        <p:nvSpPr>
          <p:cNvPr id="60" name="Text 53"/>
          <p:cNvSpPr/>
          <p:nvPr/>
        </p:nvSpPr>
        <p:spPr>
          <a:xfrm>
            <a:off x="502920" y="6547104"/>
            <a:ext cx="2743200" cy="201168"/>
          </a:xfrm>
          <a:prstGeom prst="rect">
            <a:avLst/>
          </a:prstGeom>
          <a:noFill/>
          <a:ln/>
        </p:spPr>
        <p:txBody>
          <a:bodyPr wrap="square" lIns="0" tIns="0" rIns="0" bIns="0" rtlCol="0" anchor="ctr"/>
          <a:lstStyle/>
          <a:p>
            <a:pPr marL="0" indent="0" algn="l">
              <a:buNone/>
            </a:pPr>
            <a:r>
              <a:rPr lang="en-US" sz="800" kern="0" spc="100" dirty="0">
                <a:solidFill>
                  <a:srgbClr val="A1A1AA"/>
                </a:solidFill>
                <a:latin typeface="Roboto Condensed" pitchFamily="34" charset="0"/>
                <a:ea typeface="Roboto Condensed" pitchFamily="34" charset="-122"/>
                <a:cs typeface="Roboto Condensed" pitchFamily="34" charset="-120"/>
              </a:rPr>
              <a:t>JOULESTOWATTS</a:t>
            </a:r>
            <a:endParaRPr lang="en-US" sz="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8123327" cy="75895"/>
          </a:xfrm>
          <a:prstGeom prst="rect">
            <a:avLst/>
          </a:prstGeom>
          <a:solidFill>
            <a:srgbClr val="2A9D8F"/>
          </a:solidFill>
          <a:ln/>
        </p:spPr>
        <p:txBody>
          <a:bodyPr/>
          <a:lstStyle/>
          <a:p>
            <a:endParaRPr lang="en-IN"/>
          </a:p>
        </p:txBody>
      </p:sp>
      <p:sp>
        <p:nvSpPr>
          <p:cNvPr id="3" name="Shape 1"/>
          <p:cNvSpPr/>
          <p:nvPr/>
        </p:nvSpPr>
        <p:spPr>
          <a:xfrm>
            <a:off x="8123327" y="0"/>
            <a:ext cx="4068369" cy="75895"/>
          </a:xfrm>
          <a:prstGeom prst="rect">
            <a:avLst/>
          </a:prstGeom>
          <a:solidFill>
            <a:srgbClr val="D62839"/>
          </a:solidFill>
          <a:ln/>
        </p:spPr>
        <p:txBody>
          <a:bodyPr/>
          <a:lstStyle/>
          <a:p>
            <a:endParaRPr lang="en-IN"/>
          </a:p>
        </p:txBody>
      </p:sp>
      <p:sp>
        <p:nvSpPr>
          <p:cNvPr id="4" name="Shape 2"/>
          <p:cNvSpPr/>
          <p:nvPr/>
        </p:nvSpPr>
        <p:spPr>
          <a:xfrm>
            <a:off x="9265615" y="-1463040"/>
            <a:ext cx="3840480" cy="3840480"/>
          </a:xfrm>
          <a:prstGeom prst="ellipse">
            <a:avLst/>
          </a:prstGeom>
          <a:solidFill>
            <a:srgbClr val="2A9D8F">
              <a:alpha val="4000"/>
            </a:srgbClr>
          </a:solidFill>
          <a:ln/>
        </p:spPr>
        <p:txBody>
          <a:bodyPr/>
          <a:lstStyle/>
          <a:p>
            <a:endParaRPr lang="en-IN"/>
          </a:p>
        </p:txBody>
      </p:sp>
      <p:sp>
        <p:nvSpPr>
          <p:cNvPr id="5" name="Shape 3"/>
          <p:cNvSpPr/>
          <p:nvPr/>
        </p:nvSpPr>
        <p:spPr>
          <a:xfrm>
            <a:off x="502920" y="329184"/>
            <a:ext cx="54864" cy="310896"/>
          </a:xfrm>
          <a:prstGeom prst="rect">
            <a:avLst/>
          </a:prstGeom>
          <a:solidFill>
            <a:srgbClr val="111827"/>
          </a:solidFill>
          <a:ln/>
        </p:spPr>
        <p:txBody>
          <a:bodyPr/>
          <a:lstStyle/>
          <a:p>
            <a:endParaRPr lang="en-IN"/>
          </a:p>
        </p:txBody>
      </p:sp>
      <p:sp>
        <p:nvSpPr>
          <p:cNvPr id="6" name="Text 4"/>
          <p:cNvSpPr/>
          <p:nvPr/>
        </p:nvSpPr>
        <p:spPr>
          <a:xfrm>
            <a:off x="667512" y="265176"/>
            <a:ext cx="11021263" cy="384048"/>
          </a:xfrm>
          <a:prstGeom prst="rect">
            <a:avLst/>
          </a:prstGeom>
          <a:noFill/>
          <a:ln/>
        </p:spPr>
        <p:txBody>
          <a:bodyPr wrap="square" lIns="0" tIns="0" rIns="0" bIns="0" rtlCol="0" anchor="ctr"/>
          <a:lstStyle/>
          <a:p>
            <a:pPr marL="0" indent="0" algn="l">
              <a:buNone/>
            </a:pPr>
            <a:r>
              <a:rPr lang="en-US" sz="2200" b="1" dirty="0">
                <a:solidFill>
                  <a:srgbClr val="111827"/>
                </a:solidFill>
                <a:latin typeface="Oswald" pitchFamily="34" charset="0"/>
                <a:ea typeface="Oswald" pitchFamily="34" charset="-122"/>
                <a:cs typeface="Oswald" pitchFamily="34" charset="-120"/>
              </a:rPr>
              <a:t>J2W TAILORED GCC SETUP MODELS</a:t>
            </a:r>
            <a:endParaRPr lang="en-US" sz="2200" dirty="0"/>
          </a:p>
        </p:txBody>
      </p:sp>
      <p:sp>
        <p:nvSpPr>
          <p:cNvPr id="7" name="Text 5"/>
          <p:cNvSpPr/>
          <p:nvPr/>
        </p:nvSpPr>
        <p:spPr>
          <a:xfrm>
            <a:off x="667512" y="658368"/>
            <a:ext cx="11021263" cy="237744"/>
          </a:xfrm>
          <a:prstGeom prst="rect">
            <a:avLst/>
          </a:prstGeom>
          <a:noFill/>
          <a:ln/>
        </p:spPr>
        <p:txBody>
          <a:bodyPr wrap="square" lIns="0" tIns="0" rIns="0" bIns="0" rtlCol="0" anchor="ctr"/>
          <a:lstStyle/>
          <a:p>
            <a:pPr marL="0" indent="0" algn="l">
              <a:buNone/>
            </a:pPr>
            <a:r>
              <a:rPr lang="en-US" sz="1250" b="1" dirty="0">
                <a:solidFill>
                  <a:srgbClr val="2A9D8F"/>
                </a:solidFill>
                <a:latin typeface="Roboto Condensed" pitchFamily="34" charset="0"/>
                <a:ea typeface="Roboto Condensed" pitchFamily="34" charset="-122"/>
                <a:cs typeface="Roboto Condensed" pitchFamily="34" charset="-120"/>
              </a:rPr>
              <a:t>Seamless greenfield &amp; brownfield solutions designed for speed, scale, and innovation</a:t>
            </a:r>
            <a:endParaRPr lang="en-US" sz="1250" dirty="0"/>
          </a:p>
        </p:txBody>
      </p:sp>
      <p:sp>
        <p:nvSpPr>
          <p:cNvPr id="8" name="Text 6"/>
          <p:cNvSpPr/>
          <p:nvPr/>
        </p:nvSpPr>
        <p:spPr>
          <a:xfrm>
            <a:off x="502920" y="1051560"/>
            <a:ext cx="11185855" cy="365760"/>
          </a:xfrm>
          <a:prstGeom prst="rect">
            <a:avLst/>
          </a:prstGeom>
          <a:noFill/>
          <a:ln/>
        </p:spPr>
        <p:txBody>
          <a:bodyPr wrap="square" lIns="0" tIns="0" rIns="0" bIns="0" rtlCol="0" anchor="ctr"/>
          <a:lstStyle/>
          <a:p>
            <a:pPr marL="0" indent="0">
              <a:buNone/>
            </a:pPr>
            <a:r>
              <a:rPr lang="en-US" sz="1150" dirty="0">
                <a:solidFill>
                  <a:srgbClr val="4B5563"/>
                </a:solidFill>
                <a:latin typeface="Raleway" pitchFamily="34" charset="0"/>
                <a:ea typeface="Raleway" pitchFamily="34" charset="-122"/>
                <a:cs typeface="Raleway" pitchFamily="34" charset="-120"/>
              </a:rPr>
              <a:t>Whether entering India for the first time or expanding existing operations, J2W delivers fast, de-risked GCC setups through a proven end-to-end model.</a:t>
            </a:r>
            <a:endParaRPr lang="en-US" sz="1150" dirty="0"/>
          </a:p>
        </p:txBody>
      </p:sp>
      <p:sp>
        <p:nvSpPr>
          <p:cNvPr id="9" name="Shape 7"/>
          <p:cNvSpPr/>
          <p:nvPr/>
        </p:nvSpPr>
        <p:spPr>
          <a:xfrm>
            <a:off x="502920" y="1536192"/>
            <a:ext cx="5455768" cy="438912"/>
          </a:xfrm>
          <a:prstGeom prst="roundRect">
            <a:avLst>
              <a:gd name="adj" fmla="val 10417"/>
            </a:avLst>
          </a:prstGeom>
          <a:solidFill>
            <a:srgbClr val="2A9D8F"/>
          </a:solidFill>
          <a:ln w="12700">
            <a:solidFill>
              <a:srgbClr val="2A9D8F"/>
            </a:solidFill>
            <a:prstDash val="solid"/>
          </a:ln>
        </p:spPr>
        <p:txBody>
          <a:bodyPr/>
          <a:lstStyle/>
          <a:p>
            <a:endParaRPr lang="en-IN"/>
          </a:p>
        </p:txBody>
      </p:sp>
      <p:sp>
        <p:nvSpPr>
          <p:cNvPr id="10" name="Text 8"/>
          <p:cNvSpPr/>
          <p:nvPr/>
        </p:nvSpPr>
        <p:spPr>
          <a:xfrm>
            <a:off x="502920" y="1536192"/>
            <a:ext cx="5455768"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Oswald" pitchFamily="34" charset="0"/>
                <a:ea typeface="Oswald" pitchFamily="34" charset="-122"/>
                <a:cs typeface="Oswald" pitchFamily="34" charset="-120"/>
              </a:rPr>
              <a:t>GREENFIELD GCC SETUP</a:t>
            </a:r>
            <a:endParaRPr lang="en-US" sz="1400" dirty="0"/>
          </a:p>
        </p:txBody>
      </p:sp>
      <p:sp>
        <p:nvSpPr>
          <p:cNvPr id="11" name="Text 9"/>
          <p:cNvSpPr/>
          <p:nvPr/>
        </p:nvSpPr>
        <p:spPr>
          <a:xfrm>
            <a:off x="502920" y="1975104"/>
            <a:ext cx="5455768" cy="237744"/>
          </a:xfrm>
          <a:prstGeom prst="rect">
            <a:avLst/>
          </a:prstGeom>
          <a:noFill/>
          <a:ln/>
        </p:spPr>
        <p:txBody>
          <a:bodyPr wrap="square" lIns="0" tIns="0" rIns="0" bIns="0" rtlCol="0" anchor="ctr"/>
          <a:lstStyle/>
          <a:p>
            <a:pPr marL="0" indent="0" algn="ctr">
              <a:buNone/>
            </a:pPr>
            <a:r>
              <a:rPr lang="en-US" sz="1000" i="1" dirty="0">
                <a:solidFill>
                  <a:srgbClr val="2A9D8F"/>
                </a:solidFill>
                <a:latin typeface="Roboto Condensed" pitchFamily="34" charset="0"/>
                <a:ea typeface="Roboto Condensed" pitchFamily="34" charset="-122"/>
                <a:cs typeface="Roboto Condensed" pitchFamily="34" charset="-120"/>
              </a:rPr>
              <a:t>New Entrants &amp; Innovation Hubs</a:t>
            </a:r>
            <a:endParaRPr lang="en-US" sz="1000" dirty="0"/>
          </a:p>
        </p:txBody>
      </p:sp>
      <p:sp>
        <p:nvSpPr>
          <p:cNvPr id="12" name="Shape 10"/>
          <p:cNvSpPr/>
          <p:nvPr/>
        </p:nvSpPr>
        <p:spPr>
          <a:xfrm>
            <a:off x="502920" y="2304288"/>
            <a:ext cx="2659304" cy="868680"/>
          </a:xfrm>
          <a:prstGeom prst="roundRect">
            <a:avLst>
              <a:gd name="adj" fmla="val 6316"/>
            </a:avLst>
          </a:prstGeom>
          <a:solidFill>
            <a:srgbClr val="E9F5F3"/>
          </a:solidFill>
          <a:ln w="12700">
            <a:solidFill>
              <a:srgbClr val="E2E8F0"/>
            </a:solidFill>
            <a:prstDash val="solid"/>
          </a:ln>
        </p:spPr>
        <p:txBody>
          <a:bodyPr/>
          <a:lstStyle/>
          <a:p>
            <a:endParaRPr lang="en-IN"/>
          </a:p>
        </p:txBody>
      </p:sp>
      <p:pic>
        <p:nvPicPr>
          <p:cNvPr id="13" name="Image 0" descr="/home/claude/work/assets/icons/compass_teal.png"/>
          <p:cNvPicPr>
            <a:picLocks noChangeAspect="1"/>
          </p:cNvPicPr>
          <p:nvPr/>
        </p:nvPicPr>
        <p:blipFill>
          <a:blip r:embed="rId3"/>
          <a:stretch>
            <a:fillRect/>
          </a:stretch>
        </p:blipFill>
        <p:spPr>
          <a:xfrm>
            <a:off x="1649692" y="2450592"/>
            <a:ext cx="365760" cy="365760"/>
          </a:xfrm>
          <a:prstGeom prst="rect">
            <a:avLst/>
          </a:prstGeom>
        </p:spPr>
      </p:pic>
      <p:sp>
        <p:nvSpPr>
          <p:cNvPr id="14" name="Text 11"/>
          <p:cNvSpPr/>
          <p:nvPr/>
        </p:nvSpPr>
        <p:spPr>
          <a:xfrm>
            <a:off x="594360" y="2852928"/>
            <a:ext cx="2476424" cy="292608"/>
          </a:xfrm>
          <a:prstGeom prst="rect">
            <a:avLst/>
          </a:prstGeom>
          <a:noFill/>
          <a:ln/>
        </p:spPr>
        <p:txBody>
          <a:bodyPr wrap="square" lIns="0" tIns="0" rIns="0" bIns="0" rtlCol="0" anchor="ctr"/>
          <a:lstStyle/>
          <a:p>
            <a:pPr marL="0" indent="0" algn="ctr">
              <a:buNone/>
            </a:pPr>
            <a:r>
              <a:rPr lang="en-US" sz="1050" b="1" dirty="0">
                <a:solidFill>
                  <a:srgbClr val="111827"/>
                </a:solidFill>
                <a:latin typeface="Oswald" pitchFamily="34" charset="0"/>
                <a:ea typeface="Oswald" pitchFamily="34" charset="-122"/>
                <a:cs typeface="Oswald" pitchFamily="34" charset="-120"/>
              </a:rPr>
              <a:t>CoE Design &amp; Planning</a:t>
            </a:r>
            <a:endParaRPr lang="en-US" sz="1050" dirty="0"/>
          </a:p>
        </p:txBody>
      </p:sp>
      <p:sp>
        <p:nvSpPr>
          <p:cNvPr id="15" name="Shape 12"/>
          <p:cNvSpPr/>
          <p:nvPr/>
        </p:nvSpPr>
        <p:spPr>
          <a:xfrm>
            <a:off x="3299384" y="2304288"/>
            <a:ext cx="2659304" cy="868680"/>
          </a:xfrm>
          <a:prstGeom prst="roundRect">
            <a:avLst>
              <a:gd name="adj" fmla="val 6316"/>
            </a:avLst>
          </a:prstGeom>
          <a:solidFill>
            <a:srgbClr val="E9F5F3"/>
          </a:solidFill>
          <a:ln w="12700">
            <a:solidFill>
              <a:srgbClr val="E2E8F0"/>
            </a:solidFill>
            <a:prstDash val="solid"/>
          </a:ln>
        </p:spPr>
        <p:txBody>
          <a:bodyPr/>
          <a:lstStyle/>
          <a:p>
            <a:endParaRPr lang="en-IN"/>
          </a:p>
        </p:txBody>
      </p:sp>
      <p:pic>
        <p:nvPicPr>
          <p:cNvPr id="16" name="Image 1" descr="/home/claude/work/assets/icons/pin_teal.png"/>
          <p:cNvPicPr>
            <a:picLocks noChangeAspect="1"/>
          </p:cNvPicPr>
          <p:nvPr/>
        </p:nvPicPr>
        <p:blipFill>
          <a:blip r:embed="rId4"/>
          <a:stretch>
            <a:fillRect/>
          </a:stretch>
        </p:blipFill>
        <p:spPr>
          <a:xfrm>
            <a:off x="4446156" y="2450592"/>
            <a:ext cx="365760" cy="365760"/>
          </a:xfrm>
          <a:prstGeom prst="rect">
            <a:avLst/>
          </a:prstGeom>
        </p:spPr>
      </p:pic>
      <p:sp>
        <p:nvSpPr>
          <p:cNvPr id="17" name="Text 13"/>
          <p:cNvSpPr/>
          <p:nvPr/>
        </p:nvSpPr>
        <p:spPr>
          <a:xfrm>
            <a:off x="3390824" y="2852928"/>
            <a:ext cx="2476424" cy="292608"/>
          </a:xfrm>
          <a:prstGeom prst="rect">
            <a:avLst/>
          </a:prstGeom>
          <a:noFill/>
          <a:ln/>
        </p:spPr>
        <p:txBody>
          <a:bodyPr wrap="square" lIns="0" tIns="0" rIns="0" bIns="0" rtlCol="0" anchor="ctr"/>
          <a:lstStyle/>
          <a:p>
            <a:pPr marL="0" indent="0" algn="ctr">
              <a:buNone/>
            </a:pPr>
            <a:r>
              <a:rPr lang="en-US" sz="1050" b="1" dirty="0">
                <a:solidFill>
                  <a:srgbClr val="111827"/>
                </a:solidFill>
                <a:latin typeface="Oswald" pitchFamily="34" charset="0"/>
                <a:ea typeface="Oswald" pitchFamily="34" charset="-122"/>
                <a:cs typeface="Oswald" pitchFamily="34" charset="-120"/>
              </a:rPr>
              <a:t>Location Advisory</a:t>
            </a:r>
            <a:endParaRPr lang="en-US" sz="1050" dirty="0"/>
          </a:p>
        </p:txBody>
      </p:sp>
      <p:sp>
        <p:nvSpPr>
          <p:cNvPr id="18" name="Shape 14"/>
          <p:cNvSpPr/>
          <p:nvPr/>
        </p:nvSpPr>
        <p:spPr>
          <a:xfrm>
            <a:off x="502920" y="3310128"/>
            <a:ext cx="2659304" cy="868680"/>
          </a:xfrm>
          <a:prstGeom prst="roundRect">
            <a:avLst>
              <a:gd name="adj" fmla="val 6316"/>
            </a:avLst>
          </a:prstGeom>
          <a:solidFill>
            <a:srgbClr val="E9F5F3"/>
          </a:solidFill>
          <a:ln w="12700">
            <a:solidFill>
              <a:srgbClr val="E2E8F0"/>
            </a:solidFill>
            <a:prstDash val="solid"/>
          </a:ln>
        </p:spPr>
        <p:txBody>
          <a:bodyPr/>
          <a:lstStyle/>
          <a:p>
            <a:endParaRPr lang="en-IN"/>
          </a:p>
        </p:txBody>
      </p:sp>
      <p:pic>
        <p:nvPicPr>
          <p:cNvPr id="19" name="Image 2" descr="/home/claude/work/assets/icons/bulb_teal.png"/>
          <p:cNvPicPr>
            <a:picLocks noChangeAspect="1"/>
          </p:cNvPicPr>
          <p:nvPr/>
        </p:nvPicPr>
        <p:blipFill>
          <a:blip r:embed="rId5"/>
          <a:stretch>
            <a:fillRect/>
          </a:stretch>
        </p:blipFill>
        <p:spPr>
          <a:xfrm>
            <a:off x="1649692" y="3456432"/>
            <a:ext cx="365760" cy="365760"/>
          </a:xfrm>
          <a:prstGeom prst="rect">
            <a:avLst/>
          </a:prstGeom>
        </p:spPr>
      </p:pic>
      <p:sp>
        <p:nvSpPr>
          <p:cNvPr id="20" name="Text 15"/>
          <p:cNvSpPr/>
          <p:nvPr/>
        </p:nvSpPr>
        <p:spPr>
          <a:xfrm>
            <a:off x="594360" y="3858768"/>
            <a:ext cx="2476424" cy="292608"/>
          </a:xfrm>
          <a:prstGeom prst="rect">
            <a:avLst/>
          </a:prstGeom>
          <a:noFill/>
          <a:ln/>
        </p:spPr>
        <p:txBody>
          <a:bodyPr wrap="square" lIns="0" tIns="0" rIns="0" bIns="0" rtlCol="0" anchor="ctr"/>
          <a:lstStyle/>
          <a:p>
            <a:pPr marL="0" indent="0" algn="ctr">
              <a:buNone/>
            </a:pPr>
            <a:r>
              <a:rPr lang="en-US" sz="1050" b="1" dirty="0">
                <a:solidFill>
                  <a:srgbClr val="111827"/>
                </a:solidFill>
                <a:latin typeface="Oswald" pitchFamily="34" charset="0"/>
                <a:ea typeface="Oswald" pitchFamily="34" charset="-122"/>
                <a:cs typeface="Oswald" pitchFamily="34" charset="-120"/>
              </a:rPr>
              <a:t>Employer Branding</a:t>
            </a:r>
            <a:endParaRPr lang="en-US" sz="1050" dirty="0"/>
          </a:p>
        </p:txBody>
      </p:sp>
      <p:sp>
        <p:nvSpPr>
          <p:cNvPr id="21" name="Shape 16"/>
          <p:cNvSpPr/>
          <p:nvPr/>
        </p:nvSpPr>
        <p:spPr>
          <a:xfrm>
            <a:off x="3299384" y="3310128"/>
            <a:ext cx="2659304" cy="868680"/>
          </a:xfrm>
          <a:prstGeom prst="roundRect">
            <a:avLst>
              <a:gd name="adj" fmla="val 6316"/>
            </a:avLst>
          </a:prstGeom>
          <a:solidFill>
            <a:srgbClr val="E9F5F3"/>
          </a:solidFill>
          <a:ln w="12700">
            <a:solidFill>
              <a:srgbClr val="E2E8F0"/>
            </a:solidFill>
            <a:prstDash val="solid"/>
          </a:ln>
        </p:spPr>
        <p:txBody>
          <a:bodyPr/>
          <a:lstStyle/>
          <a:p>
            <a:endParaRPr lang="en-IN"/>
          </a:p>
        </p:txBody>
      </p:sp>
      <p:pic>
        <p:nvPicPr>
          <p:cNvPr id="22" name="Image 3" descr="/home/claude/work/assets/icons/userTie_teal.png"/>
          <p:cNvPicPr>
            <a:picLocks noChangeAspect="1"/>
          </p:cNvPicPr>
          <p:nvPr/>
        </p:nvPicPr>
        <p:blipFill>
          <a:blip r:embed="rId6"/>
          <a:stretch>
            <a:fillRect/>
          </a:stretch>
        </p:blipFill>
        <p:spPr>
          <a:xfrm>
            <a:off x="4446156" y="3456432"/>
            <a:ext cx="365760" cy="365760"/>
          </a:xfrm>
          <a:prstGeom prst="rect">
            <a:avLst/>
          </a:prstGeom>
        </p:spPr>
      </p:pic>
      <p:sp>
        <p:nvSpPr>
          <p:cNvPr id="23" name="Text 17"/>
          <p:cNvSpPr/>
          <p:nvPr/>
        </p:nvSpPr>
        <p:spPr>
          <a:xfrm>
            <a:off x="3390824" y="3858768"/>
            <a:ext cx="2476424" cy="292608"/>
          </a:xfrm>
          <a:prstGeom prst="rect">
            <a:avLst/>
          </a:prstGeom>
          <a:noFill/>
          <a:ln/>
        </p:spPr>
        <p:txBody>
          <a:bodyPr wrap="square" lIns="0" tIns="0" rIns="0" bIns="0" rtlCol="0" anchor="ctr"/>
          <a:lstStyle/>
          <a:p>
            <a:pPr marL="0" indent="0" algn="ctr">
              <a:buNone/>
            </a:pPr>
            <a:r>
              <a:rPr lang="en-US" sz="1050" b="1" dirty="0">
                <a:solidFill>
                  <a:srgbClr val="111827"/>
                </a:solidFill>
                <a:latin typeface="Oswald" pitchFamily="34" charset="0"/>
                <a:ea typeface="Oswald" pitchFamily="34" charset="-122"/>
                <a:cs typeface="Oswald" pitchFamily="34" charset="-120"/>
              </a:rPr>
              <a:t>Talent Strategy</a:t>
            </a:r>
            <a:endParaRPr lang="en-US" sz="1050" dirty="0"/>
          </a:p>
        </p:txBody>
      </p:sp>
      <p:sp>
        <p:nvSpPr>
          <p:cNvPr id="24" name="Shape 18"/>
          <p:cNvSpPr/>
          <p:nvPr/>
        </p:nvSpPr>
        <p:spPr>
          <a:xfrm>
            <a:off x="6233008" y="1536192"/>
            <a:ext cx="5455768" cy="438912"/>
          </a:xfrm>
          <a:prstGeom prst="roundRect">
            <a:avLst>
              <a:gd name="adj" fmla="val 10417"/>
            </a:avLst>
          </a:prstGeom>
          <a:solidFill>
            <a:srgbClr val="D62839"/>
          </a:solidFill>
          <a:ln w="12700">
            <a:solidFill>
              <a:srgbClr val="D62839"/>
            </a:solidFill>
            <a:prstDash val="solid"/>
          </a:ln>
        </p:spPr>
        <p:txBody>
          <a:bodyPr/>
          <a:lstStyle/>
          <a:p>
            <a:endParaRPr lang="en-IN"/>
          </a:p>
        </p:txBody>
      </p:sp>
      <p:sp>
        <p:nvSpPr>
          <p:cNvPr id="25" name="Text 19"/>
          <p:cNvSpPr/>
          <p:nvPr/>
        </p:nvSpPr>
        <p:spPr>
          <a:xfrm>
            <a:off x="6233008" y="1536192"/>
            <a:ext cx="5455768"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Oswald" pitchFamily="34" charset="0"/>
                <a:ea typeface="Oswald" pitchFamily="34" charset="-122"/>
                <a:cs typeface="Oswald" pitchFamily="34" charset="-120"/>
              </a:rPr>
              <a:t>BROWNFIELD GCC SETUP</a:t>
            </a:r>
            <a:endParaRPr lang="en-US" sz="1400" dirty="0"/>
          </a:p>
        </p:txBody>
      </p:sp>
      <p:sp>
        <p:nvSpPr>
          <p:cNvPr id="26" name="Text 20"/>
          <p:cNvSpPr/>
          <p:nvPr/>
        </p:nvSpPr>
        <p:spPr>
          <a:xfrm>
            <a:off x="6233008" y="1975104"/>
            <a:ext cx="5455768" cy="237744"/>
          </a:xfrm>
          <a:prstGeom prst="rect">
            <a:avLst/>
          </a:prstGeom>
          <a:noFill/>
          <a:ln/>
        </p:spPr>
        <p:txBody>
          <a:bodyPr wrap="square" lIns="0" tIns="0" rIns="0" bIns="0" rtlCol="0" anchor="ctr"/>
          <a:lstStyle/>
          <a:p>
            <a:pPr marL="0" indent="0" algn="ctr">
              <a:buNone/>
            </a:pPr>
            <a:r>
              <a:rPr lang="en-US" sz="1000" i="1" dirty="0">
                <a:solidFill>
                  <a:srgbClr val="D62839"/>
                </a:solidFill>
                <a:latin typeface="Roboto Condensed" pitchFamily="34" charset="0"/>
                <a:ea typeface="Roboto Condensed" pitchFamily="34" charset="-122"/>
                <a:cs typeface="Roboto Condensed" pitchFamily="34" charset="-120"/>
              </a:rPr>
              <a:t>Acquisitions &amp; Scaling</a:t>
            </a:r>
            <a:endParaRPr lang="en-US" sz="1000" dirty="0"/>
          </a:p>
        </p:txBody>
      </p:sp>
      <p:sp>
        <p:nvSpPr>
          <p:cNvPr id="27" name="Shape 21"/>
          <p:cNvSpPr/>
          <p:nvPr/>
        </p:nvSpPr>
        <p:spPr>
          <a:xfrm>
            <a:off x="6233008" y="2304288"/>
            <a:ext cx="2659304" cy="868680"/>
          </a:xfrm>
          <a:prstGeom prst="roundRect">
            <a:avLst>
              <a:gd name="adj" fmla="val 6316"/>
            </a:avLst>
          </a:prstGeom>
          <a:solidFill>
            <a:srgbClr val="FCEBED"/>
          </a:solidFill>
          <a:ln w="12700">
            <a:solidFill>
              <a:srgbClr val="E2E8F0"/>
            </a:solidFill>
            <a:prstDash val="solid"/>
          </a:ln>
        </p:spPr>
        <p:txBody>
          <a:bodyPr/>
          <a:lstStyle/>
          <a:p>
            <a:endParaRPr lang="en-IN"/>
          </a:p>
        </p:txBody>
      </p:sp>
      <p:pic>
        <p:nvPicPr>
          <p:cNvPr id="28" name="Image 4" descr="/home/claude/work/assets/icons/chip_red.png"/>
          <p:cNvPicPr>
            <a:picLocks noChangeAspect="1"/>
          </p:cNvPicPr>
          <p:nvPr/>
        </p:nvPicPr>
        <p:blipFill>
          <a:blip r:embed="rId7"/>
          <a:stretch>
            <a:fillRect/>
          </a:stretch>
        </p:blipFill>
        <p:spPr>
          <a:xfrm>
            <a:off x="7379779" y="2450592"/>
            <a:ext cx="365760" cy="365760"/>
          </a:xfrm>
          <a:prstGeom prst="rect">
            <a:avLst/>
          </a:prstGeom>
        </p:spPr>
      </p:pic>
      <p:sp>
        <p:nvSpPr>
          <p:cNvPr id="29" name="Text 22"/>
          <p:cNvSpPr/>
          <p:nvPr/>
        </p:nvSpPr>
        <p:spPr>
          <a:xfrm>
            <a:off x="6324448" y="2852928"/>
            <a:ext cx="2476424" cy="292608"/>
          </a:xfrm>
          <a:prstGeom prst="rect">
            <a:avLst/>
          </a:prstGeom>
          <a:noFill/>
          <a:ln/>
        </p:spPr>
        <p:txBody>
          <a:bodyPr wrap="square" lIns="0" tIns="0" rIns="0" bIns="0" rtlCol="0" anchor="ctr"/>
          <a:lstStyle/>
          <a:p>
            <a:pPr marL="0" indent="0" algn="ctr">
              <a:buNone/>
            </a:pPr>
            <a:r>
              <a:rPr lang="en-US" sz="1050" b="1" dirty="0">
                <a:solidFill>
                  <a:srgbClr val="111827"/>
                </a:solidFill>
                <a:latin typeface="Oswald" pitchFamily="34" charset="0"/>
                <a:ea typeface="Oswald" pitchFamily="34" charset="-122"/>
                <a:cs typeface="Oswald" pitchFamily="34" charset="-120"/>
              </a:rPr>
              <a:t>Tech Stack Evolution</a:t>
            </a:r>
            <a:endParaRPr lang="en-US" sz="1050" dirty="0"/>
          </a:p>
        </p:txBody>
      </p:sp>
      <p:sp>
        <p:nvSpPr>
          <p:cNvPr id="30" name="Shape 23"/>
          <p:cNvSpPr/>
          <p:nvPr/>
        </p:nvSpPr>
        <p:spPr>
          <a:xfrm>
            <a:off x="9029471" y="2304288"/>
            <a:ext cx="2659304" cy="868680"/>
          </a:xfrm>
          <a:prstGeom prst="roundRect">
            <a:avLst>
              <a:gd name="adj" fmla="val 6316"/>
            </a:avLst>
          </a:prstGeom>
          <a:solidFill>
            <a:srgbClr val="FCEBED"/>
          </a:solidFill>
          <a:ln w="12700">
            <a:solidFill>
              <a:srgbClr val="E2E8F0"/>
            </a:solidFill>
            <a:prstDash val="solid"/>
          </a:ln>
        </p:spPr>
        <p:txBody>
          <a:bodyPr/>
          <a:lstStyle/>
          <a:p>
            <a:endParaRPr lang="en-IN"/>
          </a:p>
        </p:txBody>
      </p:sp>
      <p:pic>
        <p:nvPicPr>
          <p:cNvPr id="31" name="Image 5" descr="/home/claude/work/assets/icons/cloud_red.png"/>
          <p:cNvPicPr>
            <a:picLocks noChangeAspect="1"/>
          </p:cNvPicPr>
          <p:nvPr/>
        </p:nvPicPr>
        <p:blipFill>
          <a:blip r:embed="rId8"/>
          <a:stretch>
            <a:fillRect/>
          </a:stretch>
        </p:blipFill>
        <p:spPr>
          <a:xfrm>
            <a:off x="10176243" y="2450592"/>
            <a:ext cx="365760" cy="365760"/>
          </a:xfrm>
          <a:prstGeom prst="rect">
            <a:avLst/>
          </a:prstGeom>
        </p:spPr>
      </p:pic>
      <p:sp>
        <p:nvSpPr>
          <p:cNvPr id="32" name="Text 24"/>
          <p:cNvSpPr/>
          <p:nvPr/>
        </p:nvSpPr>
        <p:spPr>
          <a:xfrm>
            <a:off x="9120911" y="2852928"/>
            <a:ext cx="2476424" cy="292608"/>
          </a:xfrm>
          <a:prstGeom prst="rect">
            <a:avLst/>
          </a:prstGeom>
          <a:noFill/>
          <a:ln/>
        </p:spPr>
        <p:txBody>
          <a:bodyPr wrap="square" lIns="0" tIns="0" rIns="0" bIns="0" rtlCol="0" anchor="ctr"/>
          <a:lstStyle/>
          <a:p>
            <a:pPr marL="0" indent="0" algn="ctr">
              <a:buNone/>
            </a:pPr>
            <a:r>
              <a:rPr lang="en-US" sz="1050" b="1" dirty="0">
                <a:solidFill>
                  <a:srgbClr val="111827"/>
                </a:solidFill>
                <a:latin typeface="Oswald" pitchFamily="34" charset="0"/>
                <a:ea typeface="Oswald" pitchFamily="34" charset="-122"/>
                <a:cs typeface="Oswald" pitchFamily="34" charset="-120"/>
              </a:rPr>
              <a:t>IT Advisory</a:t>
            </a:r>
            <a:endParaRPr lang="en-US" sz="1050" dirty="0"/>
          </a:p>
        </p:txBody>
      </p:sp>
      <p:sp>
        <p:nvSpPr>
          <p:cNvPr id="33" name="Shape 25"/>
          <p:cNvSpPr/>
          <p:nvPr/>
        </p:nvSpPr>
        <p:spPr>
          <a:xfrm>
            <a:off x="6233008" y="3310128"/>
            <a:ext cx="2659304" cy="868680"/>
          </a:xfrm>
          <a:prstGeom prst="roundRect">
            <a:avLst>
              <a:gd name="adj" fmla="val 6316"/>
            </a:avLst>
          </a:prstGeom>
          <a:solidFill>
            <a:srgbClr val="FCEBED"/>
          </a:solidFill>
          <a:ln w="12700">
            <a:solidFill>
              <a:srgbClr val="E2E8F0"/>
            </a:solidFill>
            <a:prstDash val="solid"/>
          </a:ln>
        </p:spPr>
        <p:txBody>
          <a:bodyPr/>
          <a:lstStyle/>
          <a:p>
            <a:endParaRPr lang="en-IN"/>
          </a:p>
        </p:txBody>
      </p:sp>
      <p:pic>
        <p:nvPicPr>
          <p:cNvPr id="34" name="Image 6" descr="/home/claude/work/assets/icons/sync_red.png"/>
          <p:cNvPicPr>
            <a:picLocks noChangeAspect="1"/>
          </p:cNvPicPr>
          <p:nvPr/>
        </p:nvPicPr>
        <p:blipFill>
          <a:blip r:embed="rId9"/>
          <a:stretch>
            <a:fillRect/>
          </a:stretch>
        </p:blipFill>
        <p:spPr>
          <a:xfrm>
            <a:off x="7379779" y="3456432"/>
            <a:ext cx="365760" cy="365760"/>
          </a:xfrm>
          <a:prstGeom prst="rect">
            <a:avLst/>
          </a:prstGeom>
        </p:spPr>
      </p:pic>
      <p:sp>
        <p:nvSpPr>
          <p:cNvPr id="35" name="Text 26"/>
          <p:cNvSpPr/>
          <p:nvPr/>
        </p:nvSpPr>
        <p:spPr>
          <a:xfrm>
            <a:off x="6324448" y="3858768"/>
            <a:ext cx="2476424" cy="292608"/>
          </a:xfrm>
          <a:prstGeom prst="rect">
            <a:avLst/>
          </a:prstGeom>
          <a:noFill/>
          <a:ln/>
        </p:spPr>
        <p:txBody>
          <a:bodyPr wrap="square" lIns="0" tIns="0" rIns="0" bIns="0" rtlCol="0" anchor="ctr"/>
          <a:lstStyle/>
          <a:p>
            <a:pPr marL="0" indent="0" algn="ctr">
              <a:buNone/>
            </a:pPr>
            <a:r>
              <a:rPr lang="en-US" sz="1050" b="1" dirty="0">
                <a:solidFill>
                  <a:srgbClr val="111827"/>
                </a:solidFill>
                <a:latin typeface="Oswald" pitchFamily="34" charset="0"/>
                <a:ea typeface="Oswald" pitchFamily="34" charset="-122"/>
                <a:cs typeface="Oswald" pitchFamily="34" charset="-120"/>
              </a:rPr>
              <a:t>Change Management</a:t>
            </a:r>
            <a:endParaRPr lang="en-US" sz="1050" dirty="0"/>
          </a:p>
        </p:txBody>
      </p:sp>
      <p:sp>
        <p:nvSpPr>
          <p:cNvPr id="36" name="Shape 27"/>
          <p:cNvSpPr/>
          <p:nvPr/>
        </p:nvSpPr>
        <p:spPr>
          <a:xfrm>
            <a:off x="9029471" y="3310128"/>
            <a:ext cx="2659304" cy="868680"/>
          </a:xfrm>
          <a:prstGeom prst="roundRect">
            <a:avLst>
              <a:gd name="adj" fmla="val 6316"/>
            </a:avLst>
          </a:prstGeom>
          <a:solidFill>
            <a:srgbClr val="FCEBED"/>
          </a:solidFill>
          <a:ln w="12700">
            <a:solidFill>
              <a:srgbClr val="E2E8F0"/>
            </a:solidFill>
            <a:prstDash val="solid"/>
          </a:ln>
        </p:spPr>
        <p:txBody>
          <a:bodyPr/>
          <a:lstStyle/>
          <a:p>
            <a:endParaRPr lang="en-IN"/>
          </a:p>
        </p:txBody>
      </p:sp>
      <p:pic>
        <p:nvPicPr>
          <p:cNvPr id="37" name="Image 7" descr="/home/claude/work/assets/icons/search_red.png"/>
          <p:cNvPicPr>
            <a:picLocks noChangeAspect="1"/>
          </p:cNvPicPr>
          <p:nvPr/>
        </p:nvPicPr>
        <p:blipFill>
          <a:blip r:embed="rId10"/>
          <a:stretch>
            <a:fillRect/>
          </a:stretch>
        </p:blipFill>
        <p:spPr>
          <a:xfrm>
            <a:off x="10176243" y="3456432"/>
            <a:ext cx="365760" cy="365760"/>
          </a:xfrm>
          <a:prstGeom prst="rect">
            <a:avLst/>
          </a:prstGeom>
        </p:spPr>
      </p:pic>
      <p:sp>
        <p:nvSpPr>
          <p:cNvPr id="38" name="Text 28"/>
          <p:cNvSpPr/>
          <p:nvPr/>
        </p:nvSpPr>
        <p:spPr>
          <a:xfrm>
            <a:off x="9120911" y="3858768"/>
            <a:ext cx="2476424" cy="292608"/>
          </a:xfrm>
          <a:prstGeom prst="rect">
            <a:avLst/>
          </a:prstGeom>
          <a:noFill/>
          <a:ln/>
        </p:spPr>
        <p:txBody>
          <a:bodyPr wrap="square" lIns="0" tIns="0" rIns="0" bIns="0" rtlCol="0" anchor="ctr"/>
          <a:lstStyle/>
          <a:p>
            <a:pPr marL="0" indent="0" algn="ctr">
              <a:buNone/>
            </a:pPr>
            <a:r>
              <a:rPr lang="en-US" sz="1050" b="1" dirty="0">
                <a:solidFill>
                  <a:srgbClr val="111827"/>
                </a:solidFill>
                <a:latin typeface="Oswald" pitchFamily="34" charset="0"/>
                <a:ea typeface="Oswald" pitchFamily="34" charset="-122"/>
                <a:cs typeface="Oswald" pitchFamily="34" charset="-120"/>
              </a:rPr>
              <a:t>Talent Transaction</a:t>
            </a:r>
            <a:endParaRPr lang="en-US" sz="1050" dirty="0"/>
          </a:p>
        </p:txBody>
      </p:sp>
      <p:sp>
        <p:nvSpPr>
          <p:cNvPr id="39" name="Shape 29"/>
          <p:cNvSpPr/>
          <p:nvPr/>
        </p:nvSpPr>
        <p:spPr>
          <a:xfrm>
            <a:off x="502920" y="4453128"/>
            <a:ext cx="54864" cy="274320"/>
          </a:xfrm>
          <a:prstGeom prst="rect">
            <a:avLst/>
          </a:prstGeom>
          <a:solidFill>
            <a:srgbClr val="111827"/>
          </a:solidFill>
          <a:ln/>
        </p:spPr>
        <p:txBody>
          <a:bodyPr/>
          <a:lstStyle/>
          <a:p>
            <a:endParaRPr lang="en-IN"/>
          </a:p>
        </p:txBody>
      </p:sp>
      <p:sp>
        <p:nvSpPr>
          <p:cNvPr id="40" name="Text 30"/>
          <p:cNvSpPr/>
          <p:nvPr/>
        </p:nvSpPr>
        <p:spPr>
          <a:xfrm>
            <a:off x="667512" y="4425696"/>
            <a:ext cx="5486400" cy="310896"/>
          </a:xfrm>
          <a:prstGeom prst="rect">
            <a:avLst/>
          </a:prstGeom>
          <a:noFill/>
          <a:ln/>
        </p:spPr>
        <p:txBody>
          <a:bodyPr wrap="square" lIns="0" tIns="0" rIns="0" bIns="0" rtlCol="0" anchor="ctr"/>
          <a:lstStyle/>
          <a:p>
            <a:pPr marL="0" indent="0">
              <a:buNone/>
            </a:pPr>
            <a:r>
              <a:rPr lang="en-US" sz="1300" b="1" dirty="0">
                <a:solidFill>
                  <a:srgbClr val="111827"/>
                </a:solidFill>
                <a:latin typeface="Roboto Condensed" pitchFamily="34" charset="0"/>
                <a:ea typeface="Roboto Condensed" pitchFamily="34" charset="-122"/>
                <a:cs typeface="Roboto Condensed" pitchFamily="34" charset="-120"/>
              </a:rPr>
              <a:t>J2W FACT SHEET</a:t>
            </a:r>
            <a:endParaRPr lang="en-US" sz="1300" dirty="0"/>
          </a:p>
        </p:txBody>
      </p:sp>
      <p:sp>
        <p:nvSpPr>
          <p:cNvPr id="41" name="Shape 31"/>
          <p:cNvSpPr/>
          <p:nvPr/>
        </p:nvSpPr>
        <p:spPr>
          <a:xfrm>
            <a:off x="502920" y="4837176"/>
            <a:ext cx="2625014" cy="621792"/>
          </a:xfrm>
          <a:prstGeom prst="roundRect">
            <a:avLst>
              <a:gd name="adj" fmla="val 8824"/>
            </a:avLst>
          </a:prstGeom>
          <a:solidFill>
            <a:srgbClr val="F8FAFC"/>
          </a:solidFill>
          <a:ln w="12700">
            <a:solidFill>
              <a:srgbClr val="E2E8F0"/>
            </a:solidFill>
            <a:prstDash val="solid"/>
          </a:ln>
        </p:spPr>
        <p:txBody>
          <a:bodyPr/>
          <a:lstStyle/>
          <a:p>
            <a:endParaRPr lang="en-IN"/>
          </a:p>
        </p:txBody>
      </p:sp>
      <p:sp>
        <p:nvSpPr>
          <p:cNvPr id="42" name="Shape 32"/>
          <p:cNvSpPr/>
          <p:nvPr/>
        </p:nvSpPr>
        <p:spPr>
          <a:xfrm>
            <a:off x="502920" y="4837176"/>
            <a:ext cx="41148" cy="621792"/>
          </a:xfrm>
          <a:prstGeom prst="roundRect">
            <a:avLst>
              <a:gd name="adj" fmla="val 44444"/>
            </a:avLst>
          </a:prstGeom>
          <a:solidFill>
            <a:srgbClr val="2A9D8F"/>
          </a:solidFill>
          <a:ln/>
        </p:spPr>
        <p:txBody>
          <a:bodyPr/>
          <a:lstStyle/>
          <a:p>
            <a:endParaRPr lang="en-IN"/>
          </a:p>
        </p:txBody>
      </p:sp>
      <p:sp>
        <p:nvSpPr>
          <p:cNvPr id="43" name="Text 33"/>
          <p:cNvSpPr/>
          <p:nvPr/>
        </p:nvSpPr>
        <p:spPr>
          <a:xfrm>
            <a:off x="685800" y="4892040"/>
            <a:ext cx="2304974" cy="274320"/>
          </a:xfrm>
          <a:prstGeom prst="rect">
            <a:avLst/>
          </a:prstGeom>
          <a:noFill/>
          <a:ln/>
        </p:spPr>
        <p:txBody>
          <a:bodyPr wrap="square" lIns="0" tIns="0" rIns="0" bIns="0" rtlCol="0" anchor="ctr"/>
          <a:lstStyle/>
          <a:p>
            <a:pPr marL="0" indent="0">
              <a:buNone/>
            </a:pPr>
            <a:r>
              <a:rPr lang="en-US" sz="1600" b="1" dirty="0">
                <a:solidFill>
                  <a:srgbClr val="2A9D8F"/>
                </a:solidFill>
                <a:latin typeface="Oswald" pitchFamily="34" charset="0"/>
                <a:ea typeface="Oswald" pitchFamily="34" charset="-122"/>
                <a:cs typeface="Oswald" pitchFamily="34" charset="-120"/>
              </a:rPr>
              <a:t>300+</a:t>
            </a:r>
            <a:endParaRPr lang="en-US" sz="1600" dirty="0"/>
          </a:p>
        </p:txBody>
      </p:sp>
      <p:sp>
        <p:nvSpPr>
          <p:cNvPr id="44" name="Text 34"/>
          <p:cNvSpPr/>
          <p:nvPr/>
        </p:nvSpPr>
        <p:spPr>
          <a:xfrm>
            <a:off x="685800" y="5166360"/>
            <a:ext cx="2304974" cy="274320"/>
          </a:xfrm>
          <a:prstGeom prst="rect">
            <a:avLst/>
          </a:prstGeom>
          <a:noFill/>
          <a:ln/>
        </p:spPr>
        <p:txBody>
          <a:bodyPr wrap="square" lIns="0" tIns="0" rIns="0" bIns="0" rtlCol="0" anchor="ctr"/>
          <a:lstStyle/>
          <a:p>
            <a:pPr marL="0" indent="0">
              <a:lnSpc>
                <a:spcPct val="100000"/>
              </a:lnSpc>
              <a:buNone/>
            </a:pPr>
            <a:r>
              <a:rPr lang="en-US" sz="850" dirty="0">
                <a:solidFill>
                  <a:srgbClr val="4B5563"/>
                </a:solidFill>
                <a:latin typeface="Raleway" pitchFamily="34" charset="0"/>
                <a:ea typeface="Raleway" pitchFamily="34" charset="-122"/>
                <a:cs typeface="Raleway" pitchFamily="34" charset="-120"/>
              </a:rPr>
              <a:t>GCCs built (greenfield &amp; brownfield)</a:t>
            </a:r>
            <a:endParaRPr lang="en-US" sz="850" dirty="0"/>
          </a:p>
        </p:txBody>
      </p:sp>
      <p:sp>
        <p:nvSpPr>
          <p:cNvPr id="45" name="Shape 35"/>
          <p:cNvSpPr/>
          <p:nvPr/>
        </p:nvSpPr>
        <p:spPr>
          <a:xfrm>
            <a:off x="3356534" y="4837176"/>
            <a:ext cx="2625014" cy="621792"/>
          </a:xfrm>
          <a:prstGeom prst="roundRect">
            <a:avLst>
              <a:gd name="adj" fmla="val 8824"/>
            </a:avLst>
          </a:prstGeom>
          <a:solidFill>
            <a:srgbClr val="F8FAFC"/>
          </a:solidFill>
          <a:ln w="12700">
            <a:solidFill>
              <a:srgbClr val="E2E8F0"/>
            </a:solidFill>
            <a:prstDash val="solid"/>
          </a:ln>
        </p:spPr>
        <p:txBody>
          <a:bodyPr/>
          <a:lstStyle/>
          <a:p>
            <a:endParaRPr lang="en-IN"/>
          </a:p>
        </p:txBody>
      </p:sp>
      <p:sp>
        <p:nvSpPr>
          <p:cNvPr id="46" name="Shape 36"/>
          <p:cNvSpPr/>
          <p:nvPr/>
        </p:nvSpPr>
        <p:spPr>
          <a:xfrm>
            <a:off x="3356534" y="4837176"/>
            <a:ext cx="41148" cy="621792"/>
          </a:xfrm>
          <a:prstGeom prst="roundRect">
            <a:avLst>
              <a:gd name="adj" fmla="val 44444"/>
            </a:avLst>
          </a:prstGeom>
          <a:solidFill>
            <a:srgbClr val="D62839"/>
          </a:solidFill>
          <a:ln/>
        </p:spPr>
        <p:txBody>
          <a:bodyPr/>
          <a:lstStyle/>
          <a:p>
            <a:endParaRPr lang="en-IN"/>
          </a:p>
        </p:txBody>
      </p:sp>
      <p:sp>
        <p:nvSpPr>
          <p:cNvPr id="47" name="Text 37"/>
          <p:cNvSpPr/>
          <p:nvPr/>
        </p:nvSpPr>
        <p:spPr>
          <a:xfrm>
            <a:off x="3539414" y="4892040"/>
            <a:ext cx="2304974" cy="274320"/>
          </a:xfrm>
          <a:prstGeom prst="rect">
            <a:avLst/>
          </a:prstGeom>
          <a:noFill/>
          <a:ln/>
        </p:spPr>
        <p:txBody>
          <a:bodyPr wrap="square" lIns="0" tIns="0" rIns="0" bIns="0" rtlCol="0" anchor="ctr"/>
          <a:lstStyle/>
          <a:p>
            <a:pPr marL="0" indent="0">
              <a:buNone/>
            </a:pPr>
            <a:r>
              <a:rPr lang="en-US" sz="1600" b="1" dirty="0">
                <a:solidFill>
                  <a:srgbClr val="D62839"/>
                </a:solidFill>
                <a:latin typeface="Oswald" pitchFamily="34" charset="0"/>
                <a:ea typeface="Oswald" pitchFamily="34" charset="-122"/>
                <a:cs typeface="Oswald" pitchFamily="34" charset="-120"/>
              </a:rPr>
              <a:t>60–70%</a:t>
            </a:r>
            <a:endParaRPr lang="en-US" sz="1600" dirty="0"/>
          </a:p>
        </p:txBody>
      </p:sp>
      <p:sp>
        <p:nvSpPr>
          <p:cNvPr id="48" name="Text 38"/>
          <p:cNvSpPr/>
          <p:nvPr/>
        </p:nvSpPr>
        <p:spPr>
          <a:xfrm>
            <a:off x="3539414" y="5166360"/>
            <a:ext cx="2304974" cy="274320"/>
          </a:xfrm>
          <a:prstGeom prst="rect">
            <a:avLst/>
          </a:prstGeom>
          <a:noFill/>
          <a:ln/>
        </p:spPr>
        <p:txBody>
          <a:bodyPr wrap="square" lIns="0" tIns="0" rIns="0" bIns="0" rtlCol="0" anchor="ctr"/>
          <a:lstStyle/>
          <a:p>
            <a:pPr marL="0" indent="0">
              <a:lnSpc>
                <a:spcPct val="100000"/>
              </a:lnSpc>
              <a:buNone/>
            </a:pPr>
            <a:r>
              <a:rPr lang="en-US" sz="850" dirty="0">
                <a:solidFill>
                  <a:srgbClr val="4B5563"/>
                </a:solidFill>
                <a:latin typeface="Raleway" pitchFamily="34" charset="0"/>
                <a:ea typeface="Raleway" pitchFamily="34" charset="-122"/>
                <a:cs typeface="Raleway" pitchFamily="34" charset="-120"/>
              </a:rPr>
              <a:t>Faster execution with AI-led playbooks</a:t>
            </a:r>
            <a:endParaRPr lang="en-US" sz="850" dirty="0"/>
          </a:p>
        </p:txBody>
      </p:sp>
      <p:sp>
        <p:nvSpPr>
          <p:cNvPr id="49" name="Shape 39"/>
          <p:cNvSpPr/>
          <p:nvPr/>
        </p:nvSpPr>
        <p:spPr>
          <a:xfrm>
            <a:off x="6210148" y="4837176"/>
            <a:ext cx="2625014" cy="621792"/>
          </a:xfrm>
          <a:prstGeom prst="roundRect">
            <a:avLst>
              <a:gd name="adj" fmla="val 8824"/>
            </a:avLst>
          </a:prstGeom>
          <a:solidFill>
            <a:srgbClr val="F8FAFC"/>
          </a:solidFill>
          <a:ln w="12700">
            <a:solidFill>
              <a:srgbClr val="E2E8F0"/>
            </a:solidFill>
            <a:prstDash val="solid"/>
          </a:ln>
        </p:spPr>
        <p:txBody>
          <a:bodyPr/>
          <a:lstStyle/>
          <a:p>
            <a:endParaRPr lang="en-IN"/>
          </a:p>
        </p:txBody>
      </p:sp>
      <p:sp>
        <p:nvSpPr>
          <p:cNvPr id="50" name="Shape 40"/>
          <p:cNvSpPr/>
          <p:nvPr/>
        </p:nvSpPr>
        <p:spPr>
          <a:xfrm>
            <a:off x="6210148" y="4837176"/>
            <a:ext cx="41148" cy="621792"/>
          </a:xfrm>
          <a:prstGeom prst="roundRect">
            <a:avLst>
              <a:gd name="adj" fmla="val 44444"/>
            </a:avLst>
          </a:prstGeom>
          <a:solidFill>
            <a:srgbClr val="2A9D8F"/>
          </a:solidFill>
          <a:ln/>
        </p:spPr>
        <p:txBody>
          <a:bodyPr/>
          <a:lstStyle/>
          <a:p>
            <a:endParaRPr lang="en-IN"/>
          </a:p>
        </p:txBody>
      </p:sp>
      <p:sp>
        <p:nvSpPr>
          <p:cNvPr id="51" name="Text 41"/>
          <p:cNvSpPr/>
          <p:nvPr/>
        </p:nvSpPr>
        <p:spPr>
          <a:xfrm>
            <a:off x="6393028" y="4892040"/>
            <a:ext cx="2304974" cy="274320"/>
          </a:xfrm>
          <a:prstGeom prst="rect">
            <a:avLst/>
          </a:prstGeom>
          <a:noFill/>
          <a:ln/>
        </p:spPr>
        <p:txBody>
          <a:bodyPr wrap="square" lIns="0" tIns="0" rIns="0" bIns="0" rtlCol="0" anchor="ctr"/>
          <a:lstStyle/>
          <a:p>
            <a:pPr marL="0" indent="0">
              <a:buNone/>
            </a:pPr>
            <a:r>
              <a:rPr lang="en-US" sz="1600" b="1" dirty="0">
                <a:solidFill>
                  <a:srgbClr val="2A9D8F"/>
                </a:solidFill>
                <a:latin typeface="Oswald" pitchFamily="34" charset="0"/>
                <a:ea typeface="Oswald" pitchFamily="34" charset="-122"/>
                <a:cs typeface="Oswald" pitchFamily="34" charset="-120"/>
              </a:rPr>
              <a:t>25–30%</a:t>
            </a:r>
            <a:endParaRPr lang="en-US" sz="1600" dirty="0"/>
          </a:p>
        </p:txBody>
      </p:sp>
      <p:sp>
        <p:nvSpPr>
          <p:cNvPr id="52" name="Text 42"/>
          <p:cNvSpPr/>
          <p:nvPr/>
        </p:nvSpPr>
        <p:spPr>
          <a:xfrm>
            <a:off x="6393028" y="5166360"/>
            <a:ext cx="2304974" cy="274320"/>
          </a:xfrm>
          <a:prstGeom prst="rect">
            <a:avLst/>
          </a:prstGeom>
          <a:noFill/>
          <a:ln/>
        </p:spPr>
        <p:txBody>
          <a:bodyPr wrap="square" lIns="0" tIns="0" rIns="0" bIns="0" rtlCol="0" anchor="ctr"/>
          <a:lstStyle/>
          <a:p>
            <a:pPr marL="0" indent="0">
              <a:lnSpc>
                <a:spcPct val="100000"/>
              </a:lnSpc>
              <a:buNone/>
            </a:pPr>
            <a:r>
              <a:rPr lang="en-US" sz="850" dirty="0">
                <a:solidFill>
                  <a:srgbClr val="4B5563"/>
                </a:solidFill>
                <a:latin typeface="Raleway" pitchFamily="34" charset="0"/>
                <a:ea typeface="Raleway" pitchFamily="34" charset="-122"/>
                <a:cs typeface="Raleway" pitchFamily="34" charset="-120"/>
              </a:rPr>
              <a:t>Cost advantage via Tier-2 strategy</a:t>
            </a:r>
            <a:endParaRPr lang="en-US" sz="850" dirty="0"/>
          </a:p>
        </p:txBody>
      </p:sp>
      <p:sp>
        <p:nvSpPr>
          <p:cNvPr id="53" name="Shape 43"/>
          <p:cNvSpPr/>
          <p:nvPr/>
        </p:nvSpPr>
        <p:spPr>
          <a:xfrm>
            <a:off x="9063761" y="4837176"/>
            <a:ext cx="2625014" cy="621792"/>
          </a:xfrm>
          <a:prstGeom prst="roundRect">
            <a:avLst>
              <a:gd name="adj" fmla="val 8824"/>
            </a:avLst>
          </a:prstGeom>
          <a:solidFill>
            <a:srgbClr val="F8FAFC"/>
          </a:solidFill>
          <a:ln w="12700">
            <a:solidFill>
              <a:srgbClr val="E2E8F0"/>
            </a:solidFill>
            <a:prstDash val="solid"/>
          </a:ln>
        </p:spPr>
        <p:txBody>
          <a:bodyPr/>
          <a:lstStyle/>
          <a:p>
            <a:endParaRPr lang="en-IN"/>
          </a:p>
        </p:txBody>
      </p:sp>
      <p:sp>
        <p:nvSpPr>
          <p:cNvPr id="54" name="Shape 44"/>
          <p:cNvSpPr/>
          <p:nvPr/>
        </p:nvSpPr>
        <p:spPr>
          <a:xfrm>
            <a:off x="9063761" y="4837176"/>
            <a:ext cx="41148" cy="621792"/>
          </a:xfrm>
          <a:prstGeom prst="roundRect">
            <a:avLst>
              <a:gd name="adj" fmla="val 44444"/>
            </a:avLst>
          </a:prstGeom>
          <a:solidFill>
            <a:srgbClr val="D62839"/>
          </a:solidFill>
          <a:ln/>
        </p:spPr>
        <p:txBody>
          <a:bodyPr/>
          <a:lstStyle/>
          <a:p>
            <a:endParaRPr lang="en-IN"/>
          </a:p>
        </p:txBody>
      </p:sp>
      <p:sp>
        <p:nvSpPr>
          <p:cNvPr id="55" name="Text 45"/>
          <p:cNvSpPr/>
          <p:nvPr/>
        </p:nvSpPr>
        <p:spPr>
          <a:xfrm>
            <a:off x="9246641" y="4892040"/>
            <a:ext cx="2304974" cy="274320"/>
          </a:xfrm>
          <a:prstGeom prst="rect">
            <a:avLst/>
          </a:prstGeom>
          <a:noFill/>
          <a:ln/>
        </p:spPr>
        <p:txBody>
          <a:bodyPr wrap="square" lIns="0" tIns="0" rIns="0" bIns="0" rtlCol="0" anchor="ctr"/>
          <a:lstStyle/>
          <a:p>
            <a:pPr marL="0" indent="0">
              <a:buNone/>
            </a:pPr>
            <a:r>
              <a:rPr lang="en-US" sz="1600" b="1" dirty="0">
                <a:solidFill>
                  <a:srgbClr val="D62839"/>
                </a:solidFill>
                <a:latin typeface="Oswald" pitchFamily="34" charset="0"/>
                <a:ea typeface="Oswald" pitchFamily="34" charset="-122"/>
                <a:cs typeface="Oswald" pitchFamily="34" charset="-120"/>
              </a:rPr>
              <a:t>70%</a:t>
            </a:r>
            <a:endParaRPr lang="en-US" sz="1600" dirty="0"/>
          </a:p>
        </p:txBody>
      </p:sp>
      <p:sp>
        <p:nvSpPr>
          <p:cNvPr id="56" name="Text 46"/>
          <p:cNvSpPr/>
          <p:nvPr/>
        </p:nvSpPr>
        <p:spPr>
          <a:xfrm>
            <a:off x="9246641" y="5166360"/>
            <a:ext cx="2304974" cy="274320"/>
          </a:xfrm>
          <a:prstGeom prst="rect">
            <a:avLst/>
          </a:prstGeom>
          <a:noFill/>
          <a:ln/>
        </p:spPr>
        <p:txBody>
          <a:bodyPr wrap="square" lIns="0" tIns="0" rIns="0" bIns="0" rtlCol="0" anchor="ctr"/>
          <a:lstStyle/>
          <a:p>
            <a:pPr marL="0" indent="0">
              <a:lnSpc>
                <a:spcPct val="100000"/>
              </a:lnSpc>
              <a:buNone/>
            </a:pPr>
            <a:r>
              <a:rPr lang="en-US" sz="850" dirty="0">
                <a:solidFill>
                  <a:srgbClr val="4B5563"/>
                </a:solidFill>
                <a:latin typeface="Raleway" pitchFamily="34" charset="0"/>
                <a:ea typeface="Raleway" pitchFamily="34" charset="-122"/>
                <a:cs typeface="Raleway" pitchFamily="34" charset="-120"/>
              </a:rPr>
              <a:t>New setups include AI-first operations</a:t>
            </a:r>
            <a:endParaRPr lang="en-US" sz="850" dirty="0"/>
          </a:p>
        </p:txBody>
      </p:sp>
      <p:sp>
        <p:nvSpPr>
          <p:cNvPr id="57" name="Text 47"/>
          <p:cNvSpPr/>
          <p:nvPr/>
        </p:nvSpPr>
        <p:spPr>
          <a:xfrm>
            <a:off x="502920" y="6547104"/>
            <a:ext cx="2743200" cy="201168"/>
          </a:xfrm>
          <a:prstGeom prst="rect">
            <a:avLst/>
          </a:prstGeom>
          <a:noFill/>
          <a:ln/>
        </p:spPr>
        <p:txBody>
          <a:bodyPr wrap="square" lIns="0" tIns="0" rIns="0" bIns="0" rtlCol="0" anchor="ctr"/>
          <a:lstStyle/>
          <a:p>
            <a:pPr marL="0" indent="0" algn="l">
              <a:buNone/>
            </a:pPr>
            <a:r>
              <a:rPr lang="en-US" sz="800" kern="0" spc="100" dirty="0">
                <a:solidFill>
                  <a:srgbClr val="A1A1AA"/>
                </a:solidFill>
                <a:latin typeface="Roboto Condensed" pitchFamily="34" charset="0"/>
                <a:ea typeface="Roboto Condensed" pitchFamily="34" charset="-122"/>
                <a:cs typeface="Roboto Condensed" pitchFamily="34" charset="-120"/>
              </a:rPr>
              <a:t>JOULESTOWATTS</a:t>
            </a:r>
            <a:endParaRPr lang="en-US" sz="800" dirty="0"/>
          </a:p>
        </p:txBody>
      </p:sp>
    </p:spTree>
    <p:extLst>
      <p:ext uri="{BB962C8B-B14F-4D97-AF65-F5344CB8AC3E}">
        <p14:creationId xmlns:p14="http://schemas.microsoft.com/office/powerpoint/2010/main" val="427426030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6B77F-9253-D420-74BD-12FC72445F3C}"/>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773A4FDE-9BAE-762F-F60B-E9B3AE72BE41}"/>
              </a:ext>
            </a:extLst>
          </p:cNvPr>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a:extLst>
              <a:ext uri="{FF2B5EF4-FFF2-40B4-BE49-F238E27FC236}">
                <a16:creationId xmlns:a16="http://schemas.microsoft.com/office/drawing/2014/main" id="{E6566807-8653-0072-4664-335995A6BB18}"/>
              </a:ext>
            </a:extLst>
          </p:cNvPr>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pic>
        <p:nvPicPr>
          <p:cNvPr id="7" name="Image 2" descr="gen-dedup-6da70c599291e253314366a10c094ffa.png">
            <a:extLst>
              <a:ext uri="{FF2B5EF4-FFF2-40B4-BE49-F238E27FC236}">
                <a16:creationId xmlns:a16="http://schemas.microsoft.com/office/drawing/2014/main" id="{59871C2E-8B5C-20E2-8239-E67F417B8C3B}"/>
              </a:ext>
            </a:extLst>
          </p:cNvPr>
          <p:cNvPicPr>
            <a:picLocks noChangeAspect="1"/>
          </p:cNvPicPr>
          <p:nvPr/>
        </p:nvPicPr>
        <p:blipFill>
          <a:blip r:embed="rId3">
            <a:alphaModFix amt="15000"/>
          </a:blip>
          <a:srcRect/>
          <a:stretch/>
        </p:blipFill>
        <p:spPr>
          <a:xfrm>
            <a:off x="381306" y="1143000"/>
            <a:ext cx="1071448" cy="1429207"/>
          </a:xfrm>
          <a:prstGeom prst="rect">
            <a:avLst/>
          </a:prstGeom>
        </p:spPr>
      </p:pic>
      <p:sp>
        <p:nvSpPr>
          <p:cNvPr id="11" name="Shape 5">
            <a:extLst>
              <a:ext uri="{FF2B5EF4-FFF2-40B4-BE49-F238E27FC236}">
                <a16:creationId xmlns:a16="http://schemas.microsoft.com/office/drawing/2014/main" id="{48EF441E-6D49-2284-15CD-86FC7AADB136}"/>
              </a:ext>
            </a:extLst>
          </p:cNvPr>
          <p:cNvSpPr/>
          <p:nvPr/>
        </p:nvSpPr>
        <p:spPr>
          <a:xfrm>
            <a:off x="609905" y="1524305"/>
            <a:ext cx="2499360" cy="4952390"/>
          </a:xfrm>
          <a:prstGeom prst="roundRect">
            <a:avLst>
              <a:gd name="adj" fmla="val 1254"/>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endParaRPr lang="en-US"/>
          </a:p>
        </p:txBody>
      </p:sp>
      <p:sp>
        <p:nvSpPr>
          <p:cNvPr id="12" name="Shape 6">
            <a:extLst>
              <a:ext uri="{FF2B5EF4-FFF2-40B4-BE49-F238E27FC236}">
                <a16:creationId xmlns:a16="http://schemas.microsoft.com/office/drawing/2014/main" id="{798A33DE-DA6E-6CAE-A967-696D87D09416}"/>
              </a:ext>
            </a:extLst>
          </p:cNvPr>
          <p:cNvSpPr/>
          <p:nvPr/>
        </p:nvSpPr>
        <p:spPr>
          <a:xfrm>
            <a:off x="619049" y="1533449"/>
            <a:ext cx="2484965" cy="1047902"/>
          </a:xfrm>
          <a:prstGeom prst="rect">
            <a:avLst/>
          </a:prstGeom>
          <a:solidFill>
            <a:srgbClr val="2A9D8F"/>
          </a:solidFill>
          <a:ln w="12700">
            <a:solidFill>
              <a:srgbClr val="FFFFFF">
                <a:alpha val="0"/>
              </a:srgbClr>
            </a:solidFill>
            <a:prstDash val="solid"/>
          </a:ln>
        </p:spPr>
        <p:txBody>
          <a:bodyPr/>
          <a:lstStyle/>
          <a:p>
            <a:endParaRPr lang="en-US"/>
          </a:p>
        </p:txBody>
      </p:sp>
      <p:sp>
        <p:nvSpPr>
          <p:cNvPr id="13" name="Text 7">
            <a:extLst>
              <a:ext uri="{FF2B5EF4-FFF2-40B4-BE49-F238E27FC236}">
                <a16:creationId xmlns:a16="http://schemas.microsoft.com/office/drawing/2014/main" id="{9F07C630-0126-6BB8-7BA7-70311E44A1DE}"/>
              </a:ext>
            </a:extLst>
          </p:cNvPr>
          <p:cNvSpPr txBox="1"/>
          <p:nvPr/>
        </p:nvSpPr>
        <p:spPr>
          <a:xfrm>
            <a:off x="1157835" y="2033626"/>
            <a:ext cx="1300408" cy="238658"/>
          </a:xfrm>
          <a:prstGeom prst="rect">
            <a:avLst/>
          </a:prstGeom>
          <a:noFill/>
          <a:ln/>
        </p:spPr>
        <p:txBody>
          <a:bodyPr wrap="none" lIns="0" tIns="0" rIns="0" bIns="0" rtlCol="0" anchor="ctr"/>
          <a:lstStyle/>
          <a:p>
            <a:pPr marL="0" indent="0" algn="ctr">
              <a:buNone/>
            </a:pPr>
            <a:r>
              <a:rPr lang="en-US" sz="1500" b="1">
                <a:solidFill>
                  <a:srgbClr val="FFFFFF"/>
                </a:solidFill>
                <a:latin typeface="Oswald" pitchFamily="34" charset="0"/>
                <a:ea typeface="Oswald" pitchFamily="34" charset="-122"/>
                <a:cs typeface="Oswald" pitchFamily="34" charset="-120"/>
              </a:rPr>
              <a:t>Workforce Solutions</a:t>
            </a:r>
            <a:endParaRPr lang="en-US" sz="1500"/>
          </a:p>
        </p:txBody>
      </p:sp>
      <p:sp>
        <p:nvSpPr>
          <p:cNvPr id="14" name="Text 8">
            <a:extLst>
              <a:ext uri="{FF2B5EF4-FFF2-40B4-BE49-F238E27FC236}">
                <a16:creationId xmlns:a16="http://schemas.microsoft.com/office/drawing/2014/main" id="{4E515C74-1857-3787-CF5E-2A616CE99141}"/>
              </a:ext>
            </a:extLst>
          </p:cNvPr>
          <p:cNvSpPr txBox="1"/>
          <p:nvPr/>
        </p:nvSpPr>
        <p:spPr>
          <a:xfrm>
            <a:off x="819302" y="2772461"/>
            <a:ext cx="2199794" cy="3001061"/>
          </a:xfrm>
          <a:prstGeom prst="rect">
            <a:avLst/>
          </a:prstGeom>
          <a:noFill/>
          <a:ln/>
        </p:spPr>
        <p:txBody>
          <a:bodyPr wrap="square" lIns="0" tIns="0" rIns="0" bIns="0" rtlCol="0" anchor="ctr"/>
          <a:lstStyle/>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Domain-deep engineers - not generic coders</a:t>
            </a:r>
          </a:p>
          <a:p>
            <a:pPr algn="l"/>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Verticals: IT and Cloud Computing · BFSI · more </a:t>
            </a:r>
          </a:p>
          <a:p>
            <a:pPr algn="l"/>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Deployed in 10 days or less </a:t>
            </a:r>
          </a:p>
          <a:p>
            <a:pPr marL="171450" indent="-171450" algn="l">
              <a:buFont typeface="Arial" panose="020B0604020202020204" pitchFamily="34" charset="0"/>
              <a:buChar char="•"/>
            </a:pPr>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Pod governance + sprint accountability</a:t>
            </a:r>
          </a:p>
          <a:p>
            <a:pPr algn="l"/>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Contract-to-hire flexibility</a:t>
            </a:r>
            <a:endParaRPr lang="en-US" sz="1400" dirty="0"/>
          </a:p>
        </p:txBody>
      </p:sp>
      <p:sp>
        <p:nvSpPr>
          <p:cNvPr id="21" name="Text 15">
            <a:extLst>
              <a:ext uri="{FF2B5EF4-FFF2-40B4-BE49-F238E27FC236}">
                <a16:creationId xmlns:a16="http://schemas.microsoft.com/office/drawing/2014/main" id="{9E0CA272-3ED8-5285-2B3B-8606FB61FB5E}"/>
              </a:ext>
            </a:extLst>
          </p:cNvPr>
          <p:cNvSpPr txBox="1"/>
          <p:nvPr/>
        </p:nvSpPr>
        <p:spPr>
          <a:xfrm>
            <a:off x="1679956" y="1652321"/>
            <a:ext cx="246783" cy="342900"/>
          </a:xfrm>
          <a:prstGeom prst="rect">
            <a:avLst/>
          </a:prstGeom>
          <a:noFill/>
          <a:ln/>
        </p:spPr>
        <p:txBody>
          <a:bodyPr wrap="none" lIns="0" tIns="0" rIns="0" bIns="0" rtlCol="0" anchor="ctr"/>
          <a:lstStyle/>
          <a:p>
            <a:pPr marL="0" indent="0" algn="ctr">
              <a:buNone/>
            </a:pPr>
            <a:r>
              <a:rPr lang="en-US" sz="2200" b="1" dirty="0">
                <a:solidFill>
                  <a:srgbClr val="FFFFFF">
                    <a:alpha val="90000"/>
                  </a:srgbClr>
                </a:solidFill>
                <a:latin typeface="Oswald" pitchFamily="34" charset="0"/>
                <a:ea typeface="Oswald" pitchFamily="34" charset="-122"/>
                <a:cs typeface="Oswald" pitchFamily="34" charset="-120"/>
              </a:rPr>
              <a:t>01</a:t>
            </a:r>
            <a:endParaRPr lang="en-US" sz="2200" dirty="0"/>
          </a:p>
        </p:txBody>
      </p:sp>
      <p:sp>
        <p:nvSpPr>
          <p:cNvPr id="22" name="Text 16">
            <a:extLst>
              <a:ext uri="{FF2B5EF4-FFF2-40B4-BE49-F238E27FC236}">
                <a16:creationId xmlns:a16="http://schemas.microsoft.com/office/drawing/2014/main" id="{1A4DBBF3-38F5-BEFF-5572-FC6FFF996357}"/>
              </a:ext>
            </a:extLst>
          </p:cNvPr>
          <p:cNvSpPr txBox="1"/>
          <p:nvPr/>
        </p:nvSpPr>
        <p:spPr>
          <a:xfrm>
            <a:off x="1316025" y="2309774"/>
            <a:ext cx="1065279" cy="152705"/>
          </a:xfrm>
          <a:prstGeom prst="rect">
            <a:avLst/>
          </a:prstGeom>
          <a:noFill/>
          <a:ln/>
        </p:spPr>
        <p:txBody>
          <a:bodyPr wrap="none" lIns="0" tIns="0" rIns="0" bIns="0" rtlCol="0" anchor="ctr"/>
          <a:lstStyle/>
          <a:p>
            <a:pPr marL="0" indent="0" algn="ctr">
              <a:buNone/>
            </a:pPr>
            <a:r>
              <a:rPr lang="en-US" sz="900" kern="0" spc="45">
                <a:solidFill>
                  <a:srgbClr val="FFFFFF">
                    <a:alpha val="90000"/>
                  </a:srgbClr>
                </a:solidFill>
                <a:latin typeface="Roboto Condensed" pitchFamily="34" charset="0"/>
                <a:ea typeface="Roboto Condensed" pitchFamily="34" charset="-122"/>
                <a:cs typeface="Roboto Condensed" pitchFamily="34" charset="-120"/>
              </a:rPr>
              <a:t>The Volume Engine</a:t>
            </a:r>
            <a:endParaRPr lang="en-US" sz="900"/>
          </a:p>
        </p:txBody>
      </p:sp>
      <p:sp>
        <p:nvSpPr>
          <p:cNvPr id="23" name="Shape 17">
            <a:extLst>
              <a:ext uri="{FF2B5EF4-FFF2-40B4-BE49-F238E27FC236}">
                <a16:creationId xmlns:a16="http://schemas.microsoft.com/office/drawing/2014/main" id="{759B5036-5D4C-F5AD-FFAA-F388CE3F39E5}"/>
              </a:ext>
            </a:extLst>
          </p:cNvPr>
          <p:cNvSpPr/>
          <p:nvPr/>
        </p:nvSpPr>
        <p:spPr>
          <a:xfrm>
            <a:off x="3456254" y="1524305"/>
            <a:ext cx="2499360" cy="4952390"/>
          </a:xfrm>
          <a:prstGeom prst="roundRect">
            <a:avLst>
              <a:gd name="adj" fmla="val 1254"/>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endParaRPr lang="en-US"/>
          </a:p>
        </p:txBody>
      </p:sp>
      <p:sp>
        <p:nvSpPr>
          <p:cNvPr id="24" name="Shape 18">
            <a:extLst>
              <a:ext uri="{FF2B5EF4-FFF2-40B4-BE49-F238E27FC236}">
                <a16:creationId xmlns:a16="http://schemas.microsoft.com/office/drawing/2014/main" id="{7DD9B756-28B3-83FA-3F44-52FA25CD1073}"/>
              </a:ext>
            </a:extLst>
          </p:cNvPr>
          <p:cNvSpPr/>
          <p:nvPr/>
        </p:nvSpPr>
        <p:spPr>
          <a:xfrm>
            <a:off x="3466313" y="1533449"/>
            <a:ext cx="2484965" cy="1047902"/>
          </a:xfrm>
          <a:prstGeom prst="rect">
            <a:avLst/>
          </a:prstGeom>
          <a:solidFill>
            <a:srgbClr val="D62839"/>
          </a:solidFill>
          <a:ln w="12700">
            <a:solidFill>
              <a:srgbClr val="FFFFFF">
                <a:alpha val="0"/>
              </a:srgbClr>
            </a:solidFill>
            <a:prstDash val="solid"/>
          </a:ln>
        </p:spPr>
        <p:txBody>
          <a:bodyPr/>
          <a:lstStyle/>
          <a:p>
            <a:endParaRPr lang="en-US"/>
          </a:p>
        </p:txBody>
      </p:sp>
      <p:sp>
        <p:nvSpPr>
          <p:cNvPr id="25" name="Text 19">
            <a:extLst>
              <a:ext uri="{FF2B5EF4-FFF2-40B4-BE49-F238E27FC236}">
                <a16:creationId xmlns:a16="http://schemas.microsoft.com/office/drawing/2014/main" id="{5B71A33F-B8DF-8614-C7C1-B2AE9E296825}"/>
              </a:ext>
            </a:extLst>
          </p:cNvPr>
          <p:cNvSpPr txBox="1"/>
          <p:nvPr/>
        </p:nvSpPr>
        <p:spPr>
          <a:xfrm>
            <a:off x="4169690" y="2033626"/>
            <a:ext cx="1054310" cy="238658"/>
          </a:xfrm>
          <a:prstGeom prst="rect">
            <a:avLst/>
          </a:prstGeom>
          <a:noFill/>
          <a:ln/>
        </p:spPr>
        <p:txBody>
          <a:bodyPr wrap="none" lIns="0" tIns="0" rIns="0" bIns="0" rtlCol="0" anchor="ctr"/>
          <a:lstStyle/>
          <a:p>
            <a:pPr marL="0" indent="0" algn="ctr">
              <a:buNone/>
            </a:pPr>
            <a:r>
              <a:rPr lang="en-US" sz="1500" b="1">
                <a:solidFill>
                  <a:srgbClr val="FFFFFF"/>
                </a:solidFill>
                <a:latin typeface="Oswald" pitchFamily="34" charset="0"/>
                <a:ea typeface="Oswald" pitchFamily="34" charset="-122"/>
                <a:cs typeface="Oswald" pitchFamily="34" charset="-120"/>
              </a:rPr>
              <a:t>AI Pods</a:t>
            </a:r>
            <a:endParaRPr lang="en-US" sz="1500"/>
          </a:p>
        </p:txBody>
      </p:sp>
      <p:sp>
        <p:nvSpPr>
          <p:cNvPr id="26" name="Text 20">
            <a:extLst>
              <a:ext uri="{FF2B5EF4-FFF2-40B4-BE49-F238E27FC236}">
                <a16:creationId xmlns:a16="http://schemas.microsoft.com/office/drawing/2014/main" id="{F6F4350B-6AE4-80ED-9733-BEF919481CED}"/>
              </a:ext>
            </a:extLst>
          </p:cNvPr>
          <p:cNvSpPr txBox="1"/>
          <p:nvPr/>
        </p:nvSpPr>
        <p:spPr>
          <a:xfrm>
            <a:off x="3656508" y="4409585"/>
            <a:ext cx="2199794" cy="409651"/>
          </a:xfrm>
          <a:prstGeom prst="rect">
            <a:avLst/>
          </a:prstGeom>
          <a:noFill/>
          <a:ln/>
        </p:spPr>
        <p:txBody>
          <a:bodyPr wrap="square" lIns="0" tIns="0" rIns="0" bIns="0" rtlCol="0" anchor="ctr"/>
          <a:lstStyle/>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AI-first engineering pods, embedded tech lead</a:t>
            </a:r>
          </a:p>
          <a:p>
            <a:pPr algn="l"/>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Every engineer AI-certified before Day 1</a:t>
            </a:r>
          </a:p>
          <a:p>
            <a:pPr marL="171450" indent="-171450" algn="l">
              <a:buFont typeface="Arial" panose="020B0604020202020204" pitchFamily="34" charset="0"/>
              <a:buChar char="•"/>
            </a:pPr>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J2W AI Labs - continuous monthly upskilling</a:t>
            </a:r>
          </a:p>
          <a:p>
            <a:pPr marL="171450" indent="-171450" algn="l">
              <a:buFont typeface="Arial" panose="020B0604020202020204" pitchFamily="34" charset="0"/>
              <a:buChar char="•"/>
            </a:pPr>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AI-assisted code, test &amp; docs from Day 1</a:t>
            </a:r>
          </a:p>
          <a:p>
            <a:pPr marL="171450" indent="-171450" algn="l">
              <a:buFont typeface="Arial" panose="020B0604020202020204" pitchFamily="34" charset="0"/>
              <a:buChar char="•"/>
            </a:pPr>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Compounding productivity, not static seats</a:t>
            </a:r>
            <a:endParaRPr lang="en-US" sz="1400" dirty="0"/>
          </a:p>
        </p:txBody>
      </p:sp>
      <p:sp>
        <p:nvSpPr>
          <p:cNvPr id="33" name="Text 27">
            <a:extLst>
              <a:ext uri="{FF2B5EF4-FFF2-40B4-BE49-F238E27FC236}">
                <a16:creationId xmlns:a16="http://schemas.microsoft.com/office/drawing/2014/main" id="{372BED30-33F5-B143-90CC-DC9D1D44B1D7}"/>
              </a:ext>
            </a:extLst>
          </p:cNvPr>
          <p:cNvSpPr txBox="1"/>
          <p:nvPr/>
        </p:nvSpPr>
        <p:spPr>
          <a:xfrm>
            <a:off x="4505274" y="1652321"/>
            <a:ext cx="272147" cy="342900"/>
          </a:xfrm>
          <a:prstGeom prst="rect">
            <a:avLst/>
          </a:prstGeom>
          <a:noFill/>
          <a:ln/>
        </p:spPr>
        <p:txBody>
          <a:bodyPr wrap="none" lIns="0" tIns="0" rIns="0" bIns="0" rtlCol="0" anchor="ctr"/>
          <a:lstStyle/>
          <a:p>
            <a:pPr marL="0" indent="0" algn="ctr">
              <a:buNone/>
            </a:pPr>
            <a:r>
              <a:rPr lang="en-US" sz="2200" b="1">
                <a:solidFill>
                  <a:srgbClr val="FFFFFF">
                    <a:alpha val="90000"/>
                  </a:srgbClr>
                </a:solidFill>
                <a:latin typeface="Oswald" pitchFamily="34" charset="0"/>
                <a:ea typeface="Oswald" pitchFamily="34" charset="-122"/>
                <a:cs typeface="Oswald" pitchFamily="34" charset="-120"/>
              </a:rPr>
              <a:t>02</a:t>
            </a:r>
            <a:endParaRPr lang="en-US" sz="2200"/>
          </a:p>
        </p:txBody>
      </p:sp>
      <p:sp>
        <p:nvSpPr>
          <p:cNvPr id="34" name="Text 28">
            <a:extLst>
              <a:ext uri="{FF2B5EF4-FFF2-40B4-BE49-F238E27FC236}">
                <a16:creationId xmlns:a16="http://schemas.microsoft.com/office/drawing/2014/main" id="{3F57C02D-FE7B-376E-32AA-55A0DED9CD37}"/>
              </a:ext>
            </a:extLst>
          </p:cNvPr>
          <p:cNvSpPr txBox="1"/>
          <p:nvPr/>
        </p:nvSpPr>
        <p:spPr>
          <a:xfrm>
            <a:off x="3923411" y="2309774"/>
            <a:ext cx="1512915" cy="152705"/>
          </a:xfrm>
          <a:prstGeom prst="rect">
            <a:avLst/>
          </a:prstGeom>
          <a:noFill/>
          <a:ln/>
        </p:spPr>
        <p:txBody>
          <a:bodyPr wrap="none" lIns="0" tIns="0" rIns="0" bIns="0" rtlCol="0" anchor="ctr"/>
          <a:lstStyle/>
          <a:p>
            <a:pPr marL="0" indent="0" algn="ctr">
              <a:buNone/>
            </a:pPr>
            <a:r>
              <a:rPr lang="en-US" sz="900" kern="0" spc="45" dirty="0">
                <a:solidFill>
                  <a:srgbClr val="FFFFFF">
                    <a:alpha val="90000"/>
                  </a:srgbClr>
                </a:solidFill>
                <a:latin typeface="Roboto Condensed" pitchFamily="34" charset="0"/>
                <a:ea typeface="Roboto Condensed" pitchFamily="34" charset="-122"/>
                <a:cs typeface="Roboto Condensed" pitchFamily="34" charset="-120"/>
              </a:rPr>
              <a:t>The Margin Expansion Engine</a:t>
            </a:r>
            <a:endParaRPr lang="en-US" sz="900" dirty="0"/>
          </a:p>
        </p:txBody>
      </p:sp>
      <p:sp>
        <p:nvSpPr>
          <p:cNvPr id="35" name="Shape 29">
            <a:extLst>
              <a:ext uri="{FF2B5EF4-FFF2-40B4-BE49-F238E27FC236}">
                <a16:creationId xmlns:a16="http://schemas.microsoft.com/office/drawing/2014/main" id="{16C730CC-2B93-6BDE-A7BF-1074ABCFDD39}"/>
              </a:ext>
            </a:extLst>
          </p:cNvPr>
          <p:cNvSpPr/>
          <p:nvPr/>
        </p:nvSpPr>
        <p:spPr>
          <a:xfrm>
            <a:off x="6279871" y="1524305"/>
            <a:ext cx="2499360" cy="4952390"/>
          </a:xfrm>
          <a:prstGeom prst="roundRect">
            <a:avLst>
              <a:gd name="adj" fmla="val 1254"/>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endParaRPr lang="en-US"/>
          </a:p>
        </p:txBody>
      </p:sp>
      <p:sp>
        <p:nvSpPr>
          <p:cNvPr id="36" name="Shape 30">
            <a:extLst>
              <a:ext uri="{FF2B5EF4-FFF2-40B4-BE49-F238E27FC236}">
                <a16:creationId xmlns:a16="http://schemas.microsoft.com/office/drawing/2014/main" id="{6D068E81-CB14-AC64-F101-1FD636A02405}"/>
              </a:ext>
            </a:extLst>
          </p:cNvPr>
          <p:cNvSpPr/>
          <p:nvPr/>
        </p:nvSpPr>
        <p:spPr>
          <a:xfrm>
            <a:off x="6289015" y="1533449"/>
            <a:ext cx="2484965" cy="1047902"/>
          </a:xfrm>
          <a:prstGeom prst="rect">
            <a:avLst/>
          </a:prstGeom>
          <a:solidFill>
            <a:srgbClr val="2A9D8F"/>
          </a:solidFill>
          <a:ln w="12700">
            <a:solidFill>
              <a:srgbClr val="FFFFFF">
                <a:alpha val="0"/>
              </a:srgbClr>
            </a:solidFill>
            <a:prstDash val="solid"/>
          </a:ln>
        </p:spPr>
        <p:txBody>
          <a:bodyPr/>
          <a:lstStyle/>
          <a:p>
            <a:endParaRPr lang="en-US"/>
          </a:p>
        </p:txBody>
      </p:sp>
      <p:sp>
        <p:nvSpPr>
          <p:cNvPr id="37" name="Text 31">
            <a:extLst>
              <a:ext uri="{FF2B5EF4-FFF2-40B4-BE49-F238E27FC236}">
                <a16:creationId xmlns:a16="http://schemas.microsoft.com/office/drawing/2014/main" id="{6FAAEAF3-C1E3-0149-841B-9BE0CF7592B5}"/>
              </a:ext>
            </a:extLst>
          </p:cNvPr>
          <p:cNvSpPr txBox="1"/>
          <p:nvPr/>
        </p:nvSpPr>
        <p:spPr>
          <a:xfrm>
            <a:off x="6614237" y="2033626"/>
            <a:ext cx="1818651" cy="238658"/>
          </a:xfrm>
          <a:prstGeom prst="rect">
            <a:avLst/>
          </a:prstGeom>
          <a:noFill/>
          <a:ln/>
        </p:spPr>
        <p:txBody>
          <a:bodyPr wrap="none" lIns="0" tIns="0" rIns="0" bIns="0" rtlCol="0" anchor="ctr"/>
          <a:lstStyle/>
          <a:p>
            <a:pPr marL="0" indent="0" algn="ctr">
              <a:buNone/>
            </a:pPr>
            <a:r>
              <a:rPr lang="en-US" sz="1500" b="1" dirty="0">
                <a:solidFill>
                  <a:srgbClr val="FFFFFF"/>
                </a:solidFill>
                <a:latin typeface="Oswald" pitchFamily="34" charset="0"/>
                <a:ea typeface="Oswald" pitchFamily="34" charset="-122"/>
                <a:cs typeface="Oswald" pitchFamily="34" charset="-120"/>
              </a:rPr>
              <a:t>Managed Service Solutions</a:t>
            </a:r>
            <a:endParaRPr lang="en-US" sz="1500" dirty="0"/>
          </a:p>
        </p:txBody>
      </p:sp>
      <p:sp>
        <p:nvSpPr>
          <p:cNvPr id="38" name="Text 32">
            <a:extLst>
              <a:ext uri="{FF2B5EF4-FFF2-40B4-BE49-F238E27FC236}">
                <a16:creationId xmlns:a16="http://schemas.microsoft.com/office/drawing/2014/main" id="{20B935DD-4A27-C5F3-977E-79243019FCA1}"/>
              </a:ext>
            </a:extLst>
          </p:cNvPr>
          <p:cNvSpPr txBox="1"/>
          <p:nvPr/>
        </p:nvSpPr>
        <p:spPr>
          <a:xfrm>
            <a:off x="6480125" y="4158691"/>
            <a:ext cx="2199794" cy="409651"/>
          </a:xfrm>
          <a:prstGeom prst="rect">
            <a:avLst/>
          </a:prstGeom>
          <a:noFill/>
          <a:ln/>
        </p:spPr>
        <p:txBody>
          <a:bodyPr wrap="square" lIns="0" tIns="0" rIns="0" bIns="0" rtlCol="0" anchor="ctr"/>
          <a:lstStyle/>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Dedicated pods owning outcomes, not tasks</a:t>
            </a:r>
          </a:p>
          <a:p>
            <a:pPr marL="171450" indent="-171450" algn="l">
              <a:buFont typeface="Arial" panose="020B0604020202020204" pitchFamily="34" charset="0"/>
              <a:buChar char="•"/>
            </a:pPr>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Operate to outcome-bound SLOs</a:t>
            </a:r>
          </a:p>
          <a:p>
            <a:pPr marL="171450" indent="-171450" algn="l">
              <a:buFont typeface="Arial" panose="020B0604020202020204" pitchFamily="34" charset="0"/>
              <a:buChar char="•"/>
            </a:pPr>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60+ pre-built solution accelerators</a:t>
            </a:r>
          </a:p>
          <a:p>
            <a:pPr marL="171450" indent="-171450" algn="l">
              <a:buFont typeface="Arial" panose="020B0604020202020204" pitchFamily="34" charset="0"/>
              <a:buChar char="•"/>
            </a:pPr>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On SAP, ServiceNow &amp; industry stacks</a:t>
            </a:r>
          </a:p>
          <a:p>
            <a:pPr algn="l"/>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40% improvement threshold - our standard</a:t>
            </a:r>
            <a:endParaRPr lang="en-US" sz="1400" dirty="0"/>
          </a:p>
        </p:txBody>
      </p:sp>
      <p:sp>
        <p:nvSpPr>
          <p:cNvPr id="45" name="Text 39">
            <a:extLst>
              <a:ext uri="{FF2B5EF4-FFF2-40B4-BE49-F238E27FC236}">
                <a16:creationId xmlns:a16="http://schemas.microsoft.com/office/drawing/2014/main" id="{C94DDAB2-06D6-E081-22CD-27ACFDD7D1C9}"/>
              </a:ext>
            </a:extLst>
          </p:cNvPr>
          <p:cNvSpPr txBox="1"/>
          <p:nvPr/>
        </p:nvSpPr>
        <p:spPr>
          <a:xfrm>
            <a:off x="7328891" y="1652321"/>
            <a:ext cx="272147" cy="342900"/>
          </a:xfrm>
          <a:prstGeom prst="rect">
            <a:avLst/>
          </a:prstGeom>
          <a:noFill/>
          <a:ln/>
        </p:spPr>
        <p:txBody>
          <a:bodyPr wrap="none" lIns="0" tIns="0" rIns="0" bIns="0" rtlCol="0" anchor="ctr"/>
          <a:lstStyle/>
          <a:p>
            <a:pPr marL="0" indent="0" algn="ctr">
              <a:buNone/>
            </a:pPr>
            <a:r>
              <a:rPr lang="en-US" sz="2200" b="1">
                <a:solidFill>
                  <a:srgbClr val="FFFFFF">
                    <a:alpha val="90000"/>
                  </a:srgbClr>
                </a:solidFill>
                <a:latin typeface="Oswald" pitchFamily="34" charset="0"/>
                <a:ea typeface="Oswald" pitchFamily="34" charset="-122"/>
                <a:cs typeface="Oswald" pitchFamily="34" charset="-120"/>
              </a:rPr>
              <a:t>03</a:t>
            </a:r>
            <a:endParaRPr lang="en-US" sz="2200"/>
          </a:p>
        </p:txBody>
      </p:sp>
      <p:sp>
        <p:nvSpPr>
          <p:cNvPr id="46" name="Text 40">
            <a:extLst>
              <a:ext uri="{FF2B5EF4-FFF2-40B4-BE49-F238E27FC236}">
                <a16:creationId xmlns:a16="http://schemas.microsoft.com/office/drawing/2014/main" id="{582E0F8C-4C3F-0C22-5350-8A593A1AA747}"/>
              </a:ext>
            </a:extLst>
          </p:cNvPr>
          <p:cNvSpPr txBox="1"/>
          <p:nvPr/>
        </p:nvSpPr>
        <p:spPr>
          <a:xfrm>
            <a:off x="6752820" y="2309774"/>
            <a:ext cx="1410774" cy="152705"/>
          </a:xfrm>
          <a:prstGeom prst="rect">
            <a:avLst/>
          </a:prstGeom>
          <a:noFill/>
          <a:ln/>
        </p:spPr>
        <p:txBody>
          <a:bodyPr wrap="none" lIns="0" tIns="0" rIns="0" bIns="0" rtlCol="0" anchor="ctr"/>
          <a:lstStyle/>
          <a:p>
            <a:pPr marL="0" indent="0" algn="ctr">
              <a:buNone/>
            </a:pPr>
            <a:r>
              <a:rPr lang="en-US" sz="900" kern="0" spc="45">
                <a:solidFill>
                  <a:srgbClr val="FFFFFF">
                    <a:alpha val="90000"/>
                  </a:srgbClr>
                </a:solidFill>
                <a:latin typeface="Roboto Condensed" pitchFamily="34" charset="0"/>
                <a:ea typeface="Roboto Condensed" pitchFamily="34" charset="-122"/>
                <a:cs typeface="Roboto Condensed" pitchFamily="34" charset="-120"/>
              </a:rPr>
              <a:t>The Strategic Value Engine</a:t>
            </a:r>
            <a:endParaRPr lang="en-US" sz="900"/>
          </a:p>
        </p:txBody>
      </p:sp>
      <p:sp>
        <p:nvSpPr>
          <p:cNvPr id="18" name="Shape 0">
            <a:extLst>
              <a:ext uri="{FF2B5EF4-FFF2-40B4-BE49-F238E27FC236}">
                <a16:creationId xmlns:a16="http://schemas.microsoft.com/office/drawing/2014/main" id="{A841FB18-964C-1985-C740-684259DA22DA}"/>
              </a:ext>
            </a:extLst>
          </p:cNvPr>
          <p:cNvSpPr/>
          <p:nvPr/>
        </p:nvSpPr>
        <p:spPr>
          <a:xfrm>
            <a:off x="0" y="0"/>
            <a:ext cx="8123327" cy="75895"/>
          </a:xfrm>
          <a:prstGeom prst="rect">
            <a:avLst/>
          </a:prstGeom>
          <a:solidFill>
            <a:srgbClr val="2A9D8F"/>
          </a:solidFill>
          <a:ln/>
        </p:spPr>
        <p:txBody>
          <a:bodyPr/>
          <a:lstStyle/>
          <a:p>
            <a:endParaRPr lang="en-IN"/>
          </a:p>
        </p:txBody>
      </p:sp>
      <p:sp>
        <p:nvSpPr>
          <p:cNvPr id="20" name="Shape 1">
            <a:extLst>
              <a:ext uri="{FF2B5EF4-FFF2-40B4-BE49-F238E27FC236}">
                <a16:creationId xmlns:a16="http://schemas.microsoft.com/office/drawing/2014/main" id="{91B13370-B8F1-1A18-3045-E7F42C45B377}"/>
              </a:ext>
            </a:extLst>
          </p:cNvPr>
          <p:cNvSpPr/>
          <p:nvPr/>
        </p:nvSpPr>
        <p:spPr>
          <a:xfrm>
            <a:off x="8123327" y="0"/>
            <a:ext cx="4068369" cy="75895"/>
          </a:xfrm>
          <a:prstGeom prst="rect">
            <a:avLst/>
          </a:prstGeom>
          <a:solidFill>
            <a:srgbClr val="D62839"/>
          </a:solidFill>
          <a:ln/>
        </p:spPr>
        <p:txBody>
          <a:bodyPr/>
          <a:lstStyle/>
          <a:p>
            <a:endParaRPr lang="en-IN"/>
          </a:p>
        </p:txBody>
      </p:sp>
      <p:sp>
        <p:nvSpPr>
          <p:cNvPr id="28" name="Shape 3">
            <a:extLst>
              <a:ext uri="{FF2B5EF4-FFF2-40B4-BE49-F238E27FC236}">
                <a16:creationId xmlns:a16="http://schemas.microsoft.com/office/drawing/2014/main" id="{FDCDC723-86DF-3E8E-7DE2-F1F26B870D1D}"/>
              </a:ext>
            </a:extLst>
          </p:cNvPr>
          <p:cNvSpPr/>
          <p:nvPr/>
        </p:nvSpPr>
        <p:spPr>
          <a:xfrm>
            <a:off x="502920" y="329184"/>
            <a:ext cx="54864" cy="310896"/>
          </a:xfrm>
          <a:prstGeom prst="rect">
            <a:avLst/>
          </a:prstGeom>
          <a:solidFill>
            <a:srgbClr val="111827"/>
          </a:solidFill>
          <a:ln/>
        </p:spPr>
        <p:txBody>
          <a:bodyPr/>
          <a:lstStyle/>
          <a:p>
            <a:endParaRPr lang="en-IN"/>
          </a:p>
        </p:txBody>
      </p:sp>
      <p:sp>
        <p:nvSpPr>
          <p:cNvPr id="30" name="Text 4">
            <a:extLst>
              <a:ext uri="{FF2B5EF4-FFF2-40B4-BE49-F238E27FC236}">
                <a16:creationId xmlns:a16="http://schemas.microsoft.com/office/drawing/2014/main" id="{4C2D7826-3C9E-4E08-96C2-12AEFD5508B6}"/>
              </a:ext>
            </a:extLst>
          </p:cNvPr>
          <p:cNvSpPr/>
          <p:nvPr/>
        </p:nvSpPr>
        <p:spPr>
          <a:xfrm>
            <a:off x="667512" y="265176"/>
            <a:ext cx="11021263" cy="384048"/>
          </a:xfrm>
          <a:prstGeom prst="rect">
            <a:avLst/>
          </a:prstGeom>
          <a:noFill/>
          <a:ln/>
        </p:spPr>
        <p:txBody>
          <a:bodyPr wrap="square" lIns="0" tIns="0" rIns="0" bIns="0" rtlCol="0" anchor="ctr"/>
          <a:lstStyle/>
          <a:p>
            <a:pPr marL="0" indent="0" algn="l">
              <a:buNone/>
            </a:pPr>
            <a:r>
              <a:rPr lang="en-US" sz="2200" b="1" dirty="0">
                <a:solidFill>
                  <a:srgbClr val="111827"/>
                </a:solidFill>
                <a:latin typeface="Oswald" pitchFamily="34" charset="0"/>
                <a:ea typeface="Oswald" pitchFamily="34" charset="-122"/>
                <a:cs typeface="Oswald" pitchFamily="34" charset="-120"/>
              </a:rPr>
              <a:t>WHAT WE OFFER</a:t>
            </a:r>
          </a:p>
        </p:txBody>
      </p:sp>
      <p:sp>
        <p:nvSpPr>
          <p:cNvPr id="32" name="Text 5">
            <a:extLst>
              <a:ext uri="{FF2B5EF4-FFF2-40B4-BE49-F238E27FC236}">
                <a16:creationId xmlns:a16="http://schemas.microsoft.com/office/drawing/2014/main" id="{56CD2967-043C-6864-FA2D-F1D0700FE8FC}"/>
              </a:ext>
            </a:extLst>
          </p:cNvPr>
          <p:cNvSpPr/>
          <p:nvPr/>
        </p:nvSpPr>
        <p:spPr>
          <a:xfrm>
            <a:off x="667512" y="658368"/>
            <a:ext cx="11021263" cy="237744"/>
          </a:xfrm>
          <a:prstGeom prst="rect">
            <a:avLst/>
          </a:prstGeom>
          <a:noFill/>
          <a:ln/>
        </p:spPr>
        <p:txBody>
          <a:bodyPr wrap="square" lIns="0" tIns="0" rIns="0" bIns="0" rtlCol="0" anchor="ctr"/>
          <a:lstStyle/>
          <a:p>
            <a:pPr marL="0" indent="0" algn="l">
              <a:buNone/>
            </a:pPr>
            <a:r>
              <a:rPr lang="en-US" sz="1250" b="1" dirty="0">
                <a:solidFill>
                  <a:srgbClr val="2A9D8F"/>
                </a:solidFill>
                <a:latin typeface="Roboto Condensed" pitchFamily="34" charset="0"/>
                <a:ea typeface="Roboto Condensed" pitchFamily="34" charset="-122"/>
                <a:cs typeface="Roboto Condensed" pitchFamily="34" charset="-120"/>
              </a:rPr>
              <a:t>Three Interlocking Revenue Engines</a:t>
            </a:r>
          </a:p>
        </p:txBody>
      </p:sp>
      <p:sp>
        <p:nvSpPr>
          <p:cNvPr id="40" name="Shape 2">
            <a:extLst>
              <a:ext uri="{FF2B5EF4-FFF2-40B4-BE49-F238E27FC236}">
                <a16:creationId xmlns:a16="http://schemas.microsoft.com/office/drawing/2014/main" id="{439D58A9-4688-4B7A-F0D9-3F1CC70B141D}"/>
              </a:ext>
            </a:extLst>
          </p:cNvPr>
          <p:cNvSpPr/>
          <p:nvPr/>
        </p:nvSpPr>
        <p:spPr>
          <a:xfrm>
            <a:off x="9265615" y="-1463040"/>
            <a:ext cx="3840480" cy="3840480"/>
          </a:xfrm>
          <a:prstGeom prst="ellipse">
            <a:avLst/>
          </a:prstGeom>
          <a:solidFill>
            <a:srgbClr val="2A9D8F">
              <a:alpha val="4000"/>
            </a:srgbClr>
          </a:solidFill>
          <a:ln/>
        </p:spPr>
        <p:txBody>
          <a:bodyPr/>
          <a:lstStyle/>
          <a:p>
            <a:endParaRPr lang="en-IN"/>
          </a:p>
        </p:txBody>
      </p:sp>
      <p:sp>
        <p:nvSpPr>
          <p:cNvPr id="4" name="Shape 29">
            <a:extLst>
              <a:ext uri="{FF2B5EF4-FFF2-40B4-BE49-F238E27FC236}">
                <a16:creationId xmlns:a16="http://schemas.microsoft.com/office/drawing/2014/main" id="{952388DE-68D2-0A4D-F617-2EA52A1A25CA}"/>
              </a:ext>
            </a:extLst>
          </p:cNvPr>
          <p:cNvSpPr/>
          <p:nvPr/>
        </p:nvSpPr>
        <p:spPr>
          <a:xfrm>
            <a:off x="9099908" y="1532839"/>
            <a:ext cx="2499360" cy="4952390"/>
          </a:xfrm>
          <a:prstGeom prst="roundRect">
            <a:avLst>
              <a:gd name="adj" fmla="val 1254"/>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endParaRPr lang="en-US"/>
          </a:p>
        </p:txBody>
      </p:sp>
      <p:sp>
        <p:nvSpPr>
          <p:cNvPr id="5" name="Shape 30">
            <a:extLst>
              <a:ext uri="{FF2B5EF4-FFF2-40B4-BE49-F238E27FC236}">
                <a16:creationId xmlns:a16="http://schemas.microsoft.com/office/drawing/2014/main" id="{16280F8E-2C3C-846A-85A4-907D22028CB9}"/>
              </a:ext>
            </a:extLst>
          </p:cNvPr>
          <p:cNvSpPr/>
          <p:nvPr/>
        </p:nvSpPr>
        <p:spPr>
          <a:xfrm>
            <a:off x="9109052" y="1541983"/>
            <a:ext cx="2484965" cy="1047902"/>
          </a:xfrm>
          <a:prstGeom prst="rect">
            <a:avLst/>
          </a:prstGeom>
          <a:solidFill>
            <a:srgbClr val="D62839"/>
          </a:solidFill>
          <a:ln w="12700">
            <a:solidFill>
              <a:srgbClr val="FFFFFF">
                <a:alpha val="0"/>
              </a:srgbClr>
            </a:solidFill>
            <a:prstDash val="solid"/>
          </a:ln>
        </p:spPr>
        <p:txBody>
          <a:bodyPr/>
          <a:lstStyle/>
          <a:p>
            <a:endParaRPr lang="en-US"/>
          </a:p>
        </p:txBody>
      </p:sp>
      <p:sp>
        <p:nvSpPr>
          <p:cNvPr id="6" name="Text 31">
            <a:extLst>
              <a:ext uri="{FF2B5EF4-FFF2-40B4-BE49-F238E27FC236}">
                <a16:creationId xmlns:a16="http://schemas.microsoft.com/office/drawing/2014/main" id="{2F2D151C-7FDD-0BC8-6316-35F7F8D2E8FA}"/>
              </a:ext>
            </a:extLst>
          </p:cNvPr>
          <p:cNvSpPr txBox="1"/>
          <p:nvPr/>
        </p:nvSpPr>
        <p:spPr>
          <a:xfrm>
            <a:off x="9434274" y="2042160"/>
            <a:ext cx="1818651" cy="238658"/>
          </a:xfrm>
          <a:prstGeom prst="rect">
            <a:avLst/>
          </a:prstGeom>
          <a:noFill/>
          <a:ln/>
        </p:spPr>
        <p:txBody>
          <a:bodyPr wrap="none" lIns="0" tIns="0" rIns="0" bIns="0" rtlCol="0" anchor="ctr"/>
          <a:lstStyle/>
          <a:p>
            <a:pPr marL="0" indent="0" algn="ctr">
              <a:buNone/>
            </a:pPr>
            <a:r>
              <a:rPr lang="en-US" sz="1500" b="1" dirty="0">
                <a:solidFill>
                  <a:srgbClr val="FFFFFF"/>
                </a:solidFill>
                <a:latin typeface="Oswald" pitchFamily="34" charset="0"/>
                <a:ea typeface="Oswald" pitchFamily="34" charset="-122"/>
                <a:cs typeface="Oswald" pitchFamily="34" charset="-120"/>
              </a:rPr>
              <a:t>Strategic Consulting</a:t>
            </a:r>
          </a:p>
        </p:txBody>
      </p:sp>
      <p:sp>
        <p:nvSpPr>
          <p:cNvPr id="8" name="Text 32">
            <a:extLst>
              <a:ext uri="{FF2B5EF4-FFF2-40B4-BE49-F238E27FC236}">
                <a16:creationId xmlns:a16="http://schemas.microsoft.com/office/drawing/2014/main" id="{48F709FB-F677-B765-8B4A-F99A2DA086EE}"/>
              </a:ext>
            </a:extLst>
          </p:cNvPr>
          <p:cNvSpPr txBox="1"/>
          <p:nvPr/>
        </p:nvSpPr>
        <p:spPr>
          <a:xfrm>
            <a:off x="9300162" y="4266083"/>
            <a:ext cx="2199794" cy="409651"/>
          </a:xfrm>
          <a:prstGeom prst="rect">
            <a:avLst/>
          </a:prstGeom>
          <a:noFill/>
          <a:ln/>
        </p:spPr>
        <p:txBody>
          <a:bodyPr wrap="square" lIns="0" tIns="0" rIns="0" bIns="0" rtlCol="0" anchor="ctr"/>
          <a:lstStyle/>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Location analysis – Tier-1 vs Tier-2 cost, talent &amp; infra fit</a:t>
            </a:r>
          </a:p>
          <a:p>
            <a:pPr marL="171450" indent="-171450" algn="l">
              <a:buFont typeface="Arial" panose="020B0604020202020204" pitchFamily="34" charset="0"/>
              <a:buChar char="•"/>
            </a:pPr>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Operating model design – BOT, Hybrid, Captive, or CaaS</a:t>
            </a:r>
          </a:p>
          <a:p>
            <a:pPr marL="171450" indent="-171450" algn="l">
              <a:buFont typeface="Arial" panose="020B0604020202020204" pitchFamily="34" charset="0"/>
              <a:buChar char="•"/>
            </a:pPr>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Regulatory guidance – compliance, tax &amp; legal structuring</a:t>
            </a:r>
          </a:p>
          <a:p>
            <a:pPr marL="171450" indent="-171450" algn="l">
              <a:buFont typeface="Arial" panose="020B0604020202020204" pitchFamily="34" charset="0"/>
              <a:buChar char="•"/>
            </a:pPr>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M&amp;A support – due diligence for brownfield deals</a:t>
            </a:r>
            <a:endParaRPr lang="en-US" sz="1400" dirty="0"/>
          </a:p>
        </p:txBody>
      </p:sp>
      <p:sp>
        <p:nvSpPr>
          <p:cNvPr id="9" name="Text 39">
            <a:extLst>
              <a:ext uri="{FF2B5EF4-FFF2-40B4-BE49-F238E27FC236}">
                <a16:creationId xmlns:a16="http://schemas.microsoft.com/office/drawing/2014/main" id="{7EA16C69-E13E-69F3-8D28-97859DDFEB8D}"/>
              </a:ext>
            </a:extLst>
          </p:cNvPr>
          <p:cNvSpPr txBox="1"/>
          <p:nvPr/>
        </p:nvSpPr>
        <p:spPr>
          <a:xfrm>
            <a:off x="10127912" y="1660855"/>
            <a:ext cx="272147" cy="342900"/>
          </a:xfrm>
          <a:prstGeom prst="rect">
            <a:avLst/>
          </a:prstGeom>
          <a:noFill/>
          <a:ln/>
        </p:spPr>
        <p:txBody>
          <a:bodyPr wrap="none" lIns="0" tIns="0" rIns="0" bIns="0" rtlCol="0" anchor="ctr"/>
          <a:lstStyle/>
          <a:p>
            <a:pPr marL="0" indent="0" algn="ctr">
              <a:buNone/>
            </a:pPr>
            <a:r>
              <a:rPr lang="en-US" sz="2200" b="1" dirty="0">
                <a:solidFill>
                  <a:srgbClr val="FFFFFF">
                    <a:alpha val="90000"/>
                  </a:srgbClr>
                </a:solidFill>
                <a:latin typeface="Oswald" pitchFamily="34" charset="0"/>
                <a:ea typeface="Oswald" pitchFamily="34" charset="-122"/>
                <a:cs typeface="Oswald" pitchFamily="34" charset="-120"/>
              </a:rPr>
              <a:t>04</a:t>
            </a:r>
            <a:endParaRPr lang="en-US" sz="2200" dirty="0"/>
          </a:p>
        </p:txBody>
      </p:sp>
      <p:sp>
        <p:nvSpPr>
          <p:cNvPr id="10" name="Text 40">
            <a:extLst>
              <a:ext uri="{FF2B5EF4-FFF2-40B4-BE49-F238E27FC236}">
                <a16:creationId xmlns:a16="http://schemas.microsoft.com/office/drawing/2014/main" id="{ADE1761C-C126-B43C-B3D7-878E43B75DA5}"/>
              </a:ext>
            </a:extLst>
          </p:cNvPr>
          <p:cNvSpPr txBox="1"/>
          <p:nvPr/>
        </p:nvSpPr>
        <p:spPr>
          <a:xfrm>
            <a:off x="9613497" y="2318308"/>
            <a:ext cx="1410774" cy="152705"/>
          </a:xfrm>
          <a:prstGeom prst="rect">
            <a:avLst/>
          </a:prstGeom>
          <a:noFill/>
          <a:ln/>
        </p:spPr>
        <p:txBody>
          <a:bodyPr wrap="none" lIns="0" tIns="0" rIns="0" bIns="0" rtlCol="0" anchor="ctr"/>
          <a:lstStyle/>
          <a:p>
            <a:pPr marL="0" indent="0" algn="ctr">
              <a:buNone/>
            </a:pPr>
            <a:r>
              <a:rPr lang="en-US" sz="900" kern="0" spc="45" dirty="0">
                <a:solidFill>
                  <a:srgbClr val="FFFFFF">
                    <a:alpha val="90000"/>
                  </a:srgbClr>
                </a:solidFill>
                <a:latin typeface="Roboto Condensed" pitchFamily="34" charset="0"/>
                <a:ea typeface="Roboto Condensed" pitchFamily="34" charset="-122"/>
                <a:cs typeface="Roboto Condensed" pitchFamily="34" charset="-120"/>
              </a:rPr>
              <a:t>The Market-Entry Engine</a:t>
            </a:r>
            <a:endParaRPr lang="en-US" sz="900" dirty="0"/>
          </a:p>
        </p:txBody>
      </p:sp>
      <p:sp>
        <p:nvSpPr>
          <p:cNvPr id="16" name="Text 45">
            <a:extLst>
              <a:ext uri="{FF2B5EF4-FFF2-40B4-BE49-F238E27FC236}">
                <a16:creationId xmlns:a16="http://schemas.microsoft.com/office/drawing/2014/main" id="{426D193E-618B-7E55-8392-B4EDDA671D7B}"/>
              </a:ext>
            </a:extLst>
          </p:cNvPr>
          <p:cNvSpPr/>
          <p:nvPr/>
        </p:nvSpPr>
        <p:spPr>
          <a:xfrm>
            <a:off x="502920" y="6547104"/>
            <a:ext cx="2743200" cy="201168"/>
          </a:xfrm>
          <a:prstGeom prst="rect">
            <a:avLst/>
          </a:prstGeom>
          <a:noFill/>
          <a:ln/>
        </p:spPr>
        <p:txBody>
          <a:bodyPr wrap="square" lIns="0" tIns="0" rIns="0" bIns="0" rtlCol="0" anchor="ctr"/>
          <a:lstStyle/>
          <a:p>
            <a:pPr marL="0" indent="0" algn="l">
              <a:buNone/>
            </a:pPr>
            <a:r>
              <a:rPr lang="en-US" sz="800" kern="0" spc="100" dirty="0">
                <a:solidFill>
                  <a:srgbClr val="A1A1AA"/>
                </a:solidFill>
                <a:latin typeface="Roboto Condensed" pitchFamily="34" charset="0"/>
                <a:ea typeface="Roboto Condensed" pitchFamily="34" charset="-122"/>
                <a:cs typeface="Roboto Condensed" pitchFamily="34" charset="-120"/>
              </a:rPr>
              <a:t>JOULESTOWATTS</a:t>
            </a:r>
            <a:endParaRPr lang="en-US" sz="800" dirty="0"/>
          </a:p>
        </p:txBody>
      </p:sp>
    </p:spTree>
    <p:extLst>
      <p:ext uri="{BB962C8B-B14F-4D97-AF65-F5344CB8AC3E}">
        <p14:creationId xmlns:p14="http://schemas.microsoft.com/office/powerpoint/2010/main" val="376703951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8123327" cy="75895"/>
          </a:xfrm>
          <a:prstGeom prst="rect">
            <a:avLst/>
          </a:prstGeom>
          <a:solidFill>
            <a:srgbClr val="2A9D8F"/>
          </a:solidFill>
          <a:ln/>
        </p:spPr>
        <p:txBody>
          <a:bodyPr/>
          <a:lstStyle/>
          <a:p>
            <a:endParaRPr lang="en-IN"/>
          </a:p>
        </p:txBody>
      </p:sp>
      <p:sp>
        <p:nvSpPr>
          <p:cNvPr id="3" name="Shape 1"/>
          <p:cNvSpPr/>
          <p:nvPr/>
        </p:nvSpPr>
        <p:spPr>
          <a:xfrm>
            <a:off x="8123327" y="0"/>
            <a:ext cx="4068369" cy="75895"/>
          </a:xfrm>
          <a:prstGeom prst="rect">
            <a:avLst/>
          </a:prstGeom>
          <a:solidFill>
            <a:srgbClr val="D62839"/>
          </a:solidFill>
          <a:ln/>
        </p:spPr>
        <p:txBody>
          <a:bodyPr/>
          <a:lstStyle/>
          <a:p>
            <a:endParaRPr lang="en-IN"/>
          </a:p>
        </p:txBody>
      </p:sp>
      <p:sp>
        <p:nvSpPr>
          <p:cNvPr id="4" name="Shape 2"/>
          <p:cNvSpPr/>
          <p:nvPr/>
        </p:nvSpPr>
        <p:spPr>
          <a:xfrm>
            <a:off x="9265615" y="-1463040"/>
            <a:ext cx="3840480" cy="3840480"/>
          </a:xfrm>
          <a:prstGeom prst="ellipse">
            <a:avLst/>
          </a:prstGeom>
          <a:solidFill>
            <a:srgbClr val="2A9D8F">
              <a:alpha val="4000"/>
            </a:srgbClr>
          </a:solidFill>
          <a:ln/>
        </p:spPr>
        <p:txBody>
          <a:bodyPr/>
          <a:lstStyle/>
          <a:p>
            <a:endParaRPr lang="en-IN"/>
          </a:p>
        </p:txBody>
      </p:sp>
      <p:sp>
        <p:nvSpPr>
          <p:cNvPr id="5" name="Shape 3"/>
          <p:cNvSpPr/>
          <p:nvPr/>
        </p:nvSpPr>
        <p:spPr>
          <a:xfrm>
            <a:off x="502920" y="329184"/>
            <a:ext cx="54864" cy="310896"/>
          </a:xfrm>
          <a:prstGeom prst="rect">
            <a:avLst/>
          </a:prstGeom>
          <a:solidFill>
            <a:srgbClr val="111827"/>
          </a:solidFill>
          <a:ln/>
        </p:spPr>
        <p:txBody>
          <a:bodyPr/>
          <a:lstStyle/>
          <a:p>
            <a:endParaRPr lang="en-IN"/>
          </a:p>
        </p:txBody>
      </p:sp>
      <p:sp>
        <p:nvSpPr>
          <p:cNvPr id="6" name="Text 4"/>
          <p:cNvSpPr/>
          <p:nvPr/>
        </p:nvSpPr>
        <p:spPr>
          <a:xfrm>
            <a:off x="667512" y="265176"/>
            <a:ext cx="11021263" cy="384048"/>
          </a:xfrm>
          <a:prstGeom prst="rect">
            <a:avLst/>
          </a:prstGeom>
          <a:noFill/>
          <a:ln/>
        </p:spPr>
        <p:txBody>
          <a:bodyPr wrap="square" lIns="0" tIns="0" rIns="0" bIns="0" rtlCol="0" anchor="ctr"/>
          <a:lstStyle/>
          <a:p>
            <a:pPr marL="0" indent="0" algn="l">
              <a:buNone/>
            </a:pPr>
            <a:r>
              <a:rPr lang="en-US" sz="2200" b="1" dirty="0">
                <a:solidFill>
                  <a:srgbClr val="111827"/>
                </a:solidFill>
                <a:latin typeface="Oswald" pitchFamily="34" charset="0"/>
                <a:ea typeface="Oswald" pitchFamily="34" charset="-122"/>
                <a:cs typeface="Oswald" pitchFamily="34" charset="-120"/>
              </a:rPr>
              <a:t>J2W’S COMPETITIVE EDGE</a:t>
            </a:r>
            <a:endParaRPr lang="en-US" sz="2200" dirty="0"/>
          </a:p>
        </p:txBody>
      </p:sp>
      <p:sp>
        <p:nvSpPr>
          <p:cNvPr id="7" name="Text 5"/>
          <p:cNvSpPr/>
          <p:nvPr/>
        </p:nvSpPr>
        <p:spPr>
          <a:xfrm>
            <a:off x="667512" y="658368"/>
            <a:ext cx="11021263" cy="237744"/>
          </a:xfrm>
          <a:prstGeom prst="rect">
            <a:avLst/>
          </a:prstGeom>
          <a:noFill/>
          <a:ln/>
        </p:spPr>
        <p:txBody>
          <a:bodyPr wrap="square" lIns="0" tIns="0" rIns="0" bIns="0" rtlCol="0" anchor="ctr"/>
          <a:lstStyle/>
          <a:p>
            <a:pPr marL="0" indent="0" algn="l">
              <a:buNone/>
            </a:pPr>
            <a:r>
              <a:rPr lang="en-US" sz="1250" b="1" dirty="0">
                <a:solidFill>
                  <a:srgbClr val="2A9D8F"/>
                </a:solidFill>
                <a:latin typeface="Roboto Condensed" pitchFamily="34" charset="0"/>
                <a:ea typeface="Roboto Condensed" pitchFamily="34" charset="-122"/>
                <a:cs typeface="Roboto Condensed" pitchFamily="34" charset="-120"/>
              </a:rPr>
              <a:t>Redefining GCC excellence through strategic innovation and operational agility</a:t>
            </a:r>
            <a:endParaRPr lang="en-US" sz="1250" dirty="0"/>
          </a:p>
        </p:txBody>
      </p:sp>
      <p:graphicFrame>
        <p:nvGraphicFramePr>
          <p:cNvPr id="9" name="Table 0"/>
          <p:cNvGraphicFramePr>
            <a:graphicFrameLocks noGrp="1"/>
          </p:cNvGraphicFramePr>
          <p:nvPr/>
        </p:nvGraphicFramePr>
        <p:xfrm>
          <a:off x="502920" y="1097280"/>
          <a:ext cx="11185857" cy="4375404"/>
        </p:xfrm>
        <a:graphic>
          <a:graphicData uri="http://schemas.openxmlformats.org/drawingml/2006/table">
            <a:tbl>
              <a:tblPr/>
              <a:tblGrid>
                <a:gridCol w="1864309">
                  <a:extLst>
                    <a:ext uri="{9D8B030D-6E8A-4147-A177-3AD203B41FA5}">
                      <a16:colId xmlns:a16="http://schemas.microsoft.com/office/drawing/2014/main" val="20000"/>
                    </a:ext>
                  </a:extLst>
                </a:gridCol>
                <a:gridCol w="1768704">
                  <a:extLst>
                    <a:ext uri="{9D8B030D-6E8A-4147-A177-3AD203B41FA5}">
                      <a16:colId xmlns:a16="http://schemas.microsoft.com/office/drawing/2014/main" val="20001"/>
                    </a:ext>
                  </a:extLst>
                </a:gridCol>
                <a:gridCol w="1768704">
                  <a:extLst>
                    <a:ext uri="{9D8B030D-6E8A-4147-A177-3AD203B41FA5}">
                      <a16:colId xmlns:a16="http://schemas.microsoft.com/office/drawing/2014/main" val="20002"/>
                    </a:ext>
                  </a:extLst>
                </a:gridCol>
                <a:gridCol w="2246732">
                  <a:extLst>
                    <a:ext uri="{9D8B030D-6E8A-4147-A177-3AD203B41FA5}">
                      <a16:colId xmlns:a16="http://schemas.microsoft.com/office/drawing/2014/main" val="20003"/>
                    </a:ext>
                  </a:extLst>
                </a:gridCol>
                <a:gridCol w="1768704">
                  <a:extLst>
                    <a:ext uri="{9D8B030D-6E8A-4147-A177-3AD203B41FA5}">
                      <a16:colId xmlns:a16="http://schemas.microsoft.com/office/drawing/2014/main" val="20004"/>
                    </a:ext>
                  </a:extLst>
                </a:gridCol>
                <a:gridCol w="1768704">
                  <a:extLst>
                    <a:ext uri="{9D8B030D-6E8A-4147-A177-3AD203B41FA5}">
                      <a16:colId xmlns:a16="http://schemas.microsoft.com/office/drawing/2014/main" val="20005"/>
                    </a:ext>
                  </a:extLst>
                </a:gridCol>
              </a:tblGrid>
              <a:tr h="384048">
                <a:tc>
                  <a:txBody>
                    <a:bodyPr/>
                    <a:lstStyle/>
                    <a:p>
                      <a:pPr marL="0" indent="0" algn="ctr">
                        <a:buNone/>
                      </a:pPr>
                      <a:r>
                        <a:rPr lang="en-US" sz="950" b="1" dirty="0">
                          <a:solidFill>
                            <a:srgbClr val="FFFFFF"/>
                          </a:solidFill>
                          <a:latin typeface="Oswald" pitchFamily="34" charset="0"/>
                          <a:ea typeface="Oswald" pitchFamily="34" charset="-122"/>
                          <a:cs typeface="Oswald" pitchFamily="34" charset="-120"/>
                        </a:rPr>
                        <a:t>Strategic Factors</a:t>
                      </a:r>
                      <a:endParaRPr lang="en-US" sz="950" dirty="0">
                        <a:latin typeface="Oswald" charset="0"/>
                        <a:ea typeface="Oswald" charset="0"/>
                        <a:cs typeface="Oswald" charset="0"/>
                      </a:endParaRPr>
                    </a:p>
                  </a:txBody>
                  <a:tcPr marL="38100" marR="381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11827"/>
                    </a:solidFill>
                  </a:tcPr>
                </a:tc>
                <a:tc>
                  <a:txBody>
                    <a:bodyPr/>
                    <a:lstStyle/>
                    <a:p>
                      <a:pPr marL="0" indent="0" algn="ctr">
                        <a:buNone/>
                      </a:pPr>
                      <a:r>
                        <a:rPr lang="en-US" sz="950" b="1" dirty="0">
                          <a:solidFill>
                            <a:srgbClr val="FFFFFF"/>
                          </a:solidFill>
                          <a:latin typeface="Oswald" pitchFamily="34" charset="0"/>
                          <a:ea typeface="Oswald" pitchFamily="34" charset="-122"/>
                          <a:cs typeface="Oswald" pitchFamily="34" charset="-120"/>
                        </a:rPr>
                        <a:t>Tier-1 Traditional</a:t>
                      </a:r>
                      <a:endParaRPr lang="en-US" sz="950" dirty="0">
                        <a:latin typeface="Oswald" charset="0"/>
                        <a:ea typeface="Oswald" charset="0"/>
                        <a:cs typeface="Oswald" charset="0"/>
                      </a:endParaRPr>
                    </a:p>
                  </a:txBody>
                  <a:tcPr marL="38100" marR="381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11827"/>
                    </a:solidFill>
                  </a:tcPr>
                </a:tc>
                <a:tc>
                  <a:txBody>
                    <a:bodyPr/>
                    <a:lstStyle/>
                    <a:p>
                      <a:pPr marL="0" indent="0" algn="ctr">
                        <a:buNone/>
                      </a:pPr>
                      <a:r>
                        <a:rPr lang="en-US" sz="950" b="1" dirty="0">
                          <a:solidFill>
                            <a:srgbClr val="FFFFFF"/>
                          </a:solidFill>
                          <a:latin typeface="Oswald" pitchFamily="34" charset="0"/>
                          <a:ea typeface="Oswald" pitchFamily="34" charset="-122"/>
                          <a:cs typeface="Oswald" pitchFamily="34" charset="-120"/>
                        </a:rPr>
                        <a:t>Regional Specialists</a:t>
                      </a:r>
                      <a:endParaRPr lang="en-US" sz="950" dirty="0">
                        <a:latin typeface="Oswald" charset="0"/>
                        <a:ea typeface="Oswald" charset="0"/>
                        <a:cs typeface="Oswald" charset="0"/>
                      </a:endParaRPr>
                    </a:p>
                  </a:txBody>
                  <a:tcPr marL="38100" marR="381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11827"/>
                    </a:solidFill>
                  </a:tcPr>
                </a:tc>
                <a:tc>
                  <a:txBody>
                    <a:bodyPr/>
                    <a:lstStyle/>
                    <a:p>
                      <a:pPr marL="0" indent="0" algn="ctr">
                        <a:buNone/>
                      </a:pPr>
                      <a:r>
                        <a:rPr lang="en-US" sz="950" b="1" dirty="0">
                          <a:solidFill>
                            <a:srgbClr val="FFFFFF"/>
                          </a:solidFill>
                          <a:latin typeface="Oswald" pitchFamily="34" charset="0"/>
                          <a:ea typeface="Oswald" pitchFamily="34" charset="-122"/>
                          <a:cs typeface="Oswald" pitchFamily="34" charset="-120"/>
                        </a:rPr>
                        <a:t>J2W Global Capability Centers</a:t>
                      </a:r>
                      <a:endParaRPr lang="en-US" sz="950" dirty="0">
                        <a:latin typeface="Oswald" charset="0"/>
                        <a:ea typeface="Oswald" charset="0"/>
                        <a:cs typeface="Oswald" charset="0"/>
                      </a:endParaRPr>
                    </a:p>
                  </a:txBody>
                  <a:tcPr marL="38100" marR="381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D62839"/>
                    </a:solidFill>
                  </a:tcPr>
                </a:tc>
                <a:tc>
                  <a:txBody>
                    <a:bodyPr/>
                    <a:lstStyle/>
                    <a:p>
                      <a:pPr marL="0" indent="0" algn="ctr">
                        <a:buNone/>
                      </a:pPr>
                      <a:r>
                        <a:rPr lang="en-US" sz="950" b="1" dirty="0">
                          <a:solidFill>
                            <a:srgbClr val="FFFFFF"/>
                          </a:solidFill>
                          <a:latin typeface="Oswald" pitchFamily="34" charset="0"/>
                          <a:ea typeface="Oswald" pitchFamily="34" charset="-122"/>
                          <a:cs typeface="Oswald" pitchFamily="34" charset="-120"/>
                        </a:rPr>
                        <a:t>Boutique Consulting</a:t>
                      </a:r>
                      <a:endParaRPr lang="en-US" sz="950" dirty="0">
                        <a:latin typeface="Oswald" charset="0"/>
                        <a:ea typeface="Oswald" charset="0"/>
                        <a:cs typeface="Oswald" charset="0"/>
                      </a:endParaRPr>
                    </a:p>
                  </a:txBody>
                  <a:tcPr marL="38100" marR="381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11827"/>
                    </a:solidFill>
                  </a:tcPr>
                </a:tc>
                <a:tc>
                  <a:txBody>
                    <a:bodyPr/>
                    <a:lstStyle/>
                    <a:p>
                      <a:pPr marL="0" indent="0" algn="ctr">
                        <a:buNone/>
                      </a:pPr>
                      <a:r>
                        <a:rPr lang="en-US" sz="950" b="1" dirty="0">
                          <a:solidFill>
                            <a:srgbClr val="FFFFFF"/>
                          </a:solidFill>
                          <a:latin typeface="Oswald" pitchFamily="34" charset="0"/>
                          <a:ea typeface="Oswald" pitchFamily="34" charset="-122"/>
                          <a:cs typeface="Oswald" pitchFamily="34" charset="-120"/>
                        </a:rPr>
                        <a:t>In-house IT Divisions</a:t>
                      </a:r>
                      <a:endParaRPr lang="en-US" sz="950" dirty="0">
                        <a:latin typeface="Oswald" charset="0"/>
                        <a:ea typeface="Oswald" charset="0"/>
                        <a:cs typeface="Oswald" charset="0"/>
                      </a:endParaRPr>
                    </a:p>
                  </a:txBody>
                  <a:tcPr marL="38100" marR="381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11827"/>
                    </a:solidFill>
                  </a:tcPr>
                </a:tc>
                <a:extLst>
                  <a:ext uri="{0D108BD9-81ED-4DB2-BD59-A6C34878D82A}">
                    <a16:rowId xmlns:a16="http://schemas.microsoft.com/office/drawing/2014/main" val="10000"/>
                  </a:ext>
                </a:extLst>
              </a:tr>
              <a:tr h="443484">
                <a:tc>
                  <a:txBody>
                    <a:bodyPr/>
                    <a:lstStyle/>
                    <a:p>
                      <a:pPr marL="0" indent="0" algn="l">
                        <a:buNone/>
                      </a:pPr>
                      <a:r>
                        <a:rPr lang="en-US" sz="860" b="1" dirty="0">
                          <a:solidFill>
                            <a:srgbClr val="111827"/>
                          </a:solidFill>
                          <a:latin typeface="Raleway" pitchFamily="34" charset="0"/>
                          <a:ea typeface="Raleway" pitchFamily="34" charset="-122"/>
                          <a:cs typeface="Raleway" pitchFamily="34" charset="-120"/>
                        </a:rPr>
                        <a:t>Geographic Footprint</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Metro-centric (5–6 countries)</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Limited regional presence</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60" b="1" dirty="0">
                          <a:solidFill>
                            <a:srgbClr val="111827"/>
                          </a:solidFill>
                          <a:latin typeface="Raleway" pitchFamily="34" charset="0"/>
                          <a:ea typeface="Raleway" pitchFamily="34" charset="-122"/>
                          <a:cs typeface="Raleway" pitchFamily="34" charset="-120"/>
                        </a:rPr>
                        <a:t>8 countries with Tier-2 leadership</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E9F5F3"/>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Single market focus</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No external expansion</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3484">
                <a:tc>
                  <a:txBody>
                    <a:bodyPr/>
                    <a:lstStyle/>
                    <a:p>
                      <a:pPr marL="0" indent="0" algn="l">
                        <a:buNone/>
                      </a:pPr>
                      <a:r>
                        <a:rPr lang="en-US" sz="860" b="1" dirty="0">
                          <a:solidFill>
                            <a:srgbClr val="111827"/>
                          </a:solidFill>
                          <a:latin typeface="Raleway" pitchFamily="34" charset="0"/>
                          <a:ea typeface="Raleway" pitchFamily="34" charset="-122"/>
                          <a:cs typeface="Raleway" pitchFamily="34" charset="-120"/>
                        </a:rPr>
                        <a:t>Service Model Innovation</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Standard outsourcing contracts</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Basic managed services</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marL="0" indent="0" algn="ctr">
                        <a:buNone/>
                      </a:pPr>
                      <a:r>
                        <a:rPr lang="en-US" sz="860" b="1" dirty="0">
                          <a:solidFill>
                            <a:srgbClr val="111827"/>
                          </a:solidFill>
                          <a:latin typeface="Raleway" pitchFamily="34" charset="0"/>
                          <a:ea typeface="Raleway" pitchFamily="34" charset="-122"/>
                          <a:cs typeface="Raleway" pitchFamily="34" charset="-120"/>
                        </a:rPr>
                        <a:t>BOT, CaaS, Hybrid models</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E9F5F3"/>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Project-based consulting</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Internal resource allocation</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extLst>
                  <a:ext uri="{0D108BD9-81ED-4DB2-BD59-A6C34878D82A}">
                    <a16:rowId xmlns:a16="http://schemas.microsoft.com/office/drawing/2014/main" val="10002"/>
                  </a:ext>
                </a:extLst>
              </a:tr>
              <a:tr h="443484">
                <a:tc>
                  <a:txBody>
                    <a:bodyPr/>
                    <a:lstStyle/>
                    <a:p>
                      <a:pPr marL="0" indent="0" algn="l">
                        <a:buNone/>
                      </a:pPr>
                      <a:r>
                        <a:rPr lang="en-US" sz="860" b="1" dirty="0">
                          <a:solidFill>
                            <a:srgbClr val="111827"/>
                          </a:solidFill>
                          <a:latin typeface="Raleway" pitchFamily="34" charset="0"/>
                          <a:ea typeface="Raleway" pitchFamily="34" charset="-122"/>
                          <a:cs typeface="Raleway" pitchFamily="34" charset="-120"/>
                        </a:rPr>
                        <a:t>AI &amp; Technology Integration</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Legacy system modernization</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Basic automation tools</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60" b="1" dirty="0">
                          <a:solidFill>
                            <a:srgbClr val="111827"/>
                          </a:solidFill>
                          <a:latin typeface="Raleway" pitchFamily="34" charset="0"/>
                          <a:ea typeface="Raleway" pitchFamily="34" charset="-122"/>
                          <a:cs typeface="Raleway" pitchFamily="34" charset="-120"/>
                        </a:rPr>
                        <a:t>J2W Premier Lounge + proprietary AI</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E9F5F3"/>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Technology advisory only</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Limited innovation budget</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3484">
                <a:tc>
                  <a:txBody>
                    <a:bodyPr/>
                    <a:lstStyle/>
                    <a:p>
                      <a:pPr marL="0" indent="0" algn="l">
                        <a:buNone/>
                      </a:pPr>
                      <a:r>
                        <a:rPr lang="en-US" sz="860" b="1" dirty="0">
                          <a:solidFill>
                            <a:srgbClr val="111827"/>
                          </a:solidFill>
                          <a:latin typeface="Raleway" pitchFamily="34" charset="0"/>
                          <a:ea typeface="Raleway" pitchFamily="34" charset="-122"/>
                          <a:cs typeface="Raleway" pitchFamily="34" charset="-120"/>
                        </a:rPr>
                        <a:t>Industry Specialization</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Horizontal service delivery</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Niche sector focus</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marL="0" indent="0" algn="ctr">
                        <a:buNone/>
                      </a:pPr>
                      <a:r>
                        <a:rPr lang="en-US" sz="860" b="1" dirty="0">
                          <a:solidFill>
                            <a:srgbClr val="111827"/>
                          </a:solidFill>
                          <a:latin typeface="Raleway" pitchFamily="34" charset="0"/>
                          <a:ea typeface="Raleway" pitchFamily="34" charset="-122"/>
                          <a:cs typeface="Raleway" pitchFamily="34" charset="-120"/>
                        </a:rPr>
                        <a:t>Multi-vertical (BFSI, Auto, Pharma, IT)</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E9F5F3"/>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Single industry consulting</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Internal domain knowledge</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extLst>
                  <a:ext uri="{0D108BD9-81ED-4DB2-BD59-A6C34878D82A}">
                    <a16:rowId xmlns:a16="http://schemas.microsoft.com/office/drawing/2014/main" val="10004"/>
                  </a:ext>
                </a:extLst>
              </a:tr>
              <a:tr h="443484">
                <a:tc>
                  <a:txBody>
                    <a:bodyPr/>
                    <a:lstStyle/>
                    <a:p>
                      <a:pPr marL="0" indent="0" algn="l">
                        <a:buNone/>
                      </a:pPr>
                      <a:r>
                        <a:rPr lang="en-US" sz="860" b="1" dirty="0">
                          <a:solidFill>
                            <a:srgbClr val="111827"/>
                          </a:solidFill>
                          <a:latin typeface="Raleway" pitchFamily="34" charset="0"/>
                          <a:ea typeface="Raleway" pitchFamily="34" charset="-122"/>
                          <a:cs typeface="Raleway" pitchFamily="34" charset="-120"/>
                        </a:rPr>
                        <a:t>Transformation Velocity</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12–18 month cycles</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6–9 month timelines</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60" b="1" dirty="0">
                          <a:solidFill>
                            <a:srgbClr val="111827"/>
                          </a:solidFill>
                          <a:latin typeface="Raleway" pitchFamily="34" charset="0"/>
                          <a:ea typeface="Raleway" pitchFamily="34" charset="-122"/>
                          <a:cs typeface="Raleway" pitchFamily="34" charset="-120"/>
                        </a:rPr>
                        <a:t>8–9 transformations / quarter</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E9F5F3"/>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Extended engagements</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Slow internal processes</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43484">
                <a:tc>
                  <a:txBody>
                    <a:bodyPr/>
                    <a:lstStyle/>
                    <a:p>
                      <a:pPr marL="0" indent="0" algn="l">
                        <a:buNone/>
                      </a:pPr>
                      <a:r>
                        <a:rPr lang="en-US" sz="860" b="1" dirty="0">
                          <a:solidFill>
                            <a:srgbClr val="111827"/>
                          </a:solidFill>
                          <a:latin typeface="Raleway" pitchFamily="34" charset="0"/>
                          <a:ea typeface="Raleway" pitchFamily="34" charset="-122"/>
                          <a:cs typeface="Raleway" pitchFamily="34" charset="-120"/>
                        </a:rPr>
                        <a:t>Talent Ecosystem Access</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Tier-1 city talent pools</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Regional talent networks</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marL="0" indent="0" algn="ctr">
                        <a:buNone/>
                      </a:pPr>
                      <a:r>
                        <a:rPr lang="en-US" sz="860" b="1" dirty="0">
                          <a:solidFill>
                            <a:srgbClr val="111827"/>
                          </a:solidFill>
                          <a:latin typeface="Raleway" pitchFamily="34" charset="0"/>
                          <a:ea typeface="Raleway" pitchFamily="34" charset="-122"/>
                          <a:cs typeface="Raleway" pitchFamily="34" charset="-120"/>
                        </a:rPr>
                        <a:t>1.5M annual STEM pipeline</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E9F5F3"/>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Limited talent acquisition</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Internal hiring constraints</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extLst>
                  <a:ext uri="{0D108BD9-81ED-4DB2-BD59-A6C34878D82A}">
                    <a16:rowId xmlns:a16="http://schemas.microsoft.com/office/drawing/2014/main" val="10006"/>
                  </a:ext>
                </a:extLst>
              </a:tr>
              <a:tr h="443484">
                <a:tc>
                  <a:txBody>
                    <a:bodyPr/>
                    <a:lstStyle/>
                    <a:p>
                      <a:pPr marL="0" indent="0" algn="l">
                        <a:buNone/>
                      </a:pPr>
                      <a:r>
                        <a:rPr lang="en-US" sz="860" b="1" dirty="0">
                          <a:solidFill>
                            <a:srgbClr val="111827"/>
                          </a:solidFill>
                          <a:latin typeface="Raleway" pitchFamily="34" charset="0"/>
                          <a:ea typeface="Raleway" pitchFamily="34" charset="-122"/>
                          <a:cs typeface="Raleway" pitchFamily="34" charset="-120"/>
                        </a:rPr>
                        <a:t>Operational Excellence</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70–75% efficiency targets</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80% process optimization</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60" b="1" dirty="0">
                          <a:solidFill>
                            <a:srgbClr val="111827"/>
                          </a:solidFill>
                          <a:latin typeface="Raleway" pitchFamily="34" charset="0"/>
                          <a:ea typeface="Raleway" pitchFamily="34" charset="-122"/>
                          <a:cs typeface="Raleway" pitchFamily="34" charset="-120"/>
                        </a:rPr>
                        <a:t>85% efficiency + 42% automation</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E9F5F3"/>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Advisory recommendations only</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Variable internal performance</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43484">
                <a:tc>
                  <a:txBody>
                    <a:bodyPr/>
                    <a:lstStyle/>
                    <a:p>
                      <a:pPr marL="0" indent="0" algn="l">
                        <a:buNone/>
                      </a:pPr>
                      <a:r>
                        <a:rPr lang="en-US" sz="860" b="1" dirty="0">
                          <a:solidFill>
                            <a:srgbClr val="111827"/>
                          </a:solidFill>
                          <a:latin typeface="Raleway" pitchFamily="34" charset="0"/>
                          <a:ea typeface="Raleway" pitchFamily="34" charset="-122"/>
                          <a:cs typeface="Raleway" pitchFamily="34" charset="-120"/>
                        </a:rPr>
                        <a:t>Financial Value Creation</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20–25% cost reduction</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30% operational savings</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marL="0" indent="0" algn="ctr">
                        <a:buNone/>
                      </a:pPr>
                      <a:r>
                        <a:rPr lang="en-US" sz="860" b="1" dirty="0">
                          <a:solidFill>
                            <a:srgbClr val="111827"/>
                          </a:solidFill>
                          <a:latin typeface="Raleway" pitchFamily="34" charset="0"/>
                          <a:ea typeface="Raleway" pitchFamily="34" charset="-122"/>
                          <a:cs typeface="Raleway" pitchFamily="34" charset="-120"/>
                        </a:rPr>
                        <a:t>40% cost optimization + revenue</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E9F5F3"/>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Fee-based revenue model</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Cost center approach</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extLst>
                  <a:ext uri="{0D108BD9-81ED-4DB2-BD59-A6C34878D82A}">
                    <a16:rowId xmlns:a16="http://schemas.microsoft.com/office/drawing/2014/main" val="10008"/>
                  </a:ext>
                </a:extLst>
              </a:tr>
              <a:tr h="443484">
                <a:tc>
                  <a:txBody>
                    <a:bodyPr/>
                    <a:lstStyle/>
                    <a:p>
                      <a:pPr marL="0" indent="0" algn="l">
                        <a:buNone/>
                      </a:pPr>
                      <a:r>
                        <a:rPr lang="en-US" sz="860" b="1" dirty="0">
                          <a:solidFill>
                            <a:srgbClr val="111827"/>
                          </a:solidFill>
                          <a:latin typeface="Raleway" pitchFamily="34" charset="0"/>
                          <a:ea typeface="Raleway" pitchFamily="34" charset="-122"/>
                          <a:cs typeface="Raleway" pitchFamily="34" charset="-120"/>
                        </a:rPr>
                        <a:t>Scalability &amp; Flexibility</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Fixed capacity contracts</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Moderate scaling options</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60" b="1" dirty="0">
                          <a:solidFill>
                            <a:srgbClr val="111827"/>
                          </a:solidFill>
                          <a:latin typeface="Raleway" pitchFamily="34" charset="0"/>
                          <a:ea typeface="Raleway" pitchFamily="34" charset="-122"/>
                          <a:cs typeface="Raleway" pitchFamily="34" charset="-120"/>
                        </a:rPr>
                        <a:t>Pay-as-you-grow subscriptions</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E9F5F3"/>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Project scope limitations</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4B5563"/>
                          </a:solidFill>
                          <a:latin typeface="Raleway" pitchFamily="34" charset="0"/>
                          <a:ea typeface="Raleway" pitchFamily="34" charset="-122"/>
                          <a:cs typeface="Raleway" pitchFamily="34" charset="-120"/>
                        </a:rPr>
                        <a:t>Budget-dependent scaling</a:t>
                      </a:r>
                      <a:endParaRPr lang="en-US" sz="860" dirty="0">
                        <a:latin typeface="Raleway" charset="0"/>
                        <a:ea typeface="Raleway" charset="0"/>
                        <a:cs typeface="Raleway" charset="0"/>
                      </a:endParaRPr>
                    </a:p>
                  </a:txBody>
                  <a:tcPr marL="50800" marR="508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8" name="Text 6"/>
          <p:cNvSpPr/>
          <p:nvPr/>
        </p:nvSpPr>
        <p:spPr>
          <a:xfrm>
            <a:off x="502920" y="6355080"/>
            <a:ext cx="11185855" cy="292608"/>
          </a:xfrm>
          <a:prstGeom prst="rect">
            <a:avLst/>
          </a:prstGeom>
          <a:noFill/>
          <a:ln/>
        </p:spPr>
        <p:txBody>
          <a:bodyPr wrap="square" lIns="0" tIns="0" rIns="0" bIns="0" rtlCol="0" anchor="ctr"/>
          <a:lstStyle/>
          <a:p>
            <a:pPr marL="0" indent="0" algn="l">
              <a:buNone/>
            </a:pPr>
            <a:r>
              <a:rPr lang="en-US" sz="1000" i="1" dirty="0">
                <a:solidFill>
                  <a:srgbClr val="4B5563"/>
                </a:solidFill>
                <a:latin typeface="Raleway" pitchFamily="34" charset="0"/>
                <a:ea typeface="Raleway" pitchFamily="34" charset="-122"/>
                <a:cs typeface="Raleway" pitchFamily="34" charset="-120"/>
              </a:rPr>
              <a:t>J2W transcends traditional GCC boundaries by combining global reach with local expertise, turning cost centers into innovation hubs.</a:t>
            </a:r>
            <a:endParaRPr lang="en-US" sz="1000" dirty="0"/>
          </a:p>
        </p:txBody>
      </p:sp>
      <p:sp>
        <p:nvSpPr>
          <p:cNvPr id="10" name="Text 7"/>
          <p:cNvSpPr/>
          <p:nvPr/>
        </p:nvSpPr>
        <p:spPr>
          <a:xfrm>
            <a:off x="502920" y="6547104"/>
            <a:ext cx="2743200" cy="201168"/>
          </a:xfrm>
          <a:prstGeom prst="rect">
            <a:avLst/>
          </a:prstGeom>
          <a:noFill/>
          <a:ln/>
        </p:spPr>
        <p:txBody>
          <a:bodyPr wrap="square" lIns="0" tIns="0" rIns="0" bIns="0" rtlCol="0" anchor="ctr"/>
          <a:lstStyle/>
          <a:p>
            <a:pPr marL="0" indent="0" algn="l">
              <a:buNone/>
            </a:pPr>
            <a:r>
              <a:rPr lang="en-US" sz="800" kern="0" spc="100" dirty="0">
                <a:solidFill>
                  <a:srgbClr val="A1A1AA"/>
                </a:solidFill>
                <a:latin typeface="Roboto Condensed" pitchFamily="34" charset="0"/>
                <a:ea typeface="Roboto Condensed" pitchFamily="34" charset="-122"/>
                <a:cs typeface="Roboto Condensed" pitchFamily="34" charset="-120"/>
              </a:rPr>
              <a:t>JOULESTOWATTS</a:t>
            </a:r>
            <a:endParaRPr lang="en-US" sz="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AB183C-6A6E-699B-809E-BBDE6780281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4A65A389-0B05-E6E5-B77B-DD942DAEE920}"/>
              </a:ext>
            </a:extLst>
          </p:cNvPr>
          <p:cNvSpPr/>
          <p:nvPr/>
        </p:nvSpPr>
        <p:spPr>
          <a:xfrm>
            <a:off x="0" y="0"/>
            <a:ext cx="8123327" cy="75895"/>
          </a:xfrm>
          <a:prstGeom prst="rect">
            <a:avLst/>
          </a:prstGeom>
          <a:solidFill>
            <a:srgbClr val="2A9D8F"/>
          </a:solidFill>
          <a:ln/>
        </p:spPr>
        <p:txBody>
          <a:bodyPr/>
          <a:lstStyle/>
          <a:p>
            <a:endParaRPr lang="en-IN"/>
          </a:p>
        </p:txBody>
      </p:sp>
      <p:sp>
        <p:nvSpPr>
          <p:cNvPr id="3" name="Shape 1">
            <a:extLst>
              <a:ext uri="{FF2B5EF4-FFF2-40B4-BE49-F238E27FC236}">
                <a16:creationId xmlns:a16="http://schemas.microsoft.com/office/drawing/2014/main" id="{99B86F97-DF3C-5E3F-F9E9-FA856BEE09EC}"/>
              </a:ext>
            </a:extLst>
          </p:cNvPr>
          <p:cNvSpPr/>
          <p:nvPr/>
        </p:nvSpPr>
        <p:spPr>
          <a:xfrm>
            <a:off x="8123327" y="0"/>
            <a:ext cx="4068369" cy="75895"/>
          </a:xfrm>
          <a:prstGeom prst="rect">
            <a:avLst/>
          </a:prstGeom>
          <a:solidFill>
            <a:srgbClr val="D62839"/>
          </a:solidFill>
          <a:ln/>
        </p:spPr>
        <p:txBody>
          <a:bodyPr/>
          <a:lstStyle/>
          <a:p>
            <a:endParaRPr lang="en-IN"/>
          </a:p>
        </p:txBody>
      </p:sp>
      <p:sp>
        <p:nvSpPr>
          <p:cNvPr id="4" name="Shape 2">
            <a:extLst>
              <a:ext uri="{FF2B5EF4-FFF2-40B4-BE49-F238E27FC236}">
                <a16:creationId xmlns:a16="http://schemas.microsoft.com/office/drawing/2014/main" id="{4B58F802-8FB4-B31E-64F0-50807DAB1A47}"/>
              </a:ext>
            </a:extLst>
          </p:cNvPr>
          <p:cNvSpPr/>
          <p:nvPr/>
        </p:nvSpPr>
        <p:spPr>
          <a:xfrm>
            <a:off x="9265615" y="-1463040"/>
            <a:ext cx="3840480" cy="3840480"/>
          </a:xfrm>
          <a:prstGeom prst="ellipse">
            <a:avLst/>
          </a:prstGeom>
          <a:solidFill>
            <a:srgbClr val="2A9D8F">
              <a:alpha val="4000"/>
            </a:srgbClr>
          </a:solidFill>
          <a:ln/>
        </p:spPr>
        <p:txBody>
          <a:bodyPr/>
          <a:lstStyle/>
          <a:p>
            <a:endParaRPr lang="en-IN"/>
          </a:p>
        </p:txBody>
      </p:sp>
      <p:sp>
        <p:nvSpPr>
          <p:cNvPr id="5" name="Shape 3">
            <a:extLst>
              <a:ext uri="{FF2B5EF4-FFF2-40B4-BE49-F238E27FC236}">
                <a16:creationId xmlns:a16="http://schemas.microsoft.com/office/drawing/2014/main" id="{7602A7B9-C9D5-7871-5A90-5C36A9B28297}"/>
              </a:ext>
            </a:extLst>
          </p:cNvPr>
          <p:cNvSpPr/>
          <p:nvPr/>
        </p:nvSpPr>
        <p:spPr>
          <a:xfrm>
            <a:off x="502920" y="329184"/>
            <a:ext cx="54864" cy="310896"/>
          </a:xfrm>
          <a:prstGeom prst="rect">
            <a:avLst/>
          </a:prstGeom>
          <a:solidFill>
            <a:srgbClr val="111827"/>
          </a:solidFill>
          <a:ln/>
        </p:spPr>
        <p:txBody>
          <a:bodyPr/>
          <a:lstStyle/>
          <a:p>
            <a:endParaRPr lang="en-IN"/>
          </a:p>
        </p:txBody>
      </p:sp>
      <p:sp>
        <p:nvSpPr>
          <p:cNvPr id="6" name="Text 4">
            <a:extLst>
              <a:ext uri="{FF2B5EF4-FFF2-40B4-BE49-F238E27FC236}">
                <a16:creationId xmlns:a16="http://schemas.microsoft.com/office/drawing/2014/main" id="{A11E314A-8503-D698-D94C-CF3CAF20A9E9}"/>
              </a:ext>
            </a:extLst>
          </p:cNvPr>
          <p:cNvSpPr/>
          <p:nvPr/>
        </p:nvSpPr>
        <p:spPr>
          <a:xfrm>
            <a:off x="667512" y="405739"/>
            <a:ext cx="11021263" cy="384048"/>
          </a:xfrm>
          <a:prstGeom prst="rect">
            <a:avLst/>
          </a:prstGeom>
          <a:noFill/>
          <a:ln/>
        </p:spPr>
        <p:txBody>
          <a:bodyPr wrap="square" lIns="0" tIns="0" rIns="0" bIns="0" rtlCol="0" anchor="ctr"/>
          <a:lstStyle/>
          <a:p>
            <a:pPr marL="0" indent="0" algn="l">
              <a:buNone/>
            </a:pPr>
            <a:r>
              <a:rPr lang="en-GB" sz="2200" b="1" dirty="0">
                <a:solidFill>
                  <a:srgbClr val="2A9D8F"/>
                </a:solidFill>
                <a:latin typeface="Oswald" pitchFamily="34" charset="0"/>
                <a:ea typeface="Oswald" pitchFamily="34" charset="-122"/>
                <a:cs typeface="Oswald" pitchFamily="34" charset="-120"/>
              </a:rPr>
              <a:t>Case Study: </a:t>
            </a:r>
            <a:r>
              <a:rPr lang="en-GB" sz="2200" b="1" dirty="0">
                <a:solidFill>
                  <a:srgbClr val="111827"/>
                </a:solidFill>
                <a:latin typeface="Oswald" pitchFamily="34" charset="0"/>
                <a:ea typeface="Oswald" pitchFamily="34" charset="-122"/>
                <a:cs typeface="Oswald" pitchFamily="34" charset="-120"/>
              </a:rPr>
              <a:t>A Global Entertainment Leader Partnered With J2W To Build An Ai-driven Hub,</a:t>
            </a:r>
          </a:p>
          <a:p>
            <a:pPr marL="0" indent="0" algn="l">
              <a:buNone/>
            </a:pPr>
            <a:r>
              <a:rPr lang="en-GB" sz="2200" b="1" dirty="0">
                <a:solidFill>
                  <a:srgbClr val="111827"/>
                </a:solidFill>
                <a:latin typeface="Oswald" pitchFamily="34" charset="0"/>
                <a:ea typeface="Oswald" pitchFamily="34" charset="-122"/>
                <a:cs typeface="Oswald" pitchFamily="34" charset="-120"/>
              </a:rPr>
              <a:t>Delivering 38% Cost Savings, Faster Go-to-market, And Global Scale</a:t>
            </a:r>
            <a:endParaRPr lang="en-US" sz="2200" dirty="0"/>
          </a:p>
        </p:txBody>
      </p:sp>
      <p:sp>
        <p:nvSpPr>
          <p:cNvPr id="10" name="Text 7">
            <a:extLst>
              <a:ext uri="{FF2B5EF4-FFF2-40B4-BE49-F238E27FC236}">
                <a16:creationId xmlns:a16="http://schemas.microsoft.com/office/drawing/2014/main" id="{F5A24BD0-75B6-3E0D-31EA-040F661EA751}"/>
              </a:ext>
            </a:extLst>
          </p:cNvPr>
          <p:cNvSpPr/>
          <p:nvPr/>
        </p:nvSpPr>
        <p:spPr>
          <a:xfrm>
            <a:off x="83185" y="6678993"/>
            <a:ext cx="2743200" cy="201168"/>
          </a:xfrm>
          <a:prstGeom prst="rect">
            <a:avLst/>
          </a:prstGeom>
          <a:noFill/>
          <a:ln/>
        </p:spPr>
        <p:txBody>
          <a:bodyPr wrap="square" lIns="0" tIns="0" rIns="0" bIns="0" rtlCol="0" anchor="ctr"/>
          <a:lstStyle/>
          <a:p>
            <a:pPr marL="0" indent="0" algn="l">
              <a:buNone/>
            </a:pPr>
            <a:r>
              <a:rPr lang="en-US" sz="800" kern="0" spc="100" dirty="0">
                <a:solidFill>
                  <a:srgbClr val="A1A1AA"/>
                </a:solidFill>
                <a:latin typeface="Roboto Condensed" pitchFamily="34" charset="0"/>
                <a:ea typeface="Roboto Condensed" pitchFamily="34" charset="-122"/>
                <a:cs typeface="Roboto Condensed" pitchFamily="34" charset="-120"/>
              </a:rPr>
              <a:t>JOULESTOWATTS</a:t>
            </a:r>
            <a:endParaRPr lang="en-US" sz="800" dirty="0"/>
          </a:p>
        </p:txBody>
      </p:sp>
      <p:sp>
        <p:nvSpPr>
          <p:cNvPr id="11" name="Text 8">
            <a:extLst>
              <a:ext uri="{FF2B5EF4-FFF2-40B4-BE49-F238E27FC236}">
                <a16:creationId xmlns:a16="http://schemas.microsoft.com/office/drawing/2014/main" id="{11E57385-EB8F-7AB6-CFF5-9B5DA025CEF0}"/>
              </a:ext>
            </a:extLst>
          </p:cNvPr>
          <p:cNvSpPr/>
          <p:nvPr/>
        </p:nvSpPr>
        <p:spPr>
          <a:xfrm>
            <a:off x="11140135" y="6547104"/>
            <a:ext cx="548640" cy="201168"/>
          </a:xfrm>
          <a:prstGeom prst="rect">
            <a:avLst/>
          </a:prstGeom>
          <a:noFill/>
          <a:ln/>
        </p:spPr>
        <p:txBody>
          <a:bodyPr wrap="square" lIns="0" tIns="0" rIns="0" bIns="0" rtlCol="0" anchor="ctr"/>
          <a:lstStyle/>
          <a:p>
            <a:pPr marL="0" indent="0" algn="r">
              <a:buNone/>
            </a:pPr>
            <a:r>
              <a:rPr lang="en-US" sz="800" dirty="0">
                <a:solidFill>
                  <a:srgbClr val="A1A1AA"/>
                </a:solidFill>
                <a:latin typeface="Roboto Condensed" pitchFamily="34" charset="0"/>
                <a:ea typeface="Roboto Condensed" pitchFamily="34" charset="-122"/>
                <a:cs typeface="Roboto Condensed" pitchFamily="34" charset="-120"/>
              </a:rPr>
              <a:t>8</a:t>
            </a:r>
            <a:endParaRPr lang="en-US" sz="800" dirty="0"/>
          </a:p>
        </p:txBody>
      </p:sp>
      <p:sp>
        <p:nvSpPr>
          <p:cNvPr id="13" name="Text 5">
            <a:extLst>
              <a:ext uri="{FF2B5EF4-FFF2-40B4-BE49-F238E27FC236}">
                <a16:creationId xmlns:a16="http://schemas.microsoft.com/office/drawing/2014/main" id="{ABA505DA-0082-273F-0693-3533BD0D8500}"/>
              </a:ext>
            </a:extLst>
          </p:cNvPr>
          <p:cNvSpPr/>
          <p:nvPr/>
        </p:nvSpPr>
        <p:spPr>
          <a:xfrm>
            <a:off x="667512" y="988923"/>
            <a:ext cx="11021263" cy="237744"/>
          </a:xfrm>
          <a:prstGeom prst="rect">
            <a:avLst/>
          </a:prstGeom>
          <a:noFill/>
          <a:ln/>
        </p:spPr>
        <p:txBody>
          <a:bodyPr wrap="square" lIns="0" tIns="0" rIns="0" bIns="0" rtlCol="0" anchor="ctr"/>
          <a:lstStyle/>
          <a:p>
            <a:pPr marL="0" indent="0" algn="l">
              <a:buNone/>
            </a:pPr>
            <a:r>
              <a:rPr lang="en-GB" sz="1250" b="1" dirty="0">
                <a:solidFill>
                  <a:srgbClr val="2A9D8F"/>
                </a:solidFill>
                <a:latin typeface="Roboto Condensed" pitchFamily="34" charset="0"/>
                <a:ea typeface="Roboto Condensed" pitchFamily="34" charset="-122"/>
                <a:cs typeface="Roboto Condensed" pitchFamily="34" charset="-120"/>
              </a:rPr>
              <a:t>J2W'S AI-DRIVEN ENTERTAINMENT TECHNOLOGY HUB VIA CAPTIVE-AS-A-SERVICE MODEL</a:t>
            </a:r>
          </a:p>
        </p:txBody>
      </p:sp>
      <p:sp>
        <p:nvSpPr>
          <p:cNvPr id="14" name="object 2">
            <a:extLst>
              <a:ext uri="{FF2B5EF4-FFF2-40B4-BE49-F238E27FC236}">
                <a16:creationId xmlns:a16="http://schemas.microsoft.com/office/drawing/2014/main" id="{6436ED53-628A-B006-62BE-C599AD7ECAC7}"/>
              </a:ext>
            </a:extLst>
          </p:cNvPr>
          <p:cNvSpPr/>
          <p:nvPr/>
        </p:nvSpPr>
        <p:spPr>
          <a:xfrm>
            <a:off x="1559052" y="2364740"/>
            <a:ext cx="581025" cy="174625"/>
          </a:xfrm>
          <a:custGeom>
            <a:avLst/>
            <a:gdLst/>
            <a:ahLst/>
            <a:cxnLst/>
            <a:rect l="l" t="t" r="r" b="b"/>
            <a:pathLst>
              <a:path w="581025" h="174625">
                <a:moveTo>
                  <a:pt x="580643" y="0"/>
                </a:moveTo>
                <a:lnTo>
                  <a:pt x="0" y="0"/>
                </a:lnTo>
                <a:lnTo>
                  <a:pt x="0" y="174498"/>
                </a:lnTo>
                <a:lnTo>
                  <a:pt x="580643" y="174498"/>
                </a:lnTo>
                <a:lnTo>
                  <a:pt x="580643" y="0"/>
                </a:lnTo>
                <a:close/>
              </a:path>
            </a:pathLst>
          </a:custGeom>
          <a:solidFill>
            <a:srgbClr val="F5F5F5"/>
          </a:solidFill>
          <a:ln w="9525">
            <a:solidFill>
              <a:srgbClr val="DEDEDE"/>
            </a:solidFill>
          </a:ln>
          <a:effectLst/>
        </p:spPr>
        <p:txBody>
          <a:bodyPr wrap="square" lIns="0" tIns="0" rIns="0" bIns="0" rtlCol="0"/>
          <a:lstStyle/>
          <a:p>
            <a:endParaRPr/>
          </a:p>
        </p:txBody>
      </p:sp>
      <p:sp>
        <p:nvSpPr>
          <p:cNvPr id="15" name="object 3">
            <a:extLst>
              <a:ext uri="{FF2B5EF4-FFF2-40B4-BE49-F238E27FC236}">
                <a16:creationId xmlns:a16="http://schemas.microsoft.com/office/drawing/2014/main" id="{240A2FD2-BB1C-6B76-522A-B44A4EC14709}"/>
              </a:ext>
            </a:extLst>
          </p:cNvPr>
          <p:cNvSpPr/>
          <p:nvPr/>
        </p:nvSpPr>
        <p:spPr>
          <a:xfrm>
            <a:off x="3412235" y="2364740"/>
            <a:ext cx="582295" cy="174625"/>
          </a:xfrm>
          <a:custGeom>
            <a:avLst/>
            <a:gdLst/>
            <a:ahLst/>
            <a:cxnLst/>
            <a:rect l="l" t="t" r="r" b="b"/>
            <a:pathLst>
              <a:path w="582295" h="174625">
                <a:moveTo>
                  <a:pt x="582167" y="0"/>
                </a:moveTo>
                <a:lnTo>
                  <a:pt x="0" y="0"/>
                </a:lnTo>
                <a:lnTo>
                  <a:pt x="0" y="174498"/>
                </a:lnTo>
                <a:lnTo>
                  <a:pt x="582167" y="174498"/>
                </a:lnTo>
                <a:lnTo>
                  <a:pt x="582167" y="0"/>
                </a:lnTo>
                <a:close/>
              </a:path>
            </a:pathLst>
          </a:custGeom>
          <a:solidFill>
            <a:srgbClr val="F5F5F5"/>
          </a:solidFill>
          <a:ln w="9525">
            <a:solidFill>
              <a:srgbClr val="DEDEDE"/>
            </a:solidFill>
          </a:ln>
          <a:effectLst/>
        </p:spPr>
        <p:txBody>
          <a:bodyPr wrap="square" lIns="0" tIns="0" rIns="0" bIns="0" rtlCol="0"/>
          <a:lstStyle/>
          <a:p>
            <a:endParaRPr/>
          </a:p>
        </p:txBody>
      </p:sp>
      <p:sp>
        <p:nvSpPr>
          <p:cNvPr id="16" name="object 4">
            <a:extLst>
              <a:ext uri="{FF2B5EF4-FFF2-40B4-BE49-F238E27FC236}">
                <a16:creationId xmlns:a16="http://schemas.microsoft.com/office/drawing/2014/main" id="{87F21071-F02C-B6F5-BBF9-B849F8EA3DB4}"/>
              </a:ext>
            </a:extLst>
          </p:cNvPr>
          <p:cNvSpPr/>
          <p:nvPr/>
        </p:nvSpPr>
        <p:spPr>
          <a:xfrm>
            <a:off x="5266944" y="2267203"/>
            <a:ext cx="581025" cy="272415"/>
          </a:xfrm>
          <a:custGeom>
            <a:avLst/>
            <a:gdLst/>
            <a:ahLst/>
            <a:cxnLst/>
            <a:rect l="l" t="t" r="r" b="b"/>
            <a:pathLst>
              <a:path w="581025" h="272414">
                <a:moveTo>
                  <a:pt x="580643" y="0"/>
                </a:moveTo>
                <a:lnTo>
                  <a:pt x="0" y="0"/>
                </a:lnTo>
                <a:lnTo>
                  <a:pt x="0" y="272034"/>
                </a:lnTo>
                <a:lnTo>
                  <a:pt x="580643" y="272034"/>
                </a:lnTo>
                <a:lnTo>
                  <a:pt x="580643" y="0"/>
                </a:lnTo>
                <a:close/>
              </a:path>
            </a:pathLst>
          </a:custGeom>
          <a:solidFill>
            <a:srgbClr val="D62839"/>
          </a:solidFill>
          <a:ln>
            <a:noFill/>
          </a:ln>
          <a:effectLst/>
        </p:spPr>
        <p:txBody>
          <a:bodyPr wrap="square" lIns="0" tIns="0" rIns="0" bIns="0" rtlCol="0"/>
          <a:lstStyle/>
          <a:p>
            <a:endParaRPr/>
          </a:p>
        </p:txBody>
      </p:sp>
      <p:sp>
        <p:nvSpPr>
          <p:cNvPr id="17" name="object 5">
            <a:extLst>
              <a:ext uri="{FF2B5EF4-FFF2-40B4-BE49-F238E27FC236}">
                <a16:creationId xmlns:a16="http://schemas.microsoft.com/office/drawing/2014/main" id="{D39AED83-BBC9-5694-C2AF-EB30CF0772C9}"/>
              </a:ext>
            </a:extLst>
          </p:cNvPr>
          <p:cNvSpPr/>
          <p:nvPr/>
        </p:nvSpPr>
        <p:spPr>
          <a:xfrm>
            <a:off x="7120128" y="2267203"/>
            <a:ext cx="581025" cy="272415"/>
          </a:xfrm>
          <a:custGeom>
            <a:avLst/>
            <a:gdLst/>
            <a:ahLst/>
            <a:cxnLst/>
            <a:rect l="l" t="t" r="r" b="b"/>
            <a:pathLst>
              <a:path w="581025" h="272414">
                <a:moveTo>
                  <a:pt x="580644" y="0"/>
                </a:moveTo>
                <a:lnTo>
                  <a:pt x="0" y="0"/>
                </a:lnTo>
                <a:lnTo>
                  <a:pt x="0" y="272034"/>
                </a:lnTo>
                <a:lnTo>
                  <a:pt x="580644" y="272034"/>
                </a:lnTo>
                <a:lnTo>
                  <a:pt x="580644" y="0"/>
                </a:lnTo>
                <a:close/>
              </a:path>
            </a:pathLst>
          </a:custGeom>
          <a:solidFill>
            <a:srgbClr val="D62839"/>
          </a:solidFill>
          <a:ln>
            <a:noFill/>
          </a:ln>
          <a:effectLst/>
        </p:spPr>
        <p:txBody>
          <a:bodyPr wrap="square" lIns="0" tIns="0" rIns="0" bIns="0" rtlCol="0"/>
          <a:lstStyle/>
          <a:p>
            <a:endParaRPr/>
          </a:p>
        </p:txBody>
      </p:sp>
      <p:sp>
        <p:nvSpPr>
          <p:cNvPr id="18" name="object 6">
            <a:extLst>
              <a:ext uri="{FF2B5EF4-FFF2-40B4-BE49-F238E27FC236}">
                <a16:creationId xmlns:a16="http://schemas.microsoft.com/office/drawing/2014/main" id="{DFE0C73F-658D-181C-2903-825B1464FAC8}"/>
              </a:ext>
            </a:extLst>
          </p:cNvPr>
          <p:cNvSpPr/>
          <p:nvPr/>
        </p:nvSpPr>
        <p:spPr>
          <a:xfrm>
            <a:off x="8974835" y="2169668"/>
            <a:ext cx="581025" cy="369570"/>
          </a:xfrm>
          <a:custGeom>
            <a:avLst/>
            <a:gdLst/>
            <a:ahLst/>
            <a:cxnLst/>
            <a:rect l="l" t="t" r="r" b="b"/>
            <a:pathLst>
              <a:path w="581025" h="369569">
                <a:moveTo>
                  <a:pt x="580644" y="0"/>
                </a:moveTo>
                <a:lnTo>
                  <a:pt x="0" y="0"/>
                </a:lnTo>
                <a:lnTo>
                  <a:pt x="0" y="369570"/>
                </a:lnTo>
                <a:lnTo>
                  <a:pt x="580644" y="369570"/>
                </a:lnTo>
                <a:lnTo>
                  <a:pt x="580644" y="0"/>
                </a:lnTo>
                <a:close/>
              </a:path>
            </a:pathLst>
          </a:custGeom>
          <a:solidFill>
            <a:srgbClr val="D62839"/>
          </a:solidFill>
          <a:ln>
            <a:noFill/>
          </a:ln>
          <a:effectLst/>
        </p:spPr>
        <p:txBody>
          <a:bodyPr wrap="square" lIns="0" tIns="0" rIns="0" bIns="0" rtlCol="0"/>
          <a:lstStyle/>
          <a:p>
            <a:endParaRPr/>
          </a:p>
        </p:txBody>
      </p:sp>
      <p:grpSp>
        <p:nvGrpSpPr>
          <p:cNvPr id="19" name="object 7">
            <a:extLst>
              <a:ext uri="{FF2B5EF4-FFF2-40B4-BE49-F238E27FC236}">
                <a16:creationId xmlns:a16="http://schemas.microsoft.com/office/drawing/2014/main" id="{60036359-3047-2218-1177-C97BC40BA91E}"/>
              </a:ext>
            </a:extLst>
          </p:cNvPr>
          <p:cNvGrpSpPr/>
          <p:nvPr/>
        </p:nvGrpSpPr>
        <p:grpSpPr>
          <a:xfrm>
            <a:off x="922489" y="1923669"/>
            <a:ext cx="11123295" cy="620395"/>
            <a:chOff x="922489" y="1791589"/>
            <a:chExt cx="11123295" cy="620395"/>
          </a:xfrm>
        </p:grpSpPr>
        <p:sp>
          <p:nvSpPr>
            <p:cNvPr id="20" name="object 8">
              <a:extLst>
                <a:ext uri="{FF2B5EF4-FFF2-40B4-BE49-F238E27FC236}">
                  <a16:creationId xmlns:a16="http://schemas.microsoft.com/office/drawing/2014/main" id="{0CF22111-1F1C-7544-686D-9D98D4F84954}"/>
                </a:ext>
              </a:extLst>
            </p:cNvPr>
            <p:cNvSpPr/>
            <p:nvPr/>
          </p:nvSpPr>
          <p:spPr>
            <a:xfrm>
              <a:off x="10828020" y="2037588"/>
              <a:ext cx="581025" cy="369570"/>
            </a:xfrm>
            <a:custGeom>
              <a:avLst/>
              <a:gdLst/>
              <a:ahLst/>
              <a:cxnLst/>
              <a:rect l="l" t="t" r="r" b="b"/>
              <a:pathLst>
                <a:path w="581025" h="369569">
                  <a:moveTo>
                    <a:pt x="580644" y="0"/>
                  </a:moveTo>
                  <a:lnTo>
                    <a:pt x="0" y="0"/>
                  </a:lnTo>
                  <a:lnTo>
                    <a:pt x="0" y="369570"/>
                  </a:lnTo>
                  <a:lnTo>
                    <a:pt x="580644" y="369570"/>
                  </a:lnTo>
                  <a:lnTo>
                    <a:pt x="580644" y="0"/>
                  </a:lnTo>
                  <a:close/>
                </a:path>
              </a:pathLst>
            </a:custGeom>
            <a:solidFill>
              <a:srgbClr val="D62839"/>
            </a:solidFill>
            <a:ln>
              <a:noFill/>
            </a:ln>
            <a:effectLst/>
          </p:spPr>
          <p:txBody>
            <a:bodyPr wrap="square" lIns="0" tIns="0" rIns="0" bIns="0" rtlCol="0"/>
            <a:lstStyle/>
            <a:p>
              <a:endParaRPr/>
            </a:p>
          </p:txBody>
        </p:sp>
        <p:sp>
          <p:nvSpPr>
            <p:cNvPr id="21" name="object 9">
              <a:extLst>
                <a:ext uri="{FF2B5EF4-FFF2-40B4-BE49-F238E27FC236}">
                  <a16:creationId xmlns:a16="http://schemas.microsoft.com/office/drawing/2014/main" id="{87939CC2-7EC2-AA11-45A1-173D3B69FE45}"/>
                </a:ext>
              </a:extLst>
            </p:cNvPr>
            <p:cNvSpPr/>
            <p:nvPr/>
          </p:nvSpPr>
          <p:spPr>
            <a:xfrm>
              <a:off x="922489" y="2407158"/>
              <a:ext cx="11123295" cy="0"/>
            </a:xfrm>
            <a:custGeom>
              <a:avLst/>
              <a:gdLst/>
              <a:ahLst/>
              <a:cxnLst/>
              <a:rect l="l" t="t" r="r" b="b"/>
              <a:pathLst>
                <a:path w="11123295">
                  <a:moveTo>
                    <a:pt x="0" y="0"/>
                  </a:moveTo>
                  <a:lnTo>
                    <a:pt x="11122825" y="0"/>
                  </a:lnTo>
                </a:path>
              </a:pathLst>
            </a:custGeom>
            <a:ln w="9525">
              <a:solidFill>
                <a:srgbClr val="D9D9D9"/>
              </a:solidFill>
            </a:ln>
          </p:spPr>
          <p:txBody>
            <a:bodyPr wrap="square" lIns="0" tIns="0" rIns="0" bIns="0" rtlCol="0"/>
            <a:lstStyle/>
            <a:p>
              <a:endParaRPr/>
            </a:p>
          </p:txBody>
        </p:sp>
        <p:sp>
          <p:nvSpPr>
            <p:cNvPr id="22" name="object 10">
              <a:extLst>
                <a:ext uri="{FF2B5EF4-FFF2-40B4-BE49-F238E27FC236}">
                  <a16:creationId xmlns:a16="http://schemas.microsoft.com/office/drawing/2014/main" id="{3CB8AD0A-ECE1-079E-0380-6BCD25C2DF1D}"/>
                </a:ext>
              </a:extLst>
            </p:cNvPr>
            <p:cNvSpPr/>
            <p:nvPr/>
          </p:nvSpPr>
          <p:spPr>
            <a:xfrm>
              <a:off x="1925827" y="1801114"/>
              <a:ext cx="9116695" cy="414655"/>
            </a:xfrm>
            <a:custGeom>
              <a:avLst/>
              <a:gdLst/>
              <a:ahLst/>
              <a:cxnLst/>
              <a:rect l="l" t="t" r="r" b="b"/>
              <a:pathLst>
                <a:path w="9116695" h="414655">
                  <a:moveTo>
                    <a:pt x="0" y="193928"/>
                  </a:moveTo>
                  <a:lnTo>
                    <a:pt x="1759458" y="193928"/>
                  </a:lnTo>
                </a:path>
                <a:path w="9116695" h="414655">
                  <a:moveTo>
                    <a:pt x="0" y="193928"/>
                  </a:moveTo>
                  <a:lnTo>
                    <a:pt x="0" y="400558"/>
                  </a:lnTo>
                </a:path>
                <a:path w="9116695" h="414655">
                  <a:moveTo>
                    <a:pt x="1759458" y="207772"/>
                  </a:moveTo>
                  <a:lnTo>
                    <a:pt x="1759458" y="414400"/>
                  </a:lnTo>
                </a:path>
                <a:path w="9116695" h="414655">
                  <a:moveTo>
                    <a:pt x="3678301" y="110871"/>
                  </a:moveTo>
                  <a:lnTo>
                    <a:pt x="5437886" y="110871"/>
                  </a:lnTo>
                </a:path>
                <a:path w="9116695" h="414655">
                  <a:moveTo>
                    <a:pt x="3678301" y="110871"/>
                  </a:moveTo>
                  <a:lnTo>
                    <a:pt x="3678301" y="317500"/>
                  </a:lnTo>
                </a:path>
                <a:path w="9116695" h="414655">
                  <a:moveTo>
                    <a:pt x="5437886" y="124713"/>
                  </a:moveTo>
                  <a:lnTo>
                    <a:pt x="5437886" y="331343"/>
                  </a:lnTo>
                </a:path>
                <a:path w="9116695" h="414655">
                  <a:moveTo>
                    <a:pt x="7356729" y="0"/>
                  </a:moveTo>
                  <a:lnTo>
                    <a:pt x="9116187" y="0"/>
                  </a:lnTo>
                </a:path>
                <a:path w="9116695" h="414655">
                  <a:moveTo>
                    <a:pt x="7356729" y="0"/>
                  </a:moveTo>
                  <a:lnTo>
                    <a:pt x="7356729" y="206628"/>
                  </a:lnTo>
                </a:path>
                <a:path w="9116695" h="414655">
                  <a:moveTo>
                    <a:pt x="9116187" y="13843"/>
                  </a:moveTo>
                  <a:lnTo>
                    <a:pt x="9116187" y="220472"/>
                  </a:lnTo>
                </a:path>
              </a:pathLst>
            </a:custGeom>
            <a:ln w="19050">
              <a:solidFill>
                <a:srgbClr val="000000"/>
              </a:solidFill>
              <a:prstDash val="sysDash"/>
            </a:ln>
          </p:spPr>
          <p:txBody>
            <a:bodyPr wrap="square" lIns="0" tIns="0" rIns="0" bIns="0" rtlCol="0"/>
            <a:lstStyle/>
            <a:p>
              <a:endParaRPr/>
            </a:p>
          </p:txBody>
        </p:sp>
      </p:grpSp>
      <p:sp>
        <p:nvSpPr>
          <p:cNvPr id="23" name="object 11">
            <a:extLst>
              <a:ext uri="{FF2B5EF4-FFF2-40B4-BE49-F238E27FC236}">
                <a16:creationId xmlns:a16="http://schemas.microsoft.com/office/drawing/2014/main" id="{A63FE38E-AAD4-97D6-9DEE-07E156AF60AF}"/>
              </a:ext>
            </a:extLst>
          </p:cNvPr>
          <p:cNvSpPr txBox="1"/>
          <p:nvPr/>
        </p:nvSpPr>
        <p:spPr>
          <a:xfrm>
            <a:off x="1675002" y="2615945"/>
            <a:ext cx="351155" cy="208279"/>
          </a:xfrm>
          <a:prstGeom prst="rect">
            <a:avLst/>
          </a:prstGeom>
        </p:spPr>
        <p:txBody>
          <a:bodyPr vert="horz" wrap="square" lIns="0" tIns="12700" rIns="0" bIns="0" rtlCol="0">
            <a:normAutofit fontScale="92500"/>
          </a:bodyPr>
          <a:lstStyle/>
          <a:p>
            <a:pPr marL="12700">
              <a:lnSpc>
                <a:spcPct val="100000"/>
              </a:lnSpc>
              <a:spcBef>
                <a:spcPts val="100"/>
              </a:spcBef>
            </a:pPr>
            <a:r>
              <a:rPr sz="1100" dirty="0">
                <a:solidFill/>
                <a:latin typeface="Raleway"/>
                <a:cs typeface="Calibri Light"/>
              </a:rPr>
              <a:t>FY</a:t>
            </a:r>
            <a:r>
              <a:rPr sz="1100" spc="-35" dirty="0">
                <a:solidFill/>
                <a:latin typeface="Raleway"/>
                <a:cs typeface="Calibri Light"/>
              </a:rPr>
              <a:t> </a:t>
            </a:r>
            <a:r>
              <a:rPr sz="1100" spc="-25" dirty="0">
                <a:solidFill/>
                <a:latin typeface="Raleway"/>
                <a:cs typeface="Calibri Light"/>
              </a:rPr>
              <a:t>20</a:t>
            </a:r>
            <a:endParaRPr sz="1200">
              <a:latin typeface="Calibri Light"/>
              <a:cs typeface="Calibri Light"/>
            </a:endParaRPr>
          </a:p>
        </p:txBody>
      </p:sp>
      <p:sp>
        <p:nvSpPr>
          <p:cNvPr id="24" name="object 12">
            <a:extLst>
              <a:ext uri="{FF2B5EF4-FFF2-40B4-BE49-F238E27FC236}">
                <a16:creationId xmlns:a16="http://schemas.microsoft.com/office/drawing/2014/main" id="{DD87A8C0-397E-1240-0F08-0984C3A03884}"/>
              </a:ext>
            </a:extLst>
          </p:cNvPr>
          <p:cNvSpPr txBox="1"/>
          <p:nvPr/>
        </p:nvSpPr>
        <p:spPr>
          <a:xfrm>
            <a:off x="3529076" y="2615945"/>
            <a:ext cx="351155" cy="208279"/>
          </a:xfrm>
          <a:prstGeom prst="rect">
            <a:avLst/>
          </a:prstGeom>
        </p:spPr>
        <p:txBody>
          <a:bodyPr vert="horz" wrap="square" lIns="0" tIns="12700" rIns="0" bIns="0" rtlCol="0">
            <a:normAutofit/>
          </a:bodyPr>
          <a:lstStyle/>
          <a:p>
            <a:pPr marL="12700">
              <a:lnSpc>
                <a:spcPct val="100000"/>
              </a:lnSpc>
              <a:spcBef>
                <a:spcPts val="100"/>
              </a:spcBef>
            </a:pPr>
            <a:r>
              <a:rPr sz="1100" dirty="0">
                <a:solidFill/>
                <a:latin typeface="Raleway"/>
                <a:cs typeface="Calibri Light"/>
              </a:rPr>
              <a:t>FY</a:t>
            </a:r>
            <a:r>
              <a:rPr sz="1100" spc="-35" dirty="0">
                <a:solidFill/>
                <a:latin typeface="Raleway"/>
                <a:cs typeface="Calibri Light"/>
              </a:rPr>
              <a:t> </a:t>
            </a:r>
            <a:r>
              <a:rPr sz="1100" spc="-25" dirty="0">
                <a:solidFill/>
                <a:latin typeface="Raleway"/>
                <a:cs typeface="Calibri Light"/>
              </a:rPr>
              <a:t>21</a:t>
            </a:r>
            <a:endParaRPr sz="1200">
              <a:latin typeface="Calibri Light"/>
              <a:cs typeface="Calibri Light"/>
            </a:endParaRPr>
          </a:p>
        </p:txBody>
      </p:sp>
      <p:sp>
        <p:nvSpPr>
          <p:cNvPr id="25" name="object 13">
            <a:extLst>
              <a:ext uri="{FF2B5EF4-FFF2-40B4-BE49-F238E27FC236}">
                <a16:creationId xmlns:a16="http://schemas.microsoft.com/office/drawing/2014/main" id="{160DF24A-7245-542A-E59A-6EEAA6F64882}"/>
              </a:ext>
            </a:extLst>
          </p:cNvPr>
          <p:cNvSpPr txBox="1"/>
          <p:nvPr/>
        </p:nvSpPr>
        <p:spPr>
          <a:xfrm>
            <a:off x="5383148" y="2615945"/>
            <a:ext cx="351155" cy="208279"/>
          </a:xfrm>
          <a:prstGeom prst="rect">
            <a:avLst/>
          </a:prstGeom>
        </p:spPr>
        <p:txBody>
          <a:bodyPr vert="horz" wrap="square" lIns="0" tIns="12700" rIns="0" bIns="0" rtlCol="0">
            <a:normAutofit fontScale="92500"/>
          </a:bodyPr>
          <a:lstStyle/>
          <a:p>
            <a:pPr marL="12700">
              <a:lnSpc>
                <a:spcPct val="100000"/>
              </a:lnSpc>
              <a:spcBef>
                <a:spcPts val="100"/>
              </a:spcBef>
            </a:pPr>
            <a:r>
              <a:rPr sz="1100" dirty="0">
                <a:solidFill/>
                <a:latin typeface="Raleway"/>
                <a:cs typeface="Calibri Light"/>
              </a:rPr>
              <a:t>FY</a:t>
            </a:r>
            <a:r>
              <a:rPr sz="1100" spc="-35" dirty="0">
                <a:solidFill/>
                <a:latin typeface="Raleway"/>
                <a:cs typeface="Calibri Light"/>
              </a:rPr>
              <a:t> </a:t>
            </a:r>
            <a:r>
              <a:rPr sz="1100" spc="-25" dirty="0">
                <a:solidFill/>
                <a:latin typeface="Raleway"/>
                <a:cs typeface="Calibri Light"/>
              </a:rPr>
              <a:t>22</a:t>
            </a:r>
            <a:endParaRPr sz="1200">
              <a:latin typeface="Calibri Light"/>
              <a:cs typeface="Calibri Light"/>
            </a:endParaRPr>
          </a:p>
        </p:txBody>
      </p:sp>
      <p:sp>
        <p:nvSpPr>
          <p:cNvPr id="26" name="object 14">
            <a:extLst>
              <a:ext uri="{FF2B5EF4-FFF2-40B4-BE49-F238E27FC236}">
                <a16:creationId xmlns:a16="http://schemas.microsoft.com/office/drawing/2014/main" id="{36F3DBB6-B5E2-274A-5D2F-F8CDE46471D2}"/>
              </a:ext>
            </a:extLst>
          </p:cNvPr>
          <p:cNvSpPr txBox="1"/>
          <p:nvPr/>
        </p:nvSpPr>
        <p:spPr>
          <a:xfrm>
            <a:off x="7237221" y="2615945"/>
            <a:ext cx="351155" cy="208279"/>
          </a:xfrm>
          <a:prstGeom prst="rect">
            <a:avLst/>
          </a:prstGeom>
        </p:spPr>
        <p:txBody>
          <a:bodyPr vert="horz" wrap="square" lIns="0" tIns="12700" rIns="0" bIns="0" rtlCol="0">
            <a:normAutofit fontScale="92500"/>
          </a:bodyPr>
          <a:lstStyle/>
          <a:p>
            <a:pPr marL="12700">
              <a:lnSpc>
                <a:spcPct val="100000"/>
              </a:lnSpc>
              <a:spcBef>
                <a:spcPts val="100"/>
              </a:spcBef>
            </a:pPr>
            <a:r>
              <a:rPr sz="1100" dirty="0">
                <a:solidFill/>
                <a:latin typeface="Raleway"/>
                <a:cs typeface="Calibri Light"/>
              </a:rPr>
              <a:t>FY</a:t>
            </a:r>
            <a:r>
              <a:rPr sz="1100" spc="-35" dirty="0">
                <a:solidFill/>
                <a:latin typeface="Raleway"/>
                <a:cs typeface="Calibri Light"/>
              </a:rPr>
              <a:t> </a:t>
            </a:r>
            <a:r>
              <a:rPr sz="1100" spc="-25" dirty="0">
                <a:solidFill/>
                <a:latin typeface="Raleway"/>
                <a:cs typeface="Calibri Light"/>
              </a:rPr>
              <a:t>23</a:t>
            </a:r>
            <a:endParaRPr sz="1200">
              <a:latin typeface="Calibri Light"/>
              <a:cs typeface="Calibri Light"/>
            </a:endParaRPr>
          </a:p>
        </p:txBody>
      </p:sp>
      <p:sp>
        <p:nvSpPr>
          <p:cNvPr id="27" name="object 15">
            <a:extLst>
              <a:ext uri="{FF2B5EF4-FFF2-40B4-BE49-F238E27FC236}">
                <a16:creationId xmlns:a16="http://schemas.microsoft.com/office/drawing/2014/main" id="{BC52FA05-42C3-BC22-ACEE-53AE763F537D}"/>
              </a:ext>
            </a:extLst>
          </p:cNvPr>
          <p:cNvSpPr txBox="1"/>
          <p:nvPr/>
        </p:nvSpPr>
        <p:spPr>
          <a:xfrm>
            <a:off x="9091421" y="2615945"/>
            <a:ext cx="351155" cy="208279"/>
          </a:xfrm>
          <a:prstGeom prst="rect">
            <a:avLst/>
          </a:prstGeom>
        </p:spPr>
        <p:txBody>
          <a:bodyPr vert="horz" wrap="square" lIns="0" tIns="12700" rIns="0" bIns="0" rtlCol="0">
            <a:normAutofit fontScale="92500"/>
          </a:bodyPr>
          <a:lstStyle/>
          <a:p>
            <a:pPr marL="12700">
              <a:lnSpc>
                <a:spcPct val="100000"/>
              </a:lnSpc>
              <a:spcBef>
                <a:spcPts val="100"/>
              </a:spcBef>
            </a:pPr>
            <a:r>
              <a:rPr sz="1100" dirty="0">
                <a:solidFill/>
                <a:latin typeface="Raleway"/>
                <a:cs typeface="Calibri Light"/>
              </a:rPr>
              <a:t>FY</a:t>
            </a:r>
            <a:r>
              <a:rPr sz="1100" spc="-35" dirty="0">
                <a:solidFill/>
                <a:latin typeface="Raleway"/>
                <a:cs typeface="Calibri Light"/>
              </a:rPr>
              <a:t> </a:t>
            </a:r>
            <a:r>
              <a:rPr sz="1100" spc="-25" dirty="0">
                <a:solidFill/>
                <a:latin typeface="Raleway"/>
                <a:cs typeface="Calibri Light"/>
              </a:rPr>
              <a:t>24</a:t>
            </a:r>
            <a:endParaRPr sz="1200">
              <a:latin typeface="Calibri Light"/>
              <a:cs typeface="Calibri Light"/>
            </a:endParaRPr>
          </a:p>
        </p:txBody>
      </p:sp>
      <p:sp>
        <p:nvSpPr>
          <p:cNvPr id="28" name="object 16">
            <a:extLst>
              <a:ext uri="{FF2B5EF4-FFF2-40B4-BE49-F238E27FC236}">
                <a16:creationId xmlns:a16="http://schemas.microsoft.com/office/drawing/2014/main" id="{F1CB4CA5-6C17-30A1-A6DD-F5BC38BE91FE}"/>
              </a:ext>
            </a:extLst>
          </p:cNvPr>
          <p:cNvSpPr txBox="1"/>
          <p:nvPr/>
        </p:nvSpPr>
        <p:spPr>
          <a:xfrm>
            <a:off x="10945114" y="2615945"/>
            <a:ext cx="351155" cy="208279"/>
          </a:xfrm>
          <a:prstGeom prst="rect">
            <a:avLst/>
          </a:prstGeom>
        </p:spPr>
        <p:txBody>
          <a:bodyPr vert="horz" wrap="square" lIns="0" tIns="12700" rIns="0" bIns="0" rtlCol="0">
            <a:normAutofit fontScale="92500"/>
          </a:bodyPr>
          <a:lstStyle/>
          <a:p>
            <a:pPr marL="12700">
              <a:lnSpc>
                <a:spcPct val="100000"/>
              </a:lnSpc>
              <a:spcBef>
                <a:spcPts val="100"/>
              </a:spcBef>
            </a:pPr>
            <a:r>
              <a:rPr sz="1100" dirty="0">
                <a:solidFill/>
                <a:latin typeface="Raleway"/>
                <a:cs typeface="Calibri Light"/>
              </a:rPr>
              <a:t>FY</a:t>
            </a:r>
            <a:r>
              <a:rPr sz="1100" spc="-35" dirty="0">
                <a:solidFill/>
                <a:latin typeface="Raleway"/>
                <a:cs typeface="Calibri Light"/>
              </a:rPr>
              <a:t> </a:t>
            </a:r>
            <a:r>
              <a:rPr sz="1100" spc="-25" dirty="0">
                <a:solidFill/>
                <a:latin typeface="Raleway"/>
                <a:cs typeface="Calibri Light"/>
              </a:rPr>
              <a:t>25</a:t>
            </a:r>
            <a:endParaRPr sz="1200">
              <a:latin typeface="Calibri Light"/>
              <a:cs typeface="Calibri Light"/>
            </a:endParaRPr>
          </a:p>
        </p:txBody>
      </p:sp>
      <p:sp>
        <p:nvSpPr>
          <p:cNvPr id="29" name="object 17">
            <a:extLst>
              <a:ext uri="{FF2B5EF4-FFF2-40B4-BE49-F238E27FC236}">
                <a16:creationId xmlns:a16="http://schemas.microsoft.com/office/drawing/2014/main" id="{8457A8F2-7FC9-BF40-CF1F-FB3703DC6797}"/>
              </a:ext>
            </a:extLst>
          </p:cNvPr>
          <p:cNvSpPr/>
          <p:nvPr/>
        </p:nvSpPr>
        <p:spPr>
          <a:xfrm>
            <a:off x="1246911" y="2915157"/>
            <a:ext cx="2340610" cy="114300"/>
          </a:xfrm>
          <a:custGeom>
            <a:avLst/>
            <a:gdLst/>
            <a:ahLst/>
            <a:cxnLst/>
            <a:rect l="l" t="t" r="r" b="b"/>
            <a:pathLst>
              <a:path w="2340610" h="114300">
                <a:moveTo>
                  <a:pt x="114274" y="0"/>
                </a:moveTo>
                <a:lnTo>
                  <a:pt x="0" y="57150"/>
                </a:lnTo>
                <a:lnTo>
                  <a:pt x="114274" y="114300"/>
                </a:lnTo>
                <a:lnTo>
                  <a:pt x="114274" y="76200"/>
                </a:lnTo>
                <a:lnTo>
                  <a:pt x="95224" y="76200"/>
                </a:lnTo>
                <a:lnTo>
                  <a:pt x="95224" y="38100"/>
                </a:lnTo>
                <a:lnTo>
                  <a:pt x="114274" y="38100"/>
                </a:lnTo>
                <a:lnTo>
                  <a:pt x="114274" y="0"/>
                </a:lnTo>
                <a:close/>
              </a:path>
              <a:path w="2340610" h="114300">
                <a:moveTo>
                  <a:pt x="2225903" y="0"/>
                </a:moveTo>
                <a:lnTo>
                  <a:pt x="2225903" y="114300"/>
                </a:lnTo>
                <a:lnTo>
                  <a:pt x="2302103" y="76200"/>
                </a:lnTo>
                <a:lnTo>
                  <a:pt x="2244953" y="76200"/>
                </a:lnTo>
                <a:lnTo>
                  <a:pt x="2244953" y="38100"/>
                </a:lnTo>
                <a:lnTo>
                  <a:pt x="2302103" y="38100"/>
                </a:lnTo>
                <a:lnTo>
                  <a:pt x="2225903" y="0"/>
                </a:lnTo>
                <a:close/>
              </a:path>
              <a:path w="2340610" h="114300">
                <a:moveTo>
                  <a:pt x="114274" y="38100"/>
                </a:moveTo>
                <a:lnTo>
                  <a:pt x="95224" y="38100"/>
                </a:lnTo>
                <a:lnTo>
                  <a:pt x="95224" y="76200"/>
                </a:lnTo>
                <a:lnTo>
                  <a:pt x="114274" y="76200"/>
                </a:lnTo>
                <a:lnTo>
                  <a:pt x="114274" y="38100"/>
                </a:lnTo>
                <a:close/>
              </a:path>
              <a:path w="2340610" h="114300">
                <a:moveTo>
                  <a:pt x="2225903" y="38100"/>
                </a:moveTo>
                <a:lnTo>
                  <a:pt x="114274" y="38100"/>
                </a:lnTo>
                <a:lnTo>
                  <a:pt x="114274" y="76200"/>
                </a:lnTo>
                <a:lnTo>
                  <a:pt x="2225903" y="76200"/>
                </a:lnTo>
                <a:lnTo>
                  <a:pt x="2225903" y="38100"/>
                </a:lnTo>
                <a:close/>
              </a:path>
              <a:path w="2340610" h="114300">
                <a:moveTo>
                  <a:pt x="2302103" y="38100"/>
                </a:moveTo>
                <a:lnTo>
                  <a:pt x="2244953" y="38100"/>
                </a:lnTo>
                <a:lnTo>
                  <a:pt x="2244953" y="76200"/>
                </a:lnTo>
                <a:lnTo>
                  <a:pt x="2302103" y="76200"/>
                </a:lnTo>
                <a:lnTo>
                  <a:pt x="2340203" y="57150"/>
                </a:lnTo>
                <a:lnTo>
                  <a:pt x="2302103" y="38100"/>
                </a:lnTo>
                <a:close/>
              </a:path>
            </a:pathLst>
          </a:custGeom>
          <a:solidFill>
            <a:srgbClr val="F5F5F5"/>
          </a:solidFill>
          <a:ln w="9525">
            <a:solidFill>
              <a:srgbClr val="DEDEDE"/>
            </a:solidFill>
          </a:ln>
          <a:effectLst/>
        </p:spPr>
        <p:txBody>
          <a:bodyPr wrap="square" lIns="0" tIns="0" rIns="0" bIns="0" rtlCol="0"/>
          <a:lstStyle/>
          <a:p>
            <a:endParaRPr/>
          </a:p>
        </p:txBody>
      </p:sp>
      <p:sp>
        <p:nvSpPr>
          <p:cNvPr id="30" name="object 18">
            <a:extLst>
              <a:ext uri="{FF2B5EF4-FFF2-40B4-BE49-F238E27FC236}">
                <a16:creationId xmlns:a16="http://schemas.microsoft.com/office/drawing/2014/main" id="{D38DAC61-ACD2-A35F-1842-BF5A6FB97C99}"/>
              </a:ext>
            </a:extLst>
          </p:cNvPr>
          <p:cNvSpPr/>
          <p:nvPr/>
        </p:nvSpPr>
        <p:spPr>
          <a:xfrm>
            <a:off x="3685286" y="2915157"/>
            <a:ext cx="7633970" cy="114300"/>
          </a:xfrm>
          <a:custGeom>
            <a:avLst/>
            <a:gdLst/>
            <a:ahLst/>
            <a:cxnLst/>
            <a:rect l="l" t="t" r="r" b="b"/>
            <a:pathLst>
              <a:path w="7633970" h="114300">
                <a:moveTo>
                  <a:pt x="3782314" y="57150"/>
                </a:moveTo>
                <a:lnTo>
                  <a:pt x="3744214" y="38100"/>
                </a:lnTo>
                <a:lnTo>
                  <a:pt x="3668014" y="0"/>
                </a:lnTo>
                <a:lnTo>
                  <a:pt x="3668014" y="38100"/>
                </a:lnTo>
                <a:lnTo>
                  <a:pt x="114300" y="38100"/>
                </a:lnTo>
                <a:lnTo>
                  <a:pt x="114300" y="0"/>
                </a:lnTo>
                <a:lnTo>
                  <a:pt x="0" y="57150"/>
                </a:lnTo>
                <a:lnTo>
                  <a:pt x="114300" y="114300"/>
                </a:lnTo>
                <a:lnTo>
                  <a:pt x="114300" y="76200"/>
                </a:lnTo>
                <a:lnTo>
                  <a:pt x="3668014" y="76200"/>
                </a:lnTo>
                <a:lnTo>
                  <a:pt x="3668014" y="114300"/>
                </a:lnTo>
                <a:lnTo>
                  <a:pt x="3744214" y="76200"/>
                </a:lnTo>
                <a:lnTo>
                  <a:pt x="3782314" y="57150"/>
                </a:lnTo>
                <a:close/>
              </a:path>
              <a:path w="7633970" h="114300">
                <a:moveTo>
                  <a:pt x="7633843" y="57150"/>
                </a:moveTo>
                <a:lnTo>
                  <a:pt x="7595743" y="38100"/>
                </a:lnTo>
                <a:lnTo>
                  <a:pt x="7519543" y="0"/>
                </a:lnTo>
                <a:lnTo>
                  <a:pt x="7519543" y="38100"/>
                </a:lnTo>
                <a:lnTo>
                  <a:pt x="3965829" y="38100"/>
                </a:lnTo>
                <a:lnTo>
                  <a:pt x="3965829" y="0"/>
                </a:lnTo>
                <a:lnTo>
                  <a:pt x="3851529" y="57150"/>
                </a:lnTo>
                <a:lnTo>
                  <a:pt x="3965829" y="114300"/>
                </a:lnTo>
                <a:lnTo>
                  <a:pt x="3965829" y="76200"/>
                </a:lnTo>
                <a:lnTo>
                  <a:pt x="7519543" y="76200"/>
                </a:lnTo>
                <a:lnTo>
                  <a:pt x="7519543" y="114300"/>
                </a:lnTo>
                <a:lnTo>
                  <a:pt x="7595743" y="76200"/>
                </a:lnTo>
                <a:lnTo>
                  <a:pt x="7633843" y="57150"/>
                </a:lnTo>
                <a:close/>
              </a:path>
            </a:pathLst>
          </a:custGeom>
          <a:solidFill>
            <a:srgbClr val="F5F5F5"/>
          </a:solidFill>
          <a:ln w="9525">
            <a:solidFill>
              <a:srgbClr val="DEDEDE"/>
            </a:solidFill>
          </a:ln>
          <a:effectLst/>
        </p:spPr>
        <p:txBody>
          <a:bodyPr wrap="square" lIns="0" tIns="0" rIns="0" bIns="0" rtlCol="0"/>
          <a:lstStyle/>
          <a:p>
            <a:endParaRPr/>
          </a:p>
        </p:txBody>
      </p:sp>
      <p:sp>
        <p:nvSpPr>
          <p:cNvPr id="31" name="object 19">
            <a:extLst>
              <a:ext uri="{FF2B5EF4-FFF2-40B4-BE49-F238E27FC236}">
                <a16:creationId xmlns:a16="http://schemas.microsoft.com/office/drawing/2014/main" id="{FFF558A7-E3B1-9C2E-B50F-684D36661FBD}"/>
              </a:ext>
            </a:extLst>
          </p:cNvPr>
          <p:cNvSpPr txBox="1"/>
          <p:nvPr/>
        </p:nvSpPr>
        <p:spPr>
          <a:xfrm>
            <a:off x="1325625" y="3031998"/>
            <a:ext cx="2204720" cy="239395"/>
          </a:xfrm>
          <a:prstGeom prst="rect">
            <a:avLst/>
          </a:prstGeom>
        </p:spPr>
        <p:txBody>
          <a:bodyPr vert="horz" wrap="square" lIns="0" tIns="13335" rIns="0" bIns="0" rtlCol="0">
            <a:noAutofit/>
          </a:bodyPr>
          <a:lstStyle/>
          <a:p>
            <a:pPr marL="12700">
              <a:lnSpc>
                <a:spcPct val="100000"/>
              </a:lnSpc>
              <a:spcBef>
                <a:spcPts val="105"/>
              </a:spcBef>
            </a:pPr>
            <a:r>
              <a:rPr sz="1400"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Phase</a:t>
            </a:r>
            <a:r>
              <a:rPr sz="1400" spc="-50"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 </a:t>
            </a:r>
            <a:r>
              <a:rPr sz="1400"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I:</a:t>
            </a:r>
            <a:r>
              <a:rPr sz="1400" spc="-25"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 </a:t>
            </a:r>
            <a:r>
              <a:rPr sz="1400"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J2W</a:t>
            </a:r>
            <a:r>
              <a:rPr sz="1400" spc="-10"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 Foundation</a:t>
            </a:r>
            <a:r>
              <a:rPr sz="1400" spc="-25"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 </a:t>
            </a:r>
            <a:r>
              <a:rPr sz="1400" spc="-20"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Setup</a:t>
            </a:r>
            <a:r>
              <a:rPr lang="en-GB" sz="1400" spc="-20"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 via BOT Model (FY20-FY21)</a:t>
            </a:r>
          </a:p>
          <a:p>
            <a:pPr marL="12700">
              <a:lnSpc>
                <a:spcPct val="100000"/>
              </a:lnSpc>
              <a:spcBef>
                <a:spcPts val="105"/>
              </a:spcBef>
            </a:pPr>
            <a:endParaRPr sz="1400"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endParaRPr>
          </a:p>
        </p:txBody>
      </p:sp>
      <p:sp>
        <p:nvSpPr>
          <p:cNvPr id="32" name="object 20">
            <a:extLst>
              <a:ext uri="{FF2B5EF4-FFF2-40B4-BE49-F238E27FC236}">
                <a16:creationId xmlns:a16="http://schemas.microsoft.com/office/drawing/2014/main" id="{F8F7A66A-E800-29B4-AE97-F32089E35CCD}"/>
              </a:ext>
            </a:extLst>
          </p:cNvPr>
          <p:cNvSpPr txBox="1"/>
          <p:nvPr/>
        </p:nvSpPr>
        <p:spPr>
          <a:xfrm>
            <a:off x="1325625" y="3245357"/>
            <a:ext cx="1954530" cy="239395"/>
          </a:xfrm>
          <a:prstGeom prst="rect">
            <a:avLst/>
          </a:prstGeom>
        </p:spPr>
        <p:txBody>
          <a:bodyPr vert="horz" wrap="square" lIns="0" tIns="13335" rIns="0" bIns="0" rtlCol="0">
            <a:normAutofit/>
          </a:bodyPr>
          <a:lstStyle/>
          <a:p>
            <a:pPr marL="12700">
              <a:lnSpc>
                <a:spcPct val="100000"/>
              </a:lnSpc>
              <a:spcBef>
                <a:spcPts val="105"/>
              </a:spcBef>
            </a:pPr>
            <a:endParaRPr sz="1400" dirty="0">
              <a:latin typeface="Calibri Light"/>
              <a:cs typeface="Calibri Light"/>
            </a:endParaRPr>
          </a:p>
        </p:txBody>
      </p:sp>
      <p:sp>
        <p:nvSpPr>
          <p:cNvPr id="33" name="object 21">
            <a:extLst>
              <a:ext uri="{FF2B5EF4-FFF2-40B4-BE49-F238E27FC236}">
                <a16:creationId xmlns:a16="http://schemas.microsoft.com/office/drawing/2014/main" id="{91E82FA1-2EA8-7D32-65E6-1CBCAF21F03D}"/>
              </a:ext>
            </a:extLst>
          </p:cNvPr>
          <p:cNvSpPr txBox="1"/>
          <p:nvPr/>
        </p:nvSpPr>
        <p:spPr>
          <a:xfrm>
            <a:off x="3889375" y="3018028"/>
            <a:ext cx="2610485" cy="483870"/>
          </a:xfrm>
          <a:prstGeom prst="rect">
            <a:avLst/>
          </a:prstGeom>
        </p:spPr>
        <p:txBody>
          <a:bodyPr vert="horz" wrap="square" lIns="0" tIns="12065" rIns="0" bIns="0" rtlCol="0">
            <a:normAutofit fontScale="90000"/>
          </a:bodyPr>
          <a:lstStyle/>
          <a:p>
            <a:pPr marL="12700">
              <a:lnSpc>
                <a:spcPct val="100000"/>
              </a:lnSpc>
              <a:spcBef>
                <a:spcPts val="95"/>
              </a:spcBef>
            </a:pPr>
            <a:r>
              <a:rPr sz="1500" spc="-10" dirty="0">
                <a:solidFill>
                  <a:srgbClr val="2A9D8F"/>
                </a:solidFill>
                <a:latin typeface="Roboto Condensed"/>
                <a:cs typeface="Calibri Light"/>
              </a:rPr>
              <a:t>Phase</a:t>
            </a:r>
            <a:r>
              <a:rPr sz="1500" spc="-60" dirty="0">
                <a:solidFill>
                  <a:srgbClr val="2A9D8F"/>
                </a:solidFill>
                <a:latin typeface="Roboto Condensed"/>
                <a:cs typeface="Calibri Light"/>
              </a:rPr>
              <a:t> </a:t>
            </a:r>
            <a:r>
              <a:rPr sz="1500" dirty="0">
                <a:solidFill>
                  <a:srgbClr val="2A9D8F"/>
                </a:solidFill>
                <a:latin typeface="Roboto Condensed"/>
                <a:cs typeface="Calibri Light"/>
              </a:rPr>
              <a:t>II:</a:t>
            </a:r>
            <a:r>
              <a:rPr sz="1500" spc="-40" dirty="0">
                <a:solidFill>
                  <a:srgbClr val="2A9D8F"/>
                </a:solidFill>
                <a:latin typeface="Roboto Condensed"/>
                <a:cs typeface="Calibri Light"/>
              </a:rPr>
              <a:t> </a:t>
            </a:r>
            <a:r>
              <a:rPr sz="1500" dirty="0">
                <a:solidFill>
                  <a:srgbClr val="2A9D8F"/>
                </a:solidFill>
                <a:latin typeface="Roboto Condensed"/>
                <a:cs typeface="Calibri Light"/>
              </a:rPr>
              <a:t>J2w's</a:t>
            </a:r>
            <a:r>
              <a:rPr sz="1500" spc="-5" dirty="0">
                <a:solidFill>
                  <a:srgbClr val="2A9D8F"/>
                </a:solidFill>
                <a:latin typeface="Roboto Condensed"/>
                <a:cs typeface="Calibri Light"/>
              </a:rPr>
              <a:t> </a:t>
            </a:r>
            <a:r>
              <a:rPr sz="1500" dirty="0">
                <a:solidFill>
                  <a:srgbClr val="2A9D8F"/>
                </a:solidFill>
                <a:latin typeface="Roboto Condensed"/>
                <a:cs typeface="Calibri Light"/>
              </a:rPr>
              <a:t>Caas</a:t>
            </a:r>
            <a:r>
              <a:rPr sz="1500" spc="-10" dirty="0">
                <a:solidFill>
                  <a:srgbClr val="2A9D8F"/>
                </a:solidFill>
                <a:latin typeface="Roboto Condensed"/>
                <a:cs typeface="Calibri Light"/>
              </a:rPr>
              <a:t> Acceleration</a:t>
            </a:r>
            <a:r>
              <a:rPr sz="1500" spc="-20" dirty="0">
                <a:solidFill>
                  <a:srgbClr val="2A9D8F"/>
                </a:solidFill>
                <a:latin typeface="Roboto Condensed"/>
                <a:cs typeface="Calibri Light"/>
              </a:rPr>
              <a:t> </a:t>
            </a:r>
            <a:r>
              <a:rPr sz="1500" spc="-50" dirty="0">
                <a:solidFill>
                  <a:srgbClr val="2A9D8F"/>
                </a:solidFill>
                <a:latin typeface="Roboto Condensed"/>
                <a:cs typeface="Calibri Light"/>
              </a:rPr>
              <a:t>&amp;</a:t>
            </a:r>
            <a:endParaRPr sz="1400" dirty="0">
              <a:latin typeface="Calibri Light"/>
              <a:cs typeface="Calibri Light"/>
            </a:endParaRPr>
          </a:p>
          <a:p>
            <a:pPr marL="12700">
              <a:lnSpc>
                <a:spcPct val="100000"/>
              </a:lnSpc>
              <a:spcBef>
                <a:spcPts val="5"/>
              </a:spcBef>
            </a:pPr>
            <a:r>
              <a:rPr sz="1500" spc="-10" dirty="0">
                <a:solidFill>
                  <a:srgbClr val="2A9D8F"/>
                </a:solidFill>
                <a:latin typeface="Roboto Condensed"/>
                <a:cs typeface="Calibri Light"/>
              </a:rPr>
              <a:t>Innovation</a:t>
            </a:r>
            <a:r>
              <a:rPr sz="1500" spc="-30" dirty="0">
                <a:solidFill>
                  <a:srgbClr val="2A9D8F"/>
                </a:solidFill>
                <a:latin typeface="Roboto Condensed"/>
                <a:cs typeface="Calibri Light"/>
              </a:rPr>
              <a:t> </a:t>
            </a:r>
            <a:r>
              <a:rPr sz="1500" dirty="0">
                <a:solidFill>
                  <a:srgbClr val="2A9D8F"/>
                </a:solidFill>
                <a:latin typeface="Roboto Condensed"/>
                <a:cs typeface="Calibri Light"/>
              </a:rPr>
              <a:t>Scaling </a:t>
            </a:r>
            <a:r>
              <a:rPr sz="1500" spc="-10" dirty="0">
                <a:solidFill>
                  <a:srgbClr val="2A9D8F"/>
                </a:solidFill>
                <a:latin typeface="Roboto Condensed"/>
                <a:cs typeface="Calibri Light"/>
              </a:rPr>
              <a:t>(FY22-FY23)</a:t>
            </a:r>
            <a:endParaRPr sz="1400" dirty="0">
              <a:latin typeface="Calibri Light"/>
              <a:cs typeface="Calibri Light"/>
            </a:endParaRPr>
          </a:p>
        </p:txBody>
      </p:sp>
      <p:sp>
        <p:nvSpPr>
          <p:cNvPr id="34" name="object 22">
            <a:extLst>
              <a:ext uri="{FF2B5EF4-FFF2-40B4-BE49-F238E27FC236}">
                <a16:creationId xmlns:a16="http://schemas.microsoft.com/office/drawing/2014/main" id="{81E26836-0AE0-1D72-CF65-C5481A902626}"/>
              </a:ext>
            </a:extLst>
          </p:cNvPr>
          <p:cNvSpPr txBox="1"/>
          <p:nvPr/>
        </p:nvSpPr>
        <p:spPr>
          <a:xfrm>
            <a:off x="7751826" y="3023488"/>
            <a:ext cx="3134360" cy="483234"/>
          </a:xfrm>
          <a:prstGeom prst="rect">
            <a:avLst/>
          </a:prstGeom>
        </p:spPr>
        <p:txBody>
          <a:bodyPr vert="horz" wrap="square" lIns="0" tIns="12065" rIns="0" bIns="0" rtlCol="0">
            <a:normAutofit fontScale="97577"/>
          </a:bodyPr>
          <a:lstStyle/>
          <a:p>
            <a:pPr marL="12700" marR="5080">
              <a:lnSpc>
                <a:spcPct val="100000"/>
              </a:lnSpc>
              <a:spcBef>
                <a:spcPts val="95"/>
              </a:spcBef>
            </a:pPr>
            <a:r>
              <a:rPr sz="1500" spc="-10" dirty="0">
                <a:solidFill>
                  <a:srgbClr val="2A9D8F"/>
                </a:solidFill>
                <a:latin typeface="Roboto Condensed"/>
                <a:cs typeface="Calibri Light"/>
              </a:rPr>
              <a:t>Phase</a:t>
            </a:r>
            <a:r>
              <a:rPr sz="1500" spc="-60" dirty="0">
                <a:solidFill>
                  <a:srgbClr val="2A9D8F"/>
                </a:solidFill>
                <a:latin typeface="Roboto Condensed"/>
                <a:cs typeface="Calibri Light"/>
              </a:rPr>
              <a:t> </a:t>
            </a:r>
            <a:r>
              <a:rPr sz="1500" dirty="0">
                <a:solidFill>
                  <a:srgbClr val="2A9D8F"/>
                </a:solidFill>
                <a:latin typeface="Roboto Condensed"/>
                <a:cs typeface="Calibri Light"/>
              </a:rPr>
              <a:t>III:</a:t>
            </a:r>
            <a:r>
              <a:rPr sz="1500" spc="-35" dirty="0">
                <a:solidFill>
                  <a:srgbClr val="2A9D8F"/>
                </a:solidFill>
                <a:latin typeface="Roboto Condensed"/>
                <a:cs typeface="Calibri Light"/>
              </a:rPr>
              <a:t> </a:t>
            </a:r>
            <a:r>
              <a:rPr sz="1500" dirty="0">
                <a:solidFill>
                  <a:srgbClr val="2A9D8F"/>
                </a:solidFill>
                <a:latin typeface="Roboto Condensed"/>
                <a:cs typeface="Calibri Light"/>
              </a:rPr>
              <a:t>J2w's</a:t>
            </a:r>
            <a:r>
              <a:rPr sz="1500" spc="-5" dirty="0">
                <a:solidFill>
                  <a:srgbClr val="2A9D8F"/>
                </a:solidFill>
                <a:latin typeface="Roboto Condensed"/>
                <a:cs typeface="Calibri Light"/>
              </a:rPr>
              <a:t> </a:t>
            </a:r>
            <a:r>
              <a:rPr sz="1500" spc="-10" dirty="0">
                <a:solidFill>
                  <a:srgbClr val="2A9D8F"/>
                </a:solidFill>
                <a:latin typeface="Roboto Condensed"/>
                <a:cs typeface="Calibri Light"/>
              </a:rPr>
              <a:t>Strategic</a:t>
            </a:r>
            <a:r>
              <a:rPr sz="1500" spc="10" dirty="0">
                <a:solidFill>
                  <a:srgbClr val="2A9D8F"/>
                </a:solidFill>
                <a:latin typeface="Roboto Condensed"/>
                <a:cs typeface="Calibri Light"/>
              </a:rPr>
              <a:t> </a:t>
            </a:r>
            <a:r>
              <a:rPr sz="1500" spc="-20" dirty="0">
                <a:solidFill>
                  <a:srgbClr val="2A9D8F"/>
                </a:solidFill>
                <a:latin typeface="Roboto Condensed"/>
                <a:cs typeface="Calibri Light"/>
              </a:rPr>
              <a:t>Transformation</a:t>
            </a:r>
            <a:r>
              <a:rPr sz="1500" spc="-30" dirty="0">
                <a:solidFill>
                  <a:srgbClr val="2A9D8F"/>
                </a:solidFill>
                <a:latin typeface="Roboto Condensed"/>
                <a:cs typeface="Calibri Light"/>
              </a:rPr>
              <a:t> </a:t>
            </a:r>
            <a:r>
              <a:rPr sz="1500" spc="-50" dirty="0">
                <a:solidFill>
                  <a:srgbClr val="2A9D8F"/>
                </a:solidFill>
                <a:latin typeface="Roboto Condensed"/>
                <a:cs typeface="Calibri Light"/>
              </a:rPr>
              <a:t>&amp; </a:t>
            </a:r>
            <a:r>
              <a:rPr sz="1500" dirty="0">
                <a:solidFill>
                  <a:srgbClr val="2A9D8F"/>
                </a:solidFill>
                <a:latin typeface="Roboto Condensed"/>
                <a:cs typeface="Calibri Light"/>
              </a:rPr>
              <a:t>Global</a:t>
            </a:r>
            <a:r>
              <a:rPr sz="1500" spc="-10" dirty="0">
                <a:solidFill>
                  <a:srgbClr val="2A9D8F"/>
                </a:solidFill>
                <a:latin typeface="Roboto Condensed"/>
                <a:cs typeface="Calibri Light"/>
              </a:rPr>
              <a:t> </a:t>
            </a:r>
            <a:r>
              <a:rPr sz="1500" dirty="0">
                <a:solidFill>
                  <a:srgbClr val="2A9D8F"/>
                </a:solidFill>
                <a:latin typeface="Roboto Condensed"/>
                <a:cs typeface="Calibri Light"/>
              </a:rPr>
              <a:t>Hub</a:t>
            </a:r>
            <a:r>
              <a:rPr sz="1500" spc="-5" dirty="0">
                <a:solidFill>
                  <a:srgbClr val="2A9D8F"/>
                </a:solidFill>
                <a:latin typeface="Roboto Condensed"/>
                <a:cs typeface="Calibri Light"/>
              </a:rPr>
              <a:t> </a:t>
            </a:r>
            <a:r>
              <a:rPr sz="1500" spc="-10" dirty="0">
                <a:solidFill>
                  <a:srgbClr val="2A9D8F"/>
                </a:solidFill>
                <a:latin typeface="Roboto Condensed"/>
                <a:cs typeface="Calibri Light"/>
              </a:rPr>
              <a:t>Creation</a:t>
            </a:r>
            <a:r>
              <a:rPr sz="1500" spc="-5" dirty="0">
                <a:solidFill>
                  <a:srgbClr val="2A9D8F"/>
                </a:solidFill>
                <a:latin typeface="Roboto Condensed"/>
                <a:cs typeface="Calibri Light"/>
              </a:rPr>
              <a:t> </a:t>
            </a:r>
            <a:r>
              <a:rPr sz="1500" spc="-10" dirty="0">
                <a:solidFill>
                  <a:srgbClr val="2A9D8F"/>
                </a:solidFill>
                <a:latin typeface="Roboto Condensed"/>
                <a:cs typeface="Calibri Light"/>
              </a:rPr>
              <a:t>(FY24-FY25)</a:t>
            </a:r>
            <a:endParaRPr sz="1400">
              <a:latin typeface="Calibri Light"/>
              <a:cs typeface="Calibri Light"/>
            </a:endParaRPr>
          </a:p>
        </p:txBody>
      </p:sp>
      <p:sp>
        <p:nvSpPr>
          <p:cNvPr id="35" name="object 23">
            <a:extLst>
              <a:ext uri="{FF2B5EF4-FFF2-40B4-BE49-F238E27FC236}">
                <a16:creationId xmlns:a16="http://schemas.microsoft.com/office/drawing/2014/main" id="{716295CD-39F8-F109-7E45-9E17ED783133}"/>
              </a:ext>
            </a:extLst>
          </p:cNvPr>
          <p:cNvSpPr txBox="1"/>
          <p:nvPr/>
        </p:nvSpPr>
        <p:spPr>
          <a:xfrm>
            <a:off x="83125" y="3609555"/>
            <a:ext cx="1332230" cy="346710"/>
          </a:xfrm>
          <a:prstGeom prst="rect">
            <a:avLst/>
          </a:prstGeom>
          <a:solidFill>
            <a:srgbClr val="747474"/>
          </a:solidFill>
        </p:spPr>
        <p:txBody>
          <a:bodyPr vert="horz" wrap="square" lIns="0" tIns="55244" rIns="0" bIns="0" rtlCol="0">
            <a:normAutofit/>
          </a:bodyPr>
          <a:lstStyle/>
          <a:p>
            <a:pPr marL="335915">
              <a:lnSpc>
                <a:spcPct val="100000"/>
              </a:lnSpc>
              <a:spcBef>
                <a:spcPts val="434"/>
              </a:spcBef>
            </a:pPr>
            <a:r>
              <a:rPr sz="1100" spc="-10" dirty="0">
                <a:solidFill>
                  <a:srgbClr val="FFFFFF"/>
                </a:solidFill>
                <a:latin typeface="Raleway"/>
                <a:cs typeface="Calibri Light"/>
              </a:rPr>
              <a:t>Key</a:t>
            </a:r>
            <a:r>
              <a:rPr sz="1100" spc="-60" dirty="0">
                <a:solidFill>
                  <a:srgbClr val="FFFFFF"/>
                </a:solidFill>
                <a:latin typeface="Raleway"/>
                <a:cs typeface="Calibri Light"/>
              </a:rPr>
              <a:t> </a:t>
            </a:r>
            <a:r>
              <a:rPr sz="1100" spc="-10" dirty="0">
                <a:solidFill>
                  <a:srgbClr val="FFFFFF"/>
                </a:solidFill>
                <a:latin typeface="Raleway"/>
                <a:cs typeface="Calibri Light"/>
              </a:rPr>
              <a:t>Label</a:t>
            </a:r>
            <a:endParaRPr sz="1400">
              <a:latin typeface="Calibri Light"/>
              <a:cs typeface="Calibri Light"/>
            </a:endParaRPr>
          </a:p>
        </p:txBody>
      </p:sp>
      <p:pic>
        <p:nvPicPr>
          <p:cNvPr id="36" name="object 24">
            <a:extLst>
              <a:ext uri="{FF2B5EF4-FFF2-40B4-BE49-F238E27FC236}">
                <a16:creationId xmlns:a16="http://schemas.microsoft.com/office/drawing/2014/main" id="{9873D105-C823-935F-BAC9-AFDCEC3C8AFA}"/>
              </a:ext>
            </a:extLst>
          </p:cNvPr>
          <p:cNvPicPr/>
          <p:nvPr/>
        </p:nvPicPr>
        <p:blipFill>
          <a:blip r:embed="rId3" cstate="print"/>
          <a:stretch>
            <a:fillRect/>
          </a:stretch>
        </p:blipFill>
        <p:spPr>
          <a:xfrm>
            <a:off x="1607185" y="3559784"/>
            <a:ext cx="10463911" cy="461670"/>
          </a:xfrm>
          <a:prstGeom prst="rect">
            <a:avLst/>
          </a:prstGeom>
        </p:spPr>
      </p:pic>
      <p:sp>
        <p:nvSpPr>
          <p:cNvPr id="37" name="object 25">
            <a:extLst>
              <a:ext uri="{FF2B5EF4-FFF2-40B4-BE49-F238E27FC236}">
                <a16:creationId xmlns:a16="http://schemas.microsoft.com/office/drawing/2014/main" id="{381A5826-900A-65E7-1139-3F295A0C029A}"/>
              </a:ext>
            </a:extLst>
          </p:cNvPr>
          <p:cNvSpPr txBox="1"/>
          <p:nvPr/>
        </p:nvSpPr>
        <p:spPr>
          <a:xfrm>
            <a:off x="1543049" y="3675126"/>
            <a:ext cx="1728470" cy="239395"/>
          </a:xfrm>
          <a:prstGeom prst="rect">
            <a:avLst/>
          </a:prstGeom>
        </p:spPr>
        <p:txBody>
          <a:bodyPr vert="horz" wrap="square" lIns="0" tIns="13335" rIns="0" bIns="0" rtlCol="0">
            <a:normAutofit/>
          </a:bodyPr>
          <a:lstStyle/>
          <a:p>
            <a:pPr marL="12700">
              <a:lnSpc>
                <a:spcPct val="100000"/>
              </a:lnSpc>
              <a:spcBef>
                <a:spcPts val="105"/>
              </a:spcBef>
            </a:pPr>
            <a:r>
              <a:rPr sz="1100" spc="-10" dirty="0">
                <a:solidFill/>
                <a:latin typeface="Raleway"/>
                <a:cs typeface="Calibri Light"/>
              </a:rPr>
              <a:t>J2W</a:t>
            </a:r>
            <a:r>
              <a:rPr sz="1100" spc="-50" dirty="0">
                <a:solidFill/>
                <a:latin typeface="Raleway"/>
                <a:cs typeface="Calibri Light"/>
              </a:rPr>
              <a:t> </a:t>
            </a:r>
            <a:r>
              <a:rPr sz="1100" spc="-20" dirty="0">
                <a:solidFill/>
                <a:latin typeface="Raleway"/>
                <a:cs typeface="Calibri Light"/>
              </a:rPr>
              <a:t>Foundation</a:t>
            </a:r>
            <a:r>
              <a:rPr sz="1100" spc="-50" dirty="0">
                <a:solidFill/>
                <a:latin typeface="Raleway"/>
                <a:cs typeface="Calibri Light"/>
              </a:rPr>
              <a:t> </a:t>
            </a:r>
            <a:r>
              <a:rPr sz="1100" dirty="0">
                <a:solidFill/>
                <a:latin typeface="Raleway"/>
                <a:cs typeface="Calibri Light"/>
              </a:rPr>
              <a:t>via</a:t>
            </a:r>
            <a:r>
              <a:rPr sz="1100" spc="-45" dirty="0">
                <a:solidFill/>
                <a:latin typeface="Raleway"/>
                <a:cs typeface="Calibri Light"/>
              </a:rPr>
              <a:t> </a:t>
            </a:r>
            <a:r>
              <a:rPr sz="1100" spc="-25" dirty="0">
                <a:solidFill/>
                <a:latin typeface="Raleway"/>
                <a:cs typeface="Calibri Light"/>
              </a:rPr>
              <a:t>BOT</a:t>
            </a:r>
            <a:endParaRPr sz="1400" dirty="0">
              <a:latin typeface="Calibri Light"/>
              <a:cs typeface="Calibri Light"/>
            </a:endParaRPr>
          </a:p>
        </p:txBody>
      </p:sp>
      <p:sp>
        <p:nvSpPr>
          <p:cNvPr id="38" name="object 26">
            <a:extLst>
              <a:ext uri="{FF2B5EF4-FFF2-40B4-BE49-F238E27FC236}">
                <a16:creationId xmlns:a16="http://schemas.microsoft.com/office/drawing/2014/main" id="{FBBB93D9-4E78-9CAE-D17C-E88F89535146}"/>
              </a:ext>
            </a:extLst>
          </p:cNvPr>
          <p:cNvSpPr txBox="1"/>
          <p:nvPr/>
        </p:nvSpPr>
        <p:spPr>
          <a:xfrm>
            <a:off x="3889375" y="3655314"/>
            <a:ext cx="2211070" cy="239395"/>
          </a:xfrm>
          <a:prstGeom prst="rect">
            <a:avLst/>
          </a:prstGeom>
        </p:spPr>
        <p:txBody>
          <a:bodyPr vert="horz" wrap="square" lIns="0" tIns="13335" rIns="0" bIns="0" rtlCol="0">
            <a:normAutofit fontScale="96319"/>
          </a:bodyPr>
          <a:lstStyle/>
          <a:p>
            <a:pPr marL="12700">
              <a:lnSpc>
                <a:spcPct val="100000"/>
              </a:lnSpc>
              <a:spcBef>
                <a:spcPts val="105"/>
              </a:spcBef>
            </a:pPr>
            <a:r>
              <a:rPr sz="1100" spc="-10" dirty="0">
                <a:solidFill/>
                <a:latin typeface="Raleway"/>
                <a:cs typeface="Calibri Light"/>
              </a:rPr>
              <a:t>Scaling</a:t>
            </a:r>
            <a:r>
              <a:rPr sz="1100" spc="-20" dirty="0">
                <a:solidFill/>
                <a:latin typeface="Raleway"/>
                <a:cs typeface="Calibri Light"/>
              </a:rPr>
              <a:t> </a:t>
            </a:r>
            <a:r>
              <a:rPr sz="1100" dirty="0">
                <a:solidFill/>
                <a:latin typeface="Raleway"/>
                <a:cs typeface="Calibri Light"/>
              </a:rPr>
              <a:t>via</a:t>
            </a:r>
            <a:r>
              <a:rPr sz="1100" spc="-35" dirty="0">
                <a:solidFill/>
                <a:latin typeface="Raleway"/>
                <a:cs typeface="Calibri Light"/>
              </a:rPr>
              <a:t> </a:t>
            </a:r>
            <a:r>
              <a:rPr sz="1100" spc="-20" dirty="0">
                <a:solidFill/>
                <a:latin typeface="Raleway"/>
                <a:cs typeface="Calibri Light"/>
              </a:rPr>
              <a:t>Captive-</a:t>
            </a:r>
            <a:r>
              <a:rPr sz="1100" spc="-10" dirty="0">
                <a:solidFill/>
                <a:latin typeface="Raleway"/>
                <a:cs typeface="Calibri Light"/>
              </a:rPr>
              <a:t>as-</a:t>
            </a:r>
            <a:r>
              <a:rPr sz="1100" spc="-20" dirty="0">
                <a:solidFill/>
                <a:latin typeface="Raleway"/>
                <a:cs typeface="Calibri Light"/>
              </a:rPr>
              <a:t>a-</a:t>
            </a:r>
            <a:r>
              <a:rPr sz="1100" spc="-10" dirty="0">
                <a:solidFill/>
                <a:latin typeface="Raleway"/>
                <a:cs typeface="Calibri Light"/>
              </a:rPr>
              <a:t>Service</a:t>
            </a:r>
            <a:endParaRPr sz="1400" dirty="0">
              <a:latin typeface="Calibri Light"/>
              <a:cs typeface="Calibri Light"/>
            </a:endParaRPr>
          </a:p>
        </p:txBody>
      </p:sp>
      <p:sp>
        <p:nvSpPr>
          <p:cNvPr id="39" name="object 27">
            <a:extLst>
              <a:ext uri="{FF2B5EF4-FFF2-40B4-BE49-F238E27FC236}">
                <a16:creationId xmlns:a16="http://schemas.microsoft.com/office/drawing/2014/main" id="{922713F8-9B1C-1AC7-C15B-EE6713CAC78B}"/>
              </a:ext>
            </a:extLst>
          </p:cNvPr>
          <p:cNvSpPr txBox="1"/>
          <p:nvPr/>
        </p:nvSpPr>
        <p:spPr>
          <a:xfrm>
            <a:off x="7821357" y="3675126"/>
            <a:ext cx="1443990" cy="239395"/>
          </a:xfrm>
          <a:prstGeom prst="rect">
            <a:avLst/>
          </a:prstGeom>
        </p:spPr>
        <p:txBody>
          <a:bodyPr vert="horz" wrap="square" lIns="0" tIns="13335" rIns="0" bIns="0" rtlCol="0">
            <a:normAutofit/>
          </a:bodyPr>
          <a:lstStyle/>
          <a:p>
            <a:pPr marL="12700">
              <a:lnSpc>
                <a:spcPct val="100000"/>
              </a:lnSpc>
              <a:spcBef>
                <a:spcPts val="105"/>
              </a:spcBef>
            </a:pPr>
            <a:r>
              <a:rPr sz="1100" spc="-10" dirty="0">
                <a:solidFill/>
                <a:latin typeface="Raleway"/>
                <a:cs typeface="Calibri Light"/>
              </a:rPr>
              <a:t>Global</a:t>
            </a:r>
            <a:r>
              <a:rPr sz="1100" spc="-60" dirty="0">
                <a:solidFill/>
                <a:latin typeface="Raleway"/>
                <a:cs typeface="Calibri Light"/>
              </a:rPr>
              <a:t> </a:t>
            </a:r>
            <a:r>
              <a:rPr sz="1100" dirty="0">
                <a:solidFill/>
                <a:latin typeface="Raleway"/>
                <a:cs typeface="Calibri Light"/>
              </a:rPr>
              <a:t>Hub</a:t>
            </a:r>
            <a:r>
              <a:rPr sz="1100" spc="-60" dirty="0">
                <a:solidFill/>
                <a:latin typeface="Raleway"/>
                <a:cs typeface="Calibri Light"/>
              </a:rPr>
              <a:t> </a:t>
            </a:r>
            <a:r>
              <a:rPr sz="1100" spc="-10" dirty="0">
                <a:solidFill/>
                <a:latin typeface="Raleway"/>
                <a:cs typeface="Calibri Light"/>
              </a:rPr>
              <a:t>Creation</a:t>
            </a:r>
            <a:endParaRPr sz="1400" dirty="0">
              <a:latin typeface="Calibri Light"/>
              <a:cs typeface="Calibri Light"/>
            </a:endParaRPr>
          </a:p>
        </p:txBody>
      </p:sp>
      <p:sp>
        <p:nvSpPr>
          <p:cNvPr id="40" name="object 28">
            <a:extLst>
              <a:ext uri="{FF2B5EF4-FFF2-40B4-BE49-F238E27FC236}">
                <a16:creationId xmlns:a16="http://schemas.microsoft.com/office/drawing/2014/main" id="{D110E393-F0E4-4EE6-32A6-D9C5ED5F3E7F}"/>
              </a:ext>
            </a:extLst>
          </p:cNvPr>
          <p:cNvSpPr txBox="1"/>
          <p:nvPr/>
        </p:nvSpPr>
        <p:spPr>
          <a:xfrm>
            <a:off x="83126" y="4160012"/>
            <a:ext cx="1332230" cy="793750"/>
          </a:xfrm>
          <a:prstGeom prst="rect">
            <a:avLst/>
          </a:prstGeom>
          <a:solidFill>
            <a:srgbClr val="747474"/>
          </a:solidFill>
        </p:spPr>
        <p:txBody>
          <a:bodyPr vert="horz" wrap="square" lIns="0" tIns="74930" rIns="0" bIns="0" rtlCol="0">
            <a:normAutofit/>
          </a:bodyPr>
          <a:lstStyle/>
          <a:p>
            <a:pPr>
              <a:lnSpc>
                <a:spcPct val="100000"/>
              </a:lnSpc>
              <a:spcBef>
                <a:spcPts val="590"/>
              </a:spcBef>
            </a:pPr>
            <a:endParaRPr sz="1400">
              <a:latin typeface="Times New Roman"/>
              <a:cs typeface="Times New Roman"/>
            </a:endParaRPr>
          </a:p>
          <a:p>
            <a:pPr marL="279400">
              <a:lnSpc>
                <a:spcPct val="100000"/>
              </a:lnSpc>
            </a:pPr>
            <a:r>
              <a:rPr sz="1100" spc="-10" dirty="0">
                <a:solidFill>
                  <a:srgbClr val="FFFFFF"/>
                </a:solidFill>
                <a:latin typeface="Raleway"/>
                <a:cs typeface="Calibri Light"/>
              </a:rPr>
              <a:t>Milestones</a:t>
            </a:r>
            <a:endParaRPr sz="1400">
              <a:latin typeface="Calibri Light"/>
              <a:cs typeface="Calibri Light"/>
            </a:endParaRPr>
          </a:p>
        </p:txBody>
      </p:sp>
      <p:grpSp>
        <p:nvGrpSpPr>
          <p:cNvPr id="41" name="object 29">
            <a:extLst>
              <a:ext uri="{FF2B5EF4-FFF2-40B4-BE49-F238E27FC236}">
                <a16:creationId xmlns:a16="http://schemas.microsoft.com/office/drawing/2014/main" id="{C666CDFB-7395-E05A-6001-6A20DB3D08DB}"/>
              </a:ext>
            </a:extLst>
          </p:cNvPr>
          <p:cNvGrpSpPr/>
          <p:nvPr/>
        </p:nvGrpSpPr>
        <p:grpSpPr>
          <a:xfrm>
            <a:off x="1607185" y="2972307"/>
            <a:ext cx="10464165" cy="3020695"/>
            <a:chOff x="1607185" y="2840227"/>
            <a:chExt cx="10464165" cy="3020695"/>
          </a:xfrm>
        </p:grpSpPr>
        <p:pic>
          <p:nvPicPr>
            <p:cNvPr id="42" name="object 30">
              <a:extLst>
                <a:ext uri="{FF2B5EF4-FFF2-40B4-BE49-F238E27FC236}">
                  <a16:creationId xmlns:a16="http://schemas.microsoft.com/office/drawing/2014/main" id="{A65B19F2-C366-103A-9B4C-54263027E081}"/>
                </a:ext>
              </a:extLst>
            </p:cNvPr>
            <p:cNvPicPr/>
            <p:nvPr/>
          </p:nvPicPr>
          <p:blipFill>
            <a:blip r:embed="rId4" cstate="print"/>
            <a:stretch>
              <a:fillRect/>
            </a:stretch>
          </p:blipFill>
          <p:spPr>
            <a:xfrm>
              <a:off x="1607185" y="4027868"/>
              <a:ext cx="10463911" cy="1832610"/>
            </a:xfrm>
            <a:prstGeom prst="rect">
              <a:avLst/>
            </a:prstGeom>
          </p:spPr>
        </p:pic>
        <p:sp>
          <p:nvSpPr>
            <p:cNvPr id="43" name="object 31">
              <a:extLst>
                <a:ext uri="{FF2B5EF4-FFF2-40B4-BE49-F238E27FC236}">
                  <a16:creationId xmlns:a16="http://schemas.microsoft.com/office/drawing/2014/main" id="{956219D2-0D2E-1AFE-B7F9-40B4C1774108}"/>
                </a:ext>
              </a:extLst>
            </p:cNvPr>
            <p:cNvSpPr/>
            <p:nvPr/>
          </p:nvSpPr>
          <p:spPr>
            <a:xfrm>
              <a:off x="3643757" y="2840227"/>
              <a:ext cx="3865879" cy="3020695"/>
            </a:xfrm>
            <a:custGeom>
              <a:avLst/>
              <a:gdLst/>
              <a:ahLst/>
              <a:cxnLst/>
              <a:rect l="l" t="t" r="r" b="b"/>
              <a:pathLst>
                <a:path w="3865879" h="3020695">
                  <a:moveTo>
                    <a:pt x="0" y="1016"/>
                  </a:moveTo>
                  <a:lnTo>
                    <a:pt x="0" y="3020250"/>
                  </a:lnTo>
                </a:path>
                <a:path w="3865879" h="3020695">
                  <a:moveTo>
                    <a:pt x="3865371" y="0"/>
                  </a:moveTo>
                  <a:lnTo>
                    <a:pt x="3865371" y="3020250"/>
                  </a:lnTo>
                </a:path>
              </a:pathLst>
            </a:custGeom>
            <a:ln w="19050">
              <a:solidFill>
                <a:srgbClr val="000000"/>
              </a:solidFill>
              <a:prstDash val="sysDash"/>
            </a:ln>
          </p:spPr>
          <p:txBody>
            <a:bodyPr wrap="square" lIns="0" tIns="0" rIns="0" bIns="0" rtlCol="0"/>
            <a:lstStyle/>
            <a:p>
              <a:endParaRPr/>
            </a:p>
          </p:txBody>
        </p:sp>
      </p:grpSp>
      <p:sp>
        <p:nvSpPr>
          <p:cNvPr id="44" name="object 32">
            <a:extLst>
              <a:ext uri="{FF2B5EF4-FFF2-40B4-BE49-F238E27FC236}">
                <a16:creationId xmlns:a16="http://schemas.microsoft.com/office/drawing/2014/main" id="{23C78C57-9FD1-5D37-536D-5274D71D04A1}"/>
              </a:ext>
            </a:extLst>
          </p:cNvPr>
          <p:cNvSpPr txBox="1"/>
          <p:nvPr/>
        </p:nvSpPr>
        <p:spPr>
          <a:xfrm>
            <a:off x="1602105" y="4209541"/>
            <a:ext cx="1900555" cy="1946910"/>
          </a:xfrm>
          <a:prstGeom prst="rect">
            <a:avLst/>
          </a:prstGeom>
        </p:spPr>
        <p:txBody>
          <a:bodyPr vert="horz" wrap="square" lIns="0" tIns="12700" rIns="0" bIns="0" rtlCol="0">
            <a:normAutofit/>
          </a:bodyPr>
          <a:lstStyle/>
          <a:p>
            <a:pPr marL="299085" indent="-286385">
              <a:lnSpc>
                <a:spcPct val="100000"/>
              </a:lnSpc>
              <a:spcBef>
                <a:spcPts val="100"/>
              </a:spcBef>
              <a:buFont typeface="Arial MT"/>
              <a:buChar char="•"/>
              <a:tabLst>
                <a:tab pos="299085" algn="l"/>
              </a:tabLst>
            </a:pPr>
            <a:r>
              <a:rPr sz="1100" dirty="0">
                <a:solidFill/>
                <a:latin typeface="Raleway"/>
                <a:cs typeface="Calibri Light"/>
              </a:rPr>
              <a:t>$45M</a:t>
            </a:r>
            <a:r>
              <a:rPr sz="1100" spc="-25" dirty="0">
                <a:solidFill/>
                <a:latin typeface="Raleway"/>
                <a:cs typeface="Calibri Light"/>
              </a:rPr>
              <a:t> </a:t>
            </a:r>
            <a:r>
              <a:rPr sz="1100" dirty="0">
                <a:solidFill/>
                <a:latin typeface="Raleway"/>
                <a:cs typeface="Calibri Light"/>
              </a:rPr>
              <a:t>GCC</a:t>
            </a:r>
            <a:r>
              <a:rPr sz="1100" spc="-40" dirty="0">
                <a:solidFill/>
                <a:latin typeface="Raleway"/>
                <a:cs typeface="Calibri Light"/>
              </a:rPr>
              <a:t> </a:t>
            </a:r>
            <a:r>
              <a:rPr sz="1100" spc="-10" dirty="0">
                <a:solidFill/>
                <a:latin typeface="Raleway"/>
                <a:cs typeface="Calibri Light"/>
              </a:rPr>
              <a:t>setup</a:t>
            </a:r>
            <a:endParaRPr sz="1400">
              <a:latin typeface="Calibri Light"/>
              <a:cs typeface="Calibri Light"/>
            </a:endParaRPr>
          </a:p>
          <a:p>
            <a:pPr marL="299085">
              <a:lnSpc>
                <a:spcPct val="100000"/>
              </a:lnSpc>
            </a:pPr>
            <a:r>
              <a:rPr sz="1100" spc="-10" dirty="0">
                <a:solidFill/>
                <a:latin typeface="Raleway"/>
                <a:cs typeface="Calibri Light"/>
              </a:rPr>
              <a:t>investment</a:t>
            </a:r>
            <a:endParaRPr sz="1400">
              <a:latin typeface="Calibri Light"/>
              <a:cs typeface="Calibri Light"/>
            </a:endParaRPr>
          </a:p>
          <a:p>
            <a:pPr marL="299085" marR="5080" indent="-287020">
              <a:lnSpc>
                <a:spcPct val="100000"/>
              </a:lnSpc>
              <a:spcBef>
                <a:spcPts val="5"/>
              </a:spcBef>
              <a:buFont typeface="Arial MT"/>
              <a:buChar char="•"/>
              <a:tabLst>
                <a:tab pos="299085" algn="l"/>
              </a:tabLst>
            </a:pPr>
            <a:r>
              <a:rPr sz="1100" dirty="0">
                <a:solidFill/>
                <a:latin typeface="Raleway"/>
                <a:cs typeface="Calibri Light"/>
              </a:rPr>
              <a:t>Mysuru</a:t>
            </a:r>
            <a:r>
              <a:rPr sz="1100" spc="-50" dirty="0">
                <a:solidFill/>
                <a:latin typeface="Raleway"/>
                <a:cs typeface="Calibri Light"/>
              </a:rPr>
              <a:t> </a:t>
            </a:r>
            <a:r>
              <a:rPr sz="1100" dirty="0">
                <a:solidFill/>
                <a:latin typeface="Raleway"/>
                <a:cs typeface="Calibri Light"/>
              </a:rPr>
              <a:t>hub</a:t>
            </a:r>
            <a:r>
              <a:rPr sz="1100" spc="-35" dirty="0">
                <a:solidFill/>
                <a:latin typeface="Raleway"/>
                <a:cs typeface="Calibri Light"/>
              </a:rPr>
              <a:t> </a:t>
            </a:r>
            <a:r>
              <a:rPr sz="1100" dirty="0">
                <a:solidFill/>
                <a:latin typeface="Raleway"/>
                <a:cs typeface="Calibri Light"/>
              </a:rPr>
              <a:t>(40%</a:t>
            </a:r>
            <a:r>
              <a:rPr sz="1100" spc="-10" dirty="0">
                <a:solidFill/>
                <a:latin typeface="Raleway"/>
                <a:cs typeface="Calibri Light"/>
              </a:rPr>
              <a:t> </a:t>
            </a:r>
            <a:r>
              <a:rPr sz="1100" spc="-20" dirty="0">
                <a:solidFill/>
                <a:latin typeface="Raleway"/>
                <a:cs typeface="Calibri Light"/>
              </a:rPr>
              <a:t>cost </a:t>
            </a:r>
            <a:r>
              <a:rPr sz="1100" spc="-10" dirty="0">
                <a:solidFill/>
                <a:latin typeface="Raleway"/>
                <a:cs typeface="Calibri Light"/>
              </a:rPr>
              <a:t>advantage)</a:t>
            </a:r>
            <a:endParaRPr sz="1400">
              <a:latin typeface="Calibri Light"/>
              <a:cs typeface="Calibri Light"/>
            </a:endParaRPr>
          </a:p>
          <a:p>
            <a:pPr marL="299085" marR="45720" indent="-287020">
              <a:lnSpc>
                <a:spcPct val="100000"/>
              </a:lnSpc>
              <a:buFont typeface="Arial MT"/>
              <a:buChar char="•"/>
              <a:tabLst>
                <a:tab pos="299085" algn="l"/>
              </a:tabLst>
            </a:pPr>
            <a:r>
              <a:rPr sz="1100" dirty="0">
                <a:solidFill/>
                <a:latin typeface="Raleway"/>
                <a:cs typeface="Calibri Light"/>
              </a:rPr>
              <a:t>150</a:t>
            </a:r>
            <a:r>
              <a:rPr sz="1100" spc="-20" dirty="0">
                <a:solidFill/>
                <a:latin typeface="Raleway"/>
                <a:cs typeface="Calibri Light"/>
              </a:rPr>
              <a:t> </a:t>
            </a:r>
            <a:r>
              <a:rPr sz="1100" dirty="0">
                <a:solidFill/>
                <a:latin typeface="Raleway"/>
                <a:cs typeface="Calibri Light"/>
              </a:rPr>
              <a:t>AI/ML</a:t>
            </a:r>
            <a:r>
              <a:rPr sz="1100" spc="-20" dirty="0">
                <a:solidFill/>
                <a:latin typeface="Raleway"/>
                <a:cs typeface="Calibri Light"/>
              </a:rPr>
              <a:t> </a:t>
            </a:r>
            <a:r>
              <a:rPr sz="1100" dirty="0">
                <a:solidFill/>
                <a:latin typeface="Raleway"/>
                <a:cs typeface="Calibri Light"/>
              </a:rPr>
              <a:t>&amp;</a:t>
            </a:r>
            <a:r>
              <a:rPr sz="1100" spc="-35" dirty="0">
                <a:solidFill/>
                <a:latin typeface="Raleway"/>
                <a:cs typeface="Calibri Light"/>
              </a:rPr>
              <a:t> </a:t>
            </a:r>
            <a:r>
              <a:rPr sz="1100" spc="-10" dirty="0">
                <a:solidFill/>
                <a:latin typeface="Raleway"/>
                <a:cs typeface="Calibri Light"/>
              </a:rPr>
              <a:t>Gaming specialists</a:t>
            </a:r>
            <a:r>
              <a:rPr sz="1100" spc="25" dirty="0">
                <a:solidFill/>
                <a:latin typeface="Raleway"/>
                <a:cs typeface="Calibri Light"/>
              </a:rPr>
              <a:t> </a:t>
            </a:r>
            <a:r>
              <a:rPr sz="1100" spc="-10" dirty="0">
                <a:solidFill/>
                <a:latin typeface="Raleway"/>
                <a:cs typeface="Calibri Light"/>
              </a:rPr>
              <a:t>onboarded</a:t>
            </a:r>
            <a:endParaRPr sz="1400">
              <a:latin typeface="Calibri Light"/>
              <a:cs typeface="Calibri Light"/>
            </a:endParaRPr>
          </a:p>
          <a:p>
            <a:pPr marL="299085" marR="220979" indent="-287020">
              <a:lnSpc>
                <a:spcPct val="100000"/>
              </a:lnSpc>
              <a:buFont typeface="Arial MT"/>
              <a:buChar char="•"/>
              <a:tabLst>
                <a:tab pos="299085" algn="l"/>
              </a:tabLst>
            </a:pPr>
            <a:r>
              <a:rPr sz="1100" dirty="0">
                <a:solidFill/>
                <a:latin typeface="Raleway"/>
                <a:cs typeface="Calibri Light"/>
              </a:rPr>
              <a:t>KPIs:</a:t>
            </a:r>
            <a:r>
              <a:rPr sz="1100" spc="-40" dirty="0">
                <a:solidFill/>
                <a:latin typeface="Raleway"/>
                <a:cs typeface="Calibri Light"/>
              </a:rPr>
              <a:t> </a:t>
            </a:r>
            <a:r>
              <a:rPr sz="1100" dirty="0">
                <a:solidFill/>
                <a:latin typeface="Raleway"/>
                <a:cs typeface="Calibri Light"/>
              </a:rPr>
              <a:t>15%</a:t>
            </a:r>
            <a:r>
              <a:rPr sz="1100" spc="-10" dirty="0">
                <a:solidFill/>
                <a:latin typeface="Raleway"/>
                <a:cs typeface="Calibri Light"/>
              </a:rPr>
              <a:t> </a:t>
            </a:r>
            <a:r>
              <a:rPr sz="1100" spc="-20" dirty="0">
                <a:solidFill/>
                <a:latin typeface="Raleway"/>
                <a:cs typeface="Calibri Light"/>
              </a:rPr>
              <a:t>cost </a:t>
            </a:r>
            <a:r>
              <a:rPr sz="1100" spc="-10" dirty="0">
                <a:solidFill/>
                <a:latin typeface="Raleway"/>
                <a:cs typeface="Calibri Light"/>
              </a:rPr>
              <a:t>optimization,</a:t>
            </a:r>
            <a:r>
              <a:rPr sz="1100" spc="-5" dirty="0">
                <a:solidFill/>
                <a:latin typeface="Raleway"/>
                <a:cs typeface="Calibri Light"/>
              </a:rPr>
              <a:t> </a:t>
            </a:r>
            <a:r>
              <a:rPr sz="1100" spc="-20" dirty="0">
                <a:solidFill/>
                <a:latin typeface="Raleway"/>
                <a:cs typeface="Calibri Light"/>
              </a:rPr>
              <a:t>100% </a:t>
            </a:r>
            <a:r>
              <a:rPr sz="1100" spc="-10" dirty="0">
                <a:solidFill/>
                <a:latin typeface="Raleway"/>
                <a:cs typeface="Calibri Light"/>
              </a:rPr>
              <a:t>compliance</a:t>
            </a:r>
            <a:endParaRPr sz="1400">
              <a:latin typeface="Calibri Light"/>
              <a:cs typeface="Calibri Light"/>
            </a:endParaRPr>
          </a:p>
        </p:txBody>
      </p:sp>
      <p:sp>
        <p:nvSpPr>
          <p:cNvPr id="45" name="object 33">
            <a:extLst>
              <a:ext uri="{FF2B5EF4-FFF2-40B4-BE49-F238E27FC236}">
                <a16:creationId xmlns:a16="http://schemas.microsoft.com/office/drawing/2014/main" id="{A88D043E-AEC3-1DEA-AACB-474C492D442D}"/>
              </a:ext>
            </a:extLst>
          </p:cNvPr>
          <p:cNvSpPr txBox="1"/>
          <p:nvPr/>
        </p:nvSpPr>
        <p:spPr>
          <a:xfrm>
            <a:off x="3764407" y="4146422"/>
            <a:ext cx="3498850" cy="1520190"/>
          </a:xfrm>
          <a:prstGeom prst="rect">
            <a:avLst/>
          </a:prstGeom>
        </p:spPr>
        <p:txBody>
          <a:bodyPr vert="horz" wrap="square" lIns="0" tIns="12700" rIns="0" bIns="0" rtlCol="0">
            <a:normAutofit/>
          </a:bodyPr>
          <a:lstStyle/>
          <a:p>
            <a:pPr marL="299085" indent="-286385">
              <a:lnSpc>
                <a:spcPct val="100000"/>
              </a:lnSpc>
              <a:spcBef>
                <a:spcPts val="100"/>
              </a:spcBef>
              <a:buFont typeface="Arial MT"/>
              <a:buChar char="•"/>
              <a:tabLst>
                <a:tab pos="299085" algn="l"/>
              </a:tabLst>
            </a:pPr>
            <a:r>
              <a:rPr sz="1100" spc="-10" dirty="0">
                <a:solidFill/>
                <a:latin typeface="Raleway"/>
                <a:cs typeface="Calibri Light"/>
              </a:rPr>
              <a:t>Transition</a:t>
            </a:r>
            <a:r>
              <a:rPr sz="1100" spc="-45" dirty="0">
                <a:solidFill/>
                <a:latin typeface="Raleway"/>
                <a:cs typeface="Calibri Light"/>
              </a:rPr>
              <a:t> </a:t>
            </a:r>
            <a:r>
              <a:rPr sz="1100" dirty="0">
                <a:solidFill/>
                <a:latin typeface="Raleway"/>
                <a:cs typeface="Calibri Light"/>
              </a:rPr>
              <a:t>to</a:t>
            </a:r>
            <a:r>
              <a:rPr sz="1100" spc="-45" dirty="0">
                <a:solidFill/>
                <a:latin typeface="Raleway"/>
                <a:cs typeface="Calibri Light"/>
              </a:rPr>
              <a:t> </a:t>
            </a:r>
            <a:r>
              <a:rPr sz="1100" dirty="0">
                <a:solidFill/>
                <a:latin typeface="Raleway"/>
                <a:cs typeface="Calibri Light"/>
              </a:rPr>
              <a:t>CaaS</a:t>
            </a:r>
            <a:r>
              <a:rPr sz="1100" spc="-40" dirty="0">
                <a:solidFill/>
                <a:latin typeface="Raleway"/>
                <a:cs typeface="Calibri Light"/>
              </a:rPr>
              <a:t> </a:t>
            </a:r>
            <a:r>
              <a:rPr sz="1100" dirty="0">
                <a:solidFill/>
                <a:latin typeface="Raleway"/>
                <a:cs typeface="Calibri Light"/>
              </a:rPr>
              <a:t>with</a:t>
            </a:r>
            <a:r>
              <a:rPr sz="1100" spc="-30" dirty="0">
                <a:solidFill/>
                <a:latin typeface="Raleway"/>
                <a:cs typeface="Calibri Light"/>
              </a:rPr>
              <a:t> </a:t>
            </a:r>
            <a:r>
              <a:rPr sz="1100" dirty="0">
                <a:solidFill/>
                <a:latin typeface="Raleway"/>
                <a:cs typeface="Calibri Light"/>
              </a:rPr>
              <a:t>flexible</a:t>
            </a:r>
            <a:r>
              <a:rPr sz="1100" spc="-50" dirty="0">
                <a:solidFill/>
                <a:latin typeface="Raleway"/>
                <a:cs typeface="Calibri Light"/>
              </a:rPr>
              <a:t> </a:t>
            </a:r>
            <a:r>
              <a:rPr sz="1100" spc="-10" dirty="0">
                <a:solidFill/>
                <a:latin typeface="Raleway"/>
                <a:cs typeface="Calibri Light"/>
              </a:rPr>
              <a:t>scaling</a:t>
            </a:r>
            <a:endParaRPr sz="1400" dirty="0">
              <a:latin typeface="Calibri Light"/>
              <a:cs typeface="Calibri Light"/>
            </a:endParaRPr>
          </a:p>
          <a:p>
            <a:pPr marL="299085" indent="-286385">
              <a:lnSpc>
                <a:spcPct val="100000"/>
              </a:lnSpc>
              <a:buFont typeface="Arial MT"/>
              <a:buChar char="•"/>
              <a:tabLst>
                <a:tab pos="299085" algn="l"/>
              </a:tabLst>
            </a:pPr>
            <a:r>
              <a:rPr sz="1100" dirty="0">
                <a:solidFill/>
                <a:latin typeface="Raleway"/>
                <a:cs typeface="Calibri Light"/>
              </a:rPr>
              <a:t>450+</a:t>
            </a:r>
            <a:r>
              <a:rPr sz="1100" spc="-25" dirty="0">
                <a:solidFill/>
                <a:latin typeface="Raleway"/>
                <a:cs typeface="Calibri Light"/>
              </a:rPr>
              <a:t> </a:t>
            </a:r>
            <a:r>
              <a:rPr sz="1100" spc="-10" dirty="0">
                <a:solidFill/>
                <a:latin typeface="Raleway"/>
                <a:cs typeface="Calibri Light"/>
              </a:rPr>
              <a:t>engineers</a:t>
            </a:r>
            <a:r>
              <a:rPr sz="1100" spc="-50" dirty="0">
                <a:solidFill/>
                <a:latin typeface="Raleway"/>
                <a:cs typeface="Calibri Light"/>
              </a:rPr>
              <a:t> </a:t>
            </a:r>
            <a:r>
              <a:rPr sz="1100" dirty="0">
                <a:solidFill/>
                <a:latin typeface="Raleway"/>
                <a:cs typeface="Calibri Light"/>
              </a:rPr>
              <a:t>from</a:t>
            </a:r>
            <a:r>
              <a:rPr sz="1100" spc="-40" dirty="0">
                <a:solidFill/>
                <a:latin typeface="Raleway"/>
                <a:cs typeface="Calibri Light"/>
              </a:rPr>
              <a:t> </a:t>
            </a:r>
            <a:r>
              <a:rPr sz="1100" dirty="0">
                <a:solidFill/>
                <a:latin typeface="Raleway"/>
                <a:cs typeface="Calibri Light"/>
              </a:rPr>
              <a:t>Tier-2</a:t>
            </a:r>
            <a:r>
              <a:rPr sz="1100" spc="-30" dirty="0">
                <a:solidFill/>
                <a:latin typeface="Raleway"/>
                <a:cs typeface="Calibri Light"/>
              </a:rPr>
              <a:t> </a:t>
            </a:r>
            <a:r>
              <a:rPr sz="1100" dirty="0">
                <a:solidFill/>
                <a:latin typeface="Raleway"/>
                <a:cs typeface="Calibri Light"/>
              </a:rPr>
              <a:t>talent</a:t>
            </a:r>
            <a:r>
              <a:rPr sz="1100" spc="-25" dirty="0">
                <a:solidFill/>
                <a:latin typeface="Raleway"/>
                <a:cs typeface="Calibri Light"/>
              </a:rPr>
              <a:t> </a:t>
            </a:r>
            <a:r>
              <a:rPr sz="1100" spc="-10" dirty="0">
                <a:solidFill/>
                <a:latin typeface="Raleway"/>
                <a:cs typeface="Calibri Light"/>
              </a:rPr>
              <a:t>ecosystem</a:t>
            </a:r>
            <a:endParaRPr sz="1400" dirty="0">
              <a:latin typeface="Calibri Light"/>
              <a:cs typeface="Calibri Light"/>
            </a:endParaRPr>
          </a:p>
          <a:p>
            <a:pPr marL="299085" marR="456565" indent="-287020">
              <a:lnSpc>
                <a:spcPct val="100000"/>
              </a:lnSpc>
              <a:buFont typeface="Arial MT"/>
              <a:buChar char="•"/>
              <a:tabLst>
                <a:tab pos="299085" algn="l"/>
              </a:tabLst>
            </a:pPr>
            <a:r>
              <a:rPr sz="1100" dirty="0">
                <a:solidFill/>
                <a:latin typeface="Raleway"/>
                <a:cs typeface="Calibri Light"/>
              </a:rPr>
              <a:t>AI-driven</a:t>
            </a:r>
            <a:r>
              <a:rPr sz="1100" spc="-40" dirty="0">
                <a:solidFill/>
                <a:latin typeface="Raleway"/>
                <a:cs typeface="Calibri Light"/>
              </a:rPr>
              <a:t> </a:t>
            </a:r>
            <a:r>
              <a:rPr sz="1100" spc="-10" dirty="0">
                <a:solidFill/>
                <a:latin typeface="Raleway"/>
                <a:cs typeface="Calibri Light"/>
              </a:rPr>
              <a:t>improvements:</a:t>
            </a:r>
            <a:r>
              <a:rPr sz="1100" spc="-55" dirty="0">
                <a:solidFill/>
                <a:latin typeface="Raleway"/>
                <a:cs typeface="Calibri Light"/>
              </a:rPr>
              <a:t> </a:t>
            </a:r>
            <a:r>
              <a:rPr sz="1100" dirty="0">
                <a:solidFill/>
                <a:latin typeface="Raleway"/>
                <a:cs typeface="Calibri Light"/>
              </a:rPr>
              <a:t>+40%</a:t>
            </a:r>
            <a:r>
              <a:rPr sz="1100" spc="10" dirty="0">
                <a:solidFill/>
                <a:latin typeface="Raleway"/>
                <a:cs typeface="Calibri Light"/>
              </a:rPr>
              <a:t> </a:t>
            </a:r>
            <a:r>
              <a:rPr sz="1100" spc="-20" dirty="0">
                <a:solidFill/>
                <a:latin typeface="Raleway"/>
                <a:cs typeface="Calibri Light"/>
              </a:rPr>
              <a:t>voice </a:t>
            </a:r>
            <a:r>
              <a:rPr sz="1100" spc="-10" dirty="0">
                <a:solidFill/>
                <a:latin typeface="Raleway"/>
                <a:cs typeface="Calibri Light"/>
              </a:rPr>
              <a:t>recognition, </a:t>
            </a:r>
            <a:r>
              <a:rPr sz="1100" dirty="0">
                <a:solidFill/>
                <a:latin typeface="Raleway"/>
                <a:cs typeface="Calibri Light"/>
              </a:rPr>
              <a:t>+25%</a:t>
            </a:r>
            <a:r>
              <a:rPr sz="1100" spc="15" dirty="0">
                <a:solidFill/>
                <a:latin typeface="Raleway"/>
                <a:cs typeface="Calibri Light"/>
              </a:rPr>
              <a:t> </a:t>
            </a:r>
            <a:r>
              <a:rPr sz="1100" spc="-10" dirty="0">
                <a:solidFill/>
                <a:latin typeface="Raleway"/>
                <a:cs typeface="Calibri Light"/>
              </a:rPr>
              <a:t>content</a:t>
            </a:r>
            <a:r>
              <a:rPr sz="1100" spc="-20" dirty="0">
                <a:solidFill/>
                <a:latin typeface="Raleway"/>
                <a:cs typeface="Calibri Light"/>
              </a:rPr>
              <a:t> </a:t>
            </a:r>
            <a:r>
              <a:rPr sz="1100" dirty="0">
                <a:solidFill/>
                <a:latin typeface="Raleway"/>
                <a:cs typeface="Calibri Light"/>
              </a:rPr>
              <a:t>speed,</a:t>
            </a:r>
            <a:r>
              <a:rPr sz="1100" spc="-20" dirty="0">
                <a:solidFill/>
                <a:latin typeface="Raleway"/>
                <a:cs typeface="Calibri Light"/>
              </a:rPr>
              <a:t> </a:t>
            </a:r>
            <a:r>
              <a:rPr sz="1100" spc="-25" dirty="0">
                <a:solidFill/>
                <a:latin typeface="Raleway"/>
                <a:cs typeface="Calibri Light"/>
              </a:rPr>
              <a:t>65% </a:t>
            </a:r>
            <a:r>
              <a:rPr sz="1100" spc="-10" dirty="0">
                <a:solidFill/>
                <a:latin typeface="Raleway"/>
                <a:cs typeface="Calibri Light"/>
              </a:rPr>
              <a:t>automation</a:t>
            </a:r>
            <a:endParaRPr sz="1400" dirty="0">
              <a:latin typeface="Calibri Light"/>
              <a:cs typeface="Calibri Light"/>
            </a:endParaRPr>
          </a:p>
          <a:p>
            <a:pPr marL="299085" marR="355600" indent="-287020">
              <a:lnSpc>
                <a:spcPct val="100000"/>
              </a:lnSpc>
              <a:spcBef>
                <a:spcPts val="5"/>
              </a:spcBef>
              <a:buFont typeface="Arial MT"/>
              <a:buChar char="•"/>
              <a:tabLst>
                <a:tab pos="299085" algn="l"/>
              </a:tabLst>
            </a:pPr>
            <a:r>
              <a:rPr sz="1100" spc="-10" dirty="0">
                <a:solidFill/>
                <a:latin typeface="Raleway"/>
                <a:cs typeface="Calibri Light"/>
              </a:rPr>
              <a:t>Predictive</a:t>
            </a:r>
            <a:r>
              <a:rPr sz="1100" spc="5" dirty="0">
                <a:solidFill/>
                <a:latin typeface="Raleway"/>
                <a:cs typeface="Calibri Light"/>
              </a:rPr>
              <a:t> </a:t>
            </a:r>
            <a:r>
              <a:rPr sz="1100" spc="-10" dirty="0">
                <a:solidFill/>
                <a:latin typeface="Raleway"/>
                <a:cs typeface="Calibri Light"/>
              </a:rPr>
              <a:t>maintenance:</a:t>
            </a:r>
            <a:r>
              <a:rPr sz="1100" spc="-45" dirty="0">
                <a:solidFill/>
                <a:latin typeface="Raleway"/>
                <a:cs typeface="Calibri Light"/>
              </a:rPr>
              <a:t> </a:t>
            </a:r>
            <a:r>
              <a:rPr sz="1100" dirty="0">
                <a:solidFill/>
                <a:latin typeface="Raleway"/>
                <a:cs typeface="Calibri Light"/>
              </a:rPr>
              <a:t>35%</a:t>
            </a:r>
            <a:r>
              <a:rPr sz="1100" spc="10" dirty="0">
                <a:solidFill/>
                <a:latin typeface="Raleway"/>
                <a:cs typeface="Calibri Light"/>
              </a:rPr>
              <a:t> </a:t>
            </a:r>
            <a:r>
              <a:rPr sz="1100" spc="-10" dirty="0">
                <a:solidFill/>
                <a:latin typeface="Raleway"/>
                <a:cs typeface="Calibri Light"/>
              </a:rPr>
              <a:t>downtime reduction</a:t>
            </a:r>
            <a:endParaRPr sz="1400" dirty="0">
              <a:latin typeface="Calibri Light"/>
              <a:cs typeface="Calibri Light"/>
            </a:endParaRPr>
          </a:p>
        </p:txBody>
      </p:sp>
      <p:sp>
        <p:nvSpPr>
          <p:cNvPr id="46" name="object 34">
            <a:extLst>
              <a:ext uri="{FF2B5EF4-FFF2-40B4-BE49-F238E27FC236}">
                <a16:creationId xmlns:a16="http://schemas.microsoft.com/office/drawing/2014/main" id="{7EE6C259-7A02-89F2-5D28-5D6C4F68B5C1}"/>
              </a:ext>
            </a:extLst>
          </p:cNvPr>
          <p:cNvSpPr txBox="1"/>
          <p:nvPr/>
        </p:nvSpPr>
        <p:spPr>
          <a:xfrm>
            <a:off x="7672831" y="4206494"/>
            <a:ext cx="4118610" cy="1306830"/>
          </a:xfrm>
          <a:prstGeom prst="rect">
            <a:avLst/>
          </a:prstGeom>
        </p:spPr>
        <p:txBody>
          <a:bodyPr vert="horz" wrap="square" lIns="0" tIns="12700" rIns="0" bIns="0" rtlCol="0">
            <a:normAutofit/>
          </a:bodyPr>
          <a:lstStyle/>
          <a:p>
            <a:pPr marL="299085" indent="-286385">
              <a:lnSpc>
                <a:spcPct val="100000"/>
              </a:lnSpc>
              <a:spcBef>
                <a:spcPts val="100"/>
              </a:spcBef>
              <a:buFont typeface="Arial MT"/>
              <a:buChar char="•"/>
              <a:tabLst>
                <a:tab pos="299085" algn="l"/>
              </a:tabLst>
            </a:pPr>
            <a:r>
              <a:rPr lang="en-IN" sz="1100" dirty="0">
                <a:solidFill/>
                <a:latin typeface="Raleway"/>
                <a:cs typeface="Calibri Light"/>
              </a:rPr>
              <a:t>$95M total investment</a:t>
            </a:r>
          </a:p>
          <a:p>
            <a:pPr marL="299085" indent="-286385">
              <a:lnSpc>
                <a:spcPct val="100000"/>
              </a:lnSpc>
              <a:spcBef>
                <a:spcPts val="100"/>
              </a:spcBef>
              <a:buFont typeface="Arial MT"/>
              <a:buChar char="•"/>
              <a:tabLst>
                <a:tab pos="299085" algn="l"/>
              </a:tabLst>
            </a:pPr>
            <a:r>
              <a:rPr lang="en-IN" sz="1100" dirty="0">
                <a:solidFill/>
                <a:latin typeface="Raleway"/>
                <a:cs typeface="Calibri Light"/>
              </a:rPr>
              <a:t>300+ professionals across 3 hubs (Bangalore, Mysuru, Chennai)</a:t>
            </a:r>
          </a:p>
          <a:p>
            <a:pPr marL="299085" indent="-286385">
              <a:lnSpc>
                <a:spcPct val="100000"/>
              </a:lnSpc>
              <a:spcBef>
                <a:spcPts val="100"/>
              </a:spcBef>
              <a:buFont typeface="Arial MT"/>
              <a:buChar char="•"/>
              <a:tabLst>
                <a:tab pos="299085" algn="l"/>
              </a:tabLst>
            </a:pPr>
            <a:r>
              <a:rPr lang="en-IN" sz="1100" dirty="0">
                <a:solidFill/>
                <a:latin typeface="Raleway"/>
                <a:cs typeface="Calibri Light"/>
              </a:rPr>
              <a:t>Value creation: $420M revenue contribution, 85%</a:t>
            </a:r>
          </a:p>
          <a:p>
            <a:pPr marL="299085" indent="-286385">
              <a:lnSpc>
                <a:spcPct val="100000"/>
              </a:lnSpc>
              <a:spcBef>
                <a:spcPts val="100"/>
              </a:spcBef>
              <a:buFont typeface="Arial MT"/>
              <a:buChar char="•"/>
              <a:tabLst>
                <a:tab pos="299085" algn="l"/>
              </a:tabLst>
            </a:pPr>
            <a:r>
              <a:rPr lang="en-IN" sz="1100" dirty="0">
                <a:solidFill/>
                <a:latin typeface="Raleway"/>
                <a:cs typeface="Calibri Light"/>
              </a:rPr>
              <a:t>efficiency, 42% automation, 20% AHT reduction</a:t>
            </a:r>
          </a:p>
          <a:p>
            <a:pPr marL="299085" indent="-286385">
              <a:lnSpc>
                <a:spcPct val="100000"/>
              </a:lnSpc>
              <a:spcBef>
                <a:spcPts val="100"/>
              </a:spcBef>
              <a:buFont typeface="Arial MT"/>
              <a:buChar char="•"/>
              <a:tabLst>
                <a:tab pos="299085" algn="l"/>
              </a:tabLst>
            </a:pPr>
            <a:r>
              <a:rPr lang="en-IN" sz="1100" dirty="0">
                <a:solidFill/>
                <a:latin typeface="Raleway"/>
                <a:cs typeface="Calibri Light"/>
              </a:rPr>
              <a:t>ESG outcomes: 25% carbon reduction achieved</a:t>
            </a:r>
          </a:p>
        </p:txBody>
      </p:sp>
      <p:sp>
        <p:nvSpPr>
          <p:cNvPr id="47" name="object 35">
            <a:extLst>
              <a:ext uri="{FF2B5EF4-FFF2-40B4-BE49-F238E27FC236}">
                <a16:creationId xmlns:a16="http://schemas.microsoft.com/office/drawing/2014/main" id="{75A08FE3-3911-5C26-7B22-A4E3D3A37676}"/>
              </a:ext>
            </a:extLst>
          </p:cNvPr>
          <p:cNvSpPr txBox="1"/>
          <p:nvPr/>
        </p:nvSpPr>
        <p:spPr>
          <a:xfrm>
            <a:off x="1454785" y="1627351"/>
            <a:ext cx="2701925" cy="455117"/>
          </a:xfrm>
          <a:prstGeom prst="rect">
            <a:avLst/>
          </a:prstGeom>
          <a:solidFill>
            <a:srgbClr val="2A9D8F"/>
          </a:solidFill>
          <a:ln>
            <a:noFill/>
          </a:ln>
        </p:spPr>
        <p:txBody>
          <a:bodyPr vert="horz" wrap="square" lIns="0" tIns="53340" rIns="0" bIns="0" rtlCol="0">
            <a:normAutofit/>
          </a:bodyPr>
          <a:lstStyle/>
          <a:p>
            <a:pPr marL="91440" marR="346075">
              <a:lnSpc>
                <a:spcPct val="100000"/>
              </a:lnSpc>
              <a:spcBef>
                <a:spcPts val="420"/>
              </a:spcBef>
            </a:pPr>
            <a:r>
              <a:rPr sz="1100" dirty="0">
                <a:solidFill/>
                <a:latin typeface="Raleway"/>
                <a:cs typeface="Calibri Light"/>
              </a:rPr>
              <a:t>150</a:t>
            </a:r>
            <a:r>
              <a:rPr sz="1100" spc="-25" dirty="0">
                <a:solidFill/>
                <a:latin typeface="Raleway"/>
                <a:cs typeface="Calibri Light"/>
              </a:rPr>
              <a:t> </a:t>
            </a:r>
            <a:r>
              <a:rPr sz="1100" dirty="0">
                <a:solidFill/>
                <a:latin typeface="Raleway"/>
                <a:cs typeface="Calibri Light"/>
              </a:rPr>
              <a:t>AI/ML</a:t>
            </a:r>
            <a:r>
              <a:rPr sz="1100" spc="-20" dirty="0">
                <a:solidFill/>
                <a:latin typeface="Raleway"/>
                <a:cs typeface="Calibri Light"/>
              </a:rPr>
              <a:t> </a:t>
            </a:r>
            <a:r>
              <a:rPr sz="1100" dirty="0">
                <a:solidFill/>
                <a:latin typeface="Raleway"/>
                <a:cs typeface="Calibri Light"/>
              </a:rPr>
              <a:t>&amp;</a:t>
            </a:r>
            <a:r>
              <a:rPr sz="1100" spc="-35" dirty="0">
                <a:solidFill/>
                <a:latin typeface="Raleway"/>
                <a:cs typeface="Calibri Light"/>
              </a:rPr>
              <a:t> </a:t>
            </a:r>
            <a:r>
              <a:rPr sz="1100" dirty="0">
                <a:solidFill/>
                <a:latin typeface="Raleway"/>
                <a:cs typeface="Calibri Light"/>
              </a:rPr>
              <a:t>Gaming</a:t>
            </a:r>
            <a:r>
              <a:rPr sz="1100" spc="-35" dirty="0">
                <a:solidFill/>
                <a:latin typeface="Raleway"/>
                <a:cs typeface="Calibri Light"/>
              </a:rPr>
              <a:t> </a:t>
            </a:r>
            <a:r>
              <a:rPr sz="1100" spc="-10" dirty="0">
                <a:solidFill/>
                <a:latin typeface="Raleway"/>
                <a:cs typeface="Calibri Light"/>
              </a:rPr>
              <a:t>specialists onboarded</a:t>
            </a:r>
            <a:endParaRPr sz="1400">
              <a:latin typeface="Calibri Light"/>
              <a:cs typeface="Calibri Light"/>
            </a:endParaRPr>
          </a:p>
        </p:txBody>
      </p:sp>
      <p:sp>
        <p:nvSpPr>
          <p:cNvPr id="48" name="object 36">
            <a:extLst>
              <a:ext uri="{FF2B5EF4-FFF2-40B4-BE49-F238E27FC236}">
                <a16:creationId xmlns:a16="http://schemas.microsoft.com/office/drawing/2014/main" id="{DF11AC23-2697-1C19-ECC0-3F8090A08973}"/>
              </a:ext>
            </a:extLst>
          </p:cNvPr>
          <p:cNvSpPr txBox="1"/>
          <p:nvPr/>
        </p:nvSpPr>
        <p:spPr>
          <a:xfrm>
            <a:off x="5167757" y="1528926"/>
            <a:ext cx="2701925" cy="455117"/>
          </a:xfrm>
          <a:prstGeom prst="rect">
            <a:avLst/>
          </a:prstGeom>
          <a:solidFill>
            <a:srgbClr val="2A9D8F"/>
          </a:solidFill>
          <a:ln>
            <a:noFill/>
          </a:ln>
        </p:spPr>
        <p:txBody>
          <a:bodyPr vert="horz" wrap="square" lIns="0" tIns="53340" rIns="0" bIns="0" rtlCol="0">
            <a:normAutofit/>
          </a:bodyPr>
          <a:lstStyle/>
          <a:p>
            <a:pPr marL="92075" marR="204470">
              <a:lnSpc>
                <a:spcPct val="100000"/>
              </a:lnSpc>
              <a:spcBef>
                <a:spcPts val="420"/>
              </a:spcBef>
            </a:pPr>
            <a:r>
              <a:rPr sz="1100" dirty="0">
                <a:solidFill/>
                <a:latin typeface="Raleway"/>
                <a:cs typeface="Calibri Light"/>
              </a:rPr>
              <a:t>450+</a:t>
            </a:r>
            <a:r>
              <a:rPr sz="1100" spc="-15" dirty="0">
                <a:solidFill/>
                <a:latin typeface="Raleway"/>
                <a:cs typeface="Calibri Light"/>
              </a:rPr>
              <a:t> </a:t>
            </a:r>
            <a:r>
              <a:rPr sz="1100" spc="-10" dirty="0">
                <a:solidFill/>
                <a:latin typeface="Raleway"/>
                <a:cs typeface="Calibri Light"/>
              </a:rPr>
              <a:t>engineers</a:t>
            </a:r>
            <a:r>
              <a:rPr sz="1100" spc="-45" dirty="0">
                <a:solidFill/>
                <a:latin typeface="Raleway"/>
                <a:cs typeface="Calibri Light"/>
              </a:rPr>
              <a:t> </a:t>
            </a:r>
            <a:r>
              <a:rPr sz="1100" dirty="0">
                <a:solidFill/>
                <a:latin typeface="Raleway"/>
                <a:cs typeface="Calibri Light"/>
              </a:rPr>
              <a:t>from</a:t>
            </a:r>
            <a:r>
              <a:rPr sz="1100" spc="-30" dirty="0">
                <a:solidFill/>
                <a:latin typeface="Raleway"/>
                <a:cs typeface="Calibri Light"/>
              </a:rPr>
              <a:t> </a:t>
            </a:r>
            <a:r>
              <a:rPr sz="1100" dirty="0">
                <a:solidFill/>
                <a:latin typeface="Raleway"/>
                <a:cs typeface="Calibri Light"/>
              </a:rPr>
              <a:t>Tier-2</a:t>
            </a:r>
            <a:r>
              <a:rPr sz="1100" spc="-20" dirty="0">
                <a:solidFill/>
                <a:latin typeface="Raleway"/>
                <a:cs typeface="Calibri Light"/>
              </a:rPr>
              <a:t> </a:t>
            </a:r>
            <a:r>
              <a:rPr sz="1100" spc="-10" dirty="0">
                <a:solidFill/>
                <a:latin typeface="Raleway"/>
                <a:cs typeface="Calibri Light"/>
              </a:rPr>
              <a:t>talent ecosystem</a:t>
            </a:r>
            <a:endParaRPr sz="1400">
              <a:latin typeface="Calibri Light"/>
              <a:cs typeface="Calibri Light"/>
            </a:endParaRPr>
          </a:p>
        </p:txBody>
      </p:sp>
      <p:sp>
        <p:nvSpPr>
          <p:cNvPr id="49" name="object 37">
            <a:extLst>
              <a:ext uri="{FF2B5EF4-FFF2-40B4-BE49-F238E27FC236}">
                <a16:creationId xmlns:a16="http://schemas.microsoft.com/office/drawing/2014/main" id="{C53C557F-C3B3-8559-4F52-798292610849}"/>
              </a:ext>
            </a:extLst>
          </p:cNvPr>
          <p:cNvSpPr txBox="1"/>
          <p:nvPr/>
        </p:nvSpPr>
        <p:spPr>
          <a:xfrm>
            <a:off x="8811514" y="1418055"/>
            <a:ext cx="2701925" cy="455117"/>
          </a:xfrm>
          <a:prstGeom prst="rect">
            <a:avLst/>
          </a:prstGeom>
          <a:solidFill>
            <a:srgbClr val="2A9D8F"/>
          </a:solidFill>
          <a:ln>
            <a:noFill/>
          </a:ln>
        </p:spPr>
        <p:txBody>
          <a:bodyPr vert="horz" wrap="square" lIns="0" tIns="52705" rIns="0" bIns="0" rtlCol="0">
            <a:normAutofit/>
          </a:bodyPr>
          <a:lstStyle/>
          <a:p>
            <a:pPr marL="92075" marR="339090">
              <a:lnSpc>
                <a:spcPct val="100000"/>
              </a:lnSpc>
              <a:spcBef>
                <a:spcPts val="415"/>
              </a:spcBef>
            </a:pPr>
            <a:r>
              <a:rPr sz="1100" dirty="0">
                <a:solidFill/>
                <a:latin typeface="Raleway"/>
                <a:cs typeface="Calibri Light"/>
              </a:rPr>
              <a:t>850+</a:t>
            </a:r>
            <a:r>
              <a:rPr sz="1100" spc="-20" dirty="0">
                <a:solidFill/>
                <a:latin typeface="Raleway"/>
                <a:cs typeface="Calibri Light"/>
              </a:rPr>
              <a:t> </a:t>
            </a:r>
            <a:r>
              <a:rPr sz="1100" spc="-10" dirty="0">
                <a:solidFill/>
                <a:latin typeface="Raleway"/>
                <a:cs typeface="Calibri Light"/>
              </a:rPr>
              <a:t>Professional</a:t>
            </a:r>
            <a:r>
              <a:rPr sz="1100" spc="-50" dirty="0">
                <a:solidFill/>
                <a:latin typeface="Raleway"/>
                <a:cs typeface="Calibri Light"/>
              </a:rPr>
              <a:t> </a:t>
            </a:r>
            <a:r>
              <a:rPr sz="1100" dirty="0">
                <a:solidFill/>
                <a:latin typeface="Raleway"/>
                <a:cs typeface="Calibri Light"/>
              </a:rPr>
              <a:t>across</a:t>
            </a:r>
            <a:r>
              <a:rPr sz="1100" spc="-20" dirty="0">
                <a:solidFill/>
                <a:latin typeface="Raleway"/>
                <a:cs typeface="Calibri Light"/>
              </a:rPr>
              <a:t> </a:t>
            </a:r>
            <a:r>
              <a:rPr sz="1100" dirty="0">
                <a:solidFill/>
                <a:latin typeface="Raleway"/>
                <a:cs typeface="Calibri Light"/>
              </a:rPr>
              <a:t>3</a:t>
            </a:r>
            <a:r>
              <a:rPr sz="1100" spc="-10" dirty="0">
                <a:solidFill/>
                <a:latin typeface="Raleway"/>
                <a:cs typeface="Calibri Light"/>
              </a:rPr>
              <a:t> </a:t>
            </a:r>
            <a:r>
              <a:rPr sz="1100" spc="-20" dirty="0">
                <a:solidFill/>
                <a:latin typeface="Raleway"/>
                <a:cs typeface="Calibri Light"/>
              </a:rPr>
              <a:t>hubs </a:t>
            </a:r>
            <a:r>
              <a:rPr sz="1100" spc="-10" dirty="0">
                <a:solidFill/>
                <a:latin typeface="Raleway"/>
                <a:cs typeface="Calibri Light"/>
              </a:rPr>
              <a:t>(Bangalore,</a:t>
            </a:r>
            <a:r>
              <a:rPr sz="1100" spc="-40" dirty="0">
                <a:solidFill/>
                <a:latin typeface="Raleway"/>
                <a:cs typeface="Calibri Light"/>
              </a:rPr>
              <a:t> </a:t>
            </a:r>
            <a:r>
              <a:rPr sz="1100" dirty="0">
                <a:solidFill/>
                <a:latin typeface="Raleway"/>
                <a:cs typeface="Calibri Light"/>
              </a:rPr>
              <a:t>Mysuru,</a:t>
            </a:r>
            <a:r>
              <a:rPr sz="1100" spc="-40" dirty="0">
                <a:solidFill/>
                <a:latin typeface="Raleway"/>
                <a:cs typeface="Calibri Light"/>
              </a:rPr>
              <a:t> </a:t>
            </a:r>
            <a:r>
              <a:rPr sz="1100" spc="-10" dirty="0">
                <a:solidFill/>
                <a:latin typeface="Raleway"/>
                <a:cs typeface="Calibri Light"/>
              </a:rPr>
              <a:t>Chennai)</a:t>
            </a:r>
            <a:endParaRPr sz="1400">
              <a:latin typeface="Calibri Light"/>
              <a:cs typeface="Calibri Light"/>
            </a:endParaRPr>
          </a:p>
        </p:txBody>
      </p:sp>
      <p:sp>
        <p:nvSpPr>
          <p:cNvPr id="50" name="object 38">
            <a:extLst>
              <a:ext uri="{FF2B5EF4-FFF2-40B4-BE49-F238E27FC236}">
                <a16:creationId xmlns:a16="http://schemas.microsoft.com/office/drawing/2014/main" id="{CA55D9CB-335C-7807-6104-DE2C7E4147CF}"/>
              </a:ext>
            </a:extLst>
          </p:cNvPr>
          <p:cNvSpPr/>
          <p:nvPr/>
        </p:nvSpPr>
        <p:spPr>
          <a:xfrm>
            <a:off x="1622425" y="6128486"/>
            <a:ext cx="2520315" cy="540385"/>
          </a:xfrm>
          <a:custGeom>
            <a:avLst/>
            <a:gdLst/>
            <a:ahLst/>
            <a:cxnLst/>
            <a:rect l="l" t="t" r="r" b="b"/>
            <a:pathLst>
              <a:path w="2520315" h="540384">
                <a:moveTo>
                  <a:pt x="2430017" y="0"/>
                </a:moveTo>
                <a:lnTo>
                  <a:pt x="89916" y="0"/>
                </a:lnTo>
                <a:lnTo>
                  <a:pt x="54917" y="7073"/>
                </a:lnTo>
                <a:lnTo>
                  <a:pt x="26336" y="26362"/>
                </a:lnTo>
                <a:lnTo>
                  <a:pt x="7066" y="54971"/>
                </a:lnTo>
                <a:lnTo>
                  <a:pt x="0" y="90004"/>
                </a:lnTo>
                <a:lnTo>
                  <a:pt x="0" y="449999"/>
                </a:lnTo>
                <a:lnTo>
                  <a:pt x="7066" y="485032"/>
                </a:lnTo>
                <a:lnTo>
                  <a:pt x="26336" y="513641"/>
                </a:lnTo>
                <a:lnTo>
                  <a:pt x="54917" y="532930"/>
                </a:lnTo>
                <a:lnTo>
                  <a:pt x="89916" y="540004"/>
                </a:lnTo>
                <a:lnTo>
                  <a:pt x="2430017" y="540004"/>
                </a:lnTo>
                <a:lnTo>
                  <a:pt x="2465016" y="532930"/>
                </a:lnTo>
                <a:lnTo>
                  <a:pt x="2493597" y="513641"/>
                </a:lnTo>
                <a:lnTo>
                  <a:pt x="2512867" y="485032"/>
                </a:lnTo>
                <a:lnTo>
                  <a:pt x="2519934" y="449999"/>
                </a:lnTo>
                <a:lnTo>
                  <a:pt x="2519934" y="90004"/>
                </a:lnTo>
                <a:lnTo>
                  <a:pt x="2512867" y="54971"/>
                </a:lnTo>
                <a:lnTo>
                  <a:pt x="2493597" y="26362"/>
                </a:lnTo>
                <a:lnTo>
                  <a:pt x="2465016" y="7073"/>
                </a:lnTo>
                <a:lnTo>
                  <a:pt x="2430017" y="0"/>
                </a:lnTo>
                <a:close/>
              </a:path>
            </a:pathLst>
          </a:custGeom>
          <a:solidFill>
            <a:srgbClr val="F5F5F5"/>
          </a:solidFill>
          <a:ln w="9525">
            <a:solidFill>
              <a:srgbClr val="DEDEDE"/>
            </a:solidFill>
          </a:ln>
          <a:effectLst/>
        </p:spPr>
        <p:txBody>
          <a:bodyPr wrap="square" lIns="0" tIns="0" rIns="0" bIns="0" rtlCol="0"/>
          <a:lstStyle/>
          <a:p>
            <a:endParaRPr/>
          </a:p>
        </p:txBody>
      </p:sp>
      <p:sp>
        <p:nvSpPr>
          <p:cNvPr id="51" name="object 39">
            <a:extLst>
              <a:ext uri="{FF2B5EF4-FFF2-40B4-BE49-F238E27FC236}">
                <a16:creationId xmlns:a16="http://schemas.microsoft.com/office/drawing/2014/main" id="{814B1A01-C18B-7378-C31E-6B0518035D7C}"/>
              </a:ext>
            </a:extLst>
          </p:cNvPr>
          <p:cNvSpPr txBox="1"/>
          <p:nvPr/>
        </p:nvSpPr>
        <p:spPr>
          <a:xfrm>
            <a:off x="2069973" y="6253073"/>
            <a:ext cx="1907541" cy="269240"/>
          </a:xfrm>
          <a:prstGeom prst="rect">
            <a:avLst/>
          </a:prstGeom>
        </p:spPr>
        <p:txBody>
          <a:bodyPr vert="horz" wrap="square" lIns="0" tIns="12065" rIns="0" bIns="0" rtlCol="0">
            <a:normAutofit fontScale="97500"/>
          </a:bodyPr>
          <a:lstStyle/>
          <a:p>
            <a:pPr marL="12700">
              <a:lnSpc>
                <a:spcPct val="100000"/>
              </a:lnSpc>
              <a:spcBef>
                <a:spcPts val="95"/>
              </a:spcBef>
            </a:pPr>
            <a:r>
              <a:rPr sz="1100" dirty="0">
                <a:solidFill>
                  <a:srgbClr val="2A9D8F"/>
                </a:solidFill>
                <a:latin typeface="Raleway" pitchFamily="2" charset="0"/>
                <a:cs typeface="Calibri Light"/>
              </a:rPr>
              <a:t>38%</a:t>
            </a:r>
            <a:r>
              <a:rPr sz="1100" spc="-80" dirty="0">
                <a:solidFill>
                  <a:srgbClr val="2A9D8F"/>
                </a:solidFill>
                <a:latin typeface="Raleway" pitchFamily="2" charset="0"/>
                <a:cs typeface="Calibri Light"/>
              </a:rPr>
              <a:t> </a:t>
            </a:r>
            <a:r>
              <a:rPr sz="1100" spc="-10" dirty="0">
                <a:solidFill>
                  <a:srgbClr val="2A9D8F"/>
                </a:solidFill>
                <a:latin typeface="Raleway" pitchFamily="2" charset="0"/>
                <a:cs typeface="Calibri Light"/>
              </a:rPr>
              <a:t>Cost</a:t>
            </a:r>
            <a:r>
              <a:rPr sz="1100" spc="-80" dirty="0">
                <a:solidFill>
                  <a:srgbClr val="2A9D8F"/>
                </a:solidFill>
                <a:latin typeface="Raleway" pitchFamily="2" charset="0"/>
                <a:cs typeface="Calibri Light"/>
              </a:rPr>
              <a:t> </a:t>
            </a:r>
            <a:r>
              <a:rPr sz="1100" spc="-10" dirty="0">
                <a:solidFill>
                  <a:srgbClr val="2A9D8F"/>
                </a:solidFill>
                <a:latin typeface="Raleway" pitchFamily="2" charset="0"/>
                <a:cs typeface="Calibri Light"/>
              </a:rPr>
              <a:t>Reduction</a:t>
            </a:r>
            <a:endParaRPr sz="1100" dirty="0">
              <a:latin typeface="Raleway" pitchFamily="2" charset="0"/>
              <a:cs typeface="Calibri Light"/>
            </a:endParaRPr>
          </a:p>
        </p:txBody>
      </p:sp>
      <p:sp>
        <p:nvSpPr>
          <p:cNvPr id="52" name="object 40">
            <a:extLst>
              <a:ext uri="{FF2B5EF4-FFF2-40B4-BE49-F238E27FC236}">
                <a16:creationId xmlns:a16="http://schemas.microsoft.com/office/drawing/2014/main" id="{FF193401-87AD-1FCA-396F-B17AEAC7771F}"/>
              </a:ext>
            </a:extLst>
          </p:cNvPr>
          <p:cNvSpPr/>
          <p:nvPr/>
        </p:nvSpPr>
        <p:spPr>
          <a:xfrm>
            <a:off x="4265167" y="6126188"/>
            <a:ext cx="2520315" cy="540385"/>
          </a:xfrm>
          <a:custGeom>
            <a:avLst/>
            <a:gdLst/>
            <a:ahLst/>
            <a:cxnLst/>
            <a:rect l="l" t="t" r="r" b="b"/>
            <a:pathLst>
              <a:path w="2520315" h="540384">
                <a:moveTo>
                  <a:pt x="2430017" y="0"/>
                </a:moveTo>
                <a:lnTo>
                  <a:pt x="90043" y="0"/>
                </a:lnTo>
                <a:lnTo>
                  <a:pt x="55024" y="7073"/>
                </a:lnTo>
                <a:lnTo>
                  <a:pt x="26400" y="26362"/>
                </a:lnTo>
                <a:lnTo>
                  <a:pt x="7086" y="54971"/>
                </a:lnTo>
                <a:lnTo>
                  <a:pt x="0" y="90004"/>
                </a:lnTo>
                <a:lnTo>
                  <a:pt x="0" y="449999"/>
                </a:lnTo>
                <a:lnTo>
                  <a:pt x="7086" y="485030"/>
                </a:lnTo>
                <a:lnTo>
                  <a:pt x="26400" y="513635"/>
                </a:lnTo>
                <a:lnTo>
                  <a:pt x="55024" y="532920"/>
                </a:lnTo>
                <a:lnTo>
                  <a:pt x="90043" y="539991"/>
                </a:lnTo>
                <a:lnTo>
                  <a:pt x="2430017" y="539991"/>
                </a:lnTo>
                <a:lnTo>
                  <a:pt x="2465036" y="532920"/>
                </a:lnTo>
                <a:lnTo>
                  <a:pt x="2493660" y="513635"/>
                </a:lnTo>
                <a:lnTo>
                  <a:pt x="2512974" y="485030"/>
                </a:lnTo>
                <a:lnTo>
                  <a:pt x="2520061" y="449999"/>
                </a:lnTo>
                <a:lnTo>
                  <a:pt x="2520061" y="90004"/>
                </a:lnTo>
                <a:lnTo>
                  <a:pt x="2512974" y="54971"/>
                </a:lnTo>
                <a:lnTo>
                  <a:pt x="2493660" y="26362"/>
                </a:lnTo>
                <a:lnTo>
                  <a:pt x="2465036" y="7073"/>
                </a:lnTo>
                <a:lnTo>
                  <a:pt x="2430017" y="0"/>
                </a:lnTo>
                <a:close/>
              </a:path>
            </a:pathLst>
          </a:custGeom>
          <a:solidFill>
            <a:srgbClr val="F5F5F5"/>
          </a:solidFill>
          <a:ln w="9525">
            <a:solidFill>
              <a:srgbClr val="DEDEDE"/>
            </a:solidFill>
          </a:ln>
          <a:effectLst/>
        </p:spPr>
        <p:txBody>
          <a:bodyPr wrap="square" lIns="0" tIns="0" rIns="0" bIns="0" rtlCol="0"/>
          <a:lstStyle/>
          <a:p>
            <a:endParaRPr/>
          </a:p>
        </p:txBody>
      </p:sp>
      <p:sp>
        <p:nvSpPr>
          <p:cNvPr id="53" name="object 41">
            <a:extLst>
              <a:ext uri="{FF2B5EF4-FFF2-40B4-BE49-F238E27FC236}">
                <a16:creationId xmlns:a16="http://schemas.microsoft.com/office/drawing/2014/main" id="{C7DE1F77-EDC9-DDA5-BE8F-BA53CF850EDA}"/>
              </a:ext>
            </a:extLst>
          </p:cNvPr>
          <p:cNvSpPr txBox="1"/>
          <p:nvPr/>
        </p:nvSpPr>
        <p:spPr>
          <a:xfrm>
            <a:off x="4578858" y="6275527"/>
            <a:ext cx="2221865" cy="513080"/>
          </a:xfrm>
          <a:prstGeom prst="rect">
            <a:avLst/>
          </a:prstGeom>
        </p:spPr>
        <p:txBody>
          <a:bodyPr vert="horz" wrap="square" lIns="0" tIns="12065" rIns="0" bIns="0" rtlCol="0">
            <a:normAutofit/>
          </a:bodyPr>
          <a:lstStyle/>
          <a:p>
            <a:pPr marL="657225" marR="5080" indent="-645160">
              <a:lnSpc>
                <a:spcPct val="100000"/>
              </a:lnSpc>
              <a:spcBef>
                <a:spcPts val="95"/>
              </a:spcBef>
            </a:pPr>
            <a:r>
              <a:rPr sz="1100" dirty="0">
                <a:solidFill>
                  <a:srgbClr val="2A9D8F"/>
                </a:solidFill>
                <a:latin typeface="Raleway" pitchFamily="2" charset="0"/>
                <a:cs typeface="Calibri Light"/>
              </a:rPr>
              <a:t>6</a:t>
            </a:r>
            <a:r>
              <a:rPr sz="1100" spc="-15" dirty="0">
                <a:solidFill>
                  <a:srgbClr val="2A9D8F"/>
                </a:solidFill>
                <a:latin typeface="Raleway" pitchFamily="2" charset="0"/>
                <a:cs typeface="Calibri Light"/>
              </a:rPr>
              <a:t> </a:t>
            </a:r>
            <a:r>
              <a:rPr sz="1100" spc="-25" dirty="0">
                <a:solidFill>
                  <a:srgbClr val="2A9D8F"/>
                </a:solidFill>
                <a:latin typeface="Raleway" pitchFamily="2" charset="0"/>
                <a:cs typeface="Calibri Light"/>
              </a:rPr>
              <a:t>Months</a:t>
            </a:r>
            <a:r>
              <a:rPr sz="1100" spc="-55" dirty="0">
                <a:solidFill>
                  <a:srgbClr val="2A9D8F"/>
                </a:solidFill>
                <a:latin typeface="Raleway" pitchFamily="2" charset="0"/>
                <a:cs typeface="Calibri Light"/>
              </a:rPr>
              <a:t> </a:t>
            </a:r>
            <a:r>
              <a:rPr sz="1100" spc="-25" dirty="0">
                <a:solidFill>
                  <a:srgbClr val="2A9D8F"/>
                </a:solidFill>
                <a:latin typeface="Raleway" pitchFamily="2" charset="0"/>
                <a:cs typeface="Calibri Light"/>
              </a:rPr>
              <a:t>Faster</a:t>
            </a:r>
            <a:r>
              <a:rPr sz="1100" spc="-60" dirty="0">
                <a:solidFill>
                  <a:srgbClr val="2A9D8F"/>
                </a:solidFill>
                <a:latin typeface="Raleway" pitchFamily="2" charset="0"/>
                <a:cs typeface="Calibri Light"/>
              </a:rPr>
              <a:t> </a:t>
            </a:r>
            <a:r>
              <a:rPr sz="1100" spc="-10" dirty="0">
                <a:solidFill>
                  <a:srgbClr val="2A9D8F"/>
                </a:solidFill>
                <a:latin typeface="Raleway" pitchFamily="2" charset="0"/>
                <a:cs typeface="Calibri Light"/>
              </a:rPr>
              <a:t>Go-</a:t>
            </a:r>
            <a:r>
              <a:rPr sz="1100" spc="-25" dirty="0">
                <a:solidFill>
                  <a:srgbClr val="2A9D8F"/>
                </a:solidFill>
                <a:latin typeface="Raleway" pitchFamily="2" charset="0"/>
                <a:cs typeface="Calibri Light"/>
              </a:rPr>
              <a:t>To-</a:t>
            </a:r>
            <a:r>
              <a:rPr sz="1100" spc="-10" dirty="0">
                <a:solidFill>
                  <a:srgbClr val="2A9D8F"/>
                </a:solidFill>
                <a:latin typeface="Raleway" pitchFamily="2" charset="0"/>
                <a:cs typeface="Calibri Light"/>
              </a:rPr>
              <a:t>Market</a:t>
            </a:r>
            <a:endParaRPr sz="1100" dirty="0">
              <a:latin typeface="Raleway" pitchFamily="2" charset="0"/>
              <a:cs typeface="Calibri Light"/>
            </a:endParaRPr>
          </a:p>
        </p:txBody>
      </p:sp>
      <p:sp>
        <p:nvSpPr>
          <p:cNvPr id="54" name="object 42">
            <a:extLst>
              <a:ext uri="{FF2B5EF4-FFF2-40B4-BE49-F238E27FC236}">
                <a16:creationId xmlns:a16="http://schemas.microsoft.com/office/drawing/2014/main" id="{D71C3D20-6893-EA06-024B-428C04FCA9A7}"/>
              </a:ext>
            </a:extLst>
          </p:cNvPr>
          <p:cNvSpPr/>
          <p:nvPr/>
        </p:nvSpPr>
        <p:spPr>
          <a:xfrm>
            <a:off x="6908038" y="6138608"/>
            <a:ext cx="2520315" cy="540385"/>
          </a:xfrm>
          <a:custGeom>
            <a:avLst/>
            <a:gdLst/>
            <a:ahLst/>
            <a:cxnLst/>
            <a:rect l="l" t="t" r="r" b="b"/>
            <a:pathLst>
              <a:path w="2520315" h="540384">
                <a:moveTo>
                  <a:pt x="2430017" y="0"/>
                </a:moveTo>
                <a:lnTo>
                  <a:pt x="90042" y="0"/>
                </a:lnTo>
                <a:lnTo>
                  <a:pt x="54971" y="7073"/>
                </a:lnTo>
                <a:lnTo>
                  <a:pt x="26352" y="26362"/>
                </a:lnTo>
                <a:lnTo>
                  <a:pt x="7068" y="54971"/>
                </a:lnTo>
                <a:lnTo>
                  <a:pt x="0" y="90004"/>
                </a:lnTo>
                <a:lnTo>
                  <a:pt x="0" y="449999"/>
                </a:lnTo>
                <a:lnTo>
                  <a:pt x="7068" y="485032"/>
                </a:lnTo>
                <a:lnTo>
                  <a:pt x="26352" y="513641"/>
                </a:lnTo>
                <a:lnTo>
                  <a:pt x="54971" y="532930"/>
                </a:lnTo>
                <a:lnTo>
                  <a:pt x="90042" y="540003"/>
                </a:lnTo>
                <a:lnTo>
                  <a:pt x="2430017" y="540003"/>
                </a:lnTo>
                <a:lnTo>
                  <a:pt x="2465016" y="532930"/>
                </a:lnTo>
                <a:lnTo>
                  <a:pt x="2493597" y="513641"/>
                </a:lnTo>
                <a:lnTo>
                  <a:pt x="2512867" y="485032"/>
                </a:lnTo>
                <a:lnTo>
                  <a:pt x="2519933" y="449999"/>
                </a:lnTo>
                <a:lnTo>
                  <a:pt x="2519933" y="90004"/>
                </a:lnTo>
                <a:lnTo>
                  <a:pt x="2512867" y="54971"/>
                </a:lnTo>
                <a:lnTo>
                  <a:pt x="2493597" y="26362"/>
                </a:lnTo>
                <a:lnTo>
                  <a:pt x="2465016" y="7073"/>
                </a:lnTo>
                <a:lnTo>
                  <a:pt x="2430017" y="0"/>
                </a:lnTo>
                <a:close/>
              </a:path>
            </a:pathLst>
          </a:custGeom>
          <a:solidFill>
            <a:srgbClr val="F5F5F5"/>
          </a:solidFill>
          <a:ln w="9525">
            <a:solidFill>
              <a:srgbClr val="DEDEDE"/>
            </a:solidFill>
          </a:ln>
          <a:effectLst/>
        </p:spPr>
        <p:txBody>
          <a:bodyPr wrap="square" lIns="0" tIns="0" rIns="0" bIns="0" rtlCol="0"/>
          <a:lstStyle/>
          <a:p>
            <a:endParaRPr/>
          </a:p>
        </p:txBody>
      </p:sp>
      <p:sp>
        <p:nvSpPr>
          <p:cNvPr id="55" name="object 43">
            <a:extLst>
              <a:ext uri="{FF2B5EF4-FFF2-40B4-BE49-F238E27FC236}">
                <a16:creationId xmlns:a16="http://schemas.microsoft.com/office/drawing/2014/main" id="{0349E7D3-F396-8C63-0FB3-0103656296AF}"/>
              </a:ext>
            </a:extLst>
          </p:cNvPr>
          <p:cNvSpPr txBox="1"/>
          <p:nvPr/>
        </p:nvSpPr>
        <p:spPr>
          <a:xfrm>
            <a:off x="7468869" y="6262827"/>
            <a:ext cx="1642378" cy="269240"/>
          </a:xfrm>
          <a:prstGeom prst="rect">
            <a:avLst/>
          </a:prstGeom>
        </p:spPr>
        <p:txBody>
          <a:bodyPr vert="horz" wrap="square" lIns="0" tIns="12065" rIns="0" bIns="0" rtlCol="0">
            <a:normAutofit fontScale="97500"/>
          </a:bodyPr>
          <a:lstStyle/>
          <a:p>
            <a:pPr marL="12700">
              <a:lnSpc>
                <a:spcPct val="100000"/>
              </a:lnSpc>
              <a:spcBef>
                <a:spcPts val="95"/>
              </a:spcBef>
            </a:pPr>
            <a:r>
              <a:rPr sz="1100" dirty="0">
                <a:solidFill>
                  <a:srgbClr val="2A9D8F"/>
                </a:solidFill>
                <a:latin typeface="Raleway" pitchFamily="2" charset="0"/>
                <a:cs typeface="Calibri Light"/>
              </a:rPr>
              <a:t>35+</a:t>
            </a:r>
            <a:r>
              <a:rPr sz="1100" spc="-40" dirty="0">
                <a:solidFill>
                  <a:srgbClr val="2A9D8F"/>
                </a:solidFill>
                <a:latin typeface="Raleway" pitchFamily="2" charset="0"/>
                <a:cs typeface="Calibri Light"/>
              </a:rPr>
              <a:t> </a:t>
            </a:r>
            <a:r>
              <a:rPr sz="1100" spc="-30" dirty="0">
                <a:solidFill>
                  <a:srgbClr val="2A9D8F"/>
                </a:solidFill>
                <a:latin typeface="Raleway" pitchFamily="2" charset="0"/>
                <a:cs typeface="Calibri Light"/>
              </a:rPr>
              <a:t>Patents</a:t>
            </a:r>
            <a:r>
              <a:rPr sz="1100" spc="-60" dirty="0">
                <a:solidFill>
                  <a:srgbClr val="2A9D8F"/>
                </a:solidFill>
                <a:latin typeface="Raleway" pitchFamily="2" charset="0"/>
                <a:cs typeface="Calibri Light"/>
              </a:rPr>
              <a:t> </a:t>
            </a:r>
            <a:r>
              <a:rPr sz="1100" spc="-20" dirty="0">
                <a:solidFill>
                  <a:srgbClr val="2A9D8F"/>
                </a:solidFill>
                <a:latin typeface="Raleway" pitchFamily="2" charset="0"/>
                <a:cs typeface="Calibri Light"/>
              </a:rPr>
              <a:t>Filed</a:t>
            </a:r>
            <a:endParaRPr sz="1100">
              <a:latin typeface="Raleway" pitchFamily="2" charset="0"/>
              <a:cs typeface="Calibri Light"/>
            </a:endParaRPr>
          </a:p>
        </p:txBody>
      </p:sp>
      <p:sp>
        <p:nvSpPr>
          <p:cNvPr id="56" name="object 44">
            <a:extLst>
              <a:ext uri="{FF2B5EF4-FFF2-40B4-BE49-F238E27FC236}">
                <a16:creationId xmlns:a16="http://schemas.microsoft.com/office/drawing/2014/main" id="{26199897-0D2C-FBA1-1284-C7D0254FDB79}"/>
              </a:ext>
            </a:extLst>
          </p:cNvPr>
          <p:cNvSpPr/>
          <p:nvPr/>
        </p:nvSpPr>
        <p:spPr>
          <a:xfrm>
            <a:off x="9535668" y="6126188"/>
            <a:ext cx="2520315" cy="540385"/>
          </a:xfrm>
          <a:custGeom>
            <a:avLst/>
            <a:gdLst/>
            <a:ahLst/>
            <a:cxnLst/>
            <a:rect l="l" t="t" r="r" b="b"/>
            <a:pathLst>
              <a:path w="2520315" h="540384">
                <a:moveTo>
                  <a:pt x="2430017" y="0"/>
                </a:moveTo>
                <a:lnTo>
                  <a:pt x="90042" y="0"/>
                </a:lnTo>
                <a:lnTo>
                  <a:pt x="55024" y="7073"/>
                </a:lnTo>
                <a:lnTo>
                  <a:pt x="26400" y="26362"/>
                </a:lnTo>
                <a:lnTo>
                  <a:pt x="7086" y="54971"/>
                </a:lnTo>
                <a:lnTo>
                  <a:pt x="0" y="90004"/>
                </a:lnTo>
                <a:lnTo>
                  <a:pt x="0" y="449999"/>
                </a:lnTo>
                <a:lnTo>
                  <a:pt x="7086" y="485030"/>
                </a:lnTo>
                <a:lnTo>
                  <a:pt x="26400" y="513635"/>
                </a:lnTo>
                <a:lnTo>
                  <a:pt x="55024" y="532920"/>
                </a:lnTo>
                <a:lnTo>
                  <a:pt x="90042" y="539991"/>
                </a:lnTo>
                <a:lnTo>
                  <a:pt x="2430017" y="539991"/>
                </a:lnTo>
                <a:lnTo>
                  <a:pt x="2465089" y="532920"/>
                </a:lnTo>
                <a:lnTo>
                  <a:pt x="2493708" y="513635"/>
                </a:lnTo>
                <a:lnTo>
                  <a:pt x="2512992" y="485030"/>
                </a:lnTo>
                <a:lnTo>
                  <a:pt x="2520060" y="449999"/>
                </a:lnTo>
                <a:lnTo>
                  <a:pt x="2520060" y="90004"/>
                </a:lnTo>
                <a:lnTo>
                  <a:pt x="2512992" y="54971"/>
                </a:lnTo>
                <a:lnTo>
                  <a:pt x="2493708" y="26362"/>
                </a:lnTo>
                <a:lnTo>
                  <a:pt x="2465089" y="7073"/>
                </a:lnTo>
                <a:lnTo>
                  <a:pt x="2430017" y="0"/>
                </a:lnTo>
                <a:close/>
              </a:path>
            </a:pathLst>
          </a:custGeom>
          <a:solidFill>
            <a:srgbClr val="F5F5F5"/>
          </a:solidFill>
          <a:ln w="9525">
            <a:solidFill>
              <a:srgbClr val="DEDEDE"/>
            </a:solidFill>
          </a:ln>
          <a:effectLst/>
        </p:spPr>
        <p:txBody>
          <a:bodyPr wrap="square" lIns="0" tIns="0" rIns="0" bIns="0" rtlCol="0"/>
          <a:lstStyle/>
          <a:p>
            <a:endParaRPr/>
          </a:p>
        </p:txBody>
      </p:sp>
      <p:sp>
        <p:nvSpPr>
          <p:cNvPr id="57" name="object 45">
            <a:extLst>
              <a:ext uri="{FF2B5EF4-FFF2-40B4-BE49-F238E27FC236}">
                <a16:creationId xmlns:a16="http://schemas.microsoft.com/office/drawing/2014/main" id="{1169A25A-788D-89A8-F8AC-AA1204C2F643}"/>
              </a:ext>
            </a:extLst>
          </p:cNvPr>
          <p:cNvSpPr txBox="1"/>
          <p:nvPr/>
        </p:nvSpPr>
        <p:spPr>
          <a:xfrm>
            <a:off x="9871329" y="6250940"/>
            <a:ext cx="2170470" cy="269240"/>
          </a:xfrm>
          <a:prstGeom prst="rect">
            <a:avLst/>
          </a:prstGeom>
        </p:spPr>
        <p:txBody>
          <a:bodyPr vert="horz" wrap="square" lIns="0" tIns="12065" rIns="0" bIns="0" rtlCol="0">
            <a:normAutofit fontScale="97500"/>
          </a:bodyPr>
          <a:lstStyle/>
          <a:p>
            <a:pPr marL="12700">
              <a:lnSpc>
                <a:spcPct val="100000"/>
              </a:lnSpc>
              <a:spcBef>
                <a:spcPts val="95"/>
              </a:spcBef>
            </a:pPr>
            <a:r>
              <a:rPr sz="1100" spc="-10" dirty="0">
                <a:solidFill>
                  <a:srgbClr val="2A9D8F"/>
                </a:solidFill>
                <a:latin typeface="Raleway" pitchFamily="2" charset="0"/>
                <a:cs typeface="Calibri Light"/>
              </a:rPr>
              <a:t>Real-Time</a:t>
            </a:r>
            <a:r>
              <a:rPr sz="1100" spc="-75" dirty="0">
                <a:solidFill>
                  <a:srgbClr val="2A9D8F"/>
                </a:solidFill>
                <a:latin typeface="Raleway" pitchFamily="2" charset="0"/>
                <a:cs typeface="Calibri Light"/>
              </a:rPr>
              <a:t> </a:t>
            </a:r>
            <a:r>
              <a:rPr sz="1100" spc="-10" dirty="0">
                <a:solidFill>
                  <a:srgbClr val="2A9D8F"/>
                </a:solidFill>
                <a:latin typeface="Raleway" pitchFamily="2" charset="0"/>
                <a:cs typeface="Calibri Light"/>
              </a:rPr>
              <a:t>ESG</a:t>
            </a:r>
            <a:r>
              <a:rPr sz="1100" spc="-70" dirty="0">
                <a:solidFill>
                  <a:srgbClr val="2A9D8F"/>
                </a:solidFill>
                <a:latin typeface="Raleway" pitchFamily="2" charset="0"/>
                <a:cs typeface="Calibri Light"/>
              </a:rPr>
              <a:t> </a:t>
            </a:r>
            <a:r>
              <a:rPr sz="1100" spc="-20" dirty="0">
                <a:solidFill>
                  <a:srgbClr val="2A9D8F"/>
                </a:solidFill>
                <a:latin typeface="Raleway" pitchFamily="2" charset="0"/>
                <a:cs typeface="Calibri Light"/>
              </a:rPr>
              <a:t>Tracking</a:t>
            </a:r>
            <a:endParaRPr sz="1100">
              <a:latin typeface="Raleway" pitchFamily="2" charset="0"/>
              <a:cs typeface="Calibri Light"/>
            </a:endParaRPr>
          </a:p>
        </p:txBody>
      </p:sp>
      <p:sp>
        <p:nvSpPr>
          <p:cNvPr id="58" name="object 46">
            <a:extLst>
              <a:ext uri="{FF2B5EF4-FFF2-40B4-BE49-F238E27FC236}">
                <a16:creationId xmlns:a16="http://schemas.microsoft.com/office/drawing/2014/main" id="{7C49819D-A229-E79E-293A-5447900E01FB}"/>
              </a:ext>
            </a:extLst>
          </p:cNvPr>
          <p:cNvSpPr txBox="1"/>
          <p:nvPr/>
        </p:nvSpPr>
        <p:spPr>
          <a:xfrm>
            <a:off x="83126" y="6100775"/>
            <a:ext cx="1440180" cy="540385"/>
          </a:xfrm>
          <a:prstGeom prst="rect">
            <a:avLst/>
          </a:prstGeom>
          <a:solidFill>
            <a:srgbClr val="2A9D8F"/>
          </a:solidFill>
          <a:ln>
            <a:noFill/>
          </a:ln>
        </p:spPr>
        <p:txBody>
          <a:bodyPr vert="horz" wrap="square" lIns="0" tIns="46355" rIns="0" bIns="0" rtlCol="0">
            <a:normAutofit/>
          </a:bodyPr>
          <a:lstStyle/>
          <a:p>
            <a:pPr marL="157480">
              <a:lnSpc>
                <a:spcPct val="100000"/>
              </a:lnSpc>
              <a:spcBef>
                <a:spcPts val="365"/>
              </a:spcBef>
            </a:pPr>
            <a:r>
              <a:rPr sz="1100" spc="-10" dirty="0">
                <a:solidFill>
                  <a:srgbClr val="FFFFFF"/>
                </a:solidFill>
                <a:latin typeface="Raleway"/>
                <a:cs typeface="Calibri Light"/>
              </a:rPr>
              <a:t>J2W</a:t>
            </a:r>
            <a:r>
              <a:rPr sz="1100" spc="-50" dirty="0">
                <a:solidFill>
                  <a:srgbClr val="FFFFFF"/>
                </a:solidFill>
                <a:latin typeface="Raleway"/>
                <a:cs typeface="Calibri Light"/>
              </a:rPr>
              <a:t> </a:t>
            </a:r>
            <a:r>
              <a:rPr sz="1100" spc="-10" dirty="0">
                <a:solidFill>
                  <a:srgbClr val="FFFFFF"/>
                </a:solidFill>
                <a:latin typeface="Raleway"/>
                <a:cs typeface="Calibri Light"/>
              </a:rPr>
              <a:t>Proprietary</a:t>
            </a:r>
            <a:endParaRPr sz="1400">
              <a:latin typeface="Calibri Light"/>
              <a:cs typeface="Calibri Light"/>
            </a:endParaRPr>
          </a:p>
          <a:p>
            <a:pPr marL="173990">
              <a:lnSpc>
                <a:spcPct val="100000"/>
              </a:lnSpc>
            </a:pPr>
            <a:r>
              <a:rPr sz="1100" spc="-25" dirty="0">
                <a:solidFill>
                  <a:srgbClr val="FFFFFF"/>
                </a:solidFill>
                <a:latin typeface="Raleway"/>
                <a:cs typeface="Calibri Light"/>
              </a:rPr>
              <a:t>Value</a:t>
            </a:r>
            <a:r>
              <a:rPr sz="1100" spc="-35" dirty="0">
                <a:solidFill>
                  <a:srgbClr val="FFFFFF"/>
                </a:solidFill>
                <a:latin typeface="Raleway"/>
                <a:cs typeface="Calibri Light"/>
              </a:rPr>
              <a:t> </a:t>
            </a:r>
            <a:r>
              <a:rPr sz="1100" spc="-10" dirty="0">
                <a:solidFill>
                  <a:srgbClr val="FFFFFF"/>
                </a:solidFill>
                <a:latin typeface="Raleway"/>
                <a:cs typeface="Calibri Light"/>
              </a:rPr>
              <a:t>Delivered</a:t>
            </a:r>
            <a:endParaRPr sz="1400">
              <a:latin typeface="Calibri Light"/>
              <a:cs typeface="Calibri Light"/>
            </a:endParaRPr>
          </a:p>
        </p:txBody>
      </p:sp>
    </p:spTree>
    <p:extLst>
      <p:ext uri="{BB962C8B-B14F-4D97-AF65-F5344CB8AC3E}">
        <p14:creationId xmlns:p14="http://schemas.microsoft.com/office/powerpoint/2010/main" val="181843779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9DBF8-E89A-F301-0409-DC1F20A0E2F2}"/>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D5E38F7E-6F40-87A3-023B-45CE2C878BF8}"/>
              </a:ext>
            </a:extLst>
          </p:cNvPr>
          <p:cNvSpPr/>
          <p:nvPr/>
        </p:nvSpPr>
        <p:spPr>
          <a:xfrm>
            <a:off x="0" y="0"/>
            <a:ext cx="8123327" cy="75895"/>
          </a:xfrm>
          <a:prstGeom prst="rect">
            <a:avLst/>
          </a:prstGeom>
          <a:solidFill>
            <a:srgbClr val="2A9D8F"/>
          </a:solidFill>
          <a:ln/>
        </p:spPr>
        <p:txBody>
          <a:bodyPr/>
          <a:lstStyle/>
          <a:p>
            <a:endParaRPr lang="en-IN"/>
          </a:p>
        </p:txBody>
      </p:sp>
      <p:sp>
        <p:nvSpPr>
          <p:cNvPr id="3" name="Shape 1">
            <a:extLst>
              <a:ext uri="{FF2B5EF4-FFF2-40B4-BE49-F238E27FC236}">
                <a16:creationId xmlns:a16="http://schemas.microsoft.com/office/drawing/2014/main" id="{04D66B55-AA9A-255F-AE44-225FD7912636}"/>
              </a:ext>
            </a:extLst>
          </p:cNvPr>
          <p:cNvSpPr/>
          <p:nvPr/>
        </p:nvSpPr>
        <p:spPr>
          <a:xfrm>
            <a:off x="8123327" y="0"/>
            <a:ext cx="4068369" cy="75895"/>
          </a:xfrm>
          <a:prstGeom prst="rect">
            <a:avLst/>
          </a:prstGeom>
          <a:solidFill>
            <a:srgbClr val="D62839"/>
          </a:solidFill>
          <a:ln/>
        </p:spPr>
        <p:txBody>
          <a:bodyPr/>
          <a:lstStyle/>
          <a:p>
            <a:endParaRPr lang="en-IN"/>
          </a:p>
        </p:txBody>
      </p:sp>
      <p:sp>
        <p:nvSpPr>
          <p:cNvPr id="4" name="Shape 2">
            <a:extLst>
              <a:ext uri="{FF2B5EF4-FFF2-40B4-BE49-F238E27FC236}">
                <a16:creationId xmlns:a16="http://schemas.microsoft.com/office/drawing/2014/main" id="{F5F96756-CE9A-3A9D-DA9C-250E41EF9074}"/>
              </a:ext>
            </a:extLst>
          </p:cNvPr>
          <p:cNvSpPr/>
          <p:nvPr/>
        </p:nvSpPr>
        <p:spPr>
          <a:xfrm>
            <a:off x="9265615" y="-1463040"/>
            <a:ext cx="3840480" cy="3840480"/>
          </a:xfrm>
          <a:prstGeom prst="ellipse">
            <a:avLst/>
          </a:prstGeom>
          <a:solidFill>
            <a:srgbClr val="2A9D8F">
              <a:alpha val="4000"/>
            </a:srgbClr>
          </a:solidFill>
          <a:ln/>
        </p:spPr>
        <p:txBody>
          <a:bodyPr/>
          <a:lstStyle/>
          <a:p>
            <a:endParaRPr lang="en-IN"/>
          </a:p>
        </p:txBody>
      </p:sp>
      <p:sp>
        <p:nvSpPr>
          <p:cNvPr id="5" name="Shape 3">
            <a:extLst>
              <a:ext uri="{FF2B5EF4-FFF2-40B4-BE49-F238E27FC236}">
                <a16:creationId xmlns:a16="http://schemas.microsoft.com/office/drawing/2014/main" id="{D6906225-AB10-58D2-FCBF-D8D40F83A9DF}"/>
              </a:ext>
            </a:extLst>
          </p:cNvPr>
          <p:cNvSpPr/>
          <p:nvPr/>
        </p:nvSpPr>
        <p:spPr>
          <a:xfrm>
            <a:off x="502920" y="329184"/>
            <a:ext cx="54864" cy="310896"/>
          </a:xfrm>
          <a:prstGeom prst="rect">
            <a:avLst/>
          </a:prstGeom>
          <a:solidFill>
            <a:srgbClr val="111827"/>
          </a:solidFill>
          <a:ln/>
        </p:spPr>
        <p:txBody>
          <a:bodyPr/>
          <a:lstStyle/>
          <a:p>
            <a:endParaRPr lang="en-IN"/>
          </a:p>
        </p:txBody>
      </p:sp>
      <p:sp>
        <p:nvSpPr>
          <p:cNvPr id="6" name="Text 4">
            <a:extLst>
              <a:ext uri="{FF2B5EF4-FFF2-40B4-BE49-F238E27FC236}">
                <a16:creationId xmlns:a16="http://schemas.microsoft.com/office/drawing/2014/main" id="{620F2120-8760-3C9F-673B-4E0CCD79CB47}"/>
              </a:ext>
            </a:extLst>
          </p:cNvPr>
          <p:cNvSpPr/>
          <p:nvPr/>
        </p:nvSpPr>
        <p:spPr>
          <a:xfrm>
            <a:off x="667512" y="405739"/>
            <a:ext cx="11021263" cy="384048"/>
          </a:xfrm>
          <a:prstGeom prst="rect">
            <a:avLst/>
          </a:prstGeom>
          <a:noFill/>
          <a:ln/>
        </p:spPr>
        <p:txBody>
          <a:bodyPr wrap="square" lIns="0" tIns="0" rIns="0" bIns="0" rtlCol="0" anchor="ctr"/>
          <a:lstStyle/>
          <a:p>
            <a:pPr marL="0" indent="0" algn="l">
              <a:buNone/>
            </a:pPr>
            <a:r>
              <a:rPr lang="en-GB" sz="2200" b="1" dirty="0">
                <a:solidFill>
                  <a:srgbClr val="2A9D8F"/>
                </a:solidFill>
                <a:latin typeface="Oswald" pitchFamily="34" charset="0"/>
                <a:ea typeface="Oswald" pitchFamily="34" charset="-122"/>
                <a:cs typeface="Oswald" pitchFamily="34" charset="-120"/>
              </a:rPr>
              <a:t>Case Study: </a:t>
            </a:r>
            <a:r>
              <a:rPr lang="en-GB" sz="2200" b="1" dirty="0">
                <a:solidFill>
                  <a:srgbClr val="111827"/>
                </a:solidFill>
                <a:latin typeface="Oswald" pitchFamily="34" charset="0"/>
                <a:ea typeface="Oswald" pitchFamily="34" charset="-122"/>
                <a:cs typeface="Oswald" pitchFamily="34" charset="-120"/>
              </a:rPr>
              <a:t>A Global Healthcare Leader Partnered With J2W To Build An Ai-powered R&amp;D Hub, Enabling Faster Device Development, Seamless Compliance, And Worldwide Scale</a:t>
            </a:r>
            <a:endParaRPr lang="en-US" sz="2200" dirty="0"/>
          </a:p>
        </p:txBody>
      </p:sp>
      <p:sp>
        <p:nvSpPr>
          <p:cNvPr id="13" name="Text 5">
            <a:extLst>
              <a:ext uri="{FF2B5EF4-FFF2-40B4-BE49-F238E27FC236}">
                <a16:creationId xmlns:a16="http://schemas.microsoft.com/office/drawing/2014/main" id="{E7197027-5A5B-9CAB-7904-AB75B9515D04}"/>
              </a:ext>
            </a:extLst>
          </p:cNvPr>
          <p:cNvSpPr/>
          <p:nvPr/>
        </p:nvSpPr>
        <p:spPr>
          <a:xfrm>
            <a:off x="667512" y="988923"/>
            <a:ext cx="11021263" cy="237744"/>
          </a:xfrm>
          <a:prstGeom prst="rect">
            <a:avLst/>
          </a:prstGeom>
          <a:noFill/>
          <a:ln/>
        </p:spPr>
        <p:txBody>
          <a:bodyPr wrap="square" lIns="0" tIns="0" rIns="0" bIns="0" rtlCol="0" anchor="ctr"/>
          <a:lstStyle/>
          <a:p>
            <a:pPr marL="0" indent="0" algn="l">
              <a:buNone/>
            </a:pPr>
            <a:r>
              <a:rPr lang="en-GB" sz="1250" b="1" dirty="0">
                <a:solidFill>
                  <a:srgbClr val="2A9D8F"/>
                </a:solidFill>
                <a:latin typeface="Roboto Condensed" pitchFamily="34" charset="0"/>
                <a:ea typeface="Roboto Condensed" pitchFamily="34" charset="-122"/>
                <a:cs typeface="Roboto Condensed" pitchFamily="34" charset="-120"/>
              </a:rPr>
              <a:t>J2W’S MEDICAL TECHNOLOGY R&amp;D EXCELLENCE THROUGH HYBRID BOT–CAAS EXECUTION</a:t>
            </a:r>
          </a:p>
        </p:txBody>
      </p:sp>
      <p:grpSp>
        <p:nvGrpSpPr>
          <p:cNvPr id="9" name="object 4">
            <a:extLst>
              <a:ext uri="{FF2B5EF4-FFF2-40B4-BE49-F238E27FC236}">
                <a16:creationId xmlns:a16="http://schemas.microsoft.com/office/drawing/2014/main" id="{C8D635CA-8B8E-8272-68D9-59C0A79F048C}"/>
              </a:ext>
            </a:extLst>
          </p:cNvPr>
          <p:cNvGrpSpPr/>
          <p:nvPr/>
        </p:nvGrpSpPr>
        <p:grpSpPr>
          <a:xfrm>
            <a:off x="922489" y="1883689"/>
            <a:ext cx="11123295" cy="620395"/>
            <a:chOff x="922489" y="1791589"/>
            <a:chExt cx="11123295" cy="620395"/>
          </a:xfrm>
        </p:grpSpPr>
        <p:sp>
          <p:nvSpPr>
            <p:cNvPr id="12" name="object 5">
              <a:extLst>
                <a:ext uri="{FF2B5EF4-FFF2-40B4-BE49-F238E27FC236}">
                  <a16:creationId xmlns:a16="http://schemas.microsoft.com/office/drawing/2014/main" id="{CC4CA5F4-6FA0-5092-C0BC-C95647A3CCFF}"/>
                </a:ext>
              </a:extLst>
            </p:cNvPr>
            <p:cNvSpPr/>
            <p:nvPr/>
          </p:nvSpPr>
          <p:spPr>
            <a:xfrm>
              <a:off x="1559052" y="2037587"/>
              <a:ext cx="9850120" cy="369570"/>
            </a:xfrm>
            <a:custGeom>
              <a:avLst/>
              <a:gdLst/>
              <a:ahLst/>
              <a:cxnLst/>
              <a:rect l="l" t="t" r="r" b="b"/>
              <a:pathLst>
                <a:path w="9850120" h="369569">
                  <a:moveTo>
                    <a:pt x="580644" y="195072"/>
                  </a:moveTo>
                  <a:lnTo>
                    <a:pt x="0" y="195072"/>
                  </a:lnTo>
                  <a:lnTo>
                    <a:pt x="0" y="369570"/>
                  </a:lnTo>
                  <a:lnTo>
                    <a:pt x="580644" y="369570"/>
                  </a:lnTo>
                  <a:lnTo>
                    <a:pt x="580644" y="195072"/>
                  </a:lnTo>
                  <a:close/>
                </a:path>
                <a:path w="9850120" h="369569">
                  <a:moveTo>
                    <a:pt x="2435352" y="195072"/>
                  </a:moveTo>
                  <a:lnTo>
                    <a:pt x="1853184" y="195072"/>
                  </a:lnTo>
                  <a:lnTo>
                    <a:pt x="1853184" y="369570"/>
                  </a:lnTo>
                  <a:lnTo>
                    <a:pt x="2435352" y="369570"/>
                  </a:lnTo>
                  <a:lnTo>
                    <a:pt x="2435352" y="195072"/>
                  </a:lnTo>
                  <a:close/>
                </a:path>
                <a:path w="9850120" h="369569">
                  <a:moveTo>
                    <a:pt x="4288536" y="97536"/>
                  </a:moveTo>
                  <a:lnTo>
                    <a:pt x="3707892" y="97536"/>
                  </a:lnTo>
                  <a:lnTo>
                    <a:pt x="3707892" y="369570"/>
                  </a:lnTo>
                  <a:lnTo>
                    <a:pt x="4288536" y="369570"/>
                  </a:lnTo>
                  <a:lnTo>
                    <a:pt x="4288536" y="97536"/>
                  </a:lnTo>
                  <a:close/>
                </a:path>
                <a:path w="9850120" h="369569">
                  <a:moveTo>
                    <a:pt x="6141720" y="97536"/>
                  </a:moveTo>
                  <a:lnTo>
                    <a:pt x="5561076" y="97536"/>
                  </a:lnTo>
                  <a:lnTo>
                    <a:pt x="5561076" y="369570"/>
                  </a:lnTo>
                  <a:lnTo>
                    <a:pt x="6141720" y="369570"/>
                  </a:lnTo>
                  <a:lnTo>
                    <a:pt x="6141720" y="97536"/>
                  </a:lnTo>
                  <a:close/>
                </a:path>
                <a:path w="9850120" h="369569">
                  <a:moveTo>
                    <a:pt x="7996428" y="0"/>
                  </a:moveTo>
                  <a:lnTo>
                    <a:pt x="7415784" y="0"/>
                  </a:lnTo>
                  <a:lnTo>
                    <a:pt x="7415784" y="369570"/>
                  </a:lnTo>
                  <a:lnTo>
                    <a:pt x="7996428" y="369570"/>
                  </a:lnTo>
                  <a:lnTo>
                    <a:pt x="7996428" y="0"/>
                  </a:lnTo>
                  <a:close/>
                </a:path>
                <a:path w="9850120" h="369569">
                  <a:moveTo>
                    <a:pt x="9849612" y="0"/>
                  </a:moveTo>
                  <a:lnTo>
                    <a:pt x="9268968" y="0"/>
                  </a:lnTo>
                  <a:lnTo>
                    <a:pt x="9268968" y="369570"/>
                  </a:lnTo>
                  <a:lnTo>
                    <a:pt x="9849612" y="369570"/>
                  </a:lnTo>
                  <a:lnTo>
                    <a:pt x="9849612" y="0"/>
                  </a:lnTo>
                  <a:close/>
                </a:path>
              </a:pathLst>
            </a:custGeom>
            <a:solidFill>
              <a:srgbClr val="F5F5F5"/>
            </a:solidFill>
            <a:ln w="9525">
              <a:solidFill>
                <a:srgbClr val="DEDEDE"/>
              </a:solidFill>
            </a:ln>
            <a:effectLst/>
          </p:spPr>
          <p:txBody>
            <a:bodyPr wrap="square" lIns="0" tIns="0" rIns="0" bIns="0" rtlCol="0"/>
            <a:lstStyle/>
            <a:p>
              <a:endParaRPr/>
            </a:p>
          </p:txBody>
        </p:sp>
        <p:sp>
          <p:nvSpPr>
            <p:cNvPr id="59" name="object 6">
              <a:extLst>
                <a:ext uri="{FF2B5EF4-FFF2-40B4-BE49-F238E27FC236}">
                  <a16:creationId xmlns:a16="http://schemas.microsoft.com/office/drawing/2014/main" id="{A6F2CB94-B320-5AF4-E31F-AA4304BCC245}"/>
                </a:ext>
              </a:extLst>
            </p:cNvPr>
            <p:cNvSpPr/>
            <p:nvPr/>
          </p:nvSpPr>
          <p:spPr>
            <a:xfrm>
              <a:off x="922489" y="2407158"/>
              <a:ext cx="11123295" cy="0"/>
            </a:xfrm>
            <a:custGeom>
              <a:avLst/>
              <a:gdLst/>
              <a:ahLst/>
              <a:cxnLst/>
              <a:rect l="l" t="t" r="r" b="b"/>
              <a:pathLst>
                <a:path w="11123295">
                  <a:moveTo>
                    <a:pt x="0" y="0"/>
                  </a:moveTo>
                  <a:lnTo>
                    <a:pt x="11122825" y="0"/>
                  </a:lnTo>
                </a:path>
              </a:pathLst>
            </a:custGeom>
            <a:ln w="9525">
              <a:solidFill>
                <a:srgbClr val="D9D9D9"/>
              </a:solidFill>
            </a:ln>
          </p:spPr>
          <p:txBody>
            <a:bodyPr wrap="square" lIns="0" tIns="0" rIns="0" bIns="0" rtlCol="0"/>
            <a:lstStyle/>
            <a:p>
              <a:endParaRPr/>
            </a:p>
          </p:txBody>
        </p:sp>
        <p:sp>
          <p:nvSpPr>
            <p:cNvPr id="60" name="object 7">
              <a:extLst>
                <a:ext uri="{FF2B5EF4-FFF2-40B4-BE49-F238E27FC236}">
                  <a16:creationId xmlns:a16="http://schemas.microsoft.com/office/drawing/2014/main" id="{85CDA234-ED9D-3AF8-AC73-4992944BBE78}"/>
                </a:ext>
              </a:extLst>
            </p:cNvPr>
            <p:cNvSpPr/>
            <p:nvPr/>
          </p:nvSpPr>
          <p:spPr>
            <a:xfrm>
              <a:off x="1925827" y="1801114"/>
              <a:ext cx="9116695" cy="414655"/>
            </a:xfrm>
            <a:custGeom>
              <a:avLst/>
              <a:gdLst/>
              <a:ahLst/>
              <a:cxnLst/>
              <a:rect l="l" t="t" r="r" b="b"/>
              <a:pathLst>
                <a:path w="9116695" h="414655">
                  <a:moveTo>
                    <a:pt x="0" y="193928"/>
                  </a:moveTo>
                  <a:lnTo>
                    <a:pt x="1759458" y="193928"/>
                  </a:lnTo>
                </a:path>
                <a:path w="9116695" h="414655">
                  <a:moveTo>
                    <a:pt x="0" y="193928"/>
                  </a:moveTo>
                  <a:lnTo>
                    <a:pt x="0" y="400558"/>
                  </a:lnTo>
                </a:path>
                <a:path w="9116695" h="414655">
                  <a:moveTo>
                    <a:pt x="1759458" y="207772"/>
                  </a:moveTo>
                  <a:lnTo>
                    <a:pt x="1759458" y="414400"/>
                  </a:lnTo>
                </a:path>
                <a:path w="9116695" h="414655">
                  <a:moveTo>
                    <a:pt x="3678301" y="110871"/>
                  </a:moveTo>
                  <a:lnTo>
                    <a:pt x="5437886" y="110871"/>
                  </a:lnTo>
                </a:path>
                <a:path w="9116695" h="414655">
                  <a:moveTo>
                    <a:pt x="3678301" y="110871"/>
                  </a:moveTo>
                  <a:lnTo>
                    <a:pt x="3678301" y="317500"/>
                  </a:lnTo>
                </a:path>
                <a:path w="9116695" h="414655">
                  <a:moveTo>
                    <a:pt x="5437886" y="124713"/>
                  </a:moveTo>
                  <a:lnTo>
                    <a:pt x="5437886" y="331343"/>
                  </a:lnTo>
                </a:path>
                <a:path w="9116695" h="414655">
                  <a:moveTo>
                    <a:pt x="7356729" y="0"/>
                  </a:moveTo>
                  <a:lnTo>
                    <a:pt x="9116187" y="0"/>
                  </a:lnTo>
                </a:path>
                <a:path w="9116695" h="414655">
                  <a:moveTo>
                    <a:pt x="7356729" y="0"/>
                  </a:moveTo>
                  <a:lnTo>
                    <a:pt x="7356729" y="206628"/>
                  </a:lnTo>
                </a:path>
                <a:path w="9116695" h="414655">
                  <a:moveTo>
                    <a:pt x="9116187" y="13843"/>
                  </a:moveTo>
                  <a:lnTo>
                    <a:pt x="9116187" y="220472"/>
                  </a:lnTo>
                </a:path>
              </a:pathLst>
            </a:custGeom>
            <a:ln w="19050">
              <a:solidFill>
                <a:srgbClr val="000000"/>
              </a:solidFill>
              <a:prstDash val="sysDash"/>
            </a:ln>
          </p:spPr>
          <p:txBody>
            <a:bodyPr wrap="square" lIns="0" tIns="0" rIns="0" bIns="0" rtlCol="0"/>
            <a:lstStyle/>
            <a:p>
              <a:endParaRPr/>
            </a:p>
          </p:txBody>
        </p:sp>
      </p:grpSp>
      <p:sp>
        <p:nvSpPr>
          <p:cNvPr id="61" name="object 8">
            <a:extLst>
              <a:ext uri="{FF2B5EF4-FFF2-40B4-BE49-F238E27FC236}">
                <a16:creationId xmlns:a16="http://schemas.microsoft.com/office/drawing/2014/main" id="{5BCDE5B8-87B4-56D1-28B6-55DEF600FF62}"/>
              </a:ext>
            </a:extLst>
          </p:cNvPr>
          <p:cNvSpPr txBox="1"/>
          <p:nvPr/>
        </p:nvSpPr>
        <p:spPr>
          <a:xfrm>
            <a:off x="1675002" y="2575305"/>
            <a:ext cx="351155" cy="208279"/>
          </a:xfrm>
          <a:prstGeom prst="rect">
            <a:avLst/>
          </a:prstGeom>
        </p:spPr>
        <p:txBody>
          <a:bodyPr vert="horz" wrap="square" lIns="0" tIns="12700" rIns="0" bIns="0" rtlCol="0">
            <a:normAutofit fontScale="92500"/>
          </a:bodyPr>
          <a:lstStyle/>
          <a:p>
            <a:pPr marL="12700">
              <a:lnSpc>
                <a:spcPct val="100000"/>
              </a:lnSpc>
              <a:spcBef>
                <a:spcPts val="100"/>
              </a:spcBef>
            </a:pPr>
            <a:r>
              <a:rPr sz="1100" dirty="0">
                <a:solidFill/>
                <a:latin typeface="Raleway"/>
                <a:cs typeface="Calibri Light"/>
              </a:rPr>
              <a:t>FY</a:t>
            </a:r>
            <a:r>
              <a:rPr sz="1100" spc="-35" dirty="0">
                <a:solidFill/>
                <a:latin typeface="Raleway"/>
                <a:cs typeface="Calibri Light"/>
              </a:rPr>
              <a:t> </a:t>
            </a:r>
            <a:r>
              <a:rPr sz="1100" spc="-25" dirty="0">
                <a:solidFill/>
                <a:latin typeface="Raleway"/>
                <a:cs typeface="Calibri Light"/>
              </a:rPr>
              <a:t>20</a:t>
            </a:r>
            <a:endParaRPr sz="1200" dirty="0">
              <a:latin typeface="Calibri Light"/>
              <a:cs typeface="Calibri Light"/>
            </a:endParaRPr>
          </a:p>
        </p:txBody>
      </p:sp>
      <p:sp>
        <p:nvSpPr>
          <p:cNvPr id="62" name="object 9">
            <a:extLst>
              <a:ext uri="{FF2B5EF4-FFF2-40B4-BE49-F238E27FC236}">
                <a16:creationId xmlns:a16="http://schemas.microsoft.com/office/drawing/2014/main" id="{7A398585-A763-BF43-FFA9-495B8157878C}"/>
              </a:ext>
            </a:extLst>
          </p:cNvPr>
          <p:cNvSpPr txBox="1"/>
          <p:nvPr/>
        </p:nvSpPr>
        <p:spPr>
          <a:xfrm>
            <a:off x="3529076" y="2575305"/>
            <a:ext cx="351155" cy="208279"/>
          </a:xfrm>
          <a:prstGeom prst="rect">
            <a:avLst/>
          </a:prstGeom>
        </p:spPr>
        <p:txBody>
          <a:bodyPr vert="horz" wrap="square" lIns="0" tIns="12700" rIns="0" bIns="0" rtlCol="0">
            <a:normAutofit/>
          </a:bodyPr>
          <a:lstStyle/>
          <a:p>
            <a:pPr marL="12700">
              <a:lnSpc>
                <a:spcPct val="100000"/>
              </a:lnSpc>
              <a:spcBef>
                <a:spcPts val="100"/>
              </a:spcBef>
            </a:pPr>
            <a:r>
              <a:rPr sz="1100" dirty="0">
                <a:solidFill/>
                <a:latin typeface="Raleway"/>
                <a:cs typeface="Calibri Light"/>
              </a:rPr>
              <a:t>FY</a:t>
            </a:r>
            <a:r>
              <a:rPr sz="1100" spc="-35" dirty="0">
                <a:solidFill/>
                <a:latin typeface="Raleway"/>
                <a:cs typeface="Calibri Light"/>
              </a:rPr>
              <a:t> </a:t>
            </a:r>
            <a:r>
              <a:rPr sz="1100" spc="-25" dirty="0">
                <a:solidFill/>
                <a:latin typeface="Raleway"/>
                <a:cs typeface="Calibri Light"/>
              </a:rPr>
              <a:t>21</a:t>
            </a:r>
            <a:endParaRPr sz="1200">
              <a:latin typeface="Calibri Light"/>
              <a:cs typeface="Calibri Light"/>
            </a:endParaRPr>
          </a:p>
        </p:txBody>
      </p:sp>
      <p:sp>
        <p:nvSpPr>
          <p:cNvPr id="63" name="object 10">
            <a:extLst>
              <a:ext uri="{FF2B5EF4-FFF2-40B4-BE49-F238E27FC236}">
                <a16:creationId xmlns:a16="http://schemas.microsoft.com/office/drawing/2014/main" id="{8F869CD2-8F11-467E-5B8E-F23469277852}"/>
              </a:ext>
            </a:extLst>
          </p:cNvPr>
          <p:cNvSpPr txBox="1"/>
          <p:nvPr/>
        </p:nvSpPr>
        <p:spPr>
          <a:xfrm>
            <a:off x="5383148" y="2575305"/>
            <a:ext cx="351155" cy="208279"/>
          </a:xfrm>
          <a:prstGeom prst="rect">
            <a:avLst/>
          </a:prstGeom>
        </p:spPr>
        <p:txBody>
          <a:bodyPr vert="horz" wrap="square" lIns="0" tIns="12700" rIns="0" bIns="0" rtlCol="0">
            <a:normAutofit fontScale="92500"/>
          </a:bodyPr>
          <a:lstStyle/>
          <a:p>
            <a:pPr marL="12700">
              <a:lnSpc>
                <a:spcPct val="100000"/>
              </a:lnSpc>
              <a:spcBef>
                <a:spcPts val="100"/>
              </a:spcBef>
            </a:pPr>
            <a:r>
              <a:rPr sz="1100" dirty="0">
                <a:solidFill/>
                <a:latin typeface="Raleway"/>
                <a:cs typeface="Calibri Light"/>
              </a:rPr>
              <a:t>FY</a:t>
            </a:r>
            <a:r>
              <a:rPr sz="1100" spc="-35" dirty="0">
                <a:solidFill/>
                <a:latin typeface="Raleway"/>
                <a:cs typeface="Calibri Light"/>
              </a:rPr>
              <a:t> </a:t>
            </a:r>
            <a:r>
              <a:rPr sz="1100" spc="-25" dirty="0">
                <a:solidFill/>
                <a:latin typeface="Raleway"/>
                <a:cs typeface="Calibri Light"/>
              </a:rPr>
              <a:t>22</a:t>
            </a:r>
            <a:endParaRPr sz="1200">
              <a:latin typeface="Calibri Light"/>
              <a:cs typeface="Calibri Light"/>
            </a:endParaRPr>
          </a:p>
        </p:txBody>
      </p:sp>
      <p:sp>
        <p:nvSpPr>
          <p:cNvPr id="64" name="object 11">
            <a:extLst>
              <a:ext uri="{FF2B5EF4-FFF2-40B4-BE49-F238E27FC236}">
                <a16:creationId xmlns:a16="http://schemas.microsoft.com/office/drawing/2014/main" id="{944836A8-DC46-A5E4-C44D-DC6F22C1A49F}"/>
              </a:ext>
            </a:extLst>
          </p:cNvPr>
          <p:cNvSpPr txBox="1"/>
          <p:nvPr/>
        </p:nvSpPr>
        <p:spPr>
          <a:xfrm>
            <a:off x="7237221" y="2575305"/>
            <a:ext cx="351155" cy="208279"/>
          </a:xfrm>
          <a:prstGeom prst="rect">
            <a:avLst/>
          </a:prstGeom>
        </p:spPr>
        <p:txBody>
          <a:bodyPr vert="horz" wrap="square" lIns="0" tIns="12700" rIns="0" bIns="0" rtlCol="0">
            <a:normAutofit fontScale="92500"/>
          </a:bodyPr>
          <a:lstStyle/>
          <a:p>
            <a:pPr marL="12700">
              <a:lnSpc>
                <a:spcPct val="100000"/>
              </a:lnSpc>
              <a:spcBef>
                <a:spcPts val="100"/>
              </a:spcBef>
            </a:pPr>
            <a:r>
              <a:rPr sz="1100" dirty="0">
                <a:solidFill/>
                <a:latin typeface="Raleway"/>
                <a:cs typeface="Calibri Light"/>
              </a:rPr>
              <a:t>FY</a:t>
            </a:r>
            <a:r>
              <a:rPr sz="1100" spc="-35" dirty="0">
                <a:solidFill/>
                <a:latin typeface="Raleway"/>
                <a:cs typeface="Calibri Light"/>
              </a:rPr>
              <a:t> </a:t>
            </a:r>
            <a:r>
              <a:rPr sz="1100" spc="-25" dirty="0">
                <a:solidFill/>
                <a:latin typeface="Raleway"/>
                <a:cs typeface="Calibri Light"/>
              </a:rPr>
              <a:t>23</a:t>
            </a:r>
            <a:endParaRPr sz="1200">
              <a:latin typeface="Calibri Light"/>
              <a:cs typeface="Calibri Light"/>
            </a:endParaRPr>
          </a:p>
        </p:txBody>
      </p:sp>
      <p:sp>
        <p:nvSpPr>
          <p:cNvPr id="65" name="object 12">
            <a:extLst>
              <a:ext uri="{FF2B5EF4-FFF2-40B4-BE49-F238E27FC236}">
                <a16:creationId xmlns:a16="http://schemas.microsoft.com/office/drawing/2014/main" id="{BB1D5477-4E17-EE53-53C1-C725365A5B17}"/>
              </a:ext>
            </a:extLst>
          </p:cNvPr>
          <p:cNvSpPr txBox="1"/>
          <p:nvPr/>
        </p:nvSpPr>
        <p:spPr>
          <a:xfrm>
            <a:off x="9091421" y="2575305"/>
            <a:ext cx="351155" cy="208279"/>
          </a:xfrm>
          <a:prstGeom prst="rect">
            <a:avLst/>
          </a:prstGeom>
        </p:spPr>
        <p:txBody>
          <a:bodyPr vert="horz" wrap="square" lIns="0" tIns="12700" rIns="0" bIns="0" rtlCol="0">
            <a:normAutofit fontScale="92500"/>
          </a:bodyPr>
          <a:lstStyle/>
          <a:p>
            <a:pPr marL="12700">
              <a:lnSpc>
                <a:spcPct val="100000"/>
              </a:lnSpc>
              <a:spcBef>
                <a:spcPts val="100"/>
              </a:spcBef>
            </a:pPr>
            <a:r>
              <a:rPr sz="1100" dirty="0">
                <a:solidFill/>
                <a:latin typeface="Raleway"/>
                <a:cs typeface="Calibri Light"/>
              </a:rPr>
              <a:t>FY</a:t>
            </a:r>
            <a:r>
              <a:rPr sz="1100" spc="-35" dirty="0">
                <a:solidFill/>
                <a:latin typeface="Raleway"/>
                <a:cs typeface="Calibri Light"/>
              </a:rPr>
              <a:t> </a:t>
            </a:r>
            <a:r>
              <a:rPr sz="1100" spc="-25" dirty="0">
                <a:solidFill/>
                <a:latin typeface="Raleway"/>
                <a:cs typeface="Calibri Light"/>
              </a:rPr>
              <a:t>24</a:t>
            </a:r>
            <a:endParaRPr sz="1200">
              <a:latin typeface="Calibri Light"/>
              <a:cs typeface="Calibri Light"/>
            </a:endParaRPr>
          </a:p>
        </p:txBody>
      </p:sp>
      <p:sp>
        <p:nvSpPr>
          <p:cNvPr id="66" name="object 13">
            <a:extLst>
              <a:ext uri="{FF2B5EF4-FFF2-40B4-BE49-F238E27FC236}">
                <a16:creationId xmlns:a16="http://schemas.microsoft.com/office/drawing/2014/main" id="{57FC361D-5820-705A-4985-8B8AD573959A}"/>
              </a:ext>
            </a:extLst>
          </p:cNvPr>
          <p:cNvSpPr txBox="1"/>
          <p:nvPr/>
        </p:nvSpPr>
        <p:spPr>
          <a:xfrm>
            <a:off x="10945114" y="2575305"/>
            <a:ext cx="351155" cy="208279"/>
          </a:xfrm>
          <a:prstGeom prst="rect">
            <a:avLst/>
          </a:prstGeom>
        </p:spPr>
        <p:txBody>
          <a:bodyPr vert="horz" wrap="square" lIns="0" tIns="12700" rIns="0" bIns="0" rtlCol="0">
            <a:normAutofit fontScale="92500"/>
          </a:bodyPr>
          <a:lstStyle/>
          <a:p>
            <a:pPr marL="12700">
              <a:lnSpc>
                <a:spcPct val="100000"/>
              </a:lnSpc>
              <a:spcBef>
                <a:spcPts val="100"/>
              </a:spcBef>
            </a:pPr>
            <a:r>
              <a:rPr sz="1100" dirty="0">
                <a:solidFill/>
                <a:latin typeface="Raleway"/>
                <a:cs typeface="Calibri Light"/>
              </a:rPr>
              <a:t>FY</a:t>
            </a:r>
            <a:r>
              <a:rPr sz="1100" spc="-35" dirty="0">
                <a:solidFill/>
                <a:latin typeface="Raleway"/>
                <a:cs typeface="Calibri Light"/>
              </a:rPr>
              <a:t> </a:t>
            </a:r>
            <a:r>
              <a:rPr sz="1100" spc="-25" dirty="0">
                <a:solidFill/>
                <a:latin typeface="Raleway"/>
                <a:cs typeface="Calibri Light"/>
              </a:rPr>
              <a:t>25</a:t>
            </a:r>
            <a:endParaRPr sz="1200">
              <a:latin typeface="Calibri Light"/>
              <a:cs typeface="Calibri Light"/>
            </a:endParaRPr>
          </a:p>
        </p:txBody>
      </p:sp>
      <p:sp>
        <p:nvSpPr>
          <p:cNvPr id="67" name="object 14">
            <a:extLst>
              <a:ext uri="{FF2B5EF4-FFF2-40B4-BE49-F238E27FC236}">
                <a16:creationId xmlns:a16="http://schemas.microsoft.com/office/drawing/2014/main" id="{28257322-6055-C463-7BEB-0926BAF102F4}"/>
              </a:ext>
            </a:extLst>
          </p:cNvPr>
          <p:cNvSpPr txBox="1"/>
          <p:nvPr/>
        </p:nvSpPr>
        <p:spPr>
          <a:xfrm>
            <a:off x="1454785" y="1412799"/>
            <a:ext cx="2701925" cy="440054"/>
          </a:xfrm>
          <a:prstGeom prst="rect">
            <a:avLst/>
          </a:prstGeom>
          <a:solidFill>
            <a:srgbClr val="2A9D8F"/>
          </a:solidFill>
          <a:ln>
            <a:noFill/>
          </a:ln>
        </p:spPr>
        <p:txBody>
          <a:bodyPr vert="horz" wrap="square" lIns="0" tIns="52705" rIns="0" bIns="0" rtlCol="0">
            <a:normAutofit/>
          </a:bodyPr>
          <a:lstStyle/>
          <a:p>
            <a:pPr marL="955675" marR="334645" indent="-615950">
              <a:lnSpc>
                <a:spcPct val="100000"/>
              </a:lnSpc>
              <a:spcBef>
                <a:spcPts val="415"/>
              </a:spcBef>
            </a:pPr>
            <a:r>
              <a:rPr sz="1100" dirty="0">
                <a:solidFill/>
                <a:latin typeface="Raleway"/>
                <a:cs typeface="Calibri Light"/>
              </a:rPr>
              <a:t>50</a:t>
            </a:r>
            <a:r>
              <a:rPr sz="1100" spc="-40" dirty="0">
                <a:solidFill/>
                <a:latin typeface="Raleway"/>
                <a:cs typeface="Calibri Light"/>
              </a:rPr>
              <a:t> </a:t>
            </a:r>
            <a:r>
              <a:rPr sz="1100" dirty="0">
                <a:solidFill/>
                <a:latin typeface="Raleway"/>
                <a:cs typeface="Calibri Light"/>
              </a:rPr>
              <a:t>medical</a:t>
            </a:r>
            <a:r>
              <a:rPr sz="1100" spc="-65" dirty="0">
                <a:solidFill/>
                <a:latin typeface="Raleway"/>
                <a:cs typeface="Calibri Light"/>
              </a:rPr>
              <a:t> </a:t>
            </a:r>
            <a:r>
              <a:rPr sz="1100" dirty="0">
                <a:solidFill/>
                <a:latin typeface="Raleway"/>
                <a:cs typeface="Calibri Light"/>
              </a:rPr>
              <a:t>device</a:t>
            </a:r>
            <a:r>
              <a:rPr sz="1100" spc="-45" dirty="0">
                <a:solidFill/>
                <a:latin typeface="Raleway"/>
                <a:cs typeface="Calibri Light"/>
              </a:rPr>
              <a:t> </a:t>
            </a:r>
            <a:r>
              <a:rPr sz="1100" spc="-10" dirty="0">
                <a:solidFill/>
                <a:latin typeface="Raleway"/>
                <a:cs typeface="Calibri Light"/>
              </a:rPr>
              <a:t>engineers onboarded</a:t>
            </a:r>
            <a:endParaRPr sz="1400" dirty="0">
              <a:latin typeface="Calibri Light"/>
              <a:cs typeface="Calibri Light"/>
            </a:endParaRPr>
          </a:p>
        </p:txBody>
      </p:sp>
      <p:sp>
        <p:nvSpPr>
          <p:cNvPr id="68" name="object 15">
            <a:extLst>
              <a:ext uri="{FF2B5EF4-FFF2-40B4-BE49-F238E27FC236}">
                <a16:creationId xmlns:a16="http://schemas.microsoft.com/office/drawing/2014/main" id="{2EB1B657-8A05-EDE8-D863-7382993A59E6}"/>
              </a:ext>
            </a:extLst>
          </p:cNvPr>
          <p:cNvSpPr txBox="1"/>
          <p:nvPr/>
        </p:nvSpPr>
        <p:spPr>
          <a:xfrm>
            <a:off x="5167757" y="1412799"/>
            <a:ext cx="2701925" cy="440054"/>
          </a:xfrm>
          <a:prstGeom prst="rect">
            <a:avLst/>
          </a:prstGeom>
          <a:solidFill>
            <a:srgbClr val="2A9D8F"/>
          </a:solidFill>
          <a:ln>
            <a:noFill/>
          </a:ln>
        </p:spPr>
        <p:txBody>
          <a:bodyPr vert="horz" wrap="square" lIns="0" tIns="52705" rIns="0" bIns="0" rtlCol="0">
            <a:normAutofit/>
          </a:bodyPr>
          <a:lstStyle/>
          <a:p>
            <a:pPr marL="1023619" marR="306705" indent="-709295">
              <a:lnSpc>
                <a:spcPct val="100000"/>
              </a:lnSpc>
              <a:spcBef>
                <a:spcPts val="415"/>
              </a:spcBef>
            </a:pPr>
            <a:r>
              <a:rPr sz="1100" dirty="0">
                <a:solidFill/>
                <a:latin typeface="Raleway"/>
                <a:cs typeface="Calibri Light"/>
              </a:rPr>
              <a:t>120+</a:t>
            </a:r>
            <a:r>
              <a:rPr sz="1100" spc="-50" dirty="0">
                <a:solidFill/>
                <a:latin typeface="Raleway"/>
                <a:cs typeface="Calibri Light"/>
              </a:rPr>
              <a:t> </a:t>
            </a:r>
            <a:r>
              <a:rPr sz="1100" dirty="0">
                <a:solidFill/>
                <a:latin typeface="Raleway"/>
                <a:cs typeface="Calibri Light"/>
              </a:rPr>
              <a:t>medical</a:t>
            </a:r>
            <a:r>
              <a:rPr sz="1100" spc="-55" dirty="0">
                <a:solidFill/>
                <a:latin typeface="Raleway"/>
                <a:cs typeface="Calibri Light"/>
              </a:rPr>
              <a:t> </a:t>
            </a:r>
            <a:r>
              <a:rPr sz="1100" dirty="0">
                <a:solidFill/>
                <a:latin typeface="Raleway"/>
                <a:cs typeface="Calibri Light"/>
              </a:rPr>
              <a:t>tech</a:t>
            </a:r>
            <a:r>
              <a:rPr sz="1100" spc="-55" dirty="0">
                <a:solidFill/>
                <a:latin typeface="Raleway"/>
                <a:cs typeface="Calibri Light"/>
              </a:rPr>
              <a:t> </a:t>
            </a:r>
            <a:r>
              <a:rPr sz="1100" spc="-10" dirty="0">
                <a:solidFill/>
                <a:latin typeface="Raleway"/>
                <a:cs typeface="Calibri Light"/>
              </a:rPr>
              <a:t>specialists recruited</a:t>
            </a:r>
            <a:endParaRPr sz="1400">
              <a:latin typeface="Calibri Light"/>
              <a:cs typeface="Calibri Light"/>
            </a:endParaRPr>
          </a:p>
        </p:txBody>
      </p:sp>
      <p:sp>
        <p:nvSpPr>
          <p:cNvPr id="69" name="object 16">
            <a:extLst>
              <a:ext uri="{FF2B5EF4-FFF2-40B4-BE49-F238E27FC236}">
                <a16:creationId xmlns:a16="http://schemas.microsoft.com/office/drawing/2014/main" id="{BC902203-D164-6389-BA7B-9F9D8DC31F8B}"/>
              </a:ext>
            </a:extLst>
          </p:cNvPr>
          <p:cNvSpPr txBox="1"/>
          <p:nvPr/>
        </p:nvSpPr>
        <p:spPr>
          <a:xfrm>
            <a:off x="8811514" y="1412799"/>
            <a:ext cx="2701925" cy="440054"/>
          </a:xfrm>
          <a:prstGeom prst="rect">
            <a:avLst/>
          </a:prstGeom>
          <a:solidFill>
            <a:srgbClr val="2A9D8F"/>
          </a:solidFill>
          <a:ln>
            <a:noFill/>
          </a:ln>
        </p:spPr>
        <p:txBody>
          <a:bodyPr vert="horz" wrap="square" lIns="0" tIns="52705" rIns="0" bIns="0" rtlCol="0">
            <a:normAutofit/>
          </a:bodyPr>
          <a:lstStyle/>
          <a:p>
            <a:pPr marL="431165" marR="200660" indent="-221615">
              <a:lnSpc>
                <a:spcPct val="100000"/>
              </a:lnSpc>
              <a:spcBef>
                <a:spcPts val="415"/>
              </a:spcBef>
            </a:pPr>
            <a:r>
              <a:rPr sz="1100" dirty="0">
                <a:solidFill/>
                <a:latin typeface="Raleway"/>
                <a:cs typeface="Calibri Light"/>
              </a:rPr>
              <a:t>300+</a:t>
            </a:r>
            <a:r>
              <a:rPr sz="1100" spc="-10" dirty="0">
                <a:solidFill/>
                <a:latin typeface="Raleway"/>
                <a:cs typeface="Calibri Light"/>
              </a:rPr>
              <a:t> professionals</a:t>
            </a:r>
            <a:r>
              <a:rPr sz="1100" spc="-55" dirty="0">
                <a:solidFill/>
                <a:latin typeface="Raleway"/>
                <a:cs typeface="Calibri Light"/>
              </a:rPr>
              <a:t> </a:t>
            </a:r>
            <a:r>
              <a:rPr sz="1100" dirty="0">
                <a:solidFill/>
                <a:latin typeface="Raleway"/>
                <a:cs typeface="Calibri Light"/>
              </a:rPr>
              <a:t>across</a:t>
            </a:r>
            <a:r>
              <a:rPr sz="1100" spc="-20" dirty="0">
                <a:solidFill/>
                <a:latin typeface="Raleway"/>
                <a:cs typeface="Calibri Light"/>
              </a:rPr>
              <a:t> </a:t>
            </a:r>
            <a:r>
              <a:rPr sz="1100" spc="-10" dirty="0">
                <a:solidFill/>
                <a:latin typeface="Raleway"/>
                <a:cs typeface="Calibri Light"/>
              </a:rPr>
              <a:t>multi-</a:t>
            </a:r>
            <a:r>
              <a:rPr sz="1100" dirty="0">
                <a:solidFill/>
                <a:latin typeface="Raleway"/>
                <a:cs typeface="Calibri Light"/>
              </a:rPr>
              <a:t>city</a:t>
            </a:r>
            <a:r>
              <a:rPr sz="1100" spc="-10" dirty="0">
                <a:solidFill/>
                <a:latin typeface="Raleway"/>
                <a:cs typeface="Calibri Light"/>
              </a:rPr>
              <a:t> healthcare</a:t>
            </a:r>
            <a:r>
              <a:rPr sz="1100" spc="-15" dirty="0">
                <a:solidFill/>
                <a:latin typeface="Raleway"/>
                <a:cs typeface="Calibri Light"/>
              </a:rPr>
              <a:t> </a:t>
            </a:r>
            <a:r>
              <a:rPr sz="1100" spc="-10" dirty="0">
                <a:solidFill/>
                <a:latin typeface="Raleway"/>
                <a:cs typeface="Calibri Light"/>
              </a:rPr>
              <a:t>ecosystem</a:t>
            </a:r>
            <a:endParaRPr sz="1400">
              <a:latin typeface="Calibri Light"/>
              <a:cs typeface="Calibri Light"/>
            </a:endParaRPr>
          </a:p>
        </p:txBody>
      </p:sp>
      <p:sp>
        <p:nvSpPr>
          <p:cNvPr id="70" name="object 17">
            <a:extLst>
              <a:ext uri="{FF2B5EF4-FFF2-40B4-BE49-F238E27FC236}">
                <a16:creationId xmlns:a16="http://schemas.microsoft.com/office/drawing/2014/main" id="{84D6AD8E-8933-3426-D09F-77B643B7CA96}"/>
              </a:ext>
            </a:extLst>
          </p:cNvPr>
          <p:cNvSpPr/>
          <p:nvPr/>
        </p:nvSpPr>
        <p:spPr>
          <a:xfrm>
            <a:off x="1246911" y="2783077"/>
            <a:ext cx="2340610" cy="114300"/>
          </a:xfrm>
          <a:custGeom>
            <a:avLst/>
            <a:gdLst/>
            <a:ahLst/>
            <a:cxnLst/>
            <a:rect l="l" t="t" r="r" b="b"/>
            <a:pathLst>
              <a:path w="2340610" h="114300">
                <a:moveTo>
                  <a:pt x="114274" y="0"/>
                </a:moveTo>
                <a:lnTo>
                  <a:pt x="0" y="57150"/>
                </a:lnTo>
                <a:lnTo>
                  <a:pt x="114274" y="114300"/>
                </a:lnTo>
                <a:lnTo>
                  <a:pt x="114274" y="76200"/>
                </a:lnTo>
                <a:lnTo>
                  <a:pt x="95224" y="76200"/>
                </a:lnTo>
                <a:lnTo>
                  <a:pt x="95224" y="38100"/>
                </a:lnTo>
                <a:lnTo>
                  <a:pt x="114274" y="38100"/>
                </a:lnTo>
                <a:lnTo>
                  <a:pt x="114274" y="0"/>
                </a:lnTo>
                <a:close/>
              </a:path>
              <a:path w="2340610" h="114300">
                <a:moveTo>
                  <a:pt x="2225903" y="0"/>
                </a:moveTo>
                <a:lnTo>
                  <a:pt x="2225903" y="114300"/>
                </a:lnTo>
                <a:lnTo>
                  <a:pt x="2302103" y="76200"/>
                </a:lnTo>
                <a:lnTo>
                  <a:pt x="2244953" y="76200"/>
                </a:lnTo>
                <a:lnTo>
                  <a:pt x="2244953" y="38100"/>
                </a:lnTo>
                <a:lnTo>
                  <a:pt x="2302103" y="38100"/>
                </a:lnTo>
                <a:lnTo>
                  <a:pt x="2225903" y="0"/>
                </a:lnTo>
                <a:close/>
              </a:path>
              <a:path w="2340610" h="114300">
                <a:moveTo>
                  <a:pt x="114274" y="38100"/>
                </a:moveTo>
                <a:lnTo>
                  <a:pt x="95224" y="38100"/>
                </a:lnTo>
                <a:lnTo>
                  <a:pt x="95224" y="76200"/>
                </a:lnTo>
                <a:lnTo>
                  <a:pt x="114274" y="76200"/>
                </a:lnTo>
                <a:lnTo>
                  <a:pt x="114274" y="38100"/>
                </a:lnTo>
                <a:close/>
              </a:path>
              <a:path w="2340610" h="114300">
                <a:moveTo>
                  <a:pt x="2225903" y="38100"/>
                </a:moveTo>
                <a:lnTo>
                  <a:pt x="114274" y="38100"/>
                </a:lnTo>
                <a:lnTo>
                  <a:pt x="114274" y="76200"/>
                </a:lnTo>
                <a:lnTo>
                  <a:pt x="2225903" y="76200"/>
                </a:lnTo>
                <a:lnTo>
                  <a:pt x="2225903" y="38100"/>
                </a:lnTo>
                <a:close/>
              </a:path>
              <a:path w="2340610" h="114300">
                <a:moveTo>
                  <a:pt x="2302103" y="38100"/>
                </a:moveTo>
                <a:lnTo>
                  <a:pt x="2244953" y="38100"/>
                </a:lnTo>
                <a:lnTo>
                  <a:pt x="2244953" y="76200"/>
                </a:lnTo>
                <a:lnTo>
                  <a:pt x="2302103" y="76200"/>
                </a:lnTo>
                <a:lnTo>
                  <a:pt x="2340203" y="57150"/>
                </a:lnTo>
                <a:lnTo>
                  <a:pt x="2302103" y="38100"/>
                </a:lnTo>
                <a:close/>
              </a:path>
            </a:pathLst>
          </a:custGeom>
          <a:solidFill>
            <a:srgbClr val="F5F5F5"/>
          </a:solidFill>
          <a:ln w="9525">
            <a:solidFill>
              <a:srgbClr val="DEDEDE"/>
            </a:solidFill>
          </a:ln>
          <a:effectLst/>
        </p:spPr>
        <p:txBody>
          <a:bodyPr wrap="square" lIns="0" tIns="0" rIns="0" bIns="0" rtlCol="0"/>
          <a:lstStyle/>
          <a:p>
            <a:endParaRPr/>
          </a:p>
        </p:txBody>
      </p:sp>
      <p:sp>
        <p:nvSpPr>
          <p:cNvPr id="71" name="object 18">
            <a:extLst>
              <a:ext uri="{FF2B5EF4-FFF2-40B4-BE49-F238E27FC236}">
                <a16:creationId xmlns:a16="http://schemas.microsoft.com/office/drawing/2014/main" id="{5DDE2485-0B78-BAE4-E939-9386FB40713D}"/>
              </a:ext>
            </a:extLst>
          </p:cNvPr>
          <p:cNvSpPr/>
          <p:nvPr/>
        </p:nvSpPr>
        <p:spPr>
          <a:xfrm>
            <a:off x="3685286" y="2783077"/>
            <a:ext cx="7633970" cy="114300"/>
          </a:xfrm>
          <a:custGeom>
            <a:avLst/>
            <a:gdLst/>
            <a:ahLst/>
            <a:cxnLst/>
            <a:rect l="l" t="t" r="r" b="b"/>
            <a:pathLst>
              <a:path w="7633970" h="114300">
                <a:moveTo>
                  <a:pt x="3782314" y="57150"/>
                </a:moveTo>
                <a:lnTo>
                  <a:pt x="3744214" y="38100"/>
                </a:lnTo>
                <a:lnTo>
                  <a:pt x="3668014" y="0"/>
                </a:lnTo>
                <a:lnTo>
                  <a:pt x="3668014" y="38100"/>
                </a:lnTo>
                <a:lnTo>
                  <a:pt x="114300" y="38100"/>
                </a:lnTo>
                <a:lnTo>
                  <a:pt x="114300" y="0"/>
                </a:lnTo>
                <a:lnTo>
                  <a:pt x="0" y="57150"/>
                </a:lnTo>
                <a:lnTo>
                  <a:pt x="114300" y="114300"/>
                </a:lnTo>
                <a:lnTo>
                  <a:pt x="114300" y="76200"/>
                </a:lnTo>
                <a:lnTo>
                  <a:pt x="3668014" y="76200"/>
                </a:lnTo>
                <a:lnTo>
                  <a:pt x="3668014" y="114300"/>
                </a:lnTo>
                <a:lnTo>
                  <a:pt x="3744214" y="76200"/>
                </a:lnTo>
                <a:lnTo>
                  <a:pt x="3782314" y="57150"/>
                </a:lnTo>
                <a:close/>
              </a:path>
              <a:path w="7633970" h="114300">
                <a:moveTo>
                  <a:pt x="7633843" y="57150"/>
                </a:moveTo>
                <a:lnTo>
                  <a:pt x="7595743" y="38100"/>
                </a:lnTo>
                <a:lnTo>
                  <a:pt x="7519543" y="0"/>
                </a:lnTo>
                <a:lnTo>
                  <a:pt x="7519543" y="38100"/>
                </a:lnTo>
                <a:lnTo>
                  <a:pt x="3965829" y="38100"/>
                </a:lnTo>
                <a:lnTo>
                  <a:pt x="3965829" y="0"/>
                </a:lnTo>
                <a:lnTo>
                  <a:pt x="3851529" y="57150"/>
                </a:lnTo>
                <a:lnTo>
                  <a:pt x="3965829" y="114300"/>
                </a:lnTo>
                <a:lnTo>
                  <a:pt x="3965829" y="76200"/>
                </a:lnTo>
                <a:lnTo>
                  <a:pt x="7519543" y="76200"/>
                </a:lnTo>
                <a:lnTo>
                  <a:pt x="7519543" y="114300"/>
                </a:lnTo>
                <a:lnTo>
                  <a:pt x="7595743" y="76200"/>
                </a:lnTo>
                <a:lnTo>
                  <a:pt x="7633843" y="57150"/>
                </a:lnTo>
                <a:close/>
              </a:path>
            </a:pathLst>
          </a:custGeom>
          <a:solidFill>
            <a:srgbClr val="F5F5F5"/>
          </a:solidFill>
          <a:ln w="9525">
            <a:solidFill>
              <a:srgbClr val="DEDEDE"/>
            </a:solidFill>
          </a:ln>
          <a:effectLst/>
        </p:spPr>
        <p:txBody>
          <a:bodyPr wrap="square" lIns="0" tIns="0" rIns="0" bIns="0" rtlCol="0"/>
          <a:lstStyle/>
          <a:p>
            <a:endParaRPr/>
          </a:p>
        </p:txBody>
      </p:sp>
      <p:sp>
        <p:nvSpPr>
          <p:cNvPr id="72" name="object 19">
            <a:extLst>
              <a:ext uri="{FF2B5EF4-FFF2-40B4-BE49-F238E27FC236}">
                <a16:creationId xmlns:a16="http://schemas.microsoft.com/office/drawing/2014/main" id="{D9D5E6A3-646B-BAE6-3EAB-AB764CF9FF6A}"/>
              </a:ext>
            </a:extLst>
          </p:cNvPr>
          <p:cNvSpPr txBox="1"/>
          <p:nvPr/>
        </p:nvSpPr>
        <p:spPr>
          <a:xfrm>
            <a:off x="1636522" y="2871927"/>
            <a:ext cx="1672589" cy="483234"/>
          </a:xfrm>
          <a:prstGeom prst="rect">
            <a:avLst/>
          </a:prstGeom>
        </p:spPr>
        <p:txBody>
          <a:bodyPr vert="horz" wrap="square" lIns="0" tIns="12700" rIns="0" bIns="0" rtlCol="0">
            <a:normAutofit fontScale="97486"/>
          </a:bodyPr>
          <a:lstStyle/>
          <a:p>
            <a:pPr>
              <a:lnSpc>
                <a:spcPct val="100000"/>
              </a:lnSpc>
              <a:spcBef>
                <a:spcPts val="100"/>
              </a:spcBef>
            </a:pPr>
            <a:r>
              <a:rPr sz="1400" dirty="0">
                <a:solidFill>
                  <a:srgbClr val="2A9D8F"/>
                </a:solidFill>
                <a:latin typeface="Roboto Condensed"/>
                <a:cs typeface="Calibri Light"/>
              </a:rPr>
              <a:t>Phase</a:t>
            </a:r>
            <a:r>
              <a:rPr sz="1400" spc="-45" dirty="0">
                <a:solidFill>
                  <a:srgbClr val="2A9D8F"/>
                </a:solidFill>
                <a:latin typeface="Roboto Condensed"/>
                <a:cs typeface="Calibri Light"/>
              </a:rPr>
              <a:t> </a:t>
            </a:r>
            <a:r>
              <a:rPr sz="1400" dirty="0">
                <a:solidFill>
                  <a:srgbClr val="2A9D8F"/>
                </a:solidFill>
                <a:latin typeface="Roboto Condensed"/>
                <a:cs typeface="Calibri Light"/>
              </a:rPr>
              <a:t>I</a:t>
            </a:r>
            <a:r>
              <a:rPr sz="1400" spc="-5" dirty="0">
                <a:solidFill>
                  <a:srgbClr val="2A9D8F"/>
                </a:solidFill>
                <a:latin typeface="Roboto Condensed"/>
                <a:cs typeface="Calibri Light"/>
              </a:rPr>
              <a:t> </a:t>
            </a:r>
            <a:r>
              <a:rPr sz="1400" spc="-20" dirty="0">
                <a:solidFill>
                  <a:srgbClr val="2A9D8F"/>
                </a:solidFill>
                <a:latin typeface="Roboto Condensed"/>
                <a:cs typeface="Calibri Light"/>
              </a:rPr>
              <a:t>(FY21–FY22)</a:t>
            </a:r>
            <a:r>
              <a:rPr sz="1400" spc="-35" dirty="0">
                <a:solidFill>
                  <a:srgbClr val="2A9D8F"/>
                </a:solidFill>
                <a:latin typeface="Roboto Condensed"/>
                <a:cs typeface="Calibri Light"/>
              </a:rPr>
              <a:t> </a:t>
            </a:r>
            <a:r>
              <a:rPr sz="1400" spc="-50" dirty="0">
                <a:solidFill>
                  <a:srgbClr val="2A9D8F"/>
                </a:solidFill>
                <a:latin typeface="Roboto Condensed"/>
                <a:cs typeface="Calibri Light"/>
              </a:rPr>
              <a:t>–</a:t>
            </a:r>
            <a:endParaRPr sz="1400" dirty="0">
              <a:latin typeface="Calibri Light"/>
              <a:cs typeface="Calibri Light"/>
            </a:endParaRPr>
          </a:p>
          <a:p>
            <a:pPr marL="3175">
              <a:lnSpc>
                <a:spcPct val="100000"/>
              </a:lnSpc>
              <a:spcBef>
                <a:spcPts val="5"/>
              </a:spcBef>
            </a:pPr>
            <a:r>
              <a:rPr sz="1400" spc="-20" dirty="0">
                <a:solidFill>
                  <a:srgbClr val="2A9D8F"/>
                </a:solidFill>
                <a:latin typeface="Roboto Condensed"/>
                <a:cs typeface="Calibri Light"/>
              </a:rPr>
              <a:t>Foundation Setup</a:t>
            </a:r>
            <a:endParaRPr sz="1400" dirty="0">
              <a:latin typeface="Calibri Light"/>
              <a:cs typeface="Calibri Light"/>
            </a:endParaRPr>
          </a:p>
        </p:txBody>
      </p:sp>
      <p:sp>
        <p:nvSpPr>
          <p:cNvPr id="73" name="object 20">
            <a:extLst>
              <a:ext uri="{FF2B5EF4-FFF2-40B4-BE49-F238E27FC236}">
                <a16:creationId xmlns:a16="http://schemas.microsoft.com/office/drawing/2014/main" id="{AA44CB84-FCA6-B886-D3A7-6BA2810B6488}"/>
              </a:ext>
            </a:extLst>
          </p:cNvPr>
          <p:cNvSpPr txBox="1"/>
          <p:nvPr/>
        </p:nvSpPr>
        <p:spPr>
          <a:xfrm>
            <a:off x="4135882" y="2893898"/>
            <a:ext cx="2635250" cy="483234"/>
          </a:xfrm>
          <a:prstGeom prst="rect">
            <a:avLst/>
          </a:prstGeom>
        </p:spPr>
        <p:txBody>
          <a:bodyPr vert="horz" wrap="square" lIns="0" tIns="12700" rIns="0" bIns="0" rtlCol="0">
            <a:normAutofit fontScale="97486"/>
          </a:bodyPr>
          <a:lstStyle/>
          <a:p>
            <a:pPr>
              <a:lnSpc>
                <a:spcPct val="100000"/>
              </a:lnSpc>
              <a:spcBef>
                <a:spcPts val="100"/>
              </a:spcBef>
            </a:pPr>
            <a:r>
              <a:rPr sz="1400" dirty="0">
                <a:solidFill>
                  <a:srgbClr val="2A9D8F"/>
                </a:solidFill>
                <a:latin typeface="Roboto Condensed"/>
                <a:cs typeface="Calibri Light"/>
              </a:rPr>
              <a:t>Phase</a:t>
            </a:r>
            <a:r>
              <a:rPr sz="1400" spc="-45" dirty="0">
                <a:solidFill>
                  <a:srgbClr val="2A9D8F"/>
                </a:solidFill>
                <a:latin typeface="Roboto Condensed"/>
                <a:cs typeface="Calibri Light"/>
              </a:rPr>
              <a:t> </a:t>
            </a:r>
            <a:r>
              <a:rPr sz="1400" dirty="0">
                <a:solidFill>
                  <a:srgbClr val="2A9D8F"/>
                </a:solidFill>
                <a:latin typeface="Roboto Condensed"/>
                <a:cs typeface="Calibri Light"/>
              </a:rPr>
              <a:t>II</a:t>
            </a:r>
            <a:r>
              <a:rPr sz="1400" spc="-20" dirty="0">
                <a:solidFill>
                  <a:srgbClr val="2A9D8F"/>
                </a:solidFill>
                <a:latin typeface="Roboto Condensed"/>
                <a:cs typeface="Calibri Light"/>
              </a:rPr>
              <a:t> (FY23–FY24)</a:t>
            </a:r>
            <a:r>
              <a:rPr sz="1400" spc="-35" dirty="0">
                <a:solidFill>
                  <a:srgbClr val="2A9D8F"/>
                </a:solidFill>
                <a:latin typeface="Roboto Condensed"/>
                <a:cs typeface="Calibri Light"/>
              </a:rPr>
              <a:t> </a:t>
            </a:r>
            <a:r>
              <a:rPr sz="1400" dirty="0">
                <a:solidFill>
                  <a:srgbClr val="2A9D8F"/>
                </a:solidFill>
                <a:latin typeface="Roboto Condensed"/>
                <a:cs typeface="Calibri Light"/>
              </a:rPr>
              <a:t>–</a:t>
            </a:r>
            <a:r>
              <a:rPr sz="1400" spc="-5" dirty="0">
                <a:solidFill>
                  <a:srgbClr val="2A9D8F"/>
                </a:solidFill>
                <a:latin typeface="Roboto Condensed"/>
                <a:cs typeface="Calibri Light"/>
              </a:rPr>
              <a:t> </a:t>
            </a:r>
            <a:r>
              <a:rPr sz="1400" spc="-10" dirty="0">
                <a:solidFill>
                  <a:srgbClr val="2A9D8F"/>
                </a:solidFill>
                <a:latin typeface="Roboto Condensed"/>
                <a:cs typeface="Calibri Light"/>
              </a:rPr>
              <a:t>AI-Powered</a:t>
            </a:r>
            <a:endParaRPr sz="1400" dirty="0">
              <a:latin typeface="Calibri Light"/>
              <a:cs typeface="Calibri Light"/>
            </a:endParaRPr>
          </a:p>
          <a:p>
            <a:pPr>
              <a:lnSpc>
                <a:spcPct val="100000"/>
              </a:lnSpc>
              <a:spcBef>
                <a:spcPts val="5"/>
              </a:spcBef>
            </a:pPr>
            <a:r>
              <a:rPr sz="1400" spc="-10" dirty="0">
                <a:solidFill>
                  <a:srgbClr val="2A9D8F"/>
                </a:solidFill>
                <a:latin typeface="Roboto Condensed"/>
                <a:cs typeface="Calibri Light"/>
              </a:rPr>
              <a:t>Scaling</a:t>
            </a:r>
            <a:endParaRPr sz="1400" dirty="0">
              <a:latin typeface="Calibri Light"/>
              <a:cs typeface="Calibri Light"/>
            </a:endParaRPr>
          </a:p>
        </p:txBody>
      </p:sp>
      <p:sp>
        <p:nvSpPr>
          <p:cNvPr id="74" name="object 21">
            <a:extLst>
              <a:ext uri="{FF2B5EF4-FFF2-40B4-BE49-F238E27FC236}">
                <a16:creationId xmlns:a16="http://schemas.microsoft.com/office/drawing/2014/main" id="{BA1BC4B5-08E4-1B6D-70A6-3FD9C9575975}"/>
              </a:ext>
            </a:extLst>
          </p:cNvPr>
          <p:cNvSpPr txBox="1"/>
          <p:nvPr/>
        </p:nvSpPr>
        <p:spPr>
          <a:xfrm>
            <a:off x="11376151" y="2935115"/>
            <a:ext cx="2291080" cy="482600"/>
          </a:xfrm>
          <a:prstGeom prst="rect">
            <a:avLst/>
          </a:prstGeom>
        </p:spPr>
        <p:txBody>
          <a:bodyPr vert="horz" wrap="square" lIns="0" tIns="12700" rIns="0" bIns="0" rtlCol="0">
            <a:normAutofit/>
          </a:bodyPr>
          <a:lstStyle/>
          <a:p>
            <a:pPr marL="558165" marR="5080" indent="-546100">
              <a:lnSpc>
                <a:spcPct val="100000"/>
              </a:lnSpc>
              <a:spcBef>
                <a:spcPts val="100"/>
              </a:spcBef>
            </a:pPr>
            <a:endParaRPr sz="1400" dirty="0">
              <a:latin typeface="Calibri Light"/>
              <a:cs typeface="Calibri Light"/>
            </a:endParaRPr>
          </a:p>
        </p:txBody>
      </p:sp>
      <p:sp>
        <p:nvSpPr>
          <p:cNvPr id="75" name="object 22">
            <a:extLst>
              <a:ext uri="{FF2B5EF4-FFF2-40B4-BE49-F238E27FC236}">
                <a16:creationId xmlns:a16="http://schemas.microsoft.com/office/drawing/2014/main" id="{71C3733F-594D-D2B1-8F52-B5C758741446}"/>
              </a:ext>
            </a:extLst>
          </p:cNvPr>
          <p:cNvSpPr txBox="1"/>
          <p:nvPr/>
        </p:nvSpPr>
        <p:spPr>
          <a:xfrm>
            <a:off x="83125" y="3477475"/>
            <a:ext cx="1188085" cy="346710"/>
          </a:xfrm>
          <a:prstGeom prst="rect">
            <a:avLst/>
          </a:prstGeom>
          <a:solidFill>
            <a:srgbClr val="747474"/>
          </a:solidFill>
        </p:spPr>
        <p:txBody>
          <a:bodyPr vert="horz" wrap="square" lIns="0" tIns="55244" rIns="0" bIns="0" rtlCol="0">
            <a:normAutofit/>
          </a:bodyPr>
          <a:lstStyle/>
          <a:p>
            <a:pPr marL="263525">
              <a:lnSpc>
                <a:spcPct val="100000"/>
              </a:lnSpc>
              <a:spcBef>
                <a:spcPts val="434"/>
              </a:spcBef>
            </a:pPr>
            <a:r>
              <a:rPr sz="1100" spc="-10" dirty="0">
                <a:solidFill>
                  <a:srgbClr val="FFFFFF"/>
                </a:solidFill>
                <a:latin typeface="Raleway"/>
                <a:cs typeface="Calibri Light"/>
              </a:rPr>
              <a:t>Key</a:t>
            </a:r>
            <a:r>
              <a:rPr sz="1100" spc="-60" dirty="0">
                <a:solidFill>
                  <a:srgbClr val="FFFFFF"/>
                </a:solidFill>
                <a:latin typeface="Raleway"/>
                <a:cs typeface="Calibri Light"/>
              </a:rPr>
              <a:t> </a:t>
            </a:r>
            <a:r>
              <a:rPr sz="1100" spc="-10" dirty="0">
                <a:solidFill>
                  <a:srgbClr val="FFFFFF"/>
                </a:solidFill>
                <a:latin typeface="Raleway"/>
                <a:cs typeface="Calibri Light"/>
              </a:rPr>
              <a:t>Label</a:t>
            </a:r>
            <a:endParaRPr sz="1400">
              <a:latin typeface="Calibri Light"/>
              <a:cs typeface="Calibri Light"/>
            </a:endParaRPr>
          </a:p>
        </p:txBody>
      </p:sp>
      <p:grpSp>
        <p:nvGrpSpPr>
          <p:cNvPr id="76" name="object 23">
            <a:extLst>
              <a:ext uri="{FF2B5EF4-FFF2-40B4-BE49-F238E27FC236}">
                <a16:creationId xmlns:a16="http://schemas.microsoft.com/office/drawing/2014/main" id="{F16F72CB-1619-D79F-EA5D-50D6AF3129A0}"/>
              </a:ext>
            </a:extLst>
          </p:cNvPr>
          <p:cNvGrpSpPr/>
          <p:nvPr/>
        </p:nvGrpSpPr>
        <p:grpSpPr>
          <a:xfrm>
            <a:off x="1400555" y="2831719"/>
            <a:ext cx="10670540" cy="3909695"/>
            <a:chOff x="1400555" y="2831719"/>
            <a:chExt cx="10670540" cy="3909695"/>
          </a:xfrm>
        </p:grpSpPr>
        <p:pic>
          <p:nvPicPr>
            <p:cNvPr id="77" name="object 24">
              <a:extLst>
                <a:ext uri="{FF2B5EF4-FFF2-40B4-BE49-F238E27FC236}">
                  <a16:creationId xmlns:a16="http://schemas.microsoft.com/office/drawing/2014/main" id="{8EDE3EB9-B16B-2433-AA35-D9D890142DEE}"/>
                </a:ext>
              </a:extLst>
            </p:cNvPr>
            <p:cNvPicPr/>
            <p:nvPr/>
          </p:nvPicPr>
          <p:blipFill>
            <a:blip r:embed="rId3" cstate="print"/>
            <a:stretch>
              <a:fillRect/>
            </a:stretch>
          </p:blipFill>
          <p:spPr>
            <a:xfrm>
              <a:off x="1400555" y="3427704"/>
              <a:ext cx="10670540" cy="461670"/>
            </a:xfrm>
            <a:prstGeom prst="rect">
              <a:avLst/>
            </a:prstGeom>
          </p:spPr>
        </p:pic>
        <p:pic>
          <p:nvPicPr>
            <p:cNvPr id="78" name="object 25">
              <a:extLst>
                <a:ext uri="{FF2B5EF4-FFF2-40B4-BE49-F238E27FC236}">
                  <a16:creationId xmlns:a16="http://schemas.microsoft.com/office/drawing/2014/main" id="{38D3A1E8-BC97-420D-3C35-0A76F30BE57B}"/>
                </a:ext>
              </a:extLst>
            </p:cNvPr>
            <p:cNvPicPr/>
            <p:nvPr/>
          </p:nvPicPr>
          <p:blipFill>
            <a:blip r:embed="rId4" cstate="print"/>
            <a:stretch>
              <a:fillRect/>
            </a:stretch>
          </p:blipFill>
          <p:spPr>
            <a:xfrm>
              <a:off x="1400555" y="3955326"/>
              <a:ext cx="10670540" cy="2201799"/>
            </a:xfrm>
            <a:prstGeom prst="rect">
              <a:avLst/>
            </a:prstGeom>
          </p:spPr>
        </p:pic>
        <p:sp>
          <p:nvSpPr>
            <p:cNvPr id="79" name="object 26">
              <a:extLst>
                <a:ext uri="{FF2B5EF4-FFF2-40B4-BE49-F238E27FC236}">
                  <a16:creationId xmlns:a16="http://schemas.microsoft.com/office/drawing/2014/main" id="{94CC75C8-AE0D-B82E-9B0B-B49933BD48CF}"/>
                </a:ext>
              </a:extLst>
            </p:cNvPr>
            <p:cNvSpPr/>
            <p:nvPr/>
          </p:nvSpPr>
          <p:spPr>
            <a:xfrm>
              <a:off x="3658235" y="2841244"/>
              <a:ext cx="0" cy="3240405"/>
            </a:xfrm>
            <a:custGeom>
              <a:avLst/>
              <a:gdLst/>
              <a:ahLst/>
              <a:cxnLst/>
              <a:rect l="l" t="t" r="r" b="b"/>
              <a:pathLst>
                <a:path h="3240404">
                  <a:moveTo>
                    <a:pt x="0" y="0"/>
                  </a:moveTo>
                  <a:lnTo>
                    <a:pt x="0" y="3239985"/>
                  </a:lnTo>
                </a:path>
              </a:pathLst>
            </a:custGeom>
            <a:ln w="19050">
              <a:solidFill>
                <a:srgbClr val="000000"/>
              </a:solidFill>
              <a:prstDash val="sysDash"/>
            </a:ln>
          </p:spPr>
          <p:txBody>
            <a:bodyPr wrap="square" lIns="0" tIns="0" rIns="0" bIns="0" rtlCol="0"/>
            <a:lstStyle/>
            <a:p>
              <a:endParaRPr/>
            </a:p>
          </p:txBody>
        </p:sp>
        <p:sp>
          <p:nvSpPr>
            <p:cNvPr id="80" name="object 27">
              <a:extLst>
                <a:ext uri="{FF2B5EF4-FFF2-40B4-BE49-F238E27FC236}">
                  <a16:creationId xmlns:a16="http://schemas.microsoft.com/office/drawing/2014/main" id="{65070CEF-8E7D-321A-E5AA-2EC5DE15919A}"/>
                </a:ext>
              </a:extLst>
            </p:cNvPr>
            <p:cNvSpPr/>
            <p:nvPr/>
          </p:nvSpPr>
          <p:spPr>
            <a:xfrm>
              <a:off x="1622424" y="6201054"/>
              <a:ext cx="2520315" cy="540385"/>
            </a:xfrm>
            <a:custGeom>
              <a:avLst/>
              <a:gdLst/>
              <a:ahLst/>
              <a:cxnLst/>
              <a:rect l="l" t="t" r="r" b="b"/>
              <a:pathLst>
                <a:path w="2520315" h="540384">
                  <a:moveTo>
                    <a:pt x="2430017" y="0"/>
                  </a:moveTo>
                  <a:lnTo>
                    <a:pt x="89916" y="0"/>
                  </a:lnTo>
                  <a:lnTo>
                    <a:pt x="54917" y="7073"/>
                  </a:lnTo>
                  <a:lnTo>
                    <a:pt x="26336" y="26362"/>
                  </a:lnTo>
                  <a:lnTo>
                    <a:pt x="7066" y="54971"/>
                  </a:lnTo>
                  <a:lnTo>
                    <a:pt x="0" y="90004"/>
                  </a:lnTo>
                  <a:lnTo>
                    <a:pt x="0" y="449999"/>
                  </a:lnTo>
                  <a:lnTo>
                    <a:pt x="7066" y="485033"/>
                  </a:lnTo>
                  <a:lnTo>
                    <a:pt x="26336" y="513642"/>
                  </a:lnTo>
                  <a:lnTo>
                    <a:pt x="54917" y="532931"/>
                  </a:lnTo>
                  <a:lnTo>
                    <a:pt x="89916" y="540005"/>
                  </a:lnTo>
                  <a:lnTo>
                    <a:pt x="2430017" y="540005"/>
                  </a:lnTo>
                  <a:lnTo>
                    <a:pt x="2465016" y="532931"/>
                  </a:lnTo>
                  <a:lnTo>
                    <a:pt x="2493597" y="513642"/>
                  </a:lnTo>
                  <a:lnTo>
                    <a:pt x="2512867" y="485033"/>
                  </a:lnTo>
                  <a:lnTo>
                    <a:pt x="2519934" y="449999"/>
                  </a:lnTo>
                  <a:lnTo>
                    <a:pt x="2519934" y="90004"/>
                  </a:lnTo>
                  <a:lnTo>
                    <a:pt x="2512867" y="54971"/>
                  </a:lnTo>
                  <a:lnTo>
                    <a:pt x="2493597" y="26362"/>
                  </a:lnTo>
                  <a:lnTo>
                    <a:pt x="2465016" y="7073"/>
                  </a:lnTo>
                  <a:lnTo>
                    <a:pt x="2430017" y="0"/>
                  </a:lnTo>
                  <a:close/>
                </a:path>
              </a:pathLst>
            </a:custGeom>
            <a:solidFill>
              <a:srgbClr val="F5F5F5"/>
            </a:solidFill>
            <a:ln w="9525">
              <a:solidFill>
                <a:srgbClr val="DEDEDE"/>
              </a:solidFill>
            </a:ln>
            <a:effectLst/>
          </p:spPr>
          <p:txBody>
            <a:bodyPr wrap="square" lIns="0" tIns="0" rIns="0" bIns="0" rtlCol="0"/>
            <a:lstStyle/>
            <a:p>
              <a:endParaRPr/>
            </a:p>
          </p:txBody>
        </p:sp>
      </p:grpSp>
      <p:sp>
        <p:nvSpPr>
          <p:cNvPr id="81" name="object 28">
            <a:extLst>
              <a:ext uri="{FF2B5EF4-FFF2-40B4-BE49-F238E27FC236}">
                <a16:creationId xmlns:a16="http://schemas.microsoft.com/office/drawing/2014/main" id="{1B71FE42-750F-1660-9DC4-4B2147DA5900}"/>
              </a:ext>
            </a:extLst>
          </p:cNvPr>
          <p:cNvSpPr txBox="1"/>
          <p:nvPr/>
        </p:nvSpPr>
        <p:spPr>
          <a:xfrm>
            <a:off x="83125" y="4027932"/>
            <a:ext cx="1188085" cy="793750"/>
          </a:xfrm>
          <a:prstGeom prst="rect">
            <a:avLst/>
          </a:prstGeom>
          <a:solidFill>
            <a:srgbClr val="747474"/>
          </a:solidFill>
        </p:spPr>
        <p:txBody>
          <a:bodyPr vert="horz" wrap="square" lIns="0" tIns="74930" rIns="0" bIns="0" rtlCol="0">
            <a:normAutofit/>
          </a:bodyPr>
          <a:lstStyle/>
          <a:p>
            <a:pPr>
              <a:lnSpc>
                <a:spcPct val="100000"/>
              </a:lnSpc>
              <a:spcBef>
                <a:spcPts val="590"/>
              </a:spcBef>
            </a:pPr>
            <a:endParaRPr sz="1400">
              <a:latin typeface="Times New Roman"/>
              <a:cs typeface="Times New Roman"/>
            </a:endParaRPr>
          </a:p>
          <a:p>
            <a:pPr marL="207010">
              <a:lnSpc>
                <a:spcPct val="100000"/>
              </a:lnSpc>
            </a:pPr>
            <a:r>
              <a:rPr sz="1100" spc="-10" dirty="0">
                <a:solidFill>
                  <a:srgbClr val="FFFFFF"/>
                </a:solidFill>
                <a:latin typeface="Raleway"/>
                <a:cs typeface="Calibri Light"/>
              </a:rPr>
              <a:t>Milestones</a:t>
            </a:r>
            <a:endParaRPr sz="1400">
              <a:latin typeface="Calibri Light"/>
              <a:cs typeface="Calibri Light"/>
            </a:endParaRPr>
          </a:p>
        </p:txBody>
      </p:sp>
      <p:sp>
        <p:nvSpPr>
          <p:cNvPr id="82" name="object 29">
            <a:extLst>
              <a:ext uri="{FF2B5EF4-FFF2-40B4-BE49-F238E27FC236}">
                <a16:creationId xmlns:a16="http://schemas.microsoft.com/office/drawing/2014/main" id="{29C98C35-F86F-86F9-6AEA-F4FF19127F7C}"/>
              </a:ext>
            </a:extLst>
          </p:cNvPr>
          <p:cNvSpPr txBox="1"/>
          <p:nvPr/>
        </p:nvSpPr>
        <p:spPr>
          <a:xfrm>
            <a:off x="1740789" y="6340551"/>
            <a:ext cx="2284730" cy="240029"/>
          </a:xfrm>
          <a:prstGeom prst="rect">
            <a:avLst/>
          </a:prstGeom>
        </p:spPr>
        <p:txBody>
          <a:bodyPr vert="horz" wrap="square" lIns="0" tIns="13335" rIns="0" bIns="0" rtlCol="0">
            <a:normAutofit/>
          </a:bodyPr>
          <a:lstStyle/>
          <a:p>
            <a:pPr marL="12700">
              <a:lnSpc>
                <a:spcPct val="100000"/>
              </a:lnSpc>
              <a:spcBef>
                <a:spcPts val="105"/>
              </a:spcBef>
            </a:pPr>
            <a:r>
              <a:rPr sz="1100" dirty="0">
                <a:solidFill>
                  <a:srgbClr val="2A9D8F"/>
                </a:solidFill>
                <a:latin typeface="Raleway"/>
                <a:cs typeface="Calibri Light"/>
              </a:rPr>
              <a:t>40%</a:t>
            </a:r>
            <a:r>
              <a:rPr sz="1100" spc="-30" dirty="0">
                <a:solidFill>
                  <a:srgbClr val="2A9D8F"/>
                </a:solidFill>
                <a:latin typeface="Raleway"/>
                <a:cs typeface="Calibri Light"/>
              </a:rPr>
              <a:t> </a:t>
            </a:r>
            <a:r>
              <a:rPr sz="1100" spc="-20" dirty="0">
                <a:solidFill>
                  <a:srgbClr val="2A9D8F"/>
                </a:solidFill>
                <a:latin typeface="Raleway"/>
                <a:cs typeface="Calibri Light"/>
              </a:rPr>
              <a:t>Faster</a:t>
            </a:r>
            <a:r>
              <a:rPr sz="1100" spc="-35" dirty="0">
                <a:solidFill>
                  <a:srgbClr val="2A9D8F"/>
                </a:solidFill>
                <a:latin typeface="Raleway"/>
                <a:cs typeface="Calibri Light"/>
              </a:rPr>
              <a:t> </a:t>
            </a:r>
            <a:r>
              <a:rPr sz="1100" spc="-20" dirty="0">
                <a:solidFill>
                  <a:srgbClr val="2A9D8F"/>
                </a:solidFill>
                <a:latin typeface="Raleway"/>
                <a:cs typeface="Calibri Light"/>
              </a:rPr>
              <a:t>Device</a:t>
            </a:r>
            <a:r>
              <a:rPr sz="1100" spc="-55" dirty="0">
                <a:solidFill>
                  <a:srgbClr val="2A9D8F"/>
                </a:solidFill>
                <a:latin typeface="Raleway"/>
                <a:cs typeface="Calibri Light"/>
              </a:rPr>
              <a:t> </a:t>
            </a:r>
            <a:r>
              <a:rPr sz="1100" spc="-10" dirty="0">
                <a:solidFill>
                  <a:srgbClr val="2A9D8F"/>
                </a:solidFill>
                <a:latin typeface="Raleway"/>
                <a:cs typeface="Calibri Light"/>
              </a:rPr>
              <a:t>Development</a:t>
            </a:r>
            <a:endParaRPr sz="1400" dirty="0">
              <a:solidFill>
                <a:srgbClr val="2A9D8F"/>
              </a:solidFill>
              <a:latin typeface="Calibri Light"/>
              <a:cs typeface="Calibri Light"/>
            </a:endParaRPr>
          </a:p>
        </p:txBody>
      </p:sp>
      <p:sp>
        <p:nvSpPr>
          <p:cNvPr id="83" name="object 30">
            <a:extLst>
              <a:ext uri="{FF2B5EF4-FFF2-40B4-BE49-F238E27FC236}">
                <a16:creationId xmlns:a16="http://schemas.microsoft.com/office/drawing/2014/main" id="{46C1A2A2-7268-DA12-ACC4-130E183DD39D}"/>
              </a:ext>
            </a:extLst>
          </p:cNvPr>
          <p:cNvSpPr/>
          <p:nvPr/>
        </p:nvSpPr>
        <p:spPr>
          <a:xfrm>
            <a:off x="4265167" y="6198755"/>
            <a:ext cx="2520315" cy="540385"/>
          </a:xfrm>
          <a:custGeom>
            <a:avLst/>
            <a:gdLst/>
            <a:ahLst/>
            <a:cxnLst/>
            <a:rect l="l" t="t" r="r" b="b"/>
            <a:pathLst>
              <a:path w="2520315" h="540384">
                <a:moveTo>
                  <a:pt x="2430017" y="0"/>
                </a:moveTo>
                <a:lnTo>
                  <a:pt x="90043" y="0"/>
                </a:lnTo>
                <a:lnTo>
                  <a:pt x="55024" y="7073"/>
                </a:lnTo>
                <a:lnTo>
                  <a:pt x="26400" y="26362"/>
                </a:lnTo>
                <a:lnTo>
                  <a:pt x="7086" y="54971"/>
                </a:lnTo>
                <a:lnTo>
                  <a:pt x="0" y="90004"/>
                </a:lnTo>
                <a:lnTo>
                  <a:pt x="0" y="449999"/>
                </a:lnTo>
                <a:lnTo>
                  <a:pt x="7086" y="485032"/>
                </a:lnTo>
                <a:lnTo>
                  <a:pt x="26400" y="513640"/>
                </a:lnTo>
                <a:lnTo>
                  <a:pt x="55024" y="532927"/>
                </a:lnTo>
                <a:lnTo>
                  <a:pt x="90043" y="540000"/>
                </a:lnTo>
                <a:lnTo>
                  <a:pt x="2430017" y="540000"/>
                </a:lnTo>
                <a:lnTo>
                  <a:pt x="2465036" y="532927"/>
                </a:lnTo>
                <a:lnTo>
                  <a:pt x="2493660" y="513640"/>
                </a:lnTo>
                <a:lnTo>
                  <a:pt x="2512974" y="485032"/>
                </a:lnTo>
                <a:lnTo>
                  <a:pt x="2520061" y="449999"/>
                </a:lnTo>
                <a:lnTo>
                  <a:pt x="2520061" y="90004"/>
                </a:lnTo>
                <a:lnTo>
                  <a:pt x="2512974" y="54971"/>
                </a:lnTo>
                <a:lnTo>
                  <a:pt x="2493660" y="26362"/>
                </a:lnTo>
                <a:lnTo>
                  <a:pt x="2465036" y="7073"/>
                </a:lnTo>
                <a:lnTo>
                  <a:pt x="2430017" y="0"/>
                </a:lnTo>
                <a:close/>
              </a:path>
            </a:pathLst>
          </a:custGeom>
          <a:solidFill>
            <a:srgbClr val="F5F5F5"/>
          </a:solidFill>
          <a:ln w="9525">
            <a:solidFill>
              <a:srgbClr val="DEDEDE"/>
            </a:solidFill>
          </a:ln>
          <a:effectLst/>
        </p:spPr>
        <p:txBody>
          <a:bodyPr wrap="square" lIns="0" tIns="0" rIns="0" bIns="0" rtlCol="0"/>
          <a:lstStyle/>
          <a:p>
            <a:endParaRPr/>
          </a:p>
        </p:txBody>
      </p:sp>
      <p:sp>
        <p:nvSpPr>
          <p:cNvPr id="84" name="object 31">
            <a:extLst>
              <a:ext uri="{FF2B5EF4-FFF2-40B4-BE49-F238E27FC236}">
                <a16:creationId xmlns:a16="http://schemas.microsoft.com/office/drawing/2014/main" id="{E7E28B87-B7CE-25DE-D412-97192533B418}"/>
              </a:ext>
            </a:extLst>
          </p:cNvPr>
          <p:cNvSpPr txBox="1"/>
          <p:nvPr/>
        </p:nvSpPr>
        <p:spPr>
          <a:xfrm>
            <a:off x="4488941" y="6338722"/>
            <a:ext cx="2077085" cy="239395"/>
          </a:xfrm>
          <a:prstGeom prst="rect">
            <a:avLst/>
          </a:prstGeom>
        </p:spPr>
        <p:txBody>
          <a:bodyPr vert="horz" wrap="square" lIns="0" tIns="12700" rIns="0" bIns="0" rtlCol="0">
            <a:normAutofit/>
          </a:bodyPr>
          <a:lstStyle/>
          <a:p>
            <a:pPr marL="12700">
              <a:lnSpc>
                <a:spcPct val="100000"/>
              </a:lnSpc>
              <a:spcBef>
                <a:spcPts val="100"/>
              </a:spcBef>
            </a:pPr>
            <a:r>
              <a:rPr sz="1100" spc="-10" dirty="0">
                <a:solidFill>
                  <a:srgbClr val="2A9D8F"/>
                </a:solidFill>
                <a:latin typeface="Raleway"/>
                <a:cs typeface="Calibri Light"/>
              </a:rPr>
              <a:t>100%</a:t>
            </a:r>
            <a:r>
              <a:rPr sz="1100" spc="-25" dirty="0">
                <a:solidFill>
                  <a:srgbClr val="2A9D8F"/>
                </a:solidFill>
                <a:latin typeface="Raleway"/>
                <a:cs typeface="Calibri Light"/>
              </a:rPr>
              <a:t> </a:t>
            </a:r>
            <a:r>
              <a:rPr sz="1100" spc="-20" dirty="0">
                <a:solidFill>
                  <a:srgbClr val="2A9D8F"/>
                </a:solidFill>
                <a:latin typeface="Raleway"/>
                <a:cs typeface="Calibri Light"/>
              </a:rPr>
              <a:t>Regulatory</a:t>
            </a:r>
            <a:r>
              <a:rPr sz="1100" spc="-30" dirty="0">
                <a:solidFill>
                  <a:srgbClr val="2A9D8F"/>
                </a:solidFill>
                <a:latin typeface="Raleway"/>
                <a:cs typeface="Calibri Light"/>
              </a:rPr>
              <a:t> </a:t>
            </a:r>
            <a:r>
              <a:rPr sz="1100" spc="-10" dirty="0">
                <a:solidFill>
                  <a:srgbClr val="2A9D8F"/>
                </a:solidFill>
                <a:latin typeface="Raleway"/>
                <a:cs typeface="Calibri Light"/>
              </a:rPr>
              <a:t>Compliance</a:t>
            </a:r>
            <a:endParaRPr sz="1400">
              <a:solidFill>
                <a:srgbClr val="2A9D8F"/>
              </a:solidFill>
              <a:latin typeface="Calibri Light"/>
              <a:cs typeface="Calibri Light"/>
            </a:endParaRPr>
          </a:p>
        </p:txBody>
      </p:sp>
      <p:sp>
        <p:nvSpPr>
          <p:cNvPr id="85" name="object 32">
            <a:extLst>
              <a:ext uri="{FF2B5EF4-FFF2-40B4-BE49-F238E27FC236}">
                <a16:creationId xmlns:a16="http://schemas.microsoft.com/office/drawing/2014/main" id="{359BB575-338E-057E-2CA7-9DCC4FE1E196}"/>
              </a:ext>
            </a:extLst>
          </p:cNvPr>
          <p:cNvSpPr/>
          <p:nvPr/>
        </p:nvSpPr>
        <p:spPr>
          <a:xfrm>
            <a:off x="6908038" y="6211189"/>
            <a:ext cx="2520315" cy="540385"/>
          </a:xfrm>
          <a:custGeom>
            <a:avLst/>
            <a:gdLst/>
            <a:ahLst/>
            <a:cxnLst/>
            <a:rect l="l" t="t" r="r" b="b"/>
            <a:pathLst>
              <a:path w="2520315" h="540384">
                <a:moveTo>
                  <a:pt x="2430017" y="0"/>
                </a:moveTo>
                <a:lnTo>
                  <a:pt x="90042" y="0"/>
                </a:lnTo>
                <a:lnTo>
                  <a:pt x="54971" y="7072"/>
                </a:lnTo>
                <a:lnTo>
                  <a:pt x="26352" y="26360"/>
                </a:lnTo>
                <a:lnTo>
                  <a:pt x="7068" y="54965"/>
                </a:lnTo>
                <a:lnTo>
                  <a:pt x="0" y="89992"/>
                </a:lnTo>
                <a:lnTo>
                  <a:pt x="0" y="449999"/>
                </a:lnTo>
                <a:lnTo>
                  <a:pt x="7068" y="485031"/>
                </a:lnTo>
                <a:lnTo>
                  <a:pt x="26352" y="513638"/>
                </a:lnTo>
                <a:lnTo>
                  <a:pt x="54971" y="532924"/>
                </a:lnTo>
                <a:lnTo>
                  <a:pt x="90042" y="539996"/>
                </a:lnTo>
                <a:lnTo>
                  <a:pt x="2430017" y="539996"/>
                </a:lnTo>
                <a:lnTo>
                  <a:pt x="2465016" y="532924"/>
                </a:lnTo>
                <a:lnTo>
                  <a:pt x="2493597" y="513638"/>
                </a:lnTo>
                <a:lnTo>
                  <a:pt x="2512867" y="485031"/>
                </a:lnTo>
                <a:lnTo>
                  <a:pt x="2519933" y="449999"/>
                </a:lnTo>
                <a:lnTo>
                  <a:pt x="2519933" y="89992"/>
                </a:lnTo>
                <a:lnTo>
                  <a:pt x="2512867" y="54965"/>
                </a:lnTo>
                <a:lnTo>
                  <a:pt x="2493597" y="26360"/>
                </a:lnTo>
                <a:lnTo>
                  <a:pt x="2465016" y="7072"/>
                </a:lnTo>
                <a:lnTo>
                  <a:pt x="2430017" y="0"/>
                </a:lnTo>
                <a:close/>
              </a:path>
            </a:pathLst>
          </a:custGeom>
          <a:solidFill>
            <a:srgbClr val="F5F5F5"/>
          </a:solidFill>
          <a:ln w="9525">
            <a:solidFill>
              <a:srgbClr val="DEDEDE"/>
            </a:solidFill>
          </a:ln>
          <a:effectLst/>
        </p:spPr>
        <p:txBody>
          <a:bodyPr wrap="square" lIns="0" tIns="0" rIns="0" bIns="0" rtlCol="0"/>
          <a:lstStyle/>
          <a:p>
            <a:endParaRPr/>
          </a:p>
        </p:txBody>
      </p:sp>
      <p:sp>
        <p:nvSpPr>
          <p:cNvPr id="86" name="object 33">
            <a:extLst>
              <a:ext uri="{FF2B5EF4-FFF2-40B4-BE49-F238E27FC236}">
                <a16:creationId xmlns:a16="http://schemas.microsoft.com/office/drawing/2014/main" id="{F3872370-2FEB-7477-50E7-CA8508FDA18A}"/>
              </a:ext>
            </a:extLst>
          </p:cNvPr>
          <p:cNvSpPr txBox="1"/>
          <p:nvPr/>
        </p:nvSpPr>
        <p:spPr>
          <a:xfrm>
            <a:off x="7118350" y="6351219"/>
            <a:ext cx="2105025" cy="239395"/>
          </a:xfrm>
          <a:prstGeom prst="rect">
            <a:avLst/>
          </a:prstGeom>
        </p:spPr>
        <p:txBody>
          <a:bodyPr vert="horz" wrap="square" lIns="0" tIns="12700" rIns="0" bIns="0" rtlCol="0">
            <a:normAutofit/>
          </a:bodyPr>
          <a:lstStyle/>
          <a:p>
            <a:pPr marL="12700">
              <a:lnSpc>
                <a:spcPct val="100000"/>
              </a:lnSpc>
              <a:spcBef>
                <a:spcPts val="100"/>
              </a:spcBef>
            </a:pPr>
            <a:r>
              <a:rPr sz="1100" dirty="0">
                <a:solidFill>
                  <a:srgbClr val="2A9D8F"/>
                </a:solidFill>
                <a:latin typeface="Raleway"/>
                <a:cs typeface="Calibri Light"/>
              </a:rPr>
              <a:t>20+</a:t>
            </a:r>
            <a:r>
              <a:rPr sz="1100" spc="-40" dirty="0">
                <a:solidFill>
                  <a:srgbClr val="2A9D8F"/>
                </a:solidFill>
                <a:latin typeface="Raleway"/>
                <a:cs typeface="Calibri Light"/>
              </a:rPr>
              <a:t> </a:t>
            </a:r>
            <a:r>
              <a:rPr sz="1100" spc="-10" dirty="0">
                <a:solidFill>
                  <a:srgbClr val="2A9D8F"/>
                </a:solidFill>
                <a:latin typeface="Raleway"/>
                <a:cs typeface="Calibri Light"/>
              </a:rPr>
              <a:t>FDA</a:t>
            </a:r>
            <a:r>
              <a:rPr sz="1100" spc="-55" dirty="0">
                <a:solidFill>
                  <a:srgbClr val="2A9D8F"/>
                </a:solidFill>
                <a:latin typeface="Raleway"/>
                <a:cs typeface="Calibri Light"/>
              </a:rPr>
              <a:t> </a:t>
            </a:r>
            <a:r>
              <a:rPr sz="1100" spc="-20" dirty="0">
                <a:solidFill>
                  <a:srgbClr val="2A9D8F"/>
                </a:solidFill>
                <a:latin typeface="Raleway"/>
                <a:cs typeface="Calibri Light"/>
              </a:rPr>
              <a:t>Approvals</a:t>
            </a:r>
            <a:r>
              <a:rPr sz="1100" spc="-50" dirty="0">
                <a:solidFill>
                  <a:srgbClr val="2A9D8F"/>
                </a:solidFill>
                <a:latin typeface="Raleway"/>
                <a:cs typeface="Calibri Light"/>
              </a:rPr>
              <a:t> </a:t>
            </a:r>
            <a:r>
              <a:rPr sz="1100" spc="-10" dirty="0">
                <a:solidFill>
                  <a:srgbClr val="2A9D8F"/>
                </a:solidFill>
                <a:latin typeface="Raleway"/>
                <a:cs typeface="Calibri Light"/>
              </a:rPr>
              <a:t>Facilitated</a:t>
            </a:r>
            <a:endParaRPr sz="1400">
              <a:solidFill>
                <a:srgbClr val="2A9D8F"/>
              </a:solidFill>
              <a:latin typeface="Calibri Light"/>
              <a:cs typeface="Calibri Light"/>
            </a:endParaRPr>
          </a:p>
        </p:txBody>
      </p:sp>
      <p:sp>
        <p:nvSpPr>
          <p:cNvPr id="87" name="object 34">
            <a:extLst>
              <a:ext uri="{FF2B5EF4-FFF2-40B4-BE49-F238E27FC236}">
                <a16:creationId xmlns:a16="http://schemas.microsoft.com/office/drawing/2014/main" id="{C60DB9BF-6C77-EFAE-813E-8199481710AD}"/>
              </a:ext>
            </a:extLst>
          </p:cNvPr>
          <p:cNvSpPr/>
          <p:nvPr/>
        </p:nvSpPr>
        <p:spPr>
          <a:xfrm>
            <a:off x="9535668" y="6198755"/>
            <a:ext cx="2520315" cy="540385"/>
          </a:xfrm>
          <a:custGeom>
            <a:avLst/>
            <a:gdLst/>
            <a:ahLst/>
            <a:cxnLst/>
            <a:rect l="l" t="t" r="r" b="b"/>
            <a:pathLst>
              <a:path w="2520315" h="540384">
                <a:moveTo>
                  <a:pt x="2430017" y="0"/>
                </a:moveTo>
                <a:lnTo>
                  <a:pt x="90042" y="0"/>
                </a:lnTo>
                <a:lnTo>
                  <a:pt x="55024" y="7073"/>
                </a:lnTo>
                <a:lnTo>
                  <a:pt x="26400" y="26362"/>
                </a:lnTo>
                <a:lnTo>
                  <a:pt x="7086" y="54971"/>
                </a:lnTo>
                <a:lnTo>
                  <a:pt x="0" y="90004"/>
                </a:lnTo>
                <a:lnTo>
                  <a:pt x="0" y="449999"/>
                </a:lnTo>
                <a:lnTo>
                  <a:pt x="7086" y="485032"/>
                </a:lnTo>
                <a:lnTo>
                  <a:pt x="26400" y="513640"/>
                </a:lnTo>
                <a:lnTo>
                  <a:pt x="55024" y="532927"/>
                </a:lnTo>
                <a:lnTo>
                  <a:pt x="90042" y="540000"/>
                </a:lnTo>
                <a:lnTo>
                  <a:pt x="2430017" y="540000"/>
                </a:lnTo>
                <a:lnTo>
                  <a:pt x="2465089" y="532927"/>
                </a:lnTo>
                <a:lnTo>
                  <a:pt x="2493708" y="513640"/>
                </a:lnTo>
                <a:lnTo>
                  <a:pt x="2512992" y="485032"/>
                </a:lnTo>
                <a:lnTo>
                  <a:pt x="2520060" y="449999"/>
                </a:lnTo>
                <a:lnTo>
                  <a:pt x="2520060" y="90004"/>
                </a:lnTo>
                <a:lnTo>
                  <a:pt x="2512992" y="54971"/>
                </a:lnTo>
                <a:lnTo>
                  <a:pt x="2493708" y="26362"/>
                </a:lnTo>
                <a:lnTo>
                  <a:pt x="2465089" y="7073"/>
                </a:lnTo>
                <a:lnTo>
                  <a:pt x="2430017" y="0"/>
                </a:lnTo>
                <a:close/>
              </a:path>
            </a:pathLst>
          </a:custGeom>
          <a:solidFill>
            <a:srgbClr val="F5F5F5"/>
          </a:solidFill>
          <a:ln w="9525">
            <a:solidFill>
              <a:srgbClr val="DEDEDE"/>
            </a:solidFill>
          </a:ln>
          <a:effectLst/>
        </p:spPr>
        <p:txBody>
          <a:bodyPr wrap="square" lIns="0" tIns="0" rIns="0" bIns="0" rtlCol="0"/>
          <a:lstStyle/>
          <a:p>
            <a:endParaRPr/>
          </a:p>
        </p:txBody>
      </p:sp>
      <p:sp>
        <p:nvSpPr>
          <p:cNvPr id="88" name="object 35">
            <a:extLst>
              <a:ext uri="{FF2B5EF4-FFF2-40B4-BE49-F238E27FC236}">
                <a16:creationId xmlns:a16="http://schemas.microsoft.com/office/drawing/2014/main" id="{1F75BFC1-803B-8203-04FA-EFF27C81A8EF}"/>
              </a:ext>
            </a:extLst>
          </p:cNvPr>
          <p:cNvSpPr txBox="1"/>
          <p:nvPr/>
        </p:nvSpPr>
        <p:spPr>
          <a:xfrm>
            <a:off x="10028301" y="6232042"/>
            <a:ext cx="1539875" cy="452755"/>
          </a:xfrm>
          <a:prstGeom prst="rect">
            <a:avLst/>
          </a:prstGeom>
        </p:spPr>
        <p:txBody>
          <a:bodyPr vert="horz" wrap="square" lIns="0" tIns="12700" rIns="0" bIns="0" rtlCol="0">
            <a:normAutofit/>
          </a:bodyPr>
          <a:lstStyle/>
          <a:p>
            <a:pPr marL="386080" marR="5080" indent="-374015">
              <a:lnSpc>
                <a:spcPct val="100000"/>
              </a:lnSpc>
              <a:spcBef>
                <a:spcPts val="100"/>
              </a:spcBef>
            </a:pPr>
            <a:r>
              <a:rPr sz="1100" dirty="0">
                <a:solidFill>
                  <a:srgbClr val="2A9D8F"/>
                </a:solidFill>
                <a:latin typeface="Raleway"/>
                <a:cs typeface="Calibri Light"/>
              </a:rPr>
              <a:t>25</a:t>
            </a:r>
            <a:r>
              <a:rPr sz="1100" spc="-10" dirty="0">
                <a:solidFill>
                  <a:srgbClr val="2A9D8F"/>
                </a:solidFill>
                <a:latin typeface="Raleway"/>
                <a:cs typeface="Calibri Light"/>
              </a:rPr>
              <a:t> </a:t>
            </a:r>
            <a:r>
              <a:rPr sz="1100" spc="-20" dirty="0">
                <a:solidFill>
                  <a:srgbClr val="2A9D8F"/>
                </a:solidFill>
                <a:latin typeface="Raleway"/>
                <a:cs typeface="Calibri Light"/>
              </a:rPr>
              <a:t>Countries</a:t>
            </a:r>
            <a:r>
              <a:rPr sz="1100" spc="-30" dirty="0">
                <a:solidFill>
                  <a:srgbClr val="2A9D8F"/>
                </a:solidFill>
                <a:latin typeface="Raleway"/>
                <a:cs typeface="Calibri Light"/>
              </a:rPr>
              <a:t> </a:t>
            </a:r>
            <a:r>
              <a:rPr sz="1100" spc="-10" dirty="0">
                <a:solidFill>
                  <a:srgbClr val="2A9D8F"/>
                </a:solidFill>
                <a:latin typeface="Raleway"/>
                <a:cs typeface="Calibri Light"/>
              </a:rPr>
              <a:t>Covered Seamlessly</a:t>
            </a:r>
            <a:endParaRPr sz="1400">
              <a:solidFill>
                <a:srgbClr val="2A9D8F"/>
              </a:solidFill>
              <a:latin typeface="Calibri Light"/>
              <a:cs typeface="Calibri Light"/>
            </a:endParaRPr>
          </a:p>
        </p:txBody>
      </p:sp>
      <p:sp>
        <p:nvSpPr>
          <p:cNvPr id="89" name="object 36">
            <a:extLst>
              <a:ext uri="{FF2B5EF4-FFF2-40B4-BE49-F238E27FC236}">
                <a16:creationId xmlns:a16="http://schemas.microsoft.com/office/drawing/2014/main" id="{063FEDDB-A4F2-95E0-B182-A2E66A049C57}"/>
              </a:ext>
            </a:extLst>
          </p:cNvPr>
          <p:cNvSpPr/>
          <p:nvPr/>
        </p:nvSpPr>
        <p:spPr>
          <a:xfrm>
            <a:off x="83126" y="6173355"/>
            <a:ext cx="1440180" cy="540385"/>
          </a:xfrm>
          <a:custGeom>
            <a:avLst/>
            <a:gdLst/>
            <a:ahLst/>
            <a:cxnLst/>
            <a:rect l="l" t="t" r="r" b="b"/>
            <a:pathLst>
              <a:path w="1440180" h="540384">
                <a:moveTo>
                  <a:pt x="1440053" y="0"/>
                </a:moveTo>
                <a:lnTo>
                  <a:pt x="0" y="0"/>
                </a:lnTo>
                <a:lnTo>
                  <a:pt x="0" y="540004"/>
                </a:lnTo>
                <a:lnTo>
                  <a:pt x="1440053" y="540004"/>
                </a:lnTo>
                <a:lnTo>
                  <a:pt x="1440053" y="0"/>
                </a:lnTo>
                <a:close/>
              </a:path>
            </a:pathLst>
          </a:custGeom>
          <a:solidFill>
            <a:srgbClr val="2A9D8F"/>
          </a:solidFill>
          <a:ln w="9525">
            <a:solidFill>
              <a:srgbClr val="DEDEDE"/>
            </a:solidFill>
          </a:ln>
          <a:effectLst/>
        </p:spPr>
        <p:txBody>
          <a:bodyPr wrap="square" lIns="0" tIns="0" rIns="0" bIns="0" rtlCol="0"/>
          <a:lstStyle/>
          <a:p>
            <a:endParaRPr/>
          </a:p>
        </p:txBody>
      </p:sp>
      <p:sp>
        <p:nvSpPr>
          <p:cNvPr id="90" name="object 37">
            <a:extLst>
              <a:ext uri="{FF2B5EF4-FFF2-40B4-BE49-F238E27FC236}">
                <a16:creationId xmlns:a16="http://schemas.microsoft.com/office/drawing/2014/main" id="{D7E1C9E7-BF4A-677F-F4CA-183037C2664F}"/>
              </a:ext>
            </a:extLst>
          </p:cNvPr>
          <p:cNvSpPr txBox="1"/>
          <p:nvPr/>
        </p:nvSpPr>
        <p:spPr>
          <a:xfrm>
            <a:off x="228091" y="6206134"/>
            <a:ext cx="1151255" cy="453390"/>
          </a:xfrm>
          <a:prstGeom prst="rect">
            <a:avLst/>
          </a:prstGeom>
        </p:spPr>
        <p:txBody>
          <a:bodyPr vert="horz" wrap="square" lIns="0" tIns="13335" rIns="0" bIns="0" rtlCol="0">
            <a:normAutofit/>
          </a:bodyPr>
          <a:lstStyle/>
          <a:p>
            <a:pPr marL="12700">
              <a:lnSpc>
                <a:spcPct val="100000"/>
              </a:lnSpc>
              <a:spcBef>
                <a:spcPts val="105"/>
              </a:spcBef>
            </a:pPr>
            <a:r>
              <a:rPr sz="1100" dirty="0">
                <a:solidFill>
                  <a:schemeClr val="bg1"/>
                </a:solidFill>
                <a:latin typeface="Raleway"/>
                <a:cs typeface="Calibri Light"/>
              </a:rPr>
              <a:t>J2W</a:t>
            </a:r>
            <a:r>
              <a:rPr sz="1100" spc="-60" dirty="0">
                <a:solidFill>
                  <a:schemeClr val="bg1"/>
                </a:solidFill>
                <a:latin typeface="Raleway"/>
                <a:cs typeface="Calibri Light"/>
              </a:rPr>
              <a:t> </a:t>
            </a:r>
            <a:r>
              <a:rPr sz="1100" spc="-10" dirty="0">
                <a:solidFill>
                  <a:schemeClr val="bg1"/>
                </a:solidFill>
                <a:latin typeface="Raleway"/>
                <a:cs typeface="Calibri Light"/>
              </a:rPr>
              <a:t>Proprietary</a:t>
            </a:r>
            <a:endParaRPr sz="1400" dirty="0">
              <a:solidFill>
                <a:schemeClr val="bg1"/>
              </a:solidFill>
              <a:latin typeface="Calibri Light"/>
              <a:cs typeface="Calibri Light"/>
            </a:endParaRPr>
          </a:p>
          <a:p>
            <a:pPr marL="29209">
              <a:lnSpc>
                <a:spcPct val="100000"/>
              </a:lnSpc>
            </a:pPr>
            <a:r>
              <a:rPr sz="1100" spc="-25" dirty="0">
                <a:solidFill>
                  <a:schemeClr val="bg1"/>
                </a:solidFill>
                <a:latin typeface="Raleway"/>
                <a:cs typeface="Calibri Light"/>
              </a:rPr>
              <a:t>Value</a:t>
            </a:r>
            <a:r>
              <a:rPr sz="1100" spc="-35" dirty="0">
                <a:solidFill>
                  <a:schemeClr val="bg1"/>
                </a:solidFill>
                <a:latin typeface="Raleway"/>
                <a:cs typeface="Calibri Light"/>
              </a:rPr>
              <a:t> </a:t>
            </a:r>
            <a:r>
              <a:rPr sz="1100" spc="-10" dirty="0">
                <a:solidFill>
                  <a:schemeClr val="bg1"/>
                </a:solidFill>
                <a:latin typeface="Raleway"/>
                <a:cs typeface="Calibri Light"/>
              </a:rPr>
              <a:t>Delivered</a:t>
            </a:r>
            <a:endParaRPr sz="1400" dirty="0">
              <a:solidFill>
                <a:schemeClr val="bg1"/>
              </a:solidFill>
              <a:latin typeface="Calibri Light"/>
              <a:cs typeface="Calibri Light"/>
            </a:endParaRPr>
          </a:p>
        </p:txBody>
      </p:sp>
      <p:sp>
        <p:nvSpPr>
          <p:cNvPr id="94" name="object 41">
            <a:extLst>
              <a:ext uri="{FF2B5EF4-FFF2-40B4-BE49-F238E27FC236}">
                <a16:creationId xmlns:a16="http://schemas.microsoft.com/office/drawing/2014/main" id="{CF056883-54F7-4B03-598E-E91F138C1D43}"/>
              </a:ext>
            </a:extLst>
          </p:cNvPr>
          <p:cNvSpPr txBox="1"/>
          <p:nvPr/>
        </p:nvSpPr>
        <p:spPr>
          <a:xfrm>
            <a:off x="1629408" y="3450762"/>
            <a:ext cx="2506345" cy="482600"/>
          </a:xfrm>
          <a:prstGeom prst="rect">
            <a:avLst/>
          </a:prstGeom>
        </p:spPr>
        <p:txBody>
          <a:bodyPr vert="horz" wrap="square" lIns="0" tIns="12700" rIns="0" bIns="0" rtlCol="0">
            <a:normAutofit fontScale="97395"/>
          </a:bodyPr>
          <a:lstStyle/>
          <a:p>
            <a:pPr marL="173990" marR="5080" indent="-161925">
              <a:lnSpc>
                <a:spcPct val="100000"/>
              </a:lnSpc>
              <a:spcBef>
                <a:spcPts val="100"/>
              </a:spcBef>
            </a:pPr>
            <a:r>
              <a:rPr sz="1100" spc="-20" dirty="0">
                <a:latin typeface="Raleway" pitchFamily="2" charset="0"/>
                <a:cs typeface="Calibri Light"/>
              </a:rPr>
              <a:t>Healthcare</a:t>
            </a:r>
            <a:r>
              <a:rPr sz="1100" spc="15" dirty="0">
                <a:latin typeface="Raleway" pitchFamily="2" charset="0"/>
                <a:cs typeface="Calibri Light"/>
              </a:rPr>
              <a:t> </a:t>
            </a:r>
            <a:r>
              <a:rPr sz="1100" spc="-25" dirty="0">
                <a:latin typeface="Raleway" pitchFamily="2" charset="0"/>
                <a:cs typeface="Calibri Light"/>
              </a:rPr>
              <a:t>GCC </a:t>
            </a:r>
            <a:r>
              <a:rPr sz="1100" spc="-10" dirty="0">
                <a:latin typeface="Raleway" pitchFamily="2" charset="0"/>
                <a:cs typeface="Calibri Light"/>
              </a:rPr>
              <a:t>Foundation</a:t>
            </a:r>
            <a:endParaRPr sz="1100" dirty="0">
              <a:latin typeface="Raleway" pitchFamily="2" charset="0"/>
              <a:cs typeface="Calibri Light"/>
            </a:endParaRPr>
          </a:p>
        </p:txBody>
      </p:sp>
      <p:sp>
        <p:nvSpPr>
          <p:cNvPr id="95" name="object 42">
            <a:extLst>
              <a:ext uri="{FF2B5EF4-FFF2-40B4-BE49-F238E27FC236}">
                <a16:creationId xmlns:a16="http://schemas.microsoft.com/office/drawing/2014/main" id="{E8D06AE7-6927-F58E-015B-6EDE543D719E}"/>
              </a:ext>
            </a:extLst>
          </p:cNvPr>
          <p:cNvSpPr txBox="1"/>
          <p:nvPr/>
        </p:nvSpPr>
        <p:spPr>
          <a:xfrm>
            <a:off x="4135882" y="3431096"/>
            <a:ext cx="4535165" cy="482600"/>
          </a:xfrm>
          <a:prstGeom prst="rect">
            <a:avLst/>
          </a:prstGeom>
        </p:spPr>
        <p:txBody>
          <a:bodyPr vert="horz" wrap="square" lIns="0" tIns="12700" rIns="0" bIns="0" rtlCol="0">
            <a:normAutofit/>
          </a:bodyPr>
          <a:lstStyle/>
          <a:p>
            <a:pPr marL="708660" marR="5080" indent="-696595">
              <a:lnSpc>
                <a:spcPct val="100000"/>
              </a:lnSpc>
              <a:spcBef>
                <a:spcPts val="100"/>
              </a:spcBef>
            </a:pPr>
            <a:r>
              <a:rPr sz="1100" spc="-20" dirty="0">
                <a:latin typeface="Raleway" pitchFamily="2" charset="0"/>
                <a:cs typeface="Calibri Light"/>
              </a:rPr>
              <a:t>Innovation</a:t>
            </a:r>
            <a:r>
              <a:rPr sz="1100" spc="-45" dirty="0">
                <a:latin typeface="Raleway" pitchFamily="2" charset="0"/>
                <a:cs typeface="Calibri Light"/>
              </a:rPr>
              <a:t> </a:t>
            </a:r>
            <a:r>
              <a:rPr sz="1100" spc="-10" dirty="0">
                <a:latin typeface="Raleway" pitchFamily="2" charset="0"/>
                <a:cs typeface="Calibri Light"/>
              </a:rPr>
              <a:t>Scaling</a:t>
            </a:r>
            <a:r>
              <a:rPr sz="1100" spc="-50" dirty="0">
                <a:latin typeface="Raleway" pitchFamily="2" charset="0"/>
                <a:cs typeface="Calibri Light"/>
              </a:rPr>
              <a:t> </a:t>
            </a:r>
            <a:r>
              <a:rPr sz="1100" dirty="0">
                <a:latin typeface="Raleway" pitchFamily="2" charset="0"/>
                <a:cs typeface="Calibri Light"/>
              </a:rPr>
              <a:t>Via</a:t>
            </a:r>
            <a:r>
              <a:rPr sz="1100" spc="-25" dirty="0">
                <a:latin typeface="Raleway" pitchFamily="2" charset="0"/>
                <a:cs typeface="Calibri Light"/>
              </a:rPr>
              <a:t> </a:t>
            </a:r>
            <a:r>
              <a:rPr sz="1100" spc="-10" dirty="0">
                <a:latin typeface="Raleway" pitchFamily="2" charset="0"/>
                <a:cs typeface="Calibri Light"/>
              </a:rPr>
              <a:t>Hybrid </a:t>
            </a:r>
            <a:r>
              <a:rPr sz="1100" spc="-35" dirty="0">
                <a:latin typeface="Raleway" pitchFamily="2" charset="0"/>
                <a:cs typeface="Calibri Light"/>
              </a:rPr>
              <a:t>BOT–</a:t>
            </a:r>
            <a:r>
              <a:rPr sz="1100" spc="-20" dirty="0">
                <a:latin typeface="Raleway" pitchFamily="2" charset="0"/>
                <a:cs typeface="Calibri Light"/>
              </a:rPr>
              <a:t>Caas</a:t>
            </a:r>
            <a:endParaRPr sz="1100" dirty="0">
              <a:latin typeface="Raleway" pitchFamily="2" charset="0"/>
              <a:cs typeface="Calibri Light"/>
            </a:endParaRPr>
          </a:p>
        </p:txBody>
      </p:sp>
      <p:sp>
        <p:nvSpPr>
          <p:cNvPr id="96" name="object 43">
            <a:extLst>
              <a:ext uri="{FF2B5EF4-FFF2-40B4-BE49-F238E27FC236}">
                <a16:creationId xmlns:a16="http://schemas.microsoft.com/office/drawing/2014/main" id="{E9914745-DF58-0779-2A1A-94458CC755D2}"/>
              </a:ext>
            </a:extLst>
          </p:cNvPr>
          <p:cNvSpPr txBox="1"/>
          <p:nvPr/>
        </p:nvSpPr>
        <p:spPr>
          <a:xfrm>
            <a:off x="7892939" y="3461531"/>
            <a:ext cx="4215936" cy="482600"/>
          </a:xfrm>
          <a:prstGeom prst="rect">
            <a:avLst/>
          </a:prstGeom>
        </p:spPr>
        <p:txBody>
          <a:bodyPr vert="horz" wrap="square" lIns="0" tIns="12700" rIns="0" bIns="0" rtlCol="0">
            <a:normAutofit/>
          </a:bodyPr>
          <a:lstStyle/>
          <a:p>
            <a:pPr marL="594995" marR="5080" indent="-582930">
              <a:lnSpc>
                <a:spcPct val="100000"/>
              </a:lnSpc>
              <a:spcBef>
                <a:spcPts val="100"/>
              </a:spcBef>
            </a:pPr>
            <a:r>
              <a:rPr sz="1100" spc="-10" dirty="0">
                <a:latin typeface="Raleway" pitchFamily="2" charset="0"/>
                <a:cs typeface="Calibri Light"/>
              </a:rPr>
              <a:t>Strategic</a:t>
            </a:r>
            <a:r>
              <a:rPr sz="1100" spc="-5" dirty="0">
                <a:latin typeface="Raleway" pitchFamily="2" charset="0"/>
                <a:cs typeface="Calibri Light"/>
              </a:rPr>
              <a:t> </a:t>
            </a:r>
            <a:r>
              <a:rPr sz="1100" spc="-35" dirty="0">
                <a:latin typeface="Raleway" pitchFamily="2" charset="0"/>
                <a:cs typeface="Calibri Light"/>
              </a:rPr>
              <a:t>Transformation</a:t>
            </a:r>
            <a:r>
              <a:rPr sz="1100" spc="-15" dirty="0">
                <a:latin typeface="Raleway" pitchFamily="2" charset="0"/>
                <a:cs typeface="Calibri Light"/>
              </a:rPr>
              <a:t> </a:t>
            </a:r>
            <a:r>
              <a:rPr sz="1100" spc="-50" dirty="0">
                <a:latin typeface="Raleway" pitchFamily="2" charset="0"/>
                <a:cs typeface="Calibri Light"/>
              </a:rPr>
              <a:t>&amp; </a:t>
            </a:r>
            <a:r>
              <a:rPr sz="1100" spc="-10" dirty="0">
                <a:latin typeface="Raleway" pitchFamily="2" charset="0"/>
                <a:cs typeface="Calibri Light"/>
              </a:rPr>
              <a:t>Global</a:t>
            </a:r>
            <a:r>
              <a:rPr sz="1100" spc="-50" dirty="0">
                <a:latin typeface="Raleway" pitchFamily="2" charset="0"/>
                <a:cs typeface="Calibri Light"/>
              </a:rPr>
              <a:t> </a:t>
            </a:r>
            <a:r>
              <a:rPr sz="1100" spc="-25" dirty="0">
                <a:latin typeface="Raleway" pitchFamily="2" charset="0"/>
                <a:cs typeface="Calibri Light"/>
              </a:rPr>
              <a:t>Hub</a:t>
            </a:r>
            <a:endParaRPr sz="1100" dirty="0">
              <a:latin typeface="Raleway" pitchFamily="2" charset="0"/>
              <a:cs typeface="Calibri Light"/>
            </a:endParaRPr>
          </a:p>
        </p:txBody>
      </p:sp>
      <p:sp>
        <p:nvSpPr>
          <p:cNvPr id="97" name="object 44">
            <a:extLst>
              <a:ext uri="{FF2B5EF4-FFF2-40B4-BE49-F238E27FC236}">
                <a16:creationId xmlns:a16="http://schemas.microsoft.com/office/drawing/2014/main" id="{B0D1B6A5-89DA-60AB-6123-BFD03D8C4850}"/>
              </a:ext>
            </a:extLst>
          </p:cNvPr>
          <p:cNvSpPr txBox="1"/>
          <p:nvPr/>
        </p:nvSpPr>
        <p:spPr>
          <a:xfrm>
            <a:off x="1479296" y="3935348"/>
            <a:ext cx="2162175" cy="2160270"/>
          </a:xfrm>
          <a:prstGeom prst="rect">
            <a:avLst/>
          </a:prstGeom>
        </p:spPr>
        <p:txBody>
          <a:bodyPr vert="horz" wrap="square" lIns="0" tIns="12700" rIns="0" bIns="0" rtlCol="0">
            <a:normAutofit/>
          </a:bodyPr>
          <a:lstStyle/>
          <a:p>
            <a:pPr marL="299085" marR="252729" indent="-287020">
              <a:lnSpc>
                <a:spcPct val="100000"/>
              </a:lnSpc>
              <a:spcBef>
                <a:spcPts val="100"/>
              </a:spcBef>
              <a:buFont typeface="Arial MT"/>
              <a:buChar char="•"/>
              <a:tabLst>
                <a:tab pos="299085" algn="l"/>
              </a:tabLst>
            </a:pPr>
            <a:r>
              <a:rPr sz="1100" dirty="0">
                <a:solidFill/>
                <a:latin typeface="Raleway"/>
                <a:cs typeface="Calibri Light"/>
              </a:rPr>
              <a:t>$85M</a:t>
            </a:r>
            <a:r>
              <a:rPr sz="1100" spc="-25" dirty="0">
                <a:solidFill/>
                <a:latin typeface="Raleway"/>
                <a:cs typeface="Calibri Light"/>
              </a:rPr>
              <a:t> </a:t>
            </a:r>
            <a:r>
              <a:rPr sz="1100" dirty="0">
                <a:solidFill/>
                <a:latin typeface="Raleway"/>
                <a:cs typeface="Calibri Light"/>
              </a:rPr>
              <a:t>GCC</a:t>
            </a:r>
            <a:r>
              <a:rPr sz="1100" spc="-40" dirty="0">
                <a:solidFill/>
                <a:latin typeface="Raleway"/>
                <a:cs typeface="Calibri Light"/>
              </a:rPr>
              <a:t> </a:t>
            </a:r>
            <a:r>
              <a:rPr sz="1100" spc="-10" dirty="0">
                <a:solidFill/>
                <a:latin typeface="Raleway"/>
                <a:cs typeface="Calibri Light"/>
              </a:rPr>
              <a:t>investment (brownfield transformation)</a:t>
            </a:r>
            <a:endParaRPr sz="1400">
              <a:latin typeface="Calibri Light"/>
              <a:cs typeface="Calibri Light"/>
            </a:endParaRPr>
          </a:p>
          <a:p>
            <a:pPr marL="299085" indent="-286385">
              <a:lnSpc>
                <a:spcPct val="100000"/>
              </a:lnSpc>
              <a:buFont typeface="Arial MT"/>
              <a:buChar char="•"/>
              <a:tabLst>
                <a:tab pos="299085" algn="l"/>
              </a:tabLst>
            </a:pPr>
            <a:r>
              <a:rPr sz="1100" spc="-10" dirty="0">
                <a:solidFill/>
                <a:latin typeface="Raleway"/>
                <a:cs typeface="Calibri Light"/>
              </a:rPr>
              <a:t>Healthcare</a:t>
            </a:r>
            <a:r>
              <a:rPr sz="1100" dirty="0">
                <a:solidFill/>
                <a:latin typeface="Raleway"/>
                <a:cs typeface="Calibri Light"/>
              </a:rPr>
              <a:t> CoE</a:t>
            </a:r>
            <a:r>
              <a:rPr sz="1100" spc="-15" dirty="0">
                <a:solidFill/>
                <a:latin typeface="Raleway"/>
                <a:cs typeface="Calibri Light"/>
              </a:rPr>
              <a:t> </a:t>
            </a:r>
            <a:r>
              <a:rPr sz="1100" spc="-20" dirty="0">
                <a:solidFill/>
                <a:latin typeface="Raleway"/>
                <a:cs typeface="Calibri Light"/>
              </a:rPr>
              <a:t>with</a:t>
            </a:r>
            <a:endParaRPr sz="1400">
              <a:latin typeface="Calibri Light"/>
              <a:cs typeface="Calibri Light"/>
            </a:endParaRPr>
          </a:p>
          <a:p>
            <a:pPr marL="299085">
              <a:lnSpc>
                <a:spcPct val="100000"/>
              </a:lnSpc>
            </a:pPr>
            <a:r>
              <a:rPr sz="1100" dirty="0">
                <a:solidFill/>
                <a:latin typeface="Raleway"/>
                <a:cs typeface="Calibri Light"/>
              </a:rPr>
              <a:t>FDA/CE</a:t>
            </a:r>
            <a:r>
              <a:rPr sz="1100" spc="-30" dirty="0">
                <a:solidFill/>
                <a:latin typeface="Raleway"/>
                <a:cs typeface="Calibri Light"/>
              </a:rPr>
              <a:t> </a:t>
            </a:r>
            <a:r>
              <a:rPr sz="1100" spc="-10" dirty="0">
                <a:solidFill/>
                <a:latin typeface="Raleway"/>
                <a:cs typeface="Calibri Light"/>
              </a:rPr>
              <a:t>compliance</a:t>
            </a:r>
            <a:endParaRPr sz="1400">
              <a:latin typeface="Calibri Light"/>
              <a:cs typeface="Calibri Light"/>
            </a:endParaRPr>
          </a:p>
          <a:p>
            <a:pPr marL="299085" marR="269240" indent="-287020">
              <a:lnSpc>
                <a:spcPct val="100000"/>
              </a:lnSpc>
              <a:spcBef>
                <a:spcPts val="5"/>
              </a:spcBef>
              <a:buFont typeface="Arial MT"/>
              <a:buChar char="•"/>
              <a:tabLst>
                <a:tab pos="299085" algn="l"/>
              </a:tabLst>
            </a:pPr>
            <a:r>
              <a:rPr sz="1100" spc="-10" dirty="0">
                <a:solidFill/>
                <a:latin typeface="Raleway"/>
                <a:cs typeface="Calibri Light"/>
              </a:rPr>
              <a:t>AICentram</a:t>
            </a:r>
            <a:r>
              <a:rPr sz="1100" spc="-30" dirty="0">
                <a:solidFill/>
                <a:latin typeface="Raleway"/>
                <a:cs typeface="Calibri Light"/>
              </a:rPr>
              <a:t> </a:t>
            </a:r>
            <a:r>
              <a:rPr sz="1100" dirty="0">
                <a:solidFill/>
                <a:latin typeface="Raleway"/>
                <a:cs typeface="Calibri Light"/>
              </a:rPr>
              <a:t>module</a:t>
            </a:r>
            <a:r>
              <a:rPr sz="1100" spc="-40" dirty="0">
                <a:solidFill/>
                <a:latin typeface="Raleway"/>
                <a:cs typeface="Calibri Light"/>
              </a:rPr>
              <a:t> </a:t>
            </a:r>
            <a:r>
              <a:rPr sz="1100" spc="-25" dirty="0">
                <a:solidFill/>
                <a:latin typeface="Raleway"/>
                <a:cs typeface="Calibri Light"/>
              </a:rPr>
              <a:t>for </a:t>
            </a:r>
            <a:r>
              <a:rPr sz="1100" dirty="0">
                <a:solidFill/>
                <a:latin typeface="Raleway"/>
                <a:cs typeface="Calibri Light"/>
              </a:rPr>
              <a:t>R&amp;D</a:t>
            </a:r>
            <a:r>
              <a:rPr sz="1100" spc="-25" dirty="0">
                <a:solidFill/>
                <a:latin typeface="Raleway"/>
                <a:cs typeface="Calibri Light"/>
              </a:rPr>
              <a:t> </a:t>
            </a:r>
            <a:r>
              <a:rPr sz="1100" spc="-10" dirty="0">
                <a:solidFill/>
                <a:latin typeface="Raleway"/>
                <a:cs typeface="Calibri Light"/>
              </a:rPr>
              <a:t>tracking</a:t>
            </a:r>
            <a:endParaRPr sz="1400">
              <a:latin typeface="Calibri Light"/>
              <a:cs typeface="Calibri Light"/>
            </a:endParaRPr>
          </a:p>
          <a:p>
            <a:pPr marL="299085" indent="-286385">
              <a:lnSpc>
                <a:spcPct val="100000"/>
              </a:lnSpc>
              <a:buFont typeface="Arial MT"/>
              <a:buChar char="•"/>
              <a:tabLst>
                <a:tab pos="299085" algn="l"/>
              </a:tabLst>
            </a:pPr>
            <a:r>
              <a:rPr sz="1100" dirty="0">
                <a:solidFill/>
                <a:latin typeface="Raleway"/>
                <a:cs typeface="Calibri Light"/>
              </a:rPr>
              <a:t>50</a:t>
            </a:r>
            <a:r>
              <a:rPr sz="1100" spc="5" dirty="0">
                <a:solidFill/>
                <a:latin typeface="Raleway"/>
                <a:cs typeface="Calibri Light"/>
              </a:rPr>
              <a:t> </a:t>
            </a:r>
            <a:r>
              <a:rPr sz="1100" spc="-10" dirty="0">
                <a:solidFill/>
                <a:latin typeface="Raleway"/>
                <a:cs typeface="Calibri Light"/>
              </a:rPr>
              <a:t>engineers</a:t>
            </a:r>
            <a:r>
              <a:rPr sz="1100" spc="-35" dirty="0">
                <a:solidFill/>
                <a:latin typeface="Raleway"/>
                <a:cs typeface="Calibri Light"/>
              </a:rPr>
              <a:t> </a:t>
            </a:r>
            <a:r>
              <a:rPr sz="1100" spc="-10" dirty="0">
                <a:solidFill/>
                <a:latin typeface="Raleway"/>
                <a:cs typeface="Calibri Light"/>
              </a:rPr>
              <a:t>onboarded</a:t>
            </a:r>
            <a:endParaRPr sz="1400">
              <a:latin typeface="Calibri Light"/>
              <a:cs typeface="Calibri Light"/>
            </a:endParaRPr>
          </a:p>
          <a:p>
            <a:pPr marL="299085" marR="5080" indent="-287020">
              <a:lnSpc>
                <a:spcPct val="100000"/>
              </a:lnSpc>
              <a:buFont typeface="Arial MT"/>
              <a:buChar char="•"/>
              <a:tabLst>
                <a:tab pos="299085" algn="l"/>
              </a:tabLst>
            </a:pPr>
            <a:r>
              <a:rPr sz="1100" dirty="0">
                <a:solidFill/>
                <a:latin typeface="Raleway"/>
                <a:cs typeface="Calibri Light"/>
              </a:rPr>
              <a:t>30%</a:t>
            </a:r>
            <a:r>
              <a:rPr sz="1100" spc="5" dirty="0">
                <a:solidFill/>
                <a:latin typeface="Raleway"/>
                <a:cs typeface="Calibri Light"/>
              </a:rPr>
              <a:t> </a:t>
            </a:r>
            <a:r>
              <a:rPr sz="1100" dirty="0">
                <a:solidFill/>
                <a:latin typeface="Raleway"/>
                <a:cs typeface="Calibri Light"/>
              </a:rPr>
              <a:t>R&amp;D</a:t>
            </a:r>
            <a:r>
              <a:rPr sz="1100" spc="10" dirty="0">
                <a:solidFill/>
                <a:latin typeface="Raleway"/>
                <a:cs typeface="Calibri Light"/>
              </a:rPr>
              <a:t> </a:t>
            </a:r>
            <a:r>
              <a:rPr sz="1100" spc="-20" dirty="0">
                <a:solidFill/>
                <a:latin typeface="Raleway"/>
                <a:cs typeface="Calibri Light"/>
              </a:rPr>
              <a:t>efficiency,</a:t>
            </a:r>
            <a:r>
              <a:rPr sz="1100" spc="-35" dirty="0">
                <a:solidFill/>
                <a:latin typeface="Raleway"/>
                <a:cs typeface="Calibri Light"/>
              </a:rPr>
              <a:t> </a:t>
            </a:r>
            <a:r>
              <a:rPr sz="1100" spc="-20" dirty="0">
                <a:solidFill/>
                <a:latin typeface="Raleway"/>
                <a:cs typeface="Calibri Light"/>
              </a:rPr>
              <a:t>100% </a:t>
            </a:r>
            <a:r>
              <a:rPr sz="1100" spc="-10" dirty="0">
                <a:solidFill/>
                <a:latin typeface="Raleway"/>
                <a:cs typeface="Calibri Light"/>
              </a:rPr>
              <a:t>compliance</a:t>
            </a:r>
            <a:endParaRPr sz="1400">
              <a:latin typeface="Calibri Light"/>
              <a:cs typeface="Calibri Light"/>
            </a:endParaRPr>
          </a:p>
        </p:txBody>
      </p:sp>
      <p:sp>
        <p:nvSpPr>
          <p:cNvPr id="98" name="object 45">
            <a:extLst>
              <a:ext uri="{FF2B5EF4-FFF2-40B4-BE49-F238E27FC236}">
                <a16:creationId xmlns:a16="http://schemas.microsoft.com/office/drawing/2014/main" id="{F030127D-75CD-FC0A-F174-41F978885EC9}"/>
              </a:ext>
            </a:extLst>
          </p:cNvPr>
          <p:cNvSpPr txBox="1"/>
          <p:nvPr/>
        </p:nvSpPr>
        <p:spPr>
          <a:xfrm>
            <a:off x="3794252" y="3933190"/>
            <a:ext cx="3519170" cy="1733550"/>
          </a:xfrm>
          <a:prstGeom prst="rect">
            <a:avLst/>
          </a:prstGeom>
        </p:spPr>
        <p:txBody>
          <a:bodyPr vert="horz" wrap="square" lIns="0" tIns="12700" rIns="0" bIns="0" rtlCol="0">
            <a:normAutofit/>
          </a:bodyPr>
          <a:lstStyle/>
          <a:p>
            <a:pPr marL="299085" indent="-286385">
              <a:lnSpc>
                <a:spcPct val="100000"/>
              </a:lnSpc>
              <a:spcBef>
                <a:spcPts val="100"/>
              </a:spcBef>
              <a:buFont typeface="Arial MT"/>
              <a:buChar char="•"/>
              <a:tabLst>
                <a:tab pos="299085" algn="l"/>
              </a:tabLst>
            </a:pPr>
            <a:r>
              <a:rPr lang="en-IN" sz="1100" dirty="0">
                <a:solidFill/>
                <a:latin typeface="Raleway"/>
                <a:cs typeface="Calibri Light"/>
              </a:rPr>
              <a:t>120+ medical tech specialists recruited</a:t>
            </a:r>
          </a:p>
          <a:p>
            <a:pPr marL="299085" indent="-286385">
              <a:lnSpc>
                <a:spcPct val="100000"/>
              </a:lnSpc>
              <a:spcBef>
                <a:spcPts val="100"/>
              </a:spcBef>
              <a:buFont typeface="Arial MT"/>
              <a:buChar char="•"/>
              <a:tabLst>
                <a:tab pos="299085" algn="l"/>
              </a:tabLst>
            </a:pPr>
            <a:r>
              <a:rPr lang="en-IN" sz="1100" dirty="0">
                <a:solidFill/>
                <a:latin typeface="Raleway"/>
                <a:cs typeface="Calibri Light"/>
              </a:rPr>
              <a:t>Predictive diagnostics algorithm accuracy</a:t>
            </a:r>
          </a:p>
          <a:p>
            <a:pPr marL="299085" indent="-286385">
              <a:lnSpc>
                <a:spcPct val="100000"/>
              </a:lnSpc>
              <a:spcBef>
                <a:spcPts val="100"/>
              </a:spcBef>
              <a:buFont typeface="Arial MT"/>
              <a:buChar char="•"/>
              <a:tabLst>
                <a:tab pos="299085" algn="l"/>
              </a:tabLst>
            </a:pPr>
            <a:r>
              <a:rPr lang="en-IN" sz="1100" dirty="0">
                <a:solidFill/>
                <a:latin typeface="Raleway"/>
                <a:cs typeface="Calibri Light"/>
              </a:rPr>
              <a:t>+35%</a:t>
            </a:r>
          </a:p>
          <a:p>
            <a:pPr marL="299085" indent="-286385">
              <a:lnSpc>
                <a:spcPct val="100000"/>
              </a:lnSpc>
              <a:spcBef>
                <a:spcPts val="100"/>
              </a:spcBef>
              <a:buFont typeface="Arial MT"/>
              <a:buChar char="•"/>
              <a:tabLst>
                <a:tab pos="299085" algn="l"/>
              </a:tabLst>
            </a:pPr>
            <a:r>
              <a:rPr lang="en-IN" sz="1100" dirty="0">
                <a:solidFill/>
                <a:latin typeface="Raleway"/>
                <a:cs typeface="Calibri Light"/>
              </a:rPr>
              <a:t>Clinical trial data processing 50% faster</a:t>
            </a:r>
          </a:p>
          <a:p>
            <a:pPr marL="299085" indent="-286385">
              <a:lnSpc>
                <a:spcPct val="100000"/>
              </a:lnSpc>
              <a:spcBef>
                <a:spcPts val="100"/>
              </a:spcBef>
              <a:buFont typeface="Arial MT"/>
              <a:buChar char="•"/>
              <a:tabLst>
                <a:tab pos="299085" algn="l"/>
              </a:tabLst>
            </a:pPr>
            <a:r>
              <a:rPr lang="en-IN" sz="1100" dirty="0">
                <a:solidFill/>
                <a:latin typeface="Raleway"/>
                <a:cs typeface="Calibri Light"/>
              </a:rPr>
              <a:t>Cybersecurity monitoring across 150+ institutions</a:t>
            </a:r>
          </a:p>
          <a:p>
            <a:pPr marL="299085" indent="-286385">
              <a:lnSpc>
                <a:spcPct val="100000"/>
              </a:lnSpc>
              <a:spcBef>
                <a:spcPts val="100"/>
              </a:spcBef>
              <a:buFont typeface="Arial MT"/>
              <a:buChar char="•"/>
              <a:tabLst>
                <a:tab pos="299085" algn="l"/>
              </a:tabLst>
            </a:pPr>
            <a:r>
              <a:rPr lang="en-IN" sz="1100" dirty="0">
                <a:solidFill/>
                <a:latin typeface="Raleway"/>
                <a:cs typeface="Calibri Light"/>
              </a:rPr>
              <a:t>Edison platform integration &amp; AIR Recon DL optimization</a:t>
            </a:r>
          </a:p>
        </p:txBody>
      </p:sp>
      <p:sp>
        <p:nvSpPr>
          <p:cNvPr id="99" name="object 46">
            <a:extLst>
              <a:ext uri="{FF2B5EF4-FFF2-40B4-BE49-F238E27FC236}">
                <a16:creationId xmlns:a16="http://schemas.microsoft.com/office/drawing/2014/main" id="{2C32C4DA-139B-4974-DB43-9428BEAF7554}"/>
              </a:ext>
            </a:extLst>
          </p:cNvPr>
          <p:cNvSpPr txBox="1"/>
          <p:nvPr/>
        </p:nvSpPr>
        <p:spPr>
          <a:xfrm>
            <a:off x="7616443" y="3933190"/>
            <a:ext cx="4126865" cy="1733550"/>
          </a:xfrm>
          <a:prstGeom prst="rect">
            <a:avLst/>
          </a:prstGeom>
        </p:spPr>
        <p:txBody>
          <a:bodyPr vert="horz" wrap="square" lIns="0" tIns="12700" rIns="0" bIns="0" rtlCol="0">
            <a:normAutofit/>
          </a:bodyPr>
          <a:lstStyle/>
          <a:p>
            <a:pPr marL="299085" indent="-286385">
              <a:lnSpc>
                <a:spcPct val="100000"/>
              </a:lnSpc>
              <a:spcBef>
                <a:spcPts val="100"/>
              </a:spcBef>
              <a:buFont typeface="Arial MT"/>
              <a:buChar char="•"/>
              <a:tabLst>
                <a:tab pos="299085" algn="l"/>
              </a:tabLst>
            </a:pPr>
            <a:r>
              <a:rPr sz="1100" dirty="0">
                <a:solidFill/>
                <a:latin typeface="Raleway"/>
                <a:cs typeface="Calibri Light"/>
              </a:rPr>
              <a:t>$210M</a:t>
            </a:r>
            <a:r>
              <a:rPr sz="1100" spc="-10" dirty="0">
                <a:solidFill/>
                <a:latin typeface="Raleway"/>
                <a:cs typeface="Calibri Light"/>
              </a:rPr>
              <a:t> </a:t>
            </a:r>
            <a:r>
              <a:rPr sz="1100" dirty="0">
                <a:solidFill/>
                <a:latin typeface="Raleway"/>
                <a:cs typeface="Calibri Light"/>
              </a:rPr>
              <a:t>GCC</a:t>
            </a:r>
            <a:r>
              <a:rPr sz="1100" spc="-25" dirty="0">
                <a:solidFill/>
                <a:latin typeface="Raleway"/>
                <a:cs typeface="Calibri Light"/>
              </a:rPr>
              <a:t> </a:t>
            </a:r>
            <a:r>
              <a:rPr sz="1100" spc="-10" dirty="0">
                <a:solidFill/>
                <a:latin typeface="Raleway"/>
                <a:cs typeface="Calibri Light"/>
              </a:rPr>
              <a:t>transformation</a:t>
            </a:r>
            <a:r>
              <a:rPr sz="1100" spc="-30" dirty="0">
                <a:solidFill/>
                <a:latin typeface="Raleway"/>
                <a:cs typeface="Calibri Light"/>
              </a:rPr>
              <a:t> </a:t>
            </a:r>
            <a:r>
              <a:rPr sz="1100" spc="-10" dirty="0">
                <a:solidFill/>
                <a:latin typeface="Raleway"/>
                <a:cs typeface="Calibri Light"/>
              </a:rPr>
              <a:t>investment</a:t>
            </a:r>
            <a:endParaRPr sz="1400" dirty="0">
              <a:latin typeface="Calibri Light"/>
              <a:cs typeface="Calibri Light"/>
            </a:endParaRPr>
          </a:p>
          <a:p>
            <a:pPr marL="299085" marR="485775" indent="-287020">
              <a:lnSpc>
                <a:spcPct val="100000"/>
              </a:lnSpc>
              <a:buFont typeface="Arial MT"/>
              <a:buChar char="•"/>
              <a:tabLst>
                <a:tab pos="299085" algn="l"/>
              </a:tabLst>
            </a:pPr>
            <a:r>
              <a:rPr sz="1100" dirty="0">
                <a:solidFill/>
                <a:latin typeface="Raleway"/>
                <a:cs typeface="Calibri Light"/>
              </a:rPr>
              <a:t>300+</a:t>
            </a:r>
            <a:r>
              <a:rPr sz="1100" spc="-5" dirty="0">
                <a:solidFill/>
                <a:latin typeface="Raleway"/>
                <a:cs typeface="Calibri Light"/>
              </a:rPr>
              <a:t> </a:t>
            </a:r>
            <a:r>
              <a:rPr sz="1100" spc="-10" dirty="0">
                <a:solidFill/>
                <a:latin typeface="Raleway"/>
                <a:cs typeface="Calibri Light"/>
              </a:rPr>
              <a:t>professionals</a:t>
            </a:r>
            <a:r>
              <a:rPr sz="1100" spc="-45" dirty="0">
                <a:solidFill/>
                <a:latin typeface="Raleway"/>
                <a:cs typeface="Calibri Light"/>
              </a:rPr>
              <a:t> </a:t>
            </a:r>
            <a:r>
              <a:rPr sz="1100" dirty="0">
                <a:solidFill/>
                <a:latin typeface="Raleway"/>
                <a:cs typeface="Calibri Light"/>
              </a:rPr>
              <a:t>across</a:t>
            </a:r>
            <a:r>
              <a:rPr sz="1100" spc="-10" dirty="0">
                <a:solidFill/>
                <a:latin typeface="Raleway"/>
                <a:cs typeface="Calibri Light"/>
              </a:rPr>
              <a:t> multi-</a:t>
            </a:r>
            <a:r>
              <a:rPr sz="1100" dirty="0">
                <a:solidFill/>
                <a:latin typeface="Raleway"/>
                <a:cs typeface="Calibri Light"/>
              </a:rPr>
              <a:t>city</a:t>
            </a:r>
            <a:r>
              <a:rPr sz="1100" spc="-20" dirty="0">
                <a:solidFill/>
                <a:latin typeface="Raleway"/>
                <a:cs typeface="Calibri Light"/>
              </a:rPr>
              <a:t> </a:t>
            </a:r>
            <a:r>
              <a:rPr sz="1100" spc="-10" dirty="0">
                <a:solidFill/>
                <a:latin typeface="Raleway"/>
                <a:cs typeface="Calibri Light"/>
              </a:rPr>
              <a:t>healthcare ecosystem</a:t>
            </a:r>
            <a:endParaRPr sz="1400" dirty="0">
              <a:latin typeface="Calibri Light"/>
              <a:cs typeface="Calibri Light"/>
            </a:endParaRPr>
          </a:p>
          <a:p>
            <a:pPr marL="299085" indent="-286385">
              <a:lnSpc>
                <a:spcPct val="100000"/>
              </a:lnSpc>
              <a:buFont typeface="Arial MT"/>
              <a:buChar char="•"/>
              <a:tabLst>
                <a:tab pos="299085" algn="l"/>
              </a:tabLst>
            </a:pPr>
            <a:r>
              <a:rPr sz="1100" dirty="0">
                <a:solidFill/>
                <a:latin typeface="Raleway"/>
                <a:cs typeface="Calibri Light"/>
              </a:rPr>
              <a:t>AI-</a:t>
            </a:r>
            <a:r>
              <a:rPr sz="1100" spc="-10" dirty="0">
                <a:solidFill/>
                <a:latin typeface="Raleway"/>
                <a:cs typeface="Calibri Light"/>
              </a:rPr>
              <a:t>powered</a:t>
            </a:r>
            <a:r>
              <a:rPr sz="1100" spc="-70" dirty="0">
                <a:solidFill/>
                <a:latin typeface="Raleway"/>
                <a:cs typeface="Calibri Light"/>
              </a:rPr>
              <a:t> </a:t>
            </a:r>
            <a:r>
              <a:rPr sz="1100" dirty="0">
                <a:solidFill/>
                <a:latin typeface="Raleway"/>
                <a:cs typeface="Calibri Light"/>
              </a:rPr>
              <a:t>clinical</a:t>
            </a:r>
            <a:r>
              <a:rPr sz="1100" spc="-25" dirty="0">
                <a:solidFill/>
                <a:latin typeface="Raleway"/>
                <a:cs typeface="Calibri Light"/>
              </a:rPr>
              <a:t> </a:t>
            </a:r>
            <a:r>
              <a:rPr sz="1100" spc="-10" dirty="0">
                <a:solidFill/>
                <a:latin typeface="Raleway"/>
                <a:cs typeface="Calibri Light"/>
              </a:rPr>
              <a:t>outcomes</a:t>
            </a:r>
            <a:r>
              <a:rPr sz="1100" spc="-60" dirty="0">
                <a:solidFill/>
                <a:latin typeface="Raleway"/>
                <a:cs typeface="Calibri Light"/>
              </a:rPr>
              <a:t> </a:t>
            </a:r>
            <a:r>
              <a:rPr sz="1100" dirty="0">
                <a:solidFill/>
                <a:latin typeface="Raleway"/>
                <a:cs typeface="Calibri Light"/>
              </a:rPr>
              <a:t>prediction</a:t>
            </a:r>
            <a:r>
              <a:rPr sz="1100" spc="-35" dirty="0">
                <a:solidFill/>
                <a:latin typeface="Raleway"/>
                <a:cs typeface="Calibri Light"/>
              </a:rPr>
              <a:t> </a:t>
            </a:r>
            <a:r>
              <a:rPr sz="1100" spc="-20" dirty="0">
                <a:solidFill/>
                <a:latin typeface="Raleway"/>
                <a:cs typeface="Calibri Light"/>
              </a:rPr>
              <a:t>(95%</a:t>
            </a:r>
            <a:endParaRPr sz="1400" dirty="0">
              <a:latin typeface="Calibri Light"/>
              <a:cs typeface="Calibri Light"/>
            </a:endParaRPr>
          </a:p>
          <a:p>
            <a:pPr marL="299085">
              <a:lnSpc>
                <a:spcPct val="100000"/>
              </a:lnSpc>
              <a:spcBef>
                <a:spcPts val="5"/>
              </a:spcBef>
            </a:pPr>
            <a:r>
              <a:rPr sz="1100" spc="-10" dirty="0">
                <a:solidFill/>
                <a:latin typeface="Raleway"/>
                <a:cs typeface="Calibri Light"/>
              </a:rPr>
              <a:t>accuracy)</a:t>
            </a:r>
            <a:endParaRPr sz="1400" dirty="0">
              <a:latin typeface="Calibri Light"/>
              <a:cs typeface="Calibri Light"/>
            </a:endParaRPr>
          </a:p>
          <a:p>
            <a:pPr marL="299085" indent="-286385">
              <a:lnSpc>
                <a:spcPct val="100000"/>
              </a:lnSpc>
              <a:buFont typeface="Arial MT"/>
              <a:buChar char="•"/>
              <a:tabLst>
                <a:tab pos="299085" algn="l"/>
              </a:tabLst>
            </a:pPr>
            <a:r>
              <a:rPr sz="1100" spc="-10" dirty="0">
                <a:solidFill/>
                <a:latin typeface="Raleway"/>
                <a:cs typeface="Calibri Light"/>
              </a:rPr>
              <a:t>Regulatory</a:t>
            </a:r>
            <a:r>
              <a:rPr sz="1100" spc="-45" dirty="0">
                <a:solidFill/>
                <a:latin typeface="Raleway"/>
                <a:cs typeface="Calibri Light"/>
              </a:rPr>
              <a:t> </a:t>
            </a:r>
            <a:r>
              <a:rPr sz="1100" dirty="0">
                <a:solidFill/>
                <a:latin typeface="Raleway"/>
                <a:cs typeface="Calibri Light"/>
              </a:rPr>
              <a:t>automation</a:t>
            </a:r>
            <a:r>
              <a:rPr sz="1100" spc="-30" dirty="0">
                <a:solidFill/>
                <a:latin typeface="Raleway"/>
                <a:cs typeface="Calibri Light"/>
              </a:rPr>
              <a:t> </a:t>
            </a:r>
            <a:r>
              <a:rPr sz="1100" dirty="0">
                <a:solidFill/>
                <a:latin typeface="Raleway"/>
                <a:cs typeface="Calibri Light"/>
              </a:rPr>
              <a:t>across</a:t>
            </a:r>
            <a:r>
              <a:rPr sz="1100" spc="-25" dirty="0">
                <a:solidFill/>
                <a:latin typeface="Raleway"/>
                <a:cs typeface="Calibri Light"/>
              </a:rPr>
              <a:t> </a:t>
            </a:r>
            <a:r>
              <a:rPr sz="1100" dirty="0">
                <a:solidFill/>
                <a:latin typeface="Raleway"/>
                <a:cs typeface="Calibri Light"/>
              </a:rPr>
              <a:t>25</a:t>
            </a:r>
            <a:r>
              <a:rPr sz="1100" spc="-30" dirty="0">
                <a:solidFill/>
                <a:latin typeface="Raleway"/>
                <a:cs typeface="Calibri Light"/>
              </a:rPr>
              <a:t> </a:t>
            </a:r>
            <a:r>
              <a:rPr sz="1100" spc="-10" dirty="0">
                <a:solidFill/>
                <a:latin typeface="Raleway"/>
                <a:cs typeface="Calibri Light"/>
              </a:rPr>
              <a:t>countries</a:t>
            </a:r>
            <a:endParaRPr sz="1400" dirty="0">
              <a:latin typeface="Calibri Light"/>
              <a:cs typeface="Calibri Light"/>
            </a:endParaRPr>
          </a:p>
          <a:p>
            <a:pPr marL="299085" marR="5080" indent="-287020">
              <a:lnSpc>
                <a:spcPct val="100000"/>
              </a:lnSpc>
              <a:buFont typeface="Arial MT"/>
              <a:buChar char="•"/>
              <a:tabLst>
                <a:tab pos="299085" algn="l"/>
              </a:tabLst>
            </a:pPr>
            <a:r>
              <a:rPr sz="1100" dirty="0">
                <a:solidFill/>
                <a:latin typeface="Raleway"/>
                <a:cs typeface="Calibri Light"/>
              </a:rPr>
              <a:t>Outcomes:</a:t>
            </a:r>
            <a:r>
              <a:rPr sz="1100" spc="-65" dirty="0">
                <a:solidFill/>
                <a:latin typeface="Raleway"/>
                <a:cs typeface="Calibri Light"/>
              </a:rPr>
              <a:t> </a:t>
            </a:r>
            <a:r>
              <a:rPr sz="1100" dirty="0">
                <a:solidFill/>
                <a:latin typeface="Raleway"/>
                <a:cs typeface="Calibri Light"/>
              </a:rPr>
              <a:t>$750M</a:t>
            </a:r>
            <a:r>
              <a:rPr sz="1100" spc="-5" dirty="0">
                <a:solidFill/>
                <a:latin typeface="Raleway"/>
                <a:cs typeface="Calibri Light"/>
              </a:rPr>
              <a:t> </a:t>
            </a:r>
            <a:r>
              <a:rPr sz="1100" dirty="0">
                <a:solidFill/>
                <a:latin typeface="Raleway"/>
                <a:cs typeface="Calibri Light"/>
              </a:rPr>
              <a:t>annual</a:t>
            </a:r>
            <a:r>
              <a:rPr sz="1100" spc="-20" dirty="0">
                <a:solidFill/>
                <a:latin typeface="Raleway"/>
                <a:cs typeface="Calibri Light"/>
              </a:rPr>
              <a:t> </a:t>
            </a:r>
            <a:r>
              <a:rPr sz="1100" spc="-10" dirty="0">
                <a:solidFill/>
                <a:latin typeface="Raleway"/>
                <a:cs typeface="Calibri Light"/>
              </a:rPr>
              <a:t>contribution,</a:t>
            </a:r>
            <a:r>
              <a:rPr sz="1100" spc="-50" dirty="0">
                <a:solidFill/>
                <a:latin typeface="Raleway"/>
                <a:cs typeface="Calibri Light"/>
              </a:rPr>
              <a:t> </a:t>
            </a:r>
            <a:r>
              <a:rPr sz="1100" dirty="0">
                <a:solidFill/>
                <a:latin typeface="Raleway"/>
                <a:cs typeface="Calibri Light"/>
              </a:rPr>
              <a:t>$1B</a:t>
            </a:r>
            <a:r>
              <a:rPr sz="1100" spc="-5" dirty="0">
                <a:solidFill/>
                <a:latin typeface="Raleway"/>
                <a:cs typeface="Calibri Light"/>
              </a:rPr>
              <a:t> </a:t>
            </a:r>
            <a:r>
              <a:rPr sz="1100" spc="-25" dirty="0">
                <a:solidFill/>
                <a:latin typeface="Raleway"/>
                <a:cs typeface="Calibri Light"/>
              </a:rPr>
              <a:t>AI </a:t>
            </a:r>
            <a:r>
              <a:rPr sz="1100" dirty="0">
                <a:solidFill/>
                <a:latin typeface="Raleway"/>
                <a:cs typeface="Calibri Light"/>
              </a:rPr>
              <a:t>initiative</a:t>
            </a:r>
            <a:r>
              <a:rPr sz="1100" spc="-25" dirty="0">
                <a:solidFill/>
                <a:latin typeface="Raleway"/>
                <a:cs typeface="Calibri Light"/>
              </a:rPr>
              <a:t> </a:t>
            </a:r>
            <a:r>
              <a:rPr sz="1100" spc="-10" dirty="0">
                <a:solidFill/>
                <a:latin typeface="Raleway"/>
                <a:cs typeface="Calibri Light"/>
              </a:rPr>
              <a:t>execution,</a:t>
            </a:r>
            <a:r>
              <a:rPr sz="1100" spc="-60" dirty="0">
                <a:solidFill/>
                <a:latin typeface="Raleway"/>
                <a:cs typeface="Calibri Light"/>
              </a:rPr>
              <a:t> </a:t>
            </a:r>
            <a:r>
              <a:rPr sz="1100" dirty="0">
                <a:solidFill/>
                <a:latin typeface="Raleway"/>
                <a:cs typeface="Calibri Light"/>
              </a:rPr>
              <a:t>50+</a:t>
            </a:r>
            <a:r>
              <a:rPr sz="1100" spc="-20" dirty="0">
                <a:solidFill/>
                <a:latin typeface="Raleway"/>
                <a:cs typeface="Calibri Light"/>
              </a:rPr>
              <a:t> </a:t>
            </a:r>
            <a:r>
              <a:rPr sz="1100" spc="-10" dirty="0">
                <a:solidFill/>
                <a:latin typeface="Raleway"/>
                <a:cs typeface="Calibri Light"/>
              </a:rPr>
              <a:t>innovation</a:t>
            </a:r>
            <a:r>
              <a:rPr sz="1100" spc="-50" dirty="0">
                <a:solidFill/>
                <a:latin typeface="Raleway"/>
                <a:cs typeface="Calibri Light"/>
              </a:rPr>
              <a:t> </a:t>
            </a:r>
            <a:r>
              <a:rPr sz="1100" dirty="0">
                <a:solidFill/>
                <a:latin typeface="Raleway"/>
                <a:cs typeface="Calibri Light"/>
              </a:rPr>
              <a:t>projects</a:t>
            </a:r>
            <a:r>
              <a:rPr sz="1100" spc="-40" dirty="0">
                <a:solidFill/>
                <a:latin typeface="Raleway"/>
                <a:cs typeface="Calibri Light"/>
              </a:rPr>
              <a:t> </a:t>
            </a:r>
            <a:r>
              <a:rPr sz="1100" spc="-10" dirty="0">
                <a:solidFill/>
                <a:latin typeface="Raleway"/>
                <a:cs typeface="Calibri Light"/>
              </a:rPr>
              <a:t>delivered</a:t>
            </a:r>
            <a:endParaRPr sz="1400" dirty="0">
              <a:latin typeface="Calibri Light"/>
              <a:cs typeface="Calibri Light"/>
            </a:endParaRPr>
          </a:p>
        </p:txBody>
      </p:sp>
      <p:sp>
        <p:nvSpPr>
          <p:cNvPr id="100" name="object 20">
            <a:extLst>
              <a:ext uri="{FF2B5EF4-FFF2-40B4-BE49-F238E27FC236}">
                <a16:creationId xmlns:a16="http://schemas.microsoft.com/office/drawing/2014/main" id="{353A4B92-6F0B-4DD4-837F-CB24FC465577}"/>
              </a:ext>
            </a:extLst>
          </p:cNvPr>
          <p:cNvSpPr txBox="1"/>
          <p:nvPr/>
        </p:nvSpPr>
        <p:spPr>
          <a:xfrm>
            <a:off x="7869682" y="2891600"/>
            <a:ext cx="2635250" cy="483234"/>
          </a:xfrm>
          <a:prstGeom prst="rect">
            <a:avLst/>
          </a:prstGeom>
        </p:spPr>
        <p:txBody>
          <a:bodyPr vert="horz" wrap="square" lIns="0" tIns="12700" rIns="0" bIns="0" rtlCol="0">
            <a:normAutofit fontScale="97486"/>
          </a:bodyPr>
          <a:lstStyle/>
          <a:p>
            <a:pPr>
              <a:lnSpc>
                <a:spcPct val="100000"/>
              </a:lnSpc>
              <a:spcBef>
                <a:spcPts val="100"/>
              </a:spcBef>
            </a:pPr>
            <a:r>
              <a:rPr lang="en-GB" sz="1400" dirty="0">
                <a:solidFill>
                  <a:srgbClr val="2A9D8F"/>
                </a:solidFill>
                <a:latin typeface="Roboto Condensed"/>
                <a:cs typeface="Calibri Light"/>
              </a:rPr>
              <a:t>Phase III (FY24–FY25) – Global Healthcare Hub</a:t>
            </a:r>
          </a:p>
        </p:txBody>
      </p:sp>
      <p:sp>
        <p:nvSpPr>
          <p:cNvPr id="8" name="Text 7">
            <a:extLst>
              <a:ext uri="{FF2B5EF4-FFF2-40B4-BE49-F238E27FC236}">
                <a16:creationId xmlns:a16="http://schemas.microsoft.com/office/drawing/2014/main" id="{A84BB9DE-7FFE-22AB-BAB4-4F3928175DF4}"/>
              </a:ext>
            </a:extLst>
          </p:cNvPr>
          <p:cNvSpPr/>
          <p:nvPr/>
        </p:nvSpPr>
        <p:spPr>
          <a:xfrm>
            <a:off x="83185" y="6699313"/>
            <a:ext cx="2743200" cy="201168"/>
          </a:xfrm>
          <a:prstGeom prst="rect">
            <a:avLst/>
          </a:prstGeom>
          <a:noFill/>
          <a:ln/>
        </p:spPr>
        <p:txBody>
          <a:bodyPr wrap="square" lIns="0" tIns="0" rIns="0" bIns="0" rtlCol="0" anchor="ctr"/>
          <a:lstStyle/>
          <a:p>
            <a:pPr marL="0" indent="0" algn="l">
              <a:buNone/>
            </a:pPr>
            <a:r>
              <a:rPr lang="en-US" sz="800" kern="0" spc="100" dirty="0">
                <a:solidFill>
                  <a:srgbClr val="A1A1AA"/>
                </a:solidFill>
                <a:latin typeface="Roboto Condensed" pitchFamily="34" charset="0"/>
                <a:ea typeface="Roboto Condensed" pitchFamily="34" charset="-122"/>
                <a:cs typeface="Roboto Condensed" pitchFamily="34" charset="-120"/>
              </a:rPr>
              <a:t>JOULESTOWATTS</a:t>
            </a:r>
            <a:endParaRPr lang="en-US" sz="800" dirty="0"/>
          </a:p>
        </p:txBody>
      </p:sp>
    </p:spTree>
    <p:extLst>
      <p:ext uri="{BB962C8B-B14F-4D97-AF65-F5344CB8AC3E}">
        <p14:creationId xmlns:p14="http://schemas.microsoft.com/office/powerpoint/2010/main" val="218101106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608CA3-138B-AF2B-D15D-750A70A98859}"/>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9E1B87AA-75B2-3585-C0BC-C1F639240651}"/>
              </a:ext>
            </a:extLst>
          </p:cNvPr>
          <p:cNvSpPr/>
          <p:nvPr/>
        </p:nvSpPr>
        <p:spPr>
          <a:xfrm>
            <a:off x="0" y="0"/>
            <a:ext cx="8123327" cy="75895"/>
          </a:xfrm>
          <a:prstGeom prst="rect">
            <a:avLst/>
          </a:prstGeom>
          <a:solidFill>
            <a:srgbClr val="2A9D8F"/>
          </a:solidFill>
          <a:ln/>
        </p:spPr>
        <p:txBody>
          <a:bodyPr/>
          <a:lstStyle/>
          <a:p>
            <a:endParaRPr lang="en-IN"/>
          </a:p>
        </p:txBody>
      </p:sp>
      <p:sp>
        <p:nvSpPr>
          <p:cNvPr id="3" name="Shape 1">
            <a:extLst>
              <a:ext uri="{FF2B5EF4-FFF2-40B4-BE49-F238E27FC236}">
                <a16:creationId xmlns:a16="http://schemas.microsoft.com/office/drawing/2014/main" id="{1C7D5265-5E68-BB33-ABE8-AEB5525652C2}"/>
              </a:ext>
            </a:extLst>
          </p:cNvPr>
          <p:cNvSpPr/>
          <p:nvPr/>
        </p:nvSpPr>
        <p:spPr>
          <a:xfrm>
            <a:off x="8123327" y="0"/>
            <a:ext cx="4068369" cy="75895"/>
          </a:xfrm>
          <a:prstGeom prst="rect">
            <a:avLst/>
          </a:prstGeom>
          <a:solidFill>
            <a:srgbClr val="D62839"/>
          </a:solidFill>
          <a:ln/>
        </p:spPr>
        <p:txBody>
          <a:bodyPr/>
          <a:lstStyle/>
          <a:p>
            <a:endParaRPr lang="en-IN"/>
          </a:p>
        </p:txBody>
      </p:sp>
      <p:sp>
        <p:nvSpPr>
          <p:cNvPr id="4" name="Shape 2">
            <a:extLst>
              <a:ext uri="{FF2B5EF4-FFF2-40B4-BE49-F238E27FC236}">
                <a16:creationId xmlns:a16="http://schemas.microsoft.com/office/drawing/2014/main" id="{9779877A-0204-CFE5-2A36-5EC2810A68CA}"/>
              </a:ext>
            </a:extLst>
          </p:cNvPr>
          <p:cNvSpPr/>
          <p:nvPr/>
        </p:nvSpPr>
        <p:spPr>
          <a:xfrm>
            <a:off x="9265615" y="-1463040"/>
            <a:ext cx="3840480" cy="3840480"/>
          </a:xfrm>
          <a:prstGeom prst="ellipse">
            <a:avLst/>
          </a:prstGeom>
          <a:solidFill>
            <a:srgbClr val="2A9D8F">
              <a:alpha val="4000"/>
            </a:srgbClr>
          </a:solidFill>
          <a:ln/>
        </p:spPr>
        <p:txBody>
          <a:bodyPr/>
          <a:lstStyle/>
          <a:p>
            <a:endParaRPr lang="en-IN"/>
          </a:p>
        </p:txBody>
      </p:sp>
      <p:sp>
        <p:nvSpPr>
          <p:cNvPr id="5" name="Shape 3">
            <a:extLst>
              <a:ext uri="{FF2B5EF4-FFF2-40B4-BE49-F238E27FC236}">
                <a16:creationId xmlns:a16="http://schemas.microsoft.com/office/drawing/2014/main" id="{985CCD8E-0157-4A8F-B94B-465E3795449E}"/>
              </a:ext>
            </a:extLst>
          </p:cNvPr>
          <p:cNvSpPr/>
          <p:nvPr/>
        </p:nvSpPr>
        <p:spPr>
          <a:xfrm>
            <a:off x="502920" y="329184"/>
            <a:ext cx="54864" cy="310896"/>
          </a:xfrm>
          <a:prstGeom prst="rect">
            <a:avLst/>
          </a:prstGeom>
          <a:solidFill>
            <a:srgbClr val="111827"/>
          </a:solidFill>
          <a:ln/>
        </p:spPr>
        <p:txBody>
          <a:bodyPr/>
          <a:lstStyle/>
          <a:p>
            <a:endParaRPr lang="en-IN"/>
          </a:p>
        </p:txBody>
      </p:sp>
      <p:sp>
        <p:nvSpPr>
          <p:cNvPr id="6" name="Text 4">
            <a:extLst>
              <a:ext uri="{FF2B5EF4-FFF2-40B4-BE49-F238E27FC236}">
                <a16:creationId xmlns:a16="http://schemas.microsoft.com/office/drawing/2014/main" id="{D5934F59-E9C1-2313-EDF3-DE771EB791F5}"/>
              </a:ext>
            </a:extLst>
          </p:cNvPr>
          <p:cNvSpPr/>
          <p:nvPr/>
        </p:nvSpPr>
        <p:spPr>
          <a:xfrm>
            <a:off x="667512" y="405739"/>
            <a:ext cx="11021263" cy="384048"/>
          </a:xfrm>
          <a:prstGeom prst="rect">
            <a:avLst/>
          </a:prstGeom>
          <a:noFill/>
          <a:ln/>
        </p:spPr>
        <p:txBody>
          <a:bodyPr wrap="square" lIns="0" tIns="0" rIns="0" bIns="0" rtlCol="0" anchor="ctr"/>
          <a:lstStyle/>
          <a:p>
            <a:pPr marL="0" indent="0" algn="l">
              <a:buNone/>
            </a:pPr>
            <a:r>
              <a:rPr lang="en-GB" sz="2200" b="1" dirty="0">
                <a:solidFill>
                  <a:srgbClr val="2A9D8F"/>
                </a:solidFill>
                <a:latin typeface="Oswald" pitchFamily="34" charset="0"/>
                <a:ea typeface="Oswald" pitchFamily="34" charset="-122"/>
                <a:cs typeface="Oswald" pitchFamily="34" charset="-120"/>
              </a:rPr>
              <a:t>Case Study: </a:t>
            </a:r>
            <a:r>
              <a:rPr lang="en-GB" sz="2200" b="1" dirty="0">
                <a:solidFill>
                  <a:srgbClr val="111827"/>
                </a:solidFill>
                <a:latin typeface="Oswald" pitchFamily="34" charset="0"/>
                <a:ea typeface="Oswald" pitchFamily="34" charset="-122"/>
                <a:cs typeface="Oswald" pitchFamily="34" charset="-120"/>
              </a:rPr>
              <a:t>A Global Technology Leader Partnered With J2W To Transform An 800-people BPO Into A Tech-enabled Hub, Unlocking Automation, Efficiency, And Digital-first CX</a:t>
            </a:r>
            <a:endParaRPr lang="en-US" sz="2200" dirty="0"/>
          </a:p>
        </p:txBody>
      </p:sp>
      <p:sp>
        <p:nvSpPr>
          <p:cNvPr id="13" name="Text 5">
            <a:extLst>
              <a:ext uri="{FF2B5EF4-FFF2-40B4-BE49-F238E27FC236}">
                <a16:creationId xmlns:a16="http://schemas.microsoft.com/office/drawing/2014/main" id="{4B7474CF-7206-8EA2-6EFC-58B64AD68622}"/>
              </a:ext>
            </a:extLst>
          </p:cNvPr>
          <p:cNvSpPr/>
          <p:nvPr/>
        </p:nvSpPr>
        <p:spPr>
          <a:xfrm>
            <a:off x="667512" y="988923"/>
            <a:ext cx="11021263" cy="237744"/>
          </a:xfrm>
          <a:prstGeom prst="rect">
            <a:avLst/>
          </a:prstGeom>
          <a:noFill/>
          <a:ln/>
        </p:spPr>
        <p:txBody>
          <a:bodyPr wrap="square" lIns="0" tIns="0" rIns="0" bIns="0" rtlCol="0" anchor="ctr"/>
          <a:lstStyle/>
          <a:p>
            <a:pPr marL="0" indent="0" algn="l">
              <a:buNone/>
            </a:pPr>
            <a:r>
              <a:rPr lang="en-GB" sz="1250" b="1" dirty="0">
                <a:solidFill>
                  <a:srgbClr val="2A9D8F"/>
                </a:solidFill>
                <a:latin typeface="Roboto Condensed" pitchFamily="34" charset="0"/>
                <a:ea typeface="Roboto Condensed" pitchFamily="34" charset="-122"/>
                <a:cs typeface="Roboto Condensed" pitchFamily="34" charset="-120"/>
              </a:rPr>
              <a:t>J2W’S AI-DRIVEN BPO TRANSFORMATION VIA CAPTIVE-AS-A-SERVICE MODEL</a:t>
            </a:r>
          </a:p>
        </p:txBody>
      </p:sp>
      <p:grpSp>
        <p:nvGrpSpPr>
          <p:cNvPr id="7" name="object 4">
            <a:extLst>
              <a:ext uri="{FF2B5EF4-FFF2-40B4-BE49-F238E27FC236}">
                <a16:creationId xmlns:a16="http://schemas.microsoft.com/office/drawing/2014/main" id="{867C3763-6C5E-CAA0-44EA-6B7E13622736}"/>
              </a:ext>
            </a:extLst>
          </p:cNvPr>
          <p:cNvGrpSpPr/>
          <p:nvPr/>
        </p:nvGrpSpPr>
        <p:grpSpPr>
          <a:xfrm>
            <a:off x="922489" y="1994789"/>
            <a:ext cx="11123295" cy="620395"/>
            <a:chOff x="922489" y="1791589"/>
            <a:chExt cx="11123295" cy="620395"/>
          </a:xfrm>
        </p:grpSpPr>
        <p:sp>
          <p:nvSpPr>
            <p:cNvPr id="8" name="object 5">
              <a:extLst>
                <a:ext uri="{FF2B5EF4-FFF2-40B4-BE49-F238E27FC236}">
                  <a16:creationId xmlns:a16="http://schemas.microsoft.com/office/drawing/2014/main" id="{6789DCA3-FFC6-AB63-B2E1-10440A65B008}"/>
                </a:ext>
              </a:extLst>
            </p:cNvPr>
            <p:cNvSpPr/>
            <p:nvPr/>
          </p:nvSpPr>
          <p:spPr>
            <a:xfrm>
              <a:off x="2194560" y="2037587"/>
              <a:ext cx="8578850" cy="369570"/>
            </a:xfrm>
            <a:custGeom>
              <a:avLst/>
              <a:gdLst/>
              <a:ahLst/>
              <a:cxnLst/>
              <a:rect l="l" t="t" r="r" b="b"/>
              <a:pathLst>
                <a:path w="8578850" h="369569">
                  <a:moveTo>
                    <a:pt x="1162812" y="97536"/>
                  </a:moveTo>
                  <a:lnTo>
                    <a:pt x="0" y="97536"/>
                  </a:lnTo>
                  <a:lnTo>
                    <a:pt x="0" y="369570"/>
                  </a:lnTo>
                  <a:lnTo>
                    <a:pt x="1162812" y="369570"/>
                  </a:lnTo>
                  <a:lnTo>
                    <a:pt x="1162812" y="97536"/>
                  </a:lnTo>
                  <a:close/>
                </a:path>
                <a:path w="8578850" h="369569">
                  <a:moveTo>
                    <a:pt x="4870704" y="0"/>
                  </a:moveTo>
                  <a:lnTo>
                    <a:pt x="3707892" y="0"/>
                  </a:lnTo>
                  <a:lnTo>
                    <a:pt x="3707892" y="369570"/>
                  </a:lnTo>
                  <a:lnTo>
                    <a:pt x="4870704" y="369570"/>
                  </a:lnTo>
                  <a:lnTo>
                    <a:pt x="4870704" y="0"/>
                  </a:lnTo>
                  <a:close/>
                </a:path>
                <a:path w="8578850" h="369569">
                  <a:moveTo>
                    <a:pt x="8578596" y="0"/>
                  </a:moveTo>
                  <a:lnTo>
                    <a:pt x="7415784" y="0"/>
                  </a:lnTo>
                  <a:lnTo>
                    <a:pt x="7415784" y="369570"/>
                  </a:lnTo>
                  <a:lnTo>
                    <a:pt x="8578596" y="369570"/>
                  </a:lnTo>
                  <a:lnTo>
                    <a:pt x="8578596" y="0"/>
                  </a:lnTo>
                  <a:close/>
                </a:path>
              </a:pathLst>
            </a:custGeom>
            <a:solidFill>
              <a:srgbClr val="F5F5F5"/>
            </a:solidFill>
            <a:ln w="9525">
              <a:solidFill>
                <a:srgbClr val="DEDEDE"/>
              </a:solidFill>
            </a:ln>
            <a:effectLst/>
          </p:spPr>
          <p:txBody>
            <a:bodyPr wrap="square" lIns="0" tIns="0" rIns="0" bIns="0" rtlCol="0"/>
            <a:lstStyle/>
            <a:p>
              <a:endParaRPr/>
            </a:p>
          </p:txBody>
        </p:sp>
        <p:sp>
          <p:nvSpPr>
            <p:cNvPr id="10" name="object 6">
              <a:extLst>
                <a:ext uri="{FF2B5EF4-FFF2-40B4-BE49-F238E27FC236}">
                  <a16:creationId xmlns:a16="http://schemas.microsoft.com/office/drawing/2014/main" id="{6FCB9699-FF14-91AA-51B0-4FDCB295B42E}"/>
                </a:ext>
              </a:extLst>
            </p:cNvPr>
            <p:cNvSpPr/>
            <p:nvPr/>
          </p:nvSpPr>
          <p:spPr>
            <a:xfrm>
              <a:off x="922489" y="2407158"/>
              <a:ext cx="11123295" cy="0"/>
            </a:xfrm>
            <a:custGeom>
              <a:avLst/>
              <a:gdLst/>
              <a:ahLst/>
              <a:cxnLst/>
              <a:rect l="l" t="t" r="r" b="b"/>
              <a:pathLst>
                <a:path w="11123295">
                  <a:moveTo>
                    <a:pt x="0" y="0"/>
                  </a:moveTo>
                  <a:lnTo>
                    <a:pt x="11122825" y="0"/>
                  </a:lnTo>
                </a:path>
              </a:pathLst>
            </a:custGeom>
            <a:ln w="9525">
              <a:solidFill>
                <a:srgbClr val="D9D9D9"/>
              </a:solidFill>
            </a:ln>
          </p:spPr>
          <p:txBody>
            <a:bodyPr wrap="square" lIns="0" tIns="0" rIns="0" bIns="0" rtlCol="0"/>
            <a:lstStyle/>
            <a:p>
              <a:endParaRPr/>
            </a:p>
          </p:txBody>
        </p:sp>
        <p:sp>
          <p:nvSpPr>
            <p:cNvPr id="11" name="object 7">
              <a:extLst>
                <a:ext uri="{FF2B5EF4-FFF2-40B4-BE49-F238E27FC236}">
                  <a16:creationId xmlns:a16="http://schemas.microsoft.com/office/drawing/2014/main" id="{924E6919-FD67-B782-5856-BDD20BA39B29}"/>
                </a:ext>
              </a:extLst>
            </p:cNvPr>
            <p:cNvSpPr/>
            <p:nvPr/>
          </p:nvSpPr>
          <p:spPr>
            <a:xfrm>
              <a:off x="1925827" y="1801114"/>
              <a:ext cx="9116695" cy="414655"/>
            </a:xfrm>
            <a:custGeom>
              <a:avLst/>
              <a:gdLst/>
              <a:ahLst/>
              <a:cxnLst/>
              <a:rect l="l" t="t" r="r" b="b"/>
              <a:pathLst>
                <a:path w="9116695" h="414655">
                  <a:moveTo>
                    <a:pt x="0" y="193928"/>
                  </a:moveTo>
                  <a:lnTo>
                    <a:pt x="1759458" y="193928"/>
                  </a:lnTo>
                </a:path>
                <a:path w="9116695" h="414655">
                  <a:moveTo>
                    <a:pt x="0" y="193928"/>
                  </a:moveTo>
                  <a:lnTo>
                    <a:pt x="0" y="400558"/>
                  </a:lnTo>
                </a:path>
                <a:path w="9116695" h="414655">
                  <a:moveTo>
                    <a:pt x="1759458" y="207772"/>
                  </a:moveTo>
                  <a:lnTo>
                    <a:pt x="1759458" y="414400"/>
                  </a:lnTo>
                </a:path>
                <a:path w="9116695" h="414655">
                  <a:moveTo>
                    <a:pt x="3678301" y="110871"/>
                  </a:moveTo>
                  <a:lnTo>
                    <a:pt x="5437886" y="110871"/>
                  </a:lnTo>
                </a:path>
                <a:path w="9116695" h="414655">
                  <a:moveTo>
                    <a:pt x="3678301" y="110871"/>
                  </a:moveTo>
                  <a:lnTo>
                    <a:pt x="3678301" y="317500"/>
                  </a:lnTo>
                </a:path>
                <a:path w="9116695" h="414655">
                  <a:moveTo>
                    <a:pt x="5437886" y="124713"/>
                  </a:moveTo>
                  <a:lnTo>
                    <a:pt x="5437886" y="331343"/>
                  </a:lnTo>
                </a:path>
                <a:path w="9116695" h="414655">
                  <a:moveTo>
                    <a:pt x="7356729" y="0"/>
                  </a:moveTo>
                  <a:lnTo>
                    <a:pt x="9116187" y="0"/>
                  </a:lnTo>
                </a:path>
                <a:path w="9116695" h="414655">
                  <a:moveTo>
                    <a:pt x="7356729" y="0"/>
                  </a:moveTo>
                  <a:lnTo>
                    <a:pt x="7356729" y="206628"/>
                  </a:lnTo>
                </a:path>
                <a:path w="9116695" h="414655">
                  <a:moveTo>
                    <a:pt x="9116187" y="13843"/>
                  </a:moveTo>
                  <a:lnTo>
                    <a:pt x="9116187" y="220472"/>
                  </a:lnTo>
                </a:path>
              </a:pathLst>
            </a:custGeom>
            <a:ln w="19050">
              <a:solidFill>
                <a:srgbClr val="000000"/>
              </a:solidFill>
              <a:prstDash val="sysDash"/>
            </a:ln>
          </p:spPr>
          <p:txBody>
            <a:bodyPr wrap="square" lIns="0" tIns="0" rIns="0" bIns="0" rtlCol="0"/>
            <a:lstStyle/>
            <a:p>
              <a:endParaRPr/>
            </a:p>
          </p:txBody>
        </p:sp>
      </p:grpSp>
      <p:sp>
        <p:nvSpPr>
          <p:cNvPr id="14" name="object 8">
            <a:extLst>
              <a:ext uri="{FF2B5EF4-FFF2-40B4-BE49-F238E27FC236}">
                <a16:creationId xmlns:a16="http://schemas.microsoft.com/office/drawing/2014/main" id="{2384FE75-6BB9-1AE4-2B47-6E2F590C0AEC}"/>
              </a:ext>
            </a:extLst>
          </p:cNvPr>
          <p:cNvSpPr txBox="1"/>
          <p:nvPr/>
        </p:nvSpPr>
        <p:spPr>
          <a:xfrm>
            <a:off x="2602229" y="2626105"/>
            <a:ext cx="351155" cy="208279"/>
          </a:xfrm>
          <a:prstGeom prst="rect">
            <a:avLst/>
          </a:prstGeom>
        </p:spPr>
        <p:txBody>
          <a:bodyPr vert="horz" wrap="square" lIns="0" tIns="12700" rIns="0" bIns="0" rtlCol="0">
            <a:normAutofit fontScale="92500"/>
          </a:bodyPr>
          <a:lstStyle/>
          <a:p>
            <a:pPr marL="12700">
              <a:lnSpc>
                <a:spcPct val="100000"/>
              </a:lnSpc>
              <a:spcBef>
                <a:spcPts val="100"/>
              </a:spcBef>
            </a:pPr>
            <a:r>
              <a:rPr sz="1100" dirty="0">
                <a:solidFill/>
                <a:latin typeface="Raleway"/>
                <a:cs typeface="Calibri Light"/>
              </a:rPr>
              <a:t>FY</a:t>
            </a:r>
            <a:r>
              <a:rPr sz="1100" spc="-35" dirty="0">
                <a:solidFill/>
                <a:latin typeface="Raleway"/>
                <a:cs typeface="Calibri Light"/>
              </a:rPr>
              <a:t> </a:t>
            </a:r>
            <a:r>
              <a:rPr sz="1100" spc="-25" dirty="0">
                <a:solidFill/>
                <a:latin typeface="Raleway"/>
                <a:cs typeface="Calibri Light"/>
              </a:rPr>
              <a:t>23</a:t>
            </a:r>
            <a:endParaRPr sz="1200" dirty="0">
              <a:latin typeface="Calibri Light"/>
              <a:cs typeface="Calibri Light"/>
            </a:endParaRPr>
          </a:p>
        </p:txBody>
      </p:sp>
      <p:sp>
        <p:nvSpPr>
          <p:cNvPr id="15" name="object 9">
            <a:extLst>
              <a:ext uri="{FF2B5EF4-FFF2-40B4-BE49-F238E27FC236}">
                <a16:creationId xmlns:a16="http://schemas.microsoft.com/office/drawing/2014/main" id="{12569396-4AE2-7280-7C47-DE29262A2F4C}"/>
              </a:ext>
            </a:extLst>
          </p:cNvPr>
          <p:cNvSpPr txBox="1"/>
          <p:nvPr/>
        </p:nvSpPr>
        <p:spPr>
          <a:xfrm>
            <a:off x="6310121" y="2626105"/>
            <a:ext cx="351155" cy="208279"/>
          </a:xfrm>
          <a:prstGeom prst="rect">
            <a:avLst/>
          </a:prstGeom>
        </p:spPr>
        <p:txBody>
          <a:bodyPr vert="horz" wrap="square" lIns="0" tIns="12700" rIns="0" bIns="0" rtlCol="0">
            <a:normAutofit fontScale="92500"/>
          </a:bodyPr>
          <a:lstStyle/>
          <a:p>
            <a:pPr marL="12700">
              <a:lnSpc>
                <a:spcPct val="100000"/>
              </a:lnSpc>
              <a:spcBef>
                <a:spcPts val="100"/>
              </a:spcBef>
            </a:pPr>
            <a:r>
              <a:rPr sz="1100" dirty="0">
                <a:solidFill/>
                <a:latin typeface="Raleway"/>
                <a:cs typeface="Calibri Light"/>
              </a:rPr>
              <a:t>FY</a:t>
            </a:r>
            <a:r>
              <a:rPr sz="1100" spc="-35" dirty="0">
                <a:solidFill/>
                <a:latin typeface="Raleway"/>
                <a:cs typeface="Calibri Light"/>
              </a:rPr>
              <a:t> </a:t>
            </a:r>
            <a:r>
              <a:rPr sz="1100" spc="-25" dirty="0">
                <a:solidFill/>
                <a:latin typeface="Raleway"/>
                <a:cs typeface="Calibri Light"/>
              </a:rPr>
              <a:t>24</a:t>
            </a:r>
            <a:endParaRPr sz="1200">
              <a:latin typeface="Calibri Light"/>
              <a:cs typeface="Calibri Light"/>
            </a:endParaRPr>
          </a:p>
        </p:txBody>
      </p:sp>
      <p:sp>
        <p:nvSpPr>
          <p:cNvPr id="16" name="object 10">
            <a:extLst>
              <a:ext uri="{FF2B5EF4-FFF2-40B4-BE49-F238E27FC236}">
                <a16:creationId xmlns:a16="http://schemas.microsoft.com/office/drawing/2014/main" id="{95863978-09F1-8536-C332-A26812D304BD}"/>
              </a:ext>
            </a:extLst>
          </p:cNvPr>
          <p:cNvSpPr txBox="1"/>
          <p:nvPr/>
        </p:nvSpPr>
        <p:spPr>
          <a:xfrm>
            <a:off x="10018268" y="2626105"/>
            <a:ext cx="351155" cy="208279"/>
          </a:xfrm>
          <a:prstGeom prst="rect">
            <a:avLst/>
          </a:prstGeom>
        </p:spPr>
        <p:txBody>
          <a:bodyPr vert="horz" wrap="square" lIns="0" tIns="12700" rIns="0" bIns="0" rtlCol="0">
            <a:normAutofit fontScale="92500"/>
          </a:bodyPr>
          <a:lstStyle/>
          <a:p>
            <a:pPr marL="12700">
              <a:lnSpc>
                <a:spcPct val="100000"/>
              </a:lnSpc>
              <a:spcBef>
                <a:spcPts val="100"/>
              </a:spcBef>
            </a:pPr>
            <a:r>
              <a:rPr sz="1100" dirty="0">
                <a:solidFill/>
                <a:latin typeface="Raleway"/>
                <a:cs typeface="Calibri Light"/>
              </a:rPr>
              <a:t>FY</a:t>
            </a:r>
            <a:r>
              <a:rPr sz="1100" spc="-35" dirty="0">
                <a:solidFill/>
                <a:latin typeface="Raleway"/>
                <a:cs typeface="Calibri Light"/>
              </a:rPr>
              <a:t> </a:t>
            </a:r>
            <a:r>
              <a:rPr sz="1100" spc="-25" dirty="0">
                <a:solidFill/>
                <a:latin typeface="Raleway"/>
                <a:cs typeface="Calibri Light"/>
              </a:rPr>
              <a:t>25</a:t>
            </a:r>
            <a:endParaRPr sz="1200">
              <a:latin typeface="Calibri Light"/>
              <a:cs typeface="Calibri Light"/>
            </a:endParaRPr>
          </a:p>
        </p:txBody>
      </p:sp>
      <p:sp>
        <p:nvSpPr>
          <p:cNvPr id="17" name="object 11">
            <a:extLst>
              <a:ext uri="{FF2B5EF4-FFF2-40B4-BE49-F238E27FC236}">
                <a16:creationId xmlns:a16="http://schemas.microsoft.com/office/drawing/2014/main" id="{B3B922FC-3C36-68A9-CB61-25DC3BDC82B1}"/>
              </a:ext>
            </a:extLst>
          </p:cNvPr>
          <p:cNvSpPr txBox="1"/>
          <p:nvPr/>
        </p:nvSpPr>
        <p:spPr>
          <a:xfrm>
            <a:off x="1454785" y="1473071"/>
            <a:ext cx="2909570" cy="462167"/>
          </a:xfrm>
          <a:prstGeom prst="rect">
            <a:avLst/>
          </a:prstGeom>
          <a:solidFill>
            <a:srgbClr val="2A9D8F"/>
          </a:solidFill>
          <a:ln>
            <a:noFill/>
          </a:ln>
        </p:spPr>
        <p:txBody>
          <a:bodyPr vert="horz" wrap="square" lIns="0" tIns="52705" rIns="0" bIns="0" rtlCol="0">
            <a:normAutofit/>
          </a:bodyPr>
          <a:lstStyle/>
          <a:p>
            <a:pPr marL="504825" marR="155575" indent="-342900">
              <a:lnSpc>
                <a:spcPct val="100000"/>
              </a:lnSpc>
              <a:spcBef>
                <a:spcPts val="415"/>
              </a:spcBef>
            </a:pPr>
            <a:r>
              <a:rPr sz="1100" dirty="0">
                <a:solidFill/>
                <a:latin typeface="Raleway"/>
                <a:cs typeface="Calibri Light"/>
              </a:rPr>
              <a:t>800</a:t>
            </a:r>
            <a:r>
              <a:rPr sz="1100" spc="-30" dirty="0">
                <a:solidFill/>
                <a:latin typeface="Raleway"/>
                <a:cs typeface="Calibri Light"/>
              </a:rPr>
              <a:t> </a:t>
            </a:r>
            <a:r>
              <a:rPr sz="1100" dirty="0">
                <a:solidFill/>
                <a:latin typeface="Raleway"/>
                <a:cs typeface="Calibri Light"/>
              </a:rPr>
              <a:t>FTEs</a:t>
            </a:r>
            <a:r>
              <a:rPr sz="1100" spc="-35" dirty="0">
                <a:solidFill/>
                <a:latin typeface="Raleway"/>
                <a:cs typeface="Calibri Light"/>
              </a:rPr>
              <a:t> </a:t>
            </a:r>
            <a:r>
              <a:rPr sz="1100" dirty="0">
                <a:solidFill/>
                <a:latin typeface="Raleway"/>
                <a:cs typeface="Calibri Light"/>
              </a:rPr>
              <a:t>onboarded</a:t>
            </a:r>
            <a:r>
              <a:rPr sz="1100" spc="-65" dirty="0">
                <a:solidFill/>
                <a:latin typeface="Raleway"/>
                <a:cs typeface="Calibri Light"/>
              </a:rPr>
              <a:t> </a:t>
            </a:r>
            <a:r>
              <a:rPr sz="1100" dirty="0">
                <a:solidFill/>
                <a:latin typeface="Raleway"/>
                <a:cs typeface="Calibri Light"/>
              </a:rPr>
              <a:t>across</a:t>
            </a:r>
            <a:r>
              <a:rPr sz="1100" spc="-50" dirty="0">
                <a:solidFill/>
                <a:latin typeface="Raleway"/>
                <a:cs typeface="Calibri Light"/>
              </a:rPr>
              <a:t> </a:t>
            </a:r>
            <a:r>
              <a:rPr sz="1100" spc="-10" dirty="0">
                <a:solidFill/>
                <a:latin typeface="Raleway"/>
                <a:cs typeface="Calibri Light"/>
              </a:rPr>
              <a:t>Finance, </a:t>
            </a:r>
            <a:r>
              <a:rPr sz="1100" dirty="0">
                <a:solidFill/>
                <a:latin typeface="Raleway"/>
                <a:cs typeface="Calibri Light"/>
              </a:rPr>
              <a:t>HR,</a:t>
            </a:r>
            <a:r>
              <a:rPr sz="1100" spc="5" dirty="0">
                <a:solidFill/>
                <a:latin typeface="Raleway"/>
                <a:cs typeface="Calibri Light"/>
              </a:rPr>
              <a:t> </a:t>
            </a:r>
            <a:r>
              <a:rPr sz="1100" dirty="0">
                <a:solidFill/>
                <a:latin typeface="Raleway"/>
                <a:cs typeface="Calibri Light"/>
              </a:rPr>
              <a:t>and</a:t>
            </a:r>
            <a:r>
              <a:rPr sz="1100" spc="-5" dirty="0">
                <a:solidFill/>
                <a:latin typeface="Raleway"/>
                <a:cs typeface="Calibri Light"/>
              </a:rPr>
              <a:t> </a:t>
            </a:r>
            <a:r>
              <a:rPr sz="1100" spc="-10" dirty="0">
                <a:solidFill/>
                <a:latin typeface="Raleway"/>
                <a:cs typeface="Calibri Light"/>
              </a:rPr>
              <a:t>Customer</a:t>
            </a:r>
            <a:r>
              <a:rPr sz="1100" spc="-35" dirty="0">
                <a:solidFill/>
                <a:latin typeface="Raleway"/>
                <a:cs typeface="Calibri Light"/>
              </a:rPr>
              <a:t> </a:t>
            </a:r>
            <a:r>
              <a:rPr sz="1100" spc="-10" dirty="0">
                <a:solidFill/>
                <a:latin typeface="Raleway"/>
                <a:cs typeface="Calibri Light"/>
              </a:rPr>
              <a:t>Support</a:t>
            </a:r>
            <a:endParaRPr sz="1400" dirty="0">
              <a:latin typeface="Calibri Light"/>
              <a:cs typeface="Calibri Light"/>
            </a:endParaRPr>
          </a:p>
        </p:txBody>
      </p:sp>
      <p:sp>
        <p:nvSpPr>
          <p:cNvPr id="18" name="object 12">
            <a:extLst>
              <a:ext uri="{FF2B5EF4-FFF2-40B4-BE49-F238E27FC236}">
                <a16:creationId xmlns:a16="http://schemas.microsoft.com/office/drawing/2014/main" id="{644FB02F-1692-A355-CF44-1DE6791DC77B}"/>
              </a:ext>
            </a:extLst>
          </p:cNvPr>
          <p:cNvSpPr txBox="1"/>
          <p:nvPr/>
        </p:nvSpPr>
        <p:spPr>
          <a:xfrm>
            <a:off x="5167757" y="1473071"/>
            <a:ext cx="2701925" cy="462167"/>
          </a:xfrm>
          <a:prstGeom prst="rect">
            <a:avLst/>
          </a:prstGeom>
          <a:solidFill>
            <a:srgbClr val="2A9D8F"/>
          </a:solidFill>
          <a:ln>
            <a:noFill/>
          </a:ln>
        </p:spPr>
        <p:txBody>
          <a:bodyPr vert="horz" wrap="square" lIns="0" tIns="52705" rIns="0" bIns="0" rtlCol="0">
            <a:normAutofit/>
          </a:bodyPr>
          <a:lstStyle/>
          <a:p>
            <a:pPr marL="450850" marR="324485" indent="-117475">
              <a:lnSpc>
                <a:spcPct val="100000"/>
              </a:lnSpc>
              <a:spcBef>
                <a:spcPts val="415"/>
              </a:spcBef>
            </a:pPr>
            <a:r>
              <a:rPr sz="1100" spc="-10" dirty="0">
                <a:solidFill/>
                <a:latin typeface="Raleway"/>
                <a:cs typeface="Calibri Light"/>
              </a:rPr>
              <a:t>Transition</a:t>
            </a:r>
            <a:r>
              <a:rPr sz="1100" spc="-50" dirty="0">
                <a:solidFill/>
                <a:latin typeface="Raleway"/>
                <a:cs typeface="Calibri Light"/>
              </a:rPr>
              <a:t> </a:t>
            </a:r>
            <a:r>
              <a:rPr sz="1100" dirty="0">
                <a:solidFill/>
                <a:latin typeface="Raleway"/>
                <a:cs typeface="Calibri Light"/>
              </a:rPr>
              <a:t>to</a:t>
            </a:r>
            <a:r>
              <a:rPr sz="1100" spc="-50" dirty="0">
                <a:solidFill/>
                <a:latin typeface="Raleway"/>
                <a:cs typeface="Calibri Light"/>
              </a:rPr>
              <a:t> </a:t>
            </a:r>
            <a:r>
              <a:rPr sz="1100" dirty="0">
                <a:solidFill/>
                <a:latin typeface="Raleway"/>
                <a:cs typeface="Calibri Light"/>
              </a:rPr>
              <a:t>AI/ML</a:t>
            </a:r>
            <a:r>
              <a:rPr sz="1100" spc="-30" dirty="0">
                <a:solidFill/>
                <a:latin typeface="Raleway"/>
                <a:cs typeface="Calibri Light"/>
              </a:rPr>
              <a:t> </a:t>
            </a:r>
            <a:r>
              <a:rPr sz="1100" spc="-10" dirty="0">
                <a:solidFill/>
                <a:latin typeface="Raleway"/>
                <a:cs typeface="Calibri Light"/>
              </a:rPr>
              <a:t>powered </a:t>
            </a:r>
            <a:r>
              <a:rPr sz="1100" dirty="0">
                <a:solidFill/>
                <a:latin typeface="Raleway"/>
                <a:cs typeface="Calibri Light"/>
              </a:rPr>
              <a:t>platforms</a:t>
            </a:r>
            <a:r>
              <a:rPr sz="1100" spc="-45" dirty="0">
                <a:solidFill/>
                <a:latin typeface="Raleway"/>
                <a:cs typeface="Calibri Light"/>
              </a:rPr>
              <a:t> </a:t>
            </a:r>
            <a:r>
              <a:rPr sz="1100" dirty="0">
                <a:solidFill/>
                <a:latin typeface="Raleway"/>
                <a:cs typeface="Calibri Light"/>
              </a:rPr>
              <a:t>for</a:t>
            </a:r>
            <a:r>
              <a:rPr sz="1100" spc="-30" dirty="0">
                <a:solidFill/>
                <a:latin typeface="Raleway"/>
                <a:cs typeface="Calibri Light"/>
              </a:rPr>
              <a:t> </a:t>
            </a:r>
            <a:r>
              <a:rPr sz="1100" dirty="0">
                <a:solidFill/>
                <a:latin typeface="Raleway"/>
                <a:cs typeface="Calibri Light"/>
              </a:rPr>
              <a:t>CX</a:t>
            </a:r>
            <a:r>
              <a:rPr sz="1100" spc="-35" dirty="0">
                <a:solidFill/>
                <a:latin typeface="Raleway"/>
                <a:cs typeface="Calibri Light"/>
              </a:rPr>
              <a:t> </a:t>
            </a:r>
            <a:r>
              <a:rPr sz="1100" dirty="0">
                <a:solidFill/>
                <a:latin typeface="Raleway"/>
                <a:cs typeface="Calibri Light"/>
              </a:rPr>
              <a:t>and</a:t>
            </a:r>
            <a:r>
              <a:rPr sz="1100" spc="-40" dirty="0">
                <a:solidFill/>
                <a:latin typeface="Raleway"/>
                <a:cs typeface="Calibri Light"/>
              </a:rPr>
              <a:t> </a:t>
            </a:r>
            <a:r>
              <a:rPr sz="1100" spc="-25" dirty="0">
                <a:solidFill/>
                <a:latin typeface="Raleway"/>
                <a:cs typeface="Calibri Light"/>
              </a:rPr>
              <a:t>F&amp;A</a:t>
            </a:r>
            <a:endParaRPr sz="1400">
              <a:latin typeface="Calibri Light"/>
              <a:cs typeface="Calibri Light"/>
            </a:endParaRPr>
          </a:p>
        </p:txBody>
      </p:sp>
      <p:sp>
        <p:nvSpPr>
          <p:cNvPr id="19" name="object 13">
            <a:extLst>
              <a:ext uri="{FF2B5EF4-FFF2-40B4-BE49-F238E27FC236}">
                <a16:creationId xmlns:a16="http://schemas.microsoft.com/office/drawing/2014/main" id="{63030B06-32B3-3510-982B-203E070E6C64}"/>
              </a:ext>
            </a:extLst>
          </p:cNvPr>
          <p:cNvSpPr txBox="1"/>
          <p:nvPr/>
        </p:nvSpPr>
        <p:spPr>
          <a:xfrm>
            <a:off x="8811514" y="1473071"/>
            <a:ext cx="2701925" cy="462167"/>
          </a:xfrm>
          <a:prstGeom prst="rect">
            <a:avLst/>
          </a:prstGeom>
          <a:solidFill>
            <a:srgbClr val="2A9D8F"/>
          </a:solidFill>
          <a:ln>
            <a:noFill/>
          </a:ln>
        </p:spPr>
        <p:txBody>
          <a:bodyPr vert="horz" wrap="square" lIns="0" tIns="52705" rIns="0" bIns="0" rtlCol="0">
            <a:normAutofit/>
          </a:bodyPr>
          <a:lstStyle/>
          <a:p>
            <a:pPr marL="170180" marR="163195" indent="176530">
              <a:lnSpc>
                <a:spcPct val="100000"/>
              </a:lnSpc>
              <a:spcBef>
                <a:spcPts val="415"/>
              </a:spcBef>
            </a:pPr>
            <a:r>
              <a:rPr sz="1100" dirty="0">
                <a:solidFill/>
                <a:latin typeface="Raleway"/>
                <a:cs typeface="Calibri Light"/>
              </a:rPr>
              <a:t>Expansion</a:t>
            </a:r>
            <a:r>
              <a:rPr sz="1100" spc="-45" dirty="0">
                <a:solidFill/>
                <a:latin typeface="Raleway"/>
                <a:cs typeface="Calibri Light"/>
              </a:rPr>
              <a:t> </a:t>
            </a:r>
            <a:r>
              <a:rPr sz="1100" dirty="0">
                <a:solidFill/>
                <a:latin typeface="Raleway"/>
                <a:cs typeface="Calibri Light"/>
              </a:rPr>
              <a:t>into</a:t>
            </a:r>
            <a:r>
              <a:rPr sz="1100" spc="-30" dirty="0">
                <a:solidFill/>
                <a:latin typeface="Raleway"/>
                <a:cs typeface="Calibri Light"/>
              </a:rPr>
              <a:t> </a:t>
            </a:r>
            <a:r>
              <a:rPr sz="1100" dirty="0">
                <a:solidFill/>
                <a:latin typeface="Raleway"/>
                <a:cs typeface="Calibri Light"/>
              </a:rPr>
              <a:t>a</a:t>
            </a:r>
            <a:r>
              <a:rPr sz="1100" spc="-20" dirty="0">
                <a:solidFill/>
                <a:latin typeface="Raleway"/>
                <a:cs typeface="Calibri Light"/>
              </a:rPr>
              <a:t> </a:t>
            </a:r>
            <a:r>
              <a:rPr sz="1100" dirty="0">
                <a:solidFill/>
                <a:latin typeface="Raleway"/>
                <a:cs typeface="Calibri Light"/>
              </a:rPr>
              <a:t>Global</a:t>
            </a:r>
            <a:r>
              <a:rPr sz="1100" spc="-20" dirty="0">
                <a:solidFill/>
                <a:latin typeface="Raleway"/>
                <a:cs typeface="Calibri Light"/>
              </a:rPr>
              <a:t> </a:t>
            </a:r>
            <a:r>
              <a:rPr sz="1100" spc="-25" dirty="0">
                <a:solidFill/>
                <a:latin typeface="Raleway"/>
                <a:cs typeface="Calibri Light"/>
              </a:rPr>
              <a:t>BPO </a:t>
            </a:r>
            <a:r>
              <a:rPr sz="1100" dirty="0">
                <a:solidFill/>
                <a:latin typeface="Raleway"/>
                <a:cs typeface="Calibri Light"/>
              </a:rPr>
              <a:t>Center</a:t>
            </a:r>
            <a:r>
              <a:rPr sz="1100" spc="-30" dirty="0">
                <a:solidFill/>
                <a:latin typeface="Raleway"/>
                <a:cs typeface="Calibri Light"/>
              </a:rPr>
              <a:t> </a:t>
            </a:r>
            <a:r>
              <a:rPr sz="1100" dirty="0">
                <a:solidFill/>
                <a:latin typeface="Raleway"/>
                <a:cs typeface="Calibri Light"/>
              </a:rPr>
              <a:t>of</a:t>
            </a:r>
            <a:r>
              <a:rPr sz="1100" spc="-20" dirty="0">
                <a:solidFill/>
                <a:latin typeface="Raleway"/>
                <a:cs typeface="Calibri Light"/>
              </a:rPr>
              <a:t> </a:t>
            </a:r>
            <a:r>
              <a:rPr sz="1100" spc="-10" dirty="0">
                <a:solidFill/>
                <a:latin typeface="Raleway"/>
                <a:cs typeface="Calibri Light"/>
              </a:rPr>
              <a:t>Excellence</a:t>
            </a:r>
            <a:r>
              <a:rPr sz="1100" spc="-25" dirty="0">
                <a:solidFill/>
                <a:latin typeface="Raleway"/>
                <a:cs typeface="Calibri Light"/>
              </a:rPr>
              <a:t> </a:t>
            </a:r>
            <a:r>
              <a:rPr sz="1100" dirty="0">
                <a:solidFill/>
                <a:latin typeface="Raleway"/>
                <a:cs typeface="Calibri Light"/>
              </a:rPr>
              <a:t>(CoE)</a:t>
            </a:r>
            <a:r>
              <a:rPr sz="1100" spc="-30" dirty="0">
                <a:solidFill/>
                <a:latin typeface="Raleway"/>
                <a:cs typeface="Calibri Light"/>
              </a:rPr>
              <a:t> </a:t>
            </a:r>
            <a:r>
              <a:rPr sz="1100" spc="-20" dirty="0">
                <a:solidFill/>
                <a:latin typeface="Raleway"/>
                <a:cs typeface="Calibri Light"/>
              </a:rPr>
              <a:t>model</a:t>
            </a:r>
            <a:endParaRPr sz="1400" dirty="0">
              <a:latin typeface="Calibri Light"/>
              <a:cs typeface="Calibri Light"/>
            </a:endParaRPr>
          </a:p>
        </p:txBody>
      </p:sp>
      <p:sp>
        <p:nvSpPr>
          <p:cNvPr id="20" name="object 14">
            <a:extLst>
              <a:ext uri="{FF2B5EF4-FFF2-40B4-BE49-F238E27FC236}">
                <a16:creationId xmlns:a16="http://schemas.microsoft.com/office/drawing/2014/main" id="{2A81E312-E61D-2015-1E7F-F229448EC87B}"/>
              </a:ext>
            </a:extLst>
          </p:cNvPr>
          <p:cNvSpPr/>
          <p:nvPr/>
        </p:nvSpPr>
        <p:spPr>
          <a:xfrm>
            <a:off x="1246911" y="2783077"/>
            <a:ext cx="2340610" cy="114300"/>
          </a:xfrm>
          <a:custGeom>
            <a:avLst/>
            <a:gdLst/>
            <a:ahLst/>
            <a:cxnLst/>
            <a:rect l="l" t="t" r="r" b="b"/>
            <a:pathLst>
              <a:path w="2340610" h="114300">
                <a:moveTo>
                  <a:pt x="114274" y="0"/>
                </a:moveTo>
                <a:lnTo>
                  <a:pt x="0" y="57150"/>
                </a:lnTo>
                <a:lnTo>
                  <a:pt x="114274" y="114300"/>
                </a:lnTo>
                <a:lnTo>
                  <a:pt x="114274" y="76200"/>
                </a:lnTo>
                <a:lnTo>
                  <a:pt x="95224" y="76200"/>
                </a:lnTo>
                <a:lnTo>
                  <a:pt x="95224" y="38100"/>
                </a:lnTo>
                <a:lnTo>
                  <a:pt x="114274" y="38100"/>
                </a:lnTo>
                <a:lnTo>
                  <a:pt x="114274" y="0"/>
                </a:lnTo>
                <a:close/>
              </a:path>
              <a:path w="2340610" h="114300">
                <a:moveTo>
                  <a:pt x="2225903" y="0"/>
                </a:moveTo>
                <a:lnTo>
                  <a:pt x="2225903" y="114300"/>
                </a:lnTo>
                <a:lnTo>
                  <a:pt x="2302103" y="76200"/>
                </a:lnTo>
                <a:lnTo>
                  <a:pt x="2244953" y="76200"/>
                </a:lnTo>
                <a:lnTo>
                  <a:pt x="2244953" y="38100"/>
                </a:lnTo>
                <a:lnTo>
                  <a:pt x="2302103" y="38100"/>
                </a:lnTo>
                <a:lnTo>
                  <a:pt x="2225903" y="0"/>
                </a:lnTo>
                <a:close/>
              </a:path>
              <a:path w="2340610" h="114300">
                <a:moveTo>
                  <a:pt x="114274" y="38100"/>
                </a:moveTo>
                <a:lnTo>
                  <a:pt x="95224" y="38100"/>
                </a:lnTo>
                <a:lnTo>
                  <a:pt x="95224" y="76200"/>
                </a:lnTo>
                <a:lnTo>
                  <a:pt x="114274" y="76200"/>
                </a:lnTo>
                <a:lnTo>
                  <a:pt x="114274" y="38100"/>
                </a:lnTo>
                <a:close/>
              </a:path>
              <a:path w="2340610" h="114300">
                <a:moveTo>
                  <a:pt x="2225903" y="38100"/>
                </a:moveTo>
                <a:lnTo>
                  <a:pt x="114274" y="38100"/>
                </a:lnTo>
                <a:lnTo>
                  <a:pt x="114274" y="76200"/>
                </a:lnTo>
                <a:lnTo>
                  <a:pt x="2225903" y="76200"/>
                </a:lnTo>
                <a:lnTo>
                  <a:pt x="2225903" y="38100"/>
                </a:lnTo>
                <a:close/>
              </a:path>
              <a:path w="2340610" h="114300">
                <a:moveTo>
                  <a:pt x="2302103" y="38100"/>
                </a:moveTo>
                <a:lnTo>
                  <a:pt x="2244953" y="38100"/>
                </a:lnTo>
                <a:lnTo>
                  <a:pt x="2244953" y="76200"/>
                </a:lnTo>
                <a:lnTo>
                  <a:pt x="2302103" y="76200"/>
                </a:lnTo>
                <a:lnTo>
                  <a:pt x="2340203" y="57150"/>
                </a:lnTo>
                <a:lnTo>
                  <a:pt x="2302103" y="38100"/>
                </a:lnTo>
                <a:close/>
              </a:path>
            </a:pathLst>
          </a:custGeom>
          <a:solidFill>
            <a:srgbClr val="F5F5F5"/>
          </a:solidFill>
          <a:ln w="9525">
            <a:solidFill>
              <a:srgbClr val="DEDEDE"/>
            </a:solidFill>
          </a:ln>
          <a:effectLst/>
        </p:spPr>
        <p:txBody>
          <a:bodyPr wrap="square" lIns="0" tIns="0" rIns="0" bIns="0" rtlCol="0"/>
          <a:lstStyle/>
          <a:p>
            <a:endParaRPr/>
          </a:p>
        </p:txBody>
      </p:sp>
      <p:sp>
        <p:nvSpPr>
          <p:cNvPr id="21" name="object 15">
            <a:extLst>
              <a:ext uri="{FF2B5EF4-FFF2-40B4-BE49-F238E27FC236}">
                <a16:creationId xmlns:a16="http://schemas.microsoft.com/office/drawing/2014/main" id="{B46D6236-FFFD-2E54-88C5-73515CB29902}"/>
              </a:ext>
            </a:extLst>
          </p:cNvPr>
          <p:cNvSpPr/>
          <p:nvPr/>
        </p:nvSpPr>
        <p:spPr>
          <a:xfrm>
            <a:off x="3685286" y="2783077"/>
            <a:ext cx="7633970" cy="114300"/>
          </a:xfrm>
          <a:custGeom>
            <a:avLst/>
            <a:gdLst/>
            <a:ahLst/>
            <a:cxnLst/>
            <a:rect l="l" t="t" r="r" b="b"/>
            <a:pathLst>
              <a:path w="7633970" h="114300">
                <a:moveTo>
                  <a:pt x="3782314" y="57150"/>
                </a:moveTo>
                <a:lnTo>
                  <a:pt x="3744214" y="38100"/>
                </a:lnTo>
                <a:lnTo>
                  <a:pt x="3668014" y="0"/>
                </a:lnTo>
                <a:lnTo>
                  <a:pt x="3668014" y="38100"/>
                </a:lnTo>
                <a:lnTo>
                  <a:pt x="114300" y="38100"/>
                </a:lnTo>
                <a:lnTo>
                  <a:pt x="114300" y="0"/>
                </a:lnTo>
                <a:lnTo>
                  <a:pt x="0" y="57150"/>
                </a:lnTo>
                <a:lnTo>
                  <a:pt x="114300" y="114300"/>
                </a:lnTo>
                <a:lnTo>
                  <a:pt x="114300" y="76200"/>
                </a:lnTo>
                <a:lnTo>
                  <a:pt x="3668014" y="76200"/>
                </a:lnTo>
                <a:lnTo>
                  <a:pt x="3668014" y="114300"/>
                </a:lnTo>
                <a:lnTo>
                  <a:pt x="3744214" y="76200"/>
                </a:lnTo>
                <a:lnTo>
                  <a:pt x="3782314" y="57150"/>
                </a:lnTo>
                <a:close/>
              </a:path>
              <a:path w="7633970" h="114300">
                <a:moveTo>
                  <a:pt x="7633843" y="57150"/>
                </a:moveTo>
                <a:lnTo>
                  <a:pt x="7595743" y="38100"/>
                </a:lnTo>
                <a:lnTo>
                  <a:pt x="7519543" y="0"/>
                </a:lnTo>
                <a:lnTo>
                  <a:pt x="7519543" y="38100"/>
                </a:lnTo>
                <a:lnTo>
                  <a:pt x="3965829" y="38100"/>
                </a:lnTo>
                <a:lnTo>
                  <a:pt x="3965829" y="0"/>
                </a:lnTo>
                <a:lnTo>
                  <a:pt x="3851529" y="57150"/>
                </a:lnTo>
                <a:lnTo>
                  <a:pt x="3965829" y="114300"/>
                </a:lnTo>
                <a:lnTo>
                  <a:pt x="3965829" y="76200"/>
                </a:lnTo>
                <a:lnTo>
                  <a:pt x="7519543" y="76200"/>
                </a:lnTo>
                <a:lnTo>
                  <a:pt x="7519543" y="114300"/>
                </a:lnTo>
                <a:lnTo>
                  <a:pt x="7595743" y="76200"/>
                </a:lnTo>
                <a:lnTo>
                  <a:pt x="7633843" y="57150"/>
                </a:lnTo>
                <a:close/>
              </a:path>
            </a:pathLst>
          </a:custGeom>
          <a:solidFill>
            <a:srgbClr val="F5F5F5"/>
          </a:solidFill>
          <a:ln w="9525">
            <a:solidFill>
              <a:srgbClr val="DEDEDE"/>
            </a:solidFill>
          </a:ln>
          <a:effectLst/>
        </p:spPr>
        <p:txBody>
          <a:bodyPr wrap="square" lIns="0" tIns="0" rIns="0" bIns="0" rtlCol="0"/>
          <a:lstStyle/>
          <a:p>
            <a:endParaRPr/>
          </a:p>
        </p:txBody>
      </p:sp>
      <p:sp>
        <p:nvSpPr>
          <p:cNvPr id="22" name="object 16">
            <a:extLst>
              <a:ext uri="{FF2B5EF4-FFF2-40B4-BE49-F238E27FC236}">
                <a16:creationId xmlns:a16="http://schemas.microsoft.com/office/drawing/2014/main" id="{ED1CF8D5-2923-455F-4084-04BBA94CE75B}"/>
              </a:ext>
            </a:extLst>
          </p:cNvPr>
          <p:cNvSpPr txBox="1"/>
          <p:nvPr/>
        </p:nvSpPr>
        <p:spPr>
          <a:xfrm>
            <a:off x="1531366" y="2871927"/>
            <a:ext cx="1884680" cy="483234"/>
          </a:xfrm>
          <a:prstGeom prst="rect">
            <a:avLst/>
          </a:prstGeom>
        </p:spPr>
        <p:txBody>
          <a:bodyPr vert="horz" wrap="square" lIns="0" tIns="12700" rIns="0" bIns="0" rtlCol="0">
            <a:normAutofit fontScale="97500"/>
          </a:bodyPr>
          <a:lstStyle/>
          <a:p>
            <a:pPr>
              <a:lnSpc>
                <a:spcPct val="100000"/>
              </a:lnSpc>
              <a:spcBef>
                <a:spcPts val="100"/>
              </a:spcBef>
            </a:pPr>
            <a:r>
              <a:rPr sz="1400"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J2W</a:t>
            </a:r>
            <a:r>
              <a:rPr sz="1400" spc="-40"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 </a:t>
            </a:r>
            <a:r>
              <a:rPr sz="1400" spc="-20"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Foundation</a:t>
            </a:r>
            <a:r>
              <a:rPr sz="1400" spc="-50"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 </a:t>
            </a:r>
            <a:r>
              <a:rPr sz="1400" spc="-10"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Setup</a:t>
            </a:r>
            <a:r>
              <a:rPr sz="1400" spc="-50"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 &amp;</a:t>
            </a:r>
            <a:endParaRPr sz="1400" dirty="0">
              <a:latin typeface="Roboto Condensed" panose="02000000000000000000" pitchFamily="2" charset="0"/>
              <a:ea typeface="Roboto Condensed" panose="02000000000000000000" pitchFamily="2" charset="0"/>
              <a:cs typeface="Roboto Condensed" panose="02000000000000000000" pitchFamily="2" charset="0"/>
            </a:endParaRPr>
          </a:p>
          <a:p>
            <a:pPr>
              <a:lnSpc>
                <a:spcPct val="100000"/>
              </a:lnSpc>
              <a:spcBef>
                <a:spcPts val="5"/>
              </a:spcBef>
            </a:pPr>
            <a:r>
              <a:rPr sz="1400" spc="-20"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Stabilization</a:t>
            </a:r>
            <a:r>
              <a:rPr sz="1400" spc="15"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 </a:t>
            </a:r>
            <a:r>
              <a:rPr sz="1400" spc="-10"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(FY23)</a:t>
            </a:r>
            <a:endParaRPr sz="1400" dirty="0">
              <a:latin typeface="Roboto Condensed" panose="02000000000000000000" pitchFamily="2" charset="0"/>
              <a:ea typeface="Roboto Condensed" panose="02000000000000000000" pitchFamily="2" charset="0"/>
              <a:cs typeface="Roboto Condensed" panose="02000000000000000000" pitchFamily="2" charset="0"/>
            </a:endParaRPr>
          </a:p>
        </p:txBody>
      </p:sp>
      <p:sp>
        <p:nvSpPr>
          <p:cNvPr id="23" name="object 17">
            <a:extLst>
              <a:ext uri="{FF2B5EF4-FFF2-40B4-BE49-F238E27FC236}">
                <a16:creationId xmlns:a16="http://schemas.microsoft.com/office/drawing/2014/main" id="{315D6D80-3949-33D9-7CB0-60A60690B5E6}"/>
              </a:ext>
            </a:extLst>
          </p:cNvPr>
          <p:cNvSpPr txBox="1"/>
          <p:nvPr/>
        </p:nvSpPr>
        <p:spPr>
          <a:xfrm>
            <a:off x="4114546" y="2893898"/>
            <a:ext cx="2672080" cy="483234"/>
          </a:xfrm>
          <a:prstGeom prst="rect">
            <a:avLst/>
          </a:prstGeom>
        </p:spPr>
        <p:txBody>
          <a:bodyPr vert="horz" wrap="square" lIns="0" tIns="12700" rIns="0" bIns="0" rtlCol="0">
            <a:normAutofit fontScale="97486"/>
          </a:bodyPr>
          <a:lstStyle/>
          <a:p>
            <a:pPr>
              <a:lnSpc>
                <a:spcPct val="100000"/>
              </a:lnSpc>
              <a:spcBef>
                <a:spcPts val="100"/>
              </a:spcBef>
            </a:pPr>
            <a:r>
              <a:rPr sz="1400"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Phase</a:t>
            </a:r>
            <a:r>
              <a:rPr sz="1400" spc="-50"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 </a:t>
            </a:r>
            <a:r>
              <a:rPr sz="1400"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II:</a:t>
            </a:r>
            <a:r>
              <a:rPr sz="1400" spc="-30"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 </a:t>
            </a:r>
            <a:r>
              <a:rPr sz="1400" spc="-25"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J2W’S</a:t>
            </a:r>
            <a:r>
              <a:rPr sz="1400" spc="-45"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 </a:t>
            </a:r>
            <a:r>
              <a:rPr sz="1400"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Caas</a:t>
            </a:r>
            <a:r>
              <a:rPr sz="1400" spc="-50"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 </a:t>
            </a:r>
            <a:r>
              <a:rPr sz="1400" spc="-20"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Acceleration</a:t>
            </a:r>
            <a:r>
              <a:rPr sz="1400" spc="-50"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 &amp;</a:t>
            </a:r>
            <a:endParaRPr sz="1400" dirty="0">
              <a:latin typeface="Roboto Condensed" panose="02000000000000000000" pitchFamily="2" charset="0"/>
              <a:ea typeface="Roboto Condensed" panose="02000000000000000000" pitchFamily="2" charset="0"/>
              <a:cs typeface="Roboto Condensed" panose="02000000000000000000" pitchFamily="2" charset="0"/>
            </a:endParaRPr>
          </a:p>
          <a:p>
            <a:pPr>
              <a:lnSpc>
                <a:spcPct val="100000"/>
              </a:lnSpc>
              <a:spcBef>
                <a:spcPts val="5"/>
              </a:spcBef>
            </a:pPr>
            <a:r>
              <a:rPr sz="1400" spc="-35"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Technology</a:t>
            </a:r>
            <a:r>
              <a:rPr sz="1400" spc="-25"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 </a:t>
            </a:r>
            <a:r>
              <a:rPr sz="1400" spc="-10"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Scaling</a:t>
            </a:r>
            <a:r>
              <a:rPr sz="1400" spc="-15"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 </a:t>
            </a:r>
            <a:r>
              <a:rPr sz="1400" spc="-10"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(FY23)</a:t>
            </a:r>
            <a:endParaRPr sz="1400" dirty="0">
              <a:latin typeface="Roboto Condensed" panose="02000000000000000000" pitchFamily="2" charset="0"/>
              <a:ea typeface="Roboto Condensed" panose="02000000000000000000" pitchFamily="2" charset="0"/>
              <a:cs typeface="Roboto Condensed" panose="02000000000000000000" pitchFamily="2" charset="0"/>
            </a:endParaRPr>
          </a:p>
        </p:txBody>
      </p:sp>
      <p:sp>
        <p:nvSpPr>
          <p:cNvPr id="25" name="object 19">
            <a:extLst>
              <a:ext uri="{FF2B5EF4-FFF2-40B4-BE49-F238E27FC236}">
                <a16:creationId xmlns:a16="http://schemas.microsoft.com/office/drawing/2014/main" id="{BCB6674F-486E-1B51-1916-86FBD88E722C}"/>
              </a:ext>
            </a:extLst>
          </p:cNvPr>
          <p:cNvSpPr txBox="1"/>
          <p:nvPr/>
        </p:nvSpPr>
        <p:spPr>
          <a:xfrm>
            <a:off x="83125" y="3477475"/>
            <a:ext cx="1188085" cy="346710"/>
          </a:xfrm>
          <a:prstGeom prst="rect">
            <a:avLst/>
          </a:prstGeom>
          <a:solidFill>
            <a:srgbClr val="747474"/>
          </a:solidFill>
        </p:spPr>
        <p:txBody>
          <a:bodyPr vert="horz" wrap="square" lIns="0" tIns="55244" rIns="0" bIns="0" rtlCol="0">
            <a:normAutofit/>
          </a:bodyPr>
          <a:lstStyle/>
          <a:p>
            <a:pPr marL="263525">
              <a:lnSpc>
                <a:spcPct val="100000"/>
              </a:lnSpc>
              <a:spcBef>
                <a:spcPts val="434"/>
              </a:spcBef>
            </a:pPr>
            <a:r>
              <a:rPr sz="1100" spc="-10" dirty="0">
                <a:solidFill>
                  <a:srgbClr val="FFFFFF"/>
                </a:solidFill>
                <a:latin typeface="Raleway"/>
                <a:cs typeface="Calibri Light"/>
              </a:rPr>
              <a:t>Key</a:t>
            </a:r>
            <a:r>
              <a:rPr sz="1100" spc="-60" dirty="0">
                <a:solidFill>
                  <a:srgbClr val="FFFFFF"/>
                </a:solidFill>
                <a:latin typeface="Raleway"/>
                <a:cs typeface="Calibri Light"/>
              </a:rPr>
              <a:t> </a:t>
            </a:r>
            <a:r>
              <a:rPr sz="1100" spc="-10" dirty="0">
                <a:solidFill>
                  <a:srgbClr val="FFFFFF"/>
                </a:solidFill>
                <a:latin typeface="Raleway"/>
                <a:cs typeface="Calibri Light"/>
              </a:rPr>
              <a:t>Label</a:t>
            </a:r>
            <a:endParaRPr sz="1400">
              <a:latin typeface="Calibri Light"/>
              <a:cs typeface="Calibri Light"/>
            </a:endParaRPr>
          </a:p>
        </p:txBody>
      </p:sp>
      <p:grpSp>
        <p:nvGrpSpPr>
          <p:cNvPr id="26" name="object 20">
            <a:extLst>
              <a:ext uri="{FF2B5EF4-FFF2-40B4-BE49-F238E27FC236}">
                <a16:creationId xmlns:a16="http://schemas.microsoft.com/office/drawing/2014/main" id="{E465616F-D67B-8285-8550-FF432B7EB4BD}"/>
              </a:ext>
            </a:extLst>
          </p:cNvPr>
          <p:cNvGrpSpPr/>
          <p:nvPr/>
        </p:nvGrpSpPr>
        <p:grpSpPr>
          <a:xfrm>
            <a:off x="1400555" y="2831719"/>
            <a:ext cx="10670540" cy="3909695"/>
            <a:chOff x="1400555" y="2831719"/>
            <a:chExt cx="10670540" cy="3909695"/>
          </a:xfrm>
        </p:grpSpPr>
        <p:pic>
          <p:nvPicPr>
            <p:cNvPr id="27" name="object 21">
              <a:extLst>
                <a:ext uri="{FF2B5EF4-FFF2-40B4-BE49-F238E27FC236}">
                  <a16:creationId xmlns:a16="http://schemas.microsoft.com/office/drawing/2014/main" id="{784E05EA-CB10-E6CA-130E-54E46A8C0789}"/>
                </a:ext>
              </a:extLst>
            </p:cNvPr>
            <p:cNvPicPr/>
            <p:nvPr/>
          </p:nvPicPr>
          <p:blipFill>
            <a:blip r:embed="rId3" cstate="print"/>
            <a:stretch>
              <a:fillRect/>
            </a:stretch>
          </p:blipFill>
          <p:spPr>
            <a:xfrm>
              <a:off x="1400555" y="3427704"/>
              <a:ext cx="10670540" cy="461670"/>
            </a:xfrm>
            <a:prstGeom prst="rect">
              <a:avLst/>
            </a:prstGeom>
          </p:spPr>
        </p:pic>
        <p:pic>
          <p:nvPicPr>
            <p:cNvPr id="28" name="object 22">
              <a:extLst>
                <a:ext uri="{FF2B5EF4-FFF2-40B4-BE49-F238E27FC236}">
                  <a16:creationId xmlns:a16="http://schemas.microsoft.com/office/drawing/2014/main" id="{9D65BECD-FE4E-195F-A74F-D514A051054F}"/>
                </a:ext>
              </a:extLst>
            </p:cNvPr>
            <p:cNvPicPr/>
            <p:nvPr/>
          </p:nvPicPr>
          <p:blipFill>
            <a:blip r:embed="rId4" cstate="print"/>
            <a:stretch>
              <a:fillRect/>
            </a:stretch>
          </p:blipFill>
          <p:spPr>
            <a:xfrm>
              <a:off x="1400555" y="3955326"/>
              <a:ext cx="10670540" cy="2201799"/>
            </a:xfrm>
            <a:prstGeom prst="rect">
              <a:avLst/>
            </a:prstGeom>
          </p:spPr>
        </p:pic>
        <p:sp>
          <p:nvSpPr>
            <p:cNvPr id="29" name="object 23">
              <a:extLst>
                <a:ext uri="{FF2B5EF4-FFF2-40B4-BE49-F238E27FC236}">
                  <a16:creationId xmlns:a16="http://schemas.microsoft.com/office/drawing/2014/main" id="{88F163A5-6247-7DDD-3F92-CF2EB736F3E7}"/>
                </a:ext>
              </a:extLst>
            </p:cNvPr>
            <p:cNvSpPr/>
            <p:nvPr/>
          </p:nvSpPr>
          <p:spPr>
            <a:xfrm>
              <a:off x="3658235" y="2841244"/>
              <a:ext cx="0" cy="3240405"/>
            </a:xfrm>
            <a:custGeom>
              <a:avLst/>
              <a:gdLst/>
              <a:ahLst/>
              <a:cxnLst/>
              <a:rect l="l" t="t" r="r" b="b"/>
              <a:pathLst>
                <a:path h="3240404">
                  <a:moveTo>
                    <a:pt x="0" y="0"/>
                  </a:moveTo>
                  <a:lnTo>
                    <a:pt x="0" y="3239985"/>
                  </a:lnTo>
                </a:path>
              </a:pathLst>
            </a:custGeom>
            <a:ln w="19050">
              <a:solidFill>
                <a:srgbClr val="000000"/>
              </a:solidFill>
              <a:prstDash val="sysDash"/>
            </a:ln>
          </p:spPr>
          <p:txBody>
            <a:bodyPr wrap="square" lIns="0" tIns="0" rIns="0" bIns="0" rtlCol="0"/>
            <a:lstStyle/>
            <a:p>
              <a:endParaRPr/>
            </a:p>
          </p:txBody>
        </p:sp>
        <p:sp>
          <p:nvSpPr>
            <p:cNvPr id="30" name="object 24">
              <a:extLst>
                <a:ext uri="{FF2B5EF4-FFF2-40B4-BE49-F238E27FC236}">
                  <a16:creationId xmlns:a16="http://schemas.microsoft.com/office/drawing/2014/main" id="{E7405F4F-1685-4985-1FA9-C2FD6DA34804}"/>
                </a:ext>
              </a:extLst>
            </p:cNvPr>
            <p:cNvSpPr/>
            <p:nvPr/>
          </p:nvSpPr>
          <p:spPr>
            <a:xfrm>
              <a:off x="1622424" y="6201054"/>
              <a:ext cx="2520315" cy="540385"/>
            </a:xfrm>
            <a:custGeom>
              <a:avLst/>
              <a:gdLst/>
              <a:ahLst/>
              <a:cxnLst/>
              <a:rect l="l" t="t" r="r" b="b"/>
              <a:pathLst>
                <a:path w="2520315" h="540384">
                  <a:moveTo>
                    <a:pt x="2430017" y="0"/>
                  </a:moveTo>
                  <a:lnTo>
                    <a:pt x="89916" y="0"/>
                  </a:lnTo>
                  <a:lnTo>
                    <a:pt x="54917" y="7073"/>
                  </a:lnTo>
                  <a:lnTo>
                    <a:pt x="26336" y="26362"/>
                  </a:lnTo>
                  <a:lnTo>
                    <a:pt x="7066" y="54971"/>
                  </a:lnTo>
                  <a:lnTo>
                    <a:pt x="0" y="90004"/>
                  </a:lnTo>
                  <a:lnTo>
                    <a:pt x="0" y="449999"/>
                  </a:lnTo>
                  <a:lnTo>
                    <a:pt x="7066" y="485033"/>
                  </a:lnTo>
                  <a:lnTo>
                    <a:pt x="26336" y="513642"/>
                  </a:lnTo>
                  <a:lnTo>
                    <a:pt x="54917" y="532931"/>
                  </a:lnTo>
                  <a:lnTo>
                    <a:pt x="89916" y="540005"/>
                  </a:lnTo>
                  <a:lnTo>
                    <a:pt x="2430017" y="540005"/>
                  </a:lnTo>
                  <a:lnTo>
                    <a:pt x="2465016" y="532931"/>
                  </a:lnTo>
                  <a:lnTo>
                    <a:pt x="2493597" y="513642"/>
                  </a:lnTo>
                  <a:lnTo>
                    <a:pt x="2512867" y="485033"/>
                  </a:lnTo>
                  <a:lnTo>
                    <a:pt x="2519934" y="449999"/>
                  </a:lnTo>
                  <a:lnTo>
                    <a:pt x="2519934" y="90004"/>
                  </a:lnTo>
                  <a:lnTo>
                    <a:pt x="2512867" y="54971"/>
                  </a:lnTo>
                  <a:lnTo>
                    <a:pt x="2493597" y="26362"/>
                  </a:lnTo>
                  <a:lnTo>
                    <a:pt x="2465016" y="7073"/>
                  </a:lnTo>
                  <a:lnTo>
                    <a:pt x="2430017" y="0"/>
                  </a:lnTo>
                  <a:close/>
                </a:path>
              </a:pathLst>
            </a:custGeom>
            <a:solidFill>
              <a:srgbClr val="F5F5F5"/>
            </a:solidFill>
            <a:ln w="9525">
              <a:solidFill>
                <a:srgbClr val="DEDEDE"/>
              </a:solidFill>
            </a:ln>
            <a:effectLst/>
          </p:spPr>
          <p:txBody>
            <a:bodyPr wrap="square" lIns="0" tIns="0" rIns="0" bIns="0" rtlCol="0"/>
            <a:lstStyle/>
            <a:p>
              <a:endParaRPr/>
            </a:p>
          </p:txBody>
        </p:sp>
      </p:grpSp>
      <p:sp>
        <p:nvSpPr>
          <p:cNvPr id="31" name="object 25">
            <a:extLst>
              <a:ext uri="{FF2B5EF4-FFF2-40B4-BE49-F238E27FC236}">
                <a16:creationId xmlns:a16="http://schemas.microsoft.com/office/drawing/2014/main" id="{240764F9-6590-C477-39AE-22493F302FB8}"/>
              </a:ext>
            </a:extLst>
          </p:cNvPr>
          <p:cNvSpPr txBox="1"/>
          <p:nvPr/>
        </p:nvSpPr>
        <p:spPr>
          <a:xfrm>
            <a:off x="83125" y="4027932"/>
            <a:ext cx="1188085" cy="793750"/>
          </a:xfrm>
          <a:prstGeom prst="rect">
            <a:avLst/>
          </a:prstGeom>
          <a:solidFill>
            <a:srgbClr val="747474"/>
          </a:solidFill>
        </p:spPr>
        <p:txBody>
          <a:bodyPr vert="horz" wrap="square" lIns="0" tIns="74930" rIns="0" bIns="0" rtlCol="0">
            <a:normAutofit/>
          </a:bodyPr>
          <a:lstStyle/>
          <a:p>
            <a:pPr>
              <a:lnSpc>
                <a:spcPct val="100000"/>
              </a:lnSpc>
              <a:spcBef>
                <a:spcPts val="590"/>
              </a:spcBef>
            </a:pPr>
            <a:endParaRPr sz="1400">
              <a:latin typeface="Times New Roman"/>
              <a:cs typeface="Times New Roman"/>
            </a:endParaRPr>
          </a:p>
          <a:p>
            <a:pPr marL="207010">
              <a:lnSpc>
                <a:spcPct val="100000"/>
              </a:lnSpc>
            </a:pPr>
            <a:r>
              <a:rPr sz="1100" spc="-10" dirty="0">
                <a:solidFill>
                  <a:srgbClr val="FFFFFF"/>
                </a:solidFill>
                <a:latin typeface="Raleway"/>
                <a:cs typeface="Calibri Light"/>
              </a:rPr>
              <a:t>Milestones</a:t>
            </a:r>
            <a:endParaRPr sz="1400">
              <a:latin typeface="Calibri Light"/>
              <a:cs typeface="Calibri Light"/>
            </a:endParaRPr>
          </a:p>
        </p:txBody>
      </p:sp>
      <p:sp>
        <p:nvSpPr>
          <p:cNvPr id="32" name="object 26">
            <a:extLst>
              <a:ext uri="{FF2B5EF4-FFF2-40B4-BE49-F238E27FC236}">
                <a16:creationId xmlns:a16="http://schemas.microsoft.com/office/drawing/2014/main" id="{91839999-DBC8-D1E2-58FC-BD27F6C41A07}"/>
              </a:ext>
            </a:extLst>
          </p:cNvPr>
          <p:cNvSpPr txBox="1"/>
          <p:nvPr/>
        </p:nvSpPr>
        <p:spPr>
          <a:xfrm>
            <a:off x="1996820" y="6340551"/>
            <a:ext cx="1774825" cy="240029"/>
          </a:xfrm>
          <a:prstGeom prst="rect">
            <a:avLst/>
          </a:prstGeom>
        </p:spPr>
        <p:txBody>
          <a:bodyPr vert="horz" wrap="square" lIns="0" tIns="13335" rIns="0" bIns="0" rtlCol="0">
            <a:normAutofit/>
          </a:bodyPr>
          <a:lstStyle/>
          <a:p>
            <a:pPr marL="12700">
              <a:lnSpc>
                <a:spcPct val="100000"/>
              </a:lnSpc>
              <a:spcBef>
                <a:spcPts val="105"/>
              </a:spcBef>
            </a:pPr>
            <a:r>
              <a:rPr sz="1100" dirty="0">
                <a:solidFill>
                  <a:srgbClr val="2A9D8F"/>
                </a:solidFill>
                <a:latin typeface="Raleway"/>
                <a:cs typeface="Calibri Light"/>
              </a:rPr>
              <a:t>45%</a:t>
            </a:r>
            <a:r>
              <a:rPr sz="1100" spc="-60" dirty="0">
                <a:solidFill>
                  <a:srgbClr val="2A9D8F"/>
                </a:solidFill>
                <a:latin typeface="Raleway"/>
                <a:cs typeface="Calibri Light"/>
              </a:rPr>
              <a:t> </a:t>
            </a:r>
            <a:r>
              <a:rPr sz="1100" spc="-10" dirty="0">
                <a:solidFill>
                  <a:srgbClr val="2A9D8F"/>
                </a:solidFill>
                <a:latin typeface="Raleway"/>
                <a:cs typeface="Calibri Light"/>
              </a:rPr>
              <a:t>Process</a:t>
            </a:r>
            <a:r>
              <a:rPr sz="1100" spc="-65" dirty="0">
                <a:solidFill>
                  <a:srgbClr val="2A9D8F"/>
                </a:solidFill>
                <a:latin typeface="Raleway"/>
                <a:cs typeface="Calibri Light"/>
              </a:rPr>
              <a:t> </a:t>
            </a:r>
            <a:r>
              <a:rPr sz="1100" spc="-10" dirty="0">
                <a:solidFill>
                  <a:srgbClr val="2A9D8F"/>
                </a:solidFill>
                <a:latin typeface="Raleway"/>
                <a:cs typeface="Calibri Light"/>
              </a:rPr>
              <a:t>Automation</a:t>
            </a:r>
            <a:endParaRPr sz="1400" dirty="0">
              <a:solidFill>
                <a:srgbClr val="2A9D8F"/>
              </a:solidFill>
              <a:latin typeface="Calibri Light"/>
              <a:cs typeface="Calibri Light"/>
            </a:endParaRPr>
          </a:p>
        </p:txBody>
      </p:sp>
      <p:sp>
        <p:nvSpPr>
          <p:cNvPr id="33" name="object 27">
            <a:extLst>
              <a:ext uri="{FF2B5EF4-FFF2-40B4-BE49-F238E27FC236}">
                <a16:creationId xmlns:a16="http://schemas.microsoft.com/office/drawing/2014/main" id="{7BF92814-704A-28D6-F407-A57FA547F304}"/>
              </a:ext>
            </a:extLst>
          </p:cNvPr>
          <p:cNvSpPr/>
          <p:nvPr/>
        </p:nvSpPr>
        <p:spPr>
          <a:xfrm>
            <a:off x="4265167" y="6198755"/>
            <a:ext cx="2520315" cy="540385"/>
          </a:xfrm>
          <a:custGeom>
            <a:avLst/>
            <a:gdLst/>
            <a:ahLst/>
            <a:cxnLst/>
            <a:rect l="l" t="t" r="r" b="b"/>
            <a:pathLst>
              <a:path w="2520315" h="540384">
                <a:moveTo>
                  <a:pt x="2430017" y="0"/>
                </a:moveTo>
                <a:lnTo>
                  <a:pt x="90043" y="0"/>
                </a:lnTo>
                <a:lnTo>
                  <a:pt x="55024" y="7073"/>
                </a:lnTo>
                <a:lnTo>
                  <a:pt x="26400" y="26362"/>
                </a:lnTo>
                <a:lnTo>
                  <a:pt x="7086" y="54971"/>
                </a:lnTo>
                <a:lnTo>
                  <a:pt x="0" y="90004"/>
                </a:lnTo>
                <a:lnTo>
                  <a:pt x="0" y="449999"/>
                </a:lnTo>
                <a:lnTo>
                  <a:pt x="7086" y="485032"/>
                </a:lnTo>
                <a:lnTo>
                  <a:pt x="26400" y="513640"/>
                </a:lnTo>
                <a:lnTo>
                  <a:pt x="55024" y="532927"/>
                </a:lnTo>
                <a:lnTo>
                  <a:pt x="90043" y="540000"/>
                </a:lnTo>
                <a:lnTo>
                  <a:pt x="2430017" y="540000"/>
                </a:lnTo>
                <a:lnTo>
                  <a:pt x="2465036" y="532927"/>
                </a:lnTo>
                <a:lnTo>
                  <a:pt x="2493660" y="513640"/>
                </a:lnTo>
                <a:lnTo>
                  <a:pt x="2512974" y="485032"/>
                </a:lnTo>
                <a:lnTo>
                  <a:pt x="2520061" y="449999"/>
                </a:lnTo>
                <a:lnTo>
                  <a:pt x="2520061" y="90004"/>
                </a:lnTo>
                <a:lnTo>
                  <a:pt x="2512974" y="54971"/>
                </a:lnTo>
                <a:lnTo>
                  <a:pt x="2493660" y="26362"/>
                </a:lnTo>
                <a:lnTo>
                  <a:pt x="2465036" y="7073"/>
                </a:lnTo>
                <a:lnTo>
                  <a:pt x="2430017" y="0"/>
                </a:lnTo>
                <a:close/>
              </a:path>
            </a:pathLst>
          </a:custGeom>
          <a:solidFill>
            <a:srgbClr val="F5F5F5"/>
          </a:solidFill>
          <a:ln w="9525">
            <a:solidFill>
              <a:srgbClr val="DEDEDE"/>
            </a:solidFill>
          </a:ln>
          <a:effectLst/>
        </p:spPr>
        <p:txBody>
          <a:bodyPr wrap="square" lIns="0" tIns="0" rIns="0" bIns="0" rtlCol="0"/>
          <a:lstStyle/>
          <a:p>
            <a:endParaRPr/>
          </a:p>
        </p:txBody>
      </p:sp>
      <p:sp>
        <p:nvSpPr>
          <p:cNvPr id="34" name="object 28">
            <a:extLst>
              <a:ext uri="{FF2B5EF4-FFF2-40B4-BE49-F238E27FC236}">
                <a16:creationId xmlns:a16="http://schemas.microsoft.com/office/drawing/2014/main" id="{DCF1308B-4654-478A-1F0F-2F84719CF2CB}"/>
              </a:ext>
            </a:extLst>
          </p:cNvPr>
          <p:cNvSpPr txBox="1"/>
          <p:nvPr/>
        </p:nvSpPr>
        <p:spPr>
          <a:xfrm>
            <a:off x="4768088" y="6338722"/>
            <a:ext cx="1517015" cy="239395"/>
          </a:xfrm>
          <a:prstGeom prst="rect">
            <a:avLst/>
          </a:prstGeom>
        </p:spPr>
        <p:txBody>
          <a:bodyPr vert="horz" wrap="square" lIns="0" tIns="12700" rIns="0" bIns="0" rtlCol="0">
            <a:normAutofit/>
          </a:bodyPr>
          <a:lstStyle/>
          <a:p>
            <a:pPr marL="12700">
              <a:lnSpc>
                <a:spcPct val="100000"/>
              </a:lnSpc>
              <a:spcBef>
                <a:spcPts val="100"/>
              </a:spcBef>
            </a:pPr>
            <a:r>
              <a:rPr sz="1100" dirty="0">
                <a:solidFill>
                  <a:srgbClr val="2A9D8F"/>
                </a:solidFill>
                <a:latin typeface="Raleway"/>
                <a:cs typeface="Calibri Light"/>
              </a:rPr>
              <a:t>20%</a:t>
            </a:r>
            <a:r>
              <a:rPr sz="1100" spc="-40" dirty="0">
                <a:solidFill>
                  <a:srgbClr val="2A9D8F"/>
                </a:solidFill>
                <a:latin typeface="Raleway"/>
                <a:cs typeface="Calibri Light"/>
              </a:rPr>
              <a:t> </a:t>
            </a:r>
            <a:r>
              <a:rPr sz="1100" spc="-45" dirty="0">
                <a:solidFill>
                  <a:srgbClr val="2A9D8F"/>
                </a:solidFill>
                <a:latin typeface="Raleway"/>
                <a:cs typeface="Calibri Light"/>
              </a:rPr>
              <a:t>YoY</a:t>
            </a:r>
            <a:r>
              <a:rPr sz="1100" spc="-50" dirty="0">
                <a:solidFill>
                  <a:srgbClr val="2A9D8F"/>
                </a:solidFill>
                <a:latin typeface="Raleway"/>
                <a:cs typeface="Calibri Light"/>
              </a:rPr>
              <a:t> </a:t>
            </a:r>
            <a:r>
              <a:rPr sz="1100" spc="-10" dirty="0">
                <a:solidFill>
                  <a:srgbClr val="2A9D8F"/>
                </a:solidFill>
                <a:latin typeface="Raleway"/>
                <a:cs typeface="Calibri Light"/>
              </a:rPr>
              <a:t>Cost</a:t>
            </a:r>
            <a:r>
              <a:rPr sz="1100" spc="-45" dirty="0">
                <a:solidFill>
                  <a:srgbClr val="2A9D8F"/>
                </a:solidFill>
                <a:latin typeface="Raleway"/>
                <a:cs typeface="Calibri Light"/>
              </a:rPr>
              <a:t> </a:t>
            </a:r>
            <a:r>
              <a:rPr sz="1100" spc="-10" dirty="0">
                <a:solidFill>
                  <a:srgbClr val="2A9D8F"/>
                </a:solidFill>
                <a:latin typeface="Raleway"/>
                <a:cs typeface="Calibri Light"/>
              </a:rPr>
              <a:t>Savings</a:t>
            </a:r>
            <a:endParaRPr sz="1400">
              <a:solidFill>
                <a:srgbClr val="2A9D8F"/>
              </a:solidFill>
              <a:latin typeface="Calibri Light"/>
              <a:cs typeface="Calibri Light"/>
            </a:endParaRPr>
          </a:p>
        </p:txBody>
      </p:sp>
      <p:sp>
        <p:nvSpPr>
          <p:cNvPr id="35" name="object 29">
            <a:extLst>
              <a:ext uri="{FF2B5EF4-FFF2-40B4-BE49-F238E27FC236}">
                <a16:creationId xmlns:a16="http://schemas.microsoft.com/office/drawing/2014/main" id="{0E0EAE97-6B53-AD9A-B734-00265F57919F}"/>
              </a:ext>
            </a:extLst>
          </p:cNvPr>
          <p:cNvSpPr/>
          <p:nvPr/>
        </p:nvSpPr>
        <p:spPr>
          <a:xfrm>
            <a:off x="6908038" y="6211189"/>
            <a:ext cx="2520315" cy="540385"/>
          </a:xfrm>
          <a:custGeom>
            <a:avLst/>
            <a:gdLst/>
            <a:ahLst/>
            <a:cxnLst/>
            <a:rect l="l" t="t" r="r" b="b"/>
            <a:pathLst>
              <a:path w="2520315" h="540384">
                <a:moveTo>
                  <a:pt x="2430017" y="0"/>
                </a:moveTo>
                <a:lnTo>
                  <a:pt x="90042" y="0"/>
                </a:lnTo>
                <a:lnTo>
                  <a:pt x="54971" y="7072"/>
                </a:lnTo>
                <a:lnTo>
                  <a:pt x="26352" y="26360"/>
                </a:lnTo>
                <a:lnTo>
                  <a:pt x="7068" y="54965"/>
                </a:lnTo>
                <a:lnTo>
                  <a:pt x="0" y="89992"/>
                </a:lnTo>
                <a:lnTo>
                  <a:pt x="0" y="449999"/>
                </a:lnTo>
                <a:lnTo>
                  <a:pt x="7068" y="485031"/>
                </a:lnTo>
                <a:lnTo>
                  <a:pt x="26352" y="513638"/>
                </a:lnTo>
                <a:lnTo>
                  <a:pt x="54971" y="532924"/>
                </a:lnTo>
                <a:lnTo>
                  <a:pt x="90042" y="539996"/>
                </a:lnTo>
                <a:lnTo>
                  <a:pt x="2430017" y="539996"/>
                </a:lnTo>
                <a:lnTo>
                  <a:pt x="2465016" y="532924"/>
                </a:lnTo>
                <a:lnTo>
                  <a:pt x="2493597" y="513638"/>
                </a:lnTo>
                <a:lnTo>
                  <a:pt x="2512867" y="485031"/>
                </a:lnTo>
                <a:lnTo>
                  <a:pt x="2519933" y="449999"/>
                </a:lnTo>
                <a:lnTo>
                  <a:pt x="2519933" y="89992"/>
                </a:lnTo>
                <a:lnTo>
                  <a:pt x="2512867" y="54965"/>
                </a:lnTo>
                <a:lnTo>
                  <a:pt x="2493597" y="26360"/>
                </a:lnTo>
                <a:lnTo>
                  <a:pt x="2465016" y="7072"/>
                </a:lnTo>
                <a:lnTo>
                  <a:pt x="2430017" y="0"/>
                </a:lnTo>
                <a:close/>
              </a:path>
            </a:pathLst>
          </a:custGeom>
          <a:solidFill>
            <a:srgbClr val="F5F5F5"/>
          </a:solidFill>
          <a:ln w="9525">
            <a:solidFill>
              <a:srgbClr val="DEDEDE"/>
            </a:solidFill>
          </a:ln>
          <a:effectLst/>
        </p:spPr>
        <p:txBody>
          <a:bodyPr wrap="square" lIns="0" tIns="0" rIns="0" bIns="0" rtlCol="0"/>
          <a:lstStyle/>
          <a:p>
            <a:endParaRPr/>
          </a:p>
        </p:txBody>
      </p:sp>
      <p:sp>
        <p:nvSpPr>
          <p:cNvPr id="36" name="object 30">
            <a:extLst>
              <a:ext uri="{FF2B5EF4-FFF2-40B4-BE49-F238E27FC236}">
                <a16:creationId xmlns:a16="http://schemas.microsoft.com/office/drawing/2014/main" id="{034465FC-0037-98C1-A7FD-B1E7376CD539}"/>
              </a:ext>
            </a:extLst>
          </p:cNvPr>
          <p:cNvSpPr txBox="1"/>
          <p:nvPr/>
        </p:nvSpPr>
        <p:spPr>
          <a:xfrm>
            <a:off x="7058914" y="6302781"/>
            <a:ext cx="2219325" cy="452755"/>
          </a:xfrm>
          <a:prstGeom prst="rect">
            <a:avLst/>
          </a:prstGeom>
        </p:spPr>
        <p:txBody>
          <a:bodyPr vert="horz" wrap="square" lIns="0" tIns="12700" rIns="0" bIns="0" rtlCol="0">
            <a:normAutofit/>
          </a:bodyPr>
          <a:lstStyle/>
          <a:p>
            <a:pPr marL="957580" marR="5080" indent="-945515">
              <a:lnSpc>
                <a:spcPct val="100000"/>
              </a:lnSpc>
              <a:spcBef>
                <a:spcPts val="100"/>
              </a:spcBef>
            </a:pPr>
            <a:r>
              <a:rPr sz="1100" dirty="0">
                <a:solidFill>
                  <a:srgbClr val="2A9D8F"/>
                </a:solidFill>
                <a:latin typeface="Raleway"/>
                <a:cs typeface="Calibri Light"/>
              </a:rPr>
              <a:t>CX</a:t>
            </a:r>
            <a:r>
              <a:rPr sz="1100" spc="-15" dirty="0">
                <a:solidFill>
                  <a:srgbClr val="2A9D8F"/>
                </a:solidFill>
                <a:latin typeface="Raleway"/>
                <a:cs typeface="Calibri Light"/>
              </a:rPr>
              <a:t> </a:t>
            </a:r>
            <a:r>
              <a:rPr sz="1100" spc="-20" dirty="0">
                <a:solidFill>
                  <a:srgbClr val="2A9D8F"/>
                </a:solidFill>
                <a:latin typeface="Raleway"/>
                <a:cs typeface="Calibri Light"/>
              </a:rPr>
              <a:t>Response </a:t>
            </a:r>
            <a:r>
              <a:rPr sz="1100" spc="-10" dirty="0">
                <a:solidFill>
                  <a:srgbClr val="2A9D8F"/>
                </a:solidFill>
                <a:latin typeface="Raleway"/>
                <a:cs typeface="Calibri Light"/>
              </a:rPr>
              <a:t>Time</a:t>
            </a:r>
            <a:r>
              <a:rPr sz="1100" spc="-40" dirty="0">
                <a:solidFill>
                  <a:srgbClr val="2A9D8F"/>
                </a:solidFill>
                <a:latin typeface="Raleway"/>
                <a:cs typeface="Calibri Light"/>
              </a:rPr>
              <a:t> </a:t>
            </a:r>
            <a:r>
              <a:rPr sz="1100" spc="-25" dirty="0">
                <a:solidFill>
                  <a:srgbClr val="2A9D8F"/>
                </a:solidFill>
                <a:latin typeface="Raleway"/>
                <a:cs typeface="Calibri Light"/>
              </a:rPr>
              <a:t>Improved</a:t>
            </a:r>
            <a:r>
              <a:rPr sz="1100" spc="-35" dirty="0">
                <a:solidFill>
                  <a:srgbClr val="2A9D8F"/>
                </a:solidFill>
                <a:latin typeface="Raleway"/>
                <a:cs typeface="Calibri Light"/>
              </a:rPr>
              <a:t> </a:t>
            </a:r>
            <a:r>
              <a:rPr sz="1100" spc="-25" dirty="0">
                <a:solidFill>
                  <a:srgbClr val="2A9D8F"/>
                </a:solidFill>
                <a:latin typeface="Raleway"/>
                <a:cs typeface="Calibri Light"/>
              </a:rPr>
              <a:t>by 40%</a:t>
            </a:r>
            <a:endParaRPr sz="1400" dirty="0">
              <a:solidFill>
                <a:srgbClr val="2A9D8F"/>
              </a:solidFill>
              <a:latin typeface="Calibri Light"/>
              <a:cs typeface="Calibri Light"/>
            </a:endParaRPr>
          </a:p>
        </p:txBody>
      </p:sp>
      <p:sp>
        <p:nvSpPr>
          <p:cNvPr id="37" name="object 31">
            <a:extLst>
              <a:ext uri="{FF2B5EF4-FFF2-40B4-BE49-F238E27FC236}">
                <a16:creationId xmlns:a16="http://schemas.microsoft.com/office/drawing/2014/main" id="{F1AA8553-CAB4-22FA-99A9-46653F3ABFF8}"/>
              </a:ext>
            </a:extLst>
          </p:cNvPr>
          <p:cNvSpPr/>
          <p:nvPr/>
        </p:nvSpPr>
        <p:spPr>
          <a:xfrm>
            <a:off x="9535668" y="6198755"/>
            <a:ext cx="2520315" cy="540385"/>
          </a:xfrm>
          <a:custGeom>
            <a:avLst/>
            <a:gdLst/>
            <a:ahLst/>
            <a:cxnLst/>
            <a:rect l="l" t="t" r="r" b="b"/>
            <a:pathLst>
              <a:path w="2520315" h="540384">
                <a:moveTo>
                  <a:pt x="2430017" y="0"/>
                </a:moveTo>
                <a:lnTo>
                  <a:pt x="90042" y="0"/>
                </a:lnTo>
                <a:lnTo>
                  <a:pt x="55024" y="7073"/>
                </a:lnTo>
                <a:lnTo>
                  <a:pt x="26400" y="26362"/>
                </a:lnTo>
                <a:lnTo>
                  <a:pt x="7086" y="54971"/>
                </a:lnTo>
                <a:lnTo>
                  <a:pt x="0" y="90004"/>
                </a:lnTo>
                <a:lnTo>
                  <a:pt x="0" y="449999"/>
                </a:lnTo>
                <a:lnTo>
                  <a:pt x="7086" y="485032"/>
                </a:lnTo>
                <a:lnTo>
                  <a:pt x="26400" y="513640"/>
                </a:lnTo>
                <a:lnTo>
                  <a:pt x="55024" y="532927"/>
                </a:lnTo>
                <a:lnTo>
                  <a:pt x="90042" y="540000"/>
                </a:lnTo>
                <a:lnTo>
                  <a:pt x="2430017" y="540000"/>
                </a:lnTo>
                <a:lnTo>
                  <a:pt x="2465089" y="532927"/>
                </a:lnTo>
                <a:lnTo>
                  <a:pt x="2493708" y="513640"/>
                </a:lnTo>
                <a:lnTo>
                  <a:pt x="2512992" y="485032"/>
                </a:lnTo>
                <a:lnTo>
                  <a:pt x="2520060" y="449999"/>
                </a:lnTo>
                <a:lnTo>
                  <a:pt x="2520060" y="90004"/>
                </a:lnTo>
                <a:lnTo>
                  <a:pt x="2512992" y="54971"/>
                </a:lnTo>
                <a:lnTo>
                  <a:pt x="2493708" y="26362"/>
                </a:lnTo>
                <a:lnTo>
                  <a:pt x="2465089" y="7073"/>
                </a:lnTo>
                <a:lnTo>
                  <a:pt x="2430017" y="0"/>
                </a:lnTo>
                <a:close/>
              </a:path>
            </a:pathLst>
          </a:custGeom>
          <a:solidFill>
            <a:srgbClr val="F5F5F5"/>
          </a:solidFill>
          <a:ln w="9525">
            <a:solidFill>
              <a:srgbClr val="DEDEDE"/>
            </a:solidFill>
          </a:ln>
          <a:effectLst/>
        </p:spPr>
        <p:txBody>
          <a:bodyPr wrap="square" lIns="0" tIns="0" rIns="0" bIns="0" rtlCol="0"/>
          <a:lstStyle/>
          <a:p>
            <a:endParaRPr/>
          </a:p>
        </p:txBody>
      </p:sp>
      <p:sp>
        <p:nvSpPr>
          <p:cNvPr id="38" name="object 32">
            <a:extLst>
              <a:ext uri="{FF2B5EF4-FFF2-40B4-BE49-F238E27FC236}">
                <a16:creationId xmlns:a16="http://schemas.microsoft.com/office/drawing/2014/main" id="{5F0EA745-49B1-05C8-80DD-01BCE4BED8E4}"/>
              </a:ext>
            </a:extLst>
          </p:cNvPr>
          <p:cNvSpPr txBox="1"/>
          <p:nvPr/>
        </p:nvSpPr>
        <p:spPr>
          <a:xfrm>
            <a:off x="9757029" y="6303162"/>
            <a:ext cx="2078989" cy="452755"/>
          </a:xfrm>
          <a:prstGeom prst="rect">
            <a:avLst/>
          </a:prstGeom>
        </p:spPr>
        <p:txBody>
          <a:bodyPr vert="horz" wrap="square" lIns="0" tIns="12700" rIns="0" bIns="0" rtlCol="0">
            <a:normAutofit/>
          </a:bodyPr>
          <a:lstStyle/>
          <a:p>
            <a:pPr marL="12700" marR="5080" indent="203835">
              <a:lnSpc>
                <a:spcPct val="100000"/>
              </a:lnSpc>
              <a:spcBef>
                <a:spcPts val="100"/>
              </a:spcBef>
            </a:pPr>
            <a:r>
              <a:rPr sz="1100" dirty="0">
                <a:solidFill>
                  <a:srgbClr val="2A9D8F"/>
                </a:solidFill>
                <a:latin typeface="Raleway"/>
                <a:cs typeface="Calibri Light"/>
              </a:rPr>
              <a:t>30%</a:t>
            </a:r>
            <a:r>
              <a:rPr sz="1100" spc="-65" dirty="0">
                <a:solidFill>
                  <a:srgbClr val="2A9D8F"/>
                </a:solidFill>
                <a:latin typeface="Raleway"/>
                <a:cs typeface="Calibri Light"/>
              </a:rPr>
              <a:t> </a:t>
            </a:r>
            <a:r>
              <a:rPr sz="1100" dirty="0">
                <a:solidFill>
                  <a:srgbClr val="2A9D8F"/>
                </a:solidFill>
                <a:latin typeface="Raleway"/>
                <a:cs typeface="Calibri Light"/>
              </a:rPr>
              <a:t>ESG</a:t>
            </a:r>
            <a:r>
              <a:rPr sz="1100" spc="-65" dirty="0">
                <a:solidFill>
                  <a:srgbClr val="2A9D8F"/>
                </a:solidFill>
                <a:latin typeface="Raleway"/>
                <a:cs typeface="Calibri Light"/>
              </a:rPr>
              <a:t> </a:t>
            </a:r>
            <a:r>
              <a:rPr sz="1100" spc="-10" dirty="0">
                <a:solidFill>
                  <a:srgbClr val="2A9D8F"/>
                </a:solidFill>
                <a:latin typeface="Raleway"/>
                <a:cs typeface="Calibri Light"/>
              </a:rPr>
              <a:t>Impact</a:t>
            </a:r>
            <a:r>
              <a:rPr sz="1100" spc="-65" dirty="0">
                <a:solidFill>
                  <a:srgbClr val="2A9D8F"/>
                </a:solidFill>
                <a:latin typeface="Raleway"/>
                <a:cs typeface="Calibri Light"/>
              </a:rPr>
              <a:t> </a:t>
            </a:r>
            <a:r>
              <a:rPr sz="1100" spc="-10" dirty="0">
                <a:solidFill>
                  <a:srgbClr val="2A9D8F"/>
                </a:solidFill>
                <a:latin typeface="Raleway"/>
                <a:cs typeface="Calibri Light"/>
              </a:rPr>
              <a:t>(paper </a:t>
            </a:r>
            <a:r>
              <a:rPr sz="1100" spc="-20" dirty="0">
                <a:solidFill>
                  <a:srgbClr val="2A9D8F"/>
                </a:solidFill>
                <a:latin typeface="Raleway"/>
                <a:cs typeface="Calibri Light"/>
              </a:rPr>
              <a:t>reduction,</a:t>
            </a:r>
            <a:r>
              <a:rPr sz="1100" spc="-35" dirty="0">
                <a:solidFill>
                  <a:srgbClr val="2A9D8F"/>
                </a:solidFill>
                <a:latin typeface="Raleway"/>
                <a:cs typeface="Calibri Light"/>
              </a:rPr>
              <a:t> </a:t>
            </a:r>
            <a:r>
              <a:rPr sz="1100" spc="-10" dirty="0">
                <a:solidFill>
                  <a:srgbClr val="2A9D8F"/>
                </a:solidFill>
                <a:latin typeface="Raleway"/>
                <a:cs typeface="Calibri Light"/>
              </a:rPr>
              <a:t>green</a:t>
            </a:r>
            <a:r>
              <a:rPr sz="1100" spc="-45" dirty="0">
                <a:solidFill>
                  <a:srgbClr val="2A9D8F"/>
                </a:solidFill>
                <a:latin typeface="Raleway"/>
                <a:cs typeface="Calibri Light"/>
              </a:rPr>
              <a:t> </a:t>
            </a:r>
            <a:r>
              <a:rPr sz="1100" dirty="0">
                <a:solidFill>
                  <a:srgbClr val="2A9D8F"/>
                </a:solidFill>
                <a:latin typeface="Raleway"/>
                <a:cs typeface="Calibri Light"/>
              </a:rPr>
              <a:t>IT</a:t>
            </a:r>
            <a:r>
              <a:rPr sz="1100" spc="-5" dirty="0">
                <a:solidFill>
                  <a:srgbClr val="2A9D8F"/>
                </a:solidFill>
                <a:latin typeface="Raleway"/>
                <a:cs typeface="Calibri Light"/>
              </a:rPr>
              <a:t> </a:t>
            </a:r>
            <a:r>
              <a:rPr sz="1100" spc="-10" dirty="0">
                <a:solidFill>
                  <a:srgbClr val="2A9D8F"/>
                </a:solidFill>
                <a:latin typeface="Raleway"/>
                <a:cs typeface="Calibri Light"/>
              </a:rPr>
              <a:t>adoption)</a:t>
            </a:r>
            <a:endParaRPr sz="1400" dirty="0">
              <a:solidFill>
                <a:srgbClr val="2A9D8F"/>
              </a:solidFill>
              <a:latin typeface="Calibri Light"/>
              <a:cs typeface="Calibri Light"/>
            </a:endParaRPr>
          </a:p>
        </p:txBody>
      </p:sp>
      <p:sp>
        <p:nvSpPr>
          <p:cNvPr id="39" name="object 33">
            <a:extLst>
              <a:ext uri="{FF2B5EF4-FFF2-40B4-BE49-F238E27FC236}">
                <a16:creationId xmlns:a16="http://schemas.microsoft.com/office/drawing/2014/main" id="{AD98A66F-FF09-77B8-BC9F-221701E58F89}"/>
              </a:ext>
            </a:extLst>
          </p:cNvPr>
          <p:cNvSpPr/>
          <p:nvPr/>
        </p:nvSpPr>
        <p:spPr>
          <a:xfrm>
            <a:off x="83126" y="6173355"/>
            <a:ext cx="1440180" cy="540385"/>
          </a:xfrm>
          <a:custGeom>
            <a:avLst/>
            <a:gdLst/>
            <a:ahLst/>
            <a:cxnLst/>
            <a:rect l="l" t="t" r="r" b="b"/>
            <a:pathLst>
              <a:path w="1440180" h="540384">
                <a:moveTo>
                  <a:pt x="1440053" y="0"/>
                </a:moveTo>
                <a:lnTo>
                  <a:pt x="0" y="0"/>
                </a:lnTo>
                <a:lnTo>
                  <a:pt x="0" y="540004"/>
                </a:lnTo>
                <a:lnTo>
                  <a:pt x="1440053" y="540004"/>
                </a:lnTo>
                <a:lnTo>
                  <a:pt x="1440053" y="0"/>
                </a:lnTo>
                <a:close/>
              </a:path>
            </a:pathLst>
          </a:custGeom>
          <a:solidFill>
            <a:srgbClr val="2A9D8F"/>
          </a:solidFill>
          <a:ln w="9525">
            <a:solidFill>
              <a:srgbClr val="DEDEDE"/>
            </a:solidFill>
          </a:ln>
          <a:effectLst/>
        </p:spPr>
        <p:txBody>
          <a:bodyPr wrap="square" lIns="0" tIns="0" rIns="0" bIns="0" rtlCol="0"/>
          <a:lstStyle/>
          <a:p>
            <a:endParaRPr/>
          </a:p>
        </p:txBody>
      </p:sp>
      <p:sp>
        <p:nvSpPr>
          <p:cNvPr id="40" name="object 34">
            <a:extLst>
              <a:ext uri="{FF2B5EF4-FFF2-40B4-BE49-F238E27FC236}">
                <a16:creationId xmlns:a16="http://schemas.microsoft.com/office/drawing/2014/main" id="{CF0BE057-D206-7F06-8044-CF62E96C4A8D}"/>
              </a:ext>
            </a:extLst>
          </p:cNvPr>
          <p:cNvSpPr txBox="1"/>
          <p:nvPr/>
        </p:nvSpPr>
        <p:spPr>
          <a:xfrm>
            <a:off x="228091" y="6277254"/>
            <a:ext cx="1151255" cy="453390"/>
          </a:xfrm>
          <a:prstGeom prst="rect">
            <a:avLst/>
          </a:prstGeom>
        </p:spPr>
        <p:txBody>
          <a:bodyPr vert="horz" wrap="square" lIns="0" tIns="13335" rIns="0" bIns="0" rtlCol="0">
            <a:normAutofit/>
          </a:bodyPr>
          <a:lstStyle/>
          <a:p>
            <a:pPr marL="12700">
              <a:lnSpc>
                <a:spcPct val="100000"/>
              </a:lnSpc>
              <a:spcBef>
                <a:spcPts val="105"/>
              </a:spcBef>
            </a:pPr>
            <a:r>
              <a:rPr sz="1100" dirty="0">
                <a:solidFill>
                  <a:schemeClr val="bg1"/>
                </a:solidFill>
                <a:latin typeface="Raleway"/>
                <a:cs typeface="Calibri Light"/>
              </a:rPr>
              <a:t>J2W</a:t>
            </a:r>
            <a:r>
              <a:rPr sz="1100" spc="-60" dirty="0">
                <a:solidFill>
                  <a:schemeClr val="bg1"/>
                </a:solidFill>
                <a:latin typeface="Raleway"/>
                <a:cs typeface="Calibri Light"/>
              </a:rPr>
              <a:t> </a:t>
            </a:r>
            <a:r>
              <a:rPr sz="1100" spc="-10" dirty="0">
                <a:solidFill>
                  <a:schemeClr val="bg1"/>
                </a:solidFill>
                <a:latin typeface="Raleway"/>
                <a:cs typeface="Calibri Light"/>
              </a:rPr>
              <a:t>Proprietary</a:t>
            </a:r>
            <a:endParaRPr sz="1400" dirty="0">
              <a:solidFill>
                <a:schemeClr val="bg1"/>
              </a:solidFill>
              <a:latin typeface="Calibri Light"/>
              <a:cs typeface="Calibri Light"/>
            </a:endParaRPr>
          </a:p>
          <a:p>
            <a:pPr marL="29209">
              <a:lnSpc>
                <a:spcPct val="100000"/>
              </a:lnSpc>
            </a:pPr>
            <a:r>
              <a:rPr sz="1100" spc="-25" dirty="0">
                <a:solidFill>
                  <a:schemeClr val="bg1"/>
                </a:solidFill>
                <a:latin typeface="Raleway"/>
                <a:cs typeface="Calibri Light"/>
              </a:rPr>
              <a:t>Value</a:t>
            </a:r>
            <a:r>
              <a:rPr sz="1100" spc="-35" dirty="0">
                <a:solidFill>
                  <a:schemeClr val="bg1"/>
                </a:solidFill>
                <a:latin typeface="Raleway"/>
                <a:cs typeface="Calibri Light"/>
              </a:rPr>
              <a:t> </a:t>
            </a:r>
            <a:r>
              <a:rPr sz="1100" spc="-10" dirty="0">
                <a:solidFill>
                  <a:schemeClr val="bg1"/>
                </a:solidFill>
                <a:latin typeface="Raleway"/>
                <a:cs typeface="Calibri Light"/>
              </a:rPr>
              <a:t>Delivered</a:t>
            </a:r>
            <a:endParaRPr sz="1400" dirty="0">
              <a:solidFill>
                <a:schemeClr val="bg1"/>
              </a:solidFill>
              <a:latin typeface="Calibri Light"/>
              <a:cs typeface="Calibri Light"/>
            </a:endParaRPr>
          </a:p>
        </p:txBody>
      </p:sp>
      <p:sp>
        <p:nvSpPr>
          <p:cNvPr id="41" name="object 35">
            <a:extLst>
              <a:ext uri="{FF2B5EF4-FFF2-40B4-BE49-F238E27FC236}">
                <a16:creationId xmlns:a16="http://schemas.microsoft.com/office/drawing/2014/main" id="{6D9ABF2A-627F-3269-761A-F297ADBF669B}"/>
              </a:ext>
            </a:extLst>
          </p:cNvPr>
          <p:cNvSpPr/>
          <p:nvPr/>
        </p:nvSpPr>
        <p:spPr>
          <a:xfrm>
            <a:off x="7509129" y="2840227"/>
            <a:ext cx="0" cy="3240405"/>
          </a:xfrm>
          <a:custGeom>
            <a:avLst/>
            <a:gdLst/>
            <a:ahLst/>
            <a:cxnLst/>
            <a:rect l="l" t="t" r="r" b="b"/>
            <a:pathLst>
              <a:path h="3240404">
                <a:moveTo>
                  <a:pt x="0" y="0"/>
                </a:moveTo>
                <a:lnTo>
                  <a:pt x="0" y="3239947"/>
                </a:lnTo>
              </a:path>
            </a:pathLst>
          </a:custGeom>
          <a:ln w="19050">
            <a:solidFill>
              <a:srgbClr val="000000"/>
            </a:solidFill>
            <a:prstDash val="sysDash"/>
          </a:ln>
        </p:spPr>
        <p:txBody>
          <a:bodyPr wrap="square" lIns="0" tIns="0" rIns="0" bIns="0" rtlCol="0"/>
          <a:lstStyle/>
          <a:p>
            <a:endParaRPr/>
          </a:p>
        </p:txBody>
      </p:sp>
      <p:sp>
        <p:nvSpPr>
          <p:cNvPr id="42" name="object 36">
            <a:extLst>
              <a:ext uri="{FF2B5EF4-FFF2-40B4-BE49-F238E27FC236}">
                <a16:creationId xmlns:a16="http://schemas.microsoft.com/office/drawing/2014/main" id="{33B6AFB6-1074-4B68-4D35-CACAECB8CF6A}"/>
              </a:ext>
            </a:extLst>
          </p:cNvPr>
          <p:cNvSpPr txBox="1"/>
          <p:nvPr/>
        </p:nvSpPr>
        <p:spPr>
          <a:xfrm>
            <a:off x="1547113" y="3441319"/>
            <a:ext cx="1293026" cy="254000"/>
          </a:xfrm>
          <a:prstGeom prst="rect">
            <a:avLst/>
          </a:prstGeom>
        </p:spPr>
        <p:txBody>
          <a:bodyPr vert="horz" wrap="square" lIns="0" tIns="12700" rIns="0" bIns="0" rtlCol="0">
            <a:normAutofit fontScale="97500"/>
          </a:bodyPr>
          <a:lstStyle/>
          <a:p>
            <a:pPr marL="12700">
              <a:lnSpc>
                <a:spcPct val="100000"/>
              </a:lnSpc>
              <a:spcBef>
                <a:spcPts val="100"/>
              </a:spcBef>
            </a:pPr>
            <a:r>
              <a:rPr sz="1100" spc="-10" dirty="0">
                <a:latin typeface="Raleway" pitchFamily="2" charset="0"/>
                <a:cs typeface="Calibri Light"/>
              </a:rPr>
              <a:t>Foundation</a:t>
            </a:r>
            <a:endParaRPr sz="1100" dirty="0">
              <a:latin typeface="Raleway" pitchFamily="2" charset="0"/>
              <a:cs typeface="Calibri Light"/>
            </a:endParaRPr>
          </a:p>
        </p:txBody>
      </p:sp>
      <p:sp>
        <p:nvSpPr>
          <p:cNvPr id="43" name="object 37">
            <a:extLst>
              <a:ext uri="{FF2B5EF4-FFF2-40B4-BE49-F238E27FC236}">
                <a16:creationId xmlns:a16="http://schemas.microsoft.com/office/drawing/2014/main" id="{CC846025-DE00-38A3-5ED3-E3381C6826C1}"/>
              </a:ext>
            </a:extLst>
          </p:cNvPr>
          <p:cNvSpPr txBox="1"/>
          <p:nvPr/>
        </p:nvSpPr>
        <p:spPr>
          <a:xfrm>
            <a:off x="4156708" y="3441319"/>
            <a:ext cx="3188969" cy="482600"/>
          </a:xfrm>
          <a:prstGeom prst="rect">
            <a:avLst/>
          </a:prstGeom>
        </p:spPr>
        <p:txBody>
          <a:bodyPr vert="horz" wrap="square" lIns="0" tIns="12700" rIns="0" bIns="0" rtlCol="0">
            <a:normAutofit/>
          </a:bodyPr>
          <a:lstStyle/>
          <a:p>
            <a:pPr marL="708660" marR="5080" indent="-696595">
              <a:lnSpc>
                <a:spcPct val="100000"/>
              </a:lnSpc>
              <a:spcBef>
                <a:spcPts val="100"/>
              </a:spcBef>
            </a:pPr>
            <a:r>
              <a:rPr sz="1100" spc="-20" dirty="0">
                <a:latin typeface="Raleway" pitchFamily="2" charset="0"/>
                <a:cs typeface="Calibri Light"/>
              </a:rPr>
              <a:t>Innovation</a:t>
            </a:r>
            <a:r>
              <a:rPr sz="1100" spc="-45" dirty="0">
                <a:latin typeface="Raleway" pitchFamily="2" charset="0"/>
                <a:cs typeface="Calibri Light"/>
              </a:rPr>
              <a:t> </a:t>
            </a:r>
            <a:r>
              <a:rPr sz="1100" spc="-10" dirty="0">
                <a:latin typeface="Raleway" pitchFamily="2" charset="0"/>
                <a:cs typeface="Calibri Light"/>
              </a:rPr>
              <a:t>Scaling</a:t>
            </a:r>
            <a:r>
              <a:rPr sz="1100" spc="-50" dirty="0">
                <a:latin typeface="Raleway" pitchFamily="2" charset="0"/>
                <a:cs typeface="Calibri Light"/>
              </a:rPr>
              <a:t> </a:t>
            </a:r>
            <a:r>
              <a:rPr sz="1100" dirty="0">
                <a:latin typeface="Raleway" pitchFamily="2" charset="0"/>
                <a:cs typeface="Calibri Light"/>
              </a:rPr>
              <a:t>Via</a:t>
            </a:r>
            <a:r>
              <a:rPr sz="1100" spc="-25" dirty="0">
                <a:latin typeface="Raleway" pitchFamily="2" charset="0"/>
                <a:cs typeface="Calibri Light"/>
              </a:rPr>
              <a:t> </a:t>
            </a:r>
            <a:r>
              <a:rPr sz="1100" spc="-10" dirty="0">
                <a:latin typeface="Raleway" pitchFamily="2" charset="0"/>
                <a:cs typeface="Calibri Light"/>
              </a:rPr>
              <a:t>Hybrid </a:t>
            </a:r>
            <a:r>
              <a:rPr sz="1100" spc="-35" dirty="0">
                <a:latin typeface="Raleway" pitchFamily="2" charset="0"/>
                <a:cs typeface="Calibri Light"/>
              </a:rPr>
              <a:t>BOT–</a:t>
            </a:r>
            <a:r>
              <a:rPr sz="1100" spc="-20" dirty="0">
                <a:latin typeface="Raleway" pitchFamily="2" charset="0"/>
                <a:cs typeface="Calibri Light"/>
              </a:rPr>
              <a:t>Caas</a:t>
            </a:r>
            <a:endParaRPr sz="1100">
              <a:latin typeface="Raleway" pitchFamily="2" charset="0"/>
              <a:cs typeface="Calibri Light"/>
            </a:endParaRPr>
          </a:p>
        </p:txBody>
      </p:sp>
      <p:sp>
        <p:nvSpPr>
          <p:cNvPr id="44" name="object 38">
            <a:extLst>
              <a:ext uri="{FF2B5EF4-FFF2-40B4-BE49-F238E27FC236}">
                <a16:creationId xmlns:a16="http://schemas.microsoft.com/office/drawing/2014/main" id="{EB0DC66E-EDB1-EC08-E5F7-C23E283ECDBD}"/>
              </a:ext>
            </a:extLst>
          </p:cNvPr>
          <p:cNvSpPr txBox="1"/>
          <p:nvPr/>
        </p:nvSpPr>
        <p:spPr>
          <a:xfrm>
            <a:off x="7852503" y="3441319"/>
            <a:ext cx="2964498" cy="482600"/>
          </a:xfrm>
          <a:prstGeom prst="rect">
            <a:avLst/>
          </a:prstGeom>
        </p:spPr>
        <p:txBody>
          <a:bodyPr vert="horz" wrap="square" lIns="0" tIns="12700" rIns="0" bIns="0" rtlCol="0">
            <a:normAutofit/>
          </a:bodyPr>
          <a:lstStyle/>
          <a:p>
            <a:pPr marL="594995" marR="5080" indent="-582930">
              <a:lnSpc>
                <a:spcPct val="100000"/>
              </a:lnSpc>
              <a:spcBef>
                <a:spcPts val="100"/>
              </a:spcBef>
            </a:pPr>
            <a:r>
              <a:rPr sz="1100" spc="-10" dirty="0">
                <a:latin typeface="Raleway" pitchFamily="2" charset="0"/>
                <a:cs typeface="Calibri Light"/>
              </a:rPr>
              <a:t>Strategic</a:t>
            </a:r>
            <a:r>
              <a:rPr sz="1100" spc="-5" dirty="0">
                <a:latin typeface="Raleway" pitchFamily="2" charset="0"/>
                <a:cs typeface="Calibri Light"/>
              </a:rPr>
              <a:t> </a:t>
            </a:r>
            <a:r>
              <a:rPr sz="1100" spc="-35" dirty="0">
                <a:latin typeface="Raleway" pitchFamily="2" charset="0"/>
                <a:cs typeface="Calibri Light"/>
              </a:rPr>
              <a:t>Transformation</a:t>
            </a:r>
            <a:r>
              <a:rPr sz="1100" spc="-15" dirty="0">
                <a:latin typeface="Raleway" pitchFamily="2" charset="0"/>
                <a:cs typeface="Calibri Light"/>
              </a:rPr>
              <a:t> </a:t>
            </a:r>
            <a:r>
              <a:rPr sz="1100" spc="-50" dirty="0">
                <a:latin typeface="Raleway" pitchFamily="2" charset="0"/>
                <a:cs typeface="Calibri Light"/>
              </a:rPr>
              <a:t>&amp; </a:t>
            </a:r>
            <a:r>
              <a:rPr sz="1100" spc="-10" dirty="0">
                <a:latin typeface="Raleway" pitchFamily="2" charset="0"/>
                <a:cs typeface="Calibri Light"/>
              </a:rPr>
              <a:t>Global</a:t>
            </a:r>
            <a:r>
              <a:rPr sz="1100" spc="-50" dirty="0">
                <a:latin typeface="Raleway" pitchFamily="2" charset="0"/>
                <a:cs typeface="Calibri Light"/>
              </a:rPr>
              <a:t> </a:t>
            </a:r>
            <a:r>
              <a:rPr sz="1100" spc="-25" dirty="0">
                <a:latin typeface="Raleway" pitchFamily="2" charset="0"/>
                <a:cs typeface="Calibri Light"/>
              </a:rPr>
              <a:t>Hub</a:t>
            </a:r>
            <a:endParaRPr sz="1100" dirty="0">
              <a:latin typeface="Raleway" pitchFamily="2" charset="0"/>
              <a:cs typeface="Calibri Light"/>
            </a:endParaRPr>
          </a:p>
        </p:txBody>
      </p:sp>
      <p:sp>
        <p:nvSpPr>
          <p:cNvPr id="45" name="object 39">
            <a:extLst>
              <a:ext uri="{FF2B5EF4-FFF2-40B4-BE49-F238E27FC236}">
                <a16:creationId xmlns:a16="http://schemas.microsoft.com/office/drawing/2014/main" id="{A2DB0F55-1DB3-1E9F-8D08-495BC13D063D}"/>
              </a:ext>
            </a:extLst>
          </p:cNvPr>
          <p:cNvSpPr txBox="1"/>
          <p:nvPr/>
        </p:nvSpPr>
        <p:spPr>
          <a:xfrm>
            <a:off x="1350010" y="4042028"/>
            <a:ext cx="2258695" cy="1946910"/>
          </a:xfrm>
          <a:prstGeom prst="rect">
            <a:avLst/>
          </a:prstGeom>
        </p:spPr>
        <p:txBody>
          <a:bodyPr vert="horz" wrap="square" lIns="0" tIns="12700" rIns="0" bIns="0" rtlCol="0">
            <a:normAutofit/>
          </a:bodyPr>
          <a:lstStyle/>
          <a:p>
            <a:pPr marL="296545" marR="5080" indent="-284480" algn="just">
              <a:lnSpc>
                <a:spcPct val="100000"/>
              </a:lnSpc>
              <a:spcBef>
                <a:spcPts val="100"/>
              </a:spcBef>
              <a:buFont typeface="Arial MT"/>
              <a:buChar char="•"/>
              <a:tabLst>
                <a:tab pos="299085" algn="l"/>
              </a:tabLst>
            </a:pPr>
            <a:r>
              <a:rPr sz="1100" dirty="0">
                <a:solidFill/>
                <a:latin typeface="Raleway"/>
                <a:cs typeface="Calibri Light"/>
              </a:rPr>
              <a:t>800</a:t>
            </a:r>
            <a:r>
              <a:rPr sz="1100" spc="-30" dirty="0">
                <a:solidFill/>
                <a:latin typeface="Raleway"/>
                <a:cs typeface="Calibri Light"/>
              </a:rPr>
              <a:t> </a:t>
            </a:r>
            <a:r>
              <a:rPr sz="1100" dirty="0">
                <a:solidFill/>
                <a:latin typeface="Raleway"/>
                <a:cs typeface="Calibri Light"/>
              </a:rPr>
              <a:t>FTEs</a:t>
            </a:r>
            <a:r>
              <a:rPr sz="1100" spc="-35" dirty="0">
                <a:solidFill/>
                <a:latin typeface="Raleway"/>
                <a:cs typeface="Calibri Light"/>
              </a:rPr>
              <a:t> </a:t>
            </a:r>
            <a:r>
              <a:rPr sz="1100" dirty="0">
                <a:solidFill/>
                <a:latin typeface="Raleway"/>
                <a:cs typeface="Calibri Light"/>
              </a:rPr>
              <a:t>onboarded</a:t>
            </a:r>
            <a:r>
              <a:rPr sz="1100" spc="-60" dirty="0">
                <a:solidFill/>
                <a:latin typeface="Raleway"/>
                <a:cs typeface="Calibri Light"/>
              </a:rPr>
              <a:t> </a:t>
            </a:r>
            <a:r>
              <a:rPr sz="1100" spc="-10" dirty="0">
                <a:solidFill/>
                <a:latin typeface="Raleway"/>
                <a:cs typeface="Calibri Light"/>
              </a:rPr>
              <a:t>across 	</a:t>
            </a:r>
            <a:r>
              <a:rPr sz="1100" dirty="0">
                <a:solidFill/>
                <a:latin typeface="Raleway"/>
                <a:cs typeface="Calibri Light"/>
              </a:rPr>
              <a:t>Finance,</a:t>
            </a:r>
            <a:r>
              <a:rPr sz="1100" spc="-40" dirty="0">
                <a:solidFill/>
                <a:latin typeface="Raleway"/>
                <a:cs typeface="Calibri Light"/>
              </a:rPr>
              <a:t> </a:t>
            </a:r>
            <a:r>
              <a:rPr sz="1100" dirty="0">
                <a:solidFill/>
                <a:latin typeface="Raleway"/>
                <a:cs typeface="Calibri Light"/>
              </a:rPr>
              <a:t>HR,</a:t>
            </a:r>
            <a:r>
              <a:rPr sz="1100" spc="-30" dirty="0">
                <a:solidFill/>
                <a:latin typeface="Raleway"/>
                <a:cs typeface="Calibri Light"/>
              </a:rPr>
              <a:t> </a:t>
            </a:r>
            <a:r>
              <a:rPr sz="1100" dirty="0">
                <a:solidFill/>
                <a:latin typeface="Raleway"/>
                <a:cs typeface="Calibri Light"/>
              </a:rPr>
              <a:t>and</a:t>
            </a:r>
            <a:r>
              <a:rPr sz="1100" spc="-25" dirty="0">
                <a:solidFill/>
                <a:latin typeface="Raleway"/>
                <a:cs typeface="Calibri Light"/>
              </a:rPr>
              <a:t> </a:t>
            </a:r>
            <a:r>
              <a:rPr sz="1100" spc="-10" dirty="0">
                <a:solidFill/>
                <a:latin typeface="Raleway"/>
                <a:cs typeface="Calibri Light"/>
              </a:rPr>
              <a:t>Customer 	Support</a:t>
            </a:r>
            <a:endParaRPr sz="1400">
              <a:latin typeface="Calibri Light"/>
              <a:cs typeface="Calibri Light"/>
            </a:endParaRPr>
          </a:p>
          <a:p>
            <a:pPr marL="299085" marR="182880" indent="-287020">
              <a:lnSpc>
                <a:spcPct val="100000"/>
              </a:lnSpc>
              <a:spcBef>
                <a:spcPts val="5"/>
              </a:spcBef>
              <a:buFont typeface="Arial MT"/>
              <a:buChar char="•"/>
              <a:tabLst>
                <a:tab pos="299085" algn="l"/>
              </a:tabLst>
            </a:pPr>
            <a:r>
              <a:rPr sz="1100" spc="-10" dirty="0">
                <a:solidFill/>
                <a:latin typeface="Raleway"/>
                <a:cs typeface="Calibri Light"/>
              </a:rPr>
              <a:t>Standardization</a:t>
            </a:r>
            <a:r>
              <a:rPr sz="1100" spc="15" dirty="0">
                <a:solidFill/>
                <a:latin typeface="Raleway"/>
                <a:cs typeface="Calibri Light"/>
              </a:rPr>
              <a:t> </a:t>
            </a:r>
            <a:r>
              <a:rPr sz="1100" dirty="0">
                <a:solidFill/>
                <a:latin typeface="Raleway"/>
                <a:cs typeface="Calibri Light"/>
              </a:rPr>
              <a:t>of</a:t>
            </a:r>
            <a:r>
              <a:rPr sz="1100" spc="-20" dirty="0">
                <a:solidFill/>
                <a:latin typeface="Raleway"/>
                <a:cs typeface="Calibri Light"/>
              </a:rPr>
              <a:t> </a:t>
            </a:r>
            <a:r>
              <a:rPr sz="1100" spc="-10" dirty="0">
                <a:solidFill/>
                <a:latin typeface="Raleway"/>
                <a:cs typeface="Calibri Light"/>
              </a:rPr>
              <a:t>global </a:t>
            </a:r>
            <a:r>
              <a:rPr sz="1100" dirty="0">
                <a:solidFill/>
                <a:latin typeface="Raleway"/>
                <a:cs typeface="Calibri Light"/>
              </a:rPr>
              <a:t>processes</a:t>
            </a:r>
            <a:r>
              <a:rPr sz="1100" spc="-75" dirty="0">
                <a:solidFill/>
                <a:latin typeface="Raleway"/>
                <a:cs typeface="Calibri Light"/>
              </a:rPr>
              <a:t> </a:t>
            </a:r>
            <a:r>
              <a:rPr sz="1100" spc="-10" dirty="0">
                <a:solidFill/>
                <a:latin typeface="Raleway"/>
                <a:cs typeface="Calibri Light"/>
              </a:rPr>
              <a:t>across geographies</a:t>
            </a:r>
            <a:endParaRPr sz="1400">
              <a:latin typeface="Calibri Light"/>
              <a:cs typeface="Calibri Light"/>
            </a:endParaRPr>
          </a:p>
          <a:p>
            <a:pPr marL="299085" marR="172720" indent="-287020">
              <a:lnSpc>
                <a:spcPct val="100000"/>
              </a:lnSpc>
              <a:buFont typeface="Arial MT"/>
              <a:buChar char="•"/>
              <a:tabLst>
                <a:tab pos="299085" algn="l"/>
              </a:tabLst>
            </a:pPr>
            <a:r>
              <a:rPr sz="1100" dirty="0">
                <a:solidFill/>
                <a:latin typeface="Raleway"/>
                <a:cs typeface="Calibri Light"/>
              </a:rPr>
              <a:t>KPIs:</a:t>
            </a:r>
            <a:r>
              <a:rPr sz="1100" spc="-40" dirty="0">
                <a:solidFill/>
                <a:latin typeface="Raleway"/>
                <a:cs typeface="Calibri Light"/>
              </a:rPr>
              <a:t> </a:t>
            </a:r>
            <a:r>
              <a:rPr sz="1100" dirty="0">
                <a:solidFill/>
                <a:latin typeface="Raleway"/>
                <a:cs typeface="Calibri Light"/>
              </a:rPr>
              <a:t>20%</a:t>
            </a:r>
            <a:r>
              <a:rPr sz="1100" spc="-10" dirty="0">
                <a:solidFill/>
                <a:latin typeface="Raleway"/>
                <a:cs typeface="Calibri Light"/>
              </a:rPr>
              <a:t> </a:t>
            </a:r>
            <a:r>
              <a:rPr sz="1100" dirty="0">
                <a:solidFill/>
                <a:latin typeface="Raleway"/>
                <a:cs typeface="Calibri Light"/>
              </a:rPr>
              <a:t>SLA</a:t>
            </a:r>
            <a:r>
              <a:rPr sz="1100" spc="-20" dirty="0">
                <a:solidFill/>
                <a:latin typeface="Raleway"/>
                <a:cs typeface="Calibri Light"/>
              </a:rPr>
              <a:t> </a:t>
            </a:r>
            <a:r>
              <a:rPr sz="1100" spc="-10" dirty="0">
                <a:solidFill/>
                <a:latin typeface="Raleway"/>
                <a:cs typeface="Calibri Light"/>
              </a:rPr>
              <a:t>adherence improvement,</a:t>
            </a:r>
            <a:r>
              <a:rPr sz="1100" spc="10" dirty="0">
                <a:solidFill/>
                <a:latin typeface="Raleway"/>
                <a:cs typeface="Calibri Light"/>
              </a:rPr>
              <a:t> </a:t>
            </a:r>
            <a:r>
              <a:rPr sz="1100" spc="-20" dirty="0">
                <a:solidFill/>
                <a:latin typeface="Raleway"/>
                <a:cs typeface="Calibri Light"/>
              </a:rPr>
              <a:t>100% </a:t>
            </a:r>
            <a:r>
              <a:rPr sz="1100" spc="-10" dirty="0">
                <a:solidFill/>
                <a:latin typeface="Raleway"/>
                <a:cs typeface="Calibri Light"/>
              </a:rPr>
              <a:t>compliance</a:t>
            </a:r>
            <a:endParaRPr sz="1400">
              <a:latin typeface="Calibri Light"/>
              <a:cs typeface="Calibri Light"/>
            </a:endParaRPr>
          </a:p>
        </p:txBody>
      </p:sp>
      <p:sp>
        <p:nvSpPr>
          <p:cNvPr id="46" name="object 40">
            <a:extLst>
              <a:ext uri="{FF2B5EF4-FFF2-40B4-BE49-F238E27FC236}">
                <a16:creationId xmlns:a16="http://schemas.microsoft.com/office/drawing/2014/main" id="{7DA8448A-A2D0-7E38-055A-7B2761291235}"/>
              </a:ext>
            </a:extLst>
          </p:cNvPr>
          <p:cNvSpPr txBox="1"/>
          <p:nvPr/>
        </p:nvSpPr>
        <p:spPr>
          <a:xfrm>
            <a:off x="3794252" y="4048125"/>
            <a:ext cx="3608070" cy="1946910"/>
          </a:xfrm>
          <a:prstGeom prst="rect">
            <a:avLst/>
          </a:prstGeom>
        </p:spPr>
        <p:txBody>
          <a:bodyPr vert="horz" wrap="square" lIns="0" tIns="12700" rIns="0" bIns="0" rtlCol="0">
            <a:normAutofit/>
          </a:bodyPr>
          <a:lstStyle/>
          <a:p>
            <a:pPr marL="299085" indent="-286385">
              <a:lnSpc>
                <a:spcPct val="100000"/>
              </a:lnSpc>
              <a:spcBef>
                <a:spcPts val="100"/>
              </a:spcBef>
              <a:buFont typeface="Arial MT"/>
              <a:buChar char="•"/>
              <a:tabLst>
                <a:tab pos="299085" algn="l"/>
              </a:tabLst>
            </a:pPr>
            <a:r>
              <a:rPr sz="1100" dirty="0">
                <a:solidFill/>
                <a:latin typeface="Raleway"/>
                <a:cs typeface="Calibri Light"/>
              </a:rPr>
              <a:t>250+</a:t>
            </a:r>
            <a:r>
              <a:rPr sz="1100" spc="-25" dirty="0">
                <a:solidFill/>
                <a:latin typeface="Raleway"/>
                <a:cs typeface="Calibri Light"/>
              </a:rPr>
              <a:t> </a:t>
            </a:r>
            <a:r>
              <a:rPr sz="1100" dirty="0">
                <a:solidFill/>
                <a:latin typeface="Raleway"/>
                <a:cs typeface="Calibri Light"/>
              </a:rPr>
              <a:t>roles</a:t>
            </a:r>
            <a:r>
              <a:rPr sz="1100" spc="-40" dirty="0">
                <a:solidFill/>
                <a:latin typeface="Raleway"/>
                <a:cs typeface="Calibri Light"/>
              </a:rPr>
              <a:t> </a:t>
            </a:r>
            <a:r>
              <a:rPr sz="1100" spc="-10" dirty="0">
                <a:solidFill/>
                <a:latin typeface="Raleway"/>
                <a:cs typeface="Calibri Light"/>
              </a:rPr>
              <a:t>augmented</a:t>
            </a:r>
            <a:r>
              <a:rPr sz="1100" spc="-45" dirty="0">
                <a:solidFill/>
                <a:latin typeface="Raleway"/>
                <a:cs typeface="Calibri Light"/>
              </a:rPr>
              <a:t> </a:t>
            </a:r>
            <a:r>
              <a:rPr sz="1100" dirty="0">
                <a:solidFill/>
                <a:latin typeface="Raleway"/>
                <a:cs typeface="Calibri Light"/>
              </a:rPr>
              <a:t>with</a:t>
            </a:r>
            <a:r>
              <a:rPr sz="1100" spc="-35" dirty="0">
                <a:solidFill/>
                <a:latin typeface="Raleway"/>
                <a:cs typeface="Calibri Light"/>
              </a:rPr>
              <a:t> </a:t>
            </a:r>
            <a:r>
              <a:rPr sz="1100" spc="-25" dirty="0">
                <a:solidFill/>
                <a:latin typeface="Raleway"/>
                <a:cs typeface="Calibri Light"/>
              </a:rPr>
              <a:t>RPA</a:t>
            </a:r>
            <a:r>
              <a:rPr sz="1100" spc="-15" dirty="0">
                <a:solidFill/>
                <a:latin typeface="Raleway"/>
                <a:cs typeface="Calibri Light"/>
              </a:rPr>
              <a:t> </a:t>
            </a:r>
            <a:r>
              <a:rPr sz="1100" dirty="0">
                <a:solidFill/>
                <a:latin typeface="Raleway"/>
                <a:cs typeface="Calibri Light"/>
              </a:rPr>
              <a:t>bots</a:t>
            </a:r>
            <a:r>
              <a:rPr sz="1100" spc="-30" dirty="0">
                <a:solidFill/>
                <a:latin typeface="Raleway"/>
                <a:cs typeface="Calibri Light"/>
              </a:rPr>
              <a:t> </a:t>
            </a:r>
            <a:r>
              <a:rPr sz="1100" dirty="0">
                <a:solidFill/>
                <a:latin typeface="Raleway"/>
                <a:cs typeface="Calibri Light"/>
              </a:rPr>
              <a:t>→</a:t>
            </a:r>
            <a:r>
              <a:rPr sz="1100" spc="-35" dirty="0">
                <a:solidFill/>
                <a:latin typeface="Raleway"/>
                <a:cs typeface="Calibri Light"/>
              </a:rPr>
              <a:t> </a:t>
            </a:r>
            <a:r>
              <a:rPr sz="1100" spc="-25" dirty="0">
                <a:solidFill/>
                <a:latin typeface="Raleway"/>
                <a:cs typeface="Calibri Light"/>
              </a:rPr>
              <a:t>45%</a:t>
            </a:r>
            <a:endParaRPr sz="1400">
              <a:latin typeface="Calibri Light"/>
              <a:cs typeface="Calibri Light"/>
            </a:endParaRPr>
          </a:p>
          <a:p>
            <a:pPr marL="299085">
              <a:lnSpc>
                <a:spcPct val="100000"/>
              </a:lnSpc>
              <a:spcBef>
                <a:spcPts val="5"/>
              </a:spcBef>
            </a:pPr>
            <a:r>
              <a:rPr sz="1100" dirty="0">
                <a:solidFill/>
                <a:latin typeface="Raleway"/>
                <a:cs typeface="Calibri Light"/>
              </a:rPr>
              <a:t>automation</a:t>
            </a:r>
            <a:r>
              <a:rPr sz="1100" spc="-15" dirty="0">
                <a:solidFill/>
                <a:latin typeface="Raleway"/>
                <a:cs typeface="Calibri Light"/>
              </a:rPr>
              <a:t> </a:t>
            </a:r>
            <a:r>
              <a:rPr sz="1100" dirty="0">
                <a:solidFill/>
                <a:latin typeface="Raleway"/>
                <a:cs typeface="Calibri Light"/>
              </a:rPr>
              <a:t>of</a:t>
            </a:r>
            <a:r>
              <a:rPr sz="1100" spc="-20" dirty="0">
                <a:solidFill/>
                <a:latin typeface="Raleway"/>
                <a:cs typeface="Calibri Light"/>
              </a:rPr>
              <a:t> </a:t>
            </a:r>
            <a:r>
              <a:rPr sz="1100" spc="-10" dirty="0">
                <a:solidFill/>
                <a:latin typeface="Raleway"/>
                <a:cs typeface="Calibri Light"/>
              </a:rPr>
              <a:t>transactional</a:t>
            </a:r>
            <a:r>
              <a:rPr sz="1100" spc="-5" dirty="0">
                <a:solidFill/>
                <a:latin typeface="Raleway"/>
                <a:cs typeface="Calibri Light"/>
              </a:rPr>
              <a:t> </a:t>
            </a:r>
            <a:r>
              <a:rPr sz="1100" spc="-20" dirty="0">
                <a:solidFill/>
                <a:latin typeface="Raleway"/>
                <a:cs typeface="Calibri Light"/>
              </a:rPr>
              <a:t>tasks</a:t>
            </a:r>
            <a:endParaRPr sz="1400">
              <a:latin typeface="Calibri Light"/>
              <a:cs typeface="Calibri Light"/>
            </a:endParaRPr>
          </a:p>
          <a:p>
            <a:pPr marL="299085" marR="5080" indent="-287020">
              <a:lnSpc>
                <a:spcPct val="100000"/>
              </a:lnSpc>
              <a:buFont typeface="Arial MT"/>
              <a:buChar char="•"/>
              <a:tabLst>
                <a:tab pos="299085" algn="l"/>
              </a:tabLst>
            </a:pPr>
            <a:r>
              <a:rPr sz="1100" dirty="0">
                <a:solidFill/>
                <a:latin typeface="Raleway"/>
                <a:cs typeface="Calibri Light"/>
              </a:rPr>
              <a:t>AI-driven</a:t>
            </a:r>
            <a:r>
              <a:rPr sz="1100" spc="-65" dirty="0">
                <a:solidFill/>
                <a:latin typeface="Raleway"/>
                <a:cs typeface="Calibri Light"/>
              </a:rPr>
              <a:t> </a:t>
            </a:r>
            <a:r>
              <a:rPr sz="1100" dirty="0">
                <a:solidFill/>
                <a:latin typeface="Raleway"/>
                <a:cs typeface="Calibri Light"/>
              </a:rPr>
              <a:t>chat</a:t>
            </a:r>
            <a:r>
              <a:rPr sz="1100" spc="-35" dirty="0">
                <a:solidFill/>
                <a:latin typeface="Raleway"/>
                <a:cs typeface="Calibri Light"/>
              </a:rPr>
              <a:t> </a:t>
            </a:r>
            <a:r>
              <a:rPr sz="1100" dirty="0">
                <a:solidFill/>
                <a:latin typeface="Raleway"/>
                <a:cs typeface="Calibri Light"/>
              </a:rPr>
              <a:t>&amp;</a:t>
            </a:r>
            <a:r>
              <a:rPr sz="1100" spc="-35" dirty="0">
                <a:solidFill/>
                <a:latin typeface="Raleway"/>
                <a:cs typeface="Calibri Light"/>
              </a:rPr>
              <a:t> </a:t>
            </a:r>
            <a:r>
              <a:rPr sz="1100" dirty="0">
                <a:solidFill/>
                <a:latin typeface="Raleway"/>
                <a:cs typeface="Calibri Light"/>
              </a:rPr>
              <a:t>email</a:t>
            </a:r>
            <a:r>
              <a:rPr sz="1100" spc="-25" dirty="0">
                <a:solidFill/>
                <a:latin typeface="Raleway"/>
                <a:cs typeface="Calibri Light"/>
              </a:rPr>
              <a:t> </a:t>
            </a:r>
            <a:r>
              <a:rPr sz="1100" dirty="0">
                <a:solidFill/>
                <a:latin typeface="Raleway"/>
                <a:cs typeface="Calibri Light"/>
              </a:rPr>
              <a:t>resolution</a:t>
            </a:r>
            <a:r>
              <a:rPr sz="1100" spc="-55" dirty="0">
                <a:solidFill/>
                <a:latin typeface="Raleway"/>
                <a:cs typeface="Calibri Light"/>
              </a:rPr>
              <a:t> </a:t>
            </a:r>
            <a:r>
              <a:rPr sz="1100" dirty="0">
                <a:solidFill/>
                <a:latin typeface="Raleway"/>
                <a:cs typeface="Calibri Light"/>
              </a:rPr>
              <a:t>reducing</a:t>
            </a:r>
            <a:r>
              <a:rPr sz="1100" spc="-40" dirty="0">
                <a:solidFill/>
                <a:latin typeface="Raleway"/>
                <a:cs typeface="Calibri Light"/>
              </a:rPr>
              <a:t> </a:t>
            </a:r>
            <a:r>
              <a:rPr sz="1100" spc="-25" dirty="0">
                <a:solidFill/>
                <a:latin typeface="Raleway"/>
                <a:cs typeface="Calibri Light"/>
              </a:rPr>
              <a:t>TAT </a:t>
            </a:r>
            <a:r>
              <a:rPr sz="1100" dirty="0">
                <a:solidFill/>
                <a:latin typeface="Raleway"/>
                <a:cs typeface="Calibri Light"/>
              </a:rPr>
              <a:t>by</a:t>
            </a:r>
            <a:r>
              <a:rPr sz="1100" spc="-20" dirty="0">
                <a:solidFill/>
                <a:latin typeface="Raleway"/>
                <a:cs typeface="Calibri Light"/>
              </a:rPr>
              <a:t> </a:t>
            </a:r>
            <a:r>
              <a:rPr sz="1100" spc="-25" dirty="0">
                <a:solidFill/>
                <a:latin typeface="Raleway"/>
                <a:cs typeface="Calibri Light"/>
              </a:rPr>
              <a:t>30%</a:t>
            </a:r>
            <a:endParaRPr sz="1400">
              <a:latin typeface="Calibri Light"/>
              <a:cs typeface="Calibri Light"/>
            </a:endParaRPr>
          </a:p>
          <a:p>
            <a:pPr marL="299085" marR="76835" indent="-287020">
              <a:lnSpc>
                <a:spcPct val="100000"/>
              </a:lnSpc>
              <a:buFont typeface="Arial MT"/>
              <a:buChar char="•"/>
              <a:tabLst>
                <a:tab pos="299085" algn="l"/>
              </a:tabLst>
            </a:pPr>
            <a:r>
              <a:rPr sz="1100" dirty="0">
                <a:solidFill/>
                <a:latin typeface="Raleway"/>
                <a:cs typeface="Calibri Light"/>
              </a:rPr>
              <a:t>Advanced</a:t>
            </a:r>
            <a:r>
              <a:rPr sz="1100" spc="-40" dirty="0">
                <a:solidFill/>
                <a:latin typeface="Raleway"/>
                <a:cs typeface="Calibri Light"/>
              </a:rPr>
              <a:t> </a:t>
            </a:r>
            <a:r>
              <a:rPr sz="1100" dirty="0">
                <a:solidFill/>
                <a:latin typeface="Raleway"/>
                <a:cs typeface="Calibri Light"/>
              </a:rPr>
              <a:t>analytics</a:t>
            </a:r>
            <a:r>
              <a:rPr sz="1100" spc="-30" dirty="0">
                <a:solidFill/>
                <a:latin typeface="Raleway"/>
                <a:cs typeface="Calibri Light"/>
              </a:rPr>
              <a:t> </a:t>
            </a:r>
            <a:r>
              <a:rPr sz="1100" dirty="0">
                <a:solidFill/>
                <a:latin typeface="Raleway"/>
                <a:cs typeface="Calibri Light"/>
              </a:rPr>
              <a:t>hub</a:t>
            </a:r>
            <a:r>
              <a:rPr sz="1100" spc="-30" dirty="0">
                <a:solidFill/>
                <a:latin typeface="Raleway"/>
                <a:cs typeface="Calibri Light"/>
              </a:rPr>
              <a:t> </a:t>
            </a:r>
            <a:r>
              <a:rPr sz="1100" spc="-10" dirty="0">
                <a:solidFill/>
                <a:latin typeface="Raleway"/>
                <a:cs typeface="Calibri Light"/>
              </a:rPr>
              <a:t>predicting</a:t>
            </a:r>
            <a:r>
              <a:rPr sz="1100" spc="-25" dirty="0">
                <a:solidFill/>
                <a:latin typeface="Raleway"/>
                <a:cs typeface="Calibri Light"/>
              </a:rPr>
              <a:t> </a:t>
            </a:r>
            <a:r>
              <a:rPr sz="1100" dirty="0">
                <a:solidFill/>
                <a:latin typeface="Raleway"/>
                <a:cs typeface="Calibri Light"/>
              </a:rPr>
              <a:t>demand</a:t>
            </a:r>
            <a:r>
              <a:rPr sz="1100" spc="-40" dirty="0">
                <a:solidFill/>
                <a:latin typeface="Raleway"/>
                <a:cs typeface="Calibri Light"/>
              </a:rPr>
              <a:t> </a:t>
            </a:r>
            <a:r>
              <a:rPr sz="1100" spc="-50" dirty="0">
                <a:solidFill/>
                <a:latin typeface="Raleway"/>
                <a:cs typeface="Calibri Light"/>
              </a:rPr>
              <a:t>&amp; </a:t>
            </a:r>
            <a:r>
              <a:rPr sz="1100" dirty="0">
                <a:solidFill/>
                <a:latin typeface="Raleway"/>
                <a:cs typeface="Calibri Light"/>
              </a:rPr>
              <a:t>optimizing</a:t>
            </a:r>
            <a:r>
              <a:rPr sz="1100" spc="-45" dirty="0">
                <a:solidFill/>
                <a:latin typeface="Raleway"/>
                <a:cs typeface="Calibri Light"/>
              </a:rPr>
              <a:t> </a:t>
            </a:r>
            <a:r>
              <a:rPr sz="1100" spc="-10" dirty="0">
                <a:solidFill/>
                <a:latin typeface="Raleway"/>
                <a:cs typeface="Calibri Light"/>
              </a:rPr>
              <a:t>workforce</a:t>
            </a:r>
            <a:r>
              <a:rPr sz="1100" spc="-45" dirty="0">
                <a:solidFill/>
                <a:latin typeface="Raleway"/>
                <a:cs typeface="Calibri Light"/>
              </a:rPr>
              <a:t> </a:t>
            </a:r>
            <a:r>
              <a:rPr sz="1100" spc="-10" dirty="0">
                <a:solidFill/>
                <a:latin typeface="Raleway"/>
                <a:cs typeface="Calibri Light"/>
              </a:rPr>
              <a:t>utilization</a:t>
            </a:r>
            <a:endParaRPr sz="1400">
              <a:latin typeface="Calibri Light"/>
              <a:cs typeface="Calibri Light"/>
            </a:endParaRPr>
          </a:p>
          <a:p>
            <a:pPr marL="299085" marR="379095" indent="-287020">
              <a:lnSpc>
                <a:spcPct val="100000"/>
              </a:lnSpc>
              <a:buFont typeface="Arial MT"/>
              <a:buChar char="•"/>
              <a:tabLst>
                <a:tab pos="299085" algn="l"/>
              </a:tabLst>
            </a:pPr>
            <a:r>
              <a:rPr sz="1100" dirty="0">
                <a:solidFill/>
                <a:latin typeface="Raleway"/>
                <a:cs typeface="Calibri Light"/>
              </a:rPr>
              <a:t>KPI</a:t>
            </a:r>
            <a:r>
              <a:rPr sz="1100" spc="-35" dirty="0">
                <a:solidFill/>
                <a:latin typeface="Raleway"/>
                <a:cs typeface="Calibri Light"/>
              </a:rPr>
              <a:t> </a:t>
            </a:r>
            <a:r>
              <a:rPr sz="1100" dirty="0">
                <a:solidFill/>
                <a:latin typeface="Raleway"/>
                <a:cs typeface="Calibri Light"/>
              </a:rPr>
              <a:t>uplift:</a:t>
            </a:r>
            <a:r>
              <a:rPr sz="1100" spc="-45" dirty="0">
                <a:solidFill/>
                <a:latin typeface="Raleway"/>
                <a:cs typeface="Calibri Light"/>
              </a:rPr>
              <a:t> </a:t>
            </a:r>
            <a:r>
              <a:rPr sz="1100" dirty="0">
                <a:solidFill/>
                <a:latin typeface="Raleway"/>
                <a:cs typeface="Calibri Light"/>
              </a:rPr>
              <a:t>+35%</a:t>
            </a:r>
            <a:r>
              <a:rPr sz="1100" spc="-25" dirty="0">
                <a:solidFill/>
                <a:latin typeface="Raleway"/>
                <a:cs typeface="Calibri Light"/>
              </a:rPr>
              <a:t> </a:t>
            </a:r>
            <a:r>
              <a:rPr sz="1100" spc="-10" dirty="0">
                <a:solidFill/>
                <a:latin typeface="Raleway"/>
                <a:cs typeface="Calibri Light"/>
              </a:rPr>
              <a:t>productivity,</a:t>
            </a:r>
            <a:r>
              <a:rPr sz="1100" spc="-40" dirty="0">
                <a:solidFill/>
                <a:latin typeface="Raleway"/>
                <a:cs typeface="Calibri Light"/>
              </a:rPr>
              <a:t> </a:t>
            </a:r>
            <a:r>
              <a:rPr sz="1100" dirty="0">
                <a:solidFill/>
                <a:latin typeface="Raleway"/>
                <a:cs typeface="Calibri Light"/>
              </a:rPr>
              <a:t>+40%</a:t>
            </a:r>
            <a:r>
              <a:rPr sz="1100" spc="-25" dirty="0">
                <a:solidFill/>
                <a:latin typeface="Raleway"/>
                <a:cs typeface="Calibri Light"/>
              </a:rPr>
              <a:t> </a:t>
            </a:r>
            <a:r>
              <a:rPr sz="1100" spc="-10" dirty="0">
                <a:solidFill/>
                <a:latin typeface="Raleway"/>
                <a:cs typeface="Calibri Light"/>
              </a:rPr>
              <a:t>faster </a:t>
            </a:r>
            <a:r>
              <a:rPr sz="1100" dirty="0">
                <a:solidFill/>
                <a:latin typeface="Raleway"/>
                <a:cs typeface="Calibri Light"/>
              </a:rPr>
              <a:t>query</a:t>
            </a:r>
            <a:r>
              <a:rPr sz="1100" spc="-55" dirty="0">
                <a:solidFill/>
                <a:latin typeface="Raleway"/>
                <a:cs typeface="Calibri Light"/>
              </a:rPr>
              <a:t> </a:t>
            </a:r>
            <a:r>
              <a:rPr sz="1100" dirty="0">
                <a:solidFill/>
                <a:latin typeface="Raleway"/>
                <a:cs typeface="Calibri Light"/>
              </a:rPr>
              <a:t>resolution,</a:t>
            </a:r>
            <a:r>
              <a:rPr sz="1100" spc="-40" dirty="0">
                <a:solidFill/>
                <a:latin typeface="Raleway"/>
                <a:cs typeface="Calibri Light"/>
              </a:rPr>
              <a:t> </a:t>
            </a:r>
            <a:r>
              <a:rPr sz="1100" dirty="0">
                <a:solidFill/>
                <a:latin typeface="Raleway"/>
                <a:cs typeface="Calibri Light"/>
              </a:rPr>
              <a:t>+25%</a:t>
            </a:r>
            <a:r>
              <a:rPr sz="1100" spc="-15" dirty="0">
                <a:solidFill/>
                <a:latin typeface="Raleway"/>
                <a:cs typeface="Calibri Light"/>
              </a:rPr>
              <a:t> </a:t>
            </a:r>
            <a:r>
              <a:rPr sz="1100" dirty="0">
                <a:solidFill/>
                <a:latin typeface="Raleway"/>
                <a:cs typeface="Calibri Light"/>
              </a:rPr>
              <a:t>manual</a:t>
            </a:r>
            <a:r>
              <a:rPr sz="1100" spc="-35" dirty="0">
                <a:solidFill/>
                <a:latin typeface="Raleway"/>
                <a:cs typeface="Calibri Light"/>
              </a:rPr>
              <a:t> </a:t>
            </a:r>
            <a:r>
              <a:rPr sz="1100" spc="-10" dirty="0">
                <a:solidFill/>
                <a:latin typeface="Raleway"/>
                <a:cs typeface="Calibri Light"/>
              </a:rPr>
              <a:t>effort reduction</a:t>
            </a:r>
            <a:endParaRPr sz="1400">
              <a:latin typeface="Calibri Light"/>
              <a:cs typeface="Calibri Light"/>
            </a:endParaRPr>
          </a:p>
        </p:txBody>
      </p:sp>
      <p:sp>
        <p:nvSpPr>
          <p:cNvPr id="47" name="object 41">
            <a:extLst>
              <a:ext uri="{FF2B5EF4-FFF2-40B4-BE49-F238E27FC236}">
                <a16:creationId xmlns:a16="http://schemas.microsoft.com/office/drawing/2014/main" id="{8F9C1C0D-6694-F2DD-53FE-D76121E0B883}"/>
              </a:ext>
            </a:extLst>
          </p:cNvPr>
          <p:cNvSpPr txBox="1"/>
          <p:nvPr/>
        </p:nvSpPr>
        <p:spPr>
          <a:xfrm>
            <a:off x="7614666" y="4040581"/>
            <a:ext cx="4182110" cy="1734185"/>
          </a:xfrm>
          <a:prstGeom prst="rect">
            <a:avLst/>
          </a:prstGeom>
        </p:spPr>
        <p:txBody>
          <a:bodyPr vert="horz" wrap="square" lIns="0" tIns="13335" rIns="0" bIns="0" rtlCol="0">
            <a:normAutofit/>
          </a:bodyPr>
          <a:lstStyle/>
          <a:p>
            <a:pPr marL="299085" indent="-286385">
              <a:lnSpc>
                <a:spcPct val="100000"/>
              </a:lnSpc>
              <a:spcBef>
                <a:spcPts val="105"/>
              </a:spcBef>
              <a:buFont typeface="Arial MT"/>
              <a:buChar char="•"/>
              <a:tabLst>
                <a:tab pos="299085" algn="l"/>
              </a:tabLst>
            </a:pPr>
            <a:r>
              <a:rPr sz="1100" spc="-10" dirty="0">
                <a:solidFill/>
                <a:latin typeface="Raleway"/>
                <a:cs typeface="Calibri Light"/>
              </a:rPr>
              <a:t>Integration</a:t>
            </a:r>
            <a:r>
              <a:rPr sz="1100" spc="-15" dirty="0">
                <a:solidFill/>
                <a:latin typeface="Raleway"/>
                <a:cs typeface="Calibri Light"/>
              </a:rPr>
              <a:t> </a:t>
            </a:r>
            <a:r>
              <a:rPr sz="1100" dirty="0">
                <a:solidFill/>
                <a:latin typeface="Raleway"/>
                <a:cs typeface="Calibri Light"/>
              </a:rPr>
              <a:t>of</a:t>
            </a:r>
            <a:r>
              <a:rPr sz="1100" spc="-5" dirty="0">
                <a:solidFill/>
                <a:latin typeface="Raleway"/>
                <a:cs typeface="Calibri Light"/>
              </a:rPr>
              <a:t> </a:t>
            </a:r>
            <a:r>
              <a:rPr sz="1100" spc="-10" dirty="0">
                <a:solidFill/>
                <a:latin typeface="Raleway"/>
                <a:cs typeface="Calibri Light"/>
              </a:rPr>
              <a:t>AI-powered</a:t>
            </a:r>
            <a:r>
              <a:rPr sz="1100" spc="-20" dirty="0">
                <a:solidFill/>
                <a:latin typeface="Raleway"/>
                <a:cs typeface="Calibri Light"/>
              </a:rPr>
              <a:t> </a:t>
            </a:r>
            <a:r>
              <a:rPr sz="1100" dirty="0">
                <a:solidFill/>
                <a:latin typeface="Raleway"/>
                <a:cs typeface="Calibri Light"/>
              </a:rPr>
              <a:t>CX,</a:t>
            </a:r>
            <a:r>
              <a:rPr sz="1100" spc="-5" dirty="0">
                <a:solidFill/>
                <a:latin typeface="Raleway"/>
                <a:cs typeface="Calibri Light"/>
              </a:rPr>
              <a:t> </a:t>
            </a:r>
            <a:r>
              <a:rPr sz="1100" spc="-10" dirty="0">
                <a:solidFill/>
                <a:latin typeface="Raleway"/>
                <a:cs typeface="Calibri Light"/>
              </a:rPr>
              <a:t>predictive</a:t>
            </a:r>
            <a:r>
              <a:rPr sz="1100" spc="-15" dirty="0">
                <a:solidFill/>
                <a:latin typeface="Raleway"/>
                <a:cs typeface="Calibri Light"/>
              </a:rPr>
              <a:t> </a:t>
            </a:r>
            <a:r>
              <a:rPr sz="1100" dirty="0">
                <a:solidFill/>
                <a:latin typeface="Raleway"/>
                <a:cs typeface="Calibri Light"/>
              </a:rPr>
              <a:t>analytics, </a:t>
            </a:r>
            <a:r>
              <a:rPr sz="1100" spc="-25" dirty="0">
                <a:solidFill/>
                <a:latin typeface="Raleway"/>
                <a:cs typeface="Calibri Light"/>
              </a:rPr>
              <a:t>and</a:t>
            </a:r>
            <a:endParaRPr sz="1400">
              <a:latin typeface="Calibri Light"/>
              <a:cs typeface="Calibri Light"/>
            </a:endParaRPr>
          </a:p>
          <a:p>
            <a:pPr marL="299085">
              <a:lnSpc>
                <a:spcPct val="100000"/>
              </a:lnSpc>
            </a:pPr>
            <a:r>
              <a:rPr sz="1100" spc="-10" dirty="0">
                <a:solidFill/>
                <a:latin typeface="Raleway"/>
                <a:cs typeface="Calibri Light"/>
              </a:rPr>
              <a:t>intelligent</a:t>
            </a:r>
            <a:r>
              <a:rPr sz="1100" spc="15" dirty="0">
                <a:solidFill/>
                <a:latin typeface="Raleway"/>
                <a:cs typeface="Calibri Light"/>
              </a:rPr>
              <a:t> </a:t>
            </a:r>
            <a:r>
              <a:rPr sz="1100" spc="-10" dirty="0">
                <a:solidFill/>
                <a:latin typeface="Raleway"/>
                <a:cs typeface="Calibri Light"/>
              </a:rPr>
              <a:t>workflows</a:t>
            </a:r>
            <a:endParaRPr sz="1400">
              <a:latin typeface="Calibri Light"/>
              <a:cs typeface="Calibri Light"/>
            </a:endParaRPr>
          </a:p>
          <a:p>
            <a:pPr marL="299085" marR="492125" indent="-287020">
              <a:lnSpc>
                <a:spcPct val="100000"/>
              </a:lnSpc>
              <a:buFont typeface="Arial MT"/>
              <a:buChar char="•"/>
              <a:tabLst>
                <a:tab pos="299085" algn="l"/>
              </a:tabLst>
            </a:pPr>
            <a:r>
              <a:rPr sz="1100" dirty="0">
                <a:solidFill/>
                <a:latin typeface="Raleway"/>
                <a:cs typeface="Calibri Light"/>
              </a:rPr>
              <a:t>Cloud-</a:t>
            </a:r>
            <a:r>
              <a:rPr sz="1100" spc="-10" dirty="0">
                <a:solidFill/>
                <a:latin typeface="Raleway"/>
                <a:cs typeface="Calibri Light"/>
              </a:rPr>
              <a:t>based</a:t>
            </a:r>
            <a:r>
              <a:rPr sz="1100" spc="-55" dirty="0">
                <a:solidFill/>
                <a:latin typeface="Raleway"/>
                <a:cs typeface="Calibri Light"/>
              </a:rPr>
              <a:t> </a:t>
            </a:r>
            <a:r>
              <a:rPr sz="1100" dirty="0">
                <a:solidFill/>
                <a:latin typeface="Raleway"/>
                <a:cs typeface="Calibri Light"/>
              </a:rPr>
              <a:t>platforms</a:t>
            </a:r>
            <a:r>
              <a:rPr sz="1100" spc="-15" dirty="0">
                <a:solidFill/>
                <a:latin typeface="Raleway"/>
                <a:cs typeface="Calibri Light"/>
              </a:rPr>
              <a:t> </a:t>
            </a:r>
            <a:r>
              <a:rPr sz="1100" dirty="0">
                <a:solidFill/>
                <a:latin typeface="Raleway"/>
                <a:cs typeface="Calibri Light"/>
              </a:rPr>
              <a:t>unifying</a:t>
            </a:r>
            <a:r>
              <a:rPr sz="1100" spc="-40" dirty="0">
                <a:solidFill/>
                <a:latin typeface="Raleway"/>
                <a:cs typeface="Calibri Light"/>
              </a:rPr>
              <a:t> </a:t>
            </a:r>
            <a:r>
              <a:rPr sz="1100" dirty="0">
                <a:solidFill/>
                <a:latin typeface="Raleway"/>
                <a:cs typeface="Calibri Light"/>
              </a:rPr>
              <a:t>HR,</a:t>
            </a:r>
            <a:r>
              <a:rPr sz="1100" spc="-10" dirty="0">
                <a:solidFill/>
                <a:latin typeface="Raleway"/>
                <a:cs typeface="Calibri Light"/>
              </a:rPr>
              <a:t> payroll,</a:t>
            </a:r>
            <a:r>
              <a:rPr sz="1100" spc="-40" dirty="0">
                <a:solidFill/>
                <a:latin typeface="Raleway"/>
                <a:cs typeface="Calibri Light"/>
              </a:rPr>
              <a:t> </a:t>
            </a:r>
            <a:r>
              <a:rPr sz="1100" spc="-25" dirty="0">
                <a:solidFill/>
                <a:latin typeface="Raleway"/>
                <a:cs typeface="Calibri Light"/>
              </a:rPr>
              <a:t>and </a:t>
            </a:r>
            <a:r>
              <a:rPr sz="1100" dirty="0">
                <a:solidFill/>
                <a:latin typeface="Raleway"/>
                <a:cs typeface="Calibri Light"/>
              </a:rPr>
              <a:t>finance</a:t>
            </a:r>
            <a:r>
              <a:rPr sz="1100" spc="-40" dirty="0">
                <a:solidFill/>
                <a:latin typeface="Raleway"/>
                <a:cs typeface="Calibri Light"/>
              </a:rPr>
              <a:t> </a:t>
            </a:r>
            <a:r>
              <a:rPr sz="1100" spc="-10" dirty="0">
                <a:solidFill/>
                <a:latin typeface="Raleway"/>
                <a:cs typeface="Calibri Light"/>
              </a:rPr>
              <a:t>globally</a:t>
            </a:r>
            <a:endParaRPr sz="1400">
              <a:latin typeface="Calibri Light"/>
              <a:cs typeface="Calibri Light"/>
            </a:endParaRPr>
          </a:p>
          <a:p>
            <a:pPr marL="299085" marR="325120" indent="-287020">
              <a:lnSpc>
                <a:spcPct val="100000"/>
              </a:lnSpc>
              <a:buFont typeface="Arial MT"/>
              <a:buChar char="•"/>
              <a:tabLst>
                <a:tab pos="299085" algn="l"/>
              </a:tabLst>
            </a:pPr>
            <a:r>
              <a:rPr sz="1100" spc="-10" dirty="0">
                <a:solidFill/>
                <a:latin typeface="Raleway"/>
                <a:cs typeface="Calibri Light"/>
              </a:rPr>
              <a:t>Value</a:t>
            </a:r>
            <a:r>
              <a:rPr sz="1100" spc="-40" dirty="0">
                <a:solidFill/>
                <a:latin typeface="Raleway"/>
                <a:cs typeface="Calibri Light"/>
              </a:rPr>
              <a:t> </a:t>
            </a:r>
            <a:r>
              <a:rPr sz="1100" dirty="0">
                <a:solidFill/>
                <a:latin typeface="Raleway"/>
                <a:cs typeface="Calibri Light"/>
              </a:rPr>
              <a:t>creation:</a:t>
            </a:r>
            <a:r>
              <a:rPr sz="1100" spc="-30" dirty="0">
                <a:solidFill/>
                <a:latin typeface="Raleway"/>
                <a:cs typeface="Calibri Light"/>
              </a:rPr>
              <a:t> </a:t>
            </a:r>
            <a:r>
              <a:rPr sz="1100" dirty="0">
                <a:solidFill/>
                <a:latin typeface="Raleway"/>
                <a:cs typeface="Calibri Light"/>
              </a:rPr>
              <a:t>$180M</a:t>
            </a:r>
            <a:r>
              <a:rPr sz="1100" spc="-10" dirty="0">
                <a:solidFill/>
                <a:latin typeface="Raleway"/>
                <a:cs typeface="Calibri Light"/>
              </a:rPr>
              <a:t> revenue</a:t>
            </a:r>
            <a:r>
              <a:rPr sz="1100" spc="-55" dirty="0">
                <a:solidFill/>
                <a:latin typeface="Raleway"/>
                <a:cs typeface="Calibri Light"/>
              </a:rPr>
              <a:t> </a:t>
            </a:r>
            <a:r>
              <a:rPr sz="1100" spc="-10" dirty="0">
                <a:solidFill/>
                <a:latin typeface="Raleway"/>
                <a:cs typeface="Calibri Light"/>
              </a:rPr>
              <a:t>contribution,</a:t>
            </a:r>
            <a:r>
              <a:rPr sz="1100" spc="-55" dirty="0">
                <a:solidFill/>
                <a:latin typeface="Raleway"/>
                <a:cs typeface="Calibri Light"/>
              </a:rPr>
              <a:t> </a:t>
            </a:r>
            <a:r>
              <a:rPr sz="1100" spc="-25" dirty="0">
                <a:solidFill/>
                <a:latin typeface="Raleway"/>
                <a:cs typeface="Calibri Light"/>
              </a:rPr>
              <a:t>88% </a:t>
            </a:r>
            <a:r>
              <a:rPr sz="1100" spc="-20" dirty="0">
                <a:solidFill/>
                <a:latin typeface="Raleway"/>
                <a:cs typeface="Calibri Light"/>
              </a:rPr>
              <a:t>efficiency,</a:t>
            </a:r>
            <a:r>
              <a:rPr sz="1100" spc="-55" dirty="0">
                <a:solidFill/>
                <a:latin typeface="Raleway"/>
                <a:cs typeface="Calibri Light"/>
              </a:rPr>
              <a:t> </a:t>
            </a:r>
            <a:r>
              <a:rPr sz="1100" dirty="0">
                <a:solidFill/>
                <a:latin typeface="Raleway"/>
                <a:cs typeface="Calibri Light"/>
              </a:rPr>
              <a:t>50%</a:t>
            </a:r>
            <a:r>
              <a:rPr sz="1100" spc="-5" dirty="0">
                <a:solidFill/>
                <a:latin typeface="Raleway"/>
                <a:cs typeface="Calibri Light"/>
              </a:rPr>
              <a:t> </a:t>
            </a:r>
            <a:r>
              <a:rPr sz="1100" spc="-10" dirty="0">
                <a:solidFill/>
                <a:latin typeface="Raleway"/>
                <a:cs typeface="Calibri Light"/>
              </a:rPr>
              <a:t>automation,</a:t>
            </a:r>
            <a:r>
              <a:rPr sz="1100" spc="-25" dirty="0">
                <a:solidFill/>
                <a:latin typeface="Raleway"/>
                <a:cs typeface="Calibri Light"/>
              </a:rPr>
              <a:t> </a:t>
            </a:r>
            <a:r>
              <a:rPr sz="1100" dirty="0">
                <a:solidFill/>
                <a:latin typeface="Raleway"/>
                <a:cs typeface="Calibri Light"/>
              </a:rPr>
              <a:t>20%</a:t>
            </a:r>
            <a:r>
              <a:rPr sz="1100" spc="-5" dirty="0">
                <a:solidFill/>
                <a:latin typeface="Raleway"/>
                <a:cs typeface="Calibri Light"/>
              </a:rPr>
              <a:t> </a:t>
            </a:r>
            <a:r>
              <a:rPr sz="1100" spc="-20" dirty="0">
                <a:solidFill/>
                <a:latin typeface="Raleway"/>
                <a:cs typeface="Calibri Light"/>
              </a:rPr>
              <a:t>YoY</a:t>
            </a:r>
            <a:r>
              <a:rPr sz="1100" spc="-5" dirty="0">
                <a:solidFill/>
                <a:latin typeface="Raleway"/>
                <a:cs typeface="Calibri Light"/>
              </a:rPr>
              <a:t> </a:t>
            </a:r>
            <a:r>
              <a:rPr sz="1100" dirty="0">
                <a:solidFill/>
                <a:latin typeface="Raleway"/>
                <a:cs typeface="Calibri Light"/>
              </a:rPr>
              <a:t>cost</a:t>
            </a:r>
            <a:r>
              <a:rPr sz="1100" spc="-25" dirty="0">
                <a:solidFill/>
                <a:latin typeface="Raleway"/>
                <a:cs typeface="Calibri Light"/>
              </a:rPr>
              <a:t> </a:t>
            </a:r>
            <a:r>
              <a:rPr sz="1100" spc="-10" dirty="0">
                <a:solidFill/>
                <a:latin typeface="Raleway"/>
                <a:cs typeface="Calibri Light"/>
              </a:rPr>
              <a:t>savings</a:t>
            </a:r>
            <a:endParaRPr sz="1400">
              <a:latin typeface="Calibri Light"/>
              <a:cs typeface="Calibri Light"/>
            </a:endParaRPr>
          </a:p>
          <a:p>
            <a:pPr marL="299085" marR="76200" indent="-287020">
              <a:lnSpc>
                <a:spcPct val="100000"/>
              </a:lnSpc>
              <a:buFont typeface="Arial MT"/>
              <a:buChar char="•"/>
              <a:tabLst>
                <a:tab pos="299085" algn="l"/>
              </a:tabLst>
            </a:pPr>
            <a:r>
              <a:rPr sz="1100" dirty="0">
                <a:solidFill/>
                <a:latin typeface="Raleway"/>
                <a:cs typeface="Calibri Light"/>
              </a:rPr>
              <a:t>ESG</a:t>
            </a:r>
            <a:r>
              <a:rPr sz="1100" spc="-25" dirty="0">
                <a:solidFill/>
                <a:latin typeface="Raleway"/>
                <a:cs typeface="Calibri Light"/>
              </a:rPr>
              <a:t> </a:t>
            </a:r>
            <a:r>
              <a:rPr sz="1100" spc="-10" dirty="0">
                <a:solidFill/>
                <a:latin typeface="Raleway"/>
                <a:cs typeface="Calibri Light"/>
              </a:rPr>
              <a:t>alignment:</a:t>
            </a:r>
            <a:r>
              <a:rPr sz="1100" spc="-45" dirty="0">
                <a:solidFill/>
                <a:latin typeface="Raleway"/>
                <a:cs typeface="Calibri Light"/>
              </a:rPr>
              <a:t> </a:t>
            </a:r>
            <a:r>
              <a:rPr sz="1100" dirty="0">
                <a:solidFill/>
                <a:latin typeface="Raleway"/>
                <a:cs typeface="Calibri Light"/>
              </a:rPr>
              <a:t>30%</a:t>
            </a:r>
            <a:r>
              <a:rPr sz="1100" spc="-10" dirty="0">
                <a:solidFill/>
                <a:latin typeface="Raleway"/>
                <a:cs typeface="Calibri Light"/>
              </a:rPr>
              <a:t> </a:t>
            </a:r>
            <a:r>
              <a:rPr sz="1100" dirty="0">
                <a:solidFill/>
                <a:latin typeface="Raleway"/>
                <a:cs typeface="Calibri Light"/>
              </a:rPr>
              <a:t>reduction</a:t>
            </a:r>
            <a:r>
              <a:rPr sz="1100" spc="-30" dirty="0">
                <a:solidFill/>
                <a:latin typeface="Raleway"/>
                <a:cs typeface="Calibri Light"/>
              </a:rPr>
              <a:t> </a:t>
            </a:r>
            <a:r>
              <a:rPr sz="1100" dirty="0">
                <a:solidFill/>
                <a:latin typeface="Raleway"/>
                <a:cs typeface="Calibri Light"/>
              </a:rPr>
              <a:t>in</a:t>
            </a:r>
            <a:r>
              <a:rPr sz="1100" spc="-25" dirty="0">
                <a:solidFill/>
                <a:latin typeface="Raleway"/>
                <a:cs typeface="Calibri Light"/>
              </a:rPr>
              <a:t> </a:t>
            </a:r>
            <a:r>
              <a:rPr sz="1100" dirty="0">
                <a:solidFill/>
                <a:latin typeface="Raleway"/>
                <a:cs typeface="Calibri Light"/>
              </a:rPr>
              <a:t>paper</a:t>
            </a:r>
            <a:r>
              <a:rPr sz="1100" spc="-35" dirty="0">
                <a:solidFill/>
                <a:latin typeface="Raleway"/>
                <a:cs typeface="Calibri Light"/>
              </a:rPr>
              <a:t> </a:t>
            </a:r>
            <a:r>
              <a:rPr sz="1100" dirty="0">
                <a:solidFill/>
                <a:latin typeface="Raleway"/>
                <a:cs typeface="Calibri Light"/>
              </a:rPr>
              <a:t>use,</a:t>
            </a:r>
            <a:r>
              <a:rPr sz="1100" spc="-35" dirty="0">
                <a:solidFill/>
                <a:latin typeface="Raleway"/>
                <a:cs typeface="Calibri Light"/>
              </a:rPr>
              <a:t> </a:t>
            </a:r>
            <a:r>
              <a:rPr sz="1100" spc="-10" dirty="0">
                <a:solidFill/>
                <a:latin typeface="Raleway"/>
                <a:cs typeface="Calibri Light"/>
              </a:rPr>
              <a:t>adoption </a:t>
            </a:r>
            <a:r>
              <a:rPr sz="1100" dirty="0">
                <a:solidFill/>
                <a:latin typeface="Raleway"/>
                <a:cs typeface="Calibri Light"/>
              </a:rPr>
              <a:t>of</a:t>
            </a:r>
            <a:r>
              <a:rPr sz="1100" spc="-30" dirty="0">
                <a:solidFill/>
                <a:latin typeface="Raleway"/>
                <a:cs typeface="Calibri Light"/>
              </a:rPr>
              <a:t> </a:t>
            </a:r>
            <a:r>
              <a:rPr sz="1100" dirty="0">
                <a:solidFill/>
                <a:latin typeface="Raleway"/>
                <a:cs typeface="Calibri Light"/>
              </a:rPr>
              <a:t>green</a:t>
            </a:r>
            <a:r>
              <a:rPr sz="1100" spc="-25" dirty="0">
                <a:solidFill/>
                <a:latin typeface="Raleway"/>
                <a:cs typeface="Calibri Light"/>
              </a:rPr>
              <a:t> </a:t>
            </a:r>
            <a:r>
              <a:rPr sz="1100" dirty="0">
                <a:solidFill/>
                <a:latin typeface="Raleway"/>
                <a:cs typeface="Calibri Light"/>
              </a:rPr>
              <a:t>IT</a:t>
            </a:r>
            <a:r>
              <a:rPr sz="1100" spc="-30" dirty="0">
                <a:solidFill/>
                <a:latin typeface="Raleway"/>
                <a:cs typeface="Calibri Light"/>
              </a:rPr>
              <a:t> </a:t>
            </a:r>
            <a:r>
              <a:rPr sz="1100" dirty="0">
                <a:solidFill/>
                <a:latin typeface="Raleway"/>
                <a:cs typeface="Calibri Light"/>
              </a:rPr>
              <a:t>in</a:t>
            </a:r>
            <a:r>
              <a:rPr sz="1100" spc="-10" dirty="0">
                <a:solidFill/>
                <a:latin typeface="Raleway"/>
                <a:cs typeface="Calibri Light"/>
              </a:rPr>
              <a:t> operations</a:t>
            </a:r>
            <a:endParaRPr sz="1400">
              <a:latin typeface="Calibri Light"/>
              <a:cs typeface="Calibri Light"/>
            </a:endParaRPr>
          </a:p>
        </p:txBody>
      </p:sp>
      <p:sp>
        <p:nvSpPr>
          <p:cNvPr id="48" name="object 17">
            <a:extLst>
              <a:ext uri="{FF2B5EF4-FFF2-40B4-BE49-F238E27FC236}">
                <a16:creationId xmlns:a16="http://schemas.microsoft.com/office/drawing/2014/main" id="{8F819B81-2789-3483-85C8-7767F54EC45E}"/>
              </a:ext>
            </a:extLst>
          </p:cNvPr>
          <p:cNvSpPr txBox="1"/>
          <p:nvPr/>
        </p:nvSpPr>
        <p:spPr>
          <a:xfrm>
            <a:off x="7870828" y="2935136"/>
            <a:ext cx="3607108" cy="483234"/>
          </a:xfrm>
          <a:prstGeom prst="rect">
            <a:avLst/>
          </a:prstGeom>
        </p:spPr>
        <p:txBody>
          <a:bodyPr vert="horz" wrap="square" lIns="0" tIns="12700" rIns="0" bIns="0" rtlCol="0">
            <a:normAutofit fontScale="97486"/>
          </a:bodyPr>
          <a:lstStyle/>
          <a:p>
            <a:pPr>
              <a:lnSpc>
                <a:spcPct val="100000"/>
              </a:lnSpc>
              <a:spcBef>
                <a:spcPts val="100"/>
              </a:spcBef>
            </a:pPr>
            <a:r>
              <a:rPr lang="en-IN" sz="1400"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Phase III: J2W’S Strategic Digital Transformation &amp; Global Coe Creation (FY24–FY25)</a:t>
            </a:r>
          </a:p>
        </p:txBody>
      </p:sp>
      <p:sp>
        <p:nvSpPr>
          <p:cNvPr id="12" name="Text 7">
            <a:extLst>
              <a:ext uri="{FF2B5EF4-FFF2-40B4-BE49-F238E27FC236}">
                <a16:creationId xmlns:a16="http://schemas.microsoft.com/office/drawing/2014/main" id="{897EFBEF-C7F8-B6D0-787C-95702CB08206}"/>
              </a:ext>
            </a:extLst>
          </p:cNvPr>
          <p:cNvSpPr/>
          <p:nvPr/>
        </p:nvSpPr>
        <p:spPr>
          <a:xfrm>
            <a:off x="83185" y="6678993"/>
            <a:ext cx="2743200" cy="201168"/>
          </a:xfrm>
          <a:prstGeom prst="rect">
            <a:avLst/>
          </a:prstGeom>
          <a:noFill/>
          <a:ln/>
        </p:spPr>
        <p:txBody>
          <a:bodyPr wrap="square" lIns="0" tIns="0" rIns="0" bIns="0" rtlCol="0" anchor="ctr"/>
          <a:lstStyle/>
          <a:p>
            <a:pPr marL="0" indent="0" algn="l">
              <a:buNone/>
            </a:pPr>
            <a:r>
              <a:rPr lang="en-US" sz="800" kern="0" spc="100" dirty="0">
                <a:solidFill>
                  <a:srgbClr val="A1A1AA"/>
                </a:solidFill>
                <a:latin typeface="Roboto Condensed" pitchFamily="34" charset="0"/>
                <a:ea typeface="Roboto Condensed" pitchFamily="34" charset="-122"/>
                <a:cs typeface="Roboto Condensed" pitchFamily="34" charset="-120"/>
              </a:rPr>
              <a:t>JOULESTOWATTS</a:t>
            </a:r>
            <a:endParaRPr lang="en-US" sz="800" dirty="0"/>
          </a:p>
        </p:txBody>
      </p:sp>
    </p:spTree>
    <p:extLst>
      <p:ext uri="{BB962C8B-B14F-4D97-AF65-F5344CB8AC3E}">
        <p14:creationId xmlns:p14="http://schemas.microsoft.com/office/powerpoint/2010/main" val="134022669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711057-2EB3-8022-8A7B-B5178ED64DA6}"/>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24E70F21-CA0E-9F4B-7E45-546A1E2739A3}"/>
              </a:ext>
            </a:extLst>
          </p:cNvPr>
          <p:cNvSpPr/>
          <p:nvPr/>
        </p:nvSpPr>
        <p:spPr>
          <a:xfrm>
            <a:off x="0" y="0"/>
            <a:ext cx="8123327" cy="75895"/>
          </a:xfrm>
          <a:prstGeom prst="rect">
            <a:avLst/>
          </a:prstGeom>
          <a:solidFill>
            <a:srgbClr val="2A9D8F"/>
          </a:solidFill>
          <a:ln/>
        </p:spPr>
        <p:txBody>
          <a:bodyPr/>
          <a:lstStyle/>
          <a:p>
            <a:endParaRPr lang="en-IN"/>
          </a:p>
        </p:txBody>
      </p:sp>
      <p:sp>
        <p:nvSpPr>
          <p:cNvPr id="3" name="Shape 1">
            <a:extLst>
              <a:ext uri="{FF2B5EF4-FFF2-40B4-BE49-F238E27FC236}">
                <a16:creationId xmlns:a16="http://schemas.microsoft.com/office/drawing/2014/main" id="{1A54E60F-66E3-FA04-06D5-8FC73A90C01A}"/>
              </a:ext>
            </a:extLst>
          </p:cNvPr>
          <p:cNvSpPr/>
          <p:nvPr/>
        </p:nvSpPr>
        <p:spPr>
          <a:xfrm>
            <a:off x="8123327" y="0"/>
            <a:ext cx="4068369" cy="75895"/>
          </a:xfrm>
          <a:prstGeom prst="rect">
            <a:avLst/>
          </a:prstGeom>
          <a:solidFill>
            <a:srgbClr val="D62839"/>
          </a:solidFill>
          <a:ln/>
        </p:spPr>
        <p:txBody>
          <a:bodyPr/>
          <a:lstStyle/>
          <a:p>
            <a:endParaRPr lang="en-IN"/>
          </a:p>
        </p:txBody>
      </p:sp>
      <p:sp>
        <p:nvSpPr>
          <p:cNvPr id="4" name="Shape 2">
            <a:extLst>
              <a:ext uri="{FF2B5EF4-FFF2-40B4-BE49-F238E27FC236}">
                <a16:creationId xmlns:a16="http://schemas.microsoft.com/office/drawing/2014/main" id="{BE084C8E-23E4-A159-B42C-E3DFB6E2A3EB}"/>
              </a:ext>
            </a:extLst>
          </p:cNvPr>
          <p:cNvSpPr/>
          <p:nvPr/>
        </p:nvSpPr>
        <p:spPr>
          <a:xfrm>
            <a:off x="9265615" y="-1463040"/>
            <a:ext cx="3840480" cy="3840480"/>
          </a:xfrm>
          <a:prstGeom prst="ellipse">
            <a:avLst/>
          </a:prstGeom>
          <a:solidFill>
            <a:srgbClr val="2A9D8F">
              <a:alpha val="4000"/>
            </a:srgbClr>
          </a:solidFill>
          <a:ln/>
        </p:spPr>
        <p:txBody>
          <a:bodyPr/>
          <a:lstStyle/>
          <a:p>
            <a:endParaRPr lang="en-IN"/>
          </a:p>
        </p:txBody>
      </p:sp>
      <p:sp>
        <p:nvSpPr>
          <p:cNvPr id="5" name="Shape 3">
            <a:extLst>
              <a:ext uri="{FF2B5EF4-FFF2-40B4-BE49-F238E27FC236}">
                <a16:creationId xmlns:a16="http://schemas.microsoft.com/office/drawing/2014/main" id="{3BA96C0C-9048-6308-BB3B-3DF81FC2C5AB}"/>
              </a:ext>
            </a:extLst>
          </p:cNvPr>
          <p:cNvSpPr/>
          <p:nvPr/>
        </p:nvSpPr>
        <p:spPr>
          <a:xfrm>
            <a:off x="502920" y="329184"/>
            <a:ext cx="54864" cy="310896"/>
          </a:xfrm>
          <a:prstGeom prst="rect">
            <a:avLst/>
          </a:prstGeom>
          <a:solidFill>
            <a:srgbClr val="111827"/>
          </a:solidFill>
          <a:ln/>
        </p:spPr>
        <p:txBody>
          <a:bodyPr/>
          <a:lstStyle/>
          <a:p>
            <a:endParaRPr lang="en-IN"/>
          </a:p>
        </p:txBody>
      </p:sp>
      <p:sp>
        <p:nvSpPr>
          <p:cNvPr id="6" name="Text 4">
            <a:extLst>
              <a:ext uri="{FF2B5EF4-FFF2-40B4-BE49-F238E27FC236}">
                <a16:creationId xmlns:a16="http://schemas.microsoft.com/office/drawing/2014/main" id="{8274AABD-F9D2-BABD-F382-7C22AAB8B70F}"/>
              </a:ext>
            </a:extLst>
          </p:cNvPr>
          <p:cNvSpPr/>
          <p:nvPr/>
        </p:nvSpPr>
        <p:spPr>
          <a:xfrm>
            <a:off x="667512" y="405739"/>
            <a:ext cx="11021263" cy="384048"/>
          </a:xfrm>
          <a:prstGeom prst="rect">
            <a:avLst/>
          </a:prstGeom>
          <a:noFill/>
          <a:ln/>
        </p:spPr>
        <p:txBody>
          <a:bodyPr wrap="square" lIns="0" tIns="0" rIns="0" bIns="0" rtlCol="0" anchor="ctr"/>
          <a:lstStyle/>
          <a:p>
            <a:pPr marL="0" indent="0" algn="l">
              <a:buNone/>
            </a:pPr>
            <a:r>
              <a:rPr lang="en-GB" sz="2200" b="1" dirty="0">
                <a:solidFill>
                  <a:srgbClr val="2A9D8F"/>
                </a:solidFill>
                <a:latin typeface="Oswald" pitchFamily="34" charset="0"/>
                <a:ea typeface="Oswald" pitchFamily="34" charset="-122"/>
                <a:cs typeface="Oswald" pitchFamily="34" charset="-120"/>
              </a:rPr>
              <a:t>Case Study: </a:t>
            </a:r>
            <a:r>
              <a:rPr lang="en-GB" sz="2200" b="1" dirty="0">
                <a:solidFill>
                  <a:srgbClr val="111827"/>
                </a:solidFill>
                <a:latin typeface="Oswald" pitchFamily="34" charset="0"/>
                <a:ea typeface="Oswald" pitchFamily="34" charset="-122"/>
                <a:cs typeface="Oswald" pitchFamily="34" charset="-120"/>
              </a:rPr>
              <a:t>A Global Banking Leader Partnered With J2W To Drive Digital Transformation, Regulatory Compliance, And AI-powered Risk Management Across Multi-country Operations </a:t>
            </a:r>
            <a:endParaRPr lang="en-US" sz="2200" dirty="0"/>
          </a:p>
        </p:txBody>
      </p:sp>
      <p:sp>
        <p:nvSpPr>
          <p:cNvPr id="13" name="Text 5">
            <a:extLst>
              <a:ext uri="{FF2B5EF4-FFF2-40B4-BE49-F238E27FC236}">
                <a16:creationId xmlns:a16="http://schemas.microsoft.com/office/drawing/2014/main" id="{86466693-B00F-43F8-B5BB-50765A0ECE0F}"/>
              </a:ext>
            </a:extLst>
          </p:cNvPr>
          <p:cNvSpPr/>
          <p:nvPr/>
        </p:nvSpPr>
        <p:spPr>
          <a:xfrm>
            <a:off x="667512" y="988923"/>
            <a:ext cx="11021263" cy="237744"/>
          </a:xfrm>
          <a:prstGeom prst="rect">
            <a:avLst/>
          </a:prstGeom>
          <a:noFill/>
          <a:ln/>
        </p:spPr>
        <p:txBody>
          <a:bodyPr wrap="square" lIns="0" tIns="0" rIns="0" bIns="0" rtlCol="0" anchor="ctr"/>
          <a:lstStyle/>
          <a:p>
            <a:pPr marL="0" indent="0" algn="l">
              <a:buNone/>
            </a:pPr>
            <a:r>
              <a:rPr lang="en-GB" sz="1250" b="1" dirty="0">
                <a:solidFill>
                  <a:srgbClr val="2A9D8F"/>
                </a:solidFill>
                <a:latin typeface="Roboto Condensed" pitchFamily="34" charset="0"/>
                <a:ea typeface="Roboto Condensed" pitchFamily="34" charset="-122"/>
                <a:cs typeface="Roboto Condensed" pitchFamily="34" charset="-120"/>
              </a:rPr>
              <a:t>J2W’s Banking Technology Transformation via Comprehensive Brownfield Evolution</a:t>
            </a:r>
          </a:p>
        </p:txBody>
      </p:sp>
      <p:grpSp>
        <p:nvGrpSpPr>
          <p:cNvPr id="48" name="object 3">
            <a:extLst>
              <a:ext uri="{FF2B5EF4-FFF2-40B4-BE49-F238E27FC236}">
                <a16:creationId xmlns:a16="http://schemas.microsoft.com/office/drawing/2014/main" id="{A9068C7D-6D94-AE18-853C-BDCDA100DEAD}"/>
              </a:ext>
            </a:extLst>
          </p:cNvPr>
          <p:cNvGrpSpPr/>
          <p:nvPr/>
        </p:nvGrpSpPr>
        <p:grpSpPr>
          <a:xfrm>
            <a:off x="922489" y="1872869"/>
            <a:ext cx="11123295" cy="620395"/>
            <a:chOff x="922489" y="1791589"/>
            <a:chExt cx="11123295" cy="620395"/>
          </a:xfrm>
        </p:grpSpPr>
        <p:sp>
          <p:nvSpPr>
            <p:cNvPr id="49" name="object 4">
              <a:extLst>
                <a:ext uri="{FF2B5EF4-FFF2-40B4-BE49-F238E27FC236}">
                  <a16:creationId xmlns:a16="http://schemas.microsoft.com/office/drawing/2014/main" id="{9E834B55-D531-1AA2-9911-C80298789486}"/>
                </a:ext>
              </a:extLst>
            </p:cNvPr>
            <p:cNvSpPr/>
            <p:nvPr/>
          </p:nvSpPr>
          <p:spPr>
            <a:xfrm>
              <a:off x="1559052" y="2037587"/>
              <a:ext cx="9850120" cy="369570"/>
            </a:xfrm>
            <a:custGeom>
              <a:avLst/>
              <a:gdLst/>
              <a:ahLst/>
              <a:cxnLst/>
              <a:rect l="l" t="t" r="r" b="b"/>
              <a:pathLst>
                <a:path w="9850120" h="369569">
                  <a:moveTo>
                    <a:pt x="580644" y="195072"/>
                  </a:moveTo>
                  <a:lnTo>
                    <a:pt x="0" y="195072"/>
                  </a:lnTo>
                  <a:lnTo>
                    <a:pt x="0" y="369570"/>
                  </a:lnTo>
                  <a:lnTo>
                    <a:pt x="580644" y="369570"/>
                  </a:lnTo>
                  <a:lnTo>
                    <a:pt x="580644" y="195072"/>
                  </a:lnTo>
                  <a:close/>
                </a:path>
                <a:path w="9850120" h="369569">
                  <a:moveTo>
                    <a:pt x="2435352" y="195072"/>
                  </a:moveTo>
                  <a:lnTo>
                    <a:pt x="1853184" y="195072"/>
                  </a:lnTo>
                  <a:lnTo>
                    <a:pt x="1853184" y="369570"/>
                  </a:lnTo>
                  <a:lnTo>
                    <a:pt x="2435352" y="369570"/>
                  </a:lnTo>
                  <a:lnTo>
                    <a:pt x="2435352" y="195072"/>
                  </a:lnTo>
                  <a:close/>
                </a:path>
                <a:path w="9850120" h="369569">
                  <a:moveTo>
                    <a:pt x="4288536" y="97536"/>
                  </a:moveTo>
                  <a:lnTo>
                    <a:pt x="3707892" y="97536"/>
                  </a:lnTo>
                  <a:lnTo>
                    <a:pt x="3707892" y="369570"/>
                  </a:lnTo>
                  <a:lnTo>
                    <a:pt x="4288536" y="369570"/>
                  </a:lnTo>
                  <a:lnTo>
                    <a:pt x="4288536" y="97536"/>
                  </a:lnTo>
                  <a:close/>
                </a:path>
                <a:path w="9850120" h="369569">
                  <a:moveTo>
                    <a:pt x="6141720" y="97536"/>
                  </a:moveTo>
                  <a:lnTo>
                    <a:pt x="5561076" y="97536"/>
                  </a:lnTo>
                  <a:lnTo>
                    <a:pt x="5561076" y="369570"/>
                  </a:lnTo>
                  <a:lnTo>
                    <a:pt x="6141720" y="369570"/>
                  </a:lnTo>
                  <a:lnTo>
                    <a:pt x="6141720" y="97536"/>
                  </a:lnTo>
                  <a:close/>
                </a:path>
                <a:path w="9850120" h="369569">
                  <a:moveTo>
                    <a:pt x="7996428" y="0"/>
                  </a:moveTo>
                  <a:lnTo>
                    <a:pt x="7415784" y="0"/>
                  </a:lnTo>
                  <a:lnTo>
                    <a:pt x="7415784" y="369570"/>
                  </a:lnTo>
                  <a:lnTo>
                    <a:pt x="7996428" y="369570"/>
                  </a:lnTo>
                  <a:lnTo>
                    <a:pt x="7996428" y="0"/>
                  </a:lnTo>
                  <a:close/>
                </a:path>
                <a:path w="9850120" h="369569">
                  <a:moveTo>
                    <a:pt x="9849612" y="0"/>
                  </a:moveTo>
                  <a:lnTo>
                    <a:pt x="9268968" y="0"/>
                  </a:lnTo>
                  <a:lnTo>
                    <a:pt x="9268968" y="369570"/>
                  </a:lnTo>
                  <a:lnTo>
                    <a:pt x="9849612" y="369570"/>
                  </a:lnTo>
                  <a:lnTo>
                    <a:pt x="9849612" y="0"/>
                  </a:lnTo>
                  <a:close/>
                </a:path>
              </a:pathLst>
            </a:custGeom>
            <a:solidFill>
              <a:srgbClr val="F5F5F5"/>
            </a:solidFill>
            <a:ln w="9525">
              <a:solidFill>
                <a:srgbClr val="DEDEDE"/>
              </a:solidFill>
            </a:ln>
            <a:effectLst/>
          </p:spPr>
          <p:txBody>
            <a:bodyPr wrap="square" lIns="0" tIns="0" rIns="0" bIns="0" rtlCol="0"/>
            <a:lstStyle/>
            <a:p>
              <a:endParaRPr/>
            </a:p>
          </p:txBody>
        </p:sp>
        <p:sp>
          <p:nvSpPr>
            <p:cNvPr id="50" name="object 5">
              <a:extLst>
                <a:ext uri="{FF2B5EF4-FFF2-40B4-BE49-F238E27FC236}">
                  <a16:creationId xmlns:a16="http://schemas.microsoft.com/office/drawing/2014/main" id="{826CF88D-1BEA-379F-E6CF-1DCE5F8A1B8B}"/>
                </a:ext>
              </a:extLst>
            </p:cNvPr>
            <p:cNvSpPr/>
            <p:nvPr/>
          </p:nvSpPr>
          <p:spPr>
            <a:xfrm>
              <a:off x="922489" y="2407158"/>
              <a:ext cx="11123295" cy="0"/>
            </a:xfrm>
            <a:custGeom>
              <a:avLst/>
              <a:gdLst/>
              <a:ahLst/>
              <a:cxnLst/>
              <a:rect l="l" t="t" r="r" b="b"/>
              <a:pathLst>
                <a:path w="11123295">
                  <a:moveTo>
                    <a:pt x="0" y="0"/>
                  </a:moveTo>
                  <a:lnTo>
                    <a:pt x="11122825" y="0"/>
                  </a:lnTo>
                </a:path>
              </a:pathLst>
            </a:custGeom>
            <a:ln w="9525">
              <a:solidFill>
                <a:srgbClr val="D9D9D9"/>
              </a:solidFill>
            </a:ln>
          </p:spPr>
          <p:txBody>
            <a:bodyPr wrap="square" lIns="0" tIns="0" rIns="0" bIns="0" rtlCol="0"/>
            <a:lstStyle/>
            <a:p>
              <a:endParaRPr/>
            </a:p>
          </p:txBody>
        </p:sp>
        <p:sp>
          <p:nvSpPr>
            <p:cNvPr id="51" name="object 6">
              <a:extLst>
                <a:ext uri="{FF2B5EF4-FFF2-40B4-BE49-F238E27FC236}">
                  <a16:creationId xmlns:a16="http://schemas.microsoft.com/office/drawing/2014/main" id="{CB9AC1E5-3CFB-9421-CAF3-FEFEB54FBC1E}"/>
                </a:ext>
              </a:extLst>
            </p:cNvPr>
            <p:cNvSpPr/>
            <p:nvPr/>
          </p:nvSpPr>
          <p:spPr>
            <a:xfrm>
              <a:off x="1925827" y="1801114"/>
              <a:ext cx="9116695" cy="414655"/>
            </a:xfrm>
            <a:custGeom>
              <a:avLst/>
              <a:gdLst/>
              <a:ahLst/>
              <a:cxnLst/>
              <a:rect l="l" t="t" r="r" b="b"/>
              <a:pathLst>
                <a:path w="9116695" h="414655">
                  <a:moveTo>
                    <a:pt x="0" y="193928"/>
                  </a:moveTo>
                  <a:lnTo>
                    <a:pt x="1759458" y="193928"/>
                  </a:lnTo>
                </a:path>
                <a:path w="9116695" h="414655">
                  <a:moveTo>
                    <a:pt x="0" y="193928"/>
                  </a:moveTo>
                  <a:lnTo>
                    <a:pt x="0" y="400558"/>
                  </a:lnTo>
                </a:path>
                <a:path w="9116695" h="414655">
                  <a:moveTo>
                    <a:pt x="1759458" y="207772"/>
                  </a:moveTo>
                  <a:lnTo>
                    <a:pt x="1759458" y="414400"/>
                  </a:lnTo>
                </a:path>
                <a:path w="9116695" h="414655">
                  <a:moveTo>
                    <a:pt x="3678301" y="110871"/>
                  </a:moveTo>
                  <a:lnTo>
                    <a:pt x="5437886" y="110871"/>
                  </a:lnTo>
                </a:path>
                <a:path w="9116695" h="414655">
                  <a:moveTo>
                    <a:pt x="3678301" y="110871"/>
                  </a:moveTo>
                  <a:lnTo>
                    <a:pt x="3678301" y="317500"/>
                  </a:lnTo>
                </a:path>
                <a:path w="9116695" h="414655">
                  <a:moveTo>
                    <a:pt x="5437886" y="124713"/>
                  </a:moveTo>
                  <a:lnTo>
                    <a:pt x="5437886" y="331343"/>
                  </a:lnTo>
                </a:path>
                <a:path w="9116695" h="414655">
                  <a:moveTo>
                    <a:pt x="7356729" y="0"/>
                  </a:moveTo>
                  <a:lnTo>
                    <a:pt x="9116187" y="0"/>
                  </a:lnTo>
                </a:path>
                <a:path w="9116695" h="414655">
                  <a:moveTo>
                    <a:pt x="7356729" y="0"/>
                  </a:moveTo>
                  <a:lnTo>
                    <a:pt x="7356729" y="206628"/>
                  </a:lnTo>
                </a:path>
                <a:path w="9116695" h="414655">
                  <a:moveTo>
                    <a:pt x="9116187" y="13843"/>
                  </a:moveTo>
                  <a:lnTo>
                    <a:pt x="9116187" y="220472"/>
                  </a:lnTo>
                </a:path>
              </a:pathLst>
            </a:custGeom>
            <a:ln w="19050">
              <a:solidFill>
                <a:srgbClr val="000000"/>
              </a:solidFill>
              <a:prstDash val="sysDash"/>
            </a:ln>
          </p:spPr>
          <p:txBody>
            <a:bodyPr wrap="square" lIns="0" tIns="0" rIns="0" bIns="0" rtlCol="0"/>
            <a:lstStyle/>
            <a:p>
              <a:endParaRPr/>
            </a:p>
          </p:txBody>
        </p:sp>
      </p:grpSp>
      <p:sp>
        <p:nvSpPr>
          <p:cNvPr id="52" name="object 7">
            <a:extLst>
              <a:ext uri="{FF2B5EF4-FFF2-40B4-BE49-F238E27FC236}">
                <a16:creationId xmlns:a16="http://schemas.microsoft.com/office/drawing/2014/main" id="{7BFC0AAC-FA7E-18EF-CF12-3B203CE95949}"/>
              </a:ext>
            </a:extLst>
          </p:cNvPr>
          <p:cNvSpPr txBox="1"/>
          <p:nvPr/>
        </p:nvSpPr>
        <p:spPr>
          <a:xfrm>
            <a:off x="1675002" y="2565145"/>
            <a:ext cx="351155" cy="208279"/>
          </a:xfrm>
          <a:prstGeom prst="rect">
            <a:avLst/>
          </a:prstGeom>
        </p:spPr>
        <p:txBody>
          <a:bodyPr vert="horz" wrap="square" lIns="0" tIns="12700" rIns="0" bIns="0" rtlCol="0">
            <a:normAutofit fontScale="92500"/>
          </a:bodyPr>
          <a:lstStyle/>
          <a:p>
            <a:pPr marL="12700">
              <a:lnSpc>
                <a:spcPct val="100000"/>
              </a:lnSpc>
              <a:spcBef>
                <a:spcPts val="100"/>
              </a:spcBef>
            </a:pPr>
            <a:r>
              <a:rPr sz="1100" dirty="0">
                <a:solidFill/>
                <a:latin typeface="Raleway"/>
                <a:cs typeface="Calibri Light"/>
              </a:rPr>
              <a:t>FY</a:t>
            </a:r>
            <a:r>
              <a:rPr sz="1100" spc="-35" dirty="0">
                <a:solidFill/>
                <a:latin typeface="Raleway"/>
                <a:cs typeface="Calibri Light"/>
              </a:rPr>
              <a:t> </a:t>
            </a:r>
            <a:r>
              <a:rPr sz="1100" spc="-25" dirty="0">
                <a:solidFill/>
                <a:latin typeface="Raleway"/>
                <a:cs typeface="Calibri Light"/>
              </a:rPr>
              <a:t>00</a:t>
            </a:r>
            <a:endParaRPr sz="1200" dirty="0">
              <a:latin typeface="Calibri Light"/>
              <a:cs typeface="Calibri Light"/>
            </a:endParaRPr>
          </a:p>
        </p:txBody>
      </p:sp>
      <p:sp>
        <p:nvSpPr>
          <p:cNvPr id="53" name="object 8">
            <a:extLst>
              <a:ext uri="{FF2B5EF4-FFF2-40B4-BE49-F238E27FC236}">
                <a16:creationId xmlns:a16="http://schemas.microsoft.com/office/drawing/2014/main" id="{4DC93A9F-D539-DF5A-B882-727C26D5D297}"/>
              </a:ext>
            </a:extLst>
          </p:cNvPr>
          <p:cNvSpPr txBox="1"/>
          <p:nvPr/>
        </p:nvSpPr>
        <p:spPr>
          <a:xfrm>
            <a:off x="3529076" y="2565145"/>
            <a:ext cx="351155" cy="208279"/>
          </a:xfrm>
          <a:prstGeom prst="rect">
            <a:avLst/>
          </a:prstGeom>
        </p:spPr>
        <p:txBody>
          <a:bodyPr vert="horz" wrap="square" lIns="0" tIns="12700" rIns="0" bIns="0" rtlCol="0">
            <a:normAutofit fontScale="92500"/>
          </a:bodyPr>
          <a:lstStyle/>
          <a:p>
            <a:pPr marL="12700">
              <a:lnSpc>
                <a:spcPct val="100000"/>
              </a:lnSpc>
              <a:spcBef>
                <a:spcPts val="100"/>
              </a:spcBef>
            </a:pPr>
            <a:r>
              <a:rPr sz="1100" dirty="0">
                <a:solidFill/>
                <a:latin typeface="Raleway"/>
                <a:cs typeface="Calibri Light"/>
              </a:rPr>
              <a:t>FY</a:t>
            </a:r>
            <a:r>
              <a:rPr sz="1100" spc="-35" dirty="0">
                <a:solidFill/>
                <a:latin typeface="Raleway"/>
                <a:cs typeface="Calibri Light"/>
              </a:rPr>
              <a:t> </a:t>
            </a:r>
            <a:r>
              <a:rPr sz="1100" spc="-25" dirty="0">
                <a:solidFill/>
                <a:latin typeface="Raleway"/>
                <a:cs typeface="Calibri Light"/>
              </a:rPr>
              <a:t>10</a:t>
            </a:r>
            <a:endParaRPr sz="1200">
              <a:latin typeface="Calibri Light"/>
              <a:cs typeface="Calibri Light"/>
            </a:endParaRPr>
          </a:p>
        </p:txBody>
      </p:sp>
      <p:sp>
        <p:nvSpPr>
          <p:cNvPr id="54" name="object 9">
            <a:extLst>
              <a:ext uri="{FF2B5EF4-FFF2-40B4-BE49-F238E27FC236}">
                <a16:creationId xmlns:a16="http://schemas.microsoft.com/office/drawing/2014/main" id="{7FE25D6C-E8A2-2A51-CEFD-501CFF739CB0}"/>
              </a:ext>
            </a:extLst>
          </p:cNvPr>
          <p:cNvSpPr txBox="1"/>
          <p:nvPr/>
        </p:nvSpPr>
        <p:spPr>
          <a:xfrm>
            <a:off x="5383148" y="2565145"/>
            <a:ext cx="351155" cy="208279"/>
          </a:xfrm>
          <a:prstGeom prst="rect">
            <a:avLst/>
          </a:prstGeom>
        </p:spPr>
        <p:txBody>
          <a:bodyPr vert="horz" wrap="square" lIns="0" tIns="12700" rIns="0" bIns="0" rtlCol="0">
            <a:normAutofit/>
          </a:bodyPr>
          <a:lstStyle/>
          <a:p>
            <a:pPr marL="12700">
              <a:lnSpc>
                <a:spcPct val="100000"/>
              </a:lnSpc>
              <a:spcBef>
                <a:spcPts val="100"/>
              </a:spcBef>
            </a:pPr>
            <a:r>
              <a:rPr sz="1100" dirty="0">
                <a:solidFill/>
                <a:latin typeface="Raleway"/>
                <a:cs typeface="Calibri Light"/>
              </a:rPr>
              <a:t>FY</a:t>
            </a:r>
            <a:r>
              <a:rPr sz="1100" spc="-35" dirty="0">
                <a:solidFill/>
                <a:latin typeface="Raleway"/>
                <a:cs typeface="Calibri Light"/>
              </a:rPr>
              <a:t> </a:t>
            </a:r>
            <a:r>
              <a:rPr sz="1100" spc="-25" dirty="0">
                <a:solidFill/>
                <a:latin typeface="Raleway"/>
                <a:cs typeface="Calibri Light"/>
              </a:rPr>
              <a:t>11</a:t>
            </a:r>
            <a:endParaRPr sz="1200">
              <a:latin typeface="Calibri Light"/>
              <a:cs typeface="Calibri Light"/>
            </a:endParaRPr>
          </a:p>
        </p:txBody>
      </p:sp>
      <p:sp>
        <p:nvSpPr>
          <p:cNvPr id="55" name="object 10">
            <a:extLst>
              <a:ext uri="{FF2B5EF4-FFF2-40B4-BE49-F238E27FC236}">
                <a16:creationId xmlns:a16="http://schemas.microsoft.com/office/drawing/2014/main" id="{FE6AD7F2-CD18-5E5D-8F60-6739CDD111BE}"/>
              </a:ext>
            </a:extLst>
          </p:cNvPr>
          <p:cNvSpPr txBox="1"/>
          <p:nvPr/>
        </p:nvSpPr>
        <p:spPr>
          <a:xfrm>
            <a:off x="7237221" y="2565145"/>
            <a:ext cx="351155" cy="208279"/>
          </a:xfrm>
          <a:prstGeom prst="rect">
            <a:avLst/>
          </a:prstGeom>
        </p:spPr>
        <p:txBody>
          <a:bodyPr vert="horz" wrap="square" lIns="0" tIns="12700" rIns="0" bIns="0" rtlCol="0">
            <a:normAutofit fontScale="92500"/>
          </a:bodyPr>
          <a:lstStyle/>
          <a:p>
            <a:pPr marL="12700">
              <a:lnSpc>
                <a:spcPct val="100000"/>
              </a:lnSpc>
              <a:spcBef>
                <a:spcPts val="100"/>
              </a:spcBef>
            </a:pPr>
            <a:r>
              <a:rPr sz="1100" dirty="0">
                <a:solidFill/>
                <a:latin typeface="Raleway"/>
                <a:cs typeface="Calibri Light"/>
              </a:rPr>
              <a:t>FY</a:t>
            </a:r>
            <a:r>
              <a:rPr sz="1100" spc="-35" dirty="0">
                <a:solidFill/>
                <a:latin typeface="Raleway"/>
                <a:cs typeface="Calibri Light"/>
              </a:rPr>
              <a:t> </a:t>
            </a:r>
            <a:r>
              <a:rPr sz="1100" spc="-25" dirty="0">
                <a:solidFill/>
                <a:latin typeface="Raleway"/>
                <a:cs typeface="Calibri Light"/>
              </a:rPr>
              <a:t>20</a:t>
            </a:r>
            <a:endParaRPr sz="1200">
              <a:latin typeface="Calibri Light"/>
              <a:cs typeface="Calibri Light"/>
            </a:endParaRPr>
          </a:p>
        </p:txBody>
      </p:sp>
      <p:sp>
        <p:nvSpPr>
          <p:cNvPr id="56" name="object 11">
            <a:extLst>
              <a:ext uri="{FF2B5EF4-FFF2-40B4-BE49-F238E27FC236}">
                <a16:creationId xmlns:a16="http://schemas.microsoft.com/office/drawing/2014/main" id="{6B51BAF6-313B-130B-8E87-8CFBA4BE22E6}"/>
              </a:ext>
            </a:extLst>
          </p:cNvPr>
          <p:cNvSpPr txBox="1"/>
          <p:nvPr/>
        </p:nvSpPr>
        <p:spPr>
          <a:xfrm>
            <a:off x="9091421" y="2565145"/>
            <a:ext cx="351155" cy="208279"/>
          </a:xfrm>
          <a:prstGeom prst="rect">
            <a:avLst/>
          </a:prstGeom>
        </p:spPr>
        <p:txBody>
          <a:bodyPr vert="horz" wrap="square" lIns="0" tIns="12700" rIns="0" bIns="0" rtlCol="0">
            <a:normAutofit/>
          </a:bodyPr>
          <a:lstStyle/>
          <a:p>
            <a:pPr marL="12700">
              <a:lnSpc>
                <a:spcPct val="100000"/>
              </a:lnSpc>
              <a:spcBef>
                <a:spcPts val="100"/>
              </a:spcBef>
            </a:pPr>
            <a:r>
              <a:rPr sz="1100" dirty="0">
                <a:solidFill/>
                <a:latin typeface="Raleway"/>
                <a:cs typeface="Calibri Light"/>
              </a:rPr>
              <a:t>FY</a:t>
            </a:r>
            <a:r>
              <a:rPr sz="1100" spc="-35" dirty="0">
                <a:solidFill/>
                <a:latin typeface="Raleway"/>
                <a:cs typeface="Calibri Light"/>
              </a:rPr>
              <a:t> </a:t>
            </a:r>
            <a:r>
              <a:rPr sz="1100" spc="-25" dirty="0">
                <a:solidFill/>
                <a:latin typeface="Raleway"/>
                <a:cs typeface="Calibri Light"/>
              </a:rPr>
              <a:t>21</a:t>
            </a:r>
            <a:endParaRPr sz="1200">
              <a:latin typeface="Calibri Light"/>
              <a:cs typeface="Calibri Light"/>
            </a:endParaRPr>
          </a:p>
        </p:txBody>
      </p:sp>
      <p:sp>
        <p:nvSpPr>
          <p:cNvPr id="57" name="object 12">
            <a:extLst>
              <a:ext uri="{FF2B5EF4-FFF2-40B4-BE49-F238E27FC236}">
                <a16:creationId xmlns:a16="http://schemas.microsoft.com/office/drawing/2014/main" id="{A91D0E14-F188-0F75-38F5-346F11E390ED}"/>
              </a:ext>
            </a:extLst>
          </p:cNvPr>
          <p:cNvSpPr txBox="1"/>
          <p:nvPr/>
        </p:nvSpPr>
        <p:spPr>
          <a:xfrm>
            <a:off x="10945114" y="2565145"/>
            <a:ext cx="351155" cy="208279"/>
          </a:xfrm>
          <a:prstGeom prst="rect">
            <a:avLst/>
          </a:prstGeom>
        </p:spPr>
        <p:txBody>
          <a:bodyPr vert="horz" wrap="square" lIns="0" tIns="12700" rIns="0" bIns="0" rtlCol="0">
            <a:normAutofit fontScale="92500"/>
          </a:bodyPr>
          <a:lstStyle/>
          <a:p>
            <a:pPr marL="12700">
              <a:lnSpc>
                <a:spcPct val="100000"/>
              </a:lnSpc>
              <a:spcBef>
                <a:spcPts val="100"/>
              </a:spcBef>
            </a:pPr>
            <a:r>
              <a:rPr sz="1100" dirty="0">
                <a:solidFill/>
                <a:latin typeface="Raleway"/>
                <a:cs typeface="Calibri Light"/>
              </a:rPr>
              <a:t>FY</a:t>
            </a:r>
            <a:r>
              <a:rPr sz="1100" spc="-35" dirty="0">
                <a:solidFill/>
                <a:latin typeface="Raleway"/>
                <a:cs typeface="Calibri Light"/>
              </a:rPr>
              <a:t> </a:t>
            </a:r>
            <a:r>
              <a:rPr sz="1100" spc="-25" dirty="0">
                <a:solidFill/>
                <a:latin typeface="Raleway"/>
                <a:cs typeface="Calibri Light"/>
              </a:rPr>
              <a:t>25</a:t>
            </a:r>
            <a:endParaRPr sz="1200">
              <a:latin typeface="Calibri Light"/>
              <a:cs typeface="Calibri Light"/>
            </a:endParaRPr>
          </a:p>
        </p:txBody>
      </p:sp>
      <p:sp>
        <p:nvSpPr>
          <p:cNvPr id="60" name="object 15">
            <a:extLst>
              <a:ext uri="{FF2B5EF4-FFF2-40B4-BE49-F238E27FC236}">
                <a16:creationId xmlns:a16="http://schemas.microsoft.com/office/drawing/2014/main" id="{9A871734-9663-0644-DC7E-A487C55FC95D}"/>
              </a:ext>
            </a:extLst>
          </p:cNvPr>
          <p:cNvSpPr txBox="1"/>
          <p:nvPr/>
        </p:nvSpPr>
        <p:spPr>
          <a:xfrm>
            <a:off x="1454785" y="1287781"/>
            <a:ext cx="2701925" cy="556260"/>
          </a:xfrm>
          <a:prstGeom prst="rect">
            <a:avLst/>
          </a:prstGeom>
          <a:solidFill>
            <a:srgbClr val="2A9D8F"/>
          </a:solidFill>
          <a:ln>
            <a:noFill/>
          </a:ln>
        </p:spPr>
        <p:txBody>
          <a:bodyPr vert="horz" wrap="square" lIns="0" tIns="52705" rIns="0" bIns="0" rtlCol="0">
            <a:noAutofit/>
          </a:bodyPr>
          <a:lstStyle/>
          <a:p>
            <a:pPr marL="955675" marR="419734" indent="-528955">
              <a:lnSpc>
                <a:spcPct val="100000"/>
              </a:lnSpc>
              <a:spcBef>
                <a:spcPts val="415"/>
              </a:spcBef>
            </a:pPr>
            <a:endParaRPr sz="1100" dirty="0">
              <a:latin typeface="Calibri Light"/>
              <a:cs typeface="Calibri Light"/>
            </a:endParaRPr>
          </a:p>
        </p:txBody>
      </p:sp>
      <p:sp>
        <p:nvSpPr>
          <p:cNvPr id="61" name="object 16">
            <a:extLst>
              <a:ext uri="{FF2B5EF4-FFF2-40B4-BE49-F238E27FC236}">
                <a16:creationId xmlns:a16="http://schemas.microsoft.com/office/drawing/2014/main" id="{7B676D11-DDBD-2C42-F60C-EB7113217E5A}"/>
              </a:ext>
            </a:extLst>
          </p:cNvPr>
          <p:cNvSpPr txBox="1"/>
          <p:nvPr/>
        </p:nvSpPr>
        <p:spPr>
          <a:xfrm>
            <a:off x="8811514" y="1287781"/>
            <a:ext cx="2701925" cy="556260"/>
          </a:xfrm>
          <a:prstGeom prst="rect">
            <a:avLst/>
          </a:prstGeom>
          <a:solidFill>
            <a:srgbClr val="2A9D8F"/>
          </a:solidFill>
          <a:ln>
            <a:noFill/>
          </a:ln>
        </p:spPr>
        <p:txBody>
          <a:bodyPr vert="horz" wrap="square" lIns="0" tIns="52705" rIns="0" bIns="0" rtlCol="0">
            <a:normAutofit/>
          </a:bodyPr>
          <a:lstStyle/>
          <a:p>
            <a:pPr marL="861060" marR="200660" indent="-651510">
              <a:lnSpc>
                <a:spcPct val="100000"/>
              </a:lnSpc>
              <a:spcBef>
                <a:spcPts val="415"/>
              </a:spcBef>
            </a:pPr>
            <a:r>
              <a:rPr sz="1500" dirty="0">
                <a:solidFill>
                  <a:srgbClr val="2A9D8F"/>
                </a:solidFill>
                <a:latin typeface="Roboto Condensed"/>
                <a:cs typeface="Calibri Light"/>
              </a:rPr>
              <a:t>700+</a:t>
            </a:r>
            <a:r>
              <a:rPr sz="1500" spc="-10" dirty="0">
                <a:solidFill>
                  <a:srgbClr val="2A9D8F"/>
                </a:solidFill>
                <a:latin typeface="Roboto Condensed"/>
                <a:cs typeface="Calibri Light"/>
              </a:rPr>
              <a:t> Professionals</a:t>
            </a:r>
            <a:r>
              <a:rPr sz="1500" spc="-55" dirty="0">
                <a:solidFill>
                  <a:srgbClr val="2A9D8F"/>
                </a:solidFill>
                <a:latin typeface="Roboto Condensed"/>
                <a:cs typeface="Calibri Light"/>
              </a:rPr>
              <a:t> </a:t>
            </a:r>
            <a:r>
              <a:rPr sz="1500" dirty="0">
                <a:solidFill>
                  <a:srgbClr val="2A9D8F"/>
                </a:solidFill>
                <a:latin typeface="Roboto Condensed"/>
                <a:cs typeface="Calibri Light"/>
              </a:rPr>
              <a:t>Across</a:t>
            </a:r>
            <a:r>
              <a:rPr sz="1500" spc="-20" dirty="0">
                <a:solidFill>
                  <a:srgbClr val="2A9D8F"/>
                </a:solidFill>
                <a:latin typeface="Roboto Condensed"/>
                <a:cs typeface="Calibri Light"/>
              </a:rPr>
              <a:t> </a:t>
            </a:r>
            <a:r>
              <a:rPr sz="1500" spc="-10" dirty="0">
                <a:solidFill>
                  <a:srgbClr val="2A9D8F"/>
                </a:solidFill>
                <a:latin typeface="Roboto Condensed"/>
                <a:cs typeface="Calibri Light"/>
              </a:rPr>
              <a:t>Multi-</a:t>
            </a:r>
            <a:r>
              <a:rPr sz="1500" dirty="0">
                <a:solidFill>
                  <a:srgbClr val="2A9D8F"/>
                </a:solidFill>
                <a:latin typeface="Roboto Condensed"/>
                <a:cs typeface="Calibri Light"/>
              </a:rPr>
              <a:t>City</a:t>
            </a:r>
            <a:r>
              <a:rPr sz="1500" spc="-30" dirty="0">
                <a:solidFill>
                  <a:srgbClr val="2A9D8F"/>
                </a:solidFill>
                <a:latin typeface="Roboto Condensed"/>
                <a:cs typeface="Calibri Light"/>
              </a:rPr>
              <a:t> </a:t>
            </a:r>
            <a:r>
              <a:rPr sz="1500" spc="-25" dirty="0">
                <a:solidFill>
                  <a:srgbClr val="2A9D8F"/>
                </a:solidFill>
                <a:latin typeface="Roboto Condensed"/>
                <a:cs typeface="Calibri Light"/>
              </a:rPr>
              <a:t>APAC</a:t>
            </a:r>
            <a:r>
              <a:rPr sz="1500" spc="-40" dirty="0">
                <a:solidFill>
                  <a:srgbClr val="2A9D8F"/>
                </a:solidFill>
                <a:latin typeface="Roboto Condensed"/>
                <a:cs typeface="Calibri Light"/>
              </a:rPr>
              <a:t> </a:t>
            </a:r>
            <a:r>
              <a:rPr sz="1500" spc="-25" dirty="0">
                <a:solidFill>
                  <a:srgbClr val="2A9D8F"/>
                </a:solidFill>
                <a:latin typeface="Roboto Condensed"/>
                <a:cs typeface="Calibri Light"/>
              </a:rPr>
              <a:t>Hub</a:t>
            </a:r>
            <a:endParaRPr sz="1400">
              <a:latin typeface="Calibri Light"/>
              <a:cs typeface="Calibri Light"/>
            </a:endParaRPr>
          </a:p>
        </p:txBody>
      </p:sp>
      <p:sp>
        <p:nvSpPr>
          <p:cNvPr id="62" name="object 17">
            <a:extLst>
              <a:ext uri="{FF2B5EF4-FFF2-40B4-BE49-F238E27FC236}">
                <a16:creationId xmlns:a16="http://schemas.microsoft.com/office/drawing/2014/main" id="{5FB5121A-594F-69BC-27C4-AA98E4B93F08}"/>
              </a:ext>
            </a:extLst>
          </p:cNvPr>
          <p:cNvSpPr txBox="1"/>
          <p:nvPr/>
        </p:nvSpPr>
        <p:spPr>
          <a:xfrm>
            <a:off x="5153914" y="1287781"/>
            <a:ext cx="2701925" cy="556260"/>
          </a:xfrm>
          <a:prstGeom prst="rect">
            <a:avLst/>
          </a:prstGeom>
          <a:solidFill>
            <a:srgbClr val="2A9D8F"/>
          </a:solidFill>
          <a:ln>
            <a:noFill/>
          </a:ln>
        </p:spPr>
        <p:txBody>
          <a:bodyPr vert="horz" wrap="square" lIns="0" tIns="159385" rIns="0" bIns="0" rtlCol="0">
            <a:normAutofit/>
          </a:bodyPr>
          <a:lstStyle/>
          <a:p>
            <a:pPr marL="619760">
              <a:lnSpc>
                <a:spcPct val="100000"/>
              </a:lnSpc>
              <a:spcBef>
                <a:spcPts val="1255"/>
              </a:spcBef>
            </a:pPr>
            <a:r>
              <a:rPr sz="1500" dirty="0">
                <a:solidFill>
                  <a:srgbClr val="2A9D8F"/>
                </a:solidFill>
                <a:latin typeface="Roboto Condensed"/>
                <a:cs typeface="Calibri Light"/>
              </a:rPr>
              <a:t>450+</a:t>
            </a:r>
            <a:r>
              <a:rPr sz="1500" spc="-45" dirty="0">
                <a:solidFill>
                  <a:srgbClr val="2A9D8F"/>
                </a:solidFill>
                <a:latin typeface="Roboto Condensed"/>
                <a:cs typeface="Calibri Light"/>
              </a:rPr>
              <a:t> </a:t>
            </a:r>
            <a:r>
              <a:rPr sz="1500" dirty="0">
                <a:solidFill>
                  <a:srgbClr val="2A9D8F"/>
                </a:solidFill>
                <a:latin typeface="Roboto Condensed"/>
                <a:cs typeface="Calibri Light"/>
              </a:rPr>
              <a:t>BFSI</a:t>
            </a:r>
            <a:r>
              <a:rPr sz="1500" spc="-45" dirty="0">
                <a:solidFill>
                  <a:srgbClr val="2A9D8F"/>
                </a:solidFill>
                <a:latin typeface="Roboto Condensed"/>
                <a:cs typeface="Calibri Light"/>
              </a:rPr>
              <a:t> </a:t>
            </a:r>
            <a:r>
              <a:rPr sz="1500" spc="-10" dirty="0">
                <a:solidFill>
                  <a:srgbClr val="2A9D8F"/>
                </a:solidFill>
                <a:latin typeface="Roboto Condensed"/>
                <a:cs typeface="Calibri Light"/>
              </a:rPr>
              <a:t>Specialists</a:t>
            </a:r>
            <a:endParaRPr sz="1400">
              <a:latin typeface="Calibri Light"/>
              <a:cs typeface="Calibri Light"/>
            </a:endParaRPr>
          </a:p>
        </p:txBody>
      </p:sp>
      <p:sp>
        <p:nvSpPr>
          <p:cNvPr id="78" name="Text 8">
            <a:extLst>
              <a:ext uri="{FF2B5EF4-FFF2-40B4-BE49-F238E27FC236}">
                <a16:creationId xmlns:a16="http://schemas.microsoft.com/office/drawing/2014/main" id="{96494465-D0A6-D8B9-7672-654B33705E88}"/>
              </a:ext>
            </a:extLst>
          </p:cNvPr>
          <p:cNvSpPr/>
          <p:nvPr/>
        </p:nvSpPr>
        <p:spPr>
          <a:xfrm>
            <a:off x="11140135" y="6547104"/>
            <a:ext cx="548640" cy="201168"/>
          </a:xfrm>
          <a:prstGeom prst="rect">
            <a:avLst/>
          </a:prstGeom>
          <a:noFill/>
          <a:ln/>
        </p:spPr>
        <p:txBody>
          <a:bodyPr wrap="square" lIns="0" tIns="0" rIns="0" bIns="0" rtlCol="0" anchor="ctr"/>
          <a:lstStyle/>
          <a:p>
            <a:pPr marL="0" indent="0" algn="r">
              <a:buNone/>
            </a:pPr>
            <a:r>
              <a:rPr lang="en-US" sz="800" dirty="0">
                <a:solidFill>
                  <a:srgbClr val="A1A1AA"/>
                </a:solidFill>
                <a:latin typeface="Roboto Condensed" pitchFamily="34" charset="0"/>
                <a:ea typeface="Roboto Condensed" pitchFamily="34" charset="-122"/>
                <a:cs typeface="Roboto Condensed" pitchFamily="34" charset="-120"/>
              </a:rPr>
              <a:t>8</a:t>
            </a:r>
            <a:endParaRPr lang="en-US" sz="800" dirty="0"/>
          </a:p>
        </p:txBody>
      </p:sp>
      <p:sp>
        <p:nvSpPr>
          <p:cNvPr id="85" name="object 17">
            <a:extLst>
              <a:ext uri="{FF2B5EF4-FFF2-40B4-BE49-F238E27FC236}">
                <a16:creationId xmlns:a16="http://schemas.microsoft.com/office/drawing/2014/main" id="{A04447C4-2D4A-4CAA-89B3-0D3F8AF488D0}"/>
              </a:ext>
            </a:extLst>
          </p:cNvPr>
          <p:cNvSpPr/>
          <p:nvPr/>
        </p:nvSpPr>
        <p:spPr>
          <a:xfrm>
            <a:off x="1246911" y="2783077"/>
            <a:ext cx="2340610" cy="114300"/>
          </a:xfrm>
          <a:custGeom>
            <a:avLst/>
            <a:gdLst/>
            <a:ahLst/>
            <a:cxnLst/>
            <a:rect l="l" t="t" r="r" b="b"/>
            <a:pathLst>
              <a:path w="2340610" h="114300">
                <a:moveTo>
                  <a:pt x="114274" y="0"/>
                </a:moveTo>
                <a:lnTo>
                  <a:pt x="0" y="57150"/>
                </a:lnTo>
                <a:lnTo>
                  <a:pt x="114274" y="114300"/>
                </a:lnTo>
                <a:lnTo>
                  <a:pt x="114274" y="76200"/>
                </a:lnTo>
                <a:lnTo>
                  <a:pt x="95224" y="76200"/>
                </a:lnTo>
                <a:lnTo>
                  <a:pt x="95224" y="38100"/>
                </a:lnTo>
                <a:lnTo>
                  <a:pt x="114274" y="38100"/>
                </a:lnTo>
                <a:lnTo>
                  <a:pt x="114274" y="0"/>
                </a:lnTo>
                <a:close/>
              </a:path>
              <a:path w="2340610" h="114300">
                <a:moveTo>
                  <a:pt x="2225903" y="0"/>
                </a:moveTo>
                <a:lnTo>
                  <a:pt x="2225903" y="114300"/>
                </a:lnTo>
                <a:lnTo>
                  <a:pt x="2302103" y="76200"/>
                </a:lnTo>
                <a:lnTo>
                  <a:pt x="2244953" y="76200"/>
                </a:lnTo>
                <a:lnTo>
                  <a:pt x="2244953" y="38100"/>
                </a:lnTo>
                <a:lnTo>
                  <a:pt x="2302103" y="38100"/>
                </a:lnTo>
                <a:lnTo>
                  <a:pt x="2225903" y="0"/>
                </a:lnTo>
                <a:close/>
              </a:path>
              <a:path w="2340610" h="114300">
                <a:moveTo>
                  <a:pt x="114274" y="38100"/>
                </a:moveTo>
                <a:lnTo>
                  <a:pt x="95224" y="38100"/>
                </a:lnTo>
                <a:lnTo>
                  <a:pt x="95224" y="76200"/>
                </a:lnTo>
                <a:lnTo>
                  <a:pt x="114274" y="76200"/>
                </a:lnTo>
                <a:lnTo>
                  <a:pt x="114274" y="38100"/>
                </a:lnTo>
                <a:close/>
              </a:path>
              <a:path w="2340610" h="114300">
                <a:moveTo>
                  <a:pt x="2225903" y="38100"/>
                </a:moveTo>
                <a:lnTo>
                  <a:pt x="114274" y="38100"/>
                </a:lnTo>
                <a:lnTo>
                  <a:pt x="114274" y="76200"/>
                </a:lnTo>
                <a:lnTo>
                  <a:pt x="2225903" y="76200"/>
                </a:lnTo>
                <a:lnTo>
                  <a:pt x="2225903" y="38100"/>
                </a:lnTo>
                <a:close/>
              </a:path>
              <a:path w="2340610" h="114300">
                <a:moveTo>
                  <a:pt x="2302103" y="38100"/>
                </a:moveTo>
                <a:lnTo>
                  <a:pt x="2244953" y="38100"/>
                </a:lnTo>
                <a:lnTo>
                  <a:pt x="2244953" y="76200"/>
                </a:lnTo>
                <a:lnTo>
                  <a:pt x="2302103" y="76200"/>
                </a:lnTo>
                <a:lnTo>
                  <a:pt x="2340203" y="57150"/>
                </a:lnTo>
                <a:lnTo>
                  <a:pt x="2302103" y="38100"/>
                </a:lnTo>
                <a:close/>
              </a:path>
            </a:pathLst>
          </a:custGeom>
          <a:solidFill>
            <a:srgbClr val="F5F5F5"/>
          </a:solidFill>
          <a:ln w="9525">
            <a:solidFill>
              <a:srgbClr val="DEDEDE"/>
            </a:solidFill>
          </a:ln>
          <a:effectLst/>
        </p:spPr>
        <p:txBody>
          <a:bodyPr wrap="square" lIns="0" tIns="0" rIns="0" bIns="0" rtlCol="0"/>
          <a:lstStyle/>
          <a:p>
            <a:endParaRPr/>
          </a:p>
        </p:txBody>
      </p:sp>
      <p:sp>
        <p:nvSpPr>
          <p:cNvPr id="86" name="object 18">
            <a:extLst>
              <a:ext uri="{FF2B5EF4-FFF2-40B4-BE49-F238E27FC236}">
                <a16:creationId xmlns:a16="http://schemas.microsoft.com/office/drawing/2014/main" id="{C3AF198F-65EB-C665-894C-9C9CC1B9AF9C}"/>
              </a:ext>
            </a:extLst>
          </p:cNvPr>
          <p:cNvSpPr/>
          <p:nvPr/>
        </p:nvSpPr>
        <p:spPr>
          <a:xfrm>
            <a:off x="3685286" y="2783077"/>
            <a:ext cx="7633970" cy="114300"/>
          </a:xfrm>
          <a:custGeom>
            <a:avLst/>
            <a:gdLst/>
            <a:ahLst/>
            <a:cxnLst/>
            <a:rect l="l" t="t" r="r" b="b"/>
            <a:pathLst>
              <a:path w="7633970" h="114300">
                <a:moveTo>
                  <a:pt x="3782314" y="57150"/>
                </a:moveTo>
                <a:lnTo>
                  <a:pt x="3744214" y="38100"/>
                </a:lnTo>
                <a:lnTo>
                  <a:pt x="3668014" y="0"/>
                </a:lnTo>
                <a:lnTo>
                  <a:pt x="3668014" y="38100"/>
                </a:lnTo>
                <a:lnTo>
                  <a:pt x="114300" y="38100"/>
                </a:lnTo>
                <a:lnTo>
                  <a:pt x="114300" y="0"/>
                </a:lnTo>
                <a:lnTo>
                  <a:pt x="0" y="57150"/>
                </a:lnTo>
                <a:lnTo>
                  <a:pt x="114300" y="114300"/>
                </a:lnTo>
                <a:lnTo>
                  <a:pt x="114300" y="76200"/>
                </a:lnTo>
                <a:lnTo>
                  <a:pt x="3668014" y="76200"/>
                </a:lnTo>
                <a:lnTo>
                  <a:pt x="3668014" y="114300"/>
                </a:lnTo>
                <a:lnTo>
                  <a:pt x="3744214" y="76200"/>
                </a:lnTo>
                <a:lnTo>
                  <a:pt x="3782314" y="57150"/>
                </a:lnTo>
                <a:close/>
              </a:path>
              <a:path w="7633970" h="114300">
                <a:moveTo>
                  <a:pt x="7633843" y="57150"/>
                </a:moveTo>
                <a:lnTo>
                  <a:pt x="7595743" y="38100"/>
                </a:lnTo>
                <a:lnTo>
                  <a:pt x="7519543" y="0"/>
                </a:lnTo>
                <a:lnTo>
                  <a:pt x="7519543" y="38100"/>
                </a:lnTo>
                <a:lnTo>
                  <a:pt x="3965829" y="38100"/>
                </a:lnTo>
                <a:lnTo>
                  <a:pt x="3965829" y="0"/>
                </a:lnTo>
                <a:lnTo>
                  <a:pt x="3851529" y="57150"/>
                </a:lnTo>
                <a:lnTo>
                  <a:pt x="3965829" y="114300"/>
                </a:lnTo>
                <a:lnTo>
                  <a:pt x="3965829" y="76200"/>
                </a:lnTo>
                <a:lnTo>
                  <a:pt x="7519543" y="76200"/>
                </a:lnTo>
                <a:lnTo>
                  <a:pt x="7519543" y="114300"/>
                </a:lnTo>
                <a:lnTo>
                  <a:pt x="7595743" y="76200"/>
                </a:lnTo>
                <a:lnTo>
                  <a:pt x="7633843" y="57150"/>
                </a:lnTo>
                <a:close/>
              </a:path>
            </a:pathLst>
          </a:custGeom>
          <a:solidFill>
            <a:srgbClr val="F5F5F5"/>
          </a:solidFill>
          <a:ln w="9525">
            <a:solidFill>
              <a:srgbClr val="DEDEDE"/>
            </a:solidFill>
          </a:ln>
          <a:effectLst/>
        </p:spPr>
        <p:txBody>
          <a:bodyPr wrap="square" lIns="0" tIns="0" rIns="0" bIns="0" rtlCol="0"/>
          <a:lstStyle/>
          <a:p>
            <a:endParaRPr/>
          </a:p>
        </p:txBody>
      </p:sp>
      <p:sp>
        <p:nvSpPr>
          <p:cNvPr id="87" name="object 19">
            <a:extLst>
              <a:ext uri="{FF2B5EF4-FFF2-40B4-BE49-F238E27FC236}">
                <a16:creationId xmlns:a16="http://schemas.microsoft.com/office/drawing/2014/main" id="{239EAC10-9CBC-BAB0-9AD0-5C93E1C09118}"/>
              </a:ext>
            </a:extLst>
          </p:cNvPr>
          <p:cNvSpPr txBox="1"/>
          <p:nvPr/>
        </p:nvSpPr>
        <p:spPr>
          <a:xfrm>
            <a:off x="1656537" y="2879661"/>
            <a:ext cx="2204720" cy="239395"/>
          </a:xfrm>
          <a:prstGeom prst="rect">
            <a:avLst/>
          </a:prstGeom>
        </p:spPr>
        <p:txBody>
          <a:bodyPr vert="horz" wrap="square" lIns="0" tIns="13335" rIns="0" bIns="0" rtlCol="0">
            <a:noAutofit/>
          </a:bodyPr>
          <a:lstStyle/>
          <a:p>
            <a:pPr marL="12700">
              <a:lnSpc>
                <a:spcPct val="100000"/>
              </a:lnSpc>
              <a:spcBef>
                <a:spcPts val="105"/>
              </a:spcBef>
            </a:pPr>
            <a:r>
              <a:rPr lang="en-GB" sz="1400"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Phase I (FY00–FY10) –</a:t>
            </a:r>
          </a:p>
          <a:p>
            <a:pPr marL="12700">
              <a:lnSpc>
                <a:spcPct val="100000"/>
              </a:lnSpc>
              <a:spcBef>
                <a:spcPts val="105"/>
              </a:spcBef>
            </a:pPr>
            <a:r>
              <a:rPr lang="en-GB" sz="1400" dirty="0">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Banking Operations</a:t>
            </a:r>
          </a:p>
        </p:txBody>
      </p:sp>
      <p:sp>
        <p:nvSpPr>
          <p:cNvPr id="89" name="object 21">
            <a:extLst>
              <a:ext uri="{FF2B5EF4-FFF2-40B4-BE49-F238E27FC236}">
                <a16:creationId xmlns:a16="http://schemas.microsoft.com/office/drawing/2014/main" id="{A8F482AC-88C1-9FB9-9F18-AEAD1A8EEC3C}"/>
              </a:ext>
            </a:extLst>
          </p:cNvPr>
          <p:cNvSpPr txBox="1"/>
          <p:nvPr/>
        </p:nvSpPr>
        <p:spPr>
          <a:xfrm>
            <a:off x="3889375" y="2885948"/>
            <a:ext cx="2610485" cy="483870"/>
          </a:xfrm>
          <a:prstGeom prst="rect">
            <a:avLst/>
          </a:prstGeom>
        </p:spPr>
        <p:txBody>
          <a:bodyPr vert="horz" wrap="square" lIns="0" tIns="12065" rIns="0" bIns="0" rtlCol="0">
            <a:normAutofit fontScale="97500"/>
          </a:bodyPr>
          <a:lstStyle/>
          <a:p>
            <a:pPr marL="12700">
              <a:lnSpc>
                <a:spcPct val="100000"/>
              </a:lnSpc>
              <a:spcBef>
                <a:spcPts val="95"/>
              </a:spcBef>
            </a:pPr>
            <a:r>
              <a:rPr lang="en-IN" sz="1400" spc="-10" dirty="0">
                <a:solidFill>
                  <a:srgbClr val="2A9D8F"/>
                </a:solidFill>
                <a:latin typeface="Roboto Condensed"/>
                <a:cs typeface="Calibri Light"/>
              </a:rPr>
              <a:t>Phase II (FY11–FY20) – Digital Banking Transformation</a:t>
            </a:r>
          </a:p>
        </p:txBody>
      </p:sp>
      <p:sp>
        <p:nvSpPr>
          <p:cNvPr id="90" name="object 22">
            <a:extLst>
              <a:ext uri="{FF2B5EF4-FFF2-40B4-BE49-F238E27FC236}">
                <a16:creationId xmlns:a16="http://schemas.microsoft.com/office/drawing/2014/main" id="{080CCF01-4557-C952-9FF2-3B4CE17C7C82}"/>
              </a:ext>
            </a:extLst>
          </p:cNvPr>
          <p:cNvSpPr txBox="1"/>
          <p:nvPr/>
        </p:nvSpPr>
        <p:spPr>
          <a:xfrm>
            <a:off x="7751826" y="2891408"/>
            <a:ext cx="3134360" cy="483234"/>
          </a:xfrm>
          <a:prstGeom prst="rect">
            <a:avLst/>
          </a:prstGeom>
        </p:spPr>
        <p:txBody>
          <a:bodyPr vert="horz" wrap="square" lIns="0" tIns="12065" rIns="0" bIns="0" rtlCol="0">
            <a:normAutofit fontScale="97577"/>
          </a:bodyPr>
          <a:lstStyle/>
          <a:p>
            <a:pPr marL="12700" marR="5080">
              <a:lnSpc>
                <a:spcPct val="100000"/>
              </a:lnSpc>
              <a:spcBef>
                <a:spcPts val="95"/>
              </a:spcBef>
            </a:pPr>
            <a:r>
              <a:rPr lang="en-GB" sz="1400" spc="-10" dirty="0">
                <a:solidFill>
                  <a:srgbClr val="2A9D8F"/>
                </a:solidFill>
                <a:latin typeface="Roboto Condensed"/>
                <a:cs typeface="Calibri Light"/>
              </a:rPr>
              <a:t>Phase III (FY21–FY25) – APAC Banking Excellence Hub</a:t>
            </a:r>
          </a:p>
        </p:txBody>
      </p:sp>
      <p:sp>
        <p:nvSpPr>
          <p:cNvPr id="91" name="object 23">
            <a:extLst>
              <a:ext uri="{FF2B5EF4-FFF2-40B4-BE49-F238E27FC236}">
                <a16:creationId xmlns:a16="http://schemas.microsoft.com/office/drawing/2014/main" id="{5AE7EE46-A74E-A2FD-C700-0683D1D198FF}"/>
              </a:ext>
            </a:extLst>
          </p:cNvPr>
          <p:cNvSpPr txBox="1"/>
          <p:nvPr/>
        </p:nvSpPr>
        <p:spPr>
          <a:xfrm>
            <a:off x="83125" y="3477475"/>
            <a:ext cx="1332230" cy="346710"/>
          </a:xfrm>
          <a:prstGeom prst="rect">
            <a:avLst/>
          </a:prstGeom>
          <a:solidFill>
            <a:srgbClr val="747474"/>
          </a:solidFill>
        </p:spPr>
        <p:txBody>
          <a:bodyPr vert="horz" wrap="square" lIns="0" tIns="55244" rIns="0" bIns="0" rtlCol="0">
            <a:normAutofit/>
          </a:bodyPr>
          <a:lstStyle/>
          <a:p>
            <a:pPr marL="335915">
              <a:lnSpc>
                <a:spcPct val="100000"/>
              </a:lnSpc>
              <a:spcBef>
                <a:spcPts val="434"/>
              </a:spcBef>
            </a:pPr>
            <a:r>
              <a:rPr sz="1100" spc="-10" dirty="0">
                <a:solidFill>
                  <a:srgbClr val="FFFFFF"/>
                </a:solidFill>
                <a:latin typeface="Raleway"/>
                <a:cs typeface="Calibri Light"/>
              </a:rPr>
              <a:t>Key</a:t>
            </a:r>
            <a:r>
              <a:rPr sz="1100" spc="-60" dirty="0">
                <a:solidFill>
                  <a:srgbClr val="FFFFFF"/>
                </a:solidFill>
                <a:latin typeface="Raleway"/>
                <a:cs typeface="Calibri Light"/>
              </a:rPr>
              <a:t> </a:t>
            </a:r>
            <a:r>
              <a:rPr sz="1100" spc="-10" dirty="0">
                <a:solidFill>
                  <a:srgbClr val="FFFFFF"/>
                </a:solidFill>
                <a:latin typeface="Raleway"/>
                <a:cs typeface="Calibri Light"/>
              </a:rPr>
              <a:t>Label</a:t>
            </a:r>
            <a:endParaRPr sz="1400">
              <a:latin typeface="Calibri Light"/>
              <a:cs typeface="Calibri Light"/>
            </a:endParaRPr>
          </a:p>
        </p:txBody>
      </p:sp>
      <p:pic>
        <p:nvPicPr>
          <p:cNvPr id="92" name="object 24">
            <a:extLst>
              <a:ext uri="{FF2B5EF4-FFF2-40B4-BE49-F238E27FC236}">
                <a16:creationId xmlns:a16="http://schemas.microsoft.com/office/drawing/2014/main" id="{51E6496E-2AF8-B6DA-5C18-9E987B1E110B}"/>
              </a:ext>
            </a:extLst>
          </p:cNvPr>
          <p:cNvPicPr/>
          <p:nvPr/>
        </p:nvPicPr>
        <p:blipFill>
          <a:blip r:embed="rId3" cstate="print"/>
          <a:stretch>
            <a:fillRect/>
          </a:stretch>
        </p:blipFill>
        <p:spPr>
          <a:xfrm>
            <a:off x="1607185" y="3427704"/>
            <a:ext cx="10463911" cy="461670"/>
          </a:xfrm>
          <a:prstGeom prst="rect">
            <a:avLst/>
          </a:prstGeom>
        </p:spPr>
      </p:pic>
      <p:sp>
        <p:nvSpPr>
          <p:cNvPr id="93" name="object 25">
            <a:extLst>
              <a:ext uri="{FF2B5EF4-FFF2-40B4-BE49-F238E27FC236}">
                <a16:creationId xmlns:a16="http://schemas.microsoft.com/office/drawing/2014/main" id="{74F0CA5F-21A5-8911-4CEA-7EFC87AF7814}"/>
              </a:ext>
            </a:extLst>
          </p:cNvPr>
          <p:cNvSpPr txBox="1"/>
          <p:nvPr/>
        </p:nvSpPr>
        <p:spPr>
          <a:xfrm>
            <a:off x="1685289" y="3543046"/>
            <a:ext cx="1728470" cy="239395"/>
          </a:xfrm>
          <a:prstGeom prst="rect">
            <a:avLst/>
          </a:prstGeom>
        </p:spPr>
        <p:txBody>
          <a:bodyPr vert="horz" wrap="square" lIns="0" tIns="13335" rIns="0" bIns="0" rtlCol="0">
            <a:normAutofit/>
          </a:bodyPr>
          <a:lstStyle/>
          <a:p>
            <a:pPr marL="12700">
              <a:lnSpc>
                <a:spcPct val="100000"/>
              </a:lnSpc>
              <a:spcBef>
                <a:spcPts val="105"/>
              </a:spcBef>
            </a:pPr>
            <a:r>
              <a:rPr lang="en-IN" sz="1100" spc="-10" dirty="0">
                <a:solidFill/>
                <a:latin typeface="Raleway"/>
                <a:cs typeface="Calibri Light"/>
              </a:rPr>
              <a:t>Banking GCC Foundation</a:t>
            </a:r>
            <a:endParaRPr lang="en-IN" sz="1400" dirty="0">
              <a:latin typeface="Calibri Light"/>
              <a:cs typeface="Calibri Light"/>
            </a:endParaRPr>
          </a:p>
        </p:txBody>
      </p:sp>
      <p:sp>
        <p:nvSpPr>
          <p:cNvPr id="95" name="object 27">
            <a:extLst>
              <a:ext uri="{FF2B5EF4-FFF2-40B4-BE49-F238E27FC236}">
                <a16:creationId xmlns:a16="http://schemas.microsoft.com/office/drawing/2014/main" id="{25E7C943-9DCC-371D-6319-8B8A0BF64AE6}"/>
              </a:ext>
            </a:extLst>
          </p:cNvPr>
          <p:cNvSpPr txBox="1"/>
          <p:nvPr/>
        </p:nvSpPr>
        <p:spPr>
          <a:xfrm>
            <a:off x="7751826" y="3522804"/>
            <a:ext cx="3528822" cy="210031"/>
          </a:xfrm>
          <a:prstGeom prst="rect">
            <a:avLst/>
          </a:prstGeom>
        </p:spPr>
        <p:txBody>
          <a:bodyPr vert="horz" wrap="square" lIns="0" tIns="13335" rIns="0" bIns="0" rtlCol="0">
            <a:noAutofit/>
          </a:bodyPr>
          <a:lstStyle/>
          <a:p>
            <a:pPr marL="12700">
              <a:lnSpc>
                <a:spcPct val="100000"/>
              </a:lnSpc>
              <a:spcBef>
                <a:spcPts val="105"/>
              </a:spcBef>
            </a:pPr>
            <a:r>
              <a:rPr lang="en-IN" sz="1100" spc="-10" dirty="0">
                <a:solidFill/>
                <a:latin typeface="Raleway"/>
                <a:cs typeface="Calibri Light"/>
              </a:rPr>
              <a:t>Strategic Transformation &amp; Regional Hub</a:t>
            </a:r>
          </a:p>
        </p:txBody>
      </p:sp>
      <p:sp>
        <p:nvSpPr>
          <p:cNvPr id="96" name="object 28">
            <a:extLst>
              <a:ext uri="{FF2B5EF4-FFF2-40B4-BE49-F238E27FC236}">
                <a16:creationId xmlns:a16="http://schemas.microsoft.com/office/drawing/2014/main" id="{31352BB0-5961-F131-AB85-8138A7B2DEFC}"/>
              </a:ext>
            </a:extLst>
          </p:cNvPr>
          <p:cNvSpPr txBox="1"/>
          <p:nvPr/>
        </p:nvSpPr>
        <p:spPr>
          <a:xfrm>
            <a:off x="83126" y="4027932"/>
            <a:ext cx="1332230" cy="793750"/>
          </a:xfrm>
          <a:prstGeom prst="rect">
            <a:avLst/>
          </a:prstGeom>
          <a:solidFill>
            <a:srgbClr val="747474"/>
          </a:solidFill>
        </p:spPr>
        <p:txBody>
          <a:bodyPr vert="horz" wrap="square" lIns="0" tIns="74930" rIns="0" bIns="0" rtlCol="0">
            <a:normAutofit/>
          </a:bodyPr>
          <a:lstStyle/>
          <a:p>
            <a:pPr>
              <a:lnSpc>
                <a:spcPct val="100000"/>
              </a:lnSpc>
              <a:spcBef>
                <a:spcPts val="590"/>
              </a:spcBef>
            </a:pPr>
            <a:endParaRPr sz="1400">
              <a:latin typeface="Times New Roman"/>
              <a:cs typeface="Times New Roman"/>
            </a:endParaRPr>
          </a:p>
          <a:p>
            <a:pPr marL="279400">
              <a:lnSpc>
                <a:spcPct val="100000"/>
              </a:lnSpc>
            </a:pPr>
            <a:r>
              <a:rPr sz="1100" spc="-10" dirty="0">
                <a:solidFill>
                  <a:srgbClr val="FFFFFF"/>
                </a:solidFill>
                <a:latin typeface="Raleway"/>
                <a:cs typeface="Calibri Light"/>
              </a:rPr>
              <a:t>Milestones</a:t>
            </a:r>
            <a:endParaRPr sz="1400">
              <a:latin typeface="Calibri Light"/>
              <a:cs typeface="Calibri Light"/>
            </a:endParaRPr>
          </a:p>
        </p:txBody>
      </p:sp>
      <p:grpSp>
        <p:nvGrpSpPr>
          <p:cNvPr id="97" name="object 29">
            <a:extLst>
              <a:ext uri="{FF2B5EF4-FFF2-40B4-BE49-F238E27FC236}">
                <a16:creationId xmlns:a16="http://schemas.microsoft.com/office/drawing/2014/main" id="{8C61F590-337E-F322-DB2C-ADA748B2959F}"/>
              </a:ext>
            </a:extLst>
          </p:cNvPr>
          <p:cNvGrpSpPr/>
          <p:nvPr/>
        </p:nvGrpSpPr>
        <p:grpSpPr>
          <a:xfrm>
            <a:off x="1607185" y="2840227"/>
            <a:ext cx="10464165" cy="3020695"/>
            <a:chOff x="1607185" y="2840227"/>
            <a:chExt cx="10464165" cy="3020695"/>
          </a:xfrm>
        </p:grpSpPr>
        <p:pic>
          <p:nvPicPr>
            <p:cNvPr id="98" name="object 30">
              <a:extLst>
                <a:ext uri="{FF2B5EF4-FFF2-40B4-BE49-F238E27FC236}">
                  <a16:creationId xmlns:a16="http://schemas.microsoft.com/office/drawing/2014/main" id="{B434AD9C-1A06-3D73-2BE1-D5151871D9A4}"/>
                </a:ext>
              </a:extLst>
            </p:cNvPr>
            <p:cNvPicPr/>
            <p:nvPr/>
          </p:nvPicPr>
          <p:blipFill>
            <a:blip r:embed="rId4" cstate="print"/>
            <a:stretch>
              <a:fillRect/>
            </a:stretch>
          </p:blipFill>
          <p:spPr>
            <a:xfrm>
              <a:off x="1607185" y="4027868"/>
              <a:ext cx="10463911" cy="1832610"/>
            </a:xfrm>
            <a:prstGeom prst="rect">
              <a:avLst/>
            </a:prstGeom>
          </p:spPr>
        </p:pic>
        <p:sp>
          <p:nvSpPr>
            <p:cNvPr id="99" name="object 31">
              <a:extLst>
                <a:ext uri="{FF2B5EF4-FFF2-40B4-BE49-F238E27FC236}">
                  <a16:creationId xmlns:a16="http://schemas.microsoft.com/office/drawing/2014/main" id="{71EAE637-8A3D-B579-DE75-EF8C141C9545}"/>
                </a:ext>
              </a:extLst>
            </p:cNvPr>
            <p:cNvSpPr/>
            <p:nvPr/>
          </p:nvSpPr>
          <p:spPr>
            <a:xfrm>
              <a:off x="3643757" y="2840227"/>
              <a:ext cx="3865879" cy="3020695"/>
            </a:xfrm>
            <a:custGeom>
              <a:avLst/>
              <a:gdLst/>
              <a:ahLst/>
              <a:cxnLst/>
              <a:rect l="l" t="t" r="r" b="b"/>
              <a:pathLst>
                <a:path w="3865879" h="3020695">
                  <a:moveTo>
                    <a:pt x="0" y="1016"/>
                  </a:moveTo>
                  <a:lnTo>
                    <a:pt x="0" y="3020250"/>
                  </a:lnTo>
                </a:path>
                <a:path w="3865879" h="3020695">
                  <a:moveTo>
                    <a:pt x="3865371" y="0"/>
                  </a:moveTo>
                  <a:lnTo>
                    <a:pt x="3865371" y="3020250"/>
                  </a:lnTo>
                </a:path>
              </a:pathLst>
            </a:custGeom>
            <a:ln w="19050">
              <a:solidFill>
                <a:srgbClr val="000000"/>
              </a:solidFill>
              <a:prstDash val="sysDash"/>
            </a:ln>
          </p:spPr>
          <p:txBody>
            <a:bodyPr wrap="square" lIns="0" tIns="0" rIns="0" bIns="0" rtlCol="0"/>
            <a:lstStyle/>
            <a:p>
              <a:endParaRPr/>
            </a:p>
          </p:txBody>
        </p:sp>
      </p:grpSp>
      <p:sp>
        <p:nvSpPr>
          <p:cNvPr id="100" name="object 32">
            <a:extLst>
              <a:ext uri="{FF2B5EF4-FFF2-40B4-BE49-F238E27FC236}">
                <a16:creationId xmlns:a16="http://schemas.microsoft.com/office/drawing/2014/main" id="{2D0AE75F-421F-F4D0-930A-0D21F07B9CF9}"/>
              </a:ext>
            </a:extLst>
          </p:cNvPr>
          <p:cNvSpPr txBox="1"/>
          <p:nvPr/>
        </p:nvSpPr>
        <p:spPr>
          <a:xfrm>
            <a:off x="1602105" y="4077461"/>
            <a:ext cx="1900555" cy="1946910"/>
          </a:xfrm>
          <a:prstGeom prst="rect">
            <a:avLst/>
          </a:prstGeom>
        </p:spPr>
        <p:txBody>
          <a:bodyPr vert="horz" wrap="square" lIns="0" tIns="12700" rIns="0" bIns="0" rtlCol="0">
            <a:normAutofit/>
          </a:bodyPr>
          <a:lstStyle/>
          <a:p>
            <a:pPr marL="299085" indent="-286385">
              <a:lnSpc>
                <a:spcPct val="100000"/>
              </a:lnSpc>
              <a:spcBef>
                <a:spcPts val="100"/>
              </a:spcBef>
              <a:buFont typeface="Arial MT"/>
              <a:buChar char="•"/>
              <a:tabLst>
                <a:tab pos="299085" algn="l"/>
              </a:tabLst>
            </a:pPr>
            <a:r>
              <a:rPr lang="en-GB" sz="1100" dirty="0">
                <a:solidFill/>
                <a:latin typeface="Raleway"/>
                <a:cs typeface="Calibri Light"/>
              </a:rPr>
              <a:t>$60M foundation investment</a:t>
            </a:r>
          </a:p>
          <a:p>
            <a:pPr marL="299085" indent="-286385">
              <a:lnSpc>
                <a:spcPct val="100000"/>
              </a:lnSpc>
              <a:spcBef>
                <a:spcPts val="100"/>
              </a:spcBef>
              <a:buFont typeface="Arial MT"/>
              <a:buChar char="•"/>
              <a:tabLst>
                <a:tab pos="299085" algn="l"/>
              </a:tabLst>
            </a:pPr>
            <a:r>
              <a:rPr lang="en-GB" sz="1100" dirty="0">
                <a:solidFill/>
                <a:latin typeface="Raleway"/>
                <a:cs typeface="Calibri Light"/>
              </a:rPr>
              <a:t>BFSI </a:t>
            </a:r>
            <a:r>
              <a:rPr lang="en-GB" sz="1100" dirty="0" err="1">
                <a:solidFill/>
                <a:latin typeface="Raleway"/>
                <a:cs typeface="Calibri Light"/>
              </a:rPr>
              <a:t>CoE</a:t>
            </a:r>
            <a:r>
              <a:rPr lang="en-GB" sz="1100" dirty="0">
                <a:solidFill/>
                <a:latin typeface="Raleway"/>
                <a:cs typeface="Calibri Light"/>
              </a:rPr>
              <a:t> &amp;</a:t>
            </a:r>
          </a:p>
          <a:p>
            <a:pPr marL="299085" indent="-286385">
              <a:lnSpc>
                <a:spcPct val="100000"/>
              </a:lnSpc>
              <a:spcBef>
                <a:spcPts val="100"/>
              </a:spcBef>
              <a:buFont typeface="Arial MT"/>
              <a:buChar char="•"/>
              <a:tabLst>
                <a:tab pos="299085" algn="l"/>
              </a:tabLst>
            </a:pPr>
            <a:r>
              <a:rPr lang="en-GB" sz="1100" dirty="0">
                <a:solidFill/>
                <a:latin typeface="Raleway"/>
                <a:cs typeface="Calibri Light"/>
              </a:rPr>
              <a:t>compliance engine</a:t>
            </a:r>
          </a:p>
          <a:p>
            <a:pPr marL="299085" indent="-286385">
              <a:lnSpc>
                <a:spcPct val="100000"/>
              </a:lnSpc>
              <a:spcBef>
                <a:spcPts val="100"/>
              </a:spcBef>
              <a:buFont typeface="Arial MT"/>
              <a:buChar char="•"/>
              <a:tabLst>
                <a:tab pos="299085" algn="l"/>
              </a:tabLst>
            </a:pPr>
            <a:r>
              <a:rPr lang="en-GB" sz="1100" dirty="0">
                <a:solidFill/>
                <a:latin typeface="Raleway"/>
                <a:cs typeface="Calibri Light"/>
              </a:rPr>
              <a:t>Risk management framework</a:t>
            </a:r>
          </a:p>
          <a:p>
            <a:pPr marL="299085" indent="-286385">
              <a:lnSpc>
                <a:spcPct val="100000"/>
              </a:lnSpc>
              <a:spcBef>
                <a:spcPts val="100"/>
              </a:spcBef>
              <a:buFont typeface="Arial MT"/>
              <a:buChar char="•"/>
              <a:tabLst>
                <a:tab pos="299085" algn="l"/>
              </a:tabLst>
            </a:pPr>
            <a:r>
              <a:rPr lang="en-GB" sz="1100" dirty="0">
                <a:solidFill/>
                <a:latin typeface="Raleway"/>
                <a:cs typeface="Calibri Light"/>
              </a:rPr>
              <a:t>120 professionals onboarded</a:t>
            </a:r>
          </a:p>
          <a:p>
            <a:pPr marL="299085" indent="-286385">
              <a:lnSpc>
                <a:spcPct val="100000"/>
              </a:lnSpc>
              <a:spcBef>
                <a:spcPts val="100"/>
              </a:spcBef>
              <a:buFont typeface="Arial MT"/>
              <a:buChar char="•"/>
              <a:tabLst>
                <a:tab pos="299085" algn="l"/>
              </a:tabLst>
            </a:pPr>
            <a:r>
              <a:rPr lang="en-GB" sz="1100" dirty="0">
                <a:solidFill/>
                <a:latin typeface="Raleway"/>
                <a:cs typeface="Calibri Light"/>
              </a:rPr>
              <a:t>$80M savings, 15 yrs sustained delivery</a:t>
            </a:r>
          </a:p>
        </p:txBody>
      </p:sp>
      <p:sp>
        <p:nvSpPr>
          <p:cNvPr id="101" name="object 33">
            <a:extLst>
              <a:ext uri="{FF2B5EF4-FFF2-40B4-BE49-F238E27FC236}">
                <a16:creationId xmlns:a16="http://schemas.microsoft.com/office/drawing/2014/main" id="{96553265-8F16-3586-4AC5-97D27B05E492}"/>
              </a:ext>
            </a:extLst>
          </p:cNvPr>
          <p:cNvSpPr txBox="1"/>
          <p:nvPr/>
        </p:nvSpPr>
        <p:spPr>
          <a:xfrm>
            <a:off x="3764407" y="4014342"/>
            <a:ext cx="3498850" cy="1520190"/>
          </a:xfrm>
          <a:prstGeom prst="rect">
            <a:avLst/>
          </a:prstGeom>
        </p:spPr>
        <p:txBody>
          <a:bodyPr vert="horz" wrap="square" lIns="0" tIns="12700" rIns="0" bIns="0" rtlCol="0">
            <a:normAutofit lnSpcReduction="10000"/>
          </a:bodyPr>
          <a:lstStyle/>
          <a:p>
            <a:pPr marL="299085" indent="-286385">
              <a:lnSpc>
                <a:spcPct val="100000"/>
              </a:lnSpc>
              <a:spcBef>
                <a:spcPts val="100"/>
              </a:spcBef>
              <a:buFont typeface="Arial MT"/>
              <a:buChar char="•"/>
              <a:tabLst>
                <a:tab pos="299085" algn="l"/>
              </a:tabLst>
            </a:pPr>
            <a:r>
              <a:rPr lang="en-IN" sz="1100" spc="-10" dirty="0">
                <a:solidFill/>
                <a:latin typeface="Raleway"/>
                <a:cs typeface="Calibri Light"/>
              </a:rPr>
              <a:t>$180M brownfield transformation</a:t>
            </a:r>
          </a:p>
          <a:p>
            <a:pPr marL="299085" indent="-286385">
              <a:lnSpc>
                <a:spcPct val="100000"/>
              </a:lnSpc>
              <a:spcBef>
                <a:spcPts val="100"/>
              </a:spcBef>
              <a:buFont typeface="Arial MT"/>
              <a:buChar char="•"/>
              <a:tabLst>
                <a:tab pos="299085" algn="l"/>
              </a:tabLst>
            </a:pPr>
            <a:r>
              <a:rPr lang="en-IN" sz="1100" spc="-10" dirty="0">
                <a:solidFill/>
                <a:latin typeface="Raleway"/>
                <a:cs typeface="Calibri Light"/>
              </a:rPr>
              <a:t>AI modules:</a:t>
            </a:r>
          </a:p>
          <a:p>
            <a:pPr marL="756285" lvl="1" indent="-286385">
              <a:spcBef>
                <a:spcPts val="100"/>
              </a:spcBef>
              <a:buFont typeface="Arial MT"/>
              <a:buChar char="•"/>
              <a:tabLst>
                <a:tab pos="299085" algn="l"/>
              </a:tabLst>
            </a:pPr>
            <a:r>
              <a:rPr lang="en-IN" sz="1100" spc="-10" dirty="0">
                <a:solidFill/>
                <a:latin typeface="Raleway"/>
                <a:cs typeface="Calibri Light"/>
              </a:rPr>
              <a:t>Corporate banking risk optimization (+30%)</a:t>
            </a:r>
          </a:p>
          <a:p>
            <a:pPr marL="756285" lvl="1" indent="-286385">
              <a:spcBef>
                <a:spcPts val="100"/>
              </a:spcBef>
              <a:buFont typeface="Arial MT"/>
              <a:buChar char="•"/>
              <a:tabLst>
                <a:tab pos="299085" algn="l"/>
              </a:tabLst>
            </a:pPr>
            <a:r>
              <a:rPr lang="en-IN" sz="1100" spc="-10" dirty="0">
                <a:solidFill/>
                <a:latin typeface="Raleway"/>
                <a:cs typeface="Calibri Light"/>
              </a:rPr>
              <a:t>Retail banking automation (+45%)</a:t>
            </a:r>
          </a:p>
          <a:p>
            <a:pPr marL="756285" lvl="1" indent="-286385">
              <a:spcBef>
                <a:spcPts val="100"/>
              </a:spcBef>
              <a:buFont typeface="Arial MT"/>
              <a:buChar char="•"/>
              <a:tabLst>
                <a:tab pos="299085" algn="l"/>
              </a:tabLst>
            </a:pPr>
            <a:r>
              <a:rPr lang="en-IN" sz="1100" spc="-10" dirty="0">
                <a:solidFill/>
                <a:latin typeface="Raleway"/>
                <a:cs typeface="Calibri Light"/>
              </a:rPr>
              <a:t>Fraud detection (98% accuracy)</a:t>
            </a:r>
          </a:p>
          <a:p>
            <a:pPr marL="299085" indent="-286385">
              <a:lnSpc>
                <a:spcPct val="100000"/>
              </a:lnSpc>
              <a:spcBef>
                <a:spcPts val="100"/>
              </a:spcBef>
              <a:buFont typeface="Arial MT"/>
              <a:buChar char="•"/>
              <a:tabLst>
                <a:tab pos="299085" algn="l"/>
              </a:tabLst>
            </a:pPr>
            <a:r>
              <a:rPr lang="en-IN" sz="1100" spc="-10" dirty="0">
                <a:solidFill/>
                <a:latin typeface="Raleway"/>
                <a:cs typeface="Calibri Light"/>
              </a:rPr>
              <a:t>450+ professionals recruited</a:t>
            </a:r>
          </a:p>
          <a:p>
            <a:pPr marL="299085" indent="-286385">
              <a:lnSpc>
                <a:spcPct val="100000"/>
              </a:lnSpc>
              <a:spcBef>
                <a:spcPts val="100"/>
              </a:spcBef>
              <a:buFont typeface="Arial MT"/>
              <a:buChar char="•"/>
              <a:tabLst>
                <a:tab pos="299085" algn="l"/>
              </a:tabLst>
            </a:pPr>
            <a:r>
              <a:rPr lang="en-IN" sz="1100" spc="-10" dirty="0">
                <a:solidFill/>
                <a:latin typeface="Raleway"/>
                <a:cs typeface="Calibri Light"/>
              </a:rPr>
              <a:t>25+ digital banking solutions delivered</a:t>
            </a:r>
          </a:p>
          <a:p>
            <a:pPr marL="299085" indent="-286385">
              <a:lnSpc>
                <a:spcPct val="100000"/>
              </a:lnSpc>
              <a:spcBef>
                <a:spcPts val="100"/>
              </a:spcBef>
              <a:buFont typeface="Arial MT"/>
              <a:buChar char="•"/>
              <a:tabLst>
                <a:tab pos="299085" algn="l"/>
              </a:tabLst>
            </a:pPr>
            <a:r>
              <a:rPr lang="en-IN" sz="1100" spc="-10" dirty="0">
                <a:solidFill/>
                <a:latin typeface="Raleway"/>
                <a:cs typeface="Calibri Light"/>
              </a:rPr>
              <a:t>Multi-geography compliance across global jurisdictions</a:t>
            </a:r>
          </a:p>
        </p:txBody>
      </p:sp>
      <p:sp>
        <p:nvSpPr>
          <p:cNvPr id="102" name="object 34">
            <a:extLst>
              <a:ext uri="{FF2B5EF4-FFF2-40B4-BE49-F238E27FC236}">
                <a16:creationId xmlns:a16="http://schemas.microsoft.com/office/drawing/2014/main" id="{4BDBAB6F-1A2E-FD99-F476-5D518D1CE76E}"/>
              </a:ext>
            </a:extLst>
          </p:cNvPr>
          <p:cNvSpPr txBox="1"/>
          <p:nvPr/>
        </p:nvSpPr>
        <p:spPr>
          <a:xfrm>
            <a:off x="7672831" y="4074414"/>
            <a:ext cx="4118610" cy="1306830"/>
          </a:xfrm>
          <a:prstGeom prst="rect">
            <a:avLst/>
          </a:prstGeom>
        </p:spPr>
        <p:txBody>
          <a:bodyPr vert="horz" wrap="square" lIns="0" tIns="12700" rIns="0" bIns="0" rtlCol="0">
            <a:noAutofit/>
          </a:bodyPr>
          <a:lstStyle/>
          <a:p>
            <a:pPr marL="299085" indent="-286385">
              <a:lnSpc>
                <a:spcPct val="100000"/>
              </a:lnSpc>
              <a:spcBef>
                <a:spcPts val="100"/>
              </a:spcBef>
              <a:buFont typeface="Arial MT"/>
              <a:buChar char="•"/>
              <a:tabLst>
                <a:tab pos="299085" algn="l"/>
              </a:tabLst>
            </a:pPr>
            <a:r>
              <a:rPr lang="en-IN" sz="1100" dirty="0">
                <a:solidFill/>
                <a:latin typeface="Raleway"/>
                <a:cs typeface="Calibri Light"/>
              </a:rPr>
              <a:t>$300M GCC transformation investment</a:t>
            </a:r>
          </a:p>
          <a:p>
            <a:pPr marL="299085" indent="-286385">
              <a:lnSpc>
                <a:spcPct val="100000"/>
              </a:lnSpc>
              <a:spcBef>
                <a:spcPts val="100"/>
              </a:spcBef>
              <a:buFont typeface="Arial MT"/>
              <a:buChar char="•"/>
              <a:tabLst>
                <a:tab pos="299085" algn="l"/>
              </a:tabLst>
            </a:pPr>
            <a:r>
              <a:rPr lang="en-IN" sz="1100" dirty="0">
                <a:solidFill/>
                <a:latin typeface="Raleway"/>
                <a:cs typeface="Calibri Light"/>
              </a:rPr>
              <a:t>700+ professionals across multi-city ecosystem</a:t>
            </a:r>
          </a:p>
          <a:p>
            <a:pPr marL="299085" indent="-286385">
              <a:lnSpc>
                <a:spcPct val="100000"/>
              </a:lnSpc>
              <a:spcBef>
                <a:spcPts val="100"/>
              </a:spcBef>
              <a:buFont typeface="Arial MT"/>
              <a:buChar char="•"/>
              <a:tabLst>
                <a:tab pos="299085" algn="l"/>
              </a:tabLst>
            </a:pPr>
            <a:r>
              <a:rPr lang="en-IN" sz="1100" dirty="0">
                <a:solidFill/>
                <a:latin typeface="Raleway"/>
                <a:cs typeface="Calibri Light"/>
              </a:rPr>
              <a:t>AI-powered credit risk </a:t>
            </a:r>
            <a:r>
              <a:rPr lang="en-IN" sz="1100" dirty="0" err="1">
                <a:solidFill/>
                <a:latin typeface="Raleway"/>
                <a:cs typeface="Calibri Light"/>
              </a:rPr>
              <a:t>modeling</a:t>
            </a:r>
            <a:r>
              <a:rPr lang="en-IN" sz="1100" dirty="0">
                <a:solidFill/>
                <a:latin typeface="Raleway"/>
                <a:cs typeface="Calibri Light"/>
              </a:rPr>
              <a:t> (92% accuracy)</a:t>
            </a:r>
          </a:p>
          <a:p>
            <a:pPr marL="299085" indent="-286385">
              <a:lnSpc>
                <a:spcPct val="100000"/>
              </a:lnSpc>
              <a:spcBef>
                <a:spcPts val="100"/>
              </a:spcBef>
              <a:buFont typeface="Arial MT"/>
              <a:buChar char="•"/>
              <a:tabLst>
                <a:tab pos="299085" algn="l"/>
              </a:tabLst>
            </a:pPr>
            <a:r>
              <a:rPr lang="en-IN" sz="1100" dirty="0">
                <a:solidFill/>
                <a:latin typeface="Raleway"/>
                <a:cs typeface="Calibri Light"/>
              </a:rPr>
              <a:t>Real-time regulatory reporting across 15 APAC countries</a:t>
            </a:r>
          </a:p>
          <a:p>
            <a:pPr marL="299085" indent="-286385">
              <a:lnSpc>
                <a:spcPct val="100000"/>
              </a:lnSpc>
              <a:spcBef>
                <a:spcPts val="100"/>
              </a:spcBef>
              <a:buFont typeface="Arial MT"/>
              <a:buChar char="•"/>
              <a:tabLst>
                <a:tab pos="299085" algn="l"/>
              </a:tabLst>
            </a:pPr>
            <a:r>
              <a:rPr lang="en-IN" sz="1100" dirty="0">
                <a:solidFill/>
                <a:latin typeface="Raleway"/>
                <a:cs typeface="Calibri Light"/>
              </a:rPr>
              <a:t>Automated KYC/AML (60% false positive reduction)</a:t>
            </a:r>
          </a:p>
          <a:p>
            <a:pPr marL="299085" indent="-286385">
              <a:lnSpc>
                <a:spcPct val="100000"/>
              </a:lnSpc>
              <a:spcBef>
                <a:spcPts val="100"/>
              </a:spcBef>
              <a:buFont typeface="Arial MT"/>
              <a:buChar char="•"/>
              <a:tabLst>
                <a:tab pos="299085" algn="l"/>
              </a:tabLst>
            </a:pPr>
            <a:r>
              <a:rPr lang="en-IN" sz="1100" dirty="0">
                <a:solidFill/>
                <a:latin typeface="Raleway"/>
                <a:cs typeface="Calibri Light"/>
              </a:rPr>
              <a:t>$1.2B annual value generation</a:t>
            </a:r>
          </a:p>
          <a:p>
            <a:pPr marL="299085" indent="-286385">
              <a:lnSpc>
                <a:spcPct val="100000"/>
              </a:lnSpc>
              <a:spcBef>
                <a:spcPts val="100"/>
              </a:spcBef>
              <a:buFont typeface="Arial MT"/>
              <a:buChar char="•"/>
              <a:tabLst>
                <a:tab pos="299085" algn="l"/>
              </a:tabLst>
            </a:pPr>
            <a:r>
              <a:rPr lang="en-IN" sz="1100" dirty="0">
                <a:solidFill/>
                <a:latin typeface="Raleway"/>
                <a:cs typeface="Calibri Light"/>
              </a:rPr>
              <a:t>15-country operations hub, 160+ years banking</a:t>
            </a:r>
          </a:p>
          <a:p>
            <a:pPr marL="299085" indent="-286385">
              <a:lnSpc>
                <a:spcPct val="100000"/>
              </a:lnSpc>
              <a:spcBef>
                <a:spcPts val="100"/>
              </a:spcBef>
              <a:buFont typeface="Arial MT"/>
              <a:buChar char="•"/>
              <a:tabLst>
                <a:tab pos="299085" algn="l"/>
              </a:tabLst>
            </a:pPr>
            <a:r>
              <a:rPr lang="en-IN" sz="1100" dirty="0">
                <a:solidFill/>
                <a:latin typeface="Raleway"/>
                <a:cs typeface="Calibri Light"/>
              </a:rPr>
              <a:t>expertise integrated</a:t>
            </a:r>
          </a:p>
        </p:txBody>
      </p:sp>
      <p:sp>
        <p:nvSpPr>
          <p:cNvPr id="103" name="object 38">
            <a:extLst>
              <a:ext uri="{FF2B5EF4-FFF2-40B4-BE49-F238E27FC236}">
                <a16:creationId xmlns:a16="http://schemas.microsoft.com/office/drawing/2014/main" id="{49F33C07-3589-9453-2B0F-236ECC1C3310}"/>
              </a:ext>
            </a:extLst>
          </p:cNvPr>
          <p:cNvSpPr/>
          <p:nvPr/>
        </p:nvSpPr>
        <p:spPr>
          <a:xfrm>
            <a:off x="1622425" y="6128486"/>
            <a:ext cx="2520315" cy="540385"/>
          </a:xfrm>
          <a:custGeom>
            <a:avLst/>
            <a:gdLst/>
            <a:ahLst/>
            <a:cxnLst/>
            <a:rect l="l" t="t" r="r" b="b"/>
            <a:pathLst>
              <a:path w="2520315" h="540384">
                <a:moveTo>
                  <a:pt x="2430017" y="0"/>
                </a:moveTo>
                <a:lnTo>
                  <a:pt x="89916" y="0"/>
                </a:lnTo>
                <a:lnTo>
                  <a:pt x="54917" y="7073"/>
                </a:lnTo>
                <a:lnTo>
                  <a:pt x="26336" y="26362"/>
                </a:lnTo>
                <a:lnTo>
                  <a:pt x="7066" y="54971"/>
                </a:lnTo>
                <a:lnTo>
                  <a:pt x="0" y="90004"/>
                </a:lnTo>
                <a:lnTo>
                  <a:pt x="0" y="449999"/>
                </a:lnTo>
                <a:lnTo>
                  <a:pt x="7066" y="485032"/>
                </a:lnTo>
                <a:lnTo>
                  <a:pt x="26336" y="513641"/>
                </a:lnTo>
                <a:lnTo>
                  <a:pt x="54917" y="532930"/>
                </a:lnTo>
                <a:lnTo>
                  <a:pt x="89916" y="540004"/>
                </a:lnTo>
                <a:lnTo>
                  <a:pt x="2430017" y="540004"/>
                </a:lnTo>
                <a:lnTo>
                  <a:pt x="2465016" y="532930"/>
                </a:lnTo>
                <a:lnTo>
                  <a:pt x="2493597" y="513641"/>
                </a:lnTo>
                <a:lnTo>
                  <a:pt x="2512867" y="485032"/>
                </a:lnTo>
                <a:lnTo>
                  <a:pt x="2519934" y="449999"/>
                </a:lnTo>
                <a:lnTo>
                  <a:pt x="2519934" y="90004"/>
                </a:lnTo>
                <a:lnTo>
                  <a:pt x="2512867" y="54971"/>
                </a:lnTo>
                <a:lnTo>
                  <a:pt x="2493597" y="26362"/>
                </a:lnTo>
                <a:lnTo>
                  <a:pt x="2465016" y="7073"/>
                </a:lnTo>
                <a:lnTo>
                  <a:pt x="2430017" y="0"/>
                </a:lnTo>
                <a:close/>
              </a:path>
            </a:pathLst>
          </a:custGeom>
          <a:solidFill>
            <a:srgbClr val="F5F5F5"/>
          </a:solidFill>
          <a:ln w="9525">
            <a:solidFill>
              <a:srgbClr val="DEDEDE"/>
            </a:solidFill>
          </a:ln>
          <a:effectLst/>
        </p:spPr>
        <p:txBody>
          <a:bodyPr wrap="square" lIns="0" tIns="0" rIns="0" bIns="0" rtlCol="0"/>
          <a:lstStyle/>
          <a:p>
            <a:endParaRPr/>
          </a:p>
        </p:txBody>
      </p:sp>
      <p:sp>
        <p:nvSpPr>
          <p:cNvPr id="104" name="object 39">
            <a:extLst>
              <a:ext uri="{FF2B5EF4-FFF2-40B4-BE49-F238E27FC236}">
                <a16:creationId xmlns:a16="http://schemas.microsoft.com/office/drawing/2014/main" id="{6A2F0475-A551-E47F-3834-C26CCBA75FB9}"/>
              </a:ext>
            </a:extLst>
          </p:cNvPr>
          <p:cNvSpPr txBox="1"/>
          <p:nvPr/>
        </p:nvSpPr>
        <p:spPr>
          <a:xfrm>
            <a:off x="2069973" y="6253072"/>
            <a:ext cx="1994027" cy="294031"/>
          </a:xfrm>
          <a:prstGeom prst="rect">
            <a:avLst/>
          </a:prstGeom>
        </p:spPr>
        <p:txBody>
          <a:bodyPr vert="horz" wrap="square" lIns="0" tIns="12065" rIns="0" bIns="0" rtlCol="0">
            <a:noAutofit/>
          </a:bodyPr>
          <a:lstStyle/>
          <a:p>
            <a:pPr marL="12700">
              <a:lnSpc>
                <a:spcPct val="100000"/>
              </a:lnSpc>
              <a:spcBef>
                <a:spcPts val="95"/>
              </a:spcBef>
            </a:pPr>
            <a:r>
              <a:rPr lang="en-IN" sz="1100" dirty="0">
                <a:solidFill>
                  <a:srgbClr val="2A9D8F"/>
                </a:solidFill>
                <a:latin typeface="Roboto Condensed"/>
                <a:cs typeface="Calibri Light"/>
              </a:rPr>
              <a:t>25+ Years BFSI Domain Expertise</a:t>
            </a:r>
          </a:p>
        </p:txBody>
      </p:sp>
      <p:sp>
        <p:nvSpPr>
          <p:cNvPr id="105" name="object 40">
            <a:extLst>
              <a:ext uri="{FF2B5EF4-FFF2-40B4-BE49-F238E27FC236}">
                <a16:creationId xmlns:a16="http://schemas.microsoft.com/office/drawing/2014/main" id="{E6E46C1C-226E-96D2-1FB3-2B4030BDC1BE}"/>
              </a:ext>
            </a:extLst>
          </p:cNvPr>
          <p:cNvSpPr/>
          <p:nvPr/>
        </p:nvSpPr>
        <p:spPr>
          <a:xfrm>
            <a:off x="4265167" y="6126188"/>
            <a:ext cx="2520315" cy="540385"/>
          </a:xfrm>
          <a:custGeom>
            <a:avLst/>
            <a:gdLst/>
            <a:ahLst/>
            <a:cxnLst/>
            <a:rect l="l" t="t" r="r" b="b"/>
            <a:pathLst>
              <a:path w="2520315" h="540384">
                <a:moveTo>
                  <a:pt x="2430017" y="0"/>
                </a:moveTo>
                <a:lnTo>
                  <a:pt x="90043" y="0"/>
                </a:lnTo>
                <a:lnTo>
                  <a:pt x="55024" y="7073"/>
                </a:lnTo>
                <a:lnTo>
                  <a:pt x="26400" y="26362"/>
                </a:lnTo>
                <a:lnTo>
                  <a:pt x="7086" y="54971"/>
                </a:lnTo>
                <a:lnTo>
                  <a:pt x="0" y="90004"/>
                </a:lnTo>
                <a:lnTo>
                  <a:pt x="0" y="449999"/>
                </a:lnTo>
                <a:lnTo>
                  <a:pt x="7086" y="485030"/>
                </a:lnTo>
                <a:lnTo>
                  <a:pt x="26400" y="513635"/>
                </a:lnTo>
                <a:lnTo>
                  <a:pt x="55024" y="532920"/>
                </a:lnTo>
                <a:lnTo>
                  <a:pt x="90043" y="539991"/>
                </a:lnTo>
                <a:lnTo>
                  <a:pt x="2430017" y="539991"/>
                </a:lnTo>
                <a:lnTo>
                  <a:pt x="2465036" y="532920"/>
                </a:lnTo>
                <a:lnTo>
                  <a:pt x="2493660" y="513635"/>
                </a:lnTo>
                <a:lnTo>
                  <a:pt x="2512974" y="485030"/>
                </a:lnTo>
                <a:lnTo>
                  <a:pt x="2520061" y="449999"/>
                </a:lnTo>
                <a:lnTo>
                  <a:pt x="2520061" y="90004"/>
                </a:lnTo>
                <a:lnTo>
                  <a:pt x="2512974" y="54971"/>
                </a:lnTo>
                <a:lnTo>
                  <a:pt x="2493660" y="26362"/>
                </a:lnTo>
                <a:lnTo>
                  <a:pt x="2465036" y="7073"/>
                </a:lnTo>
                <a:lnTo>
                  <a:pt x="2430017" y="0"/>
                </a:lnTo>
                <a:close/>
              </a:path>
            </a:pathLst>
          </a:custGeom>
          <a:solidFill>
            <a:srgbClr val="F5F5F5"/>
          </a:solidFill>
          <a:ln w="9525">
            <a:solidFill>
              <a:srgbClr val="DEDEDE"/>
            </a:solidFill>
          </a:ln>
          <a:effectLst/>
        </p:spPr>
        <p:txBody>
          <a:bodyPr wrap="square" lIns="0" tIns="0" rIns="0" bIns="0" rtlCol="0"/>
          <a:lstStyle/>
          <a:p>
            <a:endParaRPr/>
          </a:p>
        </p:txBody>
      </p:sp>
      <p:sp>
        <p:nvSpPr>
          <p:cNvPr id="106" name="object 41">
            <a:extLst>
              <a:ext uri="{FF2B5EF4-FFF2-40B4-BE49-F238E27FC236}">
                <a16:creationId xmlns:a16="http://schemas.microsoft.com/office/drawing/2014/main" id="{A4587905-1F14-4936-CC25-9753B817D1FA}"/>
              </a:ext>
            </a:extLst>
          </p:cNvPr>
          <p:cNvSpPr txBox="1"/>
          <p:nvPr/>
        </p:nvSpPr>
        <p:spPr>
          <a:xfrm>
            <a:off x="4455514" y="6262534"/>
            <a:ext cx="2322602" cy="560323"/>
          </a:xfrm>
          <a:prstGeom prst="rect">
            <a:avLst/>
          </a:prstGeom>
        </p:spPr>
        <p:txBody>
          <a:bodyPr vert="horz" wrap="square" lIns="0" tIns="12065" rIns="0" bIns="0" rtlCol="0">
            <a:normAutofit/>
          </a:bodyPr>
          <a:lstStyle/>
          <a:p>
            <a:pPr marL="657225" marR="5080" indent="-645160">
              <a:lnSpc>
                <a:spcPct val="100000"/>
              </a:lnSpc>
              <a:spcBef>
                <a:spcPts val="95"/>
              </a:spcBef>
            </a:pPr>
            <a:r>
              <a:rPr lang="en-IN" sz="1100" dirty="0">
                <a:solidFill>
                  <a:srgbClr val="2A9D8F"/>
                </a:solidFill>
                <a:latin typeface="Roboto Condensed"/>
                <a:cs typeface="Calibri Light"/>
              </a:rPr>
              <a:t>99.9% Legacy Modernization Uptime</a:t>
            </a:r>
          </a:p>
        </p:txBody>
      </p:sp>
      <p:sp>
        <p:nvSpPr>
          <p:cNvPr id="107" name="object 42">
            <a:extLst>
              <a:ext uri="{FF2B5EF4-FFF2-40B4-BE49-F238E27FC236}">
                <a16:creationId xmlns:a16="http://schemas.microsoft.com/office/drawing/2014/main" id="{56BBC995-3BF3-26A5-A4F2-6170D79CCBE9}"/>
              </a:ext>
            </a:extLst>
          </p:cNvPr>
          <p:cNvSpPr/>
          <p:nvPr/>
        </p:nvSpPr>
        <p:spPr>
          <a:xfrm>
            <a:off x="6908038" y="6138608"/>
            <a:ext cx="2520315" cy="540385"/>
          </a:xfrm>
          <a:custGeom>
            <a:avLst/>
            <a:gdLst/>
            <a:ahLst/>
            <a:cxnLst/>
            <a:rect l="l" t="t" r="r" b="b"/>
            <a:pathLst>
              <a:path w="2520315" h="540384">
                <a:moveTo>
                  <a:pt x="2430017" y="0"/>
                </a:moveTo>
                <a:lnTo>
                  <a:pt x="90042" y="0"/>
                </a:lnTo>
                <a:lnTo>
                  <a:pt x="54971" y="7073"/>
                </a:lnTo>
                <a:lnTo>
                  <a:pt x="26352" y="26362"/>
                </a:lnTo>
                <a:lnTo>
                  <a:pt x="7068" y="54971"/>
                </a:lnTo>
                <a:lnTo>
                  <a:pt x="0" y="90004"/>
                </a:lnTo>
                <a:lnTo>
                  <a:pt x="0" y="449999"/>
                </a:lnTo>
                <a:lnTo>
                  <a:pt x="7068" y="485032"/>
                </a:lnTo>
                <a:lnTo>
                  <a:pt x="26352" y="513641"/>
                </a:lnTo>
                <a:lnTo>
                  <a:pt x="54971" y="532930"/>
                </a:lnTo>
                <a:lnTo>
                  <a:pt x="90042" y="540003"/>
                </a:lnTo>
                <a:lnTo>
                  <a:pt x="2430017" y="540003"/>
                </a:lnTo>
                <a:lnTo>
                  <a:pt x="2465016" y="532930"/>
                </a:lnTo>
                <a:lnTo>
                  <a:pt x="2493597" y="513641"/>
                </a:lnTo>
                <a:lnTo>
                  <a:pt x="2512867" y="485032"/>
                </a:lnTo>
                <a:lnTo>
                  <a:pt x="2519933" y="449999"/>
                </a:lnTo>
                <a:lnTo>
                  <a:pt x="2519933" y="90004"/>
                </a:lnTo>
                <a:lnTo>
                  <a:pt x="2512867" y="54971"/>
                </a:lnTo>
                <a:lnTo>
                  <a:pt x="2493597" y="26362"/>
                </a:lnTo>
                <a:lnTo>
                  <a:pt x="2465016" y="7073"/>
                </a:lnTo>
                <a:lnTo>
                  <a:pt x="2430017" y="0"/>
                </a:lnTo>
                <a:close/>
              </a:path>
            </a:pathLst>
          </a:custGeom>
          <a:solidFill>
            <a:srgbClr val="F5F5F5"/>
          </a:solidFill>
          <a:ln w="9525">
            <a:solidFill>
              <a:srgbClr val="DEDEDE"/>
            </a:solidFill>
          </a:ln>
          <a:effectLst/>
        </p:spPr>
        <p:txBody>
          <a:bodyPr wrap="square" lIns="0" tIns="0" rIns="0" bIns="0" rtlCol="0"/>
          <a:lstStyle/>
          <a:p>
            <a:endParaRPr/>
          </a:p>
        </p:txBody>
      </p:sp>
      <p:sp>
        <p:nvSpPr>
          <p:cNvPr id="108" name="object 43">
            <a:extLst>
              <a:ext uri="{FF2B5EF4-FFF2-40B4-BE49-F238E27FC236}">
                <a16:creationId xmlns:a16="http://schemas.microsoft.com/office/drawing/2014/main" id="{EE000990-6F73-BC58-550F-DF3055D039A8}"/>
              </a:ext>
            </a:extLst>
          </p:cNvPr>
          <p:cNvSpPr txBox="1"/>
          <p:nvPr/>
        </p:nvSpPr>
        <p:spPr>
          <a:xfrm>
            <a:off x="7309774" y="6262826"/>
            <a:ext cx="1716841" cy="294031"/>
          </a:xfrm>
          <a:prstGeom prst="rect">
            <a:avLst/>
          </a:prstGeom>
        </p:spPr>
        <p:txBody>
          <a:bodyPr vert="horz" wrap="square" lIns="0" tIns="12065" rIns="0" bIns="0" rtlCol="0">
            <a:noAutofit/>
          </a:bodyPr>
          <a:lstStyle/>
          <a:p>
            <a:pPr marL="12700" algn="ctr">
              <a:lnSpc>
                <a:spcPct val="100000"/>
              </a:lnSpc>
              <a:spcBef>
                <a:spcPts val="95"/>
              </a:spcBef>
            </a:pPr>
            <a:r>
              <a:rPr lang="en-GB" sz="1100" dirty="0">
                <a:solidFill>
                  <a:srgbClr val="2A9D8F"/>
                </a:solidFill>
                <a:latin typeface="Roboto Condensed"/>
                <a:cs typeface="Calibri Light"/>
              </a:rPr>
              <a:t>100% Regulatory Compliance Across Jurisdictions</a:t>
            </a:r>
          </a:p>
        </p:txBody>
      </p:sp>
      <p:sp>
        <p:nvSpPr>
          <p:cNvPr id="109" name="object 44">
            <a:extLst>
              <a:ext uri="{FF2B5EF4-FFF2-40B4-BE49-F238E27FC236}">
                <a16:creationId xmlns:a16="http://schemas.microsoft.com/office/drawing/2014/main" id="{4F55A902-DCED-43A9-3C37-B57FD89E4BC0}"/>
              </a:ext>
            </a:extLst>
          </p:cNvPr>
          <p:cNvSpPr/>
          <p:nvPr/>
        </p:nvSpPr>
        <p:spPr>
          <a:xfrm>
            <a:off x="9535668" y="6126188"/>
            <a:ext cx="2520315" cy="540385"/>
          </a:xfrm>
          <a:custGeom>
            <a:avLst/>
            <a:gdLst/>
            <a:ahLst/>
            <a:cxnLst/>
            <a:rect l="l" t="t" r="r" b="b"/>
            <a:pathLst>
              <a:path w="2520315" h="540384">
                <a:moveTo>
                  <a:pt x="2430017" y="0"/>
                </a:moveTo>
                <a:lnTo>
                  <a:pt x="90042" y="0"/>
                </a:lnTo>
                <a:lnTo>
                  <a:pt x="55024" y="7073"/>
                </a:lnTo>
                <a:lnTo>
                  <a:pt x="26400" y="26362"/>
                </a:lnTo>
                <a:lnTo>
                  <a:pt x="7086" y="54971"/>
                </a:lnTo>
                <a:lnTo>
                  <a:pt x="0" y="90004"/>
                </a:lnTo>
                <a:lnTo>
                  <a:pt x="0" y="449999"/>
                </a:lnTo>
                <a:lnTo>
                  <a:pt x="7086" y="485030"/>
                </a:lnTo>
                <a:lnTo>
                  <a:pt x="26400" y="513635"/>
                </a:lnTo>
                <a:lnTo>
                  <a:pt x="55024" y="532920"/>
                </a:lnTo>
                <a:lnTo>
                  <a:pt x="90042" y="539991"/>
                </a:lnTo>
                <a:lnTo>
                  <a:pt x="2430017" y="539991"/>
                </a:lnTo>
                <a:lnTo>
                  <a:pt x="2465089" y="532920"/>
                </a:lnTo>
                <a:lnTo>
                  <a:pt x="2493708" y="513635"/>
                </a:lnTo>
                <a:lnTo>
                  <a:pt x="2512992" y="485030"/>
                </a:lnTo>
                <a:lnTo>
                  <a:pt x="2520060" y="449999"/>
                </a:lnTo>
                <a:lnTo>
                  <a:pt x="2520060" y="90004"/>
                </a:lnTo>
                <a:lnTo>
                  <a:pt x="2512992" y="54971"/>
                </a:lnTo>
                <a:lnTo>
                  <a:pt x="2493708" y="26362"/>
                </a:lnTo>
                <a:lnTo>
                  <a:pt x="2465089" y="7073"/>
                </a:lnTo>
                <a:lnTo>
                  <a:pt x="2430017" y="0"/>
                </a:lnTo>
                <a:close/>
              </a:path>
            </a:pathLst>
          </a:custGeom>
          <a:solidFill>
            <a:srgbClr val="F5F5F5"/>
          </a:solidFill>
          <a:ln w="9525">
            <a:solidFill>
              <a:srgbClr val="DEDEDE"/>
            </a:solidFill>
          </a:ln>
          <a:effectLst/>
        </p:spPr>
        <p:txBody>
          <a:bodyPr wrap="square" lIns="0" tIns="0" rIns="0" bIns="0" rtlCol="0"/>
          <a:lstStyle/>
          <a:p>
            <a:endParaRPr/>
          </a:p>
        </p:txBody>
      </p:sp>
      <p:sp>
        <p:nvSpPr>
          <p:cNvPr id="110" name="object 45">
            <a:extLst>
              <a:ext uri="{FF2B5EF4-FFF2-40B4-BE49-F238E27FC236}">
                <a16:creationId xmlns:a16="http://schemas.microsoft.com/office/drawing/2014/main" id="{D503A560-F089-DBC6-A8DB-21BC0DB00C17}"/>
              </a:ext>
            </a:extLst>
          </p:cNvPr>
          <p:cNvSpPr txBox="1"/>
          <p:nvPr/>
        </p:nvSpPr>
        <p:spPr>
          <a:xfrm>
            <a:off x="9871329" y="6250939"/>
            <a:ext cx="2268876" cy="294031"/>
          </a:xfrm>
          <a:prstGeom prst="rect">
            <a:avLst/>
          </a:prstGeom>
        </p:spPr>
        <p:txBody>
          <a:bodyPr vert="horz" wrap="square" lIns="0" tIns="12065" rIns="0" bIns="0" rtlCol="0">
            <a:noAutofit/>
          </a:bodyPr>
          <a:lstStyle/>
          <a:p>
            <a:pPr marL="12700">
              <a:lnSpc>
                <a:spcPct val="100000"/>
              </a:lnSpc>
              <a:spcBef>
                <a:spcPts val="95"/>
              </a:spcBef>
            </a:pPr>
            <a:r>
              <a:rPr lang="en-IN" sz="1100" spc="-10" dirty="0">
                <a:solidFill>
                  <a:srgbClr val="2A9D8F"/>
                </a:solidFill>
                <a:latin typeface="Roboto Condensed"/>
                <a:cs typeface="Calibri Light"/>
              </a:rPr>
              <a:t>Supporting €1.3T Assets Seamlessly</a:t>
            </a:r>
          </a:p>
        </p:txBody>
      </p:sp>
      <p:sp>
        <p:nvSpPr>
          <p:cNvPr id="111" name="object 46">
            <a:extLst>
              <a:ext uri="{FF2B5EF4-FFF2-40B4-BE49-F238E27FC236}">
                <a16:creationId xmlns:a16="http://schemas.microsoft.com/office/drawing/2014/main" id="{8455ECFE-B46B-4B68-D82E-8BFFA81D0CC1}"/>
              </a:ext>
            </a:extLst>
          </p:cNvPr>
          <p:cNvSpPr txBox="1"/>
          <p:nvPr/>
        </p:nvSpPr>
        <p:spPr>
          <a:xfrm>
            <a:off x="83126" y="6100775"/>
            <a:ext cx="1440180" cy="540385"/>
          </a:xfrm>
          <a:prstGeom prst="rect">
            <a:avLst/>
          </a:prstGeom>
          <a:solidFill>
            <a:srgbClr val="2A9D8F"/>
          </a:solidFill>
          <a:ln>
            <a:noFill/>
          </a:ln>
        </p:spPr>
        <p:txBody>
          <a:bodyPr vert="horz" wrap="square" lIns="0" tIns="46355" rIns="0" bIns="0" rtlCol="0">
            <a:normAutofit/>
          </a:bodyPr>
          <a:lstStyle/>
          <a:p>
            <a:pPr marL="157480">
              <a:lnSpc>
                <a:spcPct val="100000"/>
              </a:lnSpc>
              <a:spcBef>
                <a:spcPts val="365"/>
              </a:spcBef>
            </a:pPr>
            <a:r>
              <a:rPr sz="1100" spc="-10" dirty="0">
                <a:solidFill>
                  <a:srgbClr val="FFFFFF"/>
                </a:solidFill>
                <a:latin typeface="Raleway"/>
                <a:cs typeface="Calibri Light"/>
              </a:rPr>
              <a:t>J2W</a:t>
            </a:r>
            <a:r>
              <a:rPr sz="1100" spc="-50" dirty="0">
                <a:solidFill>
                  <a:srgbClr val="FFFFFF"/>
                </a:solidFill>
                <a:latin typeface="Raleway"/>
                <a:cs typeface="Calibri Light"/>
              </a:rPr>
              <a:t> </a:t>
            </a:r>
            <a:r>
              <a:rPr sz="1100" spc="-10" dirty="0">
                <a:solidFill>
                  <a:srgbClr val="FFFFFF"/>
                </a:solidFill>
                <a:latin typeface="Raleway"/>
                <a:cs typeface="Calibri Light"/>
              </a:rPr>
              <a:t>Proprietary</a:t>
            </a:r>
            <a:endParaRPr sz="1400" dirty="0">
              <a:latin typeface="Calibri Light"/>
              <a:cs typeface="Calibri Light"/>
            </a:endParaRPr>
          </a:p>
          <a:p>
            <a:pPr marL="173990">
              <a:lnSpc>
                <a:spcPct val="100000"/>
              </a:lnSpc>
            </a:pPr>
            <a:r>
              <a:rPr sz="1100" spc="-25" dirty="0">
                <a:solidFill>
                  <a:srgbClr val="FFFFFF"/>
                </a:solidFill>
                <a:latin typeface="Raleway"/>
                <a:cs typeface="Calibri Light"/>
              </a:rPr>
              <a:t>Value</a:t>
            </a:r>
            <a:r>
              <a:rPr sz="1100" spc="-35" dirty="0">
                <a:solidFill>
                  <a:srgbClr val="FFFFFF"/>
                </a:solidFill>
                <a:latin typeface="Raleway"/>
                <a:cs typeface="Calibri Light"/>
              </a:rPr>
              <a:t> </a:t>
            </a:r>
            <a:r>
              <a:rPr sz="1100" spc="-10" dirty="0">
                <a:solidFill>
                  <a:srgbClr val="FFFFFF"/>
                </a:solidFill>
                <a:latin typeface="Raleway"/>
                <a:cs typeface="Calibri Light"/>
              </a:rPr>
              <a:t>Delivered</a:t>
            </a:r>
            <a:endParaRPr sz="1400" dirty="0">
              <a:latin typeface="Calibri Light"/>
              <a:cs typeface="Calibri Light"/>
            </a:endParaRPr>
          </a:p>
        </p:txBody>
      </p:sp>
      <p:sp>
        <p:nvSpPr>
          <p:cNvPr id="112" name="object 27">
            <a:extLst>
              <a:ext uri="{FF2B5EF4-FFF2-40B4-BE49-F238E27FC236}">
                <a16:creationId xmlns:a16="http://schemas.microsoft.com/office/drawing/2014/main" id="{B6F23CAA-3B62-8437-749E-1297678F6FF7}"/>
              </a:ext>
            </a:extLst>
          </p:cNvPr>
          <p:cNvSpPr txBox="1"/>
          <p:nvPr/>
        </p:nvSpPr>
        <p:spPr>
          <a:xfrm>
            <a:off x="3861257" y="3560231"/>
            <a:ext cx="3528822" cy="210031"/>
          </a:xfrm>
          <a:prstGeom prst="rect">
            <a:avLst/>
          </a:prstGeom>
        </p:spPr>
        <p:txBody>
          <a:bodyPr vert="horz" wrap="square" lIns="0" tIns="13335" rIns="0" bIns="0" rtlCol="0">
            <a:noAutofit/>
          </a:bodyPr>
          <a:lstStyle/>
          <a:p>
            <a:pPr marL="12700">
              <a:lnSpc>
                <a:spcPct val="100000"/>
              </a:lnSpc>
              <a:spcBef>
                <a:spcPts val="105"/>
              </a:spcBef>
            </a:pPr>
            <a:r>
              <a:rPr lang="en-IN" sz="1100" spc="-10" dirty="0">
                <a:solidFill/>
                <a:latin typeface="Raleway"/>
                <a:cs typeface="Calibri Light"/>
              </a:rPr>
              <a:t>Digital Transformation via Hybrid BOT–CaaS</a:t>
            </a:r>
          </a:p>
        </p:txBody>
      </p:sp>
      <p:sp>
        <p:nvSpPr>
          <p:cNvPr id="113" name="object 25">
            <a:extLst>
              <a:ext uri="{FF2B5EF4-FFF2-40B4-BE49-F238E27FC236}">
                <a16:creationId xmlns:a16="http://schemas.microsoft.com/office/drawing/2014/main" id="{B6CC0E5D-1D66-5F38-AE42-D6C2BC67BA69}"/>
              </a:ext>
            </a:extLst>
          </p:cNvPr>
          <p:cNvSpPr txBox="1"/>
          <p:nvPr/>
        </p:nvSpPr>
        <p:spPr>
          <a:xfrm>
            <a:off x="1894662" y="1409096"/>
            <a:ext cx="1728470" cy="239395"/>
          </a:xfrm>
          <a:prstGeom prst="rect">
            <a:avLst/>
          </a:prstGeom>
        </p:spPr>
        <p:txBody>
          <a:bodyPr vert="horz" wrap="square" lIns="0" tIns="13335" rIns="0" bIns="0" rtlCol="0">
            <a:noAutofit/>
          </a:bodyPr>
          <a:lstStyle/>
          <a:p>
            <a:pPr marL="12700" algn="ctr">
              <a:lnSpc>
                <a:spcPct val="100000"/>
              </a:lnSpc>
              <a:spcBef>
                <a:spcPts val="105"/>
              </a:spcBef>
            </a:pPr>
            <a:r>
              <a:rPr lang="en-IN" sz="1100" spc="-10" dirty="0">
                <a:solidFill/>
                <a:latin typeface="Raleway"/>
                <a:cs typeface="Calibri Light"/>
              </a:rPr>
              <a:t>120 banking professionals onboarded</a:t>
            </a:r>
          </a:p>
        </p:txBody>
      </p:sp>
      <p:sp>
        <p:nvSpPr>
          <p:cNvPr id="114" name="object 25">
            <a:extLst>
              <a:ext uri="{FF2B5EF4-FFF2-40B4-BE49-F238E27FC236}">
                <a16:creationId xmlns:a16="http://schemas.microsoft.com/office/drawing/2014/main" id="{E411E85B-00D1-6CEF-9643-6749A0F0DE49}"/>
              </a:ext>
            </a:extLst>
          </p:cNvPr>
          <p:cNvSpPr txBox="1"/>
          <p:nvPr/>
        </p:nvSpPr>
        <p:spPr>
          <a:xfrm>
            <a:off x="5534787" y="1452358"/>
            <a:ext cx="1728470" cy="239395"/>
          </a:xfrm>
          <a:prstGeom prst="rect">
            <a:avLst/>
          </a:prstGeom>
        </p:spPr>
        <p:txBody>
          <a:bodyPr vert="horz" wrap="square" lIns="0" tIns="13335" rIns="0" bIns="0" rtlCol="0">
            <a:normAutofit/>
          </a:bodyPr>
          <a:lstStyle/>
          <a:p>
            <a:pPr marL="12700" algn="ctr">
              <a:lnSpc>
                <a:spcPct val="100000"/>
              </a:lnSpc>
              <a:spcBef>
                <a:spcPts val="105"/>
              </a:spcBef>
            </a:pPr>
            <a:r>
              <a:rPr lang="en-IN" sz="1100" spc="-10" dirty="0">
                <a:solidFill/>
                <a:latin typeface="Raleway"/>
                <a:cs typeface="Calibri Light"/>
              </a:rPr>
              <a:t>450+ BFSI specialists</a:t>
            </a:r>
          </a:p>
        </p:txBody>
      </p:sp>
      <p:sp>
        <p:nvSpPr>
          <p:cNvPr id="115" name="object 25">
            <a:extLst>
              <a:ext uri="{FF2B5EF4-FFF2-40B4-BE49-F238E27FC236}">
                <a16:creationId xmlns:a16="http://schemas.microsoft.com/office/drawing/2014/main" id="{F8A31724-1A8D-BD2A-84FE-6C43EF3378ED}"/>
              </a:ext>
            </a:extLst>
          </p:cNvPr>
          <p:cNvSpPr txBox="1"/>
          <p:nvPr/>
        </p:nvSpPr>
        <p:spPr>
          <a:xfrm>
            <a:off x="9091421" y="1404136"/>
            <a:ext cx="2121218" cy="201295"/>
          </a:xfrm>
          <a:prstGeom prst="rect">
            <a:avLst/>
          </a:prstGeom>
        </p:spPr>
        <p:txBody>
          <a:bodyPr vert="horz" wrap="square" lIns="0" tIns="13335" rIns="0" bIns="0" rtlCol="0">
            <a:noAutofit/>
          </a:bodyPr>
          <a:lstStyle/>
          <a:p>
            <a:pPr marL="12700" algn="ctr">
              <a:lnSpc>
                <a:spcPct val="100000"/>
              </a:lnSpc>
              <a:spcBef>
                <a:spcPts val="105"/>
              </a:spcBef>
            </a:pPr>
            <a:r>
              <a:rPr lang="en-GB" sz="1100" spc="-10" dirty="0">
                <a:solidFill/>
                <a:latin typeface="Raleway"/>
                <a:cs typeface="Calibri Light"/>
              </a:rPr>
              <a:t>700+ professionals across multi-city APAC hub</a:t>
            </a:r>
          </a:p>
        </p:txBody>
      </p:sp>
      <p:sp>
        <p:nvSpPr>
          <p:cNvPr id="8" name="Text 7">
            <a:extLst>
              <a:ext uri="{FF2B5EF4-FFF2-40B4-BE49-F238E27FC236}">
                <a16:creationId xmlns:a16="http://schemas.microsoft.com/office/drawing/2014/main" id="{963AE215-0292-6570-A1A4-5716D7350AD7}"/>
              </a:ext>
            </a:extLst>
          </p:cNvPr>
          <p:cNvSpPr/>
          <p:nvPr/>
        </p:nvSpPr>
        <p:spPr>
          <a:xfrm>
            <a:off x="83185" y="6678993"/>
            <a:ext cx="2743200" cy="201168"/>
          </a:xfrm>
          <a:prstGeom prst="rect">
            <a:avLst/>
          </a:prstGeom>
          <a:noFill/>
          <a:ln/>
        </p:spPr>
        <p:txBody>
          <a:bodyPr wrap="square" lIns="0" tIns="0" rIns="0" bIns="0" rtlCol="0" anchor="ctr"/>
          <a:lstStyle/>
          <a:p>
            <a:pPr marL="0" indent="0" algn="l">
              <a:buNone/>
            </a:pPr>
            <a:r>
              <a:rPr lang="en-US" sz="800" kern="0" spc="100" dirty="0">
                <a:solidFill>
                  <a:srgbClr val="A1A1AA"/>
                </a:solidFill>
                <a:latin typeface="Roboto Condensed" pitchFamily="34" charset="0"/>
                <a:ea typeface="Roboto Condensed" pitchFamily="34" charset="-122"/>
                <a:cs typeface="Roboto Condensed" pitchFamily="34" charset="-120"/>
              </a:rPr>
              <a:t>JOULESTOWATTS</a:t>
            </a:r>
            <a:endParaRPr lang="en-US" sz="800" dirty="0"/>
          </a:p>
        </p:txBody>
      </p:sp>
    </p:spTree>
    <p:extLst>
      <p:ext uri="{BB962C8B-B14F-4D97-AF65-F5344CB8AC3E}">
        <p14:creationId xmlns:p14="http://schemas.microsoft.com/office/powerpoint/2010/main" val="399687326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8123327" cy="75895"/>
          </a:xfrm>
          <a:prstGeom prst="rect">
            <a:avLst/>
          </a:prstGeom>
          <a:solidFill>
            <a:srgbClr val="2A9D8F"/>
          </a:solidFill>
          <a:ln/>
        </p:spPr>
        <p:txBody>
          <a:bodyPr/>
          <a:lstStyle/>
          <a:p>
            <a:endParaRPr lang="en-IN"/>
          </a:p>
        </p:txBody>
      </p:sp>
      <p:sp>
        <p:nvSpPr>
          <p:cNvPr id="3" name="Shape 1"/>
          <p:cNvSpPr/>
          <p:nvPr/>
        </p:nvSpPr>
        <p:spPr>
          <a:xfrm>
            <a:off x="8123327" y="0"/>
            <a:ext cx="4068369" cy="75895"/>
          </a:xfrm>
          <a:prstGeom prst="rect">
            <a:avLst/>
          </a:prstGeom>
          <a:solidFill>
            <a:srgbClr val="D62839"/>
          </a:solidFill>
          <a:ln/>
        </p:spPr>
        <p:txBody>
          <a:bodyPr/>
          <a:lstStyle/>
          <a:p>
            <a:endParaRPr lang="en-IN"/>
          </a:p>
        </p:txBody>
      </p:sp>
      <p:sp>
        <p:nvSpPr>
          <p:cNvPr id="4" name="Shape 2"/>
          <p:cNvSpPr/>
          <p:nvPr/>
        </p:nvSpPr>
        <p:spPr>
          <a:xfrm>
            <a:off x="9265615" y="-1463040"/>
            <a:ext cx="3840480" cy="3840480"/>
          </a:xfrm>
          <a:prstGeom prst="ellipse">
            <a:avLst/>
          </a:prstGeom>
          <a:solidFill>
            <a:srgbClr val="2A9D8F">
              <a:alpha val="4000"/>
            </a:srgbClr>
          </a:solidFill>
          <a:ln/>
        </p:spPr>
        <p:txBody>
          <a:bodyPr/>
          <a:lstStyle/>
          <a:p>
            <a:endParaRPr lang="en-IN"/>
          </a:p>
        </p:txBody>
      </p:sp>
      <p:sp>
        <p:nvSpPr>
          <p:cNvPr id="5" name="Shape 3"/>
          <p:cNvSpPr/>
          <p:nvPr/>
        </p:nvSpPr>
        <p:spPr>
          <a:xfrm>
            <a:off x="502920" y="329184"/>
            <a:ext cx="54864" cy="310896"/>
          </a:xfrm>
          <a:prstGeom prst="rect">
            <a:avLst/>
          </a:prstGeom>
          <a:solidFill>
            <a:srgbClr val="111827"/>
          </a:solidFill>
          <a:ln/>
        </p:spPr>
        <p:txBody>
          <a:bodyPr/>
          <a:lstStyle/>
          <a:p>
            <a:endParaRPr lang="en-IN"/>
          </a:p>
        </p:txBody>
      </p:sp>
      <p:sp>
        <p:nvSpPr>
          <p:cNvPr id="6" name="Text 4"/>
          <p:cNvSpPr/>
          <p:nvPr/>
        </p:nvSpPr>
        <p:spPr>
          <a:xfrm>
            <a:off x="667512" y="265176"/>
            <a:ext cx="11021263" cy="384048"/>
          </a:xfrm>
          <a:prstGeom prst="rect">
            <a:avLst/>
          </a:prstGeom>
          <a:noFill/>
          <a:ln/>
        </p:spPr>
        <p:txBody>
          <a:bodyPr wrap="square" lIns="0" tIns="0" rIns="0" bIns="0" rtlCol="0" anchor="ctr"/>
          <a:lstStyle/>
          <a:p>
            <a:pPr marL="0" indent="0" algn="l">
              <a:buNone/>
            </a:pPr>
            <a:r>
              <a:rPr lang="en-US" sz="2200" b="1" dirty="0">
                <a:solidFill>
                  <a:srgbClr val="111827"/>
                </a:solidFill>
                <a:latin typeface="Oswald" pitchFamily="34" charset="0"/>
                <a:ea typeface="Oswald" pitchFamily="34" charset="-122"/>
                <a:cs typeface="Oswald" pitchFamily="34" charset="-120"/>
              </a:rPr>
              <a:t>PROVEN TRACK RECORD &amp; CLIENTS</a:t>
            </a:r>
            <a:endParaRPr lang="en-US" sz="2200" dirty="0"/>
          </a:p>
        </p:txBody>
      </p:sp>
      <p:sp>
        <p:nvSpPr>
          <p:cNvPr id="7" name="Text 5"/>
          <p:cNvSpPr/>
          <p:nvPr/>
        </p:nvSpPr>
        <p:spPr>
          <a:xfrm>
            <a:off x="667512" y="658368"/>
            <a:ext cx="11021263" cy="237744"/>
          </a:xfrm>
          <a:prstGeom prst="rect">
            <a:avLst/>
          </a:prstGeom>
          <a:noFill/>
          <a:ln/>
        </p:spPr>
        <p:txBody>
          <a:bodyPr wrap="square" lIns="0" tIns="0" rIns="0" bIns="0" rtlCol="0" anchor="ctr"/>
          <a:lstStyle/>
          <a:p>
            <a:pPr marL="0" indent="0" algn="l">
              <a:buNone/>
            </a:pPr>
            <a:r>
              <a:rPr lang="en-US" sz="1250" b="1" dirty="0">
                <a:solidFill>
                  <a:srgbClr val="2A9D8F"/>
                </a:solidFill>
                <a:latin typeface="Roboto Condensed" pitchFamily="34" charset="0"/>
                <a:ea typeface="Roboto Condensed" pitchFamily="34" charset="-122"/>
                <a:cs typeface="Roboto Condensed" pitchFamily="34" charset="-120"/>
              </a:rPr>
              <a:t>Leading brands trust J2W for their GCCs</a:t>
            </a:r>
            <a:endParaRPr lang="en-US" sz="1250" dirty="0"/>
          </a:p>
        </p:txBody>
      </p:sp>
      <p:sp>
        <p:nvSpPr>
          <p:cNvPr id="8" name="Text 6"/>
          <p:cNvSpPr/>
          <p:nvPr/>
        </p:nvSpPr>
        <p:spPr>
          <a:xfrm>
            <a:off x="502920" y="1051560"/>
            <a:ext cx="11185855" cy="365760"/>
          </a:xfrm>
          <a:prstGeom prst="rect">
            <a:avLst/>
          </a:prstGeom>
          <a:noFill/>
          <a:ln/>
        </p:spPr>
        <p:txBody>
          <a:bodyPr wrap="square" lIns="0" tIns="0" rIns="0" bIns="0" rtlCol="0" anchor="ctr"/>
          <a:lstStyle/>
          <a:p>
            <a:pPr marL="0" indent="0">
              <a:buNone/>
            </a:pPr>
            <a:r>
              <a:rPr lang="en-US" sz="1150" dirty="0">
                <a:solidFill>
                  <a:srgbClr val="4B5563"/>
                </a:solidFill>
                <a:latin typeface="Raleway" pitchFamily="34" charset="0"/>
                <a:ea typeface="Raleway" pitchFamily="34" charset="-122"/>
                <a:cs typeface="Raleway" pitchFamily="34" charset="-120"/>
              </a:rPr>
              <a:t>J2W’s reputation rests on delivering measurable outcomes for global leaders — top enterprises repeatedly choose J2W to establish, scale, and stabilize their GCCs.</a:t>
            </a:r>
            <a:endParaRPr lang="en-US" sz="1150" dirty="0"/>
          </a:p>
        </p:txBody>
      </p:sp>
      <p:sp>
        <p:nvSpPr>
          <p:cNvPr id="9" name="Shape 7"/>
          <p:cNvSpPr/>
          <p:nvPr/>
        </p:nvSpPr>
        <p:spPr>
          <a:xfrm>
            <a:off x="1426807" y="1874520"/>
            <a:ext cx="777240" cy="777240"/>
          </a:xfrm>
          <a:prstGeom prst="ellipse">
            <a:avLst/>
          </a:prstGeom>
          <a:solidFill>
            <a:srgbClr val="2A9D8F"/>
          </a:solidFill>
          <a:ln/>
        </p:spPr>
        <p:txBody>
          <a:bodyPr/>
          <a:lstStyle/>
          <a:p>
            <a:endParaRPr lang="en-IN"/>
          </a:p>
        </p:txBody>
      </p:sp>
      <p:pic>
        <p:nvPicPr>
          <p:cNvPr id="10" name="Image 0" descr="/home/claude/work/assets/icons/handshake_white.png"/>
          <p:cNvPicPr>
            <a:picLocks noChangeAspect="1"/>
          </p:cNvPicPr>
          <p:nvPr/>
        </p:nvPicPr>
        <p:blipFill>
          <a:blip r:embed="rId3"/>
          <a:stretch>
            <a:fillRect/>
          </a:stretch>
        </p:blipFill>
        <p:spPr>
          <a:xfrm>
            <a:off x="1601686" y="2049399"/>
            <a:ext cx="427482" cy="427482"/>
          </a:xfrm>
          <a:prstGeom prst="rect">
            <a:avLst/>
          </a:prstGeom>
        </p:spPr>
      </p:pic>
      <p:sp>
        <p:nvSpPr>
          <p:cNvPr id="11" name="Text 8"/>
          <p:cNvSpPr/>
          <p:nvPr/>
        </p:nvSpPr>
        <p:spPr>
          <a:xfrm>
            <a:off x="502920" y="2770632"/>
            <a:ext cx="2625014" cy="292608"/>
          </a:xfrm>
          <a:prstGeom prst="rect">
            <a:avLst/>
          </a:prstGeom>
          <a:noFill/>
          <a:ln/>
        </p:spPr>
        <p:txBody>
          <a:bodyPr wrap="square" lIns="0" tIns="0" rIns="0" bIns="0" rtlCol="0" anchor="ctr"/>
          <a:lstStyle/>
          <a:p>
            <a:pPr marL="0" indent="0" algn="ctr">
              <a:buNone/>
            </a:pPr>
            <a:r>
              <a:rPr lang="en-US" sz="1350" b="1" dirty="0">
                <a:solidFill>
                  <a:srgbClr val="111827"/>
                </a:solidFill>
                <a:latin typeface="Oswald" pitchFamily="34" charset="0"/>
                <a:ea typeface="Oswald" pitchFamily="34" charset="-122"/>
                <a:cs typeface="Oswald" pitchFamily="34" charset="-120"/>
              </a:rPr>
              <a:t>Count On Us</a:t>
            </a:r>
            <a:endParaRPr lang="en-US" sz="1350" dirty="0"/>
          </a:p>
        </p:txBody>
      </p:sp>
      <p:sp>
        <p:nvSpPr>
          <p:cNvPr id="12" name="Shape 9"/>
          <p:cNvSpPr/>
          <p:nvPr/>
        </p:nvSpPr>
        <p:spPr>
          <a:xfrm>
            <a:off x="502920" y="3246120"/>
            <a:ext cx="2625014" cy="1188720"/>
          </a:xfrm>
          <a:prstGeom prst="roundRect">
            <a:avLst>
              <a:gd name="adj" fmla="val 4615"/>
            </a:avLst>
          </a:prstGeom>
          <a:solidFill>
            <a:srgbClr val="F8FAFC"/>
          </a:solidFill>
          <a:ln w="12700">
            <a:solidFill>
              <a:srgbClr val="E2E8F0"/>
            </a:solidFill>
            <a:prstDash val="solid"/>
          </a:ln>
        </p:spPr>
        <p:txBody>
          <a:bodyPr/>
          <a:lstStyle/>
          <a:p>
            <a:endParaRPr lang="en-IN"/>
          </a:p>
        </p:txBody>
      </p:sp>
      <p:sp>
        <p:nvSpPr>
          <p:cNvPr id="13" name="Shape 10"/>
          <p:cNvSpPr/>
          <p:nvPr/>
        </p:nvSpPr>
        <p:spPr>
          <a:xfrm>
            <a:off x="502920" y="3246120"/>
            <a:ext cx="41148" cy="1188720"/>
          </a:xfrm>
          <a:prstGeom prst="roundRect">
            <a:avLst>
              <a:gd name="adj" fmla="val 44444"/>
            </a:avLst>
          </a:prstGeom>
          <a:solidFill>
            <a:srgbClr val="2A9D8F"/>
          </a:solidFill>
          <a:ln/>
        </p:spPr>
        <p:txBody>
          <a:bodyPr/>
          <a:lstStyle/>
          <a:p>
            <a:endParaRPr lang="en-IN"/>
          </a:p>
        </p:txBody>
      </p:sp>
      <p:sp>
        <p:nvSpPr>
          <p:cNvPr id="14" name="Text 11"/>
          <p:cNvSpPr/>
          <p:nvPr/>
        </p:nvSpPr>
        <p:spPr>
          <a:xfrm>
            <a:off x="704088" y="3447288"/>
            <a:ext cx="2259254" cy="457200"/>
          </a:xfrm>
          <a:prstGeom prst="rect">
            <a:avLst/>
          </a:prstGeom>
          <a:noFill/>
          <a:ln/>
        </p:spPr>
        <p:txBody>
          <a:bodyPr wrap="square" lIns="0" tIns="0" rIns="0" bIns="0" rtlCol="0" anchor="ctr"/>
          <a:lstStyle/>
          <a:p>
            <a:pPr marL="0" indent="0">
              <a:buNone/>
            </a:pPr>
            <a:r>
              <a:rPr lang="en-US" sz="3000" b="1" dirty="0">
                <a:solidFill>
                  <a:srgbClr val="2A9D8F"/>
                </a:solidFill>
                <a:latin typeface="Oswald" pitchFamily="34" charset="0"/>
                <a:ea typeface="Oswald" pitchFamily="34" charset="-122"/>
                <a:cs typeface="Oswald" pitchFamily="34" charset="-120"/>
              </a:rPr>
              <a:t>330+</a:t>
            </a:r>
            <a:endParaRPr lang="en-US" sz="3000" dirty="0"/>
          </a:p>
        </p:txBody>
      </p:sp>
      <p:sp>
        <p:nvSpPr>
          <p:cNvPr id="15" name="Text 12"/>
          <p:cNvSpPr/>
          <p:nvPr/>
        </p:nvSpPr>
        <p:spPr>
          <a:xfrm>
            <a:off x="704088" y="3959352"/>
            <a:ext cx="2259254" cy="384048"/>
          </a:xfrm>
          <a:prstGeom prst="rect">
            <a:avLst/>
          </a:prstGeom>
          <a:noFill/>
          <a:ln/>
        </p:spPr>
        <p:txBody>
          <a:bodyPr wrap="square" lIns="0" tIns="0" rIns="0" bIns="0" rtlCol="0" anchor="ctr"/>
          <a:lstStyle/>
          <a:p>
            <a:pPr marL="0" indent="0">
              <a:buNone/>
            </a:pPr>
            <a:r>
              <a:rPr lang="en-US" sz="1050" b="1" dirty="0">
                <a:solidFill>
                  <a:srgbClr val="1E293B"/>
                </a:solidFill>
                <a:latin typeface="Raleway" pitchFamily="34" charset="0"/>
                <a:ea typeface="Raleway" pitchFamily="34" charset="-122"/>
                <a:cs typeface="Raleway" pitchFamily="34" charset="-120"/>
              </a:rPr>
              <a:t>GCCs launched</a:t>
            </a:r>
            <a:endParaRPr lang="en-US" sz="1050" dirty="0"/>
          </a:p>
        </p:txBody>
      </p:sp>
      <p:sp>
        <p:nvSpPr>
          <p:cNvPr id="16" name="Shape 13"/>
          <p:cNvSpPr/>
          <p:nvPr/>
        </p:nvSpPr>
        <p:spPr>
          <a:xfrm>
            <a:off x="502920" y="4617720"/>
            <a:ext cx="2625014" cy="1371600"/>
          </a:xfrm>
          <a:prstGeom prst="roundRect">
            <a:avLst>
              <a:gd name="adj" fmla="val 4000"/>
            </a:avLst>
          </a:prstGeom>
          <a:solidFill>
            <a:srgbClr val="F8FAFC"/>
          </a:solidFill>
          <a:ln w="12700">
            <a:solidFill>
              <a:srgbClr val="E2E8F0"/>
            </a:solidFill>
            <a:prstDash val="solid"/>
          </a:ln>
        </p:spPr>
        <p:txBody>
          <a:bodyPr/>
          <a:lstStyle/>
          <a:p>
            <a:endParaRPr lang="en-IN"/>
          </a:p>
        </p:txBody>
      </p:sp>
      <p:sp>
        <p:nvSpPr>
          <p:cNvPr id="17" name="Text 14"/>
          <p:cNvSpPr/>
          <p:nvPr/>
        </p:nvSpPr>
        <p:spPr>
          <a:xfrm>
            <a:off x="685800" y="4617720"/>
            <a:ext cx="2259254" cy="1371600"/>
          </a:xfrm>
          <a:prstGeom prst="rect">
            <a:avLst/>
          </a:prstGeom>
          <a:noFill/>
          <a:ln/>
        </p:spPr>
        <p:txBody>
          <a:bodyPr wrap="square" lIns="0" tIns="0" rIns="0" bIns="0" rtlCol="0" anchor="ctr"/>
          <a:lstStyle/>
          <a:p>
            <a:pPr marL="0" indent="0" algn="ctr">
              <a:lnSpc>
                <a:spcPct val="120000"/>
              </a:lnSpc>
              <a:buNone/>
            </a:pPr>
            <a:r>
              <a:rPr lang="en-US" sz="1100" dirty="0">
                <a:solidFill>
                  <a:srgbClr val="4B5563"/>
                </a:solidFill>
                <a:latin typeface="Raleway" pitchFamily="34" charset="0"/>
                <a:ea typeface="Raleway" pitchFamily="34" charset="-122"/>
                <a:cs typeface="Raleway" pitchFamily="34" charset="-120"/>
              </a:rPr>
              <a:t>Spanning US, Europe, and Asia.</a:t>
            </a:r>
            <a:endParaRPr lang="en-US" sz="1100" dirty="0"/>
          </a:p>
        </p:txBody>
      </p:sp>
      <p:sp>
        <p:nvSpPr>
          <p:cNvPr id="18" name="Shape 15"/>
          <p:cNvSpPr/>
          <p:nvPr/>
        </p:nvSpPr>
        <p:spPr>
          <a:xfrm>
            <a:off x="4280421" y="1874520"/>
            <a:ext cx="777240" cy="777240"/>
          </a:xfrm>
          <a:prstGeom prst="ellipse">
            <a:avLst/>
          </a:prstGeom>
          <a:solidFill>
            <a:srgbClr val="D62839"/>
          </a:solidFill>
          <a:ln/>
        </p:spPr>
        <p:txBody>
          <a:bodyPr/>
          <a:lstStyle/>
          <a:p>
            <a:endParaRPr lang="en-IN"/>
          </a:p>
        </p:txBody>
      </p:sp>
      <p:pic>
        <p:nvPicPr>
          <p:cNvPr id="19" name="Image 1" descr="/home/claude/work/assets/icons/award_white.png"/>
          <p:cNvPicPr>
            <a:picLocks noChangeAspect="1"/>
          </p:cNvPicPr>
          <p:nvPr/>
        </p:nvPicPr>
        <p:blipFill>
          <a:blip r:embed="rId4"/>
          <a:stretch>
            <a:fillRect/>
          </a:stretch>
        </p:blipFill>
        <p:spPr>
          <a:xfrm>
            <a:off x="4455300" y="2049399"/>
            <a:ext cx="427482" cy="427482"/>
          </a:xfrm>
          <a:prstGeom prst="rect">
            <a:avLst/>
          </a:prstGeom>
        </p:spPr>
      </p:pic>
      <p:sp>
        <p:nvSpPr>
          <p:cNvPr id="20" name="Text 16"/>
          <p:cNvSpPr/>
          <p:nvPr/>
        </p:nvSpPr>
        <p:spPr>
          <a:xfrm>
            <a:off x="3356534" y="2770632"/>
            <a:ext cx="2625014" cy="292608"/>
          </a:xfrm>
          <a:prstGeom prst="rect">
            <a:avLst/>
          </a:prstGeom>
          <a:noFill/>
          <a:ln/>
        </p:spPr>
        <p:txBody>
          <a:bodyPr wrap="square" lIns="0" tIns="0" rIns="0" bIns="0" rtlCol="0" anchor="ctr"/>
          <a:lstStyle/>
          <a:p>
            <a:pPr marL="0" indent="0" algn="ctr">
              <a:buNone/>
            </a:pPr>
            <a:r>
              <a:rPr lang="en-US" sz="1350" b="1" dirty="0">
                <a:solidFill>
                  <a:srgbClr val="111827"/>
                </a:solidFill>
                <a:latin typeface="Oswald" pitchFamily="34" charset="0"/>
                <a:ea typeface="Oswald" pitchFamily="34" charset="-122"/>
                <a:cs typeface="Oswald" pitchFamily="34" charset="-120"/>
              </a:rPr>
              <a:t>Prestigious Clients</a:t>
            </a:r>
            <a:endParaRPr lang="en-US" sz="1350" dirty="0"/>
          </a:p>
        </p:txBody>
      </p:sp>
      <p:sp>
        <p:nvSpPr>
          <p:cNvPr id="21" name="Shape 17"/>
          <p:cNvSpPr/>
          <p:nvPr/>
        </p:nvSpPr>
        <p:spPr>
          <a:xfrm>
            <a:off x="3356534" y="3246120"/>
            <a:ext cx="2625014" cy="2743200"/>
          </a:xfrm>
          <a:prstGeom prst="roundRect">
            <a:avLst>
              <a:gd name="adj" fmla="val 2090"/>
            </a:avLst>
          </a:prstGeom>
          <a:solidFill>
            <a:srgbClr val="F8FAFC"/>
          </a:solidFill>
          <a:ln w="12700">
            <a:solidFill>
              <a:srgbClr val="E2E8F0"/>
            </a:solidFill>
            <a:prstDash val="solid"/>
          </a:ln>
        </p:spPr>
        <p:txBody>
          <a:bodyPr/>
          <a:lstStyle/>
          <a:p>
            <a:endParaRPr lang="en-IN"/>
          </a:p>
        </p:txBody>
      </p:sp>
      <p:pic>
        <p:nvPicPr>
          <p:cNvPr id="22" name="Image 2" descr="/home/claude/work/assets/logos/mercedes.png"/>
          <p:cNvPicPr>
            <a:picLocks noChangeAspect="1"/>
          </p:cNvPicPr>
          <p:nvPr/>
        </p:nvPicPr>
        <p:blipFill>
          <a:blip r:embed="rId5"/>
          <a:srcRect/>
          <a:stretch/>
        </p:blipFill>
        <p:spPr>
          <a:xfrm>
            <a:off x="3649142" y="3538728"/>
            <a:ext cx="2039798" cy="457200"/>
          </a:xfrm>
          <a:prstGeom prst="rect">
            <a:avLst/>
          </a:prstGeom>
        </p:spPr>
      </p:pic>
      <p:pic>
        <p:nvPicPr>
          <p:cNvPr id="23" name="Image 3" descr="/home/claude/work/assets/logos/schneider.png"/>
          <p:cNvPicPr>
            <a:picLocks noChangeAspect="1"/>
          </p:cNvPicPr>
          <p:nvPr/>
        </p:nvPicPr>
        <p:blipFill>
          <a:blip r:embed="rId6"/>
          <a:srcRect/>
          <a:stretch/>
        </p:blipFill>
        <p:spPr>
          <a:xfrm>
            <a:off x="3649142" y="4197096"/>
            <a:ext cx="2039798" cy="457200"/>
          </a:xfrm>
          <a:prstGeom prst="rect">
            <a:avLst/>
          </a:prstGeom>
        </p:spPr>
      </p:pic>
      <p:pic>
        <p:nvPicPr>
          <p:cNvPr id="24" name="Image 4" descr="/home/claude/work/assets/logos/unitedhealthcare.png"/>
          <p:cNvPicPr>
            <a:picLocks noChangeAspect="1"/>
          </p:cNvPicPr>
          <p:nvPr/>
        </p:nvPicPr>
        <p:blipFill>
          <a:blip r:embed="rId7"/>
          <a:srcRect/>
          <a:stretch/>
        </p:blipFill>
        <p:spPr>
          <a:xfrm>
            <a:off x="3649142" y="4855464"/>
            <a:ext cx="2039798" cy="457200"/>
          </a:xfrm>
          <a:prstGeom prst="rect">
            <a:avLst/>
          </a:prstGeom>
        </p:spPr>
      </p:pic>
      <p:pic>
        <p:nvPicPr>
          <p:cNvPr id="25" name="Image 5" descr="/home/claude/work/assets/logos/societegenerale.png"/>
          <p:cNvPicPr>
            <a:picLocks noChangeAspect="1"/>
          </p:cNvPicPr>
          <p:nvPr/>
        </p:nvPicPr>
        <p:blipFill>
          <a:blip r:embed="rId8"/>
          <a:srcRect/>
          <a:stretch/>
        </p:blipFill>
        <p:spPr>
          <a:xfrm>
            <a:off x="3649142" y="5513832"/>
            <a:ext cx="2039798" cy="457200"/>
          </a:xfrm>
          <a:prstGeom prst="rect">
            <a:avLst/>
          </a:prstGeom>
        </p:spPr>
      </p:pic>
      <p:sp>
        <p:nvSpPr>
          <p:cNvPr id="26" name="Shape 18"/>
          <p:cNvSpPr/>
          <p:nvPr/>
        </p:nvSpPr>
        <p:spPr>
          <a:xfrm>
            <a:off x="7134034" y="1874520"/>
            <a:ext cx="777240" cy="777240"/>
          </a:xfrm>
          <a:prstGeom prst="ellipse">
            <a:avLst/>
          </a:prstGeom>
          <a:solidFill>
            <a:srgbClr val="2A9D8F"/>
          </a:solidFill>
          <a:ln/>
        </p:spPr>
        <p:txBody>
          <a:bodyPr/>
          <a:lstStyle/>
          <a:p>
            <a:endParaRPr lang="en-IN"/>
          </a:p>
        </p:txBody>
      </p:sp>
      <p:pic>
        <p:nvPicPr>
          <p:cNvPr id="27" name="Image 6" descr="/home/claude/work/assets/icons/globe_white.png"/>
          <p:cNvPicPr>
            <a:picLocks noChangeAspect="1"/>
          </p:cNvPicPr>
          <p:nvPr/>
        </p:nvPicPr>
        <p:blipFill>
          <a:blip r:embed="rId9"/>
          <a:stretch>
            <a:fillRect/>
          </a:stretch>
        </p:blipFill>
        <p:spPr>
          <a:xfrm>
            <a:off x="7308913" y="2049399"/>
            <a:ext cx="427482" cy="427482"/>
          </a:xfrm>
          <a:prstGeom prst="rect">
            <a:avLst/>
          </a:prstGeom>
        </p:spPr>
      </p:pic>
      <p:sp>
        <p:nvSpPr>
          <p:cNvPr id="28" name="Text 19"/>
          <p:cNvSpPr/>
          <p:nvPr/>
        </p:nvSpPr>
        <p:spPr>
          <a:xfrm>
            <a:off x="6210148" y="2770632"/>
            <a:ext cx="2625014" cy="292608"/>
          </a:xfrm>
          <a:prstGeom prst="rect">
            <a:avLst/>
          </a:prstGeom>
          <a:noFill/>
          <a:ln/>
        </p:spPr>
        <p:txBody>
          <a:bodyPr wrap="square" lIns="0" tIns="0" rIns="0" bIns="0" rtlCol="0" anchor="ctr"/>
          <a:lstStyle/>
          <a:p>
            <a:pPr marL="0" indent="0" algn="ctr">
              <a:buNone/>
            </a:pPr>
            <a:r>
              <a:rPr lang="en-US" sz="1350" b="1" dirty="0">
                <a:solidFill>
                  <a:srgbClr val="111827"/>
                </a:solidFill>
                <a:latin typeface="Oswald" pitchFamily="34" charset="0"/>
                <a:ea typeface="Oswald" pitchFamily="34" charset="-122"/>
                <a:cs typeface="Oswald" pitchFamily="34" charset="-120"/>
              </a:rPr>
              <a:t>Global Delivery</a:t>
            </a:r>
            <a:endParaRPr lang="en-US" sz="1350" dirty="0"/>
          </a:p>
        </p:txBody>
      </p:sp>
      <p:sp>
        <p:nvSpPr>
          <p:cNvPr id="29" name="Shape 20"/>
          <p:cNvSpPr/>
          <p:nvPr/>
        </p:nvSpPr>
        <p:spPr>
          <a:xfrm>
            <a:off x="6210148" y="3246120"/>
            <a:ext cx="2625014" cy="1188720"/>
          </a:xfrm>
          <a:prstGeom prst="roundRect">
            <a:avLst>
              <a:gd name="adj" fmla="val 4615"/>
            </a:avLst>
          </a:prstGeom>
          <a:solidFill>
            <a:srgbClr val="F8FAFC"/>
          </a:solidFill>
          <a:ln w="12700">
            <a:solidFill>
              <a:srgbClr val="E2E8F0"/>
            </a:solidFill>
            <a:prstDash val="solid"/>
          </a:ln>
        </p:spPr>
        <p:txBody>
          <a:bodyPr/>
          <a:lstStyle/>
          <a:p>
            <a:endParaRPr lang="en-IN"/>
          </a:p>
        </p:txBody>
      </p:sp>
      <p:sp>
        <p:nvSpPr>
          <p:cNvPr id="30" name="Shape 21"/>
          <p:cNvSpPr/>
          <p:nvPr/>
        </p:nvSpPr>
        <p:spPr>
          <a:xfrm>
            <a:off x="6210148" y="3246120"/>
            <a:ext cx="41148" cy="1188720"/>
          </a:xfrm>
          <a:prstGeom prst="roundRect">
            <a:avLst>
              <a:gd name="adj" fmla="val 44444"/>
            </a:avLst>
          </a:prstGeom>
          <a:solidFill>
            <a:srgbClr val="2A9D8F"/>
          </a:solidFill>
          <a:ln/>
        </p:spPr>
        <p:txBody>
          <a:bodyPr/>
          <a:lstStyle/>
          <a:p>
            <a:endParaRPr lang="en-IN"/>
          </a:p>
        </p:txBody>
      </p:sp>
      <p:sp>
        <p:nvSpPr>
          <p:cNvPr id="31" name="Text 22"/>
          <p:cNvSpPr/>
          <p:nvPr/>
        </p:nvSpPr>
        <p:spPr>
          <a:xfrm>
            <a:off x="6411316" y="3447288"/>
            <a:ext cx="2259254" cy="457200"/>
          </a:xfrm>
          <a:prstGeom prst="rect">
            <a:avLst/>
          </a:prstGeom>
          <a:noFill/>
          <a:ln/>
        </p:spPr>
        <p:txBody>
          <a:bodyPr wrap="square" lIns="0" tIns="0" rIns="0" bIns="0" rtlCol="0" anchor="ctr"/>
          <a:lstStyle/>
          <a:p>
            <a:pPr marL="0" indent="0">
              <a:buNone/>
            </a:pPr>
            <a:r>
              <a:rPr lang="en-US" sz="3000" b="1" dirty="0">
                <a:solidFill>
                  <a:srgbClr val="2A9D8F"/>
                </a:solidFill>
                <a:latin typeface="Oswald" pitchFamily="34" charset="0"/>
                <a:ea typeface="Oswald" pitchFamily="34" charset="-122"/>
                <a:cs typeface="Oswald" pitchFamily="34" charset="-120"/>
              </a:rPr>
              <a:t>200+</a:t>
            </a:r>
            <a:endParaRPr lang="en-US" sz="3000" dirty="0"/>
          </a:p>
        </p:txBody>
      </p:sp>
      <p:sp>
        <p:nvSpPr>
          <p:cNvPr id="32" name="Text 23"/>
          <p:cNvSpPr/>
          <p:nvPr/>
        </p:nvSpPr>
        <p:spPr>
          <a:xfrm>
            <a:off x="6411316" y="3959352"/>
            <a:ext cx="2259254" cy="384048"/>
          </a:xfrm>
          <a:prstGeom prst="rect">
            <a:avLst/>
          </a:prstGeom>
          <a:noFill/>
          <a:ln/>
        </p:spPr>
        <p:txBody>
          <a:bodyPr wrap="square" lIns="0" tIns="0" rIns="0" bIns="0" rtlCol="0" anchor="ctr"/>
          <a:lstStyle/>
          <a:p>
            <a:pPr marL="0" indent="0">
              <a:buNone/>
            </a:pPr>
            <a:r>
              <a:rPr lang="en-US" sz="1050" b="1" dirty="0">
                <a:solidFill>
                  <a:srgbClr val="1E293B"/>
                </a:solidFill>
                <a:latin typeface="Raleway" pitchFamily="34" charset="0"/>
                <a:ea typeface="Raleway" pitchFamily="34" charset="-122"/>
                <a:cs typeface="Raleway" pitchFamily="34" charset="-120"/>
              </a:rPr>
              <a:t>Enterprise clients</a:t>
            </a:r>
            <a:endParaRPr lang="en-US" sz="1050" dirty="0"/>
          </a:p>
        </p:txBody>
      </p:sp>
      <p:sp>
        <p:nvSpPr>
          <p:cNvPr id="33" name="Shape 24"/>
          <p:cNvSpPr/>
          <p:nvPr/>
        </p:nvSpPr>
        <p:spPr>
          <a:xfrm>
            <a:off x="6210148" y="4617720"/>
            <a:ext cx="2625014" cy="1371600"/>
          </a:xfrm>
          <a:prstGeom prst="roundRect">
            <a:avLst>
              <a:gd name="adj" fmla="val 4000"/>
            </a:avLst>
          </a:prstGeom>
          <a:solidFill>
            <a:srgbClr val="F8FAFC"/>
          </a:solidFill>
          <a:ln w="12700">
            <a:solidFill>
              <a:srgbClr val="E2E8F0"/>
            </a:solidFill>
            <a:prstDash val="solid"/>
          </a:ln>
        </p:spPr>
        <p:txBody>
          <a:bodyPr/>
          <a:lstStyle/>
          <a:p>
            <a:endParaRPr lang="en-IN"/>
          </a:p>
        </p:txBody>
      </p:sp>
      <p:sp>
        <p:nvSpPr>
          <p:cNvPr id="34" name="Text 25"/>
          <p:cNvSpPr/>
          <p:nvPr/>
        </p:nvSpPr>
        <p:spPr>
          <a:xfrm>
            <a:off x="6393028" y="4617720"/>
            <a:ext cx="2259254" cy="1371600"/>
          </a:xfrm>
          <a:prstGeom prst="rect">
            <a:avLst/>
          </a:prstGeom>
          <a:noFill/>
          <a:ln/>
        </p:spPr>
        <p:txBody>
          <a:bodyPr wrap="square" lIns="0" tIns="0" rIns="0" bIns="0" rtlCol="0" anchor="ctr"/>
          <a:lstStyle/>
          <a:p>
            <a:pPr marL="0" indent="0" algn="ctr">
              <a:lnSpc>
                <a:spcPct val="120000"/>
              </a:lnSpc>
              <a:buNone/>
            </a:pPr>
            <a:r>
              <a:rPr lang="en-US" sz="1100" dirty="0">
                <a:solidFill>
                  <a:srgbClr val="4B5563"/>
                </a:solidFill>
                <a:latin typeface="Raleway" pitchFamily="34" charset="0"/>
                <a:ea typeface="Raleway" pitchFamily="34" charset="-122"/>
                <a:cs typeface="Raleway" pitchFamily="34" charset="-120"/>
              </a:rPr>
              <a:t>Handling high-value mandates at CIO/CFO level.</a:t>
            </a:r>
            <a:endParaRPr lang="en-US" sz="1100" dirty="0"/>
          </a:p>
        </p:txBody>
      </p:sp>
      <p:sp>
        <p:nvSpPr>
          <p:cNvPr id="35" name="Shape 26"/>
          <p:cNvSpPr/>
          <p:nvPr/>
        </p:nvSpPr>
        <p:spPr>
          <a:xfrm>
            <a:off x="9987648" y="1874520"/>
            <a:ext cx="777240" cy="777240"/>
          </a:xfrm>
          <a:prstGeom prst="ellipse">
            <a:avLst/>
          </a:prstGeom>
          <a:solidFill>
            <a:srgbClr val="D62839"/>
          </a:solidFill>
          <a:ln/>
        </p:spPr>
        <p:txBody>
          <a:bodyPr/>
          <a:lstStyle/>
          <a:p>
            <a:endParaRPr lang="en-IN"/>
          </a:p>
        </p:txBody>
      </p:sp>
      <p:pic>
        <p:nvPicPr>
          <p:cNvPr id="36" name="Image 7" descr="/home/claude/work/assets/icons/star_white.png"/>
          <p:cNvPicPr>
            <a:picLocks noChangeAspect="1"/>
          </p:cNvPicPr>
          <p:nvPr/>
        </p:nvPicPr>
        <p:blipFill>
          <a:blip r:embed="rId10"/>
          <a:stretch>
            <a:fillRect/>
          </a:stretch>
        </p:blipFill>
        <p:spPr>
          <a:xfrm>
            <a:off x="10162527" y="2049399"/>
            <a:ext cx="427482" cy="427482"/>
          </a:xfrm>
          <a:prstGeom prst="rect">
            <a:avLst/>
          </a:prstGeom>
        </p:spPr>
      </p:pic>
      <p:sp>
        <p:nvSpPr>
          <p:cNvPr id="37" name="Text 27"/>
          <p:cNvSpPr/>
          <p:nvPr/>
        </p:nvSpPr>
        <p:spPr>
          <a:xfrm>
            <a:off x="9063761" y="2770632"/>
            <a:ext cx="2625014" cy="292608"/>
          </a:xfrm>
          <a:prstGeom prst="rect">
            <a:avLst/>
          </a:prstGeom>
          <a:noFill/>
          <a:ln/>
        </p:spPr>
        <p:txBody>
          <a:bodyPr wrap="square" lIns="0" tIns="0" rIns="0" bIns="0" rtlCol="0" anchor="ctr"/>
          <a:lstStyle/>
          <a:p>
            <a:pPr marL="0" indent="0" algn="ctr">
              <a:buNone/>
            </a:pPr>
            <a:r>
              <a:rPr lang="en-US" sz="1350" b="1" dirty="0">
                <a:solidFill>
                  <a:srgbClr val="111827"/>
                </a:solidFill>
                <a:latin typeface="Oswald" pitchFamily="34" charset="0"/>
                <a:ea typeface="Oswald" pitchFamily="34" charset="-122"/>
                <a:cs typeface="Oswald" pitchFamily="34" charset="-120"/>
              </a:rPr>
              <a:t>High Satisfaction</a:t>
            </a:r>
            <a:endParaRPr lang="en-US" sz="1350" dirty="0"/>
          </a:p>
        </p:txBody>
      </p:sp>
      <p:sp>
        <p:nvSpPr>
          <p:cNvPr id="38" name="Shape 28"/>
          <p:cNvSpPr/>
          <p:nvPr/>
        </p:nvSpPr>
        <p:spPr>
          <a:xfrm>
            <a:off x="9063761" y="3246120"/>
            <a:ext cx="2625014" cy="1188720"/>
          </a:xfrm>
          <a:prstGeom prst="roundRect">
            <a:avLst>
              <a:gd name="adj" fmla="val 4615"/>
            </a:avLst>
          </a:prstGeom>
          <a:solidFill>
            <a:srgbClr val="F8FAFC"/>
          </a:solidFill>
          <a:ln w="12700">
            <a:solidFill>
              <a:srgbClr val="E2E8F0"/>
            </a:solidFill>
            <a:prstDash val="solid"/>
          </a:ln>
        </p:spPr>
        <p:txBody>
          <a:bodyPr/>
          <a:lstStyle/>
          <a:p>
            <a:endParaRPr lang="en-IN"/>
          </a:p>
        </p:txBody>
      </p:sp>
      <p:sp>
        <p:nvSpPr>
          <p:cNvPr id="39" name="Shape 29"/>
          <p:cNvSpPr/>
          <p:nvPr/>
        </p:nvSpPr>
        <p:spPr>
          <a:xfrm>
            <a:off x="9063761" y="3246120"/>
            <a:ext cx="41148" cy="1188720"/>
          </a:xfrm>
          <a:prstGeom prst="roundRect">
            <a:avLst>
              <a:gd name="adj" fmla="val 44444"/>
            </a:avLst>
          </a:prstGeom>
          <a:solidFill>
            <a:srgbClr val="D62839"/>
          </a:solidFill>
          <a:ln/>
        </p:spPr>
        <p:txBody>
          <a:bodyPr/>
          <a:lstStyle/>
          <a:p>
            <a:endParaRPr lang="en-IN"/>
          </a:p>
        </p:txBody>
      </p:sp>
      <p:sp>
        <p:nvSpPr>
          <p:cNvPr id="40" name="Text 30"/>
          <p:cNvSpPr/>
          <p:nvPr/>
        </p:nvSpPr>
        <p:spPr>
          <a:xfrm>
            <a:off x="9264929" y="3447288"/>
            <a:ext cx="2259254" cy="457200"/>
          </a:xfrm>
          <a:prstGeom prst="rect">
            <a:avLst/>
          </a:prstGeom>
          <a:noFill/>
          <a:ln/>
        </p:spPr>
        <p:txBody>
          <a:bodyPr wrap="square" lIns="0" tIns="0" rIns="0" bIns="0" rtlCol="0" anchor="ctr"/>
          <a:lstStyle/>
          <a:p>
            <a:pPr marL="0" indent="0">
              <a:buNone/>
            </a:pPr>
            <a:r>
              <a:rPr lang="en-US" sz="3000" b="1" dirty="0">
                <a:solidFill>
                  <a:srgbClr val="D62839"/>
                </a:solidFill>
                <a:latin typeface="Oswald" pitchFamily="34" charset="0"/>
                <a:ea typeface="Oswald" pitchFamily="34" charset="-122"/>
                <a:cs typeface="Oswald" pitchFamily="34" charset="-120"/>
              </a:rPr>
              <a:t>80%+</a:t>
            </a:r>
            <a:endParaRPr lang="en-US" sz="3000" dirty="0"/>
          </a:p>
        </p:txBody>
      </p:sp>
      <p:sp>
        <p:nvSpPr>
          <p:cNvPr id="41" name="Text 31"/>
          <p:cNvSpPr/>
          <p:nvPr/>
        </p:nvSpPr>
        <p:spPr>
          <a:xfrm>
            <a:off x="9264929" y="3959352"/>
            <a:ext cx="2259254" cy="384048"/>
          </a:xfrm>
          <a:prstGeom prst="rect">
            <a:avLst/>
          </a:prstGeom>
          <a:noFill/>
          <a:ln/>
        </p:spPr>
        <p:txBody>
          <a:bodyPr wrap="square" lIns="0" tIns="0" rIns="0" bIns="0" rtlCol="0" anchor="ctr"/>
          <a:lstStyle/>
          <a:p>
            <a:pPr marL="0" indent="0">
              <a:buNone/>
            </a:pPr>
            <a:r>
              <a:rPr lang="en-US" sz="1050" b="1" dirty="0">
                <a:solidFill>
                  <a:srgbClr val="1E293B"/>
                </a:solidFill>
                <a:latin typeface="Raleway" pitchFamily="34" charset="0"/>
                <a:ea typeface="Raleway" pitchFamily="34" charset="-122"/>
                <a:cs typeface="Raleway" pitchFamily="34" charset="-120"/>
              </a:rPr>
              <a:t>Revenue from repeat clients</a:t>
            </a:r>
            <a:endParaRPr lang="en-US" sz="1050" dirty="0"/>
          </a:p>
        </p:txBody>
      </p:sp>
      <p:sp>
        <p:nvSpPr>
          <p:cNvPr id="42" name="Shape 32"/>
          <p:cNvSpPr/>
          <p:nvPr/>
        </p:nvSpPr>
        <p:spPr>
          <a:xfrm>
            <a:off x="9063761" y="4617720"/>
            <a:ext cx="2625014" cy="1371600"/>
          </a:xfrm>
          <a:prstGeom prst="roundRect">
            <a:avLst>
              <a:gd name="adj" fmla="val 4000"/>
            </a:avLst>
          </a:prstGeom>
          <a:solidFill>
            <a:srgbClr val="F8FAFC"/>
          </a:solidFill>
          <a:ln w="12700">
            <a:solidFill>
              <a:srgbClr val="E2E8F0"/>
            </a:solidFill>
            <a:prstDash val="solid"/>
          </a:ln>
        </p:spPr>
        <p:txBody>
          <a:bodyPr/>
          <a:lstStyle/>
          <a:p>
            <a:endParaRPr lang="en-IN"/>
          </a:p>
        </p:txBody>
      </p:sp>
      <p:sp>
        <p:nvSpPr>
          <p:cNvPr id="43" name="Text 33"/>
          <p:cNvSpPr/>
          <p:nvPr/>
        </p:nvSpPr>
        <p:spPr>
          <a:xfrm>
            <a:off x="9246641" y="4617720"/>
            <a:ext cx="2259254" cy="1371600"/>
          </a:xfrm>
          <a:prstGeom prst="rect">
            <a:avLst/>
          </a:prstGeom>
          <a:noFill/>
          <a:ln/>
        </p:spPr>
        <p:txBody>
          <a:bodyPr wrap="square" lIns="0" tIns="0" rIns="0" bIns="0" rtlCol="0" anchor="ctr"/>
          <a:lstStyle/>
          <a:p>
            <a:pPr marL="0" indent="0" algn="ctr">
              <a:lnSpc>
                <a:spcPct val="120000"/>
              </a:lnSpc>
              <a:buNone/>
            </a:pPr>
            <a:r>
              <a:rPr lang="en-US" sz="1100" dirty="0">
                <a:solidFill>
                  <a:srgbClr val="4B5563"/>
                </a:solidFill>
                <a:latin typeface="Raleway" pitchFamily="34" charset="0"/>
                <a:ea typeface="Raleway" pitchFamily="34" charset="-122"/>
                <a:cs typeface="Raleway" pitchFamily="34" charset="-120"/>
              </a:rPr>
              <a:t>Rated 5/5 for quality and delivery.</a:t>
            </a:r>
            <a:endParaRPr lang="en-US" sz="1100" dirty="0"/>
          </a:p>
        </p:txBody>
      </p:sp>
      <p:sp>
        <p:nvSpPr>
          <p:cNvPr id="44" name="Text 34"/>
          <p:cNvSpPr/>
          <p:nvPr/>
        </p:nvSpPr>
        <p:spPr>
          <a:xfrm>
            <a:off x="502920" y="6263640"/>
            <a:ext cx="11185855" cy="292608"/>
          </a:xfrm>
          <a:prstGeom prst="rect">
            <a:avLst/>
          </a:prstGeom>
          <a:noFill/>
          <a:ln/>
        </p:spPr>
        <p:txBody>
          <a:bodyPr wrap="square" lIns="0" tIns="0" rIns="0" bIns="0" rtlCol="0" anchor="ctr"/>
          <a:lstStyle/>
          <a:p>
            <a:pPr marL="0" indent="0" algn="l">
              <a:buNone/>
            </a:pPr>
            <a:r>
              <a:rPr lang="en-US" sz="1050" i="1" dirty="0">
                <a:solidFill>
                  <a:srgbClr val="4B5563"/>
                </a:solidFill>
                <a:latin typeface="Raleway" pitchFamily="34" charset="0"/>
                <a:ea typeface="Raleway" pitchFamily="34" charset="-122"/>
                <a:cs typeface="Raleway" pitchFamily="34" charset="-120"/>
              </a:rPr>
              <a:t>Top global enterprises repeatedly choose J2W to establish, scale, and stabilize their GCCs.</a:t>
            </a:r>
            <a:endParaRPr lang="en-US" sz="1050" dirty="0"/>
          </a:p>
        </p:txBody>
      </p:sp>
      <p:sp>
        <p:nvSpPr>
          <p:cNvPr id="45" name="Text 35"/>
          <p:cNvSpPr/>
          <p:nvPr/>
        </p:nvSpPr>
        <p:spPr>
          <a:xfrm>
            <a:off x="502920" y="6547104"/>
            <a:ext cx="2743200" cy="201168"/>
          </a:xfrm>
          <a:prstGeom prst="rect">
            <a:avLst/>
          </a:prstGeom>
          <a:noFill/>
          <a:ln/>
        </p:spPr>
        <p:txBody>
          <a:bodyPr wrap="square" lIns="0" tIns="0" rIns="0" bIns="0" rtlCol="0" anchor="ctr"/>
          <a:lstStyle/>
          <a:p>
            <a:pPr marL="0" indent="0" algn="l">
              <a:buNone/>
            </a:pPr>
            <a:r>
              <a:rPr lang="en-US" sz="800" kern="0" spc="100" dirty="0">
                <a:solidFill>
                  <a:srgbClr val="A1A1AA"/>
                </a:solidFill>
                <a:latin typeface="Roboto Condensed" pitchFamily="34" charset="0"/>
                <a:ea typeface="Roboto Condensed" pitchFamily="34" charset="-122"/>
                <a:cs typeface="Roboto Condensed" pitchFamily="34" charset="-120"/>
              </a:rPr>
              <a:t>JOULESTOWATTS</a:t>
            </a:r>
            <a:endParaRPr lang="en-US" sz="8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8123327" cy="75895"/>
          </a:xfrm>
          <a:prstGeom prst="rect">
            <a:avLst/>
          </a:prstGeom>
          <a:solidFill>
            <a:srgbClr val="2A9D8F"/>
          </a:solidFill>
          <a:ln/>
        </p:spPr>
        <p:txBody>
          <a:bodyPr/>
          <a:lstStyle/>
          <a:p>
            <a:endParaRPr lang="en-IN"/>
          </a:p>
        </p:txBody>
      </p:sp>
      <p:sp>
        <p:nvSpPr>
          <p:cNvPr id="3" name="Shape 1"/>
          <p:cNvSpPr/>
          <p:nvPr/>
        </p:nvSpPr>
        <p:spPr>
          <a:xfrm>
            <a:off x="8123327" y="0"/>
            <a:ext cx="4068369" cy="75895"/>
          </a:xfrm>
          <a:prstGeom prst="rect">
            <a:avLst/>
          </a:prstGeom>
          <a:solidFill>
            <a:srgbClr val="D62839"/>
          </a:solidFill>
          <a:ln/>
        </p:spPr>
        <p:txBody>
          <a:bodyPr/>
          <a:lstStyle/>
          <a:p>
            <a:endParaRPr lang="en-IN"/>
          </a:p>
        </p:txBody>
      </p:sp>
      <p:sp>
        <p:nvSpPr>
          <p:cNvPr id="4" name="Shape 2"/>
          <p:cNvSpPr/>
          <p:nvPr/>
        </p:nvSpPr>
        <p:spPr>
          <a:xfrm>
            <a:off x="9265615" y="-1463040"/>
            <a:ext cx="3840480" cy="3840480"/>
          </a:xfrm>
          <a:prstGeom prst="ellipse">
            <a:avLst/>
          </a:prstGeom>
          <a:solidFill>
            <a:srgbClr val="2A9D8F">
              <a:alpha val="4000"/>
            </a:srgbClr>
          </a:solidFill>
          <a:ln/>
        </p:spPr>
        <p:txBody>
          <a:bodyPr/>
          <a:lstStyle/>
          <a:p>
            <a:endParaRPr lang="en-IN"/>
          </a:p>
        </p:txBody>
      </p:sp>
      <p:sp>
        <p:nvSpPr>
          <p:cNvPr id="5" name="Shape 3"/>
          <p:cNvSpPr/>
          <p:nvPr/>
        </p:nvSpPr>
        <p:spPr>
          <a:xfrm>
            <a:off x="502920" y="329184"/>
            <a:ext cx="54864" cy="310896"/>
          </a:xfrm>
          <a:prstGeom prst="rect">
            <a:avLst/>
          </a:prstGeom>
          <a:solidFill>
            <a:srgbClr val="111827"/>
          </a:solidFill>
          <a:ln/>
        </p:spPr>
        <p:txBody>
          <a:bodyPr/>
          <a:lstStyle/>
          <a:p>
            <a:endParaRPr lang="en-IN"/>
          </a:p>
        </p:txBody>
      </p:sp>
      <p:sp>
        <p:nvSpPr>
          <p:cNvPr id="6" name="Text 4"/>
          <p:cNvSpPr/>
          <p:nvPr/>
        </p:nvSpPr>
        <p:spPr>
          <a:xfrm>
            <a:off x="667512" y="265176"/>
            <a:ext cx="11021263" cy="384048"/>
          </a:xfrm>
          <a:prstGeom prst="rect">
            <a:avLst/>
          </a:prstGeom>
          <a:noFill/>
          <a:ln/>
        </p:spPr>
        <p:txBody>
          <a:bodyPr wrap="square" lIns="0" tIns="0" rIns="0" bIns="0" rtlCol="0" anchor="ctr"/>
          <a:lstStyle/>
          <a:p>
            <a:pPr marL="0" indent="0" algn="l">
              <a:buNone/>
            </a:pPr>
            <a:r>
              <a:rPr lang="en-US" sz="2200" b="1" dirty="0">
                <a:solidFill>
                  <a:srgbClr val="111827"/>
                </a:solidFill>
                <a:latin typeface="Oswald" pitchFamily="34" charset="0"/>
                <a:ea typeface="Oswald" pitchFamily="34" charset="-122"/>
                <a:cs typeface="Oswald" pitchFamily="34" charset="-120"/>
              </a:rPr>
              <a:t>DELIVERY BENCHMARKING</a:t>
            </a:r>
            <a:endParaRPr lang="en-US" sz="2200" dirty="0"/>
          </a:p>
        </p:txBody>
      </p:sp>
      <p:sp>
        <p:nvSpPr>
          <p:cNvPr id="7" name="Text 5"/>
          <p:cNvSpPr/>
          <p:nvPr/>
        </p:nvSpPr>
        <p:spPr>
          <a:xfrm>
            <a:off x="667512" y="658368"/>
            <a:ext cx="11021263" cy="237744"/>
          </a:xfrm>
          <a:prstGeom prst="rect">
            <a:avLst/>
          </a:prstGeom>
          <a:noFill/>
          <a:ln/>
        </p:spPr>
        <p:txBody>
          <a:bodyPr wrap="square" lIns="0" tIns="0" rIns="0" bIns="0" rtlCol="0" anchor="ctr"/>
          <a:lstStyle/>
          <a:p>
            <a:pPr marL="0" indent="0" algn="l">
              <a:buNone/>
            </a:pPr>
            <a:r>
              <a:rPr lang="en-US" sz="1250" b="1" dirty="0">
                <a:solidFill>
                  <a:srgbClr val="2A9D8F"/>
                </a:solidFill>
                <a:latin typeface="Roboto Condensed" pitchFamily="34" charset="0"/>
                <a:ea typeface="Roboto Condensed" pitchFamily="34" charset="-122"/>
                <a:cs typeface="Roboto Condensed" pitchFamily="34" charset="-120"/>
              </a:rPr>
              <a:t>Speed, cost, and quality advantages</a:t>
            </a:r>
            <a:endParaRPr lang="en-US" sz="1250" dirty="0"/>
          </a:p>
        </p:txBody>
      </p:sp>
      <p:sp>
        <p:nvSpPr>
          <p:cNvPr id="8" name="Text 6"/>
          <p:cNvSpPr/>
          <p:nvPr/>
        </p:nvSpPr>
        <p:spPr>
          <a:xfrm>
            <a:off x="502920" y="1051560"/>
            <a:ext cx="11185855" cy="320040"/>
          </a:xfrm>
          <a:prstGeom prst="rect">
            <a:avLst/>
          </a:prstGeom>
          <a:noFill/>
          <a:ln/>
        </p:spPr>
        <p:txBody>
          <a:bodyPr wrap="square" lIns="0" tIns="0" rIns="0" bIns="0" rtlCol="0" anchor="ctr"/>
          <a:lstStyle/>
          <a:p>
            <a:pPr marL="0" indent="0">
              <a:buNone/>
            </a:pPr>
            <a:r>
              <a:rPr lang="en-US" sz="1150" dirty="0">
                <a:solidFill>
                  <a:srgbClr val="4B5563"/>
                </a:solidFill>
                <a:latin typeface="Raleway" pitchFamily="34" charset="0"/>
                <a:ea typeface="Raleway" pitchFamily="34" charset="-122"/>
                <a:cs typeface="Raleway" pitchFamily="34" charset="-120"/>
              </a:rPr>
              <a:t>J2W consistently outperforms legacy offshore models with faster, leaner, and higher-quality delivery.</a:t>
            </a:r>
            <a:endParaRPr lang="en-US" sz="1150" dirty="0"/>
          </a:p>
        </p:txBody>
      </p:sp>
      <p:sp>
        <p:nvSpPr>
          <p:cNvPr id="9" name="Shape 7"/>
          <p:cNvSpPr/>
          <p:nvPr/>
        </p:nvSpPr>
        <p:spPr>
          <a:xfrm>
            <a:off x="502920" y="1536192"/>
            <a:ext cx="2377440" cy="1371600"/>
          </a:xfrm>
          <a:prstGeom prst="roundRect">
            <a:avLst>
              <a:gd name="adj" fmla="val 4000"/>
            </a:avLst>
          </a:prstGeom>
          <a:solidFill>
            <a:srgbClr val="2A9D8F"/>
          </a:solidFill>
          <a:ln w="12700">
            <a:solidFill>
              <a:srgbClr val="2A9D8F"/>
            </a:solidFill>
            <a:prstDash val="solid"/>
          </a:ln>
        </p:spPr>
        <p:txBody>
          <a:bodyPr/>
          <a:lstStyle/>
          <a:p>
            <a:endParaRPr lang="en-IN"/>
          </a:p>
        </p:txBody>
      </p:sp>
      <p:pic>
        <p:nvPicPr>
          <p:cNvPr id="10" name="Image 0" descr="/home/claude/work/assets/icons/bolt_white.png"/>
          <p:cNvPicPr>
            <a:picLocks noChangeAspect="1"/>
          </p:cNvPicPr>
          <p:nvPr/>
        </p:nvPicPr>
        <p:blipFill>
          <a:blip r:embed="rId3"/>
          <a:stretch>
            <a:fillRect/>
          </a:stretch>
        </p:blipFill>
        <p:spPr>
          <a:xfrm>
            <a:off x="1463040" y="1737360"/>
            <a:ext cx="457200" cy="457200"/>
          </a:xfrm>
          <a:prstGeom prst="rect">
            <a:avLst/>
          </a:prstGeom>
        </p:spPr>
      </p:pic>
      <p:sp>
        <p:nvSpPr>
          <p:cNvPr id="11" name="Text 8"/>
          <p:cNvSpPr/>
          <p:nvPr/>
        </p:nvSpPr>
        <p:spPr>
          <a:xfrm>
            <a:off x="640080" y="2359152"/>
            <a:ext cx="2103120" cy="457200"/>
          </a:xfrm>
          <a:prstGeom prst="rect">
            <a:avLst/>
          </a:prstGeom>
          <a:noFill/>
          <a:ln/>
        </p:spPr>
        <p:txBody>
          <a:bodyPr wrap="square" lIns="0" tIns="0" rIns="0" bIns="0" rtlCol="0" anchor="t"/>
          <a:lstStyle/>
          <a:p>
            <a:pPr marL="0" indent="0" algn="ctr">
              <a:buNone/>
            </a:pPr>
            <a:r>
              <a:rPr lang="en-US" sz="1400" b="1" dirty="0">
                <a:solidFill>
                  <a:srgbClr val="FFFFFF"/>
                </a:solidFill>
                <a:latin typeface="Oswald" pitchFamily="34" charset="0"/>
                <a:ea typeface="Oswald" pitchFamily="34" charset="-122"/>
                <a:cs typeface="Oswald" pitchFamily="34" charset="-120"/>
              </a:rPr>
              <a:t>Accelerated Delivery</a:t>
            </a:r>
            <a:endParaRPr lang="en-US" sz="1400" dirty="0"/>
          </a:p>
        </p:txBody>
      </p:sp>
      <p:sp>
        <p:nvSpPr>
          <p:cNvPr id="12" name="Shape 9"/>
          <p:cNvSpPr/>
          <p:nvPr/>
        </p:nvSpPr>
        <p:spPr>
          <a:xfrm>
            <a:off x="3108960" y="1536192"/>
            <a:ext cx="4198468" cy="1371600"/>
          </a:xfrm>
          <a:prstGeom prst="roundRect">
            <a:avLst>
              <a:gd name="adj" fmla="val 4000"/>
            </a:avLst>
          </a:prstGeom>
          <a:solidFill>
            <a:srgbClr val="E9F5F3"/>
          </a:solidFill>
          <a:ln w="12700">
            <a:solidFill>
              <a:srgbClr val="E2E8F0"/>
            </a:solidFill>
            <a:prstDash val="solid"/>
          </a:ln>
        </p:spPr>
        <p:txBody>
          <a:bodyPr/>
          <a:lstStyle/>
          <a:p>
            <a:endParaRPr lang="en-IN"/>
          </a:p>
        </p:txBody>
      </p:sp>
      <p:sp>
        <p:nvSpPr>
          <p:cNvPr id="13" name="Text 10"/>
          <p:cNvSpPr/>
          <p:nvPr/>
        </p:nvSpPr>
        <p:spPr>
          <a:xfrm>
            <a:off x="3337560" y="1764792"/>
            <a:ext cx="3741268" cy="365760"/>
          </a:xfrm>
          <a:prstGeom prst="rect">
            <a:avLst/>
          </a:prstGeom>
          <a:noFill/>
          <a:ln/>
        </p:spPr>
        <p:txBody>
          <a:bodyPr wrap="square" lIns="0" tIns="0" rIns="0" bIns="0" rtlCol="0" anchor="ctr"/>
          <a:lstStyle/>
          <a:p>
            <a:pPr marL="0" indent="0">
              <a:buNone/>
            </a:pPr>
            <a:r>
              <a:rPr lang="en-US" sz="1400" b="1" dirty="0">
                <a:solidFill>
                  <a:srgbClr val="111827"/>
                </a:solidFill>
                <a:latin typeface="Oswald" pitchFamily="34" charset="0"/>
                <a:ea typeface="Oswald" pitchFamily="34" charset="-122"/>
                <a:cs typeface="Oswald" pitchFamily="34" charset="-120"/>
              </a:rPr>
              <a:t>AI-Driven Workflows</a:t>
            </a:r>
            <a:endParaRPr lang="en-US" sz="1400" dirty="0"/>
          </a:p>
        </p:txBody>
      </p:sp>
      <p:sp>
        <p:nvSpPr>
          <p:cNvPr id="14" name="Text 11"/>
          <p:cNvSpPr/>
          <p:nvPr/>
        </p:nvSpPr>
        <p:spPr>
          <a:xfrm>
            <a:off x="3337560" y="2157984"/>
            <a:ext cx="3741268" cy="548640"/>
          </a:xfrm>
          <a:prstGeom prst="rect">
            <a:avLst/>
          </a:prstGeom>
          <a:noFill/>
          <a:ln/>
        </p:spPr>
        <p:txBody>
          <a:bodyPr wrap="square" lIns="0" tIns="0" rIns="0" bIns="0" rtlCol="0" anchor="ctr"/>
          <a:lstStyle/>
          <a:p>
            <a:pPr marL="0" indent="0">
              <a:lnSpc>
                <a:spcPct val="115000"/>
              </a:lnSpc>
              <a:buNone/>
            </a:pPr>
            <a:r>
              <a:rPr lang="en-US" sz="1050" dirty="0">
                <a:solidFill>
                  <a:srgbClr val="4B5563"/>
                </a:solidFill>
                <a:latin typeface="Raleway" pitchFamily="34" charset="0"/>
                <a:ea typeface="Raleway" pitchFamily="34" charset="-122"/>
                <a:cs typeface="Raleway" pitchFamily="34" charset="-120"/>
              </a:rPr>
              <a:t>Streamline operations end-to-end.</a:t>
            </a:r>
            <a:endParaRPr lang="en-US" sz="1050" dirty="0"/>
          </a:p>
        </p:txBody>
      </p:sp>
      <p:sp>
        <p:nvSpPr>
          <p:cNvPr id="15" name="Shape 12"/>
          <p:cNvSpPr/>
          <p:nvPr/>
        </p:nvSpPr>
        <p:spPr>
          <a:xfrm>
            <a:off x="7490308" y="1536192"/>
            <a:ext cx="4198468" cy="1371600"/>
          </a:xfrm>
          <a:prstGeom prst="roundRect">
            <a:avLst>
              <a:gd name="adj" fmla="val 4000"/>
            </a:avLst>
          </a:prstGeom>
          <a:solidFill>
            <a:srgbClr val="E9F5F3"/>
          </a:solidFill>
          <a:ln w="12700">
            <a:solidFill>
              <a:srgbClr val="E2E8F0"/>
            </a:solidFill>
            <a:prstDash val="solid"/>
          </a:ln>
        </p:spPr>
        <p:txBody>
          <a:bodyPr/>
          <a:lstStyle/>
          <a:p>
            <a:endParaRPr lang="en-IN"/>
          </a:p>
        </p:txBody>
      </p:sp>
      <p:sp>
        <p:nvSpPr>
          <p:cNvPr id="16" name="Text 13"/>
          <p:cNvSpPr/>
          <p:nvPr/>
        </p:nvSpPr>
        <p:spPr>
          <a:xfrm>
            <a:off x="7718908" y="1764792"/>
            <a:ext cx="3741268" cy="365760"/>
          </a:xfrm>
          <a:prstGeom prst="rect">
            <a:avLst/>
          </a:prstGeom>
          <a:noFill/>
          <a:ln/>
        </p:spPr>
        <p:txBody>
          <a:bodyPr wrap="square" lIns="0" tIns="0" rIns="0" bIns="0" rtlCol="0" anchor="ctr"/>
          <a:lstStyle/>
          <a:p>
            <a:pPr marL="0" indent="0">
              <a:buNone/>
            </a:pPr>
            <a:r>
              <a:rPr lang="en-US" sz="1400" b="1" dirty="0">
                <a:solidFill>
                  <a:srgbClr val="111827"/>
                </a:solidFill>
                <a:latin typeface="Oswald" pitchFamily="34" charset="0"/>
                <a:ea typeface="Oswald" pitchFamily="34" charset="-122"/>
                <a:cs typeface="Oswald" pitchFamily="34" charset="-120"/>
              </a:rPr>
              <a:t>60–70% Faster</a:t>
            </a:r>
            <a:endParaRPr lang="en-US" sz="1400" dirty="0"/>
          </a:p>
        </p:txBody>
      </p:sp>
      <p:sp>
        <p:nvSpPr>
          <p:cNvPr id="17" name="Text 14"/>
          <p:cNvSpPr/>
          <p:nvPr/>
        </p:nvSpPr>
        <p:spPr>
          <a:xfrm>
            <a:off x="7718908" y="2157984"/>
            <a:ext cx="3741268" cy="548640"/>
          </a:xfrm>
          <a:prstGeom prst="rect">
            <a:avLst/>
          </a:prstGeom>
          <a:noFill/>
          <a:ln/>
        </p:spPr>
        <p:txBody>
          <a:bodyPr wrap="square" lIns="0" tIns="0" rIns="0" bIns="0" rtlCol="0" anchor="ctr"/>
          <a:lstStyle/>
          <a:p>
            <a:pPr marL="0" indent="0">
              <a:lnSpc>
                <a:spcPct val="115000"/>
              </a:lnSpc>
              <a:buNone/>
            </a:pPr>
            <a:r>
              <a:rPr lang="en-US" sz="1050" dirty="0">
                <a:solidFill>
                  <a:srgbClr val="4B5563"/>
                </a:solidFill>
                <a:latin typeface="Raleway" pitchFamily="34" charset="0"/>
                <a:ea typeface="Raleway" pitchFamily="34" charset="-122"/>
                <a:cs typeface="Raleway" pitchFamily="34" charset="-120"/>
              </a:rPr>
              <a:t>From planning to go-live.</a:t>
            </a:r>
            <a:endParaRPr lang="en-US" sz="1050" dirty="0"/>
          </a:p>
        </p:txBody>
      </p:sp>
      <p:sp>
        <p:nvSpPr>
          <p:cNvPr id="18" name="Shape 15"/>
          <p:cNvSpPr/>
          <p:nvPr/>
        </p:nvSpPr>
        <p:spPr>
          <a:xfrm>
            <a:off x="502920" y="3108960"/>
            <a:ext cx="2377440" cy="1371600"/>
          </a:xfrm>
          <a:prstGeom prst="roundRect">
            <a:avLst>
              <a:gd name="adj" fmla="val 4000"/>
            </a:avLst>
          </a:prstGeom>
          <a:solidFill>
            <a:srgbClr val="D62839"/>
          </a:solidFill>
          <a:ln w="12700">
            <a:solidFill>
              <a:srgbClr val="D62839"/>
            </a:solidFill>
            <a:prstDash val="solid"/>
          </a:ln>
        </p:spPr>
        <p:txBody>
          <a:bodyPr/>
          <a:lstStyle/>
          <a:p>
            <a:endParaRPr lang="en-IN"/>
          </a:p>
        </p:txBody>
      </p:sp>
      <p:pic>
        <p:nvPicPr>
          <p:cNvPr id="19" name="Image 1" descr="/home/claude/work/assets/icons/coins_white.png"/>
          <p:cNvPicPr>
            <a:picLocks noChangeAspect="1"/>
          </p:cNvPicPr>
          <p:nvPr/>
        </p:nvPicPr>
        <p:blipFill>
          <a:blip r:embed="rId4"/>
          <a:stretch>
            <a:fillRect/>
          </a:stretch>
        </p:blipFill>
        <p:spPr>
          <a:xfrm>
            <a:off x="1463040" y="3310128"/>
            <a:ext cx="457200" cy="457200"/>
          </a:xfrm>
          <a:prstGeom prst="rect">
            <a:avLst/>
          </a:prstGeom>
        </p:spPr>
      </p:pic>
      <p:sp>
        <p:nvSpPr>
          <p:cNvPr id="20" name="Text 16"/>
          <p:cNvSpPr/>
          <p:nvPr/>
        </p:nvSpPr>
        <p:spPr>
          <a:xfrm>
            <a:off x="640080" y="3931920"/>
            <a:ext cx="2103120" cy="457200"/>
          </a:xfrm>
          <a:prstGeom prst="rect">
            <a:avLst/>
          </a:prstGeom>
          <a:noFill/>
          <a:ln/>
        </p:spPr>
        <p:txBody>
          <a:bodyPr wrap="square" lIns="0" tIns="0" rIns="0" bIns="0" rtlCol="0" anchor="t"/>
          <a:lstStyle/>
          <a:p>
            <a:pPr marL="0" indent="0" algn="ctr">
              <a:buNone/>
            </a:pPr>
            <a:r>
              <a:rPr lang="en-US" sz="1400" b="1" dirty="0">
                <a:solidFill>
                  <a:srgbClr val="FFFFFF"/>
                </a:solidFill>
                <a:latin typeface="Oswald" pitchFamily="34" charset="0"/>
                <a:ea typeface="Oswald" pitchFamily="34" charset="-122"/>
                <a:cs typeface="Oswald" pitchFamily="34" charset="-120"/>
              </a:rPr>
              <a:t>Cost Efficiency</a:t>
            </a:r>
            <a:endParaRPr lang="en-US" sz="1400" dirty="0"/>
          </a:p>
        </p:txBody>
      </p:sp>
      <p:sp>
        <p:nvSpPr>
          <p:cNvPr id="21" name="Shape 17"/>
          <p:cNvSpPr/>
          <p:nvPr/>
        </p:nvSpPr>
        <p:spPr>
          <a:xfrm>
            <a:off x="3108960" y="3108960"/>
            <a:ext cx="4198468" cy="1371600"/>
          </a:xfrm>
          <a:prstGeom prst="roundRect">
            <a:avLst>
              <a:gd name="adj" fmla="val 4000"/>
            </a:avLst>
          </a:prstGeom>
          <a:solidFill>
            <a:srgbClr val="FCEBED"/>
          </a:solidFill>
          <a:ln w="12700">
            <a:solidFill>
              <a:srgbClr val="E2E8F0"/>
            </a:solidFill>
            <a:prstDash val="solid"/>
          </a:ln>
        </p:spPr>
        <p:txBody>
          <a:bodyPr/>
          <a:lstStyle/>
          <a:p>
            <a:endParaRPr lang="en-IN"/>
          </a:p>
        </p:txBody>
      </p:sp>
      <p:sp>
        <p:nvSpPr>
          <p:cNvPr id="22" name="Text 18"/>
          <p:cNvSpPr/>
          <p:nvPr/>
        </p:nvSpPr>
        <p:spPr>
          <a:xfrm>
            <a:off x="3337560" y="3337560"/>
            <a:ext cx="3741268" cy="365760"/>
          </a:xfrm>
          <a:prstGeom prst="rect">
            <a:avLst/>
          </a:prstGeom>
          <a:noFill/>
          <a:ln/>
        </p:spPr>
        <p:txBody>
          <a:bodyPr wrap="square" lIns="0" tIns="0" rIns="0" bIns="0" rtlCol="0" anchor="ctr"/>
          <a:lstStyle/>
          <a:p>
            <a:pPr marL="0" indent="0">
              <a:buNone/>
            </a:pPr>
            <a:r>
              <a:rPr lang="en-US" sz="1400" b="1" dirty="0">
                <a:solidFill>
                  <a:srgbClr val="111827"/>
                </a:solidFill>
                <a:latin typeface="Oswald" pitchFamily="34" charset="0"/>
                <a:ea typeface="Oswald" pitchFamily="34" charset="-122"/>
                <a:cs typeface="Oswald" pitchFamily="34" charset="-120"/>
              </a:rPr>
              <a:t>Tier-II Nano-GCC Model</a:t>
            </a:r>
            <a:endParaRPr lang="en-US" sz="1400" dirty="0"/>
          </a:p>
        </p:txBody>
      </p:sp>
      <p:sp>
        <p:nvSpPr>
          <p:cNvPr id="23" name="Text 19"/>
          <p:cNvSpPr/>
          <p:nvPr/>
        </p:nvSpPr>
        <p:spPr>
          <a:xfrm>
            <a:off x="3337560" y="3730752"/>
            <a:ext cx="3741268" cy="548640"/>
          </a:xfrm>
          <a:prstGeom prst="rect">
            <a:avLst/>
          </a:prstGeom>
          <a:noFill/>
          <a:ln/>
        </p:spPr>
        <p:txBody>
          <a:bodyPr wrap="square" lIns="0" tIns="0" rIns="0" bIns="0" rtlCol="0" anchor="ctr"/>
          <a:lstStyle/>
          <a:p>
            <a:pPr marL="0" indent="0">
              <a:lnSpc>
                <a:spcPct val="115000"/>
              </a:lnSpc>
              <a:buNone/>
            </a:pPr>
            <a:r>
              <a:rPr lang="en-US" sz="1050" dirty="0">
                <a:solidFill>
                  <a:srgbClr val="4B5563"/>
                </a:solidFill>
                <a:latin typeface="Raleway" pitchFamily="34" charset="0"/>
                <a:ea typeface="Raleway" pitchFamily="34" charset="-122"/>
                <a:cs typeface="Raleway" pitchFamily="34" charset="-120"/>
              </a:rPr>
              <a:t>A cost-effective alternative to metro builds.</a:t>
            </a:r>
            <a:endParaRPr lang="en-US" sz="1050" dirty="0"/>
          </a:p>
        </p:txBody>
      </p:sp>
      <p:sp>
        <p:nvSpPr>
          <p:cNvPr id="24" name="Shape 20"/>
          <p:cNvSpPr/>
          <p:nvPr/>
        </p:nvSpPr>
        <p:spPr>
          <a:xfrm>
            <a:off x="7490308" y="3108960"/>
            <a:ext cx="4198468" cy="1371600"/>
          </a:xfrm>
          <a:prstGeom prst="roundRect">
            <a:avLst>
              <a:gd name="adj" fmla="val 4000"/>
            </a:avLst>
          </a:prstGeom>
          <a:solidFill>
            <a:srgbClr val="FCEBED"/>
          </a:solidFill>
          <a:ln w="12700">
            <a:solidFill>
              <a:srgbClr val="E2E8F0"/>
            </a:solidFill>
            <a:prstDash val="solid"/>
          </a:ln>
        </p:spPr>
        <p:txBody>
          <a:bodyPr/>
          <a:lstStyle/>
          <a:p>
            <a:endParaRPr lang="en-IN"/>
          </a:p>
        </p:txBody>
      </p:sp>
      <p:sp>
        <p:nvSpPr>
          <p:cNvPr id="25" name="Text 21"/>
          <p:cNvSpPr/>
          <p:nvPr/>
        </p:nvSpPr>
        <p:spPr>
          <a:xfrm>
            <a:off x="7718908" y="3337560"/>
            <a:ext cx="3741268" cy="365760"/>
          </a:xfrm>
          <a:prstGeom prst="rect">
            <a:avLst/>
          </a:prstGeom>
          <a:noFill/>
          <a:ln/>
        </p:spPr>
        <p:txBody>
          <a:bodyPr wrap="square" lIns="0" tIns="0" rIns="0" bIns="0" rtlCol="0" anchor="ctr"/>
          <a:lstStyle/>
          <a:p>
            <a:pPr marL="0" indent="0">
              <a:buNone/>
            </a:pPr>
            <a:r>
              <a:rPr lang="en-US" sz="1400" b="1" dirty="0">
                <a:solidFill>
                  <a:srgbClr val="111827"/>
                </a:solidFill>
                <a:latin typeface="Oswald" pitchFamily="34" charset="0"/>
                <a:ea typeface="Oswald" pitchFamily="34" charset="-122"/>
                <a:cs typeface="Oswald" pitchFamily="34" charset="-120"/>
              </a:rPr>
              <a:t>20–30% Savings</a:t>
            </a:r>
            <a:endParaRPr lang="en-US" sz="1400" dirty="0"/>
          </a:p>
        </p:txBody>
      </p:sp>
      <p:sp>
        <p:nvSpPr>
          <p:cNvPr id="26" name="Text 22"/>
          <p:cNvSpPr/>
          <p:nvPr/>
        </p:nvSpPr>
        <p:spPr>
          <a:xfrm>
            <a:off x="7718908" y="3730752"/>
            <a:ext cx="3741268" cy="548640"/>
          </a:xfrm>
          <a:prstGeom prst="rect">
            <a:avLst/>
          </a:prstGeom>
          <a:noFill/>
          <a:ln/>
        </p:spPr>
        <p:txBody>
          <a:bodyPr wrap="square" lIns="0" tIns="0" rIns="0" bIns="0" rtlCol="0" anchor="ctr"/>
          <a:lstStyle/>
          <a:p>
            <a:pPr marL="0" indent="0">
              <a:lnSpc>
                <a:spcPct val="115000"/>
              </a:lnSpc>
              <a:buNone/>
            </a:pPr>
            <a:r>
              <a:rPr lang="en-US" sz="1050" dirty="0">
                <a:solidFill>
                  <a:srgbClr val="4B5563"/>
                </a:solidFill>
                <a:latin typeface="Raleway" pitchFamily="34" charset="0"/>
                <a:ea typeface="Raleway" pitchFamily="34" charset="-122"/>
                <a:cs typeface="Raleway" pitchFamily="34" charset="-120"/>
              </a:rPr>
              <a:t>Compared to metro-based builds.</a:t>
            </a:r>
            <a:endParaRPr lang="en-US" sz="1050" dirty="0"/>
          </a:p>
        </p:txBody>
      </p:sp>
      <p:sp>
        <p:nvSpPr>
          <p:cNvPr id="27" name="Shape 23"/>
          <p:cNvSpPr/>
          <p:nvPr/>
        </p:nvSpPr>
        <p:spPr>
          <a:xfrm>
            <a:off x="502920" y="4681728"/>
            <a:ext cx="2377440" cy="1371600"/>
          </a:xfrm>
          <a:prstGeom prst="roundRect">
            <a:avLst>
              <a:gd name="adj" fmla="val 4000"/>
            </a:avLst>
          </a:prstGeom>
          <a:solidFill>
            <a:srgbClr val="2A9D8F"/>
          </a:solidFill>
          <a:ln w="12700">
            <a:solidFill>
              <a:srgbClr val="2A9D8F"/>
            </a:solidFill>
            <a:prstDash val="solid"/>
          </a:ln>
        </p:spPr>
        <p:txBody>
          <a:bodyPr/>
          <a:lstStyle/>
          <a:p>
            <a:endParaRPr lang="en-IN"/>
          </a:p>
        </p:txBody>
      </p:sp>
      <p:pic>
        <p:nvPicPr>
          <p:cNvPr id="28" name="Image 2" descr="/home/claude/work/assets/icons/medal_white.png"/>
          <p:cNvPicPr>
            <a:picLocks noChangeAspect="1"/>
          </p:cNvPicPr>
          <p:nvPr/>
        </p:nvPicPr>
        <p:blipFill>
          <a:blip r:embed="rId5"/>
          <a:stretch>
            <a:fillRect/>
          </a:stretch>
        </p:blipFill>
        <p:spPr>
          <a:xfrm>
            <a:off x="1463040" y="4882896"/>
            <a:ext cx="457200" cy="457200"/>
          </a:xfrm>
          <a:prstGeom prst="rect">
            <a:avLst/>
          </a:prstGeom>
        </p:spPr>
      </p:pic>
      <p:sp>
        <p:nvSpPr>
          <p:cNvPr id="29" name="Text 24"/>
          <p:cNvSpPr/>
          <p:nvPr/>
        </p:nvSpPr>
        <p:spPr>
          <a:xfrm>
            <a:off x="640080" y="5504688"/>
            <a:ext cx="2103120" cy="457200"/>
          </a:xfrm>
          <a:prstGeom prst="rect">
            <a:avLst/>
          </a:prstGeom>
          <a:noFill/>
          <a:ln/>
        </p:spPr>
        <p:txBody>
          <a:bodyPr wrap="square" lIns="0" tIns="0" rIns="0" bIns="0" rtlCol="0" anchor="t"/>
          <a:lstStyle/>
          <a:p>
            <a:pPr marL="0" indent="0" algn="ctr">
              <a:buNone/>
            </a:pPr>
            <a:r>
              <a:rPr lang="en-US" sz="1400" b="1" dirty="0">
                <a:solidFill>
                  <a:srgbClr val="FFFFFF"/>
                </a:solidFill>
                <a:latin typeface="Oswald" pitchFamily="34" charset="0"/>
                <a:ea typeface="Oswald" pitchFamily="34" charset="-122"/>
                <a:cs typeface="Oswald" pitchFamily="34" charset="-120"/>
              </a:rPr>
              <a:t>High Quality</a:t>
            </a:r>
            <a:endParaRPr lang="en-US" sz="1400" dirty="0"/>
          </a:p>
        </p:txBody>
      </p:sp>
      <p:sp>
        <p:nvSpPr>
          <p:cNvPr id="30" name="Shape 25"/>
          <p:cNvSpPr/>
          <p:nvPr/>
        </p:nvSpPr>
        <p:spPr>
          <a:xfrm>
            <a:off x="3108960" y="4681728"/>
            <a:ext cx="4198468" cy="1371600"/>
          </a:xfrm>
          <a:prstGeom prst="roundRect">
            <a:avLst>
              <a:gd name="adj" fmla="val 4000"/>
            </a:avLst>
          </a:prstGeom>
          <a:solidFill>
            <a:srgbClr val="E9F5F3"/>
          </a:solidFill>
          <a:ln w="12700">
            <a:solidFill>
              <a:srgbClr val="E2E8F0"/>
            </a:solidFill>
            <a:prstDash val="solid"/>
          </a:ln>
        </p:spPr>
        <p:txBody>
          <a:bodyPr/>
          <a:lstStyle/>
          <a:p>
            <a:endParaRPr lang="en-IN"/>
          </a:p>
        </p:txBody>
      </p:sp>
      <p:sp>
        <p:nvSpPr>
          <p:cNvPr id="31" name="Text 26"/>
          <p:cNvSpPr/>
          <p:nvPr/>
        </p:nvSpPr>
        <p:spPr>
          <a:xfrm>
            <a:off x="3337560" y="4910328"/>
            <a:ext cx="3741268" cy="365760"/>
          </a:xfrm>
          <a:prstGeom prst="rect">
            <a:avLst/>
          </a:prstGeom>
          <a:noFill/>
          <a:ln/>
        </p:spPr>
        <p:txBody>
          <a:bodyPr wrap="square" lIns="0" tIns="0" rIns="0" bIns="0" rtlCol="0" anchor="ctr"/>
          <a:lstStyle/>
          <a:p>
            <a:pPr marL="0" indent="0">
              <a:buNone/>
            </a:pPr>
            <a:r>
              <a:rPr lang="en-US" sz="1400" b="1" dirty="0">
                <a:solidFill>
                  <a:srgbClr val="111827"/>
                </a:solidFill>
                <a:latin typeface="Oswald" pitchFamily="34" charset="0"/>
                <a:ea typeface="Oswald" pitchFamily="34" charset="-122"/>
                <a:cs typeface="Oswald" pitchFamily="34" charset="-120"/>
              </a:rPr>
              <a:t>Rework &lt;2%</a:t>
            </a:r>
            <a:endParaRPr lang="en-US" sz="1400" dirty="0"/>
          </a:p>
        </p:txBody>
      </p:sp>
      <p:sp>
        <p:nvSpPr>
          <p:cNvPr id="32" name="Text 27"/>
          <p:cNvSpPr/>
          <p:nvPr/>
        </p:nvSpPr>
        <p:spPr>
          <a:xfrm>
            <a:off x="3337560" y="5303520"/>
            <a:ext cx="3741268" cy="548640"/>
          </a:xfrm>
          <a:prstGeom prst="rect">
            <a:avLst/>
          </a:prstGeom>
          <a:noFill/>
          <a:ln/>
        </p:spPr>
        <p:txBody>
          <a:bodyPr wrap="square" lIns="0" tIns="0" rIns="0" bIns="0" rtlCol="0" anchor="ctr"/>
          <a:lstStyle/>
          <a:p>
            <a:pPr marL="0" indent="0">
              <a:lnSpc>
                <a:spcPct val="115000"/>
              </a:lnSpc>
              <a:buNone/>
            </a:pPr>
            <a:r>
              <a:rPr lang="en-US" sz="1050" dirty="0">
                <a:solidFill>
                  <a:srgbClr val="4B5563"/>
                </a:solidFill>
                <a:latin typeface="Raleway" pitchFamily="34" charset="0"/>
                <a:ea typeface="Raleway" pitchFamily="34" charset="-122"/>
                <a:cs typeface="Raleway" pitchFamily="34" charset="-120"/>
              </a:rPr>
              <a:t>With strict SLA adherence.</a:t>
            </a:r>
            <a:endParaRPr lang="en-US" sz="1050" dirty="0"/>
          </a:p>
        </p:txBody>
      </p:sp>
      <p:sp>
        <p:nvSpPr>
          <p:cNvPr id="33" name="Shape 28"/>
          <p:cNvSpPr/>
          <p:nvPr/>
        </p:nvSpPr>
        <p:spPr>
          <a:xfrm>
            <a:off x="7490308" y="4681728"/>
            <a:ext cx="4198468" cy="1371600"/>
          </a:xfrm>
          <a:prstGeom prst="roundRect">
            <a:avLst>
              <a:gd name="adj" fmla="val 4000"/>
            </a:avLst>
          </a:prstGeom>
          <a:solidFill>
            <a:srgbClr val="E9F5F3"/>
          </a:solidFill>
          <a:ln w="12700">
            <a:solidFill>
              <a:srgbClr val="E2E8F0"/>
            </a:solidFill>
            <a:prstDash val="solid"/>
          </a:ln>
        </p:spPr>
        <p:txBody>
          <a:bodyPr/>
          <a:lstStyle/>
          <a:p>
            <a:endParaRPr lang="en-IN"/>
          </a:p>
        </p:txBody>
      </p:sp>
      <p:sp>
        <p:nvSpPr>
          <p:cNvPr id="34" name="Text 29"/>
          <p:cNvSpPr/>
          <p:nvPr/>
        </p:nvSpPr>
        <p:spPr>
          <a:xfrm>
            <a:off x="7718908" y="4910328"/>
            <a:ext cx="3741268" cy="365760"/>
          </a:xfrm>
          <a:prstGeom prst="rect">
            <a:avLst/>
          </a:prstGeom>
          <a:noFill/>
          <a:ln/>
        </p:spPr>
        <p:txBody>
          <a:bodyPr wrap="square" lIns="0" tIns="0" rIns="0" bIns="0" rtlCol="0" anchor="ctr"/>
          <a:lstStyle/>
          <a:p>
            <a:pPr marL="0" indent="0">
              <a:buNone/>
            </a:pPr>
            <a:r>
              <a:rPr lang="en-US" sz="1400" b="1" dirty="0">
                <a:solidFill>
                  <a:srgbClr val="111827"/>
                </a:solidFill>
                <a:latin typeface="Oswald" pitchFamily="34" charset="0"/>
                <a:ea typeface="Oswald" pitchFamily="34" charset="-122"/>
                <a:cs typeface="Oswald" pitchFamily="34" charset="-120"/>
              </a:rPr>
              <a:t>5-Star Ratings</a:t>
            </a:r>
            <a:endParaRPr lang="en-US" sz="1400" dirty="0"/>
          </a:p>
        </p:txBody>
      </p:sp>
      <p:sp>
        <p:nvSpPr>
          <p:cNvPr id="35" name="Text 30"/>
          <p:cNvSpPr/>
          <p:nvPr/>
        </p:nvSpPr>
        <p:spPr>
          <a:xfrm>
            <a:off x="7718908" y="5303520"/>
            <a:ext cx="3741268" cy="548640"/>
          </a:xfrm>
          <a:prstGeom prst="rect">
            <a:avLst/>
          </a:prstGeom>
          <a:noFill/>
          <a:ln/>
        </p:spPr>
        <p:txBody>
          <a:bodyPr wrap="square" lIns="0" tIns="0" rIns="0" bIns="0" rtlCol="0" anchor="ctr"/>
          <a:lstStyle/>
          <a:p>
            <a:pPr marL="0" indent="0">
              <a:lnSpc>
                <a:spcPct val="115000"/>
              </a:lnSpc>
              <a:buNone/>
            </a:pPr>
            <a:r>
              <a:rPr lang="en-US" sz="1050" dirty="0">
                <a:solidFill>
                  <a:srgbClr val="4B5563"/>
                </a:solidFill>
                <a:latin typeface="Raleway" pitchFamily="34" charset="0"/>
                <a:ea typeface="Raleway" pitchFamily="34" charset="-122"/>
                <a:cs typeface="Raleway" pitchFamily="34" charset="-120"/>
              </a:rPr>
              <a:t>Consistently earned from clients.</a:t>
            </a:r>
            <a:endParaRPr lang="en-US" sz="1050" dirty="0"/>
          </a:p>
        </p:txBody>
      </p:sp>
      <p:sp>
        <p:nvSpPr>
          <p:cNvPr id="36" name="Text 31"/>
          <p:cNvSpPr/>
          <p:nvPr/>
        </p:nvSpPr>
        <p:spPr>
          <a:xfrm>
            <a:off x="502920" y="6190488"/>
            <a:ext cx="11185855" cy="292608"/>
          </a:xfrm>
          <a:prstGeom prst="rect">
            <a:avLst/>
          </a:prstGeom>
          <a:noFill/>
          <a:ln/>
        </p:spPr>
        <p:txBody>
          <a:bodyPr wrap="square" lIns="0" tIns="0" rIns="0" bIns="0" rtlCol="0" anchor="ctr"/>
          <a:lstStyle/>
          <a:p>
            <a:pPr marL="0" indent="0" algn="l">
              <a:buNone/>
            </a:pPr>
            <a:r>
              <a:rPr lang="en-US" sz="1050" i="1" dirty="0">
                <a:solidFill>
                  <a:srgbClr val="4B5563"/>
                </a:solidFill>
                <a:latin typeface="Raleway" pitchFamily="34" charset="0"/>
                <a:ea typeface="Raleway" pitchFamily="34" charset="-122"/>
                <a:cs typeface="Raleway" pitchFamily="34" charset="-120"/>
              </a:rPr>
              <a:t>J2W benchmarks above industry norms, delivering GCCs that are faster, cheaper, and better.</a:t>
            </a:r>
            <a:endParaRPr lang="en-US" sz="1050" dirty="0"/>
          </a:p>
        </p:txBody>
      </p:sp>
      <p:sp>
        <p:nvSpPr>
          <p:cNvPr id="37" name="Text 32"/>
          <p:cNvSpPr/>
          <p:nvPr/>
        </p:nvSpPr>
        <p:spPr>
          <a:xfrm>
            <a:off x="502920" y="6547104"/>
            <a:ext cx="2743200" cy="201168"/>
          </a:xfrm>
          <a:prstGeom prst="rect">
            <a:avLst/>
          </a:prstGeom>
          <a:noFill/>
          <a:ln/>
        </p:spPr>
        <p:txBody>
          <a:bodyPr wrap="square" lIns="0" tIns="0" rIns="0" bIns="0" rtlCol="0" anchor="ctr"/>
          <a:lstStyle/>
          <a:p>
            <a:pPr marL="0" indent="0" algn="l">
              <a:buNone/>
            </a:pPr>
            <a:r>
              <a:rPr lang="en-US" sz="800" kern="0" spc="100" dirty="0">
                <a:solidFill>
                  <a:srgbClr val="A1A1AA"/>
                </a:solidFill>
                <a:latin typeface="Roboto Condensed" pitchFamily="34" charset="0"/>
                <a:ea typeface="Roboto Condensed" pitchFamily="34" charset="-122"/>
                <a:cs typeface="Roboto Condensed" pitchFamily="34" charset="-120"/>
              </a:rPr>
              <a:t>JOULESTOWATTS</a:t>
            </a:r>
            <a:endParaRPr lang="en-US" sz="8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8123327" cy="75895"/>
          </a:xfrm>
          <a:prstGeom prst="rect">
            <a:avLst/>
          </a:prstGeom>
          <a:solidFill>
            <a:srgbClr val="2A9D8F"/>
          </a:solidFill>
          <a:ln/>
        </p:spPr>
        <p:txBody>
          <a:bodyPr/>
          <a:lstStyle/>
          <a:p>
            <a:endParaRPr lang="en-IN"/>
          </a:p>
        </p:txBody>
      </p:sp>
      <p:sp>
        <p:nvSpPr>
          <p:cNvPr id="3" name="Shape 1"/>
          <p:cNvSpPr/>
          <p:nvPr/>
        </p:nvSpPr>
        <p:spPr>
          <a:xfrm>
            <a:off x="8123327" y="0"/>
            <a:ext cx="4068369" cy="75895"/>
          </a:xfrm>
          <a:prstGeom prst="rect">
            <a:avLst/>
          </a:prstGeom>
          <a:solidFill>
            <a:srgbClr val="D62839"/>
          </a:solidFill>
          <a:ln/>
        </p:spPr>
        <p:txBody>
          <a:bodyPr/>
          <a:lstStyle/>
          <a:p>
            <a:endParaRPr lang="en-IN"/>
          </a:p>
        </p:txBody>
      </p:sp>
      <p:sp>
        <p:nvSpPr>
          <p:cNvPr id="4" name="Shape 2"/>
          <p:cNvSpPr/>
          <p:nvPr/>
        </p:nvSpPr>
        <p:spPr>
          <a:xfrm>
            <a:off x="9265615" y="-1463040"/>
            <a:ext cx="3840480" cy="3840480"/>
          </a:xfrm>
          <a:prstGeom prst="ellipse">
            <a:avLst/>
          </a:prstGeom>
          <a:solidFill>
            <a:srgbClr val="2A9D8F">
              <a:alpha val="4000"/>
            </a:srgbClr>
          </a:solidFill>
          <a:ln/>
        </p:spPr>
        <p:txBody>
          <a:bodyPr/>
          <a:lstStyle/>
          <a:p>
            <a:endParaRPr lang="en-IN"/>
          </a:p>
        </p:txBody>
      </p:sp>
      <p:sp>
        <p:nvSpPr>
          <p:cNvPr id="5" name="Shape 3"/>
          <p:cNvSpPr/>
          <p:nvPr/>
        </p:nvSpPr>
        <p:spPr>
          <a:xfrm>
            <a:off x="502920" y="329184"/>
            <a:ext cx="54864" cy="310896"/>
          </a:xfrm>
          <a:prstGeom prst="rect">
            <a:avLst/>
          </a:prstGeom>
          <a:solidFill>
            <a:srgbClr val="111827"/>
          </a:solidFill>
          <a:ln/>
        </p:spPr>
        <p:txBody>
          <a:bodyPr/>
          <a:lstStyle/>
          <a:p>
            <a:endParaRPr lang="en-IN"/>
          </a:p>
        </p:txBody>
      </p:sp>
      <p:sp>
        <p:nvSpPr>
          <p:cNvPr id="6" name="Text 4"/>
          <p:cNvSpPr/>
          <p:nvPr/>
        </p:nvSpPr>
        <p:spPr>
          <a:xfrm>
            <a:off x="667512" y="265176"/>
            <a:ext cx="11021263" cy="384048"/>
          </a:xfrm>
          <a:prstGeom prst="rect">
            <a:avLst/>
          </a:prstGeom>
          <a:noFill/>
          <a:ln/>
        </p:spPr>
        <p:txBody>
          <a:bodyPr wrap="square" lIns="0" tIns="0" rIns="0" bIns="0" rtlCol="0" anchor="ctr"/>
          <a:lstStyle/>
          <a:p>
            <a:pPr marL="0" indent="0" algn="l">
              <a:buNone/>
            </a:pPr>
            <a:r>
              <a:rPr lang="en-US" sz="2200" b="1" dirty="0">
                <a:solidFill>
                  <a:srgbClr val="111827"/>
                </a:solidFill>
                <a:latin typeface="Oswald" pitchFamily="34" charset="0"/>
                <a:ea typeface="Oswald" pitchFamily="34" charset="-122"/>
                <a:cs typeface="Oswald" pitchFamily="34" charset="-120"/>
              </a:rPr>
              <a:t>TIER-2 &amp; NANO-GCC DIFFERENTIATORS</a:t>
            </a:r>
            <a:endParaRPr lang="en-US" sz="2200" dirty="0"/>
          </a:p>
        </p:txBody>
      </p:sp>
      <p:sp>
        <p:nvSpPr>
          <p:cNvPr id="7" name="Text 5"/>
          <p:cNvSpPr/>
          <p:nvPr/>
        </p:nvSpPr>
        <p:spPr>
          <a:xfrm>
            <a:off x="667512" y="658368"/>
            <a:ext cx="11021263" cy="237744"/>
          </a:xfrm>
          <a:prstGeom prst="rect">
            <a:avLst/>
          </a:prstGeom>
          <a:noFill/>
          <a:ln/>
        </p:spPr>
        <p:txBody>
          <a:bodyPr wrap="square" lIns="0" tIns="0" rIns="0" bIns="0" rtlCol="0" anchor="ctr"/>
          <a:lstStyle/>
          <a:p>
            <a:pPr marL="0" indent="0" algn="l">
              <a:buNone/>
            </a:pPr>
            <a:r>
              <a:rPr lang="en-US" sz="1250" b="1" dirty="0">
                <a:solidFill>
                  <a:srgbClr val="2A9D8F"/>
                </a:solidFill>
                <a:latin typeface="Roboto Condensed" pitchFamily="34" charset="0"/>
                <a:ea typeface="Roboto Condensed" pitchFamily="34" charset="-122"/>
                <a:cs typeface="Roboto Condensed" pitchFamily="34" charset="-120"/>
              </a:rPr>
              <a:t>Agility and innovation at lower cost</a:t>
            </a:r>
            <a:endParaRPr lang="en-US" sz="1250" dirty="0"/>
          </a:p>
        </p:txBody>
      </p:sp>
      <p:sp>
        <p:nvSpPr>
          <p:cNvPr id="8" name="Text 6"/>
          <p:cNvSpPr/>
          <p:nvPr/>
        </p:nvSpPr>
        <p:spPr>
          <a:xfrm>
            <a:off x="502920" y="1051560"/>
            <a:ext cx="11185855" cy="365760"/>
          </a:xfrm>
          <a:prstGeom prst="rect">
            <a:avLst/>
          </a:prstGeom>
          <a:noFill/>
          <a:ln/>
        </p:spPr>
        <p:txBody>
          <a:bodyPr wrap="square" lIns="0" tIns="0" rIns="0" bIns="0" rtlCol="0" anchor="ctr"/>
          <a:lstStyle/>
          <a:p>
            <a:pPr marL="0" indent="0">
              <a:buNone/>
            </a:pPr>
            <a:r>
              <a:rPr lang="en-US" sz="1150" dirty="0">
                <a:solidFill>
                  <a:srgbClr val="4B5563"/>
                </a:solidFill>
                <a:latin typeface="Raleway" pitchFamily="34" charset="0"/>
                <a:ea typeface="Raleway" pitchFamily="34" charset="-122"/>
                <a:cs typeface="Raleway" pitchFamily="34" charset="-120"/>
              </a:rPr>
              <a:t>J2W pioneered the nano-GCC concept and has deep Tier-II city expertise, creating cost-smart, innovation-first GCCs unmatched by traditional providers.</a:t>
            </a:r>
            <a:endParaRPr lang="en-US" sz="1150" dirty="0"/>
          </a:p>
        </p:txBody>
      </p:sp>
      <p:sp>
        <p:nvSpPr>
          <p:cNvPr id="9" name="Shape 7"/>
          <p:cNvSpPr/>
          <p:nvPr/>
        </p:nvSpPr>
        <p:spPr>
          <a:xfrm>
            <a:off x="502920" y="1600200"/>
            <a:ext cx="2604440" cy="566928"/>
          </a:xfrm>
          <a:prstGeom prst="roundRect">
            <a:avLst>
              <a:gd name="adj" fmla="val 8065"/>
            </a:avLst>
          </a:prstGeom>
          <a:solidFill>
            <a:srgbClr val="2A9D8F"/>
          </a:solidFill>
          <a:ln w="12700">
            <a:solidFill>
              <a:srgbClr val="2A9D8F"/>
            </a:solidFill>
            <a:prstDash val="solid"/>
          </a:ln>
        </p:spPr>
        <p:txBody>
          <a:bodyPr/>
          <a:lstStyle/>
          <a:p>
            <a:endParaRPr lang="en-IN"/>
          </a:p>
        </p:txBody>
      </p:sp>
      <p:sp>
        <p:nvSpPr>
          <p:cNvPr id="10" name="Text 8"/>
          <p:cNvSpPr/>
          <p:nvPr/>
        </p:nvSpPr>
        <p:spPr>
          <a:xfrm>
            <a:off x="640080" y="1600200"/>
            <a:ext cx="2330120" cy="566928"/>
          </a:xfrm>
          <a:prstGeom prst="rect">
            <a:avLst/>
          </a:prstGeom>
          <a:noFill/>
          <a:ln/>
        </p:spPr>
        <p:txBody>
          <a:bodyPr wrap="square" lIns="0" tIns="0" rIns="0" bIns="0" rtlCol="0" anchor="ctr"/>
          <a:lstStyle/>
          <a:p>
            <a:pPr marL="0" indent="0">
              <a:buNone/>
            </a:pPr>
            <a:r>
              <a:rPr lang="en-US" sz="2200" b="1" dirty="0">
                <a:solidFill>
                  <a:srgbClr val="FFFFFF"/>
                </a:solidFill>
                <a:latin typeface="Oswald" pitchFamily="34" charset="0"/>
                <a:ea typeface="Oswald" pitchFamily="34" charset="-122"/>
                <a:cs typeface="Oswald" pitchFamily="34" charset="-120"/>
              </a:rPr>
              <a:t>01</a:t>
            </a:r>
            <a:endParaRPr lang="en-US" sz="2200" dirty="0"/>
          </a:p>
        </p:txBody>
      </p:sp>
      <p:sp>
        <p:nvSpPr>
          <p:cNvPr id="11" name="Shape 9"/>
          <p:cNvSpPr/>
          <p:nvPr/>
        </p:nvSpPr>
        <p:spPr>
          <a:xfrm>
            <a:off x="502920" y="2240280"/>
            <a:ext cx="2604440" cy="3108960"/>
          </a:xfrm>
          <a:prstGeom prst="roundRect">
            <a:avLst>
              <a:gd name="adj" fmla="val 2107"/>
            </a:avLst>
          </a:prstGeom>
          <a:solidFill>
            <a:srgbClr val="F8FAFC"/>
          </a:solidFill>
          <a:ln w="12700">
            <a:solidFill>
              <a:srgbClr val="E2E8F0"/>
            </a:solidFill>
            <a:prstDash val="solid"/>
          </a:ln>
        </p:spPr>
        <p:txBody>
          <a:bodyPr/>
          <a:lstStyle/>
          <a:p>
            <a:endParaRPr lang="en-IN"/>
          </a:p>
        </p:txBody>
      </p:sp>
      <p:sp>
        <p:nvSpPr>
          <p:cNvPr id="12" name="Shape 10"/>
          <p:cNvSpPr/>
          <p:nvPr/>
        </p:nvSpPr>
        <p:spPr>
          <a:xfrm>
            <a:off x="1530820" y="2468880"/>
            <a:ext cx="548640" cy="548640"/>
          </a:xfrm>
          <a:prstGeom prst="ellipse">
            <a:avLst/>
          </a:prstGeom>
          <a:solidFill>
            <a:srgbClr val="2A9D8F"/>
          </a:solidFill>
          <a:ln/>
        </p:spPr>
        <p:txBody>
          <a:bodyPr/>
          <a:lstStyle/>
          <a:p>
            <a:endParaRPr lang="en-IN"/>
          </a:p>
        </p:txBody>
      </p:sp>
      <p:pic>
        <p:nvPicPr>
          <p:cNvPr id="13" name="Image 0" descr="/home/claude/work/assets/icons/puzzle_white.png"/>
          <p:cNvPicPr>
            <a:picLocks noChangeAspect="1"/>
          </p:cNvPicPr>
          <p:nvPr/>
        </p:nvPicPr>
        <p:blipFill>
          <a:blip r:embed="rId3"/>
          <a:stretch>
            <a:fillRect/>
          </a:stretch>
        </p:blipFill>
        <p:spPr>
          <a:xfrm>
            <a:off x="1654264" y="2592324"/>
            <a:ext cx="301752" cy="301752"/>
          </a:xfrm>
          <a:prstGeom prst="rect">
            <a:avLst/>
          </a:prstGeom>
        </p:spPr>
      </p:pic>
      <p:sp>
        <p:nvSpPr>
          <p:cNvPr id="14" name="Text 11"/>
          <p:cNvSpPr/>
          <p:nvPr/>
        </p:nvSpPr>
        <p:spPr>
          <a:xfrm>
            <a:off x="640080" y="3108960"/>
            <a:ext cx="2330120" cy="457200"/>
          </a:xfrm>
          <a:prstGeom prst="rect">
            <a:avLst/>
          </a:prstGeom>
          <a:noFill/>
          <a:ln/>
        </p:spPr>
        <p:txBody>
          <a:bodyPr wrap="square" lIns="0" tIns="0" rIns="0" bIns="0" rtlCol="0" anchor="ctr"/>
          <a:lstStyle/>
          <a:p>
            <a:pPr marL="0" indent="0" algn="ctr">
              <a:buNone/>
            </a:pPr>
            <a:r>
              <a:rPr lang="en-US" sz="1300" b="1" dirty="0">
                <a:solidFill>
                  <a:srgbClr val="111827"/>
                </a:solidFill>
                <a:latin typeface="Oswald" pitchFamily="34" charset="0"/>
                <a:ea typeface="Oswald" pitchFamily="34" charset="-122"/>
                <a:cs typeface="Oswald" pitchFamily="34" charset="-120"/>
              </a:rPr>
              <a:t>Nano-GCC Model</a:t>
            </a:r>
            <a:endParaRPr lang="en-US" sz="1300" dirty="0"/>
          </a:p>
        </p:txBody>
      </p:sp>
      <p:sp>
        <p:nvSpPr>
          <p:cNvPr id="15" name="Text 12"/>
          <p:cNvSpPr/>
          <p:nvPr/>
        </p:nvSpPr>
        <p:spPr>
          <a:xfrm>
            <a:off x="704088" y="3611880"/>
            <a:ext cx="2202104" cy="1005840"/>
          </a:xfrm>
          <a:prstGeom prst="rect">
            <a:avLst/>
          </a:prstGeom>
          <a:noFill/>
          <a:ln/>
        </p:spPr>
        <p:txBody>
          <a:bodyPr wrap="square" lIns="0" tIns="0" rIns="0" bIns="0" rtlCol="0" anchor="t"/>
          <a:lstStyle/>
          <a:p>
            <a:pPr marL="152400" indent="-152400">
              <a:lnSpc>
                <a:spcPct val="115000"/>
              </a:lnSpc>
              <a:spcAft>
                <a:spcPts val="800"/>
              </a:spcAft>
              <a:buSzPct val="100000"/>
              <a:buChar char="•"/>
            </a:pPr>
            <a:r>
              <a:rPr lang="en-US" sz="950" dirty="0">
                <a:solidFill>
                  <a:srgbClr val="4B5563"/>
                </a:solidFill>
                <a:latin typeface="Raleway" pitchFamily="34" charset="0"/>
                <a:ea typeface="Raleway" pitchFamily="34" charset="-122"/>
                <a:cs typeface="Raleway" pitchFamily="34" charset="-120"/>
              </a:rPr>
              <a:t>Agile hubs of 25–250 experts drive rapid, niche innovation.</a:t>
            </a:r>
            <a:endParaRPr lang="en-US" sz="950" dirty="0"/>
          </a:p>
          <a:p>
            <a:pPr marL="152400" indent="-152400">
              <a:lnSpc>
                <a:spcPct val="115000"/>
              </a:lnSpc>
              <a:spcAft>
                <a:spcPts val="800"/>
              </a:spcAft>
              <a:buSzPct val="100000"/>
              <a:buChar char="•"/>
            </a:pPr>
            <a:r>
              <a:rPr lang="en-US" sz="950" dirty="0">
                <a:solidFill>
                  <a:srgbClr val="4B5563"/>
                </a:solidFill>
                <a:latin typeface="Raleway" pitchFamily="34" charset="0"/>
                <a:ea typeface="Raleway" pitchFamily="34" charset="-122"/>
                <a:cs typeface="Raleway" pitchFamily="34" charset="-120"/>
              </a:rPr>
              <a:t>Enable fast prototyping and quicker time-to-market.</a:t>
            </a:r>
            <a:endParaRPr lang="en-US" sz="950" dirty="0"/>
          </a:p>
        </p:txBody>
      </p:sp>
      <p:pic>
        <p:nvPicPr>
          <p:cNvPr id="16" name="Image 1" descr="/home/claude/work/assets/icons/arrowright_dark.png"/>
          <p:cNvPicPr>
            <a:picLocks noChangeAspect="1"/>
          </p:cNvPicPr>
          <p:nvPr/>
        </p:nvPicPr>
        <p:blipFill>
          <a:blip r:embed="rId4"/>
          <a:stretch>
            <a:fillRect/>
          </a:stretch>
        </p:blipFill>
        <p:spPr>
          <a:xfrm>
            <a:off x="3125648" y="3685032"/>
            <a:ext cx="219456" cy="219456"/>
          </a:xfrm>
          <a:prstGeom prst="rect">
            <a:avLst/>
          </a:prstGeom>
        </p:spPr>
      </p:pic>
      <p:sp>
        <p:nvSpPr>
          <p:cNvPr id="17" name="Shape 13"/>
          <p:cNvSpPr/>
          <p:nvPr/>
        </p:nvSpPr>
        <p:spPr>
          <a:xfrm>
            <a:off x="3363392" y="1600200"/>
            <a:ext cx="2604440" cy="566928"/>
          </a:xfrm>
          <a:prstGeom prst="roundRect">
            <a:avLst>
              <a:gd name="adj" fmla="val 8065"/>
            </a:avLst>
          </a:prstGeom>
          <a:solidFill>
            <a:srgbClr val="D62839"/>
          </a:solidFill>
          <a:ln w="12700">
            <a:solidFill>
              <a:srgbClr val="D62839"/>
            </a:solidFill>
            <a:prstDash val="solid"/>
          </a:ln>
        </p:spPr>
        <p:txBody>
          <a:bodyPr/>
          <a:lstStyle/>
          <a:p>
            <a:endParaRPr lang="en-IN"/>
          </a:p>
        </p:txBody>
      </p:sp>
      <p:sp>
        <p:nvSpPr>
          <p:cNvPr id="18" name="Text 14"/>
          <p:cNvSpPr/>
          <p:nvPr/>
        </p:nvSpPr>
        <p:spPr>
          <a:xfrm>
            <a:off x="3500552" y="1600200"/>
            <a:ext cx="2330120" cy="566928"/>
          </a:xfrm>
          <a:prstGeom prst="rect">
            <a:avLst/>
          </a:prstGeom>
          <a:noFill/>
          <a:ln/>
        </p:spPr>
        <p:txBody>
          <a:bodyPr wrap="square" lIns="0" tIns="0" rIns="0" bIns="0" rtlCol="0" anchor="ctr"/>
          <a:lstStyle/>
          <a:p>
            <a:pPr marL="0" indent="0">
              <a:buNone/>
            </a:pPr>
            <a:r>
              <a:rPr lang="en-US" sz="2200" b="1" dirty="0">
                <a:solidFill>
                  <a:srgbClr val="FFFFFF"/>
                </a:solidFill>
                <a:latin typeface="Oswald" pitchFamily="34" charset="0"/>
                <a:ea typeface="Oswald" pitchFamily="34" charset="-122"/>
                <a:cs typeface="Oswald" pitchFamily="34" charset="-120"/>
              </a:rPr>
              <a:t>02</a:t>
            </a:r>
            <a:endParaRPr lang="en-US" sz="2200" dirty="0"/>
          </a:p>
        </p:txBody>
      </p:sp>
      <p:sp>
        <p:nvSpPr>
          <p:cNvPr id="19" name="Shape 15"/>
          <p:cNvSpPr/>
          <p:nvPr/>
        </p:nvSpPr>
        <p:spPr>
          <a:xfrm>
            <a:off x="3363392" y="2240280"/>
            <a:ext cx="2604440" cy="3108960"/>
          </a:xfrm>
          <a:prstGeom prst="roundRect">
            <a:avLst>
              <a:gd name="adj" fmla="val 2107"/>
            </a:avLst>
          </a:prstGeom>
          <a:solidFill>
            <a:srgbClr val="F8FAFC"/>
          </a:solidFill>
          <a:ln w="12700">
            <a:solidFill>
              <a:srgbClr val="E2E8F0"/>
            </a:solidFill>
            <a:prstDash val="solid"/>
          </a:ln>
        </p:spPr>
        <p:txBody>
          <a:bodyPr/>
          <a:lstStyle/>
          <a:p>
            <a:endParaRPr lang="en-IN"/>
          </a:p>
        </p:txBody>
      </p:sp>
      <p:sp>
        <p:nvSpPr>
          <p:cNvPr id="20" name="Shape 16"/>
          <p:cNvSpPr/>
          <p:nvPr/>
        </p:nvSpPr>
        <p:spPr>
          <a:xfrm>
            <a:off x="4391292" y="2468880"/>
            <a:ext cx="548640" cy="548640"/>
          </a:xfrm>
          <a:prstGeom prst="ellipse">
            <a:avLst/>
          </a:prstGeom>
          <a:solidFill>
            <a:srgbClr val="D62839"/>
          </a:solidFill>
          <a:ln/>
        </p:spPr>
        <p:txBody>
          <a:bodyPr/>
          <a:lstStyle/>
          <a:p>
            <a:endParaRPr lang="en-IN"/>
          </a:p>
        </p:txBody>
      </p:sp>
      <p:pic>
        <p:nvPicPr>
          <p:cNvPr id="21" name="Image 2" descr="/home/claude/work/assets/icons/pin_white.png"/>
          <p:cNvPicPr>
            <a:picLocks noChangeAspect="1"/>
          </p:cNvPicPr>
          <p:nvPr/>
        </p:nvPicPr>
        <p:blipFill>
          <a:blip r:embed="rId5"/>
          <a:stretch>
            <a:fillRect/>
          </a:stretch>
        </p:blipFill>
        <p:spPr>
          <a:xfrm>
            <a:off x="4514736" y="2592324"/>
            <a:ext cx="301752" cy="301752"/>
          </a:xfrm>
          <a:prstGeom prst="rect">
            <a:avLst/>
          </a:prstGeom>
        </p:spPr>
      </p:pic>
      <p:sp>
        <p:nvSpPr>
          <p:cNvPr id="22" name="Text 17"/>
          <p:cNvSpPr/>
          <p:nvPr/>
        </p:nvSpPr>
        <p:spPr>
          <a:xfrm>
            <a:off x="3500552" y="3108960"/>
            <a:ext cx="2330120" cy="457200"/>
          </a:xfrm>
          <a:prstGeom prst="rect">
            <a:avLst/>
          </a:prstGeom>
          <a:noFill/>
          <a:ln/>
        </p:spPr>
        <p:txBody>
          <a:bodyPr wrap="square" lIns="0" tIns="0" rIns="0" bIns="0" rtlCol="0" anchor="ctr"/>
          <a:lstStyle/>
          <a:p>
            <a:pPr marL="0" indent="0" algn="ctr">
              <a:buNone/>
            </a:pPr>
            <a:r>
              <a:rPr lang="en-US" sz="1300" b="1" dirty="0">
                <a:solidFill>
                  <a:srgbClr val="111827"/>
                </a:solidFill>
                <a:latin typeface="Oswald" pitchFamily="34" charset="0"/>
                <a:ea typeface="Oswald" pitchFamily="34" charset="-122"/>
                <a:cs typeface="Oswald" pitchFamily="34" charset="-120"/>
              </a:rPr>
              <a:t>Tier-2 Expertise</a:t>
            </a:r>
            <a:endParaRPr lang="en-US" sz="1300" dirty="0"/>
          </a:p>
        </p:txBody>
      </p:sp>
      <p:sp>
        <p:nvSpPr>
          <p:cNvPr id="23" name="Text 18"/>
          <p:cNvSpPr/>
          <p:nvPr/>
        </p:nvSpPr>
        <p:spPr>
          <a:xfrm>
            <a:off x="3564560" y="3611880"/>
            <a:ext cx="2202104" cy="1005840"/>
          </a:xfrm>
          <a:prstGeom prst="rect">
            <a:avLst/>
          </a:prstGeom>
          <a:noFill/>
          <a:ln/>
        </p:spPr>
        <p:txBody>
          <a:bodyPr wrap="square" lIns="0" tIns="0" rIns="0" bIns="0" rtlCol="0" anchor="t"/>
          <a:lstStyle/>
          <a:p>
            <a:pPr marL="152400" indent="-152400">
              <a:lnSpc>
                <a:spcPct val="115000"/>
              </a:lnSpc>
              <a:spcAft>
                <a:spcPts val="800"/>
              </a:spcAft>
              <a:buSzPct val="100000"/>
              <a:buChar char="•"/>
            </a:pPr>
            <a:r>
              <a:rPr lang="en-US" sz="950" dirty="0">
                <a:solidFill>
                  <a:srgbClr val="4B5563"/>
                </a:solidFill>
                <a:latin typeface="Raleway" pitchFamily="34" charset="0"/>
                <a:ea typeface="Raleway" pitchFamily="34" charset="-122"/>
                <a:cs typeface="Raleway" pitchFamily="34" charset="-120"/>
              </a:rPr>
              <a:t>Talent-rich, cost-efficient hubs in Pune, Chandigarh, Vizag.</a:t>
            </a:r>
            <a:endParaRPr lang="en-US" sz="950" dirty="0"/>
          </a:p>
          <a:p>
            <a:pPr marL="152400" indent="-152400">
              <a:lnSpc>
                <a:spcPct val="115000"/>
              </a:lnSpc>
              <a:spcAft>
                <a:spcPts val="800"/>
              </a:spcAft>
              <a:buSzPct val="100000"/>
              <a:buChar char="•"/>
            </a:pPr>
            <a:r>
              <a:rPr lang="en-US" sz="950" dirty="0">
                <a:solidFill>
                  <a:srgbClr val="4B5563"/>
                </a:solidFill>
                <a:latin typeface="Raleway" pitchFamily="34" charset="0"/>
                <a:ea typeface="Raleway" pitchFamily="34" charset="-122"/>
                <a:cs typeface="Raleway" pitchFamily="34" charset="-120"/>
              </a:rPr>
              <a:t>Leverage local expertise while optimizing costs.</a:t>
            </a:r>
            <a:endParaRPr lang="en-US" sz="950" dirty="0"/>
          </a:p>
        </p:txBody>
      </p:sp>
      <p:pic>
        <p:nvPicPr>
          <p:cNvPr id="24" name="Image 3" descr="/home/claude/work/assets/icons/arrowright_dark.png"/>
          <p:cNvPicPr>
            <a:picLocks noChangeAspect="1"/>
          </p:cNvPicPr>
          <p:nvPr/>
        </p:nvPicPr>
        <p:blipFill>
          <a:blip r:embed="rId4"/>
          <a:stretch>
            <a:fillRect/>
          </a:stretch>
        </p:blipFill>
        <p:spPr>
          <a:xfrm>
            <a:off x="5986120" y="3685032"/>
            <a:ext cx="219456" cy="219456"/>
          </a:xfrm>
          <a:prstGeom prst="rect">
            <a:avLst/>
          </a:prstGeom>
        </p:spPr>
      </p:pic>
      <p:sp>
        <p:nvSpPr>
          <p:cNvPr id="25" name="Shape 19"/>
          <p:cNvSpPr/>
          <p:nvPr/>
        </p:nvSpPr>
        <p:spPr>
          <a:xfrm>
            <a:off x="6223864" y="1600200"/>
            <a:ext cx="2604440" cy="566928"/>
          </a:xfrm>
          <a:prstGeom prst="roundRect">
            <a:avLst>
              <a:gd name="adj" fmla="val 8065"/>
            </a:avLst>
          </a:prstGeom>
          <a:solidFill>
            <a:srgbClr val="2A9D8F"/>
          </a:solidFill>
          <a:ln w="12700">
            <a:solidFill>
              <a:srgbClr val="2A9D8F"/>
            </a:solidFill>
            <a:prstDash val="solid"/>
          </a:ln>
        </p:spPr>
        <p:txBody>
          <a:bodyPr/>
          <a:lstStyle/>
          <a:p>
            <a:endParaRPr lang="en-IN"/>
          </a:p>
        </p:txBody>
      </p:sp>
      <p:sp>
        <p:nvSpPr>
          <p:cNvPr id="26" name="Text 20"/>
          <p:cNvSpPr/>
          <p:nvPr/>
        </p:nvSpPr>
        <p:spPr>
          <a:xfrm>
            <a:off x="6361024" y="1600200"/>
            <a:ext cx="2330120" cy="566928"/>
          </a:xfrm>
          <a:prstGeom prst="rect">
            <a:avLst/>
          </a:prstGeom>
          <a:noFill/>
          <a:ln/>
        </p:spPr>
        <p:txBody>
          <a:bodyPr wrap="square" lIns="0" tIns="0" rIns="0" bIns="0" rtlCol="0" anchor="ctr"/>
          <a:lstStyle/>
          <a:p>
            <a:pPr marL="0" indent="0">
              <a:buNone/>
            </a:pPr>
            <a:r>
              <a:rPr lang="en-US" sz="2200" b="1" dirty="0">
                <a:solidFill>
                  <a:srgbClr val="FFFFFF"/>
                </a:solidFill>
                <a:latin typeface="Oswald" pitchFamily="34" charset="0"/>
                <a:ea typeface="Oswald" pitchFamily="34" charset="-122"/>
                <a:cs typeface="Oswald" pitchFamily="34" charset="-120"/>
              </a:rPr>
              <a:t>03</a:t>
            </a:r>
            <a:endParaRPr lang="en-US" sz="2200" dirty="0"/>
          </a:p>
        </p:txBody>
      </p:sp>
      <p:sp>
        <p:nvSpPr>
          <p:cNvPr id="27" name="Shape 21"/>
          <p:cNvSpPr/>
          <p:nvPr/>
        </p:nvSpPr>
        <p:spPr>
          <a:xfrm>
            <a:off x="6223864" y="2240280"/>
            <a:ext cx="2604440" cy="3108960"/>
          </a:xfrm>
          <a:prstGeom prst="roundRect">
            <a:avLst>
              <a:gd name="adj" fmla="val 2107"/>
            </a:avLst>
          </a:prstGeom>
          <a:solidFill>
            <a:srgbClr val="F8FAFC"/>
          </a:solidFill>
          <a:ln w="12700">
            <a:solidFill>
              <a:srgbClr val="E2E8F0"/>
            </a:solidFill>
            <a:prstDash val="solid"/>
          </a:ln>
        </p:spPr>
        <p:txBody>
          <a:bodyPr/>
          <a:lstStyle/>
          <a:p>
            <a:endParaRPr lang="en-IN"/>
          </a:p>
        </p:txBody>
      </p:sp>
      <p:sp>
        <p:nvSpPr>
          <p:cNvPr id="28" name="Shape 22"/>
          <p:cNvSpPr/>
          <p:nvPr/>
        </p:nvSpPr>
        <p:spPr>
          <a:xfrm>
            <a:off x="7251763" y="2468880"/>
            <a:ext cx="548640" cy="548640"/>
          </a:xfrm>
          <a:prstGeom prst="ellipse">
            <a:avLst/>
          </a:prstGeom>
          <a:solidFill>
            <a:srgbClr val="2A9D8F"/>
          </a:solidFill>
          <a:ln/>
        </p:spPr>
        <p:txBody>
          <a:bodyPr/>
          <a:lstStyle/>
          <a:p>
            <a:endParaRPr lang="en-IN"/>
          </a:p>
        </p:txBody>
      </p:sp>
      <p:pic>
        <p:nvPicPr>
          <p:cNvPr id="29" name="Image 4" descr="/home/claude/work/assets/icons/layers_white.png"/>
          <p:cNvPicPr>
            <a:picLocks noChangeAspect="1"/>
          </p:cNvPicPr>
          <p:nvPr/>
        </p:nvPicPr>
        <p:blipFill>
          <a:blip r:embed="rId6"/>
          <a:stretch>
            <a:fillRect/>
          </a:stretch>
        </p:blipFill>
        <p:spPr>
          <a:xfrm>
            <a:off x="7375207" y="2592324"/>
            <a:ext cx="301752" cy="301752"/>
          </a:xfrm>
          <a:prstGeom prst="rect">
            <a:avLst/>
          </a:prstGeom>
        </p:spPr>
      </p:pic>
      <p:sp>
        <p:nvSpPr>
          <p:cNvPr id="30" name="Text 23"/>
          <p:cNvSpPr/>
          <p:nvPr/>
        </p:nvSpPr>
        <p:spPr>
          <a:xfrm>
            <a:off x="6361024" y="3108960"/>
            <a:ext cx="2330120" cy="457200"/>
          </a:xfrm>
          <a:prstGeom prst="rect">
            <a:avLst/>
          </a:prstGeom>
          <a:noFill/>
          <a:ln/>
        </p:spPr>
        <p:txBody>
          <a:bodyPr wrap="square" lIns="0" tIns="0" rIns="0" bIns="0" rtlCol="0" anchor="ctr"/>
          <a:lstStyle/>
          <a:p>
            <a:pPr marL="0" indent="0" algn="ctr">
              <a:buNone/>
            </a:pPr>
            <a:r>
              <a:rPr lang="en-US" sz="1300" b="1" dirty="0">
                <a:solidFill>
                  <a:srgbClr val="111827"/>
                </a:solidFill>
                <a:latin typeface="Oswald" pitchFamily="34" charset="0"/>
                <a:ea typeface="Oswald" pitchFamily="34" charset="-122"/>
                <a:cs typeface="Oswald" pitchFamily="34" charset="-120"/>
              </a:rPr>
              <a:t>IP &amp; Integration</a:t>
            </a:r>
            <a:endParaRPr lang="en-US" sz="1300" dirty="0"/>
          </a:p>
        </p:txBody>
      </p:sp>
      <p:sp>
        <p:nvSpPr>
          <p:cNvPr id="31" name="Text 24"/>
          <p:cNvSpPr/>
          <p:nvPr/>
        </p:nvSpPr>
        <p:spPr>
          <a:xfrm>
            <a:off x="6425032" y="3611880"/>
            <a:ext cx="2202104" cy="1005840"/>
          </a:xfrm>
          <a:prstGeom prst="rect">
            <a:avLst/>
          </a:prstGeom>
          <a:noFill/>
          <a:ln/>
        </p:spPr>
        <p:txBody>
          <a:bodyPr wrap="square" lIns="0" tIns="0" rIns="0" bIns="0" rtlCol="0" anchor="t"/>
          <a:lstStyle/>
          <a:p>
            <a:pPr marL="152400" indent="-152400">
              <a:lnSpc>
                <a:spcPct val="115000"/>
              </a:lnSpc>
              <a:spcAft>
                <a:spcPts val="800"/>
              </a:spcAft>
              <a:buSzPct val="100000"/>
              <a:buChar char="•"/>
            </a:pPr>
            <a:r>
              <a:rPr lang="en-US" sz="950" dirty="0">
                <a:solidFill>
                  <a:srgbClr val="4B5563"/>
                </a:solidFill>
                <a:latin typeface="Raleway" pitchFamily="34" charset="0"/>
                <a:ea typeface="Raleway" pitchFamily="34" charset="-122"/>
                <a:cs typeface="Raleway" pitchFamily="34" charset="-120"/>
              </a:rPr>
              <a:t>Full ownership with embedded governance.</a:t>
            </a:r>
            <a:endParaRPr lang="en-US" sz="950" dirty="0"/>
          </a:p>
          <a:p>
            <a:pPr marL="152400" indent="-152400">
              <a:lnSpc>
                <a:spcPct val="115000"/>
              </a:lnSpc>
              <a:spcAft>
                <a:spcPts val="800"/>
              </a:spcAft>
              <a:buSzPct val="100000"/>
              <a:buChar char="•"/>
            </a:pPr>
            <a:r>
              <a:rPr lang="en-US" sz="950" dirty="0">
                <a:solidFill>
                  <a:srgbClr val="4B5563"/>
                </a:solidFill>
                <a:latin typeface="Raleway" pitchFamily="34" charset="0"/>
                <a:ea typeface="Raleway" pitchFamily="34" charset="-122"/>
                <a:cs typeface="Raleway" pitchFamily="34" charset="-120"/>
              </a:rPr>
              <a:t>Client-aligned culture for seamless collaboration.</a:t>
            </a:r>
            <a:endParaRPr lang="en-US" sz="950" dirty="0"/>
          </a:p>
        </p:txBody>
      </p:sp>
      <p:pic>
        <p:nvPicPr>
          <p:cNvPr id="32" name="Image 5" descr="/home/claude/work/assets/icons/arrowright_dark.png"/>
          <p:cNvPicPr>
            <a:picLocks noChangeAspect="1"/>
          </p:cNvPicPr>
          <p:nvPr/>
        </p:nvPicPr>
        <p:blipFill>
          <a:blip r:embed="rId4"/>
          <a:stretch>
            <a:fillRect/>
          </a:stretch>
        </p:blipFill>
        <p:spPr>
          <a:xfrm>
            <a:off x="8846591" y="3685032"/>
            <a:ext cx="219456" cy="219456"/>
          </a:xfrm>
          <a:prstGeom prst="rect">
            <a:avLst/>
          </a:prstGeom>
        </p:spPr>
      </p:pic>
      <p:sp>
        <p:nvSpPr>
          <p:cNvPr id="33" name="Shape 25"/>
          <p:cNvSpPr/>
          <p:nvPr/>
        </p:nvSpPr>
        <p:spPr>
          <a:xfrm>
            <a:off x="9084335" y="1600200"/>
            <a:ext cx="2604440" cy="566928"/>
          </a:xfrm>
          <a:prstGeom prst="roundRect">
            <a:avLst>
              <a:gd name="adj" fmla="val 8065"/>
            </a:avLst>
          </a:prstGeom>
          <a:solidFill>
            <a:srgbClr val="D62839"/>
          </a:solidFill>
          <a:ln w="12700">
            <a:solidFill>
              <a:srgbClr val="D62839"/>
            </a:solidFill>
            <a:prstDash val="solid"/>
          </a:ln>
        </p:spPr>
        <p:txBody>
          <a:bodyPr/>
          <a:lstStyle/>
          <a:p>
            <a:endParaRPr lang="en-IN"/>
          </a:p>
        </p:txBody>
      </p:sp>
      <p:sp>
        <p:nvSpPr>
          <p:cNvPr id="34" name="Text 26"/>
          <p:cNvSpPr/>
          <p:nvPr/>
        </p:nvSpPr>
        <p:spPr>
          <a:xfrm>
            <a:off x="9221495" y="1600200"/>
            <a:ext cx="2330120" cy="566928"/>
          </a:xfrm>
          <a:prstGeom prst="rect">
            <a:avLst/>
          </a:prstGeom>
          <a:noFill/>
          <a:ln/>
        </p:spPr>
        <p:txBody>
          <a:bodyPr wrap="square" lIns="0" tIns="0" rIns="0" bIns="0" rtlCol="0" anchor="ctr"/>
          <a:lstStyle/>
          <a:p>
            <a:pPr marL="0" indent="0">
              <a:buNone/>
            </a:pPr>
            <a:r>
              <a:rPr lang="en-US" sz="2200" b="1" dirty="0">
                <a:solidFill>
                  <a:srgbClr val="FFFFFF"/>
                </a:solidFill>
                <a:latin typeface="Oswald" pitchFamily="34" charset="0"/>
                <a:ea typeface="Oswald" pitchFamily="34" charset="-122"/>
                <a:cs typeface="Oswald" pitchFamily="34" charset="-120"/>
              </a:rPr>
              <a:t>04</a:t>
            </a:r>
            <a:endParaRPr lang="en-US" sz="2200" dirty="0"/>
          </a:p>
        </p:txBody>
      </p:sp>
      <p:sp>
        <p:nvSpPr>
          <p:cNvPr id="35" name="Shape 27"/>
          <p:cNvSpPr/>
          <p:nvPr/>
        </p:nvSpPr>
        <p:spPr>
          <a:xfrm>
            <a:off x="9084335" y="2240280"/>
            <a:ext cx="2604440" cy="3108960"/>
          </a:xfrm>
          <a:prstGeom prst="roundRect">
            <a:avLst>
              <a:gd name="adj" fmla="val 2107"/>
            </a:avLst>
          </a:prstGeom>
          <a:solidFill>
            <a:srgbClr val="F8FAFC"/>
          </a:solidFill>
          <a:ln w="12700">
            <a:solidFill>
              <a:srgbClr val="E2E8F0"/>
            </a:solidFill>
            <a:prstDash val="solid"/>
          </a:ln>
        </p:spPr>
        <p:txBody>
          <a:bodyPr/>
          <a:lstStyle/>
          <a:p>
            <a:endParaRPr lang="en-IN"/>
          </a:p>
        </p:txBody>
      </p:sp>
      <p:sp>
        <p:nvSpPr>
          <p:cNvPr id="36" name="Shape 28"/>
          <p:cNvSpPr/>
          <p:nvPr/>
        </p:nvSpPr>
        <p:spPr>
          <a:xfrm>
            <a:off x="10112235" y="2468880"/>
            <a:ext cx="548640" cy="548640"/>
          </a:xfrm>
          <a:prstGeom prst="ellipse">
            <a:avLst/>
          </a:prstGeom>
          <a:solidFill>
            <a:srgbClr val="D62839"/>
          </a:solidFill>
          <a:ln/>
        </p:spPr>
        <p:txBody>
          <a:bodyPr/>
          <a:lstStyle/>
          <a:p>
            <a:endParaRPr lang="en-IN"/>
          </a:p>
        </p:txBody>
      </p:sp>
      <p:pic>
        <p:nvPicPr>
          <p:cNvPr id="37" name="Image 6" descr="/home/claude/work/assets/icons/rocket_white.png"/>
          <p:cNvPicPr>
            <a:picLocks noChangeAspect="1"/>
          </p:cNvPicPr>
          <p:nvPr/>
        </p:nvPicPr>
        <p:blipFill>
          <a:blip r:embed="rId7"/>
          <a:stretch>
            <a:fillRect/>
          </a:stretch>
        </p:blipFill>
        <p:spPr>
          <a:xfrm>
            <a:off x="10235679" y="2592324"/>
            <a:ext cx="301752" cy="301752"/>
          </a:xfrm>
          <a:prstGeom prst="rect">
            <a:avLst/>
          </a:prstGeom>
        </p:spPr>
      </p:pic>
      <p:sp>
        <p:nvSpPr>
          <p:cNvPr id="38" name="Text 29"/>
          <p:cNvSpPr/>
          <p:nvPr/>
        </p:nvSpPr>
        <p:spPr>
          <a:xfrm>
            <a:off x="9221495" y="3108960"/>
            <a:ext cx="2330120" cy="457200"/>
          </a:xfrm>
          <a:prstGeom prst="rect">
            <a:avLst/>
          </a:prstGeom>
          <a:noFill/>
          <a:ln/>
        </p:spPr>
        <p:txBody>
          <a:bodyPr wrap="square" lIns="0" tIns="0" rIns="0" bIns="0" rtlCol="0" anchor="ctr"/>
          <a:lstStyle/>
          <a:p>
            <a:pPr marL="0" indent="0" algn="ctr">
              <a:buNone/>
            </a:pPr>
            <a:r>
              <a:rPr lang="en-US" sz="1300" b="1" dirty="0">
                <a:solidFill>
                  <a:srgbClr val="111827"/>
                </a:solidFill>
                <a:latin typeface="Oswald" pitchFamily="34" charset="0"/>
                <a:ea typeface="Oswald" pitchFamily="34" charset="-122"/>
                <a:cs typeface="Oswald" pitchFamily="34" charset="-120"/>
              </a:rPr>
              <a:t>Rapid Experimentation</a:t>
            </a:r>
            <a:endParaRPr lang="en-US" sz="1300" dirty="0"/>
          </a:p>
        </p:txBody>
      </p:sp>
      <p:sp>
        <p:nvSpPr>
          <p:cNvPr id="39" name="Text 30"/>
          <p:cNvSpPr/>
          <p:nvPr/>
        </p:nvSpPr>
        <p:spPr>
          <a:xfrm>
            <a:off x="9285503" y="3611880"/>
            <a:ext cx="2202104" cy="1005840"/>
          </a:xfrm>
          <a:prstGeom prst="rect">
            <a:avLst/>
          </a:prstGeom>
          <a:noFill/>
          <a:ln/>
        </p:spPr>
        <p:txBody>
          <a:bodyPr wrap="square" lIns="0" tIns="0" rIns="0" bIns="0" rtlCol="0" anchor="t"/>
          <a:lstStyle/>
          <a:p>
            <a:pPr marL="152400" indent="-152400">
              <a:lnSpc>
                <a:spcPct val="115000"/>
              </a:lnSpc>
              <a:spcAft>
                <a:spcPts val="800"/>
              </a:spcAft>
              <a:buSzPct val="100000"/>
              <a:buChar char="•"/>
            </a:pPr>
            <a:r>
              <a:rPr lang="en-US" sz="950" dirty="0">
                <a:solidFill>
                  <a:srgbClr val="4B5563"/>
                </a:solidFill>
                <a:latin typeface="Raleway" pitchFamily="34" charset="0"/>
                <a:ea typeface="Raleway" pitchFamily="34" charset="-122"/>
                <a:cs typeface="Raleway" pitchFamily="34" charset="-120"/>
              </a:rPr>
              <a:t>Nano-centers function as dedicated innovation labs.</a:t>
            </a:r>
            <a:endParaRPr lang="en-US" sz="950" dirty="0"/>
          </a:p>
          <a:p>
            <a:pPr marL="152400" indent="-152400">
              <a:lnSpc>
                <a:spcPct val="115000"/>
              </a:lnSpc>
              <a:spcAft>
                <a:spcPts val="800"/>
              </a:spcAft>
              <a:buSzPct val="100000"/>
              <a:buChar char="•"/>
            </a:pPr>
            <a:r>
              <a:rPr lang="en-US" sz="950" dirty="0">
                <a:solidFill>
                  <a:srgbClr val="4B5563"/>
                </a:solidFill>
                <a:latin typeface="Raleway" pitchFamily="34" charset="0"/>
                <a:ea typeface="Raleway" pitchFamily="34" charset="-122"/>
                <a:cs typeface="Raleway" pitchFamily="34" charset="-120"/>
              </a:rPr>
              <a:t>Enable rapid proof-of-concepts (PoCs).</a:t>
            </a:r>
            <a:endParaRPr lang="en-US" sz="950" dirty="0"/>
          </a:p>
        </p:txBody>
      </p:sp>
      <p:sp>
        <p:nvSpPr>
          <p:cNvPr id="40" name="Text 31"/>
          <p:cNvSpPr/>
          <p:nvPr/>
        </p:nvSpPr>
        <p:spPr>
          <a:xfrm>
            <a:off x="502920" y="6547104"/>
            <a:ext cx="2743200" cy="201168"/>
          </a:xfrm>
          <a:prstGeom prst="rect">
            <a:avLst/>
          </a:prstGeom>
          <a:noFill/>
          <a:ln/>
        </p:spPr>
        <p:txBody>
          <a:bodyPr wrap="square" lIns="0" tIns="0" rIns="0" bIns="0" rtlCol="0" anchor="ctr"/>
          <a:lstStyle/>
          <a:p>
            <a:pPr marL="0" indent="0" algn="l">
              <a:buNone/>
            </a:pPr>
            <a:r>
              <a:rPr lang="en-US" sz="800" kern="0" spc="100" dirty="0">
                <a:solidFill>
                  <a:srgbClr val="A1A1AA"/>
                </a:solidFill>
                <a:latin typeface="Roboto Condensed" pitchFamily="34" charset="0"/>
                <a:ea typeface="Roboto Condensed" pitchFamily="34" charset="-122"/>
                <a:cs typeface="Roboto Condensed" pitchFamily="34" charset="-120"/>
              </a:rPr>
              <a:t>JOULESTOWATTS</a:t>
            </a:r>
            <a:endParaRPr lang="en-US" sz="8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8123327" cy="75895"/>
          </a:xfrm>
          <a:prstGeom prst="rect">
            <a:avLst/>
          </a:prstGeom>
          <a:solidFill>
            <a:srgbClr val="2A9D8F"/>
          </a:solidFill>
          <a:ln/>
        </p:spPr>
        <p:txBody>
          <a:bodyPr/>
          <a:lstStyle/>
          <a:p>
            <a:endParaRPr lang="en-IN"/>
          </a:p>
        </p:txBody>
      </p:sp>
      <p:sp>
        <p:nvSpPr>
          <p:cNvPr id="3" name="Shape 1"/>
          <p:cNvSpPr/>
          <p:nvPr/>
        </p:nvSpPr>
        <p:spPr>
          <a:xfrm>
            <a:off x="8123327" y="0"/>
            <a:ext cx="4068369" cy="75895"/>
          </a:xfrm>
          <a:prstGeom prst="rect">
            <a:avLst/>
          </a:prstGeom>
          <a:solidFill>
            <a:srgbClr val="D62839"/>
          </a:solidFill>
          <a:ln/>
        </p:spPr>
        <p:txBody>
          <a:bodyPr/>
          <a:lstStyle/>
          <a:p>
            <a:endParaRPr lang="en-IN"/>
          </a:p>
        </p:txBody>
      </p:sp>
      <p:sp>
        <p:nvSpPr>
          <p:cNvPr id="4" name="Shape 2"/>
          <p:cNvSpPr/>
          <p:nvPr/>
        </p:nvSpPr>
        <p:spPr>
          <a:xfrm>
            <a:off x="9265615" y="-1463040"/>
            <a:ext cx="3840480" cy="3840480"/>
          </a:xfrm>
          <a:prstGeom prst="ellipse">
            <a:avLst/>
          </a:prstGeom>
          <a:solidFill>
            <a:srgbClr val="2A9D8F">
              <a:alpha val="4000"/>
            </a:srgbClr>
          </a:solidFill>
          <a:ln/>
        </p:spPr>
        <p:txBody>
          <a:bodyPr/>
          <a:lstStyle/>
          <a:p>
            <a:endParaRPr lang="en-IN"/>
          </a:p>
        </p:txBody>
      </p:sp>
      <p:sp>
        <p:nvSpPr>
          <p:cNvPr id="5" name="Shape 3"/>
          <p:cNvSpPr/>
          <p:nvPr/>
        </p:nvSpPr>
        <p:spPr>
          <a:xfrm>
            <a:off x="502920" y="329184"/>
            <a:ext cx="54864" cy="310896"/>
          </a:xfrm>
          <a:prstGeom prst="rect">
            <a:avLst/>
          </a:prstGeom>
          <a:solidFill>
            <a:srgbClr val="111827"/>
          </a:solidFill>
          <a:ln/>
        </p:spPr>
        <p:txBody>
          <a:bodyPr/>
          <a:lstStyle/>
          <a:p>
            <a:endParaRPr lang="en-IN"/>
          </a:p>
        </p:txBody>
      </p:sp>
      <p:sp>
        <p:nvSpPr>
          <p:cNvPr id="6" name="Text 4"/>
          <p:cNvSpPr/>
          <p:nvPr/>
        </p:nvSpPr>
        <p:spPr>
          <a:xfrm>
            <a:off x="667512" y="265176"/>
            <a:ext cx="11021263" cy="384048"/>
          </a:xfrm>
          <a:prstGeom prst="rect">
            <a:avLst/>
          </a:prstGeom>
          <a:noFill/>
          <a:ln/>
        </p:spPr>
        <p:txBody>
          <a:bodyPr wrap="square" lIns="0" tIns="0" rIns="0" bIns="0" rtlCol="0" anchor="ctr"/>
          <a:lstStyle/>
          <a:p>
            <a:pPr marL="0" indent="0" algn="l">
              <a:buNone/>
            </a:pPr>
            <a:r>
              <a:rPr lang="en-US" sz="2200" b="1" dirty="0">
                <a:solidFill>
                  <a:srgbClr val="111827"/>
                </a:solidFill>
                <a:latin typeface="Oswald" pitchFamily="34" charset="0"/>
                <a:ea typeface="Oswald" pitchFamily="34" charset="-122"/>
                <a:cs typeface="Oswald" pitchFamily="34" charset="-120"/>
              </a:rPr>
              <a:t>BEST PRACTICES FOR SUSTAINABLE GCC SUCCESS</a:t>
            </a:r>
            <a:endParaRPr lang="en-US" sz="2200" dirty="0"/>
          </a:p>
        </p:txBody>
      </p:sp>
      <p:sp>
        <p:nvSpPr>
          <p:cNvPr id="7" name="Text 5"/>
          <p:cNvSpPr/>
          <p:nvPr/>
        </p:nvSpPr>
        <p:spPr>
          <a:xfrm>
            <a:off x="667512" y="658368"/>
            <a:ext cx="11021263" cy="237744"/>
          </a:xfrm>
          <a:prstGeom prst="rect">
            <a:avLst/>
          </a:prstGeom>
          <a:noFill/>
          <a:ln/>
        </p:spPr>
        <p:txBody>
          <a:bodyPr wrap="square" lIns="0" tIns="0" rIns="0" bIns="0" rtlCol="0" anchor="ctr"/>
          <a:lstStyle/>
          <a:p>
            <a:pPr marL="0" indent="0" algn="l">
              <a:buNone/>
            </a:pPr>
            <a:r>
              <a:rPr lang="en-US" sz="1250" b="1" dirty="0">
                <a:solidFill>
                  <a:srgbClr val="2A9D8F"/>
                </a:solidFill>
                <a:latin typeface="Roboto Condensed" pitchFamily="34" charset="0"/>
                <a:ea typeface="Roboto Condensed" pitchFamily="34" charset="-122"/>
                <a:cs typeface="Roboto Condensed" pitchFamily="34" charset="-120"/>
              </a:rPr>
              <a:t>Built on 150+ implementations — governance, talent, culture, and innovation</a:t>
            </a:r>
            <a:endParaRPr lang="en-US" sz="1250" dirty="0"/>
          </a:p>
        </p:txBody>
      </p:sp>
      <p:sp>
        <p:nvSpPr>
          <p:cNvPr id="8" name="Text 6"/>
          <p:cNvSpPr/>
          <p:nvPr/>
        </p:nvSpPr>
        <p:spPr>
          <a:xfrm>
            <a:off x="502920" y="1051560"/>
            <a:ext cx="11185855" cy="365760"/>
          </a:xfrm>
          <a:prstGeom prst="rect">
            <a:avLst/>
          </a:prstGeom>
          <a:noFill/>
          <a:ln/>
        </p:spPr>
        <p:txBody>
          <a:bodyPr wrap="square" lIns="0" tIns="0" rIns="0" bIns="0" rtlCol="0" anchor="ctr"/>
          <a:lstStyle/>
          <a:p>
            <a:pPr marL="0" indent="0">
              <a:buNone/>
            </a:pPr>
            <a:r>
              <a:rPr lang="en-US" sz="1150" dirty="0">
                <a:solidFill>
                  <a:srgbClr val="4B5563"/>
                </a:solidFill>
                <a:latin typeface="Raleway" pitchFamily="34" charset="0"/>
                <a:ea typeface="Raleway" pitchFamily="34" charset="-122"/>
                <a:cs typeface="Raleway" pitchFamily="34" charset="-120"/>
              </a:rPr>
              <a:t>GCCs thrive when designed with long-term vision, local empowerment, and global alignment — here’s what success looks like.</a:t>
            </a:r>
            <a:endParaRPr lang="en-US" sz="1150" dirty="0"/>
          </a:p>
        </p:txBody>
      </p:sp>
      <p:sp>
        <p:nvSpPr>
          <p:cNvPr id="9" name="Shape 7"/>
          <p:cNvSpPr/>
          <p:nvPr/>
        </p:nvSpPr>
        <p:spPr>
          <a:xfrm>
            <a:off x="502920" y="1554480"/>
            <a:ext cx="2645588" cy="1965960"/>
          </a:xfrm>
          <a:prstGeom prst="roundRect">
            <a:avLst>
              <a:gd name="adj" fmla="val 2791"/>
            </a:avLst>
          </a:prstGeom>
          <a:solidFill>
            <a:srgbClr val="F8FAFC"/>
          </a:solidFill>
          <a:ln w="12700">
            <a:solidFill>
              <a:srgbClr val="E2E8F0"/>
            </a:solidFill>
            <a:prstDash val="solid"/>
          </a:ln>
        </p:spPr>
        <p:txBody>
          <a:bodyPr/>
          <a:lstStyle/>
          <a:p>
            <a:endParaRPr lang="en-IN"/>
          </a:p>
        </p:txBody>
      </p:sp>
      <p:sp>
        <p:nvSpPr>
          <p:cNvPr id="10" name="Shape 8"/>
          <p:cNvSpPr/>
          <p:nvPr/>
        </p:nvSpPr>
        <p:spPr>
          <a:xfrm>
            <a:off x="1560538" y="1755648"/>
            <a:ext cx="530352" cy="530352"/>
          </a:xfrm>
          <a:prstGeom prst="ellipse">
            <a:avLst/>
          </a:prstGeom>
          <a:solidFill>
            <a:srgbClr val="2A9D8F"/>
          </a:solidFill>
          <a:ln/>
        </p:spPr>
        <p:txBody>
          <a:bodyPr/>
          <a:lstStyle/>
          <a:p>
            <a:endParaRPr lang="en-IN"/>
          </a:p>
        </p:txBody>
      </p:sp>
      <p:pic>
        <p:nvPicPr>
          <p:cNvPr id="11" name="Image 0" descr="/home/claude/work/assets/icons/userTie_white.png"/>
          <p:cNvPicPr>
            <a:picLocks noChangeAspect="1"/>
          </p:cNvPicPr>
          <p:nvPr/>
        </p:nvPicPr>
        <p:blipFill>
          <a:blip r:embed="rId3"/>
          <a:stretch>
            <a:fillRect/>
          </a:stretch>
        </p:blipFill>
        <p:spPr>
          <a:xfrm>
            <a:off x="1679867" y="1874977"/>
            <a:ext cx="291694" cy="291694"/>
          </a:xfrm>
          <a:prstGeom prst="rect">
            <a:avLst/>
          </a:prstGeom>
        </p:spPr>
      </p:pic>
      <p:sp>
        <p:nvSpPr>
          <p:cNvPr id="12" name="Text 9"/>
          <p:cNvSpPr/>
          <p:nvPr/>
        </p:nvSpPr>
        <p:spPr>
          <a:xfrm>
            <a:off x="630936" y="2414016"/>
            <a:ext cx="2389556" cy="402336"/>
          </a:xfrm>
          <a:prstGeom prst="rect">
            <a:avLst/>
          </a:prstGeom>
          <a:noFill/>
          <a:ln/>
        </p:spPr>
        <p:txBody>
          <a:bodyPr wrap="square" lIns="0" tIns="0" rIns="0" bIns="0" rtlCol="0" anchor="ctr"/>
          <a:lstStyle/>
          <a:p>
            <a:pPr marL="0" indent="0" algn="ctr">
              <a:buNone/>
            </a:pPr>
            <a:r>
              <a:rPr lang="en-US" sz="1200" b="1" dirty="0">
                <a:solidFill>
                  <a:srgbClr val="111827"/>
                </a:solidFill>
                <a:latin typeface="Oswald" pitchFamily="34" charset="0"/>
                <a:ea typeface="Oswald" pitchFamily="34" charset="-122"/>
                <a:cs typeface="Oswald" pitchFamily="34" charset="-120"/>
              </a:rPr>
              <a:t>Executive Sponsorship</a:t>
            </a:r>
            <a:endParaRPr lang="en-US" sz="1200" dirty="0"/>
          </a:p>
        </p:txBody>
      </p:sp>
      <p:sp>
        <p:nvSpPr>
          <p:cNvPr id="13" name="Text 10"/>
          <p:cNvSpPr/>
          <p:nvPr/>
        </p:nvSpPr>
        <p:spPr>
          <a:xfrm>
            <a:off x="649224" y="2834640"/>
            <a:ext cx="2352980" cy="594360"/>
          </a:xfrm>
          <a:prstGeom prst="rect">
            <a:avLst/>
          </a:prstGeom>
          <a:noFill/>
          <a:ln/>
        </p:spPr>
        <p:txBody>
          <a:bodyPr wrap="square" lIns="0" tIns="0" rIns="0" bIns="0" rtlCol="0" anchor="ctr"/>
          <a:lstStyle/>
          <a:p>
            <a:pPr marL="0" indent="0" algn="ctr">
              <a:lnSpc>
                <a:spcPct val="112000"/>
              </a:lnSpc>
              <a:buNone/>
            </a:pPr>
            <a:r>
              <a:rPr lang="en-US" sz="930" dirty="0">
                <a:solidFill>
                  <a:srgbClr val="4B5563"/>
                </a:solidFill>
                <a:latin typeface="Raleway" pitchFamily="34" charset="0"/>
                <a:ea typeface="Raleway" pitchFamily="34" charset="-122"/>
                <a:cs typeface="Raleway" pitchFamily="34" charset="-120"/>
              </a:rPr>
              <a:t>Clear vision and HQ alignment; set strategic KPIs.</a:t>
            </a:r>
            <a:endParaRPr lang="en-US" sz="930" dirty="0"/>
          </a:p>
        </p:txBody>
      </p:sp>
      <p:sp>
        <p:nvSpPr>
          <p:cNvPr id="14" name="Shape 11"/>
          <p:cNvSpPr/>
          <p:nvPr/>
        </p:nvSpPr>
        <p:spPr>
          <a:xfrm>
            <a:off x="3349676" y="1554480"/>
            <a:ext cx="2645588" cy="1965960"/>
          </a:xfrm>
          <a:prstGeom prst="roundRect">
            <a:avLst>
              <a:gd name="adj" fmla="val 2791"/>
            </a:avLst>
          </a:prstGeom>
          <a:solidFill>
            <a:srgbClr val="F8FAFC"/>
          </a:solidFill>
          <a:ln w="12700">
            <a:solidFill>
              <a:srgbClr val="E2E8F0"/>
            </a:solidFill>
            <a:prstDash val="solid"/>
          </a:ln>
        </p:spPr>
        <p:txBody>
          <a:bodyPr/>
          <a:lstStyle/>
          <a:p>
            <a:endParaRPr lang="en-IN"/>
          </a:p>
        </p:txBody>
      </p:sp>
      <p:sp>
        <p:nvSpPr>
          <p:cNvPr id="15" name="Shape 12"/>
          <p:cNvSpPr/>
          <p:nvPr/>
        </p:nvSpPr>
        <p:spPr>
          <a:xfrm>
            <a:off x="4407294" y="1755648"/>
            <a:ext cx="530352" cy="530352"/>
          </a:xfrm>
          <a:prstGeom prst="ellipse">
            <a:avLst/>
          </a:prstGeom>
          <a:solidFill>
            <a:srgbClr val="D62839"/>
          </a:solidFill>
          <a:ln/>
        </p:spPr>
        <p:txBody>
          <a:bodyPr/>
          <a:lstStyle/>
          <a:p>
            <a:endParaRPr lang="en-IN"/>
          </a:p>
        </p:txBody>
      </p:sp>
      <p:pic>
        <p:nvPicPr>
          <p:cNvPr id="16" name="Image 1" descr="/home/claude/work/assets/icons/seedling_white.png"/>
          <p:cNvPicPr>
            <a:picLocks noChangeAspect="1"/>
          </p:cNvPicPr>
          <p:nvPr/>
        </p:nvPicPr>
        <p:blipFill>
          <a:blip r:embed="rId4"/>
          <a:stretch>
            <a:fillRect/>
          </a:stretch>
        </p:blipFill>
        <p:spPr>
          <a:xfrm>
            <a:off x="4526623" y="1874977"/>
            <a:ext cx="291694" cy="291694"/>
          </a:xfrm>
          <a:prstGeom prst="rect">
            <a:avLst/>
          </a:prstGeom>
        </p:spPr>
      </p:pic>
      <p:sp>
        <p:nvSpPr>
          <p:cNvPr id="17" name="Text 13"/>
          <p:cNvSpPr/>
          <p:nvPr/>
        </p:nvSpPr>
        <p:spPr>
          <a:xfrm>
            <a:off x="3477692" y="2414016"/>
            <a:ext cx="2389556" cy="402336"/>
          </a:xfrm>
          <a:prstGeom prst="rect">
            <a:avLst/>
          </a:prstGeom>
          <a:noFill/>
          <a:ln/>
        </p:spPr>
        <p:txBody>
          <a:bodyPr wrap="square" lIns="0" tIns="0" rIns="0" bIns="0" rtlCol="0" anchor="ctr"/>
          <a:lstStyle/>
          <a:p>
            <a:pPr marL="0" indent="0" algn="ctr">
              <a:buNone/>
            </a:pPr>
            <a:r>
              <a:rPr lang="en-US" sz="1200" b="1" dirty="0">
                <a:solidFill>
                  <a:srgbClr val="111827"/>
                </a:solidFill>
                <a:latin typeface="Oswald" pitchFamily="34" charset="0"/>
                <a:ea typeface="Oswald" pitchFamily="34" charset="-122"/>
                <a:cs typeface="Oswald" pitchFamily="34" charset="-120"/>
              </a:rPr>
              <a:t>Start Small, Scale Fast</a:t>
            </a:r>
            <a:endParaRPr lang="en-US" sz="1200" dirty="0"/>
          </a:p>
        </p:txBody>
      </p:sp>
      <p:sp>
        <p:nvSpPr>
          <p:cNvPr id="18" name="Text 14"/>
          <p:cNvSpPr/>
          <p:nvPr/>
        </p:nvSpPr>
        <p:spPr>
          <a:xfrm>
            <a:off x="3495980" y="2834640"/>
            <a:ext cx="2352980" cy="594360"/>
          </a:xfrm>
          <a:prstGeom prst="rect">
            <a:avLst/>
          </a:prstGeom>
          <a:noFill/>
          <a:ln/>
        </p:spPr>
        <p:txBody>
          <a:bodyPr wrap="square" lIns="0" tIns="0" rIns="0" bIns="0" rtlCol="0" anchor="ctr"/>
          <a:lstStyle/>
          <a:p>
            <a:pPr marL="0" indent="0" algn="ctr">
              <a:lnSpc>
                <a:spcPct val="112000"/>
              </a:lnSpc>
              <a:buNone/>
            </a:pPr>
            <a:r>
              <a:rPr lang="en-US" sz="930" dirty="0">
                <a:solidFill>
                  <a:srgbClr val="4B5563"/>
                </a:solidFill>
                <a:latin typeface="Raleway" pitchFamily="34" charset="0"/>
                <a:ea typeface="Raleway" pitchFamily="34" charset="-122"/>
                <a:cs typeface="Raleway" pitchFamily="34" charset="-120"/>
              </a:rPr>
              <a:t>Pilot key functions, prove value, then expand.</a:t>
            </a:r>
            <a:endParaRPr lang="en-US" sz="930" dirty="0"/>
          </a:p>
        </p:txBody>
      </p:sp>
      <p:sp>
        <p:nvSpPr>
          <p:cNvPr id="19" name="Shape 15"/>
          <p:cNvSpPr/>
          <p:nvPr/>
        </p:nvSpPr>
        <p:spPr>
          <a:xfrm>
            <a:off x="6196432" y="1554480"/>
            <a:ext cx="2645588" cy="1965960"/>
          </a:xfrm>
          <a:prstGeom prst="roundRect">
            <a:avLst>
              <a:gd name="adj" fmla="val 2791"/>
            </a:avLst>
          </a:prstGeom>
          <a:solidFill>
            <a:srgbClr val="F8FAFC"/>
          </a:solidFill>
          <a:ln w="12700">
            <a:solidFill>
              <a:srgbClr val="E2E8F0"/>
            </a:solidFill>
            <a:prstDash val="solid"/>
          </a:ln>
        </p:spPr>
        <p:txBody>
          <a:bodyPr/>
          <a:lstStyle/>
          <a:p>
            <a:endParaRPr lang="en-IN"/>
          </a:p>
        </p:txBody>
      </p:sp>
      <p:sp>
        <p:nvSpPr>
          <p:cNvPr id="20" name="Shape 16"/>
          <p:cNvSpPr/>
          <p:nvPr/>
        </p:nvSpPr>
        <p:spPr>
          <a:xfrm>
            <a:off x="7254050" y="1755648"/>
            <a:ext cx="530352" cy="530352"/>
          </a:xfrm>
          <a:prstGeom prst="ellipse">
            <a:avLst/>
          </a:prstGeom>
          <a:solidFill>
            <a:srgbClr val="2A9D8F"/>
          </a:solidFill>
          <a:ln/>
        </p:spPr>
        <p:txBody>
          <a:bodyPr/>
          <a:lstStyle/>
          <a:p>
            <a:endParaRPr lang="en-IN"/>
          </a:p>
        </p:txBody>
      </p:sp>
      <p:pic>
        <p:nvPicPr>
          <p:cNvPr id="21" name="Image 2" descr="/home/claude/work/assets/icons/comment_white.png"/>
          <p:cNvPicPr>
            <a:picLocks noChangeAspect="1"/>
          </p:cNvPicPr>
          <p:nvPr/>
        </p:nvPicPr>
        <p:blipFill>
          <a:blip r:embed="rId5"/>
          <a:stretch>
            <a:fillRect/>
          </a:stretch>
        </p:blipFill>
        <p:spPr>
          <a:xfrm>
            <a:off x="7373379" y="1874977"/>
            <a:ext cx="291694" cy="291694"/>
          </a:xfrm>
          <a:prstGeom prst="rect">
            <a:avLst/>
          </a:prstGeom>
        </p:spPr>
      </p:pic>
      <p:sp>
        <p:nvSpPr>
          <p:cNvPr id="22" name="Text 17"/>
          <p:cNvSpPr/>
          <p:nvPr/>
        </p:nvSpPr>
        <p:spPr>
          <a:xfrm>
            <a:off x="6324448" y="2414016"/>
            <a:ext cx="2389556" cy="402336"/>
          </a:xfrm>
          <a:prstGeom prst="rect">
            <a:avLst/>
          </a:prstGeom>
          <a:noFill/>
          <a:ln/>
        </p:spPr>
        <p:txBody>
          <a:bodyPr wrap="square" lIns="0" tIns="0" rIns="0" bIns="0" rtlCol="0" anchor="ctr"/>
          <a:lstStyle/>
          <a:p>
            <a:pPr marL="0" indent="0" algn="ctr">
              <a:buNone/>
            </a:pPr>
            <a:r>
              <a:rPr lang="en-US" sz="1200" b="1" dirty="0">
                <a:solidFill>
                  <a:srgbClr val="111827"/>
                </a:solidFill>
                <a:latin typeface="Oswald" pitchFamily="34" charset="0"/>
                <a:ea typeface="Oswald" pitchFamily="34" charset="-122"/>
                <a:cs typeface="Oswald" pitchFamily="34" charset="-120"/>
              </a:rPr>
              <a:t>Culture &amp; Communication</a:t>
            </a:r>
            <a:endParaRPr lang="en-US" sz="1200" dirty="0"/>
          </a:p>
        </p:txBody>
      </p:sp>
      <p:sp>
        <p:nvSpPr>
          <p:cNvPr id="23" name="Text 18"/>
          <p:cNvSpPr/>
          <p:nvPr/>
        </p:nvSpPr>
        <p:spPr>
          <a:xfrm>
            <a:off x="6342736" y="2834640"/>
            <a:ext cx="2352980" cy="594360"/>
          </a:xfrm>
          <a:prstGeom prst="rect">
            <a:avLst/>
          </a:prstGeom>
          <a:noFill/>
          <a:ln/>
        </p:spPr>
        <p:txBody>
          <a:bodyPr wrap="square" lIns="0" tIns="0" rIns="0" bIns="0" rtlCol="0" anchor="ctr"/>
          <a:lstStyle/>
          <a:p>
            <a:pPr marL="0" indent="0" algn="ctr">
              <a:lnSpc>
                <a:spcPct val="112000"/>
              </a:lnSpc>
              <a:buNone/>
            </a:pPr>
            <a:r>
              <a:rPr lang="en-US" sz="930" dirty="0">
                <a:solidFill>
                  <a:srgbClr val="4B5563"/>
                </a:solidFill>
                <a:latin typeface="Raleway" pitchFamily="34" charset="0"/>
                <a:ea typeface="Raleway" pitchFamily="34" charset="-122"/>
                <a:cs typeface="Raleway" pitchFamily="34" charset="-120"/>
              </a:rPr>
              <a:t>Build a ‘one team’ mindset across geographies.</a:t>
            </a:r>
            <a:endParaRPr lang="en-US" sz="930" dirty="0"/>
          </a:p>
        </p:txBody>
      </p:sp>
      <p:sp>
        <p:nvSpPr>
          <p:cNvPr id="24" name="Shape 19"/>
          <p:cNvSpPr/>
          <p:nvPr/>
        </p:nvSpPr>
        <p:spPr>
          <a:xfrm>
            <a:off x="9043187" y="1554480"/>
            <a:ext cx="2645588" cy="1965960"/>
          </a:xfrm>
          <a:prstGeom prst="roundRect">
            <a:avLst>
              <a:gd name="adj" fmla="val 2791"/>
            </a:avLst>
          </a:prstGeom>
          <a:solidFill>
            <a:srgbClr val="F8FAFC"/>
          </a:solidFill>
          <a:ln w="12700">
            <a:solidFill>
              <a:srgbClr val="E2E8F0"/>
            </a:solidFill>
            <a:prstDash val="solid"/>
          </a:ln>
        </p:spPr>
        <p:txBody>
          <a:bodyPr/>
          <a:lstStyle/>
          <a:p>
            <a:endParaRPr lang="en-IN"/>
          </a:p>
        </p:txBody>
      </p:sp>
      <p:sp>
        <p:nvSpPr>
          <p:cNvPr id="25" name="Shape 20"/>
          <p:cNvSpPr/>
          <p:nvPr/>
        </p:nvSpPr>
        <p:spPr>
          <a:xfrm>
            <a:off x="10100805" y="1755648"/>
            <a:ext cx="530352" cy="530352"/>
          </a:xfrm>
          <a:prstGeom prst="ellipse">
            <a:avLst/>
          </a:prstGeom>
          <a:solidFill>
            <a:srgbClr val="D62839"/>
          </a:solidFill>
          <a:ln/>
        </p:spPr>
        <p:txBody>
          <a:bodyPr/>
          <a:lstStyle/>
          <a:p>
            <a:endParaRPr lang="en-IN"/>
          </a:p>
        </p:txBody>
      </p:sp>
      <p:pic>
        <p:nvPicPr>
          <p:cNvPr id="26" name="Image 3" descr="/home/claude/work/assets/icons/gradcap_white.png"/>
          <p:cNvPicPr>
            <a:picLocks noChangeAspect="1"/>
          </p:cNvPicPr>
          <p:nvPr/>
        </p:nvPicPr>
        <p:blipFill>
          <a:blip r:embed="rId6"/>
          <a:stretch>
            <a:fillRect/>
          </a:stretch>
        </p:blipFill>
        <p:spPr>
          <a:xfrm>
            <a:off x="10220135" y="1874977"/>
            <a:ext cx="291694" cy="291694"/>
          </a:xfrm>
          <a:prstGeom prst="rect">
            <a:avLst/>
          </a:prstGeom>
        </p:spPr>
      </p:pic>
      <p:sp>
        <p:nvSpPr>
          <p:cNvPr id="27" name="Text 21"/>
          <p:cNvSpPr/>
          <p:nvPr/>
        </p:nvSpPr>
        <p:spPr>
          <a:xfrm>
            <a:off x="9171203" y="2414016"/>
            <a:ext cx="2389556" cy="402336"/>
          </a:xfrm>
          <a:prstGeom prst="rect">
            <a:avLst/>
          </a:prstGeom>
          <a:noFill/>
          <a:ln/>
        </p:spPr>
        <p:txBody>
          <a:bodyPr wrap="square" lIns="0" tIns="0" rIns="0" bIns="0" rtlCol="0" anchor="ctr"/>
          <a:lstStyle/>
          <a:p>
            <a:pPr marL="0" indent="0" algn="ctr">
              <a:buNone/>
            </a:pPr>
            <a:r>
              <a:rPr lang="en-US" sz="1200" b="1" dirty="0">
                <a:solidFill>
                  <a:srgbClr val="111827"/>
                </a:solidFill>
                <a:latin typeface="Oswald" pitchFamily="34" charset="0"/>
                <a:ea typeface="Oswald" pitchFamily="34" charset="-122"/>
                <a:cs typeface="Oswald" pitchFamily="34" charset="-120"/>
              </a:rPr>
              <a:t>Talent Retention</a:t>
            </a:r>
            <a:endParaRPr lang="en-US" sz="1200" dirty="0"/>
          </a:p>
        </p:txBody>
      </p:sp>
      <p:sp>
        <p:nvSpPr>
          <p:cNvPr id="28" name="Text 22"/>
          <p:cNvSpPr/>
          <p:nvPr/>
        </p:nvSpPr>
        <p:spPr>
          <a:xfrm>
            <a:off x="9189491" y="2834640"/>
            <a:ext cx="2352980" cy="594360"/>
          </a:xfrm>
          <a:prstGeom prst="rect">
            <a:avLst/>
          </a:prstGeom>
          <a:noFill/>
          <a:ln/>
        </p:spPr>
        <p:txBody>
          <a:bodyPr wrap="square" lIns="0" tIns="0" rIns="0" bIns="0" rtlCol="0" anchor="ctr"/>
          <a:lstStyle/>
          <a:p>
            <a:pPr marL="0" indent="0" algn="ctr">
              <a:lnSpc>
                <a:spcPct val="112000"/>
              </a:lnSpc>
              <a:buNone/>
            </a:pPr>
            <a:r>
              <a:rPr lang="en-US" sz="930" dirty="0">
                <a:solidFill>
                  <a:srgbClr val="4B5563"/>
                </a:solidFill>
                <a:latin typeface="Raleway" pitchFamily="34" charset="0"/>
                <a:ea typeface="Raleway" pitchFamily="34" charset="-122"/>
                <a:cs typeface="Raleway" pitchFamily="34" charset="-120"/>
              </a:rPr>
              <a:t>Career paths, training, and local employer branding.</a:t>
            </a:r>
            <a:endParaRPr lang="en-US" sz="930" dirty="0"/>
          </a:p>
        </p:txBody>
      </p:sp>
      <p:sp>
        <p:nvSpPr>
          <p:cNvPr id="29" name="Shape 23"/>
          <p:cNvSpPr/>
          <p:nvPr/>
        </p:nvSpPr>
        <p:spPr>
          <a:xfrm>
            <a:off x="502920" y="3749040"/>
            <a:ext cx="2645588" cy="1965960"/>
          </a:xfrm>
          <a:prstGeom prst="roundRect">
            <a:avLst>
              <a:gd name="adj" fmla="val 2791"/>
            </a:avLst>
          </a:prstGeom>
          <a:solidFill>
            <a:srgbClr val="F8FAFC"/>
          </a:solidFill>
          <a:ln w="12700">
            <a:solidFill>
              <a:srgbClr val="E2E8F0"/>
            </a:solidFill>
            <a:prstDash val="solid"/>
          </a:ln>
        </p:spPr>
        <p:txBody>
          <a:bodyPr/>
          <a:lstStyle/>
          <a:p>
            <a:endParaRPr lang="en-IN"/>
          </a:p>
        </p:txBody>
      </p:sp>
      <p:sp>
        <p:nvSpPr>
          <p:cNvPr id="30" name="Shape 24"/>
          <p:cNvSpPr/>
          <p:nvPr/>
        </p:nvSpPr>
        <p:spPr>
          <a:xfrm>
            <a:off x="1560538" y="3950208"/>
            <a:ext cx="530352" cy="530352"/>
          </a:xfrm>
          <a:prstGeom prst="ellipse">
            <a:avLst/>
          </a:prstGeom>
          <a:solidFill>
            <a:srgbClr val="D62839"/>
          </a:solidFill>
          <a:ln/>
        </p:spPr>
        <p:txBody>
          <a:bodyPr/>
          <a:lstStyle/>
          <a:p>
            <a:endParaRPr lang="en-IN"/>
          </a:p>
        </p:txBody>
      </p:sp>
      <p:pic>
        <p:nvPicPr>
          <p:cNvPr id="31" name="Image 4" descr="/home/claude/work/assets/icons/handsHelping_white.png"/>
          <p:cNvPicPr>
            <a:picLocks noChangeAspect="1"/>
          </p:cNvPicPr>
          <p:nvPr/>
        </p:nvPicPr>
        <p:blipFill>
          <a:blip r:embed="rId7"/>
          <a:stretch>
            <a:fillRect/>
          </a:stretch>
        </p:blipFill>
        <p:spPr>
          <a:xfrm>
            <a:off x="1679867" y="4069537"/>
            <a:ext cx="291694" cy="291694"/>
          </a:xfrm>
          <a:prstGeom prst="rect">
            <a:avLst/>
          </a:prstGeom>
        </p:spPr>
      </p:pic>
      <p:sp>
        <p:nvSpPr>
          <p:cNvPr id="32" name="Text 25"/>
          <p:cNvSpPr/>
          <p:nvPr/>
        </p:nvSpPr>
        <p:spPr>
          <a:xfrm>
            <a:off x="630936" y="4608576"/>
            <a:ext cx="2389556" cy="402336"/>
          </a:xfrm>
          <a:prstGeom prst="rect">
            <a:avLst/>
          </a:prstGeom>
          <a:noFill/>
          <a:ln/>
        </p:spPr>
        <p:txBody>
          <a:bodyPr wrap="square" lIns="0" tIns="0" rIns="0" bIns="0" rtlCol="0" anchor="ctr"/>
          <a:lstStyle/>
          <a:p>
            <a:pPr marL="0" indent="0" algn="ctr">
              <a:buNone/>
            </a:pPr>
            <a:r>
              <a:rPr lang="en-US" sz="1200" b="1" dirty="0">
                <a:solidFill>
                  <a:srgbClr val="111827"/>
                </a:solidFill>
                <a:latin typeface="Oswald" pitchFamily="34" charset="0"/>
                <a:ea typeface="Oswald" pitchFamily="34" charset="-122"/>
                <a:cs typeface="Oswald" pitchFamily="34" charset="-120"/>
              </a:rPr>
              <a:t>Integrated Collaboration</a:t>
            </a:r>
            <a:endParaRPr lang="en-US" sz="1200" dirty="0"/>
          </a:p>
        </p:txBody>
      </p:sp>
      <p:sp>
        <p:nvSpPr>
          <p:cNvPr id="33" name="Text 26"/>
          <p:cNvSpPr/>
          <p:nvPr/>
        </p:nvSpPr>
        <p:spPr>
          <a:xfrm>
            <a:off x="649224" y="5029200"/>
            <a:ext cx="2352980" cy="594360"/>
          </a:xfrm>
          <a:prstGeom prst="rect">
            <a:avLst/>
          </a:prstGeom>
          <a:noFill/>
          <a:ln/>
        </p:spPr>
        <p:txBody>
          <a:bodyPr wrap="square" lIns="0" tIns="0" rIns="0" bIns="0" rtlCol="0" anchor="ctr"/>
          <a:lstStyle/>
          <a:p>
            <a:pPr marL="0" indent="0" algn="ctr">
              <a:lnSpc>
                <a:spcPct val="112000"/>
              </a:lnSpc>
              <a:buNone/>
            </a:pPr>
            <a:r>
              <a:rPr lang="en-US" sz="930" dirty="0">
                <a:solidFill>
                  <a:srgbClr val="4B5563"/>
                </a:solidFill>
                <a:latin typeface="Raleway" pitchFamily="34" charset="0"/>
                <a:ea typeface="Raleway" pitchFamily="34" charset="-122"/>
                <a:cs typeface="Raleway" pitchFamily="34" charset="-120"/>
              </a:rPr>
              <a:t>Use common tools, live sync-ups, hybrid teams.</a:t>
            </a:r>
            <a:endParaRPr lang="en-US" sz="930" dirty="0"/>
          </a:p>
        </p:txBody>
      </p:sp>
      <p:sp>
        <p:nvSpPr>
          <p:cNvPr id="34" name="Shape 27"/>
          <p:cNvSpPr/>
          <p:nvPr/>
        </p:nvSpPr>
        <p:spPr>
          <a:xfrm>
            <a:off x="3349676" y="3749040"/>
            <a:ext cx="2645588" cy="1965960"/>
          </a:xfrm>
          <a:prstGeom prst="roundRect">
            <a:avLst>
              <a:gd name="adj" fmla="val 2791"/>
            </a:avLst>
          </a:prstGeom>
          <a:solidFill>
            <a:srgbClr val="F8FAFC"/>
          </a:solidFill>
          <a:ln w="12700">
            <a:solidFill>
              <a:srgbClr val="E2E8F0"/>
            </a:solidFill>
            <a:prstDash val="solid"/>
          </a:ln>
        </p:spPr>
        <p:txBody>
          <a:bodyPr/>
          <a:lstStyle/>
          <a:p>
            <a:endParaRPr lang="en-IN"/>
          </a:p>
        </p:txBody>
      </p:sp>
      <p:sp>
        <p:nvSpPr>
          <p:cNvPr id="35" name="Shape 28"/>
          <p:cNvSpPr/>
          <p:nvPr/>
        </p:nvSpPr>
        <p:spPr>
          <a:xfrm>
            <a:off x="4407294" y="3950208"/>
            <a:ext cx="530352" cy="530352"/>
          </a:xfrm>
          <a:prstGeom prst="ellipse">
            <a:avLst/>
          </a:prstGeom>
          <a:solidFill>
            <a:srgbClr val="2A9D8F"/>
          </a:solidFill>
          <a:ln/>
        </p:spPr>
        <p:txBody>
          <a:bodyPr/>
          <a:lstStyle/>
          <a:p>
            <a:endParaRPr lang="en-IN"/>
          </a:p>
        </p:txBody>
      </p:sp>
      <p:pic>
        <p:nvPicPr>
          <p:cNvPr id="36" name="Image 5" descr="/home/claude/work/assets/icons/compass_white.png"/>
          <p:cNvPicPr>
            <a:picLocks noChangeAspect="1"/>
          </p:cNvPicPr>
          <p:nvPr/>
        </p:nvPicPr>
        <p:blipFill>
          <a:blip r:embed="rId8"/>
          <a:stretch>
            <a:fillRect/>
          </a:stretch>
        </p:blipFill>
        <p:spPr>
          <a:xfrm>
            <a:off x="4526623" y="4069537"/>
            <a:ext cx="291694" cy="291694"/>
          </a:xfrm>
          <a:prstGeom prst="rect">
            <a:avLst/>
          </a:prstGeom>
        </p:spPr>
      </p:pic>
      <p:sp>
        <p:nvSpPr>
          <p:cNvPr id="37" name="Text 29"/>
          <p:cNvSpPr/>
          <p:nvPr/>
        </p:nvSpPr>
        <p:spPr>
          <a:xfrm>
            <a:off x="3477692" y="4608576"/>
            <a:ext cx="2389556" cy="402336"/>
          </a:xfrm>
          <a:prstGeom prst="rect">
            <a:avLst/>
          </a:prstGeom>
          <a:noFill/>
          <a:ln/>
        </p:spPr>
        <p:txBody>
          <a:bodyPr wrap="square" lIns="0" tIns="0" rIns="0" bIns="0" rtlCol="0" anchor="ctr"/>
          <a:lstStyle/>
          <a:p>
            <a:pPr marL="0" indent="0" algn="ctr">
              <a:buNone/>
            </a:pPr>
            <a:r>
              <a:rPr lang="en-US" sz="1200" b="1" dirty="0">
                <a:solidFill>
                  <a:srgbClr val="111827"/>
                </a:solidFill>
                <a:latin typeface="Oswald" pitchFamily="34" charset="0"/>
                <a:ea typeface="Oswald" pitchFamily="34" charset="-122"/>
                <a:cs typeface="Oswald" pitchFamily="34" charset="-120"/>
              </a:rPr>
              <a:t>Local Leadership</a:t>
            </a:r>
            <a:endParaRPr lang="en-US" sz="1200" dirty="0"/>
          </a:p>
        </p:txBody>
      </p:sp>
      <p:sp>
        <p:nvSpPr>
          <p:cNvPr id="38" name="Text 30"/>
          <p:cNvSpPr/>
          <p:nvPr/>
        </p:nvSpPr>
        <p:spPr>
          <a:xfrm>
            <a:off x="3495980" y="5029200"/>
            <a:ext cx="2352980" cy="594360"/>
          </a:xfrm>
          <a:prstGeom prst="rect">
            <a:avLst/>
          </a:prstGeom>
          <a:noFill/>
          <a:ln/>
        </p:spPr>
        <p:txBody>
          <a:bodyPr wrap="square" lIns="0" tIns="0" rIns="0" bIns="0" rtlCol="0" anchor="ctr"/>
          <a:lstStyle/>
          <a:p>
            <a:pPr marL="0" indent="0" algn="ctr">
              <a:lnSpc>
                <a:spcPct val="112000"/>
              </a:lnSpc>
              <a:buNone/>
            </a:pPr>
            <a:r>
              <a:rPr lang="en-US" sz="930" dirty="0">
                <a:solidFill>
                  <a:srgbClr val="4B5563"/>
                </a:solidFill>
                <a:latin typeface="Raleway" pitchFamily="34" charset="0"/>
                <a:ea typeface="Raleway" pitchFamily="34" charset="-122"/>
                <a:cs typeface="Raleway" pitchFamily="34" charset="-120"/>
              </a:rPr>
              <a:t>Strong India center head with governance reporting lines.</a:t>
            </a:r>
            <a:endParaRPr lang="en-US" sz="930" dirty="0"/>
          </a:p>
        </p:txBody>
      </p:sp>
      <p:sp>
        <p:nvSpPr>
          <p:cNvPr id="39" name="Shape 31"/>
          <p:cNvSpPr/>
          <p:nvPr/>
        </p:nvSpPr>
        <p:spPr>
          <a:xfrm>
            <a:off x="6196432" y="3749040"/>
            <a:ext cx="2645588" cy="1965960"/>
          </a:xfrm>
          <a:prstGeom prst="roundRect">
            <a:avLst>
              <a:gd name="adj" fmla="val 2791"/>
            </a:avLst>
          </a:prstGeom>
          <a:solidFill>
            <a:srgbClr val="F8FAFC"/>
          </a:solidFill>
          <a:ln w="12700">
            <a:solidFill>
              <a:srgbClr val="E2E8F0"/>
            </a:solidFill>
            <a:prstDash val="solid"/>
          </a:ln>
        </p:spPr>
        <p:txBody>
          <a:bodyPr/>
          <a:lstStyle/>
          <a:p>
            <a:endParaRPr lang="en-IN"/>
          </a:p>
        </p:txBody>
      </p:sp>
      <p:sp>
        <p:nvSpPr>
          <p:cNvPr id="40" name="Shape 32"/>
          <p:cNvSpPr/>
          <p:nvPr/>
        </p:nvSpPr>
        <p:spPr>
          <a:xfrm>
            <a:off x="7254050" y="3950208"/>
            <a:ext cx="530352" cy="530352"/>
          </a:xfrm>
          <a:prstGeom prst="ellipse">
            <a:avLst/>
          </a:prstGeom>
          <a:solidFill>
            <a:srgbClr val="D62839"/>
          </a:solidFill>
          <a:ln/>
        </p:spPr>
        <p:txBody>
          <a:bodyPr/>
          <a:lstStyle/>
          <a:p>
            <a:endParaRPr lang="en-IN"/>
          </a:p>
        </p:txBody>
      </p:sp>
      <p:pic>
        <p:nvPicPr>
          <p:cNvPr id="41" name="Image 6" descr="/home/claude/work/assets/icons/sync_white.png"/>
          <p:cNvPicPr>
            <a:picLocks noChangeAspect="1"/>
          </p:cNvPicPr>
          <p:nvPr/>
        </p:nvPicPr>
        <p:blipFill>
          <a:blip r:embed="rId9"/>
          <a:stretch>
            <a:fillRect/>
          </a:stretch>
        </p:blipFill>
        <p:spPr>
          <a:xfrm>
            <a:off x="7373379" y="4069537"/>
            <a:ext cx="291694" cy="291694"/>
          </a:xfrm>
          <a:prstGeom prst="rect">
            <a:avLst/>
          </a:prstGeom>
        </p:spPr>
      </p:pic>
      <p:sp>
        <p:nvSpPr>
          <p:cNvPr id="42" name="Text 33"/>
          <p:cNvSpPr/>
          <p:nvPr/>
        </p:nvSpPr>
        <p:spPr>
          <a:xfrm>
            <a:off x="6324448" y="4608576"/>
            <a:ext cx="2389556" cy="402336"/>
          </a:xfrm>
          <a:prstGeom prst="rect">
            <a:avLst/>
          </a:prstGeom>
          <a:noFill/>
          <a:ln/>
        </p:spPr>
        <p:txBody>
          <a:bodyPr wrap="square" lIns="0" tIns="0" rIns="0" bIns="0" rtlCol="0" anchor="ctr"/>
          <a:lstStyle/>
          <a:p>
            <a:pPr marL="0" indent="0" algn="ctr">
              <a:buNone/>
            </a:pPr>
            <a:r>
              <a:rPr lang="en-US" sz="1200" b="1" dirty="0">
                <a:solidFill>
                  <a:srgbClr val="111827"/>
                </a:solidFill>
                <a:latin typeface="Oswald" pitchFamily="34" charset="0"/>
                <a:ea typeface="Oswald" pitchFamily="34" charset="-122"/>
                <a:cs typeface="Oswald" pitchFamily="34" charset="-120"/>
              </a:rPr>
              <a:t>Knowledge Transfer</a:t>
            </a:r>
            <a:endParaRPr lang="en-US" sz="1200" dirty="0"/>
          </a:p>
        </p:txBody>
      </p:sp>
      <p:sp>
        <p:nvSpPr>
          <p:cNvPr id="43" name="Text 34"/>
          <p:cNvSpPr/>
          <p:nvPr/>
        </p:nvSpPr>
        <p:spPr>
          <a:xfrm>
            <a:off x="6342736" y="5029200"/>
            <a:ext cx="2352980" cy="594360"/>
          </a:xfrm>
          <a:prstGeom prst="rect">
            <a:avLst/>
          </a:prstGeom>
          <a:noFill/>
          <a:ln/>
        </p:spPr>
        <p:txBody>
          <a:bodyPr wrap="square" lIns="0" tIns="0" rIns="0" bIns="0" rtlCol="0" anchor="ctr"/>
          <a:lstStyle/>
          <a:p>
            <a:pPr marL="0" indent="0" algn="ctr">
              <a:lnSpc>
                <a:spcPct val="112000"/>
              </a:lnSpc>
              <a:buNone/>
            </a:pPr>
            <a:r>
              <a:rPr lang="en-US" sz="930" dirty="0">
                <a:solidFill>
                  <a:srgbClr val="4B5563"/>
                </a:solidFill>
                <a:latin typeface="Raleway" pitchFamily="34" charset="0"/>
                <a:ea typeface="Raleway" pitchFamily="34" charset="-122"/>
                <a:cs typeface="Raleway" pitchFamily="34" charset="-120"/>
              </a:rPr>
              <a:t>SOPs, shadowing, and cross-location learning.</a:t>
            </a:r>
            <a:endParaRPr lang="en-US" sz="930" dirty="0"/>
          </a:p>
        </p:txBody>
      </p:sp>
      <p:sp>
        <p:nvSpPr>
          <p:cNvPr id="44" name="Shape 35"/>
          <p:cNvSpPr/>
          <p:nvPr/>
        </p:nvSpPr>
        <p:spPr>
          <a:xfrm>
            <a:off x="9043187" y="3749040"/>
            <a:ext cx="2645588" cy="1965960"/>
          </a:xfrm>
          <a:prstGeom prst="roundRect">
            <a:avLst>
              <a:gd name="adj" fmla="val 2791"/>
            </a:avLst>
          </a:prstGeom>
          <a:solidFill>
            <a:srgbClr val="F8FAFC"/>
          </a:solidFill>
          <a:ln w="12700">
            <a:solidFill>
              <a:srgbClr val="E2E8F0"/>
            </a:solidFill>
            <a:prstDash val="solid"/>
          </a:ln>
        </p:spPr>
        <p:txBody>
          <a:bodyPr/>
          <a:lstStyle/>
          <a:p>
            <a:endParaRPr lang="en-IN"/>
          </a:p>
        </p:txBody>
      </p:sp>
      <p:sp>
        <p:nvSpPr>
          <p:cNvPr id="45" name="Shape 36"/>
          <p:cNvSpPr/>
          <p:nvPr/>
        </p:nvSpPr>
        <p:spPr>
          <a:xfrm>
            <a:off x="10100805" y="3950208"/>
            <a:ext cx="530352" cy="530352"/>
          </a:xfrm>
          <a:prstGeom prst="ellipse">
            <a:avLst/>
          </a:prstGeom>
          <a:solidFill>
            <a:srgbClr val="2A9D8F"/>
          </a:solidFill>
          <a:ln/>
        </p:spPr>
        <p:txBody>
          <a:bodyPr/>
          <a:lstStyle/>
          <a:p>
            <a:endParaRPr lang="en-IN"/>
          </a:p>
        </p:txBody>
      </p:sp>
      <p:pic>
        <p:nvPicPr>
          <p:cNvPr id="46" name="Image 7" descr="/home/claude/work/assets/icons/medal_white.png"/>
          <p:cNvPicPr>
            <a:picLocks noChangeAspect="1"/>
          </p:cNvPicPr>
          <p:nvPr/>
        </p:nvPicPr>
        <p:blipFill>
          <a:blip r:embed="rId10"/>
          <a:stretch>
            <a:fillRect/>
          </a:stretch>
        </p:blipFill>
        <p:spPr>
          <a:xfrm>
            <a:off x="10220135" y="4069537"/>
            <a:ext cx="291694" cy="291694"/>
          </a:xfrm>
          <a:prstGeom prst="rect">
            <a:avLst/>
          </a:prstGeom>
        </p:spPr>
      </p:pic>
      <p:sp>
        <p:nvSpPr>
          <p:cNvPr id="47" name="Text 37"/>
          <p:cNvSpPr/>
          <p:nvPr/>
        </p:nvSpPr>
        <p:spPr>
          <a:xfrm>
            <a:off x="9171203" y="4608576"/>
            <a:ext cx="2389556" cy="402336"/>
          </a:xfrm>
          <a:prstGeom prst="rect">
            <a:avLst/>
          </a:prstGeom>
          <a:noFill/>
          <a:ln/>
        </p:spPr>
        <p:txBody>
          <a:bodyPr wrap="square" lIns="0" tIns="0" rIns="0" bIns="0" rtlCol="0" anchor="ctr"/>
          <a:lstStyle/>
          <a:p>
            <a:pPr marL="0" indent="0" algn="ctr">
              <a:buNone/>
            </a:pPr>
            <a:r>
              <a:rPr lang="en-US" sz="1200" b="1" dirty="0">
                <a:solidFill>
                  <a:srgbClr val="111827"/>
                </a:solidFill>
                <a:latin typeface="Oswald" pitchFamily="34" charset="0"/>
                <a:ea typeface="Oswald" pitchFamily="34" charset="-122"/>
                <a:cs typeface="Oswald" pitchFamily="34" charset="-120"/>
              </a:rPr>
              <a:t>Quality First</a:t>
            </a:r>
            <a:endParaRPr lang="en-US" sz="1200" dirty="0"/>
          </a:p>
        </p:txBody>
      </p:sp>
      <p:sp>
        <p:nvSpPr>
          <p:cNvPr id="48" name="Text 38"/>
          <p:cNvSpPr/>
          <p:nvPr/>
        </p:nvSpPr>
        <p:spPr>
          <a:xfrm>
            <a:off x="9189491" y="5029200"/>
            <a:ext cx="2352980" cy="594360"/>
          </a:xfrm>
          <a:prstGeom prst="rect">
            <a:avLst/>
          </a:prstGeom>
          <a:noFill/>
          <a:ln/>
        </p:spPr>
        <p:txBody>
          <a:bodyPr wrap="square" lIns="0" tIns="0" rIns="0" bIns="0" rtlCol="0" anchor="ctr"/>
          <a:lstStyle/>
          <a:p>
            <a:pPr marL="0" indent="0" algn="ctr">
              <a:lnSpc>
                <a:spcPct val="112000"/>
              </a:lnSpc>
              <a:buNone/>
            </a:pPr>
            <a:r>
              <a:rPr lang="en-US" sz="930" dirty="0">
                <a:solidFill>
                  <a:srgbClr val="4B5563"/>
                </a:solidFill>
                <a:latin typeface="Raleway" pitchFamily="34" charset="0"/>
                <a:ea typeface="Raleway" pitchFamily="34" charset="-122"/>
                <a:cs typeface="Raleway" pitchFamily="34" charset="-120"/>
              </a:rPr>
              <a:t>Apply global standards: ISO, Six Sigma, secure infra.</a:t>
            </a:r>
            <a:endParaRPr lang="en-US" sz="930" dirty="0"/>
          </a:p>
        </p:txBody>
      </p:sp>
      <p:sp>
        <p:nvSpPr>
          <p:cNvPr id="49" name="Text 39"/>
          <p:cNvSpPr/>
          <p:nvPr/>
        </p:nvSpPr>
        <p:spPr>
          <a:xfrm>
            <a:off x="502920" y="5916168"/>
            <a:ext cx="11185855" cy="292608"/>
          </a:xfrm>
          <a:prstGeom prst="rect">
            <a:avLst/>
          </a:prstGeom>
          <a:noFill/>
          <a:ln/>
        </p:spPr>
        <p:txBody>
          <a:bodyPr wrap="square" lIns="0" tIns="0" rIns="0" bIns="0" rtlCol="0" anchor="ctr"/>
          <a:lstStyle/>
          <a:p>
            <a:pPr marL="0" indent="0" algn="l">
              <a:buNone/>
            </a:pPr>
            <a:r>
              <a:rPr lang="en-US" sz="1050" i="1" dirty="0">
                <a:solidFill>
                  <a:srgbClr val="4B5563"/>
                </a:solidFill>
                <a:latin typeface="Raleway" pitchFamily="34" charset="0"/>
                <a:ea typeface="Raleway" pitchFamily="34" charset="-122"/>
                <a:cs typeface="Raleway" pitchFamily="34" charset="-120"/>
              </a:rPr>
              <a:t>These practices — embedded by J2W across 150+ GCCs — ensure fast-track outcomes, cultural synergy, and long-term strategic alignment.</a:t>
            </a:r>
            <a:endParaRPr lang="en-US" sz="1050" dirty="0"/>
          </a:p>
        </p:txBody>
      </p:sp>
      <p:sp>
        <p:nvSpPr>
          <p:cNvPr id="50" name="Text 40"/>
          <p:cNvSpPr/>
          <p:nvPr/>
        </p:nvSpPr>
        <p:spPr>
          <a:xfrm>
            <a:off x="502920" y="6547104"/>
            <a:ext cx="2743200" cy="201168"/>
          </a:xfrm>
          <a:prstGeom prst="rect">
            <a:avLst/>
          </a:prstGeom>
          <a:noFill/>
          <a:ln/>
        </p:spPr>
        <p:txBody>
          <a:bodyPr wrap="square" lIns="0" tIns="0" rIns="0" bIns="0" rtlCol="0" anchor="ctr"/>
          <a:lstStyle/>
          <a:p>
            <a:pPr marL="0" indent="0" algn="l">
              <a:buNone/>
            </a:pPr>
            <a:r>
              <a:rPr lang="en-US" sz="800" kern="0" spc="100" dirty="0">
                <a:solidFill>
                  <a:srgbClr val="A1A1AA"/>
                </a:solidFill>
                <a:latin typeface="Roboto Condensed" pitchFamily="34" charset="0"/>
                <a:ea typeface="Roboto Condensed" pitchFamily="34" charset="-122"/>
                <a:cs typeface="Roboto Condensed" pitchFamily="34" charset="-120"/>
              </a:rPr>
              <a:t>JOULESTOWATTS</a:t>
            </a:r>
            <a:endParaRPr lang="en-US" sz="8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8123327" cy="75895"/>
          </a:xfrm>
          <a:prstGeom prst="rect">
            <a:avLst/>
          </a:prstGeom>
          <a:solidFill>
            <a:srgbClr val="2A9D8F"/>
          </a:solidFill>
          <a:ln/>
        </p:spPr>
        <p:txBody>
          <a:bodyPr/>
          <a:lstStyle/>
          <a:p>
            <a:endParaRPr lang="en-IN"/>
          </a:p>
        </p:txBody>
      </p:sp>
      <p:sp>
        <p:nvSpPr>
          <p:cNvPr id="3" name="Shape 1"/>
          <p:cNvSpPr/>
          <p:nvPr/>
        </p:nvSpPr>
        <p:spPr>
          <a:xfrm>
            <a:off x="8123327" y="0"/>
            <a:ext cx="4068369" cy="75895"/>
          </a:xfrm>
          <a:prstGeom prst="rect">
            <a:avLst/>
          </a:prstGeom>
          <a:solidFill>
            <a:srgbClr val="D62839"/>
          </a:solidFill>
          <a:ln/>
        </p:spPr>
        <p:txBody>
          <a:bodyPr/>
          <a:lstStyle/>
          <a:p>
            <a:endParaRPr lang="en-IN"/>
          </a:p>
        </p:txBody>
      </p:sp>
      <p:sp>
        <p:nvSpPr>
          <p:cNvPr id="4" name="Shape 2"/>
          <p:cNvSpPr/>
          <p:nvPr/>
        </p:nvSpPr>
        <p:spPr>
          <a:xfrm>
            <a:off x="9265615" y="-1463040"/>
            <a:ext cx="3840480" cy="3840480"/>
          </a:xfrm>
          <a:prstGeom prst="ellipse">
            <a:avLst/>
          </a:prstGeom>
          <a:solidFill>
            <a:srgbClr val="2A9D8F">
              <a:alpha val="4000"/>
            </a:srgbClr>
          </a:solidFill>
          <a:ln/>
        </p:spPr>
        <p:txBody>
          <a:bodyPr/>
          <a:lstStyle/>
          <a:p>
            <a:endParaRPr lang="en-IN"/>
          </a:p>
        </p:txBody>
      </p:sp>
      <p:sp>
        <p:nvSpPr>
          <p:cNvPr id="5" name="Shape 3"/>
          <p:cNvSpPr/>
          <p:nvPr/>
        </p:nvSpPr>
        <p:spPr>
          <a:xfrm>
            <a:off x="502920" y="329184"/>
            <a:ext cx="54864" cy="310896"/>
          </a:xfrm>
          <a:prstGeom prst="rect">
            <a:avLst/>
          </a:prstGeom>
          <a:solidFill>
            <a:srgbClr val="111827"/>
          </a:solidFill>
          <a:ln/>
        </p:spPr>
        <p:txBody>
          <a:bodyPr/>
          <a:lstStyle/>
          <a:p>
            <a:endParaRPr lang="en-IN"/>
          </a:p>
        </p:txBody>
      </p:sp>
      <p:sp>
        <p:nvSpPr>
          <p:cNvPr id="6" name="Text 4"/>
          <p:cNvSpPr/>
          <p:nvPr/>
        </p:nvSpPr>
        <p:spPr>
          <a:xfrm>
            <a:off x="667512" y="265176"/>
            <a:ext cx="11021263" cy="384048"/>
          </a:xfrm>
          <a:prstGeom prst="rect">
            <a:avLst/>
          </a:prstGeom>
          <a:noFill/>
          <a:ln/>
        </p:spPr>
        <p:txBody>
          <a:bodyPr wrap="square" lIns="0" tIns="0" rIns="0" bIns="0" rtlCol="0" anchor="ctr"/>
          <a:lstStyle/>
          <a:p>
            <a:pPr marL="0" indent="0" algn="l">
              <a:buNone/>
            </a:pPr>
            <a:r>
              <a:rPr lang="en-US" sz="2200" b="1" dirty="0">
                <a:solidFill>
                  <a:srgbClr val="111827"/>
                </a:solidFill>
                <a:latin typeface="Oswald" pitchFamily="34" charset="0"/>
                <a:ea typeface="Oswald" pitchFamily="34" charset="-122"/>
                <a:cs typeface="Oswald" pitchFamily="34" charset="-120"/>
              </a:rPr>
              <a:t>WHY J2W? - YOUR GCC PARTNER OF CHOICE</a:t>
            </a:r>
            <a:endParaRPr lang="en-US" sz="2200" dirty="0"/>
          </a:p>
        </p:txBody>
      </p:sp>
      <p:sp>
        <p:nvSpPr>
          <p:cNvPr id="7" name="Text 5"/>
          <p:cNvSpPr/>
          <p:nvPr/>
        </p:nvSpPr>
        <p:spPr>
          <a:xfrm>
            <a:off x="667512" y="658368"/>
            <a:ext cx="11021263" cy="237744"/>
          </a:xfrm>
          <a:prstGeom prst="rect">
            <a:avLst/>
          </a:prstGeom>
          <a:noFill/>
          <a:ln/>
        </p:spPr>
        <p:txBody>
          <a:bodyPr wrap="square" lIns="0" tIns="0" rIns="0" bIns="0" rtlCol="0" anchor="ctr"/>
          <a:lstStyle/>
          <a:p>
            <a:pPr marL="0" indent="0" algn="l">
              <a:buNone/>
            </a:pPr>
            <a:r>
              <a:rPr lang="en-US" sz="1250" b="1" dirty="0">
                <a:solidFill>
                  <a:srgbClr val="2A9D8F"/>
                </a:solidFill>
                <a:latin typeface="Roboto Condensed" pitchFamily="34" charset="0"/>
                <a:ea typeface="Roboto Condensed" pitchFamily="34" charset="-122"/>
                <a:cs typeface="Roboto Condensed" pitchFamily="34" charset="-120"/>
              </a:rPr>
              <a:t>Building your future-ready captive</a:t>
            </a:r>
            <a:endParaRPr lang="en-US" sz="1250" dirty="0"/>
          </a:p>
        </p:txBody>
      </p:sp>
      <p:sp>
        <p:nvSpPr>
          <p:cNvPr id="8" name="Text 6"/>
          <p:cNvSpPr/>
          <p:nvPr/>
        </p:nvSpPr>
        <p:spPr>
          <a:xfrm>
            <a:off x="502920" y="1051560"/>
            <a:ext cx="11185855" cy="411480"/>
          </a:xfrm>
          <a:prstGeom prst="rect">
            <a:avLst/>
          </a:prstGeom>
          <a:noFill/>
          <a:ln/>
        </p:spPr>
        <p:txBody>
          <a:bodyPr wrap="square" lIns="0" tIns="0" rIns="0" bIns="0" rtlCol="0" anchor="ctr"/>
          <a:lstStyle/>
          <a:p>
            <a:pPr marL="0" indent="0">
              <a:buNone/>
            </a:pPr>
            <a:r>
              <a:rPr lang="en-US" sz="1150" dirty="0">
                <a:solidFill>
                  <a:srgbClr val="4B5563"/>
                </a:solidFill>
                <a:latin typeface="Raleway" pitchFamily="34" charset="0"/>
                <a:ea typeface="Raleway" pitchFamily="34" charset="-122"/>
                <a:cs typeface="Raleway" pitchFamily="34" charset="-120"/>
              </a:rPr>
              <a:t>Enterprises need a partner who is singularly focused on GCCs - J2W fits this role with unmatched expertise and technology, combining scale, speed, and innovation for long-term success.</a:t>
            </a:r>
            <a:endParaRPr lang="en-US" sz="1150" dirty="0"/>
          </a:p>
        </p:txBody>
      </p:sp>
      <p:sp>
        <p:nvSpPr>
          <p:cNvPr id="9" name="Shape 7"/>
          <p:cNvSpPr/>
          <p:nvPr/>
        </p:nvSpPr>
        <p:spPr>
          <a:xfrm>
            <a:off x="502920" y="1600200"/>
            <a:ext cx="2625014" cy="777240"/>
          </a:xfrm>
          <a:prstGeom prst="roundRect">
            <a:avLst>
              <a:gd name="adj" fmla="val 7059"/>
            </a:avLst>
          </a:prstGeom>
          <a:solidFill>
            <a:srgbClr val="111827"/>
          </a:solidFill>
          <a:ln w="12700">
            <a:solidFill>
              <a:srgbClr val="111827"/>
            </a:solidFill>
            <a:prstDash val="solid"/>
          </a:ln>
        </p:spPr>
        <p:txBody>
          <a:bodyPr/>
          <a:lstStyle/>
          <a:p>
            <a:endParaRPr lang="en-IN"/>
          </a:p>
        </p:txBody>
      </p:sp>
      <p:pic>
        <p:nvPicPr>
          <p:cNvPr id="10" name="Image 0" descr="/home/claude/work/assets/icons/target_white.png"/>
          <p:cNvPicPr>
            <a:picLocks noChangeAspect="1"/>
          </p:cNvPicPr>
          <p:nvPr/>
        </p:nvPicPr>
        <p:blipFill>
          <a:blip r:embed="rId3"/>
          <a:stretch>
            <a:fillRect/>
          </a:stretch>
        </p:blipFill>
        <p:spPr>
          <a:xfrm>
            <a:off x="1650835" y="1691640"/>
            <a:ext cx="329184" cy="329184"/>
          </a:xfrm>
          <a:prstGeom prst="rect">
            <a:avLst/>
          </a:prstGeom>
        </p:spPr>
      </p:pic>
      <p:sp>
        <p:nvSpPr>
          <p:cNvPr id="11" name="Text 8"/>
          <p:cNvSpPr/>
          <p:nvPr/>
        </p:nvSpPr>
        <p:spPr>
          <a:xfrm>
            <a:off x="594360" y="2057400"/>
            <a:ext cx="2442134" cy="292608"/>
          </a:xfrm>
          <a:prstGeom prst="rect">
            <a:avLst/>
          </a:prstGeom>
          <a:noFill/>
          <a:ln/>
        </p:spPr>
        <p:txBody>
          <a:bodyPr wrap="square" lIns="0" tIns="0" rIns="0" bIns="0" rtlCol="0" anchor="ctr"/>
          <a:lstStyle/>
          <a:p>
            <a:pPr marL="0" indent="0" algn="ctr">
              <a:buNone/>
            </a:pPr>
            <a:r>
              <a:rPr lang="en-US" sz="1050" b="1" dirty="0">
                <a:solidFill>
                  <a:srgbClr val="FFFFFF"/>
                </a:solidFill>
                <a:latin typeface="Oswald" pitchFamily="34" charset="0"/>
                <a:ea typeface="Oswald" pitchFamily="34" charset="-122"/>
                <a:cs typeface="Oswald" pitchFamily="34" charset="-120"/>
              </a:rPr>
              <a:t>Dedicated GCC Focus</a:t>
            </a:r>
            <a:endParaRPr lang="en-US" sz="1050" dirty="0"/>
          </a:p>
        </p:txBody>
      </p:sp>
      <p:sp>
        <p:nvSpPr>
          <p:cNvPr id="12" name="Shape 9"/>
          <p:cNvSpPr/>
          <p:nvPr/>
        </p:nvSpPr>
        <p:spPr>
          <a:xfrm>
            <a:off x="502920" y="2542032"/>
            <a:ext cx="2625014" cy="1188720"/>
          </a:xfrm>
          <a:prstGeom prst="roundRect">
            <a:avLst>
              <a:gd name="adj" fmla="val 4615"/>
            </a:avLst>
          </a:prstGeom>
          <a:solidFill>
            <a:srgbClr val="F8FAFC"/>
          </a:solidFill>
          <a:ln w="12700">
            <a:solidFill>
              <a:srgbClr val="E2E8F0"/>
            </a:solidFill>
            <a:prstDash val="solid"/>
          </a:ln>
        </p:spPr>
        <p:txBody>
          <a:bodyPr/>
          <a:lstStyle/>
          <a:p>
            <a:endParaRPr lang="en-IN"/>
          </a:p>
        </p:txBody>
      </p:sp>
      <p:sp>
        <p:nvSpPr>
          <p:cNvPr id="13" name="Shape 10"/>
          <p:cNvSpPr/>
          <p:nvPr/>
        </p:nvSpPr>
        <p:spPr>
          <a:xfrm>
            <a:off x="502920" y="2542032"/>
            <a:ext cx="41148" cy="1188720"/>
          </a:xfrm>
          <a:prstGeom prst="roundRect">
            <a:avLst>
              <a:gd name="adj" fmla="val 44444"/>
            </a:avLst>
          </a:prstGeom>
          <a:solidFill>
            <a:srgbClr val="2A9D8F"/>
          </a:solidFill>
          <a:ln/>
        </p:spPr>
        <p:txBody>
          <a:bodyPr/>
          <a:lstStyle/>
          <a:p>
            <a:endParaRPr lang="en-IN"/>
          </a:p>
        </p:txBody>
      </p:sp>
      <p:sp>
        <p:nvSpPr>
          <p:cNvPr id="14" name="Text 11"/>
          <p:cNvSpPr/>
          <p:nvPr/>
        </p:nvSpPr>
        <p:spPr>
          <a:xfrm>
            <a:off x="685800" y="2542032"/>
            <a:ext cx="2304974" cy="653796"/>
          </a:xfrm>
          <a:prstGeom prst="rect">
            <a:avLst/>
          </a:prstGeom>
          <a:noFill/>
          <a:ln/>
        </p:spPr>
        <p:txBody>
          <a:bodyPr wrap="square" lIns="0" tIns="0" rIns="0" bIns="0" rtlCol="0" anchor="b"/>
          <a:lstStyle/>
          <a:p>
            <a:pPr marL="0" indent="0">
              <a:buNone/>
            </a:pPr>
            <a:r>
              <a:rPr lang="en-US" sz="1500" b="1" dirty="0">
                <a:solidFill>
                  <a:srgbClr val="2A9D8F"/>
                </a:solidFill>
                <a:latin typeface="Oswald" pitchFamily="34" charset="0"/>
                <a:ea typeface="Oswald" pitchFamily="34" charset="-122"/>
                <a:cs typeface="Oswald" pitchFamily="34" charset="-120"/>
              </a:rPr>
              <a:t>100%</a:t>
            </a:r>
            <a:endParaRPr lang="en-US" sz="1500" dirty="0"/>
          </a:p>
        </p:txBody>
      </p:sp>
      <p:sp>
        <p:nvSpPr>
          <p:cNvPr id="15" name="Text 12"/>
          <p:cNvSpPr/>
          <p:nvPr/>
        </p:nvSpPr>
        <p:spPr>
          <a:xfrm>
            <a:off x="685800" y="3195828"/>
            <a:ext cx="2304974" cy="534924"/>
          </a:xfrm>
          <a:prstGeom prst="rect">
            <a:avLst/>
          </a:prstGeom>
          <a:noFill/>
          <a:ln/>
        </p:spPr>
        <p:txBody>
          <a:bodyPr wrap="square" lIns="0" tIns="0" rIns="0" bIns="0" rtlCol="0" anchor="t"/>
          <a:lstStyle/>
          <a:p>
            <a:pPr marL="0" indent="0">
              <a:buNone/>
            </a:pPr>
            <a:r>
              <a:rPr lang="en-US" sz="950" b="1" dirty="0">
                <a:solidFill>
                  <a:srgbClr val="111827"/>
                </a:solidFill>
                <a:latin typeface="Raleway" pitchFamily="34" charset="0"/>
                <a:ea typeface="Raleway" pitchFamily="34" charset="-122"/>
                <a:cs typeface="Raleway" pitchFamily="34" charset="-120"/>
              </a:rPr>
              <a:t>Specialization in GCC setup</a:t>
            </a:r>
            <a:endParaRPr lang="en-US" sz="950" dirty="0"/>
          </a:p>
        </p:txBody>
      </p:sp>
      <p:sp>
        <p:nvSpPr>
          <p:cNvPr id="16" name="Shape 13"/>
          <p:cNvSpPr/>
          <p:nvPr/>
        </p:nvSpPr>
        <p:spPr>
          <a:xfrm>
            <a:off x="502920" y="3867912"/>
            <a:ext cx="2625014" cy="1188720"/>
          </a:xfrm>
          <a:prstGeom prst="roundRect">
            <a:avLst>
              <a:gd name="adj" fmla="val 4615"/>
            </a:avLst>
          </a:prstGeom>
          <a:solidFill>
            <a:srgbClr val="F8FAFC"/>
          </a:solidFill>
          <a:ln w="12700">
            <a:solidFill>
              <a:srgbClr val="E2E8F0"/>
            </a:solidFill>
            <a:prstDash val="solid"/>
          </a:ln>
        </p:spPr>
        <p:txBody>
          <a:bodyPr/>
          <a:lstStyle/>
          <a:p>
            <a:endParaRPr lang="en-IN"/>
          </a:p>
        </p:txBody>
      </p:sp>
      <p:sp>
        <p:nvSpPr>
          <p:cNvPr id="17" name="Shape 14"/>
          <p:cNvSpPr/>
          <p:nvPr/>
        </p:nvSpPr>
        <p:spPr>
          <a:xfrm>
            <a:off x="502920" y="3867912"/>
            <a:ext cx="41148" cy="1188720"/>
          </a:xfrm>
          <a:prstGeom prst="roundRect">
            <a:avLst>
              <a:gd name="adj" fmla="val 44444"/>
            </a:avLst>
          </a:prstGeom>
          <a:solidFill>
            <a:srgbClr val="D62839"/>
          </a:solidFill>
          <a:ln/>
        </p:spPr>
        <p:txBody>
          <a:bodyPr/>
          <a:lstStyle/>
          <a:p>
            <a:endParaRPr lang="en-IN"/>
          </a:p>
        </p:txBody>
      </p:sp>
      <p:sp>
        <p:nvSpPr>
          <p:cNvPr id="18" name="Text 15"/>
          <p:cNvSpPr/>
          <p:nvPr/>
        </p:nvSpPr>
        <p:spPr>
          <a:xfrm>
            <a:off x="685800" y="3867912"/>
            <a:ext cx="2304974" cy="653796"/>
          </a:xfrm>
          <a:prstGeom prst="rect">
            <a:avLst/>
          </a:prstGeom>
          <a:noFill/>
          <a:ln/>
        </p:spPr>
        <p:txBody>
          <a:bodyPr wrap="square" lIns="0" tIns="0" rIns="0" bIns="0" rtlCol="0" anchor="b"/>
          <a:lstStyle/>
          <a:p>
            <a:pPr marL="0" indent="0">
              <a:buNone/>
            </a:pPr>
            <a:r>
              <a:rPr lang="en-US" sz="1500" b="1" dirty="0">
                <a:solidFill>
                  <a:srgbClr val="D62839"/>
                </a:solidFill>
                <a:latin typeface="Oswald" pitchFamily="34" charset="0"/>
                <a:ea typeface="Oswald" pitchFamily="34" charset="-122"/>
                <a:cs typeface="Oswald" pitchFamily="34" charset="-120"/>
              </a:rPr>
              <a:t>100%</a:t>
            </a:r>
            <a:endParaRPr lang="en-US" sz="1500" dirty="0"/>
          </a:p>
        </p:txBody>
      </p:sp>
      <p:sp>
        <p:nvSpPr>
          <p:cNvPr id="19" name="Text 16"/>
          <p:cNvSpPr/>
          <p:nvPr/>
        </p:nvSpPr>
        <p:spPr>
          <a:xfrm>
            <a:off x="685800" y="4521708"/>
            <a:ext cx="2304974" cy="534924"/>
          </a:xfrm>
          <a:prstGeom prst="rect">
            <a:avLst/>
          </a:prstGeom>
          <a:noFill/>
          <a:ln/>
        </p:spPr>
        <p:txBody>
          <a:bodyPr wrap="square" lIns="0" tIns="0" rIns="0" bIns="0" rtlCol="0" anchor="t"/>
          <a:lstStyle/>
          <a:p>
            <a:pPr marL="0" indent="0">
              <a:buNone/>
            </a:pPr>
            <a:r>
              <a:rPr lang="en-US" sz="950" b="1" dirty="0">
                <a:solidFill>
                  <a:srgbClr val="111827"/>
                </a:solidFill>
                <a:latin typeface="Raleway" pitchFamily="34" charset="0"/>
                <a:ea typeface="Raleway" pitchFamily="34" charset="-122"/>
                <a:cs typeface="Raleway" pitchFamily="34" charset="-120"/>
              </a:rPr>
              <a:t>Specialization in GCC scaling</a:t>
            </a:r>
            <a:endParaRPr lang="en-US" sz="950" dirty="0"/>
          </a:p>
        </p:txBody>
      </p:sp>
      <p:sp>
        <p:nvSpPr>
          <p:cNvPr id="20" name="Shape 17"/>
          <p:cNvSpPr/>
          <p:nvPr/>
        </p:nvSpPr>
        <p:spPr>
          <a:xfrm>
            <a:off x="502920" y="5193792"/>
            <a:ext cx="2625014" cy="1188720"/>
          </a:xfrm>
          <a:prstGeom prst="roundRect">
            <a:avLst>
              <a:gd name="adj" fmla="val 4615"/>
            </a:avLst>
          </a:prstGeom>
          <a:solidFill>
            <a:srgbClr val="F8FAFC"/>
          </a:solidFill>
          <a:ln w="12700">
            <a:solidFill>
              <a:srgbClr val="E2E8F0"/>
            </a:solidFill>
            <a:prstDash val="solid"/>
          </a:ln>
        </p:spPr>
        <p:txBody>
          <a:bodyPr/>
          <a:lstStyle/>
          <a:p>
            <a:endParaRPr lang="en-IN"/>
          </a:p>
        </p:txBody>
      </p:sp>
      <p:sp>
        <p:nvSpPr>
          <p:cNvPr id="21" name="Shape 18"/>
          <p:cNvSpPr/>
          <p:nvPr/>
        </p:nvSpPr>
        <p:spPr>
          <a:xfrm>
            <a:off x="502920" y="5193792"/>
            <a:ext cx="41148" cy="1188720"/>
          </a:xfrm>
          <a:prstGeom prst="roundRect">
            <a:avLst>
              <a:gd name="adj" fmla="val 44444"/>
            </a:avLst>
          </a:prstGeom>
          <a:solidFill>
            <a:srgbClr val="2A9D8F"/>
          </a:solidFill>
          <a:ln/>
        </p:spPr>
        <p:txBody>
          <a:bodyPr/>
          <a:lstStyle/>
          <a:p>
            <a:endParaRPr lang="en-IN"/>
          </a:p>
        </p:txBody>
      </p:sp>
      <p:sp>
        <p:nvSpPr>
          <p:cNvPr id="22" name="Text 19"/>
          <p:cNvSpPr/>
          <p:nvPr/>
        </p:nvSpPr>
        <p:spPr>
          <a:xfrm>
            <a:off x="685800" y="5193792"/>
            <a:ext cx="2304974" cy="653796"/>
          </a:xfrm>
          <a:prstGeom prst="rect">
            <a:avLst/>
          </a:prstGeom>
          <a:noFill/>
          <a:ln/>
        </p:spPr>
        <p:txBody>
          <a:bodyPr wrap="square" lIns="0" tIns="0" rIns="0" bIns="0" rtlCol="0" anchor="b"/>
          <a:lstStyle/>
          <a:p>
            <a:pPr marL="0" indent="0">
              <a:buNone/>
            </a:pPr>
            <a:r>
              <a:rPr lang="en-US" sz="1500" b="1" dirty="0">
                <a:solidFill>
                  <a:srgbClr val="2A9D8F"/>
                </a:solidFill>
                <a:latin typeface="Oswald" pitchFamily="34" charset="0"/>
                <a:ea typeface="Oswald" pitchFamily="34" charset="-122"/>
                <a:cs typeface="Oswald" pitchFamily="34" charset="-120"/>
              </a:rPr>
              <a:t>80%</a:t>
            </a:r>
            <a:endParaRPr lang="en-US" sz="1500" dirty="0"/>
          </a:p>
        </p:txBody>
      </p:sp>
      <p:sp>
        <p:nvSpPr>
          <p:cNvPr id="23" name="Text 20"/>
          <p:cNvSpPr/>
          <p:nvPr/>
        </p:nvSpPr>
        <p:spPr>
          <a:xfrm>
            <a:off x="685800" y="5847588"/>
            <a:ext cx="2304974" cy="534924"/>
          </a:xfrm>
          <a:prstGeom prst="rect">
            <a:avLst/>
          </a:prstGeom>
          <a:noFill/>
          <a:ln/>
        </p:spPr>
        <p:txBody>
          <a:bodyPr wrap="square" lIns="0" tIns="0" rIns="0" bIns="0" rtlCol="0" anchor="t"/>
          <a:lstStyle/>
          <a:p>
            <a:pPr marL="0" indent="0">
              <a:buNone/>
            </a:pPr>
            <a:r>
              <a:rPr lang="en-US" sz="950" b="1" dirty="0">
                <a:solidFill>
                  <a:srgbClr val="111827"/>
                </a:solidFill>
                <a:latin typeface="Raleway" pitchFamily="34" charset="0"/>
                <a:ea typeface="Raleway" pitchFamily="34" charset="-122"/>
                <a:cs typeface="Raleway" pitchFamily="34" charset="-120"/>
              </a:rPr>
              <a:t>Repeat clients</a:t>
            </a:r>
            <a:endParaRPr lang="en-US" sz="950" dirty="0"/>
          </a:p>
        </p:txBody>
      </p:sp>
      <p:sp>
        <p:nvSpPr>
          <p:cNvPr id="24" name="Shape 21"/>
          <p:cNvSpPr/>
          <p:nvPr/>
        </p:nvSpPr>
        <p:spPr>
          <a:xfrm>
            <a:off x="3356534" y="1600200"/>
            <a:ext cx="2625014" cy="777240"/>
          </a:xfrm>
          <a:prstGeom prst="roundRect">
            <a:avLst>
              <a:gd name="adj" fmla="val 7059"/>
            </a:avLst>
          </a:prstGeom>
          <a:solidFill>
            <a:srgbClr val="111827"/>
          </a:solidFill>
          <a:ln w="12700">
            <a:solidFill>
              <a:srgbClr val="111827"/>
            </a:solidFill>
            <a:prstDash val="solid"/>
          </a:ln>
        </p:spPr>
        <p:txBody>
          <a:bodyPr/>
          <a:lstStyle/>
          <a:p>
            <a:endParaRPr lang="en-IN"/>
          </a:p>
        </p:txBody>
      </p:sp>
      <p:pic>
        <p:nvPicPr>
          <p:cNvPr id="25" name="Image 1" descr="/home/claude/work/assets/icons/brain_white.png"/>
          <p:cNvPicPr>
            <a:picLocks noChangeAspect="1"/>
          </p:cNvPicPr>
          <p:nvPr/>
        </p:nvPicPr>
        <p:blipFill>
          <a:blip r:embed="rId4"/>
          <a:stretch>
            <a:fillRect/>
          </a:stretch>
        </p:blipFill>
        <p:spPr>
          <a:xfrm>
            <a:off x="4504449" y="1691640"/>
            <a:ext cx="329184" cy="329184"/>
          </a:xfrm>
          <a:prstGeom prst="rect">
            <a:avLst/>
          </a:prstGeom>
        </p:spPr>
      </p:pic>
      <p:sp>
        <p:nvSpPr>
          <p:cNvPr id="26" name="Text 22"/>
          <p:cNvSpPr/>
          <p:nvPr/>
        </p:nvSpPr>
        <p:spPr>
          <a:xfrm>
            <a:off x="3447974" y="2057400"/>
            <a:ext cx="2442134" cy="292608"/>
          </a:xfrm>
          <a:prstGeom prst="rect">
            <a:avLst/>
          </a:prstGeom>
          <a:noFill/>
          <a:ln/>
        </p:spPr>
        <p:txBody>
          <a:bodyPr wrap="square" lIns="0" tIns="0" rIns="0" bIns="0" rtlCol="0" anchor="ctr"/>
          <a:lstStyle/>
          <a:p>
            <a:pPr marL="0" indent="0" algn="ctr">
              <a:buNone/>
            </a:pPr>
            <a:r>
              <a:rPr lang="en-US" sz="1050" b="1" dirty="0">
                <a:solidFill>
                  <a:srgbClr val="FFFFFF"/>
                </a:solidFill>
                <a:latin typeface="Oswald" pitchFamily="34" charset="0"/>
                <a:ea typeface="Oswald" pitchFamily="34" charset="-122"/>
                <a:cs typeface="Oswald" pitchFamily="34" charset="-120"/>
              </a:rPr>
              <a:t>Tech-Enabled Agility</a:t>
            </a:r>
            <a:endParaRPr lang="en-US" sz="1050" dirty="0"/>
          </a:p>
        </p:txBody>
      </p:sp>
      <p:sp>
        <p:nvSpPr>
          <p:cNvPr id="27" name="Shape 23"/>
          <p:cNvSpPr/>
          <p:nvPr/>
        </p:nvSpPr>
        <p:spPr>
          <a:xfrm>
            <a:off x="3356534" y="2542032"/>
            <a:ext cx="2625014" cy="1851660"/>
          </a:xfrm>
          <a:prstGeom prst="roundRect">
            <a:avLst>
              <a:gd name="adj" fmla="val 2963"/>
            </a:avLst>
          </a:prstGeom>
          <a:solidFill>
            <a:srgbClr val="F8FAFC"/>
          </a:solidFill>
          <a:ln w="12700">
            <a:solidFill>
              <a:srgbClr val="E2E8F0"/>
            </a:solidFill>
            <a:prstDash val="solid"/>
          </a:ln>
        </p:spPr>
        <p:txBody>
          <a:bodyPr/>
          <a:lstStyle/>
          <a:p>
            <a:endParaRPr lang="en-IN"/>
          </a:p>
        </p:txBody>
      </p:sp>
      <p:sp>
        <p:nvSpPr>
          <p:cNvPr id="28" name="Shape 24"/>
          <p:cNvSpPr/>
          <p:nvPr/>
        </p:nvSpPr>
        <p:spPr>
          <a:xfrm>
            <a:off x="3356534" y="2542032"/>
            <a:ext cx="41148" cy="1851660"/>
          </a:xfrm>
          <a:prstGeom prst="roundRect">
            <a:avLst>
              <a:gd name="adj" fmla="val 44444"/>
            </a:avLst>
          </a:prstGeom>
          <a:solidFill>
            <a:srgbClr val="D62839"/>
          </a:solidFill>
          <a:ln/>
        </p:spPr>
        <p:txBody>
          <a:bodyPr/>
          <a:lstStyle/>
          <a:p>
            <a:endParaRPr lang="en-IN"/>
          </a:p>
        </p:txBody>
      </p:sp>
      <p:sp>
        <p:nvSpPr>
          <p:cNvPr id="29" name="Text 25"/>
          <p:cNvSpPr/>
          <p:nvPr/>
        </p:nvSpPr>
        <p:spPr>
          <a:xfrm>
            <a:off x="3539414" y="2542032"/>
            <a:ext cx="2304974" cy="1018413"/>
          </a:xfrm>
          <a:prstGeom prst="rect">
            <a:avLst/>
          </a:prstGeom>
          <a:noFill/>
          <a:ln/>
        </p:spPr>
        <p:txBody>
          <a:bodyPr wrap="square" lIns="0" tIns="0" rIns="0" bIns="0" rtlCol="0" anchor="b"/>
          <a:lstStyle/>
          <a:p>
            <a:pPr marL="0" indent="0">
              <a:buNone/>
            </a:pPr>
            <a:r>
              <a:rPr lang="en-US" sz="1500" b="1" dirty="0">
                <a:solidFill>
                  <a:srgbClr val="D62839"/>
                </a:solidFill>
                <a:latin typeface="Oswald" pitchFamily="34" charset="0"/>
                <a:ea typeface="Oswald" pitchFamily="34" charset="-122"/>
                <a:cs typeface="Oswald" pitchFamily="34" charset="-120"/>
              </a:rPr>
              <a:t>AI Platforms</a:t>
            </a:r>
            <a:endParaRPr lang="en-US" sz="1500" dirty="0"/>
          </a:p>
        </p:txBody>
      </p:sp>
      <p:sp>
        <p:nvSpPr>
          <p:cNvPr id="30" name="Text 26"/>
          <p:cNvSpPr/>
          <p:nvPr/>
        </p:nvSpPr>
        <p:spPr>
          <a:xfrm>
            <a:off x="3539414" y="3560445"/>
            <a:ext cx="2304974" cy="833247"/>
          </a:xfrm>
          <a:prstGeom prst="rect">
            <a:avLst/>
          </a:prstGeom>
          <a:noFill/>
          <a:ln/>
        </p:spPr>
        <p:txBody>
          <a:bodyPr wrap="square" lIns="0" tIns="0" rIns="0" bIns="0" rtlCol="0" anchor="t"/>
          <a:lstStyle/>
          <a:p>
            <a:pPr marL="0" indent="0">
              <a:buNone/>
            </a:pPr>
            <a:r>
              <a:rPr lang="en-US" sz="950" b="1" dirty="0">
                <a:solidFill>
                  <a:srgbClr val="111827"/>
                </a:solidFill>
                <a:latin typeface="Raleway" pitchFamily="34" charset="0"/>
                <a:ea typeface="Raleway" pitchFamily="34" charset="-122"/>
                <a:cs typeface="Raleway" pitchFamily="34" charset="-120"/>
              </a:rPr>
              <a:t>+ Nano models</a:t>
            </a:r>
            <a:endParaRPr lang="en-US" sz="950" dirty="0"/>
          </a:p>
        </p:txBody>
      </p:sp>
      <p:sp>
        <p:nvSpPr>
          <p:cNvPr id="31" name="Shape 27"/>
          <p:cNvSpPr/>
          <p:nvPr/>
        </p:nvSpPr>
        <p:spPr>
          <a:xfrm>
            <a:off x="3356534" y="4530852"/>
            <a:ext cx="2625014" cy="1851660"/>
          </a:xfrm>
          <a:prstGeom prst="roundRect">
            <a:avLst>
              <a:gd name="adj" fmla="val 2963"/>
            </a:avLst>
          </a:prstGeom>
          <a:solidFill>
            <a:srgbClr val="F8FAFC"/>
          </a:solidFill>
          <a:ln w="12700">
            <a:solidFill>
              <a:srgbClr val="E2E8F0"/>
            </a:solidFill>
            <a:prstDash val="solid"/>
          </a:ln>
        </p:spPr>
        <p:txBody>
          <a:bodyPr/>
          <a:lstStyle/>
          <a:p>
            <a:endParaRPr lang="en-IN"/>
          </a:p>
        </p:txBody>
      </p:sp>
      <p:sp>
        <p:nvSpPr>
          <p:cNvPr id="32" name="Shape 28"/>
          <p:cNvSpPr/>
          <p:nvPr/>
        </p:nvSpPr>
        <p:spPr>
          <a:xfrm>
            <a:off x="3356534" y="4530852"/>
            <a:ext cx="41148" cy="1851660"/>
          </a:xfrm>
          <a:prstGeom prst="roundRect">
            <a:avLst>
              <a:gd name="adj" fmla="val 44444"/>
            </a:avLst>
          </a:prstGeom>
          <a:solidFill>
            <a:srgbClr val="2A9D8F"/>
          </a:solidFill>
          <a:ln/>
        </p:spPr>
        <p:txBody>
          <a:bodyPr/>
          <a:lstStyle/>
          <a:p>
            <a:endParaRPr lang="en-IN"/>
          </a:p>
        </p:txBody>
      </p:sp>
      <p:sp>
        <p:nvSpPr>
          <p:cNvPr id="33" name="Text 29"/>
          <p:cNvSpPr/>
          <p:nvPr/>
        </p:nvSpPr>
        <p:spPr>
          <a:xfrm>
            <a:off x="3539414" y="4530852"/>
            <a:ext cx="2304974" cy="1018413"/>
          </a:xfrm>
          <a:prstGeom prst="rect">
            <a:avLst/>
          </a:prstGeom>
          <a:noFill/>
          <a:ln/>
        </p:spPr>
        <p:txBody>
          <a:bodyPr wrap="square" lIns="0" tIns="0" rIns="0" bIns="0" rtlCol="0" anchor="b"/>
          <a:lstStyle/>
          <a:p>
            <a:pPr marL="0" indent="0">
              <a:buNone/>
            </a:pPr>
            <a:r>
              <a:rPr lang="en-US" sz="1500" b="1" dirty="0">
                <a:solidFill>
                  <a:srgbClr val="2A9D8F"/>
                </a:solidFill>
                <a:latin typeface="Oswald" pitchFamily="34" charset="0"/>
                <a:ea typeface="Oswald" pitchFamily="34" charset="-122"/>
                <a:cs typeface="Oswald" pitchFamily="34" charset="-120"/>
              </a:rPr>
              <a:t>Speed &amp;</a:t>
            </a:r>
            <a:endParaRPr lang="en-US" sz="1500" dirty="0"/>
          </a:p>
        </p:txBody>
      </p:sp>
      <p:sp>
        <p:nvSpPr>
          <p:cNvPr id="34" name="Text 30"/>
          <p:cNvSpPr/>
          <p:nvPr/>
        </p:nvSpPr>
        <p:spPr>
          <a:xfrm>
            <a:off x="3539414" y="5549265"/>
            <a:ext cx="2304974" cy="833247"/>
          </a:xfrm>
          <a:prstGeom prst="rect">
            <a:avLst/>
          </a:prstGeom>
          <a:noFill/>
          <a:ln/>
        </p:spPr>
        <p:txBody>
          <a:bodyPr wrap="square" lIns="0" tIns="0" rIns="0" bIns="0" rtlCol="0" anchor="t"/>
          <a:lstStyle/>
          <a:p>
            <a:pPr marL="0" indent="0">
              <a:buNone/>
            </a:pPr>
            <a:r>
              <a:rPr lang="en-US" sz="950" b="1" dirty="0">
                <a:solidFill>
                  <a:srgbClr val="111827"/>
                </a:solidFill>
                <a:latin typeface="Raleway" pitchFamily="34" charset="0"/>
                <a:ea typeface="Raleway" pitchFamily="34" charset="-122"/>
                <a:cs typeface="Raleway" pitchFamily="34" charset="-120"/>
              </a:rPr>
              <a:t>Innovation</a:t>
            </a:r>
            <a:endParaRPr lang="en-US" sz="950" dirty="0"/>
          </a:p>
        </p:txBody>
      </p:sp>
      <p:sp>
        <p:nvSpPr>
          <p:cNvPr id="35" name="Shape 31"/>
          <p:cNvSpPr/>
          <p:nvPr/>
        </p:nvSpPr>
        <p:spPr>
          <a:xfrm>
            <a:off x="6210148" y="1600200"/>
            <a:ext cx="2625014" cy="777240"/>
          </a:xfrm>
          <a:prstGeom prst="roundRect">
            <a:avLst>
              <a:gd name="adj" fmla="val 7059"/>
            </a:avLst>
          </a:prstGeom>
          <a:solidFill>
            <a:srgbClr val="111827"/>
          </a:solidFill>
          <a:ln w="12700">
            <a:solidFill>
              <a:srgbClr val="111827"/>
            </a:solidFill>
            <a:prstDash val="solid"/>
          </a:ln>
        </p:spPr>
        <p:txBody>
          <a:bodyPr/>
          <a:lstStyle/>
          <a:p>
            <a:endParaRPr lang="en-IN"/>
          </a:p>
        </p:txBody>
      </p:sp>
      <p:pic>
        <p:nvPicPr>
          <p:cNvPr id="36" name="Image 2" descr="/home/claude/work/assets/icons/globe_white.png"/>
          <p:cNvPicPr>
            <a:picLocks noChangeAspect="1"/>
          </p:cNvPicPr>
          <p:nvPr/>
        </p:nvPicPr>
        <p:blipFill>
          <a:blip r:embed="rId5"/>
          <a:stretch>
            <a:fillRect/>
          </a:stretch>
        </p:blipFill>
        <p:spPr>
          <a:xfrm>
            <a:off x="7358063" y="1691640"/>
            <a:ext cx="329184" cy="329184"/>
          </a:xfrm>
          <a:prstGeom prst="rect">
            <a:avLst/>
          </a:prstGeom>
        </p:spPr>
      </p:pic>
      <p:sp>
        <p:nvSpPr>
          <p:cNvPr id="37" name="Text 32"/>
          <p:cNvSpPr/>
          <p:nvPr/>
        </p:nvSpPr>
        <p:spPr>
          <a:xfrm>
            <a:off x="6301588" y="2057400"/>
            <a:ext cx="2442134" cy="292608"/>
          </a:xfrm>
          <a:prstGeom prst="rect">
            <a:avLst/>
          </a:prstGeom>
          <a:noFill/>
          <a:ln/>
        </p:spPr>
        <p:txBody>
          <a:bodyPr wrap="square" lIns="0" tIns="0" rIns="0" bIns="0" rtlCol="0" anchor="ctr"/>
          <a:lstStyle/>
          <a:p>
            <a:pPr marL="0" indent="0" algn="ctr">
              <a:buNone/>
            </a:pPr>
            <a:r>
              <a:rPr lang="en-US" sz="1050" b="1" dirty="0">
                <a:solidFill>
                  <a:srgbClr val="FFFFFF"/>
                </a:solidFill>
                <a:latin typeface="Oswald" pitchFamily="34" charset="0"/>
                <a:ea typeface="Oswald" pitchFamily="34" charset="-122"/>
                <a:cs typeface="Oswald" pitchFamily="34" charset="-120"/>
              </a:rPr>
              <a:t>Global Talent + Local Edge</a:t>
            </a:r>
            <a:endParaRPr lang="en-US" sz="1050" dirty="0"/>
          </a:p>
        </p:txBody>
      </p:sp>
      <p:sp>
        <p:nvSpPr>
          <p:cNvPr id="38" name="Shape 33"/>
          <p:cNvSpPr/>
          <p:nvPr/>
        </p:nvSpPr>
        <p:spPr>
          <a:xfrm>
            <a:off x="6210148" y="2542032"/>
            <a:ext cx="2625014" cy="1851660"/>
          </a:xfrm>
          <a:prstGeom prst="roundRect">
            <a:avLst>
              <a:gd name="adj" fmla="val 2963"/>
            </a:avLst>
          </a:prstGeom>
          <a:solidFill>
            <a:srgbClr val="F8FAFC"/>
          </a:solidFill>
          <a:ln w="12700">
            <a:solidFill>
              <a:srgbClr val="E2E8F0"/>
            </a:solidFill>
            <a:prstDash val="solid"/>
          </a:ln>
        </p:spPr>
        <p:txBody>
          <a:bodyPr/>
          <a:lstStyle/>
          <a:p>
            <a:endParaRPr lang="en-IN"/>
          </a:p>
        </p:txBody>
      </p:sp>
      <p:sp>
        <p:nvSpPr>
          <p:cNvPr id="39" name="Shape 34"/>
          <p:cNvSpPr/>
          <p:nvPr/>
        </p:nvSpPr>
        <p:spPr>
          <a:xfrm>
            <a:off x="6210148" y="2542032"/>
            <a:ext cx="41148" cy="1851660"/>
          </a:xfrm>
          <a:prstGeom prst="roundRect">
            <a:avLst>
              <a:gd name="adj" fmla="val 44444"/>
            </a:avLst>
          </a:prstGeom>
          <a:solidFill>
            <a:srgbClr val="2A9D8F"/>
          </a:solidFill>
          <a:ln/>
        </p:spPr>
        <p:txBody>
          <a:bodyPr/>
          <a:lstStyle/>
          <a:p>
            <a:endParaRPr lang="en-IN"/>
          </a:p>
        </p:txBody>
      </p:sp>
      <p:sp>
        <p:nvSpPr>
          <p:cNvPr id="40" name="Text 35"/>
          <p:cNvSpPr/>
          <p:nvPr/>
        </p:nvSpPr>
        <p:spPr>
          <a:xfrm>
            <a:off x="6393028" y="2542032"/>
            <a:ext cx="2304974" cy="1018413"/>
          </a:xfrm>
          <a:prstGeom prst="rect">
            <a:avLst/>
          </a:prstGeom>
          <a:noFill/>
          <a:ln/>
        </p:spPr>
        <p:txBody>
          <a:bodyPr wrap="square" lIns="0" tIns="0" rIns="0" bIns="0" rtlCol="0" anchor="b"/>
          <a:lstStyle/>
          <a:p>
            <a:pPr marL="0" indent="0">
              <a:buNone/>
            </a:pPr>
            <a:r>
              <a:rPr lang="en-US" sz="1500" b="1" dirty="0">
                <a:solidFill>
                  <a:srgbClr val="2A9D8F"/>
                </a:solidFill>
                <a:latin typeface="Oswald" pitchFamily="34" charset="0"/>
                <a:ea typeface="Oswald" pitchFamily="34" charset="-122"/>
                <a:cs typeface="Oswald" pitchFamily="34" charset="-120"/>
              </a:rPr>
              <a:t>5,800+</a:t>
            </a:r>
            <a:endParaRPr lang="en-US" sz="1500" dirty="0"/>
          </a:p>
        </p:txBody>
      </p:sp>
      <p:sp>
        <p:nvSpPr>
          <p:cNvPr id="41" name="Text 36"/>
          <p:cNvSpPr/>
          <p:nvPr/>
        </p:nvSpPr>
        <p:spPr>
          <a:xfrm>
            <a:off x="6393028" y="3560445"/>
            <a:ext cx="2304974" cy="833247"/>
          </a:xfrm>
          <a:prstGeom prst="rect">
            <a:avLst/>
          </a:prstGeom>
          <a:noFill/>
          <a:ln/>
        </p:spPr>
        <p:txBody>
          <a:bodyPr wrap="square" lIns="0" tIns="0" rIns="0" bIns="0" rtlCol="0" anchor="t"/>
          <a:lstStyle/>
          <a:p>
            <a:pPr marL="0" indent="0">
              <a:buNone/>
            </a:pPr>
            <a:r>
              <a:rPr lang="en-US" sz="950" b="1" dirty="0">
                <a:solidFill>
                  <a:srgbClr val="111827"/>
                </a:solidFill>
                <a:latin typeface="Raleway" pitchFamily="34" charset="0"/>
                <a:ea typeface="Raleway" pitchFamily="34" charset="-122"/>
                <a:cs typeface="Raleway" pitchFamily="34" charset="-120"/>
              </a:rPr>
              <a:t>Experts + Tier-II reach</a:t>
            </a:r>
            <a:endParaRPr lang="en-US" sz="950" dirty="0"/>
          </a:p>
        </p:txBody>
      </p:sp>
      <p:sp>
        <p:nvSpPr>
          <p:cNvPr id="42" name="Shape 37"/>
          <p:cNvSpPr/>
          <p:nvPr/>
        </p:nvSpPr>
        <p:spPr>
          <a:xfrm>
            <a:off x="6210148" y="4530852"/>
            <a:ext cx="2625014" cy="1851660"/>
          </a:xfrm>
          <a:prstGeom prst="roundRect">
            <a:avLst>
              <a:gd name="adj" fmla="val 2963"/>
            </a:avLst>
          </a:prstGeom>
          <a:solidFill>
            <a:srgbClr val="F8FAFC"/>
          </a:solidFill>
          <a:ln w="12700">
            <a:solidFill>
              <a:srgbClr val="E2E8F0"/>
            </a:solidFill>
            <a:prstDash val="solid"/>
          </a:ln>
        </p:spPr>
        <p:txBody>
          <a:bodyPr/>
          <a:lstStyle/>
          <a:p>
            <a:endParaRPr lang="en-IN"/>
          </a:p>
        </p:txBody>
      </p:sp>
      <p:sp>
        <p:nvSpPr>
          <p:cNvPr id="43" name="Shape 38"/>
          <p:cNvSpPr/>
          <p:nvPr/>
        </p:nvSpPr>
        <p:spPr>
          <a:xfrm>
            <a:off x="6210148" y="4530852"/>
            <a:ext cx="41148" cy="1851660"/>
          </a:xfrm>
          <a:prstGeom prst="roundRect">
            <a:avLst>
              <a:gd name="adj" fmla="val 44444"/>
            </a:avLst>
          </a:prstGeom>
          <a:solidFill>
            <a:srgbClr val="D62839"/>
          </a:solidFill>
          <a:ln/>
        </p:spPr>
        <p:txBody>
          <a:bodyPr/>
          <a:lstStyle/>
          <a:p>
            <a:endParaRPr lang="en-IN"/>
          </a:p>
        </p:txBody>
      </p:sp>
      <p:sp>
        <p:nvSpPr>
          <p:cNvPr id="44" name="Text 39"/>
          <p:cNvSpPr/>
          <p:nvPr/>
        </p:nvSpPr>
        <p:spPr>
          <a:xfrm>
            <a:off x="6393028" y="4530852"/>
            <a:ext cx="2304974" cy="1018413"/>
          </a:xfrm>
          <a:prstGeom prst="rect">
            <a:avLst/>
          </a:prstGeom>
          <a:noFill/>
          <a:ln/>
        </p:spPr>
        <p:txBody>
          <a:bodyPr wrap="square" lIns="0" tIns="0" rIns="0" bIns="0" rtlCol="0" anchor="b"/>
          <a:lstStyle/>
          <a:p>
            <a:pPr marL="0" indent="0">
              <a:buNone/>
            </a:pPr>
            <a:r>
              <a:rPr lang="en-US" sz="1500" b="1" dirty="0">
                <a:solidFill>
                  <a:srgbClr val="D62839"/>
                </a:solidFill>
                <a:latin typeface="Oswald" pitchFamily="34" charset="0"/>
                <a:ea typeface="Oswald" pitchFamily="34" charset="-122"/>
                <a:cs typeface="Oswald" pitchFamily="34" charset="-120"/>
              </a:rPr>
              <a:t>Cost-mart</a:t>
            </a:r>
            <a:endParaRPr lang="en-US" sz="1500" dirty="0"/>
          </a:p>
        </p:txBody>
      </p:sp>
      <p:sp>
        <p:nvSpPr>
          <p:cNvPr id="45" name="Text 40"/>
          <p:cNvSpPr/>
          <p:nvPr/>
        </p:nvSpPr>
        <p:spPr>
          <a:xfrm>
            <a:off x="6393028" y="5549265"/>
            <a:ext cx="2304974" cy="833247"/>
          </a:xfrm>
          <a:prstGeom prst="rect">
            <a:avLst/>
          </a:prstGeom>
          <a:noFill/>
          <a:ln/>
        </p:spPr>
        <p:txBody>
          <a:bodyPr wrap="square" lIns="0" tIns="0" rIns="0" bIns="0" rtlCol="0" anchor="t"/>
          <a:lstStyle/>
          <a:p>
            <a:pPr marL="0" indent="0">
              <a:buNone/>
            </a:pPr>
            <a:r>
              <a:rPr lang="en-US" sz="950" b="1" dirty="0">
                <a:solidFill>
                  <a:srgbClr val="111827"/>
                </a:solidFill>
                <a:latin typeface="Raleway" pitchFamily="34" charset="0"/>
                <a:ea typeface="Raleway" pitchFamily="34" charset="-122"/>
                <a:cs typeface="Raleway" pitchFamily="34" charset="-120"/>
              </a:rPr>
              <a:t>Scaling</a:t>
            </a:r>
            <a:endParaRPr lang="en-US" sz="950" dirty="0"/>
          </a:p>
        </p:txBody>
      </p:sp>
      <p:sp>
        <p:nvSpPr>
          <p:cNvPr id="46" name="Shape 41"/>
          <p:cNvSpPr/>
          <p:nvPr/>
        </p:nvSpPr>
        <p:spPr>
          <a:xfrm>
            <a:off x="9063761" y="1600200"/>
            <a:ext cx="2625014" cy="777240"/>
          </a:xfrm>
          <a:prstGeom prst="roundRect">
            <a:avLst>
              <a:gd name="adj" fmla="val 7059"/>
            </a:avLst>
          </a:prstGeom>
          <a:solidFill>
            <a:srgbClr val="111827"/>
          </a:solidFill>
          <a:ln w="12700">
            <a:solidFill>
              <a:srgbClr val="111827"/>
            </a:solidFill>
            <a:prstDash val="solid"/>
          </a:ln>
        </p:spPr>
        <p:txBody>
          <a:bodyPr/>
          <a:lstStyle/>
          <a:p>
            <a:endParaRPr lang="en-IN"/>
          </a:p>
        </p:txBody>
      </p:sp>
      <p:pic>
        <p:nvPicPr>
          <p:cNvPr id="47" name="Image 3" descr="/home/claude/work/assets/icons/award_white.png"/>
          <p:cNvPicPr>
            <a:picLocks noChangeAspect="1"/>
          </p:cNvPicPr>
          <p:nvPr/>
        </p:nvPicPr>
        <p:blipFill>
          <a:blip r:embed="rId6"/>
          <a:stretch>
            <a:fillRect/>
          </a:stretch>
        </p:blipFill>
        <p:spPr>
          <a:xfrm>
            <a:off x="10211676" y="1691640"/>
            <a:ext cx="329184" cy="329184"/>
          </a:xfrm>
          <a:prstGeom prst="rect">
            <a:avLst/>
          </a:prstGeom>
        </p:spPr>
      </p:pic>
      <p:sp>
        <p:nvSpPr>
          <p:cNvPr id="48" name="Text 42"/>
          <p:cNvSpPr/>
          <p:nvPr/>
        </p:nvSpPr>
        <p:spPr>
          <a:xfrm>
            <a:off x="9155201" y="2057400"/>
            <a:ext cx="2442134" cy="292608"/>
          </a:xfrm>
          <a:prstGeom prst="rect">
            <a:avLst/>
          </a:prstGeom>
          <a:noFill/>
          <a:ln/>
        </p:spPr>
        <p:txBody>
          <a:bodyPr wrap="square" lIns="0" tIns="0" rIns="0" bIns="0" rtlCol="0" anchor="ctr"/>
          <a:lstStyle/>
          <a:p>
            <a:pPr marL="0" indent="0" algn="ctr">
              <a:buNone/>
            </a:pPr>
            <a:r>
              <a:rPr lang="en-US" sz="1050" b="1" dirty="0">
                <a:solidFill>
                  <a:srgbClr val="FFFFFF"/>
                </a:solidFill>
                <a:latin typeface="Oswald" pitchFamily="34" charset="0"/>
                <a:ea typeface="Oswald" pitchFamily="34" charset="-122"/>
                <a:cs typeface="Oswald" pitchFamily="34" charset="-120"/>
              </a:rPr>
              <a:t>Proven Success</a:t>
            </a:r>
            <a:endParaRPr lang="en-US" sz="1050" dirty="0"/>
          </a:p>
        </p:txBody>
      </p:sp>
      <p:sp>
        <p:nvSpPr>
          <p:cNvPr id="49" name="Shape 43"/>
          <p:cNvSpPr/>
          <p:nvPr/>
        </p:nvSpPr>
        <p:spPr>
          <a:xfrm>
            <a:off x="9063761" y="2542032"/>
            <a:ext cx="2625014" cy="1188720"/>
          </a:xfrm>
          <a:prstGeom prst="roundRect">
            <a:avLst>
              <a:gd name="adj" fmla="val 4615"/>
            </a:avLst>
          </a:prstGeom>
          <a:solidFill>
            <a:srgbClr val="F8FAFC"/>
          </a:solidFill>
          <a:ln w="12700">
            <a:solidFill>
              <a:srgbClr val="E2E8F0"/>
            </a:solidFill>
            <a:prstDash val="solid"/>
          </a:ln>
        </p:spPr>
        <p:txBody>
          <a:bodyPr/>
          <a:lstStyle/>
          <a:p>
            <a:endParaRPr lang="en-IN"/>
          </a:p>
        </p:txBody>
      </p:sp>
      <p:sp>
        <p:nvSpPr>
          <p:cNvPr id="50" name="Shape 44"/>
          <p:cNvSpPr/>
          <p:nvPr/>
        </p:nvSpPr>
        <p:spPr>
          <a:xfrm>
            <a:off x="9063761" y="2542032"/>
            <a:ext cx="41148" cy="1188720"/>
          </a:xfrm>
          <a:prstGeom prst="roundRect">
            <a:avLst>
              <a:gd name="adj" fmla="val 44444"/>
            </a:avLst>
          </a:prstGeom>
          <a:solidFill>
            <a:srgbClr val="D62839"/>
          </a:solidFill>
          <a:ln/>
        </p:spPr>
        <p:txBody>
          <a:bodyPr/>
          <a:lstStyle/>
          <a:p>
            <a:endParaRPr lang="en-IN"/>
          </a:p>
        </p:txBody>
      </p:sp>
      <p:sp>
        <p:nvSpPr>
          <p:cNvPr id="51" name="Text 45"/>
          <p:cNvSpPr/>
          <p:nvPr/>
        </p:nvSpPr>
        <p:spPr>
          <a:xfrm>
            <a:off x="9246641" y="2542032"/>
            <a:ext cx="2304974" cy="653796"/>
          </a:xfrm>
          <a:prstGeom prst="rect">
            <a:avLst/>
          </a:prstGeom>
          <a:noFill/>
          <a:ln/>
        </p:spPr>
        <p:txBody>
          <a:bodyPr wrap="square" lIns="0" tIns="0" rIns="0" bIns="0" rtlCol="0" anchor="b"/>
          <a:lstStyle/>
          <a:p>
            <a:pPr marL="0" indent="0">
              <a:buNone/>
            </a:pPr>
            <a:r>
              <a:rPr lang="en-US" sz="1500" b="1" dirty="0">
                <a:solidFill>
                  <a:srgbClr val="D62839"/>
                </a:solidFill>
                <a:latin typeface="Oswald" pitchFamily="34" charset="0"/>
                <a:ea typeface="Oswald" pitchFamily="34" charset="-122"/>
                <a:cs typeface="Oswald" pitchFamily="34" charset="-120"/>
              </a:rPr>
              <a:t>330+</a:t>
            </a:r>
            <a:endParaRPr lang="en-US" sz="1500" dirty="0"/>
          </a:p>
        </p:txBody>
      </p:sp>
      <p:sp>
        <p:nvSpPr>
          <p:cNvPr id="52" name="Text 46"/>
          <p:cNvSpPr/>
          <p:nvPr/>
        </p:nvSpPr>
        <p:spPr>
          <a:xfrm>
            <a:off x="9246641" y="3195828"/>
            <a:ext cx="2304974" cy="534924"/>
          </a:xfrm>
          <a:prstGeom prst="rect">
            <a:avLst/>
          </a:prstGeom>
          <a:noFill/>
          <a:ln/>
        </p:spPr>
        <p:txBody>
          <a:bodyPr wrap="square" lIns="0" tIns="0" rIns="0" bIns="0" rtlCol="0" anchor="t"/>
          <a:lstStyle/>
          <a:p>
            <a:pPr marL="0" indent="0">
              <a:buNone/>
            </a:pPr>
            <a:r>
              <a:rPr lang="en-US" sz="950" b="1" dirty="0">
                <a:solidFill>
                  <a:srgbClr val="111827"/>
                </a:solidFill>
                <a:latin typeface="Raleway" pitchFamily="34" charset="0"/>
                <a:ea typeface="Raleway" pitchFamily="34" charset="-122"/>
                <a:cs typeface="Raleway" pitchFamily="34" charset="-120"/>
              </a:rPr>
              <a:t>GCCs delivered</a:t>
            </a:r>
            <a:endParaRPr lang="en-US" sz="950" dirty="0"/>
          </a:p>
        </p:txBody>
      </p:sp>
      <p:sp>
        <p:nvSpPr>
          <p:cNvPr id="53" name="Shape 47"/>
          <p:cNvSpPr/>
          <p:nvPr/>
        </p:nvSpPr>
        <p:spPr>
          <a:xfrm>
            <a:off x="9063761" y="3867912"/>
            <a:ext cx="2625014" cy="1188720"/>
          </a:xfrm>
          <a:prstGeom prst="roundRect">
            <a:avLst>
              <a:gd name="adj" fmla="val 4615"/>
            </a:avLst>
          </a:prstGeom>
          <a:solidFill>
            <a:srgbClr val="F8FAFC"/>
          </a:solidFill>
          <a:ln w="12700">
            <a:solidFill>
              <a:srgbClr val="E2E8F0"/>
            </a:solidFill>
            <a:prstDash val="solid"/>
          </a:ln>
        </p:spPr>
        <p:txBody>
          <a:bodyPr/>
          <a:lstStyle/>
          <a:p>
            <a:endParaRPr lang="en-IN"/>
          </a:p>
        </p:txBody>
      </p:sp>
      <p:sp>
        <p:nvSpPr>
          <p:cNvPr id="54" name="Shape 48"/>
          <p:cNvSpPr/>
          <p:nvPr/>
        </p:nvSpPr>
        <p:spPr>
          <a:xfrm>
            <a:off x="9063761" y="3867912"/>
            <a:ext cx="41148" cy="1188720"/>
          </a:xfrm>
          <a:prstGeom prst="roundRect">
            <a:avLst>
              <a:gd name="adj" fmla="val 44444"/>
            </a:avLst>
          </a:prstGeom>
          <a:solidFill>
            <a:srgbClr val="2A9D8F"/>
          </a:solidFill>
          <a:ln/>
        </p:spPr>
        <p:txBody>
          <a:bodyPr/>
          <a:lstStyle/>
          <a:p>
            <a:endParaRPr lang="en-IN"/>
          </a:p>
        </p:txBody>
      </p:sp>
      <p:sp>
        <p:nvSpPr>
          <p:cNvPr id="55" name="Text 49"/>
          <p:cNvSpPr/>
          <p:nvPr/>
        </p:nvSpPr>
        <p:spPr>
          <a:xfrm>
            <a:off x="9246641" y="3867912"/>
            <a:ext cx="2304974" cy="653796"/>
          </a:xfrm>
          <a:prstGeom prst="rect">
            <a:avLst/>
          </a:prstGeom>
          <a:noFill/>
          <a:ln/>
        </p:spPr>
        <p:txBody>
          <a:bodyPr wrap="square" lIns="0" tIns="0" rIns="0" bIns="0" rtlCol="0" anchor="b"/>
          <a:lstStyle/>
          <a:p>
            <a:pPr marL="0" indent="0">
              <a:buNone/>
            </a:pPr>
            <a:r>
              <a:rPr lang="en-US" sz="1500" b="1" dirty="0">
                <a:solidFill>
                  <a:srgbClr val="2A9D8F"/>
                </a:solidFill>
                <a:latin typeface="Oswald" pitchFamily="34" charset="0"/>
                <a:ea typeface="Oswald" pitchFamily="34" charset="-122"/>
                <a:cs typeface="Oswald" pitchFamily="34" charset="-120"/>
              </a:rPr>
              <a:t>80%</a:t>
            </a:r>
            <a:endParaRPr lang="en-US" sz="1500" dirty="0"/>
          </a:p>
        </p:txBody>
      </p:sp>
      <p:sp>
        <p:nvSpPr>
          <p:cNvPr id="56" name="Text 50"/>
          <p:cNvSpPr/>
          <p:nvPr/>
        </p:nvSpPr>
        <p:spPr>
          <a:xfrm>
            <a:off x="9246641" y="4521708"/>
            <a:ext cx="2304974" cy="534924"/>
          </a:xfrm>
          <a:prstGeom prst="rect">
            <a:avLst/>
          </a:prstGeom>
          <a:noFill/>
          <a:ln/>
        </p:spPr>
        <p:txBody>
          <a:bodyPr wrap="square" lIns="0" tIns="0" rIns="0" bIns="0" rtlCol="0" anchor="t"/>
          <a:lstStyle/>
          <a:p>
            <a:pPr marL="0" indent="0">
              <a:buNone/>
            </a:pPr>
            <a:r>
              <a:rPr lang="en-US" sz="950" b="1" dirty="0">
                <a:solidFill>
                  <a:srgbClr val="111827"/>
                </a:solidFill>
                <a:latin typeface="Raleway" pitchFamily="34" charset="0"/>
                <a:ea typeface="Raleway" pitchFamily="34" charset="-122"/>
                <a:cs typeface="Raleway" pitchFamily="34" charset="-120"/>
              </a:rPr>
              <a:t>Repeat clients</a:t>
            </a:r>
            <a:endParaRPr lang="en-US" sz="950" dirty="0"/>
          </a:p>
        </p:txBody>
      </p:sp>
      <p:sp>
        <p:nvSpPr>
          <p:cNvPr id="57" name="Shape 51"/>
          <p:cNvSpPr/>
          <p:nvPr/>
        </p:nvSpPr>
        <p:spPr>
          <a:xfrm>
            <a:off x="9063761" y="5193792"/>
            <a:ext cx="2625014" cy="1188720"/>
          </a:xfrm>
          <a:prstGeom prst="roundRect">
            <a:avLst>
              <a:gd name="adj" fmla="val 4615"/>
            </a:avLst>
          </a:prstGeom>
          <a:solidFill>
            <a:srgbClr val="F8FAFC"/>
          </a:solidFill>
          <a:ln w="12700">
            <a:solidFill>
              <a:srgbClr val="E2E8F0"/>
            </a:solidFill>
            <a:prstDash val="solid"/>
          </a:ln>
        </p:spPr>
        <p:txBody>
          <a:bodyPr/>
          <a:lstStyle/>
          <a:p>
            <a:endParaRPr lang="en-IN"/>
          </a:p>
        </p:txBody>
      </p:sp>
      <p:sp>
        <p:nvSpPr>
          <p:cNvPr id="58" name="Shape 52"/>
          <p:cNvSpPr/>
          <p:nvPr/>
        </p:nvSpPr>
        <p:spPr>
          <a:xfrm>
            <a:off x="9063761" y="5193792"/>
            <a:ext cx="41148" cy="1188720"/>
          </a:xfrm>
          <a:prstGeom prst="roundRect">
            <a:avLst>
              <a:gd name="adj" fmla="val 44444"/>
            </a:avLst>
          </a:prstGeom>
          <a:solidFill>
            <a:srgbClr val="111827"/>
          </a:solidFill>
          <a:ln/>
        </p:spPr>
        <p:txBody>
          <a:bodyPr/>
          <a:lstStyle/>
          <a:p>
            <a:endParaRPr lang="en-IN"/>
          </a:p>
        </p:txBody>
      </p:sp>
      <p:sp>
        <p:nvSpPr>
          <p:cNvPr id="59" name="Text 53"/>
          <p:cNvSpPr/>
          <p:nvPr/>
        </p:nvSpPr>
        <p:spPr>
          <a:xfrm>
            <a:off x="9246641" y="5193792"/>
            <a:ext cx="2304974" cy="653796"/>
          </a:xfrm>
          <a:prstGeom prst="rect">
            <a:avLst/>
          </a:prstGeom>
          <a:noFill/>
          <a:ln/>
        </p:spPr>
        <p:txBody>
          <a:bodyPr wrap="square" lIns="0" tIns="0" rIns="0" bIns="0" rtlCol="0" anchor="b"/>
          <a:lstStyle/>
          <a:p>
            <a:pPr marL="0" indent="0">
              <a:buNone/>
            </a:pPr>
            <a:r>
              <a:rPr lang="en-US" sz="1500" b="1" dirty="0">
                <a:solidFill>
                  <a:srgbClr val="111827"/>
                </a:solidFill>
                <a:latin typeface="Oswald" pitchFamily="34" charset="0"/>
                <a:ea typeface="Oswald" pitchFamily="34" charset="-122"/>
                <a:cs typeface="Oswald" pitchFamily="34" charset="-120"/>
              </a:rPr>
              <a:t>Investor</a:t>
            </a:r>
            <a:endParaRPr lang="en-US" sz="1500" dirty="0"/>
          </a:p>
        </p:txBody>
      </p:sp>
      <p:sp>
        <p:nvSpPr>
          <p:cNvPr id="60" name="Text 54"/>
          <p:cNvSpPr/>
          <p:nvPr/>
        </p:nvSpPr>
        <p:spPr>
          <a:xfrm>
            <a:off x="9246641" y="5847588"/>
            <a:ext cx="2304974" cy="534924"/>
          </a:xfrm>
          <a:prstGeom prst="rect">
            <a:avLst/>
          </a:prstGeom>
          <a:noFill/>
          <a:ln/>
        </p:spPr>
        <p:txBody>
          <a:bodyPr wrap="square" lIns="0" tIns="0" rIns="0" bIns="0" rtlCol="0" anchor="t"/>
          <a:lstStyle/>
          <a:p>
            <a:pPr marL="0" indent="0">
              <a:buNone/>
            </a:pPr>
            <a:r>
              <a:rPr lang="en-US" sz="950" b="1" dirty="0">
                <a:solidFill>
                  <a:srgbClr val="111827"/>
                </a:solidFill>
                <a:latin typeface="Raleway" pitchFamily="34" charset="0"/>
                <a:ea typeface="Raleway" pitchFamily="34" charset="-122"/>
                <a:cs typeface="Raleway" pitchFamily="34" charset="-120"/>
              </a:rPr>
              <a:t>Backed</a:t>
            </a:r>
            <a:endParaRPr lang="en-US" sz="950" dirty="0"/>
          </a:p>
        </p:txBody>
      </p:sp>
      <p:sp>
        <p:nvSpPr>
          <p:cNvPr id="61" name="Text 55"/>
          <p:cNvSpPr/>
          <p:nvPr/>
        </p:nvSpPr>
        <p:spPr>
          <a:xfrm>
            <a:off x="502920" y="6547104"/>
            <a:ext cx="2743200" cy="201168"/>
          </a:xfrm>
          <a:prstGeom prst="rect">
            <a:avLst/>
          </a:prstGeom>
          <a:noFill/>
          <a:ln/>
        </p:spPr>
        <p:txBody>
          <a:bodyPr wrap="square" lIns="0" tIns="0" rIns="0" bIns="0" rtlCol="0" anchor="ctr"/>
          <a:lstStyle/>
          <a:p>
            <a:pPr marL="0" indent="0" algn="l">
              <a:buNone/>
            </a:pPr>
            <a:r>
              <a:rPr lang="en-US" sz="800" kern="0" spc="100" dirty="0">
                <a:solidFill>
                  <a:srgbClr val="A1A1AA"/>
                </a:solidFill>
                <a:latin typeface="Roboto Condensed" pitchFamily="34" charset="0"/>
                <a:ea typeface="Roboto Condensed" pitchFamily="34" charset="-122"/>
                <a:cs typeface="Roboto Condensed" pitchFamily="34" charset="-120"/>
              </a:rPr>
              <a:t>JOULESTOWATTS</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242</TotalTime>
  <Words>9797</Words>
  <Application>Microsoft Office PowerPoint</Application>
  <PresentationFormat>Widescreen</PresentationFormat>
  <Paragraphs>1703</Paragraphs>
  <Slides>58</Slides>
  <Notes>58</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58</vt:i4>
      </vt:variant>
    </vt:vector>
  </HeadingPairs>
  <TitlesOfParts>
    <vt:vector size="69" baseType="lpstr">
      <vt:lpstr>Aptos</vt:lpstr>
      <vt:lpstr>Aptos Display</vt:lpstr>
      <vt:lpstr>Arial</vt:lpstr>
      <vt:lpstr>Arial MT</vt:lpstr>
      <vt:lpstr>Calibri</vt:lpstr>
      <vt:lpstr>Calibri Light</vt:lpstr>
      <vt:lpstr>Oswald</vt:lpstr>
      <vt:lpstr>Raleway</vt:lpstr>
      <vt:lpstr>Roboto Condensed</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E36250417</dc:creator>
  <cp:lastModifiedBy>Athithia Krishna</cp:lastModifiedBy>
  <cp:revision>1</cp:revision>
  <dcterms:created xsi:type="dcterms:W3CDTF">2026-07-06T09:15:11Z</dcterms:created>
  <dcterms:modified xsi:type="dcterms:W3CDTF">2026-08-20T09:28:40Z</dcterms:modified>
</cp:coreProperties>
</file>